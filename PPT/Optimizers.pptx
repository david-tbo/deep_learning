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332" r:id="rId3"/>
    <p:sldId id="333" r:id="rId4"/>
    <p:sldId id="345" r:id="rId5"/>
    <p:sldId id="344" r:id="rId6"/>
    <p:sldId id="322" r:id="rId7"/>
    <p:sldId id="319" r:id="rId8"/>
    <p:sldId id="320" r:id="rId9"/>
    <p:sldId id="346" r:id="rId10"/>
    <p:sldId id="321" r:id="rId11"/>
    <p:sldId id="347" r:id="rId12"/>
    <p:sldId id="323" r:id="rId13"/>
    <p:sldId id="328" r:id="rId14"/>
    <p:sldId id="334" r:id="rId15"/>
    <p:sldId id="335" r:id="rId16"/>
    <p:sldId id="348" r:id="rId17"/>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166"/>
    <p:restoredTop sz="83151"/>
  </p:normalViewPr>
  <p:slideViewPr>
    <p:cSldViewPr snapToGrid="0">
      <p:cViewPr varScale="1">
        <p:scale>
          <a:sx n="105" d="100"/>
          <a:sy n="105" d="100"/>
        </p:scale>
        <p:origin x="1536"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9C11F8-E0B1-1048-90C9-7B5C3CB594D7}" type="datetimeFigureOut">
              <a:rPr lang="fr-FR" smtClean="0"/>
              <a:t>18/01/2025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E20620-1C2C-7043-8B38-691BB5666C4A}" type="slidenum">
              <a:rPr lang="fr-FR" smtClean="0"/>
              <a:t>‹N°›</a:t>
            </a:fld>
            <a:endParaRPr lang="fr-FR"/>
          </a:p>
        </p:txBody>
      </p:sp>
    </p:spTree>
    <p:extLst>
      <p:ext uri="{BB962C8B-B14F-4D97-AF65-F5344CB8AC3E}">
        <p14:creationId xmlns:p14="http://schemas.microsoft.com/office/powerpoint/2010/main" val="9151274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GB" dirty="0"/>
          </a:p>
        </p:txBody>
      </p:sp>
      <p:sp>
        <p:nvSpPr>
          <p:cNvPr id="4" name="Espace réservé du numéro de diapositive 3"/>
          <p:cNvSpPr>
            <a:spLocks noGrp="1"/>
          </p:cNvSpPr>
          <p:nvPr>
            <p:ph type="sldNum" sz="quarter" idx="5"/>
          </p:nvPr>
        </p:nvSpPr>
        <p:spPr/>
        <p:txBody>
          <a:bodyPr/>
          <a:lstStyle/>
          <a:p>
            <a:fld id="{BFE20620-1C2C-7043-8B38-691BB5666C4A}" type="slidenum">
              <a:rPr lang="fr-FR" smtClean="0"/>
              <a:t>7</a:t>
            </a:fld>
            <a:endParaRPr lang="fr-FR"/>
          </a:p>
        </p:txBody>
      </p:sp>
    </p:spTree>
    <p:extLst>
      <p:ext uri="{BB962C8B-B14F-4D97-AF65-F5344CB8AC3E}">
        <p14:creationId xmlns:p14="http://schemas.microsoft.com/office/powerpoint/2010/main" val="42506936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0" i="0" u="none" strike="noStrike" dirty="0">
                <a:solidFill>
                  <a:srgbClr val="E4E4E7"/>
                </a:solidFill>
                <a:effectLst/>
                <a:latin typeface="ui-sans-serif"/>
              </a:rPr>
              <a:t>Momentum en français : "Quantité de mouvement" ou "élan", une technique pour accélérer et stabiliser la convergence en utilisant les gradients passés.</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b="0" i="0" u="none" strike="noStrike" dirty="0">
              <a:solidFill>
                <a:srgbClr val="E4E4E7"/>
              </a:solidFill>
              <a:effectLst/>
              <a:latin typeface="ui-sans-serif"/>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b="0" i="0" u="none" strike="noStrike" dirty="0">
                <a:solidFill>
                  <a:srgbClr val="E4E4E7"/>
                </a:solidFill>
                <a:effectLst/>
                <a:latin typeface="ui-sans-serif"/>
              </a:rPr>
              <a:t>Quantité de mouvement / Élan :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b="0" i="0" u="none" strike="noStrike" dirty="0">
                <a:solidFill>
                  <a:srgbClr val="E4E4E7"/>
                </a:solidFill>
                <a:effectLst/>
                <a:latin typeface="ui-sans-serif"/>
              </a:rPr>
              <a:t>Le Momentum en descente de gradient est une technique qui utilise les gradients passés pour accélérer et stabiliser le processus de convergence.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b="0" i="0" u="none" strike="noStrike" dirty="0">
                <a:solidFill>
                  <a:srgbClr val="E4E4E7"/>
                </a:solidFill>
                <a:effectLst/>
                <a:latin typeface="ui-sans-serif"/>
              </a:rPr>
              <a:t>En ajoutant une fraction des gradients précédents aux gradients actuels, l'algorithme peut continuer à se déplacer dans la même direction, ce qui aide à traverser les ravins et les plateaux de la surface de perte plus efficacement.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b="1" i="0" u="none" strike="noStrike" dirty="0">
              <a:solidFill>
                <a:srgbClr val="E4E4E7"/>
              </a:solidFill>
              <a:effectLst/>
              <a:latin typeface="ui-sans-serif"/>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b="0" i="0" u="none" strike="noStrike" dirty="0">
                <a:solidFill>
                  <a:srgbClr val="E4E4E7"/>
                </a:solidFill>
                <a:effectLst/>
                <a:latin typeface="ui-sans-serif"/>
              </a:rPr>
              <a:t>Le coefficient beta contrôle la contribution des gradients précédents dans la mise à jour actuelle des poids.</a:t>
            </a:r>
          </a:p>
        </p:txBody>
      </p:sp>
      <p:sp>
        <p:nvSpPr>
          <p:cNvPr id="4" name="Espace réservé du numéro de diapositive 3"/>
          <p:cNvSpPr>
            <a:spLocks noGrp="1"/>
          </p:cNvSpPr>
          <p:nvPr>
            <p:ph type="sldNum" sz="quarter" idx="5"/>
          </p:nvPr>
        </p:nvSpPr>
        <p:spPr/>
        <p:txBody>
          <a:bodyPr/>
          <a:lstStyle/>
          <a:p>
            <a:fld id="{BFE20620-1C2C-7043-8B38-691BB5666C4A}" type="slidenum">
              <a:rPr lang="fr-FR" smtClean="0"/>
              <a:t>10</a:t>
            </a:fld>
            <a:endParaRPr lang="fr-FR"/>
          </a:p>
        </p:txBody>
      </p:sp>
    </p:spTree>
    <p:extLst>
      <p:ext uri="{BB962C8B-B14F-4D97-AF65-F5344CB8AC3E}">
        <p14:creationId xmlns:p14="http://schemas.microsoft.com/office/powerpoint/2010/main" val="7896426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4F0C53-C372-97FE-36DF-3ACC20B5C10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4B524D5-7D0C-139E-3F77-EC1BD982C31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240C02D-5677-1F5B-4749-694CE836A2F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0" i="0" u="none" strike="noStrike" dirty="0">
                <a:solidFill>
                  <a:srgbClr val="E4E4E7"/>
                </a:solidFill>
                <a:effectLst/>
                <a:latin typeface="ui-sans-serif"/>
              </a:rPr>
              <a:t>Momentum en français : "Quantité de mouvement" ou "élan", une technique pour accélérer et stabiliser la convergence en utilisant les gradients passés.</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b="0" i="0" u="none" strike="noStrike" dirty="0">
              <a:solidFill>
                <a:srgbClr val="E4E4E7"/>
              </a:solidFill>
              <a:effectLst/>
              <a:latin typeface="ui-sans-serif"/>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b="0" i="0" u="none" strike="noStrike" dirty="0">
                <a:solidFill>
                  <a:srgbClr val="E4E4E7"/>
                </a:solidFill>
                <a:effectLst/>
                <a:latin typeface="ui-sans-serif"/>
              </a:rPr>
              <a:t>Quantité de mouvement / Élan :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b="0" i="0" u="none" strike="noStrike" dirty="0">
                <a:solidFill>
                  <a:srgbClr val="E4E4E7"/>
                </a:solidFill>
                <a:effectLst/>
                <a:latin typeface="ui-sans-serif"/>
              </a:rPr>
              <a:t>Le Momentum en descente de gradient est une technique qui utilise les gradients passés pour accélérer et stabiliser le processus de convergence.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b="0" i="0" u="none" strike="noStrike" dirty="0">
                <a:solidFill>
                  <a:srgbClr val="E4E4E7"/>
                </a:solidFill>
                <a:effectLst/>
                <a:latin typeface="ui-sans-serif"/>
              </a:rPr>
              <a:t>En ajoutant une fraction des gradients précédents aux gradients actuels, l'algorithme peut continuer à se déplacer dans la même direction, ce qui aide à traverser les ravins et les plateaux de la surface de perte plus efficacement.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b="1" i="0" u="none" strike="noStrike" dirty="0">
              <a:solidFill>
                <a:srgbClr val="E4E4E7"/>
              </a:solidFill>
              <a:effectLst/>
              <a:latin typeface="ui-sans-serif"/>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b="0" i="0" u="none" strike="noStrike" dirty="0">
                <a:solidFill>
                  <a:srgbClr val="E4E4E7"/>
                </a:solidFill>
                <a:effectLst/>
                <a:latin typeface="ui-sans-serif"/>
              </a:rPr>
              <a:t>Le coefficient beta contrôle la contribution des gradients précédents dans la mise à jour actuelle des poids.</a:t>
            </a:r>
          </a:p>
        </p:txBody>
      </p:sp>
      <p:sp>
        <p:nvSpPr>
          <p:cNvPr id="4" name="Espace réservé du numéro de diapositive 3">
            <a:extLst>
              <a:ext uri="{FF2B5EF4-FFF2-40B4-BE49-F238E27FC236}">
                <a16:creationId xmlns:a16="http://schemas.microsoft.com/office/drawing/2014/main" id="{D0822623-806A-EC38-0E77-DC673C5A9021}"/>
              </a:ext>
            </a:extLst>
          </p:cNvPr>
          <p:cNvSpPr>
            <a:spLocks noGrp="1"/>
          </p:cNvSpPr>
          <p:nvPr>
            <p:ph type="sldNum" sz="quarter" idx="5"/>
          </p:nvPr>
        </p:nvSpPr>
        <p:spPr/>
        <p:txBody>
          <a:bodyPr/>
          <a:lstStyle/>
          <a:p>
            <a:fld id="{BFE20620-1C2C-7043-8B38-691BB5666C4A}" type="slidenum">
              <a:rPr lang="fr-FR" smtClean="0"/>
              <a:t>11</a:t>
            </a:fld>
            <a:endParaRPr lang="fr-FR"/>
          </a:p>
        </p:txBody>
      </p:sp>
    </p:spTree>
    <p:extLst>
      <p:ext uri="{BB962C8B-B14F-4D97-AF65-F5344CB8AC3E}">
        <p14:creationId xmlns:p14="http://schemas.microsoft.com/office/powerpoint/2010/main" val="12996349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GB" sz="1200" dirty="0"/>
              <a:t>decays (</a:t>
            </a:r>
            <a:r>
              <a:rPr lang="en-GB" sz="1200" i="1" dirty="0" err="1"/>
              <a:t>décroît</a:t>
            </a:r>
            <a:r>
              <a:rPr lang="en-GB" sz="1200" dirty="0"/>
              <a:t>) </a:t>
            </a:r>
          </a:p>
          <a:p>
            <a:r>
              <a:rPr lang="en-GB" sz="1200" dirty="0"/>
              <a:t>steeper slopes (</a:t>
            </a:r>
            <a:r>
              <a:rPr lang="en-GB" sz="1200" i="1" dirty="0" err="1"/>
              <a:t>pentes</a:t>
            </a:r>
            <a:r>
              <a:rPr lang="en-GB" sz="1200" i="1" dirty="0"/>
              <a:t> </a:t>
            </a:r>
            <a:r>
              <a:rPr lang="en-GB" sz="1200" i="1" dirty="0" err="1"/>
              <a:t>raides</a:t>
            </a:r>
            <a:r>
              <a:rPr lang="en-GB" sz="1200" dirty="0"/>
              <a:t>)</a:t>
            </a:r>
          </a:p>
          <a:p>
            <a:r>
              <a:rPr lang="en-GB" sz="1200" dirty="0"/>
              <a:t>gentler slopes (</a:t>
            </a:r>
            <a:r>
              <a:rPr lang="en-GB" sz="1200" i="1" dirty="0" err="1"/>
              <a:t>pentes</a:t>
            </a:r>
            <a:r>
              <a:rPr lang="en-GB" sz="1200" i="1" dirty="0"/>
              <a:t> </a:t>
            </a:r>
            <a:r>
              <a:rPr lang="en-GB" sz="1200" i="1" dirty="0" err="1"/>
              <a:t>douces</a:t>
            </a:r>
            <a:r>
              <a:rPr lang="en-GB" sz="1200" dirty="0"/>
              <a:t>) </a:t>
            </a:r>
          </a:p>
          <a:p>
            <a:r>
              <a:rPr lang="en-GB" sz="1200" dirty="0"/>
              <a:t>dampening effect (</a:t>
            </a:r>
            <a:r>
              <a:rPr lang="en-GB" sz="1200" dirty="0" err="1"/>
              <a:t>effet</a:t>
            </a:r>
            <a:r>
              <a:rPr lang="en-GB" sz="1200" dirty="0"/>
              <a:t> </a:t>
            </a:r>
            <a:r>
              <a:rPr lang="en-GB" sz="1200" dirty="0" err="1"/>
              <a:t>d’amortissement</a:t>
            </a:r>
            <a:r>
              <a:rPr lang="en-GB" sz="1200" dirty="0"/>
              <a:t>)</a:t>
            </a:r>
            <a:endParaRPr lang="en-GB" dirty="0"/>
          </a:p>
        </p:txBody>
      </p:sp>
      <p:sp>
        <p:nvSpPr>
          <p:cNvPr id="4" name="Espace réservé du numéro de diapositive 3"/>
          <p:cNvSpPr>
            <a:spLocks noGrp="1"/>
          </p:cNvSpPr>
          <p:nvPr>
            <p:ph type="sldNum" sz="quarter" idx="5"/>
          </p:nvPr>
        </p:nvSpPr>
        <p:spPr/>
        <p:txBody>
          <a:bodyPr/>
          <a:lstStyle/>
          <a:p>
            <a:fld id="{BFE20620-1C2C-7043-8B38-691BB5666C4A}" type="slidenum">
              <a:rPr lang="fr-FR" smtClean="0"/>
              <a:t>13</a:t>
            </a:fld>
            <a:endParaRPr lang="fr-FR"/>
          </a:p>
        </p:txBody>
      </p:sp>
    </p:spTree>
    <p:extLst>
      <p:ext uri="{BB962C8B-B14F-4D97-AF65-F5344CB8AC3E}">
        <p14:creationId xmlns:p14="http://schemas.microsoft.com/office/powerpoint/2010/main" val="4086921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EBF147-0E8A-33E4-B931-25668B9343A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153BA00-8660-CD06-DCE7-13EB2D3188F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E3A8F9F-9234-5B43-F2D1-AB7E29F38FBF}"/>
              </a:ext>
            </a:extLst>
          </p:cNvPr>
          <p:cNvSpPr>
            <a:spLocks noGrp="1"/>
          </p:cNvSpPr>
          <p:nvPr>
            <p:ph type="body" idx="1"/>
          </p:nvPr>
        </p:nvSpPr>
        <p:spPr/>
        <p:txBody>
          <a:bodyPr/>
          <a:lstStyle/>
          <a:p>
            <a:r>
              <a:rPr lang="en-GB" b="0" i="0" u="none" strike="noStrike" noProof="0" dirty="0">
                <a:solidFill>
                  <a:srgbClr val="E4E4E7"/>
                </a:solidFill>
                <a:effectLst/>
                <a:latin typeface="ui-sans-serif"/>
              </a:rPr>
              <a:t>Decay</a:t>
            </a:r>
            <a:r>
              <a:rPr lang="fr-FR" b="0" i="0" u="none" strike="noStrike" dirty="0">
                <a:solidFill>
                  <a:srgbClr val="E4E4E7"/>
                </a:solidFill>
                <a:effectLst/>
                <a:latin typeface="ui-sans-serif"/>
              </a:rPr>
              <a:t>: diminution, réduction, décroissance.</a:t>
            </a:r>
          </a:p>
          <a:p>
            <a:endParaRPr lang="fr-FR" b="0" i="0" u="none" strike="noStrike" dirty="0">
              <a:solidFill>
                <a:srgbClr val="E4E4E7"/>
              </a:solidFill>
              <a:effectLst/>
              <a:latin typeface="ui-sans-serif"/>
            </a:endParaRPr>
          </a:p>
          <a:p>
            <a:r>
              <a:rPr lang="fr-FR" b="0" i="0" u="none" strike="noStrike" dirty="0">
                <a:solidFill>
                  <a:srgbClr val="E4E4E7"/>
                </a:solidFill>
                <a:effectLst/>
                <a:latin typeface="ui-sans-serif"/>
              </a:rPr>
              <a:t>Cela signifie que le taux d'apprentissage diminue plus rapidement pour les pentes plus raides (où les gradients sont plus grands) et plus lentement pour les pentes plus douces (où les gradients sont plus petits).</a:t>
            </a:r>
            <a:endParaRPr lang="en-GB" dirty="0"/>
          </a:p>
        </p:txBody>
      </p:sp>
      <p:sp>
        <p:nvSpPr>
          <p:cNvPr id="4" name="Espace réservé du numéro de diapositive 3">
            <a:extLst>
              <a:ext uri="{FF2B5EF4-FFF2-40B4-BE49-F238E27FC236}">
                <a16:creationId xmlns:a16="http://schemas.microsoft.com/office/drawing/2014/main" id="{8EC19DA2-EAD9-DBAF-216B-06CFDABE58BA}"/>
              </a:ext>
            </a:extLst>
          </p:cNvPr>
          <p:cNvSpPr>
            <a:spLocks noGrp="1"/>
          </p:cNvSpPr>
          <p:nvPr>
            <p:ph type="sldNum" sz="quarter" idx="5"/>
          </p:nvPr>
        </p:nvSpPr>
        <p:spPr/>
        <p:txBody>
          <a:bodyPr/>
          <a:lstStyle/>
          <a:p>
            <a:fld id="{BFE20620-1C2C-7043-8B38-691BB5666C4A}" type="slidenum">
              <a:rPr lang="fr-FR" smtClean="0"/>
              <a:t>14</a:t>
            </a:fld>
            <a:endParaRPr lang="fr-FR"/>
          </a:p>
        </p:txBody>
      </p:sp>
    </p:spTree>
    <p:extLst>
      <p:ext uri="{BB962C8B-B14F-4D97-AF65-F5344CB8AC3E}">
        <p14:creationId xmlns:p14="http://schemas.microsoft.com/office/powerpoint/2010/main" val="18953717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DC283-A16F-6F72-9F14-41C1F1249ED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87E97FB-D359-55D5-4825-B27F22F4766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31092DA-D674-7AD8-677E-548D88BFCDFC}"/>
              </a:ext>
            </a:extLst>
          </p:cNvPr>
          <p:cNvSpPr>
            <a:spLocks noGrp="1"/>
          </p:cNvSpPr>
          <p:nvPr>
            <p:ph type="body" idx="1"/>
          </p:nvPr>
        </p:nvSpPr>
        <p:spPr/>
        <p:txBody>
          <a:bodyPr/>
          <a:lstStyle/>
          <a:p>
            <a:r>
              <a:rPr lang="en-GB" b="0" i="0" u="none" strike="noStrike" noProof="0" dirty="0">
                <a:solidFill>
                  <a:srgbClr val="E4E4E7"/>
                </a:solidFill>
                <a:effectLst/>
                <a:latin typeface="ui-sans-serif"/>
              </a:rPr>
              <a:t>Decay</a:t>
            </a:r>
            <a:r>
              <a:rPr lang="fr-FR" b="0" i="0" u="none" strike="noStrike" dirty="0">
                <a:solidFill>
                  <a:srgbClr val="E4E4E7"/>
                </a:solidFill>
                <a:effectLst/>
                <a:latin typeface="ui-sans-serif"/>
              </a:rPr>
              <a:t>: diminution, réduction, décroissance.</a:t>
            </a:r>
          </a:p>
          <a:p>
            <a:endParaRPr lang="fr-FR" b="0" i="0" u="none" strike="noStrike" dirty="0">
              <a:solidFill>
                <a:srgbClr val="E4E4E7"/>
              </a:solidFill>
              <a:effectLst/>
              <a:latin typeface="ui-sans-serif"/>
            </a:endParaRPr>
          </a:p>
          <a:p>
            <a:r>
              <a:rPr lang="fr-FR" b="0" i="0" u="none" strike="noStrike" dirty="0">
                <a:solidFill>
                  <a:srgbClr val="E4E4E7"/>
                </a:solidFill>
                <a:effectLst/>
                <a:latin typeface="ui-sans-serif"/>
              </a:rPr>
              <a:t>Cela signifie que le taux d'apprentissage diminue plus rapidement pour les pentes plus raides (où les gradients sont plus grands) et plus lentement pour les pentes plus douces (où les gradients sont plus petits).</a:t>
            </a:r>
            <a:endParaRPr lang="en-GB" dirty="0"/>
          </a:p>
        </p:txBody>
      </p:sp>
      <p:sp>
        <p:nvSpPr>
          <p:cNvPr id="4" name="Espace réservé du numéro de diapositive 3">
            <a:extLst>
              <a:ext uri="{FF2B5EF4-FFF2-40B4-BE49-F238E27FC236}">
                <a16:creationId xmlns:a16="http://schemas.microsoft.com/office/drawing/2014/main" id="{FAE0A715-AD82-F190-DD6D-FDAB5960C185}"/>
              </a:ext>
            </a:extLst>
          </p:cNvPr>
          <p:cNvSpPr>
            <a:spLocks noGrp="1"/>
          </p:cNvSpPr>
          <p:nvPr>
            <p:ph type="sldNum" sz="quarter" idx="5"/>
          </p:nvPr>
        </p:nvSpPr>
        <p:spPr/>
        <p:txBody>
          <a:bodyPr/>
          <a:lstStyle/>
          <a:p>
            <a:fld id="{BFE20620-1C2C-7043-8B38-691BB5666C4A}" type="slidenum">
              <a:rPr lang="fr-FR" smtClean="0"/>
              <a:t>15</a:t>
            </a:fld>
            <a:endParaRPr lang="fr-FR"/>
          </a:p>
        </p:txBody>
      </p:sp>
    </p:spTree>
    <p:extLst>
      <p:ext uri="{BB962C8B-B14F-4D97-AF65-F5344CB8AC3E}">
        <p14:creationId xmlns:p14="http://schemas.microsoft.com/office/powerpoint/2010/main" val="19614162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122B60-EA91-EF3F-7E92-D46AA5E65E1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307AED8-C89A-C71E-572C-439E133EA98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D13BF0D-38DB-F26E-2494-A62C006397A5}"/>
              </a:ext>
            </a:extLst>
          </p:cNvPr>
          <p:cNvSpPr>
            <a:spLocks noGrp="1"/>
          </p:cNvSpPr>
          <p:nvPr>
            <p:ph type="body" idx="1"/>
          </p:nvPr>
        </p:nvSpPr>
        <p:spPr/>
        <p:txBody>
          <a:bodyPr/>
          <a:lstStyle/>
          <a:p>
            <a:r>
              <a:rPr lang="en-GB" b="0" i="0" u="none" strike="noStrike" noProof="0" dirty="0">
                <a:solidFill>
                  <a:srgbClr val="E4E4E7"/>
                </a:solidFill>
                <a:effectLst/>
                <a:latin typeface="ui-sans-serif"/>
              </a:rPr>
              <a:t>Decay</a:t>
            </a:r>
            <a:r>
              <a:rPr lang="fr-FR" b="0" i="0" u="none" strike="noStrike" dirty="0">
                <a:solidFill>
                  <a:srgbClr val="E4E4E7"/>
                </a:solidFill>
                <a:effectLst/>
                <a:latin typeface="ui-sans-serif"/>
              </a:rPr>
              <a:t>: diminution, réduction, décroissance.</a:t>
            </a:r>
          </a:p>
          <a:p>
            <a:endParaRPr lang="fr-FR" b="0" i="0" u="none" strike="noStrike" dirty="0">
              <a:solidFill>
                <a:srgbClr val="E4E4E7"/>
              </a:solidFill>
              <a:effectLst/>
              <a:latin typeface="ui-sans-serif"/>
            </a:endParaRPr>
          </a:p>
          <a:p>
            <a:r>
              <a:rPr lang="fr-FR" b="0" i="0" u="none" strike="noStrike" dirty="0">
                <a:solidFill>
                  <a:srgbClr val="E4E4E7"/>
                </a:solidFill>
                <a:effectLst/>
                <a:latin typeface="ui-sans-serif"/>
              </a:rPr>
              <a:t>Cela signifie que le taux d'apprentissage diminue plus rapidement pour les pentes plus raides (où les gradients sont plus grands) et plus lentement pour les pentes plus douces (où les gradients sont plus petits).</a:t>
            </a:r>
            <a:endParaRPr lang="en-GB" dirty="0"/>
          </a:p>
        </p:txBody>
      </p:sp>
      <p:sp>
        <p:nvSpPr>
          <p:cNvPr id="4" name="Espace réservé du numéro de diapositive 3">
            <a:extLst>
              <a:ext uri="{FF2B5EF4-FFF2-40B4-BE49-F238E27FC236}">
                <a16:creationId xmlns:a16="http://schemas.microsoft.com/office/drawing/2014/main" id="{ED9EA15E-2A6A-0CB4-78B8-690324B6927F}"/>
              </a:ext>
            </a:extLst>
          </p:cNvPr>
          <p:cNvSpPr>
            <a:spLocks noGrp="1"/>
          </p:cNvSpPr>
          <p:nvPr>
            <p:ph type="sldNum" sz="quarter" idx="5"/>
          </p:nvPr>
        </p:nvSpPr>
        <p:spPr/>
        <p:txBody>
          <a:bodyPr/>
          <a:lstStyle/>
          <a:p>
            <a:fld id="{BFE20620-1C2C-7043-8B38-691BB5666C4A}" type="slidenum">
              <a:rPr lang="fr-FR" smtClean="0"/>
              <a:t>16</a:t>
            </a:fld>
            <a:endParaRPr lang="fr-FR"/>
          </a:p>
        </p:txBody>
      </p:sp>
    </p:spTree>
    <p:extLst>
      <p:ext uri="{BB962C8B-B14F-4D97-AF65-F5344CB8AC3E}">
        <p14:creationId xmlns:p14="http://schemas.microsoft.com/office/powerpoint/2010/main" val="3697370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BDD944E-353A-0969-8365-64AFFDD97684}"/>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9E19466A-6247-FECF-30AA-500646B6393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F98E1E11-47E1-4869-4830-5DB7EF20BC43}"/>
              </a:ext>
            </a:extLst>
          </p:cNvPr>
          <p:cNvSpPr>
            <a:spLocks noGrp="1"/>
          </p:cNvSpPr>
          <p:nvPr>
            <p:ph type="dt" sz="half" idx="10"/>
          </p:nvPr>
        </p:nvSpPr>
        <p:spPr/>
        <p:txBody>
          <a:bodyPr/>
          <a:lstStyle/>
          <a:p>
            <a:fld id="{0E7A9A57-8E37-F14B-9391-4F149BA7D9BA}" type="datetime1">
              <a:rPr lang="fr-FR" smtClean="0"/>
              <a:t>18/01/2025</a:t>
            </a:fld>
            <a:endParaRPr lang="fr-FR"/>
          </a:p>
        </p:txBody>
      </p:sp>
      <p:sp>
        <p:nvSpPr>
          <p:cNvPr id="5" name="Espace réservé du pied de page 4">
            <a:extLst>
              <a:ext uri="{FF2B5EF4-FFF2-40B4-BE49-F238E27FC236}">
                <a16:creationId xmlns:a16="http://schemas.microsoft.com/office/drawing/2014/main" id="{AF8785D3-A4ED-3A61-06C0-C72D3FA1F5E1}"/>
              </a:ext>
            </a:extLst>
          </p:cNvPr>
          <p:cNvSpPr>
            <a:spLocks noGrp="1"/>
          </p:cNvSpPr>
          <p:nvPr>
            <p:ph type="ftr" sz="quarter" idx="11"/>
          </p:nvPr>
        </p:nvSpPr>
        <p:spPr/>
        <p:txBody>
          <a:bodyPr/>
          <a:lstStyle/>
          <a:p>
            <a:r>
              <a:rPr lang="fr-FR"/>
              <a:t>Introduction to Neural Networks. Author: David Thébault</a:t>
            </a:r>
          </a:p>
        </p:txBody>
      </p:sp>
      <p:sp>
        <p:nvSpPr>
          <p:cNvPr id="6" name="Espace réservé du numéro de diapositive 5">
            <a:extLst>
              <a:ext uri="{FF2B5EF4-FFF2-40B4-BE49-F238E27FC236}">
                <a16:creationId xmlns:a16="http://schemas.microsoft.com/office/drawing/2014/main" id="{664B34F1-153B-B297-754F-5278D77EDF4D}"/>
              </a:ext>
            </a:extLst>
          </p:cNvPr>
          <p:cNvSpPr>
            <a:spLocks noGrp="1"/>
          </p:cNvSpPr>
          <p:nvPr>
            <p:ph type="sldNum" sz="quarter" idx="12"/>
          </p:nvPr>
        </p:nvSpPr>
        <p:spPr/>
        <p:txBody>
          <a:bodyPr/>
          <a:lstStyle/>
          <a:p>
            <a:fld id="{ACB432F1-B5B9-3C47-A455-7BB5A781DE30}" type="slidenum">
              <a:rPr lang="fr-FR" smtClean="0"/>
              <a:t>‹N°›</a:t>
            </a:fld>
            <a:endParaRPr lang="fr-FR"/>
          </a:p>
        </p:txBody>
      </p:sp>
    </p:spTree>
    <p:extLst>
      <p:ext uri="{BB962C8B-B14F-4D97-AF65-F5344CB8AC3E}">
        <p14:creationId xmlns:p14="http://schemas.microsoft.com/office/powerpoint/2010/main" val="20023619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B8CCF12-4A30-A572-A485-1341AFE1D084}"/>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ABB8CBBF-34B6-60C7-3F26-5CB8E4E6E795}"/>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B6BB483D-5FDF-50CD-3EAE-DE68E0C30654}"/>
              </a:ext>
            </a:extLst>
          </p:cNvPr>
          <p:cNvSpPr>
            <a:spLocks noGrp="1"/>
          </p:cNvSpPr>
          <p:nvPr>
            <p:ph type="dt" sz="half" idx="10"/>
          </p:nvPr>
        </p:nvSpPr>
        <p:spPr/>
        <p:txBody>
          <a:bodyPr/>
          <a:lstStyle/>
          <a:p>
            <a:fld id="{A1EA49A2-9B73-244F-A354-A4440EC1356F}" type="datetime1">
              <a:rPr lang="fr-FR" smtClean="0"/>
              <a:t>18/01/2025</a:t>
            </a:fld>
            <a:endParaRPr lang="fr-FR"/>
          </a:p>
        </p:txBody>
      </p:sp>
      <p:sp>
        <p:nvSpPr>
          <p:cNvPr id="5" name="Espace réservé du pied de page 4">
            <a:extLst>
              <a:ext uri="{FF2B5EF4-FFF2-40B4-BE49-F238E27FC236}">
                <a16:creationId xmlns:a16="http://schemas.microsoft.com/office/drawing/2014/main" id="{C69175BE-5B47-E567-BE2A-3FC3718D1D57}"/>
              </a:ext>
            </a:extLst>
          </p:cNvPr>
          <p:cNvSpPr>
            <a:spLocks noGrp="1"/>
          </p:cNvSpPr>
          <p:nvPr>
            <p:ph type="ftr" sz="quarter" idx="11"/>
          </p:nvPr>
        </p:nvSpPr>
        <p:spPr/>
        <p:txBody>
          <a:bodyPr/>
          <a:lstStyle/>
          <a:p>
            <a:r>
              <a:rPr lang="fr-FR"/>
              <a:t>Introduction to Neural Networks. Author: David Thébault</a:t>
            </a:r>
          </a:p>
        </p:txBody>
      </p:sp>
      <p:sp>
        <p:nvSpPr>
          <p:cNvPr id="6" name="Espace réservé du numéro de diapositive 5">
            <a:extLst>
              <a:ext uri="{FF2B5EF4-FFF2-40B4-BE49-F238E27FC236}">
                <a16:creationId xmlns:a16="http://schemas.microsoft.com/office/drawing/2014/main" id="{B3C81F8A-8DBB-3AD1-3D19-BF416D02D10B}"/>
              </a:ext>
            </a:extLst>
          </p:cNvPr>
          <p:cNvSpPr>
            <a:spLocks noGrp="1"/>
          </p:cNvSpPr>
          <p:nvPr>
            <p:ph type="sldNum" sz="quarter" idx="12"/>
          </p:nvPr>
        </p:nvSpPr>
        <p:spPr/>
        <p:txBody>
          <a:bodyPr/>
          <a:lstStyle/>
          <a:p>
            <a:fld id="{ACB432F1-B5B9-3C47-A455-7BB5A781DE30}" type="slidenum">
              <a:rPr lang="fr-FR" smtClean="0"/>
              <a:t>‹N°›</a:t>
            </a:fld>
            <a:endParaRPr lang="fr-FR"/>
          </a:p>
        </p:txBody>
      </p:sp>
    </p:spTree>
    <p:extLst>
      <p:ext uri="{BB962C8B-B14F-4D97-AF65-F5344CB8AC3E}">
        <p14:creationId xmlns:p14="http://schemas.microsoft.com/office/powerpoint/2010/main" val="38128159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14292C-AA07-015C-D693-769EEAC2ADDB}"/>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B7C12A38-25D8-13CE-5054-25679450297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BA317F5D-D504-B018-7C17-8A703D27FBDB}"/>
              </a:ext>
            </a:extLst>
          </p:cNvPr>
          <p:cNvSpPr>
            <a:spLocks noGrp="1"/>
          </p:cNvSpPr>
          <p:nvPr>
            <p:ph type="dt" sz="half" idx="10"/>
          </p:nvPr>
        </p:nvSpPr>
        <p:spPr/>
        <p:txBody>
          <a:bodyPr/>
          <a:lstStyle/>
          <a:p>
            <a:fld id="{B3197FAC-E7CB-F24B-9DE6-CF97B36979AA}" type="datetime1">
              <a:rPr lang="fr-FR" smtClean="0"/>
              <a:t>18/01/2025</a:t>
            </a:fld>
            <a:endParaRPr lang="fr-FR"/>
          </a:p>
        </p:txBody>
      </p:sp>
      <p:sp>
        <p:nvSpPr>
          <p:cNvPr id="5" name="Espace réservé du pied de page 4">
            <a:extLst>
              <a:ext uri="{FF2B5EF4-FFF2-40B4-BE49-F238E27FC236}">
                <a16:creationId xmlns:a16="http://schemas.microsoft.com/office/drawing/2014/main" id="{16882E33-4418-D261-0385-D55E9B832F68}"/>
              </a:ext>
            </a:extLst>
          </p:cNvPr>
          <p:cNvSpPr>
            <a:spLocks noGrp="1"/>
          </p:cNvSpPr>
          <p:nvPr>
            <p:ph type="ftr" sz="quarter" idx="11"/>
          </p:nvPr>
        </p:nvSpPr>
        <p:spPr/>
        <p:txBody>
          <a:bodyPr/>
          <a:lstStyle/>
          <a:p>
            <a:r>
              <a:rPr lang="fr-FR"/>
              <a:t>Introduction to Neural Networks. Author: David Thébault</a:t>
            </a:r>
          </a:p>
        </p:txBody>
      </p:sp>
      <p:sp>
        <p:nvSpPr>
          <p:cNvPr id="6" name="Espace réservé du numéro de diapositive 5">
            <a:extLst>
              <a:ext uri="{FF2B5EF4-FFF2-40B4-BE49-F238E27FC236}">
                <a16:creationId xmlns:a16="http://schemas.microsoft.com/office/drawing/2014/main" id="{05AEA5D8-EB94-39C7-1B75-550784795274}"/>
              </a:ext>
            </a:extLst>
          </p:cNvPr>
          <p:cNvSpPr>
            <a:spLocks noGrp="1"/>
          </p:cNvSpPr>
          <p:nvPr>
            <p:ph type="sldNum" sz="quarter" idx="12"/>
          </p:nvPr>
        </p:nvSpPr>
        <p:spPr/>
        <p:txBody>
          <a:bodyPr/>
          <a:lstStyle/>
          <a:p>
            <a:fld id="{ACB432F1-B5B9-3C47-A455-7BB5A781DE30}" type="slidenum">
              <a:rPr lang="fr-FR" smtClean="0"/>
              <a:t>‹N°›</a:t>
            </a:fld>
            <a:endParaRPr lang="fr-FR"/>
          </a:p>
        </p:txBody>
      </p:sp>
    </p:spTree>
    <p:extLst>
      <p:ext uri="{BB962C8B-B14F-4D97-AF65-F5344CB8AC3E}">
        <p14:creationId xmlns:p14="http://schemas.microsoft.com/office/powerpoint/2010/main" val="42111968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42BADA7-B622-D365-B5E0-58D9757B7065}"/>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C3F8DA9B-F3E3-B556-0B3A-3D98E7200956}"/>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EB4C417A-5EFA-4591-5379-5451D0181D60}"/>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5394D19E-B1CA-6FFF-65EC-A53B5BF176BC}"/>
              </a:ext>
            </a:extLst>
          </p:cNvPr>
          <p:cNvSpPr>
            <a:spLocks noGrp="1"/>
          </p:cNvSpPr>
          <p:nvPr>
            <p:ph type="dt" sz="half" idx="10"/>
          </p:nvPr>
        </p:nvSpPr>
        <p:spPr/>
        <p:txBody>
          <a:bodyPr/>
          <a:lstStyle/>
          <a:p>
            <a:fld id="{4EF72703-6F55-B143-926D-33F29B68ED9D}" type="datetime1">
              <a:rPr lang="fr-FR" smtClean="0"/>
              <a:t>18/01/2025</a:t>
            </a:fld>
            <a:endParaRPr lang="fr-FR"/>
          </a:p>
        </p:txBody>
      </p:sp>
      <p:sp>
        <p:nvSpPr>
          <p:cNvPr id="6" name="Espace réservé du pied de page 5">
            <a:extLst>
              <a:ext uri="{FF2B5EF4-FFF2-40B4-BE49-F238E27FC236}">
                <a16:creationId xmlns:a16="http://schemas.microsoft.com/office/drawing/2014/main" id="{AC3F38DC-5472-A2CE-5659-212C5F89F4A2}"/>
              </a:ext>
            </a:extLst>
          </p:cNvPr>
          <p:cNvSpPr>
            <a:spLocks noGrp="1"/>
          </p:cNvSpPr>
          <p:nvPr>
            <p:ph type="ftr" sz="quarter" idx="11"/>
          </p:nvPr>
        </p:nvSpPr>
        <p:spPr/>
        <p:txBody>
          <a:bodyPr/>
          <a:lstStyle/>
          <a:p>
            <a:r>
              <a:rPr lang="fr-FR"/>
              <a:t>Introduction to Neural Networks. Author: David Thébault</a:t>
            </a:r>
          </a:p>
        </p:txBody>
      </p:sp>
      <p:sp>
        <p:nvSpPr>
          <p:cNvPr id="7" name="Espace réservé du numéro de diapositive 6">
            <a:extLst>
              <a:ext uri="{FF2B5EF4-FFF2-40B4-BE49-F238E27FC236}">
                <a16:creationId xmlns:a16="http://schemas.microsoft.com/office/drawing/2014/main" id="{31ED1353-EBAD-EF6D-897B-15787473150E}"/>
              </a:ext>
            </a:extLst>
          </p:cNvPr>
          <p:cNvSpPr>
            <a:spLocks noGrp="1"/>
          </p:cNvSpPr>
          <p:nvPr>
            <p:ph type="sldNum" sz="quarter" idx="12"/>
          </p:nvPr>
        </p:nvSpPr>
        <p:spPr/>
        <p:txBody>
          <a:bodyPr/>
          <a:lstStyle/>
          <a:p>
            <a:fld id="{ACB432F1-B5B9-3C47-A455-7BB5A781DE30}" type="slidenum">
              <a:rPr lang="fr-FR" smtClean="0"/>
              <a:t>‹N°›</a:t>
            </a:fld>
            <a:endParaRPr lang="fr-FR"/>
          </a:p>
        </p:txBody>
      </p:sp>
    </p:spTree>
    <p:extLst>
      <p:ext uri="{BB962C8B-B14F-4D97-AF65-F5344CB8AC3E}">
        <p14:creationId xmlns:p14="http://schemas.microsoft.com/office/powerpoint/2010/main" val="1240821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C32CFB2-4EDC-1B32-9474-59E92AFBD59D}"/>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830C631B-6547-2381-FAFC-18B43DB147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CA2BF280-771E-AB14-F18E-C8E55A4F7E86}"/>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2C950A4D-5A94-0D96-24F3-4534B88CC5C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AEC53D22-06BF-4724-6B30-30C4F96FCED6}"/>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24AEA263-C714-3EBD-DBC4-FC3537444D9E}"/>
              </a:ext>
            </a:extLst>
          </p:cNvPr>
          <p:cNvSpPr>
            <a:spLocks noGrp="1"/>
          </p:cNvSpPr>
          <p:nvPr>
            <p:ph type="dt" sz="half" idx="10"/>
          </p:nvPr>
        </p:nvSpPr>
        <p:spPr/>
        <p:txBody>
          <a:bodyPr/>
          <a:lstStyle/>
          <a:p>
            <a:fld id="{4F108BCD-D917-1C43-94A2-2AEB6486CFBD}" type="datetime1">
              <a:rPr lang="fr-FR" smtClean="0"/>
              <a:t>18/01/2025</a:t>
            </a:fld>
            <a:endParaRPr lang="fr-FR"/>
          </a:p>
        </p:txBody>
      </p:sp>
      <p:sp>
        <p:nvSpPr>
          <p:cNvPr id="8" name="Espace réservé du pied de page 7">
            <a:extLst>
              <a:ext uri="{FF2B5EF4-FFF2-40B4-BE49-F238E27FC236}">
                <a16:creationId xmlns:a16="http://schemas.microsoft.com/office/drawing/2014/main" id="{F78E8A6D-6498-7537-6C16-3284273714DE}"/>
              </a:ext>
            </a:extLst>
          </p:cNvPr>
          <p:cNvSpPr>
            <a:spLocks noGrp="1"/>
          </p:cNvSpPr>
          <p:nvPr>
            <p:ph type="ftr" sz="quarter" idx="11"/>
          </p:nvPr>
        </p:nvSpPr>
        <p:spPr/>
        <p:txBody>
          <a:bodyPr/>
          <a:lstStyle/>
          <a:p>
            <a:r>
              <a:rPr lang="fr-FR"/>
              <a:t>Introduction to Neural Networks. Author: David Thébault</a:t>
            </a:r>
          </a:p>
        </p:txBody>
      </p:sp>
      <p:sp>
        <p:nvSpPr>
          <p:cNvPr id="9" name="Espace réservé du numéro de diapositive 8">
            <a:extLst>
              <a:ext uri="{FF2B5EF4-FFF2-40B4-BE49-F238E27FC236}">
                <a16:creationId xmlns:a16="http://schemas.microsoft.com/office/drawing/2014/main" id="{1E993A8B-BC15-2168-EDCC-F5BAC4482F69}"/>
              </a:ext>
            </a:extLst>
          </p:cNvPr>
          <p:cNvSpPr>
            <a:spLocks noGrp="1"/>
          </p:cNvSpPr>
          <p:nvPr>
            <p:ph type="sldNum" sz="quarter" idx="12"/>
          </p:nvPr>
        </p:nvSpPr>
        <p:spPr/>
        <p:txBody>
          <a:bodyPr/>
          <a:lstStyle/>
          <a:p>
            <a:fld id="{ACB432F1-B5B9-3C47-A455-7BB5A781DE30}" type="slidenum">
              <a:rPr lang="fr-FR" smtClean="0"/>
              <a:t>‹N°›</a:t>
            </a:fld>
            <a:endParaRPr lang="fr-FR"/>
          </a:p>
        </p:txBody>
      </p:sp>
    </p:spTree>
    <p:extLst>
      <p:ext uri="{BB962C8B-B14F-4D97-AF65-F5344CB8AC3E}">
        <p14:creationId xmlns:p14="http://schemas.microsoft.com/office/powerpoint/2010/main" val="29559978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1CF2EC3-0FF3-DBDD-4A7D-C7802C69BF3A}"/>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214410A0-E148-1688-7CC4-8240F8E8120F}"/>
              </a:ext>
            </a:extLst>
          </p:cNvPr>
          <p:cNvSpPr>
            <a:spLocks noGrp="1"/>
          </p:cNvSpPr>
          <p:nvPr>
            <p:ph type="dt" sz="half" idx="10"/>
          </p:nvPr>
        </p:nvSpPr>
        <p:spPr/>
        <p:txBody>
          <a:bodyPr/>
          <a:lstStyle/>
          <a:p>
            <a:fld id="{347E7109-0ECC-0349-BFDB-B5D769BB8687}" type="datetime1">
              <a:rPr lang="fr-FR" smtClean="0"/>
              <a:t>18/01/2025</a:t>
            </a:fld>
            <a:endParaRPr lang="fr-FR"/>
          </a:p>
        </p:txBody>
      </p:sp>
      <p:sp>
        <p:nvSpPr>
          <p:cNvPr id="4" name="Espace réservé du pied de page 3">
            <a:extLst>
              <a:ext uri="{FF2B5EF4-FFF2-40B4-BE49-F238E27FC236}">
                <a16:creationId xmlns:a16="http://schemas.microsoft.com/office/drawing/2014/main" id="{AC24F487-C1F8-D3BB-3FB1-755C6CE5B02E}"/>
              </a:ext>
            </a:extLst>
          </p:cNvPr>
          <p:cNvSpPr>
            <a:spLocks noGrp="1"/>
          </p:cNvSpPr>
          <p:nvPr>
            <p:ph type="ftr" sz="quarter" idx="11"/>
          </p:nvPr>
        </p:nvSpPr>
        <p:spPr/>
        <p:txBody>
          <a:bodyPr/>
          <a:lstStyle/>
          <a:p>
            <a:r>
              <a:rPr lang="fr-FR"/>
              <a:t>Introduction to Neural Networks. Author: David Thébault</a:t>
            </a:r>
          </a:p>
        </p:txBody>
      </p:sp>
      <p:sp>
        <p:nvSpPr>
          <p:cNvPr id="5" name="Espace réservé du numéro de diapositive 4">
            <a:extLst>
              <a:ext uri="{FF2B5EF4-FFF2-40B4-BE49-F238E27FC236}">
                <a16:creationId xmlns:a16="http://schemas.microsoft.com/office/drawing/2014/main" id="{381BBC3F-EF7F-9571-DA84-A577CDDD676C}"/>
              </a:ext>
            </a:extLst>
          </p:cNvPr>
          <p:cNvSpPr>
            <a:spLocks noGrp="1"/>
          </p:cNvSpPr>
          <p:nvPr>
            <p:ph type="sldNum" sz="quarter" idx="12"/>
          </p:nvPr>
        </p:nvSpPr>
        <p:spPr/>
        <p:txBody>
          <a:bodyPr/>
          <a:lstStyle/>
          <a:p>
            <a:fld id="{ACB432F1-B5B9-3C47-A455-7BB5A781DE30}" type="slidenum">
              <a:rPr lang="fr-FR" smtClean="0"/>
              <a:t>‹N°›</a:t>
            </a:fld>
            <a:endParaRPr lang="fr-FR"/>
          </a:p>
        </p:txBody>
      </p:sp>
    </p:spTree>
    <p:extLst>
      <p:ext uri="{BB962C8B-B14F-4D97-AF65-F5344CB8AC3E}">
        <p14:creationId xmlns:p14="http://schemas.microsoft.com/office/powerpoint/2010/main" val="3303938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DFA94B32-7AD0-CDAF-5DAE-807FD7DE60EC}"/>
              </a:ext>
            </a:extLst>
          </p:cNvPr>
          <p:cNvSpPr>
            <a:spLocks noGrp="1"/>
          </p:cNvSpPr>
          <p:nvPr>
            <p:ph type="dt" sz="half" idx="10"/>
          </p:nvPr>
        </p:nvSpPr>
        <p:spPr/>
        <p:txBody>
          <a:bodyPr/>
          <a:lstStyle/>
          <a:p>
            <a:fld id="{C673679C-73FC-0C42-84CC-C9257621E710}" type="datetime1">
              <a:rPr lang="fr-FR" smtClean="0"/>
              <a:t>18/01/2025</a:t>
            </a:fld>
            <a:endParaRPr lang="fr-FR"/>
          </a:p>
        </p:txBody>
      </p:sp>
      <p:sp>
        <p:nvSpPr>
          <p:cNvPr id="3" name="Espace réservé du pied de page 2">
            <a:extLst>
              <a:ext uri="{FF2B5EF4-FFF2-40B4-BE49-F238E27FC236}">
                <a16:creationId xmlns:a16="http://schemas.microsoft.com/office/drawing/2014/main" id="{AD46D768-ABDD-B7F7-6060-5838229326ED}"/>
              </a:ext>
            </a:extLst>
          </p:cNvPr>
          <p:cNvSpPr>
            <a:spLocks noGrp="1"/>
          </p:cNvSpPr>
          <p:nvPr>
            <p:ph type="ftr" sz="quarter" idx="11"/>
          </p:nvPr>
        </p:nvSpPr>
        <p:spPr/>
        <p:txBody>
          <a:bodyPr/>
          <a:lstStyle/>
          <a:p>
            <a:r>
              <a:rPr lang="fr-FR"/>
              <a:t>Introduction to Neural Networks. Author: David Thébault</a:t>
            </a:r>
          </a:p>
        </p:txBody>
      </p:sp>
      <p:sp>
        <p:nvSpPr>
          <p:cNvPr id="4" name="Espace réservé du numéro de diapositive 3">
            <a:extLst>
              <a:ext uri="{FF2B5EF4-FFF2-40B4-BE49-F238E27FC236}">
                <a16:creationId xmlns:a16="http://schemas.microsoft.com/office/drawing/2014/main" id="{967483F6-D0AF-3FD6-A494-D8A94310469A}"/>
              </a:ext>
            </a:extLst>
          </p:cNvPr>
          <p:cNvSpPr>
            <a:spLocks noGrp="1"/>
          </p:cNvSpPr>
          <p:nvPr>
            <p:ph type="sldNum" sz="quarter" idx="12"/>
          </p:nvPr>
        </p:nvSpPr>
        <p:spPr/>
        <p:txBody>
          <a:bodyPr/>
          <a:lstStyle/>
          <a:p>
            <a:fld id="{ACB432F1-B5B9-3C47-A455-7BB5A781DE30}" type="slidenum">
              <a:rPr lang="fr-FR" smtClean="0"/>
              <a:t>‹N°›</a:t>
            </a:fld>
            <a:endParaRPr lang="fr-FR"/>
          </a:p>
        </p:txBody>
      </p:sp>
    </p:spTree>
    <p:extLst>
      <p:ext uri="{BB962C8B-B14F-4D97-AF65-F5344CB8AC3E}">
        <p14:creationId xmlns:p14="http://schemas.microsoft.com/office/powerpoint/2010/main" val="24486429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BC55374-170B-730A-834D-823B49900BB2}"/>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9F4853C2-D86B-D6B2-8354-4795235FD1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B003D0BE-A7B9-5C35-5D2F-B6120D683E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0D7B273F-590C-812F-47EF-C01EC4BE5CBE}"/>
              </a:ext>
            </a:extLst>
          </p:cNvPr>
          <p:cNvSpPr>
            <a:spLocks noGrp="1"/>
          </p:cNvSpPr>
          <p:nvPr>
            <p:ph type="dt" sz="half" idx="10"/>
          </p:nvPr>
        </p:nvSpPr>
        <p:spPr/>
        <p:txBody>
          <a:bodyPr/>
          <a:lstStyle/>
          <a:p>
            <a:fld id="{CAA9CEEB-4EEE-3C40-B63B-27CAF1F2B31E}" type="datetime1">
              <a:rPr lang="fr-FR" smtClean="0"/>
              <a:t>18/01/2025</a:t>
            </a:fld>
            <a:endParaRPr lang="fr-FR"/>
          </a:p>
        </p:txBody>
      </p:sp>
      <p:sp>
        <p:nvSpPr>
          <p:cNvPr id="6" name="Espace réservé du pied de page 5">
            <a:extLst>
              <a:ext uri="{FF2B5EF4-FFF2-40B4-BE49-F238E27FC236}">
                <a16:creationId xmlns:a16="http://schemas.microsoft.com/office/drawing/2014/main" id="{FEBF2D89-354A-7EAE-4CA4-B4AA36E91C27}"/>
              </a:ext>
            </a:extLst>
          </p:cNvPr>
          <p:cNvSpPr>
            <a:spLocks noGrp="1"/>
          </p:cNvSpPr>
          <p:nvPr>
            <p:ph type="ftr" sz="quarter" idx="11"/>
          </p:nvPr>
        </p:nvSpPr>
        <p:spPr/>
        <p:txBody>
          <a:bodyPr/>
          <a:lstStyle/>
          <a:p>
            <a:r>
              <a:rPr lang="fr-FR"/>
              <a:t>Introduction to Neural Networks. Author: David Thébault</a:t>
            </a:r>
          </a:p>
        </p:txBody>
      </p:sp>
      <p:sp>
        <p:nvSpPr>
          <p:cNvPr id="7" name="Espace réservé du numéro de diapositive 6">
            <a:extLst>
              <a:ext uri="{FF2B5EF4-FFF2-40B4-BE49-F238E27FC236}">
                <a16:creationId xmlns:a16="http://schemas.microsoft.com/office/drawing/2014/main" id="{E95C16D4-AD7E-C52F-08C7-3F99D8082E85}"/>
              </a:ext>
            </a:extLst>
          </p:cNvPr>
          <p:cNvSpPr>
            <a:spLocks noGrp="1"/>
          </p:cNvSpPr>
          <p:nvPr>
            <p:ph type="sldNum" sz="quarter" idx="12"/>
          </p:nvPr>
        </p:nvSpPr>
        <p:spPr/>
        <p:txBody>
          <a:bodyPr/>
          <a:lstStyle/>
          <a:p>
            <a:fld id="{ACB432F1-B5B9-3C47-A455-7BB5A781DE30}" type="slidenum">
              <a:rPr lang="fr-FR" smtClean="0"/>
              <a:t>‹N°›</a:t>
            </a:fld>
            <a:endParaRPr lang="fr-FR"/>
          </a:p>
        </p:txBody>
      </p:sp>
    </p:spTree>
    <p:extLst>
      <p:ext uri="{BB962C8B-B14F-4D97-AF65-F5344CB8AC3E}">
        <p14:creationId xmlns:p14="http://schemas.microsoft.com/office/powerpoint/2010/main" val="12759067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738FC8E-5CEA-E473-2D0D-069C473B0BF0}"/>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6750C783-FA78-7CF7-99FB-A5C540D5879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4C5F634A-AAC7-3F15-CEAF-8ED06DD372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3D670B7F-B72B-47AF-C46A-03F198EAE837}"/>
              </a:ext>
            </a:extLst>
          </p:cNvPr>
          <p:cNvSpPr>
            <a:spLocks noGrp="1"/>
          </p:cNvSpPr>
          <p:nvPr>
            <p:ph type="dt" sz="half" idx="10"/>
          </p:nvPr>
        </p:nvSpPr>
        <p:spPr/>
        <p:txBody>
          <a:bodyPr/>
          <a:lstStyle/>
          <a:p>
            <a:fld id="{6ADE32E7-F72F-5E4B-AFB6-6DCFEF0E5A5C}" type="datetime1">
              <a:rPr lang="fr-FR" smtClean="0"/>
              <a:t>18/01/2025</a:t>
            </a:fld>
            <a:endParaRPr lang="fr-FR"/>
          </a:p>
        </p:txBody>
      </p:sp>
      <p:sp>
        <p:nvSpPr>
          <p:cNvPr id="6" name="Espace réservé du pied de page 5">
            <a:extLst>
              <a:ext uri="{FF2B5EF4-FFF2-40B4-BE49-F238E27FC236}">
                <a16:creationId xmlns:a16="http://schemas.microsoft.com/office/drawing/2014/main" id="{11F21E70-9264-D182-C0B8-0803C6D03AAF}"/>
              </a:ext>
            </a:extLst>
          </p:cNvPr>
          <p:cNvSpPr>
            <a:spLocks noGrp="1"/>
          </p:cNvSpPr>
          <p:nvPr>
            <p:ph type="ftr" sz="quarter" idx="11"/>
          </p:nvPr>
        </p:nvSpPr>
        <p:spPr/>
        <p:txBody>
          <a:bodyPr/>
          <a:lstStyle/>
          <a:p>
            <a:r>
              <a:rPr lang="fr-FR"/>
              <a:t>Introduction to Neural Networks. Author: David Thébault</a:t>
            </a:r>
          </a:p>
        </p:txBody>
      </p:sp>
      <p:sp>
        <p:nvSpPr>
          <p:cNvPr id="7" name="Espace réservé du numéro de diapositive 6">
            <a:extLst>
              <a:ext uri="{FF2B5EF4-FFF2-40B4-BE49-F238E27FC236}">
                <a16:creationId xmlns:a16="http://schemas.microsoft.com/office/drawing/2014/main" id="{D2EB2BC4-64B8-9844-52CE-A4C1888C6608}"/>
              </a:ext>
            </a:extLst>
          </p:cNvPr>
          <p:cNvSpPr>
            <a:spLocks noGrp="1"/>
          </p:cNvSpPr>
          <p:nvPr>
            <p:ph type="sldNum" sz="quarter" idx="12"/>
          </p:nvPr>
        </p:nvSpPr>
        <p:spPr/>
        <p:txBody>
          <a:bodyPr/>
          <a:lstStyle/>
          <a:p>
            <a:fld id="{ACB432F1-B5B9-3C47-A455-7BB5A781DE30}" type="slidenum">
              <a:rPr lang="fr-FR" smtClean="0"/>
              <a:t>‹N°›</a:t>
            </a:fld>
            <a:endParaRPr lang="fr-FR"/>
          </a:p>
        </p:txBody>
      </p:sp>
    </p:spTree>
    <p:extLst>
      <p:ext uri="{BB962C8B-B14F-4D97-AF65-F5344CB8AC3E}">
        <p14:creationId xmlns:p14="http://schemas.microsoft.com/office/powerpoint/2010/main" val="10505720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0B3F7FA-9E3E-7353-A17B-5238435BD6C6}"/>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451CD9A4-21FF-E3DE-190C-DDB4FBC517D5}"/>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5F4DC3D2-7217-81EA-D510-9956C788B51A}"/>
              </a:ext>
            </a:extLst>
          </p:cNvPr>
          <p:cNvSpPr>
            <a:spLocks noGrp="1"/>
          </p:cNvSpPr>
          <p:nvPr>
            <p:ph type="dt" sz="half" idx="10"/>
          </p:nvPr>
        </p:nvSpPr>
        <p:spPr/>
        <p:txBody>
          <a:bodyPr/>
          <a:lstStyle/>
          <a:p>
            <a:fld id="{23E4CF20-4019-B646-9CAE-26A8D5289551}" type="datetime1">
              <a:rPr lang="fr-FR" smtClean="0"/>
              <a:t>18/01/2025</a:t>
            </a:fld>
            <a:endParaRPr lang="fr-FR"/>
          </a:p>
        </p:txBody>
      </p:sp>
      <p:sp>
        <p:nvSpPr>
          <p:cNvPr id="5" name="Espace réservé du pied de page 4">
            <a:extLst>
              <a:ext uri="{FF2B5EF4-FFF2-40B4-BE49-F238E27FC236}">
                <a16:creationId xmlns:a16="http://schemas.microsoft.com/office/drawing/2014/main" id="{B28DFD9A-8C57-8D49-02B5-3D3A54ABEA43}"/>
              </a:ext>
            </a:extLst>
          </p:cNvPr>
          <p:cNvSpPr>
            <a:spLocks noGrp="1"/>
          </p:cNvSpPr>
          <p:nvPr>
            <p:ph type="ftr" sz="quarter" idx="11"/>
          </p:nvPr>
        </p:nvSpPr>
        <p:spPr/>
        <p:txBody>
          <a:bodyPr/>
          <a:lstStyle/>
          <a:p>
            <a:r>
              <a:rPr lang="fr-FR"/>
              <a:t>Introduction to Neural Networks. Author: David Thébault</a:t>
            </a:r>
          </a:p>
        </p:txBody>
      </p:sp>
      <p:sp>
        <p:nvSpPr>
          <p:cNvPr id="6" name="Espace réservé du numéro de diapositive 5">
            <a:extLst>
              <a:ext uri="{FF2B5EF4-FFF2-40B4-BE49-F238E27FC236}">
                <a16:creationId xmlns:a16="http://schemas.microsoft.com/office/drawing/2014/main" id="{F1662E7C-1983-97FD-50BA-E81CD54AEFB0}"/>
              </a:ext>
            </a:extLst>
          </p:cNvPr>
          <p:cNvSpPr>
            <a:spLocks noGrp="1"/>
          </p:cNvSpPr>
          <p:nvPr>
            <p:ph type="sldNum" sz="quarter" idx="12"/>
          </p:nvPr>
        </p:nvSpPr>
        <p:spPr/>
        <p:txBody>
          <a:bodyPr/>
          <a:lstStyle/>
          <a:p>
            <a:fld id="{ACB432F1-B5B9-3C47-A455-7BB5A781DE30}" type="slidenum">
              <a:rPr lang="fr-FR" smtClean="0"/>
              <a:t>‹N°›</a:t>
            </a:fld>
            <a:endParaRPr lang="fr-FR"/>
          </a:p>
        </p:txBody>
      </p:sp>
    </p:spTree>
    <p:extLst>
      <p:ext uri="{BB962C8B-B14F-4D97-AF65-F5344CB8AC3E}">
        <p14:creationId xmlns:p14="http://schemas.microsoft.com/office/powerpoint/2010/main" val="16637910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6AF09321-1FF5-7B5A-4E46-9C7F94548E29}"/>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7065DEB8-36CA-28AE-E38F-C79C2753FEB9}"/>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D7DD4A3-B9C8-9602-53C1-6A8A3671D67F}"/>
              </a:ext>
            </a:extLst>
          </p:cNvPr>
          <p:cNvSpPr>
            <a:spLocks noGrp="1"/>
          </p:cNvSpPr>
          <p:nvPr>
            <p:ph type="dt" sz="half" idx="10"/>
          </p:nvPr>
        </p:nvSpPr>
        <p:spPr/>
        <p:txBody>
          <a:bodyPr/>
          <a:lstStyle/>
          <a:p>
            <a:fld id="{2945B831-3BBF-0A4D-85D6-BE253C348633}" type="datetime1">
              <a:rPr lang="fr-FR" smtClean="0"/>
              <a:t>18/01/2025</a:t>
            </a:fld>
            <a:endParaRPr lang="fr-FR"/>
          </a:p>
        </p:txBody>
      </p:sp>
      <p:sp>
        <p:nvSpPr>
          <p:cNvPr id="5" name="Espace réservé du pied de page 4">
            <a:extLst>
              <a:ext uri="{FF2B5EF4-FFF2-40B4-BE49-F238E27FC236}">
                <a16:creationId xmlns:a16="http://schemas.microsoft.com/office/drawing/2014/main" id="{33D9502E-93B7-D647-56D4-AFBEA9BABB15}"/>
              </a:ext>
            </a:extLst>
          </p:cNvPr>
          <p:cNvSpPr>
            <a:spLocks noGrp="1"/>
          </p:cNvSpPr>
          <p:nvPr>
            <p:ph type="ftr" sz="quarter" idx="11"/>
          </p:nvPr>
        </p:nvSpPr>
        <p:spPr/>
        <p:txBody>
          <a:bodyPr/>
          <a:lstStyle/>
          <a:p>
            <a:r>
              <a:rPr lang="fr-FR"/>
              <a:t>Introduction to Neural Networks. Author: David Thébault</a:t>
            </a:r>
          </a:p>
        </p:txBody>
      </p:sp>
      <p:sp>
        <p:nvSpPr>
          <p:cNvPr id="6" name="Espace réservé du numéro de diapositive 5">
            <a:extLst>
              <a:ext uri="{FF2B5EF4-FFF2-40B4-BE49-F238E27FC236}">
                <a16:creationId xmlns:a16="http://schemas.microsoft.com/office/drawing/2014/main" id="{5069E17C-7EAD-F07C-5110-1E5BBB523DDF}"/>
              </a:ext>
            </a:extLst>
          </p:cNvPr>
          <p:cNvSpPr>
            <a:spLocks noGrp="1"/>
          </p:cNvSpPr>
          <p:nvPr>
            <p:ph type="sldNum" sz="quarter" idx="12"/>
          </p:nvPr>
        </p:nvSpPr>
        <p:spPr/>
        <p:txBody>
          <a:bodyPr/>
          <a:lstStyle/>
          <a:p>
            <a:fld id="{ACB432F1-B5B9-3C47-A455-7BB5A781DE30}" type="slidenum">
              <a:rPr lang="fr-FR" smtClean="0"/>
              <a:t>‹N°›</a:t>
            </a:fld>
            <a:endParaRPr lang="fr-FR"/>
          </a:p>
        </p:txBody>
      </p:sp>
    </p:spTree>
    <p:extLst>
      <p:ext uri="{BB962C8B-B14F-4D97-AF65-F5344CB8AC3E}">
        <p14:creationId xmlns:p14="http://schemas.microsoft.com/office/powerpoint/2010/main" val="31214237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CAADA400-D07F-8E6D-1537-426B596CD4C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91F83CB2-4046-4F54-03D3-E1B8143879A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24B55753-5C35-3CC7-D7B2-FBEB2079A2F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8C77408-4A21-EE43-9C54-31672AA4B1A1}" type="datetime1">
              <a:rPr lang="fr-FR" smtClean="0"/>
              <a:t>18/01/2025</a:t>
            </a:fld>
            <a:endParaRPr lang="fr-FR"/>
          </a:p>
        </p:txBody>
      </p:sp>
      <p:sp>
        <p:nvSpPr>
          <p:cNvPr id="5" name="Espace réservé du pied de page 4">
            <a:extLst>
              <a:ext uri="{FF2B5EF4-FFF2-40B4-BE49-F238E27FC236}">
                <a16:creationId xmlns:a16="http://schemas.microsoft.com/office/drawing/2014/main" id="{EEF585E5-CA03-DD40-2278-8F72FC30D36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fr-FR"/>
              <a:t>Introduction to Neural Networks. Author: David Thébault</a:t>
            </a:r>
          </a:p>
        </p:txBody>
      </p:sp>
      <p:sp>
        <p:nvSpPr>
          <p:cNvPr id="6" name="Espace réservé du numéro de diapositive 5">
            <a:extLst>
              <a:ext uri="{FF2B5EF4-FFF2-40B4-BE49-F238E27FC236}">
                <a16:creationId xmlns:a16="http://schemas.microsoft.com/office/drawing/2014/main" id="{E36FED89-57B1-F816-7CCC-8334F59D100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CB432F1-B5B9-3C47-A455-7BB5A781DE30}" type="slidenum">
              <a:rPr lang="fr-FR" smtClean="0"/>
              <a:t>‹N°›</a:t>
            </a:fld>
            <a:endParaRPr lang="fr-FR"/>
          </a:p>
        </p:txBody>
      </p:sp>
    </p:spTree>
    <p:extLst>
      <p:ext uri="{BB962C8B-B14F-4D97-AF65-F5344CB8AC3E}">
        <p14:creationId xmlns:p14="http://schemas.microsoft.com/office/powerpoint/2010/main" val="23659531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3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image" Target="../media/image13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2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image" Target="../media/image1321.png"/><Relationship Id="rId1" Type="http://schemas.openxmlformats.org/officeDocument/2006/relationships/slideLayout" Target="../slideLayouts/slideLayout2.xml"/><Relationship Id="rId6" Type="http://schemas.openxmlformats.org/officeDocument/2006/relationships/image" Target="../media/image137.png"/><Relationship Id="rId5" Type="http://schemas.openxmlformats.org/officeDocument/2006/relationships/image" Target="../media/image2.sv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2" Type="http://schemas.openxmlformats.org/officeDocument/2006/relationships/image" Target="../media/image13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41.png"/><Relationship Id="rId4" Type="http://schemas.openxmlformats.org/officeDocument/2006/relationships/image" Target="../media/image140.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45.png"/></Relationships>
</file>

<file path=ppt/slides/_rels/slide14.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6F56B84-BFA1-BA9A-1552-59B724FBA9FC}"/>
              </a:ext>
            </a:extLst>
          </p:cNvPr>
          <p:cNvSpPr>
            <a:spLocks noGrp="1"/>
          </p:cNvSpPr>
          <p:nvPr>
            <p:ph type="ctrTitle"/>
          </p:nvPr>
        </p:nvSpPr>
        <p:spPr/>
        <p:txBody>
          <a:bodyPr/>
          <a:lstStyle/>
          <a:p>
            <a:r>
              <a:rPr lang="fr-FR" dirty="0"/>
              <a:t>Introduction to </a:t>
            </a:r>
            <a:br>
              <a:rPr lang="fr-FR" dirty="0"/>
            </a:br>
            <a:r>
              <a:rPr lang="en-GB" noProof="0" dirty="0"/>
              <a:t>Neural Network </a:t>
            </a:r>
            <a:endParaRPr lang="fr-FR" dirty="0"/>
          </a:p>
        </p:txBody>
      </p:sp>
      <p:sp>
        <p:nvSpPr>
          <p:cNvPr id="3" name="Espace réservé du pied de page 2">
            <a:extLst>
              <a:ext uri="{FF2B5EF4-FFF2-40B4-BE49-F238E27FC236}">
                <a16:creationId xmlns:a16="http://schemas.microsoft.com/office/drawing/2014/main" id="{70571C27-E009-ADD7-40B4-859AAF7C848C}"/>
              </a:ext>
            </a:extLst>
          </p:cNvPr>
          <p:cNvSpPr>
            <a:spLocks noGrp="1"/>
          </p:cNvSpPr>
          <p:nvPr>
            <p:ph type="ftr" sz="quarter" idx="11"/>
          </p:nvPr>
        </p:nvSpPr>
        <p:spPr/>
        <p:txBody>
          <a:bodyPr/>
          <a:lstStyle/>
          <a:p>
            <a:r>
              <a:rPr lang="en-GB" noProof="0" dirty="0"/>
              <a:t>Introduction to Neural Networks. Author: David Thébault based on NLPDemystified.org</a:t>
            </a:r>
          </a:p>
        </p:txBody>
      </p:sp>
    </p:spTree>
    <p:extLst>
      <p:ext uri="{BB962C8B-B14F-4D97-AF65-F5344CB8AC3E}">
        <p14:creationId xmlns:p14="http://schemas.microsoft.com/office/powerpoint/2010/main" val="12996678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2DC5F-F17D-285C-09E7-294A596FD55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265A4ED-2210-3E71-88BA-30236D0BD175}"/>
              </a:ext>
            </a:extLst>
          </p:cNvPr>
          <p:cNvSpPr>
            <a:spLocks noGrp="1"/>
          </p:cNvSpPr>
          <p:nvPr>
            <p:ph type="ctrTitle"/>
          </p:nvPr>
        </p:nvSpPr>
        <p:spPr/>
        <p:txBody>
          <a:bodyPr/>
          <a:lstStyle/>
          <a:p>
            <a:r>
              <a:rPr lang="en-GB" dirty="0"/>
              <a:t>Optimizers</a:t>
            </a:r>
            <a:endParaRPr lang="en-GB" noProof="0" dirty="0"/>
          </a:p>
        </p:txBody>
      </p:sp>
      <p:sp>
        <p:nvSpPr>
          <p:cNvPr id="3" name="Espace réservé du pied de page 2">
            <a:extLst>
              <a:ext uri="{FF2B5EF4-FFF2-40B4-BE49-F238E27FC236}">
                <a16:creationId xmlns:a16="http://schemas.microsoft.com/office/drawing/2014/main" id="{14DF9724-A9A7-F87D-B28F-8B678E4F655A}"/>
              </a:ext>
            </a:extLst>
          </p:cNvPr>
          <p:cNvSpPr>
            <a:spLocks noGrp="1"/>
          </p:cNvSpPr>
          <p:nvPr>
            <p:ph type="ftr" sz="quarter" idx="11"/>
          </p:nvPr>
        </p:nvSpPr>
        <p:spPr/>
        <p:txBody>
          <a:bodyPr/>
          <a:lstStyle/>
          <a:p>
            <a:r>
              <a:rPr lang="fr-FR"/>
              <a:t>Introduction to Neural Networks. Author: David Thébault</a:t>
            </a:r>
          </a:p>
        </p:txBody>
      </p:sp>
    </p:spTree>
    <p:extLst>
      <p:ext uri="{BB962C8B-B14F-4D97-AF65-F5344CB8AC3E}">
        <p14:creationId xmlns:p14="http://schemas.microsoft.com/office/powerpoint/2010/main" val="33501103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8EAC59-CBE5-2922-6C24-9C06886DDE0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F9FA765-E212-0DA4-DFC5-87FF468F9A6F}"/>
              </a:ext>
            </a:extLst>
          </p:cNvPr>
          <p:cNvSpPr>
            <a:spLocks noGrp="1"/>
          </p:cNvSpPr>
          <p:nvPr>
            <p:ph type="title"/>
          </p:nvPr>
        </p:nvSpPr>
        <p:spPr/>
        <p:txBody>
          <a:bodyPr/>
          <a:lstStyle/>
          <a:p>
            <a:r>
              <a:rPr lang="en-GB" dirty="0"/>
              <a:t>A bit of vocabulary: epochs vs iterations</a:t>
            </a:r>
          </a:p>
        </p:txBody>
      </p:sp>
      <p:sp>
        <p:nvSpPr>
          <p:cNvPr id="3" name="Espace réservé du contenu 2">
            <a:extLst>
              <a:ext uri="{FF2B5EF4-FFF2-40B4-BE49-F238E27FC236}">
                <a16:creationId xmlns:a16="http://schemas.microsoft.com/office/drawing/2014/main" id="{1F095B16-84E3-8749-1CC6-9662D1987826}"/>
              </a:ext>
            </a:extLst>
          </p:cNvPr>
          <p:cNvSpPr>
            <a:spLocks noGrp="1"/>
          </p:cNvSpPr>
          <p:nvPr>
            <p:ph idx="1"/>
          </p:nvPr>
        </p:nvSpPr>
        <p:spPr>
          <a:xfrm>
            <a:off x="838200" y="1825625"/>
            <a:ext cx="9564974" cy="4351338"/>
          </a:xfrm>
        </p:spPr>
        <p:txBody>
          <a:bodyPr>
            <a:normAutofit/>
          </a:bodyPr>
          <a:lstStyle/>
          <a:p>
            <a:r>
              <a:rPr lang="en-GB" sz="2400" b="1" noProof="0" dirty="0"/>
              <a:t>Epoch</a:t>
            </a:r>
            <a:endParaRPr lang="en-GB" b="1" noProof="0" dirty="0"/>
          </a:p>
          <a:p>
            <a:pPr marL="0" indent="0">
              <a:lnSpc>
                <a:spcPct val="150000"/>
              </a:lnSpc>
              <a:buNone/>
            </a:pPr>
            <a:r>
              <a:rPr lang="en-GB" sz="1600" b="0" i="0" u="none" strike="noStrike" noProof="0" dirty="0">
                <a:effectLst/>
                <a:latin typeface="ui-sans-serif"/>
              </a:rPr>
              <a:t>An epoch is a complete pass through the entire training dataset. </a:t>
            </a:r>
          </a:p>
          <a:p>
            <a:pPr marL="0" indent="0">
              <a:lnSpc>
                <a:spcPct val="150000"/>
              </a:lnSpc>
              <a:buNone/>
            </a:pPr>
            <a:r>
              <a:rPr lang="en-GB" sz="1600" b="0" i="0" u="none" strike="noStrike" noProof="0" dirty="0">
                <a:effectLst/>
                <a:latin typeface="ui-sans-serif"/>
              </a:rPr>
              <a:t>In other words, an epoch means that each training example has been seen once by the model. For example, if you have 1000 training examples and you set a batch size of 100, one epoch will consist of 10 iterations (1000 / 100).</a:t>
            </a:r>
          </a:p>
          <a:p>
            <a:pPr marL="0" indent="0">
              <a:lnSpc>
                <a:spcPct val="150000"/>
              </a:lnSpc>
              <a:buNone/>
            </a:pPr>
            <a:endParaRPr lang="en-GB" sz="1600" b="0" i="0" u="none" strike="noStrike" noProof="0" dirty="0">
              <a:effectLst/>
              <a:latin typeface="ui-sans-serif"/>
            </a:endParaRPr>
          </a:p>
          <a:p>
            <a:r>
              <a:rPr lang="en-GB" sz="2400" b="1" noProof="0" dirty="0"/>
              <a:t>Iteration</a:t>
            </a:r>
          </a:p>
          <a:p>
            <a:pPr marL="0" indent="0">
              <a:lnSpc>
                <a:spcPct val="150000"/>
              </a:lnSpc>
              <a:buNone/>
            </a:pPr>
            <a:r>
              <a:rPr lang="en-GB" sz="1600" b="0" i="0" u="none" strike="noStrike" noProof="0" dirty="0">
                <a:effectLst/>
                <a:latin typeface="ui-sans-serif"/>
              </a:rPr>
              <a:t>An iteration is a single update of the model's weights. </a:t>
            </a:r>
          </a:p>
          <a:p>
            <a:pPr marL="0" indent="0">
              <a:lnSpc>
                <a:spcPct val="150000"/>
              </a:lnSpc>
              <a:buNone/>
            </a:pPr>
            <a:r>
              <a:rPr lang="en-GB" sz="1600" b="0" i="0" u="none" strike="noStrike" noProof="0" dirty="0">
                <a:effectLst/>
                <a:latin typeface="ui-sans-serif"/>
              </a:rPr>
              <a:t>In the context of batch training, an iteration corresponds to a weight update after processing a batch of data. </a:t>
            </a:r>
          </a:p>
          <a:p>
            <a:pPr marL="0" indent="0">
              <a:lnSpc>
                <a:spcPct val="150000"/>
              </a:lnSpc>
              <a:buNone/>
            </a:pPr>
            <a:r>
              <a:rPr lang="en-GB" sz="1600" b="0" i="0" u="none" strike="noStrike" noProof="0" dirty="0">
                <a:effectLst/>
                <a:latin typeface="ui-sans-serif"/>
              </a:rPr>
              <a:t>For example, if you have 1000 training examples and a batch size of 100, one epoch will consist of 10 iterations.</a:t>
            </a:r>
            <a:endParaRPr lang="en-GB" sz="3600" noProof="0" dirty="0"/>
          </a:p>
        </p:txBody>
      </p:sp>
      <p:sp>
        <p:nvSpPr>
          <p:cNvPr id="4" name="Espace réservé du pied de page 3">
            <a:extLst>
              <a:ext uri="{FF2B5EF4-FFF2-40B4-BE49-F238E27FC236}">
                <a16:creationId xmlns:a16="http://schemas.microsoft.com/office/drawing/2014/main" id="{6700968D-C34C-31D9-4559-D55FED0D8D46}"/>
              </a:ext>
            </a:extLst>
          </p:cNvPr>
          <p:cNvSpPr>
            <a:spLocks noGrp="1"/>
          </p:cNvSpPr>
          <p:nvPr>
            <p:ph type="ftr" sz="quarter" idx="11"/>
          </p:nvPr>
        </p:nvSpPr>
        <p:spPr/>
        <p:txBody>
          <a:bodyPr/>
          <a:lstStyle/>
          <a:p>
            <a:r>
              <a:rPr lang="fr-FR"/>
              <a:t>Introduction to Neural Networks. Author: David Thébault</a:t>
            </a:r>
          </a:p>
        </p:txBody>
      </p:sp>
    </p:spTree>
    <p:extLst>
      <p:ext uri="{BB962C8B-B14F-4D97-AF65-F5344CB8AC3E}">
        <p14:creationId xmlns:p14="http://schemas.microsoft.com/office/powerpoint/2010/main" val="33296610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891FA-4C67-EA16-077A-C3BA0124EC1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1CD6593-1649-3B88-B23E-58A12A053065}"/>
              </a:ext>
            </a:extLst>
          </p:cNvPr>
          <p:cNvSpPr>
            <a:spLocks noGrp="1"/>
          </p:cNvSpPr>
          <p:nvPr>
            <p:ph type="title"/>
          </p:nvPr>
        </p:nvSpPr>
        <p:spPr/>
        <p:txBody>
          <a:bodyPr/>
          <a:lstStyle/>
          <a:p>
            <a:r>
              <a:rPr lang="en-GB" dirty="0"/>
              <a:t>Gradient descent types</a:t>
            </a:r>
          </a:p>
        </p:txBody>
      </p:sp>
      <p:sp>
        <p:nvSpPr>
          <p:cNvPr id="3" name="Espace réservé du contenu 2">
            <a:extLst>
              <a:ext uri="{FF2B5EF4-FFF2-40B4-BE49-F238E27FC236}">
                <a16:creationId xmlns:a16="http://schemas.microsoft.com/office/drawing/2014/main" id="{C11C89AB-82E7-1DED-EDD4-2F72DBF63843}"/>
              </a:ext>
            </a:extLst>
          </p:cNvPr>
          <p:cNvSpPr>
            <a:spLocks noGrp="1"/>
          </p:cNvSpPr>
          <p:nvPr>
            <p:ph idx="1"/>
          </p:nvPr>
        </p:nvSpPr>
        <p:spPr>
          <a:xfrm>
            <a:off x="838200" y="1690688"/>
            <a:ext cx="7961026" cy="4486275"/>
          </a:xfrm>
        </p:spPr>
        <p:txBody>
          <a:bodyPr/>
          <a:lstStyle/>
          <a:p>
            <a:r>
              <a:rPr lang="en-GB" b="1" dirty="0"/>
              <a:t>Plain or Batch Gradient Descent (BGD)</a:t>
            </a:r>
          </a:p>
          <a:p>
            <a:pPr marL="0" indent="0">
              <a:lnSpc>
                <a:spcPct val="150000"/>
              </a:lnSpc>
              <a:buNone/>
            </a:pPr>
            <a:r>
              <a:rPr lang="en-GB" sz="1600" dirty="0"/>
              <a:t>Pass the </a:t>
            </a:r>
            <a:r>
              <a:rPr lang="en-GB" sz="1600" b="1" dirty="0"/>
              <a:t>entire</a:t>
            </a:r>
            <a:r>
              <a:rPr lang="en-GB" sz="1600" dirty="0"/>
              <a:t> </a:t>
            </a:r>
            <a:r>
              <a:rPr lang="en-GB" sz="1600" b="1" dirty="0"/>
              <a:t>dataset</a:t>
            </a:r>
            <a:r>
              <a:rPr lang="en-GB" sz="1600" dirty="0"/>
              <a:t> through the network for each iteration </a:t>
            </a:r>
          </a:p>
          <a:p>
            <a:pPr marL="0" indent="0">
              <a:lnSpc>
                <a:spcPct val="150000"/>
              </a:lnSpc>
              <a:buNone/>
            </a:pPr>
            <a:r>
              <a:rPr lang="en-GB" sz="1600" dirty="0"/>
              <a:t>(-) Can be too slow due to large data before calculating a loss.</a:t>
            </a:r>
          </a:p>
          <a:p>
            <a:pPr marL="0" indent="0">
              <a:lnSpc>
                <a:spcPct val="150000"/>
              </a:lnSpc>
              <a:buNone/>
            </a:pPr>
            <a:r>
              <a:rPr lang="en-GB" sz="1600" dirty="0"/>
              <a:t>BGD converges smoothly.</a:t>
            </a:r>
          </a:p>
          <a:p>
            <a:pPr marL="0" indent="0">
              <a:buNone/>
            </a:pPr>
            <a:endParaRPr lang="en-GB" sz="2400" dirty="0"/>
          </a:p>
        </p:txBody>
      </p:sp>
      <p:sp>
        <p:nvSpPr>
          <p:cNvPr id="4" name="Espace réservé du pied de page 3">
            <a:extLst>
              <a:ext uri="{FF2B5EF4-FFF2-40B4-BE49-F238E27FC236}">
                <a16:creationId xmlns:a16="http://schemas.microsoft.com/office/drawing/2014/main" id="{46D4775C-7E1B-C045-ADD4-0396ADFDBAD3}"/>
              </a:ext>
            </a:extLst>
          </p:cNvPr>
          <p:cNvSpPr>
            <a:spLocks noGrp="1"/>
          </p:cNvSpPr>
          <p:nvPr>
            <p:ph type="ftr" sz="quarter" idx="11"/>
          </p:nvPr>
        </p:nvSpPr>
        <p:spPr/>
        <p:txBody>
          <a:bodyPr/>
          <a:lstStyle/>
          <a:p>
            <a:r>
              <a:rPr lang="fr-FR"/>
              <a:t>Introduction to Neural Networks. Author: David Thébault</a:t>
            </a:r>
          </a:p>
        </p:txBody>
      </p:sp>
      <mc:AlternateContent xmlns:mc="http://schemas.openxmlformats.org/markup-compatibility/2006" xmlns:a14="http://schemas.microsoft.com/office/drawing/2010/main">
        <mc:Choice Requires="a14">
          <p:sp>
            <p:nvSpPr>
              <p:cNvPr id="7" name="ZoneTexte 6">
                <a:extLst>
                  <a:ext uri="{FF2B5EF4-FFF2-40B4-BE49-F238E27FC236}">
                    <a16:creationId xmlns:a16="http://schemas.microsoft.com/office/drawing/2014/main" id="{1ED40B54-C8BD-C509-BE52-8381D97203DA}"/>
                  </a:ext>
                </a:extLst>
              </p:cNvPr>
              <p:cNvSpPr txBox="1"/>
              <p:nvPr/>
            </p:nvSpPr>
            <p:spPr>
              <a:xfrm>
                <a:off x="7827964" y="1825105"/>
                <a:ext cx="2227943" cy="1661993"/>
              </a:xfrm>
              <a:prstGeom prst="rect">
                <a:avLst/>
              </a:prstGeom>
              <a:noFill/>
            </p:spPr>
            <p:txBody>
              <a:bodyPr wrap="square" lIns="0" tIns="0" rIns="0" bIns="0" rtlCol="0">
                <a:spAutoFit/>
              </a:bodyPr>
              <a:lstStyle/>
              <a:p>
                <a:pPr algn="ctr"/>
                <a14:m>
                  <m:oMathPara xmlns:m="http://schemas.openxmlformats.org/officeDocument/2006/math">
                    <m:oMathParaPr>
                      <m:jc m:val="centerGroup"/>
                    </m:oMathParaPr>
                    <m:oMath xmlns:m="http://schemas.openxmlformats.org/officeDocument/2006/math">
                      <m:m>
                        <m:mPr>
                          <m:mcs>
                            <m:mc>
                              <m:mcPr>
                                <m:count m:val="3"/>
                                <m:mcJc m:val="center"/>
                              </m:mcPr>
                            </m:mc>
                          </m:mcs>
                          <m:ctrlPr>
                            <a:rPr lang="en-GB" i="1" smtClean="0">
                              <a:latin typeface="Cambria Math" panose="02040503050406030204" pitchFamily="18" charset="0"/>
                            </a:rPr>
                          </m:ctrlPr>
                        </m:mPr>
                        <m:mr>
                          <m:e>
                            <m:sSub>
                              <m:sSubPr>
                                <m:ctrlPr>
                                  <a:rPr lang="fr-FR" b="0" i="1" smtClean="0">
                                    <a:latin typeface="Cambria Math" panose="02040503050406030204" pitchFamily="18" charset="0"/>
                                  </a:rPr>
                                </m:ctrlPr>
                              </m:sSubPr>
                              <m:e>
                                <m:r>
                                  <a:rPr lang="fr-FR" b="0" i="1" smtClean="0">
                                    <a:latin typeface="Cambria Math" panose="02040503050406030204" pitchFamily="18" charset="0"/>
                                  </a:rPr>
                                  <m:t>[[</m:t>
                                </m:r>
                                <m:r>
                                  <m:rPr>
                                    <m:brk m:alnAt="7"/>
                                  </m:rPr>
                                  <a:rPr lang="fr-FR" b="0" i="1" smtClean="0">
                                    <a:latin typeface="Cambria Math" panose="02040503050406030204" pitchFamily="18" charset="0"/>
                                  </a:rPr>
                                  <m:t>𝑋</m:t>
                                </m:r>
                              </m:e>
                              <m:sub>
                                <m:r>
                                  <m:rPr>
                                    <m:brk m:alnAt="7"/>
                                  </m:rPr>
                                  <a:rPr lang="fr-FR" b="0" i="1" smtClean="0">
                                    <a:latin typeface="Cambria Math" panose="02040503050406030204" pitchFamily="18" charset="0"/>
                                  </a:rPr>
                                  <m:t>1</m:t>
                                </m:r>
                                <m:r>
                                  <a:rPr lang="fr-FR" b="0" i="1" smtClean="0">
                                    <a:latin typeface="Cambria Math" panose="02040503050406030204" pitchFamily="18" charset="0"/>
                                  </a:rPr>
                                  <m:t>1</m:t>
                                </m:r>
                              </m:sub>
                            </m:sSub>
                          </m:e>
                          <m:e>
                            <m:sSub>
                              <m:sSubPr>
                                <m:ctrlPr>
                                  <a:rPr lang="fr-FR" b="0" i="1" smtClean="0">
                                    <a:latin typeface="Cambria Math" panose="02040503050406030204" pitchFamily="18" charset="0"/>
                                  </a:rPr>
                                </m:ctrlPr>
                              </m:sSubPr>
                              <m:e>
                                <m:r>
                                  <a:rPr lang="fr-FR" b="0" i="1" smtClean="0">
                                    <a:latin typeface="Cambria Math" panose="02040503050406030204" pitchFamily="18" charset="0"/>
                                  </a:rPr>
                                  <m:t>𝑋</m:t>
                                </m:r>
                              </m:e>
                              <m:sub>
                                <m:r>
                                  <a:rPr lang="fr-FR" b="0" i="1" smtClean="0">
                                    <a:latin typeface="Cambria Math" panose="02040503050406030204" pitchFamily="18" charset="0"/>
                                  </a:rPr>
                                  <m:t>12</m:t>
                                </m:r>
                              </m:sub>
                            </m:sSub>
                          </m:e>
                          <m:e>
                            <m:sSub>
                              <m:sSubPr>
                                <m:ctrlPr>
                                  <a:rPr lang="fr-FR" b="0" i="1" smtClean="0">
                                    <a:latin typeface="Cambria Math" panose="02040503050406030204" pitchFamily="18" charset="0"/>
                                  </a:rPr>
                                </m:ctrlPr>
                              </m:sSubPr>
                              <m:e>
                                <m:r>
                                  <a:rPr lang="fr-FR" b="0" i="1" smtClean="0">
                                    <a:latin typeface="Cambria Math" panose="02040503050406030204" pitchFamily="18" charset="0"/>
                                  </a:rPr>
                                  <m:t>𝑋</m:t>
                                </m:r>
                              </m:e>
                              <m:sub>
                                <m:r>
                                  <a:rPr lang="fr-FR" b="0" i="1" smtClean="0">
                                    <a:latin typeface="Cambria Math" panose="02040503050406030204" pitchFamily="18" charset="0"/>
                                  </a:rPr>
                                  <m:t>13</m:t>
                                </m:r>
                              </m:sub>
                            </m:sSub>
                          </m:e>
                        </m:mr>
                      </m:m>
                      <m:r>
                        <a:rPr lang="fr-FR" b="0" i="1" smtClean="0">
                          <a:latin typeface="Cambria Math" panose="02040503050406030204" pitchFamily="18" charset="0"/>
                        </a:rPr>
                        <m:t>]</m:t>
                      </m:r>
                    </m:oMath>
                  </m:oMathPara>
                </a14:m>
                <a:endParaRPr lang="fr-FR" b="0" dirty="0"/>
              </a:p>
              <a:p>
                <a:pPr algn="ctr"/>
                <a14:m>
                  <m:oMathPara xmlns:m="http://schemas.openxmlformats.org/officeDocument/2006/math">
                    <m:oMathParaPr>
                      <m:jc m:val="centerGroup"/>
                    </m:oMathParaPr>
                    <m:oMath xmlns:m="http://schemas.openxmlformats.org/officeDocument/2006/math">
                      <m:m>
                        <m:mPr>
                          <m:mcs>
                            <m:mc>
                              <m:mcPr>
                                <m:count m:val="3"/>
                                <m:mcJc m:val="center"/>
                              </m:mcPr>
                            </m:mc>
                          </m:mcs>
                          <m:ctrlPr>
                            <a:rPr lang="en-GB" i="1" smtClean="0">
                              <a:latin typeface="Cambria Math" panose="02040503050406030204" pitchFamily="18" charset="0"/>
                            </a:rPr>
                          </m:ctrlPr>
                        </m:mPr>
                        <m:mr>
                          <m:e>
                            <m:r>
                              <m:rPr>
                                <m:brk m:alnAt="7"/>
                              </m:rPr>
                              <a:rPr lang="fr-FR" b="0" i="1" smtClean="0">
                                <a:latin typeface="Cambria Math" panose="02040503050406030204" pitchFamily="18" charset="0"/>
                              </a:rPr>
                              <m:t> </m:t>
                            </m:r>
                            <m:sSub>
                              <m:sSubPr>
                                <m:ctrlPr>
                                  <a:rPr lang="fr-FR" b="0" i="1" smtClean="0">
                                    <a:latin typeface="Cambria Math" panose="02040503050406030204" pitchFamily="18" charset="0"/>
                                  </a:rPr>
                                </m:ctrlPr>
                              </m:sSubPr>
                              <m:e>
                                <m:r>
                                  <a:rPr lang="fr-FR" b="0" i="1" smtClean="0">
                                    <a:latin typeface="Cambria Math" panose="02040503050406030204" pitchFamily="18" charset="0"/>
                                  </a:rPr>
                                  <m:t>[</m:t>
                                </m:r>
                                <m:r>
                                  <m:rPr>
                                    <m:brk m:alnAt="7"/>
                                  </m:rPr>
                                  <a:rPr lang="fr-FR" b="0" i="1" smtClean="0">
                                    <a:latin typeface="Cambria Math" panose="02040503050406030204" pitchFamily="18" charset="0"/>
                                  </a:rPr>
                                  <m:t>𝑋</m:t>
                                </m:r>
                              </m:e>
                              <m:sub>
                                <m:r>
                                  <a:rPr lang="fr-FR" b="0" i="1" smtClean="0">
                                    <a:latin typeface="Cambria Math" panose="02040503050406030204" pitchFamily="18" charset="0"/>
                                  </a:rPr>
                                  <m:t>2</m:t>
                                </m:r>
                                <m:r>
                                  <m:rPr>
                                    <m:brk m:alnAt="7"/>
                                  </m:rPr>
                                  <a:rPr lang="fr-FR" b="0" i="1" smtClean="0">
                                    <a:latin typeface="Cambria Math" panose="02040503050406030204" pitchFamily="18" charset="0"/>
                                  </a:rPr>
                                  <m:t>1</m:t>
                                </m:r>
                              </m:sub>
                            </m:sSub>
                          </m:e>
                          <m:e>
                            <m:sSub>
                              <m:sSubPr>
                                <m:ctrlPr>
                                  <a:rPr lang="fr-FR" b="0" i="1" smtClean="0">
                                    <a:latin typeface="Cambria Math" panose="02040503050406030204" pitchFamily="18" charset="0"/>
                                  </a:rPr>
                                </m:ctrlPr>
                              </m:sSubPr>
                              <m:e>
                                <m:r>
                                  <a:rPr lang="fr-FR" b="0" i="1" smtClean="0">
                                    <a:latin typeface="Cambria Math" panose="02040503050406030204" pitchFamily="18" charset="0"/>
                                  </a:rPr>
                                  <m:t>𝑋</m:t>
                                </m:r>
                              </m:e>
                              <m:sub>
                                <m:r>
                                  <a:rPr lang="fr-FR" b="0" i="1" smtClean="0">
                                    <a:latin typeface="Cambria Math" panose="02040503050406030204" pitchFamily="18" charset="0"/>
                                  </a:rPr>
                                  <m:t>22</m:t>
                                </m:r>
                              </m:sub>
                            </m:sSub>
                          </m:e>
                          <m:e>
                            <m:sSub>
                              <m:sSubPr>
                                <m:ctrlPr>
                                  <a:rPr lang="fr-FR" b="0" i="1" smtClean="0">
                                    <a:latin typeface="Cambria Math" panose="02040503050406030204" pitchFamily="18" charset="0"/>
                                  </a:rPr>
                                </m:ctrlPr>
                              </m:sSubPr>
                              <m:e>
                                <m:r>
                                  <a:rPr lang="fr-FR" b="0" i="1" smtClean="0">
                                    <a:latin typeface="Cambria Math" panose="02040503050406030204" pitchFamily="18" charset="0"/>
                                  </a:rPr>
                                  <m:t>𝑋</m:t>
                                </m:r>
                              </m:e>
                              <m:sub>
                                <m:r>
                                  <a:rPr lang="fr-FR" b="0" i="1" smtClean="0">
                                    <a:latin typeface="Cambria Math" panose="02040503050406030204" pitchFamily="18" charset="0"/>
                                  </a:rPr>
                                  <m:t>23</m:t>
                                </m:r>
                              </m:sub>
                            </m:sSub>
                          </m:e>
                        </m:mr>
                      </m:m>
                      <m:r>
                        <a:rPr lang="fr-FR" b="0" i="1" smtClean="0">
                          <a:latin typeface="Cambria Math" panose="02040503050406030204" pitchFamily="18" charset="0"/>
                        </a:rPr>
                        <m:t>]</m:t>
                      </m:r>
                    </m:oMath>
                  </m:oMathPara>
                </a14:m>
                <a:endParaRPr lang="en-GB" dirty="0"/>
              </a:p>
              <a:p>
                <a:pPr algn="ctr"/>
                <a14:m>
                  <m:oMathPara xmlns:m="http://schemas.openxmlformats.org/officeDocument/2006/math">
                    <m:oMathParaPr>
                      <m:jc m:val="centerGroup"/>
                    </m:oMathParaPr>
                    <m:oMath xmlns:m="http://schemas.openxmlformats.org/officeDocument/2006/math">
                      <m:m>
                        <m:mPr>
                          <m:mcs>
                            <m:mc>
                              <m:mcPr>
                                <m:count m:val="3"/>
                                <m:mcJc m:val="center"/>
                              </m:mcPr>
                            </m:mc>
                          </m:mcs>
                          <m:ctrlPr>
                            <a:rPr lang="en-GB" i="1" smtClean="0">
                              <a:latin typeface="Cambria Math" panose="02040503050406030204" pitchFamily="18" charset="0"/>
                            </a:rPr>
                          </m:ctrlPr>
                        </m:mPr>
                        <m:mr>
                          <m:e>
                            <m:sSub>
                              <m:sSubPr>
                                <m:ctrlPr>
                                  <a:rPr lang="fr-FR" b="0" i="1" smtClean="0">
                                    <a:latin typeface="Cambria Math" panose="02040503050406030204" pitchFamily="18" charset="0"/>
                                  </a:rPr>
                                </m:ctrlPr>
                              </m:sSubPr>
                              <m:e>
                                <m:r>
                                  <a:rPr lang="fr-FR" b="0" i="1" smtClean="0">
                                    <a:latin typeface="Cambria Math" panose="02040503050406030204" pitchFamily="18" charset="0"/>
                                  </a:rPr>
                                  <m:t>[</m:t>
                                </m:r>
                                <m:r>
                                  <m:rPr>
                                    <m:brk m:alnAt="7"/>
                                  </m:rPr>
                                  <a:rPr lang="fr-FR" b="0" i="1" smtClean="0">
                                    <a:latin typeface="Cambria Math" panose="02040503050406030204" pitchFamily="18" charset="0"/>
                                  </a:rPr>
                                  <m:t>𝑋</m:t>
                                </m:r>
                              </m:e>
                              <m:sub>
                                <m:r>
                                  <a:rPr lang="fr-FR" b="0" i="1" smtClean="0">
                                    <a:latin typeface="Cambria Math" panose="02040503050406030204" pitchFamily="18" charset="0"/>
                                  </a:rPr>
                                  <m:t>3</m:t>
                                </m:r>
                                <m:r>
                                  <m:rPr>
                                    <m:brk m:alnAt="7"/>
                                  </m:rPr>
                                  <a:rPr lang="fr-FR" b="0" i="1" smtClean="0">
                                    <a:latin typeface="Cambria Math" panose="02040503050406030204" pitchFamily="18" charset="0"/>
                                  </a:rPr>
                                  <m:t>1</m:t>
                                </m:r>
                              </m:sub>
                            </m:sSub>
                          </m:e>
                          <m:e>
                            <m:sSub>
                              <m:sSubPr>
                                <m:ctrlPr>
                                  <a:rPr lang="fr-FR" b="0" i="1" smtClean="0">
                                    <a:latin typeface="Cambria Math" panose="02040503050406030204" pitchFamily="18" charset="0"/>
                                  </a:rPr>
                                </m:ctrlPr>
                              </m:sSubPr>
                              <m:e>
                                <m:r>
                                  <a:rPr lang="fr-FR" b="0" i="1" smtClean="0">
                                    <a:latin typeface="Cambria Math" panose="02040503050406030204" pitchFamily="18" charset="0"/>
                                  </a:rPr>
                                  <m:t>𝑋</m:t>
                                </m:r>
                              </m:e>
                              <m:sub>
                                <m:r>
                                  <a:rPr lang="fr-FR" b="0" i="1" smtClean="0">
                                    <a:latin typeface="Cambria Math" panose="02040503050406030204" pitchFamily="18" charset="0"/>
                                  </a:rPr>
                                  <m:t>32</m:t>
                                </m:r>
                              </m:sub>
                            </m:sSub>
                          </m:e>
                          <m:e>
                            <m:sSub>
                              <m:sSubPr>
                                <m:ctrlPr>
                                  <a:rPr lang="fr-FR" b="0" i="1" smtClean="0">
                                    <a:latin typeface="Cambria Math" panose="02040503050406030204" pitchFamily="18" charset="0"/>
                                  </a:rPr>
                                </m:ctrlPr>
                              </m:sSubPr>
                              <m:e>
                                <m:r>
                                  <a:rPr lang="fr-FR" b="0" i="1" smtClean="0">
                                    <a:latin typeface="Cambria Math" panose="02040503050406030204" pitchFamily="18" charset="0"/>
                                  </a:rPr>
                                  <m:t>𝑋</m:t>
                                </m:r>
                              </m:e>
                              <m:sub>
                                <m:r>
                                  <a:rPr lang="fr-FR" b="0" i="1" smtClean="0">
                                    <a:latin typeface="Cambria Math" panose="02040503050406030204" pitchFamily="18" charset="0"/>
                                  </a:rPr>
                                  <m:t>33</m:t>
                                </m:r>
                              </m:sub>
                            </m:sSub>
                          </m:e>
                        </m:mr>
                      </m:m>
                      <m:r>
                        <a:rPr lang="fr-FR" b="0" i="1" smtClean="0">
                          <a:latin typeface="Cambria Math" panose="02040503050406030204" pitchFamily="18" charset="0"/>
                        </a:rPr>
                        <m:t>]</m:t>
                      </m:r>
                    </m:oMath>
                  </m:oMathPara>
                </a14:m>
                <a:endParaRPr lang="en-GB" dirty="0"/>
              </a:p>
              <a:p>
                <a:pPr algn="ctr"/>
                <a14:m>
                  <m:oMathPara xmlns:m="http://schemas.openxmlformats.org/officeDocument/2006/math">
                    <m:oMathParaPr>
                      <m:jc m:val="centerGroup"/>
                    </m:oMathParaPr>
                    <m:oMath xmlns:m="http://schemas.openxmlformats.org/officeDocument/2006/math">
                      <m:m>
                        <m:mPr>
                          <m:mcs>
                            <m:mc>
                              <m:mcPr>
                                <m:count m:val="3"/>
                                <m:mcJc m:val="center"/>
                              </m:mcPr>
                            </m:mc>
                          </m:mcs>
                          <m:ctrlPr>
                            <a:rPr lang="en-GB" i="1" smtClean="0">
                              <a:latin typeface="Cambria Math" panose="02040503050406030204" pitchFamily="18" charset="0"/>
                            </a:rPr>
                          </m:ctrlPr>
                        </m:mPr>
                        <m:mr>
                          <m:e>
                            <m:sSub>
                              <m:sSubPr>
                                <m:ctrlPr>
                                  <a:rPr lang="fr-FR" b="0" i="1" smtClean="0">
                                    <a:latin typeface="Cambria Math" panose="02040503050406030204" pitchFamily="18" charset="0"/>
                                  </a:rPr>
                                </m:ctrlPr>
                              </m:sSubPr>
                              <m:e>
                                <m:r>
                                  <a:rPr lang="fr-FR" b="0" i="1" smtClean="0">
                                    <a:latin typeface="Cambria Math" panose="02040503050406030204" pitchFamily="18" charset="0"/>
                                  </a:rPr>
                                  <m:t>[</m:t>
                                </m:r>
                                <m:r>
                                  <m:rPr>
                                    <m:brk m:alnAt="7"/>
                                  </m:rPr>
                                  <a:rPr lang="fr-FR" b="0" i="1" smtClean="0">
                                    <a:latin typeface="Cambria Math" panose="02040503050406030204" pitchFamily="18" charset="0"/>
                                  </a:rPr>
                                  <m:t>𝑋</m:t>
                                </m:r>
                              </m:e>
                              <m:sub>
                                <m:r>
                                  <a:rPr lang="fr-FR" b="0" i="1" smtClean="0">
                                    <a:latin typeface="Cambria Math" panose="02040503050406030204" pitchFamily="18" charset="0"/>
                                  </a:rPr>
                                  <m:t>4</m:t>
                                </m:r>
                                <m:r>
                                  <m:rPr>
                                    <m:brk m:alnAt="7"/>
                                  </m:rPr>
                                  <a:rPr lang="fr-FR" b="0" i="1" smtClean="0">
                                    <a:latin typeface="Cambria Math" panose="02040503050406030204" pitchFamily="18" charset="0"/>
                                  </a:rPr>
                                  <m:t>1</m:t>
                                </m:r>
                              </m:sub>
                            </m:sSub>
                          </m:e>
                          <m:e>
                            <m:sSub>
                              <m:sSubPr>
                                <m:ctrlPr>
                                  <a:rPr lang="fr-FR" b="0" i="1" smtClean="0">
                                    <a:latin typeface="Cambria Math" panose="02040503050406030204" pitchFamily="18" charset="0"/>
                                  </a:rPr>
                                </m:ctrlPr>
                              </m:sSubPr>
                              <m:e>
                                <m:r>
                                  <a:rPr lang="fr-FR" b="0" i="1" smtClean="0">
                                    <a:latin typeface="Cambria Math" panose="02040503050406030204" pitchFamily="18" charset="0"/>
                                  </a:rPr>
                                  <m:t>𝑋</m:t>
                                </m:r>
                              </m:e>
                              <m:sub>
                                <m:r>
                                  <a:rPr lang="fr-FR" b="0" i="1" smtClean="0">
                                    <a:latin typeface="Cambria Math" panose="02040503050406030204" pitchFamily="18" charset="0"/>
                                  </a:rPr>
                                  <m:t>42</m:t>
                                </m:r>
                              </m:sub>
                            </m:sSub>
                          </m:e>
                          <m:e>
                            <m:sSub>
                              <m:sSubPr>
                                <m:ctrlPr>
                                  <a:rPr lang="fr-FR" b="0" i="1" smtClean="0">
                                    <a:latin typeface="Cambria Math" panose="02040503050406030204" pitchFamily="18" charset="0"/>
                                  </a:rPr>
                                </m:ctrlPr>
                              </m:sSubPr>
                              <m:e>
                                <m:r>
                                  <a:rPr lang="fr-FR" b="0" i="1" smtClean="0">
                                    <a:latin typeface="Cambria Math" panose="02040503050406030204" pitchFamily="18" charset="0"/>
                                  </a:rPr>
                                  <m:t>𝑋</m:t>
                                </m:r>
                              </m:e>
                              <m:sub>
                                <m:r>
                                  <a:rPr lang="fr-FR" b="0" i="1" smtClean="0">
                                    <a:latin typeface="Cambria Math" panose="02040503050406030204" pitchFamily="18" charset="0"/>
                                  </a:rPr>
                                  <m:t>43</m:t>
                                </m:r>
                              </m:sub>
                            </m:sSub>
                          </m:e>
                        </m:mr>
                      </m:m>
                      <m:r>
                        <a:rPr lang="fr-FR" b="0" i="1" smtClean="0">
                          <a:latin typeface="Cambria Math" panose="02040503050406030204" pitchFamily="18" charset="0"/>
                        </a:rPr>
                        <m:t>]</m:t>
                      </m:r>
                    </m:oMath>
                  </m:oMathPara>
                </a14:m>
                <a:endParaRPr lang="en-GB" dirty="0"/>
              </a:p>
              <a:p>
                <a:pPr algn="ctr"/>
                <a14:m>
                  <m:oMathPara xmlns:m="http://schemas.openxmlformats.org/officeDocument/2006/math">
                    <m:oMathParaPr>
                      <m:jc m:val="centerGroup"/>
                    </m:oMathParaPr>
                    <m:oMath xmlns:m="http://schemas.openxmlformats.org/officeDocument/2006/math">
                      <m:m>
                        <m:mPr>
                          <m:mcs>
                            <m:mc>
                              <m:mcPr>
                                <m:count m:val="3"/>
                                <m:mcJc m:val="center"/>
                              </m:mcPr>
                            </m:mc>
                          </m:mcs>
                          <m:ctrlPr>
                            <a:rPr lang="en-GB" i="1" smtClean="0">
                              <a:latin typeface="Cambria Math" panose="02040503050406030204" pitchFamily="18" charset="0"/>
                            </a:rPr>
                          </m:ctrlPr>
                        </m:mPr>
                        <m:mr>
                          <m:e>
                            <m:sSub>
                              <m:sSubPr>
                                <m:ctrlPr>
                                  <a:rPr lang="fr-FR" b="0" i="1" smtClean="0">
                                    <a:latin typeface="Cambria Math" panose="02040503050406030204" pitchFamily="18" charset="0"/>
                                  </a:rPr>
                                </m:ctrlPr>
                              </m:sSubPr>
                              <m:e>
                                <m:r>
                                  <a:rPr lang="fr-FR" b="0" i="1" smtClean="0">
                                    <a:latin typeface="Cambria Math" panose="02040503050406030204" pitchFamily="18" charset="0"/>
                                  </a:rPr>
                                  <m:t>[</m:t>
                                </m:r>
                                <m:r>
                                  <m:rPr>
                                    <m:brk m:alnAt="7"/>
                                  </m:rPr>
                                  <a:rPr lang="fr-FR" b="0" i="1" smtClean="0">
                                    <a:latin typeface="Cambria Math" panose="02040503050406030204" pitchFamily="18" charset="0"/>
                                  </a:rPr>
                                  <m:t>𝑋</m:t>
                                </m:r>
                              </m:e>
                              <m:sub>
                                <m:r>
                                  <a:rPr lang="fr-FR" b="0" i="1" smtClean="0">
                                    <a:latin typeface="Cambria Math" panose="02040503050406030204" pitchFamily="18" charset="0"/>
                                  </a:rPr>
                                  <m:t>5</m:t>
                                </m:r>
                                <m:r>
                                  <m:rPr>
                                    <m:brk m:alnAt="7"/>
                                  </m:rPr>
                                  <a:rPr lang="fr-FR" b="0" i="1" smtClean="0">
                                    <a:latin typeface="Cambria Math" panose="02040503050406030204" pitchFamily="18" charset="0"/>
                                  </a:rPr>
                                  <m:t>1</m:t>
                                </m:r>
                              </m:sub>
                            </m:sSub>
                          </m:e>
                          <m:e>
                            <m:sSub>
                              <m:sSubPr>
                                <m:ctrlPr>
                                  <a:rPr lang="fr-FR" b="0" i="1" smtClean="0">
                                    <a:latin typeface="Cambria Math" panose="02040503050406030204" pitchFamily="18" charset="0"/>
                                  </a:rPr>
                                </m:ctrlPr>
                              </m:sSubPr>
                              <m:e>
                                <m:r>
                                  <a:rPr lang="fr-FR" b="0" i="1" smtClean="0">
                                    <a:latin typeface="Cambria Math" panose="02040503050406030204" pitchFamily="18" charset="0"/>
                                  </a:rPr>
                                  <m:t>𝑋</m:t>
                                </m:r>
                              </m:e>
                              <m:sub>
                                <m:r>
                                  <a:rPr lang="fr-FR" b="0" i="1" smtClean="0">
                                    <a:latin typeface="Cambria Math" panose="02040503050406030204" pitchFamily="18" charset="0"/>
                                  </a:rPr>
                                  <m:t>52</m:t>
                                </m:r>
                              </m:sub>
                            </m:sSub>
                          </m:e>
                          <m:e>
                            <m:sSub>
                              <m:sSubPr>
                                <m:ctrlPr>
                                  <a:rPr lang="fr-FR" b="0" i="1" smtClean="0">
                                    <a:latin typeface="Cambria Math" panose="02040503050406030204" pitchFamily="18" charset="0"/>
                                  </a:rPr>
                                </m:ctrlPr>
                              </m:sSubPr>
                              <m:e>
                                <m:r>
                                  <a:rPr lang="fr-FR" b="0" i="1" smtClean="0">
                                    <a:latin typeface="Cambria Math" panose="02040503050406030204" pitchFamily="18" charset="0"/>
                                  </a:rPr>
                                  <m:t>𝑋</m:t>
                                </m:r>
                              </m:e>
                              <m:sub>
                                <m:r>
                                  <a:rPr lang="fr-FR" b="0" i="1" smtClean="0">
                                    <a:latin typeface="Cambria Math" panose="02040503050406030204" pitchFamily="18" charset="0"/>
                                  </a:rPr>
                                  <m:t>53</m:t>
                                </m:r>
                              </m:sub>
                            </m:sSub>
                          </m:e>
                        </m:mr>
                      </m:m>
                      <m:r>
                        <a:rPr lang="fr-FR" b="0" i="1" smtClean="0">
                          <a:latin typeface="Cambria Math" panose="02040503050406030204" pitchFamily="18" charset="0"/>
                        </a:rPr>
                        <m:t>]</m:t>
                      </m:r>
                    </m:oMath>
                  </m:oMathPara>
                </a14:m>
                <a:endParaRPr lang="en-GB" dirty="0"/>
              </a:p>
              <a:p>
                <a:pPr algn="ctr"/>
                <a14:m>
                  <m:oMath xmlns:m="http://schemas.openxmlformats.org/officeDocument/2006/math">
                    <m:m>
                      <m:mPr>
                        <m:mcs>
                          <m:mc>
                            <m:mcPr>
                              <m:count m:val="3"/>
                              <m:mcJc m:val="center"/>
                            </m:mcPr>
                          </m:mc>
                        </m:mcs>
                        <m:ctrlPr>
                          <a:rPr lang="en-GB" i="1" smtClean="0">
                            <a:latin typeface="Cambria Math" panose="02040503050406030204" pitchFamily="18" charset="0"/>
                          </a:rPr>
                        </m:ctrlPr>
                      </m:mPr>
                      <m:mr>
                        <m:e>
                          <m:sSub>
                            <m:sSubPr>
                              <m:ctrlPr>
                                <a:rPr lang="fr-FR" b="0" i="1" smtClean="0">
                                  <a:latin typeface="Cambria Math" panose="02040503050406030204" pitchFamily="18" charset="0"/>
                                </a:rPr>
                              </m:ctrlPr>
                            </m:sSubPr>
                            <m:e>
                              <m:r>
                                <a:rPr lang="fr-FR" b="0" i="1" smtClean="0">
                                  <a:latin typeface="Cambria Math" panose="02040503050406030204" pitchFamily="18" charset="0"/>
                                </a:rPr>
                                <m:t>[</m:t>
                              </m:r>
                              <m:r>
                                <m:rPr>
                                  <m:brk m:alnAt="7"/>
                                </m:rPr>
                                <a:rPr lang="fr-FR" b="0" i="1" smtClean="0">
                                  <a:latin typeface="Cambria Math" panose="02040503050406030204" pitchFamily="18" charset="0"/>
                                </a:rPr>
                                <m:t>𝑋</m:t>
                              </m:r>
                            </m:e>
                            <m:sub>
                              <m:r>
                                <a:rPr lang="fr-FR" b="0" i="1" smtClean="0">
                                  <a:latin typeface="Cambria Math" panose="02040503050406030204" pitchFamily="18" charset="0"/>
                                </a:rPr>
                                <m:t>6</m:t>
                              </m:r>
                              <m:r>
                                <m:rPr>
                                  <m:brk m:alnAt="7"/>
                                </m:rPr>
                                <a:rPr lang="fr-FR" b="0" i="1" smtClean="0">
                                  <a:latin typeface="Cambria Math" panose="02040503050406030204" pitchFamily="18" charset="0"/>
                                </a:rPr>
                                <m:t>1</m:t>
                              </m:r>
                            </m:sub>
                          </m:sSub>
                        </m:e>
                        <m:e>
                          <m:sSub>
                            <m:sSubPr>
                              <m:ctrlPr>
                                <a:rPr lang="fr-FR" b="0" i="1" smtClean="0">
                                  <a:latin typeface="Cambria Math" panose="02040503050406030204" pitchFamily="18" charset="0"/>
                                </a:rPr>
                              </m:ctrlPr>
                            </m:sSubPr>
                            <m:e>
                              <m:r>
                                <a:rPr lang="fr-FR" b="0" i="1" smtClean="0">
                                  <a:latin typeface="Cambria Math" panose="02040503050406030204" pitchFamily="18" charset="0"/>
                                </a:rPr>
                                <m:t>𝑋</m:t>
                              </m:r>
                            </m:e>
                            <m:sub>
                              <m:r>
                                <a:rPr lang="fr-FR" b="0" i="1" smtClean="0">
                                  <a:latin typeface="Cambria Math" panose="02040503050406030204" pitchFamily="18" charset="0"/>
                                </a:rPr>
                                <m:t>62</m:t>
                              </m:r>
                            </m:sub>
                          </m:sSub>
                        </m:e>
                        <m:e>
                          <m:sSub>
                            <m:sSubPr>
                              <m:ctrlPr>
                                <a:rPr lang="fr-FR" b="0" i="1" smtClean="0">
                                  <a:latin typeface="Cambria Math" panose="02040503050406030204" pitchFamily="18" charset="0"/>
                                </a:rPr>
                              </m:ctrlPr>
                            </m:sSubPr>
                            <m:e>
                              <m:r>
                                <a:rPr lang="fr-FR" b="0" i="1" smtClean="0">
                                  <a:latin typeface="Cambria Math" panose="02040503050406030204" pitchFamily="18" charset="0"/>
                                </a:rPr>
                                <m:t>𝑋</m:t>
                              </m:r>
                            </m:e>
                            <m:sub>
                              <m:r>
                                <a:rPr lang="fr-FR" b="0" i="1" smtClean="0">
                                  <a:latin typeface="Cambria Math" panose="02040503050406030204" pitchFamily="18" charset="0"/>
                                </a:rPr>
                                <m:t>63</m:t>
                              </m:r>
                            </m:sub>
                          </m:sSub>
                        </m:e>
                      </m:mr>
                    </m:m>
                    <m:r>
                      <a:rPr lang="fr-FR" b="0" i="1" smtClean="0">
                        <a:latin typeface="Cambria Math" panose="02040503050406030204" pitchFamily="18" charset="0"/>
                      </a:rPr>
                      <m:t>]</m:t>
                    </m:r>
                  </m:oMath>
                </a14:m>
                <a:r>
                  <a:rPr lang="en-GB" dirty="0"/>
                  <a:t>]</a:t>
                </a:r>
              </a:p>
            </p:txBody>
          </p:sp>
        </mc:Choice>
        <mc:Fallback xmlns="">
          <p:sp>
            <p:nvSpPr>
              <p:cNvPr id="7" name="ZoneTexte 6">
                <a:extLst>
                  <a:ext uri="{FF2B5EF4-FFF2-40B4-BE49-F238E27FC236}">
                    <a16:creationId xmlns:a16="http://schemas.microsoft.com/office/drawing/2014/main" id="{1ED40B54-C8BD-C509-BE52-8381D97203DA}"/>
                  </a:ext>
                </a:extLst>
              </p:cNvPr>
              <p:cNvSpPr txBox="1">
                <a:spLocks noRot="1" noChangeAspect="1" noMove="1" noResize="1" noEditPoints="1" noAdjustHandles="1" noChangeArrowheads="1" noChangeShapeType="1" noTextEdit="1"/>
              </p:cNvSpPr>
              <p:nvPr/>
            </p:nvSpPr>
            <p:spPr>
              <a:xfrm>
                <a:off x="7827964" y="1825105"/>
                <a:ext cx="2227943" cy="1661993"/>
              </a:xfrm>
              <a:prstGeom prst="rect">
                <a:avLst/>
              </a:prstGeom>
              <a:blipFill>
                <a:blip r:embed="rId2"/>
                <a:stretch>
                  <a:fillRect t="-758" b="-8333"/>
                </a:stretch>
              </a:blipFill>
            </p:spPr>
            <p:txBody>
              <a:bodyPr/>
              <a:lstStyle/>
              <a:p>
                <a:r>
                  <a:rPr lang="en-GB">
                    <a:noFill/>
                  </a:rPr>
                  <a:t> </a:t>
                </a:r>
              </a:p>
            </p:txBody>
          </p:sp>
        </mc:Fallback>
      </mc:AlternateContent>
      <p:sp>
        <p:nvSpPr>
          <p:cNvPr id="8" name="Rectangle 7">
            <a:extLst>
              <a:ext uri="{FF2B5EF4-FFF2-40B4-BE49-F238E27FC236}">
                <a16:creationId xmlns:a16="http://schemas.microsoft.com/office/drawing/2014/main" id="{767E5791-8FAB-9039-C842-F2F4A7126E78}"/>
              </a:ext>
            </a:extLst>
          </p:cNvPr>
          <p:cNvSpPr/>
          <p:nvPr/>
        </p:nvSpPr>
        <p:spPr>
          <a:xfrm>
            <a:off x="8065635" y="1825104"/>
            <a:ext cx="1752600" cy="1661993"/>
          </a:xfrm>
          <a:prstGeom prst="rect">
            <a:avLst/>
          </a:prstGeom>
          <a:solidFill>
            <a:schemeClr val="accent2">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 name="Rectangle 8">
            <a:extLst>
              <a:ext uri="{FF2B5EF4-FFF2-40B4-BE49-F238E27FC236}">
                <a16:creationId xmlns:a16="http://schemas.microsoft.com/office/drawing/2014/main" id="{DAC6E286-1224-92BC-1BD5-087D8B25CF72}"/>
              </a:ext>
            </a:extLst>
          </p:cNvPr>
          <p:cNvSpPr/>
          <p:nvPr/>
        </p:nvSpPr>
        <p:spPr>
          <a:xfrm>
            <a:off x="1660312" y="2276346"/>
            <a:ext cx="1382694" cy="316950"/>
          </a:xfrm>
          <a:prstGeom prst="rect">
            <a:avLst/>
          </a:prstGeom>
          <a:solidFill>
            <a:schemeClr val="accent2">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7650164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35A0A-9930-6F38-214E-4245F7BA250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4BD2288-7E47-ED76-58BF-C4B6AC75F7CE}"/>
              </a:ext>
            </a:extLst>
          </p:cNvPr>
          <p:cNvSpPr>
            <a:spLocks noGrp="1"/>
          </p:cNvSpPr>
          <p:nvPr>
            <p:ph type="title"/>
          </p:nvPr>
        </p:nvSpPr>
        <p:spPr/>
        <p:txBody>
          <a:bodyPr/>
          <a:lstStyle/>
          <a:p>
            <a:r>
              <a:rPr lang="en-GB" dirty="0"/>
              <a:t>Gradient descent types</a:t>
            </a:r>
          </a:p>
        </p:txBody>
      </p:sp>
      <p:sp>
        <p:nvSpPr>
          <p:cNvPr id="3" name="Espace réservé du contenu 2">
            <a:extLst>
              <a:ext uri="{FF2B5EF4-FFF2-40B4-BE49-F238E27FC236}">
                <a16:creationId xmlns:a16="http://schemas.microsoft.com/office/drawing/2014/main" id="{2E9E15E5-BBB7-1DF6-6327-432523206577}"/>
              </a:ext>
            </a:extLst>
          </p:cNvPr>
          <p:cNvSpPr>
            <a:spLocks noGrp="1"/>
          </p:cNvSpPr>
          <p:nvPr>
            <p:ph idx="1"/>
          </p:nvPr>
        </p:nvSpPr>
        <p:spPr>
          <a:xfrm>
            <a:off x="838200" y="1555805"/>
            <a:ext cx="6887027" cy="4937070"/>
          </a:xfrm>
        </p:spPr>
        <p:txBody>
          <a:bodyPr>
            <a:normAutofit/>
          </a:bodyPr>
          <a:lstStyle/>
          <a:p>
            <a:r>
              <a:rPr lang="en-GB" b="1" dirty="0"/>
              <a:t>Stochastic Gradient Descent (SGD)</a:t>
            </a:r>
          </a:p>
          <a:p>
            <a:pPr marL="0" indent="0">
              <a:lnSpc>
                <a:spcPct val="150000"/>
              </a:lnSpc>
              <a:buNone/>
            </a:pPr>
            <a:r>
              <a:rPr lang="en-GB" sz="1600" dirty="0"/>
              <a:t>Process </a:t>
            </a:r>
            <a:r>
              <a:rPr lang="en-GB" sz="1600" b="1" dirty="0"/>
              <a:t>one random entry </a:t>
            </a:r>
            <a:r>
              <a:rPr lang="en-GB" sz="1600" dirty="0"/>
              <a:t>from the dataset for each iteration </a:t>
            </a:r>
          </a:p>
          <a:p>
            <a:pPr marL="0" indent="0">
              <a:lnSpc>
                <a:spcPct val="150000"/>
              </a:lnSpc>
              <a:buNone/>
            </a:pPr>
            <a:r>
              <a:rPr lang="en-GB" sz="1600" dirty="0"/>
              <a:t>(+) quicker, avoid loading all data into memory, </a:t>
            </a:r>
          </a:p>
          <a:p>
            <a:pPr marL="0" indent="0">
              <a:lnSpc>
                <a:spcPct val="150000"/>
              </a:lnSpc>
              <a:buNone/>
            </a:pPr>
            <a:r>
              <a:rPr lang="en-GB" sz="1600" dirty="0"/>
              <a:t>(-) has an erratic convergence. Jumps around, harder to converge.</a:t>
            </a:r>
          </a:p>
          <a:p>
            <a:r>
              <a:rPr lang="en-GB" b="1" dirty="0"/>
              <a:t>Mini-batch Stochastic Gradient Descent </a:t>
            </a:r>
          </a:p>
          <a:p>
            <a:pPr marL="0" indent="0">
              <a:lnSpc>
                <a:spcPct val="150000"/>
              </a:lnSpc>
              <a:buNone/>
            </a:pPr>
            <a:r>
              <a:rPr lang="en-GB" sz="1600" dirty="0"/>
              <a:t>Select a </a:t>
            </a:r>
            <a:r>
              <a:rPr lang="en-GB" sz="1600" b="1" dirty="0"/>
              <a:t>random batch of samples </a:t>
            </a:r>
            <a:r>
              <a:rPr lang="en-GB" sz="1600" dirty="0"/>
              <a:t>for each iteration. Less erratic convergence than in SGD. Takes advantage of hardware matrix operations.</a:t>
            </a:r>
          </a:p>
          <a:p>
            <a:pPr marL="0" indent="0">
              <a:lnSpc>
                <a:spcPct val="150000"/>
              </a:lnSpc>
              <a:buNone/>
            </a:pPr>
            <a:r>
              <a:rPr lang="en-GB" sz="1600" dirty="0"/>
              <a:t>After shuffling the data and chosen the batch size (meta parameter typically ranging from 32 to 512) , the dataset is divided in batches and each batch is learnt (one iteration each time) till we end the epoch. Then same process: reshuffle... Till the number of iterations is reached.</a:t>
            </a:r>
          </a:p>
          <a:p>
            <a:pPr marL="0" indent="0">
              <a:lnSpc>
                <a:spcPct val="150000"/>
              </a:lnSpc>
              <a:buNone/>
            </a:pPr>
            <a:endParaRPr lang="en-GB" sz="1600" dirty="0"/>
          </a:p>
          <a:p>
            <a:pPr lvl="1"/>
            <a:endParaRPr lang="en-GB" dirty="0"/>
          </a:p>
        </p:txBody>
      </p:sp>
      <p:sp>
        <p:nvSpPr>
          <p:cNvPr id="4" name="Espace réservé du pied de page 3">
            <a:extLst>
              <a:ext uri="{FF2B5EF4-FFF2-40B4-BE49-F238E27FC236}">
                <a16:creationId xmlns:a16="http://schemas.microsoft.com/office/drawing/2014/main" id="{35786689-B65B-DAA9-5B99-2F47D06EC2B8}"/>
              </a:ext>
            </a:extLst>
          </p:cNvPr>
          <p:cNvSpPr>
            <a:spLocks noGrp="1"/>
          </p:cNvSpPr>
          <p:nvPr>
            <p:ph type="ftr" sz="quarter" idx="11"/>
          </p:nvPr>
        </p:nvSpPr>
        <p:spPr/>
        <p:txBody>
          <a:bodyPr/>
          <a:lstStyle/>
          <a:p>
            <a:r>
              <a:rPr lang="fr-FR"/>
              <a:t>Introduction to Neural Networks. Author: David Thébault</a:t>
            </a:r>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31FB12F9-210A-44F8-A4BF-C25979107029}"/>
                  </a:ext>
                </a:extLst>
              </p:cNvPr>
              <p:cNvSpPr txBox="1"/>
              <p:nvPr/>
            </p:nvSpPr>
            <p:spPr>
              <a:xfrm>
                <a:off x="7678057" y="1600255"/>
                <a:ext cx="2227943" cy="1661993"/>
              </a:xfrm>
              <a:prstGeom prst="rect">
                <a:avLst/>
              </a:prstGeom>
              <a:noFill/>
            </p:spPr>
            <p:txBody>
              <a:bodyPr wrap="square" lIns="0" tIns="0" rIns="0" bIns="0" rtlCol="0">
                <a:spAutoFit/>
              </a:bodyPr>
              <a:lstStyle/>
              <a:p>
                <a:pPr algn="ctr"/>
                <a14:m>
                  <m:oMathPara xmlns:m="http://schemas.openxmlformats.org/officeDocument/2006/math">
                    <m:oMathParaPr>
                      <m:jc m:val="centerGroup"/>
                    </m:oMathParaPr>
                    <m:oMath xmlns:m="http://schemas.openxmlformats.org/officeDocument/2006/math">
                      <m:m>
                        <m:mPr>
                          <m:mcs>
                            <m:mc>
                              <m:mcPr>
                                <m:count m:val="3"/>
                                <m:mcJc m:val="center"/>
                              </m:mcPr>
                            </m:mc>
                          </m:mcs>
                          <m:ctrlPr>
                            <a:rPr lang="en-GB" i="1" smtClean="0">
                              <a:latin typeface="Cambria Math" panose="02040503050406030204" pitchFamily="18" charset="0"/>
                            </a:rPr>
                          </m:ctrlPr>
                        </m:mPr>
                        <m:mr>
                          <m:e>
                            <m:sSub>
                              <m:sSubPr>
                                <m:ctrlPr>
                                  <a:rPr lang="fr-FR" b="0" i="1" smtClean="0">
                                    <a:latin typeface="Cambria Math" panose="02040503050406030204" pitchFamily="18" charset="0"/>
                                  </a:rPr>
                                </m:ctrlPr>
                              </m:sSubPr>
                              <m:e>
                                <m:r>
                                  <a:rPr lang="fr-FR" b="0" i="1" smtClean="0">
                                    <a:latin typeface="Cambria Math" panose="02040503050406030204" pitchFamily="18" charset="0"/>
                                  </a:rPr>
                                  <m:t>[[</m:t>
                                </m:r>
                                <m:r>
                                  <m:rPr>
                                    <m:brk m:alnAt="7"/>
                                  </m:rPr>
                                  <a:rPr lang="fr-FR" b="0" i="1" smtClean="0">
                                    <a:latin typeface="Cambria Math" panose="02040503050406030204" pitchFamily="18" charset="0"/>
                                  </a:rPr>
                                  <m:t>𝑋</m:t>
                                </m:r>
                              </m:e>
                              <m:sub>
                                <m:r>
                                  <m:rPr>
                                    <m:brk m:alnAt="7"/>
                                  </m:rPr>
                                  <a:rPr lang="fr-FR" b="0" i="1" smtClean="0">
                                    <a:latin typeface="Cambria Math" panose="02040503050406030204" pitchFamily="18" charset="0"/>
                                  </a:rPr>
                                  <m:t>1</m:t>
                                </m:r>
                                <m:r>
                                  <a:rPr lang="fr-FR" b="0" i="1" smtClean="0">
                                    <a:latin typeface="Cambria Math" panose="02040503050406030204" pitchFamily="18" charset="0"/>
                                  </a:rPr>
                                  <m:t>1</m:t>
                                </m:r>
                              </m:sub>
                            </m:sSub>
                          </m:e>
                          <m:e>
                            <m:sSub>
                              <m:sSubPr>
                                <m:ctrlPr>
                                  <a:rPr lang="fr-FR" b="0" i="1" smtClean="0">
                                    <a:latin typeface="Cambria Math" panose="02040503050406030204" pitchFamily="18" charset="0"/>
                                  </a:rPr>
                                </m:ctrlPr>
                              </m:sSubPr>
                              <m:e>
                                <m:r>
                                  <a:rPr lang="fr-FR" b="0" i="1" smtClean="0">
                                    <a:latin typeface="Cambria Math" panose="02040503050406030204" pitchFamily="18" charset="0"/>
                                  </a:rPr>
                                  <m:t>𝑋</m:t>
                                </m:r>
                              </m:e>
                              <m:sub>
                                <m:r>
                                  <a:rPr lang="fr-FR" b="0" i="1" smtClean="0">
                                    <a:latin typeface="Cambria Math" panose="02040503050406030204" pitchFamily="18" charset="0"/>
                                  </a:rPr>
                                  <m:t>12</m:t>
                                </m:r>
                              </m:sub>
                            </m:sSub>
                          </m:e>
                          <m:e>
                            <m:sSub>
                              <m:sSubPr>
                                <m:ctrlPr>
                                  <a:rPr lang="fr-FR" b="0" i="1" smtClean="0">
                                    <a:latin typeface="Cambria Math" panose="02040503050406030204" pitchFamily="18" charset="0"/>
                                  </a:rPr>
                                </m:ctrlPr>
                              </m:sSubPr>
                              <m:e>
                                <m:r>
                                  <a:rPr lang="fr-FR" b="0" i="1" smtClean="0">
                                    <a:latin typeface="Cambria Math" panose="02040503050406030204" pitchFamily="18" charset="0"/>
                                  </a:rPr>
                                  <m:t>𝑋</m:t>
                                </m:r>
                              </m:e>
                              <m:sub>
                                <m:r>
                                  <a:rPr lang="fr-FR" b="0" i="1" smtClean="0">
                                    <a:latin typeface="Cambria Math" panose="02040503050406030204" pitchFamily="18" charset="0"/>
                                  </a:rPr>
                                  <m:t>13</m:t>
                                </m:r>
                              </m:sub>
                            </m:sSub>
                          </m:e>
                        </m:mr>
                      </m:m>
                      <m:r>
                        <a:rPr lang="fr-FR" b="0" i="1" smtClean="0">
                          <a:latin typeface="Cambria Math" panose="02040503050406030204" pitchFamily="18" charset="0"/>
                        </a:rPr>
                        <m:t>]</m:t>
                      </m:r>
                    </m:oMath>
                  </m:oMathPara>
                </a14:m>
                <a:endParaRPr lang="fr-FR" b="0" dirty="0"/>
              </a:p>
              <a:p>
                <a:pPr algn="ctr"/>
                <a14:m>
                  <m:oMathPara xmlns:m="http://schemas.openxmlformats.org/officeDocument/2006/math">
                    <m:oMathParaPr>
                      <m:jc m:val="centerGroup"/>
                    </m:oMathParaPr>
                    <m:oMath xmlns:m="http://schemas.openxmlformats.org/officeDocument/2006/math">
                      <m:m>
                        <m:mPr>
                          <m:mcs>
                            <m:mc>
                              <m:mcPr>
                                <m:count m:val="3"/>
                                <m:mcJc m:val="center"/>
                              </m:mcPr>
                            </m:mc>
                          </m:mcs>
                          <m:ctrlPr>
                            <a:rPr lang="en-GB" i="1" smtClean="0">
                              <a:latin typeface="Cambria Math" panose="02040503050406030204" pitchFamily="18" charset="0"/>
                            </a:rPr>
                          </m:ctrlPr>
                        </m:mPr>
                        <m:mr>
                          <m:e>
                            <m:r>
                              <m:rPr>
                                <m:brk m:alnAt="7"/>
                              </m:rPr>
                              <a:rPr lang="fr-FR" b="0" i="1" smtClean="0">
                                <a:latin typeface="Cambria Math" panose="02040503050406030204" pitchFamily="18" charset="0"/>
                              </a:rPr>
                              <m:t> </m:t>
                            </m:r>
                            <m:sSub>
                              <m:sSubPr>
                                <m:ctrlPr>
                                  <a:rPr lang="fr-FR" b="0" i="1" smtClean="0">
                                    <a:latin typeface="Cambria Math" panose="02040503050406030204" pitchFamily="18" charset="0"/>
                                  </a:rPr>
                                </m:ctrlPr>
                              </m:sSubPr>
                              <m:e>
                                <m:r>
                                  <a:rPr lang="fr-FR" b="0" i="1" smtClean="0">
                                    <a:latin typeface="Cambria Math" panose="02040503050406030204" pitchFamily="18" charset="0"/>
                                  </a:rPr>
                                  <m:t>[</m:t>
                                </m:r>
                                <m:r>
                                  <m:rPr>
                                    <m:brk m:alnAt="7"/>
                                  </m:rPr>
                                  <a:rPr lang="fr-FR" b="0" i="1" smtClean="0">
                                    <a:latin typeface="Cambria Math" panose="02040503050406030204" pitchFamily="18" charset="0"/>
                                  </a:rPr>
                                  <m:t>𝑋</m:t>
                                </m:r>
                              </m:e>
                              <m:sub>
                                <m:r>
                                  <a:rPr lang="fr-FR" b="0" i="1" smtClean="0">
                                    <a:latin typeface="Cambria Math" panose="02040503050406030204" pitchFamily="18" charset="0"/>
                                  </a:rPr>
                                  <m:t>2</m:t>
                                </m:r>
                                <m:r>
                                  <m:rPr>
                                    <m:brk m:alnAt="7"/>
                                  </m:rPr>
                                  <a:rPr lang="fr-FR" b="0" i="1" smtClean="0">
                                    <a:latin typeface="Cambria Math" panose="02040503050406030204" pitchFamily="18" charset="0"/>
                                  </a:rPr>
                                  <m:t>1</m:t>
                                </m:r>
                              </m:sub>
                            </m:sSub>
                          </m:e>
                          <m:e>
                            <m:sSub>
                              <m:sSubPr>
                                <m:ctrlPr>
                                  <a:rPr lang="fr-FR" b="0" i="1" smtClean="0">
                                    <a:latin typeface="Cambria Math" panose="02040503050406030204" pitchFamily="18" charset="0"/>
                                  </a:rPr>
                                </m:ctrlPr>
                              </m:sSubPr>
                              <m:e>
                                <m:r>
                                  <a:rPr lang="fr-FR" b="0" i="1" smtClean="0">
                                    <a:latin typeface="Cambria Math" panose="02040503050406030204" pitchFamily="18" charset="0"/>
                                  </a:rPr>
                                  <m:t>𝑋</m:t>
                                </m:r>
                              </m:e>
                              <m:sub>
                                <m:r>
                                  <a:rPr lang="fr-FR" b="0" i="1" smtClean="0">
                                    <a:latin typeface="Cambria Math" panose="02040503050406030204" pitchFamily="18" charset="0"/>
                                  </a:rPr>
                                  <m:t>22</m:t>
                                </m:r>
                              </m:sub>
                            </m:sSub>
                          </m:e>
                          <m:e>
                            <m:sSub>
                              <m:sSubPr>
                                <m:ctrlPr>
                                  <a:rPr lang="fr-FR" b="0" i="1" smtClean="0">
                                    <a:latin typeface="Cambria Math" panose="02040503050406030204" pitchFamily="18" charset="0"/>
                                  </a:rPr>
                                </m:ctrlPr>
                              </m:sSubPr>
                              <m:e>
                                <m:r>
                                  <a:rPr lang="fr-FR" b="0" i="1" smtClean="0">
                                    <a:latin typeface="Cambria Math" panose="02040503050406030204" pitchFamily="18" charset="0"/>
                                  </a:rPr>
                                  <m:t>𝑋</m:t>
                                </m:r>
                              </m:e>
                              <m:sub>
                                <m:r>
                                  <a:rPr lang="fr-FR" b="0" i="1" smtClean="0">
                                    <a:latin typeface="Cambria Math" panose="02040503050406030204" pitchFamily="18" charset="0"/>
                                  </a:rPr>
                                  <m:t>23</m:t>
                                </m:r>
                              </m:sub>
                            </m:sSub>
                          </m:e>
                        </m:mr>
                      </m:m>
                      <m:r>
                        <a:rPr lang="fr-FR" b="0" i="1" smtClean="0">
                          <a:latin typeface="Cambria Math" panose="02040503050406030204" pitchFamily="18" charset="0"/>
                        </a:rPr>
                        <m:t>]</m:t>
                      </m:r>
                    </m:oMath>
                  </m:oMathPara>
                </a14:m>
                <a:endParaRPr lang="en-GB" dirty="0"/>
              </a:p>
              <a:p>
                <a:pPr algn="ctr"/>
                <a14:m>
                  <m:oMathPara xmlns:m="http://schemas.openxmlformats.org/officeDocument/2006/math">
                    <m:oMathParaPr>
                      <m:jc m:val="centerGroup"/>
                    </m:oMathParaPr>
                    <m:oMath xmlns:m="http://schemas.openxmlformats.org/officeDocument/2006/math">
                      <m:m>
                        <m:mPr>
                          <m:mcs>
                            <m:mc>
                              <m:mcPr>
                                <m:count m:val="3"/>
                                <m:mcJc m:val="center"/>
                              </m:mcPr>
                            </m:mc>
                          </m:mcs>
                          <m:ctrlPr>
                            <a:rPr lang="en-GB" i="1" smtClean="0">
                              <a:latin typeface="Cambria Math" panose="02040503050406030204" pitchFamily="18" charset="0"/>
                            </a:rPr>
                          </m:ctrlPr>
                        </m:mPr>
                        <m:mr>
                          <m:e>
                            <m:sSub>
                              <m:sSubPr>
                                <m:ctrlPr>
                                  <a:rPr lang="fr-FR" b="0" i="1" smtClean="0">
                                    <a:latin typeface="Cambria Math" panose="02040503050406030204" pitchFamily="18" charset="0"/>
                                  </a:rPr>
                                </m:ctrlPr>
                              </m:sSubPr>
                              <m:e>
                                <m:r>
                                  <a:rPr lang="fr-FR" b="0" i="1" smtClean="0">
                                    <a:latin typeface="Cambria Math" panose="02040503050406030204" pitchFamily="18" charset="0"/>
                                  </a:rPr>
                                  <m:t>[</m:t>
                                </m:r>
                                <m:r>
                                  <m:rPr>
                                    <m:brk m:alnAt="7"/>
                                  </m:rPr>
                                  <a:rPr lang="fr-FR" b="0" i="1" smtClean="0">
                                    <a:latin typeface="Cambria Math" panose="02040503050406030204" pitchFamily="18" charset="0"/>
                                  </a:rPr>
                                  <m:t>𝑋</m:t>
                                </m:r>
                              </m:e>
                              <m:sub>
                                <m:r>
                                  <a:rPr lang="fr-FR" b="0" i="1" smtClean="0">
                                    <a:latin typeface="Cambria Math" panose="02040503050406030204" pitchFamily="18" charset="0"/>
                                  </a:rPr>
                                  <m:t>3</m:t>
                                </m:r>
                                <m:r>
                                  <m:rPr>
                                    <m:brk m:alnAt="7"/>
                                  </m:rPr>
                                  <a:rPr lang="fr-FR" b="0" i="1" smtClean="0">
                                    <a:latin typeface="Cambria Math" panose="02040503050406030204" pitchFamily="18" charset="0"/>
                                  </a:rPr>
                                  <m:t>1</m:t>
                                </m:r>
                              </m:sub>
                            </m:sSub>
                          </m:e>
                          <m:e>
                            <m:sSub>
                              <m:sSubPr>
                                <m:ctrlPr>
                                  <a:rPr lang="fr-FR" b="0" i="1" smtClean="0">
                                    <a:latin typeface="Cambria Math" panose="02040503050406030204" pitchFamily="18" charset="0"/>
                                  </a:rPr>
                                </m:ctrlPr>
                              </m:sSubPr>
                              <m:e>
                                <m:r>
                                  <a:rPr lang="fr-FR" b="0" i="1" smtClean="0">
                                    <a:latin typeface="Cambria Math" panose="02040503050406030204" pitchFamily="18" charset="0"/>
                                  </a:rPr>
                                  <m:t>𝑋</m:t>
                                </m:r>
                              </m:e>
                              <m:sub>
                                <m:r>
                                  <a:rPr lang="fr-FR" b="0" i="1" smtClean="0">
                                    <a:latin typeface="Cambria Math" panose="02040503050406030204" pitchFamily="18" charset="0"/>
                                  </a:rPr>
                                  <m:t>32</m:t>
                                </m:r>
                              </m:sub>
                            </m:sSub>
                          </m:e>
                          <m:e>
                            <m:sSub>
                              <m:sSubPr>
                                <m:ctrlPr>
                                  <a:rPr lang="fr-FR" b="0" i="1" smtClean="0">
                                    <a:latin typeface="Cambria Math" panose="02040503050406030204" pitchFamily="18" charset="0"/>
                                  </a:rPr>
                                </m:ctrlPr>
                              </m:sSubPr>
                              <m:e>
                                <m:r>
                                  <a:rPr lang="fr-FR" b="0" i="1" smtClean="0">
                                    <a:latin typeface="Cambria Math" panose="02040503050406030204" pitchFamily="18" charset="0"/>
                                  </a:rPr>
                                  <m:t>𝑋</m:t>
                                </m:r>
                              </m:e>
                              <m:sub>
                                <m:r>
                                  <a:rPr lang="fr-FR" b="0" i="1" smtClean="0">
                                    <a:latin typeface="Cambria Math" panose="02040503050406030204" pitchFamily="18" charset="0"/>
                                  </a:rPr>
                                  <m:t>33</m:t>
                                </m:r>
                              </m:sub>
                            </m:sSub>
                          </m:e>
                        </m:mr>
                      </m:m>
                      <m:r>
                        <a:rPr lang="fr-FR" b="0" i="1" smtClean="0">
                          <a:latin typeface="Cambria Math" panose="02040503050406030204" pitchFamily="18" charset="0"/>
                        </a:rPr>
                        <m:t>]</m:t>
                      </m:r>
                    </m:oMath>
                  </m:oMathPara>
                </a14:m>
                <a:endParaRPr lang="en-GB" dirty="0"/>
              </a:p>
              <a:p>
                <a:pPr algn="ctr"/>
                <a14:m>
                  <m:oMathPara xmlns:m="http://schemas.openxmlformats.org/officeDocument/2006/math">
                    <m:oMathParaPr>
                      <m:jc m:val="centerGroup"/>
                    </m:oMathParaPr>
                    <m:oMath xmlns:m="http://schemas.openxmlformats.org/officeDocument/2006/math">
                      <m:m>
                        <m:mPr>
                          <m:mcs>
                            <m:mc>
                              <m:mcPr>
                                <m:count m:val="3"/>
                                <m:mcJc m:val="center"/>
                              </m:mcPr>
                            </m:mc>
                          </m:mcs>
                          <m:ctrlPr>
                            <a:rPr lang="en-GB" i="1" smtClean="0">
                              <a:latin typeface="Cambria Math" panose="02040503050406030204" pitchFamily="18" charset="0"/>
                            </a:rPr>
                          </m:ctrlPr>
                        </m:mPr>
                        <m:mr>
                          <m:e>
                            <m:sSub>
                              <m:sSubPr>
                                <m:ctrlPr>
                                  <a:rPr lang="fr-FR" b="0" i="1" smtClean="0">
                                    <a:latin typeface="Cambria Math" panose="02040503050406030204" pitchFamily="18" charset="0"/>
                                  </a:rPr>
                                </m:ctrlPr>
                              </m:sSubPr>
                              <m:e>
                                <m:r>
                                  <a:rPr lang="fr-FR" b="0" i="1" smtClean="0">
                                    <a:latin typeface="Cambria Math" panose="02040503050406030204" pitchFamily="18" charset="0"/>
                                  </a:rPr>
                                  <m:t>[</m:t>
                                </m:r>
                                <m:r>
                                  <m:rPr>
                                    <m:brk m:alnAt="7"/>
                                  </m:rPr>
                                  <a:rPr lang="fr-FR" b="0" i="1" smtClean="0">
                                    <a:latin typeface="Cambria Math" panose="02040503050406030204" pitchFamily="18" charset="0"/>
                                  </a:rPr>
                                  <m:t>𝑋</m:t>
                                </m:r>
                              </m:e>
                              <m:sub>
                                <m:r>
                                  <a:rPr lang="fr-FR" b="0" i="1" smtClean="0">
                                    <a:latin typeface="Cambria Math" panose="02040503050406030204" pitchFamily="18" charset="0"/>
                                  </a:rPr>
                                  <m:t>4</m:t>
                                </m:r>
                                <m:r>
                                  <m:rPr>
                                    <m:brk m:alnAt="7"/>
                                  </m:rPr>
                                  <a:rPr lang="fr-FR" b="0" i="1" smtClean="0">
                                    <a:latin typeface="Cambria Math" panose="02040503050406030204" pitchFamily="18" charset="0"/>
                                  </a:rPr>
                                  <m:t>1</m:t>
                                </m:r>
                              </m:sub>
                            </m:sSub>
                          </m:e>
                          <m:e>
                            <m:sSub>
                              <m:sSubPr>
                                <m:ctrlPr>
                                  <a:rPr lang="fr-FR" b="0" i="1" smtClean="0">
                                    <a:latin typeface="Cambria Math" panose="02040503050406030204" pitchFamily="18" charset="0"/>
                                  </a:rPr>
                                </m:ctrlPr>
                              </m:sSubPr>
                              <m:e>
                                <m:r>
                                  <a:rPr lang="fr-FR" b="0" i="1" smtClean="0">
                                    <a:latin typeface="Cambria Math" panose="02040503050406030204" pitchFamily="18" charset="0"/>
                                  </a:rPr>
                                  <m:t>𝑋</m:t>
                                </m:r>
                              </m:e>
                              <m:sub>
                                <m:r>
                                  <a:rPr lang="fr-FR" b="0" i="1" smtClean="0">
                                    <a:latin typeface="Cambria Math" panose="02040503050406030204" pitchFamily="18" charset="0"/>
                                  </a:rPr>
                                  <m:t>42</m:t>
                                </m:r>
                              </m:sub>
                            </m:sSub>
                          </m:e>
                          <m:e>
                            <m:sSub>
                              <m:sSubPr>
                                <m:ctrlPr>
                                  <a:rPr lang="fr-FR" b="0" i="1" smtClean="0">
                                    <a:latin typeface="Cambria Math" panose="02040503050406030204" pitchFamily="18" charset="0"/>
                                  </a:rPr>
                                </m:ctrlPr>
                              </m:sSubPr>
                              <m:e>
                                <m:r>
                                  <a:rPr lang="fr-FR" b="0" i="1" smtClean="0">
                                    <a:latin typeface="Cambria Math" panose="02040503050406030204" pitchFamily="18" charset="0"/>
                                  </a:rPr>
                                  <m:t>𝑋</m:t>
                                </m:r>
                              </m:e>
                              <m:sub>
                                <m:r>
                                  <a:rPr lang="fr-FR" b="0" i="1" smtClean="0">
                                    <a:latin typeface="Cambria Math" panose="02040503050406030204" pitchFamily="18" charset="0"/>
                                  </a:rPr>
                                  <m:t>43</m:t>
                                </m:r>
                              </m:sub>
                            </m:sSub>
                          </m:e>
                        </m:mr>
                      </m:m>
                      <m:r>
                        <a:rPr lang="fr-FR" b="0" i="1" smtClean="0">
                          <a:latin typeface="Cambria Math" panose="02040503050406030204" pitchFamily="18" charset="0"/>
                        </a:rPr>
                        <m:t>]</m:t>
                      </m:r>
                    </m:oMath>
                  </m:oMathPara>
                </a14:m>
                <a:endParaRPr lang="en-GB" dirty="0"/>
              </a:p>
              <a:p>
                <a:pPr algn="ctr"/>
                <a14:m>
                  <m:oMathPara xmlns:m="http://schemas.openxmlformats.org/officeDocument/2006/math">
                    <m:oMathParaPr>
                      <m:jc m:val="centerGroup"/>
                    </m:oMathParaPr>
                    <m:oMath xmlns:m="http://schemas.openxmlformats.org/officeDocument/2006/math">
                      <m:m>
                        <m:mPr>
                          <m:mcs>
                            <m:mc>
                              <m:mcPr>
                                <m:count m:val="3"/>
                                <m:mcJc m:val="center"/>
                              </m:mcPr>
                            </m:mc>
                          </m:mcs>
                          <m:ctrlPr>
                            <a:rPr lang="en-GB" i="1" smtClean="0">
                              <a:latin typeface="Cambria Math" panose="02040503050406030204" pitchFamily="18" charset="0"/>
                            </a:rPr>
                          </m:ctrlPr>
                        </m:mPr>
                        <m:mr>
                          <m:e>
                            <m:sSub>
                              <m:sSubPr>
                                <m:ctrlPr>
                                  <a:rPr lang="fr-FR" b="0" i="1" smtClean="0">
                                    <a:latin typeface="Cambria Math" panose="02040503050406030204" pitchFamily="18" charset="0"/>
                                  </a:rPr>
                                </m:ctrlPr>
                              </m:sSubPr>
                              <m:e>
                                <m:r>
                                  <a:rPr lang="fr-FR" b="0" i="1" smtClean="0">
                                    <a:latin typeface="Cambria Math" panose="02040503050406030204" pitchFamily="18" charset="0"/>
                                  </a:rPr>
                                  <m:t>[</m:t>
                                </m:r>
                                <m:r>
                                  <m:rPr>
                                    <m:brk m:alnAt="7"/>
                                  </m:rPr>
                                  <a:rPr lang="fr-FR" b="0" i="1" smtClean="0">
                                    <a:latin typeface="Cambria Math" panose="02040503050406030204" pitchFamily="18" charset="0"/>
                                  </a:rPr>
                                  <m:t>𝑋</m:t>
                                </m:r>
                              </m:e>
                              <m:sub>
                                <m:r>
                                  <a:rPr lang="fr-FR" b="0" i="1" smtClean="0">
                                    <a:latin typeface="Cambria Math" panose="02040503050406030204" pitchFamily="18" charset="0"/>
                                  </a:rPr>
                                  <m:t>5</m:t>
                                </m:r>
                                <m:r>
                                  <m:rPr>
                                    <m:brk m:alnAt="7"/>
                                  </m:rPr>
                                  <a:rPr lang="fr-FR" b="0" i="1" smtClean="0">
                                    <a:latin typeface="Cambria Math" panose="02040503050406030204" pitchFamily="18" charset="0"/>
                                  </a:rPr>
                                  <m:t>1</m:t>
                                </m:r>
                              </m:sub>
                            </m:sSub>
                          </m:e>
                          <m:e>
                            <m:sSub>
                              <m:sSubPr>
                                <m:ctrlPr>
                                  <a:rPr lang="fr-FR" b="0" i="1" smtClean="0">
                                    <a:latin typeface="Cambria Math" panose="02040503050406030204" pitchFamily="18" charset="0"/>
                                  </a:rPr>
                                </m:ctrlPr>
                              </m:sSubPr>
                              <m:e>
                                <m:r>
                                  <a:rPr lang="fr-FR" b="0" i="1" smtClean="0">
                                    <a:latin typeface="Cambria Math" panose="02040503050406030204" pitchFamily="18" charset="0"/>
                                  </a:rPr>
                                  <m:t>𝑋</m:t>
                                </m:r>
                              </m:e>
                              <m:sub>
                                <m:r>
                                  <a:rPr lang="fr-FR" b="0" i="1" smtClean="0">
                                    <a:latin typeface="Cambria Math" panose="02040503050406030204" pitchFamily="18" charset="0"/>
                                  </a:rPr>
                                  <m:t>52</m:t>
                                </m:r>
                              </m:sub>
                            </m:sSub>
                          </m:e>
                          <m:e>
                            <m:sSub>
                              <m:sSubPr>
                                <m:ctrlPr>
                                  <a:rPr lang="fr-FR" b="0" i="1" smtClean="0">
                                    <a:latin typeface="Cambria Math" panose="02040503050406030204" pitchFamily="18" charset="0"/>
                                  </a:rPr>
                                </m:ctrlPr>
                              </m:sSubPr>
                              <m:e>
                                <m:r>
                                  <a:rPr lang="fr-FR" b="0" i="1" smtClean="0">
                                    <a:latin typeface="Cambria Math" panose="02040503050406030204" pitchFamily="18" charset="0"/>
                                  </a:rPr>
                                  <m:t>𝑋</m:t>
                                </m:r>
                              </m:e>
                              <m:sub>
                                <m:r>
                                  <a:rPr lang="fr-FR" b="0" i="1" smtClean="0">
                                    <a:latin typeface="Cambria Math" panose="02040503050406030204" pitchFamily="18" charset="0"/>
                                  </a:rPr>
                                  <m:t>53</m:t>
                                </m:r>
                              </m:sub>
                            </m:sSub>
                          </m:e>
                        </m:mr>
                      </m:m>
                      <m:r>
                        <a:rPr lang="fr-FR" b="0" i="1" smtClean="0">
                          <a:latin typeface="Cambria Math" panose="02040503050406030204" pitchFamily="18" charset="0"/>
                        </a:rPr>
                        <m:t>]</m:t>
                      </m:r>
                    </m:oMath>
                  </m:oMathPara>
                </a14:m>
                <a:endParaRPr lang="en-GB" dirty="0"/>
              </a:p>
              <a:p>
                <a:pPr algn="ctr"/>
                <a14:m>
                  <m:oMath xmlns:m="http://schemas.openxmlformats.org/officeDocument/2006/math">
                    <m:m>
                      <m:mPr>
                        <m:mcs>
                          <m:mc>
                            <m:mcPr>
                              <m:count m:val="3"/>
                              <m:mcJc m:val="center"/>
                            </m:mcPr>
                          </m:mc>
                        </m:mcs>
                        <m:ctrlPr>
                          <a:rPr lang="en-GB" i="1" smtClean="0">
                            <a:latin typeface="Cambria Math" panose="02040503050406030204" pitchFamily="18" charset="0"/>
                          </a:rPr>
                        </m:ctrlPr>
                      </m:mPr>
                      <m:mr>
                        <m:e>
                          <m:sSub>
                            <m:sSubPr>
                              <m:ctrlPr>
                                <a:rPr lang="fr-FR" b="0" i="1" smtClean="0">
                                  <a:latin typeface="Cambria Math" panose="02040503050406030204" pitchFamily="18" charset="0"/>
                                </a:rPr>
                              </m:ctrlPr>
                            </m:sSubPr>
                            <m:e>
                              <m:r>
                                <a:rPr lang="fr-FR" b="0" i="1" smtClean="0">
                                  <a:latin typeface="Cambria Math" panose="02040503050406030204" pitchFamily="18" charset="0"/>
                                </a:rPr>
                                <m:t>[</m:t>
                              </m:r>
                              <m:r>
                                <m:rPr>
                                  <m:brk m:alnAt="7"/>
                                </m:rPr>
                                <a:rPr lang="fr-FR" b="0" i="1" smtClean="0">
                                  <a:latin typeface="Cambria Math" panose="02040503050406030204" pitchFamily="18" charset="0"/>
                                </a:rPr>
                                <m:t>𝑋</m:t>
                              </m:r>
                            </m:e>
                            <m:sub>
                              <m:r>
                                <a:rPr lang="fr-FR" b="0" i="1" smtClean="0">
                                  <a:latin typeface="Cambria Math" panose="02040503050406030204" pitchFamily="18" charset="0"/>
                                </a:rPr>
                                <m:t>6</m:t>
                              </m:r>
                              <m:r>
                                <m:rPr>
                                  <m:brk m:alnAt="7"/>
                                </m:rPr>
                                <a:rPr lang="fr-FR" b="0" i="1" smtClean="0">
                                  <a:latin typeface="Cambria Math" panose="02040503050406030204" pitchFamily="18" charset="0"/>
                                </a:rPr>
                                <m:t>1</m:t>
                              </m:r>
                            </m:sub>
                          </m:sSub>
                        </m:e>
                        <m:e>
                          <m:sSub>
                            <m:sSubPr>
                              <m:ctrlPr>
                                <a:rPr lang="fr-FR" b="0" i="1" smtClean="0">
                                  <a:latin typeface="Cambria Math" panose="02040503050406030204" pitchFamily="18" charset="0"/>
                                </a:rPr>
                              </m:ctrlPr>
                            </m:sSubPr>
                            <m:e>
                              <m:r>
                                <a:rPr lang="fr-FR" b="0" i="1" smtClean="0">
                                  <a:latin typeface="Cambria Math" panose="02040503050406030204" pitchFamily="18" charset="0"/>
                                </a:rPr>
                                <m:t>𝑋</m:t>
                              </m:r>
                            </m:e>
                            <m:sub>
                              <m:r>
                                <a:rPr lang="fr-FR" b="0" i="1" smtClean="0">
                                  <a:latin typeface="Cambria Math" panose="02040503050406030204" pitchFamily="18" charset="0"/>
                                </a:rPr>
                                <m:t>62</m:t>
                              </m:r>
                            </m:sub>
                          </m:sSub>
                        </m:e>
                        <m:e>
                          <m:sSub>
                            <m:sSubPr>
                              <m:ctrlPr>
                                <a:rPr lang="fr-FR" b="0" i="1" smtClean="0">
                                  <a:latin typeface="Cambria Math" panose="02040503050406030204" pitchFamily="18" charset="0"/>
                                </a:rPr>
                              </m:ctrlPr>
                            </m:sSubPr>
                            <m:e>
                              <m:r>
                                <a:rPr lang="fr-FR" b="0" i="1" smtClean="0">
                                  <a:latin typeface="Cambria Math" panose="02040503050406030204" pitchFamily="18" charset="0"/>
                                </a:rPr>
                                <m:t>𝑋</m:t>
                              </m:r>
                            </m:e>
                            <m:sub>
                              <m:r>
                                <a:rPr lang="fr-FR" b="0" i="1" smtClean="0">
                                  <a:latin typeface="Cambria Math" panose="02040503050406030204" pitchFamily="18" charset="0"/>
                                </a:rPr>
                                <m:t>63</m:t>
                              </m:r>
                            </m:sub>
                          </m:sSub>
                        </m:e>
                      </m:mr>
                    </m:m>
                    <m:r>
                      <a:rPr lang="fr-FR" b="0" i="1" smtClean="0">
                        <a:latin typeface="Cambria Math" panose="02040503050406030204" pitchFamily="18" charset="0"/>
                      </a:rPr>
                      <m:t>]</m:t>
                    </m:r>
                  </m:oMath>
                </a14:m>
                <a:r>
                  <a:rPr lang="en-GB" dirty="0"/>
                  <a:t>]</a:t>
                </a:r>
              </a:p>
            </p:txBody>
          </p:sp>
        </mc:Choice>
        <mc:Fallback xmlns="">
          <p:sp>
            <p:nvSpPr>
              <p:cNvPr id="5" name="ZoneTexte 4">
                <a:extLst>
                  <a:ext uri="{FF2B5EF4-FFF2-40B4-BE49-F238E27FC236}">
                    <a16:creationId xmlns:a16="http://schemas.microsoft.com/office/drawing/2014/main" id="{31FB12F9-210A-44F8-A4BF-C25979107029}"/>
                  </a:ext>
                </a:extLst>
              </p:cNvPr>
              <p:cNvSpPr txBox="1">
                <a:spLocks noRot="1" noChangeAspect="1" noMove="1" noResize="1" noEditPoints="1" noAdjustHandles="1" noChangeArrowheads="1" noChangeShapeType="1" noTextEdit="1"/>
              </p:cNvSpPr>
              <p:nvPr/>
            </p:nvSpPr>
            <p:spPr>
              <a:xfrm>
                <a:off x="7678057" y="1600255"/>
                <a:ext cx="2227943" cy="1661993"/>
              </a:xfrm>
              <a:prstGeom prst="rect">
                <a:avLst/>
              </a:prstGeom>
              <a:blipFill>
                <a:blip r:embed="rId2"/>
                <a:stretch>
                  <a:fillRect t="-1527" b="-8397"/>
                </a:stretch>
              </a:blipFill>
            </p:spPr>
            <p:txBody>
              <a:bodyPr/>
              <a:lstStyle/>
              <a:p>
                <a:r>
                  <a:rPr lang="en-GB">
                    <a:noFill/>
                  </a:rPr>
                  <a:t> </a:t>
                </a:r>
              </a:p>
            </p:txBody>
          </p:sp>
        </mc:Fallback>
      </mc:AlternateContent>
      <p:sp>
        <p:nvSpPr>
          <p:cNvPr id="8" name="Rectangle 7">
            <a:extLst>
              <a:ext uri="{FF2B5EF4-FFF2-40B4-BE49-F238E27FC236}">
                <a16:creationId xmlns:a16="http://schemas.microsoft.com/office/drawing/2014/main" id="{1B223117-2594-6DC6-7F8C-080B9A14F82E}"/>
              </a:ext>
            </a:extLst>
          </p:cNvPr>
          <p:cNvSpPr/>
          <p:nvPr/>
        </p:nvSpPr>
        <p:spPr>
          <a:xfrm>
            <a:off x="7915728" y="2691095"/>
            <a:ext cx="1752600" cy="304800"/>
          </a:xfrm>
          <a:prstGeom prst="rect">
            <a:avLst/>
          </a:prstGeom>
          <a:solidFill>
            <a:schemeClr val="accent2">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 name="Rectangle 8">
            <a:extLst>
              <a:ext uri="{FF2B5EF4-FFF2-40B4-BE49-F238E27FC236}">
                <a16:creationId xmlns:a16="http://schemas.microsoft.com/office/drawing/2014/main" id="{ECA265B6-8254-A2F3-1C14-20FC2B0C0FB0}"/>
              </a:ext>
            </a:extLst>
          </p:cNvPr>
          <p:cNvSpPr/>
          <p:nvPr/>
        </p:nvSpPr>
        <p:spPr>
          <a:xfrm>
            <a:off x="1644306" y="2113350"/>
            <a:ext cx="1698502" cy="330049"/>
          </a:xfrm>
          <a:prstGeom prst="rect">
            <a:avLst/>
          </a:prstGeom>
          <a:solidFill>
            <a:schemeClr val="accent2">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mc:AlternateContent xmlns:mc="http://schemas.openxmlformats.org/markup-compatibility/2006" xmlns:a14="http://schemas.microsoft.com/office/drawing/2010/main">
        <mc:Choice Requires="a14">
          <p:sp>
            <p:nvSpPr>
              <p:cNvPr id="10" name="ZoneTexte 9">
                <a:extLst>
                  <a:ext uri="{FF2B5EF4-FFF2-40B4-BE49-F238E27FC236}">
                    <a16:creationId xmlns:a16="http://schemas.microsoft.com/office/drawing/2014/main" id="{CB7D4DBF-EA28-F3A1-700E-2DCC09FA6EBD}"/>
                  </a:ext>
                </a:extLst>
              </p:cNvPr>
              <p:cNvSpPr txBox="1"/>
              <p:nvPr/>
            </p:nvSpPr>
            <p:spPr>
              <a:xfrm>
                <a:off x="7678057" y="3773821"/>
                <a:ext cx="2227943" cy="1661993"/>
              </a:xfrm>
              <a:prstGeom prst="rect">
                <a:avLst/>
              </a:prstGeom>
              <a:noFill/>
            </p:spPr>
            <p:txBody>
              <a:bodyPr wrap="square" lIns="0" tIns="0" rIns="0" bIns="0" rtlCol="0">
                <a:spAutoFit/>
              </a:bodyPr>
              <a:lstStyle/>
              <a:p>
                <a:pPr algn="ctr"/>
                <a14:m>
                  <m:oMathPara xmlns:m="http://schemas.openxmlformats.org/officeDocument/2006/math">
                    <m:oMathParaPr>
                      <m:jc m:val="centerGroup"/>
                    </m:oMathParaPr>
                    <m:oMath xmlns:m="http://schemas.openxmlformats.org/officeDocument/2006/math">
                      <m:m>
                        <m:mPr>
                          <m:mcs>
                            <m:mc>
                              <m:mcPr>
                                <m:count m:val="3"/>
                                <m:mcJc m:val="center"/>
                              </m:mcPr>
                            </m:mc>
                          </m:mcs>
                          <m:ctrlPr>
                            <a:rPr lang="en-GB" i="1" smtClean="0">
                              <a:latin typeface="Cambria Math" panose="02040503050406030204" pitchFamily="18" charset="0"/>
                            </a:rPr>
                          </m:ctrlPr>
                        </m:mPr>
                        <m:mr>
                          <m:e>
                            <m:sSub>
                              <m:sSubPr>
                                <m:ctrlPr>
                                  <a:rPr lang="fr-FR" b="0" i="1" smtClean="0">
                                    <a:latin typeface="Cambria Math" panose="02040503050406030204" pitchFamily="18" charset="0"/>
                                  </a:rPr>
                                </m:ctrlPr>
                              </m:sSubPr>
                              <m:e>
                                <m:r>
                                  <a:rPr lang="fr-FR" b="0" i="1" smtClean="0">
                                    <a:latin typeface="Cambria Math" panose="02040503050406030204" pitchFamily="18" charset="0"/>
                                  </a:rPr>
                                  <m:t>[[</m:t>
                                </m:r>
                                <m:r>
                                  <m:rPr>
                                    <m:brk m:alnAt="7"/>
                                  </m:rPr>
                                  <a:rPr lang="fr-FR" b="0" i="1" smtClean="0">
                                    <a:latin typeface="Cambria Math" panose="02040503050406030204" pitchFamily="18" charset="0"/>
                                  </a:rPr>
                                  <m:t>𝑋</m:t>
                                </m:r>
                              </m:e>
                              <m:sub>
                                <m:r>
                                  <m:rPr>
                                    <m:brk m:alnAt="7"/>
                                  </m:rPr>
                                  <a:rPr lang="fr-FR" b="0" i="1" smtClean="0">
                                    <a:latin typeface="Cambria Math" panose="02040503050406030204" pitchFamily="18" charset="0"/>
                                  </a:rPr>
                                  <m:t>1</m:t>
                                </m:r>
                                <m:r>
                                  <a:rPr lang="fr-FR" b="0" i="1" smtClean="0">
                                    <a:latin typeface="Cambria Math" panose="02040503050406030204" pitchFamily="18" charset="0"/>
                                  </a:rPr>
                                  <m:t>1</m:t>
                                </m:r>
                              </m:sub>
                            </m:sSub>
                          </m:e>
                          <m:e>
                            <m:sSub>
                              <m:sSubPr>
                                <m:ctrlPr>
                                  <a:rPr lang="fr-FR" b="0" i="1" smtClean="0">
                                    <a:latin typeface="Cambria Math" panose="02040503050406030204" pitchFamily="18" charset="0"/>
                                  </a:rPr>
                                </m:ctrlPr>
                              </m:sSubPr>
                              <m:e>
                                <m:r>
                                  <a:rPr lang="fr-FR" b="0" i="1" smtClean="0">
                                    <a:latin typeface="Cambria Math" panose="02040503050406030204" pitchFamily="18" charset="0"/>
                                  </a:rPr>
                                  <m:t>𝑋</m:t>
                                </m:r>
                              </m:e>
                              <m:sub>
                                <m:r>
                                  <a:rPr lang="fr-FR" b="0" i="1" smtClean="0">
                                    <a:latin typeface="Cambria Math" panose="02040503050406030204" pitchFamily="18" charset="0"/>
                                  </a:rPr>
                                  <m:t>12</m:t>
                                </m:r>
                              </m:sub>
                            </m:sSub>
                          </m:e>
                          <m:e>
                            <m:sSub>
                              <m:sSubPr>
                                <m:ctrlPr>
                                  <a:rPr lang="fr-FR" b="0" i="1" smtClean="0">
                                    <a:latin typeface="Cambria Math" panose="02040503050406030204" pitchFamily="18" charset="0"/>
                                  </a:rPr>
                                </m:ctrlPr>
                              </m:sSubPr>
                              <m:e>
                                <m:r>
                                  <a:rPr lang="fr-FR" b="0" i="1" smtClean="0">
                                    <a:latin typeface="Cambria Math" panose="02040503050406030204" pitchFamily="18" charset="0"/>
                                  </a:rPr>
                                  <m:t>𝑋</m:t>
                                </m:r>
                              </m:e>
                              <m:sub>
                                <m:r>
                                  <a:rPr lang="fr-FR" b="0" i="1" smtClean="0">
                                    <a:latin typeface="Cambria Math" panose="02040503050406030204" pitchFamily="18" charset="0"/>
                                  </a:rPr>
                                  <m:t>13</m:t>
                                </m:r>
                              </m:sub>
                            </m:sSub>
                          </m:e>
                        </m:mr>
                      </m:m>
                      <m:r>
                        <a:rPr lang="fr-FR" b="0" i="1" smtClean="0">
                          <a:latin typeface="Cambria Math" panose="02040503050406030204" pitchFamily="18" charset="0"/>
                        </a:rPr>
                        <m:t>]</m:t>
                      </m:r>
                    </m:oMath>
                  </m:oMathPara>
                </a14:m>
                <a:endParaRPr lang="fr-FR" b="0" dirty="0"/>
              </a:p>
              <a:p>
                <a:pPr algn="ctr"/>
                <a14:m>
                  <m:oMathPara xmlns:m="http://schemas.openxmlformats.org/officeDocument/2006/math">
                    <m:oMathParaPr>
                      <m:jc m:val="centerGroup"/>
                    </m:oMathParaPr>
                    <m:oMath xmlns:m="http://schemas.openxmlformats.org/officeDocument/2006/math">
                      <m:m>
                        <m:mPr>
                          <m:mcs>
                            <m:mc>
                              <m:mcPr>
                                <m:count m:val="3"/>
                                <m:mcJc m:val="center"/>
                              </m:mcPr>
                            </m:mc>
                          </m:mcs>
                          <m:ctrlPr>
                            <a:rPr lang="en-GB" i="1" smtClean="0">
                              <a:latin typeface="Cambria Math" panose="02040503050406030204" pitchFamily="18" charset="0"/>
                            </a:rPr>
                          </m:ctrlPr>
                        </m:mPr>
                        <m:mr>
                          <m:e>
                            <m:r>
                              <m:rPr>
                                <m:brk m:alnAt="7"/>
                              </m:rPr>
                              <a:rPr lang="fr-FR" b="0" i="1" smtClean="0">
                                <a:latin typeface="Cambria Math" panose="02040503050406030204" pitchFamily="18" charset="0"/>
                              </a:rPr>
                              <m:t> </m:t>
                            </m:r>
                            <m:sSub>
                              <m:sSubPr>
                                <m:ctrlPr>
                                  <a:rPr lang="fr-FR" b="0" i="1" smtClean="0">
                                    <a:latin typeface="Cambria Math" panose="02040503050406030204" pitchFamily="18" charset="0"/>
                                  </a:rPr>
                                </m:ctrlPr>
                              </m:sSubPr>
                              <m:e>
                                <m:r>
                                  <a:rPr lang="fr-FR" b="0" i="1" smtClean="0">
                                    <a:latin typeface="Cambria Math" panose="02040503050406030204" pitchFamily="18" charset="0"/>
                                  </a:rPr>
                                  <m:t>[</m:t>
                                </m:r>
                                <m:r>
                                  <m:rPr>
                                    <m:brk m:alnAt="7"/>
                                  </m:rPr>
                                  <a:rPr lang="fr-FR" b="0" i="1" smtClean="0">
                                    <a:latin typeface="Cambria Math" panose="02040503050406030204" pitchFamily="18" charset="0"/>
                                  </a:rPr>
                                  <m:t>𝑋</m:t>
                                </m:r>
                              </m:e>
                              <m:sub>
                                <m:r>
                                  <a:rPr lang="fr-FR" b="0" i="1" smtClean="0">
                                    <a:latin typeface="Cambria Math" panose="02040503050406030204" pitchFamily="18" charset="0"/>
                                  </a:rPr>
                                  <m:t>2</m:t>
                                </m:r>
                                <m:r>
                                  <m:rPr>
                                    <m:brk m:alnAt="7"/>
                                  </m:rPr>
                                  <a:rPr lang="fr-FR" b="0" i="1" smtClean="0">
                                    <a:latin typeface="Cambria Math" panose="02040503050406030204" pitchFamily="18" charset="0"/>
                                  </a:rPr>
                                  <m:t>1</m:t>
                                </m:r>
                              </m:sub>
                            </m:sSub>
                          </m:e>
                          <m:e>
                            <m:sSub>
                              <m:sSubPr>
                                <m:ctrlPr>
                                  <a:rPr lang="fr-FR" b="0" i="1" smtClean="0">
                                    <a:latin typeface="Cambria Math" panose="02040503050406030204" pitchFamily="18" charset="0"/>
                                  </a:rPr>
                                </m:ctrlPr>
                              </m:sSubPr>
                              <m:e>
                                <m:r>
                                  <a:rPr lang="fr-FR" b="0" i="1" smtClean="0">
                                    <a:latin typeface="Cambria Math" panose="02040503050406030204" pitchFamily="18" charset="0"/>
                                  </a:rPr>
                                  <m:t>𝑋</m:t>
                                </m:r>
                              </m:e>
                              <m:sub>
                                <m:r>
                                  <a:rPr lang="fr-FR" b="0" i="1" smtClean="0">
                                    <a:latin typeface="Cambria Math" panose="02040503050406030204" pitchFamily="18" charset="0"/>
                                  </a:rPr>
                                  <m:t>22</m:t>
                                </m:r>
                              </m:sub>
                            </m:sSub>
                          </m:e>
                          <m:e>
                            <m:sSub>
                              <m:sSubPr>
                                <m:ctrlPr>
                                  <a:rPr lang="fr-FR" b="0" i="1" smtClean="0">
                                    <a:latin typeface="Cambria Math" panose="02040503050406030204" pitchFamily="18" charset="0"/>
                                  </a:rPr>
                                </m:ctrlPr>
                              </m:sSubPr>
                              <m:e>
                                <m:r>
                                  <a:rPr lang="fr-FR" b="0" i="1" smtClean="0">
                                    <a:latin typeface="Cambria Math" panose="02040503050406030204" pitchFamily="18" charset="0"/>
                                  </a:rPr>
                                  <m:t>𝑋</m:t>
                                </m:r>
                              </m:e>
                              <m:sub>
                                <m:r>
                                  <a:rPr lang="fr-FR" b="0" i="1" smtClean="0">
                                    <a:latin typeface="Cambria Math" panose="02040503050406030204" pitchFamily="18" charset="0"/>
                                  </a:rPr>
                                  <m:t>23</m:t>
                                </m:r>
                              </m:sub>
                            </m:sSub>
                          </m:e>
                        </m:mr>
                      </m:m>
                      <m:r>
                        <a:rPr lang="fr-FR" b="0" i="1" smtClean="0">
                          <a:latin typeface="Cambria Math" panose="02040503050406030204" pitchFamily="18" charset="0"/>
                        </a:rPr>
                        <m:t>]</m:t>
                      </m:r>
                    </m:oMath>
                  </m:oMathPara>
                </a14:m>
                <a:endParaRPr lang="en-GB" dirty="0"/>
              </a:p>
              <a:p>
                <a:pPr algn="ctr"/>
                <a14:m>
                  <m:oMathPara xmlns:m="http://schemas.openxmlformats.org/officeDocument/2006/math">
                    <m:oMathParaPr>
                      <m:jc m:val="centerGroup"/>
                    </m:oMathParaPr>
                    <m:oMath xmlns:m="http://schemas.openxmlformats.org/officeDocument/2006/math">
                      <m:m>
                        <m:mPr>
                          <m:mcs>
                            <m:mc>
                              <m:mcPr>
                                <m:count m:val="3"/>
                                <m:mcJc m:val="center"/>
                              </m:mcPr>
                            </m:mc>
                          </m:mcs>
                          <m:ctrlPr>
                            <a:rPr lang="en-GB" i="1" smtClean="0">
                              <a:latin typeface="Cambria Math" panose="02040503050406030204" pitchFamily="18" charset="0"/>
                            </a:rPr>
                          </m:ctrlPr>
                        </m:mPr>
                        <m:mr>
                          <m:e>
                            <m:sSub>
                              <m:sSubPr>
                                <m:ctrlPr>
                                  <a:rPr lang="fr-FR" b="0" i="1" smtClean="0">
                                    <a:latin typeface="Cambria Math" panose="02040503050406030204" pitchFamily="18" charset="0"/>
                                  </a:rPr>
                                </m:ctrlPr>
                              </m:sSubPr>
                              <m:e>
                                <m:r>
                                  <a:rPr lang="fr-FR" b="0" i="1" smtClean="0">
                                    <a:latin typeface="Cambria Math" panose="02040503050406030204" pitchFamily="18" charset="0"/>
                                  </a:rPr>
                                  <m:t>[</m:t>
                                </m:r>
                                <m:r>
                                  <m:rPr>
                                    <m:brk m:alnAt="7"/>
                                  </m:rPr>
                                  <a:rPr lang="fr-FR" b="0" i="1" smtClean="0">
                                    <a:latin typeface="Cambria Math" panose="02040503050406030204" pitchFamily="18" charset="0"/>
                                  </a:rPr>
                                  <m:t>𝑋</m:t>
                                </m:r>
                              </m:e>
                              <m:sub>
                                <m:r>
                                  <a:rPr lang="fr-FR" b="0" i="1" smtClean="0">
                                    <a:latin typeface="Cambria Math" panose="02040503050406030204" pitchFamily="18" charset="0"/>
                                  </a:rPr>
                                  <m:t>3</m:t>
                                </m:r>
                                <m:r>
                                  <m:rPr>
                                    <m:brk m:alnAt="7"/>
                                  </m:rPr>
                                  <a:rPr lang="fr-FR" b="0" i="1" smtClean="0">
                                    <a:latin typeface="Cambria Math" panose="02040503050406030204" pitchFamily="18" charset="0"/>
                                  </a:rPr>
                                  <m:t>1</m:t>
                                </m:r>
                              </m:sub>
                            </m:sSub>
                          </m:e>
                          <m:e>
                            <m:sSub>
                              <m:sSubPr>
                                <m:ctrlPr>
                                  <a:rPr lang="fr-FR" b="0" i="1" smtClean="0">
                                    <a:latin typeface="Cambria Math" panose="02040503050406030204" pitchFamily="18" charset="0"/>
                                  </a:rPr>
                                </m:ctrlPr>
                              </m:sSubPr>
                              <m:e>
                                <m:r>
                                  <a:rPr lang="fr-FR" b="0" i="1" smtClean="0">
                                    <a:latin typeface="Cambria Math" panose="02040503050406030204" pitchFamily="18" charset="0"/>
                                  </a:rPr>
                                  <m:t>𝑋</m:t>
                                </m:r>
                              </m:e>
                              <m:sub>
                                <m:r>
                                  <a:rPr lang="fr-FR" b="0" i="1" smtClean="0">
                                    <a:latin typeface="Cambria Math" panose="02040503050406030204" pitchFamily="18" charset="0"/>
                                  </a:rPr>
                                  <m:t>32</m:t>
                                </m:r>
                              </m:sub>
                            </m:sSub>
                          </m:e>
                          <m:e>
                            <m:sSub>
                              <m:sSubPr>
                                <m:ctrlPr>
                                  <a:rPr lang="fr-FR" b="0" i="1" smtClean="0">
                                    <a:latin typeface="Cambria Math" panose="02040503050406030204" pitchFamily="18" charset="0"/>
                                  </a:rPr>
                                </m:ctrlPr>
                              </m:sSubPr>
                              <m:e>
                                <m:r>
                                  <a:rPr lang="fr-FR" b="0" i="1" smtClean="0">
                                    <a:latin typeface="Cambria Math" panose="02040503050406030204" pitchFamily="18" charset="0"/>
                                  </a:rPr>
                                  <m:t>𝑋</m:t>
                                </m:r>
                              </m:e>
                              <m:sub>
                                <m:r>
                                  <a:rPr lang="fr-FR" b="0" i="1" smtClean="0">
                                    <a:latin typeface="Cambria Math" panose="02040503050406030204" pitchFamily="18" charset="0"/>
                                  </a:rPr>
                                  <m:t>33</m:t>
                                </m:r>
                              </m:sub>
                            </m:sSub>
                          </m:e>
                        </m:mr>
                      </m:m>
                      <m:r>
                        <a:rPr lang="fr-FR" b="0" i="1" smtClean="0">
                          <a:latin typeface="Cambria Math" panose="02040503050406030204" pitchFamily="18" charset="0"/>
                        </a:rPr>
                        <m:t>]</m:t>
                      </m:r>
                    </m:oMath>
                  </m:oMathPara>
                </a14:m>
                <a:endParaRPr lang="en-GB" dirty="0"/>
              </a:p>
              <a:p>
                <a:pPr algn="ctr"/>
                <a14:m>
                  <m:oMathPara xmlns:m="http://schemas.openxmlformats.org/officeDocument/2006/math">
                    <m:oMathParaPr>
                      <m:jc m:val="centerGroup"/>
                    </m:oMathParaPr>
                    <m:oMath xmlns:m="http://schemas.openxmlformats.org/officeDocument/2006/math">
                      <m:m>
                        <m:mPr>
                          <m:mcs>
                            <m:mc>
                              <m:mcPr>
                                <m:count m:val="3"/>
                                <m:mcJc m:val="center"/>
                              </m:mcPr>
                            </m:mc>
                          </m:mcs>
                          <m:ctrlPr>
                            <a:rPr lang="en-GB" i="1" smtClean="0">
                              <a:latin typeface="Cambria Math" panose="02040503050406030204" pitchFamily="18" charset="0"/>
                            </a:rPr>
                          </m:ctrlPr>
                        </m:mPr>
                        <m:mr>
                          <m:e>
                            <m:sSub>
                              <m:sSubPr>
                                <m:ctrlPr>
                                  <a:rPr lang="fr-FR" b="0" i="1" smtClean="0">
                                    <a:latin typeface="Cambria Math" panose="02040503050406030204" pitchFamily="18" charset="0"/>
                                  </a:rPr>
                                </m:ctrlPr>
                              </m:sSubPr>
                              <m:e>
                                <m:r>
                                  <a:rPr lang="fr-FR" b="0" i="1" smtClean="0">
                                    <a:latin typeface="Cambria Math" panose="02040503050406030204" pitchFamily="18" charset="0"/>
                                  </a:rPr>
                                  <m:t>[</m:t>
                                </m:r>
                                <m:r>
                                  <m:rPr>
                                    <m:brk m:alnAt="7"/>
                                  </m:rPr>
                                  <a:rPr lang="fr-FR" b="0" i="1" smtClean="0">
                                    <a:latin typeface="Cambria Math" panose="02040503050406030204" pitchFamily="18" charset="0"/>
                                  </a:rPr>
                                  <m:t>𝑋</m:t>
                                </m:r>
                              </m:e>
                              <m:sub>
                                <m:r>
                                  <a:rPr lang="fr-FR" b="0" i="1" smtClean="0">
                                    <a:latin typeface="Cambria Math" panose="02040503050406030204" pitchFamily="18" charset="0"/>
                                  </a:rPr>
                                  <m:t>4</m:t>
                                </m:r>
                                <m:r>
                                  <m:rPr>
                                    <m:brk m:alnAt="7"/>
                                  </m:rPr>
                                  <a:rPr lang="fr-FR" b="0" i="1" smtClean="0">
                                    <a:latin typeface="Cambria Math" panose="02040503050406030204" pitchFamily="18" charset="0"/>
                                  </a:rPr>
                                  <m:t>1</m:t>
                                </m:r>
                              </m:sub>
                            </m:sSub>
                          </m:e>
                          <m:e>
                            <m:sSub>
                              <m:sSubPr>
                                <m:ctrlPr>
                                  <a:rPr lang="fr-FR" b="0" i="1" smtClean="0">
                                    <a:latin typeface="Cambria Math" panose="02040503050406030204" pitchFamily="18" charset="0"/>
                                  </a:rPr>
                                </m:ctrlPr>
                              </m:sSubPr>
                              <m:e>
                                <m:r>
                                  <a:rPr lang="fr-FR" b="0" i="1" smtClean="0">
                                    <a:latin typeface="Cambria Math" panose="02040503050406030204" pitchFamily="18" charset="0"/>
                                  </a:rPr>
                                  <m:t>𝑋</m:t>
                                </m:r>
                              </m:e>
                              <m:sub>
                                <m:r>
                                  <a:rPr lang="fr-FR" b="0" i="1" smtClean="0">
                                    <a:latin typeface="Cambria Math" panose="02040503050406030204" pitchFamily="18" charset="0"/>
                                  </a:rPr>
                                  <m:t>42</m:t>
                                </m:r>
                              </m:sub>
                            </m:sSub>
                          </m:e>
                          <m:e>
                            <m:sSub>
                              <m:sSubPr>
                                <m:ctrlPr>
                                  <a:rPr lang="fr-FR" b="0" i="1" smtClean="0">
                                    <a:latin typeface="Cambria Math" panose="02040503050406030204" pitchFamily="18" charset="0"/>
                                  </a:rPr>
                                </m:ctrlPr>
                              </m:sSubPr>
                              <m:e>
                                <m:r>
                                  <a:rPr lang="fr-FR" b="0" i="1" smtClean="0">
                                    <a:latin typeface="Cambria Math" panose="02040503050406030204" pitchFamily="18" charset="0"/>
                                  </a:rPr>
                                  <m:t>𝑋</m:t>
                                </m:r>
                              </m:e>
                              <m:sub>
                                <m:r>
                                  <a:rPr lang="fr-FR" b="0" i="1" smtClean="0">
                                    <a:latin typeface="Cambria Math" panose="02040503050406030204" pitchFamily="18" charset="0"/>
                                  </a:rPr>
                                  <m:t>43</m:t>
                                </m:r>
                              </m:sub>
                            </m:sSub>
                          </m:e>
                        </m:mr>
                      </m:m>
                      <m:r>
                        <a:rPr lang="fr-FR" b="0" i="1" smtClean="0">
                          <a:latin typeface="Cambria Math" panose="02040503050406030204" pitchFamily="18" charset="0"/>
                        </a:rPr>
                        <m:t>]</m:t>
                      </m:r>
                    </m:oMath>
                  </m:oMathPara>
                </a14:m>
                <a:endParaRPr lang="en-GB" dirty="0"/>
              </a:p>
              <a:p>
                <a:pPr algn="ctr"/>
                <a14:m>
                  <m:oMathPara xmlns:m="http://schemas.openxmlformats.org/officeDocument/2006/math">
                    <m:oMathParaPr>
                      <m:jc m:val="centerGroup"/>
                    </m:oMathParaPr>
                    <m:oMath xmlns:m="http://schemas.openxmlformats.org/officeDocument/2006/math">
                      <m:m>
                        <m:mPr>
                          <m:mcs>
                            <m:mc>
                              <m:mcPr>
                                <m:count m:val="3"/>
                                <m:mcJc m:val="center"/>
                              </m:mcPr>
                            </m:mc>
                          </m:mcs>
                          <m:ctrlPr>
                            <a:rPr lang="en-GB" i="1" smtClean="0">
                              <a:latin typeface="Cambria Math" panose="02040503050406030204" pitchFamily="18" charset="0"/>
                            </a:rPr>
                          </m:ctrlPr>
                        </m:mPr>
                        <m:mr>
                          <m:e>
                            <m:sSub>
                              <m:sSubPr>
                                <m:ctrlPr>
                                  <a:rPr lang="fr-FR" b="0" i="1" smtClean="0">
                                    <a:latin typeface="Cambria Math" panose="02040503050406030204" pitchFamily="18" charset="0"/>
                                  </a:rPr>
                                </m:ctrlPr>
                              </m:sSubPr>
                              <m:e>
                                <m:r>
                                  <a:rPr lang="fr-FR" b="0" i="1" smtClean="0">
                                    <a:latin typeface="Cambria Math" panose="02040503050406030204" pitchFamily="18" charset="0"/>
                                  </a:rPr>
                                  <m:t>[</m:t>
                                </m:r>
                                <m:r>
                                  <m:rPr>
                                    <m:brk m:alnAt="7"/>
                                  </m:rPr>
                                  <a:rPr lang="fr-FR" b="0" i="1" smtClean="0">
                                    <a:latin typeface="Cambria Math" panose="02040503050406030204" pitchFamily="18" charset="0"/>
                                  </a:rPr>
                                  <m:t>𝑋</m:t>
                                </m:r>
                              </m:e>
                              <m:sub>
                                <m:r>
                                  <a:rPr lang="fr-FR" b="0" i="1" smtClean="0">
                                    <a:latin typeface="Cambria Math" panose="02040503050406030204" pitchFamily="18" charset="0"/>
                                  </a:rPr>
                                  <m:t>5</m:t>
                                </m:r>
                                <m:r>
                                  <m:rPr>
                                    <m:brk m:alnAt="7"/>
                                  </m:rPr>
                                  <a:rPr lang="fr-FR" b="0" i="1" smtClean="0">
                                    <a:latin typeface="Cambria Math" panose="02040503050406030204" pitchFamily="18" charset="0"/>
                                  </a:rPr>
                                  <m:t>1</m:t>
                                </m:r>
                              </m:sub>
                            </m:sSub>
                          </m:e>
                          <m:e>
                            <m:sSub>
                              <m:sSubPr>
                                <m:ctrlPr>
                                  <a:rPr lang="fr-FR" b="0" i="1" smtClean="0">
                                    <a:latin typeface="Cambria Math" panose="02040503050406030204" pitchFamily="18" charset="0"/>
                                  </a:rPr>
                                </m:ctrlPr>
                              </m:sSubPr>
                              <m:e>
                                <m:r>
                                  <a:rPr lang="fr-FR" b="0" i="1" smtClean="0">
                                    <a:latin typeface="Cambria Math" panose="02040503050406030204" pitchFamily="18" charset="0"/>
                                  </a:rPr>
                                  <m:t>𝑋</m:t>
                                </m:r>
                              </m:e>
                              <m:sub>
                                <m:r>
                                  <a:rPr lang="fr-FR" b="0" i="1" smtClean="0">
                                    <a:latin typeface="Cambria Math" panose="02040503050406030204" pitchFamily="18" charset="0"/>
                                  </a:rPr>
                                  <m:t>52</m:t>
                                </m:r>
                              </m:sub>
                            </m:sSub>
                          </m:e>
                          <m:e>
                            <m:sSub>
                              <m:sSubPr>
                                <m:ctrlPr>
                                  <a:rPr lang="fr-FR" b="0" i="1" smtClean="0">
                                    <a:latin typeface="Cambria Math" panose="02040503050406030204" pitchFamily="18" charset="0"/>
                                  </a:rPr>
                                </m:ctrlPr>
                              </m:sSubPr>
                              <m:e>
                                <m:r>
                                  <a:rPr lang="fr-FR" b="0" i="1" smtClean="0">
                                    <a:latin typeface="Cambria Math" panose="02040503050406030204" pitchFamily="18" charset="0"/>
                                  </a:rPr>
                                  <m:t>𝑋</m:t>
                                </m:r>
                              </m:e>
                              <m:sub>
                                <m:r>
                                  <a:rPr lang="fr-FR" b="0" i="1" smtClean="0">
                                    <a:latin typeface="Cambria Math" panose="02040503050406030204" pitchFamily="18" charset="0"/>
                                  </a:rPr>
                                  <m:t>53</m:t>
                                </m:r>
                              </m:sub>
                            </m:sSub>
                          </m:e>
                        </m:mr>
                      </m:m>
                      <m:r>
                        <a:rPr lang="fr-FR" b="0" i="1" smtClean="0">
                          <a:latin typeface="Cambria Math" panose="02040503050406030204" pitchFamily="18" charset="0"/>
                        </a:rPr>
                        <m:t>]</m:t>
                      </m:r>
                    </m:oMath>
                  </m:oMathPara>
                </a14:m>
                <a:endParaRPr lang="en-GB" dirty="0"/>
              </a:p>
              <a:p>
                <a:pPr algn="ctr"/>
                <a14:m>
                  <m:oMath xmlns:m="http://schemas.openxmlformats.org/officeDocument/2006/math">
                    <m:m>
                      <m:mPr>
                        <m:mcs>
                          <m:mc>
                            <m:mcPr>
                              <m:count m:val="3"/>
                              <m:mcJc m:val="center"/>
                            </m:mcPr>
                          </m:mc>
                        </m:mcs>
                        <m:ctrlPr>
                          <a:rPr lang="en-GB" i="1" smtClean="0">
                            <a:latin typeface="Cambria Math" panose="02040503050406030204" pitchFamily="18" charset="0"/>
                          </a:rPr>
                        </m:ctrlPr>
                      </m:mPr>
                      <m:mr>
                        <m:e>
                          <m:sSub>
                            <m:sSubPr>
                              <m:ctrlPr>
                                <a:rPr lang="fr-FR" b="0" i="1" smtClean="0">
                                  <a:latin typeface="Cambria Math" panose="02040503050406030204" pitchFamily="18" charset="0"/>
                                </a:rPr>
                              </m:ctrlPr>
                            </m:sSubPr>
                            <m:e>
                              <m:r>
                                <a:rPr lang="fr-FR" b="0" i="1" smtClean="0">
                                  <a:latin typeface="Cambria Math" panose="02040503050406030204" pitchFamily="18" charset="0"/>
                                </a:rPr>
                                <m:t>[</m:t>
                              </m:r>
                              <m:r>
                                <m:rPr>
                                  <m:brk m:alnAt="7"/>
                                </m:rPr>
                                <a:rPr lang="fr-FR" b="0" i="1" smtClean="0">
                                  <a:latin typeface="Cambria Math" panose="02040503050406030204" pitchFamily="18" charset="0"/>
                                </a:rPr>
                                <m:t>𝑋</m:t>
                              </m:r>
                            </m:e>
                            <m:sub>
                              <m:r>
                                <a:rPr lang="fr-FR" b="0" i="1" smtClean="0">
                                  <a:latin typeface="Cambria Math" panose="02040503050406030204" pitchFamily="18" charset="0"/>
                                </a:rPr>
                                <m:t>6</m:t>
                              </m:r>
                              <m:r>
                                <m:rPr>
                                  <m:brk m:alnAt="7"/>
                                </m:rPr>
                                <a:rPr lang="fr-FR" b="0" i="1" smtClean="0">
                                  <a:latin typeface="Cambria Math" panose="02040503050406030204" pitchFamily="18" charset="0"/>
                                </a:rPr>
                                <m:t>1</m:t>
                              </m:r>
                            </m:sub>
                          </m:sSub>
                        </m:e>
                        <m:e>
                          <m:sSub>
                            <m:sSubPr>
                              <m:ctrlPr>
                                <a:rPr lang="fr-FR" b="0" i="1" smtClean="0">
                                  <a:latin typeface="Cambria Math" panose="02040503050406030204" pitchFamily="18" charset="0"/>
                                </a:rPr>
                              </m:ctrlPr>
                            </m:sSubPr>
                            <m:e>
                              <m:r>
                                <a:rPr lang="fr-FR" b="0" i="1" smtClean="0">
                                  <a:latin typeface="Cambria Math" panose="02040503050406030204" pitchFamily="18" charset="0"/>
                                </a:rPr>
                                <m:t>𝑋</m:t>
                              </m:r>
                            </m:e>
                            <m:sub>
                              <m:r>
                                <a:rPr lang="fr-FR" b="0" i="1" smtClean="0">
                                  <a:latin typeface="Cambria Math" panose="02040503050406030204" pitchFamily="18" charset="0"/>
                                </a:rPr>
                                <m:t>62</m:t>
                              </m:r>
                            </m:sub>
                          </m:sSub>
                        </m:e>
                        <m:e>
                          <m:sSub>
                            <m:sSubPr>
                              <m:ctrlPr>
                                <a:rPr lang="fr-FR" b="0" i="1" smtClean="0">
                                  <a:latin typeface="Cambria Math" panose="02040503050406030204" pitchFamily="18" charset="0"/>
                                </a:rPr>
                              </m:ctrlPr>
                            </m:sSubPr>
                            <m:e>
                              <m:r>
                                <a:rPr lang="fr-FR" b="0" i="1" smtClean="0">
                                  <a:latin typeface="Cambria Math" panose="02040503050406030204" pitchFamily="18" charset="0"/>
                                </a:rPr>
                                <m:t>𝑋</m:t>
                              </m:r>
                            </m:e>
                            <m:sub>
                              <m:r>
                                <a:rPr lang="fr-FR" b="0" i="1" smtClean="0">
                                  <a:latin typeface="Cambria Math" panose="02040503050406030204" pitchFamily="18" charset="0"/>
                                </a:rPr>
                                <m:t>63</m:t>
                              </m:r>
                            </m:sub>
                          </m:sSub>
                        </m:e>
                      </m:mr>
                    </m:m>
                    <m:r>
                      <a:rPr lang="fr-FR" b="0" i="1" smtClean="0">
                        <a:latin typeface="Cambria Math" panose="02040503050406030204" pitchFamily="18" charset="0"/>
                      </a:rPr>
                      <m:t>]</m:t>
                    </m:r>
                  </m:oMath>
                </a14:m>
                <a:r>
                  <a:rPr lang="en-GB" dirty="0"/>
                  <a:t>]</a:t>
                </a:r>
              </a:p>
            </p:txBody>
          </p:sp>
        </mc:Choice>
        <mc:Fallback xmlns="">
          <p:sp>
            <p:nvSpPr>
              <p:cNvPr id="10" name="ZoneTexte 9">
                <a:extLst>
                  <a:ext uri="{FF2B5EF4-FFF2-40B4-BE49-F238E27FC236}">
                    <a16:creationId xmlns:a16="http://schemas.microsoft.com/office/drawing/2014/main" id="{CB7D4DBF-EA28-F3A1-700E-2DCC09FA6EBD}"/>
                  </a:ext>
                </a:extLst>
              </p:cNvPr>
              <p:cNvSpPr txBox="1">
                <a:spLocks noRot="1" noChangeAspect="1" noMove="1" noResize="1" noEditPoints="1" noAdjustHandles="1" noChangeArrowheads="1" noChangeShapeType="1" noTextEdit="1"/>
              </p:cNvSpPr>
              <p:nvPr/>
            </p:nvSpPr>
            <p:spPr>
              <a:xfrm>
                <a:off x="7678057" y="3773821"/>
                <a:ext cx="2227943" cy="1661993"/>
              </a:xfrm>
              <a:prstGeom prst="rect">
                <a:avLst/>
              </a:prstGeom>
              <a:blipFill>
                <a:blip r:embed="rId3"/>
                <a:stretch>
                  <a:fillRect t="-1515" b="-7576"/>
                </a:stretch>
              </a:blipFill>
            </p:spPr>
            <p:txBody>
              <a:bodyPr/>
              <a:lstStyle/>
              <a:p>
                <a:r>
                  <a:rPr lang="en-GB">
                    <a:noFill/>
                  </a:rPr>
                  <a:t> </a:t>
                </a:r>
              </a:p>
            </p:txBody>
          </p:sp>
        </mc:Fallback>
      </mc:AlternateContent>
      <p:sp>
        <p:nvSpPr>
          <p:cNvPr id="11" name="Rectangle 10">
            <a:extLst>
              <a:ext uri="{FF2B5EF4-FFF2-40B4-BE49-F238E27FC236}">
                <a16:creationId xmlns:a16="http://schemas.microsoft.com/office/drawing/2014/main" id="{73B9B9FD-9E4C-0714-B5D3-92B30FFCD99C}"/>
              </a:ext>
            </a:extLst>
          </p:cNvPr>
          <p:cNvSpPr/>
          <p:nvPr/>
        </p:nvSpPr>
        <p:spPr>
          <a:xfrm>
            <a:off x="7915728" y="4864661"/>
            <a:ext cx="1752600" cy="304800"/>
          </a:xfrm>
          <a:prstGeom prst="rect">
            <a:avLst/>
          </a:prstGeom>
          <a:solidFill>
            <a:schemeClr val="accent2">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2" name="Rectangle 11">
            <a:extLst>
              <a:ext uri="{FF2B5EF4-FFF2-40B4-BE49-F238E27FC236}">
                <a16:creationId xmlns:a16="http://schemas.microsoft.com/office/drawing/2014/main" id="{0E79515F-C380-C7BA-E2EF-A4A9552ABB4E}"/>
              </a:ext>
            </a:extLst>
          </p:cNvPr>
          <p:cNvSpPr/>
          <p:nvPr/>
        </p:nvSpPr>
        <p:spPr>
          <a:xfrm>
            <a:off x="7915728" y="4014441"/>
            <a:ext cx="1752600" cy="304800"/>
          </a:xfrm>
          <a:prstGeom prst="rect">
            <a:avLst/>
          </a:prstGeom>
          <a:solidFill>
            <a:schemeClr val="accent2">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3" name="Rectangle 12">
            <a:extLst>
              <a:ext uri="{FF2B5EF4-FFF2-40B4-BE49-F238E27FC236}">
                <a16:creationId xmlns:a16="http://schemas.microsoft.com/office/drawing/2014/main" id="{BCD7AB4B-1C65-A440-9849-C63A277A3729}"/>
              </a:ext>
            </a:extLst>
          </p:cNvPr>
          <p:cNvSpPr/>
          <p:nvPr/>
        </p:nvSpPr>
        <p:spPr>
          <a:xfrm>
            <a:off x="1631816" y="4139522"/>
            <a:ext cx="2406784" cy="330049"/>
          </a:xfrm>
          <a:prstGeom prst="rect">
            <a:avLst/>
          </a:prstGeom>
          <a:solidFill>
            <a:schemeClr val="accent2">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0325046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914896B-1982-FD8E-AE7A-70579C64C647}"/>
              </a:ext>
            </a:extLst>
          </p:cNvPr>
          <p:cNvSpPr>
            <a:spLocks noGrp="1"/>
          </p:cNvSpPr>
          <p:nvPr>
            <p:ph type="title"/>
          </p:nvPr>
        </p:nvSpPr>
        <p:spPr/>
        <p:txBody>
          <a:bodyPr/>
          <a:lstStyle/>
          <a:p>
            <a:r>
              <a:rPr lang="en-GB" dirty="0"/>
              <a:t>Gradient descent types</a:t>
            </a:r>
          </a:p>
        </p:txBody>
      </p:sp>
      <p:sp>
        <p:nvSpPr>
          <p:cNvPr id="3" name="Espace réservé du contenu 2">
            <a:extLst>
              <a:ext uri="{FF2B5EF4-FFF2-40B4-BE49-F238E27FC236}">
                <a16:creationId xmlns:a16="http://schemas.microsoft.com/office/drawing/2014/main" id="{DBAC725D-67E7-656E-69FF-6FF3FD58B05B}"/>
              </a:ext>
            </a:extLst>
          </p:cNvPr>
          <p:cNvSpPr>
            <a:spLocks noGrp="1"/>
          </p:cNvSpPr>
          <p:nvPr>
            <p:ph idx="1"/>
          </p:nvPr>
        </p:nvSpPr>
        <p:spPr>
          <a:xfrm>
            <a:off x="838200" y="1436914"/>
            <a:ext cx="10515600" cy="587829"/>
          </a:xfrm>
        </p:spPr>
        <p:txBody>
          <a:bodyPr/>
          <a:lstStyle/>
          <a:p>
            <a:r>
              <a:rPr lang="en-GB" dirty="0"/>
              <a:t>Mini-batch Stochastic Gradient Descent</a:t>
            </a:r>
          </a:p>
        </p:txBody>
      </p:sp>
      <p:sp>
        <p:nvSpPr>
          <p:cNvPr id="4" name="Espace réservé du pied de page 3">
            <a:extLst>
              <a:ext uri="{FF2B5EF4-FFF2-40B4-BE49-F238E27FC236}">
                <a16:creationId xmlns:a16="http://schemas.microsoft.com/office/drawing/2014/main" id="{08D32ED1-D36A-64F7-203A-AAFA631F1B64}"/>
              </a:ext>
            </a:extLst>
          </p:cNvPr>
          <p:cNvSpPr>
            <a:spLocks noGrp="1"/>
          </p:cNvSpPr>
          <p:nvPr>
            <p:ph type="ftr" sz="quarter" idx="11"/>
          </p:nvPr>
        </p:nvSpPr>
        <p:spPr/>
        <p:txBody>
          <a:bodyPr/>
          <a:lstStyle/>
          <a:p>
            <a:r>
              <a:rPr lang="fr-FR"/>
              <a:t>Introduction to Neural Networks. Author: David Thébault</a:t>
            </a:r>
          </a:p>
        </p:txBody>
      </p:sp>
      <p:sp>
        <p:nvSpPr>
          <p:cNvPr id="5" name="ZoneTexte 4">
            <a:extLst>
              <a:ext uri="{FF2B5EF4-FFF2-40B4-BE49-F238E27FC236}">
                <a16:creationId xmlns:a16="http://schemas.microsoft.com/office/drawing/2014/main" id="{113D1244-8368-0C1C-C071-2FE5053B38A0}"/>
              </a:ext>
            </a:extLst>
          </p:cNvPr>
          <p:cNvSpPr txBox="1"/>
          <p:nvPr/>
        </p:nvSpPr>
        <p:spPr>
          <a:xfrm>
            <a:off x="838200" y="1910440"/>
            <a:ext cx="7783286" cy="4434163"/>
          </a:xfrm>
          <a:prstGeom prst="rect">
            <a:avLst/>
          </a:prstGeom>
          <a:solidFill>
            <a:schemeClr val="bg1"/>
          </a:solidFill>
        </p:spPr>
        <p:txBody>
          <a:bodyPr wrap="square">
            <a:spAutoFit/>
          </a:bodyPr>
          <a:lstStyle/>
          <a:p>
            <a:pPr>
              <a:lnSpc>
                <a:spcPct val="150000"/>
              </a:lnSpc>
            </a:pPr>
            <a:r>
              <a:rPr lang="en-GB" sz="900" b="0" i="0" u="none" strike="noStrike" noProof="0" dirty="0">
                <a:solidFill>
                  <a:srgbClr val="569CD6"/>
                </a:solidFill>
                <a:effectLst/>
                <a:latin typeface="Menlo" panose="020B0609030804020204" pitchFamily="49" charset="0"/>
              </a:rPr>
              <a:t>from</a:t>
            </a:r>
            <a:r>
              <a:rPr lang="en-GB" sz="900" b="0" i="0" u="none" strike="noStrike" noProof="0" dirty="0">
                <a:solidFill>
                  <a:srgbClr val="D4D4D4"/>
                </a:solidFill>
                <a:effectLst/>
                <a:latin typeface="Menlo" panose="020B0609030804020204" pitchFamily="49" charset="0"/>
              </a:rPr>
              <a:t> </a:t>
            </a:r>
            <a:r>
              <a:rPr lang="en-GB" sz="900" b="0" i="0" u="none" strike="noStrike" noProof="0" dirty="0" err="1">
                <a:effectLst/>
                <a:latin typeface="Menlo" panose="020B0609030804020204" pitchFamily="49" charset="0"/>
              </a:rPr>
              <a:t>torch.utils.data</a:t>
            </a:r>
            <a:r>
              <a:rPr lang="en-GB" sz="900" b="0" i="0" u="none" strike="noStrike" noProof="0" dirty="0">
                <a:effectLst/>
                <a:latin typeface="Menlo" panose="020B0609030804020204" pitchFamily="49" charset="0"/>
              </a:rPr>
              <a:t> </a:t>
            </a:r>
            <a:r>
              <a:rPr lang="en-GB" sz="900" b="0" i="0" u="none" strike="noStrike" noProof="0" dirty="0">
                <a:solidFill>
                  <a:srgbClr val="569CD6"/>
                </a:solidFill>
                <a:effectLst/>
                <a:latin typeface="Menlo" panose="020B0609030804020204" pitchFamily="49" charset="0"/>
              </a:rPr>
              <a:t>import</a:t>
            </a:r>
            <a:r>
              <a:rPr lang="en-GB" sz="900" b="0" i="0" u="none" strike="noStrike" noProof="0" dirty="0">
                <a:solidFill>
                  <a:srgbClr val="D4D4D4"/>
                </a:solidFill>
                <a:effectLst/>
                <a:latin typeface="Menlo" panose="020B0609030804020204" pitchFamily="49" charset="0"/>
              </a:rPr>
              <a:t> </a:t>
            </a:r>
            <a:r>
              <a:rPr lang="en-GB" sz="900" b="0" i="0" u="none" strike="noStrike" noProof="0" dirty="0" err="1">
                <a:effectLst/>
                <a:latin typeface="Menlo" panose="020B0609030804020204" pitchFamily="49" charset="0"/>
              </a:rPr>
              <a:t>DataLoader</a:t>
            </a:r>
            <a:r>
              <a:rPr lang="en-GB" sz="900" b="0" i="0" u="none" strike="noStrike" noProof="0" dirty="0">
                <a:effectLst/>
                <a:latin typeface="Menlo" panose="020B0609030804020204" pitchFamily="49" charset="0"/>
              </a:rPr>
              <a:t>, </a:t>
            </a:r>
            <a:r>
              <a:rPr lang="en-GB" sz="900" b="0" i="0" u="none" strike="noStrike" noProof="0" dirty="0" err="1">
                <a:effectLst/>
                <a:latin typeface="Menlo" panose="020B0609030804020204" pitchFamily="49" charset="0"/>
              </a:rPr>
              <a:t>TensorDataset</a:t>
            </a:r>
            <a:endParaRPr lang="en-GB" sz="900" b="0" i="0" u="none" strike="noStrike" noProof="0" dirty="0">
              <a:effectLst/>
              <a:latin typeface="Menlo" panose="020B0609030804020204" pitchFamily="49" charset="0"/>
            </a:endParaRPr>
          </a:p>
          <a:p>
            <a:endParaRPr lang="en-GB" sz="900" b="1" i="0" u="none" strike="noStrike" noProof="0" dirty="0">
              <a:solidFill>
                <a:schemeClr val="accent6">
                  <a:lumMod val="75000"/>
                </a:schemeClr>
              </a:solidFill>
              <a:effectLst/>
              <a:latin typeface="Menlo" panose="020B0609030804020204" pitchFamily="49" charset="0"/>
            </a:endParaRPr>
          </a:p>
          <a:p>
            <a:pPr>
              <a:lnSpc>
                <a:spcPct val="150000"/>
              </a:lnSpc>
            </a:pPr>
            <a:r>
              <a:rPr lang="en-GB" sz="900" b="0" i="0" u="none" strike="noStrike" noProof="0" dirty="0">
                <a:solidFill>
                  <a:schemeClr val="accent6">
                    <a:lumMod val="75000"/>
                  </a:schemeClr>
                </a:solidFill>
                <a:effectLst/>
                <a:latin typeface="Menlo" panose="020B0609030804020204" pitchFamily="49" charset="0"/>
              </a:rPr>
              <a:t># Convert data to </a:t>
            </a:r>
            <a:r>
              <a:rPr lang="en-GB" sz="900" b="0" i="0" u="none" strike="noStrike" noProof="0" dirty="0" err="1">
                <a:solidFill>
                  <a:schemeClr val="accent6">
                    <a:lumMod val="75000"/>
                  </a:schemeClr>
                </a:solidFill>
                <a:effectLst/>
                <a:latin typeface="Menlo" panose="020B0609030804020204" pitchFamily="49" charset="0"/>
              </a:rPr>
              <a:t>PyTorch</a:t>
            </a:r>
            <a:r>
              <a:rPr lang="en-GB" sz="900" b="0" i="0" u="none" strike="noStrike" noProof="0" dirty="0">
                <a:solidFill>
                  <a:schemeClr val="accent6">
                    <a:lumMod val="75000"/>
                  </a:schemeClr>
                </a:solidFill>
                <a:effectLst/>
                <a:latin typeface="Menlo" panose="020B0609030804020204" pitchFamily="49" charset="0"/>
              </a:rPr>
              <a:t> tensors </a:t>
            </a:r>
          </a:p>
          <a:p>
            <a:pPr>
              <a:lnSpc>
                <a:spcPct val="150000"/>
              </a:lnSpc>
            </a:pPr>
            <a:r>
              <a:rPr lang="en-GB" sz="900" b="0" i="0" u="none" strike="noStrike" noProof="0" dirty="0" err="1">
                <a:effectLst/>
                <a:latin typeface="Menlo" panose="020B0609030804020204" pitchFamily="49" charset="0"/>
              </a:rPr>
              <a:t>X_tensor</a:t>
            </a:r>
            <a:r>
              <a:rPr lang="en-GB" sz="900" b="0" i="0" u="none" strike="noStrike" noProof="0" dirty="0">
                <a:effectLst/>
                <a:latin typeface="Menlo" panose="020B0609030804020204" pitchFamily="49" charset="0"/>
              </a:rPr>
              <a:t> = </a:t>
            </a:r>
            <a:r>
              <a:rPr lang="en-GB" sz="900" b="0" i="0" u="none" strike="noStrike" noProof="0" dirty="0" err="1">
                <a:effectLst/>
                <a:latin typeface="Menlo" panose="020B0609030804020204" pitchFamily="49" charset="0"/>
              </a:rPr>
              <a:t>torch.tensor</a:t>
            </a:r>
            <a:r>
              <a:rPr lang="en-GB" sz="900" b="0" i="0" u="none" strike="noStrike" noProof="0" dirty="0">
                <a:effectLst/>
                <a:latin typeface="Menlo" panose="020B0609030804020204" pitchFamily="49" charset="0"/>
              </a:rPr>
              <a:t>(X) </a:t>
            </a:r>
          </a:p>
          <a:p>
            <a:pPr>
              <a:lnSpc>
                <a:spcPct val="150000"/>
              </a:lnSpc>
            </a:pPr>
            <a:r>
              <a:rPr lang="en-GB" sz="900" b="0" i="0" u="none" strike="noStrike" noProof="0" dirty="0" err="1">
                <a:effectLst/>
                <a:latin typeface="Menlo" panose="020B0609030804020204" pitchFamily="49" charset="0"/>
              </a:rPr>
              <a:t>y_tensor</a:t>
            </a:r>
            <a:r>
              <a:rPr lang="en-GB" sz="900" b="0" i="0" u="none" strike="noStrike" noProof="0" dirty="0">
                <a:effectLst/>
                <a:latin typeface="Menlo" panose="020B0609030804020204" pitchFamily="49" charset="0"/>
              </a:rPr>
              <a:t> = </a:t>
            </a:r>
            <a:r>
              <a:rPr lang="en-GB" sz="900" b="0" i="0" u="none" strike="noStrike" noProof="0" dirty="0" err="1">
                <a:effectLst/>
                <a:latin typeface="Menlo" panose="020B0609030804020204" pitchFamily="49" charset="0"/>
              </a:rPr>
              <a:t>torch.tensor</a:t>
            </a:r>
            <a:r>
              <a:rPr lang="en-GB" sz="900" b="0" i="0" u="none" strike="noStrike" noProof="0" dirty="0">
                <a:effectLst/>
                <a:latin typeface="Menlo" panose="020B0609030804020204" pitchFamily="49" charset="0"/>
              </a:rPr>
              <a:t>(y)</a:t>
            </a:r>
          </a:p>
          <a:p>
            <a:pPr>
              <a:lnSpc>
                <a:spcPct val="150000"/>
              </a:lnSpc>
            </a:pPr>
            <a:r>
              <a:rPr lang="en-GB" sz="900" b="0" i="0" u="none" strike="noStrike" noProof="0" dirty="0">
                <a:solidFill>
                  <a:schemeClr val="accent6">
                    <a:lumMod val="75000"/>
                  </a:schemeClr>
                </a:solidFill>
                <a:effectLst/>
                <a:latin typeface="Menlo" panose="020B0609030804020204" pitchFamily="49" charset="0"/>
              </a:rPr>
              <a:t># Create a </a:t>
            </a:r>
            <a:r>
              <a:rPr lang="en-GB" sz="900" b="0" i="0" u="none" strike="noStrike" noProof="0" dirty="0" err="1">
                <a:solidFill>
                  <a:schemeClr val="accent6">
                    <a:lumMod val="75000"/>
                  </a:schemeClr>
                </a:solidFill>
                <a:effectLst/>
                <a:latin typeface="Menlo" panose="020B0609030804020204" pitchFamily="49" charset="0"/>
              </a:rPr>
              <a:t>DataLoader</a:t>
            </a:r>
            <a:r>
              <a:rPr lang="en-GB" sz="900" b="0" i="0" u="none" strike="noStrike" noProof="0" dirty="0">
                <a:solidFill>
                  <a:schemeClr val="accent6">
                    <a:lumMod val="75000"/>
                  </a:schemeClr>
                </a:solidFill>
                <a:effectLst/>
                <a:latin typeface="Menlo" panose="020B0609030804020204" pitchFamily="49" charset="0"/>
              </a:rPr>
              <a:t> to manage the mini-batches </a:t>
            </a:r>
          </a:p>
          <a:p>
            <a:pPr>
              <a:lnSpc>
                <a:spcPct val="150000"/>
              </a:lnSpc>
            </a:pPr>
            <a:r>
              <a:rPr lang="en-GB" sz="900" b="1" i="0" u="none" strike="noStrike" noProof="0" dirty="0" err="1">
                <a:effectLst/>
                <a:latin typeface="Menlo" panose="020B0609030804020204" pitchFamily="49" charset="0"/>
              </a:rPr>
              <a:t>batch_size</a:t>
            </a:r>
            <a:r>
              <a:rPr lang="en-GB" sz="900" b="1" i="0" u="none" strike="noStrike" noProof="0" dirty="0">
                <a:effectLst/>
                <a:latin typeface="Menlo" panose="020B0609030804020204" pitchFamily="49" charset="0"/>
              </a:rPr>
              <a:t> </a:t>
            </a:r>
            <a:r>
              <a:rPr lang="en-GB" sz="900" b="0" i="0" u="none" strike="noStrike" noProof="0" dirty="0">
                <a:effectLst/>
                <a:latin typeface="Menlo" panose="020B0609030804020204" pitchFamily="49" charset="0"/>
              </a:rPr>
              <a:t>= 32 </a:t>
            </a:r>
          </a:p>
          <a:p>
            <a:pPr>
              <a:lnSpc>
                <a:spcPct val="150000"/>
              </a:lnSpc>
            </a:pPr>
            <a:r>
              <a:rPr lang="en-GB" sz="900" b="0" i="0" u="none" strike="noStrike" noProof="0" dirty="0">
                <a:effectLst/>
                <a:latin typeface="Menlo" panose="020B0609030804020204" pitchFamily="49" charset="0"/>
              </a:rPr>
              <a:t>dataset = </a:t>
            </a:r>
            <a:r>
              <a:rPr lang="en-GB" sz="900" b="0" i="0" u="none" strike="noStrike" noProof="0" dirty="0" err="1">
                <a:effectLst/>
                <a:latin typeface="Menlo" panose="020B0609030804020204" pitchFamily="49" charset="0"/>
              </a:rPr>
              <a:t>TensorDataset</a:t>
            </a:r>
            <a:r>
              <a:rPr lang="en-GB" sz="900" b="0" i="0" u="none" strike="noStrike" noProof="0" dirty="0">
                <a:effectLst/>
                <a:latin typeface="Menlo" panose="020B0609030804020204" pitchFamily="49" charset="0"/>
              </a:rPr>
              <a:t>(</a:t>
            </a:r>
            <a:r>
              <a:rPr lang="en-GB" sz="900" b="0" i="0" u="none" strike="noStrike" noProof="0" dirty="0" err="1">
                <a:effectLst/>
                <a:latin typeface="Menlo" panose="020B0609030804020204" pitchFamily="49" charset="0"/>
              </a:rPr>
              <a:t>X_tensor</a:t>
            </a:r>
            <a:r>
              <a:rPr lang="en-GB" sz="900" b="0" i="0" u="none" strike="noStrike" noProof="0" dirty="0">
                <a:effectLst/>
                <a:latin typeface="Menlo" panose="020B0609030804020204" pitchFamily="49" charset="0"/>
              </a:rPr>
              <a:t>, </a:t>
            </a:r>
            <a:r>
              <a:rPr lang="en-GB" sz="900" b="0" i="0" u="none" strike="noStrike" noProof="0" dirty="0" err="1">
                <a:effectLst/>
                <a:latin typeface="Menlo" panose="020B0609030804020204" pitchFamily="49" charset="0"/>
              </a:rPr>
              <a:t>y_tensor</a:t>
            </a:r>
            <a:r>
              <a:rPr lang="en-GB" sz="900" b="0" i="0" u="none" strike="noStrike" noProof="0" dirty="0">
                <a:effectLst/>
                <a:latin typeface="Menlo" panose="020B0609030804020204" pitchFamily="49" charset="0"/>
              </a:rPr>
              <a:t>) </a:t>
            </a:r>
          </a:p>
          <a:p>
            <a:pPr>
              <a:lnSpc>
                <a:spcPct val="150000"/>
              </a:lnSpc>
            </a:pPr>
            <a:r>
              <a:rPr lang="en-GB" sz="900" i="0" u="none" strike="noStrike" noProof="0" dirty="0" err="1">
                <a:effectLst/>
                <a:latin typeface="Menlo" panose="020B0609030804020204" pitchFamily="49" charset="0"/>
              </a:rPr>
              <a:t>dataloader</a:t>
            </a:r>
            <a:r>
              <a:rPr lang="en-GB" sz="900" i="0" u="none" strike="noStrike" noProof="0" dirty="0">
                <a:effectLst/>
                <a:latin typeface="Menlo" panose="020B0609030804020204" pitchFamily="49" charset="0"/>
              </a:rPr>
              <a:t> = </a:t>
            </a:r>
            <a:r>
              <a:rPr lang="en-GB" sz="900" i="0" u="none" strike="noStrike" noProof="0" dirty="0" err="1">
                <a:effectLst/>
                <a:latin typeface="Menlo" panose="020B0609030804020204" pitchFamily="49" charset="0"/>
              </a:rPr>
              <a:t>DataLoader</a:t>
            </a:r>
            <a:r>
              <a:rPr lang="en-GB" sz="900" i="0" u="none" strike="noStrike" noProof="0" dirty="0">
                <a:effectLst/>
                <a:latin typeface="Menlo" panose="020B0609030804020204" pitchFamily="49" charset="0"/>
              </a:rPr>
              <a:t>(dataset, </a:t>
            </a:r>
            <a:r>
              <a:rPr lang="en-GB" sz="900" i="0" u="none" strike="noStrike" noProof="0" dirty="0" err="1">
                <a:effectLst/>
                <a:latin typeface="Menlo" panose="020B0609030804020204" pitchFamily="49" charset="0"/>
              </a:rPr>
              <a:t>batch_size</a:t>
            </a:r>
            <a:r>
              <a:rPr lang="en-GB" sz="900" i="0" u="none" strike="noStrike" noProof="0" dirty="0">
                <a:effectLst/>
                <a:latin typeface="Menlo" panose="020B0609030804020204" pitchFamily="49" charset="0"/>
              </a:rPr>
              <a:t>=</a:t>
            </a:r>
            <a:r>
              <a:rPr lang="en-GB" sz="900" i="0" u="none" strike="noStrike" noProof="0" dirty="0" err="1">
                <a:effectLst/>
                <a:latin typeface="Menlo" panose="020B0609030804020204" pitchFamily="49" charset="0"/>
              </a:rPr>
              <a:t>batch_size</a:t>
            </a:r>
            <a:r>
              <a:rPr lang="en-GB" sz="900" i="0" u="none" strike="noStrike" noProof="0" dirty="0">
                <a:effectLst/>
                <a:latin typeface="Menlo" panose="020B0609030804020204" pitchFamily="49" charset="0"/>
              </a:rPr>
              <a:t>, </a:t>
            </a:r>
            <a:r>
              <a:rPr lang="en-GB" sz="900" b="1" i="0" u="none" strike="noStrike" noProof="0" dirty="0">
                <a:effectLst/>
                <a:latin typeface="Menlo" panose="020B0609030804020204" pitchFamily="49" charset="0"/>
              </a:rPr>
              <a:t>shuffle</a:t>
            </a:r>
            <a:r>
              <a:rPr lang="en-GB" sz="900" i="0" u="none" strike="noStrike" noProof="0" dirty="0">
                <a:effectLst/>
                <a:latin typeface="Menlo" panose="020B0609030804020204" pitchFamily="49" charset="0"/>
              </a:rPr>
              <a:t>=</a:t>
            </a:r>
            <a:r>
              <a:rPr lang="en-GB" sz="900" b="0" i="0" u="none" strike="noStrike" noProof="0" dirty="0">
                <a:solidFill>
                  <a:srgbClr val="569CD6"/>
                </a:solidFill>
                <a:effectLst/>
                <a:latin typeface="Menlo" panose="020B0609030804020204" pitchFamily="49" charset="0"/>
              </a:rPr>
              <a:t>True</a:t>
            </a:r>
            <a:r>
              <a:rPr lang="en-GB" sz="900" b="0" i="0" u="none" strike="noStrike" noProof="0" dirty="0">
                <a:solidFill>
                  <a:srgbClr val="D4D4D4"/>
                </a:solidFill>
                <a:effectLst/>
                <a:latin typeface="Menlo" panose="020B0609030804020204" pitchFamily="49" charset="0"/>
              </a:rPr>
              <a:t>)</a:t>
            </a:r>
          </a:p>
          <a:p>
            <a:pPr>
              <a:lnSpc>
                <a:spcPct val="150000"/>
              </a:lnSpc>
            </a:pPr>
            <a:endParaRPr lang="en-GB" sz="900" noProof="0" dirty="0">
              <a:solidFill>
                <a:srgbClr val="D4D4D4"/>
              </a:solidFill>
              <a:latin typeface="Menlo" panose="020B0609030804020204" pitchFamily="49" charset="0"/>
            </a:endParaRPr>
          </a:p>
          <a:p>
            <a:r>
              <a:rPr lang="en-GB" sz="900" b="0" i="0" u="none" strike="noStrike" noProof="0" dirty="0">
                <a:effectLst/>
                <a:latin typeface="Menlo" panose="020B0609030804020204" pitchFamily="49" charset="0"/>
              </a:rPr>
              <a:t>…</a:t>
            </a:r>
          </a:p>
          <a:p>
            <a:pPr>
              <a:lnSpc>
                <a:spcPct val="150000"/>
              </a:lnSpc>
            </a:pPr>
            <a:endParaRPr lang="en-GB" sz="900" noProof="0" dirty="0">
              <a:solidFill>
                <a:srgbClr val="D4D4D4"/>
              </a:solidFill>
              <a:latin typeface="Menlo" panose="020B0609030804020204" pitchFamily="49" charset="0"/>
            </a:endParaRPr>
          </a:p>
          <a:p>
            <a:pPr>
              <a:lnSpc>
                <a:spcPct val="150000"/>
              </a:lnSpc>
            </a:pPr>
            <a:r>
              <a:rPr lang="en-GB" sz="900" b="0" i="0" u="none" strike="noStrike" noProof="0" dirty="0" err="1">
                <a:effectLst/>
                <a:latin typeface="Menlo" panose="020B0609030804020204" pitchFamily="49" charset="0"/>
              </a:rPr>
              <a:t>num_epochs</a:t>
            </a:r>
            <a:r>
              <a:rPr lang="en-GB" sz="900" b="0" i="0" u="none" strike="noStrike" noProof="0" dirty="0">
                <a:effectLst/>
                <a:latin typeface="Menlo" panose="020B0609030804020204" pitchFamily="49" charset="0"/>
              </a:rPr>
              <a:t> = </a:t>
            </a:r>
            <a:r>
              <a:rPr lang="en-GB" sz="900" noProof="0" dirty="0">
                <a:latin typeface="Menlo" panose="020B0609030804020204" pitchFamily="49" charset="0"/>
              </a:rPr>
              <a:t>100</a:t>
            </a:r>
          </a:p>
          <a:p>
            <a:pPr>
              <a:lnSpc>
                <a:spcPct val="150000"/>
              </a:lnSpc>
            </a:pPr>
            <a:r>
              <a:rPr lang="en-GB" sz="900" b="0" i="0" u="none" strike="noStrike" noProof="0" dirty="0">
                <a:effectLst/>
                <a:latin typeface="Menlo" panose="020B0609030804020204" pitchFamily="49" charset="0"/>
              </a:rPr>
              <a:t> </a:t>
            </a:r>
          </a:p>
          <a:p>
            <a:pPr>
              <a:lnSpc>
                <a:spcPct val="150000"/>
              </a:lnSpc>
            </a:pPr>
            <a:r>
              <a:rPr lang="en-GB" sz="900" b="0" i="0" u="none" strike="noStrike" noProof="0" dirty="0">
                <a:solidFill>
                  <a:srgbClr val="569CD6"/>
                </a:solidFill>
                <a:effectLst/>
                <a:latin typeface="Menlo" panose="020B0609030804020204" pitchFamily="49" charset="0"/>
              </a:rPr>
              <a:t>for</a:t>
            </a:r>
            <a:r>
              <a:rPr lang="en-GB" sz="900" b="0" i="0" u="none" strike="noStrike" noProof="0" dirty="0">
                <a:solidFill>
                  <a:srgbClr val="D4D4D4"/>
                </a:solidFill>
                <a:effectLst/>
                <a:latin typeface="Menlo" panose="020B0609030804020204" pitchFamily="49" charset="0"/>
              </a:rPr>
              <a:t> </a:t>
            </a:r>
            <a:r>
              <a:rPr lang="en-GB" sz="900" b="0" i="0" u="none" strike="noStrike" noProof="0" dirty="0">
                <a:effectLst/>
                <a:latin typeface="Menlo" panose="020B0609030804020204" pitchFamily="49" charset="0"/>
              </a:rPr>
              <a:t>epoch</a:t>
            </a:r>
            <a:r>
              <a:rPr lang="en-GB" sz="900" b="0" i="0" u="none" strike="noStrike" noProof="0" dirty="0">
                <a:solidFill>
                  <a:srgbClr val="D4D4D4"/>
                </a:solidFill>
                <a:effectLst/>
                <a:latin typeface="Menlo" panose="020B0609030804020204" pitchFamily="49" charset="0"/>
              </a:rPr>
              <a:t> </a:t>
            </a:r>
            <a:r>
              <a:rPr lang="en-GB" sz="900" b="0" i="0" u="none" strike="noStrike" noProof="0" dirty="0">
                <a:solidFill>
                  <a:srgbClr val="569CD6"/>
                </a:solidFill>
                <a:effectLst/>
                <a:latin typeface="Menlo" panose="020B0609030804020204" pitchFamily="49" charset="0"/>
              </a:rPr>
              <a:t>in</a:t>
            </a:r>
            <a:r>
              <a:rPr lang="en-GB" sz="900" b="0" i="0" u="none" strike="noStrike" noProof="0" dirty="0">
                <a:solidFill>
                  <a:srgbClr val="D4D4D4"/>
                </a:solidFill>
                <a:effectLst/>
                <a:latin typeface="Menlo" panose="020B0609030804020204" pitchFamily="49" charset="0"/>
              </a:rPr>
              <a:t> </a:t>
            </a:r>
            <a:r>
              <a:rPr lang="en-GB" sz="900" b="0" i="0" u="none" strike="noStrike" noProof="0" dirty="0">
                <a:solidFill>
                  <a:srgbClr val="CE9178"/>
                </a:solidFill>
                <a:effectLst/>
                <a:latin typeface="Menlo" panose="020B0609030804020204" pitchFamily="49" charset="0"/>
              </a:rPr>
              <a:t>range</a:t>
            </a:r>
            <a:r>
              <a:rPr lang="en-GB" sz="900" b="0" i="0" u="none" strike="noStrike" noProof="0" dirty="0">
                <a:effectLst/>
                <a:latin typeface="Menlo" panose="020B0609030804020204" pitchFamily="49" charset="0"/>
              </a:rPr>
              <a:t>(</a:t>
            </a:r>
            <a:r>
              <a:rPr lang="en-GB" sz="900" b="0" i="0" u="none" strike="noStrike" noProof="0" dirty="0" err="1">
                <a:effectLst/>
                <a:latin typeface="Menlo" panose="020B0609030804020204" pitchFamily="49" charset="0"/>
              </a:rPr>
              <a:t>num_epochs</a:t>
            </a:r>
            <a:r>
              <a:rPr lang="en-GB" sz="900" b="0" i="0" u="none" strike="noStrike" noProof="0" dirty="0">
                <a:effectLst/>
                <a:latin typeface="Menlo" panose="020B0609030804020204" pitchFamily="49" charset="0"/>
              </a:rPr>
              <a:t>): </a:t>
            </a:r>
          </a:p>
          <a:p>
            <a:pPr>
              <a:lnSpc>
                <a:spcPct val="150000"/>
              </a:lnSpc>
            </a:pPr>
            <a:r>
              <a:rPr lang="en-GB" sz="900" noProof="0" dirty="0">
                <a:solidFill>
                  <a:srgbClr val="D4D4D4"/>
                </a:solidFill>
                <a:latin typeface="Menlo" panose="020B0609030804020204" pitchFamily="49" charset="0"/>
              </a:rPr>
              <a:t>	</a:t>
            </a:r>
            <a:r>
              <a:rPr lang="en-GB" sz="900" b="0" i="0" u="none" strike="noStrike" noProof="0" dirty="0">
                <a:solidFill>
                  <a:srgbClr val="569CD6"/>
                </a:solidFill>
                <a:effectLst/>
                <a:latin typeface="Menlo" panose="020B0609030804020204" pitchFamily="49" charset="0"/>
              </a:rPr>
              <a:t>for</a:t>
            </a:r>
            <a:r>
              <a:rPr lang="en-GB" sz="900" b="0" i="0" u="none" strike="noStrike" noProof="0" dirty="0">
                <a:solidFill>
                  <a:srgbClr val="D4D4D4"/>
                </a:solidFill>
                <a:effectLst/>
                <a:latin typeface="Menlo" panose="020B0609030804020204" pitchFamily="49" charset="0"/>
              </a:rPr>
              <a:t> </a:t>
            </a:r>
            <a:r>
              <a:rPr lang="en-GB" sz="900" b="0" i="0" u="none" strike="noStrike" noProof="0" dirty="0" err="1">
                <a:effectLst/>
                <a:latin typeface="Menlo" panose="020B0609030804020204" pitchFamily="49" charset="0"/>
              </a:rPr>
              <a:t>batch_X</a:t>
            </a:r>
            <a:r>
              <a:rPr lang="en-GB" sz="900" b="0" i="0" u="none" strike="noStrike" noProof="0" dirty="0">
                <a:effectLst/>
                <a:latin typeface="Menlo" panose="020B0609030804020204" pitchFamily="49" charset="0"/>
              </a:rPr>
              <a:t>, </a:t>
            </a:r>
            <a:r>
              <a:rPr lang="en-GB" sz="900" b="0" i="0" u="none" strike="noStrike" noProof="0" dirty="0" err="1">
                <a:effectLst/>
                <a:latin typeface="Menlo" panose="020B0609030804020204" pitchFamily="49" charset="0"/>
              </a:rPr>
              <a:t>batch_y</a:t>
            </a:r>
            <a:r>
              <a:rPr lang="en-GB" sz="900" b="0" i="0" u="none" strike="noStrike" noProof="0" dirty="0">
                <a:effectLst/>
                <a:latin typeface="Menlo" panose="020B0609030804020204" pitchFamily="49" charset="0"/>
              </a:rPr>
              <a:t> </a:t>
            </a:r>
            <a:r>
              <a:rPr lang="en-GB" sz="900" b="0" i="0" u="none" strike="noStrike" noProof="0" dirty="0">
                <a:solidFill>
                  <a:srgbClr val="569CD6"/>
                </a:solidFill>
                <a:effectLst/>
                <a:latin typeface="Menlo" panose="020B0609030804020204" pitchFamily="49" charset="0"/>
              </a:rPr>
              <a:t>in</a:t>
            </a:r>
            <a:r>
              <a:rPr lang="en-GB" sz="900" b="0" i="0" u="none" strike="noStrike" noProof="0" dirty="0">
                <a:solidFill>
                  <a:srgbClr val="D4D4D4"/>
                </a:solidFill>
                <a:effectLst/>
                <a:latin typeface="Menlo" panose="020B0609030804020204" pitchFamily="49" charset="0"/>
              </a:rPr>
              <a:t> </a:t>
            </a:r>
            <a:r>
              <a:rPr lang="en-GB" sz="900" b="0" i="0" u="none" strike="noStrike" noProof="0" dirty="0" err="1">
                <a:effectLst/>
                <a:latin typeface="Menlo" panose="020B0609030804020204" pitchFamily="49" charset="0"/>
              </a:rPr>
              <a:t>dataloader</a:t>
            </a:r>
            <a:r>
              <a:rPr lang="en-GB" sz="900" b="0" i="0" u="none" strike="noStrike" noProof="0" dirty="0">
                <a:effectLst/>
                <a:latin typeface="Menlo" panose="020B0609030804020204" pitchFamily="49" charset="0"/>
              </a:rPr>
              <a:t>: </a:t>
            </a:r>
          </a:p>
          <a:p>
            <a:pPr>
              <a:lnSpc>
                <a:spcPct val="150000"/>
              </a:lnSpc>
            </a:pPr>
            <a:r>
              <a:rPr lang="en-GB" sz="900" noProof="0" dirty="0">
                <a:latin typeface="Menlo" panose="020B0609030804020204" pitchFamily="49" charset="0"/>
              </a:rPr>
              <a:t>		</a:t>
            </a:r>
            <a:r>
              <a:rPr lang="en-GB" sz="900" b="0" i="0" u="none" strike="noStrike" noProof="0" dirty="0" err="1">
                <a:effectLst/>
                <a:latin typeface="Menlo" panose="020B0609030804020204" pitchFamily="49" charset="0"/>
              </a:rPr>
              <a:t>optimizer.zero_grad</a:t>
            </a:r>
            <a:r>
              <a:rPr lang="en-GB" sz="900" b="0" i="0" u="none" strike="noStrike" noProof="0" dirty="0">
                <a:effectLst/>
                <a:latin typeface="Menlo" panose="020B0609030804020204" pitchFamily="49" charset="0"/>
              </a:rPr>
              <a:t>() </a:t>
            </a:r>
          </a:p>
          <a:p>
            <a:pPr>
              <a:lnSpc>
                <a:spcPct val="150000"/>
              </a:lnSpc>
            </a:pPr>
            <a:r>
              <a:rPr lang="en-GB" sz="900" noProof="0" dirty="0">
                <a:latin typeface="Menlo" panose="020B0609030804020204" pitchFamily="49" charset="0"/>
              </a:rPr>
              <a:t>		</a:t>
            </a:r>
            <a:r>
              <a:rPr lang="en-GB" sz="900" b="0" i="0" u="none" strike="noStrike" noProof="0" dirty="0">
                <a:effectLst/>
                <a:latin typeface="Menlo" panose="020B0609030804020204" pitchFamily="49" charset="0"/>
              </a:rPr>
              <a:t>out = model(</a:t>
            </a:r>
            <a:r>
              <a:rPr lang="en-GB" sz="900" b="0" i="0" u="none" strike="noStrike" noProof="0" dirty="0" err="1">
                <a:effectLst/>
                <a:latin typeface="Menlo" panose="020B0609030804020204" pitchFamily="49" charset="0"/>
              </a:rPr>
              <a:t>batch_X</a:t>
            </a:r>
            <a:r>
              <a:rPr lang="en-GB" sz="900" b="0" i="0" u="none" strike="noStrike" noProof="0" dirty="0">
                <a:effectLst/>
                <a:latin typeface="Menlo" panose="020B0609030804020204" pitchFamily="49" charset="0"/>
              </a:rPr>
              <a:t>) </a:t>
            </a:r>
          </a:p>
          <a:p>
            <a:pPr>
              <a:lnSpc>
                <a:spcPct val="150000"/>
              </a:lnSpc>
            </a:pPr>
            <a:r>
              <a:rPr lang="en-GB" sz="900" noProof="0" dirty="0">
                <a:latin typeface="Menlo" panose="020B0609030804020204" pitchFamily="49" charset="0"/>
              </a:rPr>
              <a:t>		</a:t>
            </a:r>
            <a:r>
              <a:rPr lang="en-GB" sz="900" b="0" i="0" u="none" strike="noStrike" noProof="0" dirty="0">
                <a:effectLst/>
                <a:latin typeface="Menlo" panose="020B0609030804020204" pitchFamily="49" charset="0"/>
              </a:rPr>
              <a:t>loss = criterion(out, </a:t>
            </a:r>
            <a:r>
              <a:rPr lang="en-GB" sz="900" b="0" i="0" u="none" strike="noStrike" noProof="0" dirty="0" err="1">
                <a:effectLst/>
                <a:latin typeface="Menlo" panose="020B0609030804020204" pitchFamily="49" charset="0"/>
              </a:rPr>
              <a:t>batch_y</a:t>
            </a:r>
            <a:r>
              <a:rPr lang="en-GB" sz="900" b="0" i="0" u="none" strike="noStrike" noProof="0" dirty="0">
                <a:effectLst/>
                <a:latin typeface="Menlo" panose="020B0609030804020204" pitchFamily="49" charset="0"/>
              </a:rPr>
              <a:t>) </a:t>
            </a:r>
          </a:p>
          <a:p>
            <a:pPr>
              <a:lnSpc>
                <a:spcPct val="150000"/>
              </a:lnSpc>
            </a:pPr>
            <a:r>
              <a:rPr lang="en-GB" sz="900" noProof="0" dirty="0">
                <a:latin typeface="Menlo" panose="020B0609030804020204" pitchFamily="49" charset="0"/>
              </a:rPr>
              <a:t>		</a:t>
            </a:r>
            <a:r>
              <a:rPr lang="en-GB" sz="900" b="0" i="0" u="none" strike="noStrike" noProof="0" dirty="0" err="1">
                <a:effectLst/>
                <a:latin typeface="Menlo" panose="020B0609030804020204" pitchFamily="49" charset="0"/>
              </a:rPr>
              <a:t>loss.backward</a:t>
            </a:r>
            <a:r>
              <a:rPr lang="en-GB" sz="900" b="0" i="0" u="none" strike="noStrike" noProof="0" dirty="0">
                <a:effectLst/>
                <a:latin typeface="Menlo" panose="020B0609030804020204" pitchFamily="49" charset="0"/>
              </a:rPr>
              <a:t>() </a:t>
            </a:r>
            <a:r>
              <a:rPr lang="en-GB" sz="900" b="0" i="0" u="none" strike="noStrike" noProof="0" dirty="0" err="1">
                <a:effectLst/>
                <a:latin typeface="Menlo" panose="020B0609030804020204" pitchFamily="49" charset="0"/>
              </a:rPr>
              <a:t>optimizer.step</a:t>
            </a:r>
            <a:r>
              <a:rPr lang="en-GB" sz="900" b="0" i="0" u="none" strike="noStrike" noProof="0" dirty="0">
                <a:effectLst/>
                <a:latin typeface="Menlo" panose="020B0609030804020204" pitchFamily="49" charset="0"/>
              </a:rPr>
              <a:t>() </a:t>
            </a:r>
          </a:p>
          <a:p>
            <a:endParaRPr lang="en-GB" sz="900" b="0" i="0" u="none" strike="noStrike" noProof="0" dirty="0">
              <a:solidFill>
                <a:srgbClr val="569CD6"/>
              </a:solidFill>
              <a:effectLst/>
              <a:latin typeface="Menlo" panose="020B0609030804020204" pitchFamily="49" charset="0"/>
            </a:endParaRPr>
          </a:p>
          <a:p>
            <a:pPr>
              <a:lnSpc>
                <a:spcPct val="150000"/>
              </a:lnSpc>
            </a:pPr>
            <a:r>
              <a:rPr lang="en-GB" sz="900" b="0" i="0" u="none" strike="noStrike" noProof="0" dirty="0">
                <a:solidFill>
                  <a:srgbClr val="569CD6"/>
                </a:solidFill>
                <a:effectLst/>
                <a:latin typeface="Menlo" panose="020B0609030804020204" pitchFamily="49" charset="0"/>
              </a:rPr>
              <a:t>print</a:t>
            </a:r>
            <a:r>
              <a:rPr lang="en-GB" sz="900" b="0" i="0" u="none" strike="noStrike" noProof="0" dirty="0">
                <a:effectLst/>
                <a:latin typeface="Menlo" panose="020B0609030804020204" pitchFamily="49" charset="0"/>
              </a:rPr>
              <a:t>(</a:t>
            </a:r>
            <a:r>
              <a:rPr lang="en-GB" sz="900" b="0" i="0" u="none" strike="noStrike" noProof="0" dirty="0" err="1">
                <a:solidFill>
                  <a:srgbClr val="CE9178"/>
                </a:solidFill>
                <a:effectLst/>
                <a:latin typeface="Menlo" panose="020B0609030804020204" pitchFamily="49" charset="0"/>
              </a:rPr>
              <a:t>f"Epoch</a:t>
            </a:r>
            <a:r>
              <a:rPr lang="en-GB" sz="900" b="0" i="0" u="none" strike="noStrike" noProof="0" dirty="0">
                <a:solidFill>
                  <a:srgbClr val="CE9178"/>
                </a:solidFill>
                <a:effectLst/>
                <a:latin typeface="Menlo" panose="020B0609030804020204" pitchFamily="49" charset="0"/>
              </a:rPr>
              <a:t> </a:t>
            </a:r>
            <a:r>
              <a:rPr lang="en-GB" sz="900" b="0" i="0" u="none" strike="noStrike" noProof="0" dirty="0">
                <a:effectLst/>
                <a:latin typeface="Menlo" panose="020B0609030804020204" pitchFamily="49" charset="0"/>
              </a:rPr>
              <a:t>{</a:t>
            </a:r>
            <a:r>
              <a:rPr lang="en-GB" sz="900" b="0" i="0" u="none" strike="noStrike" noProof="0" dirty="0">
                <a:solidFill>
                  <a:srgbClr val="9CDCFE"/>
                </a:solidFill>
                <a:effectLst/>
                <a:latin typeface="Menlo" panose="020B0609030804020204" pitchFamily="49" charset="0"/>
              </a:rPr>
              <a:t>epoch </a:t>
            </a:r>
            <a:r>
              <a:rPr lang="en-GB" sz="900" b="0" i="0" u="none" strike="noStrike" noProof="0" dirty="0">
                <a:effectLst/>
                <a:latin typeface="Menlo" panose="020B0609030804020204" pitchFamily="49" charset="0"/>
              </a:rPr>
              <a:t>+ 1}/{</a:t>
            </a:r>
            <a:r>
              <a:rPr lang="en-GB" sz="900" b="0" i="0" u="none" strike="noStrike" noProof="0" dirty="0" err="1">
                <a:solidFill>
                  <a:srgbClr val="9CDCFE"/>
                </a:solidFill>
                <a:effectLst/>
                <a:latin typeface="Menlo" panose="020B0609030804020204" pitchFamily="49" charset="0"/>
              </a:rPr>
              <a:t>num_epochs</a:t>
            </a:r>
            <a:r>
              <a:rPr lang="en-GB" sz="900" b="0" i="0" u="none" strike="noStrike" noProof="0" dirty="0">
                <a:effectLst/>
                <a:latin typeface="Menlo" panose="020B0609030804020204" pitchFamily="49" charset="0"/>
              </a:rPr>
              <a:t>}, </a:t>
            </a:r>
            <a:r>
              <a:rPr lang="en-GB" sz="900" b="0" i="0" u="none" strike="noStrike" noProof="0" dirty="0">
                <a:solidFill>
                  <a:srgbClr val="CE9178"/>
                </a:solidFill>
                <a:effectLst/>
                <a:latin typeface="Menlo" panose="020B0609030804020204" pitchFamily="49" charset="0"/>
              </a:rPr>
              <a:t>Loss: </a:t>
            </a:r>
            <a:r>
              <a:rPr lang="en-GB" sz="900" b="0" i="0" u="none" strike="noStrike" noProof="0" dirty="0">
                <a:effectLst/>
                <a:latin typeface="Menlo" panose="020B0609030804020204" pitchFamily="49" charset="0"/>
              </a:rPr>
              <a:t>{</a:t>
            </a:r>
            <a:r>
              <a:rPr lang="en-GB" sz="900" b="0" i="0" u="none" strike="noStrike" noProof="0" dirty="0" err="1">
                <a:solidFill>
                  <a:srgbClr val="9CDCFE"/>
                </a:solidFill>
                <a:effectLst/>
                <a:latin typeface="Menlo" panose="020B0609030804020204" pitchFamily="49" charset="0"/>
              </a:rPr>
              <a:t>loss</a:t>
            </a:r>
            <a:r>
              <a:rPr lang="en-GB" sz="900" b="0" i="0" u="none" strike="noStrike" noProof="0" dirty="0" err="1">
                <a:solidFill>
                  <a:srgbClr val="D4D4D4"/>
                </a:solidFill>
                <a:effectLst/>
                <a:latin typeface="Menlo" panose="020B0609030804020204" pitchFamily="49" charset="0"/>
              </a:rPr>
              <a:t>.</a:t>
            </a:r>
            <a:r>
              <a:rPr lang="en-GB" sz="900" b="0" i="0" u="none" strike="noStrike" noProof="0" dirty="0" err="1">
                <a:solidFill>
                  <a:srgbClr val="9CDCFE"/>
                </a:solidFill>
                <a:effectLst/>
                <a:latin typeface="Menlo" panose="020B0609030804020204" pitchFamily="49" charset="0"/>
              </a:rPr>
              <a:t>item</a:t>
            </a:r>
            <a:r>
              <a:rPr lang="en-GB" sz="900" b="0" i="0" u="none" strike="noStrike" noProof="0" dirty="0">
                <a:effectLst/>
                <a:latin typeface="Menlo" panose="020B0609030804020204" pitchFamily="49" charset="0"/>
              </a:rPr>
              <a:t>()}</a:t>
            </a:r>
            <a:r>
              <a:rPr lang="en-GB" sz="900" b="0" i="0" u="none" strike="noStrike" noProof="0" dirty="0">
                <a:solidFill>
                  <a:srgbClr val="CE9178"/>
                </a:solidFill>
                <a:effectLst/>
                <a:latin typeface="Menlo" panose="020B0609030804020204" pitchFamily="49" charset="0"/>
              </a:rPr>
              <a:t>"</a:t>
            </a:r>
            <a:r>
              <a:rPr lang="en-GB" sz="900" b="0" i="0" u="none" strike="noStrike" noProof="0" dirty="0">
                <a:effectLst/>
                <a:latin typeface="Menlo" panose="020B0609030804020204" pitchFamily="49" charset="0"/>
              </a:rPr>
              <a:t>)</a:t>
            </a:r>
            <a:r>
              <a:rPr lang="en-GB" sz="900" b="0" i="0" u="none" strike="noStrike" noProof="0" dirty="0">
                <a:solidFill>
                  <a:srgbClr val="D4D4D4"/>
                </a:solidFill>
                <a:effectLst/>
                <a:latin typeface="Menlo" panose="020B0609030804020204" pitchFamily="49" charset="0"/>
              </a:rPr>
              <a:t> </a:t>
            </a:r>
            <a:endParaRPr lang="en-GB" sz="900" noProof="0" dirty="0"/>
          </a:p>
        </p:txBody>
      </p:sp>
    </p:spTree>
    <p:extLst>
      <p:ext uri="{BB962C8B-B14F-4D97-AF65-F5344CB8AC3E}">
        <p14:creationId xmlns:p14="http://schemas.microsoft.com/office/powerpoint/2010/main" val="11090862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159D2-3A85-52C6-9527-8E08E643FC7F}"/>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re 1">
                <a:extLst>
                  <a:ext uri="{FF2B5EF4-FFF2-40B4-BE49-F238E27FC236}">
                    <a16:creationId xmlns:a16="http://schemas.microsoft.com/office/drawing/2014/main" id="{8A6DF0D8-0F54-8718-22EA-1B420BDEE139}"/>
                  </a:ext>
                </a:extLst>
              </p:cNvPr>
              <p:cNvSpPr>
                <a:spLocks noGrp="1"/>
              </p:cNvSpPr>
              <p:nvPr>
                <p:ph type="title"/>
              </p:nvPr>
            </p:nvSpPr>
            <p:spPr/>
            <p:txBody>
              <a:bodyPr/>
              <a:lstStyle/>
              <a:p>
                <a:r>
                  <a:rPr lang="en-GB" dirty="0"/>
                  <a:t>The Learning rate </a:t>
                </a:r>
                <a14:m>
                  <m:oMath xmlns:m="http://schemas.openxmlformats.org/officeDocument/2006/math">
                    <m:r>
                      <a:rPr lang="fr-FR" b="0" i="1" smtClean="0">
                        <a:latin typeface="Cambria Math" panose="02040503050406030204" pitchFamily="18" charset="0"/>
                      </a:rPr>
                      <m:t>𝛼</m:t>
                    </m:r>
                  </m:oMath>
                </a14:m>
                <a:endParaRPr lang="en-GB" dirty="0"/>
              </a:p>
            </p:txBody>
          </p:sp>
        </mc:Choice>
        <mc:Fallback xmlns="">
          <p:sp>
            <p:nvSpPr>
              <p:cNvPr id="2" name="Titre 1">
                <a:extLst>
                  <a:ext uri="{FF2B5EF4-FFF2-40B4-BE49-F238E27FC236}">
                    <a16:creationId xmlns:a16="http://schemas.microsoft.com/office/drawing/2014/main" id="{8A6DF0D8-0F54-8718-22EA-1B420BDEE139}"/>
                  </a:ext>
                </a:extLst>
              </p:cNvPr>
              <p:cNvSpPr>
                <a:spLocks noGrp="1" noRot="1" noChangeAspect="1" noMove="1" noResize="1" noEditPoints="1" noAdjustHandles="1" noChangeArrowheads="1" noChangeShapeType="1" noTextEdit="1"/>
              </p:cNvSpPr>
              <p:nvPr>
                <p:ph type="title"/>
              </p:nvPr>
            </p:nvSpPr>
            <p:spPr>
              <a:blipFill>
                <a:blip r:embed="rId3"/>
                <a:stretch>
                  <a:fillRect l="-2413"/>
                </a:stretch>
              </a:blipFill>
            </p:spPr>
            <p:txBody>
              <a:bodyPr/>
              <a:lstStyle/>
              <a:p>
                <a:r>
                  <a:rPr lang="en-GB">
                    <a:noFill/>
                  </a:rPr>
                  <a:t> </a:t>
                </a:r>
              </a:p>
            </p:txBody>
          </p:sp>
        </mc:Fallback>
      </mc:AlternateContent>
      <p:sp>
        <p:nvSpPr>
          <p:cNvPr id="3" name="Espace réservé du contenu 2">
            <a:extLst>
              <a:ext uri="{FF2B5EF4-FFF2-40B4-BE49-F238E27FC236}">
                <a16:creationId xmlns:a16="http://schemas.microsoft.com/office/drawing/2014/main" id="{2E31A213-C23F-C629-91E2-02D3492D019B}"/>
              </a:ext>
            </a:extLst>
          </p:cNvPr>
          <p:cNvSpPr>
            <a:spLocks noGrp="1"/>
          </p:cNvSpPr>
          <p:nvPr>
            <p:ph idx="1"/>
          </p:nvPr>
        </p:nvSpPr>
        <p:spPr>
          <a:xfrm>
            <a:off x="838200" y="1627527"/>
            <a:ext cx="10515600" cy="4351338"/>
          </a:xfrm>
        </p:spPr>
        <p:txBody>
          <a:bodyPr>
            <a:normAutofit/>
          </a:bodyPr>
          <a:lstStyle/>
          <a:p>
            <a:pPr marL="0" indent="0">
              <a:lnSpc>
                <a:spcPct val="150000"/>
              </a:lnSpc>
              <a:buNone/>
            </a:pPr>
            <a:r>
              <a:rPr lang="en-GB" sz="1400" noProof="0" dirty="0"/>
              <a:t>The learning rate is a scaler value. It is an hyperparameter that controls the step size at each iteration while moving toward a minimum of the loss function. It determines how much to adjust the model's parameters (weights) with respect to the estimated error each time the model's weights are updated.</a:t>
            </a:r>
          </a:p>
          <a:p>
            <a:pPr marL="0" indent="0">
              <a:lnSpc>
                <a:spcPct val="150000"/>
              </a:lnSpc>
              <a:buNone/>
            </a:pPr>
            <a:r>
              <a:rPr lang="en-GB" sz="1400" noProof="0" dirty="0"/>
              <a:t>If the learning rate is too small, the convergence is too slow, and if the learning rate is too large, there is a risk of missing the convergence. One way to avoid that is to test many learning rates. And rather than doing it manually, we can use the following search techniques</a:t>
            </a:r>
            <a:r>
              <a:rPr lang="en-GB" sz="1400" dirty="0"/>
              <a:t> </a:t>
            </a:r>
            <a:r>
              <a:rPr lang="en-GB" sz="1400" noProof="0" dirty="0"/>
              <a:t>to find the good balance:</a:t>
            </a:r>
          </a:p>
          <a:p>
            <a:pPr>
              <a:lnSpc>
                <a:spcPct val="150000"/>
              </a:lnSpc>
            </a:pPr>
            <a:r>
              <a:rPr lang="en-GB" sz="1400" b="1" noProof="0" dirty="0"/>
              <a:t>Grid search</a:t>
            </a:r>
            <a:r>
              <a:rPr lang="en-GB" sz="1400" noProof="0" dirty="0"/>
              <a:t>: search over a fixed set of values. Simple but laborious and time-consuming,</a:t>
            </a:r>
          </a:p>
          <a:p>
            <a:pPr>
              <a:lnSpc>
                <a:spcPct val="150000"/>
              </a:lnSpc>
            </a:pPr>
            <a:r>
              <a:rPr lang="en-GB" sz="1400" b="1" noProof="0" dirty="0"/>
              <a:t>Random search</a:t>
            </a:r>
            <a:r>
              <a:rPr lang="en-GB" sz="1400" noProof="0" dirty="0"/>
              <a:t>: try random points in a search space. Tends to find good combinations with fewer tries (most popular).</a:t>
            </a:r>
          </a:p>
          <a:p>
            <a:pPr>
              <a:lnSpc>
                <a:spcPct val="150000"/>
              </a:lnSpc>
            </a:pPr>
            <a:r>
              <a:rPr lang="en-GB" sz="1400" b="1" noProof="0" dirty="0"/>
              <a:t>Bayesian optimization</a:t>
            </a:r>
            <a:r>
              <a:rPr lang="en-GB" sz="1400" noProof="0" dirty="0"/>
              <a:t>: looks at the result of past tries and tries to predict which regions of the search space will give better results. Can find better hyperparameter in less time. May provide an edge when short training time is critical.</a:t>
            </a:r>
          </a:p>
        </p:txBody>
      </p:sp>
      <p:sp>
        <p:nvSpPr>
          <p:cNvPr id="4" name="Espace réservé du pied de page 3">
            <a:extLst>
              <a:ext uri="{FF2B5EF4-FFF2-40B4-BE49-F238E27FC236}">
                <a16:creationId xmlns:a16="http://schemas.microsoft.com/office/drawing/2014/main" id="{8ED89618-E995-2EE4-C72F-78A07B59DBA2}"/>
              </a:ext>
            </a:extLst>
          </p:cNvPr>
          <p:cNvSpPr>
            <a:spLocks noGrp="1"/>
          </p:cNvSpPr>
          <p:nvPr>
            <p:ph type="ftr" sz="quarter" idx="11"/>
          </p:nvPr>
        </p:nvSpPr>
        <p:spPr/>
        <p:txBody>
          <a:bodyPr/>
          <a:lstStyle/>
          <a:p>
            <a:r>
              <a:rPr lang="fr-FR"/>
              <a:t>Introduction to Neural Networks. Author: David Thébault</a:t>
            </a:r>
          </a:p>
        </p:txBody>
      </p:sp>
    </p:spTree>
    <p:extLst>
      <p:ext uri="{BB962C8B-B14F-4D97-AF65-F5344CB8AC3E}">
        <p14:creationId xmlns:p14="http://schemas.microsoft.com/office/powerpoint/2010/main" val="16711624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697F17-90D1-BACD-D707-A4BCC971F63E}"/>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re 1">
                <a:extLst>
                  <a:ext uri="{FF2B5EF4-FFF2-40B4-BE49-F238E27FC236}">
                    <a16:creationId xmlns:a16="http://schemas.microsoft.com/office/drawing/2014/main" id="{07224CDD-79E7-1AFB-EF38-ECDB2B8A763E}"/>
                  </a:ext>
                </a:extLst>
              </p:cNvPr>
              <p:cNvSpPr>
                <a:spLocks noGrp="1"/>
              </p:cNvSpPr>
              <p:nvPr>
                <p:ph type="title"/>
              </p:nvPr>
            </p:nvSpPr>
            <p:spPr/>
            <p:txBody>
              <a:bodyPr/>
              <a:lstStyle/>
              <a:p>
                <a:r>
                  <a:rPr lang="en-GB" dirty="0"/>
                  <a:t>The Learning rate </a:t>
                </a:r>
                <a14:m>
                  <m:oMath xmlns:m="http://schemas.openxmlformats.org/officeDocument/2006/math">
                    <m:r>
                      <a:rPr lang="fr-FR" b="0" i="1" smtClean="0">
                        <a:latin typeface="Cambria Math" panose="02040503050406030204" pitchFamily="18" charset="0"/>
                      </a:rPr>
                      <m:t>𝛼</m:t>
                    </m:r>
                  </m:oMath>
                </a14:m>
                <a:endParaRPr lang="en-GB" dirty="0"/>
              </a:p>
            </p:txBody>
          </p:sp>
        </mc:Choice>
        <mc:Fallback xmlns="">
          <p:sp>
            <p:nvSpPr>
              <p:cNvPr id="2" name="Titre 1">
                <a:extLst>
                  <a:ext uri="{FF2B5EF4-FFF2-40B4-BE49-F238E27FC236}">
                    <a16:creationId xmlns:a16="http://schemas.microsoft.com/office/drawing/2014/main" id="{07224CDD-79E7-1AFB-EF38-ECDB2B8A763E}"/>
                  </a:ext>
                </a:extLst>
              </p:cNvPr>
              <p:cNvSpPr>
                <a:spLocks noGrp="1" noRot="1" noChangeAspect="1" noMove="1" noResize="1" noEditPoints="1" noAdjustHandles="1" noChangeArrowheads="1" noChangeShapeType="1" noTextEdit="1"/>
              </p:cNvSpPr>
              <p:nvPr>
                <p:ph type="title"/>
              </p:nvPr>
            </p:nvSpPr>
            <p:spPr>
              <a:blipFill>
                <a:blip r:embed="rId2"/>
                <a:stretch>
                  <a:fillRect l="-241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Espace réservé du contenu 2">
                <a:extLst>
                  <a:ext uri="{FF2B5EF4-FFF2-40B4-BE49-F238E27FC236}">
                    <a16:creationId xmlns:a16="http://schemas.microsoft.com/office/drawing/2014/main" id="{6D87EDBF-49C9-92C2-E1FE-2123CE606504}"/>
                  </a:ext>
                </a:extLst>
              </p:cNvPr>
              <p:cNvSpPr>
                <a:spLocks noGrp="1"/>
              </p:cNvSpPr>
              <p:nvPr>
                <p:ph idx="1"/>
              </p:nvPr>
            </p:nvSpPr>
            <p:spPr>
              <a:xfrm>
                <a:off x="838200" y="1825625"/>
                <a:ext cx="10359452" cy="4351338"/>
              </a:xfrm>
            </p:spPr>
            <p:txBody>
              <a:bodyPr>
                <a:normAutofit/>
              </a:bodyPr>
              <a:lstStyle/>
              <a:p>
                <a:pPr marL="0" indent="0">
                  <a:lnSpc>
                    <a:spcPct val="150000"/>
                  </a:lnSpc>
                  <a:buNone/>
                </a:pPr>
                <a:r>
                  <a:rPr lang="en-GB" sz="1600" dirty="0"/>
                  <a:t>An alternative to fix learning rate is to </a:t>
                </a:r>
                <a:r>
                  <a:rPr lang="en-GB" sz="1600" b="1" dirty="0"/>
                  <a:t>use a Learning Schedule</a:t>
                </a:r>
                <a:r>
                  <a:rPr lang="en-GB" sz="1600" dirty="0"/>
                  <a:t>. </a:t>
                </a:r>
                <a:endParaRPr lang="en-GB" sz="1600" b="1" dirty="0"/>
              </a:p>
              <a:p>
                <a:pPr>
                  <a:lnSpc>
                    <a:spcPct val="150000"/>
                  </a:lnSpc>
                </a:pPr>
                <a:r>
                  <a:rPr lang="en-GB" sz="1600" dirty="0"/>
                  <a:t>Start with some learning rate, then reduce it over iterations.</a:t>
                </a:r>
              </a:p>
              <a:p>
                <a:pPr lvl="1">
                  <a:lnSpc>
                    <a:spcPct val="150000"/>
                  </a:lnSpc>
                </a:pPr>
                <a:r>
                  <a:rPr lang="en-GB" sz="1600" b="1" dirty="0"/>
                  <a:t>Exponential Decay</a:t>
                </a:r>
                <a:r>
                  <a:rPr lang="en-GB" sz="1600" dirty="0"/>
                  <a:t>: Apply an exponential decay to the learning rate as training proceeds. </a:t>
                </a:r>
                <a14:m>
                  <m:oMath xmlns:m="http://schemas.openxmlformats.org/officeDocument/2006/math">
                    <m:r>
                      <a:rPr lang="fr-FR" sz="1600" b="1" i="1" smtClean="0">
                        <a:latin typeface="Cambria Math" panose="02040503050406030204" pitchFamily="18" charset="0"/>
                      </a:rPr>
                      <m:t>𝒅</m:t>
                    </m:r>
                    <m:r>
                      <a:rPr lang="fr-FR" sz="1600" b="0" i="1" smtClean="0">
                        <a:latin typeface="Cambria Math" panose="02040503050406030204" pitchFamily="18" charset="0"/>
                      </a:rPr>
                      <m:t> </m:t>
                    </m:r>
                    <m:r>
                      <a:rPr lang="fr-FR" sz="1600" b="0" i="1" smtClean="0">
                        <a:latin typeface="Cambria Math" panose="02040503050406030204" pitchFamily="18" charset="0"/>
                      </a:rPr>
                      <m:t>𝑡h𝑒</m:t>
                    </m:r>
                    <m:r>
                      <a:rPr lang="fr-FR" sz="1600" b="0" i="1" smtClean="0">
                        <a:latin typeface="Cambria Math" panose="02040503050406030204" pitchFamily="18" charset="0"/>
                      </a:rPr>
                      <m:t> </m:t>
                    </m:r>
                    <m:r>
                      <a:rPr lang="fr-FR" sz="1600" b="0" i="1" smtClean="0">
                        <a:latin typeface="Cambria Math" panose="02040503050406030204" pitchFamily="18" charset="0"/>
                      </a:rPr>
                      <m:t>𝐷𝑒𝑐𝑎𝑦</m:t>
                    </m:r>
                    <m:r>
                      <a:rPr lang="fr-FR" sz="1600" b="0" i="1" smtClean="0">
                        <a:latin typeface="Cambria Math" panose="02040503050406030204" pitchFamily="18" charset="0"/>
                      </a:rPr>
                      <m:t> </m:t>
                    </m:r>
                    <m:r>
                      <a:rPr lang="fr-FR" sz="1600" b="0" i="1" smtClean="0">
                        <a:latin typeface="Cambria Math" panose="02040503050406030204" pitchFamily="18" charset="0"/>
                      </a:rPr>
                      <m:t>𝑓𝑎𝑐𝑡𝑜𝑟</m:t>
                    </m:r>
                    <m:r>
                      <a:rPr lang="fr-FR" sz="1600" b="0" i="1" smtClean="0">
                        <a:latin typeface="Cambria Math" panose="02040503050406030204" pitchFamily="18" charset="0"/>
                      </a:rPr>
                      <m:t> </m:t>
                    </m:r>
                    <m:r>
                      <a:rPr lang="fr-FR" sz="1600" b="0" i="1" smtClean="0">
                        <a:latin typeface="Cambria Math" panose="02040503050406030204" pitchFamily="18" charset="0"/>
                      </a:rPr>
                      <m:t>𝑎𝑛𝑑</m:t>
                    </m:r>
                    <m:r>
                      <a:rPr lang="fr-FR" sz="1600" b="0" i="1" smtClean="0">
                        <a:latin typeface="Cambria Math" panose="02040503050406030204" pitchFamily="18" charset="0"/>
                      </a:rPr>
                      <m:t> </m:t>
                    </m:r>
                    <m:r>
                      <a:rPr lang="fr-FR" sz="1600" b="1" i="1" smtClean="0">
                        <a:latin typeface="Cambria Math" panose="02040503050406030204" pitchFamily="18" charset="0"/>
                      </a:rPr>
                      <m:t>𝒕</m:t>
                    </m:r>
                    <m:r>
                      <a:rPr lang="fr-FR" sz="1600" b="0" i="1" smtClean="0">
                        <a:latin typeface="Cambria Math" panose="02040503050406030204" pitchFamily="18" charset="0"/>
                      </a:rPr>
                      <m:t> </m:t>
                    </m:r>
                    <m:r>
                      <a:rPr lang="fr-FR" sz="1600" b="0" i="1" smtClean="0">
                        <a:latin typeface="Cambria Math" panose="02040503050406030204" pitchFamily="18" charset="0"/>
                      </a:rPr>
                      <m:t>𝑡h𝑒</m:t>
                    </m:r>
                    <m:r>
                      <a:rPr lang="fr-FR" sz="1600" b="0" i="1" smtClean="0">
                        <a:latin typeface="Cambria Math" panose="02040503050406030204" pitchFamily="18" charset="0"/>
                      </a:rPr>
                      <m:t> </m:t>
                    </m:r>
                    <m:r>
                      <a:rPr lang="fr-FR" sz="1600" b="0" i="1" smtClean="0">
                        <a:latin typeface="Cambria Math" panose="02040503050406030204" pitchFamily="18" charset="0"/>
                      </a:rPr>
                      <m:t>𝑖𝑡𝑒𝑟𝑎𝑡𝑖𝑜𝑛</m:t>
                    </m:r>
                    <m:r>
                      <a:rPr lang="fr-FR" sz="1600" b="0" i="1" smtClean="0">
                        <a:latin typeface="Cambria Math" panose="02040503050406030204" pitchFamily="18" charset="0"/>
                      </a:rPr>
                      <m:t> </m:t>
                    </m:r>
                    <m:r>
                      <a:rPr lang="fr-FR" sz="1600" b="0" i="1" smtClean="0">
                        <a:latin typeface="Cambria Math" panose="02040503050406030204" pitchFamily="18" charset="0"/>
                      </a:rPr>
                      <m:t>𝑎𝑟𝑒</m:t>
                    </m:r>
                    <m:r>
                      <a:rPr lang="fr-FR" sz="1600" b="0" i="1" smtClean="0">
                        <a:latin typeface="Cambria Math" panose="02040503050406030204" pitchFamily="18" charset="0"/>
                      </a:rPr>
                      <m:t> </m:t>
                    </m:r>
                    <m:r>
                      <a:rPr lang="fr-FR" sz="1600" b="0" i="1" smtClean="0">
                        <a:latin typeface="Cambria Math" panose="02040503050406030204" pitchFamily="18" charset="0"/>
                      </a:rPr>
                      <m:t>𝑡h𝑒</m:t>
                    </m:r>
                    <m:r>
                      <a:rPr lang="fr-FR" sz="1600" b="0" i="1" smtClean="0">
                        <a:latin typeface="Cambria Math" panose="02040503050406030204" pitchFamily="18" charset="0"/>
                      </a:rPr>
                      <m:t> </m:t>
                    </m:r>
                    <m:r>
                      <a:rPr lang="fr-FR" sz="1600" b="0" i="1" smtClean="0">
                        <a:latin typeface="Cambria Math" panose="02040503050406030204" pitchFamily="18" charset="0"/>
                      </a:rPr>
                      <m:t>h𝑦𝑝𝑒𝑟𝑝𝑎𝑟𝑎𝑚𝑒𝑡𝑒𝑟𝑠</m:t>
                    </m:r>
                  </m:oMath>
                </a14:m>
                <a:endParaRPr lang="fr-FR" sz="1600" b="0" i="1" dirty="0">
                  <a:latin typeface="Cambria Math" panose="02040503050406030204" pitchFamily="18" charset="0"/>
                </a:endParaRPr>
              </a:p>
              <a:p>
                <a:pPr lvl="1">
                  <a:lnSpc>
                    <a:spcPct val="150000"/>
                  </a:lnSpc>
                </a:pPr>
                <a:endParaRPr lang="fr-FR" sz="1600" b="0" i="1" dirty="0">
                  <a:latin typeface="Cambria Math" panose="02040503050406030204" pitchFamily="18" charset="0"/>
                </a:endParaRPr>
              </a:p>
              <a:p>
                <a:pPr lvl="1">
                  <a:lnSpc>
                    <a:spcPct val="150000"/>
                  </a:lnSpc>
                </a:pPr>
                <a:r>
                  <a:rPr lang="en-GB" sz="1600" b="1" dirty="0"/>
                  <a:t>Piecewise Constant Decay</a:t>
                </a:r>
                <a:r>
                  <a:rPr lang="en-GB" sz="1600" dirty="0"/>
                  <a:t>: Use a constant learning rate for a set of epochs, then a lower rate for the following set of epochs.</a:t>
                </a:r>
              </a:p>
              <a:p>
                <a:pPr lvl="1">
                  <a:lnSpc>
                    <a:spcPct val="150000"/>
                  </a:lnSpc>
                </a:pPr>
                <a:endParaRPr lang="en-GB" sz="1600" dirty="0"/>
              </a:p>
              <a:p>
                <a:pPr lvl="1">
                  <a:lnSpc>
                    <a:spcPct val="150000"/>
                  </a:lnSpc>
                </a:pPr>
                <a:r>
                  <a:rPr lang="en-GB" sz="1600" b="1" dirty="0"/>
                  <a:t>1 Cycle Policy</a:t>
                </a:r>
                <a:r>
                  <a:rPr lang="en-GB" sz="1600" dirty="0"/>
                  <a:t>: Increase learning rate linearity for a certain number of iterations, then reduce it for the rest, going below the original starting rate.</a:t>
                </a:r>
              </a:p>
            </p:txBody>
          </p:sp>
        </mc:Choice>
        <mc:Fallback xmlns="">
          <p:sp>
            <p:nvSpPr>
              <p:cNvPr id="3" name="Espace réservé du contenu 2">
                <a:extLst>
                  <a:ext uri="{FF2B5EF4-FFF2-40B4-BE49-F238E27FC236}">
                    <a16:creationId xmlns:a16="http://schemas.microsoft.com/office/drawing/2014/main" id="{6D87EDBF-49C9-92C2-E1FE-2123CE606504}"/>
                  </a:ext>
                </a:extLst>
              </p:cNvPr>
              <p:cNvSpPr>
                <a:spLocks noGrp="1" noRot="1" noChangeAspect="1" noMove="1" noResize="1" noEditPoints="1" noAdjustHandles="1" noChangeArrowheads="1" noChangeShapeType="1" noTextEdit="1"/>
              </p:cNvSpPr>
              <p:nvPr>
                <p:ph idx="1"/>
              </p:nvPr>
            </p:nvSpPr>
            <p:spPr>
              <a:xfrm>
                <a:off x="838200" y="1825625"/>
                <a:ext cx="10359452" cy="4351338"/>
              </a:xfrm>
              <a:blipFill>
                <a:blip r:embed="rId3"/>
                <a:stretch>
                  <a:fillRect l="-368"/>
                </a:stretch>
              </a:blipFill>
            </p:spPr>
            <p:txBody>
              <a:bodyPr/>
              <a:lstStyle/>
              <a:p>
                <a:r>
                  <a:rPr lang="en-GB">
                    <a:noFill/>
                  </a:rPr>
                  <a:t> </a:t>
                </a:r>
              </a:p>
            </p:txBody>
          </p:sp>
        </mc:Fallback>
      </mc:AlternateContent>
      <p:sp>
        <p:nvSpPr>
          <p:cNvPr id="4" name="Espace réservé du pied de page 3">
            <a:extLst>
              <a:ext uri="{FF2B5EF4-FFF2-40B4-BE49-F238E27FC236}">
                <a16:creationId xmlns:a16="http://schemas.microsoft.com/office/drawing/2014/main" id="{C528B754-1A64-15FD-83F5-49135FC13C70}"/>
              </a:ext>
            </a:extLst>
          </p:cNvPr>
          <p:cNvSpPr>
            <a:spLocks noGrp="1"/>
          </p:cNvSpPr>
          <p:nvPr>
            <p:ph type="ftr" sz="quarter" idx="11"/>
          </p:nvPr>
        </p:nvSpPr>
        <p:spPr/>
        <p:txBody>
          <a:bodyPr/>
          <a:lstStyle/>
          <a:p>
            <a:r>
              <a:rPr lang="fr-FR"/>
              <a:t>Introduction to Neural Networks. Author: David Thébault</a:t>
            </a:r>
          </a:p>
        </p:txBody>
      </p:sp>
      <p:pic>
        <p:nvPicPr>
          <p:cNvPr id="6" name="Graphique 5" descr="En bas avec un remplissage uni">
            <a:extLst>
              <a:ext uri="{FF2B5EF4-FFF2-40B4-BE49-F238E27FC236}">
                <a16:creationId xmlns:a16="http://schemas.microsoft.com/office/drawing/2014/main" id="{A4D519C3-2A58-DDD6-270C-BF5952174B6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87999" y="3836499"/>
            <a:ext cx="744747" cy="744747"/>
          </a:xfrm>
          <a:prstGeom prst="rect">
            <a:avLst/>
          </a:prstGeom>
        </p:spPr>
      </p:pic>
      <p:cxnSp>
        <p:nvCxnSpPr>
          <p:cNvPr id="9" name="Connecteur droit 8">
            <a:extLst>
              <a:ext uri="{FF2B5EF4-FFF2-40B4-BE49-F238E27FC236}">
                <a16:creationId xmlns:a16="http://schemas.microsoft.com/office/drawing/2014/main" id="{B09751E6-A14F-9E4F-937D-01B0B22FAC1D}"/>
              </a:ext>
            </a:extLst>
          </p:cNvPr>
          <p:cNvCxnSpPr>
            <a:cxnSpLocks/>
          </p:cNvCxnSpPr>
          <p:nvPr/>
        </p:nvCxnSpPr>
        <p:spPr>
          <a:xfrm flipV="1">
            <a:off x="507464" y="5241536"/>
            <a:ext cx="239486" cy="228600"/>
          </a:xfrm>
          <a:prstGeom prst="line">
            <a:avLst/>
          </a:prstGeom>
          <a:ln w="57150"/>
        </p:spPr>
        <p:style>
          <a:lnRef idx="2">
            <a:schemeClr val="dk1"/>
          </a:lnRef>
          <a:fillRef idx="0">
            <a:schemeClr val="dk1"/>
          </a:fillRef>
          <a:effectRef idx="1">
            <a:schemeClr val="dk1"/>
          </a:effectRef>
          <a:fontRef idx="minor">
            <a:schemeClr val="tx1"/>
          </a:fontRef>
        </p:style>
      </p:cxnSp>
      <p:cxnSp>
        <p:nvCxnSpPr>
          <p:cNvPr id="11" name="Connecteur droit 10">
            <a:extLst>
              <a:ext uri="{FF2B5EF4-FFF2-40B4-BE49-F238E27FC236}">
                <a16:creationId xmlns:a16="http://schemas.microsoft.com/office/drawing/2014/main" id="{880D7490-7F54-7F4F-E42A-0DD1B42A7098}"/>
              </a:ext>
            </a:extLst>
          </p:cNvPr>
          <p:cNvCxnSpPr>
            <a:cxnSpLocks/>
          </p:cNvCxnSpPr>
          <p:nvPr/>
        </p:nvCxnSpPr>
        <p:spPr>
          <a:xfrm>
            <a:off x="730621" y="5225207"/>
            <a:ext cx="424543" cy="359229"/>
          </a:xfrm>
          <a:prstGeom prst="line">
            <a:avLst/>
          </a:prstGeom>
          <a:ln w="57150"/>
        </p:spPr>
        <p:style>
          <a:lnRef idx="2">
            <a:schemeClr val="dk1"/>
          </a:lnRef>
          <a:fillRef idx="0">
            <a:schemeClr val="dk1"/>
          </a:fillRef>
          <a:effectRef idx="1">
            <a:schemeClr val="dk1"/>
          </a:effectRef>
          <a:fontRef idx="minor">
            <a:schemeClr val="tx1"/>
          </a:fontRef>
        </p:style>
      </p:cxnSp>
      <p:cxnSp>
        <p:nvCxnSpPr>
          <p:cNvPr id="22" name="Connecteur droit avec flèche 21">
            <a:extLst>
              <a:ext uri="{FF2B5EF4-FFF2-40B4-BE49-F238E27FC236}">
                <a16:creationId xmlns:a16="http://schemas.microsoft.com/office/drawing/2014/main" id="{FC6B2BE7-3DBD-7361-4BE6-D118BAF79921}"/>
              </a:ext>
            </a:extLst>
          </p:cNvPr>
          <p:cNvCxnSpPr>
            <a:cxnSpLocks/>
          </p:cNvCxnSpPr>
          <p:nvPr/>
        </p:nvCxnSpPr>
        <p:spPr>
          <a:xfrm flipV="1">
            <a:off x="480264" y="4969385"/>
            <a:ext cx="0" cy="7556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3" name="ZoneTexte 22">
            <a:extLst>
              <a:ext uri="{FF2B5EF4-FFF2-40B4-BE49-F238E27FC236}">
                <a16:creationId xmlns:a16="http://schemas.microsoft.com/office/drawing/2014/main" id="{7DEA5056-95DE-BAD5-CBC9-F622C0B18ED7}"/>
              </a:ext>
            </a:extLst>
          </p:cNvPr>
          <p:cNvSpPr txBox="1"/>
          <p:nvPr/>
        </p:nvSpPr>
        <p:spPr>
          <a:xfrm>
            <a:off x="99270" y="5224099"/>
            <a:ext cx="380993" cy="369332"/>
          </a:xfrm>
          <a:prstGeom prst="rect">
            <a:avLst/>
          </a:prstGeom>
          <a:noFill/>
        </p:spPr>
        <p:txBody>
          <a:bodyPr wrap="square" rtlCol="0">
            <a:spAutoFit/>
          </a:bodyPr>
          <a:lstStyle/>
          <a:p>
            <a:r>
              <a:rPr lang="en-GB" dirty="0"/>
              <a:t>lr</a:t>
            </a:r>
          </a:p>
        </p:txBody>
      </p:sp>
      <p:cxnSp>
        <p:nvCxnSpPr>
          <p:cNvPr id="24" name="Connecteur droit avec flèche 23">
            <a:extLst>
              <a:ext uri="{FF2B5EF4-FFF2-40B4-BE49-F238E27FC236}">
                <a16:creationId xmlns:a16="http://schemas.microsoft.com/office/drawing/2014/main" id="{2F875AC0-3655-C289-8918-34B9A12070CD}"/>
              </a:ext>
            </a:extLst>
          </p:cNvPr>
          <p:cNvCxnSpPr>
            <a:cxnSpLocks/>
          </p:cNvCxnSpPr>
          <p:nvPr/>
        </p:nvCxnSpPr>
        <p:spPr>
          <a:xfrm>
            <a:off x="463934" y="5708706"/>
            <a:ext cx="745673" cy="1632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5" name="ZoneTexte 24">
            <a:extLst>
              <a:ext uri="{FF2B5EF4-FFF2-40B4-BE49-F238E27FC236}">
                <a16:creationId xmlns:a16="http://schemas.microsoft.com/office/drawing/2014/main" id="{B773F1FA-9B73-6D28-C8D8-D4A6A7B021B8}"/>
              </a:ext>
            </a:extLst>
          </p:cNvPr>
          <p:cNvSpPr txBox="1"/>
          <p:nvPr/>
        </p:nvSpPr>
        <p:spPr>
          <a:xfrm>
            <a:off x="420380" y="5702776"/>
            <a:ext cx="881745" cy="276999"/>
          </a:xfrm>
          <a:prstGeom prst="rect">
            <a:avLst/>
          </a:prstGeom>
          <a:noFill/>
        </p:spPr>
        <p:txBody>
          <a:bodyPr wrap="square" rtlCol="0">
            <a:spAutoFit/>
          </a:bodyPr>
          <a:lstStyle/>
          <a:p>
            <a:r>
              <a:rPr lang="en-GB" sz="1200" dirty="0"/>
              <a:t>iterations</a:t>
            </a:r>
          </a:p>
        </p:txBody>
      </p:sp>
      <p:cxnSp>
        <p:nvCxnSpPr>
          <p:cNvPr id="26" name="Connecteur droit avec flèche 25">
            <a:extLst>
              <a:ext uri="{FF2B5EF4-FFF2-40B4-BE49-F238E27FC236}">
                <a16:creationId xmlns:a16="http://schemas.microsoft.com/office/drawing/2014/main" id="{FD10273B-0019-EA5E-AFC2-C0140015A5FD}"/>
              </a:ext>
            </a:extLst>
          </p:cNvPr>
          <p:cNvCxnSpPr/>
          <p:nvPr/>
        </p:nvCxnSpPr>
        <p:spPr>
          <a:xfrm flipV="1">
            <a:off x="485058" y="3717424"/>
            <a:ext cx="0" cy="7556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7" name="ZoneTexte 26">
            <a:extLst>
              <a:ext uri="{FF2B5EF4-FFF2-40B4-BE49-F238E27FC236}">
                <a16:creationId xmlns:a16="http://schemas.microsoft.com/office/drawing/2014/main" id="{8B8B149C-B718-F2C5-98F0-05C9D6DC3191}"/>
              </a:ext>
            </a:extLst>
          </p:cNvPr>
          <p:cNvSpPr txBox="1"/>
          <p:nvPr/>
        </p:nvSpPr>
        <p:spPr>
          <a:xfrm>
            <a:off x="104064" y="3972138"/>
            <a:ext cx="380993" cy="369332"/>
          </a:xfrm>
          <a:prstGeom prst="rect">
            <a:avLst/>
          </a:prstGeom>
          <a:noFill/>
        </p:spPr>
        <p:txBody>
          <a:bodyPr wrap="square" rtlCol="0">
            <a:spAutoFit/>
          </a:bodyPr>
          <a:lstStyle/>
          <a:p>
            <a:r>
              <a:rPr lang="en-GB" dirty="0"/>
              <a:t>lr</a:t>
            </a:r>
          </a:p>
        </p:txBody>
      </p:sp>
      <p:cxnSp>
        <p:nvCxnSpPr>
          <p:cNvPr id="28" name="Connecteur droit avec flèche 27">
            <a:extLst>
              <a:ext uri="{FF2B5EF4-FFF2-40B4-BE49-F238E27FC236}">
                <a16:creationId xmlns:a16="http://schemas.microsoft.com/office/drawing/2014/main" id="{7B51A89E-7298-F764-1AFA-06D4D2B3B3AD}"/>
              </a:ext>
            </a:extLst>
          </p:cNvPr>
          <p:cNvCxnSpPr>
            <a:cxnSpLocks/>
          </p:cNvCxnSpPr>
          <p:nvPr/>
        </p:nvCxnSpPr>
        <p:spPr>
          <a:xfrm>
            <a:off x="468728" y="4456745"/>
            <a:ext cx="745673" cy="1632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9" name="ZoneTexte 28">
            <a:extLst>
              <a:ext uri="{FF2B5EF4-FFF2-40B4-BE49-F238E27FC236}">
                <a16:creationId xmlns:a16="http://schemas.microsoft.com/office/drawing/2014/main" id="{343972DE-C3A2-EBAB-D83F-9470CBC07449}"/>
              </a:ext>
            </a:extLst>
          </p:cNvPr>
          <p:cNvSpPr txBox="1"/>
          <p:nvPr/>
        </p:nvSpPr>
        <p:spPr>
          <a:xfrm>
            <a:off x="417024" y="4456745"/>
            <a:ext cx="745673" cy="276999"/>
          </a:xfrm>
          <a:prstGeom prst="rect">
            <a:avLst/>
          </a:prstGeom>
          <a:noFill/>
        </p:spPr>
        <p:txBody>
          <a:bodyPr wrap="square" rtlCol="0">
            <a:spAutoFit/>
          </a:bodyPr>
          <a:lstStyle/>
          <a:p>
            <a:r>
              <a:rPr lang="en-GB" sz="1200" dirty="0"/>
              <a:t>epochs</a:t>
            </a:r>
          </a:p>
        </p:txBody>
      </p:sp>
      <mc:AlternateContent xmlns:mc="http://schemas.openxmlformats.org/markup-compatibility/2006" xmlns:a14="http://schemas.microsoft.com/office/drawing/2010/main">
        <mc:Choice Requires="a14">
          <p:sp>
            <p:nvSpPr>
              <p:cNvPr id="7" name="ZoneTexte 6">
                <a:extLst>
                  <a:ext uri="{FF2B5EF4-FFF2-40B4-BE49-F238E27FC236}">
                    <a16:creationId xmlns:a16="http://schemas.microsoft.com/office/drawing/2014/main" id="{368DB8E3-A09C-8B09-3264-C157984BC064}"/>
                  </a:ext>
                </a:extLst>
              </p:cNvPr>
              <p:cNvSpPr txBox="1"/>
              <p:nvPr/>
            </p:nvSpPr>
            <p:spPr>
              <a:xfrm>
                <a:off x="136756" y="3024914"/>
                <a:ext cx="1311638" cy="37427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fr-FR" sz="1800" b="0" i="1" smtClean="0">
                              <a:latin typeface="Cambria Math" panose="02040503050406030204" pitchFamily="18" charset="0"/>
                            </a:rPr>
                          </m:ctrlPr>
                        </m:sSubPr>
                        <m:e>
                          <m:r>
                            <a:rPr lang="fr-FR" sz="1800" b="0" i="1" smtClean="0">
                              <a:latin typeface="Cambria Math" panose="02040503050406030204" pitchFamily="18" charset="0"/>
                            </a:rPr>
                            <m:t>𝛼</m:t>
                          </m:r>
                        </m:e>
                        <m:sub>
                          <m:r>
                            <a:rPr lang="fr-FR" sz="1800" b="0" i="1" smtClean="0">
                              <a:latin typeface="Cambria Math" panose="02040503050406030204" pitchFamily="18" charset="0"/>
                            </a:rPr>
                            <m:t>𝑡</m:t>
                          </m:r>
                        </m:sub>
                      </m:sSub>
                      <m:r>
                        <a:rPr lang="fr-FR" sz="1800" b="0" i="1" smtClean="0">
                          <a:latin typeface="Cambria Math" panose="02040503050406030204" pitchFamily="18" charset="0"/>
                        </a:rPr>
                        <m:t>=</m:t>
                      </m:r>
                      <m:r>
                        <a:rPr lang="fr-FR" sz="1800" b="0" i="1" smtClean="0">
                          <a:latin typeface="Cambria Math" panose="02040503050406030204" pitchFamily="18" charset="0"/>
                        </a:rPr>
                        <m:t>𝛼</m:t>
                      </m:r>
                      <m:sSup>
                        <m:sSupPr>
                          <m:ctrlPr>
                            <a:rPr lang="fr-FR" sz="1800" b="0" i="1" smtClean="0">
                              <a:latin typeface="Cambria Math" panose="02040503050406030204" pitchFamily="18" charset="0"/>
                            </a:rPr>
                          </m:ctrlPr>
                        </m:sSupPr>
                        <m:e>
                          <m:r>
                            <a:rPr lang="fr-FR" sz="1800" b="0" i="1" smtClean="0">
                              <a:latin typeface="Cambria Math" panose="02040503050406030204" pitchFamily="18" charset="0"/>
                            </a:rPr>
                            <m:t>𝑒</m:t>
                          </m:r>
                        </m:e>
                        <m:sup>
                          <m:r>
                            <a:rPr lang="fr-FR" sz="1800" b="0" i="1" smtClean="0">
                              <a:latin typeface="Cambria Math" panose="02040503050406030204" pitchFamily="18" charset="0"/>
                            </a:rPr>
                            <m:t>−</m:t>
                          </m:r>
                          <m:r>
                            <a:rPr lang="fr-FR" sz="1800" b="0" i="1" smtClean="0">
                              <a:latin typeface="Cambria Math" panose="02040503050406030204" pitchFamily="18" charset="0"/>
                            </a:rPr>
                            <m:t>𝑑𝑡</m:t>
                          </m:r>
                        </m:sup>
                      </m:sSup>
                    </m:oMath>
                  </m:oMathPara>
                </a14:m>
                <a:endParaRPr lang="en-GB" dirty="0"/>
              </a:p>
            </p:txBody>
          </p:sp>
        </mc:Choice>
        <mc:Fallback xmlns="">
          <p:sp>
            <p:nvSpPr>
              <p:cNvPr id="7" name="ZoneTexte 6">
                <a:extLst>
                  <a:ext uri="{FF2B5EF4-FFF2-40B4-BE49-F238E27FC236}">
                    <a16:creationId xmlns:a16="http://schemas.microsoft.com/office/drawing/2014/main" id="{368DB8E3-A09C-8B09-3264-C157984BC064}"/>
                  </a:ext>
                </a:extLst>
              </p:cNvPr>
              <p:cNvSpPr txBox="1">
                <a:spLocks noRot="1" noChangeAspect="1" noMove="1" noResize="1" noEditPoints="1" noAdjustHandles="1" noChangeArrowheads="1" noChangeShapeType="1" noTextEdit="1"/>
              </p:cNvSpPr>
              <p:nvPr/>
            </p:nvSpPr>
            <p:spPr>
              <a:xfrm>
                <a:off x="136756" y="3024914"/>
                <a:ext cx="1311638" cy="374270"/>
              </a:xfrm>
              <a:prstGeom prst="rect">
                <a:avLst/>
              </a:prstGeom>
              <a:blipFill>
                <a:blip r:embed="rId6"/>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10903501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394379-F0E2-F6DC-C081-8D6699D96F3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ADE8BE5-940C-6904-E2BB-356CB0A0D3D1}"/>
              </a:ext>
            </a:extLst>
          </p:cNvPr>
          <p:cNvSpPr>
            <a:spLocks noGrp="1"/>
          </p:cNvSpPr>
          <p:nvPr>
            <p:ph type="title"/>
          </p:nvPr>
        </p:nvSpPr>
        <p:spPr/>
        <p:txBody>
          <a:bodyPr/>
          <a:lstStyle/>
          <a:p>
            <a:r>
              <a:rPr lang="en-GB" dirty="0"/>
              <a:t>Escaping Local Minima</a:t>
            </a:r>
          </a:p>
        </p:txBody>
      </p:sp>
      <mc:AlternateContent xmlns:mc="http://schemas.openxmlformats.org/markup-compatibility/2006" xmlns:a14="http://schemas.microsoft.com/office/drawing/2010/main">
        <mc:Choice Requires="a14">
          <p:sp>
            <p:nvSpPr>
              <p:cNvPr id="3" name="Espace réservé du contenu 2">
                <a:extLst>
                  <a:ext uri="{FF2B5EF4-FFF2-40B4-BE49-F238E27FC236}">
                    <a16:creationId xmlns:a16="http://schemas.microsoft.com/office/drawing/2014/main" id="{8BDA10EE-0EEC-4425-D439-B769699B36F9}"/>
                  </a:ext>
                </a:extLst>
              </p:cNvPr>
              <p:cNvSpPr>
                <a:spLocks noGrp="1"/>
              </p:cNvSpPr>
              <p:nvPr>
                <p:ph idx="1"/>
              </p:nvPr>
            </p:nvSpPr>
            <p:spPr>
              <a:xfrm>
                <a:off x="838200" y="1555805"/>
                <a:ext cx="10515600" cy="4937070"/>
              </a:xfrm>
            </p:spPr>
            <p:txBody>
              <a:bodyPr>
                <a:normAutofit/>
              </a:bodyPr>
              <a:lstStyle/>
              <a:p>
                <a:pPr marL="0" indent="0">
                  <a:buNone/>
                </a:pPr>
                <a:r>
                  <a:rPr lang="en-GB" sz="1600" noProof="0" dirty="0"/>
                  <a:t>The gradient descent wants to avoid to remain in a local minima.</a:t>
                </a:r>
              </a:p>
              <a:p>
                <a:pPr marL="0" indent="0">
                  <a:lnSpc>
                    <a:spcPct val="150000"/>
                  </a:lnSpc>
                  <a:buNone/>
                </a:pPr>
                <a:r>
                  <a:rPr lang="en-GB" sz="1600" noProof="0" dirty="0"/>
                  <a:t>SGD can “jerk” the descent around for a chance to escape.</a:t>
                </a:r>
              </a:p>
              <a:p>
                <a:pPr marL="0" indent="0">
                  <a:lnSpc>
                    <a:spcPct val="150000"/>
                  </a:lnSpc>
                  <a:buNone/>
                </a:pPr>
                <a:r>
                  <a:rPr lang="en-GB" sz="1600" noProof="0" dirty="0"/>
                  <a:t>Learning schedules can help as well…and so can also random starts from multiple places.</a:t>
                </a:r>
              </a:p>
              <a:p>
                <a:pPr marL="0" indent="0">
                  <a:lnSpc>
                    <a:spcPct val="150000"/>
                  </a:lnSpc>
                  <a:buNone/>
                </a:pPr>
                <a:r>
                  <a:rPr lang="en-GB" sz="1600" noProof="0" dirty="0"/>
                  <a:t>A more sophisticated way for escaping local minima is to modify the gradient descent itself.</a:t>
                </a:r>
              </a:p>
              <a:p>
                <a:pPr marL="0" indent="0">
                  <a:lnSpc>
                    <a:spcPct val="150000"/>
                  </a:lnSpc>
                  <a:buNone/>
                </a:pPr>
                <a:r>
                  <a:rPr lang="en-GB" sz="1600" noProof="0" dirty="0"/>
                  <a:t>With our plain gradient descent example </a:t>
                </a:r>
                <a14:m>
                  <m:oMath xmlns:m="http://schemas.openxmlformats.org/officeDocument/2006/math">
                    <m:r>
                      <a:rPr lang="en-GB" sz="1600" b="0" i="0" noProof="0" smtClean="0">
                        <a:latin typeface="Cambria Math" panose="02040503050406030204" pitchFamily="18" charset="0"/>
                      </a:rPr>
                      <m:t>(</m:t>
                    </m:r>
                    <m:sSub>
                      <m:sSubPr>
                        <m:ctrlPr>
                          <a:rPr lang="en-GB" sz="1600" b="0" i="1" noProof="0" smtClean="0">
                            <a:latin typeface="Cambria Math" panose="02040503050406030204" pitchFamily="18" charset="0"/>
                          </a:rPr>
                        </m:ctrlPr>
                      </m:sSubPr>
                      <m:e>
                        <m:r>
                          <a:rPr lang="en-GB" sz="1600" b="0" i="1" noProof="0" smtClean="0">
                            <a:latin typeface="Cambria Math" panose="02040503050406030204" pitchFamily="18" charset="0"/>
                          </a:rPr>
                          <m:t>𝜔</m:t>
                        </m:r>
                      </m:e>
                      <m:sub>
                        <m:r>
                          <a:rPr lang="en-GB" sz="1600" b="0" i="1" noProof="0" smtClean="0">
                            <a:latin typeface="Cambria Math" panose="02040503050406030204" pitchFamily="18" charset="0"/>
                          </a:rPr>
                          <m:t>𝑡</m:t>
                        </m:r>
                        <m:r>
                          <a:rPr lang="en-GB" sz="1600" b="0" i="1" noProof="0" smtClean="0">
                            <a:latin typeface="Cambria Math" panose="02040503050406030204" pitchFamily="18" charset="0"/>
                          </a:rPr>
                          <m:t>+1</m:t>
                        </m:r>
                      </m:sub>
                    </m:sSub>
                    <m:r>
                      <a:rPr lang="en-GB" sz="1600" b="0" i="1" noProof="0" smtClean="0">
                        <a:latin typeface="Cambria Math" panose="02040503050406030204" pitchFamily="18" charset="0"/>
                      </a:rPr>
                      <m:t>=</m:t>
                    </m:r>
                    <m:sSub>
                      <m:sSubPr>
                        <m:ctrlPr>
                          <a:rPr lang="en-GB" sz="1600" b="0" i="1" noProof="0" smtClean="0">
                            <a:latin typeface="Cambria Math" panose="02040503050406030204" pitchFamily="18" charset="0"/>
                          </a:rPr>
                        </m:ctrlPr>
                      </m:sSubPr>
                      <m:e>
                        <m:r>
                          <a:rPr lang="en-GB" sz="1600" b="0" i="1" noProof="0" smtClean="0">
                            <a:latin typeface="Cambria Math" panose="02040503050406030204" pitchFamily="18" charset="0"/>
                          </a:rPr>
                          <m:t>𝜔</m:t>
                        </m:r>
                      </m:e>
                      <m:sub>
                        <m:r>
                          <a:rPr lang="en-GB" sz="1600" b="0" i="1" noProof="0" smtClean="0">
                            <a:latin typeface="Cambria Math" panose="02040503050406030204" pitchFamily="18" charset="0"/>
                          </a:rPr>
                          <m:t>𝑡</m:t>
                        </m:r>
                      </m:sub>
                    </m:sSub>
                    <m:r>
                      <a:rPr lang="en-GB" sz="1600" b="0" i="1" noProof="0" smtClean="0">
                        <a:latin typeface="Cambria Math" panose="02040503050406030204" pitchFamily="18" charset="0"/>
                      </a:rPr>
                      <m:t>−</m:t>
                    </m:r>
                    <m:r>
                      <a:rPr lang="en-GB" sz="1600" b="0" i="1" noProof="0" smtClean="0">
                        <a:latin typeface="Cambria Math" panose="02040503050406030204" pitchFamily="18" charset="0"/>
                      </a:rPr>
                      <m:t>𝛼</m:t>
                    </m:r>
                    <m:r>
                      <m:rPr>
                        <m:sty m:val="p"/>
                      </m:rPr>
                      <a:rPr lang="en-GB" sz="1600" b="0" i="0" noProof="0" smtClean="0">
                        <a:latin typeface="Cambria Math" panose="02040503050406030204" pitchFamily="18" charset="0"/>
                      </a:rPr>
                      <m:t>∇</m:t>
                    </m:r>
                    <m:r>
                      <a:rPr lang="en-GB" sz="1600" b="0" i="1" noProof="0" smtClean="0">
                        <a:latin typeface="Cambria Math" panose="02040503050406030204" pitchFamily="18" charset="0"/>
                      </a:rPr>
                      <m:t>𝐿</m:t>
                    </m:r>
                    <m:r>
                      <a:rPr lang="en-GB" sz="1600" b="0" i="0" noProof="0" smtClean="0">
                        <a:latin typeface="Cambria Math" panose="02040503050406030204" pitchFamily="18" charset="0"/>
                      </a:rPr>
                      <m:t>)</m:t>
                    </m:r>
                  </m:oMath>
                </a14:m>
                <a:r>
                  <a:rPr lang="en-GB" sz="1600" noProof="0" dirty="0"/>
                  <a:t> we can see that </a:t>
                </a:r>
                <a14:m>
                  <m:oMath xmlns:m="http://schemas.openxmlformats.org/officeDocument/2006/math">
                    <m:r>
                      <a:rPr lang="en-GB" sz="1600" b="0" i="0" noProof="0" smtClean="0">
                        <a:latin typeface="Cambria Math" panose="02040503050406030204" pitchFamily="18" charset="0"/>
                      </a:rPr>
                      <m:t> </m:t>
                    </m:r>
                    <m:r>
                      <a:rPr lang="en-GB" sz="1600" b="0" i="1" noProof="0" smtClean="0">
                        <a:latin typeface="Cambria Math" panose="02040503050406030204" pitchFamily="18" charset="0"/>
                      </a:rPr>
                      <m:t>𝛼</m:t>
                    </m:r>
                    <m:r>
                      <m:rPr>
                        <m:sty m:val="p"/>
                      </m:rPr>
                      <a:rPr lang="en-GB" sz="1600" b="0" i="0" noProof="0" smtClean="0">
                        <a:latin typeface="Cambria Math" panose="02040503050406030204" pitchFamily="18" charset="0"/>
                      </a:rPr>
                      <m:t>∇</m:t>
                    </m:r>
                    <m:r>
                      <a:rPr lang="en-GB" sz="1600" b="0" i="1" noProof="0" smtClean="0">
                        <a:latin typeface="Cambria Math" panose="02040503050406030204" pitchFamily="18" charset="0"/>
                      </a:rPr>
                      <m:t>𝐿</m:t>
                    </m:r>
                    <m:r>
                      <a:rPr lang="en-GB" sz="1600" b="0" i="1" noProof="0" smtClean="0">
                        <a:latin typeface="Cambria Math" panose="02040503050406030204" pitchFamily="18" charset="0"/>
                      </a:rPr>
                      <m:t> </m:t>
                    </m:r>
                  </m:oMath>
                </a14:m>
                <a:r>
                  <a:rPr lang="en-GB" sz="1600" noProof="0" dirty="0"/>
                  <a:t>does not care about past gradients.</a:t>
                </a:r>
              </a:p>
              <a:p>
                <a:pPr marL="0" indent="0">
                  <a:lnSpc>
                    <a:spcPct val="150000"/>
                  </a:lnSpc>
                  <a:buNone/>
                </a:pPr>
                <a:r>
                  <a:rPr lang="en-GB" sz="1600" noProof="0" dirty="0"/>
                  <a:t>By adding a momentum (</a:t>
                </a:r>
                <a:r>
                  <a:rPr lang="en-GB" sz="1600" i="1" noProof="0" dirty="0"/>
                  <a:t>élan</a:t>
                </a:r>
                <a:r>
                  <a:rPr lang="en-GB" sz="1600" noProof="0" dirty="0"/>
                  <a:t>) to gradient descent.</a:t>
                </a:r>
              </a:p>
              <a:p>
                <a:pPr marL="0" indent="0">
                  <a:lnSpc>
                    <a:spcPct val="150000"/>
                  </a:lnSpc>
                  <a:buNone/>
                </a:pPr>
                <a:r>
                  <a:rPr lang="en-GB" sz="1600" noProof="0" dirty="0"/>
                  <a:t>It is like if you were descending a first hill and with the momentum gained, you manage to climb the second hill and descend it, even if it was higher than the first one.</a:t>
                </a:r>
              </a:p>
            </p:txBody>
          </p:sp>
        </mc:Choice>
        <mc:Fallback xmlns="">
          <p:sp>
            <p:nvSpPr>
              <p:cNvPr id="3" name="Espace réservé du contenu 2">
                <a:extLst>
                  <a:ext uri="{FF2B5EF4-FFF2-40B4-BE49-F238E27FC236}">
                    <a16:creationId xmlns:a16="http://schemas.microsoft.com/office/drawing/2014/main" id="{8BDA10EE-0EEC-4425-D439-B769699B36F9}"/>
                  </a:ext>
                </a:extLst>
              </p:cNvPr>
              <p:cNvSpPr>
                <a:spLocks noGrp="1" noRot="1" noChangeAspect="1" noMove="1" noResize="1" noEditPoints="1" noAdjustHandles="1" noChangeArrowheads="1" noChangeShapeType="1" noTextEdit="1"/>
              </p:cNvSpPr>
              <p:nvPr>
                <p:ph idx="1"/>
              </p:nvPr>
            </p:nvSpPr>
            <p:spPr>
              <a:xfrm>
                <a:off x="838200" y="1555805"/>
                <a:ext cx="10515600" cy="4937070"/>
              </a:xfrm>
              <a:blipFill>
                <a:blip r:embed="rId2"/>
                <a:stretch>
                  <a:fillRect l="-362" t="-769"/>
                </a:stretch>
              </a:blipFill>
            </p:spPr>
            <p:txBody>
              <a:bodyPr/>
              <a:lstStyle/>
              <a:p>
                <a:r>
                  <a:rPr lang="en-GB">
                    <a:noFill/>
                  </a:rPr>
                  <a:t> </a:t>
                </a:r>
              </a:p>
            </p:txBody>
          </p:sp>
        </mc:Fallback>
      </mc:AlternateContent>
      <p:sp>
        <p:nvSpPr>
          <p:cNvPr id="4" name="Espace réservé du pied de page 3">
            <a:extLst>
              <a:ext uri="{FF2B5EF4-FFF2-40B4-BE49-F238E27FC236}">
                <a16:creationId xmlns:a16="http://schemas.microsoft.com/office/drawing/2014/main" id="{91E4B169-0893-92F9-6C66-15299D1B6350}"/>
              </a:ext>
            </a:extLst>
          </p:cNvPr>
          <p:cNvSpPr>
            <a:spLocks noGrp="1"/>
          </p:cNvSpPr>
          <p:nvPr>
            <p:ph type="ftr" sz="quarter" idx="11"/>
          </p:nvPr>
        </p:nvSpPr>
        <p:spPr/>
        <p:txBody>
          <a:bodyPr/>
          <a:lstStyle/>
          <a:p>
            <a:r>
              <a:rPr lang="fr-FR"/>
              <a:t>Introduction to Neural Networks. Author: David Thébault</a:t>
            </a:r>
          </a:p>
        </p:txBody>
      </p:sp>
    </p:spTree>
    <p:extLst>
      <p:ext uri="{BB962C8B-B14F-4D97-AF65-F5344CB8AC3E}">
        <p14:creationId xmlns:p14="http://schemas.microsoft.com/office/powerpoint/2010/main" val="24703253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3B8AFF-8702-EEBF-B45F-824132DACB0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DBFC496-4E95-19BD-9205-7E86C4BED7B6}"/>
              </a:ext>
            </a:extLst>
          </p:cNvPr>
          <p:cNvSpPr>
            <a:spLocks noGrp="1"/>
          </p:cNvSpPr>
          <p:nvPr>
            <p:ph type="title"/>
          </p:nvPr>
        </p:nvSpPr>
        <p:spPr/>
        <p:txBody>
          <a:bodyPr/>
          <a:lstStyle/>
          <a:p>
            <a:r>
              <a:rPr lang="en-GB" dirty="0"/>
              <a:t>Adding some </a:t>
            </a:r>
            <a:r>
              <a:rPr lang="en-GB" b="1" dirty="0"/>
              <a:t>Momentum</a:t>
            </a:r>
          </a:p>
        </p:txBody>
      </p:sp>
      <mc:AlternateContent xmlns:mc="http://schemas.openxmlformats.org/markup-compatibility/2006" xmlns:a14="http://schemas.microsoft.com/office/drawing/2010/main">
        <mc:Choice Requires="a14">
          <p:sp>
            <p:nvSpPr>
              <p:cNvPr id="3" name="Espace réservé du contenu 2">
                <a:extLst>
                  <a:ext uri="{FF2B5EF4-FFF2-40B4-BE49-F238E27FC236}">
                    <a16:creationId xmlns:a16="http://schemas.microsoft.com/office/drawing/2014/main" id="{9CD831D2-1692-2F2C-60D9-76307872653E}"/>
                  </a:ext>
                </a:extLst>
              </p:cNvPr>
              <p:cNvSpPr>
                <a:spLocks noGrp="1"/>
              </p:cNvSpPr>
              <p:nvPr>
                <p:ph idx="1"/>
              </p:nvPr>
            </p:nvSpPr>
            <p:spPr>
              <a:xfrm>
                <a:off x="838200" y="1371600"/>
                <a:ext cx="10515600" cy="4805363"/>
              </a:xfrm>
            </p:spPr>
            <p:txBody>
              <a:bodyPr>
                <a:normAutofit/>
              </a:bodyPr>
              <a:lstStyle/>
              <a:p>
                <a:pPr marL="0" indent="0">
                  <a:lnSpc>
                    <a:spcPct val="150000"/>
                  </a:lnSpc>
                  <a:buNone/>
                </a:pPr>
                <a:r>
                  <a:rPr lang="en-GB" sz="1600" dirty="0"/>
                  <a:t>Use </a:t>
                </a:r>
                <a:r>
                  <a:rPr lang="en-GB" sz="1600" b="1" dirty="0"/>
                  <a:t>Momentum</a:t>
                </a:r>
                <a:r>
                  <a:rPr lang="en-GB" sz="1600" dirty="0"/>
                  <a:t> which </a:t>
                </a:r>
                <a:r>
                  <a:rPr lang="en-GB" sz="1600" u="sng" dirty="0"/>
                  <a:t>takes past gradients into account </a:t>
                </a:r>
                <a:r>
                  <a:rPr lang="en-GB" sz="1600" dirty="0"/>
                  <a:t>:</a:t>
                </a:r>
                <a14:m>
                  <m:oMath xmlns:m="http://schemas.openxmlformats.org/officeDocument/2006/math">
                    <m:r>
                      <a:rPr lang="fr-FR" sz="1600" b="0" i="0" smtClean="0">
                        <a:latin typeface="Cambria Math" panose="02040503050406030204" pitchFamily="18" charset="0"/>
                      </a:rPr>
                      <m:t> </m:t>
                    </m:r>
                  </m:oMath>
                </a14:m>
                <a:endParaRPr lang="fr-FR" sz="1600" b="0" i="0" dirty="0">
                  <a:latin typeface="Cambria Math" panose="02040503050406030204" pitchFamily="18" charset="0"/>
                </a:endParaRPr>
              </a:p>
              <a:p>
                <a:pPr marL="0" indent="0">
                  <a:lnSpc>
                    <a:spcPct val="150000"/>
                  </a:lnSpc>
                  <a:buNone/>
                </a:pPr>
                <a14:m>
                  <m:oMathPara xmlns:m="http://schemas.openxmlformats.org/officeDocument/2006/math">
                    <m:oMathParaPr>
                      <m:jc m:val="center"/>
                    </m:oMathParaPr>
                    <m:oMath xmlns:m="http://schemas.openxmlformats.org/officeDocument/2006/math">
                      <m:sSub>
                        <m:sSubPr>
                          <m:ctrlPr>
                            <a:rPr lang="fr-FR" sz="2000" b="0" i="1" smtClean="0">
                              <a:latin typeface="Cambria Math" panose="02040503050406030204" pitchFamily="18" charset="0"/>
                              <a:ea typeface="Cambria Math" panose="02040503050406030204" pitchFamily="18" charset="0"/>
                            </a:rPr>
                          </m:ctrlPr>
                        </m:sSubPr>
                        <m:e>
                          <m:r>
                            <a:rPr lang="fr-FR" sz="2000" b="0" i="1" smtClean="0">
                              <a:latin typeface="Cambria Math" panose="02040503050406030204" pitchFamily="18" charset="0"/>
                              <a:ea typeface="Cambria Math" panose="02040503050406030204" pitchFamily="18" charset="0"/>
                            </a:rPr>
                            <m:t>𝑚</m:t>
                          </m:r>
                        </m:e>
                        <m:sub>
                          <m:r>
                            <a:rPr lang="fr-FR" sz="2000" b="0" i="1" smtClean="0">
                              <a:latin typeface="Cambria Math" panose="02040503050406030204" pitchFamily="18" charset="0"/>
                              <a:ea typeface="Cambria Math" panose="02040503050406030204" pitchFamily="18" charset="0"/>
                            </a:rPr>
                            <m:t>𝑡</m:t>
                          </m:r>
                          <m:r>
                            <a:rPr lang="fr-FR" sz="2000" b="0" i="1" smtClean="0">
                              <a:latin typeface="Cambria Math" panose="02040503050406030204" pitchFamily="18" charset="0"/>
                              <a:ea typeface="Cambria Math" panose="02040503050406030204" pitchFamily="18" charset="0"/>
                            </a:rPr>
                            <m:t>+1</m:t>
                          </m:r>
                        </m:sub>
                      </m:sSub>
                      <m:r>
                        <a:rPr lang="fr-FR" sz="2000" b="0" i="1" smtClean="0">
                          <a:latin typeface="Cambria Math" panose="02040503050406030204" pitchFamily="18" charset="0"/>
                          <a:ea typeface="Cambria Math" panose="02040503050406030204" pitchFamily="18" charset="0"/>
                        </a:rPr>
                        <m:t>=</m:t>
                      </m:r>
                      <m:r>
                        <a:rPr lang="fr-FR" sz="2000" b="0" i="1" smtClean="0">
                          <a:latin typeface="Cambria Math" panose="02040503050406030204" pitchFamily="18" charset="0"/>
                          <a:ea typeface="Cambria Math" panose="02040503050406030204" pitchFamily="18" charset="0"/>
                        </a:rPr>
                        <m:t>𝛽</m:t>
                      </m:r>
                      <m:sSub>
                        <m:sSubPr>
                          <m:ctrlPr>
                            <a:rPr lang="fr-FR" sz="2000" b="0" i="1" smtClean="0">
                              <a:latin typeface="Cambria Math" panose="02040503050406030204" pitchFamily="18" charset="0"/>
                              <a:ea typeface="Cambria Math" panose="02040503050406030204" pitchFamily="18" charset="0"/>
                            </a:rPr>
                          </m:ctrlPr>
                        </m:sSubPr>
                        <m:e>
                          <m:r>
                            <a:rPr lang="fr-FR" sz="2000" b="0" i="1" smtClean="0">
                              <a:latin typeface="Cambria Math" panose="02040503050406030204" pitchFamily="18" charset="0"/>
                              <a:ea typeface="Cambria Math" panose="02040503050406030204" pitchFamily="18" charset="0"/>
                            </a:rPr>
                            <m:t>𝑚</m:t>
                          </m:r>
                        </m:e>
                        <m:sub>
                          <m:r>
                            <a:rPr lang="fr-FR" sz="2000" b="0" i="1" smtClean="0">
                              <a:latin typeface="Cambria Math" panose="02040503050406030204" pitchFamily="18" charset="0"/>
                              <a:ea typeface="Cambria Math" panose="02040503050406030204" pitchFamily="18" charset="0"/>
                            </a:rPr>
                            <m:t>𝑡</m:t>
                          </m:r>
                        </m:sub>
                      </m:sSub>
                      <m:r>
                        <a:rPr lang="fr-FR" sz="2000" b="0" i="1" smtClean="0">
                          <a:latin typeface="Cambria Math" panose="02040503050406030204" pitchFamily="18" charset="0"/>
                          <a:ea typeface="Cambria Math" panose="02040503050406030204" pitchFamily="18" charset="0"/>
                        </a:rPr>
                        <m:t>−</m:t>
                      </m:r>
                      <m:r>
                        <a:rPr lang="fr-FR" sz="2000" b="0" i="1" smtClean="0">
                          <a:latin typeface="Cambria Math" panose="02040503050406030204" pitchFamily="18" charset="0"/>
                          <a:ea typeface="Cambria Math" panose="02040503050406030204" pitchFamily="18" charset="0"/>
                        </a:rPr>
                        <m:t>𝛼</m:t>
                      </m:r>
                      <m:r>
                        <m:rPr>
                          <m:sty m:val="p"/>
                        </m:rPr>
                        <a:rPr lang="fr-FR" sz="2000" b="0" i="0" smtClean="0">
                          <a:latin typeface="Cambria Math" panose="02040503050406030204" pitchFamily="18" charset="0"/>
                          <a:ea typeface="Cambria Math" panose="02040503050406030204" pitchFamily="18" charset="0"/>
                        </a:rPr>
                        <m:t>∇</m:t>
                      </m:r>
                      <m:r>
                        <a:rPr lang="fr-FR" sz="2000" b="0" i="1" smtClean="0">
                          <a:latin typeface="Cambria Math" panose="02040503050406030204" pitchFamily="18" charset="0"/>
                          <a:ea typeface="Cambria Math" panose="02040503050406030204" pitchFamily="18" charset="0"/>
                        </a:rPr>
                        <m:t>𝐿</m:t>
                      </m:r>
                    </m:oMath>
                  </m:oMathPara>
                </a14:m>
                <a:endParaRPr lang="en-GB" sz="2000" dirty="0">
                  <a:latin typeface="Cambria Math" panose="02040503050406030204" pitchFamily="18" charset="0"/>
                  <a:ea typeface="Cambria Math" panose="02040503050406030204" pitchFamily="18" charset="0"/>
                </a:endParaRPr>
              </a:p>
              <a:p>
                <a:pPr marL="0" indent="0">
                  <a:lnSpc>
                    <a:spcPct val="150000"/>
                  </a:lnSpc>
                  <a:buNone/>
                </a:pPr>
                <a14:m>
                  <m:oMath xmlns:m="http://schemas.openxmlformats.org/officeDocument/2006/math">
                    <m:r>
                      <a:rPr lang="fr-FR" sz="1600" b="1" i="1" smtClean="0">
                        <a:latin typeface="Cambria Math" panose="02040503050406030204" pitchFamily="18" charset="0"/>
                      </a:rPr>
                      <m:t>𝜷</m:t>
                    </m:r>
                  </m:oMath>
                </a14:m>
                <a:r>
                  <a:rPr lang="en-GB" sz="1600" dirty="0"/>
                  <a:t> is the friction coefficient or </a:t>
                </a:r>
                <a:r>
                  <a:rPr lang="en-GB" sz="1600" b="1" dirty="0"/>
                  <a:t>the momentum coefficient</a:t>
                </a:r>
                <a:r>
                  <a:rPr lang="en-GB" sz="1600" dirty="0"/>
                  <a:t>. 0.9 is a typical value.</a:t>
                </a:r>
              </a:p>
              <a:p>
                <a:pPr marL="0" indent="0">
                  <a:lnSpc>
                    <a:spcPct val="150000"/>
                  </a:lnSpc>
                  <a:buNone/>
                </a:pPr>
                <a14:m>
                  <m:oMath xmlns:m="http://schemas.openxmlformats.org/officeDocument/2006/math">
                    <m:r>
                      <a:rPr lang="fr-FR" sz="1600" b="1" i="1" smtClean="0">
                        <a:latin typeface="Cambria Math" panose="02040503050406030204" pitchFamily="18" charset="0"/>
                      </a:rPr>
                      <m:t>𝒎</m:t>
                    </m:r>
                  </m:oMath>
                </a14:m>
                <a:r>
                  <a:rPr lang="en-GB" sz="1600" dirty="0"/>
                  <a:t> when initialized to zero we get a Plaint Gradient Descent but when we increase it, we introduce some gradient memory and the higher number the greater the momentum</a:t>
                </a:r>
              </a:p>
              <a:p>
                <a:pPr marL="0" indent="0">
                  <a:lnSpc>
                    <a:spcPct val="150000"/>
                  </a:lnSpc>
                  <a:buNone/>
                </a:pPr>
                <a14:m>
                  <m:oMathPara xmlns:m="http://schemas.openxmlformats.org/officeDocument/2006/math">
                    <m:oMathParaPr>
                      <m:jc m:val="center"/>
                    </m:oMathParaPr>
                    <m:oMath xmlns:m="http://schemas.openxmlformats.org/officeDocument/2006/math">
                      <m:sSub>
                        <m:sSubPr>
                          <m:ctrlPr>
                            <a:rPr lang="fr-FR" sz="2000" b="0" i="1" smtClean="0">
                              <a:latin typeface="Cambria Math" panose="02040503050406030204" pitchFamily="18" charset="0"/>
                            </a:rPr>
                          </m:ctrlPr>
                        </m:sSubPr>
                        <m:e>
                          <m:r>
                            <a:rPr lang="fr-FR" sz="2000" b="0" i="1" smtClean="0">
                              <a:latin typeface="Cambria Math" panose="02040503050406030204" pitchFamily="18" charset="0"/>
                            </a:rPr>
                            <m:t>𝜔</m:t>
                          </m:r>
                        </m:e>
                        <m:sub>
                          <m:r>
                            <a:rPr lang="fr-FR" sz="2000" b="0" i="1" smtClean="0">
                              <a:latin typeface="Cambria Math" panose="02040503050406030204" pitchFamily="18" charset="0"/>
                            </a:rPr>
                            <m:t>𝑡</m:t>
                          </m:r>
                          <m:r>
                            <a:rPr lang="fr-FR" sz="2000" b="0" i="1" smtClean="0">
                              <a:latin typeface="Cambria Math" panose="02040503050406030204" pitchFamily="18" charset="0"/>
                            </a:rPr>
                            <m:t>+1</m:t>
                          </m:r>
                        </m:sub>
                      </m:sSub>
                      <m:r>
                        <a:rPr lang="fr-FR" sz="2000" b="0" i="1" smtClean="0">
                          <a:latin typeface="Cambria Math" panose="02040503050406030204" pitchFamily="18" charset="0"/>
                        </a:rPr>
                        <m:t>=</m:t>
                      </m:r>
                      <m:sSub>
                        <m:sSubPr>
                          <m:ctrlPr>
                            <a:rPr lang="fr-FR" sz="2000" b="0" i="1" smtClean="0">
                              <a:latin typeface="Cambria Math" panose="02040503050406030204" pitchFamily="18" charset="0"/>
                            </a:rPr>
                          </m:ctrlPr>
                        </m:sSubPr>
                        <m:e>
                          <m:r>
                            <a:rPr lang="fr-FR" sz="2000" b="0" i="1" smtClean="0">
                              <a:latin typeface="Cambria Math" panose="02040503050406030204" pitchFamily="18" charset="0"/>
                            </a:rPr>
                            <m:t>𝜔</m:t>
                          </m:r>
                        </m:e>
                        <m:sub>
                          <m:r>
                            <a:rPr lang="fr-FR" sz="2000" b="0" i="1" smtClean="0">
                              <a:latin typeface="Cambria Math" panose="02040503050406030204" pitchFamily="18" charset="0"/>
                            </a:rPr>
                            <m:t>𝑡</m:t>
                          </m:r>
                        </m:sub>
                      </m:sSub>
                      <m:r>
                        <a:rPr lang="fr-FR" sz="2000" b="0" i="1" smtClean="0">
                          <a:latin typeface="Cambria Math" panose="02040503050406030204" pitchFamily="18" charset="0"/>
                        </a:rPr>
                        <m:t>+</m:t>
                      </m:r>
                      <m:r>
                        <a:rPr lang="fr-FR" sz="2000" b="0" i="1" smtClean="0">
                          <a:latin typeface="Cambria Math" panose="02040503050406030204" pitchFamily="18" charset="0"/>
                        </a:rPr>
                        <m:t>𝑚</m:t>
                      </m:r>
                    </m:oMath>
                  </m:oMathPara>
                </a14:m>
                <a:endParaRPr lang="en-GB" sz="2000" dirty="0"/>
              </a:p>
            </p:txBody>
          </p:sp>
        </mc:Choice>
        <mc:Fallback xmlns="">
          <p:sp>
            <p:nvSpPr>
              <p:cNvPr id="3" name="Espace réservé du contenu 2">
                <a:extLst>
                  <a:ext uri="{FF2B5EF4-FFF2-40B4-BE49-F238E27FC236}">
                    <a16:creationId xmlns:a16="http://schemas.microsoft.com/office/drawing/2014/main" id="{9CD831D2-1692-2F2C-60D9-76307872653E}"/>
                  </a:ext>
                </a:extLst>
              </p:cNvPr>
              <p:cNvSpPr>
                <a:spLocks noGrp="1" noRot="1" noChangeAspect="1" noMove="1" noResize="1" noEditPoints="1" noAdjustHandles="1" noChangeArrowheads="1" noChangeShapeType="1" noTextEdit="1"/>
              </p:cNvSpPr>
              <p:nvPr>
                <p:ph idx="1"/>
              </p:nvPr>
            </p:nvSpPr>
            <p:spPr>
              <a:xfrm>
                <a:off x="838200" y="1371600"/>
                <a:ext cx="10515600" cy="4805363"/>
              </a:xfrm>
              <a:blipFill>
                <a:blip r:embed="rId3"/>
                <a:stretch>
                  <a:fillRect l="-362"/>
                </a:stretch>
              </a:blipFill>
            </p:spPr>
            <p:txBody>
              <a:bodyPr/>
              <a:lstStyle/>
              <a:p>
                <a:r>
                  <a:rPr lang="en-GB">
                    <a:noFill/>
                  </a:rPr>
                  <a:t> </a:t>
                </a:r>
              </a:p>
            </p:txBody>
          </p:sp>
        </mc:Fallback>
      </mc:AlternateContent>
      <p:sp>
        <p:nvSpPr>
          <p:cNvPr id="4" name="Espace réservé du pied de page 3">
            <a:extLst>
              <a:ext uri="{FF2B5EF4-FFF2-40B4-BE49-F238E27FC236}">
                <a16:creationId xmlns:a16="http://schemas.microsoft.com/office/drawing/2014/main" id="{65E03E3D-56C6-701A-3E17-C2AD3EC4189E}"/>
              </a:ext>
            </a:extLst>
          </p:cNvPr>
          <p:cNvSpPr>
            <a:spLocks noGrp="1"/>
          </p:cNvSpPr>
          <p:nvPr>
            <p:ph type="ftr" sz="quarter" idx="11"/>
          </p:nvPr>
        </p:nvSpPr>
        <p:spPr/>
        <p:txBody>
          <a:bodyPr/>
          <a:lstStyle/>
          <a:p>
            <a:r>
              <a:rPr lang="fr-FR"/>
              <a:t>Introduction to Neural Networks. Author: David Thébault</a:t>
            </a:r>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26466344-FE20-CC33-29B5-1FCE7F5B083C}"/>
                  </a:ext>
                </a:extLst>
              </p:cNvPr>
              <p:cNvSpPr txBox="1"/>
              <p:nvPr/>
            </p:nvSpPr>
            <p:spPr>
              <a:xfrm>
                <a:off x="1174296" y="4465083"/>
                <a:ext cx="3607566" cy="861774"/>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sSub>
                        <m:sSubPr>
                          <m:ctrlPr>
                            <a:rPr lang="fr-FR" sz="1400" b="0" i="1" smtClean="0">
                              <a:solidFill>
                                <a:schemeClr val="tx1">
                                  <a:lumMod val="50000"/>
                                  <a:lumOff val="50000"/>
                                </a:schemeClr>
                              </a:solidFill>
                              <a:latin typeface="Cambria Math" panose="02040503050406030204" pitchFamily="18" charset="0"/>
                            </a:rPr>
                          </m:ctrlPr>
                        </m:sSubPr>
                        <m:e>
                          <m:r>
                            <a:rPr lang="fr-FR" sz="1400" b="0" i="1" smtClean="0">
                              <a:solidFill>
                                <a:schemeClr val="tx1">
                                  <a:lumMod val="50000"/>
                                  <a:lumOff val="50000"/>
                                </a:schemeClr>
                              </a:solidFill>
                              <a:latin typeface="Cambria Math" panose="02040503050406030204" pitchFamily="18" charset="0"/>
                            </a:rPr>
                            <m:t>𝑚</m:t>
                          </m:r>
                        </m:e>
                        <m:sub>
                          <m:r>
                            <a:rPr lang="fr-FR" sz="1400" b="0" i="1" smtClean="0">
                              <a:solidFill>
                                <a:schemeClr val="tx1">
                                  <a:lumMod val="50000"/>
                                  <a:lumOff val="50000"/>
                                </a:schemeClr>
                              </a:solidFill>
                              <a:latin typeface="Cambria Math" panose="02040503050406030204" pitchFamily="18" charset="0"/>
                            </a:rPr>
                            <m:t>0</m:t>
                          </m:r>
                        </m:sub>
                      </m:sSub>
                    </m:oMath>
                  </m:oMathPara>
                </a14:m>
                <a:endParaRPr lang="fr-FR" sz="1400" b="0" i="1" dirty="0">
                  <a:solidFill>
                    <a:schemeClr val="tx1">
                      <a:lumMod val="50000"/>
                      <a:lumOff val="50000"/>
                    </a:schemeClr>
                  </a:solidFill>
                  <a:latin typeface="Cambria Math" panose="02040503050406030204" pitchFamily="18" charset="0"/>
                </a:endParaRPr>
              </a:p>
              <a:p>
                <a:pPr/>
                <a14:m>
                  <m:oMathPara xmlns:m="http://schemas.openxmlformats.org/officeDocument/2006/math">
                    <m:oMathParaPr>
                      <m:jc m:val="left"/>
                    </m:oMathParaPr>
                    <m:oMath xmlns:m="http://schemas.openxmlformats.org/officeDocument/2006/math">
                      <m:sSub>
                        <m:sSubPr>
                          <m:ctrlPr>
                            <a:rPr lang="fr-FR" sz="1400" b="0" i="1" smtClean="0">
                              <a:solidFill>
                                <a:schemeClr val="tx1">
                                  <a:lumMod val="50000"/>
                                  <a:lumOff val="50000"/>
                                </a:schemeClr>
                              </a:solidFill>
                              <a:latin typeface="Cambria Math" panose="02040503050406030204" pitchFamily="18" charset="0"/>
                            </a:rPr>
                          </m:ctrlPr>
                        </m:sSubPr>
                        <m:e>
                          <m:r>
                            <a:rPr lang="fr-FR" sz="1400" b="0" i="1" smtClean="0">
                              <a:solidFill>
                                <a:schemeClr val="tx1">
                                  <a:lumMod val="50000"/>
                                  <a:lumOff val="50000"/>
                                </a:schemeClr>
                              </a:solidFill>
                              <a:latin typeface="Cambria Math" panose="02040503050406030204" pitchFamily="18" charset="0"/>
                            </a:rPr>
                            <m:t>𝑚</m:t>
                          </m:r>
                        </m:e>
                        <m:sub>
                          <m:r>
                            <a:rPr lang="fr-FR" sz="1400" b="0" i="1" smtClean="0">
                              <a:solidFill>
                                <a:schemeClr val="tx1">
                                  <a:lumMod val="50000"/>
                                  <a:lumOff val="50000"/>
                                </a:schemeClr>
                              </a:solidFill>
                              <a:latin typeface="Cambria Math" panose="02040503050406030204" pitchFamily="18" charset="0"/>
                            </a:rPr>
                            <m:t>1</m:t>
                          </m:r>
                        </m:sub>
                      </m:sSub>
                      <m:r>
                        <a:rPr lang="fr-FR" sz="1400" b="0" i="1" smtClean="0">
                          <a:solidFill>
                            <a:schemeClr val="tx1">
                              <a:lumMod val="50000"/>
                              <a:lumOff val="50000"/>
                            </a:schemeClr>
                          </a:solidFill>
                          <a:latin typeface="Cambria Math" panose="02040503050406030204" pitchFamily="18" charset="0"/>
                        </a:rPr>
                        <m:t>=</m:t>
                      </m:r>
                      <m:r>
                        <a:rPr lang="fr-FR" sz="1400" b="0" i="1" smtClean="0">
                          <a:solidFill>
                            <a:schemeClr val="tx1">
                              <a:lumMod val="50000"/>
                              <a:lumOff val="50000"/>
                            </a:schemeClr>
                          </a:solidFill>
                          <a:latin typeface="Cambria Math" panose="02040503050406030204" pitchFamily="18" charset="0"/>
                        </a:rPr>
                        <m:t>𝛽</m:t>
                      </m:r>
                      <m:sSub>
                        <m:sSubPr>
                          <m:ctrlPr>
                            <a:rPr lang="fr-FR" sz="1400" b="0" i="1" smtClean="0">
                              <a:solidFill>
                                <a:schemeClr val="tx1">
                                  <a:lumMod val="50000"/>
                                  <a:lumOff val="50000"/>
                                </a:schemeClr>
                              </a:solidFill>
                              <a:latin typeface="Cambria Math" panose="02040503050406030204" pitchFamily="18" charset="0"/>
                            </a:rPr>
                          </m:ctrlPr>
                        </m:sSubPr>
                        <m:e>
                          <m:r>
                            <a:rPr lang="fr-FR" sz="1400" b="0" i="1" smtClean="0">
                              <a:solidFill>
                                <a:schemeClr val="tx1">
                                  <a:lumMod val="50000"/>
                                  <a:lumOff val="50000"/>
                                </a:schemeClr>
                              </a:solidFill>
                              <a:latin typeface="Cambria Math" panose="02040503050406030204" pitchFamily="18" charset="0"/>
                            </a:rPr>
                            <m:t>𝑚</m:t>
                          </m:r>
                        </m:e>
                        <m:sub>
                          <m:r>
                            <a:rPr lang="fr-FR" sz="1400" b="0" i="1" smtClean="0">
                              <a:solidFill>
                                <a:schemeClr val="tx1">
                                  <a:lumMod val="50000"/>
                                  <a:lumOff val="50000"/>
                                </a:schemeClr>
                              </a:solidFill>
                              <a:latin typeface="Cambria Math" panose="02040503050406030204" pitchFamily="18" charset="0"/>
                            </a:rPr>
                            <m:t>0</m:t>
                          </m:r>
                        </m:sub>
                      </m:sSub>
                      <m:r>
                        <a:rPr lang="fr-FR" sz="1400" b="0" i="1" smtClean="0">
                          <a:solidFill>
                            <a:schemeClr val="tx1">
                              <a:lumMod val="50000"/>
                              <a:lumOff val="50000"/>
                            </a:schemeClr>
                          </a:solidFill>
                          <a:latin typeface="Cambria Math" panose="02040503050406030204" pitchFamily="18" charset="0"/>
                        </a:rPr>
                        <m:t>−</m:t>
                      </m:r>
                      <m:r>
                        <a:rPr lang="fr-FR" sz="1400" b="0" i="1" smtClean="0">
                          <a:solidFill>
                            <a:schemeClr val="tx1">
                              <a:lumMod val="50000"/>
                              <a:lumOff val="50000"/>
                            </a:schemeClr>
                          </a:solidFill>
                          <a:latin typeface="Cambria Math" panose="02040503050406030204" pitchFamily="18" charset="0"/>
                        </a:rPr>
                        <m:t>𝛼</m:t>
                      </m:r>
                      <m:r>
                        <m:rPr>
                          <m:sty m:val="p"/>
                        </m:rPr>
                        <a:rPr lang="fr-FR" sz="1400" b="0" i="0" smtClean="0">
                          <a:solidFill>
                            <a:schemeClr val="tx1">
                              <a:lumMod val="50000"/>
                              <a:lumOff val="50000"/>
                            </a:schemeClr>
                          </a:solidFill>
                          <a:latin typeface="Cambria Math" panose="02040503050406030204" pitchFamily="18" charset="0"/>
                        </a:rPr>
                        <m:t>∇L</m:t>
                      </m:r>
                    </m:oMath>
                  </m:oMathPara>
                </a14:m>
                <a:endParaRPr lang="fr-FR" sz="1400" b="0" dirty="0">
                  <a:solidFill>
                    <a:schemeClr val="tx1">
                      <a:lumMod val="50000"/>
                      <a:lumOff val="50000"/>
                    </a:schemeClr>
                  </a:solidFill>
                </a:endParaRPr>
              </a:p>
              <a:p>
                <a:pPr/>
                <a14:m>
                  <m:oMathPara xmlns:m="http://schemas.openxmlformats.org/officeDocument/2006/math">
                    <m:oMathParaPr>
                      <m:jc m:val="left"/>
                    </m:oMathParaPr>
                    <m:oMath xmlns:m="http://schemas.openxmlformats.org/officeDocument/2006/math">
                      <m:sSub>
                        <m:sSubPr>
                          <m:ctrlPr>
                            <a:rPr lang="fr-FR" sz="1400" b="0" i="1" smtClean="0">
                              <a:solidFill>
                                <a:schemeClr val="tx1">
                                  <a:lumMod val="50000"/>
                                  <a:lumOff val="50000"/>
                                </a:schemeClr>
                              </a:solidFill>
                              <a:latin typeface="Cambria Math" panose="02040503050406030204" pitchFamily="18" charset="0"/>
                            </a:rPr>
                          </m:ctrlPr>
                        </m:sSubPr>
                        <m:e>
                          <m:r>
                            <a:rPr lang="fr-FR" sz="1400" b="0" i="1" smtClean="0">
                              <a:solidFill>
                                <a:schemeClr val="tx1">
                                  <a:lumMod val="50000"/>
                                  <a:lumOff val="50000"/>
                                </a:schemeClr>
                              </a:solidFill>
                              <a:latin typeface="Cambria Math" panose="02040503050406030204" pitchFamily="18" charset="0"/>
                            </a:rPr>
                            <m:t>𝑚</m:t>
                          </m:r>
                        </m:e>
                        <m:sub>
                          <m:r>
                            <a:rPr lang="fr-FR" sz="1400" b="0" i="1" smtClean="0">
                              <a:solidFill>
                                <a:schemeClr val="tx1">
                                  <a:lumMod val="50000"/>
                                  <a:lumOff val="50000"/>
                                </a:schemeClr>
                              </a:solidFill>
                              <a:latin typeface="Cambria Math" panose="02040503050406030204" pitchFamily="18" charset="0"/>
                            </a:rPr>
                            <m:t>2</m:t>
                          </m:r>
                        </m:sub>
                      </m:sSub>
                      <m:r>
                        <a:rPr lang="fr-FR" sz="1400" b="0" i="1" smtClean="0">
                          <a:solidFill>
                            <a:schemeClr val="tx1">
                              <a:lumMod val="50000"/>
                              <a:lumOff val="50000"/>
                            </a:schemeClr>
                          </a:solidFill>
                          <a:latin typeface="Cambria Math" panose="02040503050406030204" pitchFamily="18" charset="0"/>
                        </a:rPr>
                        <m:t>=</m:t>
                      </m:r>
                      <m:r>
                        <a:rPr lang="fr-FR" sz="1400" b="0" i="1" smtClean="0">
                          <a:solidFill>
                            <a:schemeClr val="tx1">
                              <a:lumMod val="50000"/>
                              <a:lumOff val="50000"/>
                            </a:schemeClr>
                          </a:solidFill>
                          <a:latin typeface="Cambria Math" panose="02040503050406030204" pitchFamily="18" charset="0"/>
                        </a:rPr>
                        <m:t>𝛽</m:t>
                      </m:r>
                      <m:sSub>
                        <m:sSubPr>
                          <m:ctrlPr>
                            <a:rPr lang="fr-FR" sz="1400" b="0" i="1" smtClean="0">
                              <a:solidFill>
                                <a:schemeClr val="tx1">
                                  <a:lumMod val="50000"/>
                                  <a:lumOff val="50000"/>
                                </a:schemeClr>
                              </a:solidFill>
                              <a:latin typeface="Cambria Math" panose="02040503050406030204" pitchFamily="18" charset="0"/>
                            </a:rPr>
                          </m:ctrlPr>
                        </m:sSubPr>
                        <m:e>
                          <m:r>
                            <a:rPr lang="fr-FR" sz="1400" b="0" i="1" smtClean="0">
                              <a:solidFill>
                                <a:schemeClr val="tx1">
                                  <a:lumMod val="50000"/>
                                  <a:lumOff val="50000"/>
                                </a:schemeClr>
                              </a:solidFill>
                              <a:latin typeface="Cambria Math" panose="02040503050406030204" pitchFamily="18" charset="0"/>
                            </a:rPr>
                            <m:t>𝑚</m:t>
                          </m:r>
                        </m:e>
                        <m:sub>
                          <m:r>
                            <a:rPr lang="fr-FR" sz="1400" b="0" i="1" smtClean="0">
                              <a:solidFill>
                                <a:schemeClr val="tx1">
                                  <a:lumMod val="50000"/>
                                  <a:lumOff val="50000"/>
                                </a:schemeClr>
                              </a:solidFill>
                              <a:latin typeface="Cambria Math" panose="02040503050406030204" pitchFamily="18" charset="0"/>
                            </a:rPr>
                            <m:t>1</m:t>
                          </m:r>
                        </m:sub>
                      </m:sSub>
                      <m:r>
                        <a:rPr lang="fr-FR" sz="1400" b="0" i="1" smtClean="0">
                          <a:solidFill>
                            <a:schemeClr val="tx1">
                              <a:lumMod val="50000"/>
                              <a:lumOff val="50000"/>
                            </a:schemeClr>
                          </a:solidFill>
                          <a:latin typeface="Cambria Math" panose="02040503050406030204" pitchFamily="18" charset="0"/>
                        </a:rPr>
                        <m:t> −</m:t>
                      </m:r>
                      <m:r>
                        <a:rPr lang="fr-FR" sz="1400" b="0" i="1" smtClean="0">
                          <a:solidFill>
                            <a:schemeClr val="tx1">
                              <a:lumMod val="50000"/>
                              <a:lumOff val="50000"/>
                            </a:schemeClr>
                          </a:solidFill>
                          <a:latin typeface="Cambria Math" panose="02040503050406030204" pitchFamily="18" charset="0"/>
                        </a:rPr>
                        <m:t>𝛼</m:t>
                      </m:r>
                      <m:r>
                        <m:rPr>
                          <m:sty m:val="p"/>
                        </m:rPr>
                        <a:rPr lang="fr-FR" sz="1400">
                          <a:solidFill>
                            <a:schemeClr val="tx1">
                              <a:lumMod val="50000"/>
                              <a:lumOff val="50000"/>
                            </a:schemeClr>
                          </a:solidFill>
                          <a:latin typeface="Cambria Math" panose="02040503050406030204" pitchFamily="18" charset="0"/>
                        </a:rPr>
                        <m:t>∇L</m:t>
                      </m:r>
                      <m:r>
                        <a:rPr lang="fr-FR" sz="1400" b="0" i="1" smtClean="0">
                          <a:solidFill>
                            <a:schemeClr val="tx1">
                              <a:lumMod val="50000"/>
                              <a:lumOff val="50000"/>
                            </a:schemeClr>
                          </a:solidFill>
                          <a:latin typeface="Cambria Math" panose="02040503050406030204" pitchFamily="18" charset="0"/>
                        </a:rPr>
                        <m:t>= </m:t>
                      </m:r>
                      <m:r>
                        <a:rPr lang="fr-FR" sz="1400" b="0" i="1" smtClean="0">
                          <a:solidFill>
                            <a:schemeClr val="tx1">
                              <a:lumMod val="50000"/>
                              <a:lumOff val="50000"/>
                            </a:schemeClr>
                          </a:solidFill>
                          <a:latin typeface="Cambria Math" panose="02040503050406030204" pitchFamily="18" charset="0"/>
                        </a:rPr>
                        <m:t>𝛽</m:t>
                      </m:r>
                      <m:r>
                        <a:rPr lang="fr-FR" sz="1400" i="1">
                          <a:solidFill>
                            <a:schemeClr val="tx1">
                              <a:lumMod val="50000"/>
                              <a:lumOff val="50000"/>
                            </a:schemeClr>
                          </a:solidFill>
                          <a:latin typeface="Cambria Math" panose="02040503050406030204" pitchFamily="18" charset="0"/>
                        </a:rPr>
                        <m:t>(</m:t>
                      </m:r>
                      <m:r>
                        <a:rPr lang="fr-FR" sz="1400" i="1">
                          <a:solidFill>
                            <a:schemeClr val="tx1">
                              <a:lumMod val="50000"/>
                              <a:lumOff val="50000"/>
                            </a:schemeClr>
                          </a:solidFill>
                          <a:latin typeface="Cambria Math" panose="02040503050406030204" pitchFamily="18" charset="0"/>
                        </a:rPr>
                        <m:t>𝛽</m:t>
                      </m:r>
                      <m:sSub>
                        <m:sSubPr>
                          <m:ctrlPr>
                            <a:rPr lang="fr-FR" sz="1400" i="1">
                              <a:solidFill>
                                <a:schemeClr val="tx1">
                                  <a:lumMod val="50000"/>
                                  <a:lumOff val="50000"/>
                                </a:schemeClr>
                              </a:solidFill>
                              <a:latin typeface="Cambria Math" panose="02040503050406030204" pitchFamily="18" charset="0"/>
                            </a:rPr>
                          </m:ctrlPr>
                        </m:sSubPr>
                        <m:e>
                          <m:r>
                            <a:rPr lang="fr-FR" sz="1400" i="1">
                              <a:solidFill>
                                <a:schemeClr val="tx1">
                                  <a:lumMod val="50000"/>
                                  <a:lumOff val="50000"/>
                                </a:schemeClr>
                              </a:solidFill>
                              <a:latin typeface="Cambria Math" panose="02040503050406030204" pitchFamily="18" charset="0"/>
                            </a:rPr>
                            <m:t>𝑚</m:t>
                          </m:r>
                        </m:e>
                        <m:sub>
                          <m:r>
                            <a:rPr lang="fr-FR" sz="1400" i="1">
                              <a:solidFill>
                                <a:schemeClr val="tx1">
                                  <a:lumMod val="50000"/>
                                  <a:lumOff val="50000"/>
                                </a:schemeClr>
                              </a:solidFill>
                              <a:latin typeface="Cambria Math" panose="02040503050406030204" pitchFamily="18" charset="0"/>
                            </a:rPr>
                            <m:t>0</m:t>
                          </m:r>
                        </m:sub>
                      </m:sSub>
                      <m:r>
                        <a:rPr lang="fr-FR" sz="1400" i="1">
                          <a:solidFill>
                            <a:schemeClr val="tx1">
                              <a:lumMod val="50000"/>
                              <a:lumOff val="50000"/>
                            </a:schemeClr>
                          </a:solidFill>
                          <a:latin typeface="Cambria Math" panose="02040503050406030204" pitchFamily="18" charset="0"/>
                        </a:rPr>
                        <m:t>−</m:t>
                      </m:r>
                      <m:r>
                        <a:rPr lang="fr-FR" sz="1400" i="1">
                          <a:solidFill>
                            <a:schemeClr val="tx1">
                              <a:lumMod val="50000"/>
                              <a:lumOff val="50000"/>
                            </a:schemeClr>
                          </a:solidFill>
                          <a:latin typeface="Cambria Math" panose="02040503050406030204" pitchFamily="18" charset="0"/>
                        </a:rPr>
                        <m:t>𝛼</m:t>
                      </m:r>
                      <m:r>
                        <m:rPr>
                          <m:sty m:val="p"/>
                        </m:rPr>
                        <a:rPr lang="fr-FR" sz="1400">
                          <a:solidFill>
                            <a:schemeClr val="tx1">
                              <a:lumMod val="50000"/>
                              <a:lumOff val="50000"/>
                            </a:schemeClr>
                          </a:solidFill>
                          <a:latin typeface="Cambria Math" panose="02040503050406030204" pitchFamily="18" charset="0"/>
                        </a:rPr>
                        <m:t>∇L</m:t>
                      </m:r>
                      <m:r>
                        <a:rPr lang="fr-FR" sz="1400" b="0" i="1" smtClean="0">
                          <a:solidFill>
                            <a:schemeClr val="tx1">
                              <a:lumMod val="50000"/>
                              <a:lumOff val="50000"/>
                            </a:schemeClr>
                          </a:solidFill>
                          <a:latin typeface="Cambria Math" panose="02040503050406030204" pitchFamily="18" charset="0"/>
                        </a:rPr>
                        <m:t>)</m:t>
                      </m:r>
                      <m:r>
                        <a:rPr lang="fr-FR" sz="1400" b="0" i="0" smtClean="0">
                          <a:solidFill>
                            <a:schemeClr val="tx1">
                              <a:lumMod val="50000"/>
                              <a:lumOff val="50000"/>
                            </a:schemeClr>
                          </a:solidFill>
                          <a:latin typeface="Cambria Math" panose="02040503050406030204" pitchFamily="18" charset="0"/>
                        </a:rPr>
                        <m:t>−</m:t>
                      </m:r>
                      <m:r>
                        <a:rPr lang="fr-FR" sz="1400" b="0" i="1" smtClean="0">
                          <a:solidFill>
                            <a:schemeClr val="tx1">
                              <a:lumMod val="50000"/>
                              <a:lumOff val="50000"/>
                            </a:schemeClr>
                          </a:solidFill>
                          <a:latin typeface="Cambria Math" panose="02040503050406030204" pitchFamily="18" charset="0"/>
                        </a:rPr>
                        <m:t>𝛼</m:t>
                      </m:r>
                      <m:r>
                        <m:rPr>
                          <m:sty m:val="p"/>
                        </m:rPr>
                        <a:rPr lang="fr-FR" sz="1400" b="0" i="0" smtClean="0">
                          <a:solidFill>
                            <a:schemeClr val="tx1">
                              <a:lumMod val="50000"/>
                              <a:lumOff val="50000"/>
                            </a:schemeClr>
                          </a:solidFill>
                          <a:latin typeface="Cambria Math" panose="02040503050406030204" pitchFamily="18" charset="0"/>
                        </a:rPr>
                        <m:t>∇</m:t>
                      </m:r>
                      <m:r>
                        <a:rPr lang="fr-FR" sz="1400" b="0" i="1" smtClean="0">
                          <a:solidFill>
                            <a:schemeClr val="tx1">
                              <a:lumMod val="50000"/>
                              <a:lumOff val="50000"/>
                            </a:schemeClr>
                          </a:solidFill>
                          <a:latin typeface="Cambria Math" panose="02040503050406030204" pitchFamily="18" charset="0"/>
                        </a:rPr>
                        <m:t>𝐿</m:t>
                      </m:r>
                    </m:oMath>
                  </m:oMathPara>
                </a14:m>
                <a:endParaRPr lang="fr-FR" sz="1400" b="0" dirty="0">
                  <a:solidFill>
                    <a:schemeClr val="tx1">
                      <a:lumMod val="50000"/>
                      <a:lumOff val="50000"/>
                    </a:schemeClr>
                  </a:solidFill>
                </a:endParaRPr>
              </a:p>
              <a:p>
                <a:r>
                  <a:rPr lang="en-GB" sz="1400" dirty="0">
                    <a:solidFill>
                      <a:schemeClr val="tx1">
                        <a:lumMod val="50000"/>
                        <a:lumOff val="50000"/>
                      </a:schemeClr>
                    </a:solidFill>
                  </a:rPr>
                  <a:t>…</a:t>
                </a:r>
              </a:p>
            </p:txBody>
          </p:sp>
        </mc:Choice>
        <mc:Fallback xmlns="">
          <p:sp>
            <p:nvSpPr>
              <p:cNvPr id="5" name="ZoneTexte 4">
                <a:extLst>
                  <a:ext uri="{FF2B5EF4-FFF2-40B4-BE49-F238E27FC236}">
                    <a16:creationId xmlns:a16="http://schemas.microsoft.com/office/drawing/2014/main" id="{26466344-FE20-CC33-29B5-1FCE7F5B083C}"/>
                  </a:ext>
                </a:extLst>
              </p:cNvPr>
              <p:cNvSpPr txBox="1">
                <a:spLocks noRot="1" noChangeAspect="1" noMove="1" noResize="1" noEditPoints="1" noAdjustHandles="1" noChangeArrowheads="1" noChangeShapeType="1" noTextEdit="1"/>
              </p:cNvSpPr>
              <p:nvPr/>
            </p:nvSpPr>
            <p:spPr>
              <a:xfrm>
                <a:off x="1174296" y="4465083"/>
                <a:ext cx="3607566" cy="861774"/>
              </a:xfrm>
              <a:prstGeom prst="rect">
                <a:avLst/>
              </a:prstGeom>
              <a:blipFill>
                <a:blip r:embed="rId4"/>
                <a:stretch>
                  <a:fillRect l="-3158" b="-11594"/>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ZoneTexte 5">
                <a:extLst>
                  <a:ext uri="{FF2B5EF4-FFF2-40B4-BE49-F238E27FC236}">
                    <a16:creationId xmlns:a16="http://schemas.microsoft.com/office/drawing/2014/main" id="{5120C4F1-24F8-555B-A000-7326CD509535}"/>
                  </a:ext>
                </a:extLst>
              </p:cNvPr>
              <p:cNvSpPr txBox="1"/>
              <p:nvPr/>
            </p:nvSpPr>
            <p:spPr>
              <a:xfrm>
                <a:off x="6833672" y="4465083"/>
                <a:ext cx="2864304" cy="861774"/>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sSub>
                        <m:sSubPr>
                          <m:ctrlPr>
                            <a:rPr lang="fr-FR" sz="1400" b="0" i="1" smtClean="0">
                              <a:solidFill>
                                <a:schemeClr val="tx1">
                                  <a:lumMod val="50000"/>
                                  <a:lumOff val="50000"/>
                                </a:schemeClr>
                              </a:solidFill>
                              <a:latin typeface="Cambria Math" panose="02040503050406030204" pitchFamily="18" charset="0"/>
                            </a:rPr>
                          </m:ctrlPr>
                        </m:sSubPr>
                        <m:e>
                          <m:r>
                            <a:rPr lang="fr-FR" sz="1400" b="0" i="1" smtClean="0">
                              <a:solidFill>
                                <a:schemeClr val="tx1">
                                  <a:lumMod val="50000"/>
                                  <a:lumOff val="50000"/>
                                </a:schemeClr>
                              </a:solidFill>
                              <a:latin typeface="Cambria Math" panose="02040503050406030204" pitchFamily="18" charset="0"/>
                            </a:rPr>
                            <m:t>𝑚</m:t>
                          </m:r>
                        </m:e>
                        <m:sub>
                          <m:r>
                            <a:rPr lang="fr-FR" sz="1400" b="0" i="1" smtClean="0">
                              <a:solidFill>
                                <a:schemeClr val="tx1">
                                  <a:lumMod val="50000"/>
                                  <a:lumOff val="50000"/>
                                </a:schemeClr>
                              </a:solidFill>
                              <a:latin typeface="Cambria Math" panose="02040503050406030204" pitchFamily="18" charset="0"/>
                            </a:rPr>
                            <m:t>0</m:t>
                          </m:r>
                        </m:sub>
                      </m:sSub>
                      <m:r>
                        <a:rPr lang="fr-FR" sz="1400" b="0" i="1" smtClean="0">
                          <a:solidFill>
                            <a:schemeClr val="tx1">
                              <a:lumMod val="50000"/>
                              <a:lumOff val="50000"/>
                            </a:schemeClr>
                          </a:solidFill>
                          <a:latin typeface="Cambria Math" panose="02040503050406030204" pitchFamily="18" charset="0"/>
                        </a:rPr>
                        <m:t>=0</m:t>
                      </m:r>
                    </m:oMath>
                  </m:oMathPara>
                </a14:m>
                <a:endParaRPr lang="fr-FR" sz="1400" b="0" i="1" dirty="0">
                  <a:solidFill>
                    <a:schemeClr val="tx1">
                      <a:lumMod val="50000"/>
                      <a:lumOff val="50000"/>
                    </a:schemeClr>
                  </a:solidFill>
                  <a:latin typeface="Cambria Math" panose="02040503050406030204" pitchFamily="18" charset="0"/>
                </a:endParaRPr>
              </a:p>
              <a:p>
                <a:pPr/>
                <a14:m>
                  <m:oMathPara xmlns:m="http://schemas.openxmlformats.org/officeDocument/2006/math">
                    <m:oMathParaPr>
                      <m:jc m:val="left"/>
                    </m:oMathParaPr>
                    <m:oMath xmlns:m="http://schemas.openxmlformats.org/officeDocument/2006/math">
                      <m:sSub>
                        <m:sSubPr>
                          <m:ctrlPr>
                            <a:rPr lang="fr-FR" sz="1400" b="0" i="1" smtClean="0">
                              <a:solidFill>
                                <a:schemeClr val="tx1">
                                  <a:lumMod val="50000"/>
                                  <a:lumOff val="50000"/>
                                </a:schemeClr>
                              </a:solidFill>
                              <a:latin typeface="Cambria Math" panose="02040503050406030204" pitchFamily="18" charset="0"/>
                            </a:rPr>
                          </m:ctrlPr>
                        </m:sSubPr>
                        <m:e>
                          <m:r>
                            <a:rPr lang="fr-FR" sz="1400" b="0" i="1" smtClean="0">
                              <a:solidFill>
                                <a:schemeClr val="tx1">
                                  <a:lumMod val="50000"/>
                                  <a:lumOff val="50000"/>
                                </a:schemeClr>
                              </a:solidFill>
                              <a:latin typeface="Cambria Math" panose="02040503050406030204" pitchFamily="18" charset="0"/>
                            </a:rPr>
                            <m:t>𝑚</m:t>
                          </m:r>
                        </m:e>
                        <m:sub>
                          <m:r>
                            <a:rPr lang="fr-FR" sz="1400" b="0" i="1" smtClean="0">
                              <a:solidFill>
                                <a:schemeClr val="tx1">
                                  <a:lumMod val="50000"/>
                                  <a:lumOff val="50000"/>
                                </a:schemeClr>
                              </a:solidFill>
                              <a:latin typeface="Cambria Math" panose="02040503050406030204" pitchFamily="18" charset="0"/>
                            </a:rPr>
                            <m:t>1</m:t>
                          </m:r>
                        </m:sub>
                      </m:sSub>
                      <m:r>
                        <a:rPr lang="fr-FR" sz="1400" b="0" i="1" smtClean="0">
                          <a:solidFill>
                            <a:schemeClr val="tx1">
                              <a:lumMod val="50000"/>
                              <a:lumOff val="50000"/>
                            </a:schemeClr>
                          </a:solidFill>
                          <a:latin typeface="Cambria Math" panose="02040503050406030204" pitchFamily="18" charset="0"/>
                        </a:rPr>
                        <m:t>=0−</m:t>
                      </m:r>
                      <m:r>
                        <a:rPr lang="fr-FR" sz="1400" b="0" i="1" smtClean="0">
                          <a:solidFill>
                            <a:schemeClr val="tx1">
                              <a:lumMod val="50000"/>
                              <a:lumOff val="50000"/>
                            </a:schemeClr>
                          </a:solidFill>
                          <a:latin typeface="Cambria Math" panose="02040503050406030204" pitchFamily="18" charset="0"/>
                        </a:rPr>
                        <m:t>𝛼</m:t>
                      </m:r>
                      <m:r>
                        <m:rPr>
                          <m:sty m:val="p"/>
                        </m:rPr>
                        <a:rPr lang="fr-FR" sz="1400" b="0" i="0" smtClean="0">
                          <a:solidFill>
                            <a:schemeClr val="tx1">
                              <a:lumMod val="50000"/>
                              <a:lumOff val="50000"/>
                            </a:schemeClr>
                          </a:solidFill>
                          <a:latin typeface="Cambria Math" panose="02040503050406030204" pitchFamily="18" charset="0"/>
                        </a:rPr>
                        <m:t>∇L</m:t>
                      </m:r>
                      <m:r>
                        <a:rPr lang="fr-FR" sz="1400" b="0" i="0" smtClean="0">
                          <a:solidFill>
                            <a:schemeClr val="tx1">
                              <a:lumMod val="50000"/>
                              <a:lumOff val="50000"/>
                            </a:schemeClr>
                          </a:solidFill>
                          <a:latin typeface="Cambria Math" panose="02040503050406030204" pitchFamily="18" charset="0"/>
                        </a:rPr>
                        <m:t>=−</m:t>
                      </m:r>
                      <m:r>
                        <a:rPr lang="fr-FR" sz="1400" b="0" i="1" smtClean="0">
                          <a:solidFill>
                            <a:schemeClr val="tx1">
                              <a:lumMod val="50000"/>
                              <a:lumOff val="50000"/>
                            </a:schemeClr>
                          </a:solidFill>
                          <a:latin typeface="Cambria Math" panose="02040503050406030204" pitchFamily="18" charset="0"/>
                        </a:rPr>
                        <m:t>𝛼</m:t>
                      </m:r>
                      <m:r>
                        <m:rPr>
                          <m:sty m:val="p"/>
                        </m:rPr>
                        <a:rPr lang="fr-FR" sz="1400" b="0" i="0" smtClean="0">
                          <a:solidFill>
                            <a:schemeClr val="tx1">
                              <a:lumMod val="50000"/>
                              <a:lumOff val="50000"/>
                            </a:schemeClr>
                          </a:solidFill>
                          <a:latin typeface="Cambria Math" panose="02040503050406030204" pitchFamily="18" charset="0"/>
                        </a:rPr>
                        <m:t>∇</m:t>
                      </m:r>
                      <m:r>
                        <a:rPr lang="fr-FR" sz="1400" b="0" i="1" smtClean="0">
                          <a:solidFill>
                            <a:schemeClr val="tx1">
                              <a:lumMod val="50000"/>
                              <a:lumOff val="50000"/>
                            </a:schemeClr>
                          </a:solidFill>
                          <a:latin typeface="Cambria Math" panose="02040503050406030204" pitchFamily="18" charset="0"/>
                        </a:rPr>
                        <m:t>𝐿</m:t>
                      </m:r>
                    </m:oMath>
                  </m:oMathPara>
                </a14:m>
                <a:endParaRPr lang="fr-FR" sz="1400" b="0" dirty="0">
                  <a:solidFill>
                    <a:schemeClr val="tx1">
                      <a:lumMod val="50000"/>
                      <a:lumOff val="50000"/>
                    </a:schemeClr>
                  </a:solidFill>
                </a:endParaRPr>
              </a:p>
              <a:p>
                <a:pPr/>
                <a14:m>
                  <m:oMathPara xmlns:m="http://schemas.openxmlformats.org/officeDocument/2006/math">
                    <m:oMathParaPr>
                      <m:jc m:val="left"/>
                    </m:oMathParaPr>
                    <m:oMath xmlns:m="http://schemas.openxmlformats.org/officeDocument/2006/math">
                      <m:sSub>
                        <m:sSubPr>
                          <m:ctrlPr>
                            <a:rPr lang="fr-FR" sz="1400" b="0" i="1" smtClean="0">
                              <a:solidFill>
                                <a:schemeClr val="tx1">
                                  <a:lumMod val="50000"/>
                                  <a:lumOff val="50000"/>
                                </a:schemeClr>
                              </a:solidFill>
                              <a:latin typeface="Cambria Math" panose="02040503050406030204" pitchFamily="18" charset="0"/>
                            </a:rPr>
                          </m:ctrlPr>
                        </m:sSubPr>
                        <m:e>
                          <m:r>
                            <a:rPr lang="fr-FR" sz="1400" b="0" i="1" smtClean="0">
                              <a:solidFill>
                                <a:schemeClr val="tx1">
                                  <a:lumMod val="50000"/>
                                  <a:lumOff val="50000"/>
                                </a:schemeClr>
                              </a:solidFill>
                              <a:latin typeface="Cambria Math" panose="02040503050406030204" pitchFamily="18" charset="0"/>
                            </a:rPr>
                            <m:t>𝑚</m:t>
                          </m:r>
                        </m:e>
                        <m:sub>
                          <m:r>
                            <a:rPr lang="fr-FR" sz="1400" b="0" i="1" smtClean="0">
                              <a:solidFill>
                                <a:schemeClr val="tx1">
                                  <a:lumMod val="50000"/>
                                  <a:lumOff val="50000"/>
                                </a:schemeClr>
                              </a:solidFill>
                              <a:latin typeface="Cambria Math" panose="02040503050406030204" pitchFamily="18" charset="0"/>
                            </a:rPr>
                            <m:t>2</m:t>
                          </m:r>
                        </m:sub>
                      </m:sSub>
                      <m:r>
                        <a:rPr lang="fr-FR" sz="1400" b="0" i="1" smtClean="0">
                          <a:solidFill>
                            <a:schemeClr val="tx1">
                              <a:lumMod val="50000"/>
                              <a:lumOff val="50000"/>
                            </a:schemeClr>
                          </a:solidFill>
                          <a:latin typeface="Cambria Math" panose="02040503050406030204" pitchFamily="18" charset="0"/>
                        </a:rPr>
                        <m:t>=</m:t>
                      </m:r>
                      <m:r>
                        <a:rPr lang="fr-FR" sz="1400" b="0" i="1" smtClean="0">
                          <a:solidFill>
                            <a:schemeClr val="tx1">
                              <a:lumMod val="50000"/>
                              <a:lumOff val="50000"/>
                            </a:schemeClr>
                          </a:solidFill>
                          <a:latin typeface="Cambria Math" panose="02040503050406030204" pitchFamily="18" charset="0"/>
                        </a:rPr>
                        <m:t>𝛽</m:t>
                      </m:r>
                      <m:r>
                        <a:rPr lang="fr-FR" sz="1400" b="0" i="1" smtClean="0">
                          <a:solidFill>
                            <a:schemeClr val="tx1">
                              <a:lumMod val="50000"/>
                              <a:lumOff val="50000"/>
                            </a:schemeClr>
                          </a:solidFill>
                          <a:latin typeface="Cambria Math" panose="02040503050406030204" pitchFamily="18" charset="0"/>
                        </a:rPr>
                        <m:t>×(−</m:t>
                      </m:r>
                      <m:r>
                        <a:rPr lang="fr-FR" sz="1400" b="0" i="1" smtClean="0">
                          <a:solidFill>
                            <a:schemeClr val="tx1">
                              <a:lumMod val="50000"/>
                              <a:lumOff val="50000"/>
                            </a:schemeClr>
                          </a:solidFill>
                          <a:latin typeface="Cambria Math" panose="02040503050406030204" pitchFamily="18" charset="0"/>
                        </a:rPr>
                        <m:t>𝛼</m:t>
                      </m:r>
                      <m:r>
                        <m:rPr>
                          <m:sty m:val="p"/>
                        </m:rPr>
                        <a:rPr lang="fr-FR" sz="1400" b="0" i="0" smtClean="0">
                          <a:solidFill>
                            <a:schemeClr val="tx1">
                              <a:lumMod val="50000"/>
                              <a:lumOff val="50000"/>
                            </a:schemeClr>
                          </a:solidFill>
                          <a:latin typeface="Cambria Math" panose="02040503050406030204" pitchFamily="18" charset="0"/>
                        </a:rPr>
                        <m:t>∇L</m:t>
                      </m:r>
                      <m:r>
                        <a:rPr lang="fr-FR" sz="1400" b="0" i="0" smtClean="0">
                          <a:solidFill>
                            <a:schemeClr val="tx1">
                              <a:lumMod val="50000"/>
                              <a:lumOff val="50000"/>
                            </a:schemeClr>
                          </a:solidFill>
                          <a:latin typeface="Cambria Math" panose="02040503050406030204" pitchFamily="18" charset="0"/>
                        </a:rPr>
                        <m:t>)−</m:t>
                      </m:r>
                      <m:r>
                        <a:rPr lang="fr-FR" sz="1400" b="0" i="1" smtClean="0">
                          <a:solidFill>
                            <a:schemeClr val="tx1">
                              <a:lumMod val="50000"/>
                              <a:lumOff val="50000"/>
                            </a:schemeClr>
                          </a:solidFill>
                          <a:latin typeface="Cambria Math" panose="02040503050406030204" pitchFamily="18" charset="0"/>
                        </a:rPr>
                        <m:t>𝛼</m:t>
                      </m:r>
                      <m:r>
                        <m:rPr>
                          <m:sty m:val="p"/>
                        </m:rPr>
                        <a:rPr lang="fr-FR" sz="1400" b="0" i="0" smtClean="0">
                          <a:solidFill>
                            <a:schemeClr val="tx1">
                              <a:lumMod val="50000"/>
                              <a:lumOff val="50000"/>
                            </a:schemeClr>
                          </a:solidFill>
                          <a:latin typeface="Cambria Math" panose="02040503050406030204" pitchFamily="18" charset="0"/>
                        </a:rPr>
                        <m:t>∇</m:t>
                      </m:r>
                      <m:r>
                        <a:rPr lang="fr-FR" sz="1400" b="0" i="1" smtClean="0">
                          <a:solidFill>
                            <a:schemeClr val="tx1">
                              <a:lumMod val="50000"/>
                              <a:lumOff val="50000"/>
                            </a:schemeClr>
                          </a:solidFill>
                          <a:latin typeface="Cambria Math" panose="02040503050406030204" pitchFamily="18" charset="0"/>
                        </a:rPr>
                        <m:t>𝐿</m:t>
                      </m:r>
                    </m:oMath>
                  </m:oMathPara>
                </a14:m>
                <a:endParaRPr lang="fr-FR" sz="1400" b="0" dirty="0">
                  <a:solidFill>
                    <a:schemeClr val="tx1">
                      <a:lumMod val="50000"/>
                      <a:lumOff val="50000"/>
                    </a:schemeClr>
                  </a:solidFill>
                </a:endParaRPr>
              </a:p>
              <a:p>
                <a:r>
                  <a:rPr lang="en-GB" sz="1400" dirty="0">
                    <a:solidFill>
                      <a:schemeClr val="tx1">
                        <a:lumMod val="50000"/>
                        <a:lumOff val="50000"/>
                      </a:schemeClr>
                    </a:solidFill>
                  </a:rPr>
                  <a:t>…</a:t>
                </a:r>
              </a:p>
            </p:txBody>
          </p:sp>
        </mc:Choice>
        <mc:Fallback xmlns="">
          <p:sp>
            <p:nvSpPr>
              <p:cNvPr id="6" name="ZoneTexte 5">
                <a:extLst>
                  <a:ext uri="{FF2B5EF4-FFF2-40B4-BE49-F238E27FC236}">
                    <a16:creationId xmlns:a16="http://schemas.microsoft.com/office/drawing/2014/main" id="{5120C4F1-24F8-555B-A000-7326CD509535}"/>
                  </a:ext>
                </a:extLst>
              </p:cNvPr>
              <p:cNvSpPr txBox="1">
                <a:spLocks noRot="1" noChangeAspect="1" noMove="1" noResize="1" noEditPoints="1" noAdjustHandles="1" noChangeArrowheads="1" noChangeShapeType="1" noTextEdit="1"/>
              </p:cNvSpPr>
              <p:nvPr/>
            </p:nvSpPr>
            <p:spPr>
              <a:xfrm>
                <a:off x="6833672" y="4465083"/>
                <a:ext cx="2864304" cy="861774"/>
              </a:xfrm>
              <a:prstGeom prst="rect">
                <a:avLst/>
              </a:prstGeom>
              <a:blipFill>
                <a:blip r:embed="rId5"/>
                <a:stretch>
                  <a:fillRect l="-3982" b="-11594"/>
                </a:stretch>
              </a:blipFill>
            </p:spPr>
            <p:txBody>
              <a:bodyPr/>
              <a:lstStyle/>
              <a:p>
                <a:r>
                  <a:rPr lang="en-GB">
                    <a:noFill/>
                  </a:rPr>
                  <a:t> </a:t>
                </a:r>
              </a:p>
            </p:txBody>
          </p:sp>
        </mc:Fallback>
      </mc:AlternateContent>
    </p:spTree>
    <p:extLst>
      <p:ext uri="{BB962C8B-B14F-4D97-AF65-F5344CB8AC3E}">
        <p14:creationId xmlns:p14="http://schemas.microsoft.com/office/powerpoint/2010/main" val="4907623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8BFDD3-BAE3-3A04-6D31-4DB5C160887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0C8291F-F641-A80F-43D5-EFE1E6B46F5D}"/>
              </a:ext>
            </a:extLst>
          </p:cNvPr>
          <p:cNvSpPr>
            <a:spLocks noGrp="1"/>
          </p:cNvSpPr>
          <p:nvPr>
            <p:ph type="title"/>
          </p:nvPr>
        </p:nvSpPr>
        <p:spPr/>
        <p:txBody>
          <a:bodyPr/>
          <a:lstStyle/>
          <a:p>
            <a:r>
              <a:rPr lang="en-GB" dirty="0"/>
              <a:t>Adding some </a:t>
            </a:r>
            <a:r>
              <a:rPr lang="en-GB" b="1" dirty="0"/>
              <a:t>Momentum</a:t>
            </a:r>
          </a:p>
        </p:txBody>
      </p:sp>
      <p:sp>
        <p:nvSpPr>
          <p:cNvPr id="3" name="Espace réservé du contenu 2">
            <a:extLst>
              <a:ext uri="{FF2B5EF4-FFF2-40B4-BE49-F238E27FC236}">
                <a16:creationId xmlns:a16="http://schemas.microsoft.com/office/drawing/2014/main" id="{A37B32CE-C5A5-854A-EDDE-5997B60C2775}"/>
              </a:ext>
            </a:extLst>
          </p:cNvPr>
          <p:cNvSpPr>
            <a:spLocks noGrp="1"/>
          </p:cNvSpPr>
          <p:nvPr>
            <p:ph idx="1"/>
          </p:nvPr>
        </p:nvSpPr>
        <p:spPr>
          <a:xfrm>
            <a:off x="838200" y="1371600"/>
            <a:ext cx="10515600" cy="4805363"/>
          </a:xfrm>
        </p:spPr>
        <p:txBody>
          <a:bodyPr>
            <a:normAutofit/>
          </a:bodyPr>
          <a:lstStyle/>
          <a:p>
            <a:pPr marL="0" indent="0">
              <a:lnSpc>
                <a:spcPct val="150000"/>
              </a:lnSpc>
              <a:buNone/>
            </a:pPr>
            <a:r>
              <a:rPr lang="en-GB" sz="1600" noProof="0" dirty="0"/>
              <a:t>Comparisons Plain Gradient Descent vs Momentum</a:t>
            </a:r>
            <a:endParaRPr lang="en-GB" sz="2000" noProof="0" dirty="0"/>
          </a:p>
        </p:txBody>
      </p:sp>
      <p:sp>
        <p:nvSpPr>
          <p:cNvPr id="4" name="Espace réservé du pied de page 3">
            <a:extLst>
              <a:ext uri="{FF2B5EF4-FFF2-40B4-BE49-F238E27FC236}">
                <a16:creationId xmlns:a16="http://schemas.microsoft.com/office/drawing/2014/main" id="{F5BBBA22-1E3A-F2AB-2D1E-6E883C158128}"/>
              </a:ext>
            </a:extLst>
          </p:cNvPr>
          <p:cNvSpPr>
            <a:spLocks noGrp="1"/>
          </p:cNvSpPr>
          <p:nvPr>
            <p:ph type="ftr" sz="quarter" idx="11"/>
          </p:nvPr>
        </p:nvSpPr>
        <p:spPr/>
        <p:txBody>
          <a:bodyPr/>
          <a:lstStyle/>
          <a:p>
            <a:r>
              <a:rPr lang="fr-FR"/>
              <a:t>Introduction to Neural Networks. Author: David Thébault</a:t>
            </a:r>
          </a:p>
        </p:txBody>
      </p:sp>
      <p:pic>
        <p:nvPicPr>
          <p:cNvPr id="23" name="Image 22">
            <a:extLst>
              <a:ext uri="{FF2B5EF4-FFF2-40B4-BE49-F238E27FC236}">
                <a16:creationId xmlns:a16="http://schemas.microsoft.com/office/drawing/2014/main" id="{E7B2C857-498B-A20E-D73C-48C91086AAE2}"/>
              </a:ext>
            </a:extLst>
          </p:cNvPr>
          <p:cNvPicPr>
            <a:picLocks noChangeAspect="1"/>
          </p:cNvPicPr>
          <p:nvPr/>
        </p:nvPicPr>
        <p:blipFill>
          <a:blip r:embed="rId3"/>
          <a:stretch>
            <a:fillRect/>
          </a:stretch>
        </p:blipFill>
        <p:spPr>
          <a:xfrm>
            <a:off x="800100" y="1865314"/>
            <a:ext cx="5600700" cy="1914524"/>
          </a:xfrm>
          <a:prstGeom prst="rect">
            <a:avLst/>
          </a:prstGeom>
        </p:spPr>
      </p:pic>
      <p:pic>
        <p:nvPicPr>
          <p:cNvPr id="42" name="Image 41">
            <a:extLst>
              <a:ext uri="{FF2B5EF4-FFF2-40B4-BE49-F238E27FC236}">
                <a16:creationId xmlns:a16="http://schemas.microsoft.com/office/drawing/2014/main" id="{DFBAE79C-B065-C246-473F-BE4853D01FAE}"/>
              </a:ext>
            </a:extLst>
          </p:cNvPr>
          <p:cNvPicPr>
            <a:picLocks noChangeAspect="1"/>
          </p:cNvPicPr>
          <p:nvPr/>
        </p:nvPicPr>
        <p:blipFill>
          <a:blip r:embed="rId4"/>
          <a:stretch>
            <a:fillRect/>
          </a:stretch>
        </p:blipFill>
        <p:spPr>
          <a:xfrm>
            <a:off x="806450" y="4029076"/>
            <a:ext cx="5594350" cy="1912354"/>
          </a:xfrm>
          <a:prstGeom prst="rect">
            <a:avLst/>
          </a:prstGeom>
        </p:spPr>
      </p:pic>
      <p:sp>
        <p:nvSpPr>
          <p:cNvPr id="43" name="ZoneTexte 42">
            <a:extLst>
              <a:ext uri="{FF2B5EF4-FFF2-40B4-BE49-F238E27FC236}">
                <a16:creationId xmlns:a16="http://schemas.microsoft.com/office/drawing/2014/main" id="{8A6A5051-CC7B-3C61-4EF2-7A87E0820A06}"/>
              </a:ext>
            </a:extLst>
          </p:cNvPr>
          <p:cNvSpPr txBox="1"/>
          <p:nvPr/>
        </p:nvSpPr>
        <p:spPr>
          <a:xfrm>
            <a:off x="736600" y="1765856"/>
            <a:ext cx="2546931" cy="369332"/>
          </a:xfrm>
          <a:prstGeom prst="rect">
            <a:avLst/>
          </a:prstGeom>
          <a:noFill/>
        </p:spPr>
        <p:txBody>
          <a:bodyPr wrap="square" rtlCol="0">
            <a:spAutoFit/>
          </a:bodyPr>
          <a:lstStyle/>
          <a:p>
            <a:r>
              <a:rPr lang="en-GB" dirty="0"/>
              <a:t>Plain Gradient Descent</a:t>
            </a:r>
          </a:p>
        </p:txBody>
      </p:sp>
      <p:sp>
        <p:nvSpPr>
          <p:cNvPr id="44" name="ZoneTexte 43">
            <a:extLst>
              <a:ext uri="{FF2B5EF4-FFF2-40B4-BE49-F238E27FC236}">
                <a16:creationId xmlns:a16="http://schemas.microsoft.com/office/drawing/2014/main" id="{6E3AC262-646E-C0B1-92D4-7870A032AB06}"/>
              </a:ext>
            </a:extLst>
          </p:cNvPr>
          <p:cNvSpPr txBox="1"/>
          <p:nvPr/>
        </p:nvSpPr>
        <p:spPr>
          <a:xfrm>
            <a:off x="736600" y="3858182"/>
            <a:ext cx="2546931" cy="369332"/>
          </a:xfrm>
          <a:prstGeom prst="rect">
            <a:avLst/>
          </a:prstGeom>
          <a:noFill/>
        </p:spPr>
        <p:txBody>
          <a:bodyPr wrap="square" rtlCol="0">
            <a:spAutoFit/>
          </a:bodyPr>
          <a:lstStyle/>
          <a:p>
            <a:r>
              <a:rPr lang="en-GB" dirty="0"/>
              <a:t>Momentum</a:t>
            </a:r>
          </a:p>
        </p:txBody>
      </p:sp>
      <p:sp>
        <p:nvSpPr>
          <p:cNvPr id="45" name="ZoneTexte 44">
            <a:extLst>
              <a:ext uri="{FF2B5EF4-FFF2-40B4-BE49-F238E27FC236}">
                <a16:creationId xmlns:a16="http://schemas.microsoft.com/office/drawing/2014/main" id="{C0ABE4A3-51D2-9BFB-320F-AA0BD55DADA4}"/>
              </a:ext>
            </a:extLst>
          </p:cNvPr>
          <p:cNvSpPr txBox="1"/>
          <p:nvPr/>
        </p:nvSpPr>
        <p:spPr>
          <a:xfrm>
            <a:off x="6673850" y="1982788"/>
            <a:ext cx="4781550" cy="4156809"/>
          </a:xfrm>
          <a:prstGeom prst="rect">
            <a:avLst/>
          </a:prstGeom>
          <a:noFill/>
        </p:spPr>
        <p:txBody>
          <a:bodyPr wrap="square" lIns="90000" rtlCol="0">
            <a:noAutofit/>
          </a:bodyPr>
          <a:lstStyle/>
          <a:p>
            <a:r>
              <a:rPr lang="en-GB" sz="1600" dirty="0"/>
              <a:t>In 4 steps, the Momentum is </a:t>
            </a:r>
            <a:r>
              <a:rPr lang="en-GB" sz="1600" b="1" dirty="0"/>
              <a:t>faster</a:t>
            </a:r>
            <a:r>
              <a:rPr lang="en-GB" sz="1600" dirty="0"/>
              <a:t> than Plain Gradient descent.</a:t>
            </a:r>
          </a:p>
        </p:txBody>
      </p:sp>
    </p:spTree>
    <p:extLst>
      <p:ext uri="{BB962C8B-B14F-4D97-AF65-F5344CB8AC3E}">
        <p14:creationId xmlns:p14="http://schemas.microsoft.com/office/powerpoint/2010/main" val="35683921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4E0F496-BAA3-9842-0361-9042C50CB1B8}"/>
              </a:ext>
            </a:extLst>
          </p:cNvPr>
          <p:cNvSpPr>
            <a:spLocks noGrp="1"/>
          </p:cNvSpPr>
          <p:nvPr>
            <p:ph type="title"/>
          </p:nvPr>
        </p:nvSpPr>
        <p:spPr/>
        <p:txBody>
          <a:bodyPr/>
          <a:lstStyle/>
          <a:p>
            <a:r>
              <a:rPr lang="en-GB" dirty="0"/>
              <a:t>Adding some </a:t>
            </a:r>
            <a:r>
              <a:rPr lang="en-GB" b="1" dirty="0"/>
              <a:t>Momentum</a:t>
            </a:r>
            <a:endParaRPr lang="en-GB" dirty="0"/>
          </a:p>
        </p:txBody>
      </p:sp>
      <p:sp>
        <p:nvSpPr>
          <p:cNvPr id="3" name="Espace réservé du contenu 2">
            <a:extLst>
              <a:ext uri="{FF2B5EF4-FFF2-40B4-BE49-F238E27FC236}">
                <a16:creationId xmlns:a16="http://schemas.microsoft.com/office/drawing/2014/main" id="{DD905DE5-1CB5-C2FF-80F5-5F3619BD180C}"/>
              </a:ext>
            </a:extLst>
          </p:cNvPr>
          <p:cNvSpPr>
            <a:spLocks noGrp="1"/>
          </p:cNvSpPr>
          <p:nvPr>
            <p:ph idx="1"/>
          </p:nvPr>
        </p:nvSpPr>
        <p:spPr/>
        <p:txBody>
          <a:bodyPr>
            <a:normAutofit/>
          </a:bodyPr>
          <a:lstStyle/>
          <a:p>
            <a:pPr marL="0" indent="0">
              <a:lnSpc>
                <a:spcPct val="150000"/>
              </a:lnSpc>
              <a:buNone/>
            </a:pPr>
            <a:r>
              <a:rPr lang="en-GB" sz="1600" dirty="0"/>
              <a:t>Momentum can also dampen oscillations by averaging out the gradients in all directions.</a:t>
            </a:r>
          </a:p>
          <a:p>
            <a:pPr marL="0" indent="0">
              <a:lnSpc>
                <a:spcPct val="150000"/>
              </a:lnSpc>
              <a:buNone/>
            </a:pPr>
            <a:r>
              <a:rPr lang="en-GB" sz="1600" dirty="0"/>
              <a:t>With a friction coefficient of 0.9, </a:t>
            </a:r>
            <a:r>
              <a:rPr lang="en-GB" sz="1600" b="1" dirty="0"/>
              <a:t>Momentum</a:t>
            </a:r>
            <a:r>
              <a:rPr lang="en-GB" sz="1600" dirty="0"/>
              <a:t> will average the 10 last gradients reducing the impacts of the individual gradients by smoothing (</a:t>
            </a:r>
            <a:r>
              <a:rPr lang="fr-FR" sz="1600" i="1" dirty="0"/>
              <a:t>lissant</a:t>
            </a:r>
            <a:r>
              <a:rPr lang="en-GB" sz="1600" dirty="0"/>
              <a:t>) them, pushing the gradients along the sides to zero while maintaining an acceleration in the middle This help to stabilize the convergence by reducing the oscillations.</a:t>
            </a:r>
          </a:p>
          <a:p>
            <a:pPr marL="0" indent="0">
              <a:lnSpc>
                <a:spcPct val="150000"/>
              </a:lnSpc>
              <a:buNone/>
            </a:pPr>
            <a:endParaRPr lang="en-GB" sz="1600" dirty="0"/>
          </a:p>
          <a:p>
            <a:pPr marL="0" indent="0">
              <a:lnSpc>
                <a:spcPct val="150000"/>
              </a:lnSpc>
              <a:buNone/>
            </a:pPr>
            <a:r>
              <a:rPr lang="en-GB" sz="1600" dirty="0"/>
              <a:t>Another way to deal with oscillations is to dampen (</a:t>
            </a:r>
            <a:r>
              <a:rPr lang="fr-FR" sz="1600" i="1" dirty="0"/>
              <a:t>atténuer</a:t>
            </a:r>
            <a:r>
              <a:rPr lang="en-GB" sz="1600" dirty="0"/>
              <a:t>) the larger ones for a given weights this leads to another optimizer called </a:t>
            </a:r>
            <a:r>
              <a:rPr lang="en-GB" sz="1600" b="1" dirty="0"/>
              <a:t>Root Mean Square Propagation (RMSProp). </a:t>
            </a:r>
          </a:p>
          <a:p>
            <a:pPr marL="0" indent="0">
              <a:lnSpc>
                <a:spcPct val="150000"/>
              </a:lnSpc>
              <a:buNone/>
            </a:pPr>
            <a:r>
              <a:rPr lang="en-GB" sz="1600" dirty="0"/>
              <a:t>RMSProp  </a:t>
            </a:r>
            <a:r>
              <a:rPr lang="en-GB" sz="1600" b="1" dirty="0"/>
              <a:t>adapts</a:t>
            </a:r>
            <a:r>
              <a:rPr lang="en-GB" sz="1600" dirty="0"/>
              <a:t> the learning rate for each parameter of the model. RMSProp is in the family of the adaptative optimizer. RMSProp</a:t>
            </a:r>
            <a:r>
              <a:rPr lang="en-GB" sz="1600" b="0" i="0" u="none" strike="noStrike" dirty="0">
                <a:effectLst/>
              </a:rPr>
              <a:t> is particularly useful for problems where gradients can vary considerably in magnitude.</a:t>
            </a:r>
            <a:endParaRPr lang="en-GB" sz="1600" dirty="0"/>
          </a:p>
        </p:txBody>
      </p:sp>
      <p:sp>
        <p:nvSpPr>
          <p:cNvPr id="4" name="Espace réservé du pied de page 3">
            <a:extLst>
              <a:ext uri="{FF2B5EF4-FFF2-40B4-BE49-F238E27FC236}">
                <a16:creationId xmlns:a16="http://schemas.microsoft.com/office/drawing/2014/main" id="{9FB422F0-5EC3-DE90-AF10-8834074AB22E}"/>
              </a:ext>
            </a:extLst>
          </p:cNvPr>
          <p:cNvSpPr>
            <a:spLocks noGrp="1"/>
          </p:cNvSpPr>
          <p:nvPr>
            <p:ph type="ftr" sz="quarter" idx="11"/>
          </p:nvPr>
        </p:nvSpPr>
        <p:spPr/>
        <p:txBody>
          <a:bodyPr/>
          <a:lstStyle/>
          <a:p>
            <a:r>
              <a:rPr lang="fr-FR"/>
              <a:t>Introduction to Neural Networks. Author: David Thébault</a:t>
            </a:r>
          </a:p>
        </p:txBody>
      </p:sp>
    </p:spTree>
    <p:extLst>
      <p:ext uri="{BB962C8B-B14F-4D97-AF65-F5344CB8AC3E}">
        <p14:creationId xmlns:p14="http://schemas.microsoft.com/office/powerpoint/2010/main" val="23458845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A8E82-A95A-6D50-CA98-C9555FD7B2B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5FD5233-7AA9-E1C7-F2A3-8704C3094AA8}"/>
              </a:ext>
            </a:extLst>
          </p:cNvPr>
          <p:cNvSpPr>
            <a:spLocks noGrp="1"/>
          </p:cNvSpPr>
          <p:nvPr>
            <p:ph type="title"/>
          </p:nvPr>
        </p:nvSpPr>
        <p:spPr/>
        <p:txBody>
          <a:bodyPr/>
          <a:lstStyle/>
          <a:p>
            <a:r>
              <a:rPr lang="en-GB" dirty="0"/>
              <a:t>Adaptative optimizer </a:t>
            </a:r>
            <a:r>
              <a:rPr lang="en-GB" b="1" dirty="0"/>
              <a:t>RMSProp</a:t>
            </a:r>
          </a:p>
        </p:txBody>
      </p:sp>
      <p:sp>
        <p:nvSpPr>
          <p:cNvPr id="4" name="Espace réservé du pied de page 3">
            <a:extLst>
              <a:ext uri="{FF2B5EF4-FFF2-40B4-BE49-F238E27FC236}">
                <a16:creationId xmlns:a16="http://schemas.microsoft.com/office/drawing/2014/main" id="{015ECEC4-BE8D-5E4F-37B8-028440620511}"/>
              </a:ext>
            </a:extLst>
          </p:cNvPr>
          <p:cNvSpPr>
            <a:spLocks noGrp="1"/>
          </p:cNvSpPr>
          <p:nvPr>
            <p:ph type="ftr" sz="quarter" idx="11"/>
          </p:nvPr>
        </p:nvSpPr>
        <p:spPr/>
        <p:txBody>
          <a:bodyPr/>
          <a:lstStyle/>
          <a:p>
            <a:r>
              <a:rPr lang="fr-FR"/>
              <a:t>Introduction to Neural Networks. Author: David Thébault</a:t>
            </a:r>
          </a:p>
        </p:txBody>
      </p:sp>
      <mc:AlternateContent xmlns:mc="http://schemas.openxmlformats.org/markup-compatibility/2006" xmlns:a14="http://schemas.microsoft.com/office/drawing/2010/main">
        <mc:Choice Requires="a14">
          <p:sp>
            <p:nvSpPr>
              <p:cNvPr id="8" name="Espace réservé du contenu 2">
                <a:extLst>
                  <a:ext uri="{FF2B5EF4-FFF2-40B4-BE49-F238E27FC236}">
                    <a16:creationId xmlns:a16="http://schemas.microsoft.com/office/drawing/2014/main" id="{7AD512D8-E907-D2E7-0EBB-7D7D082DCBA6}"/>
                  </a:ext>
                </a:extLst>
              </p:cNvPr>
              <p:cNvSpPr>
                <a:spLocks noGrp="1"/>
              </p:cNvSpPr>
              <p:nvPr>
                <p:ph idx="1"/>
              </p:nvPr>
            </p:nvSpPr>
            <p:spPr>
              <a:xfrm>
                <a:off x="838200" y="1584324"/>
                <a:ext cx="10853057" cy="4772026"/>
              </a:xfrm>
            </p:spPr>
            <p:txBody>
              <a:bodyPr lIns="90000">
                <a:noAutofit/>
              </a:bodyPr>
              <a:lstStyle/>
              <a:p>
                <a:pPr marL="0" indent="0">
                  <a:buNone/>
                </a:pPr>
                <a:r>
                  <a:rPr lang="en-GB" sz="1600" noProof="0" dirty="0"/>
                  <a:t>RMSProp scales down the gradient for individual weights based on past gradients.</a:t>
                </a:r>
              </a:p>
              <a:p>
                <a:pPr marL="0" indent="0">
                  <a:buNone/>
                </a:pPr>
                <a:r>
                  <a:rPr lang="en-GB" sz="1600" noProof="0" dirty="0"/>
                  <a:t>Below the formula for the scaling factor with </a:t>
                </a:r>
                <a14:m>
                  <m:oMath xmlns:m="http://schemas.openxmlformats.org/officeDocument/2006/math">
                    <m:r>
                      <a:rPr lang="en-GB" sz="1600" b="0" i="1" noProof="0" smtClean="0">
                        <a:latin typeface="Cambria Math" panose="02040503050406030204" pitchFamily="18" charset="0"/>
                      </a:rPr>
                      <m:t>𝑠</m:t>
                    </m:r>
                  </m:oMath>
                </a14:m>
                <a:r>
                  <a:rPr lang="en-GB" sz="1600" noProof="0" dirty="0"/>
                  <a:t> is a vector:</a:t>
                </a:r>
              </a:p>
              <a:p>
                <a:pPr marL="0" indent="0">
                  <a:buNone/>
                </a:pPr>
                <a:endParaRPr lang="en-GB" noProof="0" dirty="0"/>
              </a:p>
              <a:p>
                <a:pPr marL="0" indent="0">
                  <a:buNone/>
                </a:pPr>
                <a14:m>
                  <m:oMathPara xmlns:m="http://schemas.openxmlformats.org/officeDocument/2006/math">
                    <m:oMathParaPr>
                      <m:jc m:val="centerGroup"/>
                    </m:oMathParaPr>
                    <m:oMath xmlns:m="http://schemas.openxmlformats.org/officeDocument/2006/math">
                      <m:r>
                        <a:rPr lang="en-GB" b="0" i="1" noProof="0" smtClean="0">
                          <a:latin typeface="Cambria Math" panose="02040503050406030204" pitchFamily="18" charset="0"/>
                        </a:rPr>
                        <m:t>𝑠</m:t>
                      </m:r>
                      <m:r>
                        <a:rPr lang="en-GB" b="0" i="1" noProof="0" smtClean="0">
                          <a:latin typeface="Cambria Math" panose="02040503050406030204" pitchFamily="18" charset="0"/>
                        </a:rPr>
                        <m:t>=</m:t>
                      </m:r>
                      <m:r>
                        <a:rPr lang="en-GB" b="0" i="1" noProof="0" smtClean="0">
                          <a:latin typeface="Cambria Math" panose="02040503050406030204" pitchFamily="18" charset="0"/>
                        </a:rPr>
                        <m:t>𝛽</m:t>
                      </m:r>
                      <m:r>
                        <a:rPr lang="en-GB" b="0" i="1" noProof="0" smtClean="0">
                          <a:latin typeface="Cambria Math" panose="02040503050406030204" pitchFamily="18" charset="0"/>
                        </a:rPr>
                        <m:t>𝑠</m:t>
                      </m:r>
                      <m:r>
                        <a:rPr lang="en-GB" b="0" i="1" noProof="0" smtClean="0">
                          <a:latin typeface="Cambria Math" panose="02040503050406030204" pitchFamily="18" charset="0"/>
                        </a:rPr>
                        <m:t>+</m:t>
                      </m:r>
                      <m:d>
                        <m:dPr>
                          <m:ctrlPr>
                            <a:rPr lang="en-GB" b="0" i="1" noProof="0" smtClean="0">
                              <a:latin typeface="Cambria Math" panose="02040503050406030204" pitchFamily="18" charset="0"/>
                            </a:rPr>
                          </m:ctrlPr>
                        </m:dPr>
                        <m:e>
                          <m:r>
                            <a:rPr lang="en-GB" b="0" i="1" noProof="0" smtClean="0">
                              <a:latin typeface="Cambria Math" panose="02040503050406030204" pitchFamily="18" charset="0"/>
                            </a:rPr>
                            <m:t>1−</m:t>
                          </m:r>
                          <m:r>
                            <a:rPr lang="en-GB" b="0" i="1" noProof="0" smtClean="0">
                              <a:latin typeface="Cambria Math" panose="02040503050406030204" pitchFamily="18" charset="0"/>
                            </a:rPr>
                            <m:t>𝛽</m:t>
                          </m:r>
                        </m:e>
                      </m:d>
                      <m:r>
                        <m:rPr>
                          <m:sty m:val="p"/>
                        </m:rPr>
                        <a:rPr lang="en-GB" b="0" i="0" noProof="0" smtClean="0">
                          <a:latin typeface="Cambria Math" panose="02040503050406030204" pitchFamily="18" charset="0"/>
                        </a:rPr>
                        <m:t>∇</m:t>
                      </m:r>
                      <m:sSup>
                        <m:sSupPr>
                          <m:ctrlPr>
                            <a:rPr lang="en-GB" b="0" i="1" noProof="0" smtClean="0">
                              <a:latin typeface="Cambria Math" panose="02040503050406030204" pitchFamily="18" charset="0"/>
                            </a:rPr>
                          </m:ctrlPr>
                        </m:sSupPr>
                        <m:e>
                          <m:r>
                            <m:rPr>
                              <m:sty m:val="p"/>
                            </m:rPr>
                            <a:rPr lang="en-GB" b="0" i="0" noProof="0" smtClean="0">
                              <a:latin typeface="Cambria Math" panose="02040503050406030204" pitchFamily="18" charset="0"/>
                            </a:rPr>
                            <m:t>L</m:t>
                          </m:r>
                        </m:e>
                        <m:sup>
                          <m:r>
                            <a:rPr lang="en-GB" b="0" i="1" noProof="0" smtClean="0">
                              <a:latin typeface="Cambria Math" panose="02040503050406030204" pitchFamily="18" charset="0"/>
                            </a:rPr>
                            <m:t>2</m:t>
                          </m:r>
                        </m:sup>
                      </m:sSup>
                    </m:oMath>
                  </m:oMathPara>
                </a14:m>
                <a:endParaRPr lang="en-GB" noProof="0" dirty="0"/>
              </a:p>
              <a:p>
                <a:pPr marL="0" indent="0">
                  <a:buNone/>
                </a:pPr>
                <a:r>
                  <a:rPr lang="en-GB" sz="1600" noProof="0" dirty="0"/>
                  <a:t>The gradient at each step is squared element wise which means the value that’s added to the running sum is always positive.</a:t>
                </a:r>
              </a:p>
              <a:p>
                <a:pPr marL="0" indent="0">
                  <a:buNone/>
                </a:pPr>
                <a:r>
                  <a:rPr lang="en-GB" sz="1600" dirty="0"/>
                  <a:t>There is a decay rate </a:t>
                </a:r>
                <a14:m>
                  <m:oMath xmlns:m="http://schemas.openxmlformats.org/officeDocument/2006/math">
                    <m:r>
                      <a:rPr lang="en-GB" sz="1600" b="0" i="1" noProof="0" smtClean="0">
                        <a:latin typeface="Cambria Math" panose="02040503050406030204" pitchFamily="18" charset="0"/>
                      </a:rPr>
                      <m:t>𝛽</m:t>
                    </m:r>
                  </m:oMath>
                </a14:m>
                <a:r>
                  <a:rPr lang="en-GB" sz="1600" noProof="0" dirty="0"/>
                  <a:t> which ensures recent gradients will be weighted more while older gradients are discounted.</a:t>
                </a:r>
              </a:p>
              <a:p>
                <a:pPr marL="0" indent="0">
                  <a:buNone/>
                </a:pPr>
                <a:r>
                  <a:rPr lang="en-GB" sz="1600" dirty="0"/>
                  <a:t>To calculate the new weights, the current gradient is divided element wise by the root of the scaling factor plus epsilon to avoid division by zero:</a:t>
                </a:r>
                <a:endParaRPr lang="en-GB" noProof="0" dirty="0"/>
              </a:p>
              <a:p>
                <a:pPr marL="0" indent="0">
                  <a:buNone/>
                </a:pPr>
                <a14:m>
                  <m:oMathPara xmlns:m="http://schemas.openxmlformats.org/officeDocument/2006/math">
                    <m:oMathParaPr>
                      <m:jc m:val="centerGroup"/>
                    </m:oMathParaPr>
                    <m:oMath xmlns:m="http://schemas.openxmlformats.org/officeDocument/2006/math">
                      <m:sSub>
                        <m:sSubPr>
                          <m:ctrlPr>
                            <a:rPr lang="en-GB" b="0" i="1" noProof="0" smtClean="0">
                              <a:latin typeface="Cambria Math" panose="02040503050406030204" pitchFamily="18" charset="0"/>
                            </a:rPr>
                          </m:ctrlPr>
                        </m:sSubPr>
                        <m:e>
                          <m:r>
                            <a:rPr lang="en-GB" b="0" i="1" noProof="0" smtClean="0">
                              <a:latin typeface="Cambria Math" panose="02040503050406030204" pitchFamily="18" charset="0"/>
                            </a:rPr>
                            <m:t>𝜔</m:t>
                          </m:r>
                        </m:e>
                        <m:sub>
                          <m:r>
                            <a:rPr lang="en-GB" b="0" i="1" noProof="0" smtClean="0">
                              <a:latin typeface="Cambria Math" panose="02040503050406030204" pitchFamily="18" charset="0"/>
                            </a:rPr>
                            <m:t>𝑡</m:t>
                          </m:r>
                          <m:r>
                            <a:rPr lang="en-GB" b="0" i="1" noProof="0" smtClean="0">
                              <a:latin typeface="Cambria Math" panose="02040503050406030204" pitchFamily="18" charset="0"/>
                            </a:rPr>
                            <m:t>+1</m:t>
                          </m:r>
                        </m:sub>
                      </m:sSub>
                      <m:r>
                        <a:rPr lang="en-GB" b="0" i="1" noProof="0" smtClean="0">
                          <a:latin typeface="Cambria Math" panose="02040503050406030204" pitchFamily="18" charset="0"/>
                        </a:rPr>
                        <m:t>=</m:t>
                      </m:r>
                      <m:sSub>
                        <m:sSubPr>
                          <m:ctrlPr>
                            <a:rPr lang="en-GB" b="0" i="1" noProof="0" smtClean="0">
                              <a:latin typeface="Cambria Math" panose="02040503050406030204" pitchFamily="18" charset="0"/>
                            </a:rPr>
                          </m:ctrlPr>
                        </m:sSubPr>
                        <m:e>
                          <m:r>
                            <a:rPr lang="en-GB" b="0" i="1" noProof="0" smtClean="0">
                              <a:latin typeface="Cambria Math" panose="02040503050406030204" pitchFamily="18" charset="0"/>
                            </a:rPr>
                            <m:t>𝜔</m:t>
                          </m:r>
                        </m:e>
                        <m:sub>
                          <m:r>
                            <a:rPr lang="en-GB" b="0" i="1" noProof="0" smtClean="0">
                              <a:latin typeface="Cambria Math" panose="02040503050406030204" pitchFamily="18" charset="0"/>
                            </a:rPr>
                            <m:t>𝑡</m:t>
                          </m:r>
                        </m:sub>
                      </m:sSub>
                      <m:r>
                        <a:rPr lang="en-GB" b="0" i="1" noProof="0" smtClean="0">
                          <a:latin typeface="Cambria Math" panose="02040503050406030204" pitchFamily="18" charset="0"/>
                        </a:rPr>
                        <m:t>−</m:t>
                      </m:r>
                      <m:r>
                        <a:rPr lang="en-GB" b="0" i="1" noProof="0" smtClean="0">
                          <a:latin typeface="Cambria Math" panose="02040503050406030204" pitchFamily="18" charset="0"/>
                        </a:rPr>
                        <m:t>𝛼</m:t>
                      </m:r>
                      <m:f>
                        <m:fPr>
                          <m:ctrlPr>
                            <a:rPr lang="en-GB" b="0" i="1" noProof="0" smtClean="0">
                              <a:latin typeface="Cambria Math" panose="02040503050406030204" pitchFamily="18" charset="0"/>
                            </a:rPr>
                          </m:ctrlPr>
                        </m:fPr>
                        <m:num>
                          <m:r>
                            <m:rPr>
                              <m:sty m:val="p"/>
                            </m:rPr>
                            <a:rPr lang="en-GB" b="0" i="0" noProof="0" smtClean="0">
                              <a:latin typeface="Cambria Math" panose="02040503050406030204" pitchFamily="18" charset="0"/>
                            </a:rPr>
                            <m:t>∇</m:t>
                          </m:r>
                          <m:r>
                            <a:rPr lang="en-GB" b="0" i="1" noProof="0" smtClean="0">
                              <a:latin typeface="Cambria Math" panose="02040503050406030204" pitchFamily="18" charset="0"/>
                            </a:rPr>
                            <m:t>𝐿</m:t>
                          </m:r>
                        </m:num>
                        <m:den>
                          <m:rad>
                            <m:radPr>
                              <m:degHide m:val="on"/>
                              <m:ctrlPr>
                                <a:rPr lang="en-GB" b="0" i="1" noProof="0" smtClean="0">
                                  <a:latin typeface="Cambria Math" panose="02040503050406030204" pitchFamily="18" charset="0"/>
                                </a:rPr>
                              </m:ctrlPr>
                            </m:radPr>
                            <m:deg/>
                            <m:e>
                              <m:r>
                                <a:rPr lang="en-GB" b="0" i="1" noProof="0" smtClean="0">
                                  <a:latin typeface="Cambria Math" panose="02040503050406030204" pitchFamily="18" charset="0"/>
                                </a:rPr>
                                <m:t>𝑠</m:t>
                              </m:r>
                              <m:r>
                                <a:rPr lang="en-GB" b="0" i="1" noProof="0" smtClean="0">
                                  <a:latin typeface="Cambria Math" panose="02040503050406030204" pitchFamily="18" charset="0"/>
                                </a:rPr>
                                <m:t>+</m:t>
                              </m:r>
                              <m:r>
                                <a:rPr lang="en-GB" b="0" i="1" noProof="0" smtClean="0">
                                  <a:latin typeface="Cambria Math" panose="02040503050406030204" pitchFamily="18" charset="0"/>
                                </a:rPr>
                                <m:t>𝜖</m:t>
                              </m:r>
                            </m:e>
                          </m:rad>
                        </m:den>
                      </m:f>
                    </m:oMath>
                  </m:oMathPara>
                </a14:m>
                <a:endParaRPr lang="en-GB" noProof="0" dirty="0"/>
              </a:p>
              <a:p>
                <a:pPr marL="0" indent="0">
                  <a:buNone/>
                </a:pPr>
                <a:r>
                  <a:rPr lang="en-GB" sz="1600" dirty="0"/>
                  <a:t>The end effect is that this decays the learning faster for steeper slopes and slower for gentler slopes resulting in a dampening effect.</a:t>
                </a:r>
              </a:p>
              <a:p>
                <a:pPr marL="0" indent="0">
                  <a:buNone/>
                </a:pPr>
                <a:r>
                  <a:rPr lang="en-GB" sz="1600" noProof="0" dirty="0"/>
                  <a:t>As this learning rate is adaptive, it is less important  to start with a good learning rate.</a:t>
                </a:r>
              </a:p>
            </p:txBody>
          </p:sp>
        </mc:Choice>
        <mc:Fallback xmlns="">
          <p:sp>
            <p:nvSpPr>
              <p:cNvPr id="8" name="Espace réservé du contenu 2">
                <a:extLst>
                  <a:ext uri="{FF2B5EF4-FFF2-40B4-BE49-F238E27FC236}">
                    <a16:creationId xmlns:a16="http://schemas.microsoft.com/office/drawing/2014/main" id="{7AD512D8-E907-D2E7-0EBB-7D7D082DCBA6}"/>
                  </a:ext>
                </a:extLst>
              </p:cNvPr>
              <p:cNvSpPr>
                <a:spLocks noGrp="1" noRot="1" noChangeAspect="1" noMove="1" noResize="1" noEditPoints="1" noAdjustHandles="1" noChangeArrowheads="1" noChangeShapeType="1" noTextEdit="1"/>
              </p:cNvSpPr>
              <p:nvPr>
                <p:ph idx="1"/>
              </p:nvPr>
            </p:nvSpPr>
            <p:spPr>
              <a:xfrm>
                <a:off x="838200" y="1584324"/>
                <a:ext cx="10853057" cy="4772026"/>
              </a:xfrm>
              <a:blipFill>
                <a:blip r:embed="rId3"/>
                <a:stretch>
                  <a:fillRect l="-351" t="-796" b="-79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B5AEEA13-D15B-0E27-AAE4-3D09E8117EA5}"/>
                  </a:ext>
                </a:extLst>
              </p:cNvPr>
              <p:cNvSpPr txBox="1"/>
              <p:nvPr/>
            </p:nvSpPr>
            <p:spPr>
              <a:xfrm>
                <a:off x="8502196" y="4781552"/>
                <a:ext cx="1734004" cy="215444"/>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r>
                        <a:rPr lang="fr-FR" sz="1400" b="0" i="1" smtClean="0">
                          <a:solidFill>
                            <a:schemeClr val="tx1">
                              <a:lumMod val="50000"/>
                              <a:lumOff val="50000"/>
                            </a:schemeClr>
                          </a:solidFill>
                          <a:latin typeface="Cambria Math" panose="02040503050406030204" pitchFamily="18" charset="0"/>
                        </a:rPr>
                        <m:t>𝜖</m:t>
                      </m:r>
                      <m:r>
                        <a:rPr lang="fr-FR" sz="1400" b="0" i="1" smtClean="0">
                          <a:solidFill>
                            <a:schemeClr val="tx1">
                              <a:lumMod val="50000"/>
                              <a:lumOff val="50000"/>
                            </a:schemeClr>
                          </a:solidFill>
                          <a:latin typeface="Cambria Math" panose="02040503050406030204" pitchFamily="18" charset="0"/>
                        </a:rPr>
                        <m:t> </m:t>
                      </m:r>
                      <m:r>
                        <a:rPr lang="fr-FR" sz="1400" b="0" i="1" smtClean="0">
                          <a:solidFill>
                            <a:schemeClr val="tx1">
                              <a:lumMod val="50000"/>
                              <a:lumOff val="50000"/>
                            </a:schemeClr>
                          </a:solidFill>
                          <a:latin typeface="Cambria Math" panose="02040503050406030204" pitchFamily="18" charset="0"/>
                        </a:rPr>
                        <m:t>𝑐𝑜𝑚𝑚𝑜𝑛</m:t>
                      </m:r>
                      <m:r>
                        <a:rPr lang="fr-FR" sz="1400" b="0" i="1" smtClean="0">
                          <a:solidFill>
                            <a:schemeClr val="tx1">
                              <a:lumMod val="50000"/>
                              <a:lumOff val="50000"/>
                            </a:schemeClr>
                          </a:solidFill>
                          <a:latin typeface="Cambria Math" panose="02040503050406030204" pitchFamily="18" charset="0"/>
                        </a:rPr>
                        <m:t> </m:t>
                      </m:r>
                      <m:r>
                        <a:rPr lang="fr-FR" sz="1400" b="0" i="1" smtClean="0">
                          <a:solidFill>
                            <a:schemeClr val="tx1">
                              <a:lumMod val="50000"/>
                              <a:lumOff val="50000"/>
                            </a:schemeClr>
                          </a:solidFill>
                          <a:latin typeface="Cambria Math" panose="02040503050406030204" pitchFamily="18" charset="0"/>
                        </a:rPr>
                        <m:t>𝑣𝑎𝑙𝑢𝑒𝑠</m:t>
                      </m:r>
                      <m:r>
                        <a:rPr lang="fr-FR" sz="1400" b="0" i="1" smtClean="0">
                          <a:solidFill>
                            <a:schemeClr val="tx1">
                              <a:lumMod val="50000"/>
                              <a:lumOff val="50000"/>
                            </a:schemeClr>
                          </a:solidFill>
                          <a:latin typeface="Cambria Math" panose="02040503050406030204" pitchFamily="18" charset="0"/>
                        </a:rPr>
                        <m:t> </m:t>
                      </m:r>
                      <m:r>
                        <a:rPr lang="fr-FR" sz="1400" b="0" i="1" smtClean="0">
                          <a:solidFill>
                            <a:schemeClr val="tx1">
                              <a:lumMod val="50000"/>
                              <a:lumOff val="50000"/>
                            </a:schemeClr>
                          </a:solidFill>
                          <a:latin typeface="Cambria Math" panose="02040503050406030204" pitchFamily="18" charset="0"/>
                        </a:rPr>
                        <m:t>𝑎𝑟𝑒</m:t>
                      </m:r>
                      <m:r>
                        <a:rPr lang="fr-FR" sz="1400" b="0" i="1" smtClean="0">
                          <a:solidFill>
                            <a:schemeClr val="tx1">
                              <a:lumMod val="50000"/>
                              <a:lumOff val="50000"/>
                            </a:schemeClr>
                          </a:solidFill>
                          <a:latin typeface="Cambria Math" panose="02040503050406030204" pitchFamily="18" charset="0"/>
                        </a:rPr>
                        <m:t>: </m:t>
                      </m:r>
                      <m:sSup>
                        <m:sSupPr>
                          <m:ctrlPr>
                            <a:rPr lang="fr-FR" sz="1400" b="0" i="1" smtClean="0">
                              <a:solidFill>
                                <a:schemeClr val="tx1">
                                  <a:lumMod val="50000"/>
                                  <a:lumOff val="50000"/>
                                </a:schemeClr>
                              </a:solidFill>
                              <a:latin typeface="Cambria Math" panose="02040503050406030204" pitchFamily="18" charset="0"/>
                            </a:rPr>
                          </m:ctrlPr>
                        </m:sSupPr>
                        <m:e>
                          <m:r>
                            <a:rPr lang="fr-FR" sz="1400" b="0" i="1" smtClean="0">
                              <a:solidFill>
                                <a:schemeClr val="tx1">
                                  <a:lumMod val="50000"/>
                                  <a:lumOff val="50000"/>
                                </a:schemeClr>
                              </a:solidFill>
                              <a:latin typeface="Cambria Math" panose="02040503050406030204" pitchFamily="18" charset="0"/>
                            </a:rPr>
                            <m:t>[10</m:t>
                          </m:r>
                        </m:e>
                        <m:sup>
                          <m:r>
                            <a:rPr lang="fr-FR" sz="1400" b="0" i="1" smtClean="0">
                              <a:solidFill>
                                <a:schemeClr val="tx1">
                                  <a:lumMod val="50000"/>
                                  <a:lumOff val="50000"/>
                                </a:schemeClr>
                              </a:solidFill>
                              <a:latin typeface="Cambria Math" panose="02040503050406030204" pitchFamily="18" charset="0"/>
                            </a:rPr>
                            <m:t>−7</m:t>
                          </m:r>
                        </m:sup>
                      </m:sSup>
                      <m:r>
                        <a:rPr lang="fr-FR" sz="1400" b="0" i="1" smtClean="0">
                          <a:solidFill>
                            <a:schemeClr val="tx1">
                              <a:lumMod val="50000"/>
                              <a:lumOff val="50000"/>
                            </a:schemeClr>
                          </a:solidFill>
                          <a:latin typeface="Cambria Math" panose="02040503050406030204" pitchFamily="18" charset="0"/>
                        </a:rPr>
                        <m:t>,…,</m:t>
                      </m:r>
                      <m:sSup>
                        <m:sSupPr>
                          <m:ctrlPr>
                            <a:rPr lang="fr-FR" sz="1400" b="0" i="1" smtClean="0">
                              <a:solidFill>
                                <a:schemeClr val="tx1">
                                  <a:lumMod val="50000"/>
                                  <a:lumOff val="50000"/>
                                </a:schemeClr>
                              </a:solidFill>
                              <a:latin typeface="Cambria Math" panose="02040503050406030204" pitchFamily="18" charset="0"/>
                            </a:rPr>
                          </m:ctrlPr>
                        </m:sSupPr>
                        <m:e>
                          <m:r>
                            <a:rPr lang="fr-FR" sz="1400" b="0" i="1" smtClean="0">
                              <a:solidFill>
                                <a:schemeClr val="tx1">
                                  <a:lumMod val="50000"/>
                                  <a:lumOff val="50000"/>
                                </a:schemeClr>
                              </a:solidFill>
                              <a:latin typeface="Cambria Math" panose="02040503050406030204" pitchFamily="18" charset="0"/>
                            </a:rPr>
                            <m:t>10</m:t>
                          </m:r>
                        </m:e>
                        <m:sup>
                          <m:r>
                            <a:rPr lang="fr-FR" sz="1400" b="0" i="1" smtClean="0">
                              <a:solidFill>
                                <a:schemeClr val="tx1">
                                  <a:lumMod val="50000"/>
                                  <a:lumOff val="50000"/>
                                </a:schemeClr>
                              </a:solidFill>
                              <a:latin typeface="Cambria Math" panose="02040503050406030204" pitchFamily="18" charset="0"/>
                            </a:rPr>
                            <m:t>−10</m:t>
                          </m:r>
                        </m:sup>
                      </m:sSup>
                      <m:r>
                        <a:rPr lang="fr-FR" sz="1400" b="0" i="1" smtClean="0">
                          <a:solidFill>
                            <a:schemeClr val="tx1">
                              <a:lumMod val="50000"/>
                              <a:lumOff val="50000"/>
                            </a:schemeClr>
                          </a:solidFill>
                          <a:latin typeface="Cambria Math" panose="02040503050406030204" pitchFamily="18" charset="0"/>
                        </a:rPr>
                        <m:t>]</m:t>
                      </m:r>
                    </m:oMath>
                  </m:oMathPara>
                </a14:m>
                <a:endParaRPr lang="en-GB" sz="1400" dirty="0">
                  <a:solidFill>
                    <a:schemeClr val="tx1">
                      <a:lumMod val="50000"/>
                      <a:lumOff val="50000"/>
                    </a:schemeClr>
                  </a:solidFill>
                </a:endParaRPr>
              </a:p>
            </p:txBody>
          </p:sp>
        </mc:Choice>
        <mc:Fallback xmlns="">
          <p:sp>
            <p:nvSpPr>
              <p:cNvPr id="3" name="ZoneTexte 2">
                <a:extLst>
                  <a:ext uri="{FF2B5EF4-FFF2-40B4-BE49-F238E27FC236}">
                    <a16:creationId xmlns:a16="http://schemas.microsoft.com/office/drawing/2014/main" id="{B5AEEA13-D15B-0E27-AAE4-3D09E8117EA5}"/>
                  </a:ext>
                </a:extLst>
              </p:cNvPr>
              <p:cNvSpPr txBox="1">
                <a:spLocks noRot="1" noChangeAspect="1" noMove="1" noResize="1" noEditPoints="1" noAdjustHandles="1" noChangeArrowheads="1" noChangeShapeType="1" noTextEdit="1"/>
              </p:cNvSpPr>
              <p:nvPr/>
            </p:nvSpPr>
            <p:spPr>
              <a:xfrm>
                <a:off x="8502196" y="4781552"/>
                <a:ext cx="1734004" cy="215444"/>
              </a:xfrm>
              <a:prstGeom prst="rect">
                <a:avLst/>
              </a:prstGeom>
              <a:blipFill>
                <a:blip r:embed="rId4"/>
                <a:stretch>
                  <a:fillRect l="-2920" t="-11111" r="-80292" b="-33333"/>
                </a:stretch>
              </a:blipFill>
            </p:spPr>
            <p:txBody>
              <a:bodyPr/>
              <a:lstStyle/>
              <a:p>
                <a:r>
                  <a:rPr lang="en-GB">
                    <a:noFill/>
                  </a:rPr>
                  <a:t> </a:t>
                </a:r>
              </a:p>
            </p:txBody>
          </p:sp>
        </mc:Fallback>
      </mc:AlternateContent>
    </p:spTree>
    <p:extLst>
      <p:ext uri="{BB962C8B-B14F-4D97-AF65-F5344CB8AC3E}">
        <p14:creationId xmlns:p14="http://schemas.microsoft.com/office/powerpoint/2010/main" val="10997510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43DB6-5B4A-565F-CD00-CE2E9AC4C80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5C6D589-8107-DF43-1A93-1B1FE9C61129}"/>
              </a:ext>
            </a:extLst>
          </p:cNvPr>
          <p:cNvSpPr>
            <a:spLocks noGrp="1"/>
          </p:cNvSpPr>
          <p:nvPr>
            <p:ph type="title"/>
          </p:nvPr>
        </p:nvSpPr>
        <p:spPr/>
        <p:txBody>
          <a:bodyPr/>
          <a:lstStyle/>
          <a:p>
            <a:r>
              <a:rPr lang="en-GB" dirty="0"/>
              <a:t>Adaptative Moment Estimation: </a:t>
            </a:r>
            <a:r>
              <a:rPr lang="en-GB" b="1" dirty="0"/>
              <a:t>Adam</a:t>
            </a:r>
          </a:p>
        </p:txBody>
      </p:sp>
      <p:sp>
        <p:nvSpPr>
          <p:cNvPr id="4" name="Espace réservé du pied de page 3">
            <a:extLst>
              <a:ext uri="{FF2B5EF4-FFF2-40B4-BE49-F238E27FC236}">
                <a16:creationId xmlns:a16="http://schemas.microsoft.com/office/drawing/2014/main" id="{00DA9F7B-D413-FB3A-774C-6B4B9B82C50E}"/>
              </a:ext>
            </a:extLst>
          </p:cNvPr>
          <p:cNvSpPr>
            <a:spLocks noGrp="1"/>
          </p:cNvSpPr>
          <p:nvPr>
            <p:ph type="ftr" sz="quarter" idx="11"/>
          </p:nvPr>
        </p:nvSpPr>
        <p:spPr/>
        <p:txBody>
          <a:bodyPr/>
          <a:lstStyle/>
          <a:p>
            <a:r>
              <a:rPr lang="fr-FR"/>
              <a:t>Introduction to Neural Networks. Author: David Thébault</a:t>
            </a:r>
          </a:p>
        </p:txBody>
      </p:sp>
      <mc:AlternateContent xmlns:mc="http://schemas.openxmlformats.org/markup-compatibility/2006" xmlns:a14="http://schemas.microsoft.com/office/drawing/2010/main">
        <mc:Choice Requires="a14">
          <p:sp>
            <p:nvSpPr>
              <p:cNvPr id="8" name="Espace réservé du contenu 2">
                <a:extLst>
                  <a:ext uri="{FF2B5EF4-FFF2-40B4-BE49-F238E27FC236}">
                    <a16:creationId xmlns:a16="http://schemas.microsoft.com/office/drawing/2014/main" id="{A2D62CDC-0476-E248-62BF-09F34FFBF20F}"/>
                  </a:ext>
                </a:extLst>
              </p:cNvPr>
              <p:cNvSpPr>
                <a:spLocks noGrp="1"/>
              </p:cNvSpPr>
              <p:nvPr>
                <p:ph idx="1"/>
              </p:nvPr>
            </p:nvSpPr>
            <p:spPr>
              <a:xfrm>
                <a:off x="838199" y="1825624"/>
                <a:ext cx="10853057" cy="4395561"/>
              </a:xfrm>
            </p:spPr>
            <p:txBody>
              <a:bodyPr lIns="90000">
                <a:noAutofit/>
              </a:bodyPr>
              <a:lstStyle/>
              <a:p>
                <a:pPr marL="0" indent="0">
                  <a:buNone/>
                </a:pPr>
                <a:r>
                  <a:rPr lang="en-GB" sz="1600" dirty="0"/>
                  <a:t>Combines Momentum and RMSProp</a:t>
                </a:r>
              </a:p>
              <a:p>
                <a:pPr marL="0" indent="0">
                  <a:buNone/>
                </a:pPr>
                <a:r>
                  <a:rPr lang="en-GB" sz="1600" dirty="0"/>
                  <a:t>With RMSProp, using a square of the gradient (derivative) makes us loose the direction.</a:t>
                </a:r>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r>
                        <a:rPr lang="fr-FR" b="0" i="1" smtClean="0">
                          <a:latin typeface="Cambria Math" panose="02040503050406030204" pitchFamily="18" charset="0"/>
                        </a:rPr>
                        <m:t>𝑚</m:t>
                      </m:r>
                      <m:r>
                        <a:rPr lang="fr-FR" b="0" i="1" smtClean="0">
                          <a:latin typeface="Cambria Math" panose="02040503050406030204" pitchFamily="18" charset="0"/>
                        </a:rPr>
                        <m:t>=</m:t>
                      </m:r>
                      <m:sSub>
                        <m:sSubPr>
                          <m:ctrlPr>
                            <a:rPr lang="fr-FR" b="0" i="1" smtClean="0">
                              <a:latin typeface="Cambria Math" panose="02040503050406030204" pitchFamily="18" charset="0"/>
                            </a:rPr>
                          </m:ctrlPr>
                        </m:sSubPr>
                        <m:e>
                          <m:r>
                            <a:rPr lang="fr-FR" b="0" i="1" smtClean="0">
                              <a:latin typeface="Cambria Math" panose="02040503050406030204" pitchFamily="18" charset="0"/>
                            </a:rPr>
                            <m:t>𝛽</m:t>
                          </m:r>
                        </m:e>
                        <m:sub>
                          <m:r>
                            <a:rPr lang="fr-FR" b="0" i="1" smtClean="0">
                              <a:latin typeface="Cambria Math" panose="02040503050406030204" pitchFamily="18" charset="0"/>
                            </a:rPr>
                            <m:t>1</m:t>
                          </m:r>
                        </m:sub>
                      </m:sSub>
                      <m:r>
                        <a:rPr lang="fr-FR" b="0" i="1" smtClean="0">
                          <a:latin typeface="Cambria Math" panose="02040503050406030204" pitchFamily="18" charset="0"/>
                        </a:rPr>
                        <m:t>𝑚</m:t>
                      </m:r>
                      <m:r>
                        <a:rPr lang="fr-FR" b="0" i="1" smtClean="0">
                          <a:latin typeface="Cambria Math" panose="02040503050406030204" pitchFamily="18" charset="0"/>
                        </a:rPr>
                        <m:t>+</m:t>
                      </m:r>
                      <m:d>
                        <m:dPr>
                          <m:ctrlPr>
                            <a:rPr lang="fr-FR" b="0" i="1" smtClean="0">
                              <a:latin typeface="Cambria Math" panose="02040503050406030204" pitchFamily="18" charset="0"/>
                            </a:rPr>
                          </m:ctrlPr>
                        </m:dPr>
                        <m:e>
                          <m:r>
                            <a:rPr lang="fr-FR" b="0" i="1" smtClean="0">
                              <a:latin typeface="Cambria Math" panose="02040503050406030204" pitchFamily="18" charset="0"/>
                            </a:rPr>
                            <m:t>1−</m:t>
                          </m:r>
                          <m:sSub>
                            <m:sSubPr>
                              <m:ctrlPr>
                                <a:rPr lang="fr-FR" b="0" i="1" smtClean="0">
                                  <a:latin typeface="Cambria Math" panose="02040503050406030204" pitchFamily="18" charset="0"/>
                                </a:rPr>
                              </m:ctrlPr>
                            </m:sSubPr>
                            <m:e>
                              <m:r>
                                <a:rPr lang="fr-FR" b="0" i="1" smtClean="0">
                                  <a:latin typeface="Cambria Math" panose="02040503050406030204" pitchFamily="18" charset="0"/>
                                </a:rPr>
                                <m:t>𝛽</m:t>
                              </m:r>
                            </m:e>
                            <m:sub>
                              <m:r>
                                <a:rPr lang="fr-FR" b="0" i="1" smtClean="0">
                                  <a:latin typeface="Cambria Math" panose="02040503050406030204" pitchFamily="18" charset="0"/>
                                </a:rPr>
                                <m:t>1</m:t>
                              </m:r>
                            </m:sub>
                          </m:sSub>
                        </m:e>
                      </m:d>
                      <m:r>
                        <m:rPr>
                          <m:sty m:val="p"/>
                        </m:rPr>
                        <a:rPr lang="fr-FR" b="0" i="0" smtClean="0">
                          <a:latin typeface="Cambria Math" panose="02040503050406030204" pitchFamily="18" charset="0"/>
                        </a:rPr>
                        <m:t>∇L</m:t>
                      </m:r>
                    </m:oMath>
                  </m:oMathPara>
                </a14:m>
                <a:endParaRPr lang="fr-FR" b="0" dirty="0"/>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r>
                        <a:rPr lang="fr-FR" b="0" i="1" smtClean="0">
                          <a:latin typeface="Cambria Math" panose="02040503050406030204" pitchFamily="18" charset="0"/>
                        </a:rPr>
                        <m:t>𝑠</m:t>
                      </m:r>
                      <m:r>
                        <a:rPr lang="fr-FR" b="0" i="1" smtClean="0">
                          <a:latin typeface="Cambria Math" panose="02040503050406030204" pitchFamily="18" charset="0"/>
                        </a:rPr>
                        <m:t>=</m:t>
                      </m:r>
                      <m:sSub>
                        <m:sSubPr>
                          <m:ctrlPr>
                            <a:rPr lang="fr-FR" b="0" i="1" smtClean="0">
                              <a:latin typeface="Cambria Math" panose="02040503050406030204" pitchFamily="18" charset="0"/>
                            </a:rPr>
                          </m:ctrlPr>
                        </m:sSubPr>
                        <m:e>
                          <m:r>
                            <a:rPr lang="fr-FR" b="0" i="1" smtClean="0">
                              <a:latin typeface="Cambria Math" panose="02040503050406030204" pitchFamily="18" charset="0"/>
                            </a:rPr>
                            <m:t>𝛽</m:t>
                          </m:r>
                        </m:e>
                        <m:sub>
                          <m:r>
                            <a:rPr lang="fr-FR" b="0" i="1" smtClean="0">
                              <a:latin typeface="Cambria Math" panose="02040503050406030204" pitchFamily="18" charset="0"/>
                            </a:rPr>
                            <m:t>2</m:t>
                          </m:r>
                        </m:sub>
                      </m:sSub>
                      <m:r>
                        <a:rPr lang="fr-FR" b="0" i="1" smtClean="0">
                          <a:latin typeface="Cambria Math" panose="02040503050406030204" pitchFamily="18" charset="0"/>
                        </a:rPr>
                        <m:t>𝑠</m:t>
                      </m:r>
                      <m:r>
                        <a:rPr lang="fr-FR" b="0" i="1" smtClean="0">
                          <a:latin typeface="Cambria Math" panose="02040503050406030204" pitchFamily="18" charset="0"/>
                        </a:rPr>
                        <m:t>+</m:t>
                      </m:r>
                      <m:d>
                        <m:dPr>
                          <m:ctrlPr>
                            <a:rPr lang="fr-FR" b="0" i="1" smtClean="0">
                              <a:latin typeface="Cambria Math" panose="02040503050406030204" pitchFamily="18" charset="0"/>
                            </a:rPr>
                          </m:ctrlPr>
                        </m:dPr>
                        <m:e>
                          <m:r>
                            <a:rPr lang="fr-FR" b="0" i="1" smtClean="0">
                              <a:latin typeface="Cambria Math" panose="02040503050406030204" pitchFamily="18" charset="0"/>
                            </a:rPr>
                            <m:t>1−</m:t>
                          </m:r>
                          <m:sSub>
                            <m:sSubPr>
                              <m:ctrlPr>
                                <a:rPr lang="fr-FR" b="0" i="1" smtClean="0">
                                  <a:latin typeface="Cambria Math" panose="02040503050406030204" pitchFamily="18" charset="0"/>
                                </a:rPr>
                              </m:ctrlPr>
                            </m:sSubPr>
                            <m:e>
                              <m:r>
                                <a:rPr lang="fr-FR" b="0" i="1" smtClean="0">
                                  <a:latin typeface="Cambria Math" panose="02040503050406030204" pitchFamily="18" charset="0"/>
                                </a:rPr>
                                <m:t>𝛽</m:t>
                              </m:r>
                            </m:e>
                            <m:sub>
                              <m:r>
                                <a:rPr lang="fr-FR" b="0" i="1" smtClean="0">
                                  <a:latin typeface="Cambria Math" panose="02040503050406030204" pitchFamily="18" charset="0"/>
                                </a:rPr>
                                <m:t>2</m:t>
                              </m:r>
                            </m:sub>
                          </m:sSub>
                        </m:e>
                      </m:d>
                      <m:r>
                        <m:rPr>
                          <m:sty m:val="p"/>
                        </m:rPr>
                        <a:rPr lang="fr-FR" b="0" i="0" smtClean="0">
                          <a:latin typeface="Cambria Math" panose="02040503050406030204" pitchFamily="18" charset="0"/>
                        </a:rPr>
                        <m:t>∇</m:t>
                      </m:r>
                      <m:sSup>
                        <m:sSupPr>
                          <m:ctrlPr>
                            <a:rPr lang="fr-FR" b="0" i="1" smtClean="0">
                              <a:latin typeface="Cambria Math" panose="02040503050406030204" pitchFamily="18" charset="0"/>
                            </a:rPr>
                          </m:ctrlPr>
                        </m:sSupPr>
                        <m:e>
                          <m:r>
                            <m:rPr>
                              <m:sty m:val="p"/>
                            </m:rPr>
                            <a:rPr lang="fr-FR" b="0" i="0" smtClean="0">
                              <a:latin typeface="Cambria Math" panose="02040503050406030204" pitchFamily="18" charset="0"/>
                            </a:rPr>
                            <m:t>L</m:t>
                          </m:r>
                        </m:e>
                        <m:sup>
                          <m:r>
                            <a:rPr lang="fr-FR" b="0" i="1" smtClean="0">
                              <a:latin typeface="Cambria Math" panose="02040503050406030204" pitchFamily="18" charset="0"/>
                            </a:rPr>
                            <m:t>2</m:t>
                          </m:r>
                        </m:sup>
                      </m:sSup>
                    </m:oMath>
                  </m:oMathPara>
                </a14:m>
                <a:endParaRPr lang="en-GB" dirty="0"/>
              </a:p>
              <a:p>
                <a:pPr marL="0" indent="0">
                  <a:buNone/>
                </a:pPr>
                <a:endParaRPr lang="en-GB" dirty="0"/>
              </a:p>
              <a:p>
                <a:pPr marL="0" indent="0">
                  <a:buNone/>
                </a:pPr>
                <a:r>
                  <a:rPr lang="en-GB" sz="1600" dirty="0"/>
                  <a:t>With Adam the optimizer keeps a moving average of both: the original gradient and the squared gradients.</a:t>
                </a:r>
              </a:p>
              <a:p>
                <a:pPr marL="0" indent="0">
                  <a:buNone/>
                </a:pPr>
                <a:r>
                  <a:rPr lang="en-GB" sz="1600" dirty="0"/>
                  <a:t>Both moving averages have a decay rate </a:t>
                </a:r>
                <a14:m>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𝛽</m:t>
                        </m:r>
                      </m:e>
                      <m:sub>
                        <m:r>
                          <a:rPr lang="fr-FR" sz="1600" b="0" i="1" smtClean="0">
                            <a:latin typeface="Cambria Math" panose="02040503050406030204" pitchFamily="18" charset="0"/>
                          </a:rPr>
                          <m:t> 1</m:t>
                        </m:r>
                      </m:sub>
                    </m:sSub>
                  </m:oMath>
                </a14:m>
                <a:r>
                  <a:rPr lang="en-GB" sz="1600" dirty="0"/>
                  <a:t>, </a:t>
                </a:r>
                <a14:m>
                  <m:oMath xmlns:m="http://schemas.openxmlformats.org/officeDocument/2006/math">
                    <m:sSub>
                      <m:sSubPr>
                        <m:ctrlPr>
                          <a:rPr lang="fr-FR" sz="1600" i="1">
                            <a:latin typeface="Cambria Math" panose="02040503050406030204" pitchFamily="18" charset="0"/>
                          </a:rPr>
                        </m:ctrlPr>
                      </m:sSubPr>
                      <m:e>
                        <m:r>
                          <a:rPr lang="fr-FR" sz="1600" i="1">
                            <a:latin typeface="Cambria Math" panose="02040503050406030204" pitchFamily="18" charset="0"/>
                          </a:rPr>
                          <m:t>𝛽</m:t>
                        </m:r>
                      </m:e>
                      <m:sub>
                        <m:r>
                          <a:rPr lang="fr-FR" sz="1600" i="1">
                            <a:latin typeface="Cambria Math" panose="02040503050406030204" pitchFamily="18" charset="0"/>
                          </a:rPr>
                          <m:t> </m:t>
                        </m:r>
                        <m:r>
                          <a:rPr lang="fr-FR" sz="1600" b="0" i="1" smtClean="0">
                            <a:latin typeface="Cambria Math" panose="02040503050406030204" pitchFamily="18" charset="0"/>
                          </a:rPr>
                          <m:t>2</m:t>
                        </m:r>
                      </m:sub>
                    </m:sSub>
                  </m:oMath>
                </a14:m>
                <a:endParaRPr lang="en-GB" sz="1600" dirty="0"/>
              </a:p>
            </p:txBody>
          </p:sp>
        </mc:Choice>
        <mc:Fallback xmlns="">
          <p:sp>
            <p:nvSpPr>
              <p:cNvPr id="8" name="Espace réservé du contenu 2">
                <a:extLst>
                  <a:ext uri="{FF2B5EF4-FFF2-40B4-BE49-F238E27FC236}">
                    <a16:creationId xmlns:a16="http://schemas.microsoft.com/office/drawing/2014/main" id="{A2D62CDC-0476-E248-62BF-09F34FFBF20F}"/>
                  </a:ext>
                </a:extLst>
              </p:cNvPr>
              <p:cNvSpPr>
                <a:spLocks noGrp="1" noRot="1" noChangeAspect="1" noMove="1" noResize="1" noEditPoints="1" noAdjustHandles="1" noChangeArrowheads="1" noChangeShapeType="1" noTextEdit="1"/>
              </p:cNvSpPr>
              <p:nvPr>
                <p:ph idx="1"/>
              </p:nvPr>
            </p:nvSpPr>
            <p:spPr>
              <a:xfrm>
                <a:off x="838199" y="1825624"/>
                <a:ext cx="10853057" cy="4395561"/>
              </a:xfrm>
              <a:blipFill>
                <a:blip r:embed="rId3"/>
                <a:stretch>
                  <a:fillRect l="-234" t="-862"/>
                </a:stretch>
              </a:blipFill>
            </p:spPr>
            <p:txBody>
              <a:bodyPr/>
              <a:lstStyle/>
              <a:p>
                <a:r>
                  <a:rPr lang="en-GB">
                    <a:noFill/>
                  </a:rPr>
                  <a:t> </a:t>
                </a:r>
              </a:p>
            </p:txBody>
          </p:sp>
        </mc:Fallback>
      </mc:AlternateContent>
    </p:spTree>
    <p:extLst>
      <p:ext uri="{BB962C8B-B14F-4D97-AF65-F5344CB8AC3E}">
        <p14:creationId xmlns:p14="http://schemas.microsoft.com/office/powerpoint/2010/main" val="26892951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07FE26-13E7-9BDD-B9A3-DDA7137DB9E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AB3F878-4289-9845-BC4D-3082BACB57C9}"/>
              </a:ext>
            </a:extLst>
          </p:cNvPr>
          <p:cNvSpPr>
            <a:spLocks noGrp="1"/>
          </p:cNvSpPr>
          <p:nvPr>
            <p:ph type="title"/>
          </p:nvPr>
        </p:nvSpPr>
        <p:spPr/>
        <p:txBody>
          <a:bodyPr/>
          <a:lstStyle/>
          <a:p>
            <a:r>
              <a:rPr lang="en-GB" b="1" dirty="0"/>
              <a:t>Ada</a:t>
            </a:r>
            <a:r>
              <a:rPr lang="en-GB" dirty="0"/>
              <a:t>ptative </a:t>
            </a:r>
            <a:r>
              <a:rPr lang="en-GB" b="1" dirty="0"/>
              <a:t>M</a:t>
            </a:r>
            <a:r>
              <a:rPr lang="en-GB" dirty="0"/>
              <a:t>oment Estimation: </a:t>
            </a:r>
            <a:r>
              <a:rPr lang="en-GB" b="1" dirty="0"/>
              <a:t>Adam</a:t>
            </a:r>
          </a:p>
        </p:txBody>
      </p:sp>
      <p:sp>
        <p:nvSpPr>
          <p:cNvPr id="4" name="Espace réservé du pied de page 3">
            <a:extLst>
              <a:ext uri="{FF2B5EF4-FFF2-40B4-BE49-F238E27FC236}">
                <a16:creationId xmlns:a16="http://schemas.microsoft.com/office/drawing/2014/main" id="{A82B3C64-0CF7-A74C-DFA2-51CBEF920103}"/>
              </a:ext>
            </a:extLst>
          </p:cNvPr>
          <p:cNvSpPr>
            <a:spLocks noGrp="1"/>
          </p:cNvSpPr>
          <p:nvPr>
            <p:ph type="ftr" sz="quarter" idx="11"/>
          </p:nvPr>
        </p:nvSpPr>
        <p:spPr/>
        <p:txBody>
          <a:bodyPr/>
          <a:lstStyle/>
          <a:p>
            <a:r>
              <a:rPr lang="fr-FR"/>
              <a:t>Introduction to Neural Networks. Author: David Thébault</a:t>
            </a:r>
          </a:p>
        </p:txBody>
      </p:sp>
      <mc:AlternateContent xmlns:mc="http://schemas.openxmlformats.org/markup-compatibility/2006" xmlns:a14="http://schemas.microsoft.com/office/drawing/2010/main">
        <mc:Choice Requires="a14">
          <p:sp>
            <p:nvSpPr>
              <p:cNvPr id="8" name="Espace réservé du contenu 2">
                <a:extLst>
                  <a:ext uri="{FF2B5EF4-FFF2-40B4-BE49-F238E27FC236}">
                    <a16:creationId xmlns:a16="http://schemas.microsoft.com/office/drawing/2014/main" id="{E1A6C9C9-9F0D-4723-0B00-6C4FA6B588C9}"/>
                  </a:ext>
                </a:extLst>
              </p:cNvPr>
              <p:cNvSpPr>
                <a:spLocks noGrp="1"/>
              </p:cNvSpPr>
              <p:nvPr>
                <p:ph idx="1"/>
              </p:nvPr>
            </p:nvSpPr>
            <p:spPr>
              <a:xfrm>
                <a:off x="838199" y="1825624"/>
                <a:ext cx="10853057" cy="4530726"/>
              </a:xfrm>
            </p:spPr>
            <p:txBody>
              <a:bodyPr lIns="90000">
                <a:noAutofit/>
              </a:bodyPr>
              <a:lstStyle/>
              <a:p>
                <a:pPr marL="0" indent="0">
                  <a:buNone/>
                </a:pPr>
                <a14:m>
                  <m:oMath xmlns:m="http://schemas.openxmlformats.org/officeDocument/2006/math">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rPr>
                          <m:t>𝛽</m:t>
                        </m:r>
                      </m:e>
                      <m:sub>
                        <m:r>
                          <a:rPr lang="fr-FR" sz="1600" b="0" i="1" smtClean="0">
                            <a:latin typeface="Cambria Math" panose="02040503050406030204" pitchFamily="18" charset="0"/>
                          </a:rPr>
                          <m:t>1</m:t>
                        </m:r>
                      </m:sub>
                    </m:sSub>
                  </m:oMath>
                </a14:m>
                <a:r>
                  <a:rPr lang="en-GB" sz="1600" dirty="0"/>
                  <a:t> is typically set to 0.9 and </a:t>
                </a:r>
                <a14:m>
                  <m:oMath xmlns:m="http://schemas.openxmlformats.org/officeDocument/2006/math">
                    <m:sSub>
                      <m:sSubPr>
                        <m:ctrlPr>
                          <a:rPr lang="fr-FR" sz="1600" i="1">
                            <a:latin typeface="Cambria Math" panose="02040503050406030204" pitchFamily="18" charset="0"/>
                          </a:rPr>
                        </m:ctrlPr>
                      </m:sSubPr>
                      <m:e>
                        <m:r>
                          <a:rPr lang="fr-FR" sz="1600" i="1">
                            <a:latin typeface="Cambria Math" panose="02040503050406030204" pitchFamily="18" charset="0"/>
                          </a:rPr>
                          <m:t>𝛽</m:t>
                        </m:r>
                      </m:e>
                      <m:sub>
                        <m:r>
                          <a:rPr lang="fr-FR" sz="1600" i="1">
                            <a:latin typeface="Cambria Math" panose="02040503050406030204" pitchFamily="18" charset="0"/>
                          </a:rPr>
                          <m:t>2</m:t>
                        </m:r>
                      </m:sub>
                    </m:sSub>
                  </m:oMath>
                </a14:m>
                <a:r>
                  <a:rPr lang="en-GB" sz="1600" dirty="0"/>
                  <a:t> is typically set to 0.999</a:t>
                </a:r>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r>
                        <a:rPr lang="fr-FR" b="0" i="1" smtClean="0">
                          <a:latin typeface="Cambria Math" panose="02040503050406030204" pitchFamily="18" charset="0"/>
                        </a:rPr>
                        <m:t>𝑚</m:t>
                      </m:r>
                      <m:r>
                        <a:rPr lang="fr-FR" b="0" i="1" smtClean="0">
                          <a:latin typeface="Cambria Math" panose="02040503050406030204" pitchFamily="18" charset="0"/>
                        </a:rPr>
                        <m:t>=</m:t>
                      </m:r>
                      <m:sSub>
                        <m:sSubPr>
                          <m:ctrlPr>
                            <a:rPr lang="fr-FR" b="0" i="1" smtClean="0">
                              <a:latin typeface="Cambria Math" panose="02040503050406030204" pitchFamily="18" charset="0"/>
                            </a:rPr>
                          </m:ctrlPr>
                        </m:sSubPr>
                        <m:e>
                          <m:r>
                            <a:rPr lang="fr-FR" b="0" i="1" smtClean="0">
                              <a:latin typeface="Cambria Math" panose="02040503050406030204" pitchFamily="18" charset="0"/>
                            </a:rPr>
                            <m:t>𝛽</m:t>
                          </m:r>
                        </m:e>
                        <m:sub>
                          <m:r>
                            <a:rPr lang="fr-FR" b="0" i="1" smtClean="0">
                              <a:latin typeface="Cambria Math" panose="02040503050406030204" pitchFamily="18" charset="0"/>
                            </a:rPr>
                            <m:t>1</m:t>
                          </m:r>
                        </m:sub>
                      </m:sSub>
                      <m:r>
                        <a:rPr lang="fr-FR" b="0" i="1" smtClean="0">
                          <a:latin typeface="Cambria Math" panose="02040503050406030204" pitchFamily="18" charset="0"/>
                        </a:rPr>
                        <m:t>𝑚</m:t>
                      </m:r>
                      <m:r>
                        <a:rPr lang="fr-FR" b="0" i="1" smtClean="0">
                          <a:latin typeface="Cambria Math" panose="02040503050406030204" pitchFamily="18" charset="0"/>
                        </a:rPr>
                        <m:t>+</m:t>
                      </m:r>
                      <m:d>
                        <m:dPr>
                          <m:ctrlPr>
                            <a:rPr lang="fr-FR" b="0" i="1" smtClean="0">
                              <a:latin typeface="Cambria Math" panose="02040503050406030204" pitchFamily="18" charset="0"/>
                            </a:rPr>
                          </m:ctrlPr>
                        </m:dPr>
                        <m:e>
                          <m:r>
                            <a:rPr lang="fr-FR" b="0" i="1" smtClean="0">
                              <a:latin typeface="Cambria Math" panose="02040503050406030204" pitchFamily="18" charset="0"/>
                            </a:rPr>
                            <m:t>1−</m:t>
                          </m:r>
                          <m:sSub>
                            <m:sSubPr>
                              <m:ctrlPr>
                                <a:rPr lang="fr-FR" b="0" i="1" smtClean="0">
                                  <a:latin typeface="Cambria Math" panose="02040503050406030204" pitchFamily="18" charset="0"/>
                                </a:rPr>
                              </m:ctrlPr>
                            </m:sSubPr>
                            <m:e>
                              <m:r>
                                <a:rPr lang="fr-FR" b="0" i="1" smtClean="0">
                                  <a:latin typeface="Cambria Math" panose="02040503050406030204" pitchFamily="18" charset="0"/>
                                </a:rPr>
                                <m:t>𝛽</m:t>
                              </m:r>
                            </m:e>
                            <m:sub>
                              <m:r>
                                <a:rPr lang="fr-FR" b="0" i="1" smtClean="0">
                                  <a:latin typeface="Cambria Math" panose="02040503050406030204" pitchFamily="18" charset="0"/>
                                </a:rPr>
                                <m:t>1</m:t>
                              </m:r>
                            </m:sub>
                          </m:sSub>
                        </m:e>
                      </m:d>
                      <m:r>
                        <m:rPr>
                          <m:sty m:val="p"/>
                        </m:rPr>
                        <a:rPr lang="fr-FR" b="0" i="0" smtClean="0">
                          <a:latin typeface="Cambria Math" panose="02040503050406030204" pitchFamily="18" charset="0"/>
                        </a:rPr>
                        <m:t>∇L</m:t>
                      </m:r>
                    </m:oMath>
                  </m:oMathPara>
                </a14:m>
                <a:endParaRPr lang="fr-FR" b="0" dirty="0"/>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r>
                        <a:rPr lang="fr-FR" b="0" i="1" smtClean="0">
                          <a:latin typeface="Cambria Math" panose="02040503050406030204" pitchFamily="18" charset="0"/>
                        </a:rPr>
                        <m:t>𝑠</m:t>
                      </m:r>
                      <m:r>
                        <a:rPr lang="fr-FR" b="0" i="1" smtClean="0">
                          <a:latin typeface="Cambria Math" panose="02040503050406030204" pitchFamily="18" charset="0"/>
                        </a:rPr>
                        <m:t>=</m:t>
                      </m:r>
                      <m:sSub>
                        <m:sSubPr>
                          <m:ctrlPr>
                            <a:rPr lang="fr-FR" b="0" i="1" smtClean="0">
                              <a:latin typeface="Cambria Math" panose="02040503050406030204" pitchFamily="18" charset="0"/>
                            </a:rPr>
                          </m:ctrlPr>
                        </m:sSubPr>
                        <m:e>
                          <m:r>
                            <a:rPr lang="fr-FR" b="0" i="1" smtClean="0">
                              <a:latin typeface="Cambria Math" panose="02040503050406030204" pitchFamily="18" charset="0"/>
                            </a:rPr>
                            <m:t>𝛽</m:t>
                          </m:r>
                        </m:e>
                        <m:sub>
                          <m:r>
                            <a:rPr lang="fr-FR" b="0" i="1" smtClean="0">
                              <a:latin typeface="Cambria Math" panose="02040503050406030204" pitchFamily="18" charset="0"/>
                            </a:rPr>
                            <m:t>2</m:t>
                          </m:r>
                        </m:sub>
                      </m:sSub>
                      <m:r>
                        <a:rPr lang="fr-FR" b="0" i="1" smtClean="0">
                          <a:latin typeface="Cambria Math" panose="02040503050406030204" pitchFamily="18" charset="0"/>
                        </a:rPr>
                        <m:t>𝑠</m:t>
                      </m:r>
                      <m:r>
                        <a:rPr lang="fr-FR" b="0" i="1" smtClean="0">
                          <a:latin typeface="Cambria Math" panose="02040503050406030204" pitchFamily="18" charset="0"/>
                        </a:rPr>
                        <m:t>+</m:t>
                      </m:r>
                      <m:d>
                        <m:dPr>
                          <m:ctrlPr>
                            <a:rPr lang="fr-FR" b="0" i="1" smtClean="0">
                              <a:latin typeface="Cambria Math" panose="02040503050406030204" pitchFamily="18" charset="0"/>
                            </a:rPr>
                          </m:ctrlPr>
                        </m:dPr>
                        <m:e>
                          <m:r>
                            <a:rPr lang="fr-FR" b="0" i="1" smtClean="0">
                              <a:latin typeface="Cambria Math" panose="02040503050406030204" pitchFamily="18" charset="0"/>
                            </a:rPr>
                            <m:t>1−</m:t>
                          </m:r>
                          <m:sSub>
                            <m:sSubPr>
                              <m:ctrlPr>
                                <a:rPr lang="fr-FR" b="0" i="1" smtClean="0">
                                  <a:latin typeface="Cambria Math" panose="02040503050406030204" pitchFamily="18" charset="0"/>
                                </a:rPr>
                              </m:ctrlPr>
                            </m:sSubPr>
                            <m:e>
                              <m:r>
                                <a:rPr lang="fr-FR" b="0" i="1" smtClean="0">
                                  <a:latin typeface="Cambria Math" panose="02040503050406030204" pitchFamily="18" charset="0"/>
                                </a:rPr>
                                <m:t>𝛽</m:t>
                              </m:r>
                            </m:e>
                            <m:sub>
                              <m:r>
                                <a:rPr lang="fr-FR" b="0" i="1" smtClean="0">
                                  <a:latin typeface="Cambria Math" panose="02040503050406030204" pitchFamily="18" charset="0"/>
                                </a:rPr>
                                <m:t>2</m:t>
                              </m:r>
                            </m:sub>
                          </m:sSub>
                        </m:e>
                      </m:d>
                      <m:r>
                        <m:rPr>
                          <m:sty m:val="p"/>
                        </m:rPr>
                        <a:rPr lang="fr-FR" b="0" i="0" smtClean="0">
                          <a:latin typeface="Cambria Math" panose="02040503050406030204" pitchFamily="18" charset="0"/>
                        </a:rPr>
                        <m:t>∇</m:t>
                      </m:r>
                      <m:sSup>
                        <m:sSupPr>
                          <m:ctrlPr>
                            <a:rPr lang="fr-FR" b="0" i="1" smtClean="0">
                              <a:latin typeface="Cambria Math" panose="02040503050406030204" pitchFamily="18" charset="0"/>
                            </a:rPr>
                          </m:ctrlPr>
                        </m:sSupPr>
                        <m:e>
                          <m:r>
                            <m:rPr>
                              <m:sty m:val="p"/>
                            </m:rPr>
                            <a:rPr lang="fr-FR" b="0" i="0" smtClean="0">
                              <a:latin typeface="Cambria Math" panose="02040503050406030204" pitchFamily="18" charset="0"/>
                            </a:rPr>
                            <m:t>L</m:t>
                          </m:r>
                        </m:e>
                        <m:sup>
                          <m:r>
                            <a:rPr lang="fr-FR" b="0" i="1" smtClean="0">
                              <a:latin typeface="Cambria Math" panose="02040503050406030204" pitchFamily="18" charset="0"/>
                            </a:rPr>
                            <m:t>2</m:t>
                          </m:r>
                        </m:sup>
                      </m:sSup>
                    </m:oMath>
                  </m:oMathPara>
                </a14:m>
                <a:endParaRPr lang="en-GB" dirty="0"/>
              </a:p>
              <a:p>
                <a:pPr marL="0" indent="0">
                  <a:buNone/>
                </a:pPr>
                <a:endParaRPr lang="en-GB" sz="1200" dirty="0"/>
              </a:p>
              <a:p>
                <a:pPr marL="0" indent="0">
                  <a:buNone/>
                </a:pPr>
                <a:r>
                  <a:rPr lang="en-GB" sz="1600" dirty="0"/>
                  <a:t>The weight update step is then </a:t>
                </a:r>
                <a14:m>
                  <m:oMath xmlns:m="http://schemas.openxmlformats.org/officeDocument/2006/math">
                    <m:r>
                      <a:rPr lang="fr-FR" sz="1600" b="0" i="1" smtClean="0">
                        <a:latin typeface="Cambria Math" panose="02040503050406030204" pitchFamily="18" charset="0"/>
                      </a:rPr>
                      <m:t>𝑚</m:t>
                    </m:r>
                  </m:oMath>
                </a14:m>
                <a:r>
                  <a:rPr lang="en-GB" sz="1600" dirty="0"/>
                  <a:t> </a:t>
                </a:r>
              </a:p>
              <a:p>
                <a:pPr marL="0" indent="0">
                  <a:buNone/>
                </a:pPr>
                <a14:m>
                  <m:oMathPara xmlns:m="http://schemas.openxmlformats.org/officeDocument/2006/math">
                    <m:oMathParaPr>
                      <m:jc m:val="centerGroup"/>
                    </m:oMathParaPr>
                    <m:oMath xmlns:m="http://schemas.openxmlformats.org/officeDocument/2006/math">
                      <m:sSub>
                        <m:sSubPr>
                          <m:ctrlPr>
                            <a:rPr lang="fr-FR" b="0" i="1" smtClean="0">
                              <a:latin typeface="Cambria Math" panose="02040503050406030204" pitchFamily="18" charset="0"/>
                            </a:rPr>
                          </m:ctrlPr>
                        </m:sSubPr>
                        <m:e>
                          <m:r>
                            <a:rPr lang="fr-FR" b="0" i="1" smtClean="0">
                              <a:latin typeface="Cambria Math" panose="02040503050406030204" pitchFamily="18" charset="0"/>
                            </a:rPr>
                            <m:t>𝜔</m:t>
                          </m:r>
                        </m:e>
                        <m:sub>
                          <m:r>
                            <a:rPr lang="fr-FR" b="0" i="1" smtClean="0">
                              <a:latin typeface="Cambria Math" panose="02040503050406030204" pitchFamily="18" charset="0"/>
                            </a:rPr>
                            <m:t>𝑡</m:t>
                          </m:r>
                          <m:r>
                            <a:rPr lang="fr-FR" b="0" i="1" smtClean="0">
                              <a:latin typeface="Cambria Math" panose="02040503050406030204" pitchFamily="18" charset="0"/>
                            </a:rPr>
                            <m:t>+1</m:t>
                          </m:r>
                        </m:sub>
                      </m:sSub>
                      <m:r>
                        <a:rPr lang="fr-FR" b="0" i="1" smtClean="0">
                          <a:latin typeface="Cambria Math" panose="02040503050406030204" pitchFamily="18" charset="0"/>
                        </a:rPr>
                        <m:t>=</m:t>
                      </m:r>
                      <m:sSub>
                        <m:sSubPr>
                          <m:ctrlPr>
                            <a:rPr lang="fr-FR" b="0" i="1" smtClean="0">
                              <a:latin typeface="Cambria Math" panose="02040503050406030204" pitchFamily="18" charset="0"/>
                            </a:rPr>
                          </m:ctrlPr>
                        </m:sSubPr>
                        <m:e>
                          <m:r>
                            <a:rPr lang="fr-FR" b="0" i="1" smtClean="0">
                              <a:latin typeface="Cambria Math" panose="02040503050406030204" pitchFamily="18" charset="0"/>
                            </a:rPr>
                            <m:t>𝜔</m:t>
                          </m:r>
                        </m:e>
                        <m:sub>
                          <m:r>
                            <a:rPr lang="fr-FR" b="0" i="1" smtClean="0">
                              <a:latin typeface="Cambria Math" panose="02040503050406030204" pitchFamily="18" charset="0"/>
                            </a:rPr>
                            <m:t>𝑡</m:t>
                          </m:r>
                        </m:sub>
                      </m:sSub>
                      <m:r>
                        <a:rPr lang="fr-FR" b="0" i="1" smtClean="0">
                          <a:latin typeface="Cambria Math" panose="02040503050406030204" pitchFamily="18" charset="0"/>
                        </a:rPr>
                        <m:t>−</m:t>
                      </m:r>
                      <m:r>
                        <a:rPr lang="fr-FR" b="0" i="1" smtClean="0">
                          <a:latin typeface="Cambria Math" panose="02040503050406030204" pitchFamily="18" charset="0"/>
                        </a:rPr>
                        <m:t>𝛼</m:t>
                      </m:r>
                      <m:f>
                        <m:fPr>
                          <m:ctrlPr>
                            <a:rPr lang="fr-FR" b="0" i="1" smtClean="0">
                              <a:latin typeface="Cambria Math" panose="02040503050406030204" pitchFamily="18" charset="0"/>
                            </a:rPr>
                          </m:ctrlPr>
                        </m:fPr>
                        <m:num>
                          <m:r>
                            <a:rPr lang="fr-FR" b="0" i="1" smtClean="0">
                              <a:latin typeface="Cambria Math" panose="02040503050406030204" pitchFamily="18" charset="0"/>
                            </a:rPr>
                            <m:t>𝑚</m:t>
                          </m:r>
                        </m:num>
                        <m:den>
                          <m:rad>
                            <m:radPr>
                              <m:degHide m:val="on"/>
                              <m:ctrlPr>
                                <a:rPr lang="fr-FR" b="0" i="1" smtClean="0">
                                  <a:latin typeface="Cambria Math" panose="02040503050406030204" pitchFamily="18" charset="0"/>
                                </a:rPr>
                              </m:ctrlPr>
                            </m:radPr>
                            <m:deg/>
                            <m:e>
                              <m:r>
                                <a:rPr lang="fr-FR" b="0" i="1" smtClean="0">
                                  <a:latin typeface="Cambria Math" panose="02040503050406030204" pitchFamily="18" charset="0"/>
                                </a:rPr>
                                <m:t>𝑠</m:t>
                              </m:r>
                              <m:r>
                                <a:rPr lang="fr-FR" b="0" i="1" smtClean="0">
                                  <a:latin typeface="Cambria Math" panose="02040503050406030204" pitchFamily="18" charset="0"/>
                                </a:rPr>
                                <m:t>+</m:t>
                              </m:r>
                              <m:r>
                                <a:rPr lang="fr-FR" b="0" i="1" smtClean="0">
                                  <a:latin typeface="Cambria Math" panose="02040503050406030204" pitchFamily="18" charset="0"/>
                                </a:rPr>
                                <m:t>𝜖</m:t>
                              </m:r>
                            </m:e>
                          </m:rad>
                        </m:den>
                      </m:f>
                    </m:oMath>
                  </m:oMathPara>
                </a14:m>
                <a:endParaRPr lang="en-GB" dirty="0"/>
              </a:p>
              <a:p>
                <a:pPr marL="0" indent="0">
                  <a:buNone/>
                </a:pPr>
                <a:r>
                  <a:rPr lang="en-GB" sz="1600" noProof="0" dirty="0"/>
                  <a:t>It is an average of average.</a:t>
                </a:r>
              </a:p>
              <a:p>
                <a:pPr marL="0" indent="0">
                  <a:buNone/>
                </a:pPr>
                <a:endParaRPr lang="en-GB" sz="1600" dirty="0"/>
              </a:p>
            </p:txBody>
          </p:sp>
        </mc:Choice>
        <mc:Fallback xmlns="">
          <p:sp>
            <p:nvSpPr>
              <p:cNvPr id="8" name="Espace réservé du contenu 2">
                <a:extLst>
                  <a:ext uri="{FF2B5EF4-FFF2-40B4-BE49-F238E27FC236}">
                    <a16:creationId xmlns:a16="http://schemas.microsoft.com/office/drawing/2014/main" id="{E1A6C9C9-9F0D-4723-0B00-6C4FA6B588C9}"/>
                  </a:ext>
                </a:extLst>
              </p:cNvPr>
              <p:cNvSpPr>
                <a:spLocks noGrp="1" noRot="1" noChangeAspect="1" noMove="1" noResize="1" noEditPoints="1" noAdjustHandles="1" noChangeArrowheads="1" noChangeShapeType="1" noTextEdit="1"/>
              </p:cNvSpPr>
              <p:nvPr>
                <p:ph idx="1"/>
              </p:nvPr>
            </p:nvSpPr>
            <p:spPr>
              <a:xfrm>
                <a:off x="838199" y="1825624"/>
                <a:ext cx="10853057" cy="4530726"/>
              </a:xfrm>
              <a:blipFill>
                <a:blip r:embed="rId3"/>
                <a:stretch>
                  <a:fillRect l="-234" t="-838"/>
                </a:stretch>
              </a:blipFill>
            </p:spPr>
            <p:txBody>
              <a:bodyPr/>
              <a:lstStyle/>
              <a:p>
                <a:r>
                  <a:rPr lang="en-GB">
                    <a:noFill/>
                  </a:rPr>
                  <a:t> </a:t>
                </a:r>
              </a:p>
            </p:txBody>
          </p:sp>
        </mc:Fallback>
      </mc:AlternateContent>
    </p:spTree>
    <p:extLst>
      <p:ext uri="{BB962C8B-B14F-4D97-AF65-F5344CB8AC3E}">
        <p14:creationId xmlns:p14="http://schemas.microsoft.com/office/powerpoint/2010/main" val="21537201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0808A1-91AD-90F0-485E-C408D750B97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34C00E4-B466-A83A-A866-9D30AE27FDEF}"/>
              </a:ext>
            </a:extLst>
          </p:cNvPr>
          <p:cNvSpPr>
            <a:spLocks noGrp="1"/>
          </p:cNvSpPr>
          <p:nvPr>
            <p:ph type="title"/>
          </p:nvPr>
        </p:nvSpPr>
        <p:spPr/>
        <p:txBody>
          <a:bodyPr/>
          <a:lstStyle/>
          <a:p>
            <a:r>
              <a:rPr lang="en-GB" b="1" dirty="0"/>
              <a:t>Adaptive optimizers</a:t>
            </a:r>
          </a:p>
        </p:txBody>
      </p:sp>
      <p:sp>
        <p:nvSpPr>
          <p:cNvPr id="4" name="Espace réservé du pied de page 3">
            <a:extLst>
              <a:ext uri="{FF2B5EF4-FFF2-40B4-BE49-F238E27FC236}">
                <a16:creationId xmlns:a16="http://schemas.microsoft.com/office/drawing/2014/main" id="{02D492D2-BD05-3E36-71D4-C0EFD3BC5F78}"/>
              </a:ext>
            </a:extLst>
          </p:cNvPr>
          <p:cNvSpPr>
            <a:spLocks noGrp="1"/>
          </p:cNvSpPr>
          <p:nvPr>
            <p:ph type="ftr" sz="quarter" idx="11"/>
          </p:nvPr>
        </p:nvSpPr>
        <p:spPr/>
        <p:txBody>
          <a:bodyPr/>
          <a:lstStyle/>
          <a:p>
            <a:r>
              <a:rPr lang="fr-FR"/>
              <a:t>Introduction to Neural Networks. Author: David Thébault</a:t>
            </a:r>
          </a:p>
        </p:txBody>
      </p:sp>
      <p:sp>
        <p:nvSpPr>
          <p:cNvPr id="8" name="Espace réservé du contenu 2">
            <a:extLst>
              <a:ext uri="{FF2B5EF4-FFF2-40B4-BE49-F238E27FC236}">
                <a16:creationId xmlns:a16="http://schemas.microsoft.com/office/drawing/2014/main" id="{777EF34C-EE68-1DF3-8488-D986F439CE49}"/>
              </a:ext>
            </a:extLst>
          </p:cNvPr>
          <p:cNvSpPr>
            <a:spLocks noGrp="1"/>
          </p:cNvSpPr>
          <p:nvPr>
            <p:ph idx="1"/>
          </p:nvPr>
        </p:nvSpPr>
        <p:spPr>
          <a:xfrm>
            <a:off x="838199" y="1825624"/>
            <a:ext cx="10998201" cy="4530726"/>
          </a:xfrm>
        </p:spPr>
        <p:txBody>
          <a:bodyPr lIns="90000">
            <a:noAutofit/>
          </a:bodyPr>
          <a:lstStyle/>
          <a:p>
            <a:pPr marL="0" indent="0">
              <a:buNone/>
            </a:pPr>
            <a:r>
              <a:rPr lang="en-GB" sz="1600" dirty="0"/>
              <a:t>Others adaptive others Nesterov Accelerated Gradient (NAG), </a:t>
            </a:r>
            <a:r>
              <a:rPr lang="en-GB" sz="1600" dirty="0" err="1"/>
              <a:t>Nadam</a:t>
            </a:r>
            <a:r>
              <a:rPr lang="en-GB" sz="1600" dirty="0"/>
              <a:t> (NAG + Adam), </a:t>
            </a:r>
            <a:r>
              <a:rPr lang="en-GB" sz="1600" dirty="0" err="1"/>
              <a:t>Adamax</a:t>
            </a:r>
            <a:r>
              <a:rPr lang="en-GB" sz="1600" dirty="0"/>
              <a:t>.</a:t>
            </a:r>
          </a:p>
          <a:p>
            <a:pPr marL="0" indent="0">
              <a:buNone/>
            </a:pPr>
            <a:endParaRPr lang="en-GB" sz="1600" dirty="0"/>
          </a:p>
          <a:p>
            <a:pPr marL="0" indent="0">
              <a:buNone/>
            </a:pPr>
            <a:r>
              <a:rPr lang="en-GB" sz="1600" dirty="0"/>
              <a:t>In practice, start with RMSProp or Adam and if it does work move to NAG or </a:t>
            </a:r>
            <a:r>
              <a:rPr lang="en-GB" sz="1600" dirty="0" err="1"/>
              <a:t>Nadam</a:t>
            </a:r>
            <a:r>
              <a:rPr lang="en-GB" sz="1600" dirty="0"/>
              <a:t>.</a:t>
            </a:r>
          </a:p>
          <a:p>
            <a:pPr marL="0" indent="0">
              <a:buNone/>
            </a:pPr>
            <a:endParaRPr lang="en-GB" sz="1600" dirty="0"/>
          </a:p>
          <a:p>
            <a:pPr marL="0" indent="0">
              <a:buNone/>
            </a:pPr>
            <a:r>
              <a:rPr lang="en-GB" sz="1600" dirty="0"/>
              <a:t>In fact, local minima are rarely a problem, with a complex surface, most minima are often “good enough” for generalization.</a:t>
            </a:r>
          </a:p>
        </p:txBody>
      </p:sp>
    </p:spTree>
    <p:extLst>
      <p:ext uri="{BB962C8B-B14F-4D97-AF65-F5344CB8AC3E}">
        <p14:creationId xmlns:p14="http://schemas.microsoft.com/office/powerpoint/2010/main" val="1814396761"/>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27182</TotalTime>
  <Words>2182</Words>
  <Application>Microsoft Macintosh PowerPoint</Application>
  <PresentationFormat>Grand écran</PresentationFormat>
  <Paragraphs>206</Paragraphs>
  <Slides>16</Slides>
  <Notes>7</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16</vt:i4>
      </vt:variant>
    </vt:vector>
  </HeadingPairs>
  <TitlesOfParts>
    <vt:vector size="23" baseType="lpstr">
      <vt:lpstr>Aptos</vt:lpstr>
      <vt:lpstr>Aptos Display</vt:lpstr>
      <vt:lpstr>Arial</vt:lpstr>
      <vt:lpstr>Cambria Math</vt:lpstr>
      <vt:lpstr>Menlo</vt:lpstr>
      <vt:lpstr>ui-sans-serif</vt:lpstr>
      <vt:lpstr>Thème Office</vt:lpstr>
      <vt:lpstr>Introduction to  Neural Network </vt:lpstr>
      <vt:lpstr>Optimizers</vt:lpstr>
      <vt:lpstr>A bit of vocabulary: epochs vs iterations</vt:lpstr>
      <vt:lpstr>Gradient descent types</vt:lpstr>
      <vt:lpstr>Gradient descent types</vt:lpstr>
      <vt:lpstr>Gradient descent types</vt:lpstr>
      <vt:lpstr>The Learning rate α</vt:lpstr>
      <vt:lpstr>The Learning rate α</vt:lpstr>
      <vt:lpstr>Escaping Local Minima</vt:lpstr>
      <vt:lpstr>Adding some Momentum</vt:lpstr>
      <vt:lpstr>Adding some Momentum</vt:lpstr>
      <vt:lpstr>Adding some Momentum</vt:lpstr>
      <vt:lpstr>Adaptative optimizer RMSProp</vt:lpstr>
      <vt:lpstr>Adaptative Moment Estimation: Adam</vt:lpstr>
      <vt:lpstr>Adaptative Moment Estimation: Adam</vt:lpstr>
      <vt:lpstr>Adaptive optimizers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David THEBAULT</dc:creator>
  <cp:lastModifiedBy>David THEBAULT</cp:lastModifiedBy>
  <cp:revision>312</cp:revision>
  <dcterms:created xsi:type="dcterms:W3CDTF">2024-11-11T16:09:09Z</dcterms:created>
  <dcterms:modified xsi:type="dcterms:W3CDTF">2025-01-18T14:11:29Z</dcterms:modified>
</cp:coreProperties>
</file>