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65" r:id="rId4"/>
    <p:sldId id="274" r:id="rId5"/>
    <p:sldId id="270" r:id="rId6"/>
    <p:sldId id="271" r:id="rId7"/>
    <p:sldId id="272" r:id="rId8"/>
    <p:sldId id="273" r:id="rId9"/>
    <p:sldId id="264" r:id="rId10"/>
    <p:sldId id="266" r:id="rId1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35"/>
    <p:restoredTop sz="88595"/>
  </p:normalViewPr>
  <p:slideViewPr>
    <p:cSldViewPr snapToGrid="0">
      <p:cViewPr varScale="1">
        <p:scale>
          <a:sx n="91" d="100"/>
          <a:sy n="91" d="100"/>
        </p:scale>
        <p:origin x="65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69401A-D510-3145-A5CD-9798280D1D61}" type="datetimeFigureOut">
              <a:rPr lang="en-GB" smtClean="0"/>
              <a:t>12/01/2025</a:t>
            </a:fld>
            <a:endParaRPr lang="en-GB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84FA35-352E-7345-BF43-1862644F8DF7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7154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noProof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0F5B79-958C-7D41-A64D-F75AF3759245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91864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61749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B643FB-E77D-8BD9-248F-CC709977A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6983F8D2-3529-1396-86C3-98F82819CB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726E3A6-A56B-5EEE-D7AA-87A536EE71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A911EC3-8AE6-35E1-3D25-17AD1CD6E5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240071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ECF7ED-129B-8769-BC93-B83C9F414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31F1BE2-DE77-8BFB-A86F-A809CA5BBA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E50F1A45-0B23-0596-7077-9E34F065C6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673B184-A564-E2D5-26FA-96E90FF399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9468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4F8E8-66D1-ACD8-0CDD-A117B7592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37407B9-4769-30B6-F723-0EB7C25459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18EC486C-1D1C-846D-94A6-A0BB6CA69E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50DC940-7ECE-07A3-85AF-12739069CC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7087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6C64E-47C1-7DA6-9E98-A99A3C08E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C7423B89-98A5-CA19-E22E-8A1E36EAB3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3875AB8-4C73-C3B0-9C7E-6014FAE032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CEA0F8F-644C-8CE4-F858-FE79410308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45044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6963C-8F39-64A1-C794-450F8BF2A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2D56C049-E5FD-2C8B-1BDD-C3FB56EE8E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0F399A68-D925-38F1-F67C-E7F9BE32BF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A4A0524-6E13-BEE3-A6D7-0CB4FE1740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324387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646013-FA17-CE41-E658-40EF9ADC0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C93935AA-B085-FADA-A425-BF8FBAB8C6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75B634D3-0120-7005-3C22-75BB5FADC8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ts val="1350"/>
              </a:lnSpc>
            </a:pPr>
            <a:r>
              <a:rPr lang="en-GB" sz="1200" b="0" i="1" noProof="0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Note that the as a MCMC algorithm, the Gibbs sampler is not guaranteed to converge to the true distribution.</a:t>
            </a:r>
            <a:endParaRPr lang="en-GB" sz="1200" b="0" noProof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1200" b="0" i="1" noProof="0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and the samples generated by the Gibbs sampler are not independent.</a:t>
            </a:r>
            <a:endParaRPr lang="en-GB" sz="1200" b="0" noProof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endParaRPr lang="en-GB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F115AC1-9524-6FB3-2D1A-E1721EB3D0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933233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1A8BF-CC30-A228-1D23-779321754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671CD78-E927-8762-B52B-2D28284B1C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A665CE3B-0C3A-0D44-2A96-B90527021A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388EB54-AC07-27F4-9E25-5863A974F7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14171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EAFCF-2356-F766-40C7-D8C7E99D2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7B3DD9D-A925-995A-9440-B4212679BB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7251B2C6-C8F9-CA26-8500-C7D8351E60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57D5941-1E08-C99F-D001-C3E4794341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87168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3E70CBD-2044-C166-ECB4-B5E04FF864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C113E5F-03C3-18E2-FCEF-5EAEF2C2B9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5C1DD83-75D3-0C57-B17D-46F385BA6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02A82-6BE8-724E-9810-84149E189E03}" type="datetimeFigureOut">
              <a:rPr lang="en-GB" smtClean="0"/>
              <a:t>12/01/2025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8EF8CD5-AF43-340E-75EC-21C2B99D8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D594F8B-F444-CF76-5EAE-14902605D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48709-7933-CF43-A482-AAE2AC3A11A9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6571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F54153C-B194-04D9-AC8D-003346E22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5A136BF-46C1-85DC-CF58-09624E2677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3F97642-BEEC-650E-EA28-95D472DAD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02A82-6BE8-724E-9810-84149E189E03}" type="datetimeFigureOut">
              <a:rPr lang="en-GB" smtClean="0"/>
              <a:t>12/01/2025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F707D93-390F-6441-C146-2B8599DEA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C2AC055-10B4-3F39-8AF0-72A1AFA5D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48709-7933-CF43-A482-AAE2AC3A11A9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3200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313DB80-C408-70FB-F92B-852E9DFC1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0B06203-602E-FF20-5EAF-5651685DF8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53AEE4A-0AF7-F59F-CEF3-BCB5EC068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02A82-6BE8-724E-9810-84149E189E03}" type="datetimeFigureOut">
              <a:rPr lang="en-GB" smtClean="0"/>
              <a:t>12/01/2025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F86623A-8EE1-2AB8-8D88-AB6FAF5C4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BB31BB0-EE25-7CDD-ED6A-EF71DB6E3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48709-7933-CF43-A482-AAE2AC3A11A9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9467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67BC5CC-1612-2E99-2360-C7D7D486C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0D4BAF8-9419-2659-12F9-380BD70C8D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F0CAAE3-48EA-C79D-F0A5-B2B943022D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86844DB-D409-6593-C0DD-A16B2335C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02A82-6BE8-724E-9810-84149E189E03}" type="datetimeFigureOut">
              <a:rPr lang="en-GB" smtClean="0"/>
              <a:t>12/01/2025</a:t>
            </a:fld>
            <a:endParaRPr lang="en-GB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67D7F13-441C-3514-1FE6-D3BA24560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63C3FED-9F80-58AC-68DA-7E13756FC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48709-7933-CF43-A482-AAE2AC3A11A9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3597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764877B-3675-9701-F7F5-6057C2D37B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1A65331-88C9-A910-C951-A7A61B8B87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314EF64-F5B6-2969-12C0-3A7250E20D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A2EFC147-85CD-625A-49C9-55DAEF6099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AEB3046F-283D-EAE3-B76D-56B029DF50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D0EBE3F1-204E-6CDB-AA11-687ABE643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02A82-6BE8-724E-9810-84149E189E03}" type="datetimeFigureOut">
              <a:rPr lang="en-GB" smtClean="0"/>
              <a:t>12/01/2025</a:t>
            </a:fld>
            <a:endParaRPr lang="en-GB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BE7894E7-148D-9F3B-FCB5-1C4793704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5A3C6896-5632-CB3E-5EE9-1EA4B5335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48709-7933-CF43-A482-AAE2AC3A11A9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47120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3D1066-12A6-77B4-A50C-5E7982664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9710CDE-733F-C7D0-D838-8B83DB368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02A82-6BE8-724E-9810-84149E189E03}" type="datetimeFigureOut">
              <a:rPr lang="en-GB" smtClean="0"/>
              <a:t>12/01/2025</a:t>
            </a:fld>
            <a:endParaRPr lang="en-GB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6DC78F9-8F1B-313E-25EC-2AADF2FD9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910B4FF-8DFC-6FDB-161B-27B99A460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48709-7933-CF43-A482-AAE2AC3A11A9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80257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16777153-E75F-C824-E8BE-8990E8DDC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02A82-6BE8-724E-9810-84149E189E03}" type="datetimeFigureOut">
              <a:rPr lang="en-GB" smtClean="0"/>
              <a:t>12/01/2025</a:t>
            </a:fld>
            <a:endParaRPr lang="en-GB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99D7FDB-C2A0-754F-B712-C081D0C95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81DB440-D618-FB26-E611-FF2BCCF13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48709-7933-CF43-A482-AAE2AC3A11A9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80466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2515FC-C0B9-85EB-61A3-3FB0A9336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06E78D8-7A37-3A64-22F4-9321C88224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4267898-BFC1-2176-8903-0B5D991FB0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CB55939-A8B1-F021-5D5D-FFA666960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02A82-6BE8-724E-9810-84149E189E03}" type="datetimeFigureOut">
              <a:rPr lang="en-GB" smtClean="0"/>
              <a:t>12/01/2025</a:t>
            </a:fld>
            <a:endParaRPr lang="en-GB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9990A93-5E36-45AC-F49E-1ED8CFFA7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D5FC3F0-B696-254C-1328-CD7A01678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48709-7933-CF43-A482-AAE2AC3A11A9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9339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DCC3365-739C-42C1-39EB-B805766218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C391ACDD-07B4-E6CE-3F24-AC97D05F63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D245B25-0A03-5829-5651-A8D28FC246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3368B7E-EFBF-1624-412E-274A73EB1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02A82-6BE8-724E-9810-84149E189E03}" type="datetimeFigureOut">
              <a:rPr lang="en-GB" smtClean="0"/>
              <a:t>12/01/2025</a:t>
            </a:fld>
            <a:endParaRPr lang="en-GB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367AF3E-4163-77DE-29E7-05056030B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86E3F94-DD4B-4118-5C03-54C7B05DC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48709-7933-CF43-A482-AAE2AC3A11A9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47913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F92E0B-B550-E988-3CCB-FFF97B48B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C283FFD-55BE-9721-6D74-62C2583BEF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F25E748-CA56-BFB6-3A92-F8AFC219C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02A82-6BE8-724E-9810-84149E189E03}" type="datetimeFigureOut">
              <a:rPr lang="en-GB" smtClean="0"/>
              <a:t>12/01/2025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07DF5BF-1E2A-AB40-A2A7-F6FFF90E5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5659DFB-7AAF-6495-BEA9-CE850044E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48709-7933-CF43-A482-AAE2AC3A11A9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37479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41E121DC-A2B1-952E-113E-11295ABD17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258FDE7-8E1E-BAC5-862E-88052E59C8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9089BB4-3887-F8C0-801B-B89FAD0AF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02A82-6BE8-724E-9810-84149E189E03}" type="datetimeFigureOut">
              <a:rPr lang="en-GB" smtClean="0"/>
              <a:t>12/01/2025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14785C4-BBA7-49D2-52EB-8DC6D8631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547BE72-105F-866E-95CF-0E8203C51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48709-7933-CF43-A482-AAE2AC3A11A9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7987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E41734BF-6DF7-E3AC-4872-A490DD669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3481795-F1E3-7BED-8D75-DD849C3DB2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04B7897-1F7C-84D1-5F86-0FB9E94865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802A82-6BE8-724E-9810-84149E189E03}" type="datetimeFigureOut">
              <a:rPr lang="en-GB" smtClean="0"/>
              <a:t>12/01/2025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7F2713B-38B1-FC93-6F14-8B00FB41A3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24D7ACB-FB9A-CF0E-9C5E-A2EEC20786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548709-7933-CF43-A482-AAE2AC3A11A9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5920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6F56B84-BFA1-BA9A-1552-59B724FBA9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noProof="0" dirty="0"/>
              <a:t>Gibbs Sampling</a:t>
            </a:r>
            <a:endParaRPr lang="fr-FR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0571C27-E009-ADD7-40B4-859AAF7C8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Gibbs Sampling. Author: David Thébault</a:t>
            </a:r>
          </a:p>
        </p:txBody>
      </p:sp>
    </p:spTree>
    <p:extLst>
      <p:ext uri="{BB962C8B-B14F-4D97-AF65-F5344CB8AC3E}">
        <p14:creationId xmlns:p14="http://schemas.microsoft.com/office/powerpoint/2010/main" val="12996678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94A8439-9850-DBFA-890A-1A6B7ED1A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Gibbs sampling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B336254-BF5B-D5F4-FDE7-9B8877DA5C0C}"/>
              </a:ext>
            </a:extLst>
          </p:cNvPr>
          <p:cNvSpPr txBox="1"/>
          <p:nvPr/>
        </p:nvSpPr>
        <p:spPr>
          <a:xfrm>
            <a:off x="838199" y="1403479"/>
            <a:ext cx="10515600" cy="4892675"/>
          </a:xfrm>
          <a:prstGeom prst="rect">
            <a:avLst/>
          </a:prstGeom>
          <a:noFill/>
        </p:spPr>
        <p:txBody>
          <a:bodyPr wrap="square" lIns="90000" rtlCol="0">
            <a:noAutofit/>
          </a:bodyPr>
          <a:lstStyle/>
          <a:p>
            <a:r>
              <a:rPr lang="en-GB" sz="2800" b="1" i="0" u="none" strike="noStrike" noProof="0" dirty="0">
                <a:effectLst/>
                <a:latin typeface="ui-sans-serif"/>
              </a:rPr>
              <a:t>The most famous Monte-Carlo Markov Chain (MCMC) algorithm</a:t>
            </a:r>
          </a:p>
          <a:p>
            <a:endParaRPr lang="en-GB" sz="2800" b="1" noProof="0" dirty="0">
              <a:latin typeface="ui-sans-serif"/>
            </a:endParaRPr>
          </a:p>
          <a:p>
            <a:r>
              <a:rPr lang="en-GB" sz="2400" b="0" i="0" u="none" strike="noStrike" noProof="0" dirty="0">
                <a:effectLst/>
                <a:latin typeface="ui-sans-serif"/>
              </a:rPr>
              <a:t>MCMC comes from Monte Carlo Markov Chain.</a:t>
            </a:r>
            <a:endParaRPr lang="en-GB" sz="2000" noProof="0" dirty="0">
              <a:latin typeface="ui-sans-serif"/>
            </a:endParaRP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§"/>
            </a:pPr>
            <a:r>
              <a:rPr lang="en-GB" sz="2000" dirty="0">
                <a:latin typeface="ui-sans-serif"/>
              </a:rPr>
              <a:t>Monte Carlo because we simulate samples to infer the target distribution.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§"/>
            </a:pPr>
            <a:r>
              <a:rPr lang="en-GB" sz="2000" dirty="0">
                <a:latin typeface="ui-sans-serif"/>
              </a:rPr>
              <a:t>Markov Chain because the next samples depends on the last sample.</a:t>
            </a:r>
            <a:endParaRPr lang="en-GB" sz="2800" noProof="0" dirty="0"/>
          </a:p>
        </p:txBody>
      </p:sp>
      <p:sp>
        <p:nvSpPr>
          <p:cNvPr id="6" name="Espace réservé du pied de page 2">
            <a:extLst>
              <a:ext uri="{FF2B5EF4-FFF2-40B4-BE49-F238E27FC236}">
                <a16:creationId xmlns:a16="http://schemas.microsoft.com/office/drawing/2014/main" id="{7B2E440C-0D83-2118-BBE4-48ECA74D5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GB" noProof="0" dirty="0"/>
              <a:t>Gibbs sampling. Author: David Thébault</a:t>
            </a:r>
          </a:p>
        </p:txBody>
      </p:sp>
    </p:spTree>
    <p:extLst>
      <p:ext uri="{BB962C8B-B14F-4D97-AF65-F5344CB8AC3E}">
        <p14:creationId xmlns:p14="http://schemas.microsoft.com/office/powerpoint/2010/main" val="35751342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1933F-549F-1DC7-5EAB-8C4C9041F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AC89CAB-A52F-BDE4-6C96-72D6181AD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Gibbs sampling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ZoneTexte 3">
                <a:extLst>
                  <a:ext uri="{FF2B5EF4-FFF2-40B4-BE49-F238E27FC236}">
                    <a16:creationId xmlns:a16="http://schemas.microsoft.com/office/drawing/2014/main" id="{2B7337B9-0082-A977-1D0B-56C3CF3A8A34}"/>
                  </a:ext>
                </a:extLst>
              </p:cNvPr>
              <p:cNvSpPr txBox="1"/>
              <p:nvPr/>
            </p:nvSpPr>
            <p:spPr>
              <a:xfrm>
                <a:off x="838198" y="1403479"/>
                <a:ext cx="11353801" cy="4892675"/>
              </a:xfrm>
              <a:prstGeom prst="rect">
                <a:avLst/>
              </a:prstGeom>
              <a:noFill/>
            </p:spPr>
            <p:txBody>
              <a:bodyPr wrap="square" lIns="90000" rtlCol="0">
                <a:noAutofit/>
              </a:bodyPr>
              <a:lstStyle/>
              <a:p>
                <a:r>
                  <a:rPr lang="en-GB" sz="2800" b="1" i="0" u="none" strike="noStrike" noProof="0" dirty="0">
                    <a:effectLst/>
                    <a:latin typeface="ui-sans-serif"/>
                  </a:rPr>
                  <a:t>The objective the Gibb Sampling is to infer a multivariate distribution (2Dimensions or more) which is difficult to get directly.</a:t>
                </a:r>
              </a:p>
              <a:p>
                <a:endParaRPr lang="en-GB" sz="1200" b="1" noProof="0" dirty="0">
                  <a:latin typeface="ui-sans-serif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GB" sz="1600" b="0" i="0" u="none" strike="noStrike" noProof="0" dirty="0">
                    <a:effectLst/>
                    <a:latin typeface="ui-sans-serif"/>
                  </a:rPr>
                  <a:t>Classical example is the 2D Gibbs sampler (bivariate normal distribution) of the 3</a:t>
                </a:r>
                <a:r>
                  <a:rPr lang="en-GB" sz="1600" b="0" i="0" u="none" strike="noStrike" baseline="30000" noProof="0" dirty="0">
                    <a:effectLst/>
                    <a:latin typeface="ui-sans-serif"/>
                  </a:rPr>
                  <a:t>rd</a:t>
                </a:r>
                <a:r>
                  <a:rPr lang="en-GB" sz="1600" b="0" i="0" u="none" strike="noStrike" noProof="0" dirty="0">
                    <a:effectLst/>
                    <a:latin typeface="ui-sans-serif"/>
                  </a:rPr>
                  <a:t> edition of the Bayesian Data Analysis, by Gelman et al. (2013).</a:t>
                </a:r>
              </a:p>
              <a:p>
                <a:pPr marL="342900" indent="-342900">
                  <a:lnSpc>
                    <a:spcPct val="150000"/>
                  </a:lnSpc>
                  <a:buFont typeface="Wingdings" pitchFamily="2" charset="2"/>
                  <a:buChar char="§"/>
                </a:pPr>
                <a14:m>
                  <m:oMath xmlns:m="http://schemas.openxmlformats.org/officeDocument/2006/math">
                    <m:r>
                      <a:rPr lang="fr-FR" sz="1600" b="0" i="1" noProof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fr-FR" sz="1600" b="0" i="1" noProof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fr-FR" sz="1600" b="0" i="1" noProof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fr-FR" sz="1600" i="1">
                        <a:latin typeface="Cambria Math" panose="02040503050406030204" pitchFamily="18" charset="0"/>
                      </a:rPr>
                      <m:t>~</m:t>
                    </m:r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fr-FR" sz="1600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</m:d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1600" noProof="0" dirty="0">
                    <a:latin typeface="ui-sans-serif"/>
                  </a:rPr>
                  <a:t>a bivariate normal distribution with: </a:t>
                </a:r>
              </a:p>
              <a:p>
                <a:pPr marL="800100" lvl="1" indent="-342900">
                  <a:buFont typeface="Wingdings" pitchFamily="2" charset="2"/>
                  <a:buChar char="Ø"/>
                </a:pPr>
                <a:r>
                  <a:rPr lang="en-GB" sz="1600" noProof="0" dirty="0">
                    <a:latin typeface="ui-sans-serif"/>
                  </a:rPr>
                  <a:t>unknown mean </a:t>
                </a:r>
                <a14:m>
                  <m:oMath xmlns:m="http://schemas.openxmlformats.org/officeDocument/2006/math">
                    <m:r>
                      <a:rPr lang="fr-FR" sz="1600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1600" noProof="0" dirty="0">
                    <a:latin typeface="ui-sans-serif"/>
                  </a:rPr>
                  <a:t> and known covariance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sz="1600" b="0" i="0" noProof="0" smtClean="0">
                        <a:latin typeface="Cambria Math" panose="02040503050406030204" pitchFamily="18" charset="0"/>
                      </a:rPr>
                      <m:t>Σ</m:t>
                    </m:r>
                    <m:r>
                      <a:rPr lang="fr-FR" sz="1600" b="0" i="1" noProof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fr-FR" sz="1600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fr-FR" sz="1600" b="0" i="1" noProof="0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Sup>
                                <m:sSubSupPr>
                                  <m:ctrlPr>
                                    <a:rPr lang="fr-FR" sz="16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fr-FR" sz="1600" b="0" i="1" noProof="0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fr-FR" sz="1600" b="0" i="1" noProof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  <m:e>
                              <m:sSub>
                                <m:sSubPr>
                                  <m:ctrlPr>
                                    <a:rPr lang="fr-FR" sz="16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600" b="0" i="1" noProof="0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fr-FR" sz="1600" b="0" i="1" noProof="0" smtClean="0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fr-FR" sz="16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600" b="0" i="1" noProof="0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fr-FR" sz="1600" b="0" i="1" noProof="0" smtClean="0"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</m:e>
                            <m:e>
                              <m:sSubSup>
                                <m:sSubSupPr>
                                  <m:ctrlPr>
                                    <a:rPr lang="fr-FR" sz="16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fr-FR" sz="1600" b="0" i="1" noProof="0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fr-FR" sz="1600" b="0" i="1" noProof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mr>
                        </m:m>
                      </m:e>
                    </m:d>
                    <m:r>
                      <a:rPr lang="fr-FR" sz="1600" b="0" i="1" noProof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fr-FR" sz="1600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fr-FR" sz="1600" b="0" i="1" noProof="0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fr-FR" sz="1600" b="0" i="1" noProof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fr-FR" sz="1600" b="0" i="1" noProof="0" smtClean="0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</m:mr>
                          <m:mr>
                            <m:e>
                              <m:r>
                                <a:rPr lang="fr-FR" sz="1600" b="0" i="1" noProof="0" smtClean="0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e>
                              <m:r>
                                <a:rPr lang="fr-FR" sz="1600" b="0" i="1" noProof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GB" sz="1600" noProof="0" dirty="0">
                  <a:latin typeface="ui-sans-serif"/>
                </a:endParaRPr>
              </a:p>
              <a:p>
                <a:pPr marL="342900" indent="-342900">
                  <a:lnSpc>
                    <a:spcPct val="150000"/>
                  </a:lnSpc>
                  <a:buFont typeface="Wingdings" pitchFamily="2" charset="2"/>
                  <a:buChar char="§"/>
                </a:pPr>
                <a:r>
                  <a:rPr lang="en-GB" sz="1600" dirty="0">
                    <a:latin typeface="ui-sans-serif"/>
                  </a:rPr>
                  <a:t>The Prior distribution of </a:t>
                </a:r>
                <a14:m>
                  <m:oMath xmlns:m="http://schemas.openxmlformats.org/officeDocument/2006/math"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GB" sz="1600" noProof="0" dirty="0">
                    <a:latin typeface="ui-sans-serif"/>
                  </a:rPr>
                  <a:t> is an improper uniform</a:t>
                </a:r>
                <a:r>
                  <a:rPr lang="en-GB" sz="1600" baseline="30000" noProof="0" dirty="0">
                    <a:latin typeface="ui-sans-serif"/>
                  </a:rPr>
                  <a:t>(1)</a:t>
                </a:r>
                <a:r>
                  <a:rPr lang="en-GB" sz="1600" noProof="0" dirty="0">
                    <a:latin typeface="ui-sans-serif"/>
                  </a:rPr>
                  <a:t> over the real line, i.e. </a:t>
                </a:r>
                <a14:m>
                  <m:oMath xmlns:m="http://schemas.openxmlformats.org/officeDocument/2006/math">
                    <m:r>
                      <a:rPr lang="fr-FR" sz="1600" b="0" i="1" noProof="0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fr-FR" sz="1600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sz="1600" b="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600" b="0" i="1" noProof="0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fr-FR" sz="1600" b="0" i="1" noProof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fr-FR" sz="1600" b="0" i="1" noProof="0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fr-FR" sz="1600" b="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600" b="0" i="1" noProof="0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fr-FR" sz="1600" b="0" i="1" noProof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fr-FR" sz="1600" b="0" i="1" noProof="0" smtClean="0">
                        <a:latin typeface="Cambria Math" panose="02040503050406030204" pitchFamily="18" charset="0"/>
                      </a:rPr>
                      <m:t>∝1</m:t>
                    </m:r>
                  </m:oMath>
                </a14:m>
                <a:endParaRPr lang="en-GB" sz="1600" noProof="0" dirty="0">
                  <a:latin typeface="ui-sans-serif"/>
                </a:endParaRPr>
              </a:p>
              <a:p>
                <a:pPr marL="342900" indent="-342900">
                  <a:lnSpc>
                    <a:spcPct val="150000"/>
                  </a:lnSpc>
                  <a:buFont typeface="Wingdings" pitchFamily="2" charset="2"/>
                  <a:buChar char="§"/>
                </a:pPr>
                <a:r>
                  <a:rPr lang="en-GB" sz="1600" dirty="0">
                    <a:latin typeface="ui-sans-serif"/>
                  </a:rPr>
                  <a:t>The Posterior distribution of </a:t>
                </a:r>
                <a14:m>
                  <m:oMath xmlns:m="http://schemas.openxmlformats.org/officeDocument/2006/math"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GB" sz="1600" noProof="0" dirty="0">
                    <a:latin typeface="ui-sans-serif"/>
                  </a:rPr>
                  <a:t> if we observe a single observation </a:t>
                </a:r>
                <a14:m>
                  <m:oMath xmlns:m="http://schemas.openxmlformats.org/officeDocument/2006/math">
                    <m:r>
                      <a:rPr lang="fr-FR" sz="1600" b="0" i="1" noProof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fr-FR" sz="1600" b="0" i="1" noProof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fr-FR" sz="1600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sz="1600" b="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600" b="0" i="1" noProof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fr-FR" sz="1600" b="0" i="1" noProof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fr-FR" sz="1600" b="0" i="1" noProof="0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fr-FR" sz="1600" b="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600" b="0" i="1" noProof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fr-FR" sz="1600" b="0" i="1" noProof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GB" sz="1600" dirty="0">
                    <a:latin typeface="ui-sans-serif"/>
                  </a:rPr>
                  <a:t> is given by:  </a:t>
                </a:r>
              </a:p>
              <a:p>
                <a:pPr marL="800100" lvl="1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14:m>
                  <m:oMath xmlns:m="http://schemas.openxmlformats.org/officeDocument/2006/math"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fr-FR" sz="1600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fr-FR" sz="1600" i="1">
                        <a:latin typeface="Cambria Math" panose="02040503050406030204" pitchFamily="18" charset="0"/>
                      </a:rPr>
                      <m:t>~ </m:t>
                    </m:r>
                    <m:r>
                      <a:rPr lang="fr-FR" sz="1600" i="1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fr-F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fr-FR" sz="160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</m:d>
                    <m:r>
                      <a:rPr lang="fr-FR" sz="16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1600" noProof="0" dirty="0">
                    <a:latin typeface="ui-sans-serif"/>
                  </a:rPr>
                  <a:t>with the full conditional distribution: </a:t>
                </a:r>
              </a:p>
              <a:p>
                <a:pPr marL="800100" lvl="1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6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1" i="1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fr-FR" sz="16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fr-FR" sz="1600" b="1" i="1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fr-FR" sz="16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1" i="1" smtClean="0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fr-FR" sz="16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fr-FR" sz="1600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fr-FR" sz="1600" b="1" i="1">
                        <a:latin typeface="Cambria Math" panose="02040503050406030204" pitchFamily="18" charset="0"/>
                      </a:rPr>
                      <m:t>𝒚</m:t>
                    </m:r>
                    <m:r>
                      <a:rPr lang="fr-FR" sz="1600" b="1" i="1">
                        <a:latin typeface="Cambria Math" panose="02040503050406030204" pitchFamily="18" charset="0"/>
                      </a:rPr>
                      <m:t>~ </m:t>
                    </m:r>
                    <m:r>
                      <a:rPr lang="fr-FR" sz="1600" b="1" i="1">
                        <a:latin typeface="Cambria Math" panose="02040503050406030204" pitchFamily="18" charset="0"/>
                      </a:rPr>
                      <m:t>𝑵</m:t>
                    </m:r>
                    <m:d>
                      <m:dPr>
                        <m:ctrlPr>
                          <a:rPr lang="fr-FR" sz="16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sz="1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600" b="1" i="1" smtClean="0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fr-FR" sz="16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fr-FR" sz="16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fr-FR" sz="1600" b="1" i="1" smtClean="0">
                            <a:latin typeface="Cambria Math" panose="02040503050406030204" pitchFamily="18" charset="0"/>
                          </a:rPr>
                          <m:t>𝝆</m:t>
                        </m:r>
                        <m:d>
                          <m:dPr>
                            <m:ctrlPr>
                              <a:rPr lang="fr-FR" sz="16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fr-FR" sz="16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600" b="1" i="1" smtClean="0">
                                    <a:latin typeface="Cambria Math" panose="02040503050406030204" pitchFamily="18" charset="0"/>
                                  </a:rPr>
                                  <m:t>𝜽</m:t>
                                </m:r>
                              </m:e>
                              <m:sub>
                                <m:r>
                                  <a:rPr lang="fr-FR" sz="1600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  <m:r>
                              <a:rPr lang="fr-FR" sz="1600" b="1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fr-FR" sz="16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600" b="1" i="1" smtClean="0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  <m:sub>
                                <m:r>
                                  <a:rPr lang="fr-FR" sz="1600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</m:e>
                        </m:d>
                        <m:r>
                          <a:rPr lang="fr-FR" sz="1600" b="1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fr-FR" sz="1600" b="1" i="0" smtClean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fr-FR" sz="1600" b="1" i="0" smtClea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fr-FR" sz="16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1600" b="1" i="1" smtClean="0">
                                <a:latin typeface="Cambria Math" panose="02040503050406030204" pitchFamily="18" charset="0"/>
                              </a:rPr>
                              <m:t>𝝆</m:t>
                            </m:r>
                          </m:e>
                          <m:sup>
                            <m:r>
                              <a:rPr lang="fr-FR" sz="16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e>
                    </m:d>
                  </m:oMath>
                </a14:m>
                <a:r>
                  <a:rPr lang="en-GB" sz="1600" noProof="0" dirty="0">
                    <a:latin typeface="ui-sans-serif"/>
                  </a:rPr>
                  <a:t> and </a:t>
                </a:r>
                <a:r>
                  <a:rPr lang="fr-FR" sz="1600" i="1" noProof="0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1" i="1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fr-FR" sz="16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fr-FR" sz="1600" b="1" i="1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fr-FR" sz="1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1" i="1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fr-FR" sz="16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fr-FR" sz="1600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fr-FR" sz="1600" b="1" i="1">
                        <a:latin typeface="Cambria Math" panose="02040503050406030204" pitchFamily="18" charset="0"/>
                      </a:rPr>
                      <m:t>𝒚</m:t>
                    </m:r>
                    <m:r>
                      <a:rPr lang="fr-FR" sz="1600" b="1" i="1">
                        <a:latin typeface="Cambria Math" panose="02040503050406030204" pitchFamily="18" charset="0"/>
                      </a:rPr>
                      <m:t>~ </m:t>
                    </m:r>
                    <m:r>
                      <a:rPr lang="fr-FR" sz="1600" b="1" i="1">
                        <a:latin typeface="Cambria Math" panose="02040503050406030204" pitchFamily="18" charset="0"/>
                      </a:rPr>
                      <m:t>𝑵</m:t>
                    </m:r>
                    <m:d>
                      <m:dPr>
                        <m:ctrlPr>
                          <a:rPr lang="fr-FR" sz="16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sz="1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600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fr-FR" sz="16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fr-FR" sz="1600" b="1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fr-FR" sz="1600" b="1" i="1">
                            <a:latin typeface="Cambria Math" panose="02040503050406030204" pitchFamily="18" charset="0"/>
                          </a:rPr>
                          <m:t>𝝆</m:t>
                        </m:r>
                        <m:d>
                          <m:dPr>
                            <m:ctrlPr>
                              <a:rPr lang="fr-FR" sz="16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fr-FR" sz="16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600" b="1" i="1">
                                    <a:latin typeface="Cambria Math" panose="02040503050406030204" pitchFamily="18" charset="0"/>
                                  </a:rPr>
                                  <m:t>𝜽</m:t>
                                </m:r>
                              </m:e>
                              <m:sub>
                                <m:r>
                                  <a:rPr lang="fr-FR" sz="16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  <m:r>
                              <a:rPr lang="fr-FR" sz="16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fr-FR" sz="16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600" b="1" i="1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  <m:sub>
                                <m:r>
                                  <a:rPr lang="fr-FR" sz="16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e>
                        </m:d>
                        <m:r>
                          <a:rPr lang="fr-FR" sz="1600" b="1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fr-FR" sz="1600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fr-FR" sz="1600" b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fr-FR" sz="16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1600" b="1" i="1">
                                <a:latin typeface="Cambria Math" panose="02040503050406030204" pitchFamily="18" charset="0"/>
                              </a:rPr>
                              <m:t>𝝆</m:t>
                            </m:r>
                          </m:e>
                          <m:sup>
                            <m:r>
                              <a:rPr lang="fr-FR" sz="16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e>
                    </m:d>
                  </m:oMath>
                </a14:m>
                <a:r>
                  <a:rPr lang="en-GB" sz="1600" noProof="0" dirty="0">
                    <a:latin typeface="ui-sans-serif"/>
                  </a:rPr>
                  <a:t> sample from the posterior distribution using a Gibbs sampler assuming </a:t>
                </a:r>
                <a14:m>
                  <m:oMath xmlns:m="http://schemas.openxmlformats.org/officeDocument/2006/math">
                    <m:r>
                      <a:rPr lang="fr-FR" sz="1600" b="0" i="1" noProof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fr-FR" sz="1600" b="0" i="1" noProof="0" smtClean="0">
                        <a:latin typeface="Cambria Math" panose="02040503050406030204" pitchFamily="18" charset="0"/>
                      </a:rPr>
                      <m:t>=(0,0)</m:t>
                    </m:r>
                  </m:oMath>
                </a14:m>
                <a:r>
                  <a:rPr lang="en-GB" sz="1600" noProof="0" dirty="0">
                    <a:latin typeface="ui-sans-serif"/>
                  </a:rPr>
                  <a:t> and </a:t>
                </a:r>
                <a14:m>
                  <m:oMath xmlns:m="http://schemas.openxmlformats.org/officeDocument/2006/math">
                    <m:r>
                      <a:rPr lang="fr-FR" sz="1600" b="0" i="1" noProof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fr-FR" sz="1600" b="0" i="1" noProof="0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lang="en-GB" sz="1600" noProof="0" dirty="0">
                    <a:latin typeface="ui-sans-serif"/>
                  </a:rPr>
                  <a:t>.</a:t>
                </a:r>
              </a:p>
            </p:txBody>
          </p:sp>
        </mc:Choice>
        <mc:Fallback xmlns="">
          <p:sp>
            <p:nvSpPr>
              <p:cNvPr id="4" name="ZoneTexte 3">
                <a:extLst>
                  <a:ext uri="{FF2B5EF4-FFF2-40B4-BE49-F238E27FC236}">
                    <a16:creationId xmlns:a16="http://schemas.microsoft.com/office/drawing/2014/main" id="{2B7337B9-0082-A977-1D0B-56C3CF3A8A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8" y="1403479"/>
                <a:ext cx="11353801" cy="4892675"/>
              </a:xfrm>
              <a:prstGeom prst="rect">
                <a:avLst/>
              </a:prstGeom>
              <a:blipFill>
                <a:blip r:embed="rId3"/>
                <a:stretch>
                  <a:fillRect l="-1116" t="-1295" r="-44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06C50AA-9622-FEA1-4A98-E9068093A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GB" noProof="0" dirty="0"/>
              <a:t>Gibbs sampling. Author: David Thébault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1231EA68-278A-4BEB-2D04-629176758E18}"/>
              </a:ext>
            </a:extLst>
          </p:cNvPr>
          <p:cNvSpPr txBox="1"/>
          <p:nvPr/>
        </p:nvSpPr>
        <p:spPr>
          <a:xfrm>
            <a:off x="324465" y="6356350"/>
            <a:ext cx="32544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(1) When there is no information about the prior, we use an improper uniform</a:t>
            </a:r>
          </a:p>
        </p:txBody>
      </p:sp>
    </p:spTree>
    <p:extLst>
      <p:ext uri="{BB962C8B-B14F-4D97-AF65-F5344CB8AC3E}">
        <p14:creationId xmlns:p14="http://schemas.microsoft.com/office/powerpoint/2010/main" val="10919208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82EE8-C691-A824-D2F8-AE9D211A9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F5FF341-D098-4560-FB3C-B890F8880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Gibbs sampling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ZoneTexte 3">
                <a:extLst>
                  <a:ext uri="{FF2B5EF4-FFF2-40B4-BE49-F238E27FC236}">
                    <a16:creationId xmlns:a16="http://schemas.microsoft.com/office/drawing/2014/main" id="{E1EBBCD8-E69F-2916-F7B5-0957087E68D0}"/>
                  </a:ext>
                </a:extLst>
              </p:cNvPr>
              <p:cNvSpPr txBox="1"/>
              <p:nvPr/>
            </p:nvSpPr>
            <p:spPr>
              <a:xfrm>
                <a:off x="838199" y="1403480"/>
                <a:ext cx="5128848" cy="2767494"/>
              </a:xfrm>
              <a:prstGeom prst="rect">
                <a:avLst/>
              </a:prstGeom>
              <a:noFill/>
            </p:spPr>
            <p:txBody>
              <a:bodyPr wrap="square" lIns="90000" rtlCol="0">
                <a:noAutofit/>
              </a:bodyPr>
              <a:lstStyle/>
              <a:p>
                <a:r>
                  <a:rPr lang="en-GB" sz="2800" b="1" i="0" u="none" strike="noStrike" noProof="0" dirty="0">
                    <a:effectLst/>
                    <a:latin typeface="ui-sans-serif"/>
                  </a:rPr>
                  <a:t>The algorithm for 2D (X, Y)</a:t>
                </a:r>
              </a:p>
              <a:p>
                <a:endParaRPr lang="en-GB" sz="1200" b="1" noProof="0" dirty="0">
                  <a:latin typeface="ui-sans-serif"/>
                </a:endParaRPr>
              </a:p>
              <a:p>
                <a:pPr marL="228600" indent="-2286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GB" sz="2000" noProof="0" dirty="0">
                    <a:latin typeface="ui-sans-serif"/>
                  </a:rPr>
                  <a:t>START AT (X</a:t>
                </a:r>
                <a:r>
                  <a:rPr lang="en-GB" sz="2000" baseline="30000" noProof="0" dirty="0">
                    <a:latin typeface="ui-sans-serif"/>
                  </a:rPr>
                  <a:t>(0)</a:t>
                </a:r>
                <a:r>
                  <a:rPr lang="en-GB" sz="2000" noProof="0" dirty="0">
                    <a:latin typeface="ui-sans-serif"/>
                  </a:rPr>
                  <a:t>, Y</a:t>
                </a:r>
                <a:r>
                  <a:rPr lang="en-GB" sz="2000" baseline="30000" noProof="0" dirty="0">
                    <a:latin typeface="ui-sans-serif"/>
                  </a:rPr>
                  <a:t>(0)</a:t>
                </a:r>
                <a:r>
                  <a:rPr lang="en-GB" sz="2000" noProof="0" dirty="0">
                    <a:latin typeface="ui-sans-serif"/>
                  </a:rPr>
                  <a:t>)</a:t>
                </a:r>
              </a:p>
              <a:p>
                <a:pPr marL="228600" indent="-2286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GB" sz="2000" dirty="0">
                    <a:latin typeface="ui-sans-serif"/>
                  </a:rPr>
                  <a:t>AT ITERATION</a:t>
                </a:r>
                <a:r>
                  <a:rPr lang="en-GB" sz="2000" noProof="0" dirty="0">
                    <a:latin typeface="ui-sans-serif"/>
                  </a:rPr>
                  <a:t> T:</a:t>
                </a: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GB" sz="2000" dirty="0">
                    <a:latin typeface="ui-sans-serif"/>
                  </a:rPr>
                  <a:t>SAMPLE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FR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fr-FR" sz="2000" i="1">
                        <a:latin typeface="Cambria Math" panose="02040503050406030204" pitchFamily="18" charset="0"/>
                      </a:rPr>
                      <m:t>~</m:t>
                    </m:r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endChr m:val="|"/>
                        <m:ctrlPr>
                          <a:rPr lang="fr-F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d>
                              <m:dPr>
                                <m:ctrlPr>
                                  <a:rPr lang="fr-FR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fr-FR" sz="20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  <m:r>
                                  <a:rPr lang="fr-FR" sz="20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sup>
                        </m:sSup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sSup>
                      <m:sSupPr>
                        <m:ctrlPr>
                          <a:rPr lang="fr-FR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−1)</m:t>
                        </m:r>
                      </m:sup>
                    </m:sSup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sz="2000" dirty="0">
                  <a:latin typeface="ui-sans-serif"/>
                </a:endParaRP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GB" sz="2000" noProof="0" dirty="0">
                    <a:latin typeface="ui-sans-serif"/>
                  </a:rPr>
                  <a:t>SAMPLE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FR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fr-FR" sz="2000" i="1">
                        <a:latin typeface="Cambria Math" panose="02040503050406030204" pitchFamily="18" charset="0"/>
                      </a:rPr>
                      <m:t>~</m:t>
                    </m:r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endChr m:val="|"/>
                        <m:ctrlPr>
                          <a:rPr lang="fr-F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p>
                            <m:d>
                              <m:dPr>
                                <m:ctrlPr>
                                  <a:rPr lang="fr-FR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fr-FR" sz="20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  <m:r>
                                  <a:rPr lang="fr-FR" sz="20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sup>
                        </m:sSup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sSup>
                      <m:sSupPr>
                        <m:ctrlPr>
                          <a:rPr lang="fr-FR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sz="2000" dirty="0">
                  <a:latin typeface="ui-sans-serif"/>
                </a:endParaRPr>
              </a:p>
            </p:txBody>
          </p:sp>
        </mc:Choice>
        <mc:Fallback xmlns="">
          <p:sp>
            <p:nvSpPr>
              <p:cNvPr id="4" name="ZoneTexte 3">
                <a:extLst>
                  <a:ext uri="{FF2B5EF4-FFF2-40B4-BE49-F238E27FC236}">
                    <a16:creationId xmlns:a16="http://schemas.microsoft.com/office/drawing/2014/main" id="{E1EBBCD8-E69F-2916-F7B5-0957087E68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1403480"/>
                <a:ext cx="5128848" cy="2767494"/>
              </a:xfrm>
              <a:prstGeom prst="rect">
                <a:avLst/>
              </a:prstGeom>
              <a:blipFill>
                <a:blip r:embed="rId3"/>
                <a:stretch>
                  <a:fillRect l="-2469" t="-228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2C4CEEB-88D6-CA79-CAAE-0A894A999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GB" noProof="0" dirty="0"/>
              <a:t>Gibbs sampling. Author: David Thébault</a:t>
            </a:r>
          </a:p>
        </p:txBody>
      </p:sp>
      <p:cxnSp>
        <p:nvCxnSpPr>
          <p:cNvPr id="6" name="Connecteur droit avec flèche 5">
            <a:extLst>
              <a:ext uri="{FF2B5EF4-FFF2-40B4-BE49-F238E27FC236}">
                <a16:creationId xmlns:a16="http://schemas.microsoft.com/office/drawing/2014/main" id="{87726473-D590-740A-A7EE-E9D018453EA9}"/>
              </a:ext>
            </a:extLst>
          </p:cNvPr>
          <p:cNvCxnSpPr/>
          <p:nvPr/>
        </p:nvCxnSpPr>
        <p:spPr>
          <a:xfrm>
            <a:off x="6881446" y="3763108"/>
            <a:ext cx="4829908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136D9FD6-D6D5-483F-F186-9B076B55B61D}"/>
              </a:ext>
            </a:extLst>
          </p:cNvPr>
          <p:cNvCxnSpPr/>
          <p:nvPr/>
        </p:nvCxnSpPr>
        <p:spPr>
          <a:xfrm flipV="1">
            <a:off x="9132277" y="1547446"/>
            <a:ext cx="0" cy="3974123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lipse 9">
            <a:extLst>
              <a:ext uri="{FF2B5EF4-FFF2-40B4-BE49-F238E27FC236}">
                <a16:creationId xmlns:a16="http://schemas.microsoft.com/office/drawing/2014/main" id="{84E24AD8-9729-2ACC-A969-83CAC8E8F4B4}"/>
              </a:ext>
            </a:extLst>
          </p:cNvPr>
          <p:cNvSpPr/>
          <p:nvPr/>
        </p:nvSpPr>
        <p:spPr>
          <a:xfrm>
            <a:off x="7819293" y="2656558"/>
            <a:ext cx="70338" cy="7033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E67EA75C-D3CD-9681-0580-743F7B801D3A}"/>
              </a:ext>
            </a:extLst>
          </p:cNvPr>
          <p:cNvSpPr/>
          <p:nvPr/>
        </p:nvSpPr>
        <p:spPr>
          <a:xfrm>
            <a:off x="10574217" y="2621389"/>
            <a:ext cx="70338" cy="7033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1FC7A447-389A-B148-AF27-4979A8957726}"/>
              </a:ext>
            </a:extLst>
          </p:cNvPr>
          <p:cNvSpPr/>
          <p:nvPr/>
        </p:nvSpPr>
        <p:spPr>
          <a:xfrm>
            <a:off x="7819294" y="4907388"/>
            <a:ext cx="70338" cy="7033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3C07AE42-A5E9-1335-ED16-B9E8307C87DF}"/>
              </a:ext>
            </a:extLst>
          </p:cNvPr>
          <p:cNvSpPr/>
          <p:nvPr/>
        </p:nvSpPr>
        <p:spPr>
          <a:xfrm>
            <a:off x="8276492" y="4930835"/>
            <a:ext cx="70338" cy="7033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01D9D8B0-6D06-B2AA-5EB7-F737B46AB860}"/>
              </a:ext>
            </a:extLst>
          </p:cNvPr>
          <p:cNvSpPr/>
          <p:nvPr/>
        </p:nvSpPr>
        <p:spPr>
          <a:xfrm>
            <a:off x="8288216" y="3242714"/>
            <a:ext cx="70338" cy="7033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ZoneTexte 14">
                <a:extLst>
                  <a:ext uri="{FF2B5EF4-FFF2-40B4-BE49-F238E27FC236}">
                    <a16:creationId xmlns:a16="http://schemas.microsoft.com/office/drawing/2014/main" id="{ECA8C7DA-0965-A72B-1E4D-C36B9E27567B}"/>
                  </a:ext>
                </a:extLst>
              </p:cNvPr>
              <p:cNvSpPr txBox="1"/>
              <p:nvPr/>
            </p:nvSpPr>
            <p:spPr>
              <a:xfrm>
                <a:off x="10644555" y="2546975"/>
                <a:ext cx="1230921" cy="2895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fr-FR" sz="1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fr-FR" sz="12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fr-FR" sz="1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1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d>
                            <m:dPr>
                              <m:ctrlPr>
                                <a:rPr lang="fr-FR" sz="1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1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sup>
                      </m:sSup>
                      <m:r>
                        <a:rPr lang="fr-FR" sz="12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fr-FR" sz="1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1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p>
                          <m:d>
                            <m:dPr>
                              <m:ctrlPr>
                                <a:rPr lang="fr-FR" sz="1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1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sup>
                      </m:sSup>
                      <m:r>
                        <a:rPr lang="fr-FR" sz="12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2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5" name="ZoneTexte 14">
                <a:extLst>
                  <a:ext uri="{FF2B5EF4-FFF2-40B4-BE49-F238E27FC236}">
                    <a16:creationId xmlns:a16="http://schemas.microsoft.com/office/drawing/2014/main" id="{ECA8C7DA-0965-A72B-1E4D-C36B9E2756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44555" y="2546975"/>
                <a:ext cx="1230921" cy="289503"/>
              </a:xfrm>
              <a:prstGeom prst="rect">
                <a:avLst/>
              </a:prstGeom>
              <a:blipFill>
                <a:blip r:embed="rId4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ZoneTexte 15">
                <a:extLst>
                  <a:ext uri="{FF2B5EF4-FFF2-40B4-BE49-F238E27FC236}">
                    <a16:creationId xmlns:a16="http://schemas.microsoft.com/office/drawing/2014/main" id="{77B5DDAF-B8C1-BB69-673A-78F513C01769}"/>
                  </a:ext>
                </a:extLst>
              </p:cNvPr>
              <p:cNvSpPr txBox="1"/>
              <p:nvPr/>
            </p:nvSpPr>
            <p:spPr>
              <a:xfrm>
                <a:off x="6447694" y="2525669"/>
                <a:ext cx="1230921" cy="2928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fr-FR" sz="1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fr-FR" sz="12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fr-FR" sz="1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1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d>
                            <m:dPr>
                              <m:ctrlPr>
                                <a:rPr lang="fr-FR" sz="1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1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p>
                      <m:r>
                        <a:rPr lang="fr-FR" sz="12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fr-FR" sz="1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1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p>
                          <m:d>
                            <m:dPr>
                              <m:ctrlPr>
                                <a:rPr lang="fr-FR" sz="1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1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sup>
                      </m:sSup>
                      <m:r>
                        <a:rPr lang="fr-FR" sz="12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2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6" name="ZoneTexte 15">
                <a:extLst>
                  <a:ext uri="{FF2B5EF4-FFF2-40B4-BE49-F238E27FC236}">
                    <a16:creationId xmlns:a16="http://schemas.microsoft.com/office/drawing/2014/main" id="{77B5DDAF-B8C1-BB69-673A-78F513C017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7694" y="2525669"/>
                <a:ext cx="1230921" cy="292837"/>
              </a:xfrm>
              <a:prstGeom prst="rect">
                <a:avLst/>
              </a:prstGeom>
              <a:blipFill>
                <a:blip r:embed="rId5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ZoneTexte 16">
                <a:extLst>
                  <a:ext uri="{FF2B5EF4-FFF2-40B4-BE49-F238E27FC236}">
                    <a16:creationId xmlns:a16="http://schemas.microsoft.com/office/drawing/2014/main" id="{873B4670-5444-F9B2-8756-81C53074D321}"/>
                  </a:ext>
                </a:extLst>
              </p:cNvPr>
              <p:cNvSpPr txBox="1"/>
              <p:nvPr/>
            </p:nvSpPr>
            <p:spPr>
              <a:xfrm>
                <a:off x="6447694" y="4833660"/>
                <a:ext cx="1230921" cy="2928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fr-FR" sz="1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fr-FR" sz="12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fr-FR" sz="1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1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d>
                            <m:dPr>
                              <m:ctrlPr>
                                <a:rPr lang="fr-FR" sz="1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1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p>
                      <m:r>
                        <a:rPr lang="fr-FR" sz="12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fr-FR" sz="1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1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p>
                          <m:d>
                            <m:dPr>
                              <m:ctrlPr>
                                <a:rPr lang="fr-FR" sz="1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1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p>
                      <m:r>
                        <a:rPr lang="fr-FR" sz="12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2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7" name="ZoneTexte 16">
                <a:extLst>
                  <a:ext uri="{FF2B5EF4-FFF2-40B4-BE49-F238E27FC236}">
                    <a16:creationId xmlns:a16="http://schemas.microsoft.com/office/drawing/2014/main" id="{873B4670-5444-F9B2-8756-81C53074D3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7694" y="4833660"/>
                <a:ext cx="1230921" cy="292837"/>
              </a:xfrm>
              <a:prstGeom prst="rect">
                <a:avLst/>
              </a:prstGeom>
              <a:blipFill>
                <a:blip r:embed="rId6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ZoneTexte 17">
                <a:extLst>
                  <a:ext uri="{FF2B5EF4-FFF2-40B4-BE49-F238E27FC236}">
                    <a16:creationId xmlns:a16="http://schemas.microsoft.com/office/drawing/2014/main" id="{4A03ACC3-2C71-BFBA-AC45-D7AF3E970A1E}"/>
                  </a:ext>
                </a:extLst>
              </p:cNvPr>
              <p:cNvSpPr txBox="1"/>
              <p:nvPr/>
            </p:nvSpPr>
            <p:spPr>
              <a:xfrm>
                <a:off x="8464065" y="4833661"/>
                <a:ext cx="1230921" cy="2928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fr-FR" sz="1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d>
                      <m:r>
                        <a:rPr lang="fr-FR" sz="12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fr-FR" sz="1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1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d>
                            <m:dPr>
                              <m:ctrlPr>
                                <a:rPr lang="fr-FR" sz="1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1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p>
                      <m:r>
                        <a:rPr lang="fr-FR" sz="12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fr-FR" sz="1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1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p>
                          <m:d>
                            <m:dPr>
                              <m:ctrlPr>
                                <a:rPr lang="fr-FR" sz="1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1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p>
                      <m:r>
                        <a:rPr lang="fr-FR" sz="12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2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8" name="ZoneTexte 17">
                <a:extLst>
                  <a:ext uri="{FF2B5EF4-FFF2-40B4-BE49-F238E27FC236}">
                    <a16:creationId xmlns:a16="http://schemas.microsoft.com/office/drawing/2014/main" id="{4A03ACC3-2C71-BFBA-AC45-D7AF3E970A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4065" y="4833661"/>
                <a:ext cx="1230921" cy="292837"/>
              </a:xfrm>
              <a:prstGeom prst="rect">
                <a:avLst/>
              </a:prstGeom>
              <a:blipFill>
                <a:blip r:embed="rId7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ZoneTexte 18">
                <a:extLst>
                  <a:ext uri="{FF2B5EF4-FFF2-40B4-BE49-F238E27FC236}">
                    <a16:creationId xmlns:a16="http://schemas.microsoft.com/office/drawing/2014/main" id="{337BCFEB-6A15-187C-4DB2-A2794BFDA66B}"/>
                  </a:ext>
                </a:extLst>
              </p:cNvPr>
              <p:cNvSpPr txBox="1"/>
              <p:nvPr/>
            </p:nvSpPr>
            <p:spPr>
              <a:xfrm>
                <a:off x="8464066" y="3145541"/>
                <a:ext cx="1230921" cy="2928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fr-FR" sz="1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d>
                      <m:r>
                        <a:rPr lang="fr-FR" sz="12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fr-FR" sz="1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1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d>
                            <m:dPr>
                              <m:ctrlPr>
                                <a:rPr lang="fr-FR" sz="1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1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p>
                      <m:r>
                        <a:rPr lang="fr-FR" sz="12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fr-FR" sz="1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1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p>
                          <m:d>
                            <m:dPr>
                              <m:ctrlPr>
                                <a:rPr lang="fr-FR" sz="1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1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p>
                      <m:r>
                        <a:rPr lang="fr-FR" sz="12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2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9" name="ZoneTexte 18">
                <a:extLst>
                  <a:ext uri="{FF2B5EF4-FFF2-40B4-BE49-F238E27FC236}">
                    <a16:creationId xmlns:a16="http://schemas.microsoft.com/office/drawing/2014/main" id="{337BCFEB-6A15-187C-4DB2-A2794BFDA6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4066" y="3145541"/>
                <a:ext cx="1230921" cy="292837"/>
              </a:xfrm>
              <a:prstGeom prst="rect">
                <a:avLst/>
              </a:prstGeom>
              <a:blipFill>
                <a:blip r:embed="rId8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78FC1008-714A-7309-F060-C1854D02A284}"/>
              </a:ext>
            </a:extLst>
          </p:cNvPr>
          <p:cNvCxnSpPr>
            <a:cxnSpLocks/>
          </p:cNvCxnSpPr>
          <p:nvPr/>
        </p:nvCxnSpPr>
        <p:spPr>
          <a:xfrm flipH="1">
            <a:off x="8153400" y="2672087"/>
            <a:ext cx="2010508" cy="0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avec flèche 23">
            <a:extLst>
              <a:ext uri="{FF2B5EF4-FFF2-40B4-BE49-F238E27FC236}">
                <a16:creationId xmlns:a16="http://schemas.microsoft.com/office/drawing/2014/main" id="{20292E27-2386-965A-7FEE-2EB4B9BC813B}"/>
              </a:ext>
            </a:extLst>
          </p:cNvPr>
          <p:cNvCxnSpPr/>
          <p:nvPr/>
        </p:nvCxnSpPr>
        <p:spPr>
          <a:xfrm>
            <a:off x="7854462" y="2836478"/>
            <a:ext cx="0" cy="1997182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eur droit avec flèche 25">
            <a:extLst>
              <a:ext uri="{FF2B5EF4-FFF2-40B4-BE49-F238E27FC236}">
                <a16:creationId xmlns:a16="http://schemas.microsoft.com/office/drawing/2014/main" id="{4AF83219-7B8A-E8E3-347C-DC1015E82F10}"/>
              </a:ext>
            </a:extLst>
          </p:cNvPr>
          <p:cNvCxnSpPr/>
          <p:nvPr/>
        </p:nvCxnSpPr>
        <p:spPr>
          <a:xfrm>
            <a:off x="7995138" y="4966004"/>
            <a:ext cx="158262" cy="0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avec flèche 27">
            <a:extLst>
              <a:ext uri="{FF2B5EF4-FFF2-40B4-BE49-F238E27FC236}">
                <a16:creationId xmlns:a16="http://schemas.microsoft.com/office/drawing/2014/main" id="{513D4DEA-B8D7-EE27-6E25-7197FEEC9FB1}"/>
              </a:ext>
            </a:extLst>
          </p:cNvPr>
          <p:cNvCxnSpPr/>
          <p:nvPr/>
        </p:nvCxnSpPr>
        <p:spPr>
          <a:xfrm flipV="1">
            <a:off x="8288216" y="3429000"/>
            <a:ext cx="23445" cy="1404660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1545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  <p:bldP spid="13" grpId="0" animBg="1"/>
      <p:bldP spid="14" grpId="0" animBg="1"/>
      <p:bldP spid="16" grpId="0"/>
      <p:bldP spid="17" grpId="0"/>
      <p:bldP spid="18" grpId="0"/>
      <p:bldP spid="1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FB3A46-2336-EBAD-0D98-C311408EC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7BB6D4A-E430-01E3-891A-31660797D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Gibbs sampling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C4443B4A-60B3-DD3B-9953-6073FAA48F97}"/>
              </a:ext>
            </a:extLst>
          </p:cNvPr>
          <p:cNvSpPr txBox="1"/>
          <p:nvPr/>
        </p:nvSpPr>
        <p:spPr>
          <a:xfrm>
            <a:off x="838198" y="1403479"/>
            <a:ext cx="11353801" cy="1058367"/>
          </a:xfrm>
          <a:prstGeom prst="rect">
            <a:avLst/>
          </a:prstGeom>
          <a:noFill/>
        </p:spPr>
        <p:txBody>
          <a:bodyPr wrap="square" lIns="90000" rtlCol="0">
            <a:noAutofit/>
          </a:bodyPr>
          <a:lstStyle/>
          <a:p>
            <a:r>
              <a:rPr lang="en-GB" sz="2800" b="1" i="0" u="none" strike="noStrike" noProof="0" dirty="0">
                <a:effectLst/>
                <a:latin typeface="ui-sans-serif"/>
              </a:rPr>
              <a:t>The objective the Gibb Sampling is to infer a multivariate distribution (2Dimensions or more) which is difficult to get directly.</a:t>
            </a:r>
          </a:p>
          <a:p>
            <a:endParaRPr lang="en-GB" sz="1200" b="1" noProof="0" dirty="0">
              <a:latin typeface="ui-sans-serif"/>
            </a:endParaRPr>
          </a:p>
          <a:p>
            <a:endParaRPr lang="en-GB" sz="1200" b="1" noProof="0" dirty="0">
              <a:latin typeface="ui-sans-serif"/>
            </a:endParaRP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1682852-FC99-7A28-CB31-31E05BB52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GB" noProof="0" dirty="0"/>
              <a:t>Gibbs sampling. Author: David Thébault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36149B8C-8A4D-5DD8-2064-06708F82F3A4}"/>
              </a:ext>
            </a:extLst>
          </p:cNvPr>
          <p:cNvSpPr txBox="1"/>
          <p:nvPr/>
        </p:nvSpPr>
        <p:spPr>
          <a:xfrm>
            <a:off x="838198" y="2478386"/>
            <a:ext cx="5492264" cy="387796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en-GB" sz="800" b="1" noProof="0" dirty="0">
                <a:solidFill>
                  <a:srgbClr val="008100"/>
                </a:solidFill>
                <a:effectLst/>
                <a:latin typeface="Menlo" panose="020B0609030804020204" pitchFamily="49" charset="0"/>
              </a:rPr>
              <a:t>import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numpy </a:t>
            </a:r>
            <a:r>
              <a:rPr lang="en-GB" sz="800" b="1" noProof="0" dirty="0">
                <a:solidFill>
                  <a:srgbClr val="008100"/>
                </a:solidFill>
                <a:effectLst/>
                <a:latin typeface="Menlo" panose="020B0609030804020204" pitchFamily="49" charset="0"/>
              </a:rPr>
              <a:t>as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np</a:t>
            </a:r>
          </a:p>
          <a:p>
            <a:pPr>
              <a:lnSpc>
                <a:spcPct val="150000"/>
              </a:lnSpc>
            </a:pPr>
            <a:b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</a:br>
            <a:r>
              <a:rPr lang="en-GB" sz="800" b="0" i="1" noProof="0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 generate samples from a multivariate normal distribution.</a:t>
            </a:r>
            <a:endParaRPr lang="en-GB" sz="800" b="0" noProof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r>
              <a:rPr lang="en-GB" sz="800" b="0" i="1" noProof="0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 mean = [0, 0]</a:t>
            </a:r>
            <a:endParaRPr lang="en-GB" sz="800" b="0" noProof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r>
              <a:rPr lang="en-GB" sz="800" b="0" i="1" noProof="0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 </a:t>
            </a:r>
            <a:r>
              <a:rPr lang="en-GB" sz="800" b="0" i="1" noProof="0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cov</a:t>
            </a:r>
            <a:r>
              <a:rPr lang="en-GB" sz="800" b="0" i="1" noProof="0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 = [[1, 0.5], [0.5, 1]]</a:t>
            </a:r>
            <a:endParaRPr lang="en-GB" sz="800" b="0" noProof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r>
              <a:rPr lang="en-GB" sz="800" b="0" i="1" noProof="0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 size = 1000</a:t>
            </a:r>
            <a:endParaRPr lang="en-GB" sz="800" b="0" noProof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b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</a:br>
            <a:r>
              <a:rPr lang="en-GB" sz="800" b="0" noProof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automatic_sample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1" noProof="0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noProof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np</a:t>
            </a:r>
            <a:r>
              <a:rPr lang="en-GB" sz="800" b="0" noProof="0" dirty="0" err="1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GB" sz="800" b="0" noProof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random</a:t>
            </a:r>
            <a:r>
              <a:rPr lang="en-GB" sz="800" b="0" noProof="0" dirty="0" err="1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GB" sz="800" b="0" noProof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multivariate_normal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([</a:t>
            </a:r>
            <a:r>
              <a:rPr lang="en-GB" sz="800" b="0" noProof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noProof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],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[[</a:t>
            </a:r>
            <a:r>
              <a:rPr lang="en-GB" sz="800" b="0" noProof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noProof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0.5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],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GB" sz="800" b="0" noProof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0.5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noProof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]],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noProof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1000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ct val="150000"/>
              </a:lnSpc>
            </a:pPr>
            <a:endParaRPr lang="en-GB" sz="800" noProof="0" dirty="0">
              <a:solidFill>
                <a:srgbClr val="252525"/>
              </a:solidFill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endParaRPr lang="en-GB" sz="800" b="0" noProof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120F1250-F10C-84E5-B03D-531E82ABD332}"/>
              </a:ext>
            </a:extLst>
          </p:cNvPr>
          <p:cNvSpPr txBox="1"/>
          <p:nvPr/>
        </p:nvSpPr>
        <p:spPr>
          <a:xfrm>
            <a:off x="6515098" y="2461846"/>
            <a:ext cx="5492263" cy="389450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90000" rtlCol="0">
            <a:noAutofit/>
          </a:bodyPr>
          <a:lstStyle/>
          <a:p>
            <a:pPr>
              <a:lnSpc>
                <a:spcPts val="1350"/>
              </a:lnSpc>
            </a:pPr>
            <a:r>
              <a:rPr lang="en-GB" sz="800" b="1" noProof="0" dirty="0">
                <a:solidFill>
                  <a:srgbClr val="008100"/>
                </a:solidFill>
                <a:effectLst/>
                <a:latin typeface="Menlo" panose="020B0609030804020204" pitchFamily="49" charset="0"/>
              </a:rPr>
              <a:t>import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noProof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matplotlib</a:t>
            </a:r>
            <a:r>
              <a:rPr lang="en-GB" sz="800" b="0" noProof="0" dirty="0" err="1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GB" sz="800" b="0" noProof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pyplot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1" noProof="0" dirty="0">
                <a:solidFill>
                  <a:srgbClr val="008100"/>
                </a:solidFill>
                <a:effectLst/>
                <a:latin typeface="Menlo" panose="020B0609030804020204" pitchFamily="49" charset="0"/>
              </a:rPr>
              <a:t>as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noProof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plt</a:t>
            </a:r>
            <a:endParaRPr lang="en-GB" sz="800" b="0" noProof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b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</a:br>
            <a:r>
              <a:rPr lang="en-GB" sz="800" b="0" i="1" noProof="0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Create a scatter plot to show the ascending ellipse </a:t>
            </a:r>
          </a:p>
          <a:p>
            <a:pPr>
              <a:lnSpc>
                <a:spcPts val="1350"/>
              </a:lnSpc>
            </a:pPr>
            <a:r>
              <a:rPr lang="en-GB" sz="800" i="1" noProof="0" dirty="0">
                <a:solidFill>
                  <a:srgbClr val="6A8B93"/>
                </a:solidFill>
                <a:latin typeface="Menlo" panose="020B0609030804020204" pitchFamily="49" charset="0"/>
              </a:rPr>
              <a:t># </a:t>
            </a:r>
            <a:r>
              <a:rPr lang="en-GB" sz="800" b="0" i="1" noProof="0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of the bivariate normal distribution</a:t>
            </a:r>
            <a:endParaRPr lang="en-GB" sz="800" b="0" noProof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800" b="0" noProof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plt</a:t>
            </a:r>
            <a:r>
              <a:rPr lang="en-GB" sz="800" b="0" noProof="0" dirty="0" err="1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GB" sz="800" b="0" noProof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scatter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800" b="0" noProof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automatic_sample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[:,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noProof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],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noProof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automatic_sample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[:,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noProof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],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noProof="0" dirty="0">
                <a:solidFill>
                  <a:srgbClr val="396694"/>
                </a:solidFill>
                <a:effectLst/>
                <a:latin typeface="Menlo" panose="020B0609030804020204" pitchFamily="49" charset="0"/>
              </a:rPr>
              <a:t>alpha</a:t>
            </a:r>
            <a:r>
              <a:rPr lang="en-GB" sz="800" b="1" noProof="0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800" b="0" noProof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0.5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)</a:t>
            </a:r>
            <a:endParaRPr lang="en-GB" sz="800" b="0" noProof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b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</a:br>
            <a:r>
              <a:rPr lang="en-GB" sz="800" b="0" i="1" noProof="0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Add horizontal and vertical lines at the origin</a:t>
            </a:r>
            <a:endParaRPr lang="en-GB" sz="800" b="0" noProof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800" b="0" noProof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plt</a:t>
            </a:r>
            <a:r>
              <a:rPr lang="en-GB" sz="800" b="0" noProof="0" dirty="0" err="1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GB" sz="800" b="0" noProof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axhline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800" b="0" noProof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noProof="0" dirty="0" err="1">
                <a:solidFill>
                  <a:srgbClr val="396694"/>
                </a:solidFill>
                <a:effectLst/>
                <a:latin typeface="Menlo" panose="020B0609030804020204" pitchFamily="49" charset="0"/>
              </a:rPr>
              <a:t>color</a:t>
            </a:r>
            <a:r>
              <a:rPr lang="en-GB" sz="800" b="1" noProof="0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800" b="0" noProof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en-GB" sz="800" b="0" noProof="0" dirty="0" err="1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black'</a:t>
            </a:r>
            <a:r>
              <a:rPr lang="en-GB" sz="800" b="0" noProof="0" dirty="0" err="1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GB" sz="800" b="0" noProof="0" dirty="0" err="1">
                <a:solidFill>
                  <a:srgbClr val="396694"/>
                </a:solidFill>
                <a:effectLst/>
                <a:latin typeface="Menlo" panose="020B0609030804020204" pitchFamily="49" charset="0"/>
              </a:rPr>
              <a:t>linewidth</a:t>
            </a:r>
            <a:r>
              <a:rPr lang="en-GB" sz="800" b="1" noProof="0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800" b="0" noProof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0.5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)</a:t>
            </a:r>
            <a:endParaRPr lang="en-GB" sz="800" b="0" noProof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800" b="0" noProof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plt</a:t>
            </a:r>
            <a:r>
              <a:rPr lang="en-GB" sz="800" b="0" noProof="0" dirty="0" err="1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GB" sz="800" b="0" noProof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axvline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800" b="0" noProof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noProof="0" dirty="0" err="1">
                <a:solidFill>
                  <a:srgbClr val="396694"/>
                </a:solidFill>
                <a:effectLst/>
                <a:latin typeface="Menlo" panose="020B0609030804020204" pitchFamily="49" charset="0"/>
              </a:rPr>
              <a:t>color</a:t>
            </a:r>
            <a:r>
              <a:rPr lang="en-GB" sz="800" b="1" noProof="0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800" b="0" noProof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en-GB" sz="800" b="0" noProof="0" dirty="0" err="1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black'</a:t>
            </a:r>
            <a:r>
              <a:rPr lang="en-GB" sz="800" b="0" noProof="0" dirty="0" err="1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GB" sz="800" b="0" noProof="0" dirty="0" err="1">
                <a:solidFill>
                  <a:srgbClr val="396694"/>
                </a:solidFill>
                <a:effectLst/>
                <a:latin typeface="Menlo" panose="020B0609030804020204" pitchFamily="49" charset="0"/>
              </a:rPr>
              <a:t>linewidth</a:t>
            </a:r>
            <a:r>
              <a:rPr lang="en-GB" sz="800" b="1" noProof="0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800" b="0" noProof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0.5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)</a:t>
            </a:r>
            <a:endParaRPr lang="en-GB" sz="800" b="0" noProof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b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</a:br>
            <a:r>
              <a:rPr lang="en-GB" sz="800" b="0" i="1" noProof="0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Add grid</a:t>
            </a:r>
            <a:endParaRPr lang="en-GB" sz="800" b="0" noProof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800" b="0" noProof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plt</a:t>
            </a:r>
            <a:r>
              <a:rPr lang="en-GB" sz="800" b="0" noProof="0" dirty="0" err="1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GB" sz="800" b="0" noProof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grid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800" b="0" noProof="0" dirty="0" err="1">
                <a:solidFill>
                  <a:srgbClr val="396694"/>
                </a:solidFill>
                <a:effectLst/>
                <a:latin typeface="Menlo" panose="020B0609030804020204" pitchFamily="49" charset="0"/>
              </a:rPr>
              <a:t>color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1" noProof="0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noProof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en-GB" sz="800" b="0" noProof="0" dirty="0" err="1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gray</a:t>
            </a:r>
            <a:r>
              <a:rPr lang="en-GB" sz="800" b="0" noProof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noProof="0" dirty="0" err="1">
                <a:solidFill>
                  <a:srgbClr val="396694"/>
                </a:solidFill>
                <a:effectLst/>
                <a:latin typeface="Menlo" panose="020B0609030804020204" pitchFamily="49" charset="0"/>
              </a:rPr>
              <a:t>linestyle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1" noProof="0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noProof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'--'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noProof="0" dirty="0">
                <a:solidFill>
                  <a:srgbClr val="396694"/>
                </a:solidFill>
                <a:effectLst/>
                <a:latin typeface="Menlo" panose="020B0609030804020204" pitchFamily="49" charset="0"/>
              </a:rPr>
              <a:t>linewidth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1" noProof="0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noProof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0.5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)</a:t>
            </a:r>
            <a:endParaRPr lang="en-GB" sz="800" b="0" noProof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b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</a:br>
            <a:r>
              <a:rPr lang="en-GB" sz="800" b="0" i="1" noProof="0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Add labels and title</a:t>
            </a:r>
            <a:endParaRPr lang="en-GB" sz="800" b="0" noProof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800" b="0" noProof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plt</a:t>
            </a:r>
            <a:r>
              <a:rPr lang="en-GB" sz="800" b="0" noProof="0" dirty="0" err="1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GB" sz="800" b="0" noProof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xlabel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800" b="0" noProof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'Y_1'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)</a:t>
            </a:r>
            <a:endParaRPr lang="en-GB" sz="800" b="0" noProof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800" b="0" noProof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plt</a:t>
            </a:r>
            <a:r>
              <a:rPr lang="en-GB" sz="800" b="0" noProof="0" dirty="0" err="1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GB" sz="800" b="0" noProof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ylabel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800" b="0" noProof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'Y_2'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)</a:t>
            </a:r>
            <a:endParaRPr lang="en-GB" sz="800" b="0" noProof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800" b="0" noProof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plt</a:t>
            </a:r>
            <a:r>
              <a:rPr lang="en-GB" sz="800" b="0" noProof="0" dirty="0" err="1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GB" sz="800" b="0" noProof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title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800" b="0" noProof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'Samples from a Multivariate Normal Distribution with Orthogonal Reference'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)</a:t>
            </a:r>
            <a:endParaRPr lang="en-GB" sz="800" b="0" noProof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br>
              <a:rPr lang="en-GB" sz="800" b="0" noProof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</a:br>
            <a:r>
              <a:rPr lang="en-GB" sz="800" b="0" i="1" noProof="0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Show plot</a:t>
            </a:r>
            <a:endParaRPr lang="en-GB" sz="800" b="0" noProof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800" b="0" noProof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plt</a:t>
            </a:r>
            <a:r>
              <a:rPr lang="en-GB" sz="800" b="0" noProof="0" dirty="0" err="1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GB" sz="800" b="0" noProof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show</a:t>
            </a:r>
            <a:r>
              <a:rPr lang="en-GB" sz="800" b="0" noProof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()</a:t>
            </a:r>
            <a:endParaRPr lang="en-GB" sz="800" b="0" noProof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62168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C65CAF-D426-F6A8-1773-241F6DDB9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5E0FF53-5CD9-3D60-E798-E14545D4A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Gibbs sampling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4651EA5-8015-A017-8998-D13A8A17C983}"/>
              </a:ext>
            </a:extLst>
          </p:cNvPr>
          <p:cNvSpPr txBox="1"/>
          <p:nvPr/>
        </p:nvSpPr>
        <p:spPr>
          <a:xfrm>
            <a:off x="838198" y="1403479"/>
            <a:ext cx="11353801" cy="1058367"/>
          </a:xfrm>
          <a:prstGeom prst="rect">
            <a:avLst/>
          </a:prstGeom>
          <a:noFill/>
        </p:spPr>
        <p:txBody>
          <a:bodyPr wrap="square" lIns="90000" rtlCol="0">
            <a:noAutofit/>
          </a:bodyPr>
          <a:lstStyle/>
          <a:p>
            <a:r>
              <a:rPr lang="en-GB" sz="2800" b="1" i="0" u="none" strike="noStrike" noProof="0" dirty="0">
                <a:effectLst/>
                <a:latin typeface="ui-sans-serif"/>
              </a:rPr>
              <a:t>The objective the Gibb Sampling is to infer a multivariate distribution (2Dimensions or more) which is difficult to get directly.</a:t>
            </a:r>
          </a:p>
          <a:p>
            <a:endParaRPr lang="en-GB" sz="1200" b="1" noProof="0" dirty="0">
              <a:latin typeface="ui-sans-serif"/>
            </a:endParaRPr>
          </a:p>
          <a:p>
            <a:endParaRPr lang="en-GB" sz="1200" b="1" noProof="0" dirty="0">
              <a:latin typeface="ui-sans-serif"/>
            </a:endParaRP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57BC7CB-E959-9406-3EF7-291082BE1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GB" noProof="0" dirty="0"/>
              <a:t>Gibbs sampling. Author: David Thébault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1C61F3B-2716-8F42-8C33-2BEEB596B2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847" y="2461846"/>
            <a:ext cx="5480538" cy="3836377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9277426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A01CA-5293-AD9E-E412-331E6CBCD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59E73F4-2790-F973-557A-826E03134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Gibbs sampling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E8466165-9FA8-940A-3DD0-A1A34ADD86C1}"/>
              </a:ext>
            </a:extLst>
          </p:cNvPr>
          <p:cNvSpPr txBox="1"/>
          <p:nvPr/>
        </p:nvSpPr>
        <p:spPr>
          <a:xfrm>
            <a:off x="838198" y="1403479"/>
            <a:ext cx="11353801" cy="1058367"/>
          </a:xfrm>
          <a:prstGeom prst="rect">
            <a:avLst/>
          </a:prstGeom>
          <a:noFill/>
        </p:spPr>
        <p:txBody>
          <a:bodyPr wrap="square" lIns="90000" rtlCol="0">
            <a:noAutofit/>
          </a:bodyPr>
          <a:lstStyle/>
          <a:p>
            <a:r>
              <a:rPr lang="en-GB" sz="2800" b="1" i="0" u="none" strike="noStrike" noProof="0" dirty="0">
                <a:effectLst/>
                <a:latin typeface="ui-sans-serif"/>
              </a:rPr>
              <a:t>The objective the Gibb Sampling is to infer a multivariate distribution (2Dimensions or more) which is difficult to get directly.</a:t>
            </a:r>
          </a:p>
          <a:p>
            <a:endParaRPr lang="en-GB" sz="1200" b="1" noProof="0" dirty="0">
              <a:latin typeface="ui-sans-serif"/>
            </a:endParaRPr>
          </a:p>
          <a:p>
            <a:endParaRPr lang="en-GB" sz="1200" b="1" noProof="0" dirty="0">
              <a:latin typeface="ui-sans-serif"/>
            </a:endParaRP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7463B66-F4FB-FF7A-6C5A-B999A6E8A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GB" noProof="0" dirty="0"/>
              <a:t>Gibbs sampling. Author: David Thébault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C6E783CB-3EE8-07DE-77AD-426A8C023230}"/>
              </a:ext>
            </a:extLst>
          </p:cNvPr>
          <p:cNvSpPr txBox="1"/>
          <p:nvPr/>
        </p:nvSpPr>
        <p:spPr>
          <a:xfrm>
            <a:off x="838198" y="2478386"/>
            <a:ext cx="5586048" cy="387796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noAutofit/>
          </a:bodyPr>
          <a:lstStyle/>
          <a:p>
            <a:pPr>
              <a:lnSpc>
                <a:spcPts val="1350"/>
              </a:lnSpc>
            </a:pPr>
            <a:r>
              <a:rPr lang="en-GB" sz="8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 Reminder from conditional probability of 2D normal distribution N(mu, sigma):</a:t>
            </a:r>
            <a:endParaRPr lang="en-GB" sz="8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8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f(y2 | y1) = N(mu_2 + rho * sigma_2/sigma_1 * (y1 - mu_1), sigma_2^2 * (1 - rho^2))</a:t>
            </a:r>
            <a:endParaRPr lang="en-GB" sz="8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8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 where mu_1, mu_2 are the means of the marginal distributions</a:t>
            </a:r>
            <a:endParaRPr lang="en-GB" sz="8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8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 sigma_1, sigma_2 are the standard deviations of the marginal distributions</a:t>
            </a:r>
            <a:endParaRPr lang="en-GB" sz="8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br>
              <a:rPr lang="en-GB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</a:br>
            <a:r>
              <a:rPr lang="en-GB" sz="8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In our case mu_1 = 0, mu_2 = 0, sigma_1 = sigma_2 = 1, sigma_21 = sigma12 = rho = 0.5</a:t>
            </a:r>
            <a:endParaRPr lang="en-GB" sz="8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br>
              <a:rPr lang="en-GB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</a:br>
            <a:r>
              <a:rPr lang="en-GB" sz="8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So, the conditional mean mu_2 + rho * sigma_2/sigma_1 * (y1 - mu_1) </a:t>
            </a:r>
          </a:p>
          <a:p>
            <a:pPr>
              <a:lnSpc>
                <a:spcPts val="1350"/>
              </a:lnSpc>
            </a:pPr>
            <a:r>
              <a:rPr lang="en-GB" sz="800" i="1" dirty="0">
                <a:solidFill>
                  <a:srgbClr val="6A8B93"/>
                </a:solidFill>
                <a:latin typeface="Menlo" panose="020B0609030804020204" pitchFamily="49" charset="0"/>
              </a:rPr>
              <a:t># </a:t>
            </a:r>
            <a:r>
              <a:rPr lang="en-GB" sz="8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simplifies to rho * y1 i.e. 0.5 * y1</a:t>
            </a:r>
            <a:endParaRPr lang="en-GB" sz="8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8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and the conditional variance sigma_2^2 * (1 - rho^2) simplifies to 0.75</a:t>
            </a:r>
            <a:endParaRPr lang="en-GB" sz="8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8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Gibbs sampling uses the last sample to generate the next one.</a:t>
            </a:r>
            <a:endParaRPr lang="en-GB" sz="8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samples </a:t>
            </a:r>
            <a:r>
              <a:rPr lang="en-GB" sz="8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{</a:t>
            </a:r>
            <a:r>
              <a:rPr lang="en-GB" sz="8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'x'</a:t>
            </a:r>
            <a:r>
              <a:rPr lang="en-GB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:</a:t>
            </a:r>
            <a:r>
              <a:rPr lang="en-GB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GB" sz="800" b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GB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],</a:t>
            </a:r>
            <a:r>
              <a:rPr lang="en-GB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'y'</a:t>
            </a:r>
            <a:r>
              <a:rPr lang="en-GB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:</a:t>
            </a:r>
            <a:r>
              <a:rPr lang="en-GB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GB" sz="8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-</a:t>
            </a:r>
            <a:r>
              <a:rPr lang="en-GB" sz="800" b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GB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]}</a:t>
            </a:r>
            <a:endParaRPr lang="en-GB" sz="8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br>
              <a:rPr lang="en-GB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</a:br>
            <a:r>
              <a:rPr lang="en-GB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num_samples</a:t>
            </a:r>
            <a:r>
              <a:rPr lang="en-GB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1000</a:t>
            </a:r>
            <a:endParaRPr lang="en-GB" sz="8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br>
              <a:rPr lang="en-GB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</a:br>
            <a:r>
              <a:rPr lang="en-GB" sz="800" b="1" dirty="0">
                <a:solidFill>
                  <a:srgbClr val="008100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-GB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_ </a:t>
            </a:r>
            <a:r>
              <a:rPr lang="en-GB" sz="800" b="1" dirty="0">
                <a:solidFill>
                  <a:srgbClr val="008100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GB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dirty="0">
                <a:solidFill>
                  <a:srgbClr val="68482D"/>
                </a:solidFill>
                <a:effectLst/>
                <a:latin typeface="Menlo" panose="020B0609030804020204" pitchFamily="49" charset="0"/>
              </a:rPr>
              <a:t>range</a:t>
            </a:r>
            <a:r>
              <a:rPr lang="en-GB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num_samples</a:t>
            </a:r>
            <a:r>
              <a:rPr lang="en-GB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):</a:t>
            </a:r>
            <a:endParaRPr lang="en-GB" sz="8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-GB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curr_x</a:t>
            </a:r>
            <a:r>
              <a:rPr lang="en-GB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samples</a:t>
            </a:r>
            <a:r>
              <a:rPr lang="en-GB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GB" sz="8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'x'</a:t>
            </a:r>
            <a:r>
              <a:rPr lang="en-GB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][</a:t>
            </a:r>
            <a:r>
              <a:rPr lang="en-GB" sz="8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-</a:t>
            </a:r>
            <a:r>
              <a:rPr lang="en-GB" sz="800" b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GB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]</a:t>
            </a:r>
            <a:endParaRPr lang="en-GB" sz="8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-GB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new_x</a:t>
            </a:r>
            <a:r>
              <a:rPr lang="en-GB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np</a:t>
            </a:r>
            <a:r>
              <a:rPr lang="en-GB" sz="800" b="0" dirty="0" err="1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GB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random</a:t>
            </a:r>
            <a:r>
              <a:rPr lang="en-GB" sz="800" b="0" dirty="0" err="1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GB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normal</a:t>
            </a:r>
            <a:r>
              <a:rPr lang="en-GB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curr_x</a:t>
            </a:r>
            <a:r>
              <a:rPr lang="en-GB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*</a:t>
            </a:r>
            <a:r>
              <a:rPr lang="en-GB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0.5</a:t>
            </a:r>
            <a:r>
              <a:rPr lang="en-GB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GB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np.sqrt</a:t>
            </a:r>
            <a:r>
              <a:rPr lang="en-GB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800" b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0.75</a:t>
            </a:r>
            <a:r>
              <a:rPr lang="en-GB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))</a:t>
            </a:r>
            <a:endParaRPr lang="en-GB" sz="8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-GB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new_y</a:t>
            </a:r>
            <a:r>
              <a:rPr lang="en-GB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np</a:t>
            </a:r>
            <a:r>
              <a:rPr lang="en-GB" sz="800" b="0" dirty="0" err="1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GB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random</a:t>
            </a:r>
            <a:r>
              <a:rPr lang="en-GB" sz="800" b="0" dirty="0" err="1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GB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normal</a:t>
            </a:r>
            <a:r>
              <a:rPr lang="en-GB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new_x</a:t>
            </a:r>
            <a:r>
              <a:rPr lang="en-GB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*</a:t>
            </a:r>
            <a:r>
              <a:rPr lang="en-GB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0.5</a:t>
            </a:r>
            <a:r>
              <a:rPr lang="en-GB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GB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np.sqrt</a:t>
            </a:r>
            <a:r>
              <a:rPr lang="en-GB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800" b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0.75</a:t>
            </a:r>
            <a:r>
              <a:rPr lang="en-GB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))</a:t>
            </a:r>
            <a:endParaRPr lang="en-GB" sz="8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samples</a:t>
            </a:r>
            <a:r>
              <a:rPr lang="en-GB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GB" sz="8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'x'</a:t>
            </a:r>
            <a:r>
              <a:rPr lang="en-GB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].</a:t>
            </a:r>
            <a:r>
              <a:rPr lang="en-GB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append</a:t>
            </a:r>
            <a:r>
              <a:rPr lang="en-GB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new_x</a:t>
            </a:r>
            <a:r>
              <a:rPr lang="en-GB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)</a:t>
            </a:r>
            <a:endParaRPr lang="en-GB" sz="8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samples</a:t>
            </a:r>
            <a:r>
              <a:rPr lang="en-GB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GB" sz="8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'y'</a:t>
            </a:r>
            <a:r>
              <a:rPr lang="en-GB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].</a:t>
            </a:r>
            <a:r>
              <a:rPr lang="en-GB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append</a:t>
            </a:r>
            <a:r>
              <a:rPr lang="en-GB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new_y</a:t>
            </a:r>
            <a:r>
              <a:rPr lang="en-GB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)</a:t>
            </a:r>
            <a:endParaRPr lang="en-GB" sz="800" noProof="0" dirty="0">
              <a:solidFill>
                <a:srgbClr val="252525"/>
              </a:solidFill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endParaRPr lang="en-GB" sz="800" b="0" noProof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5A4560C5-F2AB-F0C4-E05C-4B511C6C2429}"/>
              </a:ext>
            </a:extLst>
          </p:cNvPr>
          <p:cNvSpPr txBox="1"/>
          <p:nvPr/>
        </p:nvSpPr>
        <p:spPr>
          <a:xfrm>
            <a:off x="6515098" y="2461846"/>
            <a:ext cx="5492263" cy="389450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90000" rtlCol="0">
            <a:noAutofit/>
          </a:bodyPr>
          <a:lstStyle/>
          <a:p>
            <a:pPr>
              <a:lnSpc>
                <a:spcPts val="1350"/>
              </a:lnSpc>
            </a:pPr>
            <a:r>
              <a:rPr lang="fr-FR" sz="800" b="1" dirty="0">
                <a:solidFill>
                  <a:srgbClr val="008100"/>
                </a:solidFill>
                <a:effectLst/>
                <a:latin typeface="Menlo" panose="020B0609030804020204" pitchFamily="49" charset="0"/>
              </a:rPr>
              <a:t>import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matplotlib</a:t>
            </a:r>
            <a:r>
              <a:rPr lang="fr-FR" sz="800" b="0" dirty="0" err="1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pyplot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1" dirty="0">
                <a:solidFill>
                  <a:srgbClr val="008100"/>
                </a:solidFill>
                <a:effectLst/>
                <a:latin typeface="Menlo" panose="020B0609030804020204" pitchFamily="49" charset="0"/>
              </a:rPr>
              <a:t>as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plt</a:t>
            </a:r>
            <a:endParaRPr lang="fr-FR" sz="8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b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</a:br>
            <a:r>
              <a:rPr lang="fr-FR" sz="8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fr-FR" sz="800" b="0" i="1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Create</a:t>
            </a:r>
            <a:r>
              <a:rPr lang="fr-FR" sz="8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 a </a:t>
            </a:r>
            <a:r>
              <a:rPr lang="fr-FR" sz="800" b="0" i="1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scatter</a:t>
            </a:r>
            <a:r>
              <a:rPr lang="fr-FR" sz="8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 plot</a:t>
            </a:r>
            <a:endParaRPr lang="fr-FR" sz="8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plt</a:t>
            </a:r>
            <a:r>
              <a:rPr lang="fr-FR" sz="800" b="0" dirty="0" err="1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scatter</a:t>
            </a:r>
            <a:r>
              <a:rPr lang="fr-FR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samples</a:t>
            </a:r>
            <a:r>
              <a:rPr lang="fr-FR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fr-FR" sz="8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'x'</a:t>
            </a:r>
            <a:r>
              <a:rPr lang="fr-FR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],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samples</a:t>
            </a:r>
            <a:r>
              <a:rPr lang="fr-FR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fr-FR" sz="8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'y'</a:t>
            </a:r>
            <a:r>
              <a:rPr lang="fr-FR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],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>
                <a:solidFill>
                  <a:srgbClr val="396694"/>
                </a:solidFill>
                <a:effectLst/>
                <a:latin typeface="Menlo" panose="020B0609030804020204" pitchFamily="49" charset="0"/>
              </a:rPr>
              <a:t>alpha</a:t>
            </a:r>
            <a:r>
              <a:rPr lang="fr-FR" sz="8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fr-FR" sz="800" b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0.5</a:t>
            </a:r>
            <a:r>
              <a:rPr lang="fr-FR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)</a:t>
            </a:r>
            <a:endParaRPr lang="fr-FR" sz="8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b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</a:br>
            <a:r>
              <a:rPr lang="fr-FR" sz="8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fr-FR" sz="800" b="0" i="1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Add</a:t>
            </a:r>
            <a:r>
              <a:rPr lang="fr-FR" sz="8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 horizontal and vertical </a:t>
            </a:r>
            <a:r>
              <a:rPr lang="fr-FR" sz="800" b="0" i="1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lines</a:t>
            </a:r>
            <a:r>
              <a:rPr lang="fr-FR" sz="8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 at the </a:t>
            </a:r>
            <a:r>
              <a:rPr lang="fr-FR" sz="800" b="0" i="1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origin</a:t>
            </a:r>
            <a:endParaRPr lang="fr-FR" sz="8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plt</a:t>
            </a:r>
            <a:r>
              <a:rPr lang="fr-FR" sz="800" b="0" dirty="0" err="1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axhline</a:t>
            </a:r>
            <a:r>
              <a:rPr lang="fr-FR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fr-FR" sz="800" b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fr-FR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 err="1">
                <a:solidFill>
                  <a:srgbClr val="396694"/>
                </a:solidFill>
                <a:effectLst/>
                <a:latin typeface="Menlo" panose="020B0609030804020204" pitchFamily="49" charset="0"/>
              </a:rPr>
              <a:t>color</a:t>
            </a:r>
            <a:r>
              <a:rPr lang="fr-FR" sz="8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fr-FR" sz="8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'black'</a:t>
            </a:r>
            <a:r>
              <a:rPr lang="fr-FR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fr-FR" sz="800" b="0" dirty="0" err="1">
                <a:solidFill>
                  <a:srgbClr val="396694"/>
                </a:solidFill>
                <a:effectLst/>
                <a:latin typeface="Menlo" panose="020B0609030804020204" pitchFamily="49" charset="0"/>
              </a:rPr>
              <a:t>linewidth</a:t>
            </a:r>
            <a:r>
              <a:rPr lang="fr-FR" sz="8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fr-FR" sz="800" b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0.5</a:t>
            </a:r>
            <a:r>
              <a:rPr lang="fr-FR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)</a:t>
            </a:r>
            <a:endParaRPr lang="fr-FR" sz="8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plt</a:t>
            </a:r>
            <a:r>
              <a:rPr lang="fr-FR" sz="800" b="0" dirty="0" err="1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axvline</a:t>
            </a:r>
            <a:r>
              <a:rPr lang="fr-FR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fr-FR" sz="800" b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fr-FR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 err="1">
                <a:solidFill>
                  <a:srgbClr val="396694"/>
                </a:solidFill>
                <a:effectLst/>
                <a:latin typeface="Menlo" panose="020B0609030804020204" pitchFamily="49" charset="0"/>
              </a:rPr>
              <a:t>color</a:t>
            </a:r>
            <a:r>
              <a:rPr lang="fr-FR" sz="8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fr-FR" sz="8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'black'</a:t>
            </a:r>
            <a:r>
              <a:rPr lang="fr-FR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fr-FR" sz="800" b="0" dirty="0" err="1">
                <a:solidFill>
                  <a:srgbClr val="396694"/>
                </a:solidFill>
                <a:effectLst/>
                <a:latin typeface="Menlo" panose="020B0609030804020204" pitchFamily="49" charset="0"/>
              </a:rPr>
              <a:t>linewidth</a:t>
            </a:r>
            <a:r>
              <a:rPr lang="fr-FR" sz="8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fr-FR" sz="800" b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0.5</a:t>
            </a:r>
            <a:r>
              <a:rPr lang="fr-FR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)</a:t>
            </a:r>
            <a:endParaRPr lang="fr-FR" sz="8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b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</a:br>
            <a:r>
              <a:rPr lang="fr-FR" sz="8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fr-FR" sz="800" b="0" i="1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Add</a:t>
            </a:r>
            <a:r>
              <a:rPr lang="fr-FR" sz="8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i="1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grid</a:t>
            </a:r>
            <a:endParaRPr lang="fr-FR" sz="8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plt</a:t>
            </a:r>
            <a:r>
              <a:rPr lang="fr-FR" sz="800" b="0" dirty="0" err="1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grid</a:t>
            </a:r>
            <a:r>
              <a:rPr lang="fr-FR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fr-FR" sz="800" b="0" dirty="0" err="1">
                <a:solidFill>
                  <a:srgbClr val="396694"/>
                </a:solidFill>
                <a:effectLst/>
                <a:latin typeface="Menlo" panose="020B0609030804020204" pitchFamily="49" charset="0"/>
              </a:rPr>
              <a:t>color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'gray'</a:t>
            </a:r>
            <a:r>
              <a:rPr lang="fr-FR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 err="1">
                <a:solidFill>
                  <a:srgbClr val="396694"/>
                </a:solidFill>
                <a:effectLst/>
                <a:latin typeface="Menlo" panose="020B0609030804020204" pitchFamily="49" charset="0"/>
              </a:rPr>
              <a:t>linestyle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'--'</a:t>
            </a:r>
            <a:r>
              <a:rPr lang="fr-FR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 err="1">
                <a:solidFill>
                  <a:srgbClr val="396694"/>
                </a:solidFill>
                <a:effectLst/>
                <a:latin typeface="Menlo" panose="020B0609030804020204" pitchFamily="49" charset="0"/>
              </a:rPr>
              <a:t>linewidth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0.5</a:t>
            </a:r>
            <a:r>
              <a:rPr lang="fr-FR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)</a:t>
            </a:r>
            <a:endParaRPr lang="fr-FR" sz="8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b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</a:br>
            <a:r>
              <a:rPr lang="fr-FR" sz="8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fr-FR" sz="800" b="0" i="1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Add</a:t>
            </a:r>
            <a:r>
              <a:rPr lang="fr-FR" sz="8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 labels and </a:t>
            </a:r>
            <a:r>
              <a:rPr lang="fr-FR" sz="800" b="0" i="1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title</a:t>
            </a:r>
            <a:endParaRPr lang="fr-FR" sz="8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plt</a:t>
            </a:r>
            <a:r>
              <a:rPr lang="fr-FR" sz="800" b="0" dirty="0" err="1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xlabel</a:t>
            </a:r>
            <a:r>
              <a:rPr lang="fr-FR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fr-FR" sz="8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'Y_1'</a:t>
            </a:r>
            <a:r>
              <a:rPr lang="fr-FR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)</a:t>
            </a:r>
            <a:endParaRPr lang="fr-FR" sz="8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plt</a:t>
            </a:r>
            <a:r>
              <a:rPr lang="fr-FR" sz="800" b="0" dirty="0" err="1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ylabel</a:t>
            </a:r>
            <a:r>
              <a:rPr lang="fr-FR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fr-FR" sz="8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'Y_2'</a:t>
            </a:r>
            <a:r>
              <a:rPr lang="fr-FR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)</a:t>
            </a:r>
            <a:endParaRPr lang="fr-FR" sz="8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plt</a:t>
            </a:r>
            <a:r>
              <a:rPr lang="fr-FR" sz="800" b="0" dirty="0" err="1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title</a:t>
            </a:r>
            <a:r>
              <a:rPr lang="fr-FR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fr-FR" sz="8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fr-FR" sz="800" b="0" dirty="0" err="1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Samples</a:t>
            </a:r>
            <a:r>
              <a:rPr lang="fr-FR" sz="8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 err="1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fr-FR" sz="8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 a </a:t>
            </a:r>
            <a:r>
              <a:rPr lang="fr-FR" sz="800" b="0" dirty="0" err="1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Multivariate</a:t>
            </a:r>
            <a:r>
              <a:rPr lang="fr-FR" sz="8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 Normal Distribution </a:t>
            </a:r>
            <a:r>
              <a:rPr lang="fr-FR" sz="800" b="0" dirty="0" err="1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with</a:t>
            </a:r>
            <a:r>
              <a:rPr lang="fr-FR" sz="8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 Orthogonal Reference'</a:t>
            </a:r>
            <a:r>
              <a:rPr lang="fr-FR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)</a:t>
            </a:r>
            <a:endParaRPr lang="fr-FR" sz="8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br>
              <a:rPr lang="fr-FR" sz="8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</a:br>
            <a:r>
              <a:rPr lang="fr-FR" sz="8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Show plot</a:t>
            </a:r>
            <a:endParaRPr lang="fr-FR" sz="8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plt</a:t>
            </a:r>
            <a:r>
              <a:rPr lang="fr-FR" sz="800" b="0" dirty="0" err="1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fr-FR" sz="8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show</a:t>
            </a:r>
            <a:r>
              <a:rPr lang="fr-FR" sz="800" b="0" dirty="0">
                <a:solidFill>
                  <a:srgbClr val="252525"/>
                </a:solidFill>
                <a:effectLst/>
                <a:latin typeface="Menlo" panose="020B0609030804020204" pitchFamily="49" charset="0"/>
              </a:rPr>
              <a:t>()</a:t>
            </a:r>
            <a:endParaRPr lang="fr-FR" sz="8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52361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B539D5-AA79-1873-D883-B7E4B89AD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A5A6CF0-B157-6788-1879-6AF63FB60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Gibbs sampling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2E379139-54A9-B604-A8E3-7DCEE64438FD}"/>
              </a:ext>
            </a:extLst>
          </p:cNvPr>
          <p:cNvSpPr txBox="1"/>
          <p:nvPr/>
        </p:nvSpPr>
        <p:spPr>
          <a:xfrm>
            <a:off x="838198" y="1403479"/>
            <a:ext cx="11353801" cy="1058367"/>
          </a:xfrm>
          <a:prstGeom prst="rect">
            <a:avLst/>
          </a:prstGeom>
          <a:noFill/>
        </p:spPr>
        <p:txBody>
          <a:bodyPr wrap="square" lIns="90000" rtlCol="0">
            <a:noAutofit/>
          </a:bodyPr>
          <a:lstStyle/>
          <a:p>
            <a:r>
              <a:rPr lang="en-GB" sz="2800" b="1" i="0" u="none" strike="noStrike" noProof="0" dirty="0">
                <a:effectLst/>
                <a:latin typeface="ui-sans-serif"/>
              </a:rPr>
              <a:t>The objective the Gibb Sampling is to infer a multivariate distribution (2Dimensions or more) which is difficult to get directly.</a:t>
            </a:r>
          </a:p>
          <a:p>
            <a:endParaRPr lang="en-GB" sz="1200" b="1" noProof="0" dirty="0">
              <a:latin typeface="ui-sans-serif"/>
            </a:endParaRPr>
          </a:p>
          <a:p>
            <a:endParaRPr lang="en-GB" sz="1200" b="1" noProof="0" dirty="0">
              <a:latin typeface="ui-sans-serif"/>
            </a:endParaRP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864ED903-93C7-8E55-3E8F-9FCFF358C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GB" noProof="0" dirty="0"/>
              <a:t>Gibbs sampling. Author: David Thébault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21DFEA0C-C553-4E1F-E926-819EB04B6C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523" y="2475669"/>
            <a:ext cx="5345723" cy="3961407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3059348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59649-C041-0FAD-3155-66A2EAED8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456A7CC-DA22-425D-2411-126E71650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Gibbs sampling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ZoneTexte 3">
                <a:extLst>
                  <a:ext uri="{FF2B5EF4-FFF2-40B4-BE49-F238E27FC236}">
                    <a16:creationId xmlns:a16="http://schemas.microsoft.com/office/drawing/2014/main" id="{01F7A9D8-DB3E-C19B-4C49-87A3E2BD4D31}"/>
                  </a:ext>
                </a:extLst>
              </p:cNvPr>
              <p:cNvSpPr txBox="1"/>
              <p:nvPr/>
            </p:nvSpPr>
            <p:spPr>
              <a:xfrm>
                <a:off x="838198" y="1403479"/>
                <a:ext cx="11209423" cy="4892675"/>
              </a:xfrm>
              <a:prstGeom prst="rect">
                <a:avLst/>
              </a:prstGeom>
              <a:noFill/>
            </p:spPr>
            <p:txBody>
              <a:bodyPr wrap="square" lIns="90000" rtlCol="0">
                <a:noAutofit/>
              </a:bodyPr>
              <a:lstStyle/>
              <a:p>
                <a:r>
                  <a:rPr lang="en-GB" sz="2800" b="1" i="0" u="none" strike="noStrike" noProof="0" dirty="0">
                    <a:effectLst/>
                    <a:latin typeface="ui-sans-serif"/>
                  </a:rPr>
                  <a:t>Gibbs </a:t>
                </a:r>
                <a:r>
                  <a:rPr lang="en-GB" sz="2800" b="1" dirty="0">
                    <a:latin typeface="ui-sans-serif"/>
                  </a:rPr>
                  <a:t>sampler 2D normal distribution : </a:t>
                </a:r>
              </a:p>
              <a:p>
                <a:r>
                  <a:rPr lang="en-GB" sz="2800" b="1" i="0" u="none" strike="noStrike" noProof="0" dirty="0">
                    <a:effectLst/>
                    <a:latin typeface="ui-sans-serif"/>
                  </a:rPr>
                  <a:t>How to derive the conditional probabilities ?</a:t>
                </a:r>
                <a:r>
                  <a:rPr lang="en-GB" sz="2800" b="1" i="0" u="none" strike="noStrike" noProof="0" dirty="0">
                    <a:solidFill>
                      <a:schemeClr val="accent1"/>
                    </a:solidFill>
                    <a:effectLst/>
                    <a:latin typeface="ui-sans-serif"/>
                  </a:rPr>
                  <a:t> (</a:t>
                </a:r>
                <a:r>
                  <a:rPr lang="en-GB" sz="2800" b="1" dirty="0">
                    <a:solidFill>
                      <a:schemeClr val="accent1"/>
                    </a:solidFill>
                    <a:latin typeface="ui-sans-serif"/>
                  </a:rPr>
                  <a:t>1/2)</a:t>
                </a:r>
                <a:endParaRPr lang="en-GB" sz="2800" b="1" i="0" u="none" strike="noStrike" noProof="0" dirty="0">
                  <a:solidFill>
                    <a:schemeClr val="accent1"/>
                  </a:solidFill>
                  <a:effectLst/>
                  <a:latin typeface="ui-sans-serif"/>
                </a:endParaRPr>
              </a:p>
              <a:p>
                <a:endParaRPr lang="en-GB" sz="1200" b="1" noProof="0" dirty="0">
                  <a:latin typeface="ui-sans-serif"/>
                </a:endParaRPr>
              </a:p>
              <a:p>
                <a:pPr marL="342900" indent="-342900">
                  <a:buFont typeface="Wingdings" pitchFamily="2" charset="2"/>
                  <a:buChar char="§"/>
                </a:pPr>
                <a:r>
                  <a:rPr lang="en-GB" b="0" i="0" u="none" strike="noStrike" noProof="0" dirty="0">
                    <a:effectLst/>
                    <a:latin typeface="ui-sans-serif"/>
                  </a:rPr>
                  <a:t>The bivariate normal distribution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fr-FR" b="0" i="1" u="none" strike="noStrike" noProof="0" smtClean="0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b="0" i="1" u="none" strike="noStrike" noProof="0" smtClean="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u="none" strike="noStrike" noProof="0" smtClean="0">
                                <a:effectLst/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fr-FR" b="0" i="1" u="none" strike="noStrike" noProof="0" smtClean="0">
                                <a:effectLst/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fr-FR" b="0" i="1" u="none" strike="noStrike" noProof="0" smtClean="0">
                            <a:effectLst/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fr-FR" b="0" i="1" u="none" strike="noStrike" noProof="0" smtClean="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u="none" strike="noStrike" noProof="0" smtClean="0">
                                <a:effectLst/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fr-FR" b="0" i="1" u="none" strike="noStrike" noProof="0" smtClean="0">
                                <a:effectLst/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GB" noProof="0" dirty="0">
                    <a:latin typeface="ui-sans-serif"/>
                  </a:rPr>
                  <a:t> with the following parameters: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b="0" i="0" noProof="0" smtClean="0">
                        <a:latin typeface="Cambria Math" panose="02040503050406030204" pitchFamily="18" charset="0"/>
                      </a:rPr>
                      <m:t>mean</m:t>
                    </m:r>
                    <m:r>
                      <a:rPr lang="fr-FR" b="0" i="0" noProof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b="0" i="1" noProof="0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fr-FR" b="0" i="0" noProof="0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fr-FR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noProof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fr-FR" b="0" i="1" noProof="0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fr-FR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fr-FR" b="0" i="1" noProof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fr-FR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noProof="0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fr-FR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fr-FR" b="0" i="1" noProof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GB" noProof="0" dirty="0">
                    <a:latin typeface="ui-sans-serif"/>
                  </a:rPr>
                  <a:t>the variance-covariance matrix: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b="0" i="0" noProof="0" smtClean="0">
                        <a:latin typeface="Cambria Math" panose="02040503050406030204" pitchFamily="18" charset="0"/>
                      </a:rPr>
                      <m:t>Σ</m:t>
                    </m:r>
                    <m:r>
                      <a:rPr lang="fr-FR" b="0" i="1" noProof="0" smtClean="0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["/>
                        <m:endChr m:val="]"/>
                        <m:ctrlPr>
                          <a:rPr lang="fr-FR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fr-FR" b="0" i="1" noProof="0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Sup>
                                <m:sSubSupPr>
                                  <m:ctrlPr>
                                    <a:rPr lang="fr-FR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fr-FR" b="0" i="1" noProof="0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fr-FR" b="0" i="1" noProof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  <m:e>
                              <m:sSub>
                                <m:sSubPr>
                                  <m:ctrlPr>
                                    <a:rPr lang="fr-FR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0" i="1" noProof="0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fr-FR" b="0" i="1" noProof="0" smtClean="0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fr-FR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0" i="1" noProof="0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fr-FR" b="0" i="1" noProof="0" smtClean="0"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</m:e>
                            <m:e>
                              <m:sSubSup>
                                <m:sSubSupPr>
                                  <m:ctrlPr>
                                    <a:rPr lang="fr-FR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fr-FR" b="0" i="1" noProof="0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fr-FR" b="0" i="1" noProof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mr>
                        </m:m>
                      </m:e>
                    </m:d>
                  </m:oMath>
                </a14:m>
                <a:r>
                  <a:rPr lang="en-GB" noProof="0" dirty="0">
                    <a:latin typeface="ui-sans-serif"/>
                  </a:rPr>
                  <a:t>. The joint distribution is given by: </a:t>
                </a:r>
                <a:endParaRPr lang="fr-FR" b="0" i="1" noProof="0" dirty="0">
                  <a:latin typeface="Cambria Math" panose="02040503050406030204" pitchFamily="18" charset="0"/>
                </a:endParaRPr>
              </a:p>
              <a:p>
                <a:pPr marL="800100" lvl="1" indent="-342900">
                  <a:buFont typeface="Wingdings" pitchFamily="2" charset="2"/>
                  <a:buChar char="Ø"/>
                </a:pPr>
                <a14:m>
                  <m:oMath xmlns:m="http://schemas.openxmlformats.org/officeDocument/2006/math">
                    <m:r>
                      <a:rPr lang="fr-FR" b="0" i="1" noProof="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fr-FR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b="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noProof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fr-FR" b="0" i="1" noProof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fr-FR" b="0" i="1" noProof="0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fr-FR" b="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noProof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fr-FR" b="0" i="1" noProof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fr-FR" b="0" i="1" noProof="0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fr-FR" b="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fr-FR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fr-FR" b="0" i="1" noProof="0" smtClean="0">
                            <a:latin typeface="Cambria Math" panose="02040503050406030204" pitchFamily="18" charset="0"/>
                          </a:rPr>
                          <m:t>𝜋</m:t>
                        </m:r>
                        <m:sSub>
                          <m:sSubPr>
                            <m:ctrlPr>
                              <a:rPr lang="fr-FR" b="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noProof="0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fr-FR" b="0" i="1" noProof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fr-FR" b="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noProof="0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fr-FR" b="0" i="1" noProof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ad>
                          <m:radPr>
                            <m:degHide m:val="on"/>
                            <m:ctrlPr>
                              <a:rPr lang="fr-FR" b="0" i="1" noProof="0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fr-FR" b="0" i="1" noProof="0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p>
                              <m:sSupPr>
                                <m:ctrlPr>
                                  <a:rPr lang="fr-FR" b="0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fr-FR" b="0" i="1" noProof="0" smtClean="0"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</m:e>
                              <m:sup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fr-FR" b="0" i="0" noProof="0" smtClean="0">
                        <a:latin typeface="Cambria Math" panose="02040503050406030204" pitchFamily="18" charset="0"/>
                      </a:rPr>
                      <m:t>exp</m:t>
                    </m:r>
                    <m:r>
                      <a:rPr lang="fr-FR" b="0" i="1" noProof="0" smtClean="0">
                        <a:latin typeface="Cambria Math" panose="02040503050406030204" pitchFamily="18" charset="0"/>
                      </a:rPr>
                      <m:t>⁡(−</m:t>
                    </m:r>
                    <m:f>
                      <m:fPr>
                        <m:ctrlPr>
                          <a:rPr lang="fr-FR" b="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fr-FR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  <m:d>
                          <m:dPr>
                            <m:ctrlPr>
                              <a:rPr lang="fr-FR" b="0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b="0" i="1" noProof="0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p>
                              <m:sSupPr>
                                <m:ctrlPr>
                                  <a:rPr lang="fr-FR" b="0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fr-FR" b="0" i="1" noProof="0" smtClean="0"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</m:e>
                              <m:sup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den>
                    </m:f>
                    <m:r>
                      <a:rPr lang="fr-FR" b="0" i="1" noProof="0" smtClean="0">
                        <a:latin typeface="Cambria Math" panose="02040503050406030204" pitchFamily="18" charset="0"/>
                      </a:rPr>
                      <m:t>[</m:t>
                    </m:r>
                    <m:f>
                      <m:fPr>
                        <m:ctrlPr>
                          <a:rPr lang="fr-FR" b="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fr-FR" b="0" i="1" noProof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fr-FR" b="0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fr-FR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0" i="1" noProof="0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fr-FR" b="0" i="1" noProof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fr-FR" b="0" i="1" noProof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fr-FR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0" i="1" noProof="0" smtClean="0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fr-FR" b="0" i="1" noProof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</m:num>
                      <m:den>
                        <m:sSub>
                          <m:sSubPr>
                            <m:ctrlPr>
                              <a:rPr lang="fr-FR" b="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noProof="0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fr-FR" b="0" i="1" noProof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fr-FR" b="0" i="1" noProof="0" smtClean="0">
                        <a:latin typeface="Cambria Math" panose="02040503050406030204" pitchFamily="18" charset="0"/>
                      </a:rPr>
                      <m:t> −</m:t>
                    </m:r>
                    <m:f>
                      <m:fPr>
                        <m:ctrlPr>
                          <a:rPr lang="fr-FR" b="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fr-FR" b="0" i="1" noProof="0" smtClean="0">
                            <a:latin typeface="Cambria Math" panose="02040503050406030204" pitchFamily="18" charset="0"/>
                          </a:rPr>
                          <m:t>𝜌</m:t>
                        </m:r>
                        <m:d>
                          <m:dPr>
                            <m:ctrlPr>
                              <a:rPr lang="fr-FR" b="0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fr-FR" b="0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0" i="1" noProof="0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fr-FR" b="0" i="1" noProof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fr-FR" b="0" i="1" noProof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fr-FR" b="0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0" i="1" noProof="0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fr-FR" b="0" i="1" noProof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d>
                          <m:dPr>
                            <m:ctrlPr>
                              <a:rPr lang="fr-FR" b="0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fr-FR" b="0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0" i="1" noProof="0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fr-FR" b="0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fr-FR" b="0" i="1" noProof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fr-FR" b="0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0" i="1" noProof="0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fr-FR" b="0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num>
                      <m:den>
                        <m:sSub>
                          <m:sSubPr>
                            <m:ctrlPr>
                              <a:rPr lang="fr-FR" b="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noProof="0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fr-FR" b="0" i="1" noProof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fr-FR" b="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noProof="0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fr-FR" b="0" i="1" noProof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fr-FR" b="0" i="1" noProof="0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fr-FR" b="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fr-FR" b="0" i="1" noProof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fr-FR" b="0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fr-FR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0" i="1" noProof="0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fr-FR" b="0" i="1" noProof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fr-FR" b="0" i="1" noProof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fr-FR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0" i="1" noProof="0" smtClean="0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fr-FR" b="0" i="1" noProof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b>
                          <m:sSub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fr-FR" b="0" i="1" noProof="0" smtClean="0">
                        <a:latin typeface="Cambria Math" panose="02040503050406030204" pitchFamily="18" charset="0"/>
                      </a:rPr>
                      <m:t>])</m:t>
                    </m:r>
                  </m:oMath>
                </a14:m>
                <a:r>
                  <a:rPr lang="en-GB" noProof="0" dirty="0">
                    <a:latin typeface="ui-sans-serif"/>
                  </a:rPr>
                  <a:t> </a:t>
                </a:r>
              </a:p>
              <a:p>
                <a:r>
                  <a:rPr lang="en-GB" noProof="0" dirty="0">
                    <a:latin typeface="ui-sans-serif"/>
                  </a:rPr>
                  <a:t>with </a:t>
                </a:r>
                <a14:m>
                  <m:oMath xmlns:m="http://schemas.openxmlformats.org/officeDocument/2006/math">
                    <m:r>
                      <a:rPr lang="fr-FR" b="0" i="1" noProof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fr-FR" b="0" i="1" noProof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b="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fr-FR" b="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noProof="0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fr-FR" b="0" i="1" noProof="0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fr-FR" b="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noProof="0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fr-FR" b="0" i="1" noProof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fr-FR" b="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noProof="0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fr-FR" b="0" i="1" noProof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GB" noProof="0" dirty="0">
                    <a:latin typeface="ui-sans-serif"/>
                  </a:rPr>
                  <a:t> is the correlation coefficient.</a:t>
                </a:r>
              </a:p>
              <a:p>
                <a:pPr marL="342900" indent="-342900">
                  <a:buFont typeface="Wingdings" pitchFamily="2" charset="2"/>
                  <a:buChar char="§"/>
                </a:pPr>
                <a:r>
                  <a:rPr lang="en-GB" dirty="0">
                    <a:latin typeface="ui-sans-serif"/>
                  </a:rPr>
                  <a:t>Conditional probability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num>
                      <m:den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den>
                    </m:f>
                  </m:oMath>
                </a14:m>
                <a:r>
                  <a:rPr lang="en-GB" dirty="0">
                    <a:latin typeface="ui-sans-serif"/>
                  </a:rPr>
                  <a:t> with </a:t>
                </a:r>
                <a14:m>
                  <m:oMath xmlns:m="http://schemas.openxmlformats.org/officeDocument/2006/math">
                    <m:r>
                      <a:rPr lang="fr-FR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fr-FR" b="0" i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fr-FR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GB" noProof="0" dirty="0">
                    <a:latin typeface="ui-sans-serif"/>
                  </a:rPr>
                  <a:t> the marginal distribution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fr-F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noProof="0" dirty="0">
                    <a:latin typeface="ui-sans-serif"/>
                  </a:rPr>
                  <a:t>given by </a:t>
                </a:r>
              </a:p>
              <a:p>
                <a:pPr marL="800100" lvl="1" indent="-342900">
                  <a:buFont typeface="Wingdings" pitchFamily="2" charset="2"/>
                  <a:buChar char="Ø"/>
                </a:pPr>
                <a14:m>
                  <m:oMath xmlns:m="http://schemas.openxmlformats.org/officeDocument/2006/math">
                    <m:r>
                      <a:rPr lang="fr-FR" b="0" i="1" noProof="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fr-FR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b="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noProof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fr-FR" b="0" i="1" noProof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fr-FR" b="0" i="1" noProof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b="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fr-FR" b="0" i="1" noProof="0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fr-FR" b="0" i="1" noProof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fr-FR" b="0" i="1" noProof="0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sSub>
                              <m:sSubPr>
                                <m:ctrlPr>
                                  <a:rPr lang="fr-FR" b="0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0" i="1" noProof="0" smtClean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fr-FR" b="0" i="1" noProof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rad>
                      </m:den>
                    </m:f>
                    <m:func>
                      <m:funcPr>
                        <m:ctrlPr>
                          <a:rPr lang="fr-FR" b="0" i="1" noProof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fr-FR" b="0" i="0" noProof="0" smtClean="0">
                            <a:latin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fr-FR" b="0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b="0" i="1" noProof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fr-FR" b="0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fr-FR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fr-FR" b="0" i="1" noProof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fr-FR" b="0" i="1" noProof="0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fr-FR" b="0" i="1" noProof="0" smtClean="0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fr-FR" b="0" i="1" noProof="0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r>
                                          <a:rPr lang="fr-FR" b="0" i="1" noProof="0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fr-FR" b="0" i="1" noProof="0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fr-FR" b="0" i="1" noProof="0" smtClean="0">
                                                <a:latin typeface="Cambria Math" panose="02040503050406030204" pitchFamily="18" charset="0"/>
                                              </a:rPr>
                                              <m:t>𝜇</m:t>
                                            </m:r>
                                          </m:e>
                                          <m:sub>
                                            <m:r>
                                              <a:rPr lang="fr-FR" b="0" i="1" noProof="0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bSup>
                                  <m:sSubSup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den>
                            </m:f>
                          </m:e>
                        </m:d>
                      </m:e>
                    </m:func>
                  </m:oMath>
                </a14:m>
                <a:r>
                  <a:rPr lang="en-GB" noProof="0" dirty="0">
                    <a:latin typeface="ui-sans-serif"/>
                  </a:rPr>
                  <a:t>. Substituting we get: </a:t>
                </a:r>
                <a:endParaRPr lang="fr-FR" i="1" dirty="0">
                  <a:latin typeface="Cambria Math" panose="02040503050406030204" pitchFamily="18" charset="0"/>
                </a:endParaRPr>
              </a:p>
              <a:p>
                <a:pPr marL="800100" lvl="1" indent="-342900">
                  <a:buFont typeface="Wingdings" pitchFamily="2" charset="2"/>
                  <a:buChar char="Ø"/>
                </a:pPr>
                <a14:m>
                  <m:oMath xmlns:m="http://schemas.openxmlformats.org/officeDocument/2006/math">
                    <m:r>
                      <a:rPr lang="fr-FR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fr-FR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sSub>
                              <m:sSub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ad>
                              <m:radPr>
                                <m:degHide m:val="on"/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sSup>
                                  <m:sSup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𝜌</m:t>
                                    </m:r>
                                  </m:e>
                                  <m:sup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  <m:func>
                          <m:func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fr-FR">
                                <a:latin typeface="Cambria Math" panose="02040503050406030204" pitchFamily="18" charset="0"/>
                              </a:rPr>
                              <m:t>exp</m:t>
                            </m:r>
                          </m:fName>
                          <m:e>
                            <m:d>
                              <m:d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d>
                                      <m:dPr>
                                        <m:ctrlP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  <m:t>1−</m:t>
                                        </m:r>
                                        <m:sSup>
                                          <m:sSupPr>
                                            <m:ctrlPr>
                                              <a:rPr lang="fr-FR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fr-FR" i="1">
                                                <a:latin typeface="Cambria Math" panose="02040503050406030204" pitchFamily="18" charset="0"/>
                                              </a:rPr>
                                              <m:t>𝜌</m:t>
                                            </m:r>
                                          </m:e>
                                          <m:sup>
                                            <m:r>
                                              <a:rPr lang="fr-FR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den>
                                </m:f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p>
                                          <m:sSupPr>
                                            <m:ctrlPr>
                                              <a:rPr lang="fr-FR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d>
                                              <m:dPr>
                                                <m:ctrlPr>
                                                  <a:rPr lang="fr-FR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fr-FR" i="1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fr-FR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𝑦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fr-FR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1</m:t>
                                                    </m:r>
                                                  </m:sub>
                                                </m:sSub>
                                                <m:r>
                                                  <a:rPr lang="fr-FR" i="1">
                                                    <a:latin typeface="Cambria Math" panose="02040503050406030204" pitchFamily="18" charset="0"/>
                                                  </a:rPr>
                                                  <m:t>−</m:t>
                                                </m:r>
                                                <m:sSub>
                                                  <m:sSubPr>
                                                    <m:ctrlPr>
                                                      <a:rPr lang="fr-FR" i="1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fr-FR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𝜇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fr-FR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1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d>
                                          </m:e>
                                          <m:sup>
                                            <m:r>
                                              <a:rPr lang="fr-FR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  <m:t>  </m:t>
                                        </m:r>
                                      </m:num>
                                      <m:den>
                                        <m:sSub>
                                          <m:sSubPr>
                                            <m:ctrlPr>
                                              <a:rPr lang="fr-FR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fr-FR" i="1">
                                                <a:latin typeface="Cambria Math" panose="02040503050406030204" pitchFamily="18" charset="0"/>
                                              </a:rPr>
                                              <m:t>𝜎</m:t>
                                            </m:r>
                                          </m:e>
                                          <m:sub>
                                            <m:r>
                                              <a:rPr lang="fr-FR" i="1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 −</m:t>
                                    </m:r>
                                    <m:f>
                                      <m:fPr>
                                        <m:ctrlP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  <m:t>𝜌</m:t>
                                        </m:r>
                                        <m:d>
                                          <m:dPr>
                                            <m:ctrlPr>
                                              <a:rPr lang="fr-FR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fr-FR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fr-FR" i="1">
                                                    <a:latin typeface="Cambria Math" panose="02040503050406030204" pitchFamily="18" charset="0"/>
                                                  </a:rPr>
                                                  <m:t>𝑦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fr-FR" i="1"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fr-FR" i="1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fr-FR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fr-FR" i="1">
                                                    <a:latin typeface="Cambria Math" panose="02040503050406030204" pitchFamily="18" charset="0"/>
                                                  </a:rPr>
                                                  <m:t>𝜇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fr-FR" i="1"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  <m:d>
                                          <m:dPr>
                                            <m:ctrlPr>
                                              <a:rPr lang="fr-FR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fr-FR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fr-FR" i="1">
                                                    <a:latin typeface="Cambria Math" panose="02040503050406030204" pitchFamily="18" charset="0"/>
                                                  </a:rPr>
                                                  <m:t>𝑦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fr-FR" i="1"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fr-FR" i="1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fr-FR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fr-FR" i="1">
                                                    <a:latin typeface="Cambria Math" panose="02040503050406030204" pitchFamily="18" charset="0"/>
                                                  </a:rPr>
                                                  <m:t>𝜇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fr-FR" i="1"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num>
                                      <m:den>
                                        <m:sSub>
                                          <m:sSubPr>
                                            <m:ctrlPr>
                                              <a:rPr lang="fr-FR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fr-FR" i="1">
                                                <a:latin typeface="Cambria Math" panose="02040503050406030204" pitchFamily="18" charset="0"/>
                                              </a:rPr>
                                              <m:t>𝜎</m:t>
                                            </m:r>
                                          </m:e>
                                          <m:sub>
                                            <m:r>
                                              <a:rPr lang="fr-FR" i="1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fr-FR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fr-FR" i="1">
                                                <a:latin typeface="Cambria Math" panose="02040503050406030204" pitchFamily="18" charset="0"/>
                                              </a:rPr>
                                              <m:t>𝜎</m:t>
                                            </m:r>
                                          </m:e>
                                          <m:sub>
                                            <m:r>
                                              <a:rPr lang="fr-FR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f>
                                      <m:fPr>
                                        <m:ctrlP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p>
                                          <m:sSupPr>
                                            <m:ctrlPr>
                                              <a:rPr lang="fr-FR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d>
                                              <m:dPr>
                                                <m:ctrlPr>
                                                  <a:rPr lang="fr-FR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fr-FR" i="1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fr-FR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𝑦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fr-FR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2</m:t>
                                                    </m:r>
                                                  </m:sub>
                                                </m:sSub>
                                                <m:r>
                                                  <a:rPr lang="fr-FR" i="1">
                                                    <a:latin typeface="Cambria Math" panose="02040503050406030204" pitchFamily="18" charset="0"/>
                                                  </a:rPr>
                                                  <m:t>−</m:t>
                                                </m:r>
                                                <m:sSub>
                                                  <m:sSubPr>
                                                    <m:ctrlPr>
                                                      <a:rPr lang="fr-FR" i="1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fr-FR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𝜇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fr-FR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2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d>
                                          </m:e>
                                          <m:sup>
                                            <m:r>
                                              <a:rPr lang="fr-FR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num>
                                      <m:den>
                                        <m:sSub>
                                          <m:sSubPr>
                                            <m:ctrlPr>
                                              <a:rPr lang="fr-FR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fr-FR" i="1">
                                                <a:latin typeface="Cambria Math" panose="02040503050406030204" pitchFamily="18" charset="0"/>
                                              </a:rPr>
                                              <m:t>𝜎</m:t>
                                            </m:r>
                                          </m:e>
                                          <m:sub>
                                            <m:r>
                                              <a:rPr lang="fr-FR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e>
                                </m:d>
                              </m:e>
                            </m:d>
                          </m:e>
                        </m:func>
                      </m:num>
                      <m:den>
                        <m:f>
                          <m:f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  <m:sSub>
                                  <m:sSub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rad>
                          </m:den>
                        </m:f>
                        <m:func>
                          <m:func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fr-FR">
                                <a:latin typeface="Cambria Math" panose="02040503050406030204" pitchFamily="18" charset="0"/>
                              </a:rPr>
                              <m:t>exp</m:t>
                            </m:r>
                          </m:fName>
                          <m:e>
                            <m:d>
                              <m:d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fr-FR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fr-FR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fr-FR" i="1">
                                                    <a:latin typeface="Cambria Math" panose="02040503050406030204" pitchFamily="18" charset="0"/>
                                                  </a:rPr>
                                                  <m:t>𝑦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fr-FR" i="1"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fr-FR" i="1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fr-FR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fr-FR" i="1">
                                                    <a:latin typeface="Cambria Math" panose="02040503050406030204" pitchFamily="18" charset="0"/>
                                                  </a:rPr>
                                                  <m:t>𝜇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fr-FR" i="1"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sSubSup>
                                      <m:sSubSupPr>
                                        <m:ctrlP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b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  <m:sup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den>
                                </m:f>
                              </m:e>
                            </m:d>
                          </m:e>
                        </m:func>
                      </m:den>
                    </m:f>
                  </m:oMath>
                </a14:m>
                <a:endParaRPr lang="en-GB" noProof="0" dirty="0">
                  <a:latin typeface="ui-sans-serif"/>
                </a:endParaRPr>
              </a:p>
            </p:txBody>
          </p:sp>
        </mc:Choice>
        <mc:Fallback xmlns="">
          <p:sp>
            <p:nvSpPr>
              <p:cNvPr id="4" name="ZoneTexte 3">
                <a:extLst>
                  <a:ext uri="{FF2B5EF4-FFF2-40B4-BE49-F238E27FC236}">
                    <a16:creationId xmlns:a16="http://schemas.microsoft.com/office/drawing/2014/main" id="{01F7A9D8-DB3E-C19B-4C49-87A3E2BD4D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8" y="1403479"/>
                <a:ext cx="11209423" cy="4892675"/>
              </a:xfrm>
              <a:prstGeom prst="rect">
                <a:avLst/>
              </a:prstGeom>
              <a:blipFill>
                <a:blip r:embed="rId3"/>
                <a:stretch>
                  <a:fillRect l="-1131" t="-129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93218BF3-7CCD-2BA7-2CA5-D55A8EA59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GB" noProof="0" dirty="0"/>
              <a:t>Gibbs sampling. Author: David Thébault</a:t>
            </a:r>
          </a:p>
        </p:txBody>
      </p:sp>
    </p:spTree>
    <p:extLst>
      <p:ext uri="{BB962C8B-B14F-4D97-AF65-F5344CB8AC3E}">
        <p14:creationId xmlns:p14="http://schemas.microsoft.com/office/powerpoint/2010/main" val="18633134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5C42A-1DA4-2961-25BB-FAC0E3518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684EC24-6874-6DD5-4410-925FADA10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Gibbs sampling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ZoneTexte 3">
                <a:extLst>
                  <a:ext uri="{FF2B5EF4-FFF2-40B4-BE49-F238E27FC236}">
                    <a16:creationId xmlns:a16="http://schemas.microsoft.com/office/drawing/2014/main" id="{987CA7B2-E9FB-AEE1-D3F0-C6C56D33BF20}"/>
                  </a:ext>
                </a:extLst>
              </p:cNvPr>
              <p:cNvSpPr txBox="1"/>
              <p:nvPr/>
            </p:nvSpPr>
            <p:spPr>
              <a:xfrm>
                <a:off x="838198" y="1403479"/>
                <a:ext cx="11209423" cy="4892675"/>
              </a:xfrm>
              <a:prstGeom prst="rect">
                <a:avLst/>
              </a:prstGeom>
              <a:noFill/>
            </p:spPr>
            <p:txBody>
              <a:bodyPr wrap="square" lIns="90000" rtlCol="0">
                <a:noAutofit/>
              </a:bodyPr>
              <a:lstStyle/>
              <a:p>
                <a:r>
                  <a:rPr lang="en-GB" sz="2800" b="1" i="0" u="none" strike="noStrike" noProof="0" dirty="0">
                    <a:effectLst/>
                    <a:latin typeface="ui-sans-serif"/>
                  </a:rPr>
                  <a:t>Gibbs </a:t>
                </a:r>
                <a:r>
                  <a:rPr lang="en-GB" sz="2800" b="1" dirty="0">
                    <a:latin typeface="ui-sans-serif"/>
                  </a:rPr>
                  <a:t>sampler 2D normal distribution : </a:t>
                </a:r>
              </a:p>
              <a:p>
                <a:r>
                  <a:rPr lang="en-GB" sz="2800" b="1" i="0" u="none" strike="noStrike" noProof="0" dirty="0">
                    <a:effectLst/>
                    <a:latin typeface="ui-sans-serif"/>
                  </a:rPr>
                  <a:t>How to derive the conditional probabilities ?</a:t>
                </a:r>
                <a:r>
                  <a:rPr lang="en-GB" sz="2800" b="1" i="0" u="none" strike="noStrike" noProof="0" dirty="0">
                    <a:solidFill>
                      <a:schemeClr val="accent1"/>
                    </a:solidFill>
                    <a:effectLst/>
                    <a:latin typeface="ui-sans-serif"/>
                  </a:rPr>
                  <a:t> (2</a:t>
                </a:r>
                <a:r>
                  <a:rPr lang="en-GB" sz="2800" b="1" dirty="0">
                    <a:solidFill>
                      <a:schemeClr val="accent1"/>
                    </a:solidFill>
                    <a:latin typeface="ui-sans-serif"/>
                  </a:rPr>
                  <a:t>/2)</a:t>
                </a:r>
                <a:endParaRPr lang="en-GB" sz="2800" b="1" i="0" u="none" strike="noStrike" noProof="0" dirty="0">
                  <a:effectLst/>
                  <a:latin typeface="ui-sans-serif"/>
                </a:endParaRPr>
              </a:p>
              <a:p>
                <a:endParaRPr lang="en-GB" sz="1200" b="1" noProof="0" dirty="0">
                  <a:latin typeface="ui-sans-serif"/>
                </a:endParaRPr>
              </a:p>
              <a:p>
                <a:pPr marL="800100" lvl="1" indent="-342900">
                  <a:buFont typeface="Wingdings" pitchFamily="2" charset="2"/>
                  <a:buChar char="Ø"/>
                </a:pPr>
                <a14:m>
                  <m:oMath xmlns:m="http://schemas.openxmlformats.org/officeDocument/2006/math">
                    <m:r>
                      <a:rPr lang="fr-FR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fr-FR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rad>
                        <m:sSub>
                          <m:sSub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ad>
                          <m:radPr>
                            <m:degHide m:val="on"/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p>
                              <m:sSup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</m:e>
                              <m:sup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fr-FR" b="0" i="0" smtClean="0">
                        <a:latin typeface="Cambria Math" panose="02040503050406030204" pitchFamily="18" charset="0"/>
                      </a:rPr>
                      <m:t>exp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⁡(−</m:t>
                    </m:r>
                    <m:f>
                      <m:f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d>
                          <m:d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p>
                              <m:sSup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</m:e>
                              <m:sup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den>
                    </m:f>
                    <m:r>
                      <a:rPr lang="fr-FR" b="0" i="1" smtClean="0">
                        <a:latin typeface="Cambria Math" panose="02040503050406030204" pitchFamily="18" charset="0"/>
                      </a:rPr>
                      <m:t>[</m:t>
                    </m:r>
                    <m:f>
                      <m:f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bSup>
                          <m:sSubSup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  <m:r>
                      <a:rPr lang="fr-FR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  <m:d>
                          <m:d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d>
                          <m:d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num>
                      <m:den>
                        <m:sSub>
                          <m:sSub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fr-FR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p>
                              <m:sSup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</m:e>
                              <m:sup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num>
                      <m:den>
                        <m:sSubSup>
                          <m:sSubSup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  <m:r>
                      <a:rPr lang="fr-FR" b="0" i="1" smtClean="0">
                        <a:latin typeface="Cambria Math" panose="02040503050406030204" pitchFamily="18" charset="0"/>
                      </a:rPr>
                      <m:t>])</m:t>
                    </m:r>
                  </m:oMath>
                </a14:m>
                <a:r>
                  <a:rPr lang="en-GB" noProof="0" dirty="0">
                    <a:latin typeface="ui-sans-serif"/>
                  </a:rPr>
                  <a:t> rearranging we get:</a:t>
                </a:r>
              </a:p>
              <a:p>
                <a:pPr marL="800100" lvl="1" indent="-342900">
                  <a:buFont typeface="Wingdings" pitchFamily="2" charset="2"/>
                  <a:buChar char="Ø"/>
                </a:pPr>
                <a14:m>
                  <m:oMath xmlns:m="http://schemas.openxmlformats.org/officeDocument/2006/math">
                    <m:r>
                      <a:rPr lang="fr-FR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fr-FR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rad>
                        <m:sSub>
                          <m:sSub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ad>
                          <m:radPr>
                            <m:degHide m:val="on"/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p>
                              <m:sSup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</m:e>
                              <m:sup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fr-FR" b="0" i="0" smtClean="0">
                        <a:latin typeface="Cambria Math" panose="02040503050406030204" pitchFamily="18" charset="0"/>
                      </a:rPr>
                      <m:t>exp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⁡(−</m:t>
                    </m:r>
                    <m:f>
                      <m:f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sSubSup>
                          <m:sSubSup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d>
                          <m:d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p>
                              <m:sSup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</m:e>
                              <m:sup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den>
                    </m:f>
                    <m:r>
                      <a:rPr lang="fr-FR" b="0" i="1" smtClean="0">
                        <a:latin typeface="Cambria Math" panose="02040503050406030204" pitchFamily="18" charset="0"/>
                      </a:rPr>
                      <m:t>[</m:t>
                    </m:r>
                    <m:sSup>
                      <m:sSup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fr-FR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fr-FR" b="0" i="1" smtClean="0">
                        <a:latin typeface="Cambria Math" panose="02040503050406030204" pitchFamily="18" charset="0"/>
                      </a:rPr>
                      <m:t>−2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𝜌</m:t>
                    </m:r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)+</m:t>
                    </m:r>
                    <m:sSup>
                      <m:sSup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Sup>
                      <m:sSubSup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sSup>
                      <m:sSup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fr-FR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fr-FR" b="0" i="1" smtClean="0">
                        <a:latin typeface="Cambria Math" panose="02040503050406030204" pitchFamily="18" charset="0"/>
                      </a:rPr>
                      <m:t>])</m:t>
                    </m:r>
                  </m:oMath>
                </a14:m>
                <a:r>
                  <a:rPr lang="en-GB" noProof="0" dirty="0">
                    <a:latin typeface="ui-sans-serif"/>
                  </a:rPr>
                  <a:t> completing the square, we obtain:</a:t>
                </a:r>
              </a:p>
              <a:p>
                <a:pPr marL="800100" lvl="1" indent="-342900">
                  <a:buFont typeface="Wingdings" pitchFamily="2" charset="2"/>
                  <a:buChar char="Ø"/>
                </a:pPr>
                <a14:m>
                  <m:oMath xmlns:m="http://schemas.openxmlformats.org/officeDocument/2006/math">
                    <m:r>
                      <a:rPr lang="fr-FR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fr-FR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rad>
                        <m:sSub>
                          <m:sSub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ad>
                          <m:radPr>
                            <m:degHide m:val="on"/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p>
                              <m:sSup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</m:e>
                              <m:sup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fr-FR" b="0" i="0" smtClean="0">
                        <a:latin typeface="Cambria Math" panose="02040503050406030204" pitchFamily="18" charset="0"/>
                      </a:rPr>
                      <m:t>exp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⁡(−</m:t>
                    </m:r>
                    <m:f>
                      <m:f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sSubSup>
                          <m:sSubSup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d>
                          <m:d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p>
                              <m:sSup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</m:e>
                              <m:sup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den>
                    </m:f>
                    <m:sSup>
                      <m:sSup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d>
                              <m:d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𝜌</m:t>
                                    </m:r>
                                    <m:sSub>
                                      <m:sSubPr>
                                        <m:ctrlP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b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b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  <m:d>
                                  <m:d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  <m:sub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d>
                          </m:e>
                        </m:d>
                      </m:e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fr-F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noProof="0" dirty="0">
                    <a:latin typeface="ui-sans-serif"/>
                  </a:rPr>
                  <a:t> </a:t>
                </a:r>
              </a:p>
              <a:p>
                <a:endParaRPr lang="en-GB" dirty="0">
                  <a:latin typeface="ui-sans-serif"/>
                </a:endParaRPr>
              </a:p>
              <a:p>
                <a:r>
                  <a:rPr lang="en-GB" b="1" dirty="0">
                    <a:latin typeface="ui-sans-serif"/>
                  </a:rPr>
                  <a:t>The conditional distribution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 i="1" smtClean="0"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  <m:sub>
                        <m:r>
                          <a:rPr lang="fr-FR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GB" b="1" noProof="0" dirty="0">
                    <a:latin typeface="ui-sans-serif"/>
                  </a:rPr>
                  <a:t> given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 i="1"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  <m:sub>
                        <m:r>
                          <a:rPr lang="fr-FR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fr-FR" b="1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fr-FR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GB" b="1" noProof="0" dirty="0">
                    <a:latin typeface="ui-sans-serif"/>
                  </a:rPr>
                  <a:t>is therefore a normal distribution with:</a:t>
                </a:r>
              </a:p>
              <a:p>
                <a:pPr marL="285750" indent="-285750">
                  <a:buFont typeface="Wingdings" pitchFamily="2" charset="2"/>
                  <a:buChar char="§"/>
                </a:pPr>
                <a:r>
                  <a:rPr lang="en-GB" b="1" dirty="0">
                    <a:latin typeface="ui-sans-serif"/>
                  </a:rPr>
                  <a:t>Mean: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 i="1" smtClean="0">
                            <a:latin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fr-FR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fr-FR" b="1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fr-FR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b="1" i="1" smtClean="0">
                            <a:latin typeface="Cambria Math" panose="02040503050406030204" pitchFamily="18" charset="0"/>
                          </a:rPr>
                          <m:t>𝝆</m:t>
                        </m:r>
                        <m:sSub>
                          <m:sSubPr>
                            <m:ctrlPr>
                              <a:rPr lang="fr-FR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1" i="1" smtClean="0">
                                <a:latin typeface="Cambria Math" panose="02040503050406030204" pitchFamily="18" charset="0"/>
                              </a:rPr>
                              <m:t>𝝈</m:t>
                            </m:r>
                          </m:e>
                          <m:sub>
                            <m:r>
                              <a:rPr lang="fr-FR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fr-FR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1" i="1" smtClean="0">
                                <a:latin typeface="Cambria Math" panose="02040503050406030204" pitchFamily="18" charset="0"/>
                              </a:rPr>
                              <m:t>𝝈</m:t>
                            </m:r>
                          </m:e>
                          <m:sub>
                            <m:r>
                              <a:rPr lang="fr-FR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den>
                    </m:f>
                    <m:r>
                      <a:rPr lang="fr-FR" b="1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fr-FR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fr-FR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fr-FR" b="1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fr-FR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 i="1" smtClean="0">
                            <a:latin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fr-FR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fr-FR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b="1" noProof="0" dirty="0">
                  <a:latin typeface="ui-sans-serif"/>
                </a:endParaRPr>
              </a:p>
              <a:p>
                <a:pPr marL="285750" indent="-285750">
                  <a:buFont typeface="Wingdings" pitchFamily="2" charset="2"/>
                  <a:buChar char="§"/>
                </a:pPr>
                <a:r>
                  <a:rPr lang="en-GB" b="1" dirty="0">
                    <a:latin typeface="ui-sans-serif"/>
                  </a:rPr>
                  <a:t>Variance: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fr-FR" b="1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b="1" i="1" smtClean="0">
                            <a:latin typeface="Cambria Math" panose="02040503050406030204" pitchFamily="18" charset="0"/>
                          </a:rPr>
                          <m:t>𝝈</m:t>
                        </m:r>
                      </m:e>
                      <m:sub>
                        <m:r>
                          <a:rPr lang="fr-FR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  <m:sup>
                        <m:r>
                          <a:rPr lang="fr-FR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bSup>
                    <m:r>
                      <a:rPr lang="fr-FR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fr-FR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fr-FR" b="1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fr-FR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b="1" i="1" smtClean="0">
                            <a:latin typeface="Cambria Math" panose="02040503050406030204" pitchFamily="18" charset="0"/>
                          </a:rPr>
                          <m:t>𝝆</m:t>
                        </m:r>
                      </m:e>
                      <m:sup>
                        <m:r>
                          <a:rPr lang="fr-FR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fr-FR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b="1" noProof="0" dirty="0">
                  <a:latin typeface="ui-sans-serif"/>
                </a:endParaRPr>
              </a:p>
            </p:txBody>
          </p:sp>
        </mc:Choice>
        <mc:Fallback xmlns="">
          <p:sp>
            <p:nvSpPr>
              <p:cNvPr id="4" name="ZoneTexte 3">
                <a:extLst>
                  <a:ext uri="{FF2B5EF4-FFF2-40B4-BE49-F238E27FC236}">
                    <a16:creationId xmlns:a16="http://schemas.microsoft.com/office/drawing/2014/main" id="{987CA7B2-E9FB-AEE1-D3F0-C6C56D33BF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8" y="1403479"/>
                <a:ext cx="11209423" cy="4892675"/>
              </a:xfrm>
              <a:prstGeom prst="rect">
                <a:avLst/>
              </a:prstGeom>
              <a:blipFill>
                <a:blip r:embed="rId3"/>
                <a:stretch>
                  <a:fillRect l="-1131" t="-129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D57D811-197D-379B-A222-7D2937DE5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GB" noProof="0" dirty="0"/>
              <a:t>Gibbs sampling. Author: David Thébault</a:t>
            </a:r>
          </a:p>
        </p:txBody>
      </p:sp>
    </p:spTree>
    <p:extLst>
      <p:ext uri="{BB962C8B-B14F-4D97-AF65-F5344CB8AC3E}">
        <p14:creationId xmlns:p14="http://schemas.microsoft.com/office/powerpoint/2010/main" val="159831005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13097</TotalTime>
  <Words>1389</Words>
  <Application>Microsoft Macintosh PowerPoint</Application>
  <PresentationFormat>Grand écran</PresentationFormat>
  <Paragraphs>133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8" baseType="lpstr">
      <vt:lpstr>Aptos</vt:lpstr>
      <vt:lpstr>Aptos Display</vt:lpstr>
      <vt:lpstr>Arial</vt:lpstr>
      <vt:lpstr>Cambria Math</vt:lpstr>
      <vt:lpstr>Menlo</vt:lpstr>
      <vt:lpstr>ui-sans-serif</vt:lpstr>
      <vt:lpstr>Wingdings</vt:lpstr>
      <vt:lpstr>Thème Office</vt:lpstr>
      <vt:lpstr>Gibbs Sampling</vt:lpstr>
      <vt:lpstr>Gibbs sampling</vt:lpstr>
      <vt:lpstr>Gibbs sampling</vt:lpstr>
      <vt:lpstr>Gibbs sampling</vt:lpstr>
      <vt:lpstr>Gibbs sampling</vt:lpstr>
      <vt:lpstr>Gibbs sampling</vt:lpstr>
      <vt:lpstr>Gibbs sampling</vt:lpstr>
      <vt:lpstr>Gibbs sampling</vt:lpstr>
      <vt:lpstr>Gibbs sampling</vt:lpstr>
      <vt:lpstr>Gibbs sampling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THEBAULT</dc:creator>
  <cp:lastModifiedBy>David THEBAULT</cp:lastModifiedBy>
  <cp:revision>120</cp:revision>
  <dcterms:created xsi:type="dcterms:W3CDTF">2025-01-02T20:19:00Z</dcterms:created>
  <dcterms:modified xsi:type="dcterms:W3CDTF">2025-01-12T22:57:01Z</dcterms:modified>
</cp:coreProperties>
</file>