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345" r:id="rId3"/>
    <p:sldId id="356" r:id="rId4"/>
    <p:sldId id="355" r:id="rId5"/>
    <p:sldId id="357" r:id="rId6"/>
    <p:sldId id="358" r:id="rId7"/>
    <p:sldId id="361" r:id="rId8"/>
    <p:sldId id="362" r:id="rId9"/>
    <p:sldId id="364" r:id="rId10"/>
    <p:sldId id="376" r:id="rId11"/>
    <p:sldId id="378" r:id="rId12"/>
    <p:sldId id="382" r:id="rId13"/>
    <p:sldId id="365" r:id="rId14"/>
    <p:sldId id="379" r:id="rId15"/>
    <p:sldId id="380" r:id="rId16"/>
    <p:sldId id="363" r:id="rId17"/>
    <p:sldId id="387" r:id="rId18"/>
    <p:sldId id="388" r:id="rId19"/>
    <p:sldId id="389" r:id="rId20"/>
    <p:sldId id="390" r:id="rId21"/>
    <p:sldId id="383" r:id="rId22"/>
    <p:sldId id="386" r:id="rId23"/>
    <p:sldId id="359" r:id="rId24"/>
    <p:sldId id="360" r:id="rId25"/>
    <p:sldId id="374" r:id="rId26"/>
    <p:sldId id="384" r:id="rId27"/>
    <p:sldId id="367" r:id="rId28"/>
    <p:sldId id="368" r:id="rId29"/>
    <p:sldId id="369" r:id="rId30"/>
    <p:sldId id="370" r:id="rId31"/>
    <p:sldId id="371" r:id="rId32"/>
    <p:sldId id="372" r:id="rId33"/>
    <p:sldId id="373" r:id="rId3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61"/>
    <p:restoredTop sz="83253"/>
  </p:normalViewPr>
  <p:slideViewPr>
    <p:cSldViewPr snapToGrid="0">
      <p:cViewPr>
        <p:scale>
          <a:sx n="110" d="100"/>
          <a:sy n="110" d="100"/>
        </p:scale>
        <p:origin x="144" y="-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9C11F8-E0B1-1048-90C9-7B5C3CB594D7}" type="datetimeFigureOut">
              <a:rPr lang="fr-FR" smtClean="0"/>
              <a:t>27/01/2025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E20620-1C2C-7043-8B38-691BB5666C4A}" type="slidenum">
              <a:rPr lang="fr-FR" smtClean="0"/>
              <a:t>‹N°›</a:t>
            </a:fld>
            <a:endParaRPr lang="fr-FR"/>
          </a:p>
        </p:txBody>
      </p:sp>
    </p:spTree>
    <p:extLst>
      <p:ext uri="{BB962C8B-B14F-4D97-AF65-F5344CB8AC3E}">
        <p14:creationId xmlns:p14="http://schemas.microsoft.com/office/powerpoint/2010/main" val="915127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17</a:t>
            </a:fld>
            <a:endParaRPr lang="fr-FR"/>
          </a:p>
        </p:txBody>
      </p:sp>
    </p:spTree>
    <p:extLst>
      <p:ext uri="{BB962C8B-B14F-4D97-AF65-F5344CB8AC3E}">
        <p14:creationId xmlns:p14="http://schemas.microsoft.com/office/powerpoint/2010/main" val="3561543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92704-6555-4316-7246-C10BE9371B3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22E7E16-04DC-84DB-3A67-BBC866C1B5C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5DBE41C-D2FF-92D1-6A0E-18416496083B}"/>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86AE01E7-AD5F-457C-D23F-197CC409F08B}"/>
              </a:ext>
            </a:extLst>
          </p:cNvPr>
          <p:cNvSpPr>
            <a:spLocks noGrp="1"/>
          </p:cNvSpPr>
          <p:nvPr>
            <p:ph type="sldNum" sz="quarter" idx="5"/>
          </p:nvPr>
        </p:nvSpPr>
        <p:spPr/>
        <p:txBody>
          <a:bodyPr/>
          <a:lstStyle/>
          <a:p>
            <a:fld id="{BFE20620-1C2C-7043-8B38-691BB5666C4A}" type="slidenum">
              <a:rPr lang="fr-FR" smtClean="0"/>
              <a:t>18</a:t>
            </a:fld>
            <a:endParaRPr lang="fr-FR"/>
          </a:p>
        </p:txBody>
      </p:sp>
    </p:spTree>
    <p:extLst>
      <p:ext uri="{BB962C8B-B14F-4D97-AF65-F5344CB8AC3E}">
        <p14:creationId xmlns:p14="http://schemas.microsoft.com/office/powerpoint/2010/main" val="1030760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0B563-C583-AF56-EE30-C392EF9F55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F16DC8B-037B-BECC-81A8-13F1058B9FC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F2F6AB9-11DB-C66A-4EB5-51694FD7A9E7}"/>
              </a:ext>
            </a:extLst>
          </p:cNvPr>
          <p:cNvSpPr>
            <a:spLocks noGrp="1"/>
          </p:cNvSpPr>
          <p:nvPr>
            <p:ph type="body" idx="1"/>
          </p:nvPr>
        </p:nvSpPr>
        <p:spPr/>
        <p:txBody>
          <a:bodyPr/>
          <a:lstStyle/>
          <a:p>
            <a:pPr>
              <a:lnSpc>
                <a:spcPts val="1350"/>
              </a:lnSpc>
            </a:pPr>
            <a:r>
              <a:rPr lang="fr-FR" sz="1200" b="1" dirty="0" err="1">
                <a:solidFill>
                  <a:srgbClr val="008100"/>
                </a:solidFill>
                <a:effectLst/>
                <a:latin typeface="Menlo" panose="020B0609030804020204" pitchFamily="49" charset="0"/>
              </a:rPr>
              <a:t>try</a:t>
            </a:r>
            <a:r>
              <a:rPr lang="fr-FR" sz="1200" b="0" dirty="0">
                <a:solidFill>
                  <a:srgbClr val="252525"/>
                </a:solidFill>
                <a:effectLst/>
                <a:latin typeface="Menlo" panose="020B0609030804020204" pitchFamily="49" charset="0"/>
              </a:rPr>
              <a:t>:</a:t>
            </a:r>
            <a:endParaRPr lang="fr-FR" sz="1200" b="0" dirty="0">
              <a:solidFill>
                <a:srgbClr val="333333"/>
              </a:solidFill>
              <a:effectLst/>
              <a:latin typeface="Menlo" panose="020B0609030804020204" pitchFamily="49" charset="0"/>
            </a:endParaRPr>
          </a:p>
          <a:p>
            <a:pPr>
              <a:lnSpc>
                <a:spcPts val="1350"/>
              </a:lnSpc>
            </a:pPr>
            <a:r>
              <a:rPr lang="fr-FR" sz="1200" b="0" dirty="0">
                <a:solidFill>
                  <a:srgbClr val="333333"/>
                </a:solidFill>
                <a:effectLst/>
                <a:latin typeface="Menlo" panose="020B0609030804020204" pitchFamily="49" charset="0"/>
              </a:rPr>
              <a:t>    </a:t>
            </a:r>
            <a:r>
              <a:rPr lang="fr-FR" sz="1200" b="0" dirty="0" err="1">
                <a:solidFill>
                  <a:srgbClr val="333333"/>
                </a:solidFill>
                <a:effectLst/>
                <a:latin typeface="Menlo" panose="020B0609030804020204" pitchFamily="49" charset="0"/>
              </a:rPr>
              <a:t>word_vectors</a:t>
            </a:r>
            <a:r>
              <a:rPr lang="fr-FR" sz="1200" b="0" dirty="0">
                <a:solidFill>
                  <a:srgbClr val="252525"/>
                </a:solidFill>
                <a:effectLst/>
                <a:latin typeface="Menlo" panose="020B0609030804020204" pitchFamily="49" charset="0"/>
              </a:rPr>
              <a:t>[</a:t>
            </a:r>
            <a:r>
              <a:rPr lang="fr-FR" sz="1200" b="0" dirty="0">
                <a:solidFill>
                  <a:srgbClr val="C44445"/>
                </a:solidFill>
                <a:effectLst/>
                <a:latin typeface="Menlo" panose="020B0609030804020204" pitchFamily="49" charset="0"/>
              </a:rPr>
              <a:t>'</a:t>
            </a:r>
            <a:r>
              <a:rPr lang="fr-FR" sz="1200" b="0" dirty="0" err="1">
                <a:solidFill>
                  <a:srgbClr val="C44445"/>
                </a:solidFill>
                <a:effectLst/>
                <a:latin typeface="Menlo" panose="020B0609030804020204" pitchFamily="49" charset="0"/>
              </a:rPr>
              <a:t>genance</a:t>
            </a:r>
            <a:r>
              <a:rPr lang="fr-FR" sz="1200" b="0" dirty="0">
                <a:solidFill>
                  <a:srgbClr val="C44445"/>
                </a:solidFill>
                <a:effectLst/>
                <a:latin typeface="Menlo" panose="020B0609030804020204" pitchFamily="49" charset="0"/>
              </a:rPr>
              <a:t>'</a:t>
            </a:r>
            <a:r>
              <a:rPr lang="fr-FR" sz="1200" b="0" dirty="0">
                <a:solidFill>
                  <a:srgbClr val="252525"/>
                </a:solidFill>
                <a:effectLst/>
                <a:latin typeface="Menlo" panose="020B0609030804020204" pitchFamily="49" charset="0"/>
              </a:rPr>
              <a:t>]</a:t>
            </a:r>
            <a:endParaRPr lang="fr-FR" sz="1200" b="0" dirty="0">
              <a:solidFill>
                <a:srgbClr val="333333"/>
              </a:solidFill>
              <a:effectLst/>
              <a:latin typeface="Menlo" panose="020B0609030804020204" pitchFamily="49" charset="0"/>
            </a:endParaRPr>
          </a:p>
          <a:p>
            <a:pPr>
              <a:lnSpc>
                <a:spcPts val="1350"/>
              </a:lnSpc>
            </a:pPr>
            <a:r>
              <a:rPr lang="fr-FR" sz="1200" b="1" dirty="0" err="1">
                <a:solidFill>
                  <a:srgbClr val="008100"/>
                </a:solidFill>
                <a:effectLst/>
                <a:latin typeface="Menlo" panose="020B0609030804020204" pitchFamily="49" charset="0"/>
              </a:rPr>
              <a:t>except</a:t>
            </a:r>
            <a:r>
              <a:rPr lang="fr-FR" sz="1200" b="0" dirty="0">
                <a:solidFill>
                  <a:srgbClr val="333333"/>
                </a:solidFill>
                <a:effectLst/>
                <a:latin typeface="Menlo" panose="020B0609030804020204" pitchFamily="49" charset="0"/>
              </a:rPr>
              <a:t> </a:t>
            </a:r>
            <a:r>
              <a:rPr lang="fr-FR" sz="1200" b="0" dirty="0" err="1">
                <a:solidFill>
                  <a:srgbClr val="008100"/>
                </a:solidFill>
                <a:effectLst/>
                <a:latin typeface="Menlo" panose="020B0609030804020204" pitchFamily="49" charset="0"/>
              </a:rPr>
              <a:t>KeyError</a:t>
            </a:r>
            <a:r>
              <a:rPr lang="fr-FR" sz="1200" b="0" dirty="0">
                <a:solidFill>
                  <a:srgbClr val="333333"/>
                </a:solidFill>
                <a:effectLst/>
                <a:latin typeface="Menlo" panose="020B0609030804020204" pitchFamily="49" charset="0"/>
              </a:rPr>
              <a:t> </a:t>
            </a:r>
            <a:r>
              <a:rPr lang="fr-FR" sz="1200" b="1" dirty="0">
                <a:solidFill>
                  <a:srgbClr val="008100"/>
                </a:solidFill>
                <a:effectLst/>
                <a:latin typeface="Menlo" panose="020B0609030804020204" pitchFamily="49" charset="0"/>
              </a:rPr>
              <a:t>as</a:t>
            </a:r>
            <a:r>
              <a:rPr lang="fr-FR" sz="1200" b="0" dirty="0">
                <a:solidFill>
                  <a:srgbClr val="333333"/>
                </a:solidFill>
                <a:effectLst/>
                <a:latin typeface="Menlo" panose="020B0609030804020204" pitchFamily="49" charset="0"/>
              </a:rPr>
              <a:t> e</a:t>
            </a:r>
            <a:r>
              <a:rPr lang="fr-FR" sz="1200" b="0" dirty="0">
                <a:solidFill>
                  <a:srgbClr val="252525"/>
                </a:solidFill>
                <a:effectLst/>
                <a:latin typeface="Menlo" panose="020B0609030804020204" pitchFamily="49" charset="0"/>
              </a:rPr>
              <a:t>:</a:t>
            </a:r>
            <a:endParaRPr lang="fr-FR" sz="1200" b="0" dirty="0">
              <a:solidFill>
                <a:srgbClr val="333333"/>
              </a:solidFill>
              <a:effectLst/>
              <a:latin typeface="Menlo" panose="020B0609030804020204" pitchFamily="49" charset="0"/>
            </a:endParaRPr>
          </a:p>
          <a:p>
            <a:pPr>
              <a:lnSpc>
                <a:spcPts val="1350"/>
              </a:lnSpc>
            </a:pPr>
            <a:r>
              <a:rPr lang="fr-FR" sz="1200" b="0" dirty="0">
                <a:solidFill>
                  <a:srgbClr val="68482D"/>
                </a:solidFill>
                <a:effectLst/>
                <a:latin typeface="Menlo" panose="020B0609030804020204" pitchFamily="49" charset="0"/>
              </a:rPr>
              <a:t>   print</a:t>
            </a:r>
            <a:r>
              <a:rPr lang="fr-FR" sz="1200" b="0" dirty="0">
                <a:solidFill>
                  <a:srgbClr val="252525"/>
                </a:solidFill>
                <a:effectLst/>
                <a:latin typeface="Menlo" panose="020B0609030804020204" pitchFamily="49" charset="0"/>
              </a:rPr>
              <a:t>(</a:t>
            </a:r>
            <a:r>
              <a:rPr lang="fr-FR" sz="1200" b="0" dirty="0">
                <a:solidFill>
                  <a:srgbClr val="333333"/>
                </a:solidFill>
                <a:effectLst/>
                <a:latin typeface="Menlo" panose="020B0609030804020204" pitchFamily="49" charset="0"/>
              </a:rPr>
              <a:t>e</a:t>
            </a:r>
            <a:r>
              <a:rPr lang="fr-FR" sz="1200" b="0" dirty="0">
                <a:solidFill>
                  <a:srgbClr val="252525"/>
                </a:solidFill>
                <a:effectLst/>
                <a:latin typeface="Menlo" panose="020B0609030804020204" pitchFamily="49" charset="0"/>
              </a:rPr>
              <a:t>)</a:t>
            </a:r>
            <a:endParaRPr lang="fr-FR" sz="1200" b="0" dirty="0">
              <a:solidFill>
                <a:srgbClr val="333333"/>
              </a:solidFill>
              <a:effectLst/>
              <a:latin typeface="Menlo" panose="020B0609030804020204" pitchFamily="49" charset="0"/>
            </a:endParaRPr>
          </a:p>
          <a:p>
            <a:endParaRPr lang="en-GB" dirty="0"/>
          </a:p>
        </p:txBody>
      </p:sp>
      <p:sp>
        <p:nvSpPr>
          <p:cNvPr id="4" name="Espace réservé du numéro de diapositive 3">
            <a:extLst>
              <a:ext uri="{FF2B5EF4-FFF2-40B4-BE49-F238E27FC236}">
                <a16:creationId xmlns:a16="http://schemas.microsoft.com/office/drawing/2014/main" id="{D9D488B4-29CA-F6BA-567F-9D954292AAFD}"/>
              </a:ext>
            </a:extLst>
          </p:cNvPr>
          <p:cNvSpPr>
            <a:spLocks noGrp="1"/>
          </p:cNvSpPr>
          <p:nvPr>
            <p:ph type="sldNum" sz="quarter" idx="5"/>
          </p:nvPr>
        </p:nvSpPr>
        <p:spPr/>
        <p:txBody>
          <a:bodyPr/>
          <a:lstStyle/>
          <a:p>
            <a:fld id="{BFE20620-1C2C-7043-8B38-691BB5666C4A}" type="slidenum">
              <a:rPr lang="fr-FR" smtClean="0"/>
              <a:t>19</a:t>
            </a:fld>
            <a:endParaRPr lang="fr-FR"/>
          </a:p>
        </p:txBody>
      </p:sp>
    </p:spTree>
    <p:extLst>
      <p:ext uri="{BB962C8B-B14F-4D97-AF65-F5344CB8AC3E}">
        <p14:creationId xmlns:p14="http://schemas.microsoft.com/office/powerpoint/2010/main" val="2189937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8DC04-59A8-9FC6-DD0C-9654F8D4CF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A6A6E57-20BC-7A8E-BA4C-2C6BEB0C235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837C1FE-185B-1A68-E28E-C7AECD615372}"/>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F06E3E5E-9580-12EB-9BB5-FE8C1DED69A3}"/>
              </a:ext>
            </a:extLst>
          </p:cNvPr>
          <p:cNvSpPr>
            <a:spLocks noGrp="1"/>
          </p:cNvSpPr>
          <p:nvPr>
            <p:ph type="sldNum" sz="quarter" idx="5"/>
          </p:nvPr>
        </p:nvSpPr>
        <p:spPr/>
        <p:txBody>
          <a:bodyPr/>
          <a:lstStyle/>
          <a:p>
            <a:fld id="{BFE20620-1C2C-7043-8B38-691BB5666C4A}" type="slidenum">
              <a:rPr lang="fr-FR" smtClean="0"/>
              <a:t>20</a:t>
            </a:fld>
            <a:endParaRPr lang="fr-FR"/>
          </a:p>
        </p:txBody>
      </p:sp>
    </p:spTree>
    <p:extLst>
      <p:ext uri="{BB962C8B-B14F-4D97-AF65-F5344CB8AC3E}">
        <p14:creationId xmlns:p14="http://schemas.microsoft.com/office/powerpoint/2010/main" val="144758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DD944E-353A-0969-8365-64AFFDD9768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E19466A-6247-FECF-30AA-500646B639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98E1E11-47E1-4869-4830-5DB7EF20BC43}"/>
              </a:ext>
            </a:extLst>
          </p:cNvPr>
          <p:cNvSpPr>
            <a:spLocks noGrp="1"/>
          </p:cNvSpPr>
          <p:nvPr>
            <p:ph type="dt" sz="half" idx="10"/>
          </p:nvPr>
        </p:nvSpPr>
        <p:spPr/>
        <p:txBody>
          <a:bodyPr/>
          <a:lstStyle/>
          <a:p>
            <a:fld id="{0E7A9A57-8E37-F14B-9391-4F149BA7D9BA}" type="datetime1">
              <a:rPr lang="fr-FR" smtClean="0"/>
              <a:t>27/01/2025</a:t>
            </a:fld>
            <a:endParaRPr lang="fr-FR"/>
          </a:p>
        </p:txBody>
      </p:sp>
      <p:sp>
        <p:nvSpPr>
          <p:cNvPr id="5" name="Espace réservé du pied de page 4">
            <a:extLst>
              <a:ext uri="{FF2B5EF4-FFF2-40B4-BE49-F238E27FC236}">
                <a16:creationId xmlns:a16="http://schemas.microsoft.com/office/drawing/2014/main" id="{AF8785D3-A4ED-3A61-06C0-C72D3FA1F5E1}"/>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664B34F1-153B-B297-754F-5278D77EDF4D}"/>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2002361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8CCF12-4A30-A572-A485-1341AFE1D08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BB8CBBF-34B6-60C7-3F26-5CB8E4E6E79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6BB483D-5FDF-50CD-3EAE-DE68E0C30654}"/>
              </a:ext>
            </a:extLst>
          </p:cNvPr>
          <p:cNvSpPr>
            <a:spLocks noGrp="1"/>
          </p:cNvSpPr>
          <p:nvPr>
            <p:ph type="dt" sz="half" idx="10"/>
          </p:nvPr>
        </p:nvSpPr>
        <p:spPr/>
        <p:txBody>
          <a:bodyPr/>
          <a:lstStyle/>
          <a:p>
            <a:fld id="{A1EA49A2-9B73-244F-A354-A4440EC1356F}" type="datetime1">
              <a:rPr lang="fr-FR" smtClean="0"/>
              <a:t>27/01/2025</a:t>
            </a:fld>
            <a:endParaRPr lang="fr-FR"/>
          </a:p>
        </p:txBody>
      </p:sp>
      <p:sp>
        <p:nvSpPr>
          <p:cNvPr id="5" name="Espace réservé du pied de page 4">
            <a:extLst>
              <a:ext uri="{FF2B5EF4-FFF2-40B4-BE49-F238E27FC236}">
                <a16:creationId xmlns:a16="http://schemas.microsoft.com/office/drawing/2014/main" id="{C69175BE-5B47-E567-BE2A-3FC3718D1D57}"/>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B3C81F8A-8DBB-3AD1-3D19-BF416D02D10B}"/>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381281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14292C-AA07-015C-D693-769EEAC2ADD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7C12A38-25D8-13CE-5054-2567945029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A317F5D-D504-B018-7C17-8A703D27FBDB}"/>
              </a:ext>
            </a:extLst>
          </p:cNvPr>
          <p:cNvSpPr>
            <a:spLocks noGrp="1"/>
          </p:cNvSpPr>
          <p:nvPr>
            <p:ph type="dt" sz="half" idx="10"/>
          </p:nvPr>
        </p:nvSpPr>
        <p:spPr/>
        <p:txBody>
          <a:bodyPr/>
          <a:lstStyle/>
          <a:p>
            <a:fld id="{B3197FAC-E7CB-F24B-9DE6-CF97B36979AA}" type="datetime1">
              <a:rPr lang="fr-FR" smtClean="0"/>
              <a:t>27/01/2025</a:t>
            </a:fld>
            <a:endParaRPr lang="fr-FR"/>
          </a:p>
        </p:txBody>
      </p:sp>
      <p:sp>
        <p:nvSpPr>
          <p:cNvPr id="5" name="Espace réservé du pied de page 4">
            <a:extLst>
              <a:ext uri="{FF2B5EF4-FFF2-40B4-BE49-F238E27FC236}">
                <a16:creationId xmlns:a16="http://schemas.microsoft.com/office/drawing/2014/main" id="{16882E33-4418-D261-0385-D55E9B832F68}"/>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05AEA5D8-EB94-39C7-1B75-550784795274}"/>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4211196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2BADA7-B622-D365-B5E0-58D9757B706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3F8DA9B-F3E3-B556-0B3A-3D98E720095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B4C417A-5EFA-4591-5379-5451D0181D6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394D19E-B1CA-6FFF-65EC-A53B5BF176BC}"/>
              </a:ext>
            </a:extLst>
          </p:cNvPr>
          <p:cNvSpPr>
            <a:spLocks noGrp="1"/>
          </p:cNvSpPr>
          <p:nvPr>
            <p:ph type="dt" sz="half" idx="10"/>
          </p:nvPr>
        </p:nvSpPr>
        <p:spPr/>
        <p:txBody>
          <a:bodyPr/>
          <a:lstStyle/>
          <a:p>
            <a:fld id="{4EF72703-6F55-B143-926D-33F29B68ED9D}" type="datetime1">
              <a:rPr lang="fr-FR" smtClean="0"/>
              <a:t>27/01/2025</a:t>
            </a:fld>
            <a:endParaRPr lang="fr-FR"/>
          </a:p>
        </p:txBody>
      </p:sp>
      <p:sp>
        <p:nvSpPr>
          <p:cNvPr id="6" name="Espace réservé du pied de page 5">
            <a:extLst>
              <a:ext uri="{FF2B5EF4-FFF2-40B4-BE49-F238E27FC236}">
                <a16:creationId xmlns:a16="http://schemas.microsoft.com/office/drawing/2014/main" id="{AC3F38DC-5472-A2CE-5659-212C5F89F4A2}"/>
              </a:ext>
            </a:extLst>
          </p:cNvPr>
          <p:cNvSpPr>
            <a:spLocks noGrp="1"/>
          </p:cNvSpPr>
          <p:nvPr>
            <p:ph type="ftr" sz="quarter" idx="11"/>
          </p:nvPr>
        </p:nvSpPr>
        <p:spPr/>
        <p:txBody>
          <a:bodyPr/>
          <a:lstStyle/>
          <a:p>
            <a:r>
              <a:rPr lang="fr-FR"/>
              <a:t>Introduction to Neural Networks. Author: David Thébault</a:t>
            </a:r>
          </a:p>
        </p:txBody>
      </p:sp>
      <p:sp>
        <p:nvSpPr>
          <p:cNvPr id="7" name="Espace réservé du numéro de diapositive 6">
            <a:extLst>
              <a:ext uri="{FF2B5EF4-FFF2-40B4-BE49-F238E27FC236}">
                <a16:creationId xmlns:a16="http://schemas.microsoft.com/office/drawing/2014/main" id="{31ED1353-EBAD-EF6D-897B-15787473150E}"/>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24082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32CFB2-4EDC-1B32-9474-59E92AFBD59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30C631B-6547-2381-FAFC-18B43DB147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A2BF280-771E-AB14-F18E-C8E55A4F7E8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C950A4D-5A94-0D96-24F3-4534B88CC5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EC53D22-06BF-4724-6B30-30C4F96FCED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4AEA263-C714-3EBD-DBC4-FC3537444D9E}"/>
              </a:ext>
            </a:extLst>
          </p:cNvPr>
          <p:cNvSpPr>
            <a:spLocks noGrp="1"/>
          </p:cNvSpPr>
          <p:nvPr>
            <p:ph type="dt" sz="half" idx="10"/>
          </p:nvPr>
        </p:nvSpPr>
        <p:spPr/>
        <p:txBody>
          <a:bodyPr/>
          <a:lstStyle/>
          <a:p>
            <a:fld id="{4F108BCD-D917-1C43-94A2-2AEB6486CFBD}" type="datetime1">
              <a:rPr lang="fr-FR" smtClean="0"/>
              <a:t>27/01/2025</a:t>
            </a:fld>
            <a:endParaRPr lang="fr-FR"/>
          </a:p>
        </p:txBody>
      </p:sp>
      <p:sp>
        <p:nvSpPr>
          <p:cNvPr id="8" name="Espace réservé du pied de page 7">
            <a:extLst>
              <a:ext uri="{FF2B5EF4-FFF2-40B4-BE49-F238E27FC236}">
                <a16:creationId xmlns:a16="http://schemas.microsoft.com/office/drawing/2014/main" id="{F78E8A6D-6498-7537-6C16-3284273714DE}"/>
              </a:ext>
            </a:extLst>
          </p:cNvPr>
          <p:cNvSpPr>
            <a:spLocks noGrp="1"/>
          </p:cNvSpPr>
          <p:nvPr>
            <p:ph type="ftr" sz="quarter" idx="11"/>
          </p:nvPr>
        </p:nvSpPr>
        <p:spPr/>
        <p:txBody>
          <a:bodyPr/>
          <a:lstStyle/>
          <a:p>
            <a:r>
              <a:rPr lang="fr-FR"/>
              <a:t>Introduction to Neural Networks. Author: David Thébault</a:t>
            </a:r>
          </a:p>
        </p:txBody>
      </p:sp>
      <p:sp>
        <p:nvSpPr>
          <p:cNvPr id="9" name="Espace réservé du numéro de diapositive 8">
            <a:extLst>
              <a:ext uri="{FF2B5EF4-FFF2-40B4-BE49-F238E27FC236}">
                <a16:creationId xmlns:a16="http://schemas.microsoft.com/office/drawing/2014/main" id="{1E993A8B-BC15-2168-EDCC-F5BAC4482F69}"/>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2955997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CF2EC3-0FF3-DBDD-4A7D-C7802C69BF3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14410A0-E148-1688-7CC4-8240F8E8120F}"/>
              </a:ext>
            </a:extLst>
          </p:cNvPr>
          <p:cNvSpPr>
            <a:spLocks noGrp="1"/>
          </p:cNvSpPr>
          <p:nvPr>
            <p:ph type="dt" sz="half" idx="10"/>
          </p:nvPr>
        </p:nvSpPr>
        <p:spPr/>
        <p:txBody>
          <a:bodyPr/>
          <a:lstStyle/>
          <a:p>
            <a:fld id="{347E7109-0ECC-0349-BFDB-B5D769BB8687}" type="datetime1">
              <a:rPr lang="fr-FR" smtClean="0"/>
              <a:t>27/01/2025</a:t>
            </a:fld>
            <a:endParaRPr lang="fr-FR"/>
          </a:p>
        </p:txBody>
      </p:sp>
      <p:sp>
        <p:nvSpPr>
          <p:cNvPr id="4" name="Espace réservé du pied de page 3">
            <a:extLst>
              <a:ext uri="{FF2B5EF4-FFF2-40B4-BE49-F238E27FC236}">
                <a16:creationId xmlns:a16="http://schemas.microsoft.com/office/drawing/2014/main" id="{AC24F487-C1F8-D3BB-3FB1-755C6CE5B02E}"/>
              </a:ext>
            </a:extLst>
          </p:cNvPr>
          <p:cNvSpPr>
            <a:spLocks noGrp="1"/>
          </p:cNvSpPr>
          <p:nvPr>
            <p:ph type="ftr" sz="quarter" idx="11"/>
          </p:nvPr>
        </p:nvSpPr>
        <p:spPr/>
        <p:txBody>
          <a:bodyPr/>
          <a:lstStyle/>
          <a:p>
            <a:r>
              <a:rPr lang="fr-FR"/>
              <a:t>Introduction to Neural Networks. Author: David Thébault</a:t>
            </a:r>
          </a:p>
        </p:txBody>
      </p:sp>
      <p:sp>
        <p:nvSpPr>
          <p:cNvPr id="5" name="Espace réservé du numéro de diapositive 4">
            <a:extLst>
              <a:ext uri="{FF2B5EF4-FFF2-40B4-BE49-F238E27FC236}">
                <a16:creationId xmlns:a16="http://schemas.microsoft.com/office/drawing/2014/main" id="{381BBC3F-EF7F-9571-DA84-A577CDDD676C}"/>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330393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FA94B32-7AD0-CDAF-5DAE-807FD7DE60EC}"/>
              </a:ext>
            </a:extLst>
          </p:cNvPr>
          <p:cNvSpPr>
            <a:spLocks noGrp="1"/>
          </p:cNvSpPr>
          <p:nvPr>
            <p:ph type="dt" sz="half" idx="10"/>
          </p:nvPr>
        </p:nvSpPr>
        <p:spPr/>
        <p:txBody>
          <a:bodyPr/>
          <a:lstStyle/>
          <a:p>
            <a:fld id="{C673679C-73FC-0C42-84CC-C9257621E710}" type="datetime1">
              <a:rPr lang="fr-FR" smtClean="0"/>
              <a:t>27/01/2025</a:t>
            </a:fld>
            <a:endParaRPr lang="fr-FR"/>
          </a:p>
        </p:txBody>
      </p:sp>
      <p:sp>
        <p:nvSpPr>
          <p:cNvPr id="3" name="Espace réservé du pied de page 2">
            <a:extLst>
              <a:ext uri="{FF2B5EF4-FFF2-40B4-BE49-F238E27FC236}">
                <a16:creationId xmlns:a16="http://schemas.microsoft.com/office/drawing/2014/main" id="{AD46D768-ABDD-B7F7-6060-5838229326ED}"/>
              </a:ext>
            </a:extLst>
          </p:cNvPr>
          <p:cNvSpPr>
            <a:spLocks noGrp="1"/>
          </p:cNvSpPr>
          <p:nvPr>
            <p:ph type="ftr" sz="quarter" idx="11"/>
          </p:nvPr>
        </p:nvSpPr>
        <p:spPr/>
        <p:txBody>
          <a:bodyPr/>
          <a:lstStyle/>
          <a:p>
            <a:r>
              <a:rPr lang="fr-FR"/>
              <a:t>Introduction to Neural Networks. Author: David Thébault</a:t>
            </a:r>
          </a:p>
        </p:txBody>
      </p:sp>
      <p:sp>
        <p:nvSpPr>
          <p:cNvPr id="4" name="Espace réservé du numéro de diapositive 3">
            <a:extLst>
              <a:ext uri="{FF2B5EF4-FFF2-40B4-BE49-F238E27FC236}">
                <a16:creationId xmlns:a16="http://schemas.microsoft.com/office/drawing/2014/main" id="{967483F6-D0AF-3FD6-A494-D8A94310469A}"/>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2448642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C55374-170B-730A-834D-823B49900BB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F4853C2-D86B-D6B2-8354-4795235FD1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003D0BE-A7B9-5C35-5D2F-B6120D683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D7B273F-590C-812F-47EF-C01EC4BE5CBE}"/>
              </a:ext>
            </a:extLst>
          </p:cNvPr>
          <p:cNvSpPr>
            <a:spLocks noGrp="1"/>
          </p:cNvSpPr>
          <p:nvPr>
            <p:ph type="dt" sz="half" idx="10"/>
          </p:nvPr>
        </p:nvSpPr>
        <p:spPr/>
        <p:txBody>
          <a:bodyPr/>
          <a:lstStyle/>
          <a:p>
            <a:fld id="{CAA9CEEB-4EEE-3C40-B63B-27CAF1F2B31E}" type="datetime1">
              <a:rPr lang="fr-FR" smtClean="0"/>
              <a:t>27/01/2025</a:t>
            </a:fld>
            <a:endParaRPr lang="fr-FR"/>
          </a:p>
        </p:txBody>
      </p:sp>
      <p:sp>
        <p:nvSpPr>
          <p:cNvPr id="6" name="Espace réservé du pied de page 5">
            <a:extLst>
              <a:ext uri="{FF2B5EF4-FFF2-40B4-BE49-F238E27FC236}">
                <a16:creationId xmlns:a16="http://schemas.microsoft.com/office/drawing/2014/main" id="{FEBF2D89-354A-7EAE-4CA4-B4AA36E91C27}"/>
              </a:ext>
            </a:extLst>
          </p:cNvPr>
          <p:cNvSpPr>
            <a:spLocks noGrp="1"/>
          </p:cNvSpPr>
          <p:nvPr>
            <p:ph type="ftr" sz="quarter" idx="11"/>
          </p:nvPr>
        </p:nvSpPr>
        <p:spPr/>
        <p:txBody>
          <a:bodyPr/>
          <a:lstStyle/>
          <a:p>
            <a:r>
              <a:rPr lang="fr-FR"/>
              <a:t>Introduction to Neural Networks. Author: David Thébault</a:t>
            </a:r>
          </a:p>
        </p:txBody>
      </p:sp>
      <p:sp>
        <p:nvSpPr>
          <p:cNvPr id="7" name="Espace réservé du numéro de diapositive 6">
            <a:extLst>
              <a:ext uri="{FF2B5EF4-FFF2-40B4-BE49-F238E27FC236}">
                <a16:creationId xmlns:a16="http://schemas.microsoft.com/office/drawing/2014/main" id="{E95C16D4-AD7E-C52F-08C7-3F99D8082E85}"/>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275906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38FC8E-5CEA-E473-2D0D-069C473B0BF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750C783-FA78-7CF7-99FB-A5C540D587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C5F634A-AAC7-3F15-CEAF-8ED06DD37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D670B7F-B72B-47AF-C46A-03F198EAE837}"/>
              </a:ext>
            </a:extLst>
          </p:cNvPr>
          <p:cNvSpPr>
            <a:spLocks noGrp="1"/>
          </p:cNvSpPr>
          <p:nvPr>
            <p:ph type="dt" sz="half" idx="10"/>
          </p:nvPr>
        </p:nvSpPr>
        <p:spPr/>
        <p:txBody>
          <a:bodyPr/>
          <a:lstStyle/>
          <a:p>
            <a:fld id="{6ADE32E7-F72F-5E4B-AFB6-6DCFEF0E5A5C}" type="datetime1">
              <a:rPr lang="fr-FR" smtClean="0"/>
              <a:t>27/01/2025</a:t>
            </a:fld>
            <a:endParaRPr lang="fr-FR"/>
          </a:p>
        </p:txBody>
      </p:sp>
      <p:sp>
        <p:nvSpPr>
          <p:cNvPr id="6" name="Espace réservé du pied de page 5">
            <a:extLst>
              <a:ext uri="{FF2B5EF4-FFF2-40B4-BE49-F238E27FC236}">
                <a16:creationId xmlns:a16="http://schemas.microsoft.com/office/drawing/2014/main" id="{11F21E70-9264-D182-C0B8-0803C6D03AAF}"/>
              </a:ext>
            </a:extLst>
          </p:cNvPr>
          <p:cNvSpPr>
            <a:spLocks noGrp="1"/>
          </p:cNvSpPr>
          <p:nvPr>
            <p:ph type="ftr" sz="quarter" idx="11"/>
          </p:nvPr>
        </p:nvSpPr>
        <p:spPr/>
        <p:txBody>
          <a:bodyPr/>
          <a:lstStyle/>
          <a:p>
            <a:r>
              <a:rPr lang="fr-FR"/>
              <a:t>Introduction to Neural Networks. Author: David Thébault</a:t>
            </a:r>
          </a:p>
        </p:txBody>
      </p:sp>
      <p:sp>
        <p:nvSpPr>
          <p:cNvPr id="7" name="Espace réservé du numéro de diapositive 6">
            <a:extLst>
              <a:ext uri="{FF2B5EF4-FFF2-40B4-BE49-F238E27FC236}">
                <a16:creationId xmlns:a16="http://schemas.microsoft.com/office/drawing/2014/main" id="{D2EB2BC4-64B8-9844-52CE-A4C1888C6608}"/>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050572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B3F7FA-9E3E-7353-A17B-5238435BD6C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51CD9A4-21FF-E3DE-190C-DDB4FBC517D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F4DC3D2-7217-81EA-D510-9956C788B51A}"/>
              </a:ext>
            </a:extLst>
          </p:cNvPr>
          <p:cNvSpPr>
            <a:spLocks noGrp="1"/>
          </p:cNvSpPr>
          <p:nvPr>
            <p:ph type="dt" sz="half" idx="10"/>
          </p:nvPr>
        </p:nvSpPr>
        <p:spPr/>
        <p:txBody>
          <a:bodyPr/>
          <a:lstStyle/>
          <a:p>
            <a:fld id="{23E4CF20-4019-B646-9CAE-26A8D5289551}" type="datetime1">
              <a:rPr lang="fr-FR" smtClean="0"/>
              <a:t>27/01/2025</a:t>
            </a:fld>
            <a:endParaRPr lang="fr-FR"/>
          </a:p>
        </p:txBody>
      </p:sp>
      <p:sp>
        <p:nvSpPr>
          <p:cNvPr id="5" name="Espace réservé du pied de page 4">
            <a:extLst>
              <a:ext uri="{FF2B5EF4-FFF2-40B4-BE49-F238E27FC236}">
                <a16:creationId xmlns:a16="http://schemas.microsoft.com/office/drawing/2014/main" id="{B28DFD9A-8C57-8D49-02B5-3D3A54ABEA43}"/>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F1662E7C-1983-97FD-50BA-E81CD54AEFB0}"/>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663791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AF09321-1FF5-7B5A-4E46-9C7F94548E2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065DEB8-36CA-28AE-E38F-C79C2753FEB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D7DD4A3-B9C8-9602-53C1-6A8A3671D67F}"/>
              </a:ext>
            </a:extLst>
          </p:cNvPr>
          <p:cNvSpPr>
            <a:spLocks noGrp="1"/>
          </p:cNvSpPr>
          <p:nvPr>
            <p:ph type="dt" sz="half" idx="10"/>
          </p:nvPr>
        </p:nvSpPr>
        <p:spPr/>
        <p:txBody>
          <a:bodyPr/>
          <a:lstStyle/>
          <a:p>
            <a:fld id="{2945B831-3BBF-0A4D-85D6-BE253C348633}" type="datetime1">
              <a:rPr lang="fr-FR" smtClean="0"/>
              <a:t>27/01/2025</a:t>
            </a:fld>
            <a:endParaRPr lang="fr-FR"/>
          </a:p>
        </p:txBody>
      </p:sp>
      <p:sp>
        <p:nvSpPr>
          <p:cNvPr id="5" name="Espace réservé du pied de page 4">
            <a:extLst>
              <a:ext uri="{FF2B5EF4-FFF2-40B4-BE49-F238E27FC236}">
                <a16:creationId xmlns:a16="http://schemas.microsoft.com/office/drawing/2014/main" id="{33D9502E-93B7-D647-56D4-AFBEA9BABB15}"/>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5069E17C-7EAD-F07C-5110-1E5BBB523DDF}"/>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3121423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AADA400-D07F-8E6D-1537-426B596CD4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1F83CB2-4046-4F54-03D3-E1B8143879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B55753-5C35-3CC7-D7B2-FBEB2079A2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C77408-4A21-EE43-9C54-31672AA4B1A1}" type="datetime1">
              <a:rPr lang="fr-FR" smtClean="0"/>
              <a:t>27/01/2025</a:t>
            </a:fld>
            <a:endParaRPr lang="fr-FR"/>
          </a:p>
        </p:txBody>
      </p:sp>
      <p:sp>
        <p:nvSpPr>
          <p:cNvPr id="5" name="Espace réservé du pied de page 4">
            <a:extLst>
              <a:ext uri="{FF2B5EF4-FFF2-40B4-BE49-F238E27FC236}">
                <a16:creationId xmlns:a16="http://schemas.microsoft.com/office/drawing/2014/main" id="{EEF585E5-CA03-DD40-2278-8F72FC30D3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E36FED89-57B1-F816-7CCC-8334F59D10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B432F1-B5B9-3C47-A455-7BB5A781DE30}" type="slidenum">
              <a:rPr lang="fr-FR" smtClean="0"/>
              <a:t>‹N°›</a:t>
            </a:fld>
            <a:endParaRPr lang="fr-FR"/>
          </a:p>
        </p:txBody>
      </p:sp>
    </p:spTree>
    <p:extLst>
      <p:ext uri="{BB962C8B-B14F-4D97-AF65-F5344CB8AC3E}">
        <p14:creationId xmlns:p14="http://schemas.microsoft.com/office/powerpoint/2010/main" val="2365953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F56B84-BFA1-BA9A-1552-59B724FBA9FC}"/>
              </a:ext>
            </a:extLst>
          </p:cNvPr>
          <p:cNvSpPr>
            <a:spLocks noGrp="1"/>
          </p:cNvSpPr>
          <p:nvPr>
            <p:ph type="ctrTitle"/>
          </p:nvPr>
        </p:nvSpPr>
        <p:spPr/>
        <p:txBody>
          <a:bodyPr/>
          <a:lstStyle/>
          <a:p>
            <a:r>
              <a:rPr lang="fr-FR" dirty="0"/>
              <a:t>Introduction to </a:t>
            </a:r>
            <a:br>
              <a:rPr lang="fr-FR" dirty="0"/>
            </a:br>
            <a:r>
              <a:rPr lang="en-GB" noProof="0" dirty="0"/>
              <a:t>Word Vectors</a:t>
            </a:r>
            <a:endParaRPr lang="fr-FR" dirty="0"/>
          </a:p>
        </p:txBody>
      </p:sp>
      <p:sp>
        <p:nvSpPr>
          <p:cNvPr id="3" name="Espace réservé du pied de page 2">
            <a:extLst>
              <a:ext uri="{FF2B5EF4-FFF2-40B4-BE49-F238E27FC236}">
                <a16:creationId xmlns:a16="http://schemas.microsoft.com/office/drawing/2014/main" id="{70571C27-E009-ADD7-40B4-859AAF7C848C}"/>
              </a:ext>
            </a:extLst>
          </p:cNvPr>
          <p:cNvSpPr>
            <a:spLocks noGrp="1"/>
          </p:cNvSpPr>
          <p:nvPr>
            <p:ph type="ftr" sz="quarter" idx="11"/>
          </p:nvPr>
        </p:nvSpPr>
        <p:spPr/>
        <p:txBody>
          <a:bodyPr/>
          <a:lstStyle/>
          <a:p>
            <a:r>
              <a:rPr lang="en-GB" noProof="0" dirty="0"/>
              <a:t>Introduction to Neural Networks. Author: David Thébault</a:t>
            </a:r>
          </a:p>
          <a:p>
            <a:r>
              <a:rPr lang="en-GB" noProof="0" dirty="0"/>
              <a:t>Based on NLPDemystified.org</a:t>
            </a:r>
          </a:p>
        </p:txBody>
      </p:sp>
    </p:spTree>
    <p:extLst>
      <p:ext uri="{BB962C8B-B14F-4D97-AF65-F5344CB8AC3E}">
        <p14:creationId xmlns:p14="http://schemas.microsoft.com/office/powerpoint/2010/main" val="1299667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99794-EFC8-E3C3-AD91-8AD189B4776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980D370-0004-40F7-D6FC-2961CC43BB4A}"/>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83FF0D30-48E1-9D94-F5A9-6B57ABB6C63C}"/>
              </a:ext>
            </a:extLst>
          </p:cNvPr>
          <p:cNvSpPr>
            <a:spLocks noGrp="1"/>
          </p:cNvSpPr>
          <p:nvPr>
            <p:ph idx="1"/>
          </p:nvPr>
        </p:nvSpPr>
        <p:spPr>
          <a:xfrm>
            <a:off x="838199" y="1798820"/>
            <a:ext cx="10686143" cy="4557529"/>
          </a:xfrm>
        </p:spPr>
        <p:txBody>
          <a:bodyPr lIns="90000">
            <a:noAutofit/>
          </a:bodyPr>
          <a:lstStyle/>
          <a:p>
            <a:pPr marL="0" indent="0">
              <a:buNone/>
            </a:pPr>
            <a:r>
              <a:rPr lang="en-GB" sz="2000" b="1" noProof="0" dirty="0">
                <a:effectLst/>
              </a:rPr>
              <a:t>Capturing Word Meaning With Static Embeddings</a:t>
            </a:r>
            <a:endParaRPr lang="en-GB" sz="2000" b="1" dirty="0"/>
          </a:p>
          <a:p>
            <a:pPr marL="0" indent="0">
              <a:buNone/>
            </a:pPr>
            <a:r>
              <a:rPr lang="en-GB" sz="1200" dirty="0"/>
              <a:t>The simplest way to vectorize words is the One-Hot Encoding.</a:t>
            </a:r>
          </a:p>
          <a:p>
            <a:pPr marL="0" indent="0">
              <a:buNone/>
            </a:pPr>
            <a:r>
              <a:rPr lang="en-GB" sz="1200" dirty="0"/>
              <a:t>Represent each word using a vector of length |V| with 0 except a 1 in the alphabetic order where the word stands.</a:t>
            </a:r>
          </a:p>
          <a:p>
            <a:pPr marL="0" indent="0">
              <a:buNone/>
            </a:pPr>
            <a:r>
              <a:rPr lang="en-GB" sz="1200" dirty="0"/>
              <a:t>Vocabulary: bus, car, cat, dog, feline, road, swim, swimming.</a:t>
            </a:r>
          </a:p>
          <a:p>
            <a:pPr marL="0" indent="0">
              <a:buNone/>
            </a:pPr>
            <a:r>
              <a:rPr lang="en-GB" sz="1200" dirty="0"/>
              <a:t>”cat”: [0,0,1,0,0,0,0,0]</a:t>
            </a:r>
          </a:p>
          <a:p>
            <a:pPr marL="0" indent="0">
              <a:buNone/>
            </a:pPr>
            <a:r>
              <a:rPr lang="en-GB" sz="1200" dirty="0"/>
              <a:t>Problems:</a:t>
            </a:r>
          </a:p>
          <a:p>
            <a:pPr marL="0" indent="0">
              <a:buNone/>
            </a:pPr>
            <a:r>
              <a:rPr lang="en-GB" sz="1200" dirty="0"/>
              <a:t>(-) Sparse representation</a:t>
            </a:r>
          </a:p>
          <a:p>
            <a:pPr marL="0" indent="0">
              <a:buNone/>
            </a:pPr>
            <a:r>
              <a:rPr lang="en-GB" sz="1200" dirty="0"/>
              <a:t>(-) Does not capture meaning between the words</a:t>
            </a:r>
          </a:p>
          <a:p>
            <a:pPr marL="0" indent="0">
              <a:buNone/>
            </a:pPr>
            <a:endParaRPr lang="en-GB" sz="1200" dirty="0"/>
          </a:p>
          <a:p>
            <a:pPr marL="0" indent="0">
              <a:buNone/>
            </a:pPr>
            <a:r>
              <a:rPr lang="en-GB" sz="1200" dirty="0"/>
              <a:t>If we take swim and swimming their dot product will be zero.</a:t>
            </a:r>
          </a:p>
          <a:p>
            <a:pPr marL="0" indent="0">
              <a:buNone/>
            </a:pPr>
            <a:r>
              <a:rPr lang="en-GB" sz="1200" dirty="0"/>
              <a:t>It would be nice to have short and dense representations which capture some meaning of words.</a:t>
            </a:r>
          </a:p>
          <a:p>
            <a:pPr marL="0" indent="0">
              <a:buNone/>
            </a:pPr>
            <a:r>
              <a:rPr lang="en-GB" sz="1200" dirty="0"/>
              <a:t>This is where </a:t>
            </a:r>
            <a:r>
              <a:rPr lang="en-GB" sz="1200" b="1" dirty="0"/>
              <a:t>embedding</a:t>
            </a:r>
            <a:r>
              <a:rPr lang="en-GB" sz="1200" dirty="0"/>
              <a:t> comes in.</a:t>
            </a:r>
          </a:p>
        </p:txBody>
      </p:sp>
      <p:sp>
        <p:nvSpPr>
          <p:cNvPr id="4" name="Espace réservé du pied de page 3">
            <a:extLst>
              <a:ext uri="{FF2B5EF4-FFF2-40B4-BE49-F238E27FC236}">
                <a16:creationId xmlns:a16="http://schemas.microsoft.com/office/drawing/2014/main" id="{3F8BF3E1-3D4D-4E06-B843-3B1A50907417}"/>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942486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AF68B-2AE3-9E95-4038-9AAD572294B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6E232B8-B03A-DC2F-387D-47B15CB1328D}"/>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4033F72A-9F78-7214-8D51-A223F5B9B9FF}"/>
              </a:ext>
            </a:extLst>
          </p:cNvPr>
          <p:cNvSpPr>
            <a:spLocks noGrp="1"/>
          </p:cNvSpPr>
          <p:nvPr>
            <p:ph idx="1"/>
          </p:nvPr>
        </p:nvSpPr>
        <p:spPr>
          <a:xfrm>
            <a:off x="838199" y="1798820"/>
            <a:ext cx="10686143" cy="4557529"/>
          </a:xfrm>
        </p:spPr>
        <p:txBody>
          <a:bodyPr lIns="90000">
            <a:noAutofit/>
          </a:bodyPr>
          <a:lstStyle/>
          <a:p>
            <a:pPr marL="0" indent="0">
              <a:buNone/>
            </a:pPr>
            <a:r>
              <a:rPr lang="en-GB" sz="2000" b="1" noProof="0" dirty="0">
                <a:effectLst/>
              </a:rPr>
              <a:t>Capturing Word Meaning With Static Embeddings</a:t>
            </a:r>
          </a:p>
          <a:p>
            <a:pPr marL="0" indent="0">
              <a:buNone/>
            </a:pPr>
            <a:r>
              <a:rPr lang="en-GB" sz="1200" b="1" noProof="0" dirty="0">
                <a:effectLst/>
              </a:rPr>
              <a:t>Embedding</a:t>
            </a:r>
            <a:r>
              <a:rPr lang="en-GB" sz="1200" noProof="0" dirty="0">
                <a:effectLst/>
              </a:rPr>
              <a:t>:</a:t>
            </a:r>
          </a:p>
          <a:p>
            <a:pPr marL="0" indent="0">
              <a:buNone/>
            </a:pPr>
            <a:r>
              <a:rPr lang="en-GB" sz="1200" dirty="0"/>
              <a:t>Representing a discrete item as a vector of real numbers.</a:t>
            </a:r>
          </a:p>
          <a:p>
            <a:pPr marL="0" indent="0">
              <a:buNone/>
            </a:pPr>
            <a:r>
              <a:rPr lang="en-GB" sz="1200" dirty="0"/>
              <a:t>For example, if we have a collection of movies and we choose to represent each movie with a 5-dimensional vector:</a:t>
            </a:r>
          </a:p>
          <a:p>
            <a:r>
              <a:rPr lang="en-GB" sz="1200" noProof="0" dirty="0">
                <a:effectLst/>
              </a:rPr>
              <a:t>[&lt;action&gt;, &lt;comedy&gt;, &lt;drama&gt;, &lt;horror&gt;, &lt;romance&gt;]</a:t>
            </a:r>
          </a:p>
          <a:p>
            <a:r>
              <a:rPr lang="en-GB" sz="1200" noProof="0" dirty="0">
                <a:effectLst/>
              </a:rPr>
              <a:t>”Action-ness” from 0 to 1,…</a:t>
            </a:r>
            <a:endParaRPr lang="en-GB" sz="1200" dirty="0"/>
          </a:p>
          <a:p>
            <a:r>
              <a:rPr lang="en-GB" sz="1200" dirty="0"/>
              <a:t>The Godfather: [.5, .2, .9, .3 , .2]</a:t>
            </a:r>
          </a:p>
          <a:p>
            <a:r>
              <a:rPr lang="en-GB" sz="1200" dirty="0"/>
              <a:t>The Big Lebowski: [.3, .8, .5, .1, .3]</a:t>
            </a:r>
          </a:p>
          <a:p>
            <a:r>
              <a:rPr lang="en-GB" sz="1200" dirty="0"/>
              <a:t>We can check the cosine similarity between the Godfather and the Big Lebowski.</a:t>
            </a:r>
          </a:p>
          <a:p>
            <a:r>
              <a:rPr lang="en-GB" sz="1200" dirty="0"/>
              <a:t>We can cluster movies based on these factors</a:t>
            </a:r>
          </a:p>
          <a:p>
            <a:r>
              <a:rPr lang="en-GB" sz="1200" dirty="0"/>
              <a:t>The point representing with these coordinates is called </a:t>
            </a:r>
            <a:r>
              <a:rPr lang="en-GB" sz="1200" b="1" dirty="0"/>
              <a:t>Embedding</a:t>
            </a:r>
            <a:r>
              <a:rPr lang="en-GB" sz="1200" dirty="0"/>
              <a:t>.</a:t>
            </a:r>
          </a:p>
          <a:p>
            <a:pPr marL="0" indent="0">
              <a:buNone/>
            </a:pPr>
            <a:endParaRPr lang="en-GB" sz="2000" noProof="0" dirty="0">
              <a:effectLst/>
            </a:endParaRPr>
          </a:p>
        </p:txBody>
      </p:sp>
      <p:sp>
        <p:nvSpPr>
          <p:cNvPr id="4" name="Espace réservé du pied de page 3">
            <a:extLst>
              <a:ext uri="{FF2B5EF4-FFF2-40B4-BE49-F238E27FC236}">
                <a16:creationId xmlns:a16="http://schemas.microsoft.com/office/drawing/2014/main" id="{2BE5DE87-D737-4854-C3CD-1A53803536EE}"/>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2952925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2E95B-CE35-4D49-7DD8-39EC2335A9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FD9968F-E5AF-C873-8420-CD92FAC45EF4}"/>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6F639AB0-6F1F-36E0-A506-8B91052A1240}"/>
              </a:ext>
            </a:extLst>
          </p:cNvPr>
          <p:cNvSpPr>
            <a:spLocks noGrp="1"/>
          </p:cNvSpPr>
          <p:nvPr>
            <p:ph idx="1"/>
          </p:nvPr>
        </p:nvSpPr>
        <p:spPr>
          <a:xfrm>
            <a:off x="838199" y="1798820"/>
            <a:ext cx="10686143" cy="4557529"/>
          </a:xfrm>
        </p:spPr>
        <p:txBody>
          <a:bodyPr lIns="90000">
            <a:noAutofit/>
          </a:bodyPr>
          <a:lstStyle/>
          <a:p>
            <a:pPr marL="0" indent="0">
              <a:buNone/>
            </a:pPr>
            <a:r>
              <a:rPr lang="en-GB" sz="2000" b="1" noProof="0" dirty="0">
                <a:effectLst/>
              </a:rPr>
              <a:t>Capturing Word Meaning With Static Embeddings</a:t>
            </a:r>
          </a:p>
          <a:p>
            <a:pPr marL="0" indent="0">
              <a:buNone/>
            </a:pPr>
            <a:r>
              <a:rPr lang="en-GB" sz="1200" b="1" noProof="0" dirty="0">
                <a:effectLst/>
              </a:rPr>
              <a:t>Embedding</a:t>
            </a:r>
            <a:r>
              <a:rPr lang="en-GB" sz="1200" noProof="0" dirty="0">
                <a:effectLst/>
              </a:rPr>
              <a:t>:</a:t>
            </a:r>
            <a:endParaRPr lang="en-GB" sz="1200" dirty="0"/>
          </a:p>
          <a:p>
            <a:pPr marL="0" indent="0">
              <a:buNone/>
            </a:pPr>
            <a:r>
              <a:rPr lang="en-GB" sz="1200" dirty="0"/>
              <a:t>We can do the same with words:</a:t>
            </a:r>
          </a:p>
          <a:p>
            <a:pPr marL="0" indent="0">
              <a:buNone/>
            </a:pPr>
            <a:r>
              <a:rPr lang="en-GB" sz="1200" dirty="0"/>
              <a:t>”swim” and “swimming” will be close (syntactic similarity)</a:t>
            </a:r>
          </a:p>
          <a:p>
            <a:pPr marL="0" indent="0">
              <a:buNone/>
            </a:pPr>
            <a:r>
              <a:rPr lang="en-GB" sz="1200" dirty="0"/>
              <a:t>“feline” and “cat” will be close (semantic similarity)</a:t>
            </a:r>
          </a:p>
          <a:p>
            <a:pPr marL="0" indent="0">
              <a:buNone/>
            </a:pPr>
            <a:r>
              <a:rPr lang="en-GB" sz="1200" dirty="0"/>
              <a:t>“car”, “bus”, “road” will be close (semantic relatedness)</a:t>
            </a:r>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2000" noProof="0" dirty="0">
              <a:effectLst/>
            </a:endParaRPr>
          </a:p>
        </p:txBody>
      </p:sp>
      <p:sp>
        <p:nvSpPr>
          <p:cNvPr id="4" name="Espace réservé du pied de page 3">
            <a:extLst>
              <a:ext uri="{FF2B5EF4-FFF2-40B4-BE49-F238E27FC236}">
                <a16:creationId xmlns:a16="http://schemas.microsoft.com/office/drawing/2014/main" id="{6CA93C96-509E-F766-58D3-B01DCA96F23A}"/>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531336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D70B6-4A30-C357-7199-31DEA3FAA52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5121882-6EA4-32B2-484B-75B54C8D2B98}"/>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0E96AD3D-B660-F531-47A1-19A4B6BC66CB}"/>
              </a:ext>
            </a:extLst>
          </p:cNvPr>
          <p:cNvSpPr>
            <a:spLocks noGrp="1"/>
          </p:cNvSpPr>
          <p:nvPr>
            <p:ph idx="1"/>
          </p:nvPr>
        </p:nvSpPr>
        <p:spPr>
          <a:xfrm>
            <a:off x="838199" y="1798820"/>
            <a:ext cx="10686143" cy="4557529"/>
          </a:xfrm>
        </p:spPr>
        <p:txBody>
          <a:bodyPr lIns="90000">
            <a:noAutofit/>
          </a:bodyPr>
          <a:lstStyle/>
          <a:p>
            <a:pPr marL="0" indent="0">
              <a:buNone/>
            </a:pPr>
            <a:r>
              <a:rPr lang="en-GB" sz="2000" b="1" noProof="0" dirty="0">
                <a:effectLst/>
              </a:rPr>
              <a:t>Word Embeddings: Distributional Hypothesis</a:t>
            </a:r>
          </a:p>
          <a:p>
            <a:pPr marL="0" indent="0">
              <a:buNone/>
            </a:pPr>
            <a:endParaRPr lang="en-GB" sz="2000" b="1" noProof="0" dirty="0">
              <a:effectLst/>
            </a:endParaRPr>
          </a:p>
          <a:p>
            <a:pPr marL="0" indent="0">
              <a:buNone/>
            </a:pPr>
            <a:r>
              <a:rPr lang="en-GB" sz="1200" b="1" noProof="0" dirty="0">
                <a:solidFill>
                  <a:srgbClr val="FF0000"/>
                </a:solidFill>
                <a:effectLst/>
              </a:rPr>
              <a:t>Fundamental</a:t>
            </a:r>
            <a:r>
              <a:rPr lang="en-GB" sz="1200" b="1" noProof="0" dirty="0">
                <a:effectLst/>
              </a:rPr>
              <a:t> </a:t>
            </a:r>
            <a:r>
              <a:rPr lang="en-GB" sz="1200" b="1" dirty="0"/>
              <a:t>idee of  the Natural Language Processing:</a:t>
            </a:r>
            <a:endParaRPr lang="en-GB" sz="1200" dirty="0"/>
          </a:p>
          <a:p>
            <a:pPr marL="0" indent="0">
              <a:buNone/>
            </a:pPr>
            <a:endParaRPr lang="en-GB" dirty="0"/>
          </a:p>
          <a:p>
            <a:pPr marL="0" indent="0">
              <a:buNone/>
            </a:pPr>
            <a:r>
              <a:rPr lang="en-GB" sz="1800" b="1" dirty="0">
                <a:solidFill>
                  <a:srgbClr val="FF0000"/>
                </a:solidFill>
              </a:rPr>
              <a:t>Words which occur in similar contexts (i.e. share similar </a:t>
            </a:r>
            <a:r>
              <a:rPr lang="en-GB" sz="1800" b="1" u="sng" dirty="0">
                <a:solidFill>
                  <a:srgbClr val="FF0000"/>
                </a:solidFill>
              </a:rPr>
              <a:t>surrounding</a:t>
            </a:r>
            <a:r>
              <a:rPr lang="en-GB" sz="1800" b="1" dirty="0">
                <a:solidFill>
                  <a:srgbClr val="FF0000"/>
                </a:solidFill>
              </a:rPr>
              <a:t> words) have similar meanings.</a:t>
            </a:r>
          </a:p>
          <a:p>
            <a:pPr marL="0" indent="0">
              <a:buNone/>
            </a:pPr>
            <a:endParaRPr lang="en-GB" sz="1200" dirty="0"/>
          </a:p>
          <a:p>
            <a:pPr marL="0" indent="0">
              <a:buNone/>
            </a:pPr>
            <a:r>
              <a:rPr lang="en-GB" sz="1200" dirty="0"/>
              <a:t>“The cat sat on the mat”</a:t>
            </a:r>
          </a:p>
          <a:p>
            <a:pPr marL="0" indent="0">
              <a:buNone/>
            </a:pPr>
            <a:r>
              <a:rPr lang="en-GB" sz="1200" dirty="0"/>
              <a:t>Words “The”, “sat”, “mat” form the context of the word “cat”. If words appear frequently in a similar context, they have a high probability of being similar meaning.</a:t>
            </a:r>
          </a:p>
          <a:p>
            <a:pPr marL="0" indent="0">
              <a:buNone/>
            </a:pPr>
            <a:endParaRPr lang="en-GB" sz="1200" dirty="0"/>
          </a:p>
          <a:p>
            <a:pPr marL="0" indent="0">
              <a:buNone/>
            </a:pPr>
            <a:r>
              <a:rPr lang="en-GB" sz="1200" dirty="0"/>
              <a:t>Another example:</a:t>
            </a:r>
          </a:p>
          <a:p>
            <a:pPr marL="0" indent="0">
              <a:buNone/>
            </a:pPr>
            <a:r>
              <a:rPr lang="en-GB" sz="1200" dirty="0"/>
              <a:t>“The king sat on the throne.”</a:t>
            </a:r>
          </a:p>
          <a:p>
            <a:pPr marL="0" indent="0">
              <a:buNone/>
            </a:pPr>
            <a:r>
              <a:rPr lang="en-GB" sz="1200" dirty="0"/>
              <a:t>“The queen sat on the throne.”</a:t>
            </a:r>
          </a:p>
          <a:p>
            <a:pPr marL="0" indent="0">
              <a:buNone/>
            </a:pPr>
            <a:r>
              <a:rPr lang="en-GB" sz="1200" dirty="0"/>
              <a:t>“king” and “queen” have similar meanings.</a:t>
            </a:r>
          </a:p>
          <a:p>
            <a:pPr marL="0" indent="0">
              <a:buNone/>
            </a:pPr>
            <a:endParaRPr lang="en-GB" sz="2000" noProof="0" dirty="0">
              <a:effectLst/>
            </a:endParaRPr>
          </a:p>
        </p:txBody>
      </p:sp>
      <p:sp>
        <p:nvSpPr>
          <p:cNvPr id="4" name="Espace réservé du pied de page 3">
            <a:extLst>
              <a:ext uri="{FF2B5EF4-FFF2-40B4-BE49-F238E27FC236}">
                <a16:creationId xmlns:a16="http://schemas.microsoft.com/office/drawing/2014/main" id="{F1C40AC0-9327-24E0-0016-5B2D202509F1}"/>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808272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302E8-21B2-7D28-3F62-01D4737F66D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D171CA6-88BE-0459-4811-4E0BCBADA045}"/>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5643623F-4392-DF92-A761-8CD79591EE71}"/>
              </a:ext>
            </a:extLst>
          </p:cNvPr>
          <p:cNvSpPr>
            <a:spLocks noGrp="1"/>
          </p:cNvSpPr>
          <p:nvPr>
            <p:ph idx="1"/>
          </p:nvPr>
        </p:nvSpPr>
        <p:spPr>
          <a:xfrm>
            <a:off x="838199" y="1798820"/>
            <a:ext cx="10686143" cy="4557529"/>
          </a:xfrm>
        </p:spPr>
        <p:txBody>
          <a:bodyPr lIns="90000">
            <a:noAutofit/>
          </a:bodyPr>
          <a:lstStyle/>
          <a:p>
            <a:pPr marL="0" indent="0">
              <a:buNone/>
            </a:pPr>
            <a:r>
              <a:rPr lang="en-GB" sz="2000" b="1" noProof="0" dirty="0">
                <a:effectLst/>
              </a:rPr>
              <a:t>Static Embedding</a:t>
            </a:r>
          </a:p>
          <a:p>
            <a:pPr marL="0" indent="0">
              <a:buNone/>
            </a:pPr>
            <a:endParaRPr lang="en-GB" sz="1050" b="1" noProof="0" dirty="0">
              <a:effectLst/>
            </a:endParaRPr>
          </a:p>
          <a:p>
            <a:pPr marL="0" indent="0">
              <a:lnSpc>
                <a:spcPct val="150000"/>
              </a:lnSpc>
              <a:buNone/>
            </a:pPr>
            <a:r>
              <a:rPr lang="en-GB" sz="1200" b="1" noProof="0" dirty="0">
                <a:effectLst/>
              </a:rPr>
              <a:t>Static embeddings are fixed vector representations of words that do not depend on the context in which the word appears. Each word has a single vector representation pre-calculated, regardless of its context. Examples of static embedding methods include:</a:t>
            </a:r>
          </a:p>
          <a:p>
            <a:pPr>
              <a:lnSpc>
                <a:spcPct val="150000"/>
              </a:lnSpc>
            </a:pPr>
            <a:r>
              <a:rPr lang="en-GB" sz="1200" b="1" noProof="0" dirty="0">
                <a:effectLst/>
              </a:rPr>
              <a:t>Word2Vec</a:t>
            </a:r>
            <a:r>
              <a:rPr lang="en-GB" sz="1200" noProof="0" dirty="0">
                <a:effectLst/>
              </a:rPr>
              <a:t>:</a:t>
            </a:r>
          </a:p>
          <a:p>
            <a:pPr marL="0" indent="0">
              <a:lnSpc>
                <a:spcPct val="150000"/>
              </a:lnSpc>
              <a:buNone/>
            </a:pPr>
            <a:r>
              <a:rPr lang="en-GB" sz="1200" noProof="0" dirty="0">
                <a:effectLst/>
              </a:rPr>
              <a:t>Word2Vec uses models like Skip-gram and CBOW (Continuous Bag of Words) to learn word embeddings from large text corpora. Each word is represented by a unique vector.</a:t>
            </a:r>
          </a:p>
          <a:p>
            <a:pPr>
              <a:lnSpc>
                <a:spcPct val="150000"/>
              </a:lnSpc>
            </a:pPr>
            <a:r>
              <a:rPr lang="en-GB" sz="1200" b="1" noProof="0" dirty="0">
                <a:effectLst/>
              </a:rPr>
              <a:t>GloVe</a:t>
            </a:r>
            <a:r>
              <a:rPr lang="en-GB" sz="1200" noProof="0" dirty="0">
                <a:effectLst/>
              </a:rPr>
              <a:t> (Global Vectors for Word Representation):</a:t>
            </a:r>
          </a:p>
          <a:p>
            <a:pPr marL="0" indent="0">
              <a:lnSpc>
                <a:spcPct val="150000"/>
              </a:lnSpc>
              <a:buNone/>
            </a:pPr>
            <a:r>
              <a:rPr lang="en-GB" sz="1200" noProof="0" dirty="0">
                <a:effectLst/>
              </a:rPr>
              <a:t>GloVe learns word embeddings using word co-occurrence statistics in a corpus. Each word is represented by a unique vector based on its co-occurrences with other words.</a:t>
            </a:r>
          </a:p>
          <a:p>
            <a:pPr>
              <a:lnSpc>
                <a:spcPct val="150000"/>
              </a:lnSpc>
            </a:pPr>
            <a:r>
              <a:rPr lang="en-GB" sz="1200" b="1" noProof="0" dirty="0">
                <a:effectLst/>
              </a:rPr>
              <a:t>FastText</a:t>
            </a:r>
            <a:r>
              <a:rPr lang="en-GB" sz="1200" noProof="0" dirty="0">
                <a:effectLst/>
              </a:rPr>
              <a:t>:</a:t>
            </a:r>
          </a:p>
          <a:p>
            <a:pPr marL="0" indent="0">
              <a:lnSpc>
                <a:spcPct val="150000"/>
              </a:lnSpc>
              <a:buNone/>
            </a:pPr>
            <a:r>
              <a:rPr lang="en-GB" sz="1200" noProof="0" dirty="0">
                <a:effectLst/>
              </a:rPr>
              <a:t>FastText is an extension of Word2Vec that considers sub words (n-grams) to improve the representation of rare or unknown words. Each word is represented by a unique vector, but this vector is influenced by the sub words.</a:t>
            </a:r>
          </a:p>
          <a:p>
            <a:pPr marL="0" indent="0">
              <a:buNone/>
            </a:pPr>
            <a:endParaRPr lang="en-GB" sz="2000" noProof="0" dirty="0">
              <a:effectLst/>
            </a:endParaRPr>
          </a:p>
        </p:txBody>
      </p:sp>
      <p:sp>
        <p:nvSpPr>
          <p:cNvPr id="4" name="Espace réservé du pied de page 3">
            <a:extLst>
              <a:ext uri="{FF2B5EF4-FFF2-40B4-BE49-F238E27FC236}">
                <a16:creationId xmlns:a16="http://schemas.microsoft.com/office/drawing/2014/main" id="{B11A9BD6-73F0-EC44-F3E3-0F8C611E08F1}"/>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1176871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3C141-FD5C-94DC-EE9E-C353963AAB5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9ED61E-8C53-32D3-4433-D4BF083A4FF6}"/>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A34CAF35-D32C-148D-BDCE-EF569994DBA4}"/>
              </a:ext>
            </a:extLst>
          </p:cNvPr>
          <p:cNvSpPr>
            <a:spLocks noGrp="1"/>
          </p:cNvSpPr>
          <p:nvPr>
            <p:ph idx="1"/>
          </p:nvPr>
        </p:nvSpPr>
        <p:spPr>
          <a:xfrm>
            <a:off x="838200" y="1541645"/>
            <a:ext cx="11120438" cy="4814705"/>
          </a:xfrm>
        </p:spPr>
        <p:txBody>
          <a:bodyPr lIns="90000">
            <a:noAutofit/>
          </a:bodyPr>
          <a:lstStyle/>
          <a:p>
            <a:pPr marL="0" indent="0">
              <a:buNone/>
            </a:pPr>
            <a:r>
              <a:rPr lang="en-GB" sz="2000" b="1" noProof="0" dirty="0">
                <a:effectLst/>
              </a:rPr>
              <a:t>Word2vec</a:t>
            </a:r>
          </a:p>
          <a:p>
            <a:pPr marL="0" indent="0">
              <a:buNone/>
            </a:pPr>
            <a:r>
              <a:rPr lang="en-GB" sz="1200" b="1" noProof="0" dirty="0">
                <a:effectLst/>
              </a:rPr>
              <a:t>Learn dense representations that capture word relationships</a:t>
            </a:r>
          </a:p>
          <a:p>
            <a:pPr marL="0" indent="0">
              <a:lnSpc>
                <a:spcPct val="150000"/>
              </a:lnSpc>
              <a:buNone/>
            </a:pPr>
            <a:r>
              <a:rPr lang="en-GB" sz="1200" noProof="0" dirty="0">
                <a:effectLst/>
              </a:rPr>
              <a:t>Possible example of </a:t>
            </a:r>
            <a:r>
              <a:rPr lang="en-GB" sz="1200" dirty="0"/>
              <a:t>a dense word vector (or embedding or distributed representations) learned for the word </a:t>
            </a:r>
            <a:r>
              <a:rPr lang="en-GB" sz="1200" noProof="0" dirty="0">
                <a:effectLst/>
              </a:rPr>
              <a:t>"cat”</a:t>
            </a:r>
          </a:p>
          <a:p>
            <a:pPr marL="0" indent="0">
              <a:lnSpc>
                <a:spcPct val="100000"/>
              </a:lnSpc>
              <a:spcBef>
                <a:spcPts val="0"/>
              </a:spcBef>
              <a:buNone/>
            </a:pPr>
            <a:endParaRPr lang="en-GB" sz="1200" noProof="0" dirty="0">
              <a:effectLst/>
            </a:endParaRPr>
          </a:p>
          <a:p>
            <a:pPr marL="0" indent="0">
              <a:lnSpc>
                <a:spcPct val="100000"/>
              </a:lnSpc>
              <a:spcBef>
                <a:spcPts val="0"/>
              </a:spcBef>
              <a:buNone/>
            </a:pPr>
            <a:r>
              <a:rPr lang="en-GB" sz="1200" noProof="0" dirty="0" err="1">
                <a:effectLst/>
              </a:rPr>
              <a:t>cat_embedding</a:t>
            </a:r>
            <a:r>
              <a:rPr lang="en-GB" sz="1200" noProof="0" dirty="0">
                <a:effectLst/>
              </a:rPr>
              <a:t> = </a:t>
            </a:r>
            <a:r>
              <a:rPr lang="en-GB" sz="1200" noProof="0" dirty="0" err="1">
                <a:effectLst/>
              </a:rPr>
              <a:t>np.array</a:t>
            </a:r>
            <a:r>
              <a:rPr lang="en-GB" sz="1200" noProof="0" dirty="0">
                <a:effectLst/>
              </a:rPr>
              <a:t>([</a:t>
            </a:r>
          </a:p>
          <a:p>
            <a:pPr marL="0" indent="0">
              <a:lnSpc>
                <a:spcPct val="100000"/>
              </a:lnSpc>
              <a:spcBef>
                <a:spcPts val="0"/>
              </a:spcBef>
              <a:buNone/>
            </a:pPr>
            <a:r>
              <a:rPr lang="en-GB" sz="1200" noProof="0" dirty="0">
                <a:effectLst/>
              </a:rPr>
              <a:t>    0.0213, -0.1289, 0.0547, 0.0123, -0.0345, 0.0678, -0.0890, 0.0234,</a:t>
            </a:r>
          </a:p>
          <a:p>
            <a:pPr marL="0" indent="0">
              <a:lnSpc>
                <a:spcPct val="100000"/>
              </a:lnSpc>
              <a:spcBef>
                <a:spcPts val="0"/>
              </a:spcBef>
              <a:buNone/>
            </a:pPr>
            <a:r>
              <a:rPr lang="en-GB" sz="1200" noProof="0" dirty="0">
                <a:effectLst/>
              </a:rPr>
              <a:t>    -0.0123, 0.0456, -0.0789, 0.0234, -0.0345, 0.0567, -0.0890, 0.0123,</a:t>
            </a:r>
          </a:p>
          <a:p>
            <a:pPr marL="0" indent="0">
              <a:lnSpc>
                <a:spcPct val="100000"/>
              </a:lnSpc>
              <a:spcBef>
                <a:spcPts val="0"/>
              </a:spcBef>
              <a:buNone/>
            </a:pPr>
            <a:r>
              <a:rPr lang="en-GB" sz="1200" noProof="0" dirty="0">
                <a:effectLst/>
              </a:rPr>
              <a:t>    -0.0234, 0.0345, -0.0456, 0.0567, -0.0678, 0.0789, -0.0890, 0.0901,</a:t>
            </a:r>
          </a:p>
          <a:p>
            <a:pPr marL="0" indent="0">
              <a:lnSpc>
                <a:spcPct val="100000"/>
              </a:lnSpc>
              <a:spcBef>
                <a:spcPts val="0"/>
              </a:spcBef>
              <a:buNone/>
            </a:pPr>
            <a:r>
              <a:rPr lang="en-GB" sz="1200" noProof="0" dirty="0">
                <a:effectLst/>
              </a:rPr>
              <a:t>    -0.1012, 0.1123, -0.1234, 0.1345, -0.1456, 0.1567, -0.1678, 0.1789,</a:t>
            </a:r>
          </a:p>
          <a:p>
            <a:pPr marL="0" indent="0">
              <a:lnSpc>
                <a:spcPct val="100000"/>
              </a:lnSpc>
              <a:spcBef>
                <a:spcPts val="0"/>
              </a:spcBef>
              <a:buNone/>
            </a:pPr>
            <a:r>
              <a:rPr lang="en-GB" sz="1200" noProof="0" dirty="0">
                <a:effectLst/>
              </a:rPr>
              <a:t>    -0.1890, 0.1901, -0.2012, 0.2123, -0.2234, 0.2345, -0.2456, 0.2567,</a:t>
            </a:r>
          </a:p>
          <a:p>
            <a:pPr marL="0" indent="0">
              <a:lnSpc>
                <a:spcPct val="100000"/>
              </a:lnSpc>
              <a:spcBef>
                <a:spcPts val="0"/>
              </a:spcBef>
              <a:buNone/>
            </a:pPr>
            <a:r>
              <a:rPr lang="en-GB" sz="1200" noProof="0" dirty="0">
                <a:effectLst/>
              </a:rPr>
              <a:t>    -0.2678, 0.2789, -0.2890, 0.2901, -0.3012, 0.3123, -0.3234, 0.3345,</a:t>
            </a:r>
          </a:p>
          <a:p>
            <a:pPr marL="0" indent="0">
              <a:lnSpc>
                <a:spcPct val="100000"/>
              </a:lnSpc>
              <a:spcBef>
                <a:spcPts val="0"/>
              </a:spcBef>
              <a:buNone/>
            </a:pPr>
            <a:r>
              <a:rPr lang="en-GB" sz="1200" noProof="0" dirty="0">
                <a:effectLst/>
              </a:rPr>
              <a:t>    -0.3456, 0.3567, -0.3678, 0.3789, -0.3890, 0.3901, -0.4012, 0.4123,</a:t>
            </a:r>
          </a:p>
          <a:p>
            <a:pPr marL="0" indent="0">
              <a:lnSpc>
                <a:spcPct val="100000"/>
              </a:lnSpc>
              <a:spcBef>
                <a:spcPts val="0"/>
              </a:spcBef>
              <a:buNone/>
            </a:pPr>
            <a:r>
              <a:rPr lang="en-GB" sz="1200" noProof="0" dirty="0">
                <a:effectLst/>
              </a:rPr>
              <a:t>    -0.4234, 0.4345, -0.4456, 0.4567, -0.4678, 0.4789, -0.4890, 0.4901,</a:t>
            </a:r>
          </a:p>
          <a:p>
            <a:pPr marL="0" indent="0">
              <a:lnSpc>
                <a:spcPct val="100000"/>
              </a:lnSpc>
              <a:spcBef>
                <a:spcPts val="0"/>
              </a:spcBef>
              <a:buNone/>
            </a:pPr>
            <a:r>
              <a:rPr lang="en-GB" sz="1200" noProof="0" dirty="0">
                <a:effectLst/>
              </a:rPr>
              <a:t>    -0.5012, 0.5123, -0.5234, 0.5345, -0.5456, 0.5567, -0.5678, 0.5789,</a:t>
            </a:r>
          </a:p>
          <a:p>
            <a:pPr marL="0" indent="0">
              <a:lnSpc>
                <a:spcPct val="100000"/>
              </a:lnSpc>
              <a:spcBef>
                <a:spcPts val="0"/>
              </a:spcBef>
              <a:buNone/>
            </a:pPr>
            <a:r>
              <a:rPr lang="en-GB" sz="1200" noProof="0" dirty="0">
                <a:effectLst/>
              </a:rPr>
              <a:t>    -0.5890, 0.5901, -0.6012, 0.6123, -0.6234, 0.6345, -0.6456, 0.6567,</a:t>
            </a:r>
          </a:p>
          <a:p>
            <a:pPr marL="0" indent="0">
              <a:lnSpc>
                <a:spcPct val="100000"/>
              </a:lnSpc>
              <a:spcBef>
                <a:spcPts val="0"/>
              </a:spcBef>
              <a:buNone/>
            </a:pPr>
            <a:r>
              <a:rPr lang="en-GB" sz="1200" noProof="0" dirty="0">
                <a:effectLst/>
              </a:rPr>
              <a:t>    -0.6678, 0.6789, -0.6890, 0.6901, -0.7012, 0.7123, -0.7234, 0.7345,</a:t>
            </a:r>
          </a:p>
          <a:p>
            <a:pPr marL="0" indent="0">
              <a:lnSpc>
                <a:spcPct val="100000"/>
              </a:lnSpc>
              <a:spcBef>
                <a:spcPts val="0"/>
              </a:spcBef>
              <a:buNone/>
            </a:pPr>
            <a:r>
              <a:rPr lang="en-GB" sz="1200" noProof="0" dirty="0">
                <a:effectLst/>
              </a:rPr>
              <a:t>    -0.7456, 0.7567, -0.7678, 0.7789, -0.7890, 0.7901, -0.8012, 0.8123,</a:t>
            </a:r>
          </a:p>
          <a:p>
            <a:pPr marL="0" indent="0">
              <a:lnSpc>
                <a:spcPct val="100000"/>
              </a:lnSpc>
              <a:spcBef>
                <a:spcPts val="0"/>
              </a:spcBef>
              <a:buNone/>
            </a:pPr>
            <a:r>
              <a:rPr lang="en-GB" sz="1200" noProof="0" dirty="0">
                <a:effectLst/>
              </a:rPr>
              <a:t>    -0.8234, 0.8345, -0.8456, 0.8567, -0.8678, 0.8789, -0.8890, 0.8901</a:t>
            </a:r>
          </a:p>
          <a:p>
            <a:pPr marL="0" indent="0">
              <a:lnSpc>
                <a:spcPct val="100000"/>
              </a:lnSpc>
              <a:spcBef>
                <a:spcPts val="0"/>
              </a:spcBef>
              <a:buNone/>
            </a:pPr>
            <a:r>
              <a:rPr lang="en-GB" sz="1200" noProof="0" dirty="0">
                <a:effectLst/>
              </a:rPr>
              <a:t>])</a:t>
            </a:r>
          </a:p>
          <a:p>
            <a:pPr marL="0" indent="0">
              <a:lnSpc>
                <a:spcPct val="100000"/>
              </a:lnSpc>
              <a:spcBef>
                <a:spcPts val="0"/>
              </a:spcBef>
              <a:buNone/>
            </a:pPr>
            <a:r>
              <a:rPr lang="en-GB" sz="1200" b="0" i="0" u="none" strike="noStrike" noProof="0" dirty="0">
                <a:effectLst/>
              </a:rPr>
              <a:t>The embedding of the word "cat" with Word2Vec is a numerical vector of fixed dimension that captures semantic and contextual information about the word. </a:t>
            </a:r>
          </a:p>
          <a:p>
            <a:pPr marL="0" indent="0">
              <a:lnSpc>
                <a:spcPct val="100000"/>
              </a:lnSpc>
              <a:spcBef>
                <a:spcPts val="0"/>
              </a:spcBef>
              <a:buNone/>
            </a:pPr>
            <a:r>
              <a:rPr lang="en-GB" sz="1200" b="0" i="0" u="none" strike="noStrike" noProof="0" dirty="0">
                <a:effectLst/>
              </a:rPr>
              <a:t>This representation is learned from the text corpus on which the Word2Vec model was trained and can be used in various natural language processing tasks.</a:t>
            </a:r>
            <a:endParaRPr lang="en-GB" sz="1200" noProof="0" dirty="0">
              <a:effectLst/>
            </a:endParaRPr>
          </a:p>
        </p:txBody>
      </p:sp>
      <p:sp>
        <p:nvSpPr>
          <p:cNvPr id="4" name="Espace réservé du pied de page 3">
            <a:extLst>
              <a:ext uri="{FF2B5EF4-FFF2-40B4-BE49-F238E27FC236}">
                <a16:creationId xmlns:a16="http://schemas.microsoft.com/office/drawing/2014/main" id="{5B5FD5BA-4F1B-094B-71C4-12F95823FCC1}"/>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4117533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E1BAF-30E8-5562-96CA-FB3285DED7F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7B83B31-E193-EF91-E1B0-2F982B4E29A1}"/>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88B52D5C-19ED-4EAD-4AB6-D996DCFA643F}"/>
              </a:ext>
            </a:extLst>
          </p:cNvPr>
          <p:cNvSpPr>
            <a:spLocks noGrp="1"/>
          </p:cNvSpPr>
          <p:nvPr>
            <p:ph idx="1"/>
          </p:nvPr>
        </p:nvSpPr>
        <p:spPr>
          <a:xfrm>
            <a:off x="838200" y="1541645"/>
            <a:ext cx="11120438" cy="4814705"/>
          </a:xfrm>
        </p:spPr>
        <p:txBody>
          <a:bodyPr lIns="90000">
            <a:noAutofit/>
          </a:bodyPr>
          <a:lstStyle/>
          <a:p>
            <a:pPr marL="0" indent="0">
              <a:buNone/>
            </a:pPr>
            <a:r>
              <a:rPr lang="en-GB" sz="2000" b="1" noProof="0" dirty="0">
                <a:effectLst/>
              </a:rPr>
              <a:t>Word2vec</a:t>
            </a:r>
          </a:p>
          <a:p>
            <a:pPr marL="0" indent="0">
              <a:buNone/>
            </a:pPr>
            <a:r>
              <a:rPr lang="en-GB" sz="1200" b="1" noProof="0" dirty="0">
                <a:effectLst/>
              </a:rPr>
              <a:t>Learn dense representations that capture word relationships</a:t>
            </a:r>
          </a:p>
          <a:p>
            <a:pPr marL="0" indent="0">
              <a:lnSpc>
                <a:spcPct val="100000"/>
              </a:lnSpc>
              <a:spcBef>
                <a:spcPts val="0"/>
              </a:spcBef>
              <a:buNone/>
            </a:pPr>
            <a:endParaRPr lang="en-GB" sz="1200" noProof="0" dirty="0">
              <a:effectLst/>
            </a:endParaRPr>
          </a:p>
          <a:p>
            <a:pPr marL="0" indent="0">
              <a:lnSpc>
                <a:spcPct val="100000"/>
              </a:lnSpc>
              <a:spcBef>
                <a:spcPts val="0"/>
              </a:spcBef>
              <a:buNone/>
            </a:pPr>
            <a:r>
              <a:rPr lang="en-GB" sz="1200" noProof="0" dirty="0" err="1">
                <a:effectLst/>
              </a:rPr>
              <a:t>cat_embedding</a:t>
            </a:r>
            <a:r>
              <a:rPr lang="en-GB" sz="1200" noProof="0" dirty="0">
                <a:effectLst/>
              </a:rPr>
              <a:t> = </a:t>
            </a:r>
            <a:r>
              <a:rPr lang="en-GB" sz="1200" noProof="0" dirty="0" err="1">
                <a:effectLst/>
              </a:rPr>
              <a:t>np.array</a:t>
            </a:r>
            <a:r>
              <a:rPr lang="en-GB" sz="1200" noProof="0" dirty="0">
                <a:effectLst/>
              </a:rPr>
              <a:t>([0.0213, -0.1289, 0.0547, …, 0.8789, -0.8890, 0.8901])</a:t>
            </a:r>
          </a:p>
          <a:p>
            <a:pPr marL="0" indent="0">
              <a:lnSpc>
                <a:spcPct val="100000"/>
              </a:lnSpc>
              <a:spcBef>
                <a:spcPts val="0"/>
              </a:spcBef>
              <a:buNone/>
            </a:pPr>
            <a:endParaRPr lang="en-GB" sz="1200" dirty="0"/>
          </a:p>
          <a:p>
            <a:pPr marL="0" indent="0">
              <a:lnSpc>
                <a:spcPct val="150000"/>
              </a:lnSpc>
              <a:spcBef>
                <a:spcPts val="0"/>
              </a:spcBef>
              <a:buNone/>
            </a:pPr>
            <a:r>
              <a:rPr lang="en-GB" sz="1200" noProof="0" dirty="0">
                <a:effectLst/>
              </a:rPr>
              <a:t>We do not really know how it was generated. </a:t>
            </a:r>
          </a:p>
          <a:p>
            <a:pPr marL="0" indent="0">
              <a:lnSpc>
                <a:spcPct val="150000"/>
              </a:lnSpc>
              <a:spcBef>
                <a:spcPts val="0"/>
              </a:spcBef>
              <a:buNone/>
            </a:pPr>
            <a:r>
              <a:rPr lang="en-GB" sz="1200" noProof="0" dirty="0">
                <a:effectLst/>
              </a:rPr>
              <a:t>If 0.0213 is related to </a:t>
            </a:r>
            <a:r>
              <a:rPr lang="en-GB" sz="1200" noProof="0" dirty="0" err="1">
                <a:effectLst/>
              </a:rPr>
              <a:t>anilmness</a:t>
            </a:r>
            <a:r>
              <a:rPr lang="en-GB" sz="1200" noProof="0" dirty="0">
                <a:effectLst/>
              </a:rPr>
              <a:t> for instance but what matters is that related words should have vectors which are closer in this d-dimensional space.</a:t>
            </a:r>
          </a:p>
          <a:p>
            <a:pPr marL="0" indent="0">
              <a:lnSpc>
                <a:spcPct val="150000"/>
              </a:lnSpc>
              <a:spcBef>
                <a:spcPts val="0"/>
              </a:spcBef>
              <a:buNone/>
            </a:pPr>
            <a:endParaRPr lang="en-GB" sz="1200" dirty="0"/>
          </a:p>
          <a:p>
            <a:pPr marL="0" indent="0">
              <a:lnSpc>
                <a:spcPct val="150000"/>
              </a:lnSpc>
              <a:spcBef>
                <a:spcPts val="0"/>
              </a:spcBef>
              <a:buNone/>
            </a:pPr>
            <a:r>
              <a:rPr lang="en-GB" sz="1200" noProof="0" dirty="0">
                <a:effectLst/>
              </a:rPr>
              <a:t>Word2vec has two algorithm options:</a:t>
            </a:r>
          </a:p>
          <a:p>
            <a:pPr>
              <a:lnSpc>
                <a:spcPct val="150000"/>
              </a:lnSpc>
              <a:spcBef>
                <a:spcPts val="0"/>
              </a:spcBef>
              <a:buFontTx/>
              <a:buChar char="-"/>
            </a:pPr>
            <a:r>
              <a:rPr lang="en-GB" sz="1200" dirty="0"/>
              <a:t>Continuous Bag of Words (CBOW)</a:t>
            </a:r>
          </a:p>
          <a:p>
            <a:pPr>
              <a:lnSpc>
                <a:spcPct val="150000"/>
              </a:lnSpc>
              <a:spcBef>
                <a:spcPts val="0"/>
              </a:spcBef>
              <a:buFontTx/>
              <a:buChar char="-"/>
            </a:pPr>
            <a:r>
              <a:rPr lang="en-GB" sz="1200" noProof="0" dirty="0">
                <a:effectLst/>
              </a:rPr>
              <a:t>Skip-grams</a:t>
            </a:r>
          </a:p>
          <a:p>
            <a:pPr marL="0" indent="0">
              <a:lnSpc>
                <a:spcPct val="150000"/>
              </a:lnSpc>
              <a:spcBef>
                <a:spcPts val="0"/>
              </a:spcBef>
              <a:buNone/>
            </a:pPr>
            <a:r>
              <a:rPr lang="en-GB" sz="1200" noProof="0" dirty="0">
                <a:effectLst/>
              </a:rPr>
              <a:t>Both algor</a:t>
            </a:r>
            <a:r>
              <a:rPr lang="en-GB" sz="1200" dirty="0" err="1"/>
              <a:t>ithms</a:t>
            </a:r>
            <a:r>
              <a:rPr lang="en-GB" sz="1200" dirty="0"/>
              <a:t> learn word vectors </a:t>
            </a:r>
            <a:r>
              <a:rPr lang="en-GB" sz="1200" b="1" dirty="0"/>
              <a:t>indirectly</a:t>
            </a:r>
            <a:r>
              <a:rPr lang="en-GB" sz="1200" dirty="0"/>
              <a:t> through a word prediction task?</a:t>
            </a:r>
            <a:endParaRPr lang="en-GB" sz="1200" noProof="0" dirty="0">
              <a:effectLst/>
            </a:endParaRPr>
          </a:p>
        </p:txBody>
      </p:sp>
      <p:sp>
        <p:nvSpPr>
          <p:cNvPr id="4" name="Espace réservé du pied de page 3">
            <a:extLst>
              <a:ext uri="{FF2B5EF4-FFF2-40B4-BE49-F238E27FC236}">
                <a16:creationId xmlns:a16="http://schemas.microsoft.com/office/drawing/2014/main" id="{4756E047-122D-897D-6815-5F6EE7E2957C}"/>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1060178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3B375-041B-F322-F7D8-8F6DE994E67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915904B-8430-2BD5-8F19-F740149D4540}"/>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F80291F0-C181-6F54-685E-7016D93196D5}"/>
              </a:ext>
            </a:extLst>
          </p:cNvPr>
          <p:cNvSpPr>
            <a:spLocks noGrp="1"/>
          </p:cNvSpPr>
          <p:nvPr>
            <p:ph idx="1"/>
          </p:nvPr>
        </p:nvSpPr>
        <p:spPr>
          <a:xfrm>
            <a:off x="838200" y="1541645"/>
            <a:ext cx="11120438" cy="4814705"/>
          </a:xfrm>
        </p:spPr>
        <p:txBody>
          <a:bodyPr lIns="90000">
            <a:noAutofit/>
          </a:bodyPr>
          <a:lstStyle/>
          <a:p>
            <a:pPr marL="0" indent="0">
              <a:buNone/>
            </a:pPr>
            <a:r>
              <a:rPr lang="en-GB" sz="2000" b="1" noProof="0" dirty="0">
                <a:effectLst/>
              </a:rPr>
              <a:t>Word2vec</a:t>
            </a:r>
          </a:p>
          <a:p>
            <a:pPr marL="0" indent="0">
              <a:buNone/>
            </a:pPr>
            <a:r>
              <a:rPr lang="en-GB" sz="1200" b="1" noProof="0" dirty="0">
                <a:effectLst/>
              </a:rPr>
              <a:t>Learn dense representations that capture word relationships</a:t>
            </a:r>
          </a:p>
          <a:p>
            <a:pPr marL="0" indent="0">
              <a:lnSpc>
                <a:spcPct val="100000"/>
              </a:lnSpc>
              <a:spcBef>
                <a:spcPts val="0"/>
              </a:spcBef>
              <a:buNone/>
            </a:pPr>
            <a:endParaRPr lang="en-GB" sz="1200" noProof="0" dirty="0">
              <a:effectLst/>
            </a:endParaRPr>
          </a:p>
          <a:p>
            <a:pPr marL="0" indent="0">
              <a:lnSpc>
                <a:spcPct val="150000"/>
              </a:lnSpc>
              <a:spcBef>
                <a:spcPts val="0"/>
              </a:spcBef>
              <a:buNone/>
            </a:pPr>
            <a:r>
              <a:rPr lang="en-GB" sz="1200" noProof="0" dirty="0">
                <a:effectLst/>
              </a:rPr>
              <a:t>Word2vec has two algorithm options:</a:t>
            </a:r>
          </a:p>
          <a:p>
            <a:pPr>
              <a:lnSpc>
                <a:spcPct val="150000"/>
              </a:lnSpc>
              <a:spcBef>
                <a:spcPts val="0"/>
              </a:spcBef>
              <a:buFontTx/>
              <a:buChar char="-"/>
            </a:pPr>
            <a:r>
              <a:rPr lang="en-GB" sz="1200" dirty="0"/>
              <a:t>Continuous Bag of Words (CBOW)</a:t>
            </a:r>
          </a:p>
          <a:p>
            <a:pPr>
              <a:lnSpc>
                <a:spcPct val="150000"/>
              </a:lnSpc>
              <a:spcBef>
                <a:spcPts val="0"/>
              </a:spcBef>
              <a:buFontTx/>
              <a:buChar char="-"/>
            </a:pPr>
            <a:r>
              <a:rPr lang="en-GB" sz="1200" noProof="0" dirty="0">
                <a:effectLst/>
              </a:rPr>
              <a:t>Skip-Gram</a:t>
            </a:r>
          </a:p>
          <a:p>
            <a:pPr marL="0" indent="0">
              <a:lnSpc>
                <a:spcPct val="150000"/>
              </a:lnSpc>
              <a:spcBef>
                <a:spcPts val="0"/>
              </a:spcBef>
              <a:buNone/>
            </a:pPr>
            <a:r>
              <a:rPr lang="en-GB" sz="1200" noProof="0" dirty="0">
                <a:effectLst/>
              </a:rPr>
              <a:t>We will focus n Skip-Gram and specifically on </a:t>
            </a:r>
            <a:r>
              <a:rPr lang="en-GB" sz="1200" b="1" noProof="0" dirty="0">
                <a:effectLst/>
              </a:rPr>
              <a:t>Skip-Gram with Negative Sampling (SGNS)</a:t>
            </a:r>
            <a:r>
              <a:rPr lang="en-GB" sz="1200" noProof="0" dirty="0">
                <a:effectLst/>
              </a:rPr>
              <a:t>.</a:t>
            </a:r>
          </a:p>
          <a:p>
            <a:pPr marL="0" indent="0">
              <a:lnSpc>
                <a:spcPct val="150000"/>
              </a:lnSpc>
              <a:spcBef>
                <a:spcPts val="0"/>
              </a:spcBef>
              <a:buNone/>
            </a:pPr>
            <a:r>
              <a:rPr lang="en-GB" sz="1200" dirty="0"/>
              <a:t>Its goal is to create word vectors which:</a:t>
            </a:r>
          </a:p>
          <a:p>
            <a:pPr>
              <a:lnSpc>
                <a:spcPct val="150000"/>
              </a:lnSpc>
              <a:spcBef>
                <a:spcPts val="0"/>
              </a:spcBef>
              <a:buAutoNum type="arabicPeriod"/>
            </a:pPr>
            <a:r>
              <a:rPr lang="en-GB" sz="1200" noProof="0" dirty="0">
                <a:effectLst/>
              </a:rPr>
              <a:t>Maximize similarity between Words which appears in similar contexts.</a:t>
            </a:r>
          </a:p>
          <a:p>
            <a:pPr>
              <a:lnSpc>
                <a:spcPct val="150000"/>
              </a:lnSpc>
              <a:spcBef>
                <a:spcPts val="0"/>
              </a:spcBef>
              <a:buFont typeface="Arial" panose="020B0604020202020204" pitchFamily="34" charset="0"/>
              <a:buAutoNum type="arabicPeriod"/>
            </a:pPr>
            <a:r>
              <a:rPr lang="en-GB" sz="1200" dirty="0"/>
              <a:t>Minimize similarity </a:t>
            </a:r>
            <a:r>
              <a:rPr lang="en-GB" sz="1200" noProof="0" dirty="0">
                <a:effectLst/>
              </a:rPr>
              <a:t>between Words which do not appears in similar contexts.</a:t>
            </a:r>
          </a:p>
          <a:p>
            <a:pPr>
              <a:lnSpc>
                <a:spcPct val="150000"/>
              </a:lnSpc>
              <a:spcBef>
                <a:spcPts val="0"/>
              </a:spcBef>
              <a:buAutoNum type="arabicPeriod"/>
            </a:pPr>
            <a:endParaRPr lang="en-GB" sz="1200" noProof="0" dirty="0">
              <a:effectLst/>
            </a:endParaRPr>
          </a:p>
        </p:txBody>
      </p:sp>
      <p:sp>
        <p:nvSpPr>
          <p:cNvPr id="4" name="Espace réservé du pied de page 3">
            <a:extLst>
              <a:ext uri="{FF2B5EF4-FFF2-40B4-BE49-F238E27FC236}">
                <a16:creationId xmlns:a16="http://schemas.microsoft.com/office/drawing/2014/main" id="{C5DBE96C-5D62-10C6-0FCC-113E66018989}"/>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4217053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A012E-108F-971A-4E61-738219D06FA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407F6E4-6464-14A1-FB5A-6BB7604DC98B}"/>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499386F1-58BD-9FC5-0C78-46785F43F448}"/>
              </a:ext>
            </a:extLst>
          </p:cNvPr>
          <p:cNvSpPr>
            <a:spLocks noGrp="1"/>
          </p:cNvSpPr>
          <p:nvPr>
            <p:ph idx="1"/>
          </p:nvPr>
        </p:nvSpPr>
        <p:spPr>
          <a:xfrm>
            <a:off x="838200" y="1541645"/>
            <a:ext cx="11120438" cy="4814705"/>
          </a:xfrm>
        </p:spPr>
        <p:txBody>
          <a:bodyPr lIns="90000">
            <a:noAutofit/>
          </a:bodyPr>
          <a:lstStyle/>
          <a:p>
            <a:pPr marL="0" indent="0">
              <a:buNone/>
            </a:pPr>
            <a:r>
              <a:rPr lang="en-GB" sz="2000" b="1" noProof="0" dirty="0">
                <a:effectLst/>
              </a:rPr>
              <a:t>Word2vec</a:t>
            </a:r>
          </a:p>
          <a:p>
            <a:pPr marL="0" indent="0">
              <a:buNone/>
            </a:pPr>
            <a:r>
              <a:rPr lang="en-GB" sz="1200" b="1" noProof="0" dirty="0">
                <a:effectLst/>
              </a:rPr>
              <a:t>CBOW : how to get word embeddings from scratch ?</a:t>
            </a:r>
          </a:p>
          <a:p>
            <a:pPr marL="0" indent="0">
              <a:lnSpc>
                <a:spcPct val="100000"/>
              </a:lnSpc>
              <a:spcBef>
                <a:spcPts val="0"/>
              </a:spcBef>
              <a:buNone/>
            </a:pPr>
            <a:endParaRPr lang="en-GB" sz="1200" noProof="0" dirty="0">
              <a:effectLst/>
            </a:endParaRPr>
          </a:p>
          <a:p>
            <a:pPr>
              <a:lnSpc>
                <a:spcPct val="150000"/>
              </a:lnSpc>
              <a:spcBef>
                <a:spcPts val="0"/>
              </a:spcBef>
              <a:buAutoNum type="arabicPeriod"/>
            </a:pPr>
            <a:r>
              <a:rPr lang="en-GB" sz="1200" noProof="0" dirty="0">
                <a:effectLst/>
              </a:rPr>
              <a:t>Take a fake problem: fill in missing word in a sentence</a:t>
            </a:r>
          </a:p>
          <a:p>
            <a:pPr>
              <a:lnSpc>
                <a:spcPct val="150000"/>
              </a:lnSpc>
              <a:spcBef>
                <a:spcPts val="0"/>
              </a:spcBef>
              <a:buAutoNum type="arabicPeriod"/>
            </a:pPr>
            <a:r>
              <a:rPr lang="en-GB" sz="1200" dirty="0"/>
              <a:t>Solve it using Neural Network</a:t>
            </a:r>
          </a:p>
          <a:p>
            <a:pPr>
              <a:lnSpc>
                <a:spcPct val="150000"/>
              </a:lnSpc>
              <a:spcBef>
                <a:spcPts val="0"/>
              </a:spcBef>
              <a:buAutoNum type="arabicPeriod"/>
            </a:pPr>
            <a:r>
              <a:rPr lang="en-GB" sz="1200" noProof="0" dirty="0">
                <a:effectLst/>
              </a:rPr>
              <a:t>You get word embeddings as a side</a:t>
            </a:r>
            <a:r>
              <a:rPr lang="en-GB" sz="1200" dirty="0"/>
              <a:t> effect</a:t>
            </a:r>
          </a:p>
          <a:p>
            <a:pPr marL="0" indent="0">
              <a:lnSpc>
                <a:spcPct val="150000"/>
              </a:lnSpc>
              <a:spcBef>
                <a:spcPts val="0"/>
              </a:spcBef>
              <a:buNone/>
            </a:pPr>
            <a:endParaRPr lang="en-GB" sz="1200" noProof="0" dirty="0">
              <a:solidFill>
                <a:schemeClr val="bg1">
                  <a:lumMod val="50000"/>
                </a:schemeClr>
              </a:solidFill>
              <a:effectLst/>
            </a:endParaRPr>
          </a:p>
          <a:p>
            <a:pPr marL="0" indent="0">
              <a:lnSpc>
                <a:spcPct val="150000"/>
              </a:lnSpc>
              <a:spcBef>
                <a:spcPts val="0"/>
              </a:spcBef>
              <a:buNone/>
            </a:pPr>
            <a:r>
              <a:rPr lang="en-GB" sz="1200" noProof="0" dirty="0">
                <a:effectLst/>
              </a:rPr>
              <a:t>The document:</a:t>
            </a:r>
            <a:endParaRPr lang="en-GB" sz="1200" dirty="0"/>
          </a:p>
          <a:p>
            <a:pPr marL="0" indent="0">
              <a:lnSpc>
                <a:spcPct val="150000"/>
              </a:lnSpc>
              <a:spcBef>
                <a:spcPts val="0"/>
              </a:spcBef>
              <a:buNone/>
            </a:pPr>
            <a:endParaRPr lang="en-GB" sz="1200" dirty="0">
              <a:solidFill>
                <a:schemeClr val="bg1">
                  <a:lumMod val="50000"/>
                </a:schemeClr>
              </a:solidFill>
            </a:endParaRPr>
          </a:p>
          <a:p>
            <a:pPr marL="0" indent="0">
              <a:lnSpc>
                <a:spcPct val="150000"/>
              </a:lnSpc>
              <a:buNone/>
            </a:pPr>
            <a:r>
              <a:rPr lang="en-GB" sz="1200" b="0" noProof="0" dirty="0">
                <a:solidFill>
                  <a:srgbClr val="C44445"/>
                </a:solidFill>
                <a:effectLst/>
                <a:latin typeface="Menlo" panose="020B0609030804020204" pitchFamily="49" charset="0"/>
              </a:rPr>
              <a:t>There lived a king called Ashoka in India. After Kalinga war, </a:t>
            </a:r>
          </a:p>
          <a:p>
            <a:pPr marL="0" indent="0">
              <a:lnSpc>
                <a:spcPct val="150000"/>
              </a:lnSpc>
              <a:buNone/>
            </a:pPr>
            <a:r>
              <a:rPr lang="en-GB" sz="1200" b="0" noProof="0" dirty="0">
                <a:solidFill>
                  <a:srgbClr val="C44445"/>
                </a:solidFill>
                <a:effectLst/>
                <a:latin typeface="Menlo" panose="020B0609030804020204" pitchFamily="49" charset="0"/>
              </a:rPr>
              <a:t>he converted to Buddhist. This mighty king ordered this </a:t>
            </a:r>
          </a:p>
          <a:p>
            <a:pPr marL="0" indent="0">
              <a:lnSpc>
                <a:spcPct val="150000"/>
              </a:lnSpc>
              <a:buNone/>
            </a:pPr>
            <a:r>
              <a:rPr lang="en-GB" sz="1200" b="0" noProof="0" dirty="0">
                <a:solidFill>
                  <a:srgbClr val="C44445"/>
                </a:solidFill>
                <a:effectLst/>
                <a:latin typeface="Menlo" panose="020B0609030804020204" pitchFamily="49" charset="0"/>
              </a:rPr>
              <a:t>ministers to put together a peaceful treaty with there</a:t>
            </a:r>
            <a:r>
              <a:rPr lang="en-GB" sz="1200" dirty="0">
                <a:solidFill>
                  <a:srgbClr val="C44445"/>
                </a:solidFill>
                <a:latin typeface="Menlo" panose="020B0609030804020204" pitchFamily="49" charset="0"/>
              </a:rPr>
              <a:t> </a:t>
            </a:r>
          </a:p>
          <a:p>
            <a:pPr marL="0" indent="0">
              <a:lnSpc>
                <a:spcPct val="150000"/>
              </a:lnSpc>
              <a:buNone/>
            </a:pPr>
            <a:r>
              <a:rPr lang="en-GB" sz="1200" b="0" noProof="0" dirty="0">
                <a:solidFill>
                  <a:srgbClr val="C44445"/>
                </a:solidFill>
                <a:effectLst/>
                <a:latin typeface="Menlo" panose="020B0609030804020204" pitchFamily="49" charset="0"/>
              </a:rPr>
              <a:t>neighbouring kingdoms. The emperor ordered his ministers to </a:t>
            </a:r>
          </a:p>
          <a:p>
            <a:pPr marL="0" indent="0">
              <a:lnSpc>
                <a:spcPct val="150000"/>
              </a:lnSpc>
              <a:buNone/>
            </a:pPr>
            <a:r>
              <a:rPr lang="en-GB" sz="1200" b="0" noProof="0" dirty="0">
                <a:solidFill>
                  <a:srgbClr val="C44445"/>
                </a:solidFill>
                <a:effectLst/>
                <a:latin typeface="Menlo" panose="020B0609030804020204" pitchFamily="49" charset="0"/>
              </a:rPr>
              <a:t>also build stupa, a monument with Buddhas teachings.'</a:t>
            </a:r>
            <a:endParaRPr lang="en-GB" sz="1200" b="0" noProof="0" dirty="0">
              <a:solidFill>
                <a:srgbClr val="DBD9D9"/>
              </a:solidFill>
              <a:effectLst/>
              <a:latin typeface="Menlo" panose="020B0609030804020204" pitchFamily="49" charset="0"/>
            </a:endParaRPr>
          </a:p>
          <a:p>
            <a:pPr marL="0" indent="0">
              <a:lnSpc>
                <a:spcPct val="150000"/>
              </a:lnSpc>
              <a:spcBef>
                <a:spcPts val="0"/>
              </a:spcBef>
              <a:buNone/>
            </a:pPr>
            <a:endParaRPr lang="en-GB" sz="1200" dirty="0">
              <a:solidFill>
                <a:schemeClr val="bg1">
                  <a:lumMod val="50000"/>
                </a:schemeClr>
              </a:solidFill>
            </a:endParaRPr>
          </a:p>
          <a:p>
            <a:pPr marL="0" indent="0">
              <a:lnSpc>
                <a:spcPct val="150000"/>
              </a:lnSpc>
              <a:spcBef>
                <a:spcPts val="0"/>
              </a:spcBef>
              <a:buNone/>
            </a:pPr>
            <a:endParaRPr lang="en-GB" sz="1200" noProof="0" dirty="0">
              <a:effectLst/>
            </a:endParaRPr>
          </a:p>
          <a:p>
            <a:pPr>
              <a:lnSpc>
                <a:spcPct val="150000"/>
              </a:lnSpc>
              <a:spcBef>
                <a:spcPts val="0"/>
              </a:spcBef>
              <a:buAutoNum type="arabicPeriod"/>
            </a:pPr>
            <a:endParaRPr lang="en-GB" sz="1200" noProof="0" dirty="0">
              <a:effectLst/>
            </a:endParaRPr>
          </a:p>
        </p:txBody>
      </p:sp>
      <p:sp>
        <p:nvSpPr>
          <p:cNvPr id="4" name="Espace réservé du pied de page 3">
            <a:extLst>
              <a:ext uri="{FF2B5EF4-FFF2-40B4-BE49-F238E27FC236}">
                <a16:creationId xmlns:a16="http://schemas.microsoft.com/office/drawing/2014/main" id="{04EE49C6-C236-32A4-61F6-C11FAA60953D}"/>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A6E9F735-CE22-BB2B-1212-D0F5FD74707D}"/>
              </a:ext>
            </a:extLst>
          </p:cNvPr>
          <p:cNvSpPr txBox="1"/>
          <p:nvPr/>
        </p:nvSpPr>
        <p:spPr>
          <a:xfrm>
            <a:off x="978567" y="6390071"/>
            <a:ext cx="2550695" cy="253916"/>
          </a:xfrm>
          <a:prstGeom prst="rect">
            <a:avLst/>
          </a:prstGeom>
          <a:noFill/>
        </p:spPr>
        <p:txBody>
          <a:bodyPr wrap="square" rtlCol="0">
            <a:spAutoFit/>
          </a:bodyPr>
          <a:lstStyle/>
          <a:p>
            <a:pPr algn="ctr"/>
            <a:r>
              <a:rPr lang="en-GB" sz="1050" dirty="0">
                <a:solidFill>
                  <a:schemeClr val="bg1">
                    <a:lumMod val="50000"/>
                  </a:schemeClr>
                </a:solidFill>
              </a:rPr>
              <a:t>Source: Code basic [YouTube channel]</a:t>
            </a:r>
          </a:p>
        </p:txBody>
      </p:sp>
    </p:spTree>
    <p:extLst>
      <p:ext uri="{BB962C8B-B14F-4D97-AF65-F5344CB8AC3E}">
        <p14:creationId xmlns:p14="http://schemas.microsoft.com/office/powerpoint/2010/main" val="4212465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0B070-C3BE-B8E0-5887-589E71E2EB3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D2B9C78-DA04-97CC-F87A-F17198CBD154}"/>
              </a:ext>
            </a:extLst>
          </p:cNvPr>
          <p:cNvSpPr>
            <a:spLocks noGrp="1"/>
          </p:cNvSpPr>
          <p:nvPr>
            <p:ph idx="1"/>
          </p:nvPr>
        </p:nvSpPr>
        <p:spPr>
          <a:xfrm>
            <a:off x="838200" y="1541645"/>
            <a:ext cx="6059905" cy="4814705"/>
          </a:xfrm>
        </p:spPr>
        <p:txBody>
          <a:bodyPr lIns="90000">
            <a:noAutofit/>
          </a:bodyPr>
          <a:lstStyle/>
          <a:p>
            <a:pPr marL="0" indent="0">
              <a:buNone/>
            </a:pPr>
            <a:r>
              <a:rPr lang="en-GB" sz="2000" b="1" noProof="0" dirty="0">
                <a:effectLst/>
              </a:rPr>
              <a:t>Word2vec</a:t>
            </a:r>
          </a:p>
          <a:p>
            <a:pPr marL="0" indent="0">
              <a:buNone/>
            </a:pPr>
            <a:r>
              <a:rPr lang="en-GB" sz="1200" b="1" noProof="0" dirty="0">
                <a:effectLst/>
              </a:rPr>
              <a:t>CBOW : how to get word embeddings from scratch ?</a:t>
            </a:r>
          </a:p>
          <a:p>
            <a:pPr marL="0" indent="0">
              <a:lnSpc>
                <a:spcPct val="100000"/>
              </a:lnSpc>
              <a:spcBef>
                <a:spcPts val="0"/>
              </a:spcBef>
              <a:buNone/>
            </a:pPr>
            <a:endParaRPr lang="en-GB" sz="1200" noProof="0" dirty="0">
              <a:effectLst/>
            </a:endParaRPr>
          </a:p>
          <a:p>
            <a:pPr>
              <a:lnSpc>
                <a:spcPct val="150000"/>
              </a:lnSpc>
              <a:spcBef>
                <a:spcPts val="0"/>
              </a:spcBef>
              <a:buFont typeface="Arial" panose="020B0604020202020204" pitchFamily="34" charset="0"/>
              <a:buAutoNum type="arabicPeriod"/>
            </a:pPr>
            <a:r>
              <a:rPr lang="en-GB" sz="1200" dirty="0"/>
              <a:t>Take a fake problem: fill in missing word in a sentence</a:t>
            </a:r>
          </a:p>
          <a:p>
            <a:pPr>
              <a:lnSpc>
                <a:spcPct val="150000"/>
              </a:lnSpc>
              <a:spcBef>
                <a:spcPts val="0"/>
              </a:spcBef>
              <a:buAutoNum type="arabicPeriod"/>
            </a:pPr>
            <a:r>
              <a:rPr lang="en-GB" sz="1200" dirty="0">
                <a:solidFill>
                  <a:schemeClr val="bg1">
                    <a:lumMod val="50000"/>
                  </a:schemeClr>
                </a:solidFill>
              </a:rPr>
              <a:t>Solve it using Neural Network</a:t>
            </a:r>
          </a:p>
          <a:p>
            <a:pPr>
              <a:lnSpc>
                <a:spcPct val="150000"/>
              </a:lnSpc>
              <a:spcBef>
                <a:spcPts val="0"/>
              </a:spcBef>
              <a:buAutoNum type="arabicPeriod"/>
            </a:pPr>
            <a:r>
              <a:rPr lang="en-GB" sz="1200" noProof="0" dirty="0">
                <a:solidFill>
                  <a:schemeClr val="bg1">
                    <a:lumMod val="50000"/>
                  </a:schemeClr>
                </a:solidFill>
                <a:effectLst/>
              </a:rPr>
              <a:t>You get word embeddings as a side</a:t>
            </a:r>
            <a:r>
              <a:rPr lang="en-GB" sz="1200" dirty="0">
                <a:solidFill>
                  <a:schemeClr val="bg1">
                    <a:lumMod val="50000"/>
                  </a:schemeClr>
                </a:solidFill>
              </a:rPr>
              <a:t> effect</a:t>
            </a:r>
          </a:p>
          <a:p>
            <a:pPr marL="0" indent="0">
              <a:lnSpc>
                <a:spcPct val="150000"/>
              </a:lnSpc>
              <a:spcBef>
                <a:spcPts val="0"/>
              </a:spcBef>
              <a:buNone/>
            </a:pPr>
            <a:endParaRPr lang="en-GB" sz="1200" noProof="0" dirty="0">
              <a:solidFill>
                <a:schemeClr val="bg1">
                  <a:lumMod val="50000"/>
                </a:schemeClr>
              </a:solidFill>
              <a:effectLst/>
            </a:endParaRPr>
          </a:p>
          <a:p>
            <a:pPr marL="0" indent="0">
              <a:lnSpc>
                <a:spcPct val="150000"/>
              </a:lnSpc>
              <a:spcBef>
                <a:spcPts val="0"/>
              </a:spcBef>
              <a:buNone/>
            </a:pPr>
            <a:r>
              <a:rPr lang="en-GB" sz="1200" noProof="0" dirty="0">
                <a:effectLst/>
              </a:rPr>
              <a:t>The fake problem consists in filling </a:t>
            </a:r>
            <a:r>
              <a:rPr lang="en-GB" sz="1200" dirty="0"/>
              <a:t>missing word in a sentence.</a:t>
            </a:r>
          </a:p>
          <a:p>
            <a:pPr marL="0" indent="0">
              <a:lnSpc>
                <a:spcPct val="150000"/>
              </a:lnSpc>
              <a:spcBef>
                <a:spcPts val="0"/>
              </a:spcBef>
              <a:buNone/>
            </a:pPr>
            <a:endParaRPr lang="en-GB" sz="1200" dirty="0">
              <a:solidFill>
                <a:schemeClr val="bg1">
                  <a:lumMod val="50000"/>
                </a:schemeClr>
              </a:solidFill>
            </a:endParaRPr>
          </a:p>
          <a:p>
            <a:pPr marL="0" indent="0">
              <a:lnSpc>
                <a:spcPct val="150000"/>
              </a:lnSpc>
              <a:buNone/>
            </a:pPr>
            <a:r>
              <a:rPr lang="en-GB" sz="1200" b="0" noProof="0" dirty="0">
                <a:solidFill>
                  <a:srgbClr val="C44445"/>
                </a:solidFill>
                <a:effectLst/>
                <a:latin typeface="Menlo" panose="020B0609030804020204" pitchFamily="49" charset="0"/>
              </a:rPr>
              <a:t>There lived a king called Ashoka in India. After Kalinga war, </a:t>
            </a:r>
          </a:p>
          <a:p>
            <a:pPr marL="0" indent="0">
              <a:lnSpc>
                <a:spcPct val="150000"/>
              </a:lnSpc>
              <a:buNone/>
            </a:pPr>
            <a:r>
              <a:rPr lang="en-GB" sz="1200" b="0" noProof="0" dirty="0">
                <a:solidFill>
                  <a:srgbClr val="C44445"/>
                </a:solidFill>
                <a:effectLst/>
                <a:latin typeface="Menlo" panose="020B0609030804020204" pitchFamily="49" charset="0"/>
              </a:rPr>
              <a:t>he converted to Buddhist. This mighty king ordered this </a:t>
            </a:r>
          </a:p>
          <a:p>
            <a:pPr marL="0" indent="0">
              <a:lnSpc>
                <a:spcPct val="150000"/>
              </a:lnSpc>
              <a:buNone/>
            </a:pPr>
            <a:r>
              <a:rPr lang="en-GB" sz="1200" b="0" noProof="0" dirty="0">
                <a:solidFill>
                  <a:srgbClr val="C44445"/>
                </a:solidFill>
                <a:effectLst/>
                <a:latin typeface="Menlo" panose="020B0609030804020204" pitchFamily="49" charset="0"/>
              </a:rPr>
              <a:t>ministers to put together a peaceful treaty with there</a:t>
            </a:r>
            <a:r>
              <a:rPr lang="en-GB" sz="1200" dirty="0">
                <a:solidFill>
                  <a:srgbClr val="C44445"/>
                </a:solidFill>
                <a:latin typeface="Menlo" panose="020B0609030804020204" pitchFamily="49" charset="0"/>
              </a:rPr>
              <a:t> </a:t>
            </a:r>
          </a:p>
          <a:p>
            <a:pPr marL="0" indent="0">
              <a:lnSpc>
                <a:spcPct val="150000"/>
              </a:lnSpc>
              <a:buNone/>
            </a:pPr>
            <a:r>
              <a:rPr lang="en-GB" sz="1200" b="0" noProof="0" dirty="0">
                <a:solidFill>
                  <a:srgbClr val="C44445"/>
                </a:solidFill>
                <a:effectLst/>
                <a:latin typeface="Menlo" panose="020B0609030804020204" pitchFamily="49" charset="0"/>
              </a:rPr>
              <a:t>neighbouring kingdoms. The emperor ordered his ministers to </a:t>
            </a:r>
          </a:p>
          <a:p>
            <a:pPr marL="0" indent="0">
              <a:lnSpc>
                <a:spcPct val="150000"/>
              </a:lnSpc>
              <a:buNone/>
            </a:pPr>
            <a:r>
              <a:rPr lang="en-GB" sz="1200" b="0" noProof="0" dirty="0">
                <a:solidFill>
                  <a:srgbClr val="C44445"/>
                </a:solidFill>
                <a:effectLst/>
                <a:latin typeface="Menlo" panose="020B0609030804020204" pitchFamily="49" charset="0"/>
              </a:rPr>
              <a:t>also build stupa, a monument with Buddhas teachings.'</a:t>
            </a:r>
            <a:endParaRPr lang="en-GB" sz="1200" b="0" noProof="0" dirty="0">
              <a:solidFill>
                <a:srgbClr val="DBD9D9"/>
              </a:solidFill>
              <a:effectLst/>
              <a:latin typeface="Menlo" panose="020B0609030804020204" pitchFamily="49" charset="0"/>
            </a:endParaRPr>
          </a:p>
          <a:p>
            <a:pPr marL="0" indent="0">
              <a:lnSpc>
                <a:spcPct val="150000"/>
              </a:lnSpc>
              <a:spcBef>
                <a:spcPts val="0"/>
              </a:spcBef>
              <a:buNone/>
            </a:pPr>
            <a:endParaRPr lang="en-GB" sz="1200" dirty="0">
              <a:solidFill>
                <a:schemeClr val="bg1">
                  <a:lumMod val="50000"/>
                </a:schemeClr>
              </a:solidFill>
            </a:endParaRPr>
          </a:p>
          <a:p>
            <a:pPr marL="0" indent="0">
              <a:lnSpc>
                <a:spcPct val="150000"/>
              </a:lnSpc>
              <a:spcBef>
                <a:spcPts val="0"/>
              </a:spcBef>
              <a:buNone/>
            </a:pPr>
            <a:endParaRPr lang="en-GB" sz="1200" noProof="0" dirty="0">
              <a:effectLst/>
            </a:endParaRPr>
          </a:p>
          <a:p>
            <a:pPr>
              <a:lnSpc>
                <a:spcPct val="150000"/>
              </a:lnSpc>
              <a:spcBef>
                <a:spcPts val="0"/>
              </a:spcBef>
              <a:buAutoNum type="arabicPeriod"/>
            </a:pPr>
            <a:endParaRPr lang="en-GB" sz="1200" noProof="0" dirty="0">
              <a:effectLst/>
            </a:endParaRPr>
          </a:p>
        </p:txBody>
      </p:sp>
      <p:sp>
        <p:nvSpPr>
          <p:cNvPr id="2" name="Titre 1">
            <a:extLst>
              <a:ext uri="{FF2B5EF4-FFF2-40B4-BE49-F238E27FC236}">
                <a16:creationId xmlns:a16="http://schemas.microsoft.com/office/drawing/2014/main" id="{A5768CCD-68E8-8382-3856-53AD35F585B4}"/>
              </a:ext>
            </a:extLst>
          </p:cNvPr>
          <p:cNvSpPr>
            <a:spLocks noGrp="1"/>
          </p:cNvSpPr>
          <p:nvPr>
            <p:ph type="title"/>
          </p:nvPr>
        </p:nvSpPr>
        <p:spPr/>
        <p:txBody>
          <a:bodyPr/>
          <a:lstStyle/>
          <a:p>
            <a:r>
              <a:rPr lang="en-GB" dirty="0"/>
              <a:t>Word Vectors</a:t>
            </a:r>
          </a:p>
        </p:txBody>
      </p:sp>
      <p:sp>
        <p:nvSpPr>
          <p:cNvPr id="4" name="Espace réservé du pied de page 3">
            <a:extLst>
              <a:ext uri="{FF2B5EF4-FFF2-40B4-BE49-F238E27FC236}">
                <a16:creationId xmlns:a16="http://schemas.microsoft.com/office/drawing/2014/main" id="{7EF0B2A9-910D-670E-640D-46E76CC8A479}"/>
              </a:ext>
            </a:extLst>
          </p:cNvPr>
          <p:cNvSpPr>
            <a:spLocks noGrp="1"/>
          </p:cNvSpPr>
          <p:nvPr>
            <p:ph type="ftr" sz="quarter" idx="11"/>
          </p:nvPr>
        </p:nvSpPr>
        <p:spPr/>
        <p:txBody>
          <a:bodyPr/>
          <a:lstStyle/>
          <a:p>
            <a:r>
              <a:rPr lang="fr-FR"/>
              <a:t>Introduction to Neural Networks. Author: David Thébault</a:t>
            </a:r>
          </a:p>
        </p:txBody>
      </p:sp>
      <p:sp>
        <p:nvSpPr>
          <p:cNvPr id="5" name="ZoneTexte 4">
            <a:extLst>
              <a:ext uri="{FF2B5EF4-FFF2-40B4-BE49-F238E27FC236}">
                <a16:creationId xmlns:a16="http://schemas.microsoft.com/office/drawing/2014/main" id="{B708D2E0-66D1-68F7-C83B-3B3A3BB3A118}"/>
              </a:ext>
            </a:extLst>
          </p:cNvPr>
          <p:cNvSpPr txBox="1"/>
          <p:nvPr/>
        </p:nvSpPr>
        <p:spPr>
          <a:xfrm>
            <a:off x="978567" y="6390071"/>
            <a:ext cx="2550695" cy="253916"/>
          </a:xfrm>
          <a:prstGeom prst="rect">
            <a:avLst/>
          </a:prstGeom>
          <a:noFill/>
        </p:spPr>
        <p:txBody>
          <a:bodyPr wrap="square" rtlCol="0">
            <a:spAutoFit/>
          </a:bodyPr>
          <a:lstStyle/>
          <a:p>
            <a:pPr algn="ctr"/>
            <a:r>
              <a:rPr lang="en-GB" sz="1050" dirty="0">
                <a:solidFill>
                  <a:schemeClr val="bg1">
                    <a:lumMod val="50000"/>
                  </a:schemeClr>
                </a:solidFill>
              </a:rPr>
              <a:t>Source: Code basic [YouTube channel]</a:t>
            </a:r>
          </a:p>
        </p:txBody>
      </p:sp>
      <p:sp>
        <p:nvSpPr>
          <p:cNvPr id="6" name="ZoneTexte 5">
            <a:extLst>
              <a:ext uri="{FF2B5EF4-FFF2-40B4-BE49-F238E27FC236}">
                <a16:creationId xmlns:a16="http://schemas.microsoft.com/office/drawing/2014/main" id="{7C39E49B-9C01-025E-FF3D-2A784C33FD8E}"/>
              </a:ext>
            </a:extLst>
          </p:cNvPr>
          <p:cNvSpPr txBox="1"/>
          <p:nvPr/>
        </p:nvSpPr>
        <p:spPr>
          <a:xfrm>
            <a:off x="7931484" y="3431367"/>
            <a:ext cx="3422316" cy="276999"/>
          </a:xfrm>
          <a:prstGeom prst="rect">
            <a:avLst/>
          </a:prstGeom>
          <a:noFill/>
        </p:spPr>
        <p:txBody>
          <a:bodyPr wrap="square" rtlCol="0">
            <a:spAutoFit/>
          </a:bodyPr>
          <a:lstStyle/>
          <a:p>
            <a:pPr algn="ctr"/>
            <a:r>
              <a:rPr lang="en-GB" sz="1200" dirty="0"/>
              <a:t>Training samples for a window of 3 words:</a:t>
            </a:r>
          </a:p>
        </p:txBody>
      </p:sp>
      <p:graphicFrame>
        <p:nvGraphicFramePr>
          <p:cNvPr id="7" name="Tableau 6">
            <a:extLst>
              <a:ext uri="{FF2B5EF4-FFF2-40B4-BE49-F238E27FC236}">
                <a16:creationId xmlns:a16="http://schemas.microsoft.com/office/drawing/2014/main" id="{88FE1360-341A-E9E6-BE0B-569A477CE262}"/>
              </a:ext>
            </a:extLst>
          </p:cNvPr>
          <p:cNvGraphicFramePr>
            <a:graphicFrameLocks noGrp="1"/>
          </p:cNvGraphicFramePr>
          <p:nvPr>
            <p:extLst>
              <p:ext uri="{D42A27DB-BD31-4B8C-83A1-F6EECF244321}">
                <p14:modId xmlns:p14="http://schemas.microsoft.com/office/powerpoint/2010/main" val="2701877320"/>
              </p:ext>
            </p:extLst>
          </p:nvPr>
        </p:nvGraphicFramePr>
        <p:xfrm>
          <a:off x="7931484" y="3948997"/>
          <a:ext cx="3422316" cy="2194560"/>
        </p:xfrm>
        <a:graphic>
          <a:graphicData uri="http://schemas.openxmlformats.org/drawingml/2006/table">
            <a:tbl>
              <a:tblPr firstRow="1" bandRow="1">
                <a:tableStyleId>{5C22544A-7EE6-4342-B048-85BDC9FD1C3A}</a:tableStyleId>
              </a:tblPr>
              <a:tblGrid>
                <a:gridCol w="1711158">
                  <a:extLst>
                    <a:ext uri="{9D8B030D-6E8A-4147-A177-3AD203B41FA5}">
                      <a16:colId xmlns:a16="http://schemas.microsoft.com/office/drawing/2014/main" val="3907938436"/>
                    </a:ext>
                  </a:extLst>
                </a:gridCol>
                <a:gridCol w="1711158">
                  <a:extLst>
                    <a:ext uri="{9D8B030D-6E8A-4147-A177-3AD203B41FA5}">
                      <a16:colId xmlns:a16="http://schemas.microsoft.com/office/drawing/2014/main" val="2542632115"/>
                    </a:ext>
                  </a:extLst>
                </a:gridCol>
              </a:tblGrid>
              <a:tr h="191238">
                <a:tc>
                  <a:txBody>
                    <a:bodyPr/>
                    <a:lstStyle/>
                    <a:p>
                      <a:pPr algn="ctr"/>
                      <a:r>
                        <a:rPr lang="en-GB" sz="1000" dirty="0"/>
                        <a:t>Features (X)</a:t>
                      </a:r>
                    </a:p>
                  </a:txBody>
                  <a:tcPr anchor="ctr"/>
                </a:tc>
                <a:tc>
                  <a:txBody>
                    <a:bodyPr/>
                    <a:lstStyle/>
                    <a:p>
                      <a:pPr algn="ctr"/>
                      <a:r>
                        <a:rPr lang="en-GB" sz="1000" dirty="0"/>
                        <a:t>Target (y)</a:t>
                      </a:r>
                    </a:p>
                  </a:txBody>
                  <a:tcPr anchor="ctr"/>
                </a:tc>
                <a:extLst>
                  <a:ext uri="{0D108BD9-81ED-4DB2-BD59-A6C34878D82A}">
                    <a16:rowId xmlns:a16="http://schemas.microsoft.com/office/drawing/2014/main" val="376293564"/>
                  </a:ext>
                </a:extLst>
              </a:tr>
              <a:tr h="191238">
                <a:tc>
                  <a:txBody>
                    <a:bodyPr/>
                    <a:lstStyle/>
                    <a:p>
                      <a:r>
                        <a:rPr lang="en-GB" sz="1000" dirty="0"/>
                        <a:t>lived, a</a:t>
                      </a:r>
                    </a:p>
                  </a:txBody>
                  <a:tcPr/>
                </a:tc>
                <a:tc>
                  <a:txBody>
                    <a:bodyPr/>
                    <a:lstStyle/>
                    <a:p>
                      <a:r>
                        <a:rPr lang="en-GB" sz="1000" dirty="0"/>
                        <a:t>There</a:t>
                      </a:r>
                    </a:p>
                  </a:txBody>
                  <a:tcPr/>
                </a:tc>
                <a:extLst>
                  <a:ext uri="{0D108BD9-81ED-4DB2-BD59-A6C34878D82A}">
                    <a16:rowId xmlns:a16="http://schemas.microsoft.com/office/drawing/2014/main" val="4041444091"/>
                  </a:ext>
                </a:extLst>
              </a:tr>
              <a:tr h="191238">
                <a:tc>
                  <a:txBody>
                    <a:bodyPr/>
                    <a:lstStyle/>
                    <a:p>
                      <a:r>
                        <a:rPr lang="en-GB" sz="1000" dirty="0"/>
                        <a:t>a, king</a:t>
                      </a:r>
                    </a:p>
                  </a:txBody>
                  <a:tcPr/>
                </a:tc>
                <a:tc>
                  <a:txBody>
                    <a:bodyPr/>
                    <a:lstStyle/>
                    <a:p>
                      <a:r>
                        <a:rPr lang="en-GB" sz="1000" dirty="0"/>
                        <a:t>lived</a:t>
                      </a:r>
                    </a:p>
                  </a:txBody>
                  <a:tcPr/>
                </a:tc>
                <a:extLst>
                  <a:ext uri="{0D108BD9-81ED-4DB2-BD59-A6C34878D82A}">
                    <a16:rowId xmlns:a16="http://schemas.microsoft.com/office/drawing/2014/main" val="1271855735"/>
                  </a:ext>
                </a:extLst>
              </a:tr>
              <a:tr h="191238">
                <a:tc>
                  <a:txBody>
                    <a:bodyPr/>
                    <a:lstStyle/>
                    <a:p>
                      <a:r>
                        <a:rPr lang="en-GB" sz="1000" dirty="0"/>
                        <a:t>king, called</a:t>
                      </a:r>
                    </a:p>
                  </a:txBody>
                  <a:tcPr/>
                </a:tc>
                <a:tc>
                  <a:txBody>
                    <a:bodyPr/>
                    <a:lstStyle/>
                    <a:p>
                      <a:r>
                        <a:rPr lang="en-GB" sz="1000" dirty="0"/>
                        <a:t>a</a:t>
                      </a:r>
                    </a:p>
                  </a:txBody>
                  <a:tcPr/>
                </a:tc>
                <a:extLst>
                  <a:ext uri="{0D108BD9-81ED-4DB2-BD59-A6C34878D82A}">
                    <a16:rowId xmlns:a16="http://schemas.microsoft.com/office/drawing/2014/main" val="27947297"/>
                  </a:ext>
                </a:extLst>
              </a:tr>
              <a:tr h="191238">
                <a:tc>
                  <a:txBody>
                    <a:bodyPr/>
                    <a:lstStyle/>
                    <a:p>
                      <a:r>
                        <a:rPr lang="en-GB" sz="1000" dirty="0"/>
                        <a:t>called, Ashoka</a:t>
                      </a:r>
                    </a:p>
                  </a:txBody>
                  <a:tcPr/>
                </a:tc>
                <a:tc>
                  <a:txBody>
                    <a:bodyPr/>
                    <a:lstStyle/>
                    <a:p>
                      <a:r>
                        <a:rPr lang="en-GB" sz="1000" dirty="0"/>
                        <a:t>king</a:t>
                      </a:r>
                    </a:p>
                  </a:txBody>
                  <a:tcPr/>
                </a:tc>
                <a:extLst>
                  <a:ext uri="{0D108BD9-81ED-4DB2-BD59-A6C34878D82A}">
                    <a16:rowId xmlns:a16="http://schemas.microsoft.com/office/drawing/2014/main" val="299068152"/>
                  </a:ext>
                </a:extLst>
              </a:tr>
              <a:tr h="191238">
                <a:tc>
                  <a:txBody>
                    <a:bodyPr/>
                    <a:lstStyle/>
                    <a:p>
                      <a:r>
                        <a:rPr lang="en-GB" sz="1000" dirty="0"/>
                        <a:t>…</a:t>
                      </a:r>
                    </a:p>
                  </a:txBody>
                  <a:tcPr/>
                </a:tc>
                <a:tc>
                  <a:txBody>
                    <a:bodyPr/>
                    <a:lstStyle/>
                    <a:p>
                      <a:endParaRPr lang="en-GB" sz="1000" dirty="0"/>
                    </a:p>
                  </a:txBody>
                  <a:tcPr/>
                </a:tc>
                <a:extLst>
                  <a:ext uri="{0D108BD9-81ED-4DB2-BD59-A6C34878D82A}">
                    <a16:rowId xmlns:a16="http://schemas.microsoft.com/office/drawing/2014/main" val="229911723"/>
                  </a:ext>
                </a:extLst>
              </a:tr>
              <a:tr h="191238">
                <a:tc>
                  <a:txBody>
                    <a:bodyPr/>
                    <a:lstStyle/>
                    <a:p>
                      <a:r>
                        <a:rPr lang="en-GB" sz="1000" dirty="0"/>
                        <a:t>ordered, this</a:t>
                      </a:r>
                    </a:p>
                  </a:txBody>
                  <a:tcPr/>
                </a:tc>
                <a:tc>
                  <a:txBody>
                    <a:bodyPr/>
                    <a:lstStyle/>
                    <a:p>
                      <a:r>
                        <a:rPr lang="en-GB" sz="1000" dirty="0"/>
                        <a:t>king</a:t>
                      </a:r>
                    </a:p>
                  </a:txBody>
                  <a:tcPr/>
                </a:tc>
                <a:extLst>
                  <a:ext uri="{0D108BD9-81ED-4DB2-BD59-A6C34878D82A}">
                    <a16:rowId xmlns:a16="http://schemas.microsoft.com/office/drawing/2014/main" val="359780191"/>
                  </a:ext>
                </a:extLst>
              </a:tr>
              <a:tr h="191238">
                <a:tc>
                  <a:txBody>
                    <a:bodyPr/>
                    <a:lstStyle/>
                    <a:p>
                      <a:r>
                        <a:rPr lang="en-GB" sz="1000" dirty="0"/>
                        <a:t>…</a:t>
                      </a:r>
                    </a:p>
                  </a:txBody>
                  <a:tcPr/>
                </a:tc>
                <a:tc>
                  <a:txBody>
                    <a:bodyPr/>
                    <a:lstStyle/>
                    <a:p>
                      <a:endParaRPr lang="en-GB" sz="1000"/>
                    </a:p>
                  </a:txBody>
                  <a:tcPr/>
                </a:tc>
                <a:extLst>
                  <a:ext uri="{0D108BD9-81ED-4DB2-BD59-A6C34878D82A}">
                    <a16:rowId xmlns:a16="http://schemas.microsoft.com/office/drawing/2014/main" val="965849692"/>
                  </a:ext>
                </a:extLst>
              </a:tr>
              <a:tr h="234301">
                <a:tc>
                  <a:txBody>
                    <a:bodyPr/>
                    <a:lstStyle/>
                    <a:p>
                      <a:r>
                        <a:rPr lang="en-GB" sz="1000" dirty="0"/>
                        <a:t>Buddhas, teachings</a:t>
                      </a:r>
                    </a:p>
                  </a:txBody>
                  <a:tcPr/>
                </a:tc>
                <a:tc>
                  <a:txBody>
                    <a:bodyPr/>
                    <a:lstStyle/>
                    <a:p>
                      <a:r>
                        <a:rPr lang="en-GB" sz="1000" dirty="0"/>
                        <a:t>with</a:t>
                      </a:r>
                    </a:p>
                  </a:txBody>
                  <a:tcPr/>
                </a:tc>
                <a:extLst>
                  <a:ext uri="{0D108BD9-81ED-4DB2-BD59-A6C34878D82A}">
                    <a16:rowId xmlns:a16="http://schemas.microsoft.com/office/drawing/2014/main" val="1587053313"/>
                  </a:ext>
                </a:extLst>
              </a:tr>
            </a:tbl>
          </a:graphicData>
        </a:graphic>
      </p:graphicFrame>
      <p:sp>
        <p:nvSpPr>
          <p:cNvPr id="8" name="Rectangle 7">
            <a:extLst>
              <a:ext uri="{FF2B5EF4-FFF2-40B4-BE49-F238E27FC236}">
                <a16:creationId xmlns:a16="http://schemas.microsoft.com/office/drawing/2014/main" id="{F705FF58-1D39-FFE6-3BAD-37B3725522D3}"/>
              </a:ext>
            </a:extLst>
          </p:cNvPr>
          <p:cNvSpPr/>
          <p:nvPr/>
        </p:nvSpPr>
        <p:spPr>
          <a:xfrm>
            <a:off x="838200" y="3948997"/>
            <a:ext cx="1327484" cy="54279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Connecteur en angle 9">
            <a:extLst>
              <a:ext uri="{FF2B5EF4-FFF2-40B4-BE49-F238E27FC236}">
                <a16:creationId xmlns:a16="http://schemas.microsoft.com/office/drawing/2014/main" id="{3F4E6095-E15F-49B9-6E8B-0AA11AD15E19}"/>
              </a:ext>
            </a:extLst>
          </p:cNvPr>
          <p:cNvCxnSpPr>
            <a:stCxn id="8" idx="0"/>
          </p:cNvCxnSpPr>
          <p:nvPr/>
        </p:nvCxnSpPr>
        <p:spPr>
          <a:xfrm rot="16200000" flipH="1">
            <a:off x="4517506" y="933433"/>
            <a:ext cx="398414" cy="6429542"/>
          </a:xfrm>
          <a:prstGeom prst="bentConnector4">
            <a:avLst>
              <a:gd name="adj1" fmla="val -57378"/>
              <a:gd name="adj2" fmla="val 82358"/>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ZoneTexte 11">
            <a:extLst>
              <a:ext uri="{FF2B5EF4-FFF2-40B4-BE49-F238E27FC236}">
                <a16:creationId xmlns:a16="http://schemas.microsoft.com/office/drawing/2014/main" id="{8A49DBA5-C078-AD4D-978E-4BC9A23AA0FB}"/>
              </a:ext>
            </a:extLst>
          </p:cNvPr>
          <p:cNvSpPr txBox="1"/>
          <p:nvPr/>
        </p:nvSpPr>
        <p:spPr>
          <a:xfrm>
            <a:off x="8153400" y="3176326"/>
            <a:ext cx="3422316" cy="276999"/>
          </a:xfrm>
          <a:prstGeom prst="rect">
            <a:avLst/>
          </a:prstGeom>
          <a:noFill/>
        </p:spPr>
        <p:txBody>
          <a:bodyPr wrap="square" rtlCol="0">
            <a:spAutoFit/>
          </a:bodyPr>
          <a:lstStyle/>
          <a:p>
            <a:r>
              <a:rPr lang="en-GB" sz="1200" b="1" dirty="0">
                <a:solidFill>
                  <a:srgbClr val="C00000"/>
                </a:solidFill>
              </a:rPr>
              <a:t>Self supervised learning</a:t>
            </a:r>
          </a:p>
        </p:txBody>
      </p:sp>
      <p:sp>
        <p:nvSpPr>
          <p:cNvPr id="9" name="Rectangle 8">
            <a:extLst>
              <a:ext uri="{FF2B5EF4-FFF2-40B4-BE49-F238E27FC236}">
                <a16:creationId xmlns:a16="http://schemas.microsoft.com/office/drawing/2014/main" id="{2D2C7131-3EEF-48BC-0993-7C3382BF57EC}"/>
              </a:ext>
            </a:extLst>
          </p:cNvPr>
          <p:cNvSpPr/>
          <p:nvPr/>
        </p:nvSpPr>
        <p:spPr>
          <a:xfrm>
            <a:off x="4359442" y="4381565"/>
            <a:ext cx="1736558" cy="54279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Connecteur en angle 10">
            <a:extLst>
              <a:ext uri="{FF2B5EF4-FFF2-40B4-BE49-F238E27FC236}">
                <a16:creationId xmlns:a16="http://schemas.microsoft.com/office/drawing/2014/main" id="{BC367350-FA52-60D3-36C1-595D770752D6}"/>
              </a:ext>
            </a:extLst>
          </p:cNvPr>
          <p:cNvCxnSpPr>
            <a:cxnSpLocks/>
            <a:stCxn id="9" idx="3"/>
          </p:cNvCxnSpPr>
          <p:nvPr/>
        </p:nvCxnSpPr>
        <p:spPr>
          <a:xfrm>
            <a:off x="6096000" y="4652961"/>
            <a:ext cx="1835484" cy="87097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3A578D35-2DB2-92BE-A84A-52263C7D0CAE}"/>
              </a:ext>
            </a:extLst>
          </p:cNvPr>
          <p:cNvSpPr txBox="1"/>
          <p:nvPr/>
        </p:nvSpPr>
        <p:spPr>
          <a:xfrm>
            <a:off x="7947525" y="3736566"/>
            <a:ext cx="1677737" cy="276999"/>
          </a:xfrm>
          <a:prstGeom prst="rect">
            <a:avLst/>
          </a:prstGeom>
          <a:noFill/>
          <a:ln>
            <a:solidFill>
              <a:schemeClr val="accent1"/>
            </a:solidFill>
          </a:ln>
        </p:spPr>
        <p:txBody>
          <a:bodyPr wrap="square" rtlCol="0">
            <a:spAutoFit/>
          </a:bodyPr>
          <a:lstStyle/>
          <a:p>
            <a:pPr algn="ctr"/>
            <a:r>
              <a:rPr lang="en-GB" sz="1200" dirty="0"/>
              <a:t>Contextual words</a:t>
            </a:r>
          </a:p>
        </p:txBody>
      </p:sp>
    </p:spTree>
    <p:extLst>
      <p:ext uri="{BB962C8B-B14F-4D97-AF65-F5344CB8AC3E}">
        <p14:creationId xmlns:p14="http://schemas.microsoft.com/office/powerpoint/2010/main" val="1292666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A32DB-66CD-9612-8974-44F31DD87D0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D5A5F1D-DF32-9168-2B58-ABFD2EC9CE93}"/>
              </a:ext>
            </a:extLst>
          </p:cNvPr>
          <p:cNvSpPr>
            <a:spLocks noGrp="1"/>
          </p:cNvSpPr>
          <p:nvPr>
            <p:ph idx="1"/>
          </p:nvPr>
        </p:nvSpPr>
        <p:spPr>
          <a:xfrm>
            <a:off x="838200" y="1541645"/>
            <a:ext cx="6059905" cy="1887355"/>
          </a:xfrm>
        </p:spPr>
        <p:txBody>
          <a:bodyPr lIns="90000">
            <a:noAutofit/>
          </a:bodyPr>
          <a:lstStyle/>
          <a:p>
            <a:pPr marL="0" indent="0">
              <a:buNone/>
            </a:pPr>
            <a:r>
              <a:rPr lang="en-GB" sz="2000" b="1" noProof="0" dirty="0">
                <a:effectLst/>
              </a:rPr>
              <a:t>Word2vec</a:t>
            </a:r>
          </a:p>
          <a:p>
            <a:pPr marL="0" indent="0">
              <a:buNone/>
            </a:pPr>
            <a:r>
              <a:rPr lang="en-GB" sz="1200" b="1" noProof="0" dirty="0">
                <a:effectLst/>
              </a:rPr>
              <a:t>CBOW : how to get word embeddings from scratch ?</a:t>
            </a:r>
          </a:p>
          <a:p>
            <a:pPr marL="0" indent="0">
              <a:lnSpc>
                <a:spcPct val="100000"/>
              </a:lnSpc>
              <a:spcBef>
                <a:spcPts val="0"/>
              </a:spcBef>
              <a:buNone/>
            </a:pPr>
            <a:endParaRPr lang="en-GB" sz="1200" noProof="0" dirty="0">
              <a:effectLst/>
            </a:endParaRPr>
          </a:p>
          <a:p>
            <a:pPr>
              <a:lnSpc>
                <a:spcPct val="150000"/>
              </a:lnSpc>
              <a:spcBef>
                <a:spcPts val="0"/>
              </a:spcBef>
              <a:buAutoNum type="arabicPeriod"/>
            </a:pPr>
            <a:r>
              <a:rPr lang="en-GB" sz="1200" dirty="0"/>
              <a:t>Take a fake problem: fill in missing word in a sentence</a:t>
            </a:r>
          </a:p>
          <a:p>
            <a:pPr>
              <a:lnSpc>
                <a:spcPct val="150000"/>
              </a:lnSpc>
              <a:spcBef>
                <a:spcPts val="0"/>
              </a:spcBef>
              <a:buAutoNum type="arabicPeriod"/>
            </a:pPr>
            <a:r>
              <a:rPr lang="en-GB" sz="1200" dirty="0">
                <a:solidFill>
                  <a:schemeClr val="bg1">
                    <a:lumMod val="50000"/>
                  </a:schemeClr>
                </a:solidFill>
              </a:rPr>
              <a:t>Solve it using Neural Network</a:t>
            </a:r>
          </a:p>
          <a:p>
            <a:pPr>
              <a:lnSpc>
                <a:spcPct val="150000"/>
              </a:lnSpc>
              <a:spcBef>
                <a:spcPts val="0"/>
              </a:spcBef>
              <a:buAutoNum type="arabicPeriod"/>
            </a:pPr>
            <a:r>
              <a:rPr lang="en-GB" sz="1200" dirty="0">
                <a:solidFill>
                  <a:schemeClr val="bg1">
                    <a:lumMod val="50000"/>
                  </a:schemeClr>
                </a:solidFill>
              </a:rPr>
              <a:t>You get word embeddings as a side effect</a:t>
            </a:r>
          </a:p>
          <a:p>
            <a:pPr marL="0" indent="0">
              <a:lnSpc>
                <a:spcPct val="150000"/>
              </a:lnSpc>
              <a:spcBef>
                <a:spcPts val="0"/>
              </a:spcBef>
              <a:buNone/>
            </a:pPr>
            <a:endParaRPr lang="en-GB" sz="1200" noProof="0" dirty="0">
              <a:effectLst/>
            </a:endParaRPr>
          </a:p>
          <a:p>
            <a:pPr>
              <a:lnSpc>
                <a:spcPct val="150000"/>
              </a:lnSpc>
              <a:spcBef>
                <a:spcPts val="0"/>
              </a:spcBef>
              <a:buAutoNum type="arabicPeriod"/>
            </a:pPr>
            <a:endParaRPr lang="en-GB" sz="1200" noProof="0" dirty="0">
              <a:effectLst/>
            </a:endParaRPr>
          </a:p>
        </p:txBody>
      </p:sp>
      <p:sp>
        <p:nvSpPr>
          <p:cNvPr id="2" name="Titre 1">
            <a:extLst>
              <a:ext uri="{FF2B5EF4-FFF2-40B4-BE49-F238E27FC236}">
                <a16:creationId xmlns:a16="http://schemas.microsoft.com/office/drawing/2014/main" id="{8584B556-B119-A272-ABF4-DD63D34409A0}"/>
              </a:ext>
            </a:extLst>
          </p:cNvPr>
          <p:cNvSpPr>
            <a:spLocks noGrp="1"/>
          </p:cNvSpPr>
          <p:nvPr>
            <p:ph type="title"/>
          </p:nvPr>
        </p:nvSpPr>
        <p:spPr/>
        <p:txBody>
          <a:bodyPr/>
          <a:lstStyle/>
          <a:p>
            <a:r>
              <a:rPr lang="en-GB" dirty="0"/>
              <a:t>Word Vectors</a:t>
            </a:r>
          </a:p>
        </p:txBody>
      </p:sp>
      <p:sp>
        <p:nvSpPr>
          <p:cNvPr id="4" name="Espace réservé du pied de page 3">
            <a:extLst>
              <a:ext uri="{FF2B5EF4-FFF2-40B4-BE49-F238E27FC236}">
                <a16:creationId xmlns:a16="http://schemas.microsoft.com/office/drawing/2014/main" id="{25126433-142A-9700-7EEB-3532DD185859}"/>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D3F81153-4453-C0AD-4388-814463CAEF3E}"/>
              </a:ext>
            </a:extLst>
          </p:cNvPr>
          <p:cNvSpPr txBox="1"/>
          <p:nvPr/>
        </p:nvSpPr>
        <p:spPr>
          <a:xfrm>
            <a:off x="1175084" y="3403962"/>
            <a:ext cx="3422316" cy="276999"/>
          </a:xfrm>
          <a:prstGeom prst="rect">
            <a:avLst/>
          </a:prstGeom>
          <a:noFill/>
        </p:spPr>
        <p:txBody>
          <a:bodyPr wrap="square" rtlCol="0">
            <a:spAutoFit/>
          </a:bodyPr>
          <a:lstStyle/>
          <a:p>
            <a:pPr algn="ctr"/>
            <a:r>
              <a:rPr lang="en-GB" sz="1200" dirty="0"/>
              <a:t>Training samples for a window of 3 words:</a:t>
            </a:r>
          </a:p>
        </p:txBody>
      </p:sp>
      <p:graphicFrame>
        <p:nvGraphicFramePr>
          <p:cNvPr id="7" name="Tableau 6">
            <a:extLst>
              <a:ext uri="{FF2B5EF4-FFF2-40B4-BE49-F238E27FC236}">
                <a16:creationId xmlns:a16="http://schemas.microsoft.com/office/drawing/2014/main" id="{29F5223C-7996-B84C-0DA4-F4740427C3D3}"/>
              </a:ext>
            </a:extLst>
          </p:cNvPr>
          <p:cNvGraphicFramePr>
            <a:graphicFrameLocks noGrp="1"/>
          </p:cNvGraphicFramePr>
          <p:nvPr/>
        </p:nvGraphicFramePr>
        <p:xfrm>
          <a:off x="1175084" y="3921592"/>
          <a:ext cx="3422316" cy="2194560"/>
        </p:xfrm>
        <a:graphic>
          <a:graphicData uri="http://schemas.openxmlformats.org/drawingml/2006/table">
            <a:tbl>
              <a:tblPr firstRow="1" bandRow="1">
                <a:tableStyleId>{5C22544A-7EE6-4342-B048-85BDC9FD1C3A}</a:tableStyleId>
              </a:tblPr>
              <a:tblGrid>
                <a:gridCol w="1711158">
                  <a:extLst>
                    <a:ext uri="{9D8B030D-6E8A-4147-A177-3AD203B41FA5}">
                      <a16:colId xmlns:a16="http://schemas.microsoft.com/office/drawing/2014/main" val="3907938436"/>
                    </a:ext>
                  </a:extLst>
                </a:gridCol>
                <a:gridCol w="1711158">
                  <a:extLst>
                    <a:ext uri="{9D8B030D-6E8A-4147-A177-3AD203B41FA5}">
                      <a16:colId xmlns:a16="http://schemas.microsoft.com/office/drawing/2014/main" val="2542632115"/>
                    </a:ext>
                  </a:extLst>
                </a:gridCol>
              </a:tblGrid>
              <a:tr h="191238">
                <a:tc>
                  <a:txBody>
                    <a:bodyPr/>
                    <a:lstStyle/>
                    <a:p>
                      <a:pPr algn="ctr"/>
                      <a:r>
                        <a:rPr lang="en-GB" sz="1000" dirty="0"/>
                        <a:t>Features (X)</a:t>
                      </a:r>
                    </a:p>
                  </a:txBody>
                  <a:tcPr anchor="ctr"/>
                </a:tc>
                <a:tc>
                  <a:txBody>
                    <a:bodyPr/>
                    <a:lstStyle/>
                    <a:p>
                      <a:pPr algn="ctr"/>
                      <a:r>
                        <a:rPr lang="en-GB" sz="1000" dirty="0"/>
                        <a:t>Target (y)</a:t>
                      </a:r>
                    </a:p>
                  </a:txBody>
                  <a:tcPr anchor="ctr"/>
                </a:tc>
                <a:extLst>
                  <a:ext uri="{0D108BD9-81ED-4DB2-BD59-A6C34878D82A}">
                    <a16:rowId xmlns:a16="http://schemas.microsoft.com/office/drawing/2014/main" val="376293564"/>
                  </a:ext>
                </a:extLst>
              </a:tr>
              <a:tr h="191238">
                <a:tc>
                  <a:txBody>
                    <a:bodyPr/>
                    <a:lstStyle/>
                    <a:p>
                      <a:r>
                        <a:rPr lang="en-GB" sz="1000" dirty="0"/>
                        <a:t>lived, a</a:t>
                      </a:r>
                    </a:p>
                  </a:txBody>
                  <a:tcPr/>
                </a:tc>
                <a:tc>
                  <a:txBody>
                    <a:bodyPr/>
                    <a:lstStyle/>
                    <a:p>
                      <a:r>
                        <a:rPr lang="en-GB" sz="1000" dirty="0"/>
                        <a:t>There</a:t>
                      </a:r>
                    </a:p>
                  </a:txBody>
                  <a:tcPr/>
                </a:tc>
                <a:extLst>
                  <a:ext uri="{0D108BD9-81ED-4DB2-BD59-A6C34878D82A}">
                    <a16:rowId xmlns:a16="http://schemas.microsoft.com/office/drawing/2014/main" val="4041444091"/>
                  </a:ext>
                </a:extLst>
              </a:tr>
              <a:tr h="191238">
                <a:tc>
                  <a:txBody>
                    <a:bodyPr/>
                    <a:lstStyle/>
                    <a:p>
                      <a:r>
                        <a:rPr lang="en-GB" sz="1000" dirty="0"/>
                        <a:t>a, king</a:t>
                      </a:r>
                    </a:p>
                  </a:txBody>
                  <a:tcPr/>
                </a:tc>
                <a:tc>
                  <a:txBody>
                    <a:bodyPr/>
                    <a:lstStyle/>
                    <a:p>
                      <a:r>
                        <a:rPr lang="en-GB" sz="1000" dirty="0"/>
                        <a:t>lived</a:t>
                      </a:r>
                    </a:p>
                  </a:txBody>
                  <a:tcPr/>
                </a:tc>
                <a:extLst>
                  <a:ext uri="{0D108BD9-81ED-4DB2-BD59-A6C34878D82A}">
                    <a16:rowId xmlns:a16="http://schemas.microsoft.com/office/drawing/2014/main" val="1271855735"/>
                  </a:ext>
                </a:extLst>
              </a:tr>
              <a:tr h="191238">
                <a:tc>
                  <a:txBody>
                    <a:bodyPr/>
                    <a:lstStyle/>
                    <a:p>
                      <a:r>
                        <a:rPr lang="en-GB" sz="1000" dirty="0"/>
                        <a:t>king, called</a:t>
                      </a:r>
                    </a:p>
                  </a:txBody>
                  <a:tcPr/>
                </a:tc>
                <a:tc>
                  <a:txBody>
                    <a:bodyPr/>
                    <a:lstStyle/>
                    <a:p>
                      <a:r>
                        <a:rPr lang="en-GB" sz="1000" dirty="0"/>
                        <a:t>a</a:t>
                      </a:r>
                    </a:p>
                  </a:txBody>
                  <a:tcPr/>
                </a:tc>
                <a:extLst>
                  <a:ext uri="{0D108BD9-81ED-4DB2-BD59-A6C34878D82A}">
                    <a16:rowId xmlns:a16="http://schemas.microsoft.com/office/drawing/2014/main" val="27947297"/>
                  </a:ext>
                </a:extLst>
              </a:tr>
              <a:tr h="191238">
                <a:tc>
                  <a:txBody>
                    <a:bodyPr/>
                    <a:lstStyle/>
                    <a:p>
                      <a:r>
                        <a:rPr lang="en-GB" sz="1000" dirty="0"/>
                        <a:t>called, Ashoka</a:t>
                      </a:r>
                    </a:p>
                  </a:txBody>
                  <a:tcPr/>
                </a:tc>
                <a:tc>
                  <a:txBody>
                    <a:bodyPr/>
                    <a:lstStyle/>
                    <a:p>
                      <a:r>
                        <a:rPr lang="en-GB" sz="1000" dirty="0"/>
                        <a:t>king</a:t>
                      </a:r>
                    </a:p>
                  </a:txBody>
                  <a:tcPr/>
                </a:tc>
                <a:extLst>
                  <a:ext uri="{0D108BD9-81ED-4DB2-BD59-A6C34878D82A}">
                    <a16:rowId xmlns:a16="http://schemas.microsoft.com/office/drawing/2014/main" val="299068152"/>
                  </a:ext>
                </a:extLst>
              </a:tr>
              <a:tr h="191238">
                <a:tc>
                  <a:txBody>
                    <a:bodyPr/>
                    <a:lstStyle/>
                    <a:p>
                      <a:r>
                        <a:rPr lang="en-GB" sz="1000" dirty="0"/>
                        <a:t>…</a:t>
                      </a:r>
                    </a:p>
                  </a:txBody>
                  <a:tcPr/>
                </a:tc>
                <a:tc>
                  <a:txBody>
                    <a:bodyPr/>
                    <a:lstStyle/>
                    <a:p>
                      <a:endParaRPr lang="en-GB" sz="1000" dirty="0"/>
                    </a:p>
                  </a:txBody>
                  <a:tcPr/>
                </a:tc>
                <a:extLst>
                  <a:ext uri="{0D108BD9-81ED-4DB2-BD59-A6C34878D82A}">
                    <a16:rowId xmlns:a16="http://schemas.microsoft.com/office/drawing/2014/main" val="229911723"/>
                  </a:ext>
                </a:extLst>
              </a:tr>
              <a:tr h="191238">
                <a:tc>
                  <a:txBody>
                    <a:bodyPr/>
                    <a:lstStyle/>
                    <a:p>
                      <a:r>
                        <a:rPr lang="en-GB" sz="1000" dirty="0"/>
                        <a:t>ordered, this</a:t>
                      </a:r>
                    </a:p>
                  </a:txBody>
                  <a:tcPr/>
                </a:tc>
                <a:tc>
                  <a:txBody>
                    <a:bodyPr/>
                    <a:lstStyle/>
                    <a:p>
                      <a:r>
                        <a:rPr lang="en-GB" sz="1000" dirty="0"/>
                        <a:t>king</a:t>
                      </a:r>
                    </a:p>
                  </a:txBody>
                  <a:tcPr/>
                </a:tc>
                <a:extLst>
                  <a:ext uri="{0D108BD9-81ED-4DB2-BD59-A6C34878D82A}">
                    <a16:rowId xmlns:a16="http://schemas.microsoft.com/office/drawing/2014/main" val="359780191"/>
                  </a:ext>
                </a:extLst>
              </a:tr>
              <a:tr h="191238">
                <a:tc>
                  <a:txBody>
                    <a:bodyPr/>
                    <a:lstStyle/>
                    <a:p>
                      <a:r>
                        <a:rPr lang="en-GB" sz="1000" dirty="0"/>
                        <a:t>…</a:t>
                      </a:r>
                    </a:p>
                  </a:txBody>
                  <a:tcPr/>
                </a:tc>
                <a:tc>
                  <a:txBody>
                    <a:bodyPr/>
                    <a:lstStyle/>
                    <a:p>
                      <a:endParaRPr lang="en-GB" sz="1000"/>
                    </a:p>
                  </a:txBody>
                  <a:tcPr/>
                </a:tc>
                <a:extLst>
                  <a:ext uri="{0D108BD9-81ED-4DB2-BD59-A6C34878D82A}">
                    <a16:rowId xmlns:a16="http://schemas.microsoft.com/office/drawing/2014/main" val="965849692"/>
                  </a:ext>
                </a:extLst>
              </a:tr>
              <a:tr h="234301">
                <a:tc>
                  <a:txBody>
                    <a:bodyPr/>
                    <a:lstStyle/>
                    <a:p>
                      <a:r>
                        <a:rPr lang="en-GB" sz="1000" dirty="0"/>
                        <a:t>Buddhas, teachings</a:t>
                      </a:r>
                    </a:p>
                  </a:txBody>
                  <a:tcPr/>
                </a:tc>
                <a:tc>
                  <a:txBody>
                    <a:bodyPr/>
                    <a:lstStyle/>
                    <a:p>
                      <a:r>
                        <a:rPr lang="en-GB" sz="1000" dirty="0"/>
                        <a:t>with</a:t>
                      </a:r>
                    </a:p>
                  </a:txBody>
                  <a:tcPr/>
                </a:tc>
                <a:extLst>
                  <a:ext uri="{0D108BD9-81ED-4DB2-BD59-A6C34878D82A}">
                    <a16:rowId xmlns:a16="http://schemas.microsoft.com/office/drawing/2014/main" val="1587053313"/>
                  </a:ext>
                </a:extLst>
              </a:tr>
            </a:tbl>
          </a:graphicData>
        </a:graphic>
      </p:graphicFrame>
      <p:sp>
        <p:nvSpPr>
          <p:cNvPr id="12" name="ZoneTexte 11">
            <a:extLst>
              <a:ext uri="{FF2B5EF4-FFF2-40B4-BE49-F238E27FC236}">
                <a16:creationId xmlns:a16="http://schemas.microsoft.com/office/drawing/2014/main" id="{B6A10275-6AA4-CCB7-3010-6BB121A31806}"/>
              </a:ext>
            </a:extLst>
          </p:cNvPr>
          <p:cNvSpPr txBox="1"/>
          <p:nvPr/>
        </p:nvSpPr>
        <p:spPr>
          <a:xfrm>
            <a:off x="1397000" y="3148921"/>
            <a:ext cx="3422316" cy="276999"/>
          </a:xfrm>
          <a:prstGeom prst="rect">
            <a:avLst/>
          </a:prstGeom>
          <a:noFill/>
        </p:spPr>
        <p:txBody>
          <a:bodyPr wrap="square" rtlCol="0">
            <a:spAutoFit/>
          </a:bodyPr>
          <a:lstStyle/>
          <a:p>
            <a:r>
              <a:rPr lang="en-GB" sz="1200" b="1" dirty="0">
                <a:solidFill>
                  <a:srgbClr val="C00000"/>
                </a:solidFill>
              </a:rPr>
              <a:t>Self supervised learning</a:t>
            </a:r>
          </a:p>
        </p:txBody>
      </p:sp>
      <p:sp>
        <p:nvSpPr>
          <p:cNvPr id="16" name="ZoneTexte 15">
            <a:extLst>
              <a:ext uri="{FF2B5EF4-FFF2-40B4-BE49-F238E27FC236}">
                <a16:creationId xmlns:a16="http://schemas.microsoft.com/office/drawing/2014/main" id="{533B796A-DB7D-A94F-49EE-868D1FF37270}"/>
              </a:ext>
            </a:extLst>
          </p:cNvPr>
          <p:cNvSpPr txBox="1"/>
          <p:nvPr/>
        </p:nvSpPr>
        <p:spPr>
          <a:xfrm>
            <a:off x="1191125" y="3709161"/>
            <a:ext cx="1677737" cy="276999"/>
          </a:xfrm>
          <a:prstGeom prst="rect">
            <a:avLst/>
          </a:prstGeom>
          <a:noFill/>
          <a:ln>
            <a:solidFill>
              <a:schemeClr val="accent1"/>
            </a:solidFill>
          </a:ln>
        </p:spPr>
        <p:txBody>
          <a:bodyPr wrap="square" rtlCol="0">
            <a:spAutoFit/>
          </a:bodyPr>
          <a:lstStyle/>
          <a:p>
            <a:pPr algn="ctr"/>
            <a:r>
              <a:rPr lang="en-GB" sz="1200" dirty="0"/>
              <a:t>Contextual words</a:t>
            </a:r>
          </a:p>
        </p:txBody>
      </p:sp>
      <p:sp>
        <p:nvSpPr>
          <p:cNvPr id="13" name="Rectangle 12">
            <a:extLst>
              <a:ext uri="{FF2B5EF4-FFF2-40B4-BE49-F238E27FC236}">
                <a16:creationId xmlns:a16="http://schemas.microsoft.com/office/drawing/2014/main" id="{C953BBA5-F879-C681-7777-E5F9B7AAC753}"/>
              </a:ext>
            </a:extLst>
          </p:cNvPr>
          <p:cNvSpPr/>
          <p:nvPr/>
        </p:nvSpPr>
        <p:spPr>
          <a:xfrm>
            <a:off x="978566" y="5316354"/>
            <a:ext cx="3840749" cy="36563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4" name="Tableau 13">
            <a:extLst>
              <a:ext uri="{FF2B5EF4-FFF2-40B4-BE49-F238E27FC236}">
                <a16:creationId xmlns:a16="http://schemas.microsoft.com/office/drawing/2014/main" id="{D7042BEE-4895-B86D-B62A-AB4E4488901A}"/>
              </a:ext>
            </a:extLst>
          </p:cNvPr>
          <p:cNvGraphicFramePr>
            <a:graphicFrameLocks noGrp="1"/>
          </p:cNvGraphicFramePr>
          <p:nvPr>
            <p:extLst>
              <p:ext uri="{D42A27DB-BD31-4B8C-83A1-F6EECF244321}">
                <p14:modId xmlns:p14="http://schemas.microsoft.com/office/powerpoint/2010/main" val="2577744033"/>
              </p:ext>
            </p:extLst>
          </p:nvPr>
        </p:nvGraphicFramePr>
        <p:xfrm>
          <a:off x="6797843" y="954361"/>
          <a:ext cx="671762" cy="2438400"/>
        </p:xfrm>
        <a:graphic>
          <a:graphicData uri="http://schemas.openxmlformats.org/drawingml/2006/table">
            <a:tbl>
              <a:tblPr firstRow="1" bandRow="1">
                <a:tableStyleId>{5C22544A-7EE6-4342-B048-85BDC9FD1C3A}</a:tableStyleId>
              </a:tblPr>
              <a:tblGrid>
                <a:gridCol w="671762">
                  <a:extLst>
                    <a:ext uri="{9D8B030D-6E8A-4147-A177-3AD203B41FA5}">
                      <a16:colId xmlns:a16="http://schemas.microsoft.com/office/drawing/2014/main" val="3907938436"/>
                    </a:ext>
                  </a:extLst>
                </a:gridCol>
              </a:tblGrid>
              <a:tr h="191238">
                <a:tc>
                  <a:txBody>
                    <a:bodyPr/>
                    <a:lstStyle/>
                    <a:p>
                      <a:pPr algn="ctr"/>
                      <a:r>
                        <a:rPr lang="en-GB" sz="1000" dirty="0"/>
                        <a:t>ordered</a:t>
                      </a:r>
                    </a:p>
                  </a:txBody>
                  <a:tcPr anchor="ctr"/>
                </a:tc>
                <a:extLst>
                  <a:ext uri="{0D108BD9-81ED-4DB2-BD59-A6C34878D82A}">
                    <a16:rowId xmlns:a16="http://schemas.microsoft.com/office/drawing/2014/main" val="376293564"/>
                  </a:ext>
                </a:extLst>
              </a:tr>
              <a:tr h="191238">
                <a:tc>
                  <a:txBody>
                    <a:bodyPr/>
                    <a:lstStyle/>
                    <a:p>
                      <a:pPr algn="ctr"/>
                      <a:r>
                        <a:rPr lang="en-GB" sz="1000" dirty="0"/>
                        <a:t>0</a:t>
                      </a:r>
                    </a:p>
                  </a:txBody>
                  <a:tcPr/>
                </a:tc>
                <a:extLst>
                  <a:ext uri="{0D108BD9-81ED-4DB2-BD59-A6C34878D82A}">
                    <a16:rowId xmlns:a16="http://schemas.microsoft.com/office/drawing/2014/main" val="4041444091"/>
                  </a:ext>
                </a:extLst>
              </a:tr>
              <a:tr h="191238">
                <a:tc>
                  <a:txBody>
                    <a:bodyPr/>
                    <a:lstStyle/>
                    <a:p>
                      <a:pPr algn="ctr"/>
                      <a:r>
                        <a:rPr lang="en-GB" sz="1000" dirty="0"/>
                        <a:t>0</a:t>
                      </a:r>
                    </a:p>
                  </a:txBody>
                  <a:tcPr/>
                </a:tc>
                <a:extLst>
                  <a:ext uri="{0D108BD9-81ED-4DB2-BD59-A6C34878D82A}">
                    <a16:rowId xmlns:a16="http://schemas.microsoft.com/office/drawing/2014/main" val="1271855735"/>
                  </a:ext>
                </a:extLst>
              </a:tr>
              <a:tr h="191238">
                <a:tc>
                  <a:txBody>
                    <a:bodyPr/>
                    <a:lstStyle/>
                    <a:p>
                      <a:pPr algn="ctr"/>
                      <a:r>
                        <a:rPr lang="en-GB" sz="1000" dirty="0"/>
                        <a:t>0</a:t>
                      </a:r>
                    </a:p>
                  </a:txBody>
                  <a:tcPr/>
                </a:tc>
                <a:extLst>
                  <a:ext uri="{0D108BD9-81ED-4DB2-BD59-A6C34878D82A}">
                    <a16:rowId xmlns:a16="http://schemas.microsoft.com/office/drawing/2014/main" val="27947297"/>
                  </a:ext>
                </a:extLst>
              </a:tr>
              <a:tr h="191238">
                <a:tc>
                  <a:txBody>
                    <a:bodyPr/>
                    <a:lstStyle/>
                    <a:p>
                      <a:pPr algn="ctr"/>
                      <a:r>
                        <a:rPr lang="en-GB" sz="1000" dirty="0"/>
                        <a:t>0</a:t>
                      </a:r>
                    </a:p>
                  </a:txBody>
                  <a:tcPr/>
                </a:tc>
                <a:extLst>
                  <a:ext uri="{0D108BD9-81ED-4DB2-BD59-A6C34878D82A}">
                    <a16:rowId xmlns:a16="http://schemas.microsoft.com/office/drawing/2014/main" val="299068152"/>
                  </a:ext>
                </a:extLst>
              </a:tr>
              <a:tr h="191238">
                <a:tc>
                  <a:txBody>
                    <a:bodyPr/>
                    <a:lstStyle/>
                    <a:p>
                      <a:pPr algn="ctr"/>
                      <a:r>
                        <a:rPr lang="en-GB" sz="1000" dirty="0"/>
                        <a:t>…</a:t>
                      </a:r>
                    </a:p>
                  </a:txBody>
                  <a:tcPr/>
                </a:tc>
                <a:extLst>
                  <a:ext uri="{0D108BD9-81ED-4DB2-BD59-A6C34878D82A}">
                    <a16:rowId xmlns:a16="http://schemas.microsoft.com/office/drawing/2014/main" val="229911723"/>
                  </a:ext>
                </a:extLst>
              </a:tr>
              <a:tr h="191238">
                <a:tc>
                  <a:txBody>
                    <a:bodyPr/>
                    <a:lstStyle/>
                    <a:p>
                      <a:pPr algn="ctr"/>
                      <a:r>
                        <a:rPr lang="en-GB" sz="1000" dirty="0"/>
                        <a:t>1</a:t>
                      </a:r>
                    </a:p>
                  </a:txBody>
                  <a:tcPr/>
                </a:tc>
                <a:extLst>
                  <a:ext uri="{0D108BD9-81ED-4DB2-BD59-A6C34878D82A}">
                    <a16:rowId xmlns:a16="http://schemas.microsoft.com/office/drawing/2014/main" val="359780191"/>
                  </a:ext>
                </a:extLst>
              </a:tr>
              <a:tr h="191238">
                <a:tc>
                  <a:txBody>
                    <a:bodyPr/>
                    <a:lstStyle/>
                    <a:p>
                      <a:pPr algn="ctr"/>
                      <a:r>
                        <a:rPr lang="en-GB" sz="1000" dirty="0"/>
                        <a:t>0</a:t>
                      </a:r>
                    </a:p>
                  </a:txBody>
                  <a:tcPr/>
                </a:tc>
                <a:extLst>
                  <a:ext uri="{0D108BD9-81ED-4DB2-BD59-A6C34878D82A}">
                    <a16:rowId xmlns:a16="http://schemas.microsoft.com/office/drawing/2014/main" val="965849692"/>
                  </a:ext>
                </a:extLst>
              </a:tr>
              <a:tr h="234301">
                <a:tc>
                  <a:txBody>
                    <a:bodyPr/>
                    <a:lstStyle/>
                    <a:p>
                      <a:pPr algn="ctr"/>
                      <a:r>
                        <a:rPr lang="en-GB" sz="1000" dirty="0"/>
                        <a:t>…</a:t>
                      </a:r>
                    </a:p>
                  </a:txBody>
                  <a:tcPr/>
                </a:tc>
                <a:extLst>
                  <a:ext uri="{0D108BD9-81ED-4DB2-BD59-A6C34878D82A}">
                    <a16:rowId xmlns:a16="http://schemas.microsoft.com/office/drawing/2014/main" val="1587053313"/>
                  </a:ext>
                </a:extLst>
              </a:tr>
              <a:tr h="234301">
                <a:tc>
                  <a:txBody>
                    <a:bodyPr/>
                    <a:lstStyle/>
                    <a:p>
                      <a:pPr algn="ctr"/>
                      <a:r>
                        <a:rPr lang="en-GB" sz="1000" dirty="0"/>
                        <a:t>0</a:t>
                      </a:r>
                    </a:p>
                  </a:txBody>
                  <a:tcPr/>
                </a:tc>
                <a:extLst>
                  <a:ext uri="{0D108BD9-81ED-4DB2-BD59-A6C34878D82A}">
                    <a16:rowId xmlns:a16="http://schemas.microsoft.com/office/drawing/2014/main" val="3285427480"/>
                  </a:ext>
                </a:extLst>
              </a:tr>
            </a:tbl>
          </a:graphicData>
        </a:graphic>
      </p:graphicFrame>
      <p:graphicFrame>
        <p:nvGraphicFramePr>
          <p:cNvPr id="15" name="Tableau 14">
            <a:extLst>
              <a:ext uri="{FF2B5EF4-FFF2-40B4-BE49-F238E27FC236}">
                <a16:creationId xmlns:a16="http://schemas.microsoft.com/office/drawing/2014/main" id="{48B7EE0F-DBD2-B082-B596-F61C6530DFD5}"/>
              </a:ext>
            </a:extLst>
          </p:cNvPr>
          <p:cNvGraphicFramePr>
            <a:graphicFrameLocks noGrp="1"/>
          </p:cNvGraphicFramePr>
          <p:nvPr>
            <p:extLst>
              <p:ext uri="{D42A27DB-BD31-4B8C-83A1-F6EECF244321}">
                <p14:modId xmlns:p14="http://schemas.microsoft.com/office/powerpoint/2010/main" val="875580161"/>
              </p:ext>
            </p:extLst>
          </p:nvPr>
        </p:nvGraphicFramePr>
        <p:xfrm>
          <a:off x="7839242" y="981349"/>
          <a:ext cx="671762" cy="2445849"/>
        </p:xfrm>
        <a:graphic>
          <a:graphicData uri="http://schemas.openxmlformats.org/drawingml/2006/table">
            <a:tbl>
              <a:tblPr firstRow="1" bandRow="1">
                <a:tableStyleId>{5C22544A-7EE6-4342-B048-85BDC9FD1C3A}</a:tableStyleId>
              </a:tblPr>
              <a:tblGrid>
                <a:gridCol w="671762">
                  <a:extLst>
                    <a:ext uri="{9D8B030D-6E8A-4147-A177-3AD203B41FA5}">
                      <a16:colId xmlns:a16="http://schemas.microsoft.com/office/drawing/2014/main" val="3907938436"/>
                    </a:ext>
                  </a:extLst>
                </a:gridCol>
              </a:tblGrid>
              <a:tr h="191238">
                <a:tc>
                  <a:txBody>
                    <a:bodyPr/>
                    <a:lstStyle/>
                    <a:p>
                      <a:pPr algn="ctr"/>
                      <a:r>
                        <a:rPr lang="en-GB" sz="1000" dirty="0"/>
                        <a:t>this</a:t>
                      </a:r>
                    </a:p>
                  </a:txBody>
                  <a:tcPr anchor="ctr"/>
                </a:tc>
                <a:extLst>
                  <a:ext uri="{0D108BD9-81ED-4DB2-BD59-A6C34878D82A}">
                    <a16:rowId xmlns:a16="http://schemas.microsoft.com/office/drawing/2014/main" val="376293564"/>
                  </a:ext>
                </a:extLst>
              </a:tr>
              <a:tr h="191238">
                <a:tc>
                  <a:txBody>
                    <a:bodyPr/>
                    <a:lstStyle/>
                    <a:p>
                      <a:pPr algn="ctr"/>
                      <a:r>
                        <a:rPr lang="en-GB" sz="1000" dirty="0"/>
                        <a:t>0</a:t>
                      </a:r>
                    </a:p>
                  </a:txBody>
                  <a:tcPr/>
                </a:tc>
                <a:extLst>
                  <a:ext uri="{0D108BD9-81ED-4DB2-BD59-A6C34878D82A}">
                    <a16:rowId xmlns:a16="http://schemas.microsoft.com/office/drawing/2014/main" val="4041444091"/>
                  </a:ext>
                </a:extLst>
              </a:tr>
              <a:tr h="191238">
                <a:tc>
                  <a:txBody>
                    <a:bodyPr/>
                    <a:lstStyle/>
                    <a:p>
                      <a:pPr algn="ctr"/>
                      <a:r>
                        <a:rPr lang="en-GB" sz="1000" dirty="0"/>
                        <a:t>0</a:t>
                      </a:r>
                    </a:p>
                  </a:txBody>
                  <a:tcPr/>
                </a:tc>
                <a:extLst>
                  <a:ext uri="{0D108BD9-81ED-4DB2-BD59-A6C34878D82A}">
                    <a16:rowId xmlns:a16="http://schemas.microsoft.com/office/drawing/2014/main" val="1271855735"/>
                  </a:ext>
                </a:extLst>
              </a:tr>
              <a:tr h="191238">
                <a:tc>
                  <a:txBody>
                    <a:bodyPr/>
                    <a:lstStyle/>
                    <a:p>
                      <a:pPr algn="ctr"/>
                      <a:r>
                        <a:rPr lang="en-GB" sz="1000" dirty="0"/>
                        <a:t>0</a:t>
                      </a:r>
                    </a:p>
                  </a:txBody>
                  <a:tcPr/>
                </a:tc>
                <a:extLst>
                  <a:ext uri="{0D108BD9-81ED-4DB2-BD59-A6C34878D82A}">
                    <a16:rowId xmlns:a16="http://schemas.microsoft.com/office/drawing/2014/main" val="27947297"/>
                  </a:ext>
                </a:extLst>
              </a:tr>
              <a:tr h="251289">
                <a:tc>
                  <a:txBody>
                    <a:bodyPr/>
                    <a:lstStyle/>
                    <a:p>
                      <a:pPr algn="ctr"/>
                      <a:r>
                        <a:rPr lang="en-GB" sz="1000" dirty="0"/>
                        <a:t>0</a:t>
                      </a:r>
                    </a:p>
                  </a:txBody>
                  <a:tcPr/>
                </a:tc>
                <a:extLst>
                  <a:ext uri="{0D108BD9-81ED-4DB2-BD59-A6C34878D82A}">
                    <a16:rowId xmlns:a16="http://schemas.microsoft.com/office/drawing/2014/main" val="299068152"/>
                  </a:ext>
                </a:extLst>
              </a:tr>
              <a:tr h="191238">
                <a:tc>
                  <a:txBody>
                    <a:bodyPr/>
                    <a:lstStyle/>
                    <a:p>
                      <a:pPr algn="ctr"/>
                      <a:r>
                        <a:rPr lang="en-GB" sz="1000" dirty="0"/>
                        <a:t>…</a:t>
                      </a:r>
                    </a:p>
                  </a:txBody>
                  <a:tcPr/>
                </a:tc>
                <a:extLst>
                  <a:ext uri="{0D108BD9-81ED-4DB2-BD59-A6C34878D82A}">
                    <a16:rowId xmlns:a16="http://schemas.microsoft.com/office/drawing/2014/main" val="229911723"/>
                  </a:ext>
                </a:extLst>
              </a:tr>
              <a:tr h="191238">
                <a:tc>
                  <a:txBody>
                    <a:bodyPr/>
                    <a:lstStyle/>
                    <a:p>
                      <a:pPr algn="ctr"/>
                      <a:r>
                        <a:rPr lang="en-GB" sz="1000" dirty="0"/>
                        <a:t>0</a:t>
                      </a:r>
                    </a:p>
                  </a:txBody>
                  <a:tcPr/>
                </a:tc>
                <a:extLst>
                  <a:ext uri="{0D108BD9-81ED-4DB2-BD59-A6C34878D82A}">
                    <a16:rowId xmlns:a16="http://schemas.microsoft.com/office/drawing/2014/main" val="359780191"/>
                  </a:ext>
                </a:extLst>
              </a:tr>
              <a:tr h="191238">
                <a:tc>
                  <a:txBody>
                    <a:bodyPr/>
                    <a:lstStyle/>
                    <a:p>
                      <a:pPr algn="ctr"/>
                      <a:r>
                        <a:rPr lang="en-GB" sz="1000" dirty="0"/>
                        <a:t>1</a:t>
                      </a:r>
                    </a:p>
                  </a:txBody>
                  <a:tcPr/>
                </a:tc>
                <a:extLst>
                  <a:ext uri="{0D108BD9-81ED-4DB2-BD59-A6C34878D82A}">
                    <a16:rowId xmlns:a16="http://schemas.microsoft.com/office/drawing/2014/main" val="965849692"/>
                  </a:ext>
                </a:extLst>
              </a:tr>
              <a:tr h="234301">
                <a:tc>
                  <a:txBody>
                    <a:bodyPr/>
                    <a:lstStyle/>
                    <a:p>
                      <a:pPr algn="ctr"/>
                      <a:r>
                        <a:rPr lang="en-GB" sz="1000" dirty="0"/>
                        <a:t>…</a:t>
                      </a:r>
                    </a:p>
                  </a:txBody>
                  <a:tcPr/>
                </a:tc>
                <a:extLst>
                  <a:ext uri="{0D108BD9-81ED-4DB2-BD59-A6C34878D82A}">
                    <a16:rowId xmlns:a16="http://schemas.microsoft.com/office/drawing/2014/main" val="1587053313"/>
                  </a:ext>
                </a:extLst>
              </a:tr>
              <a:tr h="234301">
                <a:tc>
                  <a:txBody>
                    <a:bodyPr/>
                    <a:lstStyle/>
                    <a:p>
                      <a:pPr algn="ctr"/>
                      <a:r>
                        <a:rPr lang="en-GB" sz="1000" dirty="0"/>
                        <a:t>0</a:t>
                      </a:r>
                    </a:p>
                  </a:txBody>
                  <a:tcPr/>
                </a:tc>
                <a:extLst>
                  <a:ext uri="{0D108BD9-81ED-4DB2-BD59-A6C34878D82A}">
                    <a16:rowId xmlns:a16="http://schemas.microsoft.com/office/drawing/2014/main" val="1173494317"/>
                  </a:ext>
                </a:extLst>
              </a:tr>
            </a:tbl>
          </a:graphicData>
        </a:graphic>
      </p:graphicFrame>
      <p:graphicFrame>
        <p:nvGraphicFramePr>
          <p:cNvPr id="17" name="Tableau 16">
            <a:extLst>
              <a:ext uri="{FF2B5EF4-FFF2-40B4-BE49-F238E27FC236}">
                <a16:creationId xmlns:a16="http://schemas.microsoft.com/office/drawing/2014/main" id="{48CE481E-8F9F-D758-0BBE-7DBE19A09B6A}"/>
              </a:ext>
            </a:extLst>
          </p:cNvPr>
          <p:cNvGraphicFramePr>
            <a:graphicFrameLocks noGrp="1"/>
          </p:cNvGraphicFramePr>
          <p:nvPr>
            <p:extLst>
              <p:ext uri="{D42A27DB-BD31-4B8C-83A1-F6EECF244321}">
                <p14:modId xmlns:p14="http://schemas.microsoft.com/office/powerpoint/2010/main" val="2792329693"/>
              </p:ext>
            </p:extLst>
          </p:nvPr>
        </p:nvGraphicFramePr>
        <p:xfrm>
          <a:off x="9546390" y="1027906"/>
          <a:ext cx="665480" cy="2445849"/>
        </p:xfrm>
        <a:graphic>
          <a:graphicData uri="http://schemas.openxmlformats.org/drawingml/2006/table">
            <a:tbl>
              <a:tblPr firstRow="1" bandRow="1">
                <a:tableStyleId>{5C22544A-7EE6-4342-B048-85BDC9FD1C3A}</a:tableStyleId>
              </a:tblPr>
              <a:tblGrid>
                <a:gridCol w="665480">
                  <a:extLst>
                    <a:ext uri="{9D8B030D-6E8A-4147-A177-3AD203B41FA5}">
                      <a16:colId xmlns:a16="http://schemas.microsoft.com/office/drawing/2014/main" val="3907938436"/>
                    </a:ext>
                  </a:extLst>
                </a:gridCol>
              </a:tblGrid>
              <a:tr h="191238">
                <a:tc>
                  <a:txBody>
                    <a:bodyPr/>
                    <a:lstStyle/>
                    <a:p>
                      <a:pPr algn="ctr"/>
                      <a:r>
                        <a:rPr lang="en-GB" sz="1000" dirty="0"/>
                        <a:t>king</a:t>
                      </a:r>
                    </a:p>
                  </a:txBody>
                  <a:tcPr anchor="ctr"/>
                </a:tc>
                <a:extLst>
                  <a:ext uri="{0D108BD9-81ED-4DB2-BD59-A6C34878D82A}">
                    <a16:rowId xmlns:a16="http://schemas.microsoft.com/office/drawing/2014/main" val="376293564"/>
                  </a:ext>
                </a:extLst>
              </a:tr>
              <a:tr h="191238">
                <a:tc>
                  <a:txBody>
                    <a:bodyPr/>
                    <a:lstStyle/>
                    <a:p>
                      <a:pPr algn="ctr"/>
                      <a:r>
                        <a:rPr lang="en-GB" sz="1000" dirty="0"/>
                        <a:t>0</a:t>
                      </a:r>
                    </a:p>
                  </a:txBody>
                  <a:tcPr/>
                </a:tc>
                <a:extLst>
                  <a:ext uri="{0D108BD9-81ED-4DB2-BD59-A6C34878D82A}">
                    <a16:rowId xmlns:a16="http://schemas.microsoft.com/office/drawing/2014/main" val="4041444091"/>
                  </a:ext>
                </a:extLst>
              </a:tr>
              <a:tr h="191238">
                <a:tc>
                  <a:txBody>
                    <a:bodyPr/>
                    <a:lstStyle/>
                    <a:p>
                      <a:pPr algn="ctr"/>
                      <a:r>
                        <a:rPr lang="en-GB" sz="1000" dirty="0"/>
                        <a:t>0</a:t>
                      </a:r>
                    </a:p>
                  </a:txBody>
                  <a:tcPr/>
                </a:tc>
                <a:extLst>
                  <a:ext uri="{0D108BD9-81ED-4DB2-BD59-A6C34878D82A}">
                    <a16:rowId xmlns:a16="http://schemas.microsoft.com/office/drawing/2014/main" val="1271855735"/>
                  </a:ext>
                </a:extLst>
              </a:tr>
              <a:tr h="191238">
                <a:tc>
                  <a:txBody>
                    <a:bodyPr/>
                    <a:lstStyle/>
                    <a:p>
                      <a:pPr algn="ctr"/>
                      <a:r>
                        <a:rPr lang="en-GB" sz="1000" dirty="0"/>
                        <a:t>0</a:t>
                      </a:r>
                    </a:p>
                  </a:txBody>
                  <a:tcPr/>
                </a:tc>
                <a:extLst>
                  <a:ext uri="{0D108BD9-81ED-4DB2-BD59-A6C34878D82A}">
                    <a16:rowId xmlns:a16="http://schemas.microsoft.com/office/drawing/2014/main" val="27947297"/>
                  </a:ext>
                </a:extLst>
              </a:tr>
              <a:tr h="251289">
                <a:tc>
                  <a:txBody>
                    <a:bodyPr/>
                    <a:lstStyle/>
                    <a:p>
                      <a:pPr algn="ctr"/>
                      <a:r>
                        <a:rPr lang="en-GB" sz="1000" dirty="0"/>
                        <a:t>…</a:t>
                      </a:r>
                    </a:p>
                  </a:txBody>
                  <a:tcPr/>
                </a:tc>
                <a:extLst>
                  <a:ext uri="{0D108BD9-81ED-4DB2-BD59-A6C34878D82A}">
                    <a16:rowId xmlns:a16="http://schemas.microsoft.com/office/drawing/2014/main" val="299068152"/>
                  </a:ext>
                </a:extLst>
              </a:tr>
              <a:tr h="191238">
                <a:tc>
                  <a:txBody>
                    <a:bodyPr/>
                    <a:lstStyle/>
                    <a:p>
                      <a:pPr algn="ctr"/>
                      <a:r>
                        <a:rPr lang="en-GB" sz="1000" dirty="0"/>
                        <a:t>1</a:t>
                      </a:r>
                    </a:p>
                  </a:txBody>
                  <a:tcPr/>
                </a:tc>
                <a:extLst>
                  <a:ext uri="{0D108BD9-81ED-4DB2-BD59-A6C34878D82A}">
                    <a16:rowId xmlns:a16="http://schemas.microsoft.com/office/drawing/2014/main" val="229911723"/>
                  </a:ext>
                </a:extLst>
              </a:tr>
              <a:tr h="191238">
                <a:tc>
                  <a:txBody>
                    <a:bodyPr/>
                    <a:lstStyle/>
                    <a:p>
                      <a:pPr algn="ctr"/>
                      <a:r>
                        <a:rPr lang="en-GB" sz="1000" dirty="0"/>
                        <a:t>0</a:t>
                      </a:r>
                    </a:p>
                  </a:txBody>
                  <a:tcPr/>
                </a:tc>
                <a:extLst>
                  <a:ext uri="{0D108BD9-81ED-4DB2-BD59-A6C34878D82A}">
                    <a16:rowId xmlns:a16="http://schemas.microsoft.com/office/drawing/2014/main" val="359780191"/>
                  </a:ext>
                </a:extLst>
              </a:tr>
              <a:tr h="191238">
                <a:tc>
                  <a:txBody>
                    <a:bodyPr/>
                    <a:lstStyle/>
                    <a:p>
                      <a:pPr algn="ctr"/>
                      <a:r>
                        <a:rPr lang="en-GB" sz="1000" dirty="0"/>
                        <a:t>…</a:t>
                      </a:r>
                    </a:p>
                  </a:txBody>
                  <a:tcPr/>
                </a:tc>
                <a:extLst>
                  <a:ext uri="{0D108BD9-81ED-4DB2-BD59-A6C34878D82A}">
                    <a16:rowId xmlns:a16="http://schemas.microsoft.com/office/drawing/2014/main" val="965849692"/>
                  </a:ext>
                </a:extLst>
              </a:tr>
              <a:tr h="234301">
                <a:tc>
                  <a:txBody>
                    <a:bodyPr/>
                    <a:lstStyle/>
                    <a:p>
                      <a:pPr algn="ctr"/>
                      <a:r>
                        <a:rPr lang="en-GB" sz="1000" dirty="0"/>
                        <a:t>…</a:t>
                      </a:r>
                    </a:p>
                  </a:txBody>
                  <a:tcPr/>
                </a:tc>
                <a:extLst>
                  <a:ext uri="{0D108BD9-81ED-4DB2-BD59-A6C34878D82A}">
                    <a16:rowId xmlns:a16="http://schemas.microsoft.com/office/drawing/2014/main" val="1587053313"/>
                  </a:ext>
                </a:extLst>
              </a:tr>
              <a:tr h="234301">
                <a:tc>
                  <a:txBody>
                    <a:bodyPr/>
                    <a:lstStyle/>
                    <a:p>
                      <a:pPr algn="ctr"/>
                      <a:r>
                        <a:rPr lang="en-GB" sz="1000" dirty="0"/>
                        <a:t>0</a:t>
                      </a:r>
                    </a:p>
                  </a:txBody>
                  <a:tcPr/>
                </a:tc>
                <a:extLst>
                  <a:ext uri="{0D108BD9-81ED-4DB2-BD59-A6C34878D82A}">
                    <a16:rowId xmlns:a16="http://schemas.microsoft.com/office/drawing/2014/main" val="3140473700"/>
                  </a:ext>
                </a:extLst>
              </a:tr>
            </a:tbl>
          </a:graphicData>
        </a:graphic>
      </p:graphicFrame>
      <p:cxnSp>
        <p:nvCxnSpPr>
          <p:cNvPr id="18" name="Connecteur en angle 17">
            <a:extLst>
              <a:ext uri="{FF2B5EF4-FFF2-40B4-BE49-F238E27FC236}">
                <a16:creationId xmlns:a16="http://schemas.microsoft.com/office/drawing/2014/main" id="{7160FB43-6735-1F38-0ED9-BBC76E3AFAB2}"/>
              </a:ext>
            </a:extLst>
          </p:cNvPr>
          <p:cNvCxnSpPr>
            <a:cxnSpLocks/>
            <a:stCxn id="13" idx="3"/>
            <a:endCxn id="22" idx="1"/>
          </p:cNvCxnSpPr>
          <p:nvPr/>
        </p:nvCxnSpPr>
        <p:spPr>
          <a:xfrm flipV="1">
            <a:off x="4819315" y="2171700"/>
            <a:ext cx="1875589" cy="332747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0E1E80F0-DFF2-1F20-D577-26750121A987}"/>
              </a:ext>
            </a:extLst>
          </p:cNvPr>
          <p:cNvSpPr/>
          <p:nvPr/>
        </p:nvSpPr>
        <p:spPr>
          <a:xfrm>
            <a:off x="6694904" y="774700"/>
            <a:ext cx="1941096" cy="27940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DC70DE45-1BE1-CD12-0200-38A1A0BAC32B}"/>
              </a:ext>
            </a:extLst>
          </p:cNvPr>
          <p:cNvSpPr/>
          <p:nvPr/>
        </p:nvSpPr>
        <p:spPr>
          <a:xfrm>
            <a:off x="9332493" y="774700"/>
            <a:ext cx="1081507" cy="27940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ZoneTexte 23">
            <a:extLst>
              <a:ext uri="{FF2B5EF4-FFF2-40B4-BE49-F238E27FC236}">
                <a16:creationId xmlns:a16="http://schemas.microsoft.com/office/drawing/2014/main" id="{DA6C8DD9-452B-3ADD-F939-4130D087996C}"/>
              </a:ext>
            </a:extLst>
          </p:cNvPr>
          <p:cNvSpPr txBox="1"/>
          <p:nvPr/>
        </p:nvSpPr>
        <p:spPr>
          <a:xfrm>
            <a:off x="5397166" y="1540663"/>
            <a:ext cx="1219200" cy="553998"/>
          </a:xfrm>
          <a:prstGeom prst="rect">
            <a:avLst/>
          </a:prstGeom>
          <a:noFill/>
        </p:spPr>
        <p:txBody>
          <a:bodyPr wrap="square" rtlCol="0">
            <a:spAutoFit/>
          </a:bodyPr>
          <a:lstStyle/>
          <a:p>
            <a:pPr algn="ctr"/>
            <a:r>
              <a:rPr lang="en-GB" sz="1000" dirty="0"/>
              <a:t>One-hot encode</a:t>
            </a:r>
          </a:p>
          <a:p>
            <a:pPr algn="ctr"/>
            <a:r>
              <a:rPr lang="en-GB" sz="1000" dirty="0"/>
              <a:t>(Nb rows = size of the vocabulary)</a:t>
            </a:r>
          </a:p>
        </p:txBody>
      </p: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24E02169-4B8F-AF9A-418F-75E574F897F3}"/>
                  </a:ext>
                </a:extLst>
              </p:cNvPr>
              <p:cNvSpPr txBox="1"/>
              <p:nvPr/>
            </p:nvSpPr>
            <p:spPr>
              <a:xfrm>
                <a:off x="7040811" y="357353"/>
                <a:ext cx="1219200"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fr-FR" b="0" i="1" dirty="0" smtClean="0">
                          <a:latin typeface="Cambria Math" panose="02040503050406030204" pitchFamily="18" charset="0"/>
                        </a:rPr>
                        <m:t>𝑋</m:t>
                      </m:r>
                    </m:oMath>
                  </m:oMathPara>
                </a14:m>
                <a:endParaRPr lang="en-GB" dirty="0"/>
              </a:p>
            </p:txBody>
          </p:sp>
        </mc:Choice>
        <mc:Fallback xmlns="">
          <p:sp>
            <p:nvSpPr>
              <p:cNvPr id="25" name="ZoneTexte 24">
                <a:extLst>
                  <a:ext uri="{FF2B5EF4-FFF2-40B4-BE49-F238E27FC236}">
                    <a16:creationId xmlns:a16="http://schemas.microsoft.com/office/drawing/2014/main" id="{24E02169-4B8F-AF9A-418F-75E574F897F3}"/>
                  </a:ext>
                </a:extLst>
              </p:cNvPr>
              <p:cNvSpPr txBox="1">
                <a:spLocks noRot="1" noChangeAspect="1" noMove="1" noResize="1" noEditPoints="1" noAdjustHandles="1" noChangeArrowheads="1" noChangeShapeType="1" noTextEdit="1"/>
              </p:cNvSpPr>
              <p:nvPr/>
            </p:nvSpPr>
            <p:spPr>
              <a:xfrm>
                <a:off x="7040811" y="357353"/>
                <a:ext cx="1219200" cy="36933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CC926AB9-508B-F5E8-ED0B-D859484AC35C}"/>
                  </a:ext>
                </a:extLst>
              </p:cNvPr>
              <p:cNvSpPr txBox="1"/>
              <p:nvPr/>
            </p:nvSpPr>
            <p:spPr>
              <a:xfrm>
                <a:off x="9332492" y="360638"/>
                <a:ext cx="1081508"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𝑦</m:t>
                      </m:r>
                    </m:oMath>
                  </m:oMathPara>
                </a14:m>
                <a:endParaRPr lang="en-GB" dirty="0"/>
              </a:p>
            </p:txBody>
          </p:sp>
        </mc:Choice>
        <mc:Fallback xmlns="">
          <p:sp>
            <p:nvSpPr>
              <p:cNvPr id="26" name="ZoneTexte 25">
                <a:extLst>
                  <a:ext uri="{FF2B5EF4-FFF2-40B4-BE49-F238E27FC236}">
                    <a16:creationId xmlns:a16="http://schemas.microsoft.com/office/drawing/2014/main" id="{CC926AB9-508B-F5E8-ED0B-D859484AC35C}"/>
                  </a:ext>
                </a:extLst>
              </p:cNvPr>
              <p:cNvSpPr txBox="1">
                <a:spLocks noRot="1" noChangeAspect="1" noMove="1" noResize="1" noEditPoints="1" noAdjustHandles="1" noChangeArrowheads="1" noChangeShapeType="1" noTextEdit="1"/>
              </p:cNvSpPr>
              <p:nvPr/>
            </p:nvSpPr>
            <p:spPr>
              <a:xfrm>
                <a:off x="9332492" y="360638"/>
                <a:ext cx="1081508" cy="369332"/>
              </a:xfrm>
              <a:prstGeom prst="rect">
                <a:avLst/>
              </a:prstGeom>
              <a:blipFill>
                <a:blip r:embed="rId3"/>
                <a:stretch>
                  <a:fillRect b="-6667"/>
                </a:stretch>
              </a:blipFill>
            </p:spPr>
            <p:txBody>
              <a:bodyPr/>
              <a:lstStyle/>
              <a:p>
                <a:r>
                  <a:rPr lang="en-GB">
                    <a:noFill/>
                  </a:rPr>
                  <a:t> </a:t>
                </a:r>
              </a:p>
            </p:txBody>
          </p:sp>
        </mc:Fallback>
      </mc:AlternateContent>
      <p:sp>
        <p:nvSpPr>
          <p:cNvPr id="27" name="Flèche vers la droite 26">
            <a:extLst>
              <a:ext uri="{FF2B5EF4-FFF2-40B4-BE49-F238E27FC236}">
                <a16:creationId xmlns:a16="http://schemas.microsoft.com/office/drawing/2014/main" id="{D0E9A146-6D64-2720-3FDF-03CE0A01850A}"/>
              </a:ext>
            </a:extLst>
          </p:cNvPr>
          <p:cNvSpPr/>
          <p:nvPr/>
        </p:nvSpPr>
        <p:spPr>
          <a:xfrm>
            <a:off x="8793077" y="2094661"/>
            <a:ext cx="317500" cy="2870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ZoneTexte 27">
            <a:extLst>
              <a:ext uri="{FF2B5EF4-FFF2-40B4-BE49-F238E27FC236}">
                <a16:creationId xmlns:a16="http://schemas.microsoft.com/office/drawing/2014/main" id="{FF5A5D7C-2EF6-FE7B-F83C-C36270A82336}"/>
              </a:ext>
            </a:extLst>
          </p:cNvPr>
          <p:cNvSpPr txBox="1"/>
          <p:nvPr/>
        </p:nvSpPr>
        <p:spPr>
          <a:xfrm>
            <a:off x="8636000" y="1667684"/>
            <a:ext cx="640348" cy="400110"/>
          </a:xfrm>
          <a:prstGeom prst="rect">
            <a:avLst/>
          </a:prstGeom>
          <a:noFill/>
        </p:spPr>
        <p:txBody>
          <a:bodyPr wrap="square" rtlCol="0">
            <a:spAutoFit/>
          </a:bodyPr>
          <a:lstStyle/>
          <a:p>
            <a:pPr algn="ctr"/>
            <a:r>
              <a:rPr lang="en-GB" sz="1000" dirty="0"/>
              <a:t>The NN model</a:t>
            </a:r>
          </a:p>
        </p:txBody>
      </p:sp>
      <mc:AlternateContent xmlns:mc="http://schemas.openxmlformats.org/markup-compatibility/2006" xmlns:a14="http://schemas.microsoft.com/office/drawing/2010/main">
        <mc:Choice Requires="a14">
          <p:graphicFrame>
            <p:nvGraphicFramePr>
              <p:cNvPr id="31" name="Tableau 30">
                <a:extLst>
                  <a:ext uri="{FF2B5EF4-FFF2-40B4-BE49-F238E27FC236}">
                    <a16:creationId xmlns:a16="http://schemas.microsoft.com/office/drawing/2014/main" id="{5BF8FFB2-7E69-3458-EC23-B9CFDB5FB102}"/>
                  </a:ext>
                </a:extLst>
              </p:cNvPr>
              <p:cNvGraphicFramePr>
                <a:graphicFrameLocks noGrp="1"/>
              </p:cNvGraphicFramePr>
              <p:nvPr>
                <p:extLst>
                  <p:ext uri="{D42A27DB-BD31-4B8C-83A1-F6EECF244321}">
                    <p14:modId xmlns:p14="http://schemas.microsoft.com/office/powerpoint/2010/main" val="3788821003"/>
                  </p:ext>
                </p:extLst>
              </p:nvPr>
            </p:nvGraphicFramePr>
            <p:xfrm>
              <a:off x="6413500" y="3775349"/>
              <a:ext cx="2097501" cy="1470489"/>
            </p:xfrm>
            <a:graphic>
              <a:graphicData uri="http://schemas.openxmlformats.org/drawingml/2006/table">
                <a:tbl>
                  <a:tblPr firstRow="1" bandRow="1">
                    <a:tableStyleId>{21E4AEA4-8DFA-4A89-87EB-49C32662AFE0}</a:tableStyleId>
                  </a:tblPr>
                  <a:tblGrid>
                    <a:gridCol w="699167">
                      <a:extLst>
                        <a:ext uri="{9D8B030D-6E8A-4147-A177-3AD203B41FA5}">
                          <a16:colId xmlns:a16="http://schemas.microsoft.com/office/drawing/2014/main" val="1293196908"/>
                        </a:ext>
                      </a:extLst>
                    </a:gridCol>
                    <a:gridCol w="699167">
                      <a:extLst>
                        <a:ext uri="{9D8B030D-6E8A-4147-A177-3AD203B41FA5}">
                          <a16:colId xmlns:a16="http://schemas.microsoft.com/office/drawing/2014/main" val="2162867288"/>
                        </a:ext>
                      </a:extLst>
                    </a:gridCol>
                    <a:gridCol w="699167">
                      <a:extLst>
                        <a:ext uri="{9D8B030D-6E8A-4147-A177-3AD203B41FA5}">
                          <a16:colId xmlns:a16="http://schemas.microsoft.com/office/drawing/2014/main" val="3907938436"/>
                        </a:ext>
                      </a:extLst>
                    </a:gridCol>
                  </a:tblGrid>
                  <a:tr h="191238">
                    <a:tc gridSpan="3">
                      <a:txBody>
                        <a:bodyPr/>
                        <a:lstStyle/>
                        <a:p>
                          <a:pPr algn="ctr"/>
                          <a14:m>
                            <m:oMathPara xmlns:m="http://schemas.openxmlformats.org/officeDocument/2006/math">
                              <m:oMathParaPr>
                                <m:jc m:val="centerGroup"/>
                              </m:oMathParaPr>
                              <m:oMath xmlns:m="http://schemas.openxmlformats.org/officeDocument/2006/math">
                                <m:r>
                                  <a:rPr lang="fr-FR" sz="1000" b="1" i="1" smtClean="0">
                                    <a:latin typeface="Cambria Math" panose="02040503050406030204" pitchFamily="18" charset="0"/>
                                  </a:rPr>
                                  <m:t>𝒘𝒆𝒊𝒈𝒉𝒕𝒔</m:t>
                                </m:r>
                              </m:oMath>
                            </m:oMathPara>
                          </a14:m>
                          <a:endParaRPr lang="en-GB" sz="1000" dirty="0"/>
                        </a:p>
                      </a:txBody>
                      <a:tcPr anchor="ctr"/>
                    </a:tc>
                    <a:tc hMerge="1">
                      <a:txBody>
                        <a:bodyPr/>
                        <a:lstStyle/>
                        <a:p>
                          <a:pPr algn="ctr"/>
                          <a:endParaRPr lang="en-GB" sz="1000" dirty="0"/>
                        </a:p>
                      </a:txBody>
                      <a:tcPr anchor="ctr"/>
                    </a:tc>
                    <a:tc hMerge="1">
                      <a:txBody>
                        <a:bodyPr/>
                        <a:lstStyle/>
                        <a:p>
                          <a:endParaRPr dirty="0"/>
                        </a:p>
                      </a:txBody>
                      <a:tcPr anchor="ctr"/>
                    </a:tc>
                    <a:extLst>
                      <a:ext uri="{0D108BD9-81ED-4DB2-BD59-A6C34878D82A}">
                        <a16:rowId xmlns:a16="http://schemas.microsoft.com/office/drawing/2014/main" val="376293564"/>
                      </a:ext>
                    </a:extLst>
                  </a:tr>
                  <a:tr h="191238">
                    <a:tc>
                      <a:txBody>
                        <a:bodyPr/>
                        <a:lstStyle/>
                        <a:p>
                          <a:pPr algn="ctr"/>
                          <a:r>
                            <a:rPr lang="en-GB" sz="1000" dirty="0"/>
                            <a:t>0.05698</a:t>
                          </a:r>
                        </a:p>
                      </a:txBody>
                      <a:tcPr/>
                    </a:tc>
                    <a:tc>
                      <a:txBody>
                        <a:bodyPr/>
                        <a:lstStyle/>
                        <a:p>
                          <a:pPr algn="ctr"/>
                          <a:r>
                            <a:rPr lang="en-GB" sz="1000" dirty="0"/>
                            <a:t>…</a:t>
                          </a:r>
                        </a:p>
                      </a:txBody>
                      <a:tcPr/>
                    </a:tc>
                    <a:tc>
                      <a:txBody>
                        <a:bodyPr/>
                        <a:lstStyle/>
                        <a:p>
                          <a:pPr algn="ctr"/>
                          <a:r>
                            <a:rPr lang="en-GB" sz="1000" dirty="0"/>
                            <a:t>0.297</a:t>
                          </a:r>
                        </a:p>
                      </a:txBody>
                      <a:tcPr/>
                    </a:tc>
                    <a:extLst>
                      <a:ext uri="{0D108BD9-81ED-4DB2-BD59-A6C34878D82A}">
                        <a16:rowId xmlns:a16="http://schemas.microsoft.com/office/drawing/2014/main" val="4041444091"/>
                      </a:ext>
                    </a:extLst>
                  </a:tr>
                  <a:tr h="191238">
                    <a:tc>
                      <a:txBody>
                        <a:bodyPr/>
                        <a:lstStyle/>
                        <a:p>
                          <a:pPr algn="ctr"/>
                          <a:r>
                            <a:rPr lang="en-GB" sz="1000" dirty="0"/>
                            <a:t>0.00072</a:t>
                          </a:r>
                        </a:p>
                      </a:txBody>
                      <a:tcPr/>
                    </a:tc>
                    <a:tc>
                      <a:txBody>
                        <a:bodyPr/>
                        <a:lstStyle/>
                        <a:p>
                          <a:pPr algn="ctr"/>
                          <a:r>
                            <a:rPr lang="en-GB" sz="1000" dirty="0"/>
                            <a:t>…</a:t>
                          </a:r>
                        </a:p>
                      </a:txBody>
                      <a:tcPr/>
                    </a:tc>
                    <a:tc>
                      <a:txBody>
                        <a:bodyPr/>
                        <a:lstStyle/>
                        <a:p>
                          <a:pPr algn="ctr"/>
                          <a:r>
                            <a:rPr lang="en-GB" sz="1000" dirty="0"/>
                            <a:t>…</a:t>
                          </a:r>
                        </a:p>
                      </a:txBody>
                      <a:tcPr/>
                    </a:tc>
                    <a:extLst>
                      <a:ext uri="{0D108BD9-81ED-4DB2-BD59-A6C34878D82A}">
                        <a16:rowId xmlns:a16="http://schemas.microsoft.com/office/drawing/2014/main" val="1271855735"/>
                      </a:ext>
                    </a:extLst>
                  </a:tr>
                  <a:tr h="191238">
                    <a:tc>
                      <a:txBody>
                        <a:bodyPr/>
                        <a:lstStyle/>
                        <a:p>
                          <a:pPr algn="ctr"/>
                          <a:r>
                            <a:rPr lang="en-GB" sz="10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dirty="0"/>
                            <a:t>…</a:t>
                          </a:r>
                        </a:p>
                      </a:txBody>
                      <a:tcPr/>
                    </a:tc>
                    <a:tc>
                      <a:txBody>
                        <a:bodyPr/>
                        <a:lstStyle/>
                        <a:p>
                          <a:pPr algn="ctr"/>
                          <a:r>
                            <a:rPr lang="en-GB" sz="1000" dirty="0"/>
                            <a:t>0.0043</a:t>
                          </a:r>
                        </a:p>
                      </a:txBody>
                      <a:tcPr/>
                    </a:tc>
                    <a:extLst>
                      <a:ext uri="{0D108BD9-81ED-4DB2-BD59-A6C34878D82A}">
                        <a16:rowId xmlns:a16="http://schemas.microsoft.com/office/drawing/2014/main" val="27947297"/>
                      </a:ext>
                    </a:extLst>
                  </a:tr>
                  <a:tr h="251289">
                    <a:tc>
                      <a:txBody>
                        <a:bodyPr/>
                        <a:lstStyle/>
                        <a:p>
                          <a:pPr algn="ctr"/>
                          <a:r>
                            <a:rPr lang="en-GB" sz="10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dirty="0"/>
                            <a:t>…</a:t>
                          </a:r>
                        </a:p>
                      </a:txBody>
                      <a:tcPr/>
                    </a:tc>
                    <a:tc>
                      <a:txBody>
                        <a:bodyPr/>
                        <a:lstStyle/>
                        <a:p>
                          <a:pPr algn="ctr"/>
                          <a:r>
                            <a:rPr lang="en-GB" sz="1000" dirty="0"/>
                            <a:t>…</a:t>
                          </a:r>
                        </a:p>
                      </a:txBody>
                      <a:tcPr/>
                    </a:tc>
                    <a:extLst>
                      <a:ext uri="{0D108BD9-81ED-4DB2-BD59-A6C34878D82A}">
                        <a16:rowId xmlns:a16="http://schemas.microsoft.com/office/drawing/2014/main" val="299068152"/>
                      </a:ext>
                    </a:extLst>
                  </a:tr>
                  <a:tr h="191238">
                    <a:tc>
                      <a:txBody>
                        <a:bodyPr/>
                        <a:lstStyle/>
                        <a:p>
                          <a:pPr algn="ctr"/>
                          <a:r>
                            <a:rPr lang="en-GB" sz="1000" dirty="0"/>
                            <a:t>0.65909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dirty="0"/>
                            <a:t>…</a:t>
                          </a:r>
                        </a:p>
                      </a:txBody>
                      <a:tcPr/>
                    </a:tc>
                    <a:tc>
                      <a:txBody>
                        <a:bodyPr/>
                        <a:lstStyle/>
                        <a:p>
                          <a:pPr algn="ctr"/>
                          <a:r>
                            <a:rPr lang="en-GB" sz="1000" dirty="0"/>
                            <a:t>-0.00088</a:t>
                          </a:r>
                        </a:p>
                      </a:txBody>
                      <a:tcPr/>
                    </a:tc>
                    <a:extLst>
                      <a:ext uri="{0D108BD9-81ED-4DB2-BD59-A6C34878D82A}">
                        <a16:rowId xmlns:a16="http://schemas.microsoft.com/office/drawing/2014/main" val="229911723"/>
                      </a:ext>
                    </a:extLst>
                  </a:tr>
                </a:tbl>
              </a:graphicData>
            </a:graphic>
          </p:graphicFrame>
        </mc:Choice>
        <mc:Fallback xmlns="">
          <p:graphicFrame>
            <p:nvGraphicFramePr>
              <p:cNvPr id="31" name="Tableau 30">
                <a:extLst>
                  <a:ext uri="{FF2B5EF4-FFF2-40B4-BE49-F238E27FC236}">
                    <a16:creationId xmlns:a16="http://schemas.microsoft.com/office/drawing/2014/main" id="{5BF8FFB2-7E69-3458-EC23-B9CFDB5FB102}"/>
                  </a:ext>
                </a:extLst>
              </p:cNvPr>
              <p:cNvGraphicFramePr>
                <a:graphicFrameLocks noGrp="1"/>
              </p:cNvGraphicFramePr>
              <p:nvPr>
                <p:extLst>
                  <p:ext uri="{D42A27DB-BD31-4B8C-83A1-F6EECF244321}">
                    <p14:modId xmlns:p14="http://schemas.microsoft.com/office/powerpoint/2010/main" val="3788821003"/>
                  </p:ext>
                </p:extLst>
              </p:nvPr>
            </p:nvGraphicFramePr>
            <p:xfrm>
              <a:off x="6413500" y="3775349"/>
              <a:ext cx="2097501" cy="1470489"/>
            </p:xfrm>
            <a:graphic>
              <a:graphicData uri="http://schemas.openxmlformats.org/drawingml/2006/table">
                <a:tbl>
                  <a:tblPr firstRow="1" bandRow="1">
                    <a:tableStyleId>{21E4AEA4-8DFA-4A89-87EB-49C32662AFE0}</a:tableStyleId>
                  </a:tblPr>
                  <a:tblGrid>
                    <a:gridCol w="699167">
                      <a:extLst>
                        <a:ext uri="{9D8B030D-6E8A-4147-A177-3AD203B41FA5}">
                          <a16:colId xmlns:a16="http://schemas.microsoft.com/office/drawing/2014/main" val="1293196908"/>
                        </a:ext>
                      </a:extLst>
                    </a:gridCol>
                    <a:gridCol w="699167">
                      <a:extLst>
                        <a:ext uri="{9D8B030D-6E8A-4147-A177-3AD203B41FA5}">
                          <a16:colId xmlns:a16="http://schemas.microsoft.com/office/drawing/2014/main" val="2162867288"/>
                        </a:ext>
                      </a:extLst>
                    </a:gridCol>
                    <a:gridCol w="699167">
                      <a:extLst>
                        <a:ext uri="{9D8B030D-6E8A-4147-A177-3AD203B41FA5}">
                          <a16:colId xmlns:a16="http://schemas.microsoft.com/office/drawing/2014/main" val="3907938436"/>
                        </a:ext>
                      </a:extLst>
                    </a:gridCol>
                  </a:tblGrid>
                  <a:tr h="243840">
                    <a:tc gridSpan="3">
                      <a:txBody>
                        <a:bodyPr/>
                        <a:lstStyle/>
                        <a:p>
                          <a:endParaRPr lang="fr-FR"/>
                        </a:p>
                      </a:txBody>
                      <a:tcPr anchor="ctr">
                        <a:blipFill>
                          <a:blip r:embed="rId4"/>
                          <a:stretch>
                            <a:fillRect l="-602" t="-5263" r="-1205" b="-526316"/>
                          </a:stretch>
                        </a:blipFill>
                      </a:tcPr>
                    </a:tc>
                    <a:tc hMerge="1">
                      <a:txBody>
                        <a:bodyPr/>
                        <a:lstStyle/>
                        <a:p>
                          <a:pPr algn="ctr"/>
                          <a:endParaRPr lang="en-GB" sz="1000" dirty="0"/>
                        </a:p>
                      </a:txBody>
                      <a:tcPr anchor="ctr"/>
                    </a:tc>
                    <a:tc hMerge="1">
                      <a:txBody>
                        <a:bodyPr/>
                        <a:lstStyle/>
                        <a:p>
                          <a:endParaRPr dirty="0"/>
                        </a:p>
                      </a:txBody>
                      <a:tcPr anchor="ctr"/>
                    </a:tc>
                    <a:extLst>
                      <a:ext uri="{0D108BD9-81ED-4DB2-BD59-A6C34878D82A}">
                        <a16:rowId xmlns:a16="http://schemas.microsoft.com/office/drawing/2014/main" val="376293564"/>
                      </a:ext>
                    </a:extLst>
                  </a:tr>
                  <a:tr h="243840">
                    <a:tc>
                      <a:txBody>
                        <a:bodyPr/>
                        <a:lstStyle/>
                        <a:p>
                          <a:pPr algn="ctr"/>
                          <a:r>
                            <a:rPr lang="en-GB" sz="1000" dirty="0"/>
                            <a:t>0.05698</a:t>
                          </a:r>
                        </a:p>
                      </a:txBody>
                      <a:tcPr/>
                    </a:tc>
                    <a:tc>
                      <a:txBody>
                        <a:bodyPr/>
                        <a:lstStyle/>
                        <a:p>
                          <a:pPr algn="ctr"/>
                          <a:r>
                            <a:rPr lang="en-GB" sz="1000" dirty="0"/>
                            <a:t>…</a:t>
                          </a:r>
                        </a:p>
                      </a:txBody>
                      <a:tcPr/>
                    </a:tc>
                    <a:tc>
                      <a:txBody>
                        <a:bodyPr/>
                        <a:lstStyle/>
                        <a:p>
                          <a:pPr algn="ctr"/>
                          <a:r>
                            <a:rPr lang="en-GB" sz="1000" dirty="0"/>
                            <a:t>0.297</a:t>
                          </a:r>
                        </a:p>
                      </a:txBody>
                      <a:tcPr/>
                    </a:tc>
                    <a:extLst>
                      <a:ext uri="{0D108BD9-81ED-4DB2-BD59-A6C34878D82A}">
                        <a16:rowId xmlns:a16="http://schemas.microsoft.com/office/drawing/2014/main" val="4041444091"/>
                      </a:ext>
                    </a:extLst>
                  </a:tr>
                  <a:tr h="243840">
                    <a:tc>
                      <a:txBody>
                        <a:bodyPr/>
                        <a:lstStyle/>
                        <a:p>
                          <a:pPr algn="ctr"/>
                          <a:r>
                            <a:rPr lang="en-GB" sz="1000" dirty="0"/>
                            <a:t>0.00072</a:t>
                          </a:r>
                        </a:p>
                      </a:txBody>
                      <a:tcPr/>
                    </a:tc>
                    <a:tc>
                      <a:txBody>
                        <a:bodyPr/>
                        <a:lstStyle/>
                        <a:p>
                          <a:pPr algn="ctr"/>
                          <a:r>
                            <a:rPr lang="en-GB" sz="1000" dirty="0"/>
                            <a:t>…</a:t>
                          </a:r>
                        </a:p>
                      </a:txBody>
                      <a:tcPr/>
                    </a:tc>
                    <a:tc>
                      <a:txBody>
                        <a:bodyPr/>
                        <a:lstStyle/>
                        <a:p>
                          <a:pPr algn="ctr"/>
                          <a:r>
                            <a:rPr lang="en-GB" sz="1000" dirty="0"/>
                            <a:t>…</a:t>
                          </a:r>
                        </a:p>
                      </a:txBody>
                      <a:tcPr/>
                    </a:tc>
                    <a:extLst>
                      <a:ext uri="{0D108BD9-81ED-4DB2-BD59-A6C34878D82A}">
                        <a16:rowId xmlns:a16="http://schemas.microsoft.com/office/drawing/2014/main" val="1271855735"/>
                      </a:ext>
                    </a:extLst>
                  </a:tr>
                  <a:tr h="243840">
                    <a:tc>
                      <a:txBody>
                        <a:bodyPr/>
                        <a:lstStyle/>
                        <a:p>
                          <a:pPr algn="ctr"/>
                          <a:r>
                            <a:rPr lang="en-GB" sz="10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dirty="0"/>
                            <a:t>…</a:t>
                          </a:r>
                        </a:p>
                      </a:txBody>
                      <a:tcPr/>
                    </a:tc>
                    <a:tc>
                      <a:txBody>
                        <a:bodyPr/>
                        <a:lstStyle/>
                        <a:p>
                          <a:pPr algn="ctr"/>
                          <a:r>
                            <a:rPr lang="en-GB" sz="1000" dirty="0"/>
                            <a:t>0.0043</a:t>
                          </a:r>
                        </a:p>
                      </a:txBody>
                      <a:tcPr/>
                    </a:tc>
                    <a:extLst>
                      <a:ext uri="{0D108BD9-81ED-4DB2-BD59-A6C34878D82A}">
                        <a16:rowId xmlns:a16="http://schemas.microsoft.com/office/drawing/2014/main" val="27947297"/>
                      </a:ext>
                    </a:extLst>
                  </a:tr>
                  <a:tr h="251289">
                    <a:tc>
                      <a:txBody>
                        <a:bodyPr/>
                        <a:lstStyle/>
                        <a:p>
                          <a:pPr algn="ctr"/>
                          <a:r>
                            <a:rPr lang="en-GB" sz="10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dirty="0"/>
                            <a:t>…</a:t>
                          </a:r>
                        </a:p>
                      </a:txBody>
                      <a:tcPr/>
                    </a:tc>
                    <a:tc>
                      <a:txBody>
                        <a:bodyPr/>
                        <a:lstStyle/>
                        <a:p>
                          <a:pPr algn="ctr"/>
                          <a:r>
                            <a:rPr lang="en-GB" sz="1000" dirty="0"/>
                            <a:t>…</a:t>
                          </a:r>
                        </a:p>
                      </a:txBody>
                      <a:tcPr/>
                    </a:tc>
                    <a:extLst>
                      <a:ext uri="{0D108BD9-81ED-4DB2-BD59-A6C34878D82A}">
                        <a16:rowId xmlns:a16="http://schemas.microsoft.com/office/drawing/2014/main" val="299068152"/>
                      </a:ext>
                    </a:extLst>
                  </a:tr>
                  <a:tr h="243840">
                    <a:tc>
                      <a:txBody>
                        <a:bodyPr/>
                        <a:lstStyle/>
                        <a:p>
                          <a:pPr algn="ctr"/>
                          <a:r>
                            <a:rPr lang="en-GB" sz="1000" dirty="0"/>
                            <a:t>0.65909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dirty="0"/>
                            <a:t>…</a:t>
                          </a:r>
                        </a:p>
                      </a:txBody>
                      <a:tcPr/>
                    </a:tc>
                    <a:tc>
                      <a:txBody>
                        <a:bodyPr/>
                        <a:lstStyle/>
                        <a:p>
                          <a:pPr algn="ctr"/>
                          <a:r>
                            <a:rPr lang="en-GB" sz="1000" dirty="0"/>
                            <a:t>-0.00088</a:t>
                          </a:r>
                        </a:p>
                      </a:txBody>
                      <a:tcPr/>
                    </a:tc>
                    <a:extLst>
                      <a:ext uri="{0D108BD9-81ED-4DB2-BD59-A6C34878D82A}">
                        <a16:rowId xmlns:a16="http://schemas.microsoft.com/office/drawing/2014/main" val="229911723"/>
                      </a:ext>
                    </a:extLst>
                  </a:tr>
                </a:tbl>
              </a:graphicData>
            </a:graphic>
          </p:graphicFrame>
        </mc:Fallback>
      </mc:AlternateContent>
      <p:cxnSp>
        <p:nvCxnSpPr>
          <p:cNvPr id="32" name="Connecteur en angle 31">
            <a:extLst>
              <a:ext uri="{FF2B5EF4-FFF2-40B4-BE49-F238E27FC236}">
                <a16:creationId xmlns:a16="http://schemas.microsoft.com/office/drawing/2014/main" id="{7118E087-D863-B865-AB10-9E5016543C1D}"/>
              </a:ext>
            </a:extLst>
          </p:cNvPr>
          <p:cNvCxnSpPr>
            <a:cxnSpLocks/>
            <a:endCxn id="41" idx="3"/>
          </p:cNvCxnSpPr>
          <p:nvPr/>
        </p:nvCxnSpPr>
        <p:spPr>
          <a:xfrm rot="5400000">
            <a:off x="7789640" y="3425257"/>
            <a:ext cx="2102161" cy="22228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ZoneTexte 34">
            <a:extLst>
              <a:ext uri="{FF2B5EF4-FFF2-40B4-BE49-F238E27FC236}">
                <a16:creationId xmlns:a16="http://schemas.microsoft.com/office/drawing/2014/main" id="{DA12370A-3620-325E-D71F-44E9B1CBB7BC}"/>
              </a:ext>
            </a:extLst>
          </p:cNvPr>
          <p:cNvSpPr txBox="1"/>
          <p:nvPr/>
        </p:nvSpPr>
        <p:spPr>
          <a:xfrm>
            <a:off x="10820028" y="3119751"/>
            <a:ext cx="1050423" cy="553998"/>
          </a:xfrm>
          <a:prstGeom prst="rect">
            <a:avLst/>
          </a:prstGeom>
          <a:noFill/>
        </p:spPr>
        <p:txBody>
          <a:bodyPr wrap="square" rtlCol="0">
            <a:spAutoFit/>
          </a:bodyPr>
          <a:lstStyle/>
          <a:p>
            <a:pPr algn="ctr"/>
            <a:r>
              <a:rPr lang="en-GB" sz="1000" dirty="0"/>
              <a:t>Embeddings of the word “ordered”</a:t>
            </a:r>
          </a:p>
        </p:txBody>
      </p:sp>
      <mc:AlternateContent xmlns:mc="http://schemas.openxmlformats.org/markup-compatibility/2006" xmlns:a14="http://schemas.microsoft.com/office/drawing/2010/main">
        <mc:Choice Requires="a14">
          <p:sp>
            <p:nvSpPr>
              <p:cNvPr id="39" name="ZoneTexte 38">
                <a:extLst>
                  <a:ext uri="{FF2B5EF4-FFF2-40B4-BE49-F238E27FC236}">
                    <a16:creationId xmlns:a16="http://schemas.microsoft.com/office/drawing/2014/main" id="{F749EB0E-5A33-EAB9-D520-FA5404913EC9}"/>
                  </a:ext>
                </a:extLst>
              </p:cNvPr>
              <p:cNvSpPr txBox="1"/>
              <p:nvPr/>
            </p:nvSpPr>
            <p:spPr>
              <a:xfrm>
                <a:off x="8791907" y="4520688"/>
                <a:ext cx="43267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m:t>
                      </m:r>
                    </m:oMath>
                  </m:oMathPara>
                </a14:m>
                <a:endParaRPr lang="en-GB" dirty="0"/>
              </a:p>
            </p:txBody>
          </p:sp>
        </mc:Choice>
        <mc:Fallback xmlns="">
          <p:sp>
            <p:nvSpPr>
              <p:cNvPr id="39" name="ZoneTexte 38">
                <a:extLst>
                  <a:ext uri="{FF2B5EF4-FFF2-40B4-BE49-F238E27FC236}">
                    <a16:creationId xmlns:a16="http://schemas.microsoft.com/office/drawing/2014/main" id="{F749EB0E-5A33-EAB9-D520-FA5404913EC9}"/>
                  </a:ext>
                </a:extLst>
              </p:cNvPr>
              <p:cNvSpPr txBox="1">
                <a:spLocks noRot="1" noChangeAspect="1" noMove="1" noResize="1" noEditPoints="1" noAdjustHandles="1" noChangeArrowheads="1" noChangeShapeType="1" noTextEdit="1"/>
              </p:cNvSpPr>
              <p:nvPr/>
            </p:nvSpPr>
            <p:spPr>
              <a:xfrm>
                <a:off x="8791907" y="4520688"/>
                <a:ext cx="432679" cy="369332"/>
              </a:xfrm>
              <a:prstGeom prst="rect">
                <a:avLst/>
              </a:prstGeom>
              <a:blipFill>
                <a:blip r:embed="rId5"/>
                <a:stretch>
                  <a:fillRect/>
                </a:stretch>
              </a:blipFill>
            </p:spPr>
            <p:txBody>
              <a:bodyPr/>
              <a:lstStyle/>
              <a:p>
                <a:r>
                  <a:rPr lang="en-GB">
                    <a:noFill/>
                  </a:rPr>
                  <a:t> </a:t>
                </a:r>
              </a:p>
            </p:txBody>
          </p:sp>
        </mc:Fallback>
      </mc:AlternateContent>
      <p:graphicFrame>
        <p:nvGraphicFramePr>
          <p:cNvPr id="40" name="Tableau 39">
            <a:extLst>
              <a:ext uri="{FF2B5EF4-FFF2-40B4-BE49-F238E27FC236}">
                <a16:creationId xmlns:a16="http://schemas.microsoft.com/office/drawing/2014/main" id="{0C8B3871-5460-931E-07B2-B5DE32FFA683}"/>
              </a:ext>
            </a:extLst>
          </p:cNvPr>
          <p:cNvGraphicFramePr>
            <a:graphicFrameLocks noGrp="1"/>
          </p:cNvGraphicFramePr>
          <p:nvPr>
            <p:extLst>
              <p:ext uri="{D42A27DB-BD31-4B8C-83A1-F6EECF244321}">
                <p14:modId xmlns:p14="http://schemas.microsoft.com/office/powerpoint/2010/main" val="1877933508"/>
              </p:ext>
            </p:extLst>
          </p:nvPr>
        </p:nvGraphicFramePr>
        <p:xfrm>
          <a:off x="9567113" y="3734161"/>
          <a:ext cx="671762" cy="2438400"/>
        </p:xfrm>
        <a:graphic>
          <a:graphicData uri="http://schemas.openxmlformats.org/drawingml/2006/table">
            <a:tbl>
              <a:tblPr firstRow="1" bandRow="1">
                <a:tableStyleId>{5C22544A-7EE6-4342-B048-85BDC9FD1C3A}</a:tableStyleId>
              </a:tblPr>
              <a:tblGrid>
                <a:gridCol w="671762">
                  <a:extLst>
                    <a:ext uri="{9D8B030D-6E8A-4147-A177-3AD203B41FA5}">
                      <a16:colId xmlns:a16="http://schemas.microsoft.com/office/drawing/2014/main" val="3907938436"/>
                    </a:ext>
                  </a:extLst>
                </a:gridCol>
              </a:tblGrid>
              <a:tr h="191238">
                <a:tc>
                  <a:txBody>
                    <a:bodyPr/>
                    <a:lstStyle/>
                    <a:p>
                      <a:pPr algn="ctr"/>
                      <a:r>
                        <a:rPr lang="en-GB" sz="1000" dirty="0"/>
                        <a:t>ordered</a:t>
                      </a:r>
                    </a:p>
                  </a:txBody>
                  <a:tcPr anchor="ctr"/>
                </a:tc>
                <a:extLst>
                  <a:ext uri="{0D108BD9-81ED-4DB2-BD59-A6C34878D82A}">
                    <a16:rowId xmlns:a16="http://schemas.microsoft.com/office/drawing/2014/main" val="376293564"/>
                  </a:ext>
                </a:extLst>
              </a:tr>
              <a:tr h="191238">
                <a:tc>
                  <a:txBody>
                    <a:bodyPr/>
                    <a:lstStyle/>
                    <a:p>
                      <a:pPr algn="ctr"/>
                      <a:r>
                        <a:rPr lang="en-GB" sz="1000" dirty="0"/>
                        <a:t>0</a:t>
                      </a:r>
                    </a:p>
                  </a:txBody>
                  <a:tcPr/>
                </a:tc>
                <a:extLst>
                  <a:ext uri="{0D108BD9-81ED-4DB2-BD59-A6C34878D82A}">
                    <a16:rowId xmlns:a16="http://schemas.microsoft.com/office/drawing/2014/main" val="4041444091"/>
                  </a:ext>
                </a:extLst>
              </a:tr>
              <a:tr h="191238">
                <a:tc>
                  <a:txBody>
                    <a:bodyPr/>
                    <a:lstStyle/>
                    <a:p>
                      <a:pPr algn="ctr"/>
                      <a:r>
                        <a:rPr lang="en-GB" sz="1000" dirty="0"/>
                        <a:t>0</a:t>
                      </a:r>
                    </a:p>
                  </a:txBody>
                  <a:tcPr/>
                </a:tc>
                <a:extLst>
                  <a:ext uri="{0D108BD9-81ED-4DB2-BD59-A6C34878D82A}">
                    <a16:rowId xmlns:a16="http://schemas.microsoft.com/office/drawing/2014/main" val="1271855735"/>
                  </a:ext>
                </a:extLst>
              </a:tr>
              <a:tr h="191238">
                <a:tc>
                  <a:txBody>
                    <a:bodyPr/>
                    <a:lstStyle/>
                    <a:p>
                      <a:pPr algn="ctr"/>
                      <a:r>
                        <a:rPr lang="en-GB" sz="1000" dirty="0"/>
                        <a:t>0</a:t>
                      </a:r>
                    </a:p>
                  </a:txBody>
                  <a:tcPr/>
                </a:tc>
                <a:extLst>
                  <a:ext uri="{0D108BD9-81ED-4DB2-BD59-A6C34878D82A}">
                    <a16:rowId xmlns:a16="http://schemas.microsoft.com/office/drawing/2014/main" val="27947297"/>
                  </a:ext>
                </a:extLst>
              </a:tr>
              <a:tr h="191238">
                <a:tc>
                  <a:txBody>
                    <a:bodyPr/>
                    <a:lstStyle/>
                    <a:p>
                      <a:pPr algn="ctr"/>
                      <a:r>
                        <a:rPr lang="en-GB" sz="1000" dirty="0"/>
                        <a:t>0</a:t>
                      </a:r>
                    </a:p>
                  </a:txBody>
                  <a:tcPr/>
                </a:tc>
                <a:extLst>
                  <a:ext uri="{0D108BD9-81ED-4DB2-BD59-A6C34878D82A}">
                    <a16:rowId xmlns:a16="http://schemas.microsoft.com/office/drawing/2014/main" val="299068152"/>
                  </a:ext>
                </a:extLst>
              </a:tr>
              <a:tr h="191238">
                <a:tc>
                  <a:txBody>
                    <a:bodyPr/>
                    <a:lstStyle/>
                    <a:p>
                      <a:pPr algn="ctr"/>
                      <a:r>
                        <a:rPr lang="en-GB" sz="1000" dirty="0"/>
                        <a:t>…</a:t>
                      </a:r>
                    </a:p>
                  </a:txBody>
                  <a:tcPr/>
                </a:tc>
                <a:extLst>
                  <a:ext uri="{0D108BD9-81ED-4DB2-BD59-A6C34878D82A}">
                    <a16:rowId xmlns:a16="http://schemas.microsoft.com/office/drawing/2014/main" val="229911723"/>
                  </a:ext>
                </a:extLst>
              </a:tr>
              <a:tr h="191238">
                <a:tc>
                  <a:txBody>
                    <a:bodyPr/>
                    <a:lstStyle/>
                    <a:p>
                      <a:pPr algn="ctr"/>
                      <a:r>
                        <a:rPr lang="en-GB" sz="1000" dirty="0"/>
                        <a:t>1</a:t>
                      </a:r>
                    </a:p>
                  </a:txBody>
                  <a:tcPr/>
                </a:tc>
                <a:extLst>
                  <a:ext uri="{0D108BD9-81ED-4DB2-BD59-A6C34878D82A}">
                    <a16:rowId xmlns:a16="http://schemas.microsoft.com/office/drawing/2014/main" val="359780191"/>
                  </a:ext>
                </a:extLst>
              </a:tr>
              <a:tr h="191238">
                <a:tc>
                  <a:txBody>
                    <a:bodyPr/>
                    <a:lstStyle/>
                    <a:p>
                      <a:pPr algn="ctr"/>
                      <a:r>
                        <a:rPr lang="en-GB" sz="1000" dirty="0"/>
                        <a:t>0</a:t>
                      </a:r>
                    </a:p>
                  </a:txBody>
                  <a:tcPr/>
                </a:tc>
                <a:extLst>
                  <a:ext uri="{0D108BD9-81ED-4DB2-BD59-A6C34878D82A}">
                    <a16:rowId xmlns:a16="http://schemas.microsoft.com/office/drawing/2014/main" val="965849692"/>
                  </a:ext>
                </a:extLst>
              </a:tr>
              <a:tr h="234301">
                <a:tc>
                  <a:txBody>
                    <a:bodyPr/>
                    <a:lstStyle/>
                    <a:p>
                      <a:pPr algn="ctr"/>
                      <a:r>
                        <a:rPr lang="en-GB" sz="1000" dirty="0"/>
                        <a:t>…</a:t>
                      </a:r>
                    </a:p>
                  </a:txBody>
                  <a:tcPr/>
                </a:tc>
                <a:extLst>
                  <a:ext uri="{0D108BD9-81ED-4DB2-BD59-A6C34878D82A}">
                    <a16:rowId xmlns:a16="http://schemas.microsoft.com/office/drawing/2014/main" val="1587053313"/>
                  </a:ext>
                </a:extLst>
              </a:tr>
              <a:tr h="234301">
                <a:tc>
                  <a:txBody>
                    <a:bodyPr/>
                    <a:lstStyle/>
                    <a:p>
                      <a:pPr algn="ctr"/>
                      <a:r>
                        <a:rPr lang="en-GB" sz="1000" dirty="0"/>
                        <a:t>0</a:t>
                      </a:r>
                    </a:p>
                  </a:txBody>
                  <a:tcPr/>
                </a:tc>
                <a:extLst>
                  <a:ext uri="{0D108BD9-81ED-4DB2-BD59-A6C34878D82A}">
                    <a16:rowId xmlns:a16="http://schemas.microsoft.com/office/drawing/2014/main" val="3285427480"/>
                  </a:ext>
                </a:extLst>
              </a:tr>
            </a:tbl>
          </a:graphicData>
        </a:graphic>
      </p:graphicFrame>
      <p:sp>
        <p:nvSpPr>
          <p:cNvPr id="41" name="Parenthèses 40">
            <a:extLst>
              <a:ext uri="{FF2B5EF4-FFF2-40B4-BE49-F238E27FC236}">
                <a16:creationId xmlns:a16="http://schemas.microsoft.com/office/drawing/2014/main" id="{C7F8EB11-EF42-59A0-74E0-A1364AA0F3A4}"/>
              </a:ext>
            </a:extLst>
          </p:cNvPr>
          <p:cNvSpPr/>
          <p:nvPr/>
        </p:nvSpPr>
        <p:spPr>
          <a:xfrm>
            <a:off x="6210299" y="3673749"/>
            <a:ext cx="2519277" cy="1827466"/>
          </a:xfrm>
          <a:prstGeom prst="bracketPair">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2" name="Parenthèses 41">
            <a:extLst>
              <a:ext uri="{FF2B5EF4-FFF2-40B4-BE49-F238E27FC236}">
                <a16:creationId xmlns:a16="http://schemas.microsoft.com/office/drawing/2014/main" id="{D10CA174-8787-D875-9AFC-E54D1BDBBB96}"/>
              </a:ext>
            </a:extLst>
          </p:cNvPr>
          <p:cNvSpPr/>
          <p:nvPr/>
        </p:nvSpPr>
        <p:spPr>
          <a:xfrm>
            <a:off x="9332492" y="3647641"/>
            <a:ext cx="1118942" cy="2708708"/>
          </a:xfrm>
          <a:prstGeom prst="bracketPair">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39928628-420C-D5B3-A8A8-64534B484F29}"/>
                  </a:ext>
                </a:extLst>
              </p:cNvPr>
              <p:cNvSpPr txBox="1"/>
              <p:nvPr/>
            </p:nvSpPr>
            <p:spPr>
              <a:xfrm>
                <a:off x="10473496" y="4584029"/>
                <a:ext cx="59456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m:t>
                      </m:r>
                    </m:oMath>
                  </m:oMathPara>
                </a14:m>
                <a:endParaRPr lang="en-GB" dirty="0"/>
              </a:p>
            </p:txBody>
          </p:sp>
        </mc:Choice>
        <mc:Fallback xmlns="">
          <p:sp>
            <p:nvSpPr>
              <p:cNvPr id="43" name="ZoneTexte 42">
                <a:extLst>
                  <a:ext uri="{FF2B5EF4-FFF2-40B4-BE49-F238E27FC236}">
                    <a16:creationId xmlns:a16="http://schemas.microsoft.com/office/drawing/2014/main" id="{39928628-420C-D5B3-A8A8-64534B484F29}"/>
                  </a:ext>
                </a:extLst>
              </p:cNvPr>
              <p:cNvSpPr txBox="1">
                <a:spLocks noRot="1" noChangeAspect="1" noMove="1" noResize="1" noEditPoints="1" noAdjustHandles="1" noChangeArrowheads="1" noChangeShapeType="1" noTextEdit="1"/>
              </p:cNvSpPr>
              <p:nvPr/>
            </p:nvSpPr>
            <p:spPr>
              <a:xfrm>
                <a:off x="10473496" y="4584029"/>
                <a:ext cx="594563" cy="369332"/>
              </a:xfrm>
              <a:prstGeom prst="rect">
                <a:avLst/>
              </a:prstGeom>
              <a:blipFill>
                <a:blip r:embed="rId6"/>
                <a:stretch>
                  <a:fillRect/>
                </a:stretch>
              </a:blipFill>
            </p:spPr>
            <p:txBody>
              <a:bodyPr/>
              <a:lstStyle/>
              <a:p>
                <a:r>
                  <a:rPr lang="en-GB">
                    <a:noFill/>
                  </a:rPr>
                  <a:t> </a:t>
                </a:r>
              </a:p>
            </p:txBody>
          </p:sp>
        </mc:Fallback>
      </mc:AlternateContent>
      <p:graphicFrame>
        <p:nvGraphicFramePr>
          <p:cNvPr id="45" name="Tableau 44">
            <a:extLst>
              <a:ext uri="{FF2B5EF4-FFF2-40B4-BE49-F238E27FC236}">
                <a16:creationId xmlns:a16="http://schemas.microsoft.com/office/drawing/2014/main" id="{6ED2E016-D9CB-E0F8-DEC4-F702ACE147F7}"/>
              </a:ext>
            </a:extLst>
          </p:cNvPr>
          <p:cNvGraphicFramePr>
            <a:graphicFrameLocks noGrp="1"/>
          </p:cNvGraphicFramePr>
          <p:nvPr>
            <p:extLst>
              <p:ext uri="{D42A27DB-BD31-4B8C-83A1-F6EECF244321}">
                <p14:modId xmlns:p14="http://schemas.microsoft.com/office/powerpoint/2010/main" val="1676090858"/>
              </p:ext>
            </p:extLst>
          </p:nvPr>
        </p:nvGraphicFramePr>
        <p:xfrm>
          <a:off x="11029635" y="3782795"/>
          <a:ext cx="671762" cy="2590800"/>
        </p:xfrm>
        <a:graphic>
          <a:graphicData uri="http://schemas.openxmlformats.org/drawingml/2006/table">
            <a:tbl>
              <a:tblPr firstRow="1" bandRow="1">
                <a:tableStyleId>{5C22544A-7EE6-4342-B048-85BDC9FD1C3A}</a:tableStyleId>
              </a:tblPr>
              <a:tblGrid>
                <a:gridCol w="671762">
                  <a:extLst>
                    <a:ext uri="{9D8B030D-6E8A-4147-A177-3AD203B41FA5}">
                      <a16:colId xmlns:a16="http://schemas.microsoft.com/office/drawing/2014/main" val="3907938436"/>
                    </a:ext>
                  </a:extLst>
                </a:gridCol>
              </a:tblGrid>
              <a:tr h="191238">
                <a:tc>
                  <a:txBody>
                    <a:bodyPr/>
                    <a:lstStyle/>
                    <a:p>
                      <a:pPr algn="ctr"/>
                      <a:r>
                        <a:rPr lang="en-GB" sz="1000" dirty="0"/>
                        <a:t>ordered</a:t>
                      </a:r>
                    </a:p>
                  </a:txBody>
                  <a:tcPr anchor="ctr"/>
                </a:tc>
                <a:extLst>
                  <a:ext uri="{0D108BD9-81ED-4DB2-BD59-A6C34878D82A}">
                    <a16:rowId xmlns:a16="http://schemas.microsoft.com/office/drawing/2014/main" val="376293564"/>
                  </a:ext>
                </a:extLst>
              </a:tr>
              <a:tr h="191238">
                <a:tc>
                  <a:txBody>
                    <a:bodyPr/>
                    <a:lstStyle/>
                    <a:p>
                      <a:pPr algn="ctr"/>
                      <a:r>
                        <a:rPr lang="en-GB" sz="1000" dirty="0"/>
                        <a:t>0.0023</a:t>
                      </a:r>
                    </a:p>
                  </a:txBody>
                  <a:tcPr/>
                </a:tc>
                <a:extLst>
                  <a:ext uri="{0D108BD9-81ED-4DB2-BD59-A6C34878D82A}">
                    <a16:rowId xmlns:a16="http://schemas.microsoft.com/office/drawing/2014/main" val="4041444091"/>
                  </a:ext>
                </a:extLst>
              </a:tr>
              <a:tr h="191238">
                <a:tc>
                  <a:txBody>
                    <a:bodyPr/>
                    <a:lstStyle/>
                    <a:p>
                      <a:pPr algn="ctr"/>
                      <a:r>
                        <a:rPr lang="en-GB" sz="1000" dirty="0"/>
                        <a:t>0.05064</a:t>
                      </a:r>
                    </a:p>
                  </a:txBody>
                  <a:tcPr/>
                </a:tc>
                <a:extLst>
                  <a:ext uri="{0D108BD9-81ED-4DB2-BD59-A6C34878D82A}">
                    <a16:rowId xmlns:a16="http://schemas.microsoft.com/office/drawing/2014/main" val="1271855735"/>
                  </a:ext>
                </a:extLst>
              </a:tr>
              <a:tr h="191238">
                <a:tc>
                  <a:txBody>
                    <a:bodyPr/>
                    <a:lstStyle/>
                    <a:p>
                      <a:pPr algn="ctr"/>
                      <a:r>
                        <a:rPr lang="en-GB" sz="1000" dirty="0"/>
                        <a:t>…</a:t>
                      </a:r>
                    </a:p>
                  </a:txBody>
                  <a:tcPr/>
                </a:tc>
                <a:extLst>
                  <a:ext uri="{0D108BD9-81ED-4DB2-BD59-A6C34878D82A}">
                    <a16:rowId xmlns:a16="http://schemas.microsoft.com/office/drawing/2014/main" val="27947297"/>
                  </a:ext>
                </a:extLst>
              </a:tr>
              <a:tr h="191238">
                <a:tc>
                  <a:txBody>
                    <a:bodyPr/>
                    <a:lstStyle/>
                    <a:p>
                      <a:pPr algn="ctr"/>
                      <a:r>
                        <a:rPr lang="en-GB" sz="1000" dirty="0"/>
                        <a:t>…</a:t>
                      </a:r>
                    </a:p>
                  </a:txBody>
                  <a:tcPr/>
                </a:tc>
                <a:extLst>
                  <a:ext uri="{0D108BD9-81ED-4DB2-BD59-A6C34878D82A}">
                    <a16:rowId xmlns:a16="http://schemas.microsoft.com/office/drawing/2014/main" val="299068152"/>
                  </a:ext>
                </a:extLst>
              </a:tr>
              <a:tr h="191238">
                <a:tc>
                  <a:txBody>
                    <a:bodyPr/>
                    <a:lstStyle/>
                    <a:p>
                      <a:pPr algn="ctr"/>
                      <a:r>
                        <a:rPr lang="en-GB" sz="1000" dirty="0"/>
                        <a:t>…</a:t>
                      </a:r>
                    </a:p>
                  </a:txBody>
                  <a:tcPr/>
                </a:tc>
                <a:extLst>
                  <a:ext uri="{0D108BD9-81ED-4DB2-BD59-A6C34878D82A}">
                    <a16:rowId xmlns:a16="http://schemas.microsoft.com/office/drawing/2014/main" val="229911723"/>
                  </a:ext>
                </a:extLst>
              </a:tr>
              <a:tr h="191238">
                <a:tc>
                  <a:txBody>
                    <a:bodyPr/>
                    <a:lstStyle/>
                    <a:p>
                      <a:pPr algn="ctr"/>
                      <a:r>
                        <a:rPr lang="en-GB" sz="1000" dirty="0"/>
                        <a:t>…</a:t>
                      </a:r>
                    </a:p>
                  </a:txBody>
                  <a:tcPr/>
                </a:tc>
                <a:extLst>
                  <a:ext uri="{0D108BD9-81ED-4DB2-BD59-A6C34878D82A}">
                    <a16:rowId xmlns:a16="http://schemas.microsoft.com/office/drawing/2014/main" val="359780191"/>
                  </a:ext>
                </a:extLst>
              </a:tr>
              <a:tr h="191238">
                <a:tc>
                  <a:txBody>
                    <a:bodyPr/>
                    <a:lstStyle/>
                    <a:p>
                      <a:pPr algn="ctr"/>
                      <a:r>
                        <a:rPr lang="en-GB" sz="1000" dirty="0"/>
                        <a:t>--0.15674</a:t>
                      </a:r>
                    </a:p>
                  </a:txBody>
                  <a:tcPr/>
                </a:tc>
                <a:extLst>
                  <a:ext uri="{0D108BD9-81ED-4DB2-BD59-A6C34878D82A}">
                    <a16:rowId xmlns:a16="http://schemas.microsoft.com/office/drawing/2014/main" val="965849692"/>
                  </a:ext>
                </a:extLst>
              </a:tr>
              <a:tr h="234301">
                <a:tc>
                  <a:txBody>
                    <a:bodyPr/>
                    <a:lstStyle/>
                    <a:p>
                      <a:pPr algn="ctr"/>
                      <a:r>
                        <a:rPr lang="en-GB" sz="1000" dirty="0"/>
                        <a:t>…</a:t>
                      </a:r>
                    </a:p>
                  </a:txBody>
                  <a:tcPr/>
                </a:tc>
                <a:extLst>
                  <a:ext uri="{0D108BD9-81ED-4DB2-BD59-A6C34878D82A}">
                    <a16:rowId xmlns:a16="http://schemas.microsoft.com/office/drawing/2014/main" val="1587053313"/>
                  </a:ext>
                </a:extLst>
              </a:tr>
              <a:tr h="234301">
                <a:tc>
                  <a:txBody>
                    <a:bodyPr/>
                    <a:lstStyle/>
                    <a:p>
                      <a:pPr algn="ctr"/>
                      <a:r>
                        <a:rPr lang="en-GB" sz="1000" dirty="0"/>
                        <a:t>0.12546</a:t>
                      </a:r>
                    </a:p>
                  </a:txBody>
                  <a:tcPr/>
                </a:tc>
                <a:extLst>
                  <a:ext uri="{0D108BD9-81ED-4DB2-BD59-A6C34878D82A}">
                    <a16:rowId xmlns:a16="http://schemas.microsoft.com/office/drawing/2014/main" val="3285427480"/>
                  </a:ext>
                </a:extLst>
              </a:tr>
            </a:tbl>
          </a:graphicData>
        </a:graphic>
      </p:graphicFrame>
      <p:sp>
        <p:nvSpPr>
          <p:cNvPr id="48" name="ZoneTexte 47">
            <a:extLst>
              <a:ext uri="{FF2B5EF4-FFF2-40B4-BE49-F238E27FC236}">
                <a16:creationId xmlns:a16="http://schemas.microsoft.com/office/drawing/2014/main" id="{3CD62A7E-E954-777A-8AB6-18079A8203D0}"/>
              </a:ext>
            </a:extLst>
          </p:cNvPr>
          <p:cNvSpPr txBox="1"/>
          <p:nvPr/>
        </p:nvSpPr>
        <p:spPr>
          <a:xfrm>
            <a:off x="6073026" y="5691210"/>
            <a:ext cx="2935220" cy="553998"/>
          </a:xfrm>
          <a:prstGeom prst="rect">
            <a:avLst/>
          </a:prstGeom>
          <a:noFill/>
          <a:ln>
            <a:solidFill>
              <a:schemeClr val="accent1"/>
            </a:solidFill>
          </a:ln>
        </p:spPr>
        <p:txBody>
          <a:bodyPr wrap="square" rtlCol="0">
            <a:spAutoFit/>
          </a:bodyPr>
          <a:lstStyle/>
          <a:p>
            <a:pPr algn="ctr"/>
            <a:r>
              <a:rPr lang="en-GB" sz="1000" dirty="0"/>
              <a:t>The number of units of the hidden layer is equal to the size of the embedding vector.</a:t>
            </a:r>
          </a:p>
          <a:p>
            <a:pPr algn="ctr"/>
            <a:r>
              <a:rPr lang="en-GB" sz="1000" dirty="0"/>
              <a:t>(The number of rows of this matrix of weights)</a:t>
            </a:r>
          </a:p>
        </p:txBody>
      </p:sp>
      <p:sp>
        <p:nvSpPr>
          <p:cNvPr id="8" name="ZoneTexte 7">
            <a:extLst>
              <a:ext uri="{FF2B5EF4-FFF2-40B4-BE49-F238E27FC236}">
                <a16:creationId xmlns:a16="http://schemas.microsoft.com/office/drawing/2014/main" id="{69B458E0-43A0-3097-0C97-486A74930DED}"/>
              </a:ext>
            </a:extLst>
          </p:cNvPr>
          <p:cNvSpPr txBox="1"/>
          <p:nvPr/>
        </p:nvSpPr>
        <p:spPr>
          <a:xfrm>
            <a:off x="978567" y="6390071"/>
            <a:ext cx="2550695" cy="253916"/>
          </a:xfrm>
          <a:prstGeom prst="rect">
            <a:avLst/>
          </a:prstGeom>
          <a:noFill/>
        </p:spPr>
        <p:txBody>
          <a:bodyPr wrap="square" rtlCol="0">
            <a:spAutoFit/>
          </a:bodyPr>
          <a:lstStyle/>
          <a:p>
            <a:pPr algn="ctr"/>
            <a:r>
              <a:rPr lang="en-GB" sz="1050" dirty="0">
                <a:solidFill>
                  <a:schemeClr val="bg1">
                    <a:lumMod val="50000"/>
                  </a:schemeClr>
                </a:solidFill>
              </a:rPr>
              <a:t>Source: Code basic [YouTube channel]</a:t>
            </a:r>
          </a:p>
        </p:txBody>
      </p:sp>
    </p:spTree>
    <p:extLst>
      <p:ext uri="{BB962C8B-B14F-4D97-AF65-F5344CB8AC3E}">
        <p14:creationId xmlns:p14="http://schemas.microsoft.com/office/powerpoint/2010/main" val="3917117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8F63C-7334-FCE2-B221-8BBA8F093D7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AABB4EE-52DA-F07B-1B28-37187C32ABDE}"/>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F13FA199-AC60-D080-4B28-407DC1A5E32D}"/>
              </a:ext>
            </a:extLst>
          </p:cNvPr>
          <p:cNvSpPr>
            <a:spLocks noGrp="1"/>
          </p:cNvSpPr>
          <p:nvPr>
            <p:ph idx="1"/>
          </p:nvPr>
        </p:nvSpPr>
        <p:spPr>
          <a:xfrm>
            <a:off x="838200" y="1541645"/>
            <a:ext cx="3990474" cy="1325563"/>
          </a:xfrm>
        </p:spPr>
        <p:txBody>
          <a:bodyPr lIns="90000">
            <a:noAutofit/>
          </a:bodyPr>
          <a:lstStyle/>
          <a:p>
            <a:pPr marL="0" indent="0">
              <a:buNone/>
            </a:pPr>
            <a:r>
              <a:rPr lang="en-GB" sz="2000" b="1" noProof="0" dirty="0">
                <a:effectLst/>
              </a:rPr>
              <a:t>Word2vec</a:t>
            </a:r>
          </a:p>
          <a:p>
            <a:pPr marL="0" indent="0">
              <a:buNone/>
            </a:pPr>
            <a:r>
              <a:rPr lang="en-GB" sz="1200" b="1" noProof="0" dirty="0">
                <a:effectLst/>
              </a:rPr>
              <a:t>CBOW : how to get word embeddings from scratch ?</a:t>
            </a:r>
          </a:p>
          <a:p>
            <a:pPr marL="0" indent="0">
              <a:lnSpc>
                <a:spcPct val="100000"/>
              </a:lnSpc>
              <a:spcBef>
                <a:spcPts val="0"/>
              </a:spcBef>
              <a:buNone/>
            </a:pPr>
            <a:endParaRPr lang="en-GB" sz="1200" noProof="0" dirty="0">
              <a:effectLst/>
            </a:endParaRPr>
          </a:p>
          <a:p>
            <a:pPr marL="0" indent="0">
              <a:lnSpc>
                <a:spcPct val="150000"/>
              </a:lnSpc>
              <a:spcBef>
                <a:spcPts val="0"/>
              </a:spcBef>
              <a:buNone/>
            </a:pPr>
            <a:r>
              <a:rPr lang="en-GB" sz="1200" b="1" noProof="0" dirty="0">
                <a:effectLst/>
              </a:rPr>
              <a:t>Words are one-hot-encoded using the vocabulary</a:t>
            </a:r>
            <a:endParaRPr lang="en-GB" sz="1200" noProof="0" dirty="0">
              <a:effectLst/>
            </a:endParaRPr>
          </a:p>
          <a:p>
            <a:pPr>
              <a:lnSpc>
                <a:spcPct val="150000"/>
              </a:lnSpc>
              <a:spcBef>
                <a:spcPts val="0"/>
              </a:spcBef>
              <a:buAutoNum type="arabicPeriod"/>
            </a:pPr>
            <a:endParaRPr lang="en-GB" sz="1200" noProof="0" dirty="0">
              <a:effectLst/>
            </a:endParaRPr>
          </a:p>
        </p:txBody>
      </p:sp>
      <p:sp>
        <p:nvSpPr>
          <p:cNvPr id="4" name="Espace réservé du pied de page 3">
            <a:extLst>
              <a:ext uri="{FF2B5EF4-FFF2-40B4-BE49-F238E27FC236}">
                <a16:creationId xmlns:a16="http://schemas.microsoft.com/office/drawing/2014/main" id="{F037743D-6F37-A8BD-855A-1DE4993712B7}"/>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2A4B87E4-6FA9-B0C4-B049-0DB967BF179D}"/>
              </a:ext>
            </a:extLst>
          </p:cNvPr>
          <p:cNvSpPr txBox="1"/>
          <p:nvPr/>
        </p:nvSpPr>
        <p:spPr>
          <a:xfrm>
            <a:off x="838200" y="2656272"/>
            <a:ext cx="4551947" cy="3302742"/>
          </a:xfrm>
          <a:prstGeom prst="rect">
            <a:avLst/>
          </a:prstGeom>
          <a:noFill/>
          <a:ln>
            <a:solidFill>
              <a:schemeClr val="accent1"/>
            </a:solidFill>
          </a:ln>
        </p:spPr>
        <p:txBody>
          <a:bodyPr wrap="square" lIns="90000">
            <a:noAutofit/>
          </a:bodyPr>
          <a:lstStyle/>
          <a:p>
            <a:pPr>
              <a:lnSpc>
                <a:spcPts val="1350"/>
              </a:lnSpc>
            </a:pPr>
            <a:endParaRPr lang="fr-FR" sz="800" b="1" dirty="0">
              <a:solidFill>
                <a:srgbClr val="008100"/>
              </a:solidFill>
              <a:effectLst/>
              <a:latin typeface="Menlo" panose="020B0609030804020204" pitchFamily="49" charset="0"/>
            </a:endParaRPr>
          </a:p>
          <a:p>
            <a:pPr>
              <a:lnSpc>
                <a:spcPts val="1350"/>
              </a:lnSpc>
            </a:pPr>
            <a:r>
              <a:rPr lang="fr-FR" sz="800" b="1" dirty="0" err="1">
                <a:solidFill>
                  <a:srgbClr val="008100"/>
                </a:solidFill>
                <a:effectLst/>
                <a:latin typeface="Menlo" panose="020B0609030804020204" pitchFamily="49" charset="0"/>
              </a:rPr>
              <a:t>def</a:t>
            </a:r>
            <a:r>
              <a:rPr lang="fr-FR" sz="800" b="0" dirty="0">
                <a:solidFill>
                  <a:srgbClr val="333333"/>
                </a:solidFill>
                <a:effectLst/>
                <a:latin typeface="Menlo" panose="020B0609030804020204" pitchFamily="49" charset="0"/>
              </a:rPr>
              <a:t> </a:t>
            </a:r>
            <a:r>
              <a:rPr lang="fr-FR" sz="800" b="0" dirty="0" err="1">
                <a:solidFill>
                  <a:srgbClr val="68482D"/>
                </a:solidFill>
                <a:effectLst/>
                <a:latin typeface="Menlo" panose="020B0609030804020204" pitchFamily="49" charset="0"/>
              </a:rPr>
              <a:t>get_one_hot_vector</a:t>
            </a:r>
            <a:r>
              <a:rPr lang="fr-FR" sz="800" b="0" dirty="0">
                <a:solidFill>
                  <a:srgbClr val="252525"/>
                </a:solidFill>
                <a:effectLst/>
                <a:latin typeface="Menlo" panose="020B0609030804020204" pitchFamily="49" charset="0"/>
              </a:rPr>
              <a:t>(</a:t>
            </a:r>
            <a:r>
              <a:rPr lang="fr-FR" sz="800" b="0" dirty="0" err="1">
                <a:solidFill>
                  <a:srgbClr val="396694"/>
                </a:solidFill>
                <a:effectLst/>
                <a:latin typeface="Menlo" panose="020B0609030804020204" pitchFamily="49" charset="0"/>
              </a:rPr>
              <a:t>word</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96694"/>
                </a:solidFill>
                <a:effectLst/>
                <a:latin typeface="Menlo" panose="020B0609030804020204" pitchFamily="49" charset="0"/>
              </a:rPr>
              <a:t>vocab</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Obtain</a:t>
            </a:r>
            <a:r>
              <a:rPr lang="fr-FR" sz="800" b="0" dirty="0">
                <a:solidFill>
                  <a:srgbClr val="C44445"/>
                </a:solidFill>
                <a:effectLst/>
                <a:latin typeface="Menlo" panose="020B0609030804020204" pitchFamily="49" charset="0"/>
              </a:rPr>
              <a:t> the </a:t>
            </a:r>
            <a:r>
              <a:rPr lang="fr-FR" sz="800" b="0" dirty="0" err="1">
                <a:solidFill>
                  <a:srgbClr val="C44445"/>
                </a:solidFill>
                <a:effectLst/>
                <a:latin typeface="Menlo" panose="020B0609030804020204" pitchFamily="49" charset="0"/>
              </a:rPr>
              <a:t>corresponding</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one-hot</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vector</a:t>
            </a:r>
            <a:r>
              <a:rPr lang="fr-FR" sz="800" b="0" dirty="0">
                <a:solidFill>
                  <a:srgbClr val="C44445"/>
                </a:solidFill>
                <a:effectLst/>
                <a:latin typeface="Menlo" panose="020B0609030804020204" pitchFamily="49" charset="0"/>
              </a:rPr>
              <a:t> for a </a:t>
            </a:r>
            <a:r>
              <a:rPr lang="fr-FR" sz="800" b="0" dirty="0" err="1">
                <a:solidFill>
                  <a:srgbClr val="C44445"/>
                </a:solidFill>
                <a:effectLst/>
                <a:latin typeface="Menlo" panose="020B0609030804020204" pitchFamily="49" charset="0"/>
              </a:rPr>
              <a:t>given</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word</a:t>
            </a:r>
            <a:r>
              <a:rPr lang="fr-FR" sz="800" b="0" dirty="0">
                <a:solidFill>
                  <a:srgbClr val="C4444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1" dirty="0">
                <a:solidFill>
                  <a:srgbClr val="008100"/>
                </a:solidFill>
                <a:effectLst/>
                <a:latin typeface="Menlo" panose="020B0609030804020204" pitchFamily="49" charset="0"/>
              </a:rPr>
              <a:t>    if</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in</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vocab</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one_hot_vector</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np</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zeros</a:t>
            </a:r>
            <a:r>
              <a:rPr lang="fr-FR" sz="800" b="0" dirty="0">
                <a:solidFill>
                  <a:srgbClr val="252525"/>
                </a:solidFill>
                <a:effectLst/>
                <a:latin typeface="Menlo" panose="020B0609030804020204" pitchFamily="49" charset="0"/>
              </a:rPr>
              <a:t>(</a:t>
            </a:r>
            <a:r>
              <a:rPr lang="fr-FR" sz="800" b="0" dirty="0" err="1">
                <a:solidFill>
                  <a:srgbClr val="68482D"/>
                </a:solidFill>
                <a:effectLst/>
                <a:latin typeface="Menlo" panose="020B0609030804020204" pitchFamily="49" charset="0"/>
              </a:rPr>
              <a:t>len</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vocab</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word_index</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vocab</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tolist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index</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word</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one_hot_vector</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word_index</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AB6526"/>
                </a:solidFill>
                <a:effectLst/>
                <a:latin typeface="Menlo" panose="020B0609030804020204" pitchFamily="49" charset="0"/>
              </a:rPr>
              <a:t>1</a:t>
            </a:r>
            <a:endParaRPr lang="fr-FR" sz="800" b="0" dirty="0">
              <a:solidFill>
                <a:srgbClr val="333333"/>
              </a:solidFill>
              <a:effectLst/>
              <a:latin typeface="Menlo" panose="020B0609030804020204" pitchFamily="49" charset="0"/>
            </a:endParaRPr>
          </a:p>
          <a:p>
            <a:pPr>
              <a:lnSpc>
                <a:spcPts val="1350"/>
              </a:lnSpc>
            </a:pPr>
            <a:r>
              <a:rPr lang="fr-FR" sz="800" b="1" dirty="0">
                <a:solidFill>
                  <a:srgbClr val="008100"/>
                </a:solidFill>
                <a:effectLst/>
                <a:latin typeface="Menlo" panose="020B0609030804020204" pitchFamily="49" charset="0"/>
              </a:rPr>
              <a:t>        return</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one_hot_vector</a:t>
            </a:r>
            <a:endParaRPr lang="fr-FR" sz="800" b="0" dirty="0">
              <a:solidFill>
                <a:srgbClr val="333333"/>
              </a:solidFill>
              <a:effectLst/>
              <a:latin typeface="Menlo" panose="020B0609030804020204" pitchFamily="49" charset="0"/>
            </a:endParaRPr>
          </a:p>
          <a:p>
            <a:pPr>
              <a:lnSpc>
                <a:spcPts val="1350"/>
              </a:lnSpc>
            </a:pPr>
            <a:r>
              <a:rPr lang="fr-FR" sz="800" b="1" dirty="0">
                <a:solidFill>
                  <a:srgbClr val="008100"/>
                </a:solidFill>
                <a:effectLst/>
                <a:latin typeface="Menlo" panose="020B0609030804020204" pitchFamily="49" charset="0"/>
              </a:rPr>
              <a:t>    else</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68482D"/>
                </a:solidFill>
                <a:effectLst/>
                <a:latin typeface="Menlo" panose="020B0609030804020204" pitchFamily="49" charset="0"/>
              </a:rPr>
              <a:t>        print</a:t>
            </a:r>
            <a:r>
              <a:rPr lang="fr-FR" sz="800" b="0" dirty="0">
                <a:solidFill>
                  <a:srgbClr val="252525"/>
                </a:solidFill>
                <a:effectLst/>
                <a:latin typeface="Menlo" panose="020B0609030804020204" pitchFamily="49" charset="0"/>
              </a:rPr>
              <a:t>(</a:t>
            </a:r>
            <a:r>
              <a:rPr lang="fr-FR" sz="800" b="1" dirty="0" err="1">
                <a:solidFill>
                  <a:srgbClr val="008100"/>
                </a:solidFill>
                <a:effectLst/>
                <a:latin typeface="Menlo" panose="020B0609030804020204" pitchFamily="49" charset="0"/>
              </a:rPr>
              <a:t>f</a:t>
            </a:r>
            <a:r>
              <a:rPr lang="fr-FR" sz="800" b="0" dirty="0" err="1">
                <a:solidFill>
                  <a:srgbClr val="C44445"/>
                </a:solidFill>
                <a:effectLst/>
                <a:latin typeface="Menlo" panose="020B0609030804020204" pitchFamily="49" charset="0"/>
              </a:rPr>
              <a:t>"The</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word</a:t>
            </a:r>
            <a:r>
              <a:rPr lang="fr-FR" sz="800" b="0" dirty="0">
                <a:solidFill>
                  <a:srgbClr val="C44445"/>
                </a:solidFill>
                <a:effectLst/>
                <a:latin typeface="Menlo" panose="020B0609030804020204" pitchFamily="49" charset="0"/>
              </a:rPr>
              <a:t> '</a:t>
            </a:r>
            <a:r>
              <a:rPr lang="fr-FR" sz="800" b="0" dirty="0">
                <a:solidFill>
                  <a:srgbClr val="AB6526"/>
                </a:solidFill>
                <a:effectLst/>
                <a:latin typeface="Menlo" panose="020B0609030804020204" pitchFamily="49" charset="0"/>
              </a:rPr>
              <a:t>{</a:t>
            </a:r>
            <a:r>
              <a:rPr lang="fr-FR" sz="800" b="0" dirty="0" err="1">
                <a:solidFill>
                  <a:srgbClr val="333333"/>
                </a:solidFill>
                <a:effectLst/>
                <a:latin typeface="Menlo" panose="020B0609030804020204" pitchFamily="49" charset="0"/>
              </a:rPr>
              <a:t>word</a:t>
            </a:r>
            <a:r>
              <a:rPr lang="fr-FR" sz="800" b="0" dirty="0">
                <a:solidFill>
                  <a:srgbClr val="AB6526"/>
                </a:solidFill>
                <a:effectLst/>
                <a:latin typeface="Menlo" panose="020B0609030804020204" pitchFamily="49" charset="0"/>
              </a:rPr>
              <a:t>}</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is</a:t>
            </a:r>
            <a:r>
              <a:rPr lang="fr-FR" sz="800" b="0" dirty="0">
                <a:solidFill>
                  <a:srgbClr val="C44445"/>
                </a:solidFill>
                <a:effectLst/>
                <a:latin typeface="Menlo" panose="020B0609030804020204" pitchFamily="49" charset="0"/>
              </a:rPr>
              <a:t> not in the </a:t>
            </a:r>
            <a:r>
              <a:rPr lang="fr-FR" sz="800" b="0" dirty="0" err="1">
                <a:solidFill>
                  <a:srgbClr val="C44445"/>
                </a:solidFill>
                <a:effectLst/>
                <a:latin typeface="Menlo" panose="020B0609030804020204" pitchFamily="49" charset="0"/>
              </a:rPr>
              <a:t>vocabulary</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1" dirty="0">
                <a:solidFill>
                  <a:srgbClr val="008100"/>
                </a:solidFill>
                <a:effectLst/>
                <a:latin typeface="Menlo" panose="020B0609030804020204" pitchFamily="49" charset="0"/>
              </a:rPr>
              <a:t>        return</a:t>
            </a:r>
            <a:r>
              <a:rPr lang="fr-FR" sz="800" b="0" dirty="0">
                <a:solidFill>
                  <a:srgbClr val="333333"/>
                </a:solidFill>
                <a:effectLst/>
                <a:latin typeface="Menlo" panose="020B0609030804020204" pitchFamily="49" charset="0"/>
              </a:rPr>
              <a:t> </a:t>
            </a:r>
            <a:r>
              <a:rPr lang="fr-FR" sz="800" b="1" dirty="0">
                <a:solidFill>
                  <a:srgbClr val="008100"/>
                </a:solidFill>
                <a:effectLst/>
                <a:latin typeface="Menlo" panose="020B0609030804020204" pitchFamily="49" charset="0"/>
              </a:rPr>
              <a:t>None</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br>
              <a:rPr lang="fr-FR" sz="800" b="0" dirty="0">
                <a:solidFill>
                  <a:srgbClr val="333333"/>
                </a:solidFill>
                <a:effectLst/>
                <a:latin typeface="Menlo" panose="020B0609030804020204" pitchFamily="49" charset="0"/>
              </a:rPr>
            </a:br>
            <a:endParaRPr lang="fr-FR" sz="800" b="0" dirty="0">
              <a:solidFill>
                <a:srgbClr val="333333"/>
              </a:solidFill>
              <a:effectLst/>
              <a:latin typeface="Menlo" panose="020B0609030804020204" pitchFamily="49" charset="0"/>
            </a:endParaRPr>
          </a:p>
        </p:txBody>
      </p:sp>
      <p:sp>
        <p:nvSpPr>
          <p:cNvPr id="7" name="ZoneTexte 6">
            <a:extLst>
              <a:ext uri="{FF2B5EF4-FFF2-40B4-BE49-F238E27FC236}">
                <a16:creationId xmlns:a16="http://schemas.microsoft.com/office/drawing/2014/main" id="{1A2430A8-91F5-A9C2-3C3C-CAD86B7BBB88}"/>
              </a:ext>
            </a:extLst>
          </p:cNvPr>
          <p:cNvSpPr txBox="1"/>
          <p:nvPr/>
        </p:nvSpPr>
        <p:spPr>
          <a:xfrm>
            <a:off x="5877426" y="2657576"/>
            <a:ext cx="4551947" cy="3302742"/>
          </a:xfrm>
          <a:prstGeom prst="rect">
            <a:avLst/>
          </a:prstGeom>
          <a:noFill/>
          <a:ln>
            <a:solidFill>
              <a:schemeClr val="accent1"/>
            </a:solidFill>
          </a:ln>
        </p:spPr>
        <p:txBody>
          <a:bodyPr wrap="square" lIns="90000">
            <a:noAutofit/>
          </a:bodyPr>
          <a:lstStyle/>
          <a:p>
            <a:pPr>
              <a:lnSpc>
                <a:spcPts val="1350"/>
              </a:lnSpc>
            </a:pPr>
            <a:br>
              <a:rPr lang="fr-FR" sz="800" b="0" dirty="0">
                <a:solidFill>
                  <a:srgbClr val="333333"/>
                </a:solidFill>
                <a:effectLst/>
                <a:latin typeface="Menlo" panose="020B0609030804020204" pitchFamily="49" charset="0"/>
              </a:rPr>
            </a:br>
            <a:r>
              <a:rPr lang="fr-FR" sz="800" b="0" i="1" dirty="0">
                <a:solidFill>
                  <a:srgbClr val="6A8B93"/>
                </a:solidFill>
                <a:effectLst/>
                <a:latin typeface="Menlo" panose="020B0609030804020204" pitchFamily="49" charset="0"/>
              </a:rPr>
              <a:t># The input layer</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dirty="0">
                <a:solidFill>
                  <a:srgbClr val="333333"/>
                </a:solidFill>
                <a:effectLst/>
                <a:latin typeface="Menlo" panose="020B0609030804020204" pitchFamily="49" charset="0"/>
              </a:rPr>
              <a:t>context_word1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get_one_hot_vector</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ordered</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vocab</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context_word2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get_one_hot_vector</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this</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vocab</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endParaRPr lang="fr-FR" sz="800" b="0" i="1" dirty="0">
              <a:solidFill>
                <a:srgbClr val="6A8B93"/>
              </a:solidFill>
              <a:effectLst/>
              <a:latin typeface="Menlo" panose="020B0609030804020204" pitchFamily="49" charset="0"/>
            </a:endParaRPr>
          </a:p>
          <a:p>
            <a:pPr>
              <a:lnSpc>
                <a:spcPts val="1350"/>
              </a:lnSpc>
            </a:pP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Concatenate</a:t>
            </a:r>
            <a:r>
              <a:rPr lang="fr-FR" sz="800" b="0" i="1" dirty="0">
                <a:solidFill>
                  <a:srgbClr val="6A8B93"/>
                </a:solidFill>
                <a:effectLst/>
                <a:latin typeface="Menlo" panose="020B0609030804020204" pitchFamily="49" charset="0"/>
              </a:rPr>
              <a:t> the </a:t>
            </a:r>
            <a:r>
              <a:rPr lang="fr-FR" sz="800" b="0" i="1" dirty="0" err="1">
                <a:solidFill>
                  <a:srgbClr val="6A8B93"/>
                </a:solidFill>
                <a:effectLst/>
                <a:latin typeface="Menlo" panose="020B0609030804020204" pitchFamily="49" charset="0"/>
              </a:rPr>
              <a:t>one-hot</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vectors</a:t>
            </a:r>
            <a:r>
              <a:rPr lang="fr-FR" sz="800" b="0" i="1" dirty="0">
                <a:solidFill>
                  <a:srgbClr val="6A8B93"/>
                </a:solidFill>
                <a:effectLst/>
                <a:latin typeface="Menlo" panose="020B0609030804020204" pitchFamily="49" charset="0"/>
              </a:rPr>
              <a:t> of the </a:t>
            </a:r>
            <a:r>
              <a:rPr lang="fr-FR" sz="800" b="0" i="1" dirty="0" err="1">
                <a:solidFill>
                  <a:srgbClr val="6A8B93"/>
                </a:solidFill>
                <a:effectLst/>
                <a:latin typeface="Menlo" panose="020B0609030804020204" pitchFamily="49" charset="0"/>
              </a:rPr>
              <a:t>context</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words</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X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np</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concatenate</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context_word1</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context_word2</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reshape</a:t>
            </a:r>
            <a:r>
              <a:rPr lang="fr-FR" sz="800" b="0" dirty="0">
                <a:solidFill>
                  <a:srgbClr val="252525"/>
                </a:solidFill>
                <a:effectLst/>
                <a:latin typeface="Menlo" panose="020B0609030804020204" pitchFamily="49" charset="0"/>
              </a:rPr>
              <a:t>(</a:t>
            </a:r>
            <a:r>
              <a:rPr lang="fr-FR" sz="800" b="0" dirty="0">
                <a:solidFill>
                  <a:srgbClr val="AB6526"/>
                </a:solidFill>
                <a:effectLst/>
                <a:latin typeface="Menlo" panose="020B0609030804020204" pitchFamily="49" charset="0"/>
              </a:rPr>
              <a:t>1</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AB6526"/>
                </a:solidFill>
                <a:effectLst/>
                <a:latin typeface="Menlo" panose="020B0609030804020204" pitchFamily="49" charset="0"/>
              </a:rPr>
              <a:t>1</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68482D"/>
                </a:solidFill>
                <a:effectLst/>
                <a:latin typeface="Menlo" panose="020B0609030804020204" pitchFamily="49" charset="0"/>
              </a:rPr>
              <a:t>print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X</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68482D"/>
                </a:solidFill>
                <a:effectLst/>
                <a:latin typeface="Menlo" panose="020B0609030804020204" pitchFamily="49" charset="0"/>
              </a:rPr>
              <a:t>print</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X</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shape</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dirty="0">
                <a:solidFill>
                  <a:srgbClr val="333333"/>
                </a:solidFill>
                <a:effectLst/>
                <a:latin typeface="Menlo" panose="020B0609030804020204" pitchFamily="49" charset="0"/>
              </a:rPr>
              <a:t>y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get_one_hot_vector</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king</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vocab</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y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np</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array</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y</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p:txBody>
      </p:sp>
    </p:spTree>
    <p:extLst>
      <p:ext uri="{BB962C8B-B14F-4D97-AF65-F5344CB8AC3E}">
        <p14:creationId xmlns:p14="http://schemas.microsoft.com/office/powerpoint/2010/main" val="4147497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1C6A2-BE59-040D-29C3-50D42C49125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E95D2D2-760A-0940-78C9-D47B8E90FEEB}"/>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0B05546E-EEC2-3E7C-CEB5-70BE323BCC87}"/>
              </a:ext>
            </a:extLst>
          </p:cNvPr>
          <p:cNvSpPr>
            <a:spLocks noGrp="1"/>
          </p:cNvSpPr>
          <p:nvPr>
            <p:ph idx="1"/>
          </p:nvPr>
        </p:nvSpPr>
        <p:spPr>
          <a:xfrm>
            <a:off x="838200" y="1541645"/>
            <a:ext cx="3990474" cy="1325563"/>
          </a:xfrm>
        </p:spPr>
        <p:txBody>
          <a:bodyPr lIns="90000">
            <a:noAutofit/>
          </a:bodyPr>
          <a:lstStyle/>
          <a:p>
            <a:pPr marL="0" indent="0">
              <a:buNone/>
            </a:pPr>
            <a:r>
              <a:rPr lang="en-GB" sz="2000" b="1" noProof="0" dirty="0">
                <a:effectLst/>
              </a:rPr>
              <a:t>Word2vec</a:t>
            </a:r>
          </a:p>
          <a:p>
            <a:pPr marL="0" indent="0">
              <a:buNone/>
            </a:pPr>
            <a:r>
              <a:rPr lang="en-GB" sz="1200" b="1" noProof="0" dirty="0">
                <a:effectLst/>
              </a:rPr>
              <a:t>CBOW : how to get word embeddings from scratch ?</a:t>
            </a:r>
          </a:p>
          <a:p>
            <a:pPr marL="0" indent="0">
              <a:lnSpc>
                <a:spcPct val="100000"/>
              </a:lnSpc>
              <a:spcBef>
                <a:spcPts val="0"/>
              </a:spcBef>
              <a:buNone/>
            </a:pPr>
            <a:endParaRPr lang="en-GB" sz="1200" noProof="0" dirty="0">
              <a:effectLst/>
            </a:endParaRPr>
          </a:p>
          <a:p>
            <a:pPr marL="0" indent="0">
              <a:lnSpc>
                <a:spcPct val="150000"/>
              </a:lnSpc>
              <a:spcBef>
                <a:spcPts val="0"/>
              </a:spcBef>
              <a:buNone/>
            </a:pPr>
            <a:r>
              <a:rPr lang="en-GB" sz="1200" b="1" noProof="0" dirty="0">
                <a:effectLst/>
              </a:rPr>
              <a:t>Words are one-hot-encoded using the vocabulary</a:t>
            </a:r>
            <a:endParaRPr lang="en-GB" sz="1200" noProof="0" dirty="0">
              <a:effectLst/>
            </a:endParaRPr>
          </a:p>
          <a:p>
            <a:pPr>
              <a:lnSpc>
                <a:spcPct val="150000"/>
              </a:lnSpc>
              <a:spcBef>
                <a:spcPts val="0"/>
              </a:spcBef>
              <a:buAutoNum type="arabicPeriod"/>
            </a:pPr>
            <a:endParaRPr lang="en-GB" sz="1200" noProof="0" dirty="0">
              <a:effectLst/>
            </a:endParaRPr>
          </a:p>
        </p:txBody>
      </p:sp>
      <p:sp>
        <p:nvSpPr>
          <p:cNvPr id="4" name="Espace réservé du pied de page 3">
            <a:extLst>
              <a:ext uri="{FF2B5EF4-FFF2-40B4-BE49-F238E27FC236}">
                <a16:creationId xmlns:a16="http://schemas.microsoft.com/office/drawing/2014/main" id="{7DE92FF7-5755-78B3-51F1-AA54DECF3E68}"/>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15856BDE-EF26-9E09-6A02-ECFC95E0B0DA}"/>
              </a:ext>
            </a:extLst>
          </p:cNvPr>
          <p:cNvSpPr txBox="1"/>
          <p:nvPr/>
        </p:nvSpPr>
        <p:spPr>
          <a:xfrm>
            <a:off x="838200" y="2656272"/>
            <a:ext cx="4551947" cy="3302742"/>
          </a:xfrm>
          <a:prstGeom prst="rect">
            <a:avLst/>
          </a:prstGeom>
          <a:noFill/>
          <a:ln>
            <a:solidFill>
              <a:schemeClr val="accent1"/>
            </a:solidFill>
          </a:ln>
        </p:spPr>
        <p:txBody>
          <a:bodyPr wrap="square" lIns="90000">
            <a:noAutofit/>
          </a:bodyPr>
          <a:lstStyle/>
          <a:p>
            <a:pPr>
              <a:lnSpc>
                <a:spcPts val="1350"/>
              </a:lnSpc>
            </a:pPr>
            <a:endParaRPr lang="fr-FR" sz="800" b="1" dirty="0">
              <a:solidFill>
                <a:srgbClr val="008100"/>
              </a:solidFill>
              <a:effectLst/>
              <a:latin typeface="Menlo" panose="020B0609030804020204" pitchFamily="49" charset="0"/>
            </a:endParaRPr>
          </a:p>
          <a:p>
            <a:pPr>
              <a:lnSpc>
                <a:spcPts val="1350"/>
              </a:lnSpc>
            </a:pPr>
            <a:r>
              <a:rPr lang="fr-FR" sz="800" b="1" dirty="0" err="1">
                <a:solidFill>
                  <a:srgbClr val="008100"/>
                </a:solidFill>
                <a:effectLst/>
                <a:latin typeface="Menlo" panose="020B0609030804020204" pitchFamily="49" charset="0"/>
              </a:rPr>
              <a:t>from</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tensorflow</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keras</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models</a:t>
            </a:r>
            <a:r>
              <a:rPr lang="fr-FR" sz="800" b="0" dirty="0">
                <a:solidFill>
                  <a:srgbClr val="333333"/>
                </a:solidFill>
                <a:effectLst/>
                <a:latin typeface="Menlo" panose="020B0609030804020204" pitchFamily="49" charset="0"/>
              </a:rPr>
              <a:t> </a:t>
            </a:r>
            <a:r>
              <a:rPr lang="fr-FR" sz="800" b="1" dirty="0">
                <a:solidFill>
                  <a:srgbClr val="008100"/>
                </a:solidFill>
                <a:effectLst/>
                <a:latin typeface="Menlo" panose="020B0609030804020204" pitchFamily="49" charset="0"/>
              </a:rPr>
              <a:t>import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Sequential</a:t>
            </a:r>
            <a:endParaRPr lang="fr-FR" sz="800" b="0" dirty="0">
              <a:solidFill>
                <a:srgbClr val="333333"/>
              </a:solidFill>
              <a:effectLst/>
              <a:latin typeface="Menlo" panose="020B0609030804020204" pitchFamily="49" charset="0"/>
            </a:endParaRPr>
          </a:p>
          <a:p>
            <a:pPr>
              <a:lnSpc>
                <a:spcPts val="1350"/>
              </a:lnSpc>
            </a:pPr>
            <a:r>
              <a:rPr lang="fr-FR" sz="800" b="1" dirty="0" err="1">
                <a:solidFill>
                  <a:srgbClr val="008100"/>
                </a:solidFill>
                <a:effectLst/>
                <a:latin typeface="Menlo" panose="020B0609030804020204" pitchFamily="49" charset="0"/>
              </a:rPr>
              <a:t>from</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tensorflow</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keras</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layers</a:t>
            </a:r>
            <a:r>
              <a:rPr lang="fr-FR" sz="800" b="0" dirty="0">
                <a:solidFill>
                  <a:srgbClr val="333333"/>
                </a:solidFill>
                <a:effectLst/>
                <a:latin typeface="Menlo" panose="020B0609030804020204" pitchFamily="49" charset="0"/>
              </a:rPr>
              <a:t> </a:t>
            </a:r>
            <a:r>
              <a:rPr lang="fr-FR" sz="800" b="1" dirty="0">
                <a:solidFill>
                  <a:srgbClr val="008100"/>
                </a:solidFill>
                <a:effectLst/>
                <a:latin typeface="Menlo" panose="020B0609030804020204" pitchFamily="49" charset="0"/>
              </a:rPr>
              <a:t>import</a:t>
            </a:r>
            <a:r>
              <a:rPr lang="fr-FR" sz="800" b="0" dirty="0">
                <a:solidFill>
                  <a:srgbClr val="333333"/>
                </a:solidFill>
                <a:effectLst/>
                <a:latin typeface="Menlo" panose="020B0609030804020204" pitchFamily="49" charset="0"/>
              </a:rPr>
              <a:t> Dense</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Input</a:t>
            </a:r>
          </a:p>
          <a:p>
            <a:pPr>
              <a:lnSpc>
                <a:spcPts val="1350"/>
              </a:lnSpc>
            </a:pPr>
            <a:r>
              <a:rPr lang="fr-FR" sz="800" b="1" dirty="0" err="1">
                <a:solidFill>
                  <a:srgbClr val="008100"/>
                </a:solidFill>
                <a:effectLst/>
                <a:latin typeface="Menlo" panose="020B0609030804020204" pitchFamily="49" charset="0"/>
              </a:rPr>
              <a:t>from</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tensorflow</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keras</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optimizers</a:t>
            </a:r>
            <a:r>
              <a:rPr lang="fr-FR" sz="800" b="0" dirty="0">
                <a:solidFill>
                  <a:srgbClr val="333333"/>
                </a:solidFill>
                <a:effectLst/>
                <a:latin typeface="Menlo" panose="020B0609030804020204" pitchFamily="49" charset="0"/>
              </a:rPr>
              <a:t> </a:t>
            </a:r>
            <a:r>
              <a:rPr lang="fr-FR" sz="800" b="1" dirty="0">
                <a:solidFill>
                  <a:srgbClr val="008100"/>
                </a:solidFill>
                <a:effectLst/>
                <a:latin typeface="Menlo" panose="020B0609030804020204" pitchFamily="49" charset="0"/>
              </a:rPr>
              <a:t>import</a:t>
            </a:r>
            <a:r>
              <a:rPr lang="fr-FR" sz="800" b="0" dirty="0">
                <a:solidFill>
                  <a:srgbClr val="333333"/>
                </a:solidFill>
                <a:effectLst/>
                <a:latin typeface="Menlo" panose="020B0609030804020204" pitchFamily="49" charset="0"/>
              </a:rPr>
              <a:t> </a:t>
            </a:r>
            <a:r>
              <a:rPr lang="fr-FR" sz="800" b="0" dirty="0">
                <a:solidFill>
                  <a:srgbClr val="AB6526"/>
                </a:solidFill>
                <a:effectLst/>
                <a:latin typeface="Menlo" panose="020B0609030804020204" pitchFamily="49" charset="0"/>
              </a:rPr>
              <a:t>SGD</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dirty="0" err="1">
                <a:solidFill>
                  <a:srgbClr val="333333"/>
                </a:solidFill>
                <a:effectLst/>
                <a:latin typeface="Menlo" panose="020B0609030804020204" pitchFamily="49" charset="0"/>
              </a:rPr>
              <a:t>n_hidden_units</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AB6526"/>
                </a:solidFill>
                <a:effectLst/>
                <a:latin typeface="Menlo" panose="020B0609030804020204" pitchFamily="49" charset="0"/>
              </a:rPr>
              <a:t>4</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n_output_units</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68482D"/>
                </a:solidFill>
                <a:effectLst/>
                <a:latin typeface="Menlo" panose="020B0609030804020204" pitchFamily="49" charset="0"/>
              </a:rPr>
              <a:t>len</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vocab</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dirty="0" err="1">
                <a:solidFill>
                  <a:srgbClr val="333333"/>
                </a:solidFill>
                <a:effectLst/>
                <a:latin typeface="Menlo" panose="020B0609030804020204" pitchFamily="49" charset="0"/>
              </a:rPr>
              <a:t>n_inputs</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AB6526"/>
                </a:solidFill>
                <a:effectLst/>
                <a:latin typeface="Menlo" panose="020B0609030804020204" pitchFamily="49" charset="0"/>
              </a:rPr>
              <a:t>2</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n_output_units</a:t>
            </a:r>
            <a:r>
              <a:rPr lang="fr-FR" sz="800" b="0" dirty="0">
                <a:solidFill>
                  <a:srgbClr val="333333"/>
                </a:solidFill>
                <a:effectLst/>
                <a:latin typeface="Menlo" panose="020B0609030804020204" pitchFamily="49" charset="0"/>
              </a:rPr>
              <a:t> </a:t>
            </a:r>
            <a:r>
              <a:rPr lang="fr-FR" sz="800" b="0" i="1" dirty="0">
                <a:solidFill>
                  <a:srgbClr val="6A8B93"/>
                </a:solidFill>
                <a:effectLst/>
                <a:latin typeface="Menlo" panose="020B0609030804020204" pitchFamily="49" charset="0"/>
              </a:rPr>
              <a:t># 2 </a:t>
            </a:r>
            <a:r>
              <a:rPr lang="fr-FR" sz="800" b="0" i="1" dirty="0" err="1">
                <a:solidFill>
                  <a:srgbClr val="6A8B93"/>
                </a:solidFill>
                <a:effectLst/>
                <a:latin typeface="Menlo" panose="020B0609030804020204" pitchFamily="49" charset="0"/>
              </a:rPr>
              <a:t>words</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after</a:t>
            </a:r>
            <a:r>
              <a:rPr lang="fr-FR" sz="800" b="0" i="1" dirty="0">
                <a:solidFill>
                  <a:srgbClr val="6A8B93"/>
                </a:solidFill>
                <a:effectLst/>
                <a:latin typeface="Menlo" panose="020B0609030804020204" pitchFamily="49" charset="0"/>
              </a:rPr>
              <a:t> the </a:t>
            </a:r>
            <a:r>
              <a:rPr lang="fr-FR" sz="800" b="0" i="1" dirty="0" err="1">
                <a:solidFill>
                  <a:srgbClr val="6A8B93"/>
                </a:solidFill>
                <a:effectLst/>
                <a:latin typeface="Menlo" panose="020B0609030804020204" pitchFamily="49" charset="0"/>
              </a:rPr>
              <a:t>target</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word</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68482D"/>
                </a:solidFill>
                <a:effectLst/>
                <a:latin typeface="Menlo" panose="020B0609030804020204" pitchFamily="49" charset="0"/>
              </a:rPr>
              <a:t>print</a:t>
            </a:r>
            <a:r>
              <a:rPr lang="fr-FR" sz="800" b="0" dirty="0">
                <a:solidFill>
                  <a:srgbClr val="252525"/>
                </a:solidFill>
                <a:effectLst/>
                <a:latin typeface="Menlo" panose="020B0609030804020204" pitchFamily="49" charset="0"/>
              </a:rPr>
              <a:t>(</a:t>
            </a:r>
            <a:r>
              <a:rPr lang="fr-FR" sz="800" b="1" dirty="0" err="1">
                <a:solidFill>
                  <a:srgbClr val="008100"/>
                </a:solidFill>
                <a:effectLst/>
                <a:latin typeface="Menlo" panose="020B0609030804020204" pitchFamily="49" charset="0"/>
              </a:rPr>
              <a:t>f</a:t>
            </a:r>
            <a:r>
              <a:rPr lang="fr-FR" sz="800" b="0" dirty="0" err="1">
                <a:solidFill>
                  <a:srgbClr val="C44445"/>
                </a:solidFill>
                <a:effectLst/>
                <a:latin typeface="Menlo" panose="020B0609030804020204" pitchFamily="49" charset="0"/>
              </a:rPr>
              <a:t>"n_inputs</a:t>
            </a:r>
            <a:r>
              <a:rPr lang="fr-FR" sz="800" b="0" dirty="0">
                <a:solidFill>
                  <a:srgbClr val="C44445"/>
                </a:solidFill>
                <a:effectLst/>
                <a:latin typeface="Menlo" panose="020B0609030804020204" pitchFamily="49" charset="0"/>
              </a:rPr>
              <a:t>: </a:t>
            </a:r>
            <a:r>
              <a:rPr lang="fr-FR" sz="800" b="0" dirty="0">
                <a:solidFill>
                  <a:srgbClr val="AB6526"/>
                </a:solidFill>
                <a:effectLst/>
                <a:latin typeface="Menlo" panose="020B0609030804020204" pitchFamily="49" charset="0"/>
              </a:rPr>
              <a:t>{</a:t>
            </a:r>
            <a:r>
              <a:rPr lang="fr-FR" sz="800" b="0" dirty="0" err="1">
                <a:solidFill>
                  <a:srgbClr val="333333"/>
                </a:solidFill>
                <a:effectLst/>
                <a:latin typeface="Menlo" panose="020B0609030804020204" pitchFamily="49" charset="0"/>
              </a:rPr>
              <a:t>n_inputs</a:t>
            </a:r>
            <a:r>
              <a:rPr lang="fr-FR" sz="800" b="0" dirty="0">
                <a:solidFill>
                  <a:srgbClr val="AB6526"/>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dirty="0" err="1">
                <a:solidFill>
                  <a:srgbClr val="333333"/>
                </a:solidFill>
                <a:effectLst/>
                <a:latin typeface="Menlo" panose="020B0609030804020204" pitchFamily="49" charset="0"/>
              </a:rPr>
              <a:t>hidden_layer_size</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AB6526"/>
                </a:solidFill>
                <a:effectLst/>
                <a:latin typeface="Menlo" panose="020B0609030804020204" pitchFamily="49" charset="0"/>
              </a:rPr>
              <a:t>4</a:t>
            </a:r>
            <a:r>
              <a:rPr lang="fr-FR" sz="800" b="0" dirty="0">
                <a:solidFill>
                  <a:srgbClr val="333333"/>
                </a:solidFill>
                <a:effectLst/>
                <a:latin typeface="Menlo" panose="020B0609030804020204" pitchFamily="49" charset="0"/>
              </a:rPr>
              <a:t> </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Number</a:t>
            </a:r>
            <a:r>
              <a:rPr lang="fr-FR" sz="800" b="0" i="1" dirty="0">
                <a:solidFill>
                  <a:srgbClr val="6A8B93"/>
                </a:solidFill>
                <a:effectLst/>
                <a:latin typeface="Menlo" panose="020B0609030804020204" pitchFamily="49" charset="0"/>
              </a:rPr>
              <a:t> of </a:t>
            </a:r>
            <a:r>
              <a:rPr lang="fr-FR" sz="800" b="0" i="1" dirty="0" err="1">
                <a:solidFill>
                  <a:srgbClr val="6A8B93"/>
                </a:solidFill>
                <a:effectLst/>
                <a:latin typeface="Menlo" panose="020B0609030804020204" pitchFamily="49" charset="0"/>
              </a:rPr>
              <a:t>neurons</a:t>
            </a:r>
            <a:r>
              <a:rPr lang="fr-FR" sz="800" b="0" i="1" dirty="0">
                <a:solidFill>
                  <a:srgbClr val="6A8B93"/>
                </a:solidFill>
                <a:effectLst/>
                <a:latin typeface="Menlo" panose="020B0609030804020204" pitchFamily="49" charset="0"/>
              </a:rPr>
              <a:t> in the </a:t>
            </a:r>
            <a:r>
              <a:rPr lang="fr-FR" sz="800" b="0" i="1" dirty="0" err="1">
                <a:solidFill>
                  <a:srgbClr val="6A8B93"/>
                </a:solidFill>
                <a:effectLst/>
                <a:latin typeface="Menlo" panose="020B0609030804020204" pitchFamily="49" charset="0"/>
              </a:rPr>
              <a:t>hidden</a:t>
            </a:r>
            <a:r>
              <a:rPr lang="fr-FR" sz="800" b="0" i="1" dirty="0">
                <a:solidFill>
                  <a:srgbClr val="6A8B93"/>
                </a:solidFill>
                <a:effectLst/>
                <a:latin typeface="Menlo" panose="020B0609030804020204" pitchFamily="49" charset="0"/>
              </a:rPr>
              <a:t> layer</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output_layer_size</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68482D"/>
                </a:solidFill>
                <a:effectLst/>
                <a:latin typeface="Menlo" panose="020B0609030804020204" pitchFamily="49" charset="0"/>
              </a:rPr>
              <a:t>len</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vocab</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Number</a:t>
            </a:r>
            <a:r>
              <a:rPr lang="fr-FR" sz="800" b="0" i="1" dirty="0">
                <a:solidFill>
                  <a:srgbClr val="6A8B93"/>
                </a:solidFill>
                <a:effectLst/>
                <a:latin typeface="Menlo" panose="020B0609030804020204" pitchFamily="49" charset="0"/>
              </a:rPr>
              <a:t> of </a:t>
            </a:r>
            <a:r>
              <a:rPr lang="fr-FR" sz="800" b="0" i="1" dirty="0" err="1">
                <a:solidFill>
                  <a:srgbClr val="6A8B93"/>
                </a:solidFill>
                <a:effectLst/>
                <a:latin typeface="Menlo" panose="020B0609030804020204" pitchFamily="49" charset="0"/>
              </a:rPr>
              <a:t>neurons</a:t>
            </a:r>
            <a:r>
              <a:rPr lang="fr-FR" sz="800" b="0" i="1" dirty="0">
                <a:solidFill>
                  <a:srgbClr val="6A8B93"/>
                </a:solidFill>
                <a:effectLst/>
                <a:latin typeface="Menlo" panose="020B0609030804020204" pitchFamily="49" charset="0"/>
              </a:rPr>
              <a:t> in the output layer</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endParaRPr lang="fr-FR" sz="800" b="0" dirty="0">
              <a:solidFill>
                <a:srgbClr val="333333"/>
              </a:solidFill>
              <a:effectLst/>
              <a:latin typeface="Menlo" panose="020B0609030804020204" pitchFamily="49" charset="0"/>
            </a:endParaRPr>
          </a:p>
        </p:txBody>
      </p:sp>
      <p:sp>
        <p:nvSpPr>
          <p:cNvPr id="7" name="ZoneTexte 6">
            <a:extLst>
              <a:ext uri="{FF2B5EF4-FFF2-40B4-BE49-F238E27FC236}">
                <a16:creationId xmlns:a16="http://schemas.microsoft.com/office/drawing/2014/main" id="{7B418715-0D44-57DA-018C-0667114F9E88}"/>
              </a:ext>
            </a:extLst>
          </p:cNvPr>
          <p:cNvSpPr txBox="1"/>
          <p:nvPr/>
        </p:nvSpPr>
        <p:spPr>
          <a:xfrm>
            <a:off x="5877426" y="2657576"/>
            <a:ext cx="4551947" cy="3302742"/>
          </a:xfrm>
          <a:prstGeom prst="rect">
            <a:avLst/>
          </a:prstGeom>
          <a:noFill/>
          <a:ln>
            <a:solidFill>
              <a:schemeClr val="accent1"/>
            </a:solidFill>
          </a:ln>
        </p:spPr>
        <p:txBody>
          <a:bodyPr wrap="square" lIns="90000">
            <a:noAutofit/>
          </a:bodyPr>
          <a:lstStyle/>
          <a:p>
            <a:pPr>
              <a:lnSpc>
                <a:spcPts val="1350"/>
              </a:lnSpc>
            </a:pPr>
            <a:br>
              <a:rPr lang="fr-FR" sz="800" b="0" dirty="0">
                <a:solidFill>
                  <a:srgbClr val="333333"/>
                </a:solidFill>
                <a:effectLst/>
                <a:latin typeface="Menlo" panose="020B0609030804020204" pitchFamily="49" charset="0"/>
              </a:rPr>
            </a:b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Define</a:t>
            </a:r>
            <a:r>
              <a:rPr lang="fr-FR" sz="800" b="0" i="1" dirty="0">
                <a:solidFill>
                  <a:srgbClr val="6A8B93"/>
                </a:solidFill>
                <a:effectLst/>
                <a:latin typeface="Menlo" panose="020B0609030804020204" pitchFamily="49" charset="0"/>
              </a:rPr>
              <a:t> the model</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model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Sequential</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model</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add</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Input</a:t>
            </a:r>
            <a:r>
              <a:rPr lang="fr-FR" sz="800" b="0" dirty="0">
                <a:solidFill>
                  <a:srgbClr val="252525"/>
                </a:solidFill>
                <a:effectLst/>
                <a:latin typeface="Menlo" panose="020B0609030804020204" pitchFamily="49" charset="0"/>
              </a:rPr>
              <a:t>(</a:t>
            </a:r>
            <a:r>
              <a:rPr lang="fr-FR" sz="800" b="0" dirty="0" err="1">
                <a:solidFill>
                  <a:srgbClr val="396694"/>
                </a:solidFill>
                <a:effectLst/>
                <a:latin typeface="Menlo" panose="020B0609030804020204" pitchFamily="49" charset="0"/>
              </a:rPr>
              <a:t>shape</a:t>
            </a:r>
            <a:r>
              <a:rPr lang="fr-FR" sz="800" b="1" dirty="0">
                <a:solidFill>
                  <a:srgbClr val="AD3EFE"/>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n_inputs</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model</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add</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Dense</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hidden_layer_size</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396694"/>
                </a:solidFill>
                <a:effectLst/>
                <a:latin typeface="Menlo" panose="020B0609030804020204" pitchFamily="49" charset="0"/>
              </a:rPr>
              <a:t>activation</a:t>
            </a:r>
            <a:r>
              <a:rPr lang="fr-FR" sz="800" b="1" dirty="0">
                <a:solidFill>
                  <a:srgbClr val="AD3EFE"/>
                </a:solidFill>
                <a:effectLst/>
                <a:latin typeface="Menlo" panose="020B0609030804020204" pitchFamily="49" charset="0"/>
              </a:rPr>
              <a:t>=</a:t>
            </a:r>
            <a:r>
              <a:rPr lang="fr-FR" sz="800" b="0" dirty="0">
                <a:solidFill>
                  <a:srgbClr val="C44445"/>
                </a:solidFill>
                <a:effectLst/>
                <a:latin typeface="Menlo" panose="020B0609030804020204" pitchFamily="49" charset="0"/>
              </a:rPr>
              <a:t>'relu'</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model</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add</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Dense</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output_layer_size</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396694"/>
                </a:solidFill>
                <a:effectLst/>
                <a:latin typeface="Menlo" panose="020B0609030804020204" pitchFamily="49" charset="0"/>
              </a:rPr>
              <a:t>activation</a:t>
            </a:r>
            <a:r>
              <a:rPr lang="fr-FR" sz="800" b="1" dirty="0">
                <a:solidFill>
                  <a:srgbClr val="AD3EFE"/>
                </a:solidFill>
                <a:effectLst/>
                <a:latin typeface="Menlo" panose="020B0609030804020204" pitchFamily="49" charset="0"/>
              </a:rPr>
              <a:t>=</a:t>
            </a:r>
            <a:r>
              <a:rPr lang="fr-FR" sz="800" b="0" dirty="0">
                <a:solidFill>
                  <a:srgbClr val="C44445"/>
                </a:solidFill>
                <a:effectLst/>
                <a:latin typeface="Menlo" panose="020B0609030804020204" pitchFamily="49" charset="0"/>
              </a:rPr>
              <a:t>'softmax'</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i="1" dirty="0">
                <a:solidFill>
                  <a:srgbClr val="6A8B93"/>
                </a:solidFill>
                <a:effectLst/>
                <a:latin typeface="Menlo" panose="020B0609030804020204" pitchFamily="49" charset="0"/>
              </a:rPr>
              <a:t># Compile the model</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model</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compile</a:t>
            </a:r>
            <a:r>
              <a:rPr lang="fr-FR" sz="800" b="0" dirty="0">
                <a:solidFill>
                  <a:srgbClr val="252525"/>
                </a:solidFill>
                <a:effectLst/>
                <a:latin typeface="Menlo" panose="020B0609030804020204" pitchFamily="49" charset="0"/>
              </a:rPr>
              <a:t>(</a:t>
            </a:r>
            <a:r>
              <a:rPr lang="fr-FR" sz="800" b="0" dirty="0" err="1">
                <a:solidFill>
                  <a:srgbClr val="396694"/>
                </a:solidFill>
                <a:effectLst/>
                <a:latin typeface="Menlo" panose="020B0609030804020204" pitchFamily="49" charset="0"/>
              </a:rPr>
              <a:t>optimizer</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SGD</a:t>
            </a:r>
            <a:r>
              <a:rPr lang="fr-FR" sz="800" b="0" dirty="0">
                <a:solidFill>
                  <a:srgbClr val="252525"/>
                </a:solidFill>
                <a:effectLst/>
                <a:latin typeface="Menlo" panose="020B0609030804020204" pitchFamily="49" charset="0"/>
              </a:rPr>
              <a:t>(</a:t>
            </a:r>
            <a:r>
              <a:rPr lang="fr-FR" sz="800" b="0" dirty="0" err="1">
                <a:solidFill>
                  <a:srgbClr val="396694"/>
                </a:solidFill>
                <a:effectLst/>
                <a:latin typeface="Menlo" panose="020B0609030804020204" pitchFamily="49" charset="0"/>
              </a:rPr>
              <a:t>learning_rate</a:t>
            </a:r>
            <a:r>
              <a:rPr lang="fr-FR" sz="800" b="1" dirty="0">
                <a:solidFill>
                  <a:srgbClr val="AD3EFE"/>
                </a:solidFill>
                <a:effectLst/>
                <a:latin typeface="Menlo" panose="020B0609030804020204" pitchFamily="49" charset="0"/>
              </a:rPr>
              <a:t>=</a:t>
            </a:r>
            <a:r>
              <a:rPr lang="fr-FR" sz="800" b="0" dirty="0">
                <a:solidFill>
                  <a:srgbClr val="AB6526"/>
                </a:solidFill>
                <a:effectLst/>
                <a:latin typeface="Menlo" panose="020B0609030804020204" pitchFamily="49" charset="0"/>
              </a:rPr>
              <a:t>0.1</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96694"/>
                </a:solidFill>
                <a:effectLst/>
                <a:latin typeface="Menlo" panose="020B0609030804020204" pitchFamily="49" charset="0"/>
              </a:rPr>
              <a:t>loss</a:t>
            </a:r>
            <a:r>
              <a:rPr lang="fr-FR" sz="800" b="1" dirty="0">
                <a:solidFill>
                  <a:srgbClr val="AD3EFE"/>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categorical_crossentropy</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96694"/>
                </a:solidFill>
                <a:effectLst/>
                <a:latin typeface="Menlo" panose="020B0609030804020204" pitchFamily="49" charset="0"/>
              </a:rPr>
              <a:t>metrics</a:t>
            </a:r>
            <a:r>
              <a:rPr lang="fr-FR" sz="800" b="1" dirty="0">
                <a:solidFill>
                  <a:srgbClr val="AD3EFE"/>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accuracy</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i="1" dirty="0">
                <a:solidFill>
                  <a:srgbClr val="6A8B93"/>
                </a:solidFill>
                <a:effectLst/>
                <a:latin typeface="Menlo" panose="020B0609030804020204" pitchFamily="49" charset="0"/>
              </a:rPr>
              <a:t># Train the model</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model</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fit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X</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y</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96694"/>
                </a:solidFill>
                <a:effectLst/>
                <a:latin typeface="Menlo" panose="020B0609030804020204" pitchFamily="49" charset="0"/>
              </a:rPr>
              <a:t>epochs</a:t>
            </a:r>
            <a:r>
              <a:rPr lang="fr-FR" sz="800" b="1" dirty="0">
                <a:solidFill>
                  <a:srgbClr val="AD3EFE"/>
                </a:solidFill>
                <a:effectLst/>
                <a:latin typeface="Menlo" panose="020B0609030804020204" pitchFamily="49" charset="0"/>
              </a:rPr>
              <a:t>=</a:t>
            </a:r>
            <a:r>
              <a:rPr lang="fr-FR" sz="800" b="0" dirty="0">
                <a:solidFill>
                  <a:srgbClr val="AB6526"/>
                </a:solidFill>
                <a:effectLst/>
                <a:latin typeface="Menlo" panose="020B0609030804020204" pitchFamily="49" charset="0"/>
              </a:rPr>
              <a:t>100</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96694"/>
                </a:solidFill>
                <a:effectLst/>
                <a:latin typeface="Menlo" panose="020B0609030804020204" pitchFamily="49" charset="0"/>
              </a:rPr>
              <a:t>verbose</a:t>
            </a:r>
            <a:r>
              <a:rPr lang="fr-FR" sz="800" b="1" dirty="0">
                <a:solidFill>
                  <a:srgbClr val="AD3EFE"/>
                </a:solidFill>
                <a:effectLst/>
                <a:latin typeface="Menlo" panose="020B0609030804020204" pitchFamily="49" charset="0"/>
              </a:rPr>
              <a:t>=</a:t>
            </a:r>
            <a:r>
              <a:rPr lang="fr-FR" sz="800" b="0" dirty="0">
                <a:solidFill>
                  <a:srgbClr val="AB6526"/>
                </a:solidFill>
                <a:effectLst/>
                <a:latin typeface="Menlo" panose="020B0609030804020204" pitchFamily="49" charset="0"/>
              </a:rPr>
              <a:t>0</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Predict</a:t>
            </a:r>
            <a:r>
              <a:rPr lang="fr-FR" sz="800" b="0" i="1" dirty="0">
                <a:solidFill>
                  <a:srgbClr val="6A8B93"/>
                </a:solidFill>
                <a:effectLst/>
                <a:latin typeface="Menlo" panose="020B0609030804020204" pitchFamily="49" charset="0"/>
              </a:rPr>
              <a:t> the output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out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model</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predict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X</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68482D"/>
                </a:solidFill>
                <a:effectLst/>
                <a:latin typeface="Menlo" panose="020B0609030804020204" pitchFamily="49" charset="0"/>
              </a:rPr>
              <a:t>print</a:t>
            </a:r>
            <a:r>
              <a:rPr lang="fr-FR" sz="800" b="0" dirty="0">
                <a:solidFill>
                  <a:srgbClr val="252525"/>
                </a:solidFill>
                <a:effectLst/>
                <a:latin typeface="Menlo" panose="020B0609030804020204" pitchFamily="49" charset="0"/>
              </a:rPr>
              <a:t>(</a:t>
            </a:r>
            <a:r>
              <a:rPr lang="fr-FR" sz="800" b="1" dirty="0" err="1">
                <a:solidFill>
                  <a:srgbClr val="008100"/>
                </a:solidFill>
                <a:effectLst/>
                <a:latin typeface="Menlo" panose="020B0609030804020204" pitchFamily="49" charset="0"/>
              </a:rPr>
              <a:t>f</a:t>
            </a:r>
            <a:r>
              <a:rPr lang="fr-FR" sz="800" b="0" dirty="0" err="1">
                <a:solidFill>
                  <a:srgbClr val="C44445"/>
                </a:solidFill>
                <a:effectLst/>
                <a:latin typeface="Menlo" panose="020B0609030804020204" pitchFamily="49" charset="0"/>
              </a:rPr>
              <a:t>"Output</a:t>
            </a:r>
            <a:r>
              <a:rPr lang="fr-FR" sz="800" b="0" dirty="0">
                <a:solidFill>
                  <a:srgbClr val="C44445"/>
                </a:solidFill>
                <a:effectLst/>
                <a:latin typeface="Menlo" panose="020B0609030804020204" pitchFamily="49" charset="0"/>
              </a:rPr>
              <a:t> (out): </a:t>
            </a:r>
            <a:r>
              <a:rPr lang="fr-FR" sz="800" b="0" dirty="0">
                <a:solidFill>
                  <a:srgbClr val="DA5239"/>
                </a:solidFill>
                <a:effectLst/>
                <a:latin typeface="Menlo" panose="020B0609030804020204" pitchFamily="49" charset="0"/>
              </a:rPr>
              <a:t>\n</a:t>
            </a:r>
            <a:r>
              <a:rPr lang="fr-FR" sz="800" b="0" dirty="0">
                <a:solidFill>
                  <a:srgbClr val="C44445"/>
                </a:solidFill>
                <a:effectLst/>
                <a:latin typeface="Menlo" panose="020B0609030804020204" pitchFamily="49" charset="0"/>
              </a:rPr>
              <a:t> </a:t>
            </a:r>
            <a:r>
              <a:rPr lang="fr-FR" sz="800" b="0" dirty="0">
                <a:solidFill>
                  <a:srgbClr val="AB6526"/>
                </a:solidFill>
                <a:effectLst/>
                <a:latin typeface="Menlo" panose="020B0609030804020204" pitchFamily="49" charset="0"/>
              </a:rPr>
              <a:t>{</a:t>
            </a:r>
            <a:r>
              <a:rPr lang="fr-FR" sz="800" b="0" dirty="0">
                <a:solidFill>
                  <a:srgbClr val="333333"/>
                </a:solidFill>
                <a:effectLst/>
                <a:latin typeface="Menlo" panose="020B0609030804020204" pitchFamily="49" charset="0"/>
              </a:rPr>
              <a:t>out</a:t>
            </a:r>
            <a:r>
              <a:rPr lang="fr-FR" sz="800" b="0" dirty="0">
                <a:solidFill>
                  <a:srgbClr val="AB6526"/>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p:txBody>
      </p:sp>
    </p:spTree>
    <p:extLst>
      <p:ext uri="{BB962C8B-B14F-4D97-AF65-F5344CB8AC3E}">
        <p14:creationId xmlns:p14="http://schemas.microsoft.com/office/powerpoint/2010/main" val="3400504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4CD2-AD47-9029-5383-39C97E9283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55382C9-8AA2-D53F-76DD-B0F51040D161}"/>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92F10C1F-0341-971B-7A4E-9A92EDFA7160}"/>
              </a:ext>
            </a:extLst>
          </p:cNvPr>
          <p:cNvSpPr>
            <a:spLocks noGrp="1"/>
          </p:cNvSpPr>
          <p:nvPr>
            <p:ph idx="1"/>
          </p:nvPr>
        </p:nvSpPr>
        <p:spPr>
          <a:xfrm>
            <a:off x="838200" y="1541645"/>
            <a:ext cx="3990474" cy="1325563"/>
          </a:xfrm>
        </p:spPr>
        <p:txBody>
          <a:bodyPr lIns="90000">
            <a:noAutofit/>
          </a:bodyPr>
          <a:lstStyle/>
          <a:p>
            <a:pPr marL="0" indent="0">
              <a:buNone/>
            </a:pPr>
            <a:r>
              <a:rPr lang="en-GB" sz="2000" b="1" noProof="0" dirty="0">
                <a:effectLst/>
              </a:rPr>
              <a:t>Word2vec</a:t>
            </a:r>
          </a:p>
          <a:p>
            <a:pPr marL="0" indent="0">
              <a:buNone/>
            </a:pPr>
            <a:r>
              <a:rPr lang="en-GB" sz="1200" b="1" noProof="0" dirty="0">
                <a:effectLst/>
              </a:rPr>
              <a:t>CBOW : how to get word embeddings from scratch ?</a:t>
            </a:r>
          </a:p>
          <a:p>
            <a:pPr marL="0" indent="0">
              <a:lnSpc>
                <a:spcPct val="100000"/>
              </a:lnSpc>
              <a:spcBef>
                <a:spcPts val="0"/>
              </a:spcBef>
              <a:buNone/>
            </a:pPr>
            <a:endParaRPr lang="en-GB" sz="1200" noProof="0" dirty="0">
              <a:effectLst/>
            </a:endParaRPr>
          </a:p>
          <a:p>
            <a:pPr marL="0" indent="0">
              <a:lnSpc>
                <a:spcPct val="150000"/>
              </a:lnSpc>
              <a:spcBef>
                <a:spcPts val="0"/>
              </a:spcBef>
              <a:buNone/>
            </a:pPr>
            <a:r>
              <a:rPr lang="en-GB" sz="1200" b="1" noProof="0" dirty="0">
                <a:effectLst/>
              </a:rPr>
              <a:t>Words are one-hot-encoded using the vocabulary</a:t>
            </a:r>
            <a:endParaRPr lang="en-GB" sz="1200" noProof="0" dirty="0">
              <a:effectLst/>
            </a:endParaRPr>
          </a:p>
          <a:p>
            <a:pPr>
              <a:lnSpc>
                <a:spcPct val="150000"/>
              </a:lnSpc>
              <a:spcBef>
                <a:spcPts val="0"/>
              </a:spcBef>
              <a:buAutoNum type="arabicPeriod"/>
            </a:pPr>
            <a:endParaRPr lang="en-GB" sz="1200" noProof="0" dirty="0">
              <a:effectLst/>
            </a:endParaRPr>
          </a:p>
        </p:txBody>
      </p:sp>
      <p:sp>
        <p:nvSpPr>
          <p:cNvPr id="4" name="Espace réservé du pied de page 3">
            <a:extLst>
              <a:ext uri="{FF2B5EF4-FFF2-40B4-BE49-F238E27FC236}">
                <a16:creationId xmlns:a16="http://schemas.microsoft.com/office/drawing/2014/main" id="{F420F2ED-0B36-BF4B-3929-79726D9A17EE}"/>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2A0EA299-5D9E-C643-2C0E-C49D0EAABC98}"/>
              </a:ext>
            </a:extLst>
          </p:cNvPr>
          <p:cNvSpPr txBox="1"/>
          <p:nvPr/>
        </p:nvSpPr>
        <p:spPr>
          <a:xfrm>
            <a:off x="838200" y="2656272"/>
            <a:ext cx="4551947" cy="3302742"/>
          </a:xfrm>
          <a:prstGeom prst="rect">
            <a:avLst/>
          </a:prstGeom>
          <a:noFill/>
          <a:ln>
            <a:solidFill>
              <a:schemeClr val="accent1"/>
            </a:solidFill>
          </a:ln>
        </p:spPr>
        <p:txBody>
          <a:bodyPr wrap="square" lIns="90000">
            <a:noAutofit/>
          </a:bodyPr>
          <a:lstStyle/>
          <a:p>
            <a:pPr>
              <a:lnSpc>
                <a:spcPts val="1350"/>
              </a:lnSpc>
            </a:pPr>
            <a:endParaRPr lang="fr-FR" sz="800" b="1" dirty="0">
              <a:solidFill>
                <a:srgbClr val="008100"/>
              </a:solidFill>
              <a:effectLst/>
              <a:latin typeface="Menlo" panose="020B0609030804020204" pitchFamily="49" charset="0"/>
            </a:endParaRPr>
          </a:p>
          <a:p>
            <a:pPr>
              <a:lnSpc>
                <a:spcPct val="150000"/>
              </a:lnSpc>
            </a:pP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Evaluate</a:t>
            </a:r>
            <a:r>
              <a:rPr lang="fr-FR" sz="800" b="0" i="1" dirty="0">
                <a:solidFill>
                  <a:srgbClr val="6A8B93"/>
                </a:solidFill>
                <a:effectLst/>
                <a:latin typeface="Menlo" panose="020B0609030804020204" pitchFamily="49" charset="0"/>
              </a:rPr>
              <a:t> the model</a:t>
            </a:r>
            <a:endParaRPr lang="fr-FR" sz="800" b="0" dirty="0">
              <a:solidFill>
                <a:srgbClr val="333333"/>
              </a:solidFill>
              <a:effectLst/>
              <a:latin typeface="Menlo" panose="020B0609030804020204" pitchFamily="49" charset="0"/>
            </a:endParaRPr>
          </a:p>
          <a:p>
            <a:pPr>
              <a:lnSpc>
                <a:spcPct val="150000"/>
              </a:lnSpc>
            </a:pPr>
            <a:r>
              <a:rPr lang="fr-FR" sz="800" b="0" dirty="0" err="1">
                <a:solidFill>
                  <a:srgbClr val="333333"/>
                </a:solidFill>
                <a:effectLst/>
                <a:latin typeface="Menlo" panose="020B0609030804020204" pitchFamily="49" charset="0"/>
              </a:rPr>
              <a:t>loss</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accuracy</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model</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evaluate</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X</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y</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96694"/>
                </a:solidFill>
                <a:effectLst/>
                <a:latin typeface="Menlo" panose="020B0609030804020204" pitchFamily="49" charset="0"/>
              </a:rPr>
              <a:t>verbose</a:t>
            </a:r>
            <a:r>
              <a:rPr lang="fr-FR" sz="800" b="1" dirty="0">
                <a:solidFill>
                  <a:srgbClr val="AD3EFE"/>
                </a:solidFill>
                <a:effectLst/>
                <a:latin typeface="Menlo" panose="020B0609030804020204" pitchFamily="49" charset="0"/>
              </a:rPr>
              <a:t>=</a:t>
            </a:r>
            <a:r>
              <a:rPr lang="fr-FR" sz="800" b="0" dirty="0">
                <a:solidFill>
                  <a:srgbClr val="AB6526"/>
                </a:solidFill>
                <a:effectLst/>
                <a:latin typeface="Menlo" panose="020B0609030804020204" pitchFamily="49" charset="0"/>
              </a:rPr>
              <a:t>0</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ct val="150000"/>
              </a:lnSpc>
            </a:pPr>
            <a:r>
              <a:rPr lang="fr-FR" sz="800" b="0" dirty="0">
                <a:solidFill>
                  <a:srgbClr val="68482D"/>
                </a:solidFill>
                <a:effectLst/>
                <a:latin typeface="Menlo" panose="020B0609030804020204" pitchFamily="49" charset="0"/>
              </a:rPr>
              <a:t>print</a:t>
            </a:r>
            <a:r>
              <a:rPr lang="fr-FR" sz="800" b="0" dirty="0">
                <a:solidFill>
                  <a:srgbClr val="252525"/>
                </a:solidFill>
                <a:effectLst/>
                <a:latin typeface="Menlo" panose="020B0609030804020204" pitchFamily="49" charset="0"/>
              </a:rPr>
              <a:t>(</a:t>
            </a:r>
            <a:r>
              <a:rPr lang="fr-FR" sz="800" b="1" dirty="0" err="1">
                <a:solidFill>
                  <a:srgbClr val="008100"/>
                </a:solidFill>
                <a:effectLst/>
                <a:latin typeface="Menlo" panose="020B0609030804020204" pitchFamily="49" charset="0"/>
              </a:rPr>
              <a:t>f</a:t>
            </a:r>
            <a:r>
              <a:rPr lang="fr-FR" sz="800" b="0" dirty="0" err="1">
                <a:solidFill>
                  <a:srgbClr val="C44445"/>
                </a:solidFill>
                <a:effectLst/>
                <a:latin typeface="Menlo" panose="020B0609030804020204" pitchFamily="49" charset="0"/>
              </a:rPr>
              <a:t>"Final</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Loss</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categorical_crossentropy</a:t>
            </a:r>
            <a:r>
              <a:rPr lang="fr-FR" sz="800" b="0" dirty="0">
                <a:solidFill>
                  <a:srgbClr val="C44445"/>
                </a:solidFill>
                <a:effectLst/>
                <a:latin typeface="Menlo" panose="020B0609030804020204" pitchFamily="49" charset="0"/>
              </a:rPr>
              <a:t>): </a:t>
            </a:r>
            <a:r>
              <a:rPr lang="fr-FR" sz="800" b="0" dirty="0">
                <a:solidFill>
                  <a:srgbClr val="AB6526"/>
                </a:solidFill>
                <a:effectLst/>
                <a:latin typeface="Menlo" panose="020B0609030804020204" pitchFamily="49" charset="0"/>
              </a:rPr>
              <a:t>{</a:t>
            </a:r>
            <a:r>
              <a:rPr lang="fr-FR" sz="800" b="0" dirty="0" err="1">
                <a:solidFill>
                  <a:srgbClr val="333333"/>
                </a:solidFill>
                <a:effectLst/>
                <a:latin typeface="Menlo" panose="020B0609030804020204" pitchFamily="49" charset="0"/>
              </a:rPr>
              <a:t>loss</a:t>
            </a:r>
            <a:r>
              <a:rPr lang="fr-FR" sz="800" b="0" dirty="0">
                <a:solidFill>
                  <a:srgbClr val="AB6526"/>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ct val="150000"/>
              </a:lnSpc>
            </a:pPr>
            <a:r>
              <a:rPr lang="fr-FR" sz="800" b="0" dirty="0">
                <a:solidFill>
                  <a:srgbClr val="68482D"/>
                </a:solidFill>
                <a:effectLst/>
                <a:latin typeface="Menlo" panose="020B0609030804020204" pitchFamily="49" charset="0"/>
              </a:rPr>
              <a:t>print</a:t>
            </a:r>
            <a:r>
              <a:rPr lang="fr-FR" sz="800" b="0" dirty="0">
                <a:solidFill>
                  <a:srgbClr val="252525"/>
                </a:solidFill>
                <a:effectLst/>
                <a:latin typeface="Menlo" panose="020B0609030804020204" pitchFamily="49" charset="0"/>
              </a:rPr>
              <a:t>(</a:t>
            </a:r>
            <a:r>
              <a:rPr lang="fr-FR" sz="800" b="1" dirty="0" err="1">
                <a:solidFill>
                  <a:srgbClr val="008100"/>
                </a:solidFill>
                <a:effectLst/>
                <a:latin typeface="Menlo" panose="020B0609030804020204" pitchFamily="49" charset="0"/>
              </a:rPr>
              <a:t>f</a:t>
            </a:r>
            <a:r>
              <a:rPr lang="fr-FR" sz="800" b="0" dirty="0" err="1">
                <a:solidFill>
                  <a:srgbClr val="C44445"/>
                </a:solidFill>
                <a:effectLst/>
                <a:latin typeface="Menlo" panose="020B0609030804020204" pitchFamily="49" charset="0"/>
              </a:rPr>
              <a:t>"Final</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Accuracy</a:t>
            </a:r>
            <a:r>
              <a:rPr lang="fr-FR" sz="800" b="0" dirty="0">
                <a:solidFill>
                  <a:srgbClr val="C44445"/>
                </a:solidFill>
                <a:effectLst/>
                <a:latin typeface="Menlo" panose="020B0609030804020204" pitchFamily="49" charset="0"/>
              </a:rPr>
              <a:t>: </a:t>
            </a:r>
            <a:r>
              <a:rPr lang="fr-FR" sz="800" b="0" dirty="0">
                <a:solidFill>
                  <a:srgbClr val="AB6526"/>
                </a:solidFill>
                <a:effectLst/>
                <a:latin typeface="Menlo" panose="020B0609030804020204" pitchFamily="49" charset="0"/>
              </a:rPr>
              <a:t>{</a:t>
            </a:r>
            <a:r>
              <a:rPr lang="fr-FR" sz="800" b="0" dirty="0" err="1">
                <a:solidFill>
                  <a:srgbClr val="333333"/>
                </a:solidFill>
                <a:effectLst/>
                <a:latin typeface="Menlo" panose="020B0609030804020204" pitchFamily="49" charset="0"/>
              </a:rPr>
              <a:t>accuracy</a:t>
            </a:r>
            <a:r>
              <a:rPr lang="fr-FR" sz="800" b="0" dirty="0">
                <a:solidFill>
                  <a:srgbClr val="AB6526"/>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endParaRPr lang="fr-FR" sz="800" b="0" dirty="0">
              <a:solidFill>
                <a:srgbClr val="333333"/>
              </a:solidFill>
              <a:effectLst/>
              <a:latin typeface="Menlo" panose="020B0609030804020204" pitchFamily="49" charset="0"/>
            </a:endParaRPr>
          </a:p>
          <a:p>
            <a:pPr>
              <a:lnSpc>
                <a:spcPts val="1350"/>
              </a:lnSpc>
            </a:pP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Get</a:t>
            </a:r>
            <a:r>
              <a:rPr lang="fr-FR" sz="800" b="0" i="1" dirty="0">
                <a:solidFill>
                  <a:srgbClr val="6A8B93"/>
                </a:solidFill>
                <a:effectLst/>
                <a:latin typeface="Menlo" panose="020B0609030804020204" pitchFamily="49" charset="0"/>
              </a:rPr>
              <a:t> the </a:t>
            </a:r>
            <a:r>
              <a:rPr lang="fr-FR" sz="800" b="0" i="1" dirty="0" err="1">
                <a:solidFill>
                  <a:srgbClr val="6A8B93"/>
                </a:solidFill>
                <a:effectLst/>
                <a:latin typeface="Menlo" panose="020B0609030804020204" pitchFamily="49" charset="0"/>
              </a:rPr>
              <a:t>weights</a:t>
            </a:r>
            <a:r>
              <a:rPr lang="fr-FR" sz="800" b="0" i="1" dirty="0">
                <a:solidFill>
                  <a:srgbClr val="6A8B93"/>
                </a:solidFill>
                <a:effectLst/>
                <a:latin typeface="Menlo" panose="020B0609030804020204" pitchFamily="49" charset="0"/>
              </a:rPr>
              <a:t> of the </a:t>
            </a:r>
            <a:r>
              <a:rPr lang="fr-FR" sz="800" b="0" i="1" dirty="0" err="1">
                <a:solidFill>
                  <a:srgbClr val="6A8B93"/>
                </a:solidFill>
                <a:effectLst/>
                <a:latin typeface="Menlo" panose="020B0609030804020204" pitchFamily="49" charset="0"/>
              </a:rPr>
              <a:t>hidden</a:t>
            </a:r>
            <a:r>
              <a:rPr lang="fr-FR" sz="800" b="0" i="1" dirty="0">
                <a:solidFill>
                  <a:srgbClr val="6A8B93"/>
                </a:solidFill>
                <a:effectLst/>
                <a:latin typeface="Menlo" panose="020B0609030804020204" pitchFamily="49" charset="0"/>
              </a:rPr>
              <a:t> layer</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hidden_layer_weights</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model</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layers</a:t>
            </a:r>
            <a:r>
              <a:rPr lang="fr-FR" sz="800" b="0" dirty="0">
                <a:solidFill>
                  <a:srgbClr val="252525"/>
                </a:solidFill>
                <a:effectLst/>
                <a:latin typeface="Menlo" panose="020B0609030804020204" pitchFamily="49" charset="0"/>
              </a:rPr>
              <a:t>[</a:t>
            </a:r>
            <a:r>
              <a:rPr lang="fr-FR" sz="800" b="0" dirty="0">
                <a:solidFill>
                  <a:srgbClr val="AB6526"/>
                </a:solidFill>
                <a:effectLst/>
                <a:latin typeface="Menlo" panose="020B0609030804020204" pitchFamily="49" charset="0"/>
              </a:rPr>
              <a:t>1</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get_weights</a:t>
            </a:r>
            <a:r>
              <a:rPr lang="fr-FR" sz="800" b="0" dirty="0">
                <a:solidFill>
                  <a:srgbClr val="252525"/>
                </a:solidFill>
                <a:effectLst/>
                <a:latin typeface="Menlo" panose="020B0609030804020204" pitchFamily="49" charset="0"/>
              </a:rPr>
              <a:t>()[</a:t>
            </a:r>
            <a:r>
              <a:rPr lang="fr-FR" sz="800" b="0" dirty="0">
                <a:solidFill>
                  <a:srgbClr val="AB6526"/>
                </a:solidFill>
                <a:effectLst/>
                <a:latin typeface="Menlo" panose="020B0609030804020204" pitchFamily="49" charset="0"/>
              </a:rPr>
              <a:t>0</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68482D"/>
                </a:solidFill>
                <a:effectLst/>
                <a:latin typeface="Menlo" panose="020B0609030804020204" pitchFamily="49" charset="0"/>
              </a:rPr>
              <a:t>print</a:t>
            </a:r>
            <a:r>
              <a:rPr lang="fr-FR" sz="800" b="0" dirty="0">
                <a:solidFill>
                  <a:srgbClr val="252525"/>
                </a:solidFill>
                <a:effectLst/>
                <a:latin typeface="Menlo" panose="020B0609030804020204" pitchFamily="49" charset="0"/>
              </a:rPr>
              <a:t>(</a:t>
            </a:r>
            <a:r>
              <a:rPr lang="fr-FR" sz="800" b="1" dirty="0" err="1">
                <a:solidFill>
                  <a:srgbClr val="008100"/>
                </a:solidFill>
                <a:effectLst/>
                <a:latin typeface="Menlo" panose="020B0609030804020204" pitchFamily="49" charset="0"/>
              </a:rPr>
              <a:t>f</a:t>
            </a:r>
            <a:r>
              <a:rPr lang="fr-FR" sz="800" b="0" dirty="0" err="1">
                <a:solidFill>
                  <a:srgbClr val="C44445"/>
                </a:solidFill>
                <a:effectLst/>
                <a:latin typeface="Menlo" panose="020B0609030804020204" pitchFamily="49" charset="0"/>
              </a:rPr>
              <a:t>"Hidden</a:t>
            </a:r>
            <a:r>
              <a:rPr lang="fr-FR" sz="800" b="0" dirty="0">
                <a:solidFill>
                  <a:srgbClr val="C44445"/>
                </a:solidFill>
                <a:effectLst/>
                <a:latin typeface="Menlo" panose="020B0609030804020204" pitchFamily="49" charset="0"/>
              </a:rPr>
              <a:t> layer </a:t>
            </a:r>
            <a:r>
              <a:rPr lang="fr-FR" sz="800" b="0" dirty="0" err="1">
                <a:solidFill>
                  <a:srgbClr val="C44445"/>
                </a:solidFill>
                <a:effectLst/>
                <a:latin typeface="Menlo" panose="020B0609030804020204" pitchFamily="49" charset="0"/>
              </a:rPr>
              <a:t>weights</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embeddings</a:t>
            </a:r>
            <a:r>
              <a:rPr lang="fr-FR" sz="800" b="0" dirty="0">
                <a:solidFill>
                  <a:srgbClr val="C44445"/>
                </a:solidFill>
                <a:effectLst/>
                <a:latin typeface="Menlo" panose="020B0609030804020204" pitchFamily="49" charset="0"/>
              </a:rPr>
              <a:t>): </a:t>
            </a:r>
            <a:r>
              <a:rPr lang="fr-FR" sz="800" b="0" dirty="0">
                <a:solidFill>
                  <a:srgbClr val="DA5239"/>
                </a:solidFill>
                <a:effectLst/>
                <a:latin typeface="Menlo" panose="020B0609030804020204" pitchFamily="49" charset="0"/>
              </a:rPr>
              <a:t>\n</a:t>
            </a:r>
            <a:r>
              <a:rPr lang="fr-FR" sz="800" b="0" dirty="0">
                <a:solidFill>
                  <a:srgbClr val="C44445"/>
                </a:solidFill>
                <a:effectLst/>
                <a:latin typeface="Menlo" panose="020B0609030804020204" pitchFamily="49" charset="0"/>
              </a:rPr>
              <a:t> </a:t>
            </a:r>
            <a:r>
              <a:rPr lang="fr-FR" sz="800" b="0" dirty="0">
                <a:solidFill>
                  <a:srgbClr val="AB6526"/>
                </a:solidFill>
                <a:effectLst/>
                <a:latin typeface="Menlo" panose="020B0609030804020204" pitchFamily="49" charset="0"/>
              </a:rPr>
              <a:t>{</a:t>
            </a:r>
            <a:r>
              <a:rPr lang="fr-FR" sz="800" b="0" dirty="0" err="1">
                <a:solidFill>
                  <a:srgbClr val="333333"/>
                </a:solidFill>
                <a:effectLst/>
                <a:latin typeface="Menlo" panose="020B0609030804020204" pitchFamily="49" charset="0"/>
              </a:rPr>
              <a:t>hidden_layer_weights</a:t>
            </a:r>
            <a:r>
              <a:rPr lang="fr-FR" sz="800" b="0" dirty="0">
                <a:solidFill>
                  <a:srgbClr val="AB6526"/>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endParaRPr lang="fr-FR" sz="800" b="0" dirty="0">
              <a:solidFill>
                <a:srgbClr val="333333"/>
              </a:solidFill>
              <a:effectLst/>
              <a:latin typeface="Menlo" panose="020B0609030804020204" pitchFamily="49" charset="0"/>
            </a:endParaRPr>
          </a:p>
        </p:txBody>
      </p:sp>
      <p:sp>
        <p:nvSpPr>
          <p:cNvPr id="7" name="ZoneTexte 6">
            <a:extLst>
              <a:ext uri="{FF2B5EF4-FFF2-40B4-BE49-F238E27FC236}">
                <a16:creationId xmlns:a16="http://schemas.microsoft.com/office/drawing/2014/main" id="{D16ABDE5-6D4A-C46F-245D-557F38AD1A3A}"/>
              </a:ext>
            </a:extLst>
          </p:cNvPr>
          <p:cNvSpPr txBox="1"/>
          <p:nvPr/>
        </p:nvSpPr>
        <p:spPr>
          <a:xfrm>
            <a:off x="5877426" y="2657576"/>
            <a:ext cx="4551947" cy="3302742"/>
          </a:xfrm>
          <a:prstGeom prst="rect">
            <a:avLst/>
          </a:prstGeom>
          <a:noFill/>
          <a:ln>
            <a:solidFill>
              <a:schemeClr val="accent1"/>
            </a:solidFill>
          </a:ln>
        </p:spPr>
        <p:txBody>
          <a:bodyPr wrap="square" lIns="90000">
            <a:noAutofit/>
          </a:bodyPr>
          <a:lstStyle/>
          <a:p>
            <a:pPr>
              <a:lnSpc>
                <a:spcPts val="1350"/>
              </a:lnSpc>
            </a:pPr>
            <a:br>
              <a:rPr lang="fr-FR" sz="800" b="0" dirty="0">
                <a:solidFill>
                  <a:srgbClr val="333333"/>
                </a:solidFill>
                <a:effectLst/>
                <a:latin typeface="Menlo" panose="020B0609030804020204" pitchFamily="49" charset="0"/>
              </a:rPr>
            </a:br>
            <a:r>
              <a:rPr lang="fr-FR" sz="800" b="0" i="1" dirty="0">
                <a:solidFill>
                  <a:srgbClr val="6A8B93"/>
                </a:solidFill>
                <a:effectLst/>
                <a:latin typeface="Menlo" panose="020B0609030804020204" pitchFamily="49" charset="0"/>
              </a:rPr>
              <a:t># To </a:t>
            </a:r>
            <a:r>
              <a:rPr lang="fr-FR" sz="800" b="0" i="1" dirty="0" err="1">
                <a:solidFill>
                  <a:srgbClr val="6A8B93"/>
                </a:solidFill>
                <a:effectLst/>
                <a:latin typeface="Menlo" panose="020B0609030804020204" pitchFamily="49" charset="0"/>
              </a:rPr>
              <a:t>get</a:t>
            </a:r>
            <a:r>
              <a:rPr lang="fr-FR" sz="800" b="0" i="1" dirty="0">
                <a:solidFill>
                  <a:srgbClr val="6A8B93"/>
                </a:solidFill>
                <a:effectLst/>
                <a:latin typeface="Menlo" panose="020B0609030804020204" pitchFamily="49" charset="0"/>
              </a:rPr>
              <a:t> the </a:t>
            </a:r>
            <a:r>
              <a:rPr lang="fr-FR" sz="800" b="0" i="1" dirty="0" err="1">
                <a:solidFill>
                  <a:srgbClr val="6A8B93"/>
                </a:solidFill>
                <a:effectLst/>
                <a:latin typeface="Menlo" panose="020B0609030804020204" pitchFamily="49" charset="0"/>
              </a:rPr>
              <a:t>embeddings</a:t>
            </a:r>
            <a:r>
              <a:rPr lang="fr-FR" sz="800" b="0" i="1" dirty="0">
                <a:solidFill>
                  <a:srgbClr val="6A8B93"/>
                </a:solidFill>
                <a:effectLst/>
                <a:latin typeface="Menlo" panose="020B0609030804020204" pitchFamily="49" charset="0"/>
              </a:rPr>
              <a:t> for </a:t>
            </a:r>
            <a:r>
              <a:rPr lang="fr-FR" sz="800" b="0" i="1" dirty="0" err="1">
                <a:solidFill>
                  <a:srgbClr val="6A8B93"/>
                </a:solidFill>
                <a:effectLst/>
                <a:latin typeface="Menlo" panose="020B0609030804020204" pitchFamily="49" charset="0"/>
              </a:rPr>
              <a:t>each</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word</a:t>
            </a:r>
            <a:r>
              <a:rPr lang="fr-FR" sz="800" b="0" i="1" dirty="0">
                <a:solidFill>
                  <a:srgbClr val="6A8B93"/>
                </a:solidFill>
                <a:effectLst/>
                <a:latin typeface="Menlo" panose="020B0609030804020204" pitchFamily="49" charset="0"/>
              </a:rPr>
              <a:t> in the </a:t>
            </a:r>
            <a:r>
              <a:rPr lang="fr-FR" sz="800" b="0" i="1" dirty="0" err="1">
                <a:solidFill>
                  <a:srgbClr val="6A8B93"/>
                </a:solidFill>
                <a:effectLst/>
                <a:latin typeface="Menlo" panose="020B0609030804020204" pitchFamily="49" charset="0"/>
              </a:rPr>
              <a:t>vocabulary</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embeddings</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1" dirty="0">
                <a:solidFill>
                  <a:srgbClr val="008100"/>
                </a:solidFill>
                <a:effectLst/>
                <a:latin typeface="Menlo" panose="020B0609030804020204" pitchFamily="49" charset="0"/>
              </a:rPr>
              <a:t>for</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a:t>
            </a:r>
            <a:r>
              <a:rPr lang="fr-FR" sz="800" b="0" dirty="0">
                <a:solidFill>
                  <a:srgbClr val="333333"/>
                </a:solidFill>
                <a:effectLst/>
                <a:latin typeface="Menlo" panose="020B0609030804020204" pitchFamily="49" charset="0"/>
              </a:rPr>
              <a:t> </a:t>
            </a:r>
            <a:r>
              <a:rPr lang="fr-FR" sz="800" b="1" dirty="0">
                <a:solidFill>
                  <a:srgbClr val="008100"/>
                </a:solidFill>
                <a:effectLst/>
                <a:latin typeface="Menlo" panose="020B0609030804020204" pitchFamily="49" charset="0"/>
              </a:rPr>
              <a:t>in</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vocab</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one_hot_vector</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get_one_hot_vector</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word</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vocab</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1" dirty="0">
                <a:solidFill>
                  <a:srgbClr val="008100"/>
                </a:solidFill>
                <a:effectLst/>
                <a:latin typeface="Menlo" panose="020B0609030804020204" pitchFamily="49" charset="0"/>
              </a:rPr>
              <a:t>    if</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one_hot_vector</a:t>
            </a:r>
            <a:r>
              <a:rPr lang="fr-FR" sz="800" b="0" dirty="0">
                <a:solidFill>
                  <a:srgbClr val="333333"/>
                </a:solidFill>
                <a:effectLst/>
                <a:latin typeface="Menlo" panose="020B0609030804020204" pitchFamily="49" charset="0"/>
              </a:rPr>
              <a:t> </a:t>
            </a:r>
            <a:r>
              <a:rPr lang="fr-FR" sz="800" b="1" dirty="0" err="1">
                <a:solidFill>
                  <a:srgbClr val="AD3EFE"/>
                </a:solidFill>
                <a:effectLst/>
                <a:latin typeface="Menlo" panose="020B0609030804020204" pitchFamily="49" charset="0"/>
              </a:rPr>
              <a:t>is</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not</a:t>
            </a:r>
            <a:r>
              <a:rPr lang="fr-FR" sz="800" b="0" dirty="0">
                <a:solidFill>
                  <a:srgbClr val="333333"/>
                </a:solidFill>
                <a:effectLst/>
                <a:latin typeface="Menlo" panose="020B0609030804020204" pitchFamily="49" charset="0"/>
              </a:rPr>
              <a:t> </a:t>
            </a:r>
            <a:r>
              <a:rPr lang="fr-FR" sz="800" b="1" dirty="0">
                <a:solidFill>
                  <a:srgbClr val="008100"/>
                </a:solidFill>
                <a:effectLst/>
                <a:latin typeface="Menlo" panose="020B0609030804020204" pitchFamily="49" charset="0"/>
              </a:rPr>
              <a:t>None</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embedding</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np</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dot</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hidden_layer_weights</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one_hot_vector</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embeddings</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word</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embedding</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dirty="0">
                <a:solidFill>
                  <a:srgbClr val="68482D"/>
                </a:solidFill>
                <a:effectLst/>
                <a:latin typeface="Menlo" panose="020B0609030804020204" pitchFamily="49" charset="0"/>
              </a:rPr>
              <a:t>print</a:t>
            </a:r>
            <a:r>
              <a:rPr lang="fr-FR" sz="800" b="0" dirty="0">
                <a:solidFill>
                  <a:srgbClr val="252525"/>
                </a:solidFill>
                <a:effectLst/>
                <a:latin typeface="Menlo" panose="020B0609030804020204" pitchFamily="49" charset="0"/>
              </a:rPr>
              <a:t>(</a:t>
            </a:r>
            <a:r>
              <a:rPr lang="fr-FR" sz="800" b="1" dirty="0" err="1">
                <a:solidFill>
                  <a:srgbClr val="008100"/>
                </a:solidFill>
                <a:effectLst/>
                <a:latin typeface="Menlo" panose="020B0609030804020204" pitchFamily="49" charset="0"/>
              </a:rPr>
              <a:t>f</a:t>
            </a:r>
            <a:r>
              <a:rPr lang="fr-FR" sz="800" b="0" dirty="0" err="1">
                <a:solidFill>
                  <a:srgbClr val="C44445"/>
                </a:solidFill>
                <a:effectLst/>
                <a:latin typeface="Menlo" panose="020B0609030804020204" pitchFamily="49" charset="0"/>
              </a:rPr>
              <a:t>"Word</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embeddings</a:t>
            </a:r>
            <a:r>
              <a:rPr lang="fr-FR" sz="800" b="0" dirty="0">
                <a:solidFill>
                  <a:srgbClr val="C44445"/>
                </a:solidFill>
                <a:effectLst/>
                <a:latin typeface="Menlo" panose="020B0609030804020204" pitchFamily="49" charset="0"/>
              </a:rPr>
              <a:t>: </a:t>
            </a:r>
            <a:r>
              <a:rPr lang="fr-FR" sz="800" b="0" dirty="0">
                <a:solidFill>
                  <a:srgbClr val="DA5239"/>
                </a:solidFill>
                <a:effectLst/>
                <a:latin typeface="Menlo" panose="020B0609030804020204" pitchFamily="49" charset="0"/>
              </a:rPr>
              <a:t>\n</a:t>
            </a:r>
            <a:r>
              <a:rPr lang="fr-FR" sz="800" b="0" dirty="0">
                <a:solidFill>
                  <a:srgbClr val="C44445"/>
                </a:solidFill>
                <a:effectLst/>
                <a:latin typeface="Menlo" panose="020B0609030804020204" pitchFamily="49" charset="0"/>
              </a:rPr>
              <a:t> </a:t>
            </a:r>
            <a:r>
              <a:rPr lang="fr-FR" sz="800" b="0" dirty="0">
                <a:solidFill>
                  <a:srgbClr val="AB6526"/>
                </a:solidFill>
                <a:effectLst/>
                <a:latin typeface="Menlo" panose="020B0609030804020204" pitchFamily="49" charset="0"/>
              </a:rPr>
              <a:t>{</a:t>
            </a:r>
            <a:r>
              <a:rPr lang="fr-FR" sz="800" b="0" dirty="0" err="1">
                <a:solidFill>
                  <a:srgbClr val="333333"/>
                </a:solidFill>
                <a:effectLst/>
                <a:latin typeface="Menlo" panose="020B0609030804020204" pitchFamily="49" charset="0"/>
              </a:rPr>
              <a:t>embeddings</a:t>
            </a:r>
            <a:r>
              <a:rPr lang="fr-FR" sz="800" b="0" dirty="0">
                <a:solidFill>
                  <a:srgbClr val="AB6526"/>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p:txBody>
      </p:sp>
      <p:sp>
        <p:nvSpPr>
          <p:cNvPr id="5" name="ZoneTexte 4">
            <a:extLst>
              <a:ext uri="{FF2B5EF4-FFF2-40B4-BE49-F238E27FC236}">
                <a16:creationId xmlns:a16="http://schemas.microsoft.com/office/drawing/2014/main" id="{76ACFF0C-6F92-3C6A-F8C9-A8968ACEB21C}"/>
              </a:ext>
            </a:extLst>
          </p:cNvPr>
          <p:cNvSpPr txBox="1"/>
          <p:nvPr/>
        </p:nvSpPr>
        <p:spPr>
          <a:xfrm>
            <a:off x="838199" y="6033919"/>
            <a:ext cx="9591173" cy="246221"/>
          </a:xfrm>
          <a:prstGeom prst="rect">
            <a:avLst/>
          </a:prstGeom>
          <a:noFill/>
        </p:spPr>
        <p:txBody>
          <a:bodyPr wrap="square" rtlCol="0">
            <a:spAutoFit/>
          </a:bodyPr>
          <a:lstStyle/>
          <a:p>
            <a:r>
              <a:rPr lang="en-GB" sz="1000" dirty="0"/>
              <a:t>This code could be generalized with the pairs (context words, target) build at the beginning of the code…etc </a:t>
            </a:r>
          </a:p>
        </p:txBody>
      </p:sp>
    </p:spTree>
    <p:extLst>
      <p:ext uri="{BB962C8B-B14F-4D97-AF65-F5344CB8AC3E}">
        <p14:creationId xmlns:p14="http://schemas.microsoft.com/office/powerpoint/2010/main" val="3550656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D3FD0-3ACB-470A-CBF9-544BB97AB9A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C7BEE87-EE9F-D7B1-ADBE-35DE5F323F52}"/>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480E4942-3D35-F97A-8648-27FD18BE32E4}"/>
              </a:ext>
            </a:extLst>
          </p:cNvPr>
          <p:cNvSpPr>
            <a:spLocks noGrp="1"/>
          </p:cNvSpPr>
          <p:nvPr>
            <p:ph idx="1"/>
          </p:nvPr>
        </p:nvSpPr>
        <p:spPr>
          <a:xfrm>
            <a:off x="838200" y="1609726"/>
            <a:ext cx="10686143" cy="4746624"/>
          </a:xfrm>
        </p:spPr>
        <p:txBody>
          <a:bodyPr lIns="90000">
            <a:noAutofit/>
          </a:bodyPr>
          <a:lstStyle/>
          <a:p>
            <a:pPr marL="0" indent="0">
              <a:buNone/>
            </a:pPr>
            <a:r>
              <a:rPr lang="en-GB" sz="2000" b="1" noProof="0" dirty="0">
                <a:effectLst/>
              </a:rPr>
              <a:t>Word2vec embeddings</a:t>
            </a:r>
            <a:endParaRPr lang="en-GB" sz="3600" b="1" noProof="0" dirty="0">
              <a:effectLst/>
            </a:endParaRPr>
          </a:p>
          <a:p>
            <a:pPr marL="0" indent="0">
              <a:buNone/>
            </a:pPr>
            <a:r>
              <a:rPr lang="en-GB" sz="1200" b="1" noProof="0" dirty="0">
                <a:effectLst/>
              </a:rPr>
              <a:t>CBOW : how to train a Word2Vec model from a corpus ?</a:t>
            </a:r>
          </a:p>
          <a:p>
            <a:pPr marL="0" indent="0">
              <a:lnSpc>
                <a:spcPts val="1350"/>
              </a:lnSpc>
              <a:buNone/>
            </a:pPr>
            <a:r>
              <a:rPr lang="en-GB" sz="800" b="0" i="1" dirty="0">
                <a:solidFill>
                  <a:srgbClr val="6A8B93"/>
                </a:solidFill>
                <a:effectLst/>
                <a:latin typeface="Menlo" panose="020B0609030804020204" pitchFamily="49" charset="0"/>
              </a:rPr>
              <a:t># We take the previous corpus, but we transform it into a list of lists of words for each sentence</a:t>
            </a:r>
            <a:endParaRPr lang="en-GB" sz="800" b="0" dirty="0">
              <a:solidFill>
                <a:srgbClr val="333333"/>
              </a:solidFill>
              <a:effectLst/>
              <a:latin typeface="Menlo" panose="020B0609030804020204" pitchFamily="49" charset="0"/>
            </a:endParaRPr>
          </a:p>
          <a:p>
            <a:pPr marL="0" indent="0">
              <a:lnSpc>
                <a:spcPts val="1350"/>
              </a:lnSpc>
              <a:buNone/>
            </a:pPr>
            <a:r>
              <a:rPr lang="en-GB" sz="800" b="0" dirty="0">
                <a:solidFill>
                  <a:srgbClr val="333333"/>
                </a:solidFill>
                <a:effectLst/>
                <a:latin typeface="Menlo" panose="020B0609030804020204" pitchFamily="49" charset="0"/>
              </a:rPr>
              <a:t>sentences </a:t>
            </a:r>
            <a:r>
              <a:rPr lang="en-GB" sz="800" b="1" dirty="0">
                <a:solidFill>
                  <a:srgbClr val="AD3EFE"/>
                </a:solidFill>
                <a:effectLst/>
                <a:latin typeface="Menlo" panose="020B0609030804020204" pitchFamily="49" charset="0"/>
              </a:rPr>
              <a:t>=</a:t>
            </a:r>
            <a:r>
              <a:rPr lang="en-GB" sz="800" b="0" dirty="0">
                <a:solidFill>
                  <a:srgbClr val="333333"/>
                </a:solidFill>
                <a:effectLst/>
                <a:latin typeface="Menlo" panose="020B0609030804020204" pitchFamily="49" charset="0"/>
              </a:rPr>
              <a:t> </a:t>
            </a:r>
            <a:r>
              <a:rPr lang="en-GB" sz="800" b="0" dirty="0">
                <a:solidFill>
                  <a:srgbClr val="252525"/>
                </a:solidFill>
                <a:effectLst/>
                <a:latin typeface="Menlo" panose="020B0609030804020204" pitchFamily="49" charset="0"/>
              </a:rPr>
              <a:t>[</a:t>
            </a:r>
            <a:r>
              <a:rPr lang="en-GB" sz="800" b="0" dirty="0" err="1">
                <a:solidFill>
                  <a:srgbClr val="333333"/>
                </a:solidFill>
                <a:effectLst/>
                <a:latin typeface="Menlo" panose="020B0609030804020204" pitchFamily="49" charset="0"/>
              </a:rPr>
              <a:t>phrase</a:t>
            </a:r>
            <a:r>
              <a:rPr lang="en-GB" sz="800" b="0" dirty="0" err="1">
                <a:solidFill>
                  <a:srgbClr val="252525"/>
                </a:solidFill>
                <a:effectLst/>
                <a:latin typeface="Menlo" panose="020B0609030804020204" pitchFamily="49" charset="0"/>
              </a:rPr>
              <a:t>.</a:t>
            </a:r>
            <a:r>
              <a:rPr lang="en-GB" sz="800" b="0" dirty="0" err="1">
                <a:solidFill>
                  <a:srgbClr val="333333"/>
                </a:solidFill>
                <a:effectLst/>
                <a:latin typeface="Menlo" panose="020B0609030804020204" pitchFamily="49" charset="0"/>
              </a:rPr>
              <a:t>split</a:t>
            </a:r>
            <a:r>
              <a:rPr lang="en-GB" sz="800" b="0" dirty="0">
                <a:solidFill>
                  <a:srgbClr val="252525"/>
                </a:solidFill>
                <a:effectLst/>
                <a:latin typeface="Menlo" panose="020B0609030804020204" pitchFamily="49" charset="0"/>
              </a:rPr>
              <a:t>()</a:t>
            </a:r>
            <a:r>
              <a:rPr lang="en-GB" sz="800" b="0" dirty="0">
                <a:solidFill>
                  <a:srgbClr val="333333"/>
                </a:solidFill>
                <a:effectLst/>
                <a:latin typeface="Menlo" panose="020B0609030804020204" pitchFamily="49" charset="0"/>
              </a:rPr>
              <a:t> </a:t>
            </a:r>
            <a:r>
              <a:rPr lang="en-GB" sz="800" b="1" dirty="0">
                <a:solidFill>
                  <a:srgbClr val="008100"/>
                </a:solidFill>
                <a:effectLst/>
                <a:latin typeface="Menlo" panose="020B0609030804020204" pitchFamily="49" charset="0"/>
              </a:rPr>
              <a:t>for</a:t>
            </a:r>
            <a:r>
              <a:rPr lang="en-GB" sz="800" b="0" dirty="0">
                <a:solidFill>
                  <a:srgbClr val="333333"/>
                </a:solidFill>
                <a:effectLst/>
                <a:latin typeface="Menlo" panose="020B0609030804020204" pitchFamily="49" charset="0"/>
              </a:rPr>
              <a:t> phrase </a:t>
            </a:r>
            <a:r>
              <a:rPr lang="en-GB" sz="800" b="1" dirty="0">
                <a:solidFill>
                  <a:srgbClr val="008100"/>
                </a:solidFill>
                <a:effectLst/>
                <a:latin typeface="Menlo" panose="020B0609030804020204" pitchFamily="49" charset="0"/>
              </a:rPr>
              <a:t>in</a:t>
            </a:r>
            <a:r>
              <a:rPr lang="en-GB" sz="800" b="0" dirty="0">
                <a:solidFill>
                  <a:srgbClr val="333333"/>
                </a:solidFill>
                <a:effectLst/>
                <a:latin typeface="Menlo" panose="020B0609030804020204" pitchFamily="49" charset="0"/>
              </a:rPr>
              <a:t> corpus</a:t>
            </a:r>
            <a:r>
              <a:rPr lang="en-GB" sz="800" b="0" dirty="0">
                <a:solidFill>
                  <a:srgbClr val="252525"/>
                </a:solidFill>
                <a:effectLst/>
                <a:latin typeface="Menlo" panose="020B0609030804020204" pitchFamily="49" charset="0"/>
              </a:rPr>
              <a:t>]</a:t>
            </a:r>
            <a:endParaRPr lang="en-GB" sz="800" b="0" dirty="0">
              <a:solidFill>
                <a:srgbClr val="333333"/>
              </a:solidFill>
              <a:effectLst/>
              <a:latin typeface="Menlo" panose="020B0609030804020204" pitchFamily="49" charset="0"/>
            </a:endParaRPr>
          </a:p>
          <a:p>
            <a:pPr marL="0" indent="0">
              <a:lnSpc>
                <a:spcPts val="1350"/>
              </a:lnSpc>
              <a:buNone/>
            </a:pPr>
            <a:r>
              <a:rPr lang="en-GB" sz="800" b="0" dirty="0">
                <a:solidFill>
                  <a:srgbClr val="68482D"/>
                </a:solidFill>
                <a:effectLst/>
                <a:latin typeface="Menlo" panose="020B0609030804020204" pitchFamily="49" charset="0"/>
              </a:rPr>
              <a:t>print</a:t>
            </a:r>
            <a:r>
              <a:rPr lang="en-GB" sz="800" b="0" dirty="0">
                <a:solidFill>
                  <a:srgbClr val="252525"/>
                </a:solidFill>
                <a:effectLst/>
                <a:latin typeface="Menlo" panose="020B0609030804020204" pitchFamily="49" charset="0"/>
              </a:rPr>
              <a:t>(</a:t>
            </a:r>
            <a:r>
              <a:rPr lang="en-GB" sz="800" b="0" dirty="0">
                <a:solidFill>
                  <a:srgbClr val="333333"/>
                </a:solidFill>
                <a:effectLst/>
                <a:latin typeface="Menlo" panose="020B0609030804020204" pitchFamily="49" charset="0"/>
              </a:rPr>
              <a:t>sentences</a:t>
            </a:r>
            <a:r>
              <a:rPr lang="en-GB" sz="800" b="0" dirty="0">
                <a:solidFill>
                  <a:srgbClr val="252525"/>
                </a:solidFill>
                <a:effectLst/>
                <a:latin typeface="Menlo" panose="020B0609030804020204" pitchFamily="49" charset="0"/>
              </a:rPr>
              <a:t>)</a:t>
            </a:r>
          </a:p>
          <a:p>
            <a:pPr marL="0" indent="0">
              <a:lnSpc>
                <a:spcPts val="1350"/>
              </a:lnSpc>
              <a:buNone/>
            </a:pPr>
            <a:r>
              <a:rPr lang="en-GB" sz="800" b="0" dirty="0">
                <a:solidFill>
                  <a:srgbClr val="333333"/>
                </a:solidFill>
                <a:effectLst/>
                <a:latin typeface="Menlo" panose="020B0609030804020204" pitchFamily="49" charset="0"/>
              </a:rPr>
              <a:t>[['There', 'lived', 'a', 'king', 'called', 'Ashoka', 'in', 'India'], ['After', 'Kalinga', 'war,', 'he', 'converted', 'to', 'Buddhist'], ['This', 'mighty', 'king', 'ordered', 'this', 'ministers', 'to', 'put', 'together', 'a', 'peaceful', 'treaty', 'with', 'their', '</a:t>
            </a:r>
            <a:r>
              <a:rPr lang="en-GB" sz="800" b="0" dirty="0" err="1">
                <a:solidFill>
                  <a:srgbClr val="333333"/>
                </a:solidFill>
                <a:effectLst/>
                <a:latin typeface="Menlo" panose="020B0609030804020204" pitchFamily="49" charset="0"/>
              </a:rPr>
              <a:t>neighboring</a:t>
            </a:r>
            <a:r>
              <a:rPr lang="en-GB" sz="800" b="0" dirty="0">
                <a:solidFill>
                  <a:srgbClr val="333333"/>
                </a:solidFill>
                <a:effectLst/>
                <a:latin typeface="Menlo" panose="020B0609030804020204" pitchFamily="49" charset="0"/>
              </a:rPr>
              <a:t>', 'kingdoms'], ['The', 'emperor', 'ordered', 'his', 'ministers', 'to', 'also', 'build', 'stupa,', 'a', 'monument', 'with', 'Buddhas', 'teachings']]</a:t>
            </a:r>
          </a:p>
          <a:p>
            <a:pPr>
              <a:lnSpc>
                <a:spcPts val="1350"/>
              </a:lnSpc>
            </a:pPr>
            <a:r>
              <a:rPr lang="en-GB" sz="800" b="1" dirty="0">
                <a:solidFill>
                  <a:srgbClr val="008100"/>
                </a:solidFill>
                <a:effectLst/>
                <a:latin typeface="Menlo" panose="020B0609030804020204" pitchFamily="49" charset="0"/>
              </a:rPr>
              <a:t>from</a:t>
            </a:r>
            <a:r>
              <a:rPr lang="en-GB" sz="800" b="0" dirty="0">
                <a:solidFill>
                  <a:srgbClr val="333333"/>
                </a:solidFill>
                <a:effectLst/>
                <a:latin typeface="Menlo" panose="020B0609030804020204" pitchFamily="49" charset="0"/>
              </a:rPr>
              <a:t> </a:t>
            </a:r>
            <a:r>
              <a:rPr lang="en-GB" sz="800" b="0" dirty="0" err="1">
                <a:solidFill>
                  <a:srgbClr val="333333"/>
                </a:solidFill>
                <a:effectLst/>
                <a:latin typeface="Menlo" panose="020B0609030804020204" pitchFamily="49" charset="0"/>
              </a:rPr>
              <a:t>gensim</a:t>
            </a:r>
            <a:r>
              <a:rPr lang="en-GB" sz="800" b="0" dirty="0" err="1">
                <a:solidFill>
                  <a:srgbClr val="252525"/>
                </a:solidFill>
                <a:effectLst/>
                <a:latin typeface="Menlo" panose="020B0609030804020204" pitchFamily="49" charset="0"/>
              </a:rPr>
              <a:t>.</a:t>
            </a:r>
            <a:r>
              <a:rPr lang="en-GB" sz="800" b="0" dirty="0" err="1">
                <a:solidFill>
                  <a:srgbClr val="333333"/>
                </a:solidFill>
                <a:effectLst/>
                <a:latin typeface="Menlo" panose="020B0609030804020204" pitchFamily="49" charset="0"/>
              </a:rPr>
              <a:t>models</a:t>
            </a:r>
            <a:r>
              <a:rPr lang="en-GB" sz="800" b="0" dirty="0">
                <a:solidFill>
                  <a:srgbClr val="333333"/>
                </a:solidFill>
                <a:effectLst/>
                <a:latin typeface="Menlo" panose="020B0609030804020204" pitchFamily="49" charset="0"/>
              </a:rPr>
              <a:t> </a:t>
            </a:r>
            <a:r>
              <a:rPr lang="en-GB" sz="800" b="1" dirty="0">
                <a:solidFill>
                  <a:srgbClr val="008100"/>
                </a:solidFill>
                <a:effectLst/>
                <a:latin typeface="Menlo" panose="020B0609030804020204" pitchFamily="49" charset="0"/>
              </a:rPr>
              <a:t>import</a:t>
            </a:r>
            <a:r>
              <a:rPr lang="en-GB" sz="800" b="0" dirty="0">
                <a:solidFill>
                  <a:srgbClr val="333333"/>
                </a:solidFill>
                <a:effectLst/>
                <a:latin typeface="Menlo" panose="020B0609030804020204" pitchFamily="49" charset="0"/>
              </a:rPr>
              <a:t> Word2Vec</a:t>
            </a:r>
          </a:p>
          <a:p>
            <a:pPr marL="0" indent="0">
              <a:lnSpc>
                <a:spcPts val="1350"/>
              </a:lnSpc>
              <a:buNone/>
            </a:pPr>
            <a:r>
              <a:rPr lang="en-GB" sz="800" b="0" i="1" dirty="0">
                <a:solidFill>
                  <a:srgbClr val="6A8B93"/>
                </a:solidFill>
                <a:effectLst/>
                <a:latin typeface="Menlo" panose="020B0609030804020204" pitchFamily="49" charset="0"/>
              </a:rPr>
              <a:t># Configuration of Word2Vec with CBOW</a:t>
            </a:r>
            <a:endParaRPr lang="en-GB" sz="800" b="0" dirty="0">
              <a:solidFill>
                <a:srgbClr val="333333"/>
              </a:solidFill>
              <a:effectLst/>
              <a:latin typeface="Menlo" panose="020B0609030804020204" pitchFamily="49" charset="0"/>
            </a:endParaRPr>
          </a:p>
          <a:p>
            <a:pPr>
              <a:lnSpc>
                <a:spcPts val="1350"/>
              </a:lnSpc>
            </a:pPr>
            <a:r>
              <a:rPr lang="en-GB" sz="800" b="0" dirty="0" err="1">
                <a:solidFill>
                  <a:srgbClr val="333333"/>
                </a:solidFill>
                <a:effectLst/>
                <a:latin typeface="Menlo" panose="020B0609030804020204" pitchFamily="49" charset="0"/>
              </a:rPr>
              <a:t>model_cbow</a:t>
            </a:r>
            <a:r>
              <a:rPr lang="en-GB" sz="800" b="0" dirty="0">
                <a:solidFill>
                  <a:srgbClr val="333333"/>
                </a:solidFill>
                <a:effectLst/>
                <a:latin typeface="Menlo" panose="020B0609030804020204" pitchFamily="49" charset="0"/>
              </a:rPr>
              <a:t> </a:t>
            </a:r>
            <a:r>
              <a:rPr lang="en-GB" sz="800" b="1" dirty="0">
                <a:solidFill>
                  <a:srgbClr val="AD3EFE"/>
                </a:solidFill>
                <a:effectLst/>
                <a:latin typeface="Menlo" panose="020B0609030804020204" pitchFamily="49" charset="0"/>
              </a:rPr>
              <a:t>=</a:t>
            </a:r>
            <a:r>
              <a:rPr lang="en-GB" sz="800" b="0" dirty="0">
                <a:solidFill>
                  <a:srgbClr val="333333"/>
                </a:solidFill>
                <a:effectLst/>
                <a:latin typeface="Menlo" panose="020B0609030804020204" pitchFamily="49" charset="0"/>
              </a:rPr>
              <a:t> Word2Vec</a:t>
            </a:r>
            <a:r>
              <a:rPr lang="en-GB" sz="800" b="0" dirty="0">
                <a:solidFill>
                  <a:srgbClr val="252525"/>
                </a:solidFill>
                <a:effectLst/>
                <a:latin typeface="Menlo" panose="020B0609030804020204" pitchFamily="49" charset="0"/>
              </a:rPr>
              <a:t>(</a:t>
            </a:r>
            <a:r>
              <a:rPr lang="en-GB" sz="800" b="0" dirty="0">
                <a:solidFill>
                  <a:srgbClr val="333333"/>
                </a:solidFill>
                <a:effectLst/>
                <a:latin typeface="Menlo" panose="020B0609030804020204" pitchFamily="49" charset="0"/>
              </a:rPr>
              <a:t>sentences</a:t>
            </a:r>
            <a:r>
              <a:rPr lang="en-GB" sz="800" b="0" dirty="0">
                <a:solidFill>
                  <a:srgbClr val="252525"/>
                </a:solidFill>
                <a:effectLst/>
                <a:latin typeface="Menlo" panose="020B0609030804020204" pitchFamily="49" charset="0"/>
              </a:rPr>
              <a:t>,</a:t>
            </a:r>
            <a:r>
              <a:rPr lang="en-GB" sz="800" b="0" dirty="0">
                <a:solidFill>
                  <a:srgbClr val="333333"/>
                </a:solidFill>
                <a:effectLst/>
                <a:latin typeface="Menlo" panose="020B0609030804020204" pitchFamily="49" charset="0"/>
              </a:rPr>
              <a:t> </a:t>
            </a:r>
            <a:r>
              <a:rPr lang="en-GB" sz="800" b="0" dirty="0" err="1">
                <a:solidFill>
                  <a:srgbClr val="396694"/>
                </a:solidFill>
                <a:effectLst/>
                <a:latin typeface="Menlo" panose="020B0609030804020204" pitchFamily="49" charset="0"/>
              </a:rPr>
              <a:t>vector_size</a:t>
            </a:r>
            <a:r>
              <a:rPr lang="en-GB" sz="800" b="1" dirty="0">
                <a:solidFill>
                  <a:srgbClr val="AD3EFE"/>
                </a:solidFill>
                <a:effectLst/>
                <a:latin typeface="Menlo" panose="020B0609030804020204" pitchFamily="49" charset="0"/>
              </a:rPr>
              <a:t>=</a:t>
            </a:r>
            <a:r>
              <a:rPr lang="en-GB" sz="800" b="0" dirty="0">
                <a:solidFill>
                  <a:srgbClr val="AB6526"/>
                </a:solidFill>
                <a:effectLst/>
                <a:latin typeface="Menlo" panose="020B0609030804020204" pitchFamily="49" charset="0"/>
              </a:rPr>
              <a:t>4</a:t>
            </a:r>
            <a:r>
              <a:rPr lang="en-GB" sz="800" b="0" dirty="0">
                <a:solidFill>
                  <a:srgbClr val="252525"/>
                </a:solidFill>
                <a:effectLst/>
                <a:latin typeface="Menlo" panose="020B0609030804020204" pitchFamily="49" charset="0"/>
              </a:rPr>
              <a:t>,</a:t>
            </a:r>
            <a:r>
              <a:rPr lang="en-GB" sz="800" b="0" dirty="0">
                <a:solidFill>
                  <a:srgbClr val="333333"/>
                </a:solidFill>
                <a:effectLst/>
                <a:latin typeface="Menlo" panose="020B0609030804020204" pitchFamily="49" charset="0"/>
              </a:rPr>
              <a:t> </a:t>
            </a:r>
            <a:r>
              <a:rPr lang="en-GB" sz="800" b="0" dirty="0">
                <a:solidFill>
                  <a:srgbClr val="396694"/>
                </a:solidFill>
                <a:effectLst/>
                <a:latin typeface="Menlo" panose="020B0609030804020204" pitchFamily="49" charset="0"/>
              </a:rPr>
              <a:t>window</a:t>
            </a:r>
            <a:r>
              <a:rPr lang="en-GB" sz="800" b="1" dirty="0">
                <a:solidFill>
                  <a:srgbClr val="AD3EFE"/>
                </a:solidFill>
                <a:effectLst/>
                <a:latin typeface="Menlo" panose="020B0609030804020204" pitchFamily="49" charset="0"/>
              </a:rPr>
              <a:t>=</a:t>
            </a:r>
            <a:r>
              <a:rPr lang="en-GB" sz="800" b="0" dirty="0">
                <a:solidFill>
                  <a:srgbClr val="AB6526"/>
                </a:solidFill>
                <a:effectLst/>
                <a:latin typeface="Menlo" panose="020B0609030804020204" pitchFamily="49" charset="0"/>
              </a:rPr>
              <a:t>5</a:t>
            </a:r>
            <a:r>
              <a:rPr lang="en-GB" sz="800" b="0" dirty="0">
                <a:solidFill>
                  <a:srgbClr val="252525"/>
                </a:solidFill>
                <a:effectLst/>
                <a:latin typeface="Menlo" panose="020B0609030804020204" pitchFamily="49" charset="0"/>
              </a:rPr>
              <a:t>,</a:t>
            </a:r>
            <a:r>
              <a:rPr lang="en-GB" sz="800" b="0" dirty="0">
                <a:solidFill>
                  <a:srgbClr val="333333"/>
                </a:solidFill>
                <a:effectLst/>
                <a:latin typeface="Menlo" panose="020B0609030804020204" pitchFamily="49" charset="0"/>
              </a:rPr>
              <a:t> </a:t>
            </a:r>
            <a:r>
              <a:rPr lang="en-GB" sz="800" b="0" dirty="0" err="1">
                <a:solidFill>
                  <a:srgbClr val="396694"/>
                </a:solidFill>
                <a:effectLst/>
                <a:latin typeface="Menlo" panose="020B0609030804020204" pitchFamily="49" charset="0"/>
              </a:rPr>
              <a:t>min_count</a:t>
            </a:r>
            <a:r>
              <a:rPr lang="en-GB" sz="800" b="1" dirty="0">
                <a:solidFill>
                  <a:srgbClr val="AD3EFE"/>
                </a:solidFill>
                <a:effectLst/>
                <a:latin typeface="Menlo" panose="020B0609030804020204" pitchFamily="49" charset="0"/>
              </a:rPr>
              <a:t>=</a:t>
            </a:r>
            <a:r>
              <a:rPr lang="en-GB" sz="800" b="0" dirty="0">
                <a:solidFill>
                  <a:srgbClr val="AB6526"/>
                </a:solidFill>
                <a:effectLst/>
                <a:latin typeface="Menlo" panose="020B0609030804020204" pitchFamily="49" charset="0"/>
              </a:rPr>
              <a:t>1</a:t>
            </a:r>
            <a:r>
              <a:rPr lang="en-GB" sz="800" b="0" dirty="0">
                <a:solidFill>
                  <a:srgbClr val="252525"/>
                </a:solidFill>
                <a:effectLst/>
                <a:latin typeface="Menlo" panose="020B0609030804020204" pitchFamily="49" charset="0"/>
              </a:rPr>
              <a:t>,</a:t>
            </a:r>
            <a:r>
              <a:rPr lang="en-GB" sz="800" b="0" dirty="0">
                <a:solidFill>
                  <a:srgbClr val="333333"/>
                </a:solidFill>
                <a:effectLst/>
                <a:latin typeface="Menlo" panose="020B0609030804020204" pitchFamily="49" charset="0"/>
              </a:rPr>
              <a:t> </a:t>
            </a:r>
            <a:r>
              <a:rPr lang="en-GB" sz="800" b="0" dirty="0">
                <a:solidFill>
                  <a:srgbClr val="396694"/>
                </a:solidFill>
                <a:effectLst/>
                <a:latin typeface="Menlo" panose="020B0609030804020204" pitchFamily="49" charset="0"/>
              </a:rPr>
              <a:t>sg</a:t>
            </a:r>
            <a:r>
              <a:rPr lang="en-GB" sz="800" b="1" dirty="0">
                <a:solidFill>
                  <a:srgbClr val="AD3EFE"/>
                </a:solidFill>
                <a:effectLst/>
                <a:latin typeface="Menlo" panose="020B0609030804020204" pitchFamily="49" charset="0"/>
              </a:rPr>
              <a:t>=</a:t>
            </a:r>
            <a:r>
              <a:rPr lang="en-GB" sz="800" b="0" dirty="0">
                <a:solidFill>
                  <a:srgbClr val="AB6526"/>
                </a:solidFill>
                <a:effectLst/>
                <a:latin typeface="Menlo" panose="020B0609030804020204" pitchFamily="49" charset="0"/>
              </a:rPr>
              <a:t>0</a:t>
            </a:r>
            <a:r>
              <a:rPr lang="en-GB" sz="800" b="0" dirty="0">
                <a:solidFill>
                  <a:srgbClr val="252525"/>
                </a:solidFill>
                <a:effectLst/>
                <a:latin typeface="Menlo" panose="020B0609030804020204" pitchFamily="49" charset="0"/>
              </a:rPr>
              <a:t>)</a:t>
            </a:r>
            <a:endParaRPr lang="en-GB" sz="800" b="0" dirty="0">
              <a:solidFill>
                <a:srgbClr val="333333"/>
              </a:solidFill>
              <a:effectLst/>
              <a:latin typeface="Menlo" panose="020B0609030804020204" pitchFamily="49" charset="0"/>
            </a:endParaRPr>
          </a:p>
          <a:p>
            <a:pPr marL="0" indent="0">
              <a:lnSpc>
                <a:spcPct val="100000"/>
              </a:lnSpc>
              <a:spcBef>
                <a:spcPts val="600"/>
              </a:spcBef>
              <a:buNone/>
            </a:pPr>
            <a:r>
              <a:rPr lang="en-GB" sz="800" b="0" i="1" dirty="0">
                <a:solidFill>
                  <a:srgbClr val="6A8B93"/>
                </a:solidFill>
                <a:effectLst/>
                <a:latin typeface="Menlo" panose="020B0609030804020204" pitchFamily="49" charset="0"/>
              </a:rPr>
              <a:t># sentences : The corpus of sentences / </a:t>
            </a:r>
            <a:r>
              <a:rPr lang="en-GB" sz="800" b="0" i="1" dirty="0" err="1">
                <a:solidFill>
                  <a:srgbClr val="6A8B93"/>
                </a:solidFill>
                <a:effectLst/>
                <a:latin typeface="Menlo" panose="020B0609030804020204" pitchFamily="49" charset="0"/>
              </a:rPr>
              <a:t>vector_size</a:t>
            </a:r>
            <a:r>
              <a:rPr lang="en-GB" sz="800" b="0" i="1" dirty="0">
                <a:solidFill>
                  <a:srgbClr val="6A8B93"/>
                </a:solidFill>
                <a:effectLst/>
                <a:latin typeface="Menlo" panose="020B0609030804020204" pitchFamily="49" charset="0"/>
              </a:rPr>
              <a:t>=4 : The dimension of the vectors of words (embeddings) / </a:t>
            </a:r>
          </a:p>
          <a:p>
            <a:pPr marL="0" indent="0">
              <a:lnSpc>
                <a:spcPct val="100000"/>
              </a:lnSpc>
              <a:spcBef>
                <a:spcPts val="600"/>
              </a:spcBef>
              <a:buNone/>
            </a:pPr>
            <a:r>
              <a:rPr lang="en-GB" sz="800" i="1" dirty="0">
                <a:solidFill>
                  <a:srgbClr val="6A8B93"/>
                </a:solidFill>
                <a:latin typeface="Menlo" panose="020B0609030804020204" pitchFamily="49" charset="0"/>
              </a:rPr>
              <a:t># </a:t>
            </a:r>
            <a:r>
              <a:rPr lang="en-GB" sz="800" b="0" i="1" dirty="0">
                <a:solidFill>
                  <a:srgbClr val="6A8B93"/>
                </a:solidFill>
                <a:effectLst/>
                <a:latin typeface="Menlo" panose="020B0609030804020204" pitchFamily="49" charset="0"/>
              </a:rPr>
              <a:t>window=5 : The size of the context window surrounding the target</a:t>
            </a:r>
            <a:r>
              <a:rPr lang="en-GB" sz="800" i="1" dirty="0">
                <a:solidFill>
                  <a:srgbClr val="6A8B93"/>
                </a:solidFill>
                <a:latin typeface="Menlo" panose="020B0609030804020204" pitchFamily="49" charset="0"/>
              </a:rPr>
              <a:t> / </a:t>
            </a:r>
            <a:r>
              <a:rPr lang="en-GB" sz="800" b="0" i="1" dirty="0" err="1">
                <a:solidFill>
                  <a:srgbClr val="6A8B93"/>
                </a:solidFill>
                <a:effectLst/>
                <a:latin typeface="Menlo" panose="020B0609030804020204" pitchFamily="49" charset="0"/>
              </a:rPr>
              <a:t>min_count</a:t>
            </a:r>
            <a:r>
              <a:rPr lang="en-GB" sz="800" b="0" i="1" dirty="0">
                <a:solidFill>
                  <a:srgbClr val="6A8B93"/>
                </a:solidFill>
                <a:effectLst/>
                <a:latin typeface="Menlo" panose="020B0609030804020204" pitchFamily="49" charset="0"/>
              </a:rPr>
              <a:t>=1 : The minimum number of occurrences of a word to be included in the model.</a:t>
            </a:r>
            <a:endParaRPr lang="en-GB" sz="800" b="0" dirty="0">
              <a:solidFill>
                <a:srgbClr val="333333"/>
              </a:solidFill>
              <a:effectLst/>
              <a:latin typeface="Menlo" panose="020B0609030804020204" pitchFamily="49" charset="0"/>
            </a:endParaRPr>
          </a:p>
          <a:p>
            <a:pPr marL="0" indent="0">
              <a:lnSpc>
                <a:spcPts val="1350"/>
              </a:lnSpc>
              <a:spcBef>
                <a:spcPts val="0"/>
              </a:spcBef>
              <a:buNone/>
            </a:pPr>
            <a:r>
              <a:rPr lang="en-GB" sz="800" b="0" i="1" dirty="0">
                <a:solidFill>
                  <a:srgbClr val="6A8B93"/>
                </a:solidFill>
                <a:effectLst/>
                <a:latin typeface="Menlo" panose="020B0609030804020204" pitchFamily="49" charset="0"/>
              </a:rPr>
              <a:t># sg=0 : Use the CBOW (Continuous Bag of Words) algorithm. If sg=1, the </a:t>
            </a:r>
            <a:r>
              <a:rPr lang="en-GB" sz="800" b="0" i="1" dirty="0" err="1">
                <a:solidFill>
                  <a:srgbClr val="6A8B93"/>
                </a:solidFill>
                <a:effectLst/>
                <a:latin typeface="Menlo" panose="020B0609030804020204" pitchFamily="49" charset="0"/>
              </a:rPr>
              <a:t>algorithme</a:t>
            </a:r>
            <a:r>
              <a:rPr lang="en-GB" sz="800" b="0" i="1" dirty="0">
                <a:solidFill>
                  <a:srgbClr val="6A8B93"/>
                </a:solidFill>
                <a:effectLst/>
                <a:latin typeface="Menlo" panose="020B0609030804020204" pitchFamily="49" charset="0"/>
              </a:rPr>
              <a:t> used is Skip-gram.</a:t>
            </a:r>
            <a:endParaRPr lang="en-GB" sz="800" b="0" dirty="0">
              <a:solidFill>
                <a:srgbClr val="333333"/>
              </a:solidFill>
              <a:effectLst/>
              <a:latin typeface="Menlo" panose="020B0609030804020204" pitchFamily="49" charset="0"/>
            </a:endParaRPr>
          </a:p>
          <a:p>
            <a:pPr marL="0" indent="0">
              <a:lnSpc>
                <a:spcPts val="1350"/>
              </a:lnSpc>
              <a:buNone/>
            </a:pPr>
            <a:r>
              <a:rPr lang="en-GB" sz="800" b="0" i="1" dirty="0">
                <a:solidFill>
                  <a:srgbClr val="6A8B93"/>
                </a:solidFill>
                <a:effectLst/>
                <a:latin typeface="Menlo" panose="020B0609030804020204" pitchFamily="49" charset="0"/>
              </a:rPr>
              <a:t># Display the words vectors</a:t>
            </a:r>
            <a:endParaRPr lang="en-GB" sz="800" b="0" dirty="0">
              <a:solidFill>
                <a:srgbClr val="333333"/>
              </a:solidFill>
              <a:effectLst/>
              <a:latin typeface="Menlo" panose="020B0609030804020204" pitchFamily="49" charset="0"/>
            </a:endParaRPr>
          </a:p>
          <a:p>
            <a:pPr marL="0" indent="0">
              <a:lnSpc>
                <a:spcPts val="1350"/>
              </a:lnSpc>
              <a:buNone/>
            </a:pPr>
            <a:r>
              <a:rPr lang="en-GB" sz="800" b="1" dirty="0">
                <a:solidFill>
                  <a:srgbClr val="008100"/>
                </a:solidFill>
                <a:effectLst/>
                <a:latin typeface="Menlo" panose="020B0609030804020204" pitchFamily="49" charset="0"/>
              </a:rPr>
              <a:t>for</a:t>
            </a:r>
            <a:r>
              <a:rPr lang="en-GB" sz="800" b="0" dirty="0">
                <a:solidFill>
                  <a:srgbClr val="333333"/>
                </a:solidFill>
                <a:effectLst/>
                <a:latin typeface="Menlo" panose="020B0609030804020204" pitchFamily="49" charset="0"/>
              </a:rPr>
              <a:t> word </a:t>
            </a:r>
            <a:r>
              <a:rPr lang="en-GB" sz="800" b="1" dirty="0">
                <a:solidFill>
                  <a:srgbClr val="008100"/>
                </a:solidFill>
                <a:effectLst/>
                <a:latin typeface="Menlo" panose="020B0609030804020204" pitchFamily="49" charset="0"/>
              </a:rPr>
              <a:t>in</a:t>
            </a:r>
            <a:r>
              <a:rPr lang="en-GB" sz="800" b="0" dirty="0">
                <a:solidFill>
                  <a:srgbClr val="333333"/>
                </a:solidFill>
                <a:effectLst/>
                <a:latin typeface="Menlo" panose="020B0609030804020204" pitchFamily="49" charset="0"/>
              </a:rPr>
              <a:t> </a:t>
            </a:r>
            <a:r>
              <a:rPr lang="en-GB" sz="800" b="0" dirty="0" err="1">
                <a:solidFill>
                  <a:srgbClr val="333333"/>
                </a:solidFill>
                <a:effectLst/>
                <a:latin typeface="Menlo" panose="020B0609030804020204" pitchFamily="49" charset="0"/>
              </a:rPr>
              <a:t>model_cbow</a:t>
            </a:r>
            <a:r>
              <a:rPr lang="en-GB" sz="800" b="0" dirty="0" err="1">
                <a:solidFill>
                  <a:srgbClr val="252525"/>
                </a:solidFill>
                <a:effectLst/>
                <a:latin typeface="Menlo" panose="020B0609030804020204" pitchFamily="49" charset="0"/>
              </a:rPr>
              <a:t>.</a:t>
            </a:r>
            <a:r>
              <a:rPr lang="en-GB" sz="800" b="0" dirty="0" err="1">
                <a:solidFill>
                  <a:srgbClr val="333333"/>
                </a:solidFill>
                <a:effectLst/>
                <a:latin typeface="Menlo" panose="020B0609030804020204" pitchFamily="49" charset="0"/>
              </a:rPr>
              <a:t>wv</a:t>
            </a:r>
            <a:r>
              <a:rPr lang="en-GB" sz="800" b="0" dirty="0" err="1">
                <a:solidFill>
                  <a:srgbClr val="252525"/>
                </a:solidFill>
                <a:effectLst/>
                <a:latin typeface="Menlo" panose="020B0609030804020204" pitchFamily="49" charset="0"/>
              </a:rPr>
              <a:t>.</a:t>
            </a:r>
            <a:r>
              <a:rPr lang="en-GB" sz="800" b="0" dirty="0" err="1">
                <a:solidFill>
                  <a:srgbClr val="333333"/>
                </a:solidFill>
                <a:effectLst/>
                <a:latin typeface="Menlo" panose="020B0609030804020204" pitchFamily="49" charset="0"/>
              </a:rPr>
              <a:t>index_to_key</a:t>
            </a:r>
            <a:r>
              <a:rPr lang="en-GB" sz="800" b="0" dirty="0">
                <a:solidFill>
                  <a:srgbClr val="252525"/>
                </a:solidFill>
                <a:effectLst/>
                <a:latin typeface="Menlo" panose="020B0609030804020204" pitchFamily="49" charset="0"/>
              </a:rPr>
              <a:t>:</a:t>
            </a:r>
            <a:endParaRPr lang="en-GB" sz="800" b="0" dirty="0">
              <a:solidFill>
                <a:srgbClr val="333333"/>
              </a:solidFill>
              <a:effectLst/>
              <a:latin typeface="Menlo" panose="020B0609030804020204" pitchFamily="49" charset="0"/>
            </a:endParaRPr>
          </a:p>
          <a:p>
            <a:pPr marL="0" indent="0">
              <a:lnSpc>
                <a:spcPts val="1350"/>
              </a:lnSpc>
              <a:buNone/>
            </a:pPr>
            <a:r>
              <a:rPr lang="en-GB" sz="800" dirty="0">
                <a:solidFill>
                  <a:srgbClr val="68482D"/>
                </a:solidFill>
                <a:latin typeface="Menlo" panose="020B0609030804020204" pitchFamily="49" charset="0"/>
              </a:rPr>
              <a:t>    </a:t>
            </a:r>
            <a:r>
              <a:rPr lang="en-GB" sz="800" b="0" dirty="0">
                <a:solidFill>
                  <a:srgbClr val="68482D"/>
                </a:solidFill>
                <a:effectLst/>
                <a:latin typeface="Menlo" panose="020B0609030804020204" pitchFamily="49" charset="0"/>
              </a:rPr>
              <a:t>print</a:t>
            </a:r>
            <a:r>
              <a:rPr lang="en-GB" sz="800" b="0" dirty="0">
                <a:solidFill>
                  <a:srgbClr val="252525"/>
                </a:solidFill>
                <a:effectLst/>
                <a:latin typeface="Menlo" panose="020B0609030804020204" pitchFamily="49" charset="0"/>
              </a:rPr>
              <a:t>(</a:t>
            </a:r>
            <a:r>
              <a:rPr lang="en-GB" sz="800" b="1" dirty="0">
                <a:solidFill>
                  <a:srgbClr val="008100"/>
                </a:solidFill>
                <a:effectLst/>
                <a:latin typeface="Menlo" panose="020B0609030804020204" pitchFamily="49" charset="0"/>
              </a:rPr>
              <a:t>f</a:t>
            </a:r>
            <a:r>
              <a:rPr lang="en-GB" sz="800" b="0" dirty="0">
                <a:solidFill>
                  <a:srgbClr val="C44445"/>
                </a:solidFill>
                <a:effectLst/>
                <a:latin typeface="Menlo" panose="020B0609030804020204" pitchFamily="49" charset="0"/>
              </a:rPr>
              <a:t>"</a:t>
            </a:r>
            <a:r>
              <a:rPr lang="en-GB" sz="800" b="0" dirty="0">
                <a:solidFill>
                  <a:srgbClr val="AB6526"/>
                </a:solidFill>
                <a:effectLst/>
                <a:latin typeface="Menlo" panose="020B0609030804020204" pitchFamily="49" charset="0"/>
              </a:rPr>
              <a:t>{</a:t>
            </a:r>
            <a:r>
              <a:rPr lang="en-GB" sz="800" b="0" dirty="0">
                <a:solidFill>
                  <a:srgbClr val="333333"/>
                </a:solidFill>
                <a:effectLst/>
                <a:latin typeface="Menlo" panose="020B0609030804020204" pitchFamily="49" charset="0"/>
              </a:rPr>
              <a:t>word</a:t>
            </a:r>
            <a:r>
              <a:rPr lang="en-GB" sz="800" b="0" dirty="0">
                <a:solidFill>
                  <a:srgbClr val="AB6526"/>
                </a:solidFill>
                <a:effectLst/>
                <a:latin typeface="Menlo" panose="020B0609030804020204" pitchFamily="49" charset="0"/>
              </a:rPr>
              <a:t>}</a:t>
            </a:r>
            <a:r>
              <a:rPr lang="en-GB" sz="800" b="0" dirty="0">
                <a:solidFill>
                  <a:srgbClr val="C44445"/>
                </a:solidFill>
                <a:effectLst/>
                <a:latin typeface="Menlo" panose="020B0609030804020204" pitchFamily="49" charset="0"/>
              </a:rPr>
              <a:t>: </a:t>
            </a:r>
            <a:r>
              <a:rPr lang="en-GB" sz="800" b="0" dirty="0">
                <a:solidFill>
                  <a:srgbClr val="AB6526"/>
                </a:solidFill>
                <a:effectLst/>
                <a:latin typeface="Menlo" panose="020B0609030804020204" pitchFamily="49" charset="0"/>
              </a:rPr>
              <a:t>{</a:t>
            </a:r>
            <a:r>
              <a:rPr lang="en-GB" sz="800" b="0" dirty="0" err="1">
                <a:solidFill>
                  <a:srgbClr val="333333"/>
                </a:solidFill>
                <a:effectLst/>
                <a:latin typeface="Menlo" panose="020B0609030804020204" pitchFamily="49" charset="0"/>
              </a:rPr>
              <a:t>model_cbow</a:t>
            </a:r>
            <a:r>
              <a:rPr lang="en-GB" sz="800" b="0" dirty="0" err="1">
                <a:solidFill>
                  <a:srgbClr val="252525"/>
                </a:solidFill>
                <a:effectLst/>
                <a:latin typeface="Menlo" panose="020B0609030804020204" pitchFamily="49" charset="0"/>
              </a:rPr>
              <a:t>.</a:t>
            </a:r>
            <a:r>
              <a:rPr lang="en-GB" sz="800" b="0" dirty="0" err="1">
                <a:solidFill>
                  <a:srgbClr val="333333"/>
                </a:solidFill>
                <a:effectLst/>
                <a:latin typeface="Menlo" panose="020B0609030804020204" pitchFamily="49" charset="0"/>
              </a:rPr>
              <a:t>wv</a:t>
            </a:r>
            <a:r>
              <a:rPr lang="en-GB" sz="800" b="0" dirty="0">
                <a:solidFill>
                  <a:srgbClr val="252525"/>
                </a:solidFill>
                <a:effectLst/>
                <a:latin typeface="Menlo" panose="020B0609030804020204" pitchFamily="49" charset="0"/>
              </a:rPr>
              <a:t>[</a:t>
            </a:r>
            <a:r>
              <a:rPr lang="en-GB" sz="800" b="0" dirty="0">
                <a:solidFill>
                  <a:srgbClr val="333333"/>
                </a:solidFill>
                <a:effectLst/>
                <a:latin typeface="Menlo" panose="020B0609030804020204" pitchFamily="49" charset="0"/>
              </a:rPr>
              <a:t>word</a:t>
            </a:r>
            <a:r>
              <a:rPr lang="en-GB" sz="800" b="0" dirty="0">
                <a:solidFill>
                  <a:srgbClr val="252525"/>
                </a:solidFill>
                <a:effectLst/>
                <a:latin typeface="Menlo" panose="020B0609030804020204" pitchFamily="49" charset="0"/>
              </a:rPr>
              <a:t>]</a:t>
            </a:r>
            <a:r>
              <a:rPr lang="en-GB" sz="800" b="0" dirty="0">
                <a:solidFill>
                  <a:srgbClr val="AB6526"/>
                </a:solidFill>
                <a:effectLst/>
                <a:latin typeface="Menlo" panose="020B0609030804020204" pitchFamily="49" charset="0"/>
              </a:rPr>
              <a:t>}</a:t>
            </a:r>
            <a:r>
              <a:rPr lang="en-GB" sz="800" b="0" dirty="0">
                <a:solidFill>
                  <a:srgbClr val="C44445"/>
                </a:solidFill>
                <a:effectLst/>
                <a:latin typeface="Menlo" panose="020B0609030804020204" pitchFamily="49" charset="0"/>
              </a:rPr>
              <a:t>"</a:t>
            </a:r>
            <a:r>
              <a:rPr lang="en-GB" sz="800" b="0" dirty="0">
                <a:solidFill>
                  <a:srgbClr val="252525"/>
                </a:solidFill>
                <a:effectLst/>
                <a:latin typeface="Menlo" panose="020B0609030804020204" pitchFamily="49" charset="0"/>
              </a:rPr>
              <a:t>)</a:t>
            </a:r>
            <a:endParaRPr lang="en-GB" sz="800" b="0" dirty="0">
              <a:solidFill>
                <a:srgbClr val="333333"/>
              </a:solidFill>
              <a:effectLst/>
              <a:latin typeface="Menlo" panose="020B0609030804020204" pitchFamily="49" charset="0"/>
            </a:endParaRPr>
          </a:p>
          <a:p>
            <a:pPr marL="0" indent="0">
              <a:lnSpc>
                <a:spcPct val="150000"/>
              </a:lnSpc>
              <a:buNone/>
            </a:pPr>
            <a:endParaRPr lang="en-GB" sz="800" dirty="0">
              <a:latin typeface="Menlo" panose="020B0609030804020204" pitchFamily="49" charset="0"/>
              <a:ea typeface="Menlo" panose="020B0609030804020204" pitchFamily="49" charset="0"/>
              <a:cs typeface="Menlo" panose="020B0609030804020204" pitchFamily="49" charset="0"/>
            </a:endParaRPr>
          </a:p>
        </p:txBody>
      </p:sp>
      <p:sp>
        <p:nvSpPr>
          <p:cNvPr id="4" name="Espace réservé du pied de page 3">
            <a:extLst>
              <a:ext uri="{FF2B5EF4-FFF2-40B4-BE49-F238E27FC236}">
                <a16:creationId xmlns:a16="http://schemas.microsoft.com/office/drawing/2014/main" id="{B464B698-658F-796B-ACB7-9D77C01311DD}"/>
              </a:ext>
            </a:extLst>
          </p:cNvPr>
          <p:cNvSpPr>
            <a:spLocks noGrp="1"/>
          </p:cNvSpPr>
          <p:nvPr>
            <p:ph type="ftr" sz="quarter" idx="11"/>
          </p:nvPr>
        </p:nvSpPr>
        <p:spPr/>
        <p:txBody>
          <a:bodyPr/>
          <a:lstStyle/>
          <a:p>
            <a:r>
              <a:rPr lang="fr-FR"/>
              <a:t>Introduction to Neural Networks. Author: David Thébault</a:t>
            </a:r>
          </a:p>
        </p:txBody>
      </p:sp>
      <p:sp>
        <p:nvSpPr>
          <p:cNvPr id="7" name="Rectangle 6">
            <a:extLst>
              <a:ext uri="{FF2B5EF4-FFF2-40B4-BE49-F238E27FC236}">
                <a16:creationId xmlns:a16="http://schemas.microsoft.com/office/drawing/2014/main" id="{FA37A74D-694B-E731-EF0B-012B04D5A27B}"/>
              </a:ext>
            </a:extLst>
          </p:cNvPr>
          <p:cNvSpPr/>
          <p:nvPr/>
        </p:nvSpPr>
        <p:spPr>
          <a:xfrm>
            <a:off x="694481" y="2291787"/>
            <a:ext cx="10544537" cy="417846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57626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9F618-D207-DB0B-CEA0-8A3CEE57AC5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DEC95D7-524A-808D-C67F-CE8FB1F2522E}"/>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C8AB7D33-F0C9-37D8-21FE-41773759D4C8}"/>
              </a:ext>
            </a:extLst>
          </p:cNvPr>
          <p:cNvSpPr>
            <a:spLocks noGrp="1"/>
          </p:cNvSpPr>
          <p:nvPr>
            <p:ph idx="1"/>
          </p:nvPr>
        </p:nvSpPr>
        <p:spPr>
          <a:xfrm>
            <a:off x="838200" y="1609726"/>
            <a:ext cx="10686143" cy="554740"/>
          </a:xfrm>
        </p:spPr>
        <p:txBody>
          <a:bodyPr lIns="90000">
            <a:noAutofit/>
          </a:bodyPr>
          <a:lstStyle/>
          <a:p>
            <a:pPr marL="0" indent="0">
              <a:buNone/>
            </a:pPr>
            <a:r>
              <a:rPr lang="en-GB" sz="2000" b="1" noProof="0" dirty="0">
                <a:effectLst/>
              </a:rPr>
              <a:t>Embeddings with en_core_web_sm + SpaCy</a:t>
            </a:r>
            <a:endParaRPr lang="en-GB" sz="3600" b="1" noProof="0" dirty="0">
              <a:effectLst/>
            </a:endParaRPr>
          </a:p>
          <a:p>
            <a:pPr marL="0" indent="0">
              <a:lnSpc>
                <a:spcPct val="150000"/>
              </a:lnSpc>
              <a:buNone/>
            </a:pPr>
            <a:endParaRPr lang="en-GB" sz="800" dirty="0">
              <a:latin typeface="Menlo" panose="020B0609030804020204" pitchFamily="49" charset="0"/>
              <a:ea typeface="Menlo" panose="020B0609030804020204" pitchFamily="49" charset="0"/>
              <a:cs typeface="Menlo" panose="020B0609030804020204" pitchFamily="49" charset="0"/>
            </a:endParaRPr>
          </a:p>
        </p:txBody>
      </p:sp>
      <p:sp>
        <p:nvSpPr>
          <p:cNvPr id="4" name="Espace réservé du pied de page 3">
            <a:extLst>
              <a:ext uri="{FF2B5EF4-FFF2-40B4-BE49-F238E27FC236}">
                <a16:creationId xmlns:a16="http://schemas.microsoft.com/office/drawing/2014/main" id="{26E5D661-1AB7-4EF9-1522-D7174D2782A3}"/>
              </a:ext>
            </a:extLst>
          </p:cNvPr>
          <p:cNvSpPr>
            <a:spLocks noGrp="1"/>
          </p:cNvSpPr>
          <p:nvPr>
            <p:ph type="ftr" sz="quarter" idx="11"/>
          </p:nvPr>
        </p:nvSpPr>
        <p:spPr/>
        <p:txBody>
          <a:bodyPr/>
          <a:lstStyle/>
          <a:p>
            <a:r>
              <a:rPr lang="fr-FR"/>
              <a:t>Introduction to Neural Networks. Author: David Thébault</a:t>
            </a:r>
          </a:p>
        </p:txBody>
      </p:sp>
      <p:sp>
        <p:nvSpPr>
          <p:cNvPr id="7" name="Rectangle 6">
            <a:extLst>
              <a:ext uri="{FF2B5EF4-FFF2-40B4-BE49-F238E27FC236}">
                <a16:creationId xmlns:a16="http://schemas.microsoft.com/office/drawing/2014/main" id="{E01B7973-AD54-CBDD-C320-5C61091E24BA}"/>
              </a:ext>
            </a:extLst>
          </p:cNvPr>
          <p:cNvSpPr/>
          <p:nvPr/>
        </p:nvSpPr>
        <p:spPr>
          <a:xfrm>
            <a:off x="694481" y="2291787"/>
            <a:ext cx="10544537" cy="417846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fr-FR" sz="800" b="1" dirty="0">
                <a:solidFill>
                  <a:srgbClr val="008100"/>
                </a:solidFill>
                <a:effectLst/>
                <a:latin typeface="Menlo" panose="020B0609030804020204" pitchFamily="49" charset="0"/>
              </a:rPr>
              <a:t>import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spacy</a:t>
            </a:r>
            <a:endParaRPr lang="fr-FR" sz="800" b="0" dirty="0">
              <a:solidFill>
                <a:srgbClr val="333333"/>
              </a:solidFill>
              <a:effectLst/>
              <a:latin typeface="Menlo" panose="020B0609030804020204" pitchFamily="49" charset="0"/>
            </a:endParaRPr>
          </a:p>
          <a:p>
            <a:pPr>
              <a:lnSpc>
                <a:spcPct val="150000"/>
              </a:lnSpc>
            </a:pPr>
            <a:r>
              <a:rPr lang="fr-FR" sz="800" b="0" i="1" dirty="0">
                <a:solidFill>
                  <a:srgbClr val="6A8B93"/>
                </a:solidFill>
                <a:effectLst/>
                <a:latin typeface="Menlo" panose="020B0609030804020204" pitchFamily="49" charset="0"/>
              </a:rPr>
              <a:t># !python -m </a:t>
            </a:r>
            <a:r>
              <a:rPr lang="fr-FR" sz="800" b="0" i="1" dirty="0" err="1">
                <a:solidFill>
                  <a:srgbClr val="6A8B93"/>
                </a:solidFill>
                <a:effectLst/>
                <a:latin typeface="Menlo" panose="020B0609030804020204" pitchFamily="49" charset="0"/>
              </a:rPr>
              <a:t>spacy</a:t>
            </a:r>
            <a:r>
              <a:rPr lang="fr-FR" sz="800" b="0" i="1" dirty="0">
                <a:solidFill>
                  <a:srgbClr val="6A8B93"/>
                </a:solidFill>
                <a:effectLst/>
                <a:latin typeface="Menlo" panose="020B0609030804020204" pitchFamily="49" charset="0"/>
              </a:rPr>
              <a:t> download </a:t>
            </a:r>
            <a:r>
              <a:rPr lang="fr-FR" sz="800" b="0" i="1" dirty="0" err="1">
                <a:solidFill>
                  <a:srgbClr val="6A8B93"/>
                </a:solidFill>
                <a:effectLst/>
                <a:latin typeface="Menlo" panose="020B0609030804020204" pitchFamily="49" charset="0"/>
              </a:rPr>
              <a:t>en_core_web_md</a:t>
            </a:r>
            <a:endParaRPr lang="fr-FR" sz="800" b="0" dirty="0">
              <a:solidFill>
                <a:srgbClr val="333333"/>
              </a:solidFill>
              <a:effectLst/>
              <a:latin typeface="Menlo" panose="020B0609030804020204" pitchFamily="49" charset="0"/>
            </a:endParaRPr>
          </a:p>
          <a:p>
            <a:pPr>
              <a:lnSpc>
                <a:spcPts val="1350"/>
              </a:lnSpc>
            </a:pPr>
            <a:r>
              <a:rPr lang="fr-FR" sz="800" b="0" i="1" dirty="0">
                <a:solidFill>
                  <a:srgbClr val="6A8B93"/>
                </a:solidFill>
                <a:effectLst/>
                <a:latin typeface="Menlo" panose="020B0609030804020204" pitchFamily="49" charset="0"/>
              </a:rPr>
              <a:t># Load the model</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nlp</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spacy</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load</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"en_core_web_sm"</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pizza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nlp</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"pizza"</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68482D"/>
                </a:solidFill>
                <a:effectLst/>
                <a:latin typeface="Menlo" panose="020B0609030804020204" pitchFamily="49" charset="0"/>
              </a:rPr>
              <a:t>print</a:t>
            </a:r>
            <a:r>
              <a:rPr lang="fr-FR" sz="800" b="0" dirty="0">
                <a:solidFill>
                  <a:srgbClr val="252525"/>
                </a:solidFill>
                <a:effectLst/>
                <a:latin typeface="Menlo" panose="020B0609030804020204" pitchFamily="49" charset="0"/>
              </a:rPr>
              <a:t>(</a:t>
            </a:r>
            <a:r>
              <a:rPr lang="fr-FR" sz="800" b="1" dirty="0" err="1">
                <a:solidFill>
                  <a:srgbClr val="008100"/>
                </a:solidFill>
                <a:effectLst/>
                <a:latin typeface="Menlo" panose="020B0609030804020204" pitchFamily="49" charset="0"/>
              </a:rPr>
              <a:t>f</a:t>
            </a:r>
            <a:r>
              <a:rPr lang="fr-FR" sz="800" b="0" dirty="0" err="1">
                <a:solidFill>
                  <a:srgbClr val="C44445"/>
                </a:solidFill>
                <a:effectLst/>
                <a:latin typeface="Menlo" panose="020B0609030804020204" pitchFamily="49" charset="0"/>
              </a:rPr>
              <a:t>'Vector</a:t>
            </a:r>
            <a:r>
              <a:rPr lang="fr-FR" sz="800" b="0" dirty="0">
                <a:solidFill>
                  <a:srgbClr val="C44445"/>
                </a:solidFill>
                <a:effectLst/>
                <a:latin typeface="Menlo" panose="020B0609030804020204" pitchFamily="49" charset="0"/>
              </a:rPr>
              <a:t> dimension: </a:t>
            </a:r>
            <a:r>
              <a:rPr lang="fr-FR" sz="800" b="0" dirty="0">
                <a:solidFill>
                  <a:srgbClr val="AB6526"/>
                </a:solidFill>
                <a:effectLst/>
                <a:latin typeface="Menlo" panose="020B0609030804020204" pitchFamily="49" charset="0"/>
              </a:rPr>
              <a:t>{</a:t>
            </a:r>
            <a:r>
              <a:rPr lang="fr-FR" sz="800" b="0" dirty="0" err="1">
                <a:solidFill>
                  <a:srgbClr val="333333"/>
                </a:solidFill>
                <a:effectLst/>
                <a:latin typeface="Menlo" panose="020B0609030804020204" pitchFamily="49" charset="0"/>
              </a:rPr>
              <a:t>pizza</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vector</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shape</a:t>
            </a:r>
            <a:r>
              <a:rPr lang="fr-FR" sz="800" b="0" dirty="0">
                <a:solidFill>
                  <a:srgbClr val="AB6526"/>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i="1" dirty="0">
                <a:solidFill>
                  <a:srgbClr val="6A8B93"/>
                </a:solidFill>
                <a:effectLst/>
                <a:latin typeface="Menlo" panose="020B0609030804020204" pitchFamily="49" charset="0"/>
              </a:rPr>
              <a:t># The </a:t>
            </a:r>
            <a:r>
              <a:rPr lang="fr-FR" sz="800" b="0" i="1" dirty="0" err="1">
                <a:solidFill>
                  <a:srgbClr val="6A8B93"/>
                </a:solidFill>
                <a:effectLst/>
                <a:latin typeface="Menlo" panose="020B0609030804020204" pitchFamily="49" charset="0"/>
              </a:rPr>
              <a:t>embedding</a:t>
            </a:r>
            <a:r>
              <a:rPr lang="fr-FR" sz="800" b="0" i="1" dirty="0">
                <a:solidFill>
                  <a:srgbClr val="6A8B93"/>
                </a:solidFill>
                <a:effectLst/>
                <a:latin typeface="Menlo" panose="020B0609030804020204" pitchFamily="49" charset="0"/>
              </a:rPr>
              <a:t> for the </a:t>
            </a:r>
            <a:r>
              <a:rPr lang="fr-FR" sz="800" b="0" i="1" dirty="0" err="1">
                <a:solidFill>
                  <a:srgbClr val="6A8B93"/>
                </a:solidFill>
                <a:effectLst/>
                <a:latin typeface="Menlo" panose="020B0609030804020204" pitchFamily="49" charset="0"/>
              </a:rPr>
              <a:t>word</a:t>
            </a:r>
            <a:r>
              <a:rPr lang="fr-FR" sz="800" b="0" i="1" dirty="0">
                <a:solidFill>
                  <a:srgbClr val="6A8B93"/>
                </a:solidFill>
                <a:effectLst/>
                <a:latin typeface="Menlo" panose="020B0609030804020204" pitchFamily="49" charset="0"/>
              </a:rPr>
              <a:t> "pizza" </a:t>
            </a:r>
            <a:r>
              <a:rPr lang="fr-FR" sz="800" b="0" i="1" dirty="0" err="1">
                <a:solidFill>
                  <a:srgbClr val="6A8B93"/>
                </a:solidFill>
                <a:effectLst/>
                <a:latin typeface="Menlo" panose="020B0609030804020204" pitchFamily="49" charset="0"/>
              </a:rPr>
              <a:t>is</a:t>
            </a:r>
            <a:r>
              <a:rPr lang="fr-FR" sz="800" b="0" i="1" dirty="0">
                <a:solidFill>
                  <a:srgbClr val="6A8B93"/>
                </a:solidFill>
                <a:effectLst/>
                <a:latin typeface="Menlo" panose="020B0609030804020204" pitchFamily="49" charset="0"/>
              </a:rPr>
              <a:t> a 300-dimensional </a:t>
            </a:r>
            <a:r>
              <a:rPr lang="fr-FR" sz="800" b="0" i="1" dirty="0" err="1">
                <a:solidFill>
                  <a:srgbClr val="6A8B93"/>
                </a:solidFill>
                <a:effectLst/>
                <a:latin typeface="Menlo" panose="020B0609030804020204" pitchFamily="49" charset="0"/>
              </a:rPr>
              <a:t>vector</a:t>
            </a:r>
            <a:endParaRPr lang="fr-FR" sz="800" b="0" dirty="0">
              <a:solidFill>
                <a:srgbClr val="333333"/>
              </a:solidFill>
              <a:effectLst/>
              <a:latin typeface="Menlo" panose="020B0609030804020204" pitchFamily="49" charset="0"/>
            </a:endParaRPr>
          </a:p>
          <a:p>
            <a:pPr>
              <a:lnSpc>
                <a:spcPts val="1350"/>
              </a:lnSpc>
            </a:pPr>
            <a:r>
              <a:rPr lang="fr-FR" sz="800" b="0" i="1" dirty="0">
                <a:solidFill>
                  <a:srgbClr val="6A8B93"/>
                </a:solidFill>
                <a:effectLst/>
                <a:latin typeface="Menlo" panose="020B0609030804020204" pitchFamily="49" charset="0"/>
              </a:rPr>
              <a:t># print(</a:t>
            </a:r>
            <a:r>
              <a:rPr lang="fr-FR" sz="800" b="0" i="1" dirty="0" err="1">
                <a:solidFill>
                  <a:srgbClr val="6A8B93"/>
                </a:solidFill>
                <a:effectLst/>
                <a:latin typeface="Menlo" panose="020B0609030804020204" pitchFamily="49" charset="0"/>
              </a:rPr>
              <a:t>pizza.vector</a:t>
            </a:r>
            <a:r>
              <a:rPr lang="fr-FR" sz="800" b="0" i="1" dirty="0">
                <a:solidFill>
                  <a:srgbClr val="6A8B93"/>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i="1" dirty="0">
                <a:solidFill>
                  <a:srgbClr val="6A8B93"/>
                </a:solidFill>
                <a:effectLst/>
                <a:latin typeface="Menlo" panose="020B0609030804020204" pitchFamily="49" charset="0"/>
              </a:rPr>
              <a:t># Test </a:t>
            </a:r>
            <a:r>
              <a:rPr lang="fr-FR" sz="800" b="0" i="1" dirty="0" err="1">
                <a:solidFill>
                  <a:srgbClr val="6A8B93"/>
                </a:solidFill>
                <a:effectLst/>
                <a:latin typeface="Menlo" panose="020B0609030804020204" pitchFamily="49" charset="0"/>
              </a:rPr>
              <a:t>similarities</a:t>
            </a:r>
            <a:r>
              <a:rPr lang="fr-FR" sz="800" b="0" i="1" dirty="0">
                <a:solidFill>
                  <a:srgbClr val="6A8B93"/>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dirty="0" err="1">
                <a:solidFill>
                  <a:srgbClr val="333333"/>
                </a:solidFill>
                <a:effectLst/>
                <a:latin typeface="Menlo" panose="020B0609030804020204" pitchFamily="49" charset="0"/>
              </a:rPr>
              <a:t>tomato</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nlp</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tomato</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tree</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nlp</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tree</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yoga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nlp</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"yoga"</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With</a:t>
            </a:r>
            <a:r>
              <a:rPr lang="fr-FR" sz="800" b="0" i="1" dirty="0">
                <a:solidFill>
                  <a:srgbClr val="6A8B93"/>
                </a:solidFill>
                <a:effectLst/>
                <a:latin typeface="Menlo" panose="020B0609030804020204" pitchFamily="49" charset="0"/>
              </a:rPr>
              <a:t> the model en_core_web_sm, </a:t>
            </a:r>
            <a:r>
              <a:rPr lang="fr-FR" sz="800" b="0" i="1" dirty="0" err="1">
                <a:solidFill>
                  <a:srgbClr val="6A8B93"/>
                </a:solidFill>
                <a:effectLst/>
                <a:latin typeface="Menlo" panose="020B0609030804020204" pitchFamily="49" charset="0"/>
              </a:rPr>
              <a:t>we</a:t>
            </a:r>
            <a:r>
              <a:rPr lang="fr-FR" sz="800" b="0" i="1" dirty="0">
                <a:solidFill>
                  <a:srgbClr val="6A8B93"/>
                </a:solidFill>
                <a:effectLst/>
                <a:latin typeface="Menlo" panose="020B0609030804020204" pitchFamily="49" charset="0"/>
              </a:rPr>
              <a:t> can </a:t>
            </a:r>
            <a:r>
              <a:rPr lang="fr-FR" sz="800" b="0" i="1" dirty="0" err="1">
                <a:solidFill>
                  <a:srgbClr val="6A8B93"/>
                </a:solidFill>
                <a:effectLst/>
                <a:latin typeface="Menlo" panose="020B0609030804020204" pitchFamily="49" charset="0"/>
              </a:rPr>
              <a:t>calculate</a:t>
            </a:r>
            <a:r>
              <a:rPr lang="fr-FR" sz="800" b="0" i="1" dirty="0">
                <a:solidFill>
                  <a:srgbClr val="6A8B93"/>
                </a:solidFill>
                <a:effectLst/>
                <a:latin typeface="Menlo" panose="020B0609030804020204" pitchFamily="49" charset="0"/>
              </a:rPr>
              <a:t> the </a:t>
            </a:r>
            <a:r>
              <a:rPr lang="fr-FR" sz="800" b="0" i="1" dirty="0" err="1">
                <a:solidFill>
                  <a:srgbClr val="6A8B93"/>
                </a:solidFill>
                <a:effectLst/>
                <a:latin typeface="Menlo" panose="020B0609030804020204" pitchFamily="49" charset="0"/>
              </a:rPr>
              <a:t>similarity</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between</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words</a:t>
            </a:r>
            <a:r>
              <a:rPr lang="fr-FR" sz="800" b="0" i="1" dirty="0">
                <a:solidFill>
                  <a:srgbClr val="6A8B93"/>
                </a:solidFill>
                <a:effectLst/>
                <a:latin typeface="Menlo" panose="020B0609030804020204" pitchFamily="49" charset="0"/>
              </a:rPr>
              <a:t> but </a:t>
            </a:r>
            <a:r>
              <a:rPr lang="fr-FR" sz="800" b="0" i="1" dirty="0" err="1">
                <a:solidFill>
                  <a:srgbClr val="6A8B93"/>
                </a:solidFill>
                <a:effectLst/>
                <a:latin typeface="Menlo" panose="020B0609030804020204" pitchFamily="49" charset="0"/>
              </a:rPr>
              <a:t>based</a:t>
            </a:r>
            <a:r>
              <a:rPr lang="fr-FR" sz="800" b="0" i="1" dirty="0">
                <a:solidFill>
                  <a:srgbClr val="6A8B93"/>
                </a:solidFill>
                <a:effectLst/>
                <a:latin typeface="Menlo" panose="020B0609030804020204" pitchFamily="49" charset="0"/>
              </a:rPr>
              <a:t> on the tagger, the </a:t>
            </a:r>
            <a:r>
              <a:rPr lang="fr-FR" sz="800" b="0" i="1" dirty="0" err="1">
                <a:solidFill>
                  <a:srgbClr val="6A8B93"/>
                </a:solidFill>
                <a:effectLst/>
                <a:latin typeface="Menlo" panose="020B0609030804020204" pitchFamily="49" charset="0"/>
              </a:rPr>
              <a:t>parser</a:t>
            </a:r>
            <a:r>
              <a:rPr lang="fr-FR" sz="800" b="0" i="1" dirty="0">
                <a:solidFill>
                  <a:srgbClr val="6A8B93"/>
                </a:solidFill>
                <a:effectLst/>
                <a:latin typeface="Menlo" panose="020B0609030804020204" pitchFamily="49" charset="0"/>
              </a:rPr>
              <a:t> and the NER </a:t>
            </a:r>
            <a:r>
              <a:rPr lang="fr-FR" sz="800" b="0" i="1" dirty="0" err="1">
                <a:solidFill>
                  <a:srgbClr val="6A8B93"/>
                </a:solidFill>
                <a:effectLst/>
                <a:latin typeface="Menlo" panose="020B0609030804020204" pitchFamily="49" charset="0"/>
              </a:rPr>
              <a:t>which</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is</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less</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accurate</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than</a:t>
            </a:r>
            <a:r>
              <a:rPr lang="fr-FR" sz="800" b="0" i="1" dirty="0">
                <a:solidFill>
                  <a:srgbClr val="6A8B93"/>
                </a:solidFill>
                <a:effectLst/>
                <a:latin typeface="Menlo" panose="020B0609030804020204" pitchFamily="49" charset="0"/>
              </a:rPr>
              <a:t> the word2vec model</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pizza</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similarity</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tomato</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pizza</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similarity</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tree</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pizza</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similarity</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yoga</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ct val="150000"/>
              </a:lnSpc>
            </a:pPr>
            <a:endParaRPr lang="fr-FR" sz="800" b="0" dirty="0">
              <a:solidFill>
                <a:srgbClr val="333333"/>
              </a:solidFill>
              <a:effectLst/>
              <a:latin typeface="Menlo" panose="020B0609030804020204" pitchFamily="49" charset="0"/>
            </a:endParaRPr>
          </a:p>
        </p:txBody>
      </p:sp>
    </p:spTree>
    <p:extLst>
      <p:ext uri="{BB962C8B-B14F-4D97-AF65-F5344CB8AC3E}">
        <p14:creationId xmlns:p14="http://schemas.microsoft.com/office/powerpoint/2010/main" val="112493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C002C-518B-8B61-442C-2DA0F19BA7A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8E1EAAD-12D9-A41A-4F59-535998E12596}"/>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22CD7289-7B52-A465-1DB6-C7BBE2AACD37}"/>
              </a:ext>
            </a:extLst>
          </p:cNvPr>
          <p:cNvSpPr>
            <a:spLocks noGrp="1"/>
          </p:cNvSpPr>
          <p:nvPr>
            <p:ph idx="1"/>
          </p:nvPr>
        </p:nvSpPr>
        <p:spPr>
          <a:xfrm>
            <a:off x="838200" y="1609726"/>
            <a:ext cx="10686143" cy="554740"/>
          </a:xfrm>
        </p:spPr>
        <p:txBody>
          <a:bodyPr lIns="90000">
            <a:noAutofit/>
          </a:bodyPr>
          <a:lstStyle/>
          <a:p>
            <a:pPr marL="0" indent="0">
              <a:buNone/>
            </a:pPr>
            <a:r>
              <a:rPr lang="en-GB" sz="2000" b="1" noProof="0" dirty="0">
                <a:effectLst/>
              </a:rPr>
              <a:t>Embeddings with en_core_web_sm + SpaCy</a:t>
            </a:r>
            <a:endParaRPr lang="en-GB" sz="3600" b="1" noProof="0" dirty="0">
              <a:effectLst/>
            </a:endParaRPr>
          </a:p>
          <a:p>
            <a:pPr marL="0" indent="0">
              <a:lnSpc>
                <a:spcPct val="150000"/>
              </a:lnSpc>
              <a:buNone/>
            </a:pPr>
            <a:endParaRPr lang="en-GB" sz="800" dirty="0">
              <a:latin typeface="Menlo" panose="020B0609030804020204" pitchFamily="49" charset="0"/>
              <a:ea typeface="Menlo" panose="020B0609030804020204" pitchFamily="49" charset="0"/>
              <a:cs typeface="Menlo" panose="020B0609030804020204" pitchFamily="49" charset="0"/>
            </a:endParaRPr>
          </a:p>
        </p:txBody>
      </p:sp>
      <p:sp>
        <p:nvSpPr>
          <p:cNvPr id="4" name="Espace réservé du pied de page 3">
            <a:extLst>
              <a:ext uri="{FF2B5EF4-FFF2-40B4-BE49-F238E27FC236}">
                <a16:creationId xmlns:a16="http://schemas.microsoft.com/office/drawing/2014/main" id="{96E4177F-7DCA-A22A-BC99-ADBE1D271829}"/>
              </a:ext>
            </a:extLst>
          </p:cNvPr>
          <p:cNvSpPr>
            <a:spLocks noGrp="1"/>
          </p:cNvSpPr>
          <p:nvPr>
            <p:ph type="ftr" sz="quarter" idx="11"/>
          </p:nvPr>
        </p:nvSpPr>
        <p:spPr/>
        <p:txBody>
          <a:bodyPr/>
          <a:lstStyle/>
          <a:p>
            <a:r>
              <a:rPr lang="fr-FR"/>
              <a:t>Introduction to Neural Networks. Author: David Thébault</a:t>
            </a:r>
          </a:p>
        </p:txBody>
      </p:sp>
      <p:sp>
        <p:nvSpPr>
          <p:cNvPr id="7" name="Rectangle 6">
            <a:extLst>
              <a:ext uri="{FF2B5EF4-FFF2-40B4-BE49-F238E27FC236}">
                <a16:creationId xmlns:a16="http://schemas.microsoft.com/office/drawing/2014/main" id="{16039D1A-B38A-2986-5DBE-A79E3506599E}"/>
              </a:ext>
            </a:extLst>
          </p:cNvPr>
          <p:cNvSpPr/>
          <p:nvPr/>
        </p:nvSpPr>
        <p:spPr>
          <a:xfrm>
            <a:off x="694481" y="2291787"/>
            <a:ext cx="10544537" cy="417846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350"/>
              </a:lnSpc>
            </a:pP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Reload</a:t>
            </a:r>
            <a:r>
              <a:rPr lang="fr-FR" sz="800" b="0" i="1" dirty="0">
                <a:solidFill>
                  <a:srgbClr val="6A8B93"/>
                </a:solidFill>
                <a:effectLst/>
                <a:latin typeface="Menlo" panose="020B0609030804020204" pitchFamily="49" charset="0"/>
              </a:rPr>
              <a:t> the model + change the model medium </a:t>
            </a:r>
            <a:r>
              <a:rPr lang="fr-FR" sz="800" b="0" i="1" dirty="0" err="1">
                <a:solidFill>
                  <a:srgbClr val="6A8B93"/>
                </a:solidFill>
                <a:effectLst/>
                <a:latin typeface="Menlo" panose="020B0609030804020204" pitchFamily="49" charset="0"/>
              </a:rPr>
              <a:t>rather</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than</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small</a:t>
            </a:r>
            <a:r>
              <a:rPr lang="fr-FR" sz="800" b="0" i="1" dirty="0">
                <a:solidFill>
                  <a:srgbClr val="6A8B93"/>
                </a:solidFill>
                <a:effectLst/>
                <a:latin typeface="Menlo" panose="020B0609030804020204" pitchFamily="49" charset="0"/>
              </a:rPr>
              <a:t> and </a:t>
            </a:r>
            <a:r>
              <a:rPr lang="fr-FR" sz="800" b="0" i="1" dirty="0" err="1">
                <a:solidFill>
                  <a:srgbClr val="6A8B93"/>
                </a:solidFill>
                <a:effectLst/>
                <a:latin typeface="Menlo" panose="020B0609030804020204" pitchFamily="49" charset="0"/>
              </a:rPr>
              <a:t>disable</a:t>
            </a:r>
            <a:r>
              <a:rPr lang="fr-FR" sz="800" b="0" i="1" dirty="0">
                <a:solidFill>
                  <a:srgbClr val="6A8B93"/>
                </a:solidFill>
                <a:effectLst/>
                <a:latin typeface="Menlo" panose="020B0609030804020204" pitchFamily="49" charset="0"/>
              </a:rPr>
              <a:t> tagger, </a:t>
            </a:r>
            <a:r>
              <a:rPr lang="fr-FR" sz="800" b="0" i="1" dirty="0" err="1">
                <a:solidFill>
                  <a:srgbClr val="6A8B93"/>
                </a:solidFill>
                <a:effectLst/>
                <a:latin typeface="Menlo" panose="020B0609030804020204" pitchFamily="49" charset="0"/>
              </a:rPr>
              <a:t>ner</a:t>
            </a:r>
            <a:r>
              <a:rPr lang="fr-FR" sz="800" b="0" i="1" dirty="0">
                <a:solidFill>
                  <a:srgbClr val="6A8B93"/>
                </a:solidFill>
                <a:effectLst/>
                <a:latin typeface="Menlo" panose="020B0609030804020204" pitchFamily="49" charset="0"/>
              </a:rPr>
              <a:t> and </a:t>
            </a:r>
            <a:r>
              <a:rPr lang="fr-FR" sz="800" b="0" i="1" dirty="0" err="1">
                <a:solidFill>
                  <a:srgbClr val="6A8B93"/>
                </a:solidFill>
                <a:effectLst/>
                <a:latin typeface="Menlo" panose="020B0609030804020204" pitchFamily="49" charset="0"/>
              </a:rPr>
              <a:t>parser</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which</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bias</a:t>
            </a:r>
            <a:r>
              <a:rPr lang="fr-FR" sz="800" b="0" i="1" dirty="0">
                <a:solidFill>
                  <a:srgbClr val="6A8B93"/>
                </a:solidFill>
                <a:effectLst/>
                <a:latin typeface="Menlo" panose="020B0609030804020204" pitchFamily="49" charset="0"/>
              </a:rPr>
              <a:t> the influence of the </a:t>
            </a:r>
            <a:r>
              <a:rPr lang="fr-FR" sz="800" b="0" i="1" dirty="0" err="1">
                <a:solidFill>
                  <a:srgbClr val="6A8B93"/>
                </a:solidFill>
                <a:effectLst/>
                <a:latin typeface="Menlo" panose="020B0609030804020204" pitchFamily="49" charset="0"/>
              </a:rPr>
              <a:t>similarity</a:t>
            </a:r>
            <a:r>
              <a:rPr lang="fr-FR" sz="800" b="0" i="1" dirty="0">
                <a:solidFill>
                  <a:srgbClr val="6A8B93"/>
                </a:solidFill>
                <a:effectLst/>
                <a:latin typeface="Menlo" panose="020B0609030804020204" pitchFamily="49" charset="0"/>
              </a:rPr>
              <a:t>:</a:t>
            </a:r>
          </a:p>
          <a:p>
            <a:pPr>
              <a:lnSpc>
                <a:spcPts val="1350"/>
              </a:lnSpc>
            </a:pP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nlp</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spacy</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load</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en_core_web_md</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96694"/>
                </a:solidFill>
                <a:effectLst/>
                <a:latin typeface="Menlo" panose="020B0609030804020204" pitchFamily="49" charset="0"/>
              </a:rPr>
              <a:t>disable</a:t>
            </a:r>
            <a:r>
              <a:rPr lang="fr-FR" sz="800" b="1" dirty="0">
                <a:solidFill>
                  <a:srgbClr val="AD3EFE"/>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"tagger"</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parser</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ner</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Number</a:t>
            </a:r>
            <a:r>
              <a:rPr lang="fr-FR" sz="800" b="0" i="1" dirty="0">
                <a:solidFill>
                  <a:srgbClr val="6A8B93"/>
                </a:solidFill>
                <a:effectLst/>
                <a:latin typeface="Menlo" panose="020B0609030804020204" pitchFamily="49" charset="0"/>
              </a:rPr>
              <a:t> of </a:t>
            </a:r>
            <a:r>
              <a:rPr lang="fr-FR" sz="800" b="0" i="1" dirty="0" err="1">
                <a:solidFill>
                  <a:srgbClr val="6A8B93"/>
                </a:solidFill>
                <a:effectLst/>
                <a:latin typeface="Menlo" panose="020B0609030804020204" pitchFamily="49" charset="0"/>
              </a:rPr>
              <a:t>words</a:t>
            </a:r>
            <a:r>
              <a:rPr lang="fr-FR" sz="800" b="0" i="1" dirty="0">
                <a:solidFill>
                  <a:srgbClr val="6A8B93"/>
                </a:solidFill>
                <a:effectLst/>
                <a:latin typeface="Menlo" panose="020B0609030804020204" pitchFamily="49" charset="0"/>
              </a:rPr>
              <a:t> in the </a:t>
            </a:r>
            <a:r>
              <a:rPr lang="fr-FR" sz="800" b="0" i="1" dirty="0" err="1">
                <a:solidFill>
                  <a:srgbClr val="6A8B93"/>
                </a:solidFill>
                <a:effectLst/>
                <a:latin typeface="Menlo" panose="020B0609030804020204" pitchFamily="49" charset="0"/>
              </a:rPr>
              <a:t>vocabulary</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vocab_size</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68482D"/>
                </a:solidFill>
                <a:effectLst/>
                <a:latin typeface="Menlo" panose="020B0609030804020204" pitchFamily="49" charset="0"/>
              </a:rPr>
              <a:t>len</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nlp</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vocab</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68482D"/>
                </a:solidFill>
                <a:effectLst/>
                <a:latin typeface="Menlo" panose="020B0609030804020204" pitchFamily="49" charset="0"/>
              </a:rPr>
              <a:t>print</a:t>
            </a:r>
            <a:r>
              <a:rPr lang="fr-FR" sz="800" b="0" dirty="0">
                <a:solidFill>
                  <a:srgbClr val="252525"/>
                </a:solidFill>
                <a:effectLst/>
                <a:latin typeface="Menlo" panose="020B0609030804020204" pitchFamily="49" charset="0"/>
              </a:rPr>
              <a:t>(</a:t>
            </a:r>
            <a:r>
              <a:rPr lang="fr-FR" sz="800" b="1" dirty="0" err="1">
                <a:solidFill>
                  <a:srgbClr val="008100"/>
                </a:solidFill>
                <a:effectLst/>
                <a:latin typeface="Menlo" panose="020B0609030804020204" pitchFamily="49" charset="0"/>
              </a:rPr>
              <a:t>f</a:t>
            </a:r>
            <a:r>
              <a:rPr lang="fr-FR" sz="800" b="0" dirty="0" err="1">
                <a:solidFill>
                  <a:srgbClr val="C44445"/>
                </a:solidFill>
                <a:effectLst/>
                <a:latin typeface="Menlo" panose="020B0609030804020204" pitchFamily="49" charset="0"/>
              </a:rPr>
              <a:t>"The</a:t>
            </a:r>
            <a:r>
              <a:rPr lang="fr-FR" sz="800" b="0" dirty="0">
                <a:solidFill>
                  <a:srgbClr val="C44445"/>
                </a:solidFill>
                <a:effectLst/>
                <a:latin typeface="Menlo" panose="020B0609030804020204" pitchFamily="49" charset="0"/>
              </a:rPr>
              <a:t> model '</a:t>
            </a:r>
            <a:r>
              <a:rPr lang="fr-FR" sz="800" b="0" dirty="0" err="1">
                <a:solidFill>
                  <a:srgbClr val="C44445"/>
                </a:solidFill>
                <a:effectLst/>
                <a:latin typeface="Menlo" panose="020B0609030804020204" pitchFamily="49" charset="0"/>
              </a:rPr>
              <a:t>en_core_web_md</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contains</a:t>
            </a:r>
            <a:r>
              <a:rPr lang="fr-FR" sz="800" b="0" dirty="0">
                <a:solidFill>
                  <a:srgbClr val="C44445"/>
                </a:solidFill>
                <a:effectLst/>
                <a:latin typeface="Menlo" panose="020B0609030804020204" pitchFamily="49" charset="0"/>
              </a:rPr>
              <a:t> </a:t>
            </a:r>
            <a:r>
              <a:rPr lang="fr-FR" sz="800" b="0" dirty="0">
                <a:solidFill>
                  <a:srgbClr val="AB6526"/>
                </a:solidFill>
                <a:effectLst/>
                <a:latin typeface="Menlo" panose="020B0609030804020204" pitchFamily="49" charset="0"/>
              </a:rPr>
              <a:t>{</a:t>
            </a:r>
            <a:r>
              <a:rPr lang="fr-FR" sz="800" b="0" dirty="0" err="1">
                <a:solidFill>
                  <a:srgbClr val="333333"/>
                </a:solidFill>
                <a:effectLst/>
                <a:latin typeface="Menlo" panose="020B0609030804020204" pitchFamily="49" charset="0"/>
              </a:rPr>
              <a:t>vocab_size</a:t>
            </a:r>
            <a:r>
              <a:rPr lang="fr-FR" sz="800" b="0" dirty="0">
                <a:solidFill>
                  <a:srgbClr val="AB6526"/>
                </a:solidFill>
                <a:effectLst/>
                <a:latin typeface="Menlo" panose="020B0609030804020204" pitchFamily="49" charset="0"/>
              </a:rPr>
              <a:t>}</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tokens</a:t>
            </a:r>
            <a:r>
              <a:rPr lang="fr-FR" sz="800" b="0" dirty="0">
                <a:solidFill>
                  <a:srgbClr val="C44445"/>
                </a:solidFill>
                <a:effectLst/>
                <a:latin typeface="Menlo" panose="020B0609030804020204" pitchFamily="49" charset="0"/>
              </a:rPr>
              <a:t> in </a:t>
            </a:r>
            <a:r>
              <a:rPr lang="fr-FR" sz="800" b="0" dirty="0" err="1">
                <a:solidFill>
                  <a:srgbClr val="C44445"/>
                </a:solidFill>
                <a:effectLst/>
                <a:latin typeface="Menlo" panose="020B0609030804020204" pitchFamily="49" charset="0"/>
              </a:rPr>
              <a:t>its</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vocabulary</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pizza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nlp</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"pizza"</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tomato</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nlp</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tomato</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tree</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nlp</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tree</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yoga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nlp</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"yoga"</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compute</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similarities</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pizza</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similarity</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tomato</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pizza</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similarity</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tree</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pizza</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similarity</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yoga</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endParaRPr lang="fr-FR" sz="800" b="0" i="1" dirty="0">
              <a:solidFill>
                <a:srgbClr val="6A8B93"/>
              </a:solidFill>
              <a:effectLst/>
              <a:latin typeface="Menlo" panose="020B0609030804020204" pitchFamily="49" charset="0"/>
            </a:endParaRPr>
          </a:p>
          <a:p>
            <a:pPr>
              <a:lnSpc>
                <a:spcPts val="1350"/>
              </a:lnSpc>
            </a:pP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Similarity</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between</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two</a:t>
            </a:r>
            <a:r>
              <a:rPr lang="fr-FR" sz="800" b="0" i="1" dirty="0">
                <a:solidFill>
                  <a:srgbClr val="6A8B93"/>
                </a:solidFill>
                <a:effectLst/>
                <a:latin typeface="Menlo" panose="020B0609030804020204" pitchFamily="49" charset="0"/>
              </a:rPr>
              <a:t> sentences</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sentence1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nlp</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"dog bites man"</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sentence2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nlp</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"canine </a:t>
            </a:r>
            <a:r>
              <a:rPr lang="fr-FR" sz="800" b="0" dirty="0" err="1">
                <a:solidFill>
                  <a:srgbClr val="C44445"/>
                </a:solidFill>
                <a:effectLst/>
                <a:latin typeface="Menlo" panose="020B0609030804020204" pitchFamily="49" charset="0"/>
              </a:rPr>
              <a:t>nips</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human</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sentence1</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similarity</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sentence2</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ct val="150000"/>
              </a:lnSpc>
            </a:pPr>
            <a:endParaRPr lang="fr-FR" sz="800" b="0" i="1" dirty="0">
              <a:solidFill>
                <a:srgbClr val="6A8B93"/>
              </a:solidFill>
              <a:effectLst/>
              <a:latin typeface="Menlo" panose="020B0609030804020204" pitchFamily="49" charset="0"/>
            </a:endParaRPr>
          </a:p>
          <a:p>
            <a:pPr>
              <a:lnSpc>
                <a:spcPct val="150000"/>
              </a:lnSpc>
            </a:pPr>
            <a:r>
              <a:rPr lang="fr-FR" sz="800" b="0" i="1" dirty="0">
                <a:solidFill>
                  <a:srgbClr val="6A8B93"/>
                </a:solidFill>
                <a:effectLst/>
                <a:latin typeface="Menlo" panose="020B0609030804020204" pitchFamily="49" charset="0"/>
              </a:rPr>
              <a:t># The </a:t>
            </a:r>
            <a:r>
              <a:rPr lang="fr-FR" sz="800" b="0" i="1" dirty="0" err="1">
                <a:solidFill>
                  <a:srgbClr val="6A8B93"/>
                </a:solidFill>
                <a:effectLst/>
                <a:latin typeface="Menlo" panose="020B0609030804020204" pitchFamily="49" charset="0"/>
              </a:rPr>
              <a:t>vector</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corresponding</a:t>
            </a:r>
            <a:r>
              <a:rPr lang="fr-FR" sz="800" b="0" i="1" dirty="0">
                <a:solidFill>
                  <a:srgbClr val="6A8B93"/>
                </a:solidFill>
                <a:effectLst/>
                <a:latin typeface="Menlo" panose="020B0609030804020204" pitchFamily="49" charset="0"/>
              </a:rPr>
              <a:t> to a sentence </a:t>
            </a:r>
            <a:r>
              <a:rPr lang="fr-FR" sz="800" b="0" i="1" dirty="0" err="1">
                <a:solidFill>
                  <a:srgbClr val="6A8B93"/>
                </a:solidFill>
                <a:effectLst/>
                <a:latin typeface="Menlo" panose="020B0609030804020204" pitchFamily="49" charset="0"/>
              </a:rPr>
              <a:t>is</a:t>
            </a:r>
            <a:r>
              <a:rPr lang="fr-FR" sz="800" b="0" i="1" dirty="0">
                <a:solidFill>
                  <a:srgbClr val="6A8B93"/>
                </a:solidFill>
                <a:effectLst/>
                <a:latin typeface="Menlo" panose="020B0609030804020204" pitchFamily="49" charset="0"/>
              </a:rPr>
              <a:t> the </a:t>
            </a:r>
            <a:r>
              <a:rPr lang="fr-FR" sz="800" b="0" i="1" dirty="0" err="1">
                <a:solidFill>
                  <a:srgbClr val="6A8B93"/>
                </a:solidFill>
                <a:effectLst/>
                <a:latin typeface="Menlo" panose="020B0609030804020204" pitchFamily="49" charset="0"/>
              </a:rPr>
              <a:t>average</a:t>
            </a:r>
            <a:r>
              <a:rPr lang="fr-FR" sz="800" b="0" i="1" dirty="0">
                <a:solidFill>
                  <a:srgbClr val="6A8B93"/>
                </a:solidFill>
                <a:effectLst/>
                <a:latin typeface="Menlo" panose="020B0609030804020204" pitchFamily="49" charset="0"/>
              </a:rPr>
              <a:t> of the </a:t>
            </a:r>
            <a:r>
              <a:rPr lang="fr-FR" sz="800" b="0" i="1" dirty="0" err="1">
                <a:solidFill>
                  <a:srgbClr val="6A8B93"/>
                </a:solidFill>
                <a:effectLst/>
                <a:latin typeface="Menlo" panose="020B0609030804020204" pitchFamily="49" charset="0"/>
              </a:rPr>
              <a:t>vectors</a:t>
            </a:r>
            <a:r>
              <a:rPr lang="fr-FR" sz="800" b="0" i="1" dirty="0">
                <a:solidFill>
                  <a:srgbClr val="6A8B93"/>
                </a:solidFill>
                <a:effectLst/>
                <a:latin typeface="Menlo" panose="020B0609030804020204" pitchFamily="49" charset="0"/>
              </a:rPr>
              <a:t> of the </a:t>
            </a:r>
            <a:r>
              <a:rPr lang="fr-FR" sz="800" b="0" i="1" dirty="0" err="1">
                <a:solidFill>
                  <a:srgbClr val="6A8B93"/>
                </a:solidFill>
                <a:effectLst/>
                <a:latin typeface="Menlo" panose="020B0609030804020204" pitchFamily="49" charset="0"/>
              </a:rPr>
              <a:t>words</a:t>
            </a:r>
            <a:r>
              <a:rPr lang="fr-FR" sz="800" b="0" i="1" dirty="0">
                <a:solidFill>
                  <a:srgbClr val="6A8B93"/>
                </a:solidFill>
                <a:effectLst/>
                <a:latin typeface="Menlo" panose="020B0609030804020204" pitchFamily="49" charset="0"/>
              </a:rPr>
              <a:t> in the sentence !!! Bam !!!</a:t>
            </a:r>
            <a:endParaRPr lang="fr-FR" sz="800" b="0" dirty="0">
              <a:solidFill>
                <a:srgbClr val="333333"/>
              </a:solidFill>
              <a:effectLst/>
              <a:latin typeface="Menlo" panose="020B0609030804020204" pitchFamily="49" charset="0"/>
            </a:endParaRPr>
          </a:p>
        </p:txBody>
      </p:sp>
    </p:spTree>
    <p:extLst>
      <p:ext uri="{BB962C8B-B14F-4D97-AF65-F5344CB8AC3E}">
        <p14:creationId xmlns:p14="http://schemas.microsoft.com/office/powerpoint/2010/main" val="3557281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45EBC-0F42-4F51-7DB6-7070CB15587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A139FBE-30DE-8446-C82B-1510D259386E}"/>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69241618-74B5-D45D-7058-C6AA7C95D2EC}"/>
              </a:ext>
            </a:extLst>
          </p:cNvPr>
          <p:cNvSpPr>
            <a:spLocks noGrp="1"/>
          </p:cNvSpPr>
          <p:nvPr>
            <p:ph idx="1"/>
          </p:nvPr>
        </p:nvSpPr>
        <p:spPr>
          <a:xfrm>
            <a:off x="838200" y="1609726"/>
            <a:ext cx="10686143" cy="554740"/>
          </a:xfrm>
        </p:spPr>
        <p:txBody>
          <a:bodyPr lIns="90000">
            <a:noAutofit/>
          </a:bodyPr>
          <a:lstStyle/>
          <a:p>
            <a:pPr marL="0" indent="0">
              <a:buNone/>
            </a:pPr>
            <a:r>
              <a:rPr lang="en-GB" sz="2000" b="1" noProof="0" dirty="0">
                <a:effectLst/>
              </a:rPr>
              <a:t>Embeddings with GloVe + </a:t>
            </a:r>
            <a:r>
              <a:rPr lang="en-GB" sz="2000" b="1" noProof="0" dirty="0" err="1">
                <a:effectLst/>
              </a:rPr>
              <a:t>Gensim</a:t>
            </a:r>
            <a:endParaRPr lang="en-GB" sz="3600" b="1" noProof="0" dirty="0">
              <a:effectLst/>
            </a:endParaRPr>
          </a:p>
          <a:p>
            <a:pPr marL="0" indent="0">
              <a:lnSpc>
                <a:spcPct val="150000"/>
              </a:lnSpc>
              <a:buNone/>
            </a:pPr>
            <a:endParaRPr lang="en-GB" sz="800" dirty="0">
              <a:latin typeface="Menlo" panose="020B0609030804020204" pitchFamily="49" charset="0"/>
              <a:ea typeface="Menlo" panose="020B0609030804020204" pitchFamily="49" charset="0"/>
              <a:cs typeface="Menlo" panose="020B0609030804020204" pitchFamily="49" charset="0"/>
            </a:endParaRPr>
          </a:p>
        </p:txBody>
      </p:sp>
      <p:sp>
        <p:nvSpPr>
          <p:cNvPr id="4" name="Espace réservé du pied de page 3">
            <a:extLst>
              <a:ext uri="{FF2B5EF4-FFF2-40B4-BE49-F238E27FC236}">
                <a16:creationId xmlns:a16="http://schemas.microsoft.com/office/drawing/2014/main" id="{246945C2-20F5-8E44-65F9-3AE5E62E7C35}"/>
              </a:ext>
            </a:extLst>
          </p:cNvPr>
          <p:cNvSpPr>
            <a:spLocks noGrp="1"/>
          </p:cNvSpPr>
          <p:nvPr>
            <p:ph type="ftr" sz="quarter" idx="11"/>
          </p:nvPr>
        </p:nvSpPr>
        <p:spPr/>
        <p:txBody>
          <a:bodyPr/>
          <a:lstStyle/>
          <a:p>
            <a:r>
              <a:rPr lang="fr-FR"/>
              <a:t>Introduction to Neural Networks. Author: David Thébault</a:t>
            </a:r>
          </a:p>
        </p:txBody>
      </p:sp>
      <p:sp>
        <p:nvSpPr>
          <p:cNvPr id="7" name="Rectangle 6">
            <a:extLst>
              <a:ext uri="{FF2B5EF4-FFF2-40B4-BE49-F238E27FC236}">
                <a16:creationId xmlns:a16="http://schemas.microsoft.com/office/drawing/2014/main" id="{E5802F12-9631-8B64-2B48-D390F714C93E}"/>
              </a:ext>
            </a:extLst>
          </p:cNvPr>
          <p:cNvSpPr/>
          <p:nvPr/>
        </p:nvSpPr>
        <p:spPr>
          <a:xfrm>
            <a:off x="694481" y="1944547"/>
            <a:ext cx="10544537" cy="45257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350"/>
              </a:lnSpc>
            </a:pPr>
            <a:r>
              <a:rPr lang="fr-FR" sz="800" b="0" i="1" dirty="0">
                <a:solidFill>
                  <a:srgbClr val="6A8B93"/>
                </a:solidFill>
                <a:effectLst/>
                <a:latin typeface="Menlo" panose="020B0609030804020204" pitchFamily="49" charset="0"/>
              </a:rPr>
              <a:t># download the </a:t>
            </a:r>
            <a:r>
              <a:rPr lang="fr-FR" sz="800" b="0" i="1" dirty="0" err="1">
                <a:solidFill>
                  <a:srgbClr val="6A8B93"/>
                </a:solidFill>
                <a:effectLst/>
                <a:latin typeface="Menlo" panose="020B0609030804020204" pitchFamily="49" charset="0"/>
              </a:rPr>
              <a:t>embeddings</a:t>
            </a:r>
            <a:r>
              <a:rPr lang="fr-FR" sz="800" b="0" i="1" dirty="0">
                <a:solidFill>
                  <a:srgbClr val="6A8B93"/>
                </a:solidFill>
                <a:effectLst/>
                <a:latin typeface="Menlo" panose="020B0609030804020204" pitchFamily="49" charset="0"/>
              </a:rPr>
              <a:t> model</a:t>
            </a:r>
            <a:endParaRPr lang="fr-FR" sz="800" b="0" dirty="0">
              <a:solidFill>
                <a:srgbClr val="333333"/>
              </a:solidFill>
              <a:effectLst/>
              <a:latin typeface="Menlo" panose="020B0609030804020204" pitchFamily="49" charset="0"/>
            </a:endParaRPr>
          </a:p>
          <a:p>
            <a:pPr>
              <a:lnSpc>
                <a:spcPts val="1350"/>
              </a:lnSpc>
            </a:pP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curl</a:t>
            </a:r>
            <a:r>
              <a:rPr lang="fr-FR" sz="800" b="0" i="1" dirty="0">
                <a:solidFill>
                  <a:srgbClr val="6A8B93"/>
                </a:solidFill>
                <a:effectLst/>
                <a:latin typeface="Menlo" panose="020B0609030804020204" pitchFamily="49" charset="0"/>
              </a:rPr>
              <a:t> -L -o glove.6B.zip http://</a:t>
            </a:r>
            <a:r>
              <a:rPr lang="fr-FR" sz="800" b="0" i="1" dirty="0" err="1">
                <a:solidFill>
                  <a:srgbClr val="6A8B93"/>
                </a:solidFill>
                <a:effectLst/>
                <a:latin typeface="Menlo" panose="020B0609030804020204" pitchFamily="49" charset="0"/>
              </a:rPr>
              <a:t>nlp.stanford.edu</a:t>
            </a:r>
            <a:r>
              <a:rPr lang="fr-FR" sz="800" b="0" i="1" dirty="0">
                <a:solidFill>
                  <a:srgbClr val="6A8B93"/>
                </a:solidFill>
                <a:effectLst/>
                <a:latin typeface="Menlo" panose="020B0609030804020204" pitchFamily="49" charset="0"/>
              </a:rPr>
              <a:t>/data/glove.6B.zip</a:t>
            </a:r>
            <a:endParaRPr lang="fr-FR" sz="800" b="0" dirty="0">
              <a:solidFill>
                <a:srgbClr val="333333"/>
              </a:solidFill>
              <a:effectLst/>
              <a:latin typeface="Menlo" panose="020B0609030804020204" pitchFamily="49" charset="0"/>
            </a:endParaRPr>
          </a:p>
          <a:p>
            <a:pPr>
              <a:lnSpc>
                <a:spcPts val="1350"/>
              </a:lnSpc>
            </a:pP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unzip</a:t>
            </a:r>
            <a:r>
              <a:rPr lang="fr-FR" sz="800" b="0" i="1" dirty="0">
                <a:solidFill>
                  <a:srgbClr val="6A8B93"/>
                </a:solidFill>
                <a:effectLst/>
                <a:latin typeface="Menlo" panose="020B0609030804020204" pitchFamily="49" charset="0"/>
              </a:rPr>
              <a:t> glove.6B.zip</a:t>
            </a:r>
          </a:p>
          <a:p>
            <a:pPr>
              <a:lnSpc>
                <a:spcPts val="1350"/>
              </a:lnSpc>
            </a:pPr>
            <a:endParaRPr lang="fr-FR" sz="800" i="1" dirty="0">
              <a:solidFill>
                <a:srgbClr val="6A8B93"/>
              </a:solidFill>
              <a:latin typeface="Menlo" panose="020B0609030804020204" pitchFamily="49" charset="0"/>
            </a:endParaRPr>
          </a:p>
          <a:p>
            <a:pPr>
              <a:lnSpc>
                <a:spcPts val="1350"/>
              </a:lnSpc>
            </a:pPr>
            <a:r>
              <a:rPr lang="fr-FR" sz="800" b="0" i="1" dirty="0">
                <a:solidFill>
                  <a:srgbClr val="6A8B93"/>
                </a:solidFill>
                <a:effectLst/>
                <a:latin typeface="Menlo" panose="020B0609030804020204" pitchFamily="49" charset="0"/>
              </a:rPr>
              <a:t># conversion of the GloVe format to Word2Vec</a:t>
            </a:r>
            <a:endParaRPr lang="fr-FR" sz="800" b="0" dirty="0">
              <a:solidFill>
                <a:srgbClr val="333333"/>
              </a:solidFill>
              <a:effectLst/>
              <a:latin typeface="Menlo" panose="020B0609030804020204" pitchFamily="49" charset="0"/>
            </a:endParaRPr>
          </a:p>
          <a:p>
            <a:pPr>
              <a:lnSpc>
                <a:spcPts val="1350"/>
              </a:lnSpc>
            </a:pPr>
            <a:r>
              <a:rPr lang="fr-FR" sz="800" b="1" dirty="0" err="1">
                <a:solidFill>
                  <a:srgbClr val="008100"/>
                </a:solidFill>
                <a:effectLst/>
                <a:latin typeface="Menlo" panose="020B0609030804020204" pitchFamily="49" charset="0"/>
              </a:rPr>
              <a:t>from</a:t>
            </a:r>
            <a:r>
              <a:rPr lang="fr-FR" sz="800" b="0" dirty="0">
                <a:solidFill>
                  <a:srgbClr val="333333"/>
                </a:solidFill>
                <a:effectLst/>
                <a:latin typeface="Menlo" panose="020B0609030804020204" pitchFamily="49" charset="0"/>
              </a:rPr>
              <a:t> gensim</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scripts</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glove2word2vec </a:t>
            </a:r>
            <a:r>
              <a:rPr lang="fr-FR" sz="800" b="1" dirty="0">
                <a:solidFill>
                  <a:srgbClr val="008100"/>
                </a:solidFill>
                <a:effectLst/>
                <a:latin typeface="Menlo" panose="020B0609030804020204" pitchFamily="49" charset="0"/>
              </a:rPr>
              <a:t>import</a:t>
            </a:r>
            <a:r>
              <a:rPr lang="fr-FR" sz="800" b="0" dirty="0">
                <a:solidFill>
                  <a:srgbClr val="333333"/>
                </a:solidFill>
                <a:effectLst/>
                <a:latin typeface="Menlo" panose="020B0609030804020204" pitchFamily="49" charset="0"/>
              </a:rPr>
              <a:t> glove2word2vec</a:t>
            </a:r>
          </a:p>
          <a:p>
            <a:pPr>
              <a:lnSpc>
                <a:spcPts val="1350"/>
              </a:lnSpc>
            </a:pPr>
            <a:br>
              <a:rPr lang="fr-FR" sz="800" b="0" dirty="0">
                <a:solidFill>
                  <a:srgbClr val="333333"/>
                </a:solidFill>
                <a:effectLst/>
                <a:latin typeface="Menlo" panose="020B0609030804020204" pitchFamily="49" charset="0"/>
              </a:rPr>
            </a:br>
            <a:r>
              <a:rPr lang="fr-FR" sz="800" b="0" dirty="0" err="1">
                <a:solidFill>
                  <a:srgbClr val="333333"/>
                </a:solidFill>
                <a:effectLst/>
                <a:latin typeface="Menlo" panose="020B0609030804020204" pitchFamily="49" charset="0"/>
              </a:rPr>
              <a:t>glove_embedding_file</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Users</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davidtbo</a:t>
            </a:r>
            <a:r>
              <a:rPr lang="fr-FR" sz="800" b="0" dirty="0">
                <a:solidFill>
                  <a:srgbClr val="C44445"/>
                </a:solidFill>
                <a:effectLst/>
                <a:latin typeface="Menlo" panose="020B0609030804020204" pitchFamily="49" charset="0"/>
              </a:rPr>
              <a:t>/Documents/</a:t>
            </a:r>
            <a:r>
              <a:rPr lang="fr-FR" sz="800" b="0" dirty="0" err="1">
                <a:solidFill>
                  <a:srgbClr val="C44445"/>
                </a:solidFill>
                <a:effectLst/>
                <a:latin typeface="Menlo" panose="020B0609030804020204" pitchFamily="49" charset="0"/>
              </a:rPr>
              <a:t>Data_Science</a:t>
            </a:r>
            <a:r>
              <a:rPr lang="fr-FR" sz="800" b="0" dirty="0">
                <a:solidFill>
                  <a:srgbClr val="C44445"/>
                </a:solidFill>
                <a:effectLst/>
                <a:latin typeface="Menlo" panose="020B0609030804020204" pitchFamily="49" charset="0"/>
              </a:rPr>
              <a:t>/99_Data/glove.6B.50d.txt'</a:t>
            </a:r>
            <a:r>
              <a:rPr lang="fr-FR" sz="800" b="0" dirty="0">
                <a:solidFill>
                  <a:srgbClr val="333333"/>
                </a:solidFill>
                <a:effectLst/>
                <a:latin typeface="Menlo" panose="020B0609030804020204" pitchFamily="49" charset="0"/>
              </a:rPr>
              <a:t> </a:t>
            </a:r>
            <a:r>
              <a:rPr lang="fr-FR" sz="800" b="0" i="1" dirty="0">
                <a:solidFill>
                  <a:srgbClr val="6A8B93"/>
                </a:solidFill>
                <a:effectLst/>
                <a:latin typeface="Menlo" panose="020B0609030804020204" pitchFamily="49" charset="0"/>
              </a:rPr>
              <a:t># Input file</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word2vec_output_file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Users</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davidtbo</a:t>
            </a:r>
            <a:r>
              <a:rPr lang="fr-FR" sz="800" b="0" dirty="0">
                <a:solidFill>
                  <a:srgbClr val="C44445"/>
                </a:solidFill>
                <a:effectLst/>
                <a:latin typeface="Menlo" panose="020B0609030804020204" pitchFamily="49" charset="0"/>
              </a:rPr>
              <a:t>/Documents/</a:t>
            </a:r>
            <a:r>
              <a:rPr lang="fr-FR" sz="800" b="0" dirty="0" err="1">
                <a:solidFill>
                  <a:srgbClr val="C44445"/>
                </a:solidFill>
                <a:effectLst/>
                <a:latin typeface="Menlo" panose="020B0609030804020204" pitchFamily="49" charset="0"/>
              </a:rPr>
              <a:t>Data_Science</a:t>
            </a:r>
            <a:r>
              <a:rPr lang="fr-FR" sz="800" b="0" dirty="0">
                <a:solidFill>
                  <a:srgbClr val="C44445"/>
                </a:solidFill>
                <a:effectLst/>
                <a:latin typeface="Menlo" panose="020B0609030804020204" pitchFamily="49" charset="0"/>
              </a:rPr>
              <a:t>/99_Data/glove.6B.50d.word2vec.txt'</a:t>
            </a:r>
            <a:r>
              <a:rPr lang="fr-FR" sz="800" b="0" dirty="0">
                <a:solidFill>
                  <a:srgbClr val="333333"/>
                </a:solidFill>
                <a:effectLst/>
                <a:latin typeface="Menlo" panose="020B0609030804020204" pitchFamily="49" charset="0"/>
              </a:rPr>
              <a:t> </a:t>
            </a:r>
            <a:r>
              <a:rPr lang="fr-FR" sz="800" b="0" i="1" dirty="0">
                <a:solidFill>
                  <a:srgbClr val="6A8B93"/>
                </a:solidFill>
                <a:effectLst/>
                <a:latin typeface="Menlo" panose="020B0609030804020204" pitchFamily="49" charset="0"/>
              </a:rPr>
              <a:t># Output file</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dirty="0">
                <a:solidFill>
                  <a:srgbClr val="333333"/>
                </a:solidFill>
                <a:effectLst/>
                <a:latin typeface="Menlo" panose="020B0609030804020204" pitchFamily="49" charset="0"/>
              </a:rPr>
              <a:t>glove2word2vec</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glove_embedding_file</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word2vec_output_file</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i="1" dirty="0">
                <a:solidFill>
                  <a:srgbClr val="6A8B93"/>
                </a:solidFill>
                <a:effectLst/>
                <a:latin typeface="Menlo" panose="020B0609030804020204" pitchFamily="49" charset="0"/>
              </a:rPr>
              <a:t># Load the Word2Vec model </a:t>
            </a:r>
            <a:r>
              <a:rPr lang="fr-FR" sz="800" b="0" i="1" dirty="0" err="1">
                <a:solidFill>
                  <a:srgbClr val="6A8B93"/>
                </a:solidFill>
                <a:effectLst/>
                <a:latin typeface="Menlo" panose="020B0609030804020204" pitchFamily="49" charset="0"/>
              </a:rPr>
              <a:t>with</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GenSim</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word_vectors</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KeyedVectors</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load_word2vec_format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word2vec_output_file</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396694"/>
                </a:solidFill>
                <a:effectLst/>
                <a:latin typeface="Menlo" panose="020B0609030804020204" pitchFamily="49" charset="0"/>
              </a:rPr>
              <a:t>binary</a:t>
            </a:r>
            <a:r>
              <a:rPr lang="fr-FR" sz="800" b="1" dirty="0">
                <a:solidFill>
                  <a:srgbClr val="AD3EFE"/>
                </a:solidFill>
                <a:effectLst/>
                <a:latin typeface="Menlo" panose="020B0609030804020204" pitchFamily="49" charset="0"/>
              </a:rPr>
              <a:t>=</a:t>
            </a:r>
            <a:r>
              <a:rPr lang="fr-FR" sz="800" b="1" dirty="0">
                <a:solidFill>
                  <a:srgbClr val="008100"/>
                </a:solidFill>
                <a:effectLst/>
                <a:latin typeface="Menlo" panose="020B0609030804020204" pitchFamily="49" charset="0"/>
              </a:rPr>
              <a:t>False</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endParaRPr lang="fr-FR" sz="800" b="0" i="1" dirty="0">
              <a:solidFill>
                <a:srgbClr val="6A8B93"/>
              </a:solidFill>
              <a:effectLst/>
              <a:latin typeface="Menlo" panose="020B0609030804020204" pitchFamily="49" charset="0"/>
            </a:endParaRPr>
          </a:p>
          <a:p>
            <a:pPr>
              <a:lnSpc>
                <a:spcPts val="1350"/>
              </a:lnSpc>
            </a:pPr>
            <a:r>
              <a:rPr lang="fr-FR" sz="800" b="0" i="1" dirty="0">
                <a:solidFill>
                  <a:srgbClr val="6A8B93"/>
                </a:solidFill>
                <a:effectLst/>
                <a:latin typeface="Menlo" panose="020B0609030804020204" pitchFamily="49" charset="0"/>
              </a:rPr>
              <a:t># Test </a:t>
            </a:r>
            <a:r>
              <a:rPr lang="fr-FR" sz="800" b="0" i="1" dirty="0" err="1">
                <a:solidFill>
                  <a:srgbClr val="6A8B93"/>
                </a:solidFill>
                <a:effectLst/>
                <a:latin typeface="Menlo" panose="020B0609030804020204" pitchFamily="49" charset="0"/>
              </a:rPr>
              <a:t>similarity</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between</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two</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words</a:t>
            </a:r>
            <a:r>
              <a:rPr lang="fr-FR" sz="800" b="0" i="1" dirty="0">
                <a:solidFill>
                  <a:srgbClr val="6A8B93"/>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similarity</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word_vectors</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similarity</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'dog'</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'cat'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68482D"/>
                </a:solidFill>
                <a:effectLst/>
                <a:latin typeface="Menlo" panose="020B0609030804020204" pitchFamily="49" charset="0"/>
              </a:rPr>
              <a:t>print</a:t>
            </a:r>
            <a:r>
              <a:rPr lang="fr-FR" sz="800" b="0" dirty="0">
                <a:solidFill>
                  <a:srgbClr val="252525"/>
                </a:solidFill>
                <a:effectLst/>
                <a:latin typeface="Menlo" panose="020B0609030804020204" pitchFamily="49" charset="0"/>
              </a:rPr>
              <a:t>(</a:t>
            </a:r>
            <a:r>
              <a:rPr lang="fr-FR" sz="800" b="1" dirty="0" err="1">
                <a:solidFill>
                  <a:srgbClr val="008100"/>
                </a:solidFill>
                <a:effectLst/>
                <a:latin typeface="Menlo" panose="020B0609030804020204" pitchFamily="49" charset="0"/>
              </a:rPr>
              <a:t>f</a:t>
            </a:r>
            <a:r>
              <a:rPr lang="fr-FR" sz="800" b="0" dirty="0" err="1">
                <a:solidFill>
                  <a:srgbClr val="C44445"/>
                </a:solidFill>
                <a:effectLst/>
                <a:latin typeface="Menlo" panose="020B0609030804020204" pitchFamily="49" charset="0"/>
              </a:rPr>
              <a:t>"Similarity</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between</a:t>
            </a:r>
            <a:r>
              <a:rPr lang="fr-FR" sz="800" b="0" dirty="0">
                <a:solidFill>
                  <a:srgbClr val="C44445"/>
                </a:solidFill>
                <a:effectLst/>
                <a:latin typeface="Menlo" panose="020B0609030804020204" pitchFamily="49" charset="0"/>
              </a:rPr>
              <a:t> 'dog' and 'cat': </a:t>
            </a:r>
            <a:r>
              <a:rPr lang="fr-FR" sz="800" b="0" dirty="0">
                <a:solidFill>
                  <a:srgbClr val="AB6526"/>
                </a:solidFill>
                <a:effectLst/>
                <a:latin typeface="Menlo" panose="020B0609030804020204" pitchFamily="49" charset="0"/>
              </a:rPr>
              <a:t>{</a:t>
            </a:r>
            <a:r>
              <a:rPr lang="fr-FR" sz="800" b="0" dirty="0" err="1">
                <a:solidFill>
                  <a:srgbClr val="333333"/>
                </a:solidFill>
                <a:effectLst/>
                <a:latin typeface="Menlo" panose="020B0609030804020204" pitchFamily="49" charset="0"/>
              </a:rPr>
              <a:t>similarity</a:t>
            </a:r>
            <a:r>
              <a:rPr lang="fr-FR" sz="800" b="0" dirty="0">
                <a:solidFill>
                  <a:srgbClr val="AB6526"/>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p>
          <a:p>
            <a:pPr>
              <a:lnSpc>
                <a:spcPts val="1350"/>
              </a:lnSpc>
            </a:pPr>
            <a:endParaRPr lang="fr-FR" sz="800" dirty="0">
              <a:solidFill>
                <a:srgbClr val="252525"/>
              </a:solidFill>
              <a:latin typeface="Menlo" panose="020B0609030804020204" pitchFamily="49" charset="0"/>
            </a:endParaRPr>
          </a:p>
          <a:p>
            <a:pPr>
              <a:lnSpc>
                <a:spcPts val="1350"/>
              </a:lnSpc>
            </a:pPr>
            <a:r>
              <a:rPr lang="fr-FR" sz="800" b="1" dirty="0" err="1">
                <a:solidFill>
                  <a:srgbClr val="008100"/>
                </a:solidFill>
                <a:effectLst/>
                <a:latin typeface="Menlo" panose="020B0609030804020204" pitchFamily="49" charset="0"/>
              </a:rPr>
              <a:t>try</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word_vectors</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genance</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1" dirty="0" err="1">
                <a:solidFill>
                  <a:srgbClr val="008100"/>
                </a:solidFill>
                <a:effectLst/>
                <a:latin typeface="Menlo" panose="020B0609030804020204" pitchFamily="49" charset="0"/>
              </a:rPr>
              <a:t>except</a:t>
            </a:r>
            <a:r>
              <a:rPr lang="fr-FR" sz="800" b="0" dirty="0">
                <a:solidFill>
                  <a:srgbClr val="333333"/>
                </a:solidFill>
                <a:effectLst/>
                <a:latin typeface="Menlo" panose="020B0609030804020204" pitchFamily="49" charset="0"/>
              </a:rPr>
              <a:t> </a:t>
            </a:r>
            <a:r>
              <a:rPr lang="fr-FR" sz="800" b="0" dirty="0" err="1">
                <a:solidFill>
                  <a:srgbClr val="008100"/>
                </a:solidFill>
                <a:effectLst/>
                <a:latin typeface="Menlo" panose="020B0609030804020204" pitchFamily="49" charset="0"/>
              </a:rPr>
              <a:t>KeyError</a:t>
            </a:r>
            <a:r>
              <a:rPr lang="fr-FR" sz="800" b="0" dirty="0">
                <a:solidFill>
                  <a:srgbClr val="333333"/>
                </a:solidFill>
                <a:effectLst/>
                <a:latin typeface="Menlo" panose="020B0609030804020204" pitchFamily="49" charset="0"/>
              </a:rPr>
              <a:t> </a:t>
            </a:r>
            <a:r>
              <a:rPr lang="fr-FR" sz="800" b="1" dirty="0">
                <a:solidFill>
                  <a:srgbClr val="008100"/>
                </a:solidFill>
                <a:effectLst/>
                <a:latin typeface="Menlo" panose="020B0609030804020204" pitchFamily="49" charset="0"/>
              </a:rPr>
              <a:t>as</a:t>
            </a:r>
            <a:r>
              <a:rPr lang="fr-FR" sz="800" b="0" dirty="0">
                <a:solidFill>
                  <a:srgbClr val="333333"/>
                </a:solidFill>
                <a:effectLst/>
                <a:latin typeface="Menlo" panose="020B0609030804020204" pitchFamily="49" charset="0"/>
              </a:rPr>
              <a:t> e</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68482D"/>
                </a:solidFill>
                <a:effectLst/>
                <a:latin typeface="Menlo" panose="020B0609030804020204" pitchFamily="49" charset="0"/>
              </a:rPr>
              <a:t>print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e</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p:txBody>
      </p:sp>
    </p:spTree>
    <p:extLst>
      <p:ext uri="{BB962C8B-B14F-4D97-AF65-F5344CB8AC3E}">
        <p14:creationId xmlns:p14="http://schemas.microsoft.com/office/powerpoint/2010/main" val="2701621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5EF9-71EE-0F33-AFC9-7B660DA9971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68129F3-3516-C727-AF80-7F074EAA493D}"/>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49E54F0C-8E6B-1B3E-E6B0-BCFC086ABA55}"/>
              </a:ext>
            </a:extLst>
          </p:cNvPr>
          <p:cNvSpPr>
            <a:spLocks noGrp="1"/>
          </p:cNvSpPr>
          <p:nvPr>
            <p:ph idx="1"/>
          </p:nvPr>
        </p:nvSpPr>
        <p:spPr>
          <a:xfrm>
            <a:off x="838200" y="1609726"/>
            <a:ext cx="10686143" cy="554740"/>
          </a:xfrm>
        </p:spPr>
        <p:txBody>
          <a:bodyPr lIns="90000">
            <a:noAutofit/>
          </a:bodyPr>
          <a:lstStyle/>
          <a:p>
            <a:pPr marL="0" indent="0">
              <a:buNone/>
            </a:pPr>
            <a:r>
              <a:rPr lang="en-GB" sz="2000" b="1" noProof="0" dirty="0">
                <a:effectLst/>
              </a:rPr>
              <a:t>Embeddings with GloVe + </a:t>
            </a:r>
            <a:r>
              <a:rPr lang="en-GB" sz="2000" b="1" noProof="0" dirty="0" err="1">
                <a:effectLst/>
              </a:rPr>
              <a:t>Gensim</a:t>
            </a:r>
            <a:endParaRPr lang="en-GB" sz="3600" b="1" noProof="0" dirty="0">
              <a:effectLst/>
            </a:endParaRPr>
          </a:p>
          <a:p>
            <a:pPr marL="0" indent="0">
              <a:lnSpc>
                <a:spcPct val="150000"/>
              </a:lnSpc>
              <a:buNone/>
            </a:pPr>
            <a:endParaRPr lang="en-GB" sz="800" dirty="0">
              <a:latin typeface="Menlo" panose="020B0609030804020204" pitchFamily="49" charset="0"/>
              <a:ea typeface="Menlo" panose="020B0609030804020204" pitchFamily="49" charset="0"/>
              <a:cs typeface="Menlo" panose="020B0609030804020204" pitchFamily="49" charset="0"/>
            </a:endParaRPr>
          </a:p>
        </p:txBody>
      </p:sp>
      <p:sp>
        <p:nvSpPr>
          <p:cNvPr id="4" name="Espace réservé du pied de page 3">
            <a:extLst>
              <a:ext uri="{FF2B5EF4-FFF2-40B4-BE49-F238E27FC236}">
                <a16:creationId xmlns:a16="http://schemas.microsoft.com/office/drawing/2014/main" id="{69EB1B74-1DB8-EE15-622E-EA6FE7B192D1}"/>
              </a:ext>
            </a:extLst>
          </p:cNvPr>
          <p:cNvSpPr>
            <a:spLocks noGrp="1"/>
          </p:cNvSpPr>
          <p:nvPr>
            <p:ph type="ftr" sz="quarter" idx="11"/>
          </p:nvPr>
        </p:nvSpPr>
        <p:spPr/>
        <p:txBody>
          <a:bodyPr/>
          <a:lstStyle/>
          <a:p>
            <a:r>
              <a:rPr lang="fr-FR"/>
              <a:t>Introduction to Neural Networks. Author: David Thébault</a:t>
            </a:r>
          </a:p>
        </p:txBody>
      </p:sp>
      <p:sp>
        <p:nvSpPr>
          <p:cNvPr id="7" name="Rectangle 6">
            <a:extLst>
              <a:ext uri="{FF2B5EF4-FFF2-40B4-BE49-F238E27FC236}">
                <a16:creationId xmlns:a16="http://schemas.microsoft.com/office/drawing/2014/main" id="{A9177393-5967-69F7-738F-0A5337FCD4CF}"/>
              </a:ext>
            </a:extLst>
          </p:cNvPr>
          <p:cNvSpPr/>
          <p:nvPr/>
        </p:nvSpPr>
        <p:spPr>
          <a:xfrm>
            <a:off x="694481" y="1944547"/>
            <a:ext cx="10544537" cy="45257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350"/>
              </a:lnSpc>
            </a:pPr>
            <a:r>
              <a:rPr lang="fr-FR" sz="800" b="0" dirty="0" err="1">
                <a:solidFill>
                  <a:srgbClr val="333333"/>
                </a:solidFill>
                <a:effectLst/>
                <a:latin typeface="Menlo" panose="020B0609030804020204" pitchFamily="49" charset="0"/>
              </a:rPr>
              <a:t>word_vectors</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most_similar</a:t>
            </a:r>
            <a:r>
              <a:rPr lang="fr-FR" sz="800" b="0" dirty="0">
                <a:solidFill>
                  <a:srgbClr val="252525"/>
                </a:solidFill>
                <a:effectLst/>
                <a:latin typeface="Menlo" panose="020B0609030804020204" pitchFamily="49" charset="0"/>
              </a:rPr>
              <a:t>(</a:t>
            </a:r>
            <a:r>
              <a:rPr lang="fr-FR" sz="800" b="0" dirty="0">
                <a:solidFill>
                  <a:srgbClr val="396694"/>
                </a:solidFill>
                <a:effectLst/>
                <a:latin typeface="Menlo" panose="020B0609030804020204" pitchFamily="49" charset="0"/>
              </a:rPr>
              <a:t>positive</a:t>
            </a:r>
            <a:r>
              <a:rPr lang="fr-FR" sz="800" b="1" dirty="0">
                <a:solidFill>
                  <a:srgbClr val="AD3EFE"/>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'phone'</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'communication'</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96694"/>
                </a:solidFill>
                <a:effectLst/>
                <a:latin typeface="Menlo" panose="020B0609030804020204" pitchFamily="49" charset="0"/>
              </a:rPr>
              <a:t>negative</a:t>
            </a:r>
            <a:r>
              <a:rPr lang="fr-FR" sz="800" b="1" dirty="0">
                <a:solidFill>
                  <a:srgbClr val="AD3EFE"/>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cellphone</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 </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Find</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words</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which</a:t>
            </a:r>
            <a:r>
              <a:rPr lang="fr-FR" sz="800" b="0" i="1" dirty="0">
                <a:solidFill>
                  <a:srgbClr val="6A8B93"/>
                </a:solidFill>
                <a:effectLst/>
                <a:latin typeface="Menlo" panose="020B0609030804020204" pitchFamily="49" charset="0"/>
              </a:rPr>
              <a:t> are </a:t>
            </a:r>
            <a:r>
              <a:rPr lang="fr-FR" sz="800" b="0" i="1" dirty="0" err="1">
                <a:solidFill>
                  <a:srgbClr val="6A8B93"/>
                </a:solidFill>
                <a:effectLst/>
                <a:latin typeface="Menlo" panose="020B0609030804020204" pitchFamily="49" charset="0"/>
              </a:rPr>
              <a:t>similar</a:t>
            </a:r>
            <a:r>
              <a:rPr lang="fr-FR" sz="800" b="0" i="1" dirty="0">
                <a:solidFill>
                  <a:srgbClr val="6A8B93"/>
                </a:solidFill>
                <a:effectLst/>
                <a:latin typeface="Menlo" panose="020B0609030804020204" pitchFamily="49" charset="0"/>
              </a:rPr>
              <a:t> to </a:t>
            </a:r>
            <a:r>
              <a:rPr lang="fr-FR" sz="800" b="0" i="1" dirty="0" err="1">
                <a:solidFill>
                  <a:srgbClr val="6A8B93"/>
                </a:solidFill>
                <a:effectLst/>
                <a:latin typeface="Menlo" panose="020B0609030804020204" pitchFamily="49" charset="0"/>
              </a:rPr>
              <a:t>cellphone</a:t>
            </a:r>
            <a:r>
              <a:rPr lang="fr-FR" sz="800" b="0" i="1" dirty="0">
                <a:solidFill>
                  <a:srgbClr val="6A8B93"/>
                </a:solidFill>
                <a:effectLst/>
                <a:latin typeface="Menlo" panose="020B0609030804020204" pitchFamily="49" charset="0"/>
              </a:rPr>
              <a:t> and communication but not to phone</a:t>
            </a:r>
            <a:endParaRPr lang="fr-FR" sz="800" b="0" dirty="0">
              <a:solidFill>
                <a:srgbClr val="252525"/>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word_vectors</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n_similarity</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"dog bites </a:t>
            </a:r>
            <a:r>
              <a:rPr lang="fr-FR" sz="800" b="0" dirty="0" err="1">
                <a:solidFill>
                  <a:srgbClr val="C44445"/>
                </a:solidFill>
                <a:effectLst/>
                <a:latin typeface="Menlo" panose="020B0609030804020204" pitchFamily="49" charset="0"/>
              </a:rPr>
              <a:t>man"</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split</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"canine </a:t>
            </a:r>
            <a:r>
              <a:rPr lang="fr-FR" sz="800" b="0" dirty="0" err="1">
                <a:solidFill>
                  <a:srgbClr val="C44445"/>
                </a:solidFill>
                <a:effectLst/>
                <a:latin typeface="Menlo" panose="020B0609030804020204" pitchFamily="49" charset="0"/>
              </a:rPr>
              <a:t>nips</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human</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split</a:t>
            </a:r>
            <a:r>
              <a:rPr lang="fr-FR" sz="800" b="0" dirty="0">
                <a:solidFill>
                  <a:srgbClr val="252525"/>
                </a:solidFill>
                <a:effectLst/>
                <a:latin typeface="Menlo" panose="020B0609030804020204" pitchFamily="49" charset="0"/>
              </a:rPr>
              <a:t>()) </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cosine</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similarity</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between</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two</a:t>
            </a:r>
            <a:r>
              <a:rPr lang="fr-FR" sz="800" b="0" i="1" dirty="0">
                <a:solidFill>
                  <a:srgbClr val="6A8B93"/>
                </a:solidFill>
                <a:effectLst/>
                <a:latin typeface="Menlo" panose="020B0609030804020204" pitchFamily="49" charset="0"/>
              </a:rPr>
              <a:t> sentences</a:t>
            </a: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word_vectors</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doesnt_match</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"breakfast </a:t>
            </a:r>
            <a:r>
              <a:rPr lang="fr-FR" sz="800" b="0" dirty="0" err="1">
                <a:solidFill>
                  <a:srgbClr val="C44445"/>
                </a:solidFill>
                <a:effectLst/>
                <a:latin typeface="Menlo" panose="020B0609030804020204" pitchFamily="49" charset="0"/>
              </a:rPr>
              <a:t>cereal</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dinner</a:t>
            </a:r>
            <a:r>
              <a:rPr lang="fr-FR" sz="800" b="0" dirty="0">
                <a:solidFill>
                  <a:srgbClr val="C44445"/>
                </a:solidFill>
                <a:effectLst/>
                <a:latin typeface="Menlo" panose="020B0609030804020204" pitchFamily="49" charset="0"/>
              </a:rPr>
              <a:t> </a:t>
            </a:r>
            <a:r>
              <a:rPr lang="fr-FR" sz="800" b="0" dirty="0" err="1">
                <a:solidFill>
                  <a:srgbClr val="C44445"/>
                </a:solidFill>
                <a:effectLst/>
                <a:latin typeface="Menlo" panose="020B0609030804020204" pitchFamily="49" charset="0"/>
              </a:rPr>
              <a:t>lunch"</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split</a:t>
            </a:r>
            <a:r>
              <a:rPr lang="fr-FR" sz="800" b="0" dirty="0">
                <a:solidFill>
                  <a:srgbClr val="252525"/>
                </a:solidFill>
                <a:effectLst/>
                <a:latin typeface="Menlo" panose="020B0609030804020204" pitchFamily="49" charset="0"/>
              </a:rPr>
              <a:t>())</a:t>
            </a:r>
          </a:p>
          <a:p>
            <a:pPr>
              <a:lnSpc>
                <a:spcPts val="1350"/>
              </a:lnSpc>
            </a:pPr>
            <a:endParaRPr lang="fr-FR" sz="800" dirty="0">
              <a:solidFill>
                <a:srgbClr val="252525"/>
              </a:solidFill>
              <a:latin typeface="Menlo" panose="020B0609030804020204" pitchFamily="49" charset="0"/>
            </a:endParaRPr>
          </a:p>
          <a:p>
            <a:pPr>
              <a:lnSpc>
                <a:spcPts val="1350"/>
              </a:lnSpc>
            </a:pP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Visualize</a:t>
            </a:r>
            <a:r>
              <a:rPr lang="fr-FR" sz="800" b="0" i="1" dirty="0">
                <a:solidFill>
                  <a:srgbClr val="6A8B93"/>
                </a:solidFill>
                <a:effectLst/>
                <a:latin typeface="Menlo" panose="020B0609030804020204" pitchFamily="49" charset="0"/>
              </a:rPr>
              <a:t> the </a:t>
            </a:r>
            <a:r>
              <a:rPr lang="fr-FR" sz="800" b="0" i="1" dirty="0" err="1">
                <a:solidFill>
                  <a:srgbClr val="6A8B93"/>
                </a:solidFill>
                <a:effectLst/>
                <a:latin typeface="Menlo" panose="020B0609030804020204" pitchFamily="49" charset="0"/>
              </a:rPr>
              <a:t>word</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embeddings</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using</a:t>
            </a:r>
            <a:r>
              <a:rPr lang="fr-FR" sz="800" b="0" i="1" dirty="0">
                <a:solidFill>
                  <a:srgbClr val="6A8B93"/>
                </a:solidFill>
                <a:effectLst/>
                <a:latin typeface="Menlo" panose="020B0609030804020204" pitchFamily="49" charset="0"/>
              </a:rPr>
              <a:t> Principal Component Analysis (PCA) and </a:t>
            </a:r>
            <a:r>
              <a:rPr lang="fr-FR" sz="800" b="0" i="1" dirty="0" err="1">
                <a:solidFill>
                  <a:srgbClr val="6A8B93"/>
                </a:solidFill>
                <a:effectLst/>
                <a:latin typeface="Menlo" panose="020B0609030804020204" pitchFamily="49" charset="0"/>
              </a:rPr>
              <a:t>t</a:t>
            </a:r>
            <a:r>
              <a:rPr lang="fr-FR" sz="800" b="0" i="1" dirty="0">
                <a:solidFill>
                  <a:srgbClr val="6A8B93"/>
                </a:solidFill>
                <a:effectLst/>
                <a:latin typeface="Menlo" panose="020B0609030804020204" pitchFamily="49" charset="0"/>
              </a:rPr>
              <a:t>-Distributed </a:t>
            </a:r>
            <a:r>
              <a:rPr lang="fr-FR" sz="800" b="0" i="1" dirty="0" err="1">
                <a:solidFill>
                  <a:srgbClr val="6A8B93"/>
                </a:solidFill>
                <a:effectLst/>
                <a:latin typeface="Menlo" panose="020B0609030804020204" pitchFamily="49" charset="0"/>
              </a:rPr>
              <a:t>Stochastic</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Neighbor</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Embedding</a:t>
            </a:r>
            <a:r>
              <a:rPr lang="fr-FR" sz="800" b="0" i="1" dirty="0">
                <a:solidFill>
                  <a:srgbClr val="6A8B93"/>
                </a:solidFill>
                <a:effectLst/>
                <a:latin typeface="Menlo" panose="020B0609030804020204" pitchFamily="49" charset="0"/>
              </a:rPr>
              <a:t> (</a:t>
            </a:r>
            <a:r>
              <a:rPr lang="fr-FR" sz="800" b="0" i="1" dirty="0" err="1">
                <a:solidFill>
                  <a:srgbClr val="6A8B93"/>
                </a:solidFill>
                <a:effectLst/>
                <a:latin typeface="Menlo" panose="020B0609030804020204" pitchFamily="49" charset="0"/>
              </a:rPr>
              <a:t>t</a:t>
            </a:r>
            <a:r>
              <a:rPr lang="fr-FR" sz="800" b="0" i="1" dirty="0">
                <a:solidFill>
                  <a:srgbClr val="6A8B93"/>
                </a:solidFill>
                <a:effectLst/>
                <a:latin typeface="Menlo" panose="020B0609030804020204" pitchFamily="49" charset="0"/>
              </a:rPr>
              <a:t>-SNE)</a:t>
            </a:r>
            <a:endParaRPr lang="fr-FR" sz="800" b="0" dirty="0">
              <a:solidFill>
                <a:srgbClr val="333333"/>
              </a:solidFill>
              <a:effectLst/>
              <a:latin typeface="Menlo" panose="020B0609030804020204" pitchFamily="49" charset="0"/>
            </a:endParaRPr>
          </a:p>
          <a:p>
            <a:pPr>
              <a:lnSpc>
                <a:spcPts val="1350"/>
              </a:lnSpc>
            </a:pPr>
            <a:r>
              <a:rPr lang="fr-FR" sz="800" b="0" i="1" dirty="0">
                <a:solidFill>
                  <a:srgbClr val="6A8B93"/>
                </a:solidFill>
                <a:effectLst/>
                <a:latin typeface="Menlo" panose="020B0609030804020204" pitchFamily="49" charset="0"/>
              </a:rPr>
              <a:t># PCA </a:t>
            </a:r>
            <a:r>
              <a:rPr lang="fr-FR" sz="800" b="0" i="1" dirty="0" err="1">
                <a:solidFill>
                  <a:srgbClr val="6A8B93"/>
                </a:solidFill>
                <a:effectLst/>
                <a:latin typeface="Menlo" panose="020B0609030804020204" pitchFamily="49" charset="0"/>
              </a:rPr>
              <a:t>reduces</a:t>
            </a:r>
            <a:r>
              <a:rPr lang="fr-FR" sz="800" b="0" i="1" dirty="0">
                <a:solidFill>
                  <a:srgbClr val="6A8B93"/>
                </a:solidFill>
                <a:effectLst/>
                <a:latin typeface="Menlo" panose="020B0609030804020204" pitchFamily="49" charset="0"/>
              </a:rPr>
              <a:t> the </a:t>
            </a:r>
            <a:r>
              <a:rPr lang="fr-FR" sz="800" b="0" i="1" dirty="0" err="1">
                <a:solidFill>
                  <a:srgbClr val="6A8B93"/>
                </a:solidFill>
                <a:effectLst/>
                <a:latin typeface="Menlo" panose="020B0609030804020204" pitchFamily="49" charset="0"/>
              </a:rPr>
              <a:t>dimensionality</a:t>
            </a:r>
            <a:r>
              <a:rPr lang="fr-FR" sz="800" b="0" i="1" dirty="0">
                <a:solidFill>
                  <a:srgbClr val="6A8B93"/>
                </a:solidFill>
                <a:effectLst/>
                <a:latin typeface="Menlo" panose="020B0609030804020204" pitchFamily="49" charset="0"/>
              </a:rPr>
              <a:t> of the data while </a:t>
            </a:r>
            <a:r>
              <a:rPr lang="fr-FR" sz="800" b="0" i="1" dirty="0" err="1">
                <a:solidFill>
                  <a:srgbClr val="6A8B93"/>
                </a:solidFill>
                <a:effectLst/>
                <a:latin typeface="Menlo" panose="020B0609030804020204" pitchFamily="49" charset="0"/>
              </a:rPr>
              <a:t>preserving</a:t>
            </a:r>
            <a:r>
              <a:rPr lang="fr-FR" sz="800" b="0" i="1" dirty="0">
                <a:solidFill>
                  <a:srgbClr val="6A8B93"/>
                </a:solidFill>
                <a:effectLst/>
                <a:latin typeface="Menlo" panose="020B0609030804020204" pitchFamily="49" charset="0"/>
              </a:rPr>
              <a:t> the maximum variance</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1" dirty="0" err="1">
                <a:solidFill>
                  <a:srgbClr val="008100"/>
                </a:solidFill>
                <a:effectLst/>
                <a:latin typeface="Menlo" panose="020B0609030804020204" pitchFamily="49" charset="0"/>
              </a:rPr>
              <a:t>def</a:t>
            </a:r>
            <a:r>
              <a:rPr lang="fr-FR" sz="800" b="0" dirty="0">
                <a:solidFill>
                  <a:srgbClr val="333333"/>
                </a:solidFill>
                <a:effectLst/>
                <a:latin typeface="Menlo" panose="020B0609030804020204" pitchFamily="49" charset="0"/>
              </a:rPr>
              <a:t> </a:t>
            </a:r>
            <a:r>
              <a:rPr lang="fr-FR" sz="800" b="0" dirty="0" err="1">
                <a:solidFill>
                  <a:srgbClr val="68482D"/>
                </a:solidFill>
                <a:effectLst/>
                <a:latin typeface="Menlo" panose="020B0609030804020204" pitchFamily="49" charset="0"/>
              </a:rPr>
              <a:t>display_pca_scatterplot</a:t>
            </a:r>
            <a:r>
              <a:rPr lang="fr-FR" sz="800" b="0" dirty="0">
                <a:solidFill>
                  <a:srgbClr val="252525"/>
                </a:solidFill>
                <a:effectLst/>
                <a:latin typeface="Menlo" panose="020B0609030804020204" pitchFamily="49" charset="0"/>
              </a:rPr>
              <a:t>(</a:t>
            </a:r>
            <a:r>
              <a:rPr lang="fr-FR" sz="800" b="0" dirty="0">
                <a:solidFill>
                  <a:srgbClr val="396694"/>
                </a:solidFill>
                <a:effectLst/>
                <a:latin typeface="Menlo" panose="020B0609030804020204" pitchFamily="49" charset="0"/>
              </a:rPr>
              <a:t>model</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96694"/>
                </a:solidFill>
                <a:effectLst/>
                <a:latin typeface="Menlo" panose="020B0609030804020204" pitchFamily="49" charset="0"/>
              </a:rPr>
              <a:t>words</a:t>
            </a:r>
            <a:r>
              <a:rPr lang="fr-FR" sz="800" b="1" dirty="0">
                <a:solidFill>
                  <a:srgbClr val="AD3EFE"/>
                </a:solidFill>
                <a:effectLst/>
                <a:latin typeface="Menlo" panose="020B0609030804020204" pitchFamily="49" charset="0"/>
              </a:rPr>
              <a:t>=</a:t>
            </a:r>
            <a:r>
              <a:rPr lang="fr-FR" sz="800" b="1" dirty="0">
                <a:solidFill>
                  <a:srgbClr val="008100"/>
                </a:solidFill>
                <a:effectLst/>
                <a:latin typeface="Menlo" panose="020B0609030804020204" pitchFamily="49" charset="0"/>
              </a:rPr>
              <a:t>None</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96694"/>
                </a:solidFill>
                <a:effectLst/>
                <a:latin typeface="Menlo" panose="020B0609030804020204" pitchFamily="49" charset="0"/>
              </a:rPr>
              <a:t>sample</a:t>
            </a:r>
            <a:r>
              <a:rPr lang="fr-FR" sz="800" b="1" dirty="0">
                <a:solidFill>
                  <a:srgbClr val="AD3EFE"/>
                </a:solidFill>
                <a:effectLst/>
                <a:latin typeface="Menlo" panose="020B0609030804020204" pitchFamily="49" charset="0"/>
              </a:rPr>
              <a:t>=</a:t>
            </a:r>
            <a:r>
              <a:rPr lang="fr-FR" sz="800" b="0" dirty="0">
                <a:solidFill>
                  <a:srgbClr val="AB6526"/>
                </a:solidFill>
                <a:effectLst/>
                <a:latin typeface="Menlo" panose="020B0609030804020204" pitchFamily="49" charset="0"/>
              </a:rPr>
              <a:t>0</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1" dirty="0">
                <a:solidFill>
                  <a:srgbClr val="008100"/>
                </a:solidFill>
                <a:effectLst/>
                <a:latin typeface="Menlo" panose="020B0609030804020204" pitchFamily="49" charset="0"/>
              </a:rPr>
              <a:t>    if</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words</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1" dirty="0">
                <a:solidFill>
                  <a:srgbClr val="008100"/>
                </a:solidFill>
                <a:effectLst/>
                <a:latin typeface="Menlo" panose="020B0609030804020204" pitchFamily="49" charset="0"/>
              </a:rPr>
              <a:t>None</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1" dirty="0">
                <a:solidFill>
                  <a:srgbClr val="008100"/>
                </a:solidFill>
                <a:effectLst/>
                <a:latin typeface="Menlo" panose="020B0609030804020204" pitchFamily="49" charset="0"/>
              </a:rPr>
              <a:t>       if</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sample</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&gt;</a:t>
            </a:r>
            <a:r>
              <a:rPr lang="fr-FR" sz="800" b="0" dirty="0">
                <a:solidFill>
                  <a:srgbClr val="333333"/>
                </a:solidFill>
                <a:effectLst/>
                <a:latin typeface="Menlo" panose="020B0609030804020204" pitchFamily="49" charset="0"/>
              </a:rPr>
              <a:t> </a:t>
            </a:r>
            <a:r>
              <a:rPr lang="fr-FR" sz="800" b="0" dirty="0">
                <a:solidFill>
                  <a:srgbClr val="AB6526"/>
                </a:solidFill>
                <a:effectLst/>
                <a:latin typeface="Menlo" panose="020B0609030804020204" pitchFamily="49" charset="0"/>
              </a:rPr>
              <a:t>0</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words</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np</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random</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choice</a:t>
            </a:r>
            <a:r>
              <a:rPr lang="fr-FR" sz="800" b="0" dirty="0">
                <a:solidFill>
                  <a:srgbClr val="252525"/>
                </a:solidFill>
                <a:effectLst/>
                <a:latin typeface="Menlo" panose="020B0609030804020204" pitchFamily="49" charset="0"/>
              </a:rPr>
              <a:t>(</a:t>
            </a:r>
            <a:r>
              <a:rPr lang="fr-FR" sz="800" b="0" dirty="0" err="1">
                <a:solidFill>
                  <a:srgbClr val="008100"/>
                </a:solidFill>
                <a:effectLst/>
                <a:latin typeface="Menlo" panose="020B0609030804020204" pitchFamily="49" charset="0"/>
              </a:rPr>
              <a:t>list</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model</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vocab</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keys</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sample</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1" dirty="0">
                <a:solidFill>
                  <a:srgbClr val="008100"/>
                </a:solidFill>
                <a:effectLst/>
                <a:latin typeface="Menlo" panose="020B0609030804020204" pitchFamily="49" charset="0"/>
              </a:rPr>
              <a:t>       else</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words</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a:t>
            </a:r>
            <a:r>
              <a:rPr lang="fr-FR" sz="800" b="0" dirty="0">
                <a:solidFill>
                  <a:srgbClr val="333333"/>
                </a:solidFill>
                <a:effectLst/>
                <a:latin typeface="Menlo" panose="020B0609030804020204" pitchFamily="49" charset="0"/>
              </a:rPr>
              <a:t> </a:t>
            </a:r>
            <a:r>
              <a:rPr lang="fr-FR" sz="800" b="1" dirty="0">
                <a:solidFill>
                  <a:srgbClr val="008100"/>
                </a:solidFill>
                <a:effectLst/>
                <a:latin typeface="Menlo" panose="020B0609030804020204" pitchFamily="49" charset="0"/>
              </a:rPr>
              <a:t>for</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a:t>
            </a:r>
            <a:r>
              <a:rPr lang="fr-FR" sz="800" b="0" dirty="0">
                <a:solidFill>
                  <a:srgbClr val="333333"/>
                </a:solidFill>
                <a:effectLst/>
                <a:latin typeface="Menlo" panose="020B0609030804020204" pitchFamily="49" charset="0"/>
              </a:rPr>
              <a:t> </a:t>
            </a:r>
            <a:r>
              <a:rPr lang="fr-FR" sz="800" b="1" dirty="0">
                <a:solidFill>
                  <a:srgbClr val="008100"/>
                </a:solidFill>
                <a:effectLst/>
                <a:latin typeface="Menlo" panose="020B0609030804020204" pitchFamily="49" charset="0"/>
              </a:rPr>
              <a:t>in</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model</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vocab</a:t>
            </a:r>
            <a:r>
              <a:rPr lang="fr-FR" sz="800" b="0" dirty="0">
                <a:solidFill>
                  <a:srgbClr val="333333"/>
                </a:solidFill>
                <a:effectLst/>
                <a:latin typeface="Menlo" panose="020B0609030804020204" pitchFamily="49" charset="0"/>
              </a:rPr>
              <a:t> </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word_vectors</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np</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array</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model</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w</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1" dirty="0">
                <a:solidFill>
                  <a:srgbClr val="008100"/>
                </a:solidFill>
                <a:effectLst/>
                <a:latin typeface="Menlo" panose="020B0609030804020204" pitchFamily="49" charset="0"/>
              </a:rPr>
              <a:t>for</a:t>
            </a:r>
            <a:r>
              <a:rPr lang="fr-FR" sz="800" b="0" dirty="0">
                <a:solidFill>
                  <a:srgbClr val="333333"/>
                </a:solidFill>
                <a:effectLst/>
                <a:latin typeface="Menlo" panose="020B0609030804020204" pitchFamily="49" charset="0"/>
              </a:rPr>
              <a:t> w </a:t>
            </a:r>
            <a:r>
              <a:rPr lang="fr-FR" sz="800" b="1" dirty="0">
                <a:solidFill>
                  <a:srgbClr val="008100"/>
                </a:solidFill>
                <a:effectLst/>
                <a:latin typeface="Menlo" panose="020B0609030804020204" pitchFamily="49" charset="0"/>
              </a:rPr>
              <a:t>in</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words</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br>
              <a:rPr lang="fr-FR" sz="800" b="0" dirty="0">
                <a:solidFill>
                  <a:srgbClr val="333333"/>
                </a:solidFill>
                <a:effectLst/>
                <a:latin typeface="Menlo" panose="020B0609030804020204" pitchFamily="49" charset="0"/>
              </a:rPr>
            </a:b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twodim</a:t>
            </a:r>
            <a:r>
              <a:rPr lang="fr-FR" sz="800" b="0" dirty="0">
                <a:solidFill>
                  <a:srgbClr val="333333"/>
                </a:solidFill>
                <a:effectLst/>
                <a:latin typeface="Menlo" panose="020B0609030804020204" pitchFamily="49" charset="0"/>
              </a:rPr>
              <a:t> </a:t>
            </a:r>
            <a:r>
              <a:rPr lang="fr-FR" sz="800" b="1" dirty="0">
                <a:solidFill>
                  <a:srgbClr val="AD3EFE"/>
                </a:solidFill>
                <a:effectLst/>
                <a:latin typeface="Menlo" panose="020B0609030804020204" pitchFamily="49" charset="0"/>
              </a:rPr>
              <a:t>=</a:t>
            </a:r>
            <a:r>
              <a:rPr lang="fr-FR" sz="800" b="0" dirty="0">
                <a:solidFill>
                  <a:srgbClr val="333333"/>
                </a:solidFill>
                <a:effectLst/>
                <a:latin typeface="Menlo" panose="020B0609030804020204" pitchFamily="49" charset="0"/>
              </a:rPr>
              <a:t> PCA</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fit_transform</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word_vectors</a:t>
            </a:r>
            <a:r>
              <a:rPr lang="fr-FR" sz="800" b="0" dirty="0">
                <a:solidFill>
                  <a:srgbClr val="252525"/>
                </a:solidFill>
                <a:effectLst/>
                <a:latin typeface="Menlo" panose="020B0609030804020204" pitchFamily="49" charset="0"/>
              </a:rPr>
              <a:t>)[:,:</a:t>
            </a:r>
            <a:r>
              <a:rPr lang="fr-FR" sz="800" b="0" dirty="0">
                <a:solidFill>
                  <a:srgbClr val="AB6526"/>
                </a:solidFill>
                <a:effectLst/>
                <a:latin typeface="Menlo" panose="020B0609030804020204" pitchFamily="49" charset="0"/>
              </a:rPr>
              <a:t>2</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plt</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figure</a:t>
            </a:r>
            <a:r>
              <a:rPr lang="fr-FR" sz="800" b="0" dirty="0">
                <a:solidFill>
                  <a:srgbClr val="252525"/>
                </a:solidFill>
                <a:effectLst/>
                <a:latin typeface="Menlo" panose="020B0609030804020204" pitchFamily="49" charset="0"/>
              </a:rPr>
              <a:t>(</a:t>
            </a:r>
            <a:r>
              <a:rPr lang="fr-FR" sz="800" b="0" dirty="0" err="1">
                <a:solidFill>
                  <a:srgbClr val="396694"/>
                </a:solidFill>
                <a:effectLst/>
                <a:latin typeface="Menlo" panose="020B0609030804020204" pitchFamily="49" charset="0"/>
              </a:rPr>
              <a:t>figsize</a:t>
            </a:r>
            <a:r>
              <a:rPr lang="fr-FR" sz="800" b="1" dirty="0">
                <a:solidFill>
                  <a:srgbClr val="AD3EFE"/>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AB6526"/>
                </a:solidFill>
                <a:effectLst/>
                <a:latin typeface="Menlo" panose="020B0609030804020204" pitchFamily="49" charset="0"/>
              </a:rPr>
              <a:t>6</a:t>
            </a:r>
            <a:r>
              <a:rPr lang="fr-FR" sz="800" b="0" dirty="0">
                <a:solidFill>
                  <a:srgbClr val="252525"/>
                </a:solidFill>
                <a:effectLst/>
                <a:latin typeface="Menlo" panose="020B0609030804020204" pitchFamily="49" charset="0"/>
              </a:rPr>
              <a:t>,</a:t>
            </a:r>
            <a:r>
              <a:rPr lang="fr-FR" sz="800" b="0" dirty="0">
                <a:solidFill>
                  <a:srgbClr val="AB6526"/>
                </a:solidFill>
                <a:effectLst/>
                <a:latin typeface="Menlo" panose="020B0609030804020204" pitchFamily="49" charset="0"/>
              </a:rPr>
              <a:t>6</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plt</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scatter</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twodim</a:t>
            </a:r>
            <a:r>
              <a:rPr lang="fr-FR" sz="800" b="0" dirty="0">
                <a:solidFill>
                  <a:srgbClr val="252525"/>
                </a:solidFill>
                <a:effectLst/>
                <a:latin typeface="Menlo" panose="020B0609030804020204" pitchFamily="49" charset="0"/>
              </a:rPr>
              <a:t>[:,</a:t>
            </a:r>
            <a:r>
              <a:rPr lang="fr-FR" sz="800" b="0" dirty="0">
                <a:solidFill>
                  <a:srgbClr val="AB6526"/>
                </a:solidFill>
                <a:effectLst/>
                <a:latin typeface="Menlo" panose="020B0609030804020204" pitchFamily="49" charset="0"/>
              </a:rPr>
              <a:t>0</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twodim</a:t>
            </a:r>
            <a:r>
              <a:rPr lang="fr-FR" sz="800" b="0" dirty="0">
                <a:solidFill>
                  <a:srgbClr val="252525"/>
                </a:solidFill>
                <a:effectLst/>
                <a:latin typeface="Menlo" panose="020B0609030804020204" pitchFamily="49" charset="0"/>
              </a:rPr>
              <a:t>[:,</a:t>
            </a:r>
            <a:r>
              <a:rPr lang="fr-FR" sz="800" b="0" dirty="0">
                <a:solidFill>
                  <a:srgbClr val="AB6526"/>
                </a:solidFill>
                <a:effectLst/>
                <a:latin typeface="Menlo" panose="020B0609030804020204" pitchFamily="49" charset="0"/>
              </a:rPr>
              <a:t>1</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96694"/>
                </a:solidFill>
                <a:effectLst/>
                <a:latin typeface="Menlo" panose="020B0609030804020204" pitchFamily="49" charset="0"/>
              </a:rPr>
              <a:t>edgecolors</a:t>
            </a:r>
            <a:r>
              <a:rPr lang="fr-FR" sz="800" b="1" dirty="0">
                <a:solidFill>
                  <a:srgbClr val="AD3EFE"/>
                </a:solidFill>
                <a:effectLst/>
                <a:latin typeface="Menlo" panose="020B0609030804020204" pitchFamily="49" charset="0"/>
              </a:rPr>
              <a:t>=</a:t>
            </a:r>
            <a:r>
              <a:rPr lang="fr-FR" sz="800" b="0" dirty="0">
                <a:solidFill>
                  <a:srgbClr val="C44445"/>
                </a:solidFill>
                <a:effectLst/>
                <a:latin typeface="Menlo" panose="020B0609030804020204" pitchFamily="49" charset="0"/>
              </a:rPr>
              <a:t>'k'</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396694"/>
                </a:solidFill>
                <a:effectLst/>
                <a:latin typeface="Menlo" panose="020B0609030804020204" pitchFamily="49" charset="0"/>
              </a:rPr>
              <a:t>c</a:t>
            </a:r>
            <a:r>
              <a:rPr lang="fr-FR" sz="800" b="1" dirty="0">
                <a:solidFill>
                  <a:srgbClr val="AD3EFE"/>
                </a:solidFill>
                <a:effectLst/>
                <a:latin typeface="Menlo" panose="020B0609030804020204" pitchFamily="49" charset="0"/>
              </a:rPr>
              <a:t>=</a:t>
            </a:r>
            <a:r>
              <a:rPr lang="fr-FR" sz="800" b="0" dirty="0">
                <a:solidFill>
                  <a:srgbClr val="C44445"/>
                </a:solidFill>
                <a:effectLst/>
                <a:latin typeface="Menlo" panose="020B0609030804020204" pitchFamily="49" charset="0"/>
              </a:rPr>
              <a:t>'r’</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1" dirty="0">
                <a:solidFill>
                  <a:srgbClr val="008100"/>
                </a:solidFill>
                <a:effectLst/>
                <a:latin typeface="Menlo" panose="020B0609030804020204" pitchFamily="49" charset="0"/>
              </a:rPr>
              <a:t>    for</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x</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y</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1" dirty="0">
                <a:solidFill>
                  <a:srgbClr val="008100"/>
                </a:solidFill>
                <a:effectLst/>
                <a:latin typeface="Menlo" panose="020B0609030804020204" pitchFamily="49" charset="0"/>
              </a:rPr>
              <a:t>in</a:t>
            </a:r>
            <a:r>
              <a:rPr lang="fr-FR" sz="800" b="0" dirty="0">
                <a:solidFill>
                  <a:srgbClr val="333333"/>
                </a:solidFill>
                <a:effectLst/>
                <a:latin typeface="Menlo" panose="020B0609030804020204" pitchFamily="49" charset="0"/>
              </a:rPr>
              <a:t> </a:t>
            </a:r>
            <a:r>
              <a:rPr lang="fr-FR" sz="800" b="0" dirty="0">
                <a:solidFill>
                  <a:srgbClr val="68482D"/>
                </a:solidFill>
                <a:effectLst/>
                <a:latin typeface="Menlo" panose="020B0609030804020204" pitchFamily="49" charset="0"/>
              </a:rPr>
              <a:t>zip</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words</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twodim</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plt</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text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x</a:t>
            </a:r>
            <a:r>
              <a:rPr lang="fr-FR" sz="800" b="1" dirty="0">
                <a:solidFill>
                  <a:srgbClr val="AD3EFE"/>
                </a:solidFill>
                <a:effectLst/>
                <a:latin typeface="Menlo" panose="020B0609030804020204" pitchFamily="49" charset="0"/>
              </a:rPr>
              <a:t>+</a:t>
            </a:r>
            <a:r>
              <a:rPr lang="fr-FR" sz="800" b="0" dirty="0">
                <a:solidFill>
                  <a:srgbClr val="AB6526"/>
                </a:solidFill>
                <a:effectLst/>
                <a:latin typeface="Menlo" panose="020B0609030804020204" pitchFamily="49" charset="0"/>
              </a:rPr>
              <a:t>0.05</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y</a:t>
            </a:r>
            <a:r>
              <a:rPr lang="fr-FR" sz="800" b="1" dirty="0">
                <a:solidFill>
                  <a:srgbClr val="AD3EFE"/>
                </a:solidFill>
                <a:effectLst/>
                <a:latin typeface="Menlo" panose="020B0609030804020204" pitchFamily="49" charset="0"/>
              </a:rPr>
              <a:t>+</a:t>
            </a:r>
            <a:r>
              <a:rPr lang="fr-FR" sz="800" b="0" dirty="0">
                <a:solidFill>
                  <a:srgbClr val="AB6526"/>
                </a:solidFill>
                <a:effectLst/>
                <a:latin typeface="Menlo" panose="020B0609030804020204" pitchFamily="49" charset="0"/>
              </a:rPr>
              <a:t>0.05</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word</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a:p>
            <a:pPr>
              <a:lnSpc>
                <a:spcPts val="1350"/>
              </a:lnSpc>
            </a:pPr>
            <a:r>
              <a:rPr lang="fr-FR" sz="800" b="0" dirty="0">
                <a:solidFill>
                  <a:srgbClr val="333333"/>
                </a:solidFill>
                <a:effectLst/>
                <a:latin typeface="Menlo" panose="020B0609030804020204" pitchFamily="49" charset="0"/>
              </a:rPr>
              <a:t>    </a:t>
            </a:r>
            <a:r>
              <a:rPr lang="fr-FR" sz="800" b="0" dirty="0" err="1">
                <a:solidFill>
                  <a:srgbClr val="333333"/>
                </a:solidFill>
                <a:effectLst/>
                <a:latin typeface="Menlo" panose="020B0609030804020204" pitchFamily="49" charset="0"/>
              </a:rPr>
              <a:t>plt</a:t>
            </a:r>
            <a:r>
              <a:rPr lang="fr-FR" sz="800" b="0" dirty="0" err="1">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show</a:t>
            </a:r>
            <a:r>
              <a:rPr lang="fr-FR" sz="800" b="0" dirty="0">
                <a:solidFill>
                  <a:srgbClr val="252525"/>
                </a:solidFill>
                <a:effectLst/>
                <a:latin typeface="Menlo" panose="020B0609030804020204" pitchFamily="49" charset="0"/>
              </a:rPr>
              <a:t>()</a:t>
            </a:r>
          </a:p>
          <a:p>
            <a:pPr>
              <a:lnSpc>
                <a:spcPts val="1350"/>
              </a:lnSpc>
            </a:pPr>
            <a:endParaRPr lang="fr-FR" sz="800" b="0" dirty="0">
              <a:solidFill>
                <a:srgbClr val="333333"/>
              </a:solidFill>
              <a:effectLst/>
              <a:latin typeface="Menlo" panose="020B0609030804020204" pitchFamily="49" charset="0"/>
            </a:endParaRPr>
          </a:p>
          <a:p>
            <a:pPr>
              <a:lnSpc>
                <a:spcPts val="1350"/>
              </a:lnSpc>
            </a:pPr>
            <a:r>
              <a:rPr lang="fr-FR" sz="800" b="0" dirty="0" err="1">
                <a:solidFill>
                  <a:srgbClr val="333333"/>
                </a:solidFill>
                <a:effectLst/>
                <a:latin typeface="Menlo" panose="020B0609030804020204" pitchFamily="49" charset="0"/>
              </a:rPr>
              <a:t>display_pca_scatterplot</a:t>
            </a:r>
            <a:r>
              <a:rPr lang="fr-FR" sz="800" b="0" dirty="0">
                <a:solidFill>
                  <a:srgbClr val="252525"/>
                </a:solidFill>
                <a:effectLst/>
                <a:latin typeface="Menlo" panose="020B0609030804020204" pitchFamily="49" charset="0"/>
              </a:rPr>
              <a:t>(</a:t>
            </a:r>
            <a:r>
              <a:rPr lang="fr-FR" sz="800" b="0" dirty="0" err="1">
                <a:solidFill>
                  <a:srgbClr val="333333"/>
                </a:solidFill>
                <a:effectLst/>
                <a:latin typeface="Menlo" panose="020B0609030804020204" pitchFamily="49" charset="0"/>
              </a:rPr>
              <a:t>word_vectors</a:t>
            </a:r>
            <a:r>
              <a:rPr lang="fr-FR" sz="800" b="0" dirty="0">
                <a:solidFill>
                  <a:srgbClr val="252525"/>
                </a:solidFill>
                <a:effectLst/>
                <a:latin typeface="Menlo" panose="020B0609030804020204" pitchFamily="49" charset="0"/>
              </a:rPr>
              <a:t>,[</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swimming</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surfing</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diving</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fishing</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sailing</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a:t>
            </a:r>
            <a:r>
              <a:rPr lang="fr-FR" sz="800" b="0" dirty="0" err="1">
                <a:solidFill>
                  <a:srgbClr val="C44445"/>
                </a:solidFill>
                <a:effectLst/>
                <a:latin typeface="Menlo" panose="020B0609030804020204" pitchFamily="49" charset="0"/>
              </a:rPr>
              <a:t>feline</a:t>
            </a:r>
            <a:r>
              <a:rPr lang="fr-FR" sz="800" b="0" dirty="0">
                <a:solidFill>
                  <a:srgbClr val="C44445"/>
                </a:solidFill>
                <a:effectLst/>
                <a:latin typeface="Menlo" panose="020B0609030804020204" pitchFamily="49" charset="0"/>
              </a:rPr>
              <a:t>'</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'road'</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'car'</a:t>
            </a:r>
            <a:r>
              <a:rPr lang="fr-FR" sz="800" b="0" dirty="0">
                <a:solidFill>
                  <a:srgbClr val="252525"/>
                </a:solidFill>
                <a:effectLst/>
                <a:latin typeface="Menlo" panose="020B0609030804020204" pitchFamily="49" charset="0"/>
              </a:rPr>
              <a:t>,</a:t>
            </a:r>
            <a:r>
              <a:rPr lang="fr-FR" sz="800" b="0" dirty="0">
                <a:solidFill>
                  <a:srgbClr val="333333"/>
                </a:solidFill>
                <a:effectLst/>
                <a:latin typeface="Menlo" panose="020B0609030804020204" pitchFamily="49" charset="0"/>
              </a:rPr>
              <a:t> </a:t>
            </a:r>
            <a:r>
              <a:rPr lang="fr-FR" sz="800" b="0" dirty="0">
                <a:solidFill>
                  <a:srgbClr val="C44445"/>
                </a:solidFill>
                <a:effectLst/>
                <a:latin typeface="Menlo" panose="020B0609030804020204" pitchFamily="49" charset="0"/>
              </a:rPr>
              <a:t>'bus'</a:t>
            </a:r>
            <a:r>
              <a:rPr lang="fr-FR" sz="800" b="0" dirty="0">
                <a:solidFill>
                  <a:srgbClr val="252525"/>
                </a:solidFill>
                <a:effectLst/>
                <a:latin typeface="Menlo" panose="020B0609030804020204" pitchFamily="49" charset="0"/>
              </a:rPr>
              <a:t>])</a:t>
            </a:r>
            <a:endParaRPr lang="fr-FR" sz="800" b="0" dirty="0">
              <a:solidFill>
                <a:srgbClr val="333333"/>
              </a:solidFill>
              <a:effectLst/>
              <a:latin typeface="Menlo" panose="020B0609030804020204" pitchFamily="49" charset="0"/>
            </a:endParaRPr>
          </a:p>
        </p:txBody>
      </p:sp>
    </p:spTree>
    <p:extLst>
      <p:ext uri="{BB962C8B-B14F-4D97-AF65-F5344CB8AC3E}">
        <p14:creationId xmlns:p14="http://schemas.microsoft.com/office/powerpoint/2010/main" val="3985802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6DB24-34D5-8E0E-23C2-7B0280CB18A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6E0313E-2BA2-B427-9684-619D1308FBDA}"/>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68C87047-6667-BF22-33E1-E00FA1D9ECD7}"/>
              </a:ext>
            </a:extLst>
          </p:cNvPr>
          <p:cNvSpPr>
            <a:spLocks noGrp="1"/>
          </p:cNvSpPr>
          <p:nvPr>
            <p:ph idx="1"/>
          </p:nvPr>
        </p:nvSpPr>
        <p:spPr>
          <a:xfrm>
            <a:off x="838200" y="1541645"/>
            <a:ext cx="11353800" cy="4020956"/>
          </a:xfrm>
        </p:spPr>
        <p:txBody>
          <a:bodyPr lIns="90000">
            <a:noAutofit/>
          </a:bodyPr>
          <a:lstStyle/>
          <a:p>
            <a:pPr marL="0" indent="0">
              <a:buNone/>
            </a:pPr>
            <a:r>
              <a:rPr lang="en-GB" sz="2000" b="1" noProof="0" dirty="0">
                <a:effectLst/>
              </a:rPr>
              <a:t>Using Word Vectors in Models</a:t>
            </a:r>
          </a:p>
          <a:p>
            <a:pPr marL="0" indent="0">
              <a:buNone/>
            </a:pPr>
            <a:endParaRPr lang="en-GB" sz="1200" dirty="0"/>
          </a:p>
          <a:p>
            <a:pPr marL="0" indent="0">
              <a:buNone/>
            </a:pPr>
            <a:r>
              <a:rPr lang="en-GB" sz="1200" dirty="0"/>
              <a:t>Three scenarios:</a:t>
            </a:r>
          </a:p>
          <a:p>
            <a:pPr marL="0" indent="0">
              <a:buNone/>
            </a:pPr>
            <a:endParaRPr lang="en-GB" sz="1200" dirty="0"/>
          </a:p>
          <a:p>
            <a:pPr>
              <a:buAutoNum type="arabicPeriod"/>
            </a:pPr>
            <a:r>
              <a:rPr lang="en-GB" sz="1200" dirty="0"/>
              <a:t>Use pretrained word vectors as model inputs and keep the vectors </a:t>
            </a:r>
            <a:r>
              <a:rPr lang="en-GB" sz="1200" u="sng" dirty="0"/>
              <a:t>fixed</a:t>
            </a:r>
            <a:r>
              <a:rPr lang="en-GB" sz="1200" dirty="0"/>
              <a:t> during training.</a:t>
            </a:r>
          </a:p>
          <a:p>
            <a:pPr lvl="1"/>
            <a:r>
              <a:rPr lang="en-GB" sz="1200" dirty="0"/>
              <a:t>If we don’t have lots of data to create a words embeddings.</a:t>
            </a:r>
          </a:p>
          <a:p>
            <a:pPr marL="342900" indent="-342900">
              <a:buFont typeface="+mj-lt"/>
              <a:buAutoNum type="arabicPeriod"/>
            </a:pPr>
            <a:r>
              <a:rPr lang="en-GB" sz="1200" dirty="0"/>
              <a:t>Same as scenario (1) but this time we simultaneously tune (adjust) the word vectors as the model is trained.</a:t>
            </a:r>
          </a:p>
          <a:p>
            <a:pPr lvl="1"/>
            <a:r>
              <a:rPr lang="en-GB" sz="1200" dirty="0"/>
              <a:t>The vectors may change during the training of the model</a:t>
            </a:r>
          </a:p>
          <a:p>
            <a:pPr marL="342900" indent="-342900">
              <a:buFont typeface="+mj-lt"/>
              <a:buAutoNum type="arabicPeriod"/>
            </a:pPr>
            <a:r>
              <a:rPr lang="en-GB" sz="1200" dirty="0"/>
              <a:t>Train word embeddings from scratch alongside the model.</a:t>
            </a:r>
          </a:p>
          <a:p>
            <a:pPr lvl="1"/>
            <a:r>
              <a:rPr lang="en-GB" sz="1200" dirty="0"/>
              <a:t>Embeddings matrix will be initialized randomly</a:t>
            </a:r>
          </a:p>
          <a:p>
            <a:pPr lvl="1"/>
            <a:r>
              <a:rPr lang="en-GB" sz="1200" dirty="0"/>
              <a:t>The training algorithm will adjust the embeddings</a:t>
            </a:r>
          </a:p>
          <a:p>
            <a:pPr lvl="1"/>
            <a:r>
              <a:rPr lang="en-GB" sz="1200" dirty="0"/>
              <a:t>Embeddings will be optimized for model metric (e.g. classification accuracy) rather than similarity</a:t>
            </a:r>
          </a:p>
          <a:p>
            <a:pPr lvl="1"/>
            <a:r>
              <a:rPr lang="en-GB" sz="1200" dirty="0"/>
              <a:t>This option can be considered if there is enough data or the domain is specific.</a:t>
            </a:r>
          </a:p>
        </p:txBody>
      </p:sp>
      <p:sp>
        <p:nvSpPr>
          <p:cNvPr id="4" name="Espace réservé du pied de page 3">
            <a:extLst>
              <a:ext uri="{FF2B5EF4-FFF2-40B4-BE49-F238E27FC236}">
                <a16:creationId xmlns:a16="http://schemas.microsoft.com/office/drawing/2014/main" id="{41657405-5114-BBD9-3FE4-7C04F9BD59BC}"/>
              </a:ext>
            </a:extLst>
          </p:cNvPr>
          <p:cNvSpPr>
            <a:spLocks noGrp="1"/>
          </p:cNvSpPr>
          <p:nvPr>
            <p:ph type="ftr" sz="quarter" idx="11"/>
          </p:nvPr>
        </p:nvSpPr>
        <p:spPr/>
        <p:txBody>
          <a:bodyPr/>
          <a:lstStyle/>
          <a:p>
            <a:r>
              <a:rPr lang="en-GB" noProof="0" dirty="0"/>
              <a:t>Introduction to Neural Networks. Author: David Thébault</a:t>
            </a:r>
          </a:p>
        </p:txBody>
      </p:sp>
    </p:spTree>
    <p:extLst>
      <p:ext uri="{BB962C8B-B14F-4D97-AF65-F5344CB8AC3E}">
        <p14:creationId xmlns:p14="http://schemas.microsoft.com/office/powerpoint/2010/main" val="307503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657B3-74DB-A853-C13B-45B7907B11A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8B4B1C-4C8F-38EA-16CC-70B41DF32B2D}"/>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794E524E-EE09-50D8-42FF-705B1A0F8DB3}"/>
              </a:ext>
            </a:extLst>
          </p:cNvPr>
          <p:cNvSpPr>
            <a:spLocks noGrp="1"/>
          </p:cNvSpPr>
          <p:nvPr>
            <p:ph idx="1"/>
          </p:nvPr>
        </p:nvSpPr>
        <p:spPr>
          <a:xfrm>
            <a:off x="838200" y="1609726"/>
            <a:ext cx="10686143" cy="377081"/>
          </a:xfrm>
        </p:spPr>
        <p:txBody>
          <a:bodyPr lIns="90000">
            <a:noAutofit/>
          </a:bodyPr>
          <a:lstStyle/>
          <a:p>
            <a:pPr marL="0" indent="0">
              <a:buNone/>
            </a:pPr>
            <a:r>
              <a:rPr lang="en-GB" sz="2000" b="1" noProof="0" dirty="0">
                <a:effectLst/>
              </a:rPr>
              <a:t>Static Embedding Use case</a:t>
            </a:r>
          </a:p>
          <a:p>
            <a:pPr marL="0" indent="0">
              <a:buNone/>
            </a:pPr>
            <a:endParaRPr lang="en-GB" sz="1050" b="1" noProof="0" dirty="0">
              <a:effectLst/>
            </a:endParaRPr>
          </a:p>
        </p:txBody>
      </p:sp>
      <p:sp>
        <p:nvSpPr>
          <p:cNvPr id="4" name="Espace réservé du pied de page 3">
            <a:extLst>
              <a:ext uri="{FF2B5EF4-FFF2-40B4-BE49-F238E27FC236}">
                <a16:creationId xmlns:a16="http://schemas.microsoft.com/office/drawing/2014/main" id="{64E5C658-49B0-7B11-C4AE-C1E68DEA80E9}"/>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8C87A2A3-3D1A-C1D8-0718-CB1418BC9CBB}"/>
              </a:ext>
            </a:extLst>
          </p:cNvPr>
          <p:cNvSpPr txBox="1"/>
          <p:nvPr/>
        </p:nvSpPr>
        <p:spPr>
          <a:xfrm>
            <a:off x="838200" y="2536448"/>
            <a:ext cx="6094070" cy="1785104"/>
          </a:xfrm>
          <a:prstGeom prst="rect">
            <a:avLst/>
          </a:prstGeom>
          <a:noFill/>
        </p:spPr>
        <p:txBody>
          <a:bodyPr wrap="square">
            <a:spAutoFit/>
          </a:bodyPr>
          <a:lstStyle/>
          <a:p>
            <a:r>
              <a:rPr lang="en-GB" sz="1100" dirty="0"/>
              <a:t>the 0.418 0.24968 -0.41242 0.1217 0.34527 -0.044457 -0.49688 -0.17862 -0.00066023 -0.6566 0.27843 -0.14767 -0.55677 0.14658 -0.0095095 0.011658 0.10204 -0.12792 -0.8443 -0.12181 -0.016801 -0.33279 -0.1552 -0.23131 -0.19181 -1.8823 -0.76746 0.099051 -0.42125 -0.19526 4.0071 -0.18594 -0.52287 -0.31681 0.00059213 0.0074449 0.17778 -0.15897 0.012041 -0.054223 -0.29871 -0.15749 -0.34758 -0.045637 -0.44251 0.18785 0.0027849 -0.18411 -0.11514 -0.78581</a:t>
            </a:r>
          </a:p>
          <a:p>
            <a:r>
              <a:rPr lang="en-GB" sz="1100" dirty="0"/>
              <a:t>, 0.013441 0.23682 -0.16899 0.40951 0.63812 0.47709 -0.42852 -0.55641 -0.364 -0.23938 0.13001 -0.063734 -0.39575 -0.48162 0.23291 0.090201 -0.13324 0.078639 -0.41634 -0.15428 0.10068 0.48891 0.31226 -0.1252 -0.037512 -1.5179 0.12612 -0.02442 -0.042961 -0.28351 3.5416 -0.11956 -0.014533 -0.1499 0.21864 -0.33412 -0.13872 0.31806 0.70358 0.44858 -0.080262 0.63003 0.32111 -0.46765 0.22786 0.36034 -0.37818 -0.56657 0.044691 0.30392</a:t>
            </a:r>
          </a:p>
        </p:txBody>
      </p:sp>
    </p:spTree>
    <p:extLst>
      <p:ext uri="{BB962C8B-B14F-4D97-AF65-F5344CB8AC3E}">
        <p14:creationId xmlns:p14="http://schemas.microsoft.com/office/powerpoint/2010/main" val="2974355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9C3DE-A594-CFC1-6CCC-FB8A26F8013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88EC785-31FF-34E3-7185-6BCC0C94B4AF}"/>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7C8D6926-2935-034B-8578-4EAA14389C5D}"/>
              </a:ext>
            </a:extLst>
          </p:cNvPr>
          <p:cNvSpPr>
            <a:spLocks noGrp="1"/>
          </p:cNvSpPr>
          <p:nvPr>
            <p:ph idx="1"/>
          </p:nvPr>
        </p:nvSpPr>
        <p:spPr>
          <a:xfrm>
            <a:off x="838199" y="1798820"/>
            <a:ext cx="10686143" cy="4557529"/>
          </a:xfrm>
        </p:spPr>
        <p:txBody>
          <a:bodyPr lIns="90000">
            <a:noAutofit/>
          </a:bodyPr>
          <a:lstStyle/>
          <a:p>
            <a:pPr marL="0" indent="0">
              <a:buNone/>
            </a:pPr>
            <a:r>
              <a:rPr lang="en-GB" sz="2000" b="1" noProof="0" dirty="0">
                <a:effectLst/>
              </a:rPr>
              <a:t>Contextual Embedding</a:t>
            </a:r>
          </a:p>
          <a:p>
            <a:pPr marL="0" indent="0">
              <a:buNone/>
            </a:pPr>
            <a:endParaRPr lang="en-GB" sz="1050" b="1" noProof="0" dirty="0">
              <a:effectLst/>
            </a:endParaRPr>
          </a:p>
          <a:p>
            <a:pPr marL="0" indent="0">
              <a:lnSpc>
                <a:spcPct val="150000"/>
              </a:lnSpc>
              <a:buNone/>
            </a:pPr>
            <a:r>
              <a:rPr lang="en-GB" sz="1200" noProof="0" dirty="0">
                <a:effectLst/>
              </a:rPr>
              <a:t>Contextual embeddings, on the other hand, generate vector representations of words that depend on the context in which the word appears. This means that the same word can have different vector representations in different contexts. Examples of contextual embedding methods include:</a:t>
            </a:r>
          </a:p>
          <a:p>
            <a:pPr>
              <a:lnSpc>
                <a:spcPct val="150000"/>
              </a:lnSpc>
            </a:pPr>
            <a:r>
              <a:rPr lang="en-GB" sz="1200" noProof="0" dirty="0">
                <a:effectLst/>
              </a:rPr>
              <a:t>BERT (Bidirectional Encoder Representations from Transformers):</a:t>
            </a:r>
          </a:p>
          <a:p>
            <a:pPr marL="0" indent="0">
              <a:lnSpc>
                <a:spcPct val="150000"/>
              </a:lnSpc>
              <a:buNone/>
            </a:pPr>
            <a:r>
              <a:rPr lang="en-GB" sz="1200" noProof="0" dirty="0">
                <a:effectLst/>
              </a:rPr>
              <a:t>BERT uses a transformer model to generate word embeddings that consider the bidirectional context (both left and right contexts of the word). Each word is represented by a vector that depends on its context in the sentence.</a:t>
            </a:r>
          </a:p>
          <a:p>
            <a:pPr>
              <a:lnSpc>
                <a:spcPct val="150000"/>
              </a:lnSpc>
            </a:pPr>
            <a:r>
              <a:rPr lang="en-GB" sz="1200" noProof="0" dirty="0">
                <a:effectLst/>
              </a:rPr>
              <a:t>ELMo (Embeddings from Language Models):</a:t>
            </a:r>
          </a:p>
          <a:p>
            <a:pPr marL="0" indent="0">
              <a:lnSpc>
                <a:spcPct val="150000"/>
              </a:lnSpc>
              <a:buNone/>
            </a:pPr>
            <a:r>
              <a:rPr lang="en-GB" sz="1200" noProof="0" dirty="0">
                <a:effectLst/>
              </a:rPr>
              <a:t>ELMo uses a bidirectional language model to generate word embeddings that consider the context. Each word is represented by a vector that depends on its context in the sentence.</a:t>
            </a:r>
          </a:p>
          <a:p>
            <a:pPr marL="0" indent="0">
              <a:lnSpc>
                <a:spcPct val="150000"/>
              </a:lnSpc>
              <a:buNone/>
            </a:pPr>
            <a:r>
              <a:rPr lang="en-GB" sz="1200" noProof="0" dirty="0">
                <a:effectLst/>
              </a:rPr>
              <a:t>RoBERTa, XLNet, and other BERT variants:</a:t>
            </a:r>
          </a:p>
          <a:p>
            <a:pPr marL="0" indent="0">
              <a:lnSpc>
                <a:spcPct val="150000"/>
              </a:lnSpc>
              <a:buNone/>
            </a:pPr>
            <a:r>
              <a:rPr lang="en-GB" sz="1200" noProof="0" dirty="0">
                <a:effectLst/>
              </a:rPr>
              <a:t>These models are variants of BERT that use similar techniques to generate contextual embeddings.</a:t>
            </a:r>
          </a:p>
          <a:p>
            <a:pPr marL="0" indent="0">
              <a:buNone/>
            </a:pPr>
            <a:endParaRPr lang="en-GB" sz="2000" noProof="0" dirty="0">
              <a:effectLst/>
            </a:endParaRPr>
          </a:p>
        </p:txBody>
      </p:sp>
      <p:sp>
        <p:nvSpPr>
          <p:cNvPr id="4" name="Espace réservé du pied de page 3">
            <a:extLst>
              <a:ext uri="{FF2B5EF4-FFF2-40B4-BE49-F238E27FC236}">
                <a16:creationId xmlns:a16="http://schemas.microsoft.com/office/drawing/2014/main" id="{AFF1EEB0-14DB-7809-18A1-97D61A1A14F4}"/>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2939959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5BCF0-968F-7696-4421-0268866A116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D6A103F-42BC-77D0-A0FB-6F4A78F8075A}"/>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A79FF351-B303-CFCE-9573-AB02B68CD5C9}"/>
              </a:ext>
            </a:extLst>
          </p:cNvPr>
          <p:cNvSpPr>
            <a:spLocks noGrp="1"/>
          </p:cNvSpPr>
          <p:nvPr>
            <p:ph idx="1"/>
          </p:nvPr>
        </p:nvSpPr>
        <p:spPr>
          <a:xfrm>
            <a:off x="838200" y="1609726"/>
            <a:ext cx="10686143" cy="4557529"/>
          </a:xfrm>
        </p:spPr>
        <p:txBody>
          <a:bodyPr lIns="90000">
            <a:noAutofit/>
          </a:bodyPr>
          <a:lstStyle/>
          <a:p>
            <a:pPr marL="0" indent="0">
              <a:buNone/>
            </a:pPr>
            <a:r>
              <a:rPr lang="en-GB" sz="2000" b="1" noProof="0" dirty="0">
                <a:effectLst/>
              </a:rPr>
              <a:t>Static Embedding or Contextual Embedding</a:t>
            </a:r>
          </a:p>
          <a:p>
            <a:pPr marL="0" indent="0">
              <a:buNone/>
            </a:pPr>
            <a:endParaRPr lang="en-GB" sz="1050" b="1" noProof="0" dirty="0">
              <a:effectLst/>
            </a:endParaRPr>
          </a:p>
          <a:p>
            <a:pPr marL="0" indent="0">
              <a:lnSpc>
                <a:spcPct val="150000"/>
              </a:lnSpc>
              <a:buNone/>
            </a:pPr>
            <a:r>
              <a:rPr lang="en-GB" sz="1200" noProof="0" dirty="0">
                <a:effectLst/>
              </a:rPr>
              <a:t>Consider the following sentences:</a:t>
            </a:r>
          </a:p>
          <a:p>
            <a:pPr marL="0" indent="0">
              <a:lnSpc>
                <a:spcPct val="150000"/>
              </a:lnSpc>
              <a:buNone/>
            </a:pPr>
            <a:r>
              <a:rPr lang="en-GB" sz="1200" noProof="0" dirty="0">
                <a:effectLst/>
              </a:rPr>
              <a:t>"The bank will not accept the check."</a:t>
            </a:r>
          </a:p>
          <a:p>
            <a:pPr marL="0" indent="0">
              <a:lnSpc>
                <a:spcPct val="150000"/>
              </a:lnSpc>
              <a:buNone/>
            </a:pPr>
            <a:r>
              <a:rPr lang="en-GB" sz="1200" noProof="0" dirty="0">
                <a:effectLst/>
              </a:rPr>
              <a:t>"The river bank was eroded by the flood."</a:t>
            </a:r>
          </a:p>
          <a:p>
            <a:pPr marL="0" indent="0">
              <a:lnSpc>
                <a:spcPct val="150000"/>
              </a:lnSpc>
              <a:buNone/>
            </a:pPr>
            <a:r>
              <a:rPr lang="en-GB" sz="1200" noProof="0" dirty="0">
                <a:effectLst/>
              </a:rPr>
              <a:t>In static embeddings, the word "bank" would have a single vector representation, regardless of its context. This can be problematic because "bank" has different meanings in the two sentences.</a:t>
            </a:r>
          </a:p>
          <a:p>
            <a:pPr marL="0" indent="0">
              <a:lnSpc>
                <a:spcPct val="150000"/>
              </a:lnSpc>
              <a:buNone/>
            </a:pPr>
            <a:r>
              <a:rPr lang="en-GB" sz="1200" noProof="0" dirty="0">
                <a:effectLst/>
              </a:rPr>
              <a:t>In contextual embeddings, the word "bank" would have different vector representations in the two sentences, reflecting its different meanings.</a:t>
            </a:r>
          </a:p>
          <a:p>
            <a:pPr marL="0" indent="0">
              <a:lnSpc>
                <a:spcPct val="150000"/>
              </a:lnSpc>
              <a:buNone/>
            </a:pPr>
            <a:r>
              <a:rPr lang="en-GB" sz="1200" noProof="0" dirty="0">
                <a:effectLst/>
              </a:rPr>
              <a:t>Conclusion</a:t>
            </a:r>
          </a:p>
          <a:p>
            <a:pPr marL="0" indent="0">
              <a:lnSpc>
                <a:spcPct val="150000"/>
              </a:lnSpc>
              <a:buNone/>
            </a:pPr>
            <a:r>
              <a:rPr lang="en-GB" sz="1200" noProof="0" dirty="0">
                <a:effectLst/>
              </a:rPr>
              <a:t>The idea that words appearing in similar contexts have similar meanings is used in static embeddings to learn fixed vector representations of words. However, contextual embeddings go further by generating vector representations that depend on the context, allowing for more nuanced and context-dependent meanings of words. So, if you are using methods like Word2Vec or GloVe, you are dealing with static embeddings. If you are using models like BERT or ELMo, you are dealing with contextual embeddings.</a:t>
            </a:r>
            <a:endParaRPr lang="en-GB" sz="2000" noProof="0" dirty="0">
              <a:effectLst/>
            </a:endParaRPr>
          </a:p>
        </p:txBody>
      </p:sp>
      <p:sp>
        <p:nvSpPr>
          <p:cNvPr id="4" name="Espace réservé du pied de page 3">
            <a:extLst>
              <a:ext uri="{FF2B5EF4-FFF2-40B4-BE49-F238E27FC236}">
                <a16:creationId xmlns:a16="http://schemas.microsoft.com/office/drawing/2014/main" id="{7A6F598A-D189-9F44-A404-7368B40F2FD4}"/>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195726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8F987-BBAF-3F90-15D5-2E12851CA16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2C0A9E0-4B03-C2C7-935F-3F776CDF59B4}"/>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6FC4F6A3-383C-D28A-4060-DBFF5B8B4782}"/>
              </a:ext>
            </a:extLst>
          </p:cNvPr>
          <p:cNvSpPr>
            <a:spLocks noGrp="1"/>
          </p:cNvSpPr>
          <p:nvPr>
            <p:ph idx="1"/>
          </p:nvPr>
        </p:nvSpPr>
        <p:spPr>
          <a:xfrm>
            <a:off x="838200" y="1609726"/>
            <a:ext cx="10686143" cy="4557529"/>
          </a:xfrm>
        </p:spPr>
        <p:txBody>
          <a:bodyPr lIns="90000">
            <a:noAutofit/>
          </a:bodyPr>
          <a:lstStyle/>
          <a:p>
            <a:pPr marL="0" indent="0">
              <a:buNone/>
            </a:pPr>
            <a:r>
              <a:rPr lang="en-GB" sz="2000" b="1" noProof="0" dirty="0">
                <a:effectLst/>
              </a:rPr>
              <a:t>Using Word Vectors in Models</a:t>
            </a:r>
          </a:p>
          <a:p>
            <a:pPr marL="0" indent="0">
              <a:buNone/>
            </a:pPr>
            <a:endParaRPr lang="en-GB" sz="1050" b="1" noProof="0" dirty="0">
              <a:effectLst/>
            </a:endParaRPr>
          </a:p>
          <a:p>
            <a:pPr>
              <a:lnSpc>
                <a:spcPct val="150000"/>
              </a:lnSpc>
              <a:buAutoNum type="arabicPeriod"/>
            </a:pPr>
            <a:r>
              <a:rPr lang="en-GB" sz="1200" noProof="0" dirty="0">
                <a:effectLst/>
              </a:rPr>
              <a:t>Download a pretrained word vectors as model inputs and keep the vectors </a:t>
            </a:r>
            <a:r>
              <a:rPr lang="en-GB" sz="1200" u="sng" noProof="0" dirty="0">
                <a:effectLst/>
              </a:rPr>
              <a:t>fixed</a:t>
            </a:r>
            <a:r>
              <a:rPr lang="en-GB" sz="1200" noProof="0" dirty="0">
                <a:effectLst/>
              </a:rPr>
              <a:t> during training</a:t>
            </a:r>
          </a:p>
          <a:p>
            <a:pPr marL="457200" indent="-457200">
              <a:lnSpc>
                <a:spcPct val="150000"/>
              </a:lnSpc>
              <a:buAutoNum type="arabicPeriod"/>
            </a:pPr>
            <a:endParaRPr lang="en-GB" sz="2000" noProof="0" dirty="0">
              <a:effectLst/>
            </a:endParaRPr>
          </a:p>
        </p:txBody>
      </p:sp>
      <p:sp>
        <p:nvSpPr>
          <p:cNvPr id="4" name="Espace réservé du pied de page 3">
            <a:extLst>
              <a:ext uri="{FF2B5EF4-FFF2-40B4-BE49-F238E27FC236}">
                <a16:creationId xmlns:a16="http://schemas.microsoft.com/office/drawing/2014/main" id="{2D63497E-2CBF-15C6-7AC1-A381AB476025}"/>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417574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424FE-88FE-54B3-D4EE-9E9AADEEF07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612D13-5FAF-CD03-E315-8274C4F3DABB}"/>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39FF4A4B-91C3-0A82-BB0D-F348E8925DAC}"/>
              </a:ext>
            </a:extLst>
          </p:cNvPr>
          <p:cNvSpPr>
            <a:spLocks noGrp="1"/>
          </p:cNvSpPr>
          <p:nvPr>
            <p:ph idx="1"/>
          </p:nvPr>
        </p:nvSpPr>
        <p:spPr>
          <a:xfrm>
            <a:off x="838200" y="2913681"/>
            <a:ext cx="10686143" cy="1565330"/>
          </a:xfrm>
        </p:spPr>
        <p:txBody>
          <a:bodyPr lIns="90000">
            <a:noAutofit/>
          </a:bodyPr>
          <a:lstStyle/>
          <a:p>
            <a:pPr marL="0" indent="0" algn="ctr">
              <a:buNone/>
            </a:pPr>
            <a:r>
              <a:rPr lang="en-GB" sz="3600" b="1" noProof="0" dirty="0">
                <a:effectLst/>
              </a:rPr>
              <a:t>Appendices</a:t>
            </a:r>
            <a:endParaRPr lang="en-GB" sz="3600" noProof="0" dirty="0">
              <a:effectLst/>
            </a:endParaRPr>
          </a:p>
          <a:p>
            <a:pPr marL="457200" indent="-457200">
              <a:lnSpc>
                <a:spcPct val="150000"/>
              </a:lnSpc>
              <a:buAutoNum type="arabicPeriod"/>
            </a:pPr>
            <a:endParaRPr lang="en-GB" sz="3600" noProof="0" dirty="0">
              <a:effectLst/>
            </a:endParaRPr>
          </a:p>
        </p:txBody>
      </p:sp>
      <p:sp>
        <p:nvSpPr>
          <p:cNvPr id="4" name="Espace réservé du pied de page 3">
            <a:extLst>
              <a:ext uri="{FF2B5EF4-FFF2-40B4-BE49-F238E27FC236}">
                <a16:creationId xmlns:a16="http://schemas.microsoft.com/office/drawing/2014/main" id="{05F07D8B-618C-70CE-471D-BA49622EB9F0}"/>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18659659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EC762-0FDE-4268-42EF-28C0E267AFC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6477C7C-D094-FC77-0A16-64F15FD04458}"/>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47D18FA3-EBD4-2B39-2651-C99D917A8612}"/>
              </a:ext>
            </a:extLst>
          </p:cNvPr>
          <p:cNvSpPr>
            <a:spLocks noGrp="1"/>
          </p:cNvSpPr>
          <p:nvPr>
            <p:ph idx="1"/>
          </p:nvPr>
        </p:nvSpPr>
        <p:spPr>
          <a:xfrm>
            <a:off x="838200" y="1541645"/>
            <a:ext cx="11120438" cy="1389353"/>
          </a:xfrm>
        </p:spPr>
        <p:txBody>
          <a:bodyPr lIns="90000">
            <a:noAutofit/>
          </a:bodyPr>
          <a:lstStyle/>
          <a:p>
            <a:pPr marL="0" indent="0">
              <a:buNone/>
            </a:pPr>
            <a:r>
              <a:rPr lang="en-GB" sz="2000" b="1" noProof="0" dirty="0">
                <a:effectLst/>
              </a:rPr>
              <a:t>Word2vec</a:t>
            </a:r>
          </a:p>
          <a:p>
            <a:pPr marL="0" indent="0">
              <a:buNone/>
            </a:pPr>
            <a:r>
              <a:rPr lang="en-GB" sz="1200" b="1" noProof="0" dirty="0">
                <a:effectLst/>
              </a:rPr>
              <a:t>Learn dense representations that capture word relationships</a:t>
            </a:r>
          </a:p>
          <a:p>
            <a:pPr marL="0" indent="0">
              <a:lnSpc>
                <a:spcPct val="100000"/>
              </a:lnSpc>
              <a:spcBef>
                <a:spcPts val="0"/>
              </a:spcBef>
              <a:buNone/>
            </a:pPr>
            <a:endParaRPr lang="en-GB" sz="1200" noProof="0" dirty="0">
              <a:effectLst/>
            </a:endParaRPr>
          </a:p>
          <a:p>
            <a:pPr marL="0" indent="0">
              <a:lnSpc>
                <a:spcPct val="150000"/>
              </a:lnSpc>
              <a:spcBef>
                <a:spcPts val="0"/>
              </a:spcBef>
              <a:buNone/>
            </a:pPr>
            <a:r>
              <a:rPr lang="en-GB" sz="1200" b="1" noProof="0" dirty="0">
                <a:effectLst/>
              </a:rPr>
              <a:t>Skip-Gram with Negative Sampling (SGNS)</a:t>
            </a:r>
          </a:p>
          <a:p>
            <a:pPr marL="0" indent="0">
              <a:lnSpc>
                <a:spcPct val="150000"/>
              </a:lnSpc>
              <a:spcBef>
                <a:spcPts val="0"/>
              </a:spcBef>
              <a:buNone/>
            </a:pPr>
            <a:r>
              <a:rPr lang="en-GB" sz="1200" b="1" dirty="0"/>
              <a:t>	Training dataset:</a:t>
            </a:r>
            <a:endParaRPr lang="en-GB" sz="1200" noProof="0" dirty="0">
              <a:effectLst/>
            </a:endParaRPr>
          </a:p>
        </p:txBody>
      </p:sp>
      <p:sp>
        <p:nvSpPr>
          <p:cNvPr id="4" name="Espace réservé du pied de page 3">
            <a:extLst>
              <a:ext uri="{FF2B5EF4-FFF2-40B4-BE49-F238E27FC236}">
                <a16:creationId xmlns:a16="http://schemas.microsoft.com/office/drawing/2014/main" id="{4CFE79B7-A8A2-42B8-CA23-0514FFB01426}"/>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4171D9E0-06DC-5DFF-7DDE-E99A00E1C891}"/>
              </a:ext>
            </a:extLst>
          </p:cNvPr>
          <p:cNvSpPr txBox="1"/>
          <p:nvPr/>
        </p:nvSpPr>
        <p:spPr>
          <a:xfrm>
            <a:off x="838200" y="2959508"/>
            <a:ext cx="1639529" cy="1450718"/>
          </a:xfrm>
          <a:prstGeom prst="rect">
            <a:avLst/>
          </a:prstGeom>
          <a:noFill/>
        </p:spPr>
        <p:txBody>
          <a:bodyPr wrap="square">
            <a:spAutoFit/>
          </a:bodyPr>
          <a:lstStyle/>
          <a:p>
            <a:pPr marL="0" indent="0">
              <a:lnSpc>
                <a:spcPct val="150000"/>
              </a:lnSpc>
              <a:spcBef>
                <a:spcPts val="0"/>
              </a:spcBef>
              <a:buNone/>
            </a:pPr>
            <a:r>
              <a:rPr lang="en-GB" sz="1200" b="1" noProof="0" dirty="0">
                <a:effectLst/>
              </a:rPr>
              <a:t>Positive Samples</a:t>
            </a:r>
          </a:p>
          <a:p>
            <a:pPr marL="0" indent="0">
              <a:lnSpc>
                <a:spcPct val="150000"/>
              </a:lnSpc>
              <a:spcBef>
                <a:spcPts val="0"/>
              </a:spcBef>
              <a:buNone/>
            </a:pPr>
            <a:r>
              <a:rPr lang="en-GB" sz="1200" noProof="0" dirty="0">
                <a:effectLst/>
              </a:rPr>
              <a:t>(for, Miami)</a:t>
            </a:r>
          </a:p>
          <a:p>
            <a:pPr marL="0" indent="0">
              <a:lnSpc>
                <a:spcPct val="150000"/>
              </a:lnSpc>
              <a:spcBef>
                <a:spcPts val="0"/>
              </a:spcBef>
              <a:buNone/>
            </a:pPr>
            <a:r>
              <a:rPr lang="en-GB" sz="1200" dirty="0"/>
              <a:t>(the, Miami)</a:t>
            </a:r>
          </a:p>
          <a:p>
            <a:pPr marL="0" indent="0">
              <a:lnSpc>
                <a:spcPct val="150000"/>
              </a:lnSpc>
              <a:spcBef>
                <a:spcPts val="0"/>
              </a:spcBef>
              <a:buNone/>
            </a:pPr>
            <a:r>
              <a:rPr lang="en-GB" sz="1200" noProof="0" dirty="0">
                <a:effectLst/>
              </a:rPr>
              <a:t>(grand, Miami)</a:t>
            </a:r>
          </a:p>
          <a:p>
            <a:pPr marL="0" indent="0">
              <a:lnSpc>
                <a:spcPct val="150000"/>
              </a:lnSpc>
              <a:spcBef>
                <a:spcPts val="0"/>
              </a:spcBef>
              <a:buNone/>
            </a:pPr>
            <a:r>
              <a:rPr lang="en-GB" sz="1200" dirty="0"/>
              <a:t>(prix, Miami)</a:t>
            </a:r>
            <a:endParaRPr lang="en-GB" sz="1200" noProof="0" dirty="0">
              <a:effectLst/>
            </a:endParaRPr>
          </a:p>
        </p:txBody>
      </p:sp>
      <p:sp>
        <p:nvSpPr>
          <p:cNvPr id="8" name="ZoneTexte 7">
            <a:extLst>
              <a:ext uri="{FF2B5EF4-FFF2-40B4-BE49-F238E27FC236}">
                <a16:creationId xmlns:a16="http://schemas.microsoft.com/office/drawing/2014/main" id="{D17D2126-408B-04E0-903E-3FB8CA4A29A7}"/>
              </a:ext>
            </a:extLst>
          </p:cNvPr>
          <p:cNvSpPr txBox="1"/>
          <p:nvPr/>
        </p:nvSpPr>
        <p:spPr>
          <a:xfrm>
            <a:off x="2792361" y="2959508"/>
            <a:ext cx="2202426" cy="1450718"/>
          </a:xfrm>
          <a:prstGeom prst="rect">
            <a:avLst/>
          </a:prstGeom>
          <a:noFill/>
        </p:spPr>
        <p:txBody>
          <a:bodyPr wrap="square">
            <a:spAutoFit/>
          </a:bodyPr>
          <a:lstStyle/>
          <a:p>
            <a:pPr>
              <a:lnSpc>
                <a:spcPct val="150000"/>
              </a:lnSpc>
            </a:pPr>
            <a:r>
              <a:rPr lang="en-GB" sz="1200" b="1" noProof="0" dirty="0">
                <a:effectLst/>
              </a:rPr>
              <a:t>Negative Samples</a:t>
            </a:r>
          </a:p>
          <a:p>
            <a:pPr marL="0" indent="0">
              <a:lnSpc>
                <a:spcPct val="150000"/>
              </a:lnSpc>
              <a:spcBef>
                <a:spcPts val="0"/>
              </a:spcBef>
              <a:buNone/>
            </a:pPr>
            <a:r>
              <a:rPr lang="en-GB" sz="1200" noProof="0" dirty="0">
                <a:effectLst/>
              </a:rPr>
              <a:t>(mountain, Miami)</a:t>
            </a:r>
          </a:p>
          <a:p>
            <a:pPr marL="0" indent="0">
              <a:lnSpc>
                <a:spcPct val="150000"/>
              </a:lnSpc>
              <a:spcBef>
                <a:spcPts val="0"/>
              </a:spcBef>
              <a:buNone/>
            </a:pPr>
            <a:r>
              <a:rPr lang="en-GB" sz="1200" dirty="0"/>
              <a:t>(elephant, Miami)</a:t>
            </a:r>
          </a:p>
          <a:p>
            <a:pPr marL="0" indent="0">
              <a:lnSpc>
                <a:spcPct val="150000"/>
              </a:lnSpc>
              <a:spcBef>
                <a:spcPts val="0"/>
              </a:spcBef>
              <a:buNone/>
            </a:pPr>
            <a:r>
              <a:rPr lang="en-GB" sz="1200" noProof="0" dirty="0">
                <a:effectLst/>
              </a:rPr>
              <a:t>(rice, Miami)</a:t>
            </a:r>
          </a:p>
          <a:p>
            <a:pPr marL="0" indent="0">
              <a:lnSpc>
                <a:spcPct val="150000"/>
              </a:lnSpc>
              <a:spcBef>
                <a:spcPts val="0"/>
              </a:spcBef>
              <a:buNone/>
            </a:pPr>
            <a:r>
              <a:rPr lang="en-GB" sz="1200" dirty="0"/>
              <a:t>(prix, Miami)</a:t>
            </a:r>
            <a:endParaRPr lang="en-GB" sz="1200" noProof="0" dirty="0">
              <a:effectLst/>
            </a:endParaRPr>
          </a:p>
        </p:txBody>
      </p:sp>
      <p:sp>
        <p:nvSpPr>
          <p:cNvPr id="10" name="ZoneTexte 9">
            <a:extLst>
              <a:ext uri="{FF2B5EF4-FFF2-40B4-BE49-F238E27FC236}">
                <a16:creationId xmlns:a16="http://schemas.microsoft.com/office/drawing/2014/main" id="{8D021C8B-6E34-69FF-E460-7DF296081467}"/>
              </a:ext>
            </a:extLst>
          </p:cNvPr>
          <p:cNvSpPr txBox="1"/>
          <p:nvPr/>
        </p:nvSpPr>
        <p:spPr>
          <a:xfrm>
            <a:off x="838200" y="4438736"/>
            <a:ext cx="11120438" cy="619721"/>
          </a:xfrm>
          <a:prstGeom prst="rect">
            <a:avLst/>
          </a:prstGeom>
          <a:noFill/>
        </p:spPr>
        <p:txBody>
          <a:bodyPr wrap="square">
            <a:spAutoFit/>
          </a:bodyPr>
          <a:lstStyle/>
          <a:p>
            <a:pPr marL="0" indent="0">
              <a:lnSpc>
                <a:spcPct val="150000"/>
              </a:lnSpc>
              <a:spcBef>
                <a:spcPts val="0"/>
              </a:spcBef>
              <a:buNone/>
            </a:pPr>
            <a:r>
              <a:rPr lang="en-GB" sz="1200" dirty="0"/>
              <a:t>Note: No manual labelling. All the data are generated from the Corpus itself (self-supervised learning)</a:t>
            </a:r>
          </a:p>
          <a:p>
            <a:pPr marL="0" indent="0">
              <a:lnSpc>
                <a:spcPct val="150000"/>
              </a:lnSpc>
              <a:spcBef>
                <a:spcPts val="0"/>
              </a:spcBef>
              <a:buNone/>
            </a:pPr>
            <a:r>
              <a:rPr lang="en-GB" sz="1200" noProof="0" dirty="0">
                <a:effectLst/>
              </a:rPr>
              <a:t>This training set w</a:t>
            </a:r>
            <a:r>
              <a:rPr lang="en-GB" sz="1200" dirty="0"/>
              <a:t>ill be used to optimize a binary prediction task that is given two words are they likely to occur close to each other in the text</a:t>
            </a:r>
            <a:endParaRPr lang="en-GB" sz="1200" noProof="0" dirty="0">
              <a:effectLst/>
            </a:endParaRPr>
          </a:p>
        </p:txBody>
      </p:sp>
    </p:spTree>
    <p:extLst>
      <p:ext uri="{BB962C8B-B14F-4D97-AF65-F5344CB8AC3E}">
        <p14:creationId xmlns:p14="http://schemas.microsoft.com/office/powerpoint/2010/main" val="2267784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C45A5-B741-F49E-4E2B-0F49927B732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585AEC4-A744-35A9-656E-024295D207FB}"/>
              </a:ext>
            </a:extLst>
          </p:cNvPr>
          <p:cNvSpPr>
            <a:spLocks noGrp="1"/>
          </p:cNvSpPr>
          <p:nvPr>
            <p:ph type="title"/>
          </p:nvPr>
        </p:nvSpPr>
        <p:spPr/>
        <p:txBody>
          <a:bodyPr/>
          <a:lstStyle/>
          <a:p>
            <a:r>
              <a:rPr lang="en-GB" dirty="0"/>
              <a:t>Word Vectors</a:t>
            </a:r>
          </a:p>
        </p:txBody>
      </p:sp>
      <p:sp>
        <p:nvSpPr>
          <p:cNvPr id="3" name="Espace réservé du contenu 2">
            <a:extLst>
              <a:ext uri="{FF2B5EF4-FFF2-40B4-BE49-F238E27FC236}">
                <a16:creationId xmlns:a16="http://schemas.microsoft.com/office/drawing/2014/main" id="{6FCA0D6E-EAE8-349F-FADD-AB4D6B0FE030}"/>
              </a:ext>
            </a:extLst>
          </p:cNvPr>
          <p:cNvSpPr>
            <a:spLocks noGrp="1"/>
          </p:cNvSpPr>
          <p:nvPr>
            <p:ph idx="1"/>
          </p:nvPr>
        </p:nvSpPr>
        <p:spPr>
          <a:xfrm>
            <a:off x="838200" y="1541645"/>
            <a:ext cx="11120438" cy="1389353"/>
          </a:xfrm>
        </p:spPr>
        <p:txBody>
          <a:bodyPr lIns="90000">
            <a:noAutofit/>
          </a:bodyPr>
          <a:lstStyle/>
          <a:p>
            <a:pPr marL="0" indent="0">
              <a:buNone/>
            </a:pPr>
            <a:r>
              <a:rPr lang="en-GB" sz="2000" b="1" noProof="0" dirty="0">
                <a:effectLst/>
              </a:rPr>
              <a:t>Word2vec</a:t>
            </a:r>
          </a:p>
          <a:p>
            <a:pPr marL="0" indent="0">
              <a:buNone/>
            </a:pPr>
            <a:r>
              <a:rPr lang="en-GB" sz="1200" b="1" noProof="0" dirty="0">
                <a:effectLst/>
              </a:rPr>
              <a:t>Learn dense representations that capture word relationships</a:t>
            </a:r>
          </a:p>
          <a:p>
            <a:pPr marL="0" indent="0">
              <a:lnSpc>
                <a:spcPct val="100000"/>
              </a:lnSpc>
              <a:spcBef>
                <a:spcPts val="0"/>
              </a:spcBef>
              <a:buNone/>
            </a:pPr>
            <a:endParaRPr lang="en-GB" sz="1200" noProof="0" dirty="0">
              <a:effectLst/>
            </a:endParaRPr>
          </a:p>
          <a:p>
            <a:pPr marL="0" indent="0">
              <a:lnSpc>
                <a:spcPct val="150000"/>
              </a:lnSpc>
              <a:spcBef>
                <a:spcPts val="0"/>
              </a:spcBef>
              <a:buNone/>
            </a:pPr>
            <a:r>
              <a:rPr lang="en-GB" sz="1200" b="1" noProof="0" dirty="0">
                <a:effectLst/>
              </a:rPr>
              <a:t>Skip-Gram with Negative Sampling (SGNS)</a:t>
            </a:r>
          </a:p>
          <a:p>
            <a:pPr marL="0" indent="0">
              <a:lnSpc>
                <a:spcPct val="150000"/>
              </a:lnSpc>
              <a:spcBef>
                <a:spcPts val="0"/>
              </a:spcBef>
              <a:buNone/>
            </a:pPr>
            <a:r>
              <a:rPr lang="en-GB" sz="1200" noProof="0" dirty="0">
                <a:effectLst/>
              </a:rPr>
              <a:t>Generate two matrices (initialized randomly)</a:t>
            </a:r>
          </a:p>
        </p:txBody>
      </p:sp>
      <p:sp>
        <p:nvSpPr>
          <p:cNvPr id="4" name="Espace réservé du pied de page 3">
            <a:extLst>
              <a:ext uri="{FF2B5EF4-FFF2-40B4-BE49-F238E27FC236}">
                <a16:creationId xmlns:a16="http://schemas.microsoft.com/office/drawing/2014/main" id="{478614AD-993F-889F-34B8-2308BC18DD8D}"/>
              </a:ext>
            </a:extLst>
          </p:cNvPr>
          <p:cNvSpPr>
            <a:spLocks noGrp="1"/>
          </p:cNvSpPr>
          <p:nvPr>
            <p:ph type="ftr" sz="quarter" idx="11"/>
          </p:nvPr>
        </p:nvSpPr>
        <p:spPr/>
        <p:txBody>
          <a:bodyPr/>
          <a:lstStyle/>
          <a:p>
            <a:r>
              <a:rPr lang="fr-FR"/>
              <a:t>Introduction to Neural Networks. Author: David Thébault</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D061DF94-2FD3-3EC5-1402-9A629AEA1595}"/>
                  </a:ext>
                </a:extLst>
              </p:cNvPr>
              <p:cNvSpPr txBox="1"/>
              <p:nvPr/>
            </p:nvSpPr>
            <p:spPr>
              <a:xfrm>
                <a:off x="838200" y="2959508"/>
                <a:ext cx="1639529" cy="599203"/>
              </a:xfrm>
              <a:prstGeom prst="rect">
                <a:avLst/>
              </a:prstGeom>
              <a:noFill/>
            </p:spPr>
            <p:txBody>
              <a:bodyPr wrap="square">
                <a:spAutoFit/>
              </a:bodyPr>
              <a:lstStyle/>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d>
                        <m:dPr>
                          <m:begChr m:val="["/>
                          <m:endChr m:val="]"/>
                          <m:ctrlPr>
                            <a:rPr lang="en-GB" sz="1200" i="1" noProof="0" smtClean="0">
                              <a:effectLst/>
                              <a:latin typeface="Cambria Math" panose="02040503050406030204" pitchFamily="18" charset="0"/>
                            </a:rPr>
                          </m:ctrlPr>
                        </m:dPr>
                        <m:e>
                          <m:eqArr>
                            <m:eqArrPr>
                              <m:ctrlPr>
                                <a:rPr lang="fr-FR" sz="1200" b="0" i="1" noProof="0" smtClean="0">
                                  <a:effectLst/>
                                  <a:latin typeface="Cambria Math" panose="02040503050406030204" pitchFamily="18" charset="0"/>
                                </a:rPr>
                              </m:ctrlPr>
                            </m:eqArrPr>
                            <m:e>
                              <m:r>
                                <a:rPr lang="fr-FR" sz="1200" b="0" i="1" noProof="0" smtClean="0">
                                  <a:effectLst/>
                                  <a:latin typeface="Cambria Math" panose="02040503050406030204" pitchFamily="18" charset="0"/>
                                </a:rPr>
                                <m:t>𝑊</m:t>
                              </m:r>
                            </m:e>
                            <m:e>
                              <m:d>
                                <m:dPr>
                                  <m:begChr m:val="|"/>
                                  <m:endChr m:val="|"/>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𝑉</m:t>
                                  </m:r>
                                </m:e>
                              </m:d>
                              <m:r>
                                <a:rPr lang="fr-FR" sz="1200" b="0" i="1" noProof="0" smtClean="0">
                                  <a:effectLst/>
                                  <a:latin typeface="Cambria Math" panose="02040503050406030204" pitchFamily="18" charset="0"/>
                                </a:rPr>
                                <m:t>×</m:t>
                              </m:r>
                              <m:r>
                                <a:rPr lang="fr-FR" sz="1200" b="0" i="1" noProof="0" smtClean="0">
                                  <a:effectLst/>
                                  <a:latin typeface="Cambria Math" panose="02040503050406030204" pitchFamily="18" charset="0"/>
                                </a:rPr>
                                <m:t>𝑑</m:t>
                              </m:r>
                            </m:e>
                          </m:eqArr>
                        </m:e>
                      </m:d>
                    </m:oMath>
                  </m:oMathPara>
                </a14:m>
                <a:endParaRPr lang="en-GB" sz="1200" noProof="0" dirty="0">
                  <a:effectLst/>
                </a:endParaRPr>
              </a:p>
            </p:txBody>
          </p:sp>
        </mc:Choice>
        <mc:Fallback xmlns="">
          <p:sp>
            <p:nvSpPr>
              <p:cNvPr id="6" name="ZoneTexte 5">
                <a:extLst>
                  <a:ext uri="{FF2B5EF4-FFF2-40B4-BE49-F238E27FC236}">
                    <a16:creationId xmlns:a16="http://schemas.microsoft.com/office/drawing/2014/main" id="{D061DF94-2FD3-3EC5-1402-9A629AEA1595}"/>
                  </a:ext>
                </a:extLst>
              </p:cNvPr>
              <p:cNvSpPr txBox="1">
                <a:spLocks noRot="1" noChangeAspect="1" noMove="1" noResize="1" noEditPoints="1" noAdjustHandles="1" noChangeArrowheads="1" noChangeShapeType="1" noTextEdit="1"/>
              </p:cNvSpPr>
              <p:nvPr/>
            </p:nvSpPr>
            <p:spPr>
              <a:xfrm>
                <a:off x="838200" y="2959508"/>
                <a:ext cx="1639529" cy="59920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07F24E21-4B89-EC29-5CF4-9632F7C52C91}"/>
                  </a:ext>
                </a:extLst>
              </p:cNvPr>
              <p:cNvSpPr txBox="1"/>
              <p:nvPr/>
            </p:nvSpPr>
            <p:spPr>
              <a:xfrm>
                <a:off x="838200" y="3714092"/>
                <a:ext cx="11120438" cy="896720"/>
              </a:xfrm>
              <a:prstGeom prst="rect">
                <a:avLst/>
              </a:prstGeom>
              <a:noFill/>
            </p:spPr>
            <p:txBody>
              <a:bodyPr wrap="square">
                <a:spAutoFit/>
              </a:bodyPr>
              <a:lstStyle/>
              <a:p>
                <a:pPr marL="0" indent="0">
                  <a:lnSpc>
                    <a:spcPct val="150000"/>
                  </a:lnSpc>
                  <a:spcBef>
                    <a:spcPts val="0"/>
                  </a:spcBef>
                  <a:buNone/>
                </a:pPr>
                <a:r>
                  <a:rPr lang="en-GB" sz="1200" noProof="0" dirty="0">
                    <a:effectLst/>
                  </a:rPr>
                  <a:t>The matrices W will hold embeddings for our target words and C will hold embeddings for our context words.</a:t>
                </a:r>
              </a:p>
              <a:p>
                <a:pPr marL="0" indent="0">
                  <a:lnSpc>
                    <a:spcPct val="150000"/>
                  </a:lnSpc>
                  <a:spcBef>
                    <a:spcPts val="0"/>
                  </a:spcBef>
                  <a:buNone/>
                </a:pPr>
                <a:r>
                  <a:rPr lang="en-GB" sz="1200" dirty="0"/>
                  <a:t>When “Miami” is a target word, W will be updated and when “Miami” is a context word, the matrix C will be updated.</a:t>
                </a:r>
              </a:p>
              <a:p>
                <a:pPr marL="0" indent="0">
                  <a:lnSpc>
                    <a:spcPct val="150000"/>
                  </a:lnSpc>
                  <a:spcBef>
                    <a:spcPts val="0"/>
                  </a:spcBef>
                  <a:buNone/>
                </a:pPr>
                <a:r>
                  <a:rPr lang="en-GB" sz="1200" noProof="0" dirty="0">
                    <a:effectLst/>
                  </a:rPr>
                  <a:t>V is the vocabulary,</a:t>
                </a:r>
                <a:r>
                  <a:rPr lang="en-GB" sz="1200" dirty="0"/>
                  <a:t> and d is the dimension of embeddings we want (let’s say 300). W and C will be each </a:t>
                </a:r>
                <a14:m>
                  <m:oMath xmlns:m="http://schemas.openxmlformats.org/officeDocument/2006/math">
                    <m:r>
                      <a:rPr lang="fr-FR" sz="1200" b="0" i="1" smtClean="0">
                        <a:latin typeface="Cambria Math" panose="02040503050406030204" pitchFamily="18" charset="0"/>
                      </a:rPr>
                      <m:t>10000</m:t>
                    </m:r>
                    <m:r>
                      <a:rPr lang="fr-FR" sz="1200" b="0" i="1" smtClean="0">
                        <a:latin typeface="Cambria Math" panose="02040503050406030204" pitchFamily="18" charset="0"/>
                        <a:ea typeface="Cambria Math" panose="02040503050406030204" pitchFamily="18" charset="0"/>
                      </a:rPr>
                      <m:t>×300</m:t>
                    </m:r>
                  </m:oMath>
                </a14:m>
                <a:endParaRPr lang="en-GB" sz="1200" noProof="0" dirty="0">
                  <a:effectLst/>
                </a:endParaRPr>
              </a:p>
            </p:txBody>
          </p:sp>
        </mc:Choice>
        <mc:Fallback xmlns="">
          <p:sp>
            <p:nvSpPr>
              <p:cNvPr id="10" name="ZoneTexte 9">
                <a:extLst>
                  <a:ext uri="{FF2B5EF4-FFF2-40B4-BE49-F238E27FC236}">
                    <a16:creationId xmlns:a16="http://schemas.microsoft.com/office/drawing/2014/main" id="{07F24E21-4B89-EC29-5CF4-9632F7C52C91}"/>
                  </a:ext>
                </a:extLst>
              </p:cNvPr>
              <p:cNvSpPr txBox="1">
                <a:spLocks noRot="1" noChangeAspect="1" noMove="1" noResize="1" noEditPoints="1" noAdjustHandles="1" noChangeArrowheads="1" noChangeShapeType="1" noTextEdit="1"/>
              </p:cNvSpPr>
              <p:nvPr/>
            </p:nvSpPr>
            <p:spPr>
              <a:xfrm>
                <a:off x="838200" y="3714092"/>
                <a:ext cx="11120438" cy="896720"/>
              </a:xfrm>
              <a:prstGeom prst="rect">
                <a:avLst/>
              </a:prstGeom>
              <a:blipFill>
                <a:blip r:embed="rId3"/>
                <a:stretch>
                  <a:fillRect l="-114" b="-422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41090A6-506E-605A-A0AC-C32C8893208C}"/>
                  </a:ext>
                </a:extLst>
              </p:cNvPr>
              <p:cNvSpPr txBox="1"/>
              <p:nvPr/>
            </p:nvSpPr>
            <p:spPr>
              <a:xfrm>
                <a:off x="1875503" y="2959507"/>
                <a:ext cx="1639529" cy="591444"/>
              </a:xfrm>
              <a:prstGeom prst="rect">
                <a:avLst/>
              </a:prstGeom>
              <a:noFill/>
            </p:spPr>
            <p:txBody>
              <a:bodyPr wrap="square">
                <a:spAutoFit/>
              </a:bodyPr>
              <a:lstStyle/>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d>
                        <m:dPr>
                          <m:begChr m:val="["/>
                          <m:endChr m:val="]"/>
                          <m:ctrlPr>
                            <a:rPr lang="en-GB" sz="1200" i="1" noProof="0" smtClean="0">
                              <a:effectLst/>
                              <a:latin typeface="Cambria Math" panose="02040503050406030204" pitchFamily="18" charset="0"/>
                            </a:rPr>
                          </m:ctrlPr>
                        </m:dPr>
                        <m:e>
                          <m:eqArr>
                            <m:eqArrPr>
                              <m:ctrlPr>
                                <a:rPr lang="fr-FR" sz="1200" b="0" i="1" noProof="0" smtClean="0">
                                  <a:effectLst/>
                                  <a:latin typeface="Cambria Math" panose="02040503050406030204" pitchFamily="18" charset="0"/>
                                </a:rPr>
                              </m:ctrlPr>
                            </m:eqArrPr>
                            <m:e>
                              <m:r>
                                <a:rPr lang="fr-FR" sz="1200" b="0" i="1" noProof="0" smtClean="0">
                                  <a:effectLst/>
                                  <a:latin typeface="Cambria Math" panose="02040503050406030204" pitchFamily="18" charset="0"/>
                                </a:rPr>
                                <m:t>𝐶</m:t>
                              </m:r>
                            </m:e>
                            <m:e>
                              <m:d>
                                <m:dPr>
                                  <m:begChr m:val="|"/>
                                  <m:endChr m:val="|"/>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𝑉</m:t>
                                  </m:r>
                                </m:e>
                              </m:d>
                              <m:r>
                                <a:rPr lang="fr-FR" sz="1200" b="0" i="1" noProof="0" smtClean="0">
                                  <a:effectLst/>
                                  <a:latin typeface="Cambria Math" panose="02040503050406030204" pitchFamily="18" charset="0"/>
                                </a:rPr>
                                <m:t>×</m:t>
                              </m:r>
                              <m:r>
                                <a:rPr lang="fr-FR" sz="1200" b="0" i="1" noProof="0" smtClean="0">
                                  <a:effectLst/>
                                  <a:latin typeface="Cambria Math" panose="02040503050406030204" pitchFamily="18" charset="0"/>
                                </a:rPr>
                                <m:t>𝑑</m:t>
                              </m:r>
                            </m:e>
                          </m:eqArr>
                        </m:e>
                      </m:d>
                    </m:oMath>
                  </m:oMathPara>
                </a14:m>
                <a:endParaRPr lang="en-GB" sz="1200" noProof="0" dirty="0">
                  <a:effectLst/>
                </a:endParaRPr>
              </a:p>
            </p:txBody>
          </p:sp>
        </mc:Choice>
        <mc:Fallback xmlns="">
          <p:sp>
            <p:nvSpPr>
              <p:cNvPr id="5" name="ZoneTexte 4">
                <a:extLst>
                  <a:ext uri="{FF2B5EF4-FFF2-40B4-BE49-F238E27FC236}">
                    <a16:creationId xmlns:a16="http://schemas.microsoft.com/office/drawing/2014/main" id="{041090A6-506E-605A-A0AC-C32C8893208C}"/>
                  </a:ext>
                </a:extLst>
              </p:cNvPr>
              <p:cNvSpPr txBox="1">
                <a:spLocks noRot="1" noChangeAspect="1" noMove="1" noResize="1" noEditPoints="1" noAdjustHandles="1" noChangeArrowheads="1" noChangeShapeType="1" noTextEdit="1"/>
              </p:cNvSpPr>
              <p:nvPr/>
            </p:nvSpPr>
            <p:spPr>
              <a:xfrm>
                <a:off x="1875503" y="2959507"/>
                <a:ext cx="1639529" cy="591444"/>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479708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92055-D60C-7E65-62E4-44E891F6385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DFD9DD7-7776-089B-909B-739264381E1A}"/>
              </a:ext>
            </a:extLst>
          </p:cNvPr>
          <p:cNvSpPr>
            <a:spLocks noGrp="1"/>
          </p:cNvSpPr>
          <p:nvPr>
            <p:ph type="title"/>
          </p:nvPr>
        </p:nvSpPr>
        <p:spPr/>
        <p:txBody>
          <a:bodyPr/>
          <a:lstStyle/>
          <a:p>
            <a:r>
              <a:rPr lang="en-GB" dirty="0"/>
              <a:t>Word Vectors</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85A6CB0A-944D-FCBC-5187-C8499A829304}"/>
                  </a:ext>
                </a:extLst>
              </p:cNvPr>
              <p:cNvSpPr>
                <a:spLocks noGrp="1"/>
              </p:cNvSpPr>
              <p:nvPr>
                <p:ph idx="1"/>
              </p:nvPr>
            </p:nvSpPr>
            <p:spPr>
              <a:xfrm>
                <a:off x="838200" y="1541645"/>
                <a:ext cx="11120438" cy="3944755"/>
              </a:xfrm>
            </p:spPr>
            <p:txBody>
              <a:bodyPr lIns="90000">
                <a:noAutofit/>
              </a:bodyPr>
              <a:lstStyle/>
              <a:p>
                <a:pPr marL="0" indent="0">
                  <a:buNone/>
                </a:pPr>
                <a:r>
                  <a:rPr lang="en-GB" sz="2000" b="1" noProof="0" dirty="0">
                    <a:effectLst/>
                  </a:rPr>
                  <a:t>Word2vec</a:t>
                </a:r>
              </a:p>
              <a:p>
                <a:pPr marL="0" indent="0">
                  <a:buNone/>
                </a:pPr>
                <a:r>
                  <a:rPr lang="en-GB" sz="1200" b="1" noProof="0" dirty="0">
                    <a:effectLst/>
                  </a:rPr>
                  <a:t>Learn dense representations that capture word relationships</a:t>
                </a:r>
              </a:p>
              <a:p>
                <a:pPr marL="0" indent="0">
                  <a:lnSpc>
                    <a:spcPct val="100000"/>
                  </a:lnSpc>
                  <a:spcBef>
                    <a:spcPts val="0"/>
                  </a:spcBef>
                  <a:buNone/>
                </a:pPr>
                <a:endParaRPr lang="en-GB" sz="1200" noProof="0" dirty="0">
                  <a:effectLst/>
                </a:endParaRPr>
              </a:p>
              <a:p>
                <a:pPr marL="0" indent="0">
                  <a:lnSpc>
                    <a:spcPct val="150000"/>
                  </a:lnSpc>
                  <a:spcBef>
                    <a:spcPts val="0"/>
                  </a:spcBef>
                  <a:buNone/>
                </a:pPr>
                <a:r>
                  <a:rPr lang="en-GB" sz="1200" b="1" noProof="0" dirty="0">
                    <a:effectLst/>
                  </a:rPr>
                  <a:t>Skip-Gram with Negative Sampling (SGNS)</a:t>
                </a:r>
              </a:p>
              <a:p>
                <a:pPr marL="0" indent="0">
                  <a:lnSpc>
                    <a:spcPct val="150000"/>
                  </a:lnSpc>
                  <a:spcBef>
                    <a:spcPts val="0"/>
                  </a:spcBef>
                  <a:buNone/>
                </a:pPr>
                <a:r>
                  <a:rPr lang="en-GB" sz="1200" noProof="0" dirty="0">
                    <a:effectLst/>
                  </a:rPr>
                  <a:t>Represent each word in the vocabulary with a one-hot-vector:</a:t>
                </a:r>
              </a:p>
              <a:p>
                <a:pPr marL="0" indent="0">
                  <a:lnSpc>
                    <a:spcPct val="150000"/>
                  </a:lnSpc>
                  <a:spcBef>
                    <a:spcPts val="0"/>
                  </a:spcBef>
                  <a:buNone/>
                </a:pPr>
                <a:r>
                  <a:rPr lang="en-GB" sz="1200" dirty="0"/>
                  <a:t>“</a:t>
                </a:r>
                <a:r>
                  <a:rPr lang="en-GB" sz="1200" noProof="0" dirty="0">
                    <a:effectLst/>
                  </a:rPr>
                  <a:t>I”	</a:t>
                </a:r>
                <a14:m>
                  <m:oMath xmlns:m="http://schemas.openxmlformats.org/officeDocument/2006/math">
                    <m:d>
                      <m:dPr>
                        <m:begChr m:val="["/>
                        <m:endChr m:val="]"/>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0,0,0,1,0,0,0,0,0,0</m:t>
                        </m:r>
                      </m:e>
                    </m:d>
                  </m:oMath>
                </a14:m>
                <a:endParaRPr lang="fr-FR" sz="1200" b="0" noProof="0" dirty="0">
                  <a:effectLst/>
                </a:endParaRPr>
              </a:p>
              <a:p>
                <a:pPr marL="0" indent="0">
                  <a:lnSpc>
                    <a:spcPct val="150000"/>
                  </a:lnSpc>
                  <a:spcBef>
                    <a:spcPts val="0"/>
                  </a:spcBef>
                  <a:buNone/>
                </a:pPr>
                <a:r>
                  <a:rPr lang="en-GB" sz="1200" noProof="0" dirty="0">
                    <a:effectLst/>
                  </a:rPr>
                  <a:t>“have”	</a:t>
                </a:r>
                <a:r>
                  <a:rPr lang="fr-FR" sz="1200" b="0" noProof="0" dirty="0">
                    <a:effectLst/>
                  </a:rPr>
                  <a:t> </a:t>
                </a:r>
                <a14:m>
                  <m:oMath xmlns:m="http://schemas.openxmlformats.org/officeDocument/2006/math">
                    <m:d>
                      <m:dPr>
                        <m:begChr m:val="["/>
                        <m:endChr m:val="]"/>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0,0,1,0,0,0,0,0,0,0</m:t>
                        </m:r>
                      </m:e>
                    </m:d>
                  </m:oMath>
                </a14:m>
                <a:endParaRPr lang="en-GB" sz="1200" dirty="0"/>
              </a:p>
              <a:p>
                <a:pPr marL="0" indent="0">
                  <a:lnSpc>
                    <a:spcPct val="150000"/>
                  </a:lnSpc>
                  <a:spcBef>
                    <a:spcPts val="0"/>
                  </a:spcBef>
                  <a:buNone/>
                </a:pPr>
                <a:r>
                  <a:rPr lang="en-GB" sz="1200" noProof="0" dirty="0">
                    <a:effectLst/>
                  </a:rPr>
                  <a:t>“passes”	</a:t>
                </a:r>
                <a:r>
                  <a:rPr lang="fr-FR" sz="1200" b="0" noProof="0" dirty="0">
                    <a:effectLst/>
                  </a:rPr>
                  <a:t> </a:t>
                </a:r>
                <a14:m>
                  <m:oMath xmlns:m="http://schemas.openxmlformats.org/officeDocument/2006/math">
                    <m:d>
                      <m:dPr>
                        <m:begChr m:val="["/>
                        <m:endChr m:val="]"/>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0,0,0,0,0,1,0,0,0,0</m:t>
                        </m:r>
                      </m:e>
                    </m:d>
                  </m:oMath>
                </a14:m>
                <a:endParaRPr lang="en-GB" sz="1200" noProof="0" dirty="0">
                  <a:effectLst/>
                </a:endParaRPr>
              </a:p>
              <a:p>
                <a:pPr marL="0" indent="0">
                  <a:lnSpc>
                    <a:spcPct val="150000"/>
                  </a:lnSpc>
                  <a:spcBef>
                    <a:spcPts val="0"/>
                  </a:spcBef>
                  <a:buNone/>
                </a:pPr>
                <a:r>
                  <a:rPr lang="en-GB" sz="1200" dirty="0"/>
                  <a:t>“for”	</a:t>
                </a:r>
                <a:r>
                  <a:rPr lang="fr-FR" sz="1200" b="0" noProof="0" dirty="0">
                    <a:effectLst/>
                  </a:rPr>
                  <a:t> </a:t>
                </a:r>
                <a14:m>
                  <m:oMath xmlns:m="http://schemas.openxmlformats.org/officeDocument/2006/math">
                    <m:d>
                      <m:dPr>
                        <m:begChr m:val="["/>
                        <m:endChr m:val="]"/>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0,0,0,0,0,0,0,1,0,0</m:t>
                        </m:r>
                      </m:e>
                    </m:d>
                  </m:oMath>
                </a14:m>
                <a:endParaRPr lang="en-GB" sz="1200" dirty="0"/>
              </a:p>
              <a:p>
                <a:pPr marL="0" indent="0">
                  <a:lnSpc>
                    <a:spcPct val="150000"/>
                  </a:lnSpc>
                  <a:spcBef>
                    <a:spcPts val="0"/>
                  </a:spcBef>
                  <a:buNone/>
                </a:pPr>
                <a:r>
                  <a:rPr lang="en-GB" sz="1200" noProof="0" dirty="0">
                    <a:effectLst/>
                  </a:rPr>
                  <a:t>“the</a:t>
                </a:r>
                <a:r>
                  <a:rPr lang="en-GB" sz="1200" dirty="0"/>
                  <a:t>”	</a:t>
                </a:r>
                <a:r>
                  <a:rPr lang="fr-FR" sz="1200" b="0" noProof="0" dirty="0">
                    <a:effectLst/>
                  </a:rPr>
                  <a:t> </a:t>
                </a:r>
                <a14:m>
                  <m:oMath xmlns:m="http://schemas.openxmlformats.org/officeDocument/2006/math">
                    <m:d>
                      <m:dPr>
                        <m:begChr m:val="["/>
                        <m:endChr m:val="]"/>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1,0,0,0,0,0,0,0,0,0</m:t>
                        </m:r>
                      </m:e>
                    </m:d>
                  </m:oMath>
                </a14:m>
                <a:endParaRPr lang="en-GB" sz="1200" dirty="0"/>
              </a:p>
              <a:p>
                <a:pPr marL="0" indent="0">
                  <a:lnSpc>
                    <a:spcPct val="150000"/>
                  </a:lnSpc>
                  <a:spcBef>
                    <a:spcPts val="0"/>
                  </a:spcBef>
                  <a:buNone/>
                </a:pPr>
                <a:r>
                  <a:rPr lang="en-GB" sz="1200" dirty="0"/>
                  <a:t>“Miami”	</a:t>
                </a:r>
                <a:r>
                  <a:rPr lang="fr-FR" sz="1200" b="0" noProof="0" dirty="0">
                    <a:effectLst/>
                  </a:rPr>
                  <a:t> </a:t>
                </a:r>
                <a14:m>
                  <m:oMath xmlns:m="http://schemas.openxmlformats.org/officeDocument/2006/math">
                    <m:d>
                      <m:dPr>
                        <m:begChr m:val="["/>
                        <m:endChr m:val="]"/>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0,1,0,0,0,0,0,0,0,0</m:t>
                        </m:r>
                      </m:e>
                    </m:d>
                  </m:oMath>
                </a14:m>
                <a:endParaRPr lang="en-GB" sz="1200" dirty="0"/>
              </a:p>
              <a:p>
                <a:pPr marL="0" indent="0">
                  <a:lnSpc>
                    <a:spcPct val="150000"/>
                  </a:lnSpc>
                  <a:spcBef>
                    <a:spcPts val="0"/>
                  </a:spcBef>
                  <a:buNone/>
                </a:pPr>
                <a:r>
                  <a:rPr lang="en-GB" sz="1200" dirty="0"/>
                  <a:t>“grand”	</a:t>
                </a:r>
                <a:r>
                  <a:rPr lang="fr-FR" sz="1200" b="0" noProof="0" dirty="0">
                    <a:effectLst/>
                  </a:rPr>
                  <a:t> </a:t>
                </a:r>
                <a14:m>
                  <m:oMath xmlns:m="http://schemas.openxmlformats.org/officeDocument/2006/math">
                    <m:d>
                      <m:dPr>
                        <m:begChr m:val="["/>
                        <m:endChr m:val="]"/>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0,0,0,0,1,0,0,0,0,0</m:t>
                        </m:r>
                      </m:e>
                    </m:d>
                  </m:oMath>
                </a14:m>
                <a:endParaRPr lang="en-GB" sz="1200" dirty="0"/>
              </a:p>
              <a:p>
                <a:pPr marL="0" indent="0">
                  <a:lnSpc>
                    <a:spcPct val="150000"/>
                  </a:lnSpc>
                  <a:spcBef>
                    <a:spcPts val="0"/>
                  </a:spcBef>
                  <a:buNone/>
                </a:pPr>
                <a:r>
                  <a:rPr lang="en-GB" sz="1200" dirty="0"/>
                  <a:t>“prix”	</a:t>
                </a:r>
                <a:r>
                  <a:rPr lang="fr-FR" sz="1200" b="0" noProof="0" dirty="0">
                    <a:effectLst/>
                  </a:rPr>
                  <a:t> </a:t>
                </a:r>
                <a14:m>
                  <m:oMath xmlns:m="http://schemas.openxmlformats.org/officeDocument/2006/math">
                    <m:d>
                      <m:dPr>
                        <m:begChr m:val="["/>
                        <m:endChr m:val="]"/>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0,0,0,0,0,0,0,0,0,1</m:t>
                        </m:r>
                      </m:e>
                    </m:d>
                  </m:oMath>
                </a14:m>
                <a:endParaRPr lang="en-GB" sz="1200" dirty="0"/>
              </a:p>
            </p:txBody>
          </p:sp>
        </mc:Choice>
        <mc:Fallback xmlns="">
          <p:sp>
            <p:nvSpPr>
              <p:cNvPr id="3" name="Espace réservé du contenu 2">
                <a:extLst>
                  <a:ext uri="{FF2B5EF4-FFF2-40B4-BE49-F238E27FC236}">
                    <a16:creationId xmlns:a16="http://schemas.microsoft.com/office/drawing/2014/main" id="{85A6CB0A-944D-FCBC-5187-C8499A829304}"/>
                  </a:ext>
                </a:extLst>
              </p:cNvPr>
              <p:cNvSpPr>
                <a:spLocks noGrp="1" noRot="1" noChangeAspect="1" noMove="1" noResize="1" noEditPoints="1" noAdjustHandles="1" noChangeArrowheads="1" noChangeShapeType="1" noTextEdit="1"/>
              </p:cNvSpPr>
              <p:nvPr>
                <p:ph idx="1"/>
              </p:nvPr>
            </p:nvSpPr>
            <p:spPr>
              <a:xfrm>
                <a:off x="838200" y="1541645"/>
                <a:ext cx="11120438" cy="3944755"/>
              </a:xfrm>
              <a:blipFill>
                <a:blip r:embed="rId2"/>
                <a:stretch>
                  <a:fillRect l="-685" t="-1603"/>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88CA6F19-E83E-36FC-526A-698A2A0990FD}"/>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865493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4560B-3DDE-349D-B8A4-A2333293A28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2FEEE9F-BC32-D237-AD1B-DD245DDF94ED}"/>
              </a:ext>
            </a:extLst>
          </p:cNvPr>
          <p:cNvSpPr>
            <a:spLocks noGrp="1"/>
          </p:cNvSpPr>
          <p:nvPr>
            <p:ph type="title"/>
          </p:nvPr>
        </p:nvSpPr>
        <p:spPr/>
        <p:txBody>
          <a:bodyPr/>
          <a:lstStyle/>
          <a:p>
            <a:r>
              <a:rPr lang="en-GB" dirty="0"/>
              <a:t>Word Vectors</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9DFC61CD-E977-4A36-FE7C-8FF5046CCCD5}"/>
                  </a:ext>
                </a:extLst>
              </p:cNvPr>
              <p:cNvSpPr>
                <a:spLocks noGrp="1"/>
              </p:cNvSpPr>
              <p:nvPr>
                <p:ph idx="1"/>
              </p:nvPr>
            </p:nvSpPr>
            <p:spPr>
              <a:xfrm>
                <a:off x="838200" y="1541645"/>
                <a:ext cx="11353800" cy="4951230"/>
              </a:xfrm>
            </p:spPr>
            <p:txBody>
              <a:bodyPr lIns="90000">
                <a:noAutofit/>
              </a:bodyPr>
              <a:lstStyle/>
              <a:p>
                <a:pPr marL="0" indent="0">
                  <a:buNone/>
                </a:pPr>
                <a:r>
                  <a:rPr lang="en-GB" sz="2000" b="1" noProof="0" dirty="0">
                    <a:effectLst/>
                  </a:rPr>
                  <a:t>Word2vec: </a:t>
                </a:r>
                <a:r>
                  <a:rPr lang="en-GB" sz="1200" b="1" noProof="0" dirty="0">
                    <a:effectLst/>
                  </a:rPr>
                  <a:t>Learn dense representations that capture word relationships</a:t>
                </a:r>
              </a:p>
              <a:p>
                <a:pPr marL="0" indent="0">
                  <a:lnSpc>
                    <a:spcPct val="100000"/>
                  </a:lnSpc>
                  <a:spcBef>
                    <a:spcPts val="0"/>
                  </a:spcBef>
                  <a:buNone/>
                </a:pPr>
                <a:endParaRPr lang="en-GB" sz="1200" noProof="0" dirty="0">
                  <a:effectLst/>
                </a:endParaRPr>
              </a:p>
              <a:p>
                <a:pPr marL="0" indent="0">
                  <a:lnSpc>
                    <a:spcPct val="150000"/>
                  </a:lnSpc>
                  <a:spcBef>
                    <a:spcPts val="0"/>
                  </a:spcBef>
                  <a:buNone/>
                </a:pPr>
                <a:r>
                  <a:rPr lang="en-GB" sz="1200" b="1" noProof="0" dirty="0">
                    <a:effectLst/>
                  </a:rPr>
                  <a:t>Skip-Gram with Negative Sampling (SGNS)</a:t>
                </a:r>
              </a:p>
              <a:p>
                <a:pPr marL="0" indent="0">
                  <a:lnSpc>
                    <a:spcPct val="150000"/>
                  </a:lnSpc>
                  <a:spcBef>
                    <a:spcPts val="0"/>
                  </a:spcBef>
                  <a:buNone/>
                </a:pPr>
                <a:r>
                  <a:rPr lang="en-GB" sz="1200" noProof="0" dirty="0">
                    <a:effectLst/>
                  </a:rPr>
                  <a:t>Training proceeds as follow. </a:t>
                </a:r>
              </a:p>
              <a:p>
                <a:pPr>
                  <a:lnSpc>
                    <a:spcPct val="150000"/>
                  </a:lnSpc>
                  <a:spcBef>
                    <a:spcPts val="0"/>
                  </a:spcBef>
                </a:pPr>
                <a:r>
                  <a:rPr lang="en-GB" sz="1200" noProof="0" dirty="0">
                    <a:effectLst/>
                  </a:rPr>
                  <a:t>For each iteration, pick one positive sample (for example: (grand, Miami))</a:t>
                </a:r>
              </a:p>
              <a:p>
                <a:pPr>
                  <a:lnSpc>
                    <a:spcPct val="150000"/>
                  </a:lnSpc>
                  <a:spcBef>
                    <a:spcPts val="0"/>
                  </a:spcBef>
                </a:pPr>
                <a:r>
                  <a:rPr lang="en-GB" sz="1200" dirty="0"/>
                  <a:t>Retrieve the embedding for each word:</a:t>
                </a:r>
              </a:p>
              <a:p>
                <a:pPr lvl="1">
                  <a:lnSpc>
                    <a:spcPct val="150000"/>
                  </a:lnSpc>
                  <a:spcBef>
                    <a:spcPts val="0"/>
                  </a:spcBef>
                </a:pPr>
                <a:r>
                  <a:rPr lang="en-GB" sz="800" dirty="0"/>
                  <a:t> “grand”	</a:t>
                </a:r>
                <a:r>
                  <a:rPr lang="fr-FR" sz="800" b="0" noProof="0" dirty="0">
                    <a:effectLst/>
                  </a:rPr>
                  <a:t> </a:t>
                </a:r>
                <a14:m>
                  <m:oMath xmlns:m="http://schemas.openxmlformats.org/officeDocument/2006/math">
                    <m:d>
                      <m:dPr>
                        <m:begChr m:val="["/>
                        <m:endChr m:val="]"/>
                        <m:ctrlPr>
                          <a:rPr lang="fr-FR" sz="800" b="0" i="1" noProof="0" smtClean="0">
                            <a:effectLst/>
                            <a:latin typeface="Cambria Math" panose="02040503050406030204" pitchFamily="18" charset="0"/>
                          </a:rPr>
                        </m:ctrlPr>
                      </m:dPr>
                      <m:e>
                        <m:r>
                          <a:rPr lang="fr-FR" sz="800" b="0" i="1" noProof="0" smtClean="0">
                            <a:effectLst/>
                            <a:latin typeface="Cambria Math" panose="02040503050406030204" pitchFamily="18" charset="0"/>
                          </a:rPr>
                          <m:t>0,0,0,0,1,0,0,0,0,0</m:t>
                        </m:r>
                      </m:e>
                    </m:d>
                  </m:oMath>
                </a14:m>
                <a:endParaRPr lang="fr-FR" sz="800" b="0" noProof="0" dirty="0">
                  <a:effectLst/>
                </a:endParaRPr>
              </a:p>
              <a:p>
                <a:pPr lvl="1">
                  <a:lnSpc>
                    <a:spcPct val="150000"/>
                  </a:lnSpc>
                  <a:spcBef>
                    <a:spcPts val="0"/>
                  </a:spcBef>
                </a:pPr>
                <a:r>
                  <a:rPr lang="en-GB" sz="800" dirty="0"/>
                  <a:t>“Miami”	</a:t>
                </a:r>
                <a:r>
                  <a:rPr lang="fr-FR" sz="800" b="0" noProof="0" dirty="0">
                    <a:effectLst/>
                  </a:rPr>
                  <a:t> </a:t>
                </a:r>
                <a14:m>
                  <m:oMath xmlns:m="http://schemas.openxmlformats.org/officeDocument/2006/math">
                    <m:d>
                      <m:dPr>
                        <m:begChr m:val="["/>
                        <m:endChr m:val="]"/>
                        <m:ctrlPr>
                          <a:rPr lang="fr-FR" sz="800" b="0" i="1" noProof="0" smtClean="0">
                            <a:effectLst/>
                            <a:latin typeface="Cambria Math" panose="02040503050406030204" pitchFamily="18" charset="0"/>
                          </a:rPr>
                        </m:ctrlPr>
                      </m:dPr>
                      <m:e>
                        <m:r>
                          <a:rPr lang="fr-FR" sz="800" b="0" i="1" noProof="0" smtClean="0">
                            <a:effectLst/>
                            <a:latin typeface="Cambria Math" panose="02040503050406030204" pitchFamily="18" charset="0"/>
                          </a:rPr>
                          <m:t>0,1,0,0,0,0,0,0,0,0</m:t>
                        </m:r>
                      </m:e>
                    </m:d>
                  </m:oMath>
                </a14:m>
                <a:endParaRPr lang="en-GB" sz="800" dirty="0"/>
              </a:p>
              <a:p>
                <a:pPr>
                  <a:lnSpc>
                    <a:spcPct val="150000"/>
                  </a:lnSpc>
                  <a:spcBef>
                    <a:spcPts val="0"/>
                  </a:spcBef>
                </a:pPr>
                <a:r>
                  <a:rPr lang="en-GB" sz="1200" noProof="0" dirty="0">
                    <a:effectLst/>
                  </a:rPr>
                  <a:t>“grand” is a context word so we multiply its one-hot-encoded vector by the C matrix. The dot product </a:t>
                </a:r>
                <a14:m>
                  <m:oMath xmlns:m="http://schemas.openxmlformats.org/officeDocument/2006/math">
                    <m:d>
                      <m:dPr>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1,</m:t>
                        </m:r>
                        <m:d>
                          <m:dPr>
                            <m:begChr m:val="|"/>
                            <m:endChr m:val="|"/>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𝑉</m:t>
                            </m:r>
                          </m:e>
                        </m:d>
                      </m:e>
                    </m:d>
                    <m:r>
                      <a:rPr lang="fr-FR" sz="1200" b="0" i="1" noProof="0" smtClean="0">
                        <a:effectLst/>
                        <a:latin typeface="Cambria Math" panose="02040503050406030204" pitchFamily="18" charset="0"/>
                      </a:rPr>
                      <m:t> . </m:t>
                    </m:r>
                    <m:d>
                      <m:dPr>
                        <m:ctrlPr>
                          <a:rPr lang="fr-FR" sz="1200" b="0" i="1" noProof="0" smtClean="0">
                            <a:effectLst/>
                            <a:latin typeface="Cambria Math" panose="02040503050406030204" pitchFamily="18" charset="0"/>
                          </a:rPr>
                        </m:ctrlPr>
                      </m:dPr>
                      <m:e>
                        <m:d>
                          <m:dPr>
                            <m:begChr m:val="|"/>
                            <m:endChr m:val="|"/>
                            <m:ctrlPr>
                              <a:rPr lang="fr-FR"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𝑉</m:t>
                            </m:r>
                          </m:e>
                        </m:d>
                        <m:r>
                          <a:rPr lang="fr-FR" sz="1200" b="0" i="1" noProof="0" smtClean="0">
                            <a:effectLst/>
                            <a:latin typeface="Cambria Math" panose="02040503050406030204" pitchFamily="18" charset="0"/>
                          </a:rPr>
                          <m:t>, </m:t>
                        </m:r>
                        <m:r>
                          <a:rPr lang="fr-FR" sz="1200" b="0" i="1" noProof="0" smtClean="0">
                            <a:effectLst/>
                            <a:latin typeface="Cambria Math" panose="02040503050406030204" pitchFamily="18" charset="0"/>
                          </a:rPr>
                          <m:t>𝑑</m:t>
                        </m:r>
                      </m:e>
                    </m:d>
                  </m:oMath>
                </a14:m>
                <a:r>
                  <a:rPr lang="en-GB" sz="1200" noProof="0" dirty="0">
                    <a:effectLst/>
                  </a:rPr>
                  <a:t> gives a vector of </a:t>
                </a:r>
                <a14:m>
                  <m:oMath xmlns:m="http://schemas.openxmlformats.org/officeDocument/2006/math">
                    <m:d>
                      <m:dPr>
                        <m:ctrlPr>
                          <a:rPr lang="fr-FR" sz="1200" i="1">
                            <a:latin typeface="Cambria Math" panose="02040503050406030204" pitchFamily="18" charset="0"/>
                          </a:rPr>
                        </m:ctrlPr>
                      </m:dPr>
                      <m:e>
                        <m:r>
                          <a:rPr lang="fr-FR" sz="1200" b="0" i="1" smtClean="0">
                            <a:latin typeface="Cambria Math" panose="02040503050406030204" pitchFamily="18" charset="0"/>
                          </a:rPr>
                          <m:t>1</m:t>
                        </m:r>
                        <m:r>
                          <a:rPr lang="fr-FR" sz="1200" i="1">
                            <a:latin typeface="Cambria Math" panose="02040503050406030204" pitchFamily="18" charset="0"/>
                          </a:rPr>
                          <m:t>, </m:t>
                        </m:r>
                        <m:r>
                          <a:rPr lang="fr-FR" sz="1200" i="1">
                            <a:latin typeface="Cambria Math" panose="02040503050406030204" pitchFamily="18" charset="0"/>
                          </a:rPr>
                          <m:t>𝑑</m:t>
                        </m:r>
                      </m:e>
                    </m:d>
                  </m:oMath>
                </a14:m>
                <a:r>
                  <a:rPr lang="en-GB" sz="1200" noProof="0" dirty="0">
                    <a:effectLst/>
                  </a:rPr>
                  <a:t> shape. And like the </a:t>
                </a:r>
                <a14:m>
                  <m:oMath xmlns:m="http://schemas.openxmlformats.org/officeDocument/2006/math">
                    <m:d>
                      <m:dPr>
                        <m:ctrlPr>
                          <a:rPr lang="fr-FR" sz="1200" i="1">
                            <a:latin typeface="Cambria Math" panose="02040503050406030204" pitchFamily="18" charset="0"/>
                          </a:rPr>
                        </m:ctrlPr>
                      </m:dPr>
                      <m:e>
                        <m:r>
                          <a:rPr lang="fr-FR" sz="1200" i="1">
                            <a:latin typeface="Cambria Math" panose="02040503050406030204" pitchFamily="18" charset="0"/>
                          </a:rPr>
                          <m:t>1,</m:t>
                        </m:r>
                        <m:d>
                          <m:dPr>
                            <m:begChr m:val="|"/>
                            <m:endChr m:val="|"/>
                            <m:ctrlPr>
                              <a:rPr lang="fr-FR" sz="1200" i="1">
                                <a:latin typeface="Cambria Math" panose="02040503050406030204" pitchFamily="18" charset="0"/>
                              </a:rPr>
                            </m:ctrlPr>
                          </m:dPr>
                          <m:e>
                            <m:r>
                              <a:rPr lang="fr-FR" sz="1200" i="1">
                                <a:latin typeface="Cambria Math" panose="02040503050406030204" pitchFamily="18" charset="0"/>
                              </a:rPr>
                              <m:t>𝑉</m:t>
                            </m:r>
                          </m:e>
                        </m:d>
                      </m:e>
                    </m:d>
                  </m:oMath>
                </a14:m>
                <a:r>
                  <a:rPr lang="en-GB" sz="1200" noProof="0" dirty="0">
                    <a:effectLst/>
                  </a:rPr>
                  <a:t> has only one 1 and 0 elsewhere, the dot product result in a single row from the C matrix. So, we could have only encoded words with an integer index and perform an index operation as long everything is consistent.</a:t>
                </a:r>
              </a:p>
              <a:p>
                <a:pPr>
                  <a:lnSpc>
                    <a:spcPct val="150000"/>
                  </a:lnSpc>
                  <a:spcBef>
                    <a:spcPts val="0"/>
                  </a:spcBef>
                </a:pPr>
                <a:r>
                  <a:rPr lang="en-GB" sz="1200" dirty="0"/>
                  <a:t>We do the same thing for the word “Miami” with the W matrix.</a:t>
                </a:r>
              </a:p>
              <a:p>
                <a:pPr>
                  <a:lnSpc>
                    <a:spcPct val="150000"/>
                  </a:lnSpc>
                  <a:spcBef>
                    <a:spcPts val="0"/>
                  </a:spcBef>
                </a:pPr>
                <a:r>
                  <a:rPr lang="en-GB" sz="1200" noProof="0" dirty="0">
                    <a:effectLst/>
                  </a:rPr>
                  <a:t>We have then got for (grand, Miami), the couple of embeddings:</a:t>
                </a:r>
              </a:p>
              <a:p>
                <a:pPr lvl="1">
                  <a:lnSpc>
                    <a:spcPct val="150000"/>
                  </a:lnSpc>
                  <a:spcBef>
                    <a:spcPts val="0"/>
                  </a:spcBef>
                </a:pPr>
                <a:r>
                  <a:rPr lang="en-GB" sz="800" noProof="0" dirty="0">
                    <a:effectLst/>
                  </a:rPr>
                  <a:t>(</a:t>
                </a:r>
                <a14:m>
                  <m:oMath xmlns:m="http://schemas.openxmlformats.org/officeDocument/2006/math">
                    <m:sSub>
                      <m:sSubPr>
                        <m:ctrlPr>
                          <a:rPr lang="fr-FR" sz="800" b="0" i="1" noProof="0" smtClean="0">
                            <a:effectLst/>
                            <a:latin typeface="Cambria Math" panose="02040503050406030204" pitchFamily="18" charset="0"/>
                          </a:rPr>
                        </m:ctrlPr>
                      </m:sSubPr>
                      <m:e>
                        <m:r>
                          <a:rPr lang="fr-FR" sz="800" b="0" i="1" noProof="0" smtClean="0">
                            <a:effectLst/>
                            <a:latin typeface="Cambria Math" panose="02040503050406030204" pitchFamily="18" charset="0"/>
                          </a:rPr>
                          <m:t>𝑐</m:t>
                        </m:r>
                      </m:e>
                      <m:sub>
                        <m:r>
                          <a:rPr lang="fr-FR" sz="800" b="0" i="1" noProof="0" smtClean="0">
                            <a:effectLst/>
                            <a:latin typeface="Cambria Math" panose="02040503050406030204" pitchFamily="18" charset="0"/>
                          </a:rPr>
                          <m:t>𝑝𝑜𝑠</m:t>
                        </m:r>
                      </m:sub>
                    </m:sSub>
                    <m:r>
                      <a:rPr lang="fr-FR" sz="800" b="0" i="1" noProof="0" smtClean="0">
                        <a:effectLst/>
                        <a:latin typeface="Cambria Math" panose="02040503050406030204" pitchFamily="18" charset="0"/>
                      </a:rPr>
                      <m:t>, </m:t>
                    </m:r>
                    <m:r>
                      <a:rPr lang="fr-FR" sz="800" b="0" i="1" noProof="0" smtClean="0">
                        <a:effectLst/>
                        <a:latin typeface="Cambria Math" panose="02040503050406030204" pitchFamily="18" charset="0"/>
                      </a:rPr>
                      <m:t>𝑤</m:t>
                    </m:r>
                    <m:r>
                      <a:rPr lang="fr-FR" sz="800" b="0" i="1" noProof="0" smtClean="0">
                        <a:effectLst/>
                        <a:latin typeface="Cambria Math" panose="02040503050406030204" pitchFamily="18" charset="0"/>
                      </a:rPr>
                      <m:t>)=(</m:t>
                    </m:r>
                    <m:d>
                      <m:dPr>
                        <m:begChr m:val="["/>
                        <m:endChr m:val="]"/>
                        <m:ctrlPr>
                          <a:rPr lang="fr-FR" sz="800" b="0" i="1" noProof="0" smtClean="0">
                            <a:effectLst/>
                            <a:latin typeface="Cambria Math" panose="02040503050406030204" pitchFamily="18" charset="0"/>
                          </a:rPr>
                        </m:ctrlPr>
                      </m:dPr>
                      <m:e>
                        <m:r>
                          <a:rPr lang="fr-FR" sz="800" b="0" i="1" noProof="0" smtClean="0">
                            <a:effectLst/>
                            <a:latin typeface="Cambria Math" panose="02040503050406030204" pitchFamily="18" charset="0"/>
                          </a:rPr>
                          <m:t>0.0125, 0.2453, …,0.846</m:t>
                        </m:r>
                      </m:e>
                    </m:d>
                    <m:r>
                      <a:rPr lang="fr-FR" sz="800" b="0" i="1" noProof="0" smtClean="0">
                        <a:effectLst/>
                        <a:latin typeface="Cambria Math" panose="02040503050406030204" pitchFamily="18" charset="0"/>
                      </a:rPr>
                      <m:t>, [0.784,0.654,…,0.159])</m:t>
                    </m:r>
                  </m:oMath>
                </a14:m>
                <a:endParaRPr lang="en-GB" sz="800" noProof="0" dirty="0">
                  <a:effectLst/>
                </a:endParaRPr>
              </a:p>
              <a:p>
                <a:pPr>
                  <a:lnSpc>
                    <a:spcPct val="150000"/>
                  </a:lnSpc>
                  <a:spcBef>
                    <a:spcPts val="0"/>
                  </a:spcBef>
                </a:pPr>
                <a:r>
                  <a:rPr lang="en-GB" sz="1200" dirty="0"/>
                  <a:t>After we samples k negative samples (k is an hyperparameter). Let say k=3 and we sample from negative samples (mountain, Miami), (elephant, Miami), (rice, Miami). We retrieve their respective couples of embeddings like we did with the positive sample (grand, Miami). </a:t>
                </a:r>
              </a:p>
              <a:p>
                <a:pPr lvl="1">
                  <a:lnSpc>
                    <a:spcPct val="150000"/>
                  </a:lnSpc>
                  <a:spcBef>
                    <a:spcPts val="0"/>
                  </a:spcBef>
                </a:pPr>
                <a14:m>
                  <m:oMath xmlns:m="http://schemas.openxmlformats.org/officeDocument/2006/math">
                    <m:r>
                      <a:rPr lang="fr-FR" sz="800" b="0" i="1" noProof="0" smtClean="0">
                        <a:effectLst/>
                        <a:latin typeface="Cambria Math" panose="02040503050406030204" pitchFamily="18" charset="0"/>
                      </a:rPr>
                      <m:t>(</m:t>
                    </m:r>
                    <m:sSub>
                      <m:sSubPr>
                        <m:ctrlPr>
                          <a:rPr lang="fr-FR" sz="800" b="0" i="1" noProof="0" smtClean="0">
                            <a:effectLst/>
                            <a:latin typeface="Cambria Math" panose="02040503050406030204" pitchFamily="18" charset="0"/>
                          </a:rPr>
                        </m:ctrlPr>
                      </m:sSubPr>
                      <m:e>
                        <m:r>
                          <a:rPr lang="fr-FR" sz="800" b="0" i="1" noProof="0" smtClean="0">
                            <a:effectLst/>
                            <a:latin typeface="Cambria Math" panose="02040503050406030204" pitchFamily="18" charset="0"/>
                          </a:rPr>
                          <m:t>𝑐</m:t>
                        </m:r>
                      </m:e>
                      <m:sub>
                        <m:r>
                          <a:rPr lang="fr-FR" sz="800" b="0" i="1" noProof="0" smtClean="0">
                            <a:effectLst/>
                            <a:latin typeface="Cambria Math" panose="02040503050406030204" pitchFamily="18" charset="0"/>
                          </a:rPr>
                          <m:t>𝑛𝑒𝑔</m:t>
                        </m:r>
                        <m:r>
                          <a:rPr lang="fr-FR" sz="800" b="0" i="1" noProof="0" smtClean="0">
                            <a:effectLst/>
                            <a:latin typeface="Cambria Math" panose="02040503050406030204" pitchFamily="18" charset="0"/>
                          </a:rPr>
                          <m:t>−1</m:t>
                        </m:r>
                      </m:sub>
                    </m:sSub>
                    <m:r>
                      <a:rPr lang="fr-FR" sz="800" b="0" i="1" noProof="0" smtClean="0">
                        <a:effectLst/>
                        <a:latin typeface="Cambria Math" panose="02040503050406030204" pitchFamily="18" charset="0"/>
                      </a:rPr>
                      <m:t>, </m:t>
                    </m:r>
                    <m:r>
                      <a:rPr lang="fr-FR" sz="800" b="0" i="1" noProof="0" smtClean="0">
                        <a:effectLst/>
                        <a:latin typeface="Cambria Math" panose="02040503050406030204" pitchFamily="18" charset="0"/>
                      </a:rPr>
                      <m:t>𝑤</m:t>
                    </m:r>
                  </m:oMath>
                </a14:m>
                <a:r>
                  <a:rPr lang="en-GB" sz="800" noProof="0" dirty="0">
                    <a:effectLst/>
                  </a:rPr>
                  <a:t>),</a:t>
                </a:r>
                <a:r>
                  <a:rPr lang="fr-FR" sz="800" dirty="0"/>
                  <a:t> </a:t>
                </a:r>
                <a14:m>
                  <m:oMath xmlns:m="http://schemas.openxmlformats.org/officeDocument/2006/math">
                    <m:r>
                      <a:rPr lang="fr-FR" sz="800" i="1">
                        <a:latin typeface="Cambria Math" panose="02040503050406030204" pitchFamily="18" charset="0"/>
                      </a:rPr>
                      <m:t>(</m:t>
                    </m:r>
                    <m:sSub>
                      <m:sSubPr>
                        <m:ctrlPr>
                          <a:rPr lang="fr-FR" sz="800" i="1">
                            <a:latin typeface="Cambria Math" panose="02040503050406030204" pitchFamily="18" charset="0"/>
                          </a:rPr>
                        </m:ctrlPr>
                      </m:sSubPr>
                      <m:e>
                        <m:r>
                          <a:rPr lang="fr-FR" sz="800" i="1">
                            <a:latin typeface="Cambria Math" panose="02040503050406030204" pitchFamily="18" charset="0"/>
                          </a:rPr>
                          <m:t>𝑐</m:t>
                        </m:r>
                      </m:e>
                      <m:sub>
                        <m:r>
                          <a:rPr lang="fr-FR" sz="800" i="1">
                            <a:latin typeface="Cambria Math" panose="02040503050406030204" pitchFamily="18" charset="0"/>
                          </a:rPr>
                          <m:t>𝑛𝑒𝑔</m:t>
                        </m:r>
                        <m:r>
                          <a:rPr lang="fr-FR" sz="800" i="1">
                            <a:latin typeface="Cambria Math" panose="02040503050406030204" pitchFamily="18" charset="0"/>
                          </a:rPr>
                          <m:t>−2</m:t>
                        </m:r>
                      </m:sub>
                    </m:sSub>
                    <m:r>
                      <a:rPr lang="fr-FR" sz="800" i="1">
                        <a:latin typeface="Cambria Math" panose="02040503050406030204" pitchFamily="18" charset="0"/>
                      </a:rPr>
                      <m:t>, </m:t>
                    </m:r>
                    <m:r>
                      <a:rPr lang="fr-FR" sz="800" i="1">
                        <a:latin typeface="Cambria Math" panose="02040503050406030204" pitchFamily="18" charset="0"/>
                      </a:rPr>
                      <m:t>𝑤</m:t>
                    </m:r>
                  </m:oMath>
                </a14:m>
                <a:r>
                  <a:rPr lang="en-GB" sz="800" dirty="0"/>
                  <a:t>), </a:t>
                </a:r>
                <a14:m>
                  <m:oMath xmlns:m="http://schemas.openxmlformats.org/officeDocument/2006/math">
                    <m:r>
                      <a:rPr lang="fr-FR" sz="800" i="1">
                        <a:latin typeface="Cambria Math" panose="02040503050406030204" pitchFamily="18" charset="0"/>
                      </a:rPr>
                      <m:t>(</m:t>
                    </m:r>
                    <m:sSub>
                      <m:sSubPr>
                        <m:ctrlPr>
                          <a:rPr lang="fr-FR" sz="800" i="1">
                            <a:latin typeface="Cambria Math" panose="02040503050406030204" pitchFamily="18" charset="0"/>
                          </a:rPr>
                        </m:ctrlPr>
                      </m:sSubPr>
                      <m:e>
                        <m:r>
                          <a:rPr lang="fr-FR" sz="800" i="1">
                            <a:latin typeface="Cambria Math" panose="02040503050406030204" pitchFamily="18" charset="0"/>
                          </a:rPr>
                          <m:t>𝑐</m:t>
                        </m:r>
                      </m:e>
                      <m:sub>
                        <m:r>
                          <a:rPr lang="fr-FR" sz="800" i="1">
                            <a:latin typeface="Cambria Math" panose="02040503050406030204" pitchFamily="18" charset="0"/>
                          </a:rPr>
                          <m:t>𝑛𝑒𝑔</m:t>
                        </m:r>
                        <m:r>
                          <a:rPr lang="fr-FR" sz="800" i="1">
                            <a:latin typeface="Cambria Math" panose="02040503050406030204" pitchFamily="18" charset="0"/>
                          </a:rPr>
                          <m:t>−3</m:t>
                        </m:r>
                      </m:sub>
                    </m:sSub>
                    <m:r>
                      <a:rPr lang="fr-FR" sz="800" i="1">
                        <a:latin typeface="Cambria Math" panose="02040503050406030204" pitchFamily="18" charset="0"/>
                      </a:rPr>
                      <m:t>, </m:t>
                    </m:r>
                    <m:r>
                      <a:rPr lang="fr-FR" sz="800" i="1">
                        <a:latin typeface="Cambria Math" panose="02040503050406030204" pitchFamily="18" charset="0"/>
                      </a:rPr>
                      <m:t>𝑤</m:t>
                    </m:r>
                  </m:oMath>
                </a14:m>
                <a:r>
                  <a:rPr lang="en-GB" sz="800" dirty="0"/>
                  <a:t>)</a:t>
                </a:r>
                <a:r>
                  <a:rPr lang="en-GB" sz="800" noProof="0" dirty="0">
                    <a:effectLst/>
                  </a:rPr>
                  <a:t> </a:t>
                </a:r>
              </a:p>
              <a:p>
                <a:pPr>
                  <a:lnSpc>
                    <a:spcPct val="150000"/>
                  </a:lnSpc>
                  <a:spcBef>
                    <a:spcPts val="0"/>
                  </a:spcBef>
                </a:pPr>
                <a:r>
                  <a:rPr lang="en-GB" sz="1200" dirty="0"/>
                  <a:t>Using k simplify the optimization the process rather than considering all the possible pairs of words.</a:t>
                </a:r>
                <a:endParaRPr lang="en-GB" sz="1200" noProof="0" dirty="0">
                  <a:effectLst/>
                </a:endParaRPr>
              </a:p>
            </p:txBody>
          </p:sp>
        </mc:Choice>
        <mc:Fallback xmlns="">
          <p:sp>
            <p:nvSpPr>
              <p:cNvPr id="3" name="Espace réservé du contenu 2">
                <a:extLst>
                  <a:ext uri="{FF2B5EF4-FFF2-40B4-BE49-F238E27FC236}">
                    <a16:creationId xmlns:a16="http://schemas.microsoft.com/office/drawing/2014/main" id="{9DFC61CD-E977-4A36-FE7C-8FF5046CCCD5}"/>
                  </a:ext>
                </a:extLst>
              </p:cNvPr>
              <p:cNvSpPr>
                <a:spLocks noGrp="1" noRot="1" noChangeAspect="1" noMove="1" noResize="1" noEditPoints="1" noAdjustHandles="1" noChangeArrowheads="1" noChangeShapeType="1" noTextEdit="1"/>
              </p:cNvSpPr>
              <p:nvPr>
                <p:ph idx="1"/>
              </p:nvPr>
            </p:nvSpPr>
            <p:spPr>
              <a:xfrm>
                <a:off x="838200" y="1541645"/>
                <a:ext cx="11353800" cy="4951230"/>
              </a:xfrm>
              <a:blipFill>
                <a:blip r:embed="rId2"/>
                <a:stretch>
                  <a:fillRect l="-670" t="-1279"/>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AF5FDADB-2AA8-B274-11DA-54E4E6ABEAB5}"/>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916584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ED51-6B7A-E899-D5DF-515ED6A0553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BF50D0F-0481-68FC-4807-1DB4459B6F2F}"/>
              </a:ext>
            </a:extLst>
          </p:cNvPr>
          <p:cNvSpPr>
            <a:spLocks noGrp="1"/>
          </p:cNvSpPr>
          <p:nvPr>
            <p:ph type="title"/>
          </p:nvPr>
        </p:nvSpPr>
        <p:spPr/>
        <p:txBody>
          <a:bodyPr/>
          <a:lstStyle/>
          <a:p>
            <a:r>
              <a:rPr lang="en-GB" dirty="0"/>
              <a:t>Word Vectors</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7272214E-95C9-5495-B2CA-8798B6C6D152}"/>
                  </a:ext>
                </a:extLst>
              </p:cNvPr>
              <p:cNvSpPr>
                <a:spLocks noGrp="1"/>
              </p:cNvSpPr>
              <p:nvPr>
                <p:ph idx="1"/>
              </p:nvPr>
            </p:nvSpPr>
            <p:spPr>
              <a:xfrm>
                <a:off x="838200" y="1541645"/>
                <a:ext cx="11353800" cy="4682174"/>
              </a:xfrm>
            </p:spPr>
            <p:txBody>
              <a:bodyPr lIns="90000">
                <a:noAutofit/>
              </a:bodyPr>
              <a:lstStyle/>
              <a:p>
                <a:pPr marL="0" indent="0">
                  <a:buNone/>
                </a:pPr>
                <a:r>
                  <a:rPr lang="en-GB" sz="2000" b="1" noProof="0" dirty="0">
                    <a:effectLst/>
                  </a:rPr>
                  <a:t>Word2vec</a:t>
                </a:r>
              </a:p>
              <a:p>
                <a:pPr marL="0" indent="0">
                  <a:buNone/>
                </a:pPr>
                <a:r>
                  <a:rPr lang="en-GB" sz="1200" b="1" noProof="0" dirty="0">
                    <a:effectLst/>
                  </a:rPr>
                  <a:t>Learn dense representations that capture word relationships</a:t>
                </a:r>
              </a:p>
              <a:p>
                <a:pPr marL="0" indent="0">
                  <a:lnSpc>
                    <a:spcPct val="100000"/>
                  </a:lnSpc>
                  <a:spcBef>
                    <a:spcPts val="0"/>
                  </a:spcBef>
                  <a:buNone/>
                </a:pPr>
                <a:endParaRPr lang="en-GB" sz="1200" noProof="0" dirty="0">
                  <a:effectLst/>
                </a:endParaRPr>
              </a:p>
              <a:p>
                <a:pPr marL="0" indent="0">
                  <a:lnSpc>
                    <a:spcPct val="150000"/>
                  </a:lnSpc>
                  <a:spcBef>
                    <a:spcPts val="0"/>
                  </a:spcBef>
                  <a:buNone/>
                </a:pPr>
                <a:r>
                  <a:rPr lang="en-GB" sz="1200" b="1" noProof="0" dirty="0">
                    <a:effectLst/>
                  </a:rPr>
                  <a:t>Skip-Gram with Negative Sampling (SGNS)</a:t>
                </a:r>
              </a:p>
              <a:p>
                <a:pPr marL="0" indent="0">
                  <a:lnSpc>
                    <a:spcPct val="150000"/>
                  </a:lnSpc>
                  <a:spcBef>
                    <a:spcPts val="0"/>
                  </a:spcBef>
                  <a:buNone/>
                </a:pPr>
                <a:r>
                  <a:rPr lang="en-GB" sz="1200" noProof="0" dirty="0">
                    <a:effectLst/>
                  </a:rPr>
                  <a:t>Training proceeds as follow. </a:t>
                </a:r>
              </a:p>
              <a:p>
                <a:pPr>
                  <a:lnSpc>
                    <a:spcPct val="150000"/>
                  </a:lnSpc>
                  <a:spcBef>
                    <a:spcPts val="0"/>
                  </a:spcBef>
                </a:pPr>
                <a:r>
                  <a:rPr lang="en-GB" sz="1200" dirty="0"/>
                  <a:t>Binary Prediction: Given two words </a:t>
                </a:r>
                <a14:m>
                  <m:oMath xmlns:m="http://schemas.openxmlformats.org/officeDocument/2006/math">
                    <m:r>
                      <a:rPr lang="en-GB" sz="1200" b="0" i="1" smtClean="0">
                        <a:latin typeface="Cambria Math" panose="02040503050406030204" pitchFamily="18" charset="0"/>
                      </a:rPr>
                      <m:t>(</m:t>
                    </m:r>
                    <m:r>
                      <a:rPr lang="en-GB" sz="1200" b="0" i="1" smtClean="0">
                        <a:latin typeface="Cambria Math" panose="02040503050406030204" pitchFamily="18" charset="0"/>
                      </a:rPr>
                      <m:t>𝑤</m:t>
                    </m:r>
                    <m:r>
                      <a:rPr lang="en-GB" sz="1200" b="0" i="1" smtClean="0">
                        <a:latin typeface="Cambria Math" panose="02040503050406030204" pitchFamily="18" charset="0"/>
                      </a:rPr>
                      <m:t>,</m:t>
                    </m:r>
                    <m:r>
                      <a:rPr lang="en-GB" sz="1200" b="0" i="1" smtClean="0">
                        <a:latin typeface="Cambria Math" panose="02040503050406030204" pitchFamily="18" charset="0"/>
                      </a:rPr>
                      <m:t>𝑐</m:t>
                    </m:r>
                    <m:r>
                      <a:rPr lang="en-GB" sz="1200" b="0" i="1" smtClean="0">
                        <a:latin typeface="Cambria Math" panose="02040503050406030204" pitchFamily="18" charset="0"/>
                      </a:rPr>
                      <m:t>)</m:t>
                    </m:r>
                  </m:oMath>
                </a14:m>
                <a:r>
                  <a:rPr lang="en-GB" sz="1200" dirty="0"/>
                  <a:t> are they likely to occur close to each other in the text ?</a:t>
                </a:r>
              </a:p>
              <a:p>
                <a:pPr lvl="1">
                  <a:lnSpc>
                    <a:spcPct val="150000"/>
                  </a:lnSpc>
                  <a:spcBef>
                    <a:spcPts val="0"/>
                  </a:spcBef>
                </a:pPr>
                <a:r>
                  <a:rPr lang="en-GB" sz="800" noProof="0" dirty="0">
                    <a:effectLst/>
                  </a:rPr>
                  <a:t>Task: occur clos to each other in the text ?</a:t>
                </a:r>
                <a:endParaRPr lang="en-GB" sz="800" dirty="0"/>
              </a:p>
              <a:p>
                <a:pPr>
                  <a:lnSpc>
                    <a:spcPct val="150000"/>
                  </a:lnSpc>
                  <a:spcBef>
                    <a:spcPts val="0"/>
                  </a:spcBef>
                </a:pPr>
                <a:r>
                  <a:rPr lang="en-GB" sz="1200" noProof="0" dirty="0">
                    <a:effectLst/>
                  </a:rPr>
                  <a:t>The probability of a positive</a:t>
                </a:r>
                <a:r>
                  <a:rPr lang="en-GB" sz="1200" dirty="0"/>
                  <a:t> sample given a positive context word and a target word is </a:t>
                </a:r>
                <a14:m>
                  <m:oMath xmlns:m="http://schemas.openxmlformats.org/officeDocument/2006/math">
                    <m:r>
                      <m:rPr>
                        <m:sty m:val="p"/>
                      </m:rPr>
                      <a:rPr lang="en-GB" sz="1200" b="0" i="0" noProof="0" smtClean="0">
                        <a:effectLst/>
                        <a:latin typeface="Cambria Math" panose="02040503050406030204" pitchFamily="18" charset="0"/>
                      </a:rPr>
                      <m:t>P</m:t>
                    </m:r>
                    <m:d>
                      <m:dPr>
                        <m:endChr m:val="|"/>
                        <m:ctrlPr>
                          <a:rPr lang="en-GB" sz="1200" b="0" i="1" noProof="0" smtClean="0">
                            <a:effectLst/>
                            <a:latin typeface="Cambria Math" panose="02040503050406030204" pitchFamily="18" charset="0"/>
                          </a:rPr>
                        </m:ctrlPr>
                      </m:dPr>
                      <m:e>
                        <m:r>
                          <a:rPr lang="en-GB" sz="1200" b="0" i="0" noProof="0" smtClean="0">
                            <a:effectLst/>
                            <a:latin typeface="Cambria Math" panose="02040503050406030204" pitchFamily="18" charset="0"/>
                          </a:rPr>
                          <m:t>+</m:t>
                        </m:r>
                      </m:e>
                    </m:d>
                    <m:r>
                      <a:rPr lang="en-GB" sz="1200" b="0" i="0" noProof="0" smtClean="0">
                        <a:effectLst/>
                        <a:latin typeface="Cambria Math" panose="02040503050406030204" pitchFamily="18" charset="0"/>
                      </a:rPr>
                      <m:t> </m:t>
                    </m:r>
                    <m:sSub>
                      <m:sSubPr>
                        <m:ctrlPr>
                          <a:rPr lang="en-GB" sz="1200" b="0" i="1" noProof="0" smtClean="0">
                            <a:effectLst/>
                            <a:latin typeface="Cambria Math" panose="02040503050406030204" pitchFamily="18" charset="0"/>
                          </a:rPr>
                        </m:ctrlPr>
                      </m:sSubPr>
                      <m:e>
                        <m:r>
                          <a:rPr lang="en-GB" sz="1200" b="0" i="1" noProof="0" smtClean="0">
                            <a:effectLst/>
                            <a:latin typeface="Cambria Math" panose="02040503050406030204" pitchFamily="18" charset="0"/>
                          </a:rPr>
                          <m:t>𝑐</m:t>
                        </m:r>
                      </m:e>
                      <m:sub>
                        <m:r>
                          <a:rPr lang="en-GB" sz="1200" b="0" i="1" noProof="0" smtClean="0">
                            <a:effectLst/>
                            <a:latin typeface="Cambria Math" panose="02040503050406030204" pitchFamily="18" charset="0"/>
                          </a:rPr>
                          <m:t>𝑝𝑜𝑠</m:t>
                        </m:r>
                      </m:sub>
                    </m:sSub>
                    <m:r>
                      <a:rPr lang="en-GB" sz="1200" b="0" i="1" noProof="0" smtClean="0">
                        <a:effectLst/>
                        <a:latin typeface="Cambria Math" panose="02040503050406030204" pitchFamily="18" charset="0"/>
                      </a:rPr>
                      <m:t>, </m:t>
                    </m:r>
                    <m:r>
                      <a:rPr lang="en-GB" sz="1200" b="0" i="1" noProof="0" smtClean="0">
                        <a:effectLst/>
                        <a:latin typeface="Cambria Math" panose="02040503050406030204" pitchFamily="18" charset="0"/>
                      </a:rPr>
                      <m:t>𝑤</m:t>
                    </m:r>
                    <m:r>
                      <a:rPr lang="en-GB" sz="1200" b="0" i="1" noProof="0" smtClean="0">
                        <a:effectLst/>
                        <a:latin typeface="Cambria Math" panose="02040503050406030204" pitchFamily="18" charset="0"/>
                      </a:rPr>
                      <m:t>)=</m:t>
                    </m:r>
                    <m:r>
                      <a:rPr lang="en-GB" sz="1200" b="0" i="1" noProof="0" smtClean="0">
                        <a:effectLst/>
                        <a:latin typeface="Cambria Math" panose="02040503050406030204" pitchFamily="18" charset="0"/>
                      </a:rPr>
                      <m:t>𝜎</m:t>
                    </m:r>
                    <m:r>
                      <a:rPr lang="en-GB" sz="1200" b="0" i="1" noProof="0" smtClean="0">
                        <a:effectLst/>
                        <a:latin typeface="Cambria Math" panose="02040503050406030204" pitchFamily="18" charset="0"/>
                      </a:rPr>
                      <m:t>(</m:t>
                    </m:r>
                    <m:sSub>
                      <m:sSubPr>
                        <m:ctrlPr>
                          <a:rPr lang="en-GB" sz="1200" b="0" i="1" noProof="0" smtClean="0">
                            <a:effectLst/>
                            <a:latin typeface="Cambria Math" panose="02040503050406030204" pitchFamily="18" charset="0"/>
                          </a:rPr>
                        </m:ctrlPr>
                      </m:sSubPr>
                      <m:e>
                        <m:r>
                          <a:rPr lang="en-GB" sz="1200" b="0" i="1" noProof="0" smtClean="0">
                            <a:effectLst/>
                            <a:latin typeface="Cambria Math" panose="02040503050406030204" pitchFamily="18" charset="0"/>
                          </a:rPr>
                          <m:t>𝑐</m:t>
                        </m:r>
                      </m:e>
                      <m:sub>
                        <m:r>
                          <a:rPr lang="en-GB" sz="1200" b="0" i="1" noProof="0" smtClean="0">
                            <a:effectLst/>
                            <a:latin typeface="Cambria Math" panose="02040503050406030204" pitchFamily="18" charset="0"/>
                          </a:rPr>
                          <m:t>𝑝𝑜𝑠</m:t>
                        </m:r>
                      </m:sub>
                    </m:sSub>
                    <m:r>
                      <a:rPr lang="en-GB" sz="1200" b="0" i="1" noProof="0" smtClean="0">
                        <a:effectLst/>
                        <a:latin typeface="Cambria Math" panose="02040503050406030204" pitchFamily="18" charset="0"/>
                      </a:rPr>
                      <m:t> . </m:t>
                    </m:r>
                    <m:r>
                      <a:rPr lang="en-GB" sz="1200" b="0" i="1" noProof="0" smtClean="0">
                        <a:effectLst/>
                        <a:latin typeface="Cambria Math" panose="02040503050406030204" pitchFamily="18" charset="0"/>
                      </a:rPr>
                      <m:t>𝑤</m:t>
                    </m:r>
                    <m:r>
                      <a:rPr lang="en-GB" sz="1200" b="0" i="1" noProof="0" smtClean="0">
                        <a:effectLst/>
                        <a:latin typeface="Cambria Math" panose="02040503050406030204" pitchFamily="18" charset="0"/>
                      </a:rPr>
                      <m:t>)</m:t>
                    </m:r>
                  </m:oMath>
                </a14:m>
                <a:endParaRPr lang="en-GB" sz="1200" noProof="0" dirty="0">
                  <a:effectLst/>
                </a:endParaRPr>
              </a:p>
              <a:p>
                <a:pPr lvl="1">
                  <a:lnSpc>
                    <a:spcPct val="150000"/>
                  </a:lnSpc>
                  <a:spcBef>
                    <a:spcPts val="0"/>
                  </a:spcBef>
                </a:pPr>
                <a:r>
                  <a:rPr lang="en-GB" sz="800" dirty="0"/>
                  <a:t>The operation </a:t>
                </a:r>
                <a14:m>
                  <m:oMath xmlns:m="http://schemas.openxmlformats.org/officeDocument/2006/math">
                    <m:sSub>
                      <m:sSubPr>
                        <m:ctrlPr>
                          <a:rPr lang="en-GB" sz="800" i="1">
                            <a:latin typeface="Cambria Math" panose="02040503050406030204" pitchFamily="18" charset="0"/>
                          </a:rPr>
                        </m:ctrlPr>
                      </m:sSubPr>
                      <m:e>
                        <m:r>
                          <a:rPr lang="en-GB" sz="800" i="1">
                            <a:latin typeface="Cambria Math" panose="02040503050406030204" pitchFamily="18" charset="0"/>
                          </a:rPr>
                          <m:t>𝑐</m:t>
                        </m:r>
                      </m:e>
                      <m:sub>
                        <m:r>
                          <a:rPr lang="en-GB" sz="800" i="1">
                            <a:latin typeface="Cambria Math" panose="02040503050406030204" pitchFamily="18" charset="0"/>
                          </a:rPr>
                          <m:t>𝑝𝑜𝑠</m:t>
                        </m:r>
                      </m:sub>
                    </m:sSub>
                    <m:r>
                      <a:rPr lang="en-GB" sz="800" i="1">
                        <a:latin typeface="Cambria Math" panose="02040503050406030204" pitchFamily="18" charset="0"/>
                      </a:rPr>
                      <m:t> . </m:t>
                    </m:r>
                    <m:r>
                      <a:rPr lang="en-GB" sz="800" i="1">
                        <a:latin typeface="Cambria Math" panose="02040503050406030204" pitchFamily="18" charset="0"/>
                      </a:rPr>
                      <m:t>𝑤</m:t>
                    </m:r>
                    <m:r>
                      <a:rPr lang="en-GB" sz="800" i="1">
                        <a:latin typeface="Cambria Math" panose="02040503050406030204" pitchFamily="18" charset="0"/>
                      </a:rPr>
                      <m:t> </m:t>
                    </m:r>
                  </m:oMath>
                </a14:m>
                <a:r>
                  <a:rPr lang="en-GB" sz="800" dirty="0"/>
                  <a:t>is a dot product to measure similarity between the two embeddings </a:t>
                </a:r>
                <a14:m>
                  <m:oMath xmlns:m="http://schemas.openxmlformats.org/officeDocument/2006/math">
                    <m:sSub>
                      <m:sSubPr>
                        <m:ctrlPr>
                          <a:rPr lang="en-GB" sz="800" i="1">
                            <a:latin typeface="Cambria Math" panose="02040503050406030204" pitchFamily="18" charset="0"/>
                          </a:rPr>
                        </m:ctrlPr>
                      </m:sSubPr>
                      <m:e>
                        <m:r>
                          <a:rPr lang="fr-FR" sz="800" i="1">
                            <a:latin typeface="Cambria Math" panose="02040503050406030204" pitchFamily="18" charset="0"/>
                          </a:rPr>
                          <m:t>(</m:t>
                        </m:r>
                        <m:r>
                          <a:rPr lang="en-GB" sz="800" i="1">
                            <a:latin typeface="Cambria Math" panose="02040503050406030204" pitchFamily="18" charset="0"/>
                          </a:rPr>
                          <m:t>𝑐</m:t>
                        </m:r>
                      </m:e>
                      <m:sub>
                        <m:r>
                          <a:rPr lang="en-GB" sz="800" i="1">
                            <a:latin typeface="Cambria Math" panose="02040503050406030204" pitchFamily="18" charset="0"/>
                          </a:rPr>
                          <m:t>𝑝𝑜𝑠</m:t>
                        </m:r>
                      </m:sub>
                    </m:sSub>
                    <m:r>
                      <a:rPr lang="en-GB" sz="800" i="1">
                        <a:latin typeface="Cambria Math" panose="02040503050406030204" pitchFamily="18" charset="0"/>
                      </a:rPr>
                      <m:t> . </m:t>
                    </m:r>
                    <m:r>
                      <a:rPr lang="en-GB" sz="800" i="1">
                        <a:latin typeface="Cambria Math" panose="02040503050406030204" pitchFamily="18" charset="0"/>
                      </a:rPr>
                      <m:t>𝑤</m:t>
                    </m:r>
                    <m:r>
                      <a:rPr lang="en-GB" sz="800" i="1">
                        <a:latin typeface="Cambria Math" panose="02040503050406030204" pitchFamily="18" charset="0"/>
                      </a:rPr>
                      <m:t> ) </m:t>
                    </m:r>
                  </m:oMath>
                </a14:m>
                <a:r>
                  <a:rPr lang="en-GB" sz="800" dirty="0"/>
                  <a:t>and </a:t>
                </a:r>
                <a14:m>
                  <m:oMath xmlns:m="http://schemas.openxmlformats.org/officeDocument/2006/math">
                    <m:r>
                      <a:rPr lang="fr-FR" sz="800" b="0" i="1" smtClean="0">
                        <a:latin typeface="Cambria Math" panose="02040503050406030204" pitchFamily="18" charset="0"/>
                      </a:rPr>
                      <m:t>𝜎</m:t>
                    </m:r>
                  </m:oMath>
                </a14:m>
                <a:r>
                  <a:rPr lang="en-GB" sz="800" noProof="0" dirty="0">
                    <a:effectLst/>
                  </a:rPr>
                  <a:t> is the sigmoid function as we want a probability.</a:t>
                </a:r>
              </a:p>
              <a:p>
                <a:pPr>
                  <a:lnSpc>
                    <a:spcPct val="150000"/>
                  </a:lnSpc>
                  <a:spcBef>
                    <a:spcPts val="0"/>
                  </a:spcBef>
                </a:pPr>
                <a:r>
                  <a:rPr lang="en-GB" sz="1200" noProof="0" dirty="0">
                    <a:effectLst/>
                  </a:rPr>
                  <a:t>The probability of a negative</a:t>
                </a:r>
                <a:r>
                  <a:rPr lang="en-GB" sz="1200" dirty="0"/>
                  <a:t> sample given a negative context word and a target word is </a:t>
                </a:r>
                <a14:m>
                  <m:oMath xmlns:m="http://schemas.openxmlformats.org/officeDocument/2006/math">
                    <m:r>
                      <m:rPr>
                        <m:sty m:val="p"/>
                      </m:rPr>
                      <a:rPr lang="en-GB" sz="1200" b="0" i="0" noProof="0" smtClean="0">
                        <a:effectLst/>
                        <a:latin typeface="Cambria Math" panose="02040503050406030204" pitchFamily="18" charset="0"/>
                      </a:rPr>
                      <m:t>P</m:t>
                    </m:r>
                    <m:d>
                      <m:dPr>
                        <m:endChr m:val="|"/>
                        <m:ctrlPr>
                          <a:rPr lang="en-GB" sz="1200" b="0" i="1" noProof="0" smtClean="0">
                            <a:effectLst/>
                            <a:latin typeface="Cambria Math" panose="02040503050406030204" pitchFamily="18" charset="0"/>
                          </a:rPr>
                        </m:ctrlPr>
                      </m:dPr>
                      <m:e>
                        <m:r>
                          <a:rPr lang="fr-FR" sz="1200" b="0" i="1" noProof="0" smtClean="0">
                            <a:effectLst/>
                            <a:latin typeface="Cambria Math" panose="02040503050406030204" pitchFamily="18" charset="0"/>
                          </a:rPr>
                          <m:t>−</m:t>
                        </m:r>
                      </m:e>
                    </m:d>
                    <m:r>
                      <a:rPr lang="en-GB" sz="1200" b="0" i="0" noProof="0" smtClean="0">
                        <a:effectLst/>
                        <a:latin typeface="Cambria Math" panose="02040503050406030204" pitchFamily="18" charset="0"/>
                      </a:rPr>
                      <m:t> </m:t>
                    </m:r>
                    <m:sSub>
                      <m:sSubPr>
                        <m:ctrlPr>
                          <a:rPr lang="en-GB" sz="1200" b="0" i="1" noProof="0" smtClean="0">
                            <a:effectLst/>
                            <a:latin typeface="Cambria Math" panose="02040503050406030204" pitchFamily="18" charset="0"/>
                          </a:rPr>
                        </m:ctrlPr>
                      </m:sSubPr>
                      <m:e>
                        <m:r>
                          <a:rPr lang="en-GB" sz="1200" b="0" i="1" noProof="0" smtClean="0">
                            <a:effectLst/>
                            <a:latin typeface="Cambria Math" panose="02040503050406030204" pitchFamily="18" charset="0"/>
                          </a:rPr>
                          <m:t>𝑐</m:t>
                        </m:r>
                      </m:e>
                      <m:sub>
                        <m:r>
                          <a:rPr lang="fr-FR" sz="1200" b="0" i="1" noProof="0" smtClean="0">
                            <a:effectLst/>
                            <a:latin typeface="Cambria Math" panose="02040503050406030204" pitchFamily="18" charset="0"/>
                          </a:rPr>
                          <m:t>𝑛𝑒𝑔</m:t>
                        </m:r>
                      </m:sub>
                    </m:sSub>
                    <m:r>
                      <a:rPr lang="en-GB" sz="1200" b="0" i="1" noProof="0" smtClean="0">
                        <a:effectLst/>
                        <a:latin typeface="Cambria Math" panose="02040503050406030204" pitchFamily="18" charset="0"/>
                      </a:rPr>
                      <m:t>, </m:t>
                    </m:r>
                    <m:r>
                      <a:rPr lang="en-GB" sz="1200" b="0" i="1" noProof="0" smtClean="0">
                        <a:effectLst/>
                        <a:latin typeface="Cambria Math" panose="02040503050406030204" pitchFamily="18" charset="0"/>
                      </a:rPr>
                      <m:t>𝑤</m:t>
                    </m:r>
                    <m:r>
                      <a:rPr lang="en-GB" sz="1200" b="0" i="1" noProof="0" smtClean="0">
                        <a:effectLst/>
                        <a:latin typeface="Cambria Math" panose="02040503050406030204" pitchFamily="18" charset="0"/>
                      </a:rPr>
                      <m:t>)=1 −</m:t>
                    </m:r>
                    <m:r>
                      <m:rPr>
                        <m:sty m:val="p"/>
                      </m:rPr>
                      <a:rPr lang="en-GB" sz="1200">
                        <a:latin typeface="Cambria Math" panose="02040503050406030204" pitchFamily="18" charset="0"/>
                      </a:rPr>
                      <m:t>P</m:t>
                    </m:r>
                    <m:d>
                      <m:dPr>
                        <m:endChr m:val="|"/>
                        <m:ctrlPr>
                          <a:rPr lang="en-GB" sz="1200" i="1">
                            <a:latin typeface="Cambria Math" panose="02040503050406030204" pitchFamily="18" charset="0"/>
                          </a:rPr>
                        </m:ctrlPr>
                      </m:dPr>
                      <m:e>
                        <m:r>
                          <a:rPr lang="fr-FR" sz="1200" b="0" i="1" smtClean="0">
                            <a:latin typeface="Cambria Math" panose="02040503050406030204" pitchFamily="18" charset="0"/>
                          </a:rPr>
                          <m:t>+</m:t>
                        </m:r>
                      </m:e>
                    </m:d>
                    <m:r>
                      <a:rPr lang="en-GB" sz="1200">
                        <a:latin typeface="Cambria Math" panose="02040503050406030204" pitchFamily="18" charset="0"/>
                      </a:rPr>
                      <m:t> </m:t>
                    </m:r>
                    <m:sSub>
                      <m:sSubPr>
                        <m:ctrlPr>
                          <a:rPr lang="en-GB" sz="1200" i="1">
                            <a:latin typeface="Cambria Math" panose="02040503050406030204" pitchFamily="18" charset="0"/>
                          </a:rPr>
                        </m:ctrlPr>
                      </m:sSubPr>
                      <m:e>
                        <m:r>
                          <a:rPr lang="en-GB" sz="1200" i="1">
                            <a:latin typeface="Cambria Math" panose="02040503050406030204" pitchFamily="18" charset="0"/>
                          </a:rPr>
                          <m:t>𝑐</m:t>
                        </m:r>
                      </m:e>
                      <m:sub>
                        <m:r>
                          <a:rPr lang="fr-FR" sz="1200" b="0" i="1" smtClean="0">
                            <a:latin typeface="Cambria Math" panose="02040503050406030204" pitchFamily="18" charset="0"/>
                          </a:rPr>
                          <m:t>𝑛𝑒𝑔</m:t>
                        </m:r>
                      </m:sub>
                    </m:sSub>
                    <m:r>
                      <a:rPr lang="en-GB" sz="1200" i="1">
                        <a:latin typeface="Cambria Math" panose="02040503050406030204" pitchFamily="18" charset="0"/>
                      </a:rPr>
                      <m:t>, </m:t>
                    </m:r>
                    <m:r>
                      <a:rPr lang="en-GB" sz="1200" i="1">
                        <a:latin typeface="Cambria Math" panose="02040503050406030204" pitchFamily="18" charset="0"/>
                      </a:rPr>
                      <m:t>𝑤</m:t>
                    </m:r>
                    <m:r>
                      <a:rPr lang="en-GB" sz="1200" i="1">
                        <a:latin typeface="Cambria Math" panose="02040503050406030204" pitchFamily="18" charset="0"/>
                      </a:rPr>
                      <m:t>)=</m:t>
                    </m:r>
                    <m:r>
                      <a:rPr lang="en-GB" sz="1200" i="1">
                        <a:latin typeface="Cambria Math" panose="02040503050406030204" pitchFamily="18" charset="0"/>
                      </a:rPr>
                      <m:t>𝜎</m:t>
                    </m:r>
                    <m:r>
                      <a:rPr lang="en-GB" sz="1200" i="1">
                        <a:latin typeface="Cambria Math" panose="02040503050406030204" pitchFamily="18" charset="0"/>
                      </a:rPr>
                      <m:t>(</m:t>
                    </m:r>
                    <m:sSub>
                      <m:sSubPr>
                        <m:ctrlPr>
                          <a:rPr lang="en-GB" sz="1200" b="0" i="1" noProof="0" smtClean="0">
                            <a:effectLst/>
                            <a:latin typeface="Cambria Math" panose="02040503050406030204" pitchFamily="18" charset="0"/>
                          </a:rPr>
                        </m:ctrlPr>
                      </m:sSubPr>
                      <m:e>
                        <m:r>
                          <a:rPr lang="fr-FR" sz="1200" b="0" i="1" noProof="0" smtClean="0">
                            <a:effectLst/>
                            <a:latin typeface="Cambria Math" panose="02040503050406030204" pitchFamily="18" charset="0"/>
                          </a:rPr>
                          <m:t>−</m:t>
                        </m:r>
                        <m:r>
                          <a:rPr lang="en-GB" sz="1200" b="0" i="1" noProof="0" smtClean="0">
                            <a:effectLst/>
                            <a:latin typeface="Cambria Math" panose="02040503050406030204" pitchFamily="18" charset="0"/>
                          </a:rPr>
                          <m:t>𝑐</m:t>
                        </m:r>
                      </m:e>
                      <m:sub>
                        <m:r>
                          <a:rPr lang="fr-FR" sz="1200" b="0" i="1" noProof="0" smtClean="0">
                            <a:effectLst/>
                            <a:latin typeface="Cambria Math" panose="02040503050406030204" pitchFamily="18" charset="0"/>
                          </a:rPr>
                          <m:t>𝑛𝑒𝑔</m:t>
                        </m:r>
                      </m:sub>
                    </m:sSub>
                    <m:r>
                      <a:rPr lang="en-GB" sz="1200" b="0" i="1" noProof="0" smtClean="0">
                        <a:effectLst/>
                        <a:latin typeface="Cambria Math" panose="02040503050406030204" pitchFamily="18" charset="0"/>
                      </a:rPr>
                      <m:t> . </m:t>
                    </m:r>
                    <m:r>
                      <a:rPr lang="en-GB" sz="1200" b="0" i="1" noProof="0" smtClean="0">
                        <a:effectLst/>
                        <a:latin typeface="Cambria Math" panose="02040503050406030204" pitchFamily="18" charset="0"/>
                      </a:rPr>
                      <m:t>𝑤</m:t>
                    </m:r>
                    <m:r>
                      <a:rPr lang="en-GB" sz="1200" b="0" i="1" noProof="0" smtClean="0">
                        <a:effectLst/>
                        <a:latin typeface="Cambria Math" panose="02040503050406030204" pitchFamily="18" charset="0"/>
                      </a:rPr>
                      <m:t>)</m:t>
                    </m:r>
                  </m:oMath>
                </a14:m>
                <a:endParaRPr lang="en-GB" sz="1200" noProof="0" dirty="0">
                  <a:effectLst/>
                </a:endParaRPr>
              </a:p>
              <a:p>
                <a:pPr lvl="1">
                  <a:lnSpc>
                    <a:spcPct val="150000"/>
                  </a:lnSpc>
                  <a:spcBef>
                    <a:spcPts val="0"/>
                  </a:spcBef>
                </a:pPr>
                <a:r>
                  <a:rPr lang="en-GB" sz="800" dirty="0"/>
                  <a:t>The . operation </a:t>
                </a:r>
                <a14:m>
                  <m:oMath xmlns:m="http://schemas.openxmlformats.org/officeDocument/2006/math">
                    <m:sSub>
                      <m:sSubPr>
                        <m:ctrlPr>
                          <a:rPr lang="en-GB" sz="800" i="1">
                            <a:latin typeface="Cambria Math" panose="02040503050406030204" pitchFamily="18" charset="0"/>
                          </a:rPr>
                        </m:ctrlPr>
                      </m:sSubPr>
                      <m:e>
                        <m:r>
                          <a:rPr lang="en-GB" sz="800" i="1">
                            <a:latin typeface="Cambria Math" panose="02040503050406030204" pitchFamily="18" charset="0"/>
                          </a:rPr>
                          <m:t>𝑐</m:t>
                        </m:r>
                      </m:e>
                      <m:sub>
                        <m:r>
                          <a:rPr lang="fr-FR" sz="800" b="0" i="1" smtClean="0">
                            <a:latin typeface="Cambria Math" panose="02040503050406030204" pitchFamily="18" charset="0"/>
                          </a:rPr>
                          <m:t>𝑛𝑒𝑔</m:t>
                        </m:r>
                      </m:sub>
                    </m:sSub>
                    <m:r>
                      <a:rPr lang="en-GB" sz="800" i="1">
                        <a:latin typeface="Cambria Math" panose="02040503050406030204" pitchFamily="18" charset="0"/>
                      </a:rPr>
                      <m:t> . </m:t>
                    </m:r>
                    <m:r>
                      <a:rPr lang="en-GB" sz="800" i="1">
                        <a:latin typeface="Cambria Math" panose="02040503050406030204" pitchFamily="18" charset="0"/>
                      </a:rPr>
                      <m:t>𝑤</m:t>
                    </m:r>
                    <m:r>
                      <a:rPr lang="en-GB" sz="800" i="1">
                        <a:latin typeface="Cambria Math" panose="02040503050406030204" pitchFamily="18" charset="0"/>
                      </a:rPr>
                      <m:t> </m:t>
                    </m:r>
                  </m:oMath>
                </a14:m>
                <a:r>
                  <a:rPr lang="en-GB" sz="800" dirty="0"/>
                  <a:t>is a dot product to measure similarity between the two embeddings </a:t>
                </a:r>
                <a14:m>
                  <m:oMath xmlns:m="http://schemas.openxmlformats.org/officeDocument/2006/math">
                    <m:sSub>
                      <m:sSubPr>
                        <m:ctrlPr>
                          <a:rPr lang="en-GB" sz="800" i="1">
                            <a:latin typeface="Cambria Math" panose="02040503050406030204" pitchFamily="18" charset="0"/>
                          </a:rPr>
                        </m:ctrlPr>
                      </m:sSubPr>
                      <m:e>
                        <m:r>
                          <a:rPr lang="fr-FR" sz="800" b="0" i="1" smtClean="0">
                            <a:latin typeface="Cambria Math" panose="02040503050406030204" pitchFamily="18" charset="0"/>
                          </a:rPr>
                          <m:t>(</m:t>
                        </m:r>
                        <m:r>
                          <a:rPr lang="en-GB" sz="800" i="1">
                            <a:latin typeface="Cambria Math" panose="02040503050406030204" pitchFamily="18" charset="0"/>
                          </a:rPr>
                          <m:t>𝑐</m:t>
                        </m:r>
                      </m:e>
                      <m:sub>
                        <m:r>
                          <a:rPr lang="fr-FR" sz="800" b="0" i="1" smtClean="0">
                            <a:latin typeface="Cambria Math" panose="02040503050406030204" pitchFamily="18" charset="0"/>
                          </a:rPr>
                          <m:t>𝑛𝑒𝑔</m:t>
                        </m:r>
                      </m:sub>
                    </m:sSub>
                    <m:r>
                      <a:rPr lang="en-GB" sz="800" i="1">
                        <a:latin typeface="Cambria Math" panose="02040503050406030204" pitchFamily="18" charset="0"/>
                      </a:rPr>
                      <m:t> . </m:t>
                    </m:r>
                    <m:r>
                      <a:rPr lang="en-GB" sz="800" i="1">
                        <a:latin typeface="Cambria Math" panose="02040503050406030204" pitchFamily="18" charset="0"/>
                      </a:rPr>
                      <m:t>𝑤</m:t>
                    </m:r>
                    <m:r>
                      <a:rPr lang="en-GB" sz="800" i="1">
                        <a:latin typeface="Cambria Math" panose="02040503050406030204" pitchFamily="18" charset="0"/>
                      </a:rPr>
                      <m:t> )</m:t>
                    </m:r>
                  </m:oMath>
                </a14:m>
                <a:r>
                  <a:rPr lang="en-GB" sz="800" dirty="0"/>
                  <a:t>and </a:t>
                </a:r>
                <a14:m>
                  <m:oMath xmlns:m="http://schemas.openxmlformats.org/officeDocument/2006/math">
                    <m:r>
                      <a:rPr lang="fr-FR" sz="800" b="0" i="1" smtClean="0">
                        <a:latin typeface="Cambria Math" panose="02040503050406030204" pitchFamily="18" charset="0"/>
                      </a:rPr>
                      <m:t>𝜎</m:t>
                    </m:r>
                  </m:oMath>
                </a14:m>
                <a:r>
                  <a:rPr lang="en-GB" sz="800" noProof="0" dirty="0">
                    <a:effectLst/>
                  </a:rPr>
                  <a:t> is the sigmoid function</a:t>
                </a:r>
                <a:r>
                  <a:rPr lang="en-GB" sz="800" dirty="0"/>
                  <a:t> as we want a probability</a:t>
                </a:r>
              </a:p>
              <a:p>
                <a:pPr lvl="1">
                  <a:lnSpc>
                    <a:spcPct val="150000"/>
                  </a:lnSpc>
                  <a:spcBef>
                    <a:spcPts val="0"/>
                  </a:spcBef>
                </a:pPr>
                <a:r>
                  <a:rPr lang="en-GB" sz="800" dirty="0"/>
                  <a:t>If </a:t>
                </a:r>
                <a:r>
                  <a:rPr lang="en-GB" sz="800" noProof="0" dirty="0">
                    <a:effectLst/>
                  </a:rPr>
                  <a:t> </a:t>
                </a:r>
                <a14:m>
                  <m:oMath xmlns:m="http://schemas.openxmlformats.org/officeDocument/2006/math">
                    <m:sSub>
                      <m:sSubPr>
                        <m:ctrlPr>
                          <a:rPr lang="en-GB" sz="800" b="0" i="1" noProof="0" smtClean="0">
                            <a:effectLst/>
                            <a:latin typeface="Cambria Math" panose="02040503050406030204" pitchFamily="18" charset="0"/>
                          </a:rPr>
                        </m:ctrlPr>
                      </m:sSubPr>
                      <m:e>
                        <m:r>
                          <a:rPr lang="en-GB" sz="800" b="0" i="1" noProof="0" smtClean="0">
                            <a:effectLst/>
                            <a:latin typeface="Cambria Math" panose="02040503050406030204" pitchFamily="18" charset="0"/>
                          </a:rPr>
                          <m:t>𝑐</m:t>
                        </m:r>
                      </m:e>
                      <m:sub>
                        <m:r>
                          <a:rPr lang="fr-FR" sz="800" b="0" i="1" noProof="0" smtClean="0">
                            <a:effectLst/>
                            <a:latin typeface="Cambria Math" panose="02040503050406030204" pitchFamily="18" charset="0"/>
                          </a:rPr>
                          <m:t>𝑛𝑒𝑔</m:t>
                        </m:r>
                      </m:sub>
                    </m:sSub>
                    <m:r>
                      <a:rPr lang="en-GB" sz="800" b="0" i="1" noProof="0" smtClean="0">
                        <a:effectLst/>
                        <a:latin typeface="Cambria Math" panose="02040503050406030204" pitchFamily="18" charset="0"/>
                      </a:rPr>
                      <m:t> . </m:t>
                    </m:r>
                    <m:r>
                      <a:rPr lang="en-GB" sz="800" b="0" i="1" noProof="0" smtClean="0">
                        <a:effectLst/>
                        <a:latin typeface="Cambria Math" panose="02040503050406030204" pitchFamily="18" charset="0"/>
                      </a:rPr>
                      <m:t>𝑤</m:t>
                    </m:r>
                  </m:oMath>
                </a14:m>
                <a:r>
                  <a:rPr lang="en-GB" sz="800" noProof="0" dirty="0">
                    <a:effectLst/>
                  </a:rPr>
                  <a:t> is high, (which means that the negative word is similar to the target word), then </a:t>
                </a:r>
                <a14:m>
                  <m:oMath xmlns:m="http://schemas.openxmlformats.org/officeDocument/2006/math">
                    <m:sSub>
                      <m:sSubPr>
                        <m:ctrlPr>
                          <a:rPr lang="en-GB" sz="800" i="1">
                            <a:latin typeface="Cambria Math" panose="02040503050406030204" pitchFamily="18" charset="0"/>
                          </a:rPr>
                        </m:ctrlPr>
                      </m:sSubPr>
                      <m:e>
                        <m:r>
                          <a:rPr lang="fr-FR" sz="800" b="0" i="1" smtClean="0">
                            <a:latin typeface="Cambria Math" panose="02040503050406030204" pitchFamily="18" charset="0"/>
                          </a:rPr>
                          <m:t>−</m:t>
                        </m:r>
                        <m:r>
                          <a:rPr lang="en-GB" sz="800" i="1">
                            <a:latin typeface="Cambria Math" panose="02040503050406030204" pitchFamily="18" charset="0"/>
                          </a:rPr>
                          <m:t>𝑐</m:t>
                        </m:r>
                      </m:e>
                      <m:sub>
                        <m:r>
                          <a:rPr lang="fr-FR" sz="800" i="1">
                            <a:latin typeface="Cambria Math" panose="02040503050406030204" pitchFamily="18" charset="0"/>
                          </a:rPr>
                          <m:t>𝑛𝑒𝑔</m:t>
                        </m:r>
                      </m:sub>
                    </m:sSub>
                    <m:r>
                      <a:rPr lang="en-GB" sz="800" i="1">
                        <a:latin typeface="Cambria Math" panose="02040503050406030204" pitchFamily="18" charset="0"/>
                      </a:rPr>
                      <m:t> . </m:t>
                    </m:r>
                    <m:r>
                      <a:rPr lang="en-GB" sz="800" i="1">
                        <a:latin typeface="Cambria Math" panose="02040503050406030204" pitchFamily="18" charset="0"/>
                      </a:rPr>
                      <m:t>𝑤</m:t>
                    </m:r>
                  </m:oMath>
                </a14:m>
                <a:r>
                  <a:rPr lang="en-GB" sz="800" dirty="0"/>
                  <a:t> will be small (negative). The sigmoid of this small number will be close to zero, which mean that the model indicates that this negative word is not in the context of the target word</a:t>
                </a:r>
              </a:p>
              <a:p>
                <a:pPr lvl="1">
                  <a:lnSpc>
                    <a:spcPct val="150000"/>
                  </a:lnSpc>
                  <a:spcBef>
                    <a:spcPts val="0"/>
                  </a:spcBef>
                </a:pPr>
                <a:r>
                  <a:rPr lang="en-GB" sz="800" dirty="0"/>
                  <a:t>If  </a:t>
                </a:r>
                <a14:m>
                  <m:oMath xmlns:m="http://schemas.openxmlformats.org/officeDocument/2006/math">
                    <m:sSub>
                      <m:sSubPr>
                        <m:ctrlPr>
                          <a:rPr lang="en-GB" sz="800" i="1">
                            <a:latin typeface="Cambria Math" panose="02040503050406030204" pitchFamily="18" charset="0"/>
                          </a:rPr>
                        </m:ctrlPr>
                      </m:sSubPr>
                      <m:e>
                        <m:r>
                          <a:rPr lang="en-GB" sz="800" i="1">
                            <a:latin typeface="Cambria Math" panose="02040503050406030204" pitchFamily="18" charset="0"/>
                          </a:rPr>
                          <m:t>𝑐</m:t>
                        </m:r>
                      </m:e>
                      <m:sub>
                        <m:r>
                          <a:rPr lang="fr-FR" sz="800" i="1">
                            <a:latin typeface="Cambria Math" panose="02040503050406030204" pitchFamily="18" charset="0"/>
                          </a:rPr>
                          <m:t>𝑛𝑒𝑔</m:t>
                        </m:r>
                      </m:sub>
                    </m:sSub>
                    <m:r>
                      <a:rPr lang="en-GB" sz="800" i="1">
                        <a:latin typeface="Cambria Math" panose="02040503050406030204" pitchFamily="18" charset="0"/>
                      </a:rPr>
                      <m:t> . </m:t>
                    </m:r>
                    <m:r>
                      <a:rPr lang="en-GB" sz="800" i="1">
                        <a:latin typeface="Cambria Math" panose="02040503050406030204" pitchFamily="18" charset="0"/>
                      </a:rPr>
                      <m:t>𝑤</m:t>
                    </m:r>
                  </m:oMath>
                </a14:m>
                <a:r>
                  <a:rPr lang="en-GB" sz="800" dirty="0"/>
                  <a:t> is low (which means that the negative word is similar to the target word), then </a:t>
                </a:r>
                <a14:m>
                  <m:oMath xmlns:m="http://schemas.openxmlformats.org/officeDocument/2006/math">
                    <m:sSub>
                      <m:sSubPr>
                        <m:ctrlPr>
                          <a:rPr lang="en-GB" sz="800" i="1">
                            <a:latin typeface="Cambria Math" panose="02040503050406030204" pitchFamily="18" charset="0"/>
                          </a:rPr>
                        </m:ctrlPr>
                      </m:sSubPr>
                      <m:e>
                        <m:r>
                          <a:rPr lang="fr-FR" sz="800" i="1">
                            <a:latin typeface="Cambria Math" panose="02040503050406030204" pitchFamily="18" charset="0"/>
                          </a:rPr>
                          <m:t>−</m:t>
                        </m:r>
                        <m:r>
                          <a:rPr lang="en-GB" sz="800" i="1">
                            <a:latin typeface="Cambria Math" panose="02040503050406030204" pitchFamily="18" charset="0"/>
                          </a:rPr>
                          <m:t>𝑐</m:t>
                        </m:r>
                      </m:e>
                      <m:sub>
                        <m:r>
                          <a:rPr lang="fr-FR" sz="800" i="1">
                            <a:latin typeface="Cambria Math" panose="02040503050406030204" pitchFamily="18" charset="0"/>
                          </a:rPr>
                          <m:t>𝑛𝑒𝑔</m:t>
                        </m:r>
                      </m:sub>
                    </m:sSub>
                    <m:r>
                      <a:rPr lang="en-GB" sz="800" i="1">
                        <a:latin typeface="Cambria Math" panose="02040503050406030204" pitchFamily="18" charset="0"/>
                      </a:rPr>
                      <m:t> . </m:t>
                    </m:r>
                    <m:r>
                      <a:rPr lang="en-GB" sz="800" i="1">
                        <a:latin typeface="Cambria Math" panose="02040503050406030204" pitchFamily="18" charset="0"/>
                      </a:rPr>
                      <m:t>𝑤</m:t>
                    </m:r>
                  </m:oMath>
                </a14:m>
                <a:r>
                  <a:rPr lang="en-GB" sz="800" dirty="0"/>
                  <a:t> will be high (positive). The sigmoid of this high number will be close to one, which mean that the model indicates that this negative word is correctly identified as negative</a:t>
                </a:r>
              </a:p>
            </p:txBody>
          </p:sp>
        </mc:Choice>
        <mc:Fallback xmlns="">
          <p:sp>
            <p:nvSpPr>
              <p:cNvPr id="3" name="Espace réservé du contenu 2">
                <a:extLst>
                  <a:ext uri="{FF2B5EF4-FFF2-40B4-BE49-F238E27FC236}">
                    <a16:creationId xmlns:a16="http://schemas.microsoft.com/office/drawing/2014/main" id="{7272214E-95C9-5495-B2CA-8798B6C6D152}"/>
                  </a:ext>
                </a:extLst>
              </p:cNvPr>
              <p:cNvSpPr>
                <a:spLocks noGrp="1" noRot="1" noChangeAspect="1" noMove="1" noResize="1" noEditPoints="1" noAdjustHandles="1" noChangeArrowheads="1" noChangeShapeType="1" noTextEdit="1"/>
              </p:cNvSpPr>
              <p:nvPr>
                <p:ph idx="1"/>
              </p:nvPr>
            </p:nvSpPr>
            <p:spPr>
              <a:xfrm>
                <a:off x="838200" y="1541645"/>
                <a:ext cx="11353800" cy="4682174"/>
              </a:xfrm>
              <a:blipFill>
                <a:blip r:embed="rId2"/>
                <a:stretch>
                  <a:fillRect l="-670" t="-1351"/>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4BC29333-9D27-2B17-7541-1A71A21338F6}"/>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4464059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C7F88-A2F0-696A-FCF3-6A7656B6BDA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609AA5E-6C02-DF16-7DD3-07C994EC6B29}"/>
              </a:ext>
            </a:extLst>
          </p:cNvPr>
          <p:cNvSpPr>
            <a:spLocks noGrp="1"/>
          </p:cNvSpPr>
          <p:nvPr>
            <p:ph type="title"/>
          </p:nvPr>
        </p:nvSpPr>
        <p:spPr/>
        <p:txBody>
          <a:bodyPr/>
          <a:lstStyle/>
          <a:p>
            <a:r>
              <a:rPr lang="en-GB" dirty="0"/>
              <a:t>Word Vectors</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FE0A4ECB-73D5-13C6-E13F-E16C67E7C12F}"/>
                  </a:ext>
                </a:extLst>
              </p:cNvPr>
              <p:cNvSpPr>
                <a:spLocks noGrp="1"/>
              </p:cNvSpPr>
              <p:nvPr>
                <p:ph idx="1"/>
              </p:nvPr>
            </p:nvSpPr>
            <p:spPr>
              <a:xfrm>
                <a:off x="838200" y="1541644"/>
                <a:ext cx="11353800" cy="4951231"/>
              </a:xfrm>
            </p:spPr>
            <p:txBody>
              <a:bodyPr lIns="90000">
                <a:noAutofit/>
              </a:bodyPr>
              <a:lstStyle/>
              <a:p>
                <a:pPr marL="0" indent="0">
                  <a:buNone/>
                </a:pPr>
                <a:r>
                  <a:rPr lang="en-GB" sz="2000" b="1" noProof="0" dirty="0">
                    <a:effectLst/>
                  </a:rPr>
                  <a:t>Word2vec</a:t>
                </a:r>
              </a:p>
              <a:p>
                <a:pPr marL="0" indent="0">
                  <a:buNone/>
                </a:pPr>
                <a:r>
                  <a:rPr lang="en-GB" sz="1200" b="1" noProof="0" dirty="0">
                    <a:effectLst/>
                  </a:rPr>
                  <a:t>Learn dense representations that capture word relationships</a:t>
                </a:r>
              </a:p>
              <a:p>
                <a:pPr marL="0" indent="0">
                  <a:lnSpc>
                    <a:spcPct val="100000"/>
                  </a:lnSpc>
                  <a:spcBef>
                    <a:spcPts val="0"/>
                  </a:spcBef>
                  <a:buNone/>
                </a:pPr>
                <a:endParaRPr lang="en-GB" sz="1200" noProof="0" dirty="0">
                  <a:effectLst/>
                </a:endParaRPr>
              </a:p>
              <a:p>
                <a:pPr marL="0" indent="0">
                  <a:lnSpc>
                    <a:spcPct val="150000"/>
                  </a:lnSpc>
                  <a:spcBef>
                    <a:spcPts val="0"/>
                  </a:spcBef>
                  <a:buNone/>
                </a:pPr>
                <a:r>
                  <a:rPr lang="en-GB" sz="1200" b="1" noProof="0" dirty="0">
                    <a:effectLst/>
                  </a:rPr>
                  <a:t>Skip-Gram with Negative Sampling (SGNS)</a:t>
                </a:r>
              </a:p>
              <a:p>
                <a:pPr marL="0" indent="0">
                  <a:lnSpc>
                    <a:spcPct val="150000"/>
                  </a:lnSpc>
                  <a:spcBef>
                    <a:spcPts val="0"/>
                  </a:spcBef>
                  <a:buNone/>
                </a:pPr>
                <a:r>
                  <a:rPr lang="en-GB" sz="1200" noProof="0" dirty="0">
                    <a:effectLst/>
                  </a:rPr>
                  <a:t>Training proceeds as follow. </a:t>
                </a:r>
              </a:p>
              <a:p>
                <a:pPr>
                  <a:lnSpc>
                    <a:spcPct val="150000"/>
                  </a:lnSpc>
                  <a:spcBef>
                    <a:spcPts val="0"/>
                  </a:spcBef>
                </a:pPr>
                <a:r>
                  <a:rPr lang="en-GB" sz="1200" dirty="0"/>
                  <a:t>The training process should arrive at vectors which maximize these two probabilities</a:t>
                </a:r>
                <a14:m>
                  <m:oMath xmlns:m="http://schemas.openxmlformats.org/officeDocument/2006/math">
                    <m:r>
                      <a:rPr lang="en-GB" sz="1200" b="0" i="0" noProof="0" smtClean="0">
                        <a:effectLst/>
                        <a:latin typeface="Cambria Math" panose="02040503050406030204" pitchFamily="18" charset="0"/>
                      </a:rPr>
                      <m:t> </m:t>
                    </m:r>
                    <m:r>
                      <m:rPr>
                        <m:sty m:val="p"/>
                      </m:rPr>
                      <a:rPr lang="en-GB" sz="1200" b="0" i="0" noProof="0" smtClean="0">
                        <a:effectLst/>
                        <a:latin typeface="Cambria Math" panose="02040503050406030204" pitchFamily="18" charset="0"/>
                      </a:rPr>
                      <m:t>P</m:t>
                    </m:r>
                    <m:d>
                      <m:dPr>
                        <m:endChr m:val="|"/>
                        <m:ctrlPr>
                          <a:rPr lang="en-GB" sz="1200" b="0" i="1" noProof="0" smtClean="0">
                            <a:effectLst/>
                            <a:latin typeface="Cambria Math" panose="02040503050406030204" pitchFamily="18" charset="0"/>
                          </a:rPr>
                        </m:ctrlPr>
                      </m:dPr>
                      <m:e>
                        <m:r>
                          <a:rPr lang="en-GB" sz="1200" b="0" i="0" noProof="0" smtClean="0">
                            <a:effectLst/>
                            <a:latin typeface="Cambria Math" panose="02040503050406030204" pitchFamily="18" charset="0"/>
                          </a:rPr>
                          <m:t>+</m:t>
                        </m:r>
                      </m:e>
                    </m:d>
                    <m:r>
                      <a:rPr lang="en-GB" sz="1200" b="0" i="0" noProof="0" smtClean="0">
                        <a:effectLst/>
                        <a:latin typeface="Cambria Math" panose="02040503050406030204" pitchFamily="18" charset="0"/>
                      </a:rPr>
                      <m:t> </m:t>
                    </m:r>
                    <m:sSub>
                      <m:sSubPr>
                        <m:ctrlPr>
                          <a:rPr lang="en-GB" sz="1200" b="0" i="1" noProof="0" smtClean="0">
                            <a:effectLst/>
                            <a:latin typeface="Cambria Math" panose="02040503050406030204" pitchFamily="18" charset="0"/>
                          </a:rPr>
                        </m:ctrlPr>
                      </m:sSubPr>
                      <m:e>
                        <m:r>
                          <a:rPr lang="en-GB" sz="1200" b="0" i="1" noProof="0" smtClean="0">
                            <a:effectLst/>
                            <a:latin typeface="Cambria Math" panose="02040503050406030204" pitchFamily="18" charset="0"/>
                          </a:rPr>
                          <m:t>𝑐</m:t>
                        </m:r>
                      </m:e>
                      <m:sub>
                        <m:r>
                          <a:rPr lang="en-GB" sz="1200" b="0" i="1" noProof="0" smtClean="0">
                            <a:effectLst/>
                            <a:latin typeface="Cambria Math" panose="02040503050406030204" pitchFamily="18" charset="0"/>
                          </a:rPr>
                          <m:t>𝑝𝑜𝑠</m:t>
                        </m:r>
                      </m:sub>
                    </m:sSub>
                    <m:r>
                      <a:rPr lang="en-GB" sz="1200" b="0" i="1" noProof="0" smtClean="0">
                        <a:effectLst/>
                        <a:latin typeface="Cambria Math" panose="02040503050406030204" pitchFamily="18" charset="0"/>
                      </a:rPr>
                      <m:t>, </m:t>
                    </m:r>
                    <m:r>
                      <a:rPr lang="en-GB" sz="1200" b="0" i="1" noProof="0" smtClean="0">
                        <a:effectLst/>
                        <a:latin typeface="Cambria Math" panose="02040503050406030204" pitchFamily="18" charset="0"/>
                      </a:rPr>
                      <m:t>𝑤</m:t>
                    </m:r>
                    <m:r>
                      <a:rPr lang="en-GB" sz="1200" b="0" i="1" noProof="0" smtClean="0">
                        <a:effectLst/>
                        <a:latin typeface="Cambria Math" panose="02040503050406030204" pitchFamily="18" charset="0"/>
                      </a:rPr>
                      <m:t>)</m:t>
                    </m:r>
                  </m:oMath>
                </a14:m>
                <a:r>
                  <a:rPr lang="en-GB" sz="1200" dirty="0"/>
                  <a:t> and </a:t>
                </a:r>
                <a14:m>
                  <m:oMath xmlns:m="http://schemas.openxmlformats.org/officeDocument/2006/math">
                    <m:r>
                      <m:rPr>
                        <m:sty m:val="p"/>
                      </m:rPr>
                      <a:rPr lang="en-GB" sz="1200">
                        <a:latin typeface="Cambria Math" panose="02040503050406030204" pitchFamily="18" charset="0"/>
                      </a:rPr>
                      <m:t>P</m:t>
                    </m:r>
                    <m:d>
                      <m:dPr>
                        <m:endChr m:val="|"/>
                        <m:ctrlPr>
                          <a:rPr lang="en-GB" sz="1200" i="1">
                            <a:latin typeface="Cambria Math" panose="02040503050406030204" pitchFamily="18" charset="0"/>
                          </a:rPr>
                        </m:ctrlPr>
                      </m:dPr>
                      <m:e>
                        <m:r>
                          <a:rPr lang="en-GB" sz="1200" i="1" smtClean="0">
                            <a:latin typeface="Cambria Math" panose="02040503050406030204" pitchFamily="18" charset="0"/>
                          </a:rPr>
                          <m:t>−</m:t>
                        </m:r>
                      </m:e>
                    </m:d>
                    <m:r>
                      <a:rPr lang="en-GB" sz="1200">
                        <a:latin typeface="Cambria Math" panose="02040503050406030204" pitchFamily="18" charset="0"/>
                      </a:rPr>
                      <m:t> </m:t>
                    </m:r>
                    <m:sSub>
                      <m:sSubPr>
                        <m:ctrlPr>
                          <a:rPr lang="en-GB" sz="1200" i="1">
                            <a:latin typeface="Cambria Math" panose="02040503050406030204" pitchFamily="18" charset="0"/>
                          </a:rPr>
                        </m:ctrlPr>
                      </m:sSubPr>
                      <m:e>
                        <m:r>
                          <a:rPr lang="en-GB" sz="1200" i="1">
                            <a:latin typeface="Cambria Math" panose="02040503050406030204" pitchFamily="18" charset="0"/>
                          </a:rPr>
                          <m:t>𝑐</m:t>
                        </m:r>
                      </m:e>
                      <m:sub>
                        <m:r>
                          <a:rPr lang="en-GB" sz="1200" i="1" smtClean="0">
                            <a:latin typeface="Cambria Math" panose="02040503050406030204" pitchFamily="18" charset="0"/>
                          </a:rPr>
                          <m:t>𝑛𝑒𝑔</m:t>
                        </m:r>
                      </m:sub>
                    </m:sSub>
                    <m:r>
                      <a:rPr lang="en-GB" sz="1200" i="1">
                        <a:latin typeface="Cambria Math" panose="02040503050406030204" pitchFamily="18" charset="0"/>
                      </a:rPr>
                      <m:t>, </m:t>
                    </m:r>
                    <m:r>
                      <a:rPr lang="en-GB" sz="1200" i="1">
                        <a:latin typeface="Cambria Math" panose="02040503050406030204" pitchFamily="18" charset="0"/>
                      </a:rPr>
                      <m:t>𝑤</m:t>
                    </m:r>
                    <m:r>
                      <a:rPr lang="en-GB" sz="1200" i="1">
                        <a:latin typeface="Cambria Math" panose="02040503050406030204" pitchFamily="18" charset="0"/>
                      </a:rPr>
                      <m:t>)</m:t>
                    </m:r>
                  </m:oMath>
                </a14:m>
                <a:r>
                  <a:rPr lang="en-GB" sz="1200" dirty="0"/>
                  <a:t> to that end this is the loss function:</a:t>
                </a:r>
              </a:p>
              <a:p>
                <a:pPr lvl="1">
                  <a:lnSpc>
                    <a:spcPct val="150000"/>
                  </a:lnSpc>
                  <a:spcBef>
                    <a:spcPts val="0"/>
                  </a:spcBef>
                </a:pPr>
                <a14:m>
                  <m:oMath xmlns:m="http://schemas.openxmlformats.org/officeDocument/2006/math">
                    <m:r>
                      <a:rPr lang="en-GB" sz="800" b="0" i="1" smtClean="0">
                        <a:latin typeface="Cambria Math" panose="02040503050406030204" pitchFamily="18" charset="0"/>
                      </a:rPr>
                      <m:t>𝐿</m:t>
                    </m:r>
                    <m:r>
                      <a:rPr lang="en-GB" sz="800" b="0" i="1" smtClean="0">
                        <a:latin typeface="Cambria Math" panose="02040503050406030204" pitchFamily="18" charset="0"/>
                      </a:rPr>
                      <m:t>=−[</m:t>
                    </m:r>
                    <m:r>
                      <a:rPr lang="en-GB" sz="800" b="0" i="1" smtClean="0">
                        <a:latin typeface="Cambria Math" panose="02040503050406030204" pitchFamily="18" charset="0"/>
                      </a:rPr>
                      <m:t>𝑙𝑜𝑔𝑃</m:t>
                    </m:r>
                    <m:d>
                      <m:dPr>
                        <m:ctrlPr>
                          <a:rPr lang="en-GB" sz="800" b="0" i="1" smtClean="0">
                            <a:latin typeface="Cambria Math" panose="02040503050406030204" pitchFamily="18" charset="0"/>
                          </a:rPr>
                        </m:ctrlPr>
                      </m:dPr>
                      <m:e>
                        <m:r>
                          <a:rPr lang="en-GB" sz="800" b="0" i="1" smtClean="0">
                            <a:latin typeface="Cambria Math" panose="02040503050406030204" pitchFamily="18" charset="0"/>
                          </a:rPr>
                          <m:t>+</m:t>
                        </m:r>
                      </m:e>
                      <m:e>
                        <m:sSub>
                          <m:sSubPr>
                            <m:ctrlPr>
                              <a:rPr lang="en-GB" sz="800" b="0" i="1" smtClean="0">
                                <a:latin typeface="Cambria Math" panose="02040503050406030204" pitchFamily="18" charset="0"/>
                              </a:rPr>
                            </m:ctrlPr>
                          </m:sSubPr>
                          <m:e>
                            <m:r>
                              <a:rPr lang="en-GB" sz="800" b="0" i="1" smtClean="0">
                                <a:latin typeface="Cambria Math" panose="02040503050406030204" pitchFamily="18" charset="0"/>
                              </a:rPr>
                              <m:t>𝑐</m:t>
                            </m:r>
                          </m:e>
                          <m:sub>
                            <m:r>
                              <a:rPr lang="en-GB" sz="800" b="0" i="1" smtClean="0">
                                <a:latin typeface="Cambria Math" panose="02040503050406030204" pitchFamily="18" charset="0"/>
                              </a:rPr>
                              <m:t>𝑝𝑜𝑠</m:t>
                            </m:r>
                          </m:sub>
                        </m:sSub>
                        <m:r>
                          <a:rPr lang="en-GB" sz="800" b="0" i="1" smtClean="0">
                            <a:latin typeface="Cambria Math" panose="02040503050406030204" pitchFamily="18" charset="0"/>
                          </a:rPr>
                          <m:t>,</m:t>
                        </m:r>
                        <m:r>
                          <a:rPr lang="en-GB" sz="800" b="0" i="1" smtClean="0">
                            <a:latin typeface="Cambria Math" panose="02040503050406030204" pitchFamily="18" charset="0"/>
                          </a:rPr>
                          <m:t>𝑤</m:t>
                        </m:r>
                      </m:e>
                    </m:d>
                    <m:r>
                      <a:rPr lang="en-GB" sz="800" b="0" i="1" smtClean="0">
                        <a:latin typeface="Cambria Math" panose="02040503050406030204" pitchFamily="18" charset="0"/>
                      </a:rPr>
                      <m:t>+</m:t>
                    </m:r>
                    <m:sSubSup>
                      <m:sSubSupPr>
                        <m:ctrlPr>
                          <a:rPr lang="en-GB" sz="800" b="0" i="1" smtClean="0">
                            <a:latin typeface="Cambria Math" panose="02040503050406030204" pitchFamily="18" charset="0"/>
                          </a:rPr>
                        </m:ctrlPr>
                      </m:sSubSupPr>
                      <m:e>
                        <m:r>
                          <m:rPr>
                            <m:sty m:val="p"/>
                          </m:rPr>
                          <a:rPr lang="en-GB" sz="800" b="0" i="0" smtClean="0">
                            <a:latin typeface="Cambria Math" panose="02040503050406030204" pitchFamily="18" charset="0"/>
                          </a:rPr>
                          <m:t>Σ</m:t>
                        </m:r>
                      </m:e>
                      <m:sub>
                        <m:r>
                          <a:rPr lang="en-GB" sz="800" b="0" i="1" smtClean="0">
                            <a:latin typeface="Cambria Math" panose="02040503050406030204" pitchFamily="18" charset="0"/>
                          </a:rPr>
                          <m:t>𝑖</m:t>
                        </m:r>
                      </m:sub>
                      <m:sup>
                        <m:r>
                          <a:rPr lang="en-GB" sz="800" b="0" i="1" smtClean="0">
                            <a:latin typeface="Cambria Math" panose="02040503050406030204" pitchFamily="18" charset="0"/>
                          </a:rPr>
                          <m:t>𝑘</m:t>
                        </m:r>
                      </m:sup>
                    </m:sSubSup>
                    <m:r>
                      <a:rPr lang="en-GB" sz="800" b="0" i="1" smtClean="0">
                        <a:latin typeface="Cambria Math" panose="02040503050406030204" pitchFamily="18" charset="0"/>
                      </a:rPr>
                      <m:t>𝑙𝑜𝑔𝑃</m:t>
                    </m:r>
                    <m:r>
                      <a:rPr lang="en-GB" sz="800" b="0" i="1" smtClean="0">
                        <a:latin typeface="Cambria Math" panose="02040503050406030204" pitchFamily="18" charset="0"/>
                      </a:rPr>
                      <m:t>(−|</m:t>
                    </m:r>
                    <m:sSub>
                      <m:sSubPr>
                        <m:ctrlPr>
                          <a:rPr lang="en-GB" sz="800" b="0" i="1" smtClean="0">
                            <a:latin typeface="Cambria Math" panose="02040503050406030204" pitchFamily="18" charset="0"/>
                          </a:rPr>
                        </m:ctrlPr>
                      </m:sSubPr>
                      <m:e>
                        <m:sSub>
                          <m:sSubPr>
                            <m:ctrlPr>
                              <a:rPr lang="en-GB" sz="800" b="0" i="1" smtClean="0">
                                <a:latin typeface="Cambria Math" panose="02040503050406030204" pitchFamily="18" charset="0"/>
                              </a:rPr>
                            </m:ctrlPr>
                          </m:sSubPr>
                          <m:e>
                            <m:r>
                              <a:rPr lang="en-GB" sz="800" b="0" i="1" smtClean="0">
                                <a:latin typeface="Cambria Math" panose="02040503050406030204" pitchFamily="18" charset="0"/>
                              </a:rPr>
                              <m:t>𝑐</m:t>
                            </m:r>
                          </m:e>
                          <m:sub>
                            <m:r>
                              <a:rPr lang="en-GB" sz="800" b="0" i="1" smtClean="0">
                                <a:latin typeface="Cambria Math" panose="02040503050406030204" pitchFamily="18" charset="0"/>
                              </a:rPr>
                              <m:t>𝑛𝑒𝑔</m:t>
                            </m:r>
                          </m:sub>
                        </m:sSub>
                      </m:e>
                      <m:sub>
                        <m:r>
                          <a:rPr lang="en-GB" sz="800" b="0" i="1" smtClean="0">
                            <a:latin typeface="Cambria Math" panose="02040503050406030204" pitchFamily="18" charset="0"/>
                          </a:rPr>
                          <m:t>𝑖</m:t>
                        </m:r>
                      </m:sub>
                    </m:sSub>
                    <m:r>
                      <a:rPr lang="en-GB" sz="800" b="0" i="1" smtClean="0">
                        <a:latin typeface="Cambria Math" panose="02040503050406030204" pitchFamily="18" charset="0"/>
                      </a:rPr>
                      <m:t>,</m:t>
                    </m:r>
                    <m:r>
                      <a:rPr lang="en-GB" sz="800" b="0" i="1" smtClean="0">
                        <a:latin typeface="Cambria Math" panose="02040503050406030204" pitchFamily="18" charset="0"/>
                      </a:rPr>
                      <m:t>𝑤</m:t>
                    </m:r>
                    <m:r>
                      <a:rPr lang="en-GB" sz="800" b="0" i="1" smtClean="0">
                        <a:latin typeface="Cambria Math" panose="02040503050406030204" pitchFamily="18" charset="0"/>
                      </a:rPr>
                      <m:t>)]</m:t>
                    </m:r>
                  </m:oMath>
                </a14:m>
                <a:r>
                  <a:rPr lang="en-GB" sz="800" dirty="0"/>
                  <a:t> = </a:t>
                </a:r>
                <a14:m>
                  <m:oMath xmlns:m="http://schemas.openxmlformats.org/officeDocument/2006/math">
                    <m:r>
                      <a:rPr lang="en-GB" sz="800" i="1" smtClean="0">
                        <a:latin typeface="Cambria Math" panose="02040503050406030204" pitchFamily="18" charset="0"/>
                      </a:rPr>
                      <m:t>−[+</m:t>
                    </m:r>
                    <m:r>
                      <a:rPr lang="en-GB" sz="800" i="1" smtClean="0">
                        <a:latin typeface="Cambria Math" panose="02040503050406030204" pitchFamily="18" charset="0"/>
                      </a:rPr>
                      <m:t>𝑙𝑜𝑔</m:t>
                    </m:r>
                    <m:r>
                      <a:rPr lang="en-GB" sz="800" i="1">
                        <a:latin typeface="Cambria Math" panose="02040503050406030204" pitchFamily="18" charset="0"/>
                      </a:rPr>
                      <m:t>𝜎</m:t>
                    </m:r>
                    <m:d>
                      <m:dPr>
                        <m:ctrlPr>
                          <a:rPr lang="en-GB" sz="800" i="1">
                            <a:latin typeface="Cambria Math" panose="02040503050406030204" pitchFamily="18" charset="0"/>
                          </a:rPr>
                        </m:ctrlPr>
                      </m:dPr>
                      <m:e>
                        <m:sSub>
                          <m:sSubPr>
                            <m:ctrlPr>
                              <a:rPr lang="en-GB" sz="800" i="1">
                                <a:latin typeface="Cambria Math" panose="02040503050406030204" pitchFamily="18" charset="0"/>
                              </a:rPr>
                            </m:ctrlPr>
                          </m:sSubPr>
                          <m:e>
                            <m:r>
                              <a:rPr lang="en-GB" sz="800" i="1">
                                <a:latin typeface="Cambria Math" panose="02040503050406030204" pitchFamily="18" charset="0"/>
                              </a:rPr>
                              <m:t>𝑐</m:t>
                            </m:r>
                          </m:e>
                          <m:sub>
                            <m:r>
                              <a:rPr lang="en-GB" sz="800" i="1">
                                <a:latin typeface="Cambria Math" panose="02040503050406030204" pitchFamily="18" charset="0"/>
                              </a:rPr>
                              <m:t>𝑝𝑜𝑠</m:t>
                            </m:r>
                          </m:sub>
                        </m:sSub>
                        <m:r>
                          <a:rPr lang="en-GB" sz="800" i="1">
                            <a:latin typeface="Cambria Math" panose="02040503050406030204" pitchFamily="18" charset="0"/>
                          </a:rPr>
                          <m:t> . </m:t>
                        </m:r>
                        <m:r>
                          <a:rPr lang="en-GB" sz="800" i="1">
                            <a:latin typeface="Cambria Math" panose="02040503050406030204" pitchFamily="18" charset="0"/>
                          </a:rPr>
                          <m:t>𝑤</m:t>
                        </m:r>
                      </m:e>
                    </m:d>
                    <m:r>
                      <a:rPr lang="en-GB" sz="800" b="0" i="1" smtClean="0">
                        <a:latin typeface="Cambria Math" panose="02040503050406030204" pitchFamily="18" charset="0"/>
                      </a:rPr>
                      <m:t>+ </m:t>
                    </m:r>
                    <m:sSubSup>
                      <m:sSubSupPr>
                        <m:ctrlPr>
                          <a:rPr lang="en-GB" sz="800" i="1" smtClean="0">
                            <a:latin typeface="Cambria Math" panose="02040503050406030204" pitchFamily="18" charset="0"/>
                          </a:rPr>
                        </m:ctrlPr>
                      </m:sSubSupPr>
                      <m:e>
                        <m:r>
                          <m:rPr>
                            <m:sty m:val="p"/>
                          </m:rPr>
                          <a:rPr lang="en-GB" sz="800" smtClean="0">
                            <a:latin typeface="Cambria Math" panose="02040503050406030204" pitchFamily="18" charset="0"/>
                          </a:rPr>
                          <m:t>Σ</m:t>
                        </m:r>
                      </m:e>
                      <m:sub>
                        <m:r>
                          <a:rPr lang="en-GB" sz="800" i="1" smtClean="0">
                            <a:latin typeface="Cambria Math" panose="02040503050406030204" pitchFamily="18" charset="0"/>
                          </a:rPr>
                          <m:t>𝑖</m:t>
                        </m:r>
                      </m:sub>
                      <m:sup>
                        <m:r>
                          <a:rPr lang="en-GB" sz="800" i="1" smtClean="0">
                            <a:latin typeface="Cambria Math" panose="02040503050406030204" pitchFamily="18" charset="0"/>
                          </a:rPr>
                          <m:t>𝑘</m:t>
                        </m:r>
                      </m:sup>
                    </m:sSubSup>
                    <m:r>
                      <a:rPr lang="en-GB" sz="800" i="1" smtClean="0">
                        <a:latin typeface="Cambria Math" panose="02040503050406030204" pitchFamily="18" charset="0"/>
                      </a:rPr>
                      <m:t>𝑙𝑜𝑔</m:t>
                    </m:r>
                    <m:r>
                      <m:rPr>
                        <m:sty m:val="p"/>
                      </m:rPr>
                      <a:rPr lang="en-GB" sz="800">
                        <a:latin typeface="Cambria Math" panose="02040503050406030204" pitchFamily="18" charset="0"/>
                      </a:rPr>
                      <m:t>P</m:t>
                    </m:r>
                    <m:d>
                      <m:dPr>
                        <m:endChr m:val="|"/>
                        <m:ctrlPr>
                          <a:rPr lang="en-GB" sz="800" i="1">
                            <a:latin typeface="Cambria Math" panose="02040503050406030204" pitchFamily="18" charset="0"/>
                          </a:rPr>
                        </m:ctrlPr>
                      </m:dPr>
                      <m:e>
                        <m:r>
                          <a:rPr lang="en-GB" sz="800" i="1" smtClean="0">
                            <a:latin typeface="Cambria Math" panose="02040503050406030204" pitchFamily="18" charset="0"/>
                          </a:rPr>
                          <m:t>−</m:t>
                        </m:r>
                      </m:e>
                    </m:d>
                    <m:r>
                      <a:rPr lang="en-GB" sz="800">
                        <a:latin typeface="Cambria Math" panose="02040503050406030204" pitchFamily="18" charset="0"/>
                      </a:rPr>
                      <m:t> </m:t>
                    </m:r>
                    <m:sSub>
                      <m:sSubPr>
                        <m:ctrlPr>
                          <a:rPr lang="en-GB" sz="800" i="1">
                            <a:latin typeface="Cambria Math" panose="02040503050406030204" pitchFamily="18" charset="0"/>
                          </a:rPr>
                        </m:ctrlPr>
                      </m:sSubPr>
                      <m:e>
                        <m:r>
                          <a:rPr lang="en-GB" sz="800" i="1">
                            <a:latin typeface="Cambria Math" panose="02040503050406030204" pitchFamily="18" charset="0"/>
                          </a:rPr>
                          <m:t>𝑐</m:t>
                        </m:r>
                      </m:e>
                      <m:sub>
                        <m:r>
                          <a:rPr lang="en-GB" sz="800" i="1" smtClean="0">
                            <a:latin typeface="Cambria Math" panose="02040503050406030204" pitchFamily="18" charset="0"/>
                          </a:rPr>
                          <m:t>𝑛𝑒𝑔</m:t>
                        </m:r>
                      </m:sub>
                    </m:sSub>
                    <m:r>
                      <a:rPr lang="en-GB" sz="800" i="1">
                        <a:latin typeface="Cambria Math" panose="02040503050406030204" pitchFamily="18" charset="0"/>
                      </a:rPr>
                      <m:t>, </m:t>
                    </m:r>
                    <m:r>
                      <a:rPr lang="en-GB" sz="800" i="1">
                        <a:latin typeface="Cambria Math" panose="02040503050406030204" pitchFamily="18" charset="0"/>
                      </a:rPr>
                      <m:t>𝑤</m:t>
                    </m:r>
                    <m:r>
                      <a:rPr lang="en-GB" sz="800" i="1">
                        <a:latin typeface="Cambria Math" panose="02040503050406030204" pitchFamily="18" charset="0"/>
                      </a:rPr>
                      <m:t>)]</m:t>
                    </m:r>
                  </m:oMath>
                </a14:m>
                <a:r>
                  <a:rPr lang="en-GB" sz="800" dirty="0"/>
                  <a:t> </a:t>
                </a:r>
              </a:p>
              <a:p>
                <a:pPr lvl="1">
                  <a:lnSpc>
                    <a:spcPct val="150000"/>
                  </a:lnSpc>
                  <a:spcBef>
                    <a:spcPts val="0"/>
                  </a:spcBef>
                </a:pPr>
                <a:r>
                  <a:rPr lang="en-GB" sz="800" dirty="0"/>
                  <a:t>In log space there is only one positive sample prediction (</a:t>
                </a:r>
                <a14:m>
                  <m:oMath xmlns:m="http://schemas.openxmlformats.org/officeDocument/2006/math">
                    <m:r>
                      <a:rPr lang="en-GB" sz="800" b="0" i="1" smtClean="0">
                        <a:latin typeface="Cambria Math" panose="02040503050406030204" pitchFamily="18" charset="0"/>
                      </a:rPr>
                      <m:t>𝑙𝑜𝑔𝑃</m:t>
                    </m:r>
                    <m:d>
                      <m:dPr>
                        <m:ctrlPr>
                          <a:rPr lang="en-GB" sz="800" b="0" i="1" smtClean="0">
                            <a:latin typeface="Cambria Math" panose="02040503050406030204" pitchFamily="18" charset="0"/>
                          </a:rPr>
                        </m:ctrlPr>
                      </m:dPr>
                      <m:e>
                        <m:r>
                          <a:rPr lang="en-GB" sz="800" b="0" i="1" smtClean="0">
                            <a:latin typeface="Cambria Math" panose="02040503050406030204" pitchFamily="18" charset="0"/>
                          </a:rPr>
                          <m:t>+</m:t>
                        </m:r>
                      </m:e>
                      <m:e>
                        <m:sSub>
                          <m:sSubPr>
                            <m:ctrlPr>
                              <a:rPr lang="en-GB" sz="800" b="0" i="1" smtClean="0">
                                <a:latin typeface="Cambria Math" panose="02040503050406030204" pitchFamily="18" charset="0"/>
                              </a:rPr>
                            </m:ctrlPr>
                          </m:sSubPr>
                          <m:e>
                            <m:r>
                              <a:rPr lang="en-GB" sz="800" b="0" i="1" smtClean="0">
                                <a:latin typeface="Cambria Math" panose="02040503050406030204" pitchFamily="18" charset="0"/>
                              </a:rPr>
                              <m:t>𝑐</m:t>
                            </m:r>
                          </m:e>
                          <m:sub>
                            <m:r>
                              <a:rPr lang="en-GB" sz="800" b="0" i="1" smtClean="0">
                                <a:latin typeface="Cambria Math" panose="02040503050406030204" pitchFamily="18" charset="0"/>
                              </a:rPr>
                              <m:t>𝑝𝑜𝑠</m:t>
                            </m:r>
                          </m:sub>
                        </m:sSub>
                        <m:r>
                          <a:rPr lang="en-GB" sz="800" b="0" i="1" smtClean="0">
                            <a:latin typeface="Cambria Math" panose="02040503050406030204" pitchFamily="18" charset="0"/>
                          </a:rPr>
                          <m:t>,</m:t>
                        </m:r>
                        <m:r>
                          <a:rPr lang="en-GB" sz="800" b="0" i="1" smtClean="0">
                            <a:latin typeface="Cambria Math" panose="02040503050406030204" pitchFamily="18" charset="0"/>
                          </a:rPr>
                          <m:t>𝑤</m:t>
                        </m:r>
                      </m:e>
                    </m:d>
                  </m:oMath>
                </a14:m>
                <a:r>
                  <a:rPr lang="en-GB" sz="800" dirty="0"/>
                  <a:t>), and one prediction for each negative sample (</a:t>
                </a:r>
                <a14:m>
                  <m:oMath xmlns:m="http://schemas.openxmlformats.org/officeDocument/2006/math">
                    <m:sSubSup>
                      <m:sSubSupPr>
                        <m:ctrlPr>
                          <a:rPr lang="en-GB" sz="800" i="1" smtClean="0">
                            <a:latin typeface="Cambria Math" panose="02040503050406030204" pitchFamily="18" charset="0"/>
                          </a:rPr>
                        </m:ctrlPr>
                      </m:sSubSupPr>
                      <m:e>
                        <m:r>
                          <m:rPr>
                            <m:sty m:val="p"/>
                          </m:rPr>
                          <a:rPr lang="en-GB" sz="800" smtClean="0">
                            <a:latin typeface="Cambria Math" panose="02040503050406030204" pitchFamily="18" charset="0"/>
                          </a:rPr>
                          <m:t>Σ</m:t>
                        </m:r>
                      </m:e>
                      <m:sub>
                        <m:r>
                          <a:rPr lang="en-GB" sz="800" i="1" smtClean="0">
                            <a:latin typeface="Cambria Math" panose="02040503050406030204" pitchFamily="18" charset="0"/>
                          </a:rPr>
                          <m:t>𝑖</m:t>
                        </m:r>
                      </m:sub>
                      <m:sup>
                        <m:r>
                          <a:rPr lang="en-GB" sz="800" i="1" smtClean="0">
                            <a:latin typeface="Cambria Math" panose="02040503050406030204" pitchFamily="18" charset="0"/>
                          </a:rPr>
                          <m:t>𝑘</m:t>
                        </m:r>
                      </m:sup>
                    </m:sSubSup>
                    <m:r>
                      <a:rPr lang="en-GB" sz="800" i="1" smtClean="0">
                        <a:latin typeface="Cambria Math" panose="02040503050406030204" pitchFamily="18" charset="0"/>
                      </a:rPr>
                      <m:t>𝑙𝑜𝑔𝑃</m:t>
                    </m:r>
                    <m:r>
                      <a:rPr lang="en-GB" sz="800" i="1" smtClean="0">
                        <a:latin typeface="Cambria Math" panose="02040503050406030204" pitchFamily="18" charset="0"/>
                      </a:rPr>
                      <m:t>(−|</m:t>
                    </m:r>
                    <m:sSub>
                      <m:sSubPr>
                        <m:ctrlPr>
                          <a:rPr lang="en-GB" sz="800" i="1" smtClean="0">
                            <a:latin typeface="Cambria Math" panose="02040503050406030204" pitchFamily="18" charset="0"/>
                          </a:rPr>
                        </m:ctrlPr>
                      </m:sSubPr>
                      <m:e>
                        <m:sSub>
                          <m:sSubPr>
                            <m:ctrlPr>
                              <a:rPr lang="en-GB" sz="800" i="1" smtClean="0">
                                <a:latin typeface="Cambria Math" panose="02040503050406030204" pitchFamily="18" charset="0"/>
                              </a:rPr>
                            </m:ctrlPr>
                          </m:sSubPr>
                          <m:e>
                            <m:r>
                              <a:rPr lang="en-GB" sz="800" i="1" smtClean="0">
                                <a:latin typeface="Cambria Math" panose="02040503050406030204" pitchFamily="18" charset="0"/>
                              </a:rPr>
                              <m:t>𝑐</m:t>
                            </m:r>
                          </m:e>
                          <m:sub>
                            <m:r>
                              <a:rPr lang="en-GB" sz="800" i="1" smtClean="0">
                                <a:latin typeface="Cambria Math" panose="02040503050406030204" pitchFamily="18" charset="0"/>
                              </a:rPr>
                              <m:t>𝑛𝑒𝑔</m:t>
                            </m:r>
                          </m:sub>
                        </m:sSub>
                      </m:e>
                      <m:sub>
                        <m:r>
                          <a:rPr lang="en-GB" sz="800" i="1" smtClean="0">
                            <a:latin typeface="Cambria Math" panose="02040503050406030204" pitchFamily="18" charset="0"/>
                          </a:rPr>
                          <m:t>𝑖</m:t>
                        </m:r>
                      </m:sub>
                    </m:sSub>
                    <m:r>
                      <a:rPr lang="en-GB" sz="800" i="1" smtClean="0">
                        <a:latin typeface="Cambria Math" panose="02040503050406030204" pitchFamily="18" charset="0"/>
                      </a:rPr>
                      <m:t>,</m:t>
                    </m:r>
                    <m:r>
                      <a:rPr lang="en-GB" sz="800" i="1" smtClean="0">
                        <a:latin typeface="Cambria Math" panose="02040503050406030204" pitchFamily="18" charset="0"/>
                      </a:rPr>
                      <m:t>𝑤</m:t>
                    </m:r>
                    <m:r>
                      <a:rPr lang="en-GB" sz="800" i="1" smtClean="0">
                        <a:latin typeface="Cambria Math" panose="02040503050406030204" pitchFamily="18" charset="0"/>
                      </a:rPr>
                      <m:t>)</m:t>
                    </m:r>
                  </m:oMath>
                </a14:m>
                <a:r>
                  <a:rPr lang="en-GB" sz="800" dirty="0"/>
                  <a:t>)</a:t>
                </a:r>
              </a:p>
              <a:p>
                <a:pPr lvl="1">
                  <a:lnSpc>
                    <a:spcPct val="150000"/>
                  </a:lnSpc>
                  <a:spcBef>
                    <a:spcPts val="0"/>
                  </a:spcBef>
                </a:pPr>
                <a:r>
                  <a:rPr lang="en-GB" sz="800" dirty="0"/>
                  <a:t>And those results are summed, so a total </a:t>
                </a:r>
                <a14:m>
                  <m:oMath xmlns:m="http://schemas.openxmlformats.org/officeDocument/2006/math">
                    <m:r>
                      <a:rPr lang="en-GB" sz="800" b="0" i="1" smtClean="0">
                        <a:latin typeface="Cambria Math" panose="02040503050406030204" pitchFamily="18" charset="0"/>
                      </a:rPr>
                      <m:t>𝑘</m:t>
                    </m:r>
                    <m:r>
                      <a:rPr lang="en-GB" sz="800" b="0" i="1" smtClean="0">
                        <a:latin typeface="Cambria Math" panose="02040503050406030204" pitchFamily="18" charset="0"/>
                      </a:rPr>
                      <m:t>+1</m:t>
                    </m:r>
                  </m:oMath>
                </a14:m>
                <a:r>
                  <a:rPr lang="en-GB" sz="800" dirty="0"/>
                  <a:t> predictions. The </a:t>
                </a:r>
                <a14:m>
                  <m:oMath xmlns:m="http://schemas.openxmlformats.org/officeDocument/2006/math">
                    <m:r>
                      <a:rPr lang="en-GB" sz="800" i="1" smtClean="0">
                        <a:latin typeface="Cambria Math" panose="02040503050406030204" pitchFamily="18" charset="0"/>
                      </a:rPr>
                      <m:t>−</m:t>
                    </m:r>
                  </m:oMath>
                </a14:m>
                <a:r>
                  <a:rPr lang="en-GB" sz="800" dirty="0"/>
                  <a:t> sign is because the goal is to minimize this result</a:t>
                </a:r>
              </a:p>
              <a:p>
                <a:pPr lvl="1">
                  <a:lnSpc>
                    <a:spcPct val="150000"/>
                  </a:lnSpc>
                  <a:spcBef>
                    <a:spcPts val="0"/>
                  </a:spcBef>
                </a:pPr>
                <a:r>
                  <a:rPr lang="en-GB" sz="800" dirty="0"/>
                  <a:t>After the loss is calculated from one iteration, training continues through stochastic gradient descent.</a:t>
                </a:r>
              </a:p>
              <a:p>
                <a:pPr>
                  <a:lnSpc>
                    <a:spcPct val="150000"/>
                  </a:lnSpc>
                  <a:spcBef>
                    <a:spcPts val="0"/>
                  </a:spcBef>
                </a:pPr>
                <a:r>
                  <a:rPr lang="en-GB" sz="1200" noProof="0" dirty="0">
                    <a:effectLst/>
                  </a:rPr>
                  <a:t>Updates embeddings through these derivatives</a:t>
                </a:r>
              </a:p>
              <a:p>
                <a:pPr lvl="1">
                  <a:lnSpc>
                    <a:spcPct val="150000"/>
                  </a:lnSpc>
                  <a:spcBef>
                    <a:spcPts val="0"/>
                  </a:spcBef>
                </a:pPr>
                <a14:m>
                  <m:oMath xmlns:m="http://schemas.openxmlformats.org/officeDocument/2006/math">
                    <m:f>
                      <m:fPr>
                        <m:ctrlPr>
                          <a:rPr lang="en-GB" sz="800" i="1" noProof="0" smtClean="0">
                            <a:effectLst/>
                            <a:latin typeface="Cambria Math" panose="02040503050406030204" pitchFamily="18" charset="0"/>
                          </a:rPr>
                        </m:ctrlPr>
                      </m:fPr>
                      <m:num>
                        <m:r>
                          <a:rPr lang="en-GB" sz="800" i="1" noProof="0" smtClean="0">
                            <a:effectLst/>
                            <a:latin typeface="Cambria Math" panose="02040503050406030204" pitchFamily="18" charset="0"/>
                          </a:rPr>
                          <m:t>𝜕</m:t>
                        </m:r>
                        <m:r>
                          <a:rPr lang="en-GB" sz="800" b="0" i="1" noProof="0" smtClean="0">
                            <a:effectLst/>
                            <a:latin typeface="Cambria Math" panose="02040503050406030204" pitchFamily="18" charset="0"/>
                          </a:rPr>
                          <m:t>𝐿</m:t>
                        </m:r>
                      </m:num>
                      <m:den>
                        <m:r>
                          <a:rPr lang="en-GB" sz="800" i="1" noProof="0" smtClean="0">
                            <a:effectLst/>
                            <a:latin typeface="Cambria Math" panose="02040503050406030204" pitchFamily="18" charset="0"/>
                          </a:rPr>
                          <m:t>𝜕</m:t>
                        </m:r>
                        <m:sSub>
                          <m:sSubPr>
                            <m:ctrlPr>
                              <a:rPr lang="en-GB" sz="800" b="0" i="1" noProof="0" smtClean="0">
                                <a:effectLst/>
                                <a:latin typeface="Cambria Math" panose="02040503050406030204" pitchFamily="18" charset="0"/>
                              </a:rPr>
                            </m:ctrlPr>
                          </m:sSubPr>
                          <m:e>
                            <m:r>
                              <a:rPr lang="en-GB" sz="800" b="0" i="1" noProof="0" smtClean="0">
                                <a:effectLst/>
                                <a:latin typeface="Cambria Math" panose="02040503050406030204" pitchFamily="18" charset="0"/>
                              </a:rPr>
                              <m:t>𝑐</m:t>
                            </m:r>
                          </m:e>
                          <m:sub>
                            <m:r>
                              <a:rPr lang="en-GB" sz="800" b="0" i="1" noProof="0" smtClean="0">
                                <a:effectLst/>
                                <a:latin typeface="Cambria Math" panose="02040503050406030204" pitchFamily="18" charset="0"/>
                              </a:rPr>
                              <m:t>𝑝𝑜𝑠</m:t>
                            </m:r>
                          </m:sub>
                        </m:sSub>
                        <m:r>
                          <a:rPr lang="en-GB" sz="800" b="0" i="1" noProof="0" smtClean="0">
                            <a:effectLst/>
                            <a:latin typeface="Cambria Math" panose="02040503050406030204" pitchFamily="18" charset="0"/>
                          </a:rPr>
                          <m:t> </m:t>
                        </m:r>
                      </m:den>
                    </m:f>
                    <m:r>
                      <a:rPr lang="en-GB" sz="800" b="0" i="1" noProof="0" smtClean="0">
                        <a:effectLst/>
                        <a:latin typeface="Cambria Math" panose="02040503050406030204" pitchFamily="18" charset="0"/>
                      </a:rPr>
                      <m:t>=</m:t>
                    </m:r>
                    <m:d>
                      <m:dPr>
                        <m:begChr m:val="["/>
                        <m:endChr m:val="]"/>
                        <m:ctrlPr>
                          <a:rPr lang="en-GB" sz="800" b="0" i="1" noProof="0" smtClean="0">
                            <a:effectLst/>
                            <a:latin typeface="Cambria Math" panose="02040503050406030204" pitchFamily="18" charset="0"/>
                          </a:rPr>
                        </m:ctrlPr>
                      </m:dPr>
                      <m:e>
                        <m:r>
                          <a:rPr lang="en-GB" sz="800" b="0" i="1" noProof="0" smtClean="0">
                            <a:effectLst/>
                            <a:latin typeface="Cambria Math" panose="02040503050406030204" pitchFamily="18" charset="0"/>
                          </a:rPr>
                          <m:t>𝜎</m:t>
                        </m:r>
                        <m:d>
                          <m:dPr>
                            <m:ctrlPr>
                              <a:rPr lang="en-GB" sz="800" b="0" i="1" noProof="0" smtClean="0">
                                <a:effectLst/>
                                <a:latin typeface="Cambria Math" panose="02040503050406030204" pitchFamily="18" charset="0"/>
                              </a:rPr>
                            </m:ctrlPr>
                          </m:dPr>
                          <m:e>
                            <m:sSub>
                              <m:sSubPr>
                                <m:ctrlPr>
                                  <a:rPr lang="en-GB" sz="800" b="0" i="1" noProof="0" smtClean="0">
                                    <a:effectLst/>
                                    <a:latin typeface="Cambria Math" panose="02040503050406030204" pitchFamily="18" charset="0"/>
                                  </a:rPr>
                                </m:ctrlPr>
                              </m:sSubPr>
                              <m:e>
                                <m:r>
                                  <a:rPr lang="en-GB" sz="800" b="0" i="1" noProof="0" smtClean="0">
                                    <a:effectLst/>
                                    <a:latin typeface="Cambria Math" panose="02040503050406030204" pitchFamily="18" charset="0"/>
                                  </a:rPr>
                                  <m:t>𝑐</m:t>
                                </m:r>
                              </m:e>
                              <m:sub>
                                <m:r>
                                  <a:rPr lang="en-GB" sz="800" b="0" i="1" noProof="0" smtClean="0">
                                    <a:effectLst/>
                                    <a:latin typeface="Cambria Math" panose="02040503050406030204" pitchFamily="18" charset="0"/>
                                  </a:rPr>
                                  <m:t>𝑝𝑜𝑠</m:t>
                                </m:r>
                              </m:sub>
                            </m:sSub>
                            <m:r>
                              <a:rPr lang="en-GB" sz="800" b="0" i="1" noProof="0" smtClean="0">
                                <a:effectLst/>
                                <a:latin typeface="Cambria Math" panose="02040503050406030204" pitchFamily="18" charset="0"/>
                              </a:rPr>
                              <m:t>.</m:t>
                            </m:r>
                            <m:r>
                              <a:rPr lang="en-GB" sz="800" b="0" i="1" noProof="0" smtClean="0">
                                <a:effectLst/>
                                <a:latin typeface="Cambria Math" panose="02040503050406030204" pitchFamily="18" charset="0"/>
                              </a:rPr>
                              <m:t>𝑤</m:t>
                            </m:r>
                          </m:e>
                        </m:d>
                        <m:r>
                          <a:rPr lang="en-GB" sz="800" b="0" i="1" noProof="0" smtClean="0">
                            <a:effectLst/>
                            <a:latin typeface="Cambria Math" panose="02040503050406030204" pitchFamily="18" charset="0"/>
                          </a:rPr>
                          <m:t>−1</m:t>
                        </m:r>
                      </m:e>
                    </m:d>
                    <m:r>
                      <a:rPr lang="en-GB" sz="800" b="0" i="1" noProof="0" smtClean="0">
                        <a:effectLst/>
                        <a:latin typeface="Cambria Math" panose="02040503050406030204" pitchFamily="18" charset="0"/>
                      </a:rPr>
                      <m:t>.</m:t>
                    </m:r>
                    <m:r>
                      <a:rPr lang="en-GB" sz="800" b="0" i="1" noProof="0" smtClean="0">
                        <a:effectLst/>
                        <a:latin typeface="Cambria Math" panose="02040503050406030204" pitchFamily="18" charset="0"/>
                      </a:rPr>
                      <m:t>𝑤</m:t>
                    </m:r>
                  </m:oMath>
                </a14:m>
                <a:endParaRPr lang="en-GB" sz="800" b="0" noProof="0" dirty="0">
                  <a:effectLst/>
                </a:endParaRPr>
              </a:p>
              <a:p>
                <a:pPr lvl="1">
                  <a:lnSpc>
                    <a:spcPct val="150000"/>
                  </a:lnSpc>
                  <a:spcBef>
                    <a:spcPts val="0"/>
                  </a:spcBef>
                </a:pPr>
                <a14:m>
                  <m:oMath xmlns:m="http://schemas.openxmlformats.org/officeDocument/2006/math">
                    <m:f>
                      <m:fPr>
                        <m:ctrlPr>
                          <a:rPr lang="en-GB" sz="800" i="1" noProof="0" smtClean="0">
                            <a:effectLst/>
                            <a:latin typeface="Cambria Math" panose="02040503050406030204" pitchFamily="18" charset="0"/>
                          </a:rPr>
                        </m:ctrlPr>
                      </m:fPr>
                      <m:num>
                        <m:r>
                          <a:rPr lang="en-GB" sz="800" i="1" noProof="0" smtClean="0">
                            <a:effectLst/>
                            <a:latin typeface="Cambria Math" panose="02040503050406030204" pitchFamily="18" charset="0"/>
                          </a:rPr>
                          <m:t>𝜕</m:t>
                        </m:r>
                        <m:r>
                          <a:rPr lang="en-GB" sz="800" b="0" i="1" noProof="0" smtClean="0">
                            <a:effectLst/>
                            <a:latin typeface="Cambria Math" panose="02040503050406030204" pitchFamily="18" charset="0"/>
                          </a:rPr>
                          <m:t>𝐿</m:t>
                        </m:r>
                      </m:num>
                      <m:den>
                        <m:r>
                          <a:rPr lang="en-GB" sz="800" i="1" noProof="0" smtClean="0">
                            <a:effectLst/>
                            <a:latin typeface="Cambria Math" panose="02040503050406030204" pitchFamily="18" charset="0"/>
                          </a:rPr>
                          <m:t>𝜕</m:t>
                        </m:r>
                        <m:sSub>
                          <m:sSubPr>
                            <m:ctrlPr>
                              <a:rPr lang="en-GB" sz="800" b="0" i="1" noProof="0" smtClean="0">
                                <a:effectLst/>
                                <a:latin typeface="Cambria Math" panose="02040503050406030204" pitchFamily="18" charset="0"/>
                              </a:rPr>
                            </m:ctrlPr>
                          </m:sSubPr>
                          <m:e>
                            <m:r>
                              <a:rPr lang="en-GB" sz="800" b="0" i="1" noProof="0" smtClean="0">
                                <a:effectLst/>
                                <a:latin typeface="Cambria Math" panose="02040503050406030204" pitchFamily="18" charset="0"/>
                              </a:rPr>
                              <m:t>𝑐</m:t>
                            </m:r>
                          </m:e>
                          <m:sub>
                            <m:r>
                              <a:rPr lang="en-GB" sz="800" b="0" i="1" noProof="0" smtClean="0">
                                <a:effectLst/>
                                <a:latin typeface="Cambria Math" panose="02040503050406030204" pitchFamily="18" charset="0"/>
                              </a:rPr>
                              <m:t>𝑛𝑒𝑔</m:t>
                            </m:r>
                          </m:sub>
                        </m:sSub>
                        <m:r>
                          <a:rPr lang="en-GB" sz="800" b="0" i="1" noProof="0" smtClean="0">
                            <a:effectLst/>
                            <a:latin typeface="Cambria Math" panose="02040503050406030204" pitchFamily="18" charset="0"/>
                          </a:rPr>
                          <m:t> </m:t>
                        </m:r>
                      </m:den>
                    </m:f>
                    <m:r>
                      <a:rPr lang="en-GB" sz="800" b="0" i="1" noProof="0" smtClean="0">
                        <a:effectLst/>
                        <a:latin typeface="Cambria Math" panose="02040503050406030204" pitchFamily="18" charset="0"/>
                      </a:rPr>
                      <m:t>=</m:t>
                    </m:r>
                    <m:r>
                      <a:rPr lang="en-GB" sz="800" b="0" i="1" noProof="0" smtClean="0">
                        <a:effectLst/>
                        <a:latin typeface="Cambria Math" panose="02040503050406030204" pitchFamily="18" charset="0"/>
                      </a:rPr>
                      <m:t>𝜎</m:t>
                    </m:r>
                    <m:d>
                      <m:dPr>
                        <m:ctrlPr>
                          <a:rPr lang="en-GB" sz="800" b="0" i="1" noProof="0" smtClean="0">
                            <a:effectLst/>
                            <a:latin typeface="Cambria Math" panose="02040503050406030204" pitchFamily="18" charset="0"/>
                          </a:rPr>
                        </m:ctrlPr>
                      </m:dPr>
                      <m:e>
                        <m:sSub>
                          <m:sSubPr>
                            <m:ctrlPr>
                              <a:rPr lang="en-GB" sz="800" b="0" i="1" noProof="0" smtClean="0">
                                <a:effectLst/>
                                <a:latin typeface="Cambria Math" panose="02040503050406030204" pitchFamily="18" charset="0"/>
                              </a:rPr>
                            </m:ctrlPr>
                          </m:sSubPr>
                          <m:e>
                            <m:r>
                              <a:rPr lang="en-GB" sz="800" b="0" i="1" noProof="0" smtClean="0">
                                <a:effectLst/>
                                <a:latin typeface="Cambria Math" panose="02040503050406030204" pitchFamily="18" charset="0"/>
                              </a:rPr>
                              <m:t>𝑐</m:t>
                            </m:r>
                          </m:e>
                          <m:sub>
                            <m:r>
                              <a:rPr lang="en-GB" sz="800" b="0" i="1" noProof="0" smtClean="0">
                                <a:effectLst/>
                                <a:latin typeface="Cambria Math" panose="02040503050406030204" pitchFamily="18" charset="0"/>
                              </a:rPr>
                              <m:t>𝑛𝑒𝑔</m:t>
                            </m:r>
                          </m:sub>
                        </m:sSub>
                        <m:r>
                          <a:rPr lang="en-GB" sz="800" b="0" i="1" noProof="0" smtClean="0">
                            <a:effectLst/>
                            <a:latin typeface="Cambria Math" panose="02040503050406030204" pitchFamily="18" charset="0"/>
                          </a:rPr>
                          <m:t>.</m:t>
                        </m:r>
                        <m:r>
                          <a:rPr lang="en-GB" sz="800" b="0" i="1" noProof="0" smtClean="0">
                            <a:effectLst/>
                            <a:latin typeface="Cambria Math" panose="02040503050406030204" pitchFamily="18" charset="0"/>
                          </a:rPr>
                          <m:t>𝑤</m:t>
                        </m:r>
                      </m:e>
                    </m:d>
                    <m:r>
                      <a:rPr lang="en-GB" sz="800" b="0" i="1" noProof="0" smtClean="0">
                        <a:effectLst/>
                        <a:latin typeface="Cambria Math" panose="02040503050406030204" pitchFamily="18" charset="0"/>
                      </a:rPr>
                      <m:t>.</m:t>
                    </m:r>
                    <m:r>
                      <a:rPr lang="en-GB" sz="800" b="0" i="1" noProof="0" smtClean="0">
                        <a:effectLst/>
                        <a:latin typeface="Cambria Math" panose="02040503050406030204" pitchFamily="18" charset="0"/>
                      </a:rPr>
                      <m:t>𝑤</m:t>
                    </m:r>
                  </m:oMath>
                </a14:m>
                <a:endParaRPr lang="en-GB" sz="800" noProof="0" dirty="0">
                  <a:effectLst/>
                </a:endParaRPr>
              </a:p>
              <a:p>
                <a:pPr lvl="1">
                  <a:lnSpc>
                    <a:spcPct val="150000"/>
                  </a:lnSpc>
                  <a:spcBef>
                    <a:spcPts val="0"/>
                  </a:spcBef>
                </a:pPr>
                <a14:m>
                  <m:oMath xmlns:m="http://schemas.openxmlformats.org/officeDocument/2006/math">
                    <m:f>
                      <m:fPr>
                        <m:ctrlPr>
                          <a:rPr lang="en-GB" sz="800" i="1" noProof="0" smtClean="0">
                            <a:effectLst/>
                            <a:latin typeface="Cambria Math" panose="02040503050406030204" pitchFamily="18" charset="0"/>
                          </a:rPr>
                        </m:ctrlPr>
                      </m:fPr>
                      <m:num>
                        <m:r>
                          <a:rPr lang="en-GB" sz="800" i="1" noProof="0" smtClean="0">
                            <a:effectLst/>
                            <a:latin typeface="Cambria Math" panose="02040503050406030204" pitchFamily="18" charset="0"/>
                          </a:rPr>
                          <m:t>𝜕</m:t>
                        </m:r>
                        <m:r>
                          <a:rPr lang="en-GB" sz="800" b="0" i="1" noProof="0" smtClean="0">
                            <a:effectLst/>
                            <a:latin typeface="Cambria Math" panose="02040503050406030204" pitchFamily="18" charset="0"/>
                          </a:rPr>
                          <m:t>𝐿</m:t>
                        </m:r>
                      </m:num>
                      <m:den>
                        <m:r>
                          <a:rPr lang="en-GB" sz="800" i="1" noProof="0" smtClean="0">
                            <a:effectLst/>
                            <a:latin typeface="Cambria Math" panose="02040503050406030204" pitchFamily="18" charset="0"/>
                          </a:rPr>
                          <m:t>𝜕</m:t>
                        </m:r>
                        <m:sSub>
                          <m:sSubPr>
                            <m:ctrlPr>
                              <a:rPr lang="en-GB" sz="800" b="0" i="1" noProof="0" smtClean="0">
                                <a:effectLst/>
                                <a:latin typeface="Cambria Math" panose="02040503050406030204" pitchFamily="18" charset="0"/>
                              </a:rPr>
                            </m:ctrlPr>
                          </m:sSubPr>
                          <m:e>
                            <m:r>
                              <a:rPr lang="en-GB" sz="800" b="0" i="1" noProof="0" smtClean="0">
                                <a:effectLst/>
                                <a:latin typeface="Cambria Math" panose="02040503050406030204" pitchFamily="18" charset="0"/>
                              </a:rPr>
                              <m:t>𝑐</m:t>
                            </m:r>
                          </m:e>
                          <m:sub>
                            <m:r>
                              <a:rPr lang="en-GB" sz="800" b="0" i="1" noProof="0" smtClean="0">
                                <a:effectLst/>
                                <a:latin typeface="Cambria Math" panose="02040503050406030204" pitchFamily="18" charset="0"/>
                              </a:rPr>
                              <m:t>𝑤</m:t>
                            </m:r>
                          </m:sub>
                        </m:sSub>
                        <m:r>
                          <a:rPr lang="en-GB" sz="800" b="0" i="1" noProof="0" smtClean="0">
                            <a:effectLst/>
                            <a:latin typeface="Cambria Math" panose="02040503050406030204" pitchFamily="18" charset="0"/>
                          </a:rPr>
                          <m:t> </m:t>
                        </m:r>
                      </m:den>
                    </m:f>
                    <m:r>
                      <a:rPr lang="en-GB" sz="800" b="0" i="1" noProof="0" smtClean="0">
                        <a:effectLst/>
                        <a:latin typeface="Cambria Math" panose="02040503050406030204" pitchFamily="18" charset="0"/>
                      </a:rPr>
                      <m:t>=</m:t>
                    </m:r>
                    <m:d>
                      <m:dPr>
                        <m:begChr m:val="["/>
                        <m:endChr m:val="]"/>
                        <m:ctrlPr>
                          <a:rPr lang="en-GB" sz="800" b="0" i="1" noProof="0" smtClean="0">
                            <a:effectLst/>
                            <a:latin typeface="Cambria Math" panose="02040503050406030204" pitchFamily="18" charset="0"/>
                          </a:rPr>
                        </m:ctrlPr>
                      </m:dPr>
                      <m:e>
                        <m:r>
                          <a:rPr lang="en-GB" sz="800" b="0" i="1" noProof="0" smtClean="0">
                            <a:effectLst/>
                            <a:latin typeface="Cambria Math" panose="02040503050406030204" pitchFamily="18" charset="0"/>
                          </a:rPr>
                          <m:t>𝜎</m:t>
                        </m:r>
                        <m:d>
                          <m:dPr>
                            <m:ctrlPr>
                              <a:rPr lang="en-GB" sz="800" b="0" i="1" noProof="0" smtClean="0">
                                <a:effectLst/>
                                <a:latin typeface="Cambria Math" panose="02040503050406030204" pitchFamily="18" charset="0"/>
                              </a:rPr>
                            </m:ctrlPr>
                          </m:dPr>
                          <m:e>
                            <m:sSub>
                              <m:sSubPr>
                                <m:ctrlPr>
                                  <a:rPr lang="en-GB" sz="800" b="0" i="1" noProof="0" smtClean="0">
                                    <a:effectLst/>
                                    <a:latin typeface="Cambria Math" panose="02040503050406030204" pitchFamily="18" charset="0"/>
                                  </a:rPr>
                                </m:ctrlPr>
                              </m:sSubPr>
                              <m:e>
                                <m:r>
                                  <a:rPr lang="en-GB" sz="800" b="0" i="1" noProof="0" smtClean="0">
                                    <a:effectLst/>
                                    <a:latin typeface="Cambria Math" panose="02040503050406030204" pitchFamily="18" charset="0"/>
                                  </a:rPr>
                                  <m:t>𝑐</m:t>
                                </m:r>
                              </m:e>
                              <m:sub>
                                <m:r>
                                  <a:rPr lang="en-GB" sz="800" b="0" i="1" noProof="0" smtClean="0">
                                    <a:effectLst/>
                                    <a:latin typeface="Cambria Math" panose="02040503050406030204" pitchFamily="18" charset="0"/>
                                  </a:rPr>
                                  <m:t>𝑝𝑜𝑠</m:t>
                                </m:r>
                              </m:sub>
                            </m:sSub>
                            <m:r>
                              <a:rPr lang="en-GB" sz="800" b="0" i="1" noProof="0" smtClean="0">
                                <a:effectLst/>
                                <a:latin typeface="Cambria Math" panose="02040503050406030204" pitchFamily="18" charset="0"/>
                              </a:rPr>
                              <m:t>.</m:t>
                            </m:r>
                            <m:r>
                              <a:rPr lang="en-GB" sz="800" b="0" i="1" noProof="0" smtClean="0">
                                <a:effectLst/>
                                <a:latin typeface="Cambria Math" panose="02040503050406030204" pitchFamily="18" charset="0"/>
                              </a:rPr>
                              <m:t>𝑤</m:t>
                            </m:r>
                          </m:e>
                        </m:d>
                        <m:r>
                          <a:rPr lang="en-GB" sz="800" b="0" i="1" noProof="0" smtClean="0">
                            <a:effectLst/>
                            <a:latin typeface="Cambria Math" panose="02040503050406030204" pitchFamily="18" charset="0"/>
                          </a:rPr>
                          <m:t>−1</m:t>
                        </m:r>
                      </m:e>
                    </m:d>
                    <m:r>
                      <a:rPr lang="en-GB" sz="800" b="0" i="1" noProof="0" smtClean="0">
                        <a:effectLst/>
                        <a:latin typeface="Cambria Math" panose="02040503050406030204" pitchFamily="18" charset="0"/>
                      </a:rPr>
                      <m:t>.</m:t>
                    </m:r>
                    <m:sSub>
                      <m:sSubPr>
                        <m:ctrlPr>
                          <a:rPr lang="en-GB" sz="800" i="1" smtClean="0">
                            <a:latin typeface="Cambria Math" panose="02040503050406030204" pitchFamily="18" charset="0"/>
                          </a:rPr>
                        </m:ctrlPr>
                      </m:sSubPr>
                      <m:e>
                        <m:r>
                          <a:rPr lang="en-GB" sz="800" i="1" smtClean="0">
                            <a:latin typeface="Cambria Math" panose="02040503050406030204" pitchFamily="18" charset="0"/>
                          </a:rPr>
                          <m:t>𝑐</m:t>
                        </m:r>
                      </m:e>
                      <m:sub>
                        <m:r>
                          <a:rPr lang="en-GB" sz="800" i="1" smtClean="0">
                            <a:latin typeface="Cambria Math" panose="02040503050406030204" pitchFamily="18" charset="0"/>
                          </a:rPr>
                          <m:t>𝑝𝑜𝑠</m:t>
                        </m:r>
                      </m:sub>
                    </m:sSub>
                    <m:r>
                      <a:rPr lang="en-GB" sz="800" b="0" i="1" smtClean="0">
                        <a:latin typeface="Cambria Math" panose="02040503050406030204" pitchFamily="18" charset="0"/>
                      </a:rPr>
                      <m:t>+</m:t>
                    </m:r>
                    <m:sSubSup>
                      <m:sSubSupPr>
                        <m:ctrlPr>
                          <a:rPr lang="en-GB" sz="800" i="1" smtClean="0">
                            <a:latin typeface="Cambria Math" panose="02040503050406030204" pitchFamily="18" charset="0"/>
                          </a:rPr>
                        </m:ctrlPr>
                      </m:sSubSupPr>
                      <m:e>
                        <m:r>
                          <m:rPr>
                            <m:sty m:val="p"/>
                          </m:rPr>
                          <a:rPr lang="en-GB" sz="800" smtClean="0">
                            <a:latin typeface="Cambria Math" panose="02040503050406030204" pitchFamily="18" charset="0"/>
                          </a:rPr>
                          <m:t>Σ</m:t>
                        </m:r>
                      </m:e>
                      <m:sub>
                        <m:r>
                          <a:rPr lang="en-GB" sz="800" i="1" smtClean="0">
                            <a:latin typeface="Cambria Math" panose="02040503050406030204" pitchFamily="18" charset="0"/>
                          </a:rPr>
                          <m:t>𝑖</m:t>
                        </m:r>
                      </m:sub>
                      <m:sup>
                        <m:r>
                          <a:rPr lang="en-GB" sz="800" i="1" smtClean="0">
                            <a:latin typeface="Cambria Math" panose="02040503050406030204" pitchFamily="18" charset="0"/>
                          </a:rPr>
                          <m:t>𝑘</m:t>
                        </m:r>
                      </m:sup>
                    </m:sSubSup>
                    <m:r>
                      <a:rPr lang="en-GB" sz="800" b="0" i="1" smtClean="0">
                        <a:latin typeface="Cambria Math" panose="02040503050406030204" pitchFamily="18" charset="0"/>
                      </a:rPr>
                      <m:t>𝜎</m:t>
                    </m:r>
                    <m:d>
                      <m:dPr>
                        <m:ctrlPr>
                          <a:rPr lang="en-GB" sz="800" b="0" i="1" smtClean="0">
                            <a:latin typeface="Cambria Math" panose="02040503050406030204" pitchFamily="18" charset="0"/>
                          </a:rPr>
                        </m:ctrlPr>
                      </m:dPr>
                      <m:e>
                        <m:sSub>
                          <m:sSubPr>
                            <m:ctrlPr>
                              <a:rPr lang="en-GB" sz="800" b="0" i="1" smtClean="0">
                                <a:latin typeface="Cambria Math" panose="02040503050406030204" pitchFamily="18" charset="0"/>
                              </a:rPr>
                            </m:ctrlPr>
                          </m:sSubPr>
                          <m:e>
                            <m:r>
                              <a:rPr lang="en-GB" sz="800" b="0" i="1" smtClean="0">
                                <a:latin typeface="Cambria Math" panose="02040503050406030204" pitchFamily="18" charset="0"/>
                              </a:rPr>
                              <m:t>𝑐</m:t>
                            </m:r>
                          </m:e>
                          <m:sub>
                            <m:r>
                              <a:rPr lang="en-GB" sz="800" b="0" i="1" smtClean="0">
                                <a:latin typeface="Cambria Math" panose="02040503050406030204" pitchFamily="18" charset="0"/>
                              </a:rPr>
                              <m:t>𝑛𝑒</m:t>
                            </m:r>
                            <m:sSub>
                              <m:sSubPr>
                                <m:ctrlPr>
                                  <a:rPr lang="en-GB" sz="800" b="0" i="1" smtClean="0">
                                    <a:latin typeface="Cambria Math" panose="02040503050406030204" pitchFamily="18" charset="0"/>
                                  </a:rPr>
                                </m:ctrlPr>
                              </m:sSubPr>
                              <m:e>
                                <m:r>
                                  <a:rPr lang="en-GB" sz="800" b="0" i="1" smtClean="0">
                                    <a:latin typeface="Cambria Math" panose="02040503050406030204" pitchFamily="18" charset="0"/>
                                  </a:rPr>
                                  <m:t>𝑔</m:t>
                                </m:r>
                              </m:e>
                              <m:sub>
                                <m:r>
                                  <a:rPr lang="en-GB" sz="800" b="0" i="1" smtClean="0">
                                    <a:latin typeface="Cambria Math" panose="02040503050406030204" pitchFamily="18" charset="0"/>
                                  </a:rPr>
                                  <m:t>𝑖</m:t>
                                </m:r>
                              </m:sub>
                            </m:sSub>
                          </m:sub>
                        </m:sSub>
                        <m:r>
                          <a:rPr lang="en-GB" sz="800" b="0" i="1" smtClean="0">
                            <a:latin typeface="Cambria Math" panose="02040503050406030204" pitchFamily="18" charset="0"/>
                          </a:rPr>
                          <m:t>.</m:t>
                        </m:r>
                        <m:r>
                          <a:rPr lang="en-GB" sz="800" b="0" i="1" smtClean="0">
                            <a:latin typeface="Cambria Math" panose="02040503050406030204" pitchFamily="18" charset="0"/>
                          </a:rPr>
                          <m:t>𝑤</m:t>
                        </m:r>
                      </m:e>
                    </m:d>
                    <m:r>
                      <a:rPr lang="en-GB" sz="800" b="0" i="1" smtClean="0">
                        <a:latin typeface="Cambria Math" panose="02040503050406030204" pitchFamily="18" charset="0"/>
                      </a:rPr>
                      <m:t>.</m:t>
                    </m:r>
                    <m:sSub>
                      <m:sSubPr>
                        <m:ctrlPr>
                          <a:rPr lang="en-GB" sz="800" i="1" smtClean="0">
                            <a:latin typeface="Cambria Math" panose="02040503050406030204" pitchFamily="18" charset="0"/>
                          </a:rPr>
                        </m:ctrlPr>
                      </m:sSubPr>
                      <m:e>
                        <m:r>
                          <a:rPr lang="en-GB" sz="800" i="1" smtClean="0">
                            <a:latin typeface="Cambria Math" panose="02040503050406030204" pitchFamily="18" charset="0"/>
                          </a:rPr>
                          <m:t>𝑐</m:t>
                        </m:r>
                      </m:e>
                      <m:sub>
                        <m:r>
                          <a:rPr lang="en-GB" sz="800" i="1" smtClean="0">
                            <a:latin typeface="Cambria Math" panose="02040503050406030204" pitchFamily="18" charset="0"/>
                          </a:rPr>
                          <m:t>𝑛𝑒</m:t>
                        </m:r>
                        <m:sSub>
                          <m:sSubPr>
                            <m:ctrlPr>
                              <a:rPr lang="en-GB" sz="800" i="1" smtClean="0">
                                <a:latin typeface="Cambria Math" panose="02040503050406030204" pitchFamily="18" charset="0"/>
                              </a:rPr>
                            </m:ctrlPr>
                          </m:sSubPr>
                          <m:e>
                            <m:r>
                              <a:rPr lang="en-GB" sz="800" i="1" smtClean="0">
                                <a:latin typeface="Cambria Math" panose="02040503050406030204" pitchFamily="18" charset="0"/>
                              </a:rPr>
                              <m:t>𝑔</m:t>
                            </m:r>
                          </m:e>
                          <m:sub>
                            <m:r>
                              <a:rPr lang="en-GB" sz="800" i="1" smtClean="0">
                                <a:latin typeface="Cambria Math" panose="02040503050406030204" pitchFamily="18" charset="0"/>
                              </a:rPr>
                              <m:t>𝑖</m:t>
                            </m:r>
                          </m:sub>
                        </m:sSub>
                      </m:sub>
                    </m:sSub>
                  </m:oMath>
                </a14:m>
                <a:endParaRPr lang="en-GB" sz="800" noProof="0" dirty="0">
                  <a:effectLst/>
                </a:endParaRPr>
              </a:p>
              <a:p>
                <a:pPr>
                  <a:lnSpc>
                    <a:spcPct val="150000"/>
                  </a:lnSpc>
                  <a:spcBef>
                    <a:spcPts val="0"/>
                  </a:spcBef>
                </a:pPr>
                <a:r>
                  <a:rPr lang="en-GB" sz="1200" dirty="0"/>
                  <a:t>K is a hyperparameter. The recommended values for large datasets is 2-5 and 5-20 for small datasets</a:t>
                </a:r>
              </a:p>
            </p:txBody>
          </p:sp>
        </mc:Choice>
        <mc:Fallback xmlns="">
          <p:sp>
            <p:nvSpPr>
              <p:cNvPr id="3" name="Espace réservé du contenu 2">
                <a:extLst>
                  <a:ext uri="{FF2B5EF4-FFF2-40B4-BE49-F238E27FC236}">
                    <a16:creationId xmlns:a16="http://schemas.microsoft.com/office/drawing/2014/main" id="{FE0A4ECB-73D5-13C6-E13F-E16C67E7C12F}"/>
                  </a:ext>
                </a:extLst>
              </p:cNvPr>
              <p:cNvSpPr>
                <a:spLocks noGrp="1" noRot="1" noChangeAspect="1" noMove="1" noResize="1" noEditPoints="1" noAdjustHandles="1" noChangeArrowheads="1" noChangeShapeType="1" noTextEdit="1"/>
              </p:cNvSpPr>
              <p:nvPr>
                <p:ph idx="1"/>
              </p:nvPr>
            </p:nvSpPr>
            <p:spPr>
              <a:xfrm>
                <a:off x="838200" y="1541644"/>
                <a:ext cx="11353800" cy="4951231"/>
              </a:xfrm>
              <a:blipFill>
                <a:blip r:embed="rId2"/>
                <a:stretch>
                  <a:fillRect l="-670" t="-1279"/>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2D735130-BBCF-7C43-DABD-890C6DA06516}"/>
              </a:ext>
            </a:extLst>
          </p:cNvPr>
          <p:cNvSpPr>
            <a:spLocks noGrp="1"/>
          </p:cNvSpPr>
          <p:nvPr>
            <p:ph type="ftr" sz="quarter" idx="11"/>
          </p:nvPr>
        </p:nvSpPr>
        <p:spPr/>
        <p:txBody>
          <a:bodyPr/>
          <a:lstStyle/>
          <a:p>
            <a:r>
              <a:rPr lang="fr-FR" dirty="0"/>
              <a:t>Introduction to Neural Networks. </a:t>
            </a:r>
            <a:r>
              <a:rPr lang="fr-FR" dirty="0" err="1"/>
              <a:t>Author</a:t>
            </a:r>
            <a:r>
              <a:rPr lang="fr-FR" dirty="0"/>
              <a:t>: David Thébault</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FA3266C3-F7F9-B40B-E26F-41CE4B22F0AA}"/>
                  </a:ext>
                </a:extLst>
              </p:cNvPr>
              <p:cNvSpPr txBox="1"/>
              <p:nvPr/>
            </p:nvSpPr>
            <p:spPr>
              <a:xfrm>
                <a:off x="4038600" y="4484536"/>
                <a:ext cx="2455737" cy="718400"/>
              </a:xfrm>
              <a:prstGeom prst="rect">
                <a:avLst/>
              </a:prstGeom>
              <a:noFill/>
            </p:spPr>
            <p:txBody>
              <a:bodyPr wrap="none" lIns="0" tIns="0" rIns="0" bIns="0" rtlCol="0">
                <a:noAutofit/>
              </a:bodyPr>
              <a:lstStyle/>
              <a:p>
                <a14:m>
                  <m:oMath xmlns:m="http://schemas.openxmlformats.org/officeDocument/2006/math">
                    <m:d>
                      <m:dPr>
                        <m:begChr m:val="{"/>
                        <m:endChr m:val=""/>
                        <m:ctrlPr>
                          <a:rPr lang="en-GB" sz="800" i="1" smtClean="0">
                            <a:latin typeface="Cambria Math" panose="02040503050406030204" pitchFamily="18" charset="0"/>
                          </a:rPr>
                        </m:ctrlPr>
                      </m:dPr>
                      <m:e>
                        <m:r>
                          <a:rPr lang="fr-FR" sz="800" b="0" i="1" smtClean="0">
                            <a:latin typeface="Cambria Math" panose="02040503050406030204" pitchFamily="18" charset="0"/>
                          </a:rPr>
                          <m:t>𝑘</m:t>
                        </m:r>
                        <m:r>
                          <a:rPr lang="fr-FR" sz="800" b="0" i="1" smtClean="0">
                            <a:latin typeface="Cambria Math" panose="02040503050406030204" pitchFamily="18" charset="0"/>
                          </a:rPr>
                          <m:t>+1</m:t>
                        </m:r>
                      </m:e>
                    </m:d>
                  </m:oMath>
                </a14:m>
                <a:r>
                  <a:rPr lang="en-GB" sz="800" dirty="0"/>
                  <a:t> updates in context embeddings matrix C </a:t>
                </a:r>
              </a:p>
              <a:p>
                <a:endParaRPr lang="en-GB" sz="800" dirty="0"/>
              </a:p>
              <a:p>
                <a14:m>
                  <m:oMath xmlns:m="http://schemas.openxmlformats.org/officeDocument/2006/math">
                    <m:d>
                      <m:dPr>
                        <m:begChr m:val="{"/>
                        <m:endChr m:val=""/>
                        <m:ctrlPr>
                          <a:rPr lang="en-GB" sz="800" i="1" smtClean="0">
                            <a:latin typeface="Cambria Math" panose="02040503050406030204" pitchFamily="18" charset="0"/>
                          </a:rPr>
                        </m:ctrlPr>
                      </m:dPr>
                      <m:e>
                        <m:r>
                          <a:rPr lang="fr-FR" sz="800" b="0" i="1" smtClean="0">
                            <a:latin typeface="Cambria Math" panose="02040503050406030204" pitchFamily="18" charset="0"/>
                          </a:rPr>
                          <m:t>𝑘</m:t>
                        </m:r>
                        <m:r>
                          <a:rPr lang="fr-FR" sz="800" b="0" i="1" smtClean="0">
                            <a:latin typeface="Cambria Math" panose="02040503050406030204" pitchFamily="18" charset="0"/>
                          </a:rPr>
                          <m:t>+1</m:t>
                        </m:r>
                      </m:e>
                    </m:d>
                  </m:oMath>
                </a14:m>
                <a:r>
                  <a:rPr lang="en-GB" sz="800" dirty="0"/>
                  <a:t> updates in context embeddings matrix C</a:t>
                </a:r>
              </a:p>
              <a:p>
                <a:endParaRPr lang="en-GB" sz="800" dirty="0"/>
              </a:p>
              <a:p>
                <a14:m>
                  <m:oMath xmlns:m="http://schemas.openxmlformats.org/officeDocument/2006/math">
                    <m:d>
                      <m:dPr>
                        <m:begChr m:val="{"/>
                        <m:endChr m:val=""/>
                        <m:ctrlPr>
                          <a:rPr lang="en-GB" sz="800" i="1">
                            <a:latin typeface="Cambria Math" panose="02040503050406030204" pitchFamily="18" charset="0"/>
                          </a:rPr>
                        </m:ctrlPr>
                      </m:dPr>
                      <m:e>
                        <m:r>
                          <a:rPr lang="fr-FR" sz="800" i="1">
                            <a:latin typeface="Cambria Math" panose="02040503050406030204" pitchFamily="18" charset="0"/>
                          </a:rPr>
                          <m:t>1</m:t>
                        </m:r>
                      </m:e>
                    </m:d>
                  </m:oMath>
                </a14:m>
                <a:r>
                  <a:rPr lang="en-GB" sz="800" dirty="0"/>
                  <a:t> update in target embeddings matrix W </a:t>
                </a:r>
              </a:p>
              <a:p>
                <a:endParaRPr lang="en-GB" sz="800" dirty="0"/>
              </a:p>
            </p:txBody>
          </p:sp>
        </mc:Choice>
        <mc:Fallback xmlns="">
          <p:sp>
            <p:nvSpPr>
              <p:cNvPr id="5" name="ZoneTexte 4">
                <a:extLst>
                  <a:ext uri="{FF2B5EF4-FFF2-40B4-BE49-F238E27FC236}">
                    <a16:creationId xmlns:a16="http://schemas.microsoft.com/office/drawing/2014/main" id="{FA3266C3-F7F9-B40B-E26F-41CE4B22F0AA}"/>
                  </a:ext>
                </a:extLst>
              </p:cNvPr>
              <p:cNvSpPr txBox="1">
                <a:spLocks noRot="1" noChangeAspect="1" noMove="1" noResize="1" noEditPoints="1" noAdjustHandles="1" noChangeArrowheads="1" noChangeShapeType="1" noTextEdit="1"/>
              </p:cNvSpPr>
              <p:nvPr/>
            </p:nvSpPr>
            <p:spPr>
              <a:xfrm>
                <a:off x="4038600" y="4484536"/>
                <a:ext cx="2455737" cy="718400"/>
              </a:xfrm>
              <a:prstGeom prst="rect">
                <a:avLst/>
              </a:prstGeom>
              <a:blipFill>
                <a:blip r:embed="rId3"/>
                <a:stretch>
                  <a:fillRect l="-7732" t="-29825" b="-26316"/>
                </a:stretch>
              </a:blipFill>
            </p:spPr>
            <p:txBody>
              <a:bodyPr/>
              <a:lstStyle/>
              <a:p>
                <a:r>
                  <a:rPr lang="en-GB">
                    <a:noFill/>
                  </a:rPr>
                  <a:t> </a:t>
                </a:r>
              </a:p>
            </p:txBody>
          </p:sp>
        </mc:Fallback>
      </mc:AlternateContent>
    </p:spTree>
    <p:extLst>
      <p:ext uri="{BB962C8B-B14F-4D97-AF65-F5344CB8AC3E}">
        <p14:creationId xmlns:p14="http://schemas.microsoft.com/office/powerpoint/2010/main" val="7371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9EF22-6BB0-2C02-0A50-4DFE6592090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F0597BA-5A90-DB27-5B57-335F1C42DF36}"/>
              </a:ext>
            </a:extLst>
          </p:cNvPr>
          <p:cNvSpPr>
            <a:spLocks noGrp="1"/>
          </p:cNvSpPr>
          <p:nvPr>
            <p:ph type="title"/>
          </p:nvPr>
        </p:nvSpPr>
        <p:spPr/>
        <p:txBody>
          <a:bodyPr/>
          <a:lstStyle/>
          <a:p>
            <a:r>
              <a:rPr lang="en-GB" dirty="0"/>
              <a:t>Word Vectors</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9856562C-8E6B-AB1A-0374-BD0DB221F96B}"/>
                  </a:ext>
                </a:extLst>
              </p:cNvPr>
              <p:cNvSpPr>
                <a:spLocks noGrp="1"/>
              </p:cNvSpPr>
              <p:nvPr>
                <p:ph idx="1"/>
              </p:nvPr>
            </p:nvSpPr>
            <p:spPr>
              <a:xfrm>
                <a:off x="838200" y="1541644"/>
                <a:ext cx="11353800" cy="4951231"/>
              </a:xfrm>
            </p:spPr>
            <p:txBody>
              <a:bodyPr lIns="90000">
                <a:noAutofit/>
              </a:bodyPr>
              <a:lstStyle/>
              <a:p>
                <a:pPr marL="0" indent="0">
                  <a:buNone/>
                </a:pPr>
                <a:r>
                  <a:rPr lang="en-GB" sz="2000" b="1" noProof="0" dirty="0">
                    <a:effectLst/>
                  </a:rPr>
                  <a:t>Word2vec</a:t>
                </a:r>
              </a:p>
              <a:p>
                <a:pPr marL="0" indent="0">
                  <a:buNone/>
                </a:pPr>
                <a:r>
                  <a:rPr lang="en-GB" sz="1200" b="1" noProof="0" dirty="0">
                    <a:effectLst/>
                  </a:rPr>
                  <a:t>Learn dense representations that capture word relationships</a:t>
                </a:r>
              </a:p>
              <a:p>
                <a:pPr marL="0" indent="0">
                  <a:lnSpc>
                    <a:spcPct val="100000"/>
                  </a:lnSpc>
                  <a:spcBef>
                    <a:spcPts val="0"/>
                  </a:spcBef>
                  <a:buNone/>
                </a:pPr>
                <a:endParaRPr lang="en-GB" sz="1200" noProof="0" dirty="0">
                  <a:effectLst/>
                </a:endParaRPr>
              </a:p>
              <a:p>
                <a:pPr marL="0" indent="0">
                  <a:lnSpc>
                    <a:spcPct val="150000"/>
                  </a:lnSpc>
                  <a:spcBef>
                    <a:spcPts val="0"/>
                  </a:spcBef>
                  <a:buNone/>
                </a:pPr>
                <a:r>
                  <a:rPr lang="en-GB" sz="1200" b="1" noProof="0" dirty="0">
                    <a:effectLst/>
                  </a:rPr>
                  <a:t>Skip-Gram with Negative Sampling (SGNS)</a:t>
                </a:r>
              </a:p>
              <a:p>
                <a:pPr marL="0" indent="0">
                  <a:lnSpc>
                    <a:spcPct val="150000"/>
                  </a:lnSpc>
                  <a:spcBef>
                    <a:spcPts val="0"/>
                  </a:spcBef>
                  <a:buNone/>
                </a:pPr>
                <a:r>
                  <a:rPr lang="en-GB" sz="1200" noProof="0" dirty="0">
                    <a:effectLst/>
                  </a:rPr>
                  <a:t>Training proceeds as follow. </a:t>
                </a:r>
              </a:p>
              <a:p>
                <a:pPr>
                  <a:lnSpc>
                    <a:spcPct val="150000"/>
                  </a:lnSpc>
                  <a:spcBef>
                    <a:spcPts val="0"/>
                  </a:spcBef>
                </a:pPr>
                <a:r>
                  <a:rPr lang="en-GB" sz="1200" noProof="0" dirty="0">
                    <a:effectLst/>
                  </a:rPr>
                  <a:t>When creating negative samples, the con</a:t>
                </a:r>
                <a:r>
                  <a:rPr lang="en-GB" sz="1200" dirty="0"/>
                  <a:t>text words are </a:t>
                </a:r>
                <a:r>
                  <a:rPr lang="en-GB" sz="1200" dirty="0" err="1"/>
                  <a:t>drawned</a:t>
                </a:r>
                <a:r>
                  <a:rPr lang="en-GB" sz="1200" dirty="0"/>
                  <a:t> from a noised distribution</a:t>
                </a:r>
              </a:p>
              <a:p>
                <a:pPr lvl="1">
                  <a:lnSpc>
                    <a:spcPct val="150000"/>
                  </a:lnSpc>
                  <a:spcBef>
                    <a:spcPts val="0"/>
                  </a:spcBef>
                </a:pPr>
                <a14:m>
                  <m:oMath xmlns:m="http://schemas.openxmlformats.org/officeDocument/2006/math">
                    <m:sSub>
                      <m:sSubPr>
                        <m:ctrlPr>
                          <a:rPr lang="en-GB" sz="800" b="0" i="1" noProof="0" smtClean="0">
                            <a:effectLst/>
                            <a:latin typeface="Cambria Math" panose="02040503050406030204" pitchFamily="18" charset="0"/>
                          </a:rPr>
                        </m:ctrlPr>
                      </m:sSubPr>
                      <m:e>
                        <m:r>
                          <a:rPr lang="en-GB" sz="800" b="0" i="1" noProof="0" smtClean="0">
                            <a:effectLst/>
                            <a:latin typeface="Cambria Math" panose="02040503050406030204" pitchFamily="18" charset="0"/>
                          </a:rPr>
                          <m:t>𝑃</m:t>
                        </m:r>
                      </m:e>
                      <m:sub>
                        <m:r>
                          <a:rPr lang="en-GB" sz="800" b="0" i="1" noProof="0" smtClean="0">
                            <a:effectLst/>
                            <a:latin typeface="Cambria Math" panose="02040503050406030204" pitchFamily="18" charset="0"/>
                          </a:rPr>
                          <m:t>𝛼</m:t>
                        </m:r>
                      </m:sub>
                    </m:sSub>
                    <m:d>
                      <m:dPr>
                        <m:ctrlPr>
                          <a:rPr lang="en-GB" sz="800" b="0" i="1" noProof="0" smtClean="0">
                            <a:effectLst/>
                            <a:latin typeface="Cambria Math" panose="02040503050406030204" pitchFamily="18" charset="0"/>
                          </a:rPr>
                        </m:ctrlPr>
                      </m:dPr>
                      <m:e>
                        <m:r>
                          <a:rPr lang="en-GB" sz="800" b="0" i="1" noProof="0" smtClean="0">
                            <a:effectLst/>
                            <a:latin typeface="Cambria Math" panose="02040503050406030204" pitchFamily="18" charset="0"/>
                          </a:rPr>
                          <m:t>𝑤</m:t>
                        </m:r>
                      </m:e>
                    </m:d>
                    <m:r>
                      <a:rPr lang="en-GB" sz="800" b="0" i="1" noProof="0" smtClean="0">
                        <a:effectLst/>
                        <a:latin typeface="Cambria Math" panose="02040503050406030204" pitchFamily="18" charset="0"/>
                      </a:rPr>
                      <m:t>=</m:t>
                    </m:r>
                    <m:f>
                      <m:fPr>
                        <m:ctrlPr>
                          <a:rPr lang="en-GB" sz="800" b="0" i="1" noProof="0" smtClean="0">
                            <a:effectLst/>
                            <a:latin typeface="Cambria Math" panose="02040503050406030204" pitchFamily="18" charset="0"/>
                          </a:rPr>
                        </m:ctrlPr>
                      </m:fPr>
                      <m:num>
                        <m:r>
                          <a:rPr lang="en-GB" sz="800" b="0" i="1" noProof="0" smtClean="0">
                            <a:effectLst/>
                            <a:latin typeface="Cambria Math" panose="02040503050406030204" pitchFamily="18" charset="0"/>
                          </a:rPr>
                          <m:t>𝑐𝑜𝑢𝑛𝑡</m:t>
                        </m:r>
                        <m:sSup>
                          <m:sSupPr>
                            <m:ctrlPr>
                              <a:rPr lang="en-GB" sz="800" b="0" i="1" noProof="0" smtClean="0">
                                <a:effectLst/>
                                <a:latin typeface="Cambria Math" panose="02040503050406030204" pitchFamily="18" charset="0"/>
                              </a:rPr>
                            </m:ctrlPr>
                          </m:sSupPr>
                          <m:e>
                            <m:d>
                              <m:dPr>
                                <m:ctrlPr>
                                  <a:rPr lang="en-GB" sz="800" b="0" i="1" noProof="0" smtClean="0">
                                    <a:effectLst/>
                                    <a:latin typeface="Cambria Math" panose="02040503050406030204" pitchFamily="18" charset="0"/>
                                  </a:rPr>
                                </m:ctrlPr>
                              </m:dPr>
                              <m:e>
                                <m:r>
                                  <a:rPr lang="en-GB" sz="800" b="0" i="1" noProof="0" smtClean="0">
                                    <a:effectLst/>
                                    <a:latin typeface="Cambria Math" panose="02040503050406030204" pitchFamily="18" charset="0"/>
                                  </a:rPr>
                                  <m:t>𝑤</m:t>
                                </m:r>
                              </m:e>
                            </m:d>
                          </m:e>
                          <m:sup>
                            <m:r>
                              <a:rPr lang="en-GB" sz="800" b="0" i="1" smtClean="0">
                                <a:latin typeface="Cambria Math" panose="02040503050406030204" pitchFamily="18" charset="0"/>
                              </a:rPr>
                              <m:t>𝛼</m:t>
                            </m:r>
                          </m:sup>
                        </m:sSup>
                      </m:num>
                      <m:den>
                        <m:sSubSup>
                          <m:sSubSupPr>
                            <m:ctrlPr>
                              <a:rPr lang="en-GB" sz="800" b="0" i="1" noProof="0" smtClean="0">
                                <a:effectLst/>
                                <a:latin typeface="Cambria Math" panose="02040503050406030204" pitchFamily="18" charset="0"/>
                              </a:rPr>
                            </m:ctrlPr>
                          </m:sSubSupPr>
                          <m:e>
                            <m:r>
                              <m:rPr>
                                <m:sty m:val="p"/>
                              </m:rPr>
                              <a:rPr lang="en-GB" sz="800" b="0" i="0" noProof="0" smtClean="0">
                                <a:effectLst/>
                                <a:latin typeface="Cambria Math" panose="02040503050406030204" pitchFamily="18" charset="0"/>
                              </a:rPr>
                              <m:t>Σ</m:t>
                            </m:r>
                          </m:e>
                          <m:sub>
                            <m:r>
                              <a:rPr lang="en-GB" sz="800" b="0" i="1" noProof="0" smtClean="0">
                                <a:effectLst/>
                                <a:latin typeface="Cambria Math" panose="02040503050406030204" pitchFamily="18" charset="0"/>
                              </a:rPr>
                              <m:t>𝑖</m:t>
                            </m:r>
                          </m:sub>
                          <m:sup>
                            <m:r>
                              <a:rPr lang="en-GB" sz="800" b="0" i="1" noProof="0" smtClean="0">
                                <a:effectLst/>
                                <a:latin typeface="Cambria Math" panose="02040503050406030204" pitchFamily="18" charset="0"/>
                              </a:rPr>
                              <m:t>𝑛</m:t>
                            </m:r>
                          </m:sup>
                        </m:sSubSup>
                        <m:r>
                          <a:rPr lang="en-GB" sz="800" b="0" i="1" smtClean="0">
                            <a:latin typeface="Cambria Math" panose="02040503050406030204" pitchFamily="18" charset="0"/>
                          </a:rPr>
                          <m:t>𝑐𝑜𝑢𝑛𝑡</m:t>
                        </m:r>
                        <m:r>
                          <a:rPr lang="en-GB" sz="800" b="0" i="1" smtClean="0">
                            <a:latin typeface="Cambria Math" panose="02040503050406030204" pitchFamily="18" charset="0"/>
                          </a:rPr>
                          <m:t>(</m:t>
                        </m:r>
                        <m:sSub>
                          <m:sSubPr>
                            <m:ctrlPr>
                              <a:rPr lang="en-GB" sz="800" b="0" i="1" smtClean="0">
                                <a:latin typeface="Cambria Math" panose="02040503050406030204" pitchFamily="18" charset="0"/>
                              </a:rPr>
                            </m:ctrlPr>
                          </m:sSubPr>
                          <m:e>
                            <m:r>
                              <a:rPr lang="en-GB" sz="800" b="0" i="1" smtClean="0">
                                <a:latin typeface="Cambria Math" panose="02040503050406030204" pitchFamily="18" charset="0"/>
                              </a:rPr>
                              <m:t>𝑤</m:t>
                            </m:r>
                          </m:e>
                          <m:sub>
                            <m:r>
                              <a:rPr lang="en-GB" sz="800" b="0" i="1" smtClean="0">
                                <a:latin typeface="Cambria Math" panose="02040503050406030204" pitchFamily="18" charset="0"/>
                              </a:rPr>
                              <m:t>𝑖</m:t>
                            </m:r>
                            <m:r>
                              <a:rPr lang="en-GB" sz="800" b="0" i="1" smtClean="0">
                                <a:latin typeface="Cambria Math" panose="02040503050406030204" pitchFamily="18" charset="0"/>
                              </a:rPr>
                              <m:t>)</m:t>
                            </m:r>
                          </m:sub>
                        </m:sSub>
                        <m:r>
                          <a:rPr lang="en-GB" sz="800" b="0" i="1" smtClean="0">
                            <a:latin typeface="Cambria Math" panose="02040503050406030204" pitchFamily="18" charset="0"/>
                          </a:rPr>
                          <m:t>𝛼</m:t>
                        </m:r>
                      </m:den>
                    </m:f>
                  </m:oMath>
                </a14:m>
                <a:r>
                  <a:rPr lang="en-GB" sz="800" noProof="0" dirty="0">
                    <a:effectLst/>
                  </a:rPr>
                  <a:t>  </a:t>
                </a:r>
                <a:endParaRPr lang="en-GB" sz="800" b="0" i="1" noProof="0" dirty="0">
                  <a:effectLst/>
                  <a:latin typeface="Cambria Math" panose="02040503050406030204" pitchFamily="18" charset="0"/>
                </a:endParaRPr>
              </a:p>
              <a:p>
                <a:pPr lvl="1">
                  <a:lnSpc>
                    <a:spcPct val="150000"/>
                  </a:lnSpc>
                  <a:spcBef>
                    <a:spcPts val="0"/>
                  </a:spcBef>
                </a:pPr>
                <a:r>
                  <a:rPr lang="en-GB" sz="800" b="0" noProof="0" dirty="0">
                    <a:effectLst/>
                  </a:rPr>
                  <a:t>Usually</a:t>
                </a:r>
                <a:r>
                  <a:rPr lang="en-GB" sz="800" dirty="0"/>
                  <a:t>, </a:t>
                </a:r>
                <a14:m>
                  <m:oMath xmlns:m="http://schemas.openxmlformats.org/officeDocument/2006/math">
                    <m:r>
                      <a:rPr lang="en-GB" sz="800" b="0" i="1" noProof="0" dirty="0" smtClean="0">
                        <a:effectLst/>
                        <a:latin typeface="Cambria Math" panose="02040503050406030204" pitchFamily="18" charset="0"/>
                      </a:rPr>
                      <m:t>𝛼</m:t>
                    </m:r>
                    <m:r>
                      <a:rPr lang="en-GB" sz="800" b="0" i="1" noProof="0" dirty="0" smtClean="0">
                        <a:effectLst/>
                        <a:latin typeface="Cambria Math" panose="02040503050406030204" pitchFamily="18" charset="0"/>
                      </a:rPr>
                      <m:t>=0.75</m:t>
                    </m:r>
                  </m:oMath>
                </a14:m>
                <a:endParaRPr lang="en-GB" sz="800" noProof="0" dirty="0">
                  <a:effectLst/>
                </a:endParaRPr>
              </a:p>
              <a:p>
                <a:pPr lvl="1">
                  <a:lnSpc>
                    <a:spcPct val="150000"/>
                  </a:lnSpc>
                  <a:spcBef>
                    <a:spcPts val="0"/>
                  </a:spcBef>
                </a:pPr>
                <a:r>
                  <a:rPr lang="en-GB" sz="800" dirty="0"/>
                  <a:t>Increases probability of sampling a rare word and decreases probability of sampling a common word.</a:t>
                </a:r>
              </a:p>
              <a:p>
                <a:pPr>
                  <a:lnSpc>
                    <a:spcPct val="150000"/>
                  </a:lnSpc>
                  <a:spcBef>
                    <a:spcPts val="0"/>
                  </a:spcBef>
                </a:pPr>
                <a:r>
                  <a:rPr lang="en-GB" sz="1200" noProof="0" dirty="0">
                    <a:effectLst/>
                  </a:rPr>
                  <a:t>Another parameter is the context window</a:t>
                </a:r>
              </a:p>
              <a:p>
                <a:pPr lvl="1">
                  <a:lnSpc>
                    <a:spcPct val="150000"/>
                  </a:lnSpc>
                  <a:spcBef>
                    <a:spcPts val="0"/>
                  </a:spcBef>
                </a:pPr>
                <a:r>
                  <a:rPr lang="en-GB" sz="800" dirty="0"/>
                  <a:t>Narrower windows capture similarity better.</a:t>
                </a:r>
              </a:p>
              <a:p>
                <a:pPr lvl="1">
                  <a:lnSpc>
                    <a:spcPct val="150000"/>
                  </a:lnSpc>
                  <a:spcBef>
                    <a:spcPts val="0"/>
                  </a:spcBef>
                </a:pPr>
                <a:r>
                  <a:rPr lang="en-GB" sz="800" noProof="0" dirty="0">
                    <a:effectLst/>
                  </a:rPr>
                  <a:t>Wider window</a:t>
                </a:r>
                <a:r>
                  <a:rPr lang="en-GB" sz="800" dirty="0"/>
                  <a:t> capture relatedness better</a:t>
                </a:r>
              </a:p>
              <a:p>
                <a:pPr>
                  <a:lnSpc>
                    <a:spcPct val="150000"/>
                  </a:lnSpc>
                  <a:spcBef>
                    <a:spcPts val="0"/>
                  </a:spcBef>
                </a:pPr>
                <a:r>
                  <a:rPr lang="en-GB" sz="1200" noProof="0" dirty="0">
                    <a:effectLst/>
                  </a:rPr>
                  <a:t>After training is complete</a:t>
                </a:r>
                <a:r>
                  <a:rPr lang="en-GB" sz="1200" dirty="0"/>
                  <a:t>, the common practice is to keep only the target word embeddings and throw away the context an alternative is to keep W+C</a:t>
                </a:r>
                <a:endParaRPr lang="en-GB" sz="1200" noProof="0" dirty="0">
                  <a:effectLst/>
                </a:endParaRPr>
              </a:p>
            </p:txBody>
          </p:sp>
        </mc:Choice>
        <mc:Fallback xmlns="">
          <p:sp>
            <p:nvSpPr>
              <p:cNvPr id="3" name="Espace réservé du contenu 2">
                <a:extLst>
                  <a:ext uri="{FF2B5EF4-FFF2-40B4-BE49-F238E27FC236}">
                    <a16:creationId xmlns:a16="http://schemas.microsoft.com/office/drawing/2014/main" id="{9856562C-8E6B-AB1A-0374-BD0DB221F96B}"/>
                  </a:ext>
                </a:extLst>
              </p:cNvPr>
              <p:cNvSpPr>
                <a:spLocks noGrp="1" noRot="1" noChangeAspect="1" noMove="1" noResize="1" noEditPoints="1" noAdjustHandles="1" noChangeArrowheads="1" noChangeShapeType="1" noTextEdit="1"/>
              </p:cNvSpPr>
              <p:nvPr>
                <p:ph idx="1"/>
              </p:nvPr>
            </p:nvSpPr>
            <p:spPr>
              <a:xfrm>
                <a:off x="838200" y="1541644"/>
                <a:ext cx="11353800" cy="4951231"/>
              </a:xfrm>
              <a:blipFill>
                <a:blip r:embed="rId2"/>
                <a:stretch>
                  <a:fillRect l="-670" t="-1279"/>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3C7BA7AE-CE2B-66A0-D8FA-F381C194BDB9}"/>
              </a:ext>
            </a:extLst>
          </p:cNvPr>
          <p:cNvSpPr>
            <a:spLocks noGrp="1"/>
          </p:cNvSpPr>
          <p:nvPr>
            <p:ph type="ftr" sz="quarter" idx="11"/>
          </p:nvPr>
        </p:nvSpPr>
        <p:spPr/>
        <p:txBody>
          <a:bodyPr/>
          <a:lstStyle/>
          <a:p>
            <a:r>
              <a:rPr lang="en-GB" noProof="0" dirty="0"/>
              <a:t>Introduction to Neural Networks. Author: David Thébault</a:t>
            </a:r>
          </a:p>
        </p:txBody>
      </p:sp>
    </p:spTree>
    <p:extLst>
      <p:ext uri="{BB962C8B-B14F-4D97-AF65-F5344CB8AC3E}">
        <p14:creationId xmlns:p14="http://schemas.microsoft.com/office/powerpoint/2010/main" val="276291439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42889</TotalTime>
  <Words>5685</Words>
  <Application>Microsoft Macintosh PowerPoint</Application>
  <PresentationFormat>Grand écran</PresentationFormat>
  <Paragraphs>632</Paragraphs>
  <Slides>33</Slides>
  <Notes>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33</vt:i4>
      </vt:variant>
    </vt:vector>
  </HeadingPairs>
  <TitlesOfParts>
    <vt:vector size="39" baseType="lpstr">
      <vt:lpstr>Aptos</vt:lpstr>
      <vt:lpstr>Aptos Display</vt:lpstr>
      <vt:lpstr>Arial</vt:lpstr>
      <vt:lpstr>Cambria Math</vt:lpstr>
      <vt:lpstr>Menlo</vt:lpstr>
      <vt:lpstr>Thème Office</vt:lpstr>
      <vt:lpstr>Introduction to  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lpstr>Word Vectors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THEBAULT</dc:creator>
  <cp:lastModifiedBy>David THEBAULT</cp:lastModifiedBy>
  <cp:revision>442</cp:revision>
  <dcterms:created xsi:type="dcterms:W3CDTF">2024-11-11T16:09:09Z</dcterms:created>
  <dcterms:modified xsi:type="dcterms:W3CDTF">2025-01-30T22:48:57Z</dcterms:modified>
</cp:coreProperties>
</file>