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59" r:id="rId4"/>
    <p:sldId id="260" r:id="rId5"/>
    <p:sldId id="261" r:id="rId6"/>
    <p:sldId id="262" r:id="rId7"/>
    <p:sldId id="263" r:id="rId8"/>
    <p:sldId id="301" r:id="rId9"/>
    <p:sldId id="265" r:id="rId10"/>
    <p:sldId id="302" r:id="rId11"/>
    <p:sldId id="303" r:id="rId12"/>
    <p:sldId id="312"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43"/>
    <p:restoredTop sz="94773"/>
  </p:normalViewPr>
  <p:slideViewPr>
    <p:cSldViewPr snapToGrid="0">
      <p:cViewPr varScale="1">
        <p:scale>
          <a:sx n="106" d="100"/>
          <a:sy n="106" d="100"/>
        </p:scale>
        <p:origin x="20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752BBD-52C6-D941-A000-9B0034A8E6C9}" type="datetimeFigureOut">
              <a:rPr lang="en-GB" smtClean="0"/>
              <a:t>08/03/2025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54A455-FA60-D64D-9CD7-CFEDCF0F041C}" type="slidenum">
              <a:rPr lang="en-GB" smtClean="0"/>
              <a:t>‹N°›</a:t>
            </a:fld>
            <a:endParaRPr lang="en-GB"/>
          </a:p>
        </p:txBody>
      </p:sp>
    </p:spTree>
    <p:extLst>
      <p:ext uri="{BB962C8B-B14F-4D97-AF65-F5344CB8AC3E}">
        <p14:creationId xmlns:p14="http://schemas.microsoft.com/office/powerpoint/2010/main" val="3163462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GB" dirty="0"/>
              <a:t>If w</a:t>
            </a:r>
          </a:p>
        </p:txBody>
      </p:sp>
      <p:sp>
        <p:nvSpPr>
          <p:cNvPr id="4" name="Espace réservé du numéro de diapositive 3"/>
          <p:cNvSpPr>
            <a:spLocks noGrp="1"/>
          </p:cNvSpPr>
          <p:nvPr>
            <p:ph type="sldNum" sz="quarter" idx="5"/>
          </p:nvPr>
        </p:nvSpPr>
        <p:spPr/>
        <p:txBody>
          <a:bodyPr/>
          <a:lstStyle/>
          <a:p>
            <a:fld id="{D754A455-FA60-D64D-9CD7-CFEDCF0F041C}" type="slidenum">
              <a:rPr lang="en-GB" smtClean="0"/>
              <a:t>5</a:t>
            </a:fld>
            <a:endParaRPr lang="en-GB"/>
          </a:p>
        </p:txBody>
      </p:sp>
    </p:spTree>
    <p:extLst>
      <p:ext uri="{BB962C8B-B14F-4D97-AF65-F5344CB8AC3E}">
        <p14:creationId xmlns:p14="http://schemas.microsoft.com/office/powerpoint/2010/main" val="4170800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BAD45-DF89-0E9B-AC01-DF51319AE9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BC76145-8831-D5B2-8718-AF0B84777F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43E469C-F6DC-2057-87C8-B469C152E65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1323994-C59E-3763-52DF-A109453EB4E1}"/>
              </a:ext>
            </a:extLst>
          </p:cNvPr>
          <p:cNvSpPr>
            <a:spLocks noGrp="1"/>
          </p:cNvSpPr>
          <p:nvPr>
            <p:ph type="sldNum" sz="quarter" idx="5"/>
          </p:nvPr>
        </p:nvSpPr>
        <p:spPr/>
        <p:txBody>
          <a:bodyPr/>
          <a:lstStyle/>
          <a:p>
            <a:fld id="{BFE20620-1C2C-7043-8B38-691BB5666C4A}" type="slidenum">
              <a:rPr lang="fr-FR" smtClean="0"/>
              <a:t>9</a:t>
            </a:fld>
            <a:endParaRPr lang="fr-FR"/>
          </a:p>
        </p:txBody>
      </p:sp>
    </p:spTree>
    <p:extLst>
      <p:ext uri="{BB962C8B-B14F-4D97-AF65-F5344CB8AC3E}">
        <p14:creationId xmlns:p14="http://schemas.microsoft.com/office/powerpoint/2010/main" val="1791069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90546-CC68-EBBB-9127-3B363C8F82E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BCF6CAD-FDD7-2F9D-4336-93A1B90908D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25C6E3D-8FCF-1175-4EFC-D51691DC1FB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EEAF6B2-2CCF-DB49-01C1-45E898C8D38B}"/>
              </a:ext>
            </a:extLst>
          </p:cNvPr>
          <p:cNvSpPr>
            <a:spLocks noGrp="1"/>
          </p:cNvSpPr>
          <p:nvPr>
            <p:ph type="sldNum" sz="quarter" idx="5"/>
          </p:nvPr>
        </p:nvSpPr>
        <p:spPr/>
        <p:txBody>
          <a:bodyPr/>
          <a:lstStyle/>
          <a:p>
            <a:fld id="{BFE20620-1C2C-7043-8B38-691BB5666C4A}" type="slidenum">
              <a:rPr lang="fr-FR" smtClean="0"/>
              <a:t>10</a:t>
            </a:fld>
            <a:endParaRPr lang="fr-FR"/>
          </a:p>
        </p:txBody>
      </p:sp>
    </p:spTree>
    <p:extLst>
      <p:ext uri="{BB962C8B-B14F-4D97-AF65-F5344CB8AC3E}">
        <p14:creationId xmlns:p14="http://schemas.microsoft.com/office/powerpoint/2010/main" val="3892412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4AD27-0C4D-8F82-85CA-79F70B11E10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E93A9CA-4583-4D95-53B1-BB883EC75D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A26AB01-BE5C-4C8C-3E55-10F15BC8FD4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706F63A-1E06-045F-E178-0A9E55357E94}"/>
              </a:ext>
            </a:extLst>
          </p:cNvPr>
          <p:cNvSpPr>
            <a:spLocks noGrp="1"/>
          </p:cNvSpPr>
          <p:nvPr>
            <p:ph type="sldNum" sz="quarter" idx="5"/>
          </p:nvPr>
        </p:nvSpPr>
        <p:spPr/>
        <p:txBody>
          <a:bodyPr/>
          <a:lstStyle/>
          <a:p>
            <a:fld id="{BFE20620-1C2C-7043-8B38-691BB5666C4A}" type="slidenum">
              <a:rPr lang="fr-FR" smtClean="0"/>
              <a:t>11</a:t>
            </a:fld>
            <a:endParaRPr lang="fr-FR"/>
          </a:p>
        </p:txBody>
      </p:sp>
    </p:spTree>
    <p:extLst>
      <p:ext uri="{BB962C8B-B14F-4D97-AF65-F5344CB8AC3E}">
        <p14:creationId xmlns:p14="http://schemas.microsoft.com/office/powerpoint/2010/main" val="276879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2D0B-A434-11E6-6099-ADE7686EE3F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D253AC5-39D2-63FB-D88C-9C1D925C752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3992C01-55B2-2A05-3760-EB3E39B9E54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2FCA6B4-39B7-3D95-C259-4299B24D314F}"/>
              </a:ext>
            </a:extLst>
          </p:cNvPr>
          <p:cNvSpPr>
            <a:spLocks noGrp="1"/>
          </p:cNvSpPr>
          <p:nvPr>
            <p:ph type="sldNum" sz="quarter" idx="5"/>
          </p:nvPr>
        </p:nvSpPr>
        <p:spPr/>
        <p:txBody>
          <a:bodyPr/>
          <a:lstStyle/>
          <a:p>
            <a:fld id="{BFE20620-1C2C-7043-8B38-691BB5666C4A}" type="slidenum">
              <a:rPr lang="fr-FR" smtClean="0"/>
              <a:t>12</a:t>
            </a:fld>
            <a:endParaRPr lang="fr-FR"/>
          </a:p>
        </p:txBody>
      </p:sp>
    </p:spTree>
    <p:extLst>
      <p:ext uri="{BB962C8B-B14F-4D97-AF65-F5344CB8AC3E}">
        <p14:creationId xmlns:p14="http://schemas.microsoft.com/office/powerpoint/2010/main" val="2855474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7C4425-F6C5-0AC5-6444-C74FBB049E1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GB"/>
          </a:p>
        </p:txBody>
      </p:sp>
      <p:sp>
        <p:nvSpPr>
          <p:cNvPr id="3" name="Sous-titre 2">
            <a:extLst>
              <a:ext uri="{FF2B5EF4-FFF2-40B4-BE49-F238E27FC236}">
                <a16:creationId xmlns:a16="http://schemas.microsoft.com/office/drawing/2014/main" id="{1CE795E0-EF6C-0D32-A591-66AE698C11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4" name="Espace réservé de la date 3">
            <a:extLst>
              <a:ext uri="{FF2B5EF4-FFF2-40B4-BE49-F238E27FC236}">
                <a16:creationId xmlns:a16="http://schemas.microsoft.com/office/drawing/2014/main" id="{E76F2588-33B1-1B2F-E659-67177026C498}"/>
              </a:ext>
            </a:extLst>
          </p:cNvPr>
          <p:cNvSpPr>
            <a:spLocks noGrp="1"/>
          </p:cNvSpPr>
          <p:nvPr>
            <p:ph type="dt" sz="half" idx="10"/>
          </p:nvPr>
        </p:nvSpPr>
        <p:spPr/>
        <p:txBody>
          <a:bodyPr/>
          <a:lstStyle/>
          <a:p>
            <a:fld id="{EE7AEF53-8A4F-9B47-A64D-7DFD03BBE3A5}" type="datetime1">
              <a:rPr lang="fr-FR" smtClean="0"/>
              <a:t>08/03/2025</a:t>
            </a:fld>
            <a:endParaRPr lang="en-GB"/>
          </a:p>
        </p:txBody>
      </p:sp>
      <p:sp>
        <p:nvSpPr>
          <p:cNvPr id="5" name="Espace réservé du pied de page 4">
            <a:extLst>
              <a:ext uri="{FF2B5EF4-FFF2-40B4-BE49-F238E27FC236}">
                <a16:creationId xmlns:a16="http://schemas.microsoft.com/office/drawing/2014/main" id="{08FF6D4B-A1E8-415B-C1F6-D17F463AFCFC}"/>
              </a:ext>
            </a:extLst>
          </p:cNvPr>
          <p:cNvSpPr>
            <a:spLocks noGrp="1"/>
          </p:cNvSpPr>
          <p:nvPr>
            <p:ph type="ftr" sz="quarter" idx="11"/>
          </p:nvPr>
        </p:nvSpPr>
        <p:spPr/>
        <p:txBody>
          <a:bodyPr/>
          <a:lstStyle/>
          <a:p>
            <a:r>
              <a:rPr lang="en-GB"/>
              <a:t>Activation Functions. Author : David Thébault</a:t>
            </a:r>
          </a:p>
        </p:txBody>
      </p:sp>
      <p:sp>
        <p:nvSpPr>
          <p:cNvPr id="6" name="Espace réservé du numéro de diapositive 5">
            <a:extLst>
              <a:ext uri="{FF2B5EF4-FFF2-40B4-BE49-F238E27FC236}">
                <a16:creationId xmlns:a16="http://schemas.microsoft.com/office/drawing/2014/main" id="{33A753FF-DE98-B3F6-E58A-23FBFDAF0345}"/>
              </a:ext>
            </a:extLst>
          </p:cNvPr>
          <p:cNvSpPr>
            <a:spLocks noGrp="1"/>
          </p:cNvSpPr>
          <p:nvPr>
            <p:ph type="sldNum" sz="quarter" idx="12"/>
          </p:nvPr>
        </p:nvSpPr>
        <p:spPr/>
        <p:txBody>
          <a:bodyPr/>
          <a:lstStyle/>
          <a:p>
            <a:fld id="{6576FC11-CB27-884D-AB4B-9D6B264C05EB}" type="slidenum">
              <a:rPr lang="en-GB" smtClean="0"/>
              <a:t>‹N°›</a:t>
            </a:fld>
            <a:endParaRPr lang="en-GB"/>
          </a:p>
        </p:txBody>
      </p:sp>
    </p:spTree>
    <p:extLst>
      <p:ext uri="{BB962C8B-B14F-4D97-AF65-F5344CB8AC3E}">
        <p14:creationId xmlns:p14="http://schemas.microsoft.com/office/powerpoint/2010/main" val="466383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F35AB1-94E2-10FE-42E5-D04CBEC2F2A4}"/>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37253255-E42A-2264-E4D3-B2FA40E72D4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15A9957B-CD5D-D959-D442-C3F9C9A138F6}"/>
              </a:ext>
            </a:extLst>
          </p:cNvPr>
          <p:cNvSpPr>
            <a:spLocks noGrp="1"/>
          </p:cNvSpPr>
          <p:nvPr>
            <p:ph type="dt" sz="half" idx="10"/>
          </p:nvPr>
        </p:nvSpPr>
        <p:spPr/>
        <p:txBody>
          <a:bodyPr/>
          <a:lstStyle/>
          <a:p>
            <a:fld id="{EAC5C04C-919F-174F-87F2-DADFC9D211F6}" type="datetime1">
              <a:rPr lang="fr-FR" smtClean="0"/>
              <a:t>08/03/2025</a:t>
            </a:fld>
            <a:endParaRPr lang="en-GB"/>
          </a:p>
        </p:txBody>
      </p:sp>
      <p:sp>
        <p:nvSpPr>
          <p:cNvPr id="5" name="Espace réservé du pied de page 4">
            <a:extLst>
              <a:ext uri="{FF2B5EF4-FFF2-40B4-BE49-F238E27FC236}">
                <a16:creationId xmlns:a16="http://schemas.microsoft.com/office/drawing/2014/main" id="{5C5AEF44-41A1-D8A8-71AF-63919C0B0B74}"/>
              </a:ext>
            </a:extLst>
          </p:cNvPr>
          <p:cNvSpPr>
            <a:spLocks noGrp="1"/>
          </p:cNvSpPr>
          <p:nvPr>
            <p:ph type="ftr" sz="quarter" idx="11"/>
          </p:nvPr>
        </p:nvSpPr>
        <p:spPr/>
        <p:txBody>
          <a:bodyPr/>
          <a:lstStyle/>
          <a:p>
            <a:r>
              <a:rPr lang="en-GB"/>
              <a:t>Activation Functions. Author : David Thébault</a:t>
            </a:r>
          </a:p>
        </p:txBody>
      </p:sp>
      <p:sp>
        <p:nvSpPr>
          <p:cNvPr id="6" name="Espace réservé du numéro de diapositive 5">
            <a:extLst>
              <a:ext uri="{FF2B5EF4-FFF2-40B4-BE49-F238E27FC236}">
                <a16:creationId xmlns:a16="http://schemas.microsoft.com/office/drawing/2014/main" id="{561750BC-DC27-583F-6484-C768E784C2EC}"/>
              </a:ext>
            </a:extLst>
          </p:cNvPr>
          <p:cNvSpPr>
            <a:spLocks noGrp="1"/>
          </p:cNvSpPr>
          <p:nvPr>
            <p:ph type="sldNum" sz="quarter" idx="12"/>
          </p:nvPr>
        </p:nvSpPr>
        <p:spPr/>
        <p:txBody>
          <a:bodyPr/>
          <a:lstStyle/>
          <a:p>
            <a:fld id="{6576FC11-CB27-884D-AB4B-9D6B264C05EB}" type="slidenum">
              <a:rPr lang="en-GB" smtClean="0"/>
              <a:t>‹N°›</a:t>
            </a:fld>
            <a:endParaRPr lang="en-GB"/>
          </a:p>
        </p:txBody>
      </p:sp>
    </p:spTree>
    <p:extLst>
      <p:ext uri="{BB962C8B-B14F-4D97-AF65-F5344CB8AC3E}">
        <p14:creationId xmlns:p14="http://schemas.microsoft.com/office/powerpoint/2010/main" val="3103522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571DCC-F3B0-3DD2-9338-F21B71F226B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GB"/>
          </a:p>
        </p:txBody>
      </p:sp>
      <p:sp>
        <p:nvSpPr>
          <p:cNvPr id="3" name="Espace réservé du texte 2">
            <a:extLst>
              <a:ext uri="{FF2B5EF4-FFF2-40B4-BE49-F238E27FC236}">
                <a16:creationId xmlns:a16="http://schemas.microsoft.com/office/drawing/2014/main" id="{23B71F11-9465-A829-E243-2E455A3D32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648A5F0-6089-B424-351D-5309E97C2B9A}"/>
              </a:ext>
            </a:extLst>
          </p:cNvPr>
          <p:cNvSpPr>
            <a:spLocks noGrp="1"/>
          </p:cNvSpPr>
          <p:nvPr>
            <p:ph type="dt" sz="half" idx="10"/>
          </p:nvPr>
        </p:nvSpPr>
        <p:spPr/>
        <p:txBody>
          <a:bodyPr/>
          <a:lstStyle/>
          <a:p>
            <a:fld id="{A51456ED-E1D0-F248-80DD-FFC8262505EB}" type="datetime1">
              <a:rPr lang="fr-FR" smtClean="0"/>
              <a:t>08/03/2025</a:t>
            </a:fld>
            <a:endParaRPr lang="en-GB"/>
          </a:p>
        </p:txBody>
      </p:sp>
      <p:sp>
        <p:nvSpPr>
          <p:cNvPr id="5" name="Espace réservé du pied de page 4">
            <a:extLst>
              <a:ext uri="{FF2B5EF4-FFF2-40B4-BE49-F238E27FC236}">
                <a16:creationId xmlns:a16="http://schemas.microsoft.com/office/drawing/2014/main" id="{88F91285-4242-14C6-C539-B3AC6C3A9C1E}"/>
              </a:ext>
            </a:extLst>
          </p:cNvPr>
          <p:cNvSpPr>
            <a:spLocks noGrp="1"/>
          </p:cNvSpPr>
          <p:nvPr>
            <p:ph type="ftr" sz="quarter" idx="11"/>
          </p:nvPr>
        </p:nvSpPr>
        <p:spPr/>
        <p:txBody>
          <a:bodyPr/>
          <a:lstStyle/>
          <a:p>
            <a:r>
              <a:rPr lang="en-GB"/>
              <a:t>Activation Functions. Author : David Thébault</a:t>
            </a:r>
          </a:p>
        </p:txBody>
      </p:sp>
      <p:sp>
        <p:nvSpPr>
          <p:cNvPr id="6" name="Espace réservé du numéro de diapositive 5">
            <a:extLst>
              <a:ext uri="{FF2B5EF4-FFF2-40B4-BE49-F238E27FC236}">
                <a16:creationId xmlns:a16="http://schemas.microsoft.com/office/drawing/2014/main" id="{BD0EF143-AE53-54A3-EBFB-6E04D1EF3857}"/>
              </a:ext>
            </a:extLst>
          </p:cNvPr>
          <p:cNvSpPr>
            <a:spLocks noGrp="1"/>
          </p:cNvSpPr>
          <p:nvPr>
            <p:ph type="sldNum" sz="quarter" idx="12"/>
          </p:nvPr>
        </p:nvSpPr>
        <p:spPr/>
        <p:txBody>
          <a:bodyPr/>
          <a:lstStyle/>
          <a:p>
            <a:fld id="{6576FC11-CB27-884D-AB4B-9D6B264C05EB}" type="slidenum">
              <a:rPr lang="en-GB" smtClean="0"/>
              <a:t>‹N°›</a:t>
            </a:fld>
            <a:endParaRPr lang="en-GB"/>
          </a:p>
        </p:txBody>
      </p:sp>
    </p:spTree>
    <p:extLst>
      <p:ext uri="{BB962C8B-B14F-4D97-AF65-F5344CB8AC3E}">
        <p14:creationId xmlns:p14="http://schemas.microsoft.com/office/powerpoint/2010/main" val="3034074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2D754F-33AA-9F71-4877-6C977F56A04E}"/>
              </a:ext>
            </a:extLst>
          </p:cNvPr>
          <p:cNvSpPr>
            <a:spLocks noGrp="1"/>
          </p:cNvSpPr>
          <p:nvPr>
            <p:ph type="title"/>
          </p:nvPr>
        </p:nvSpPr>
        <p:spPr/>
        <p:txBody>
          <a:bodyPr/>
          <a:lstStyle/>
          <a:p>
            <a:r>
              <a:rPr lang="fr-FR"/>
              <a:t>Modifiez le style du titre</a:t>
            </a:r>
            <a:endParaRPr lang="en-GB"/>
          </a:p>
        </p:txBody>
      </p:sp>
      <p:sp>
        <p:nvSpPr>
          <p:cNvPr id="3" name="Espace réservé du contenu 2">
            <a:extLst>
              <a:ext uri="{FF2B5EF4-FFF2-40B4-BE49-F238E27FC236}">
                <a16:creationId xmlns:a16="http://schemas.microsoft.com/office/drawing/2014/main" id="{48EA929A-B9AC-BCB3-DA10-62BC25014A2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contenu 3">
            <a:extLst>
              <a:ext uri="{FF2B5EF4-FFF2-40B4-BE49-F238E27FC236}">
                <a16:creationId xmlns:a16="http://schemas.microsoft.com/office/drawing/2014/main" id="{F7E26C5B-BA63-EB7D-B5F4-91F163287E4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e la date 4">
            <a:extLst>
              <a:ext uri="{FF2B5EF4-FFF2-40B4-BE49-F238E27FC236}">
                <a16:creationId xmlns:a16="http://schemas.microsoft.com/office/drawing/2014/main" id="{9B552622-482F-8FD7-DF76-AB94666315B7}"/>
              </a:ext>
            </a:extLst>
          </p:cNvPr>
          <p:cNvSpPr>
            <a:spLocks noGrp="1"/>
          </p:cNvSpPr>
          <p:nvPr>
            <p:ph type="dt" sz="half" idx="10"/>
          </p:nvPr>
        </p:nvSpPr>
        <p:spPr/>
        <p:txBody>
          <a:bodyPr/>
          <a:lstStyle/>
          <a:p>
            <a:fld id="{97CD3E0A-8BD1-6440-85B1-6A57D7F31260}" type="datetime1">
              <a:rPr lang="fr-FR" smtClean="0"/>
              <a:t>08/03/2025</a:t>
            </a:fld>
            <a:endParaRPr lang="en-GB"/>
          </a:p>
        </p:txBody>
      </p:sp>
      <p:sp>
        <p:nvSpPr>
          <p:cNvPr id="6" name="Espace réservé du pied de page 5">
            <a:extLst>
              <a:ext uri="{FF2B5EF4-FFF2-40B4-BE49-F238E27FC236}">
                <a16:creationId xmlns:a16="http://schemas.microsoft.com/office/drawing/2014/main" id="{47754231-9ACA-2D5A-F8EE-9A2F86901C6B}"/>
              </a:ext>
            </a:extLst>
          </p:cNvPr>
          <p:cNvSpPr>
            <a:spLocks noGrp="1"/>
          </p:cNvSpPr>
          <p:nvPr>
            <p:ph type="ftr" sz="quarter" idx="11"/>
          </p:nvPr>
        </p:nvSpPr>
        <p:spPr/>
        <p:txBody>
          <a:bodyPr/>
          <a:lstStyle/>
          <a:p>
            <a:r>
              <a:rPr lang="en-GB"/>
              <a:t>Activation Functions. Author : David Thébault</a:t>
            </a:r>
          </a:p>
        </p:txBody>
      </p:sp>
      <p:sp>
        <p:nvSpPr>
          <p:cNvPr id="7" name="Espace réservé du numéro de diapositive 6">
            <a:extLst>
              <a:ext uri="{FF2B5EF4-FFF2-40B4-BE49-F238E27FC236}">
                <a16:creationId xmlns:a16="http://schemas.microsoft.com/office/drawing/2014/main" id="{7E0518FC-BA0D-B51E-2EB6-6D76C006A791}"/>
              </a:ext>
            </a:extLst>
          </p:cNvPr>
          <p:cNvSpPr>
            <a:spLocks noGrp="1"/>
          </p:cNvSpPr>
          <p:nvPr>
            <p:ph type="sldNum" sz="quarter" idx="12"/>
          </p:nvPr>
        </p:nvSpPr>
        <p:spPr/>
        <p:txBody>
          <a:bodyPr/>
          <a:lstStyle/>
          <a:p>
            <a:fld id="{6576FC11-CB27-884D-AB4B-9D6B264C05EB}" type="slidenum">
              <a:rPr lang="en-GB" smtClean="0"/>
              <a:t>‹N°›</a:t>
            </a:fld>
            <a:endParaRPr lang="en-GB"/>
          </a:p>
        </p:txBody>
      </p:sp>
    </p:spTree>
    <p:extLst>
      <p:ext uri="{BB962C8B-B14F-4D97-AF65-F5344CB8AC3E}">
        <p14:creationId xmlns:p14="http://schemas.microsoft.com/office/powerpoint/2010/main" val="3336245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7AB13B-812A-B330-0EA3-676445AE0C61}"/>
              </a:ext>
            </a:extLst>
          </p:cNvPr>
          <p:cNvSpPr>
            <a:spLocks noGrp="1"/>
          </p:cNvSpPr>
          <p:nvPr>
            <p:ph type="title"/>
          </p:nvPr>
        </p:nvSpPr>
        <p:spPr>
          <a:xfrm>
            <a:off x="839788" y="365125"/>
            <a:ext cx="10515600" cy="1325563"/>
          </a:xfrm>
        </p:spPr>
        <p:txBody>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9C8D3A06-CA1B-5CAA-6B25-54B5A3D24F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3664C81-D0ED-34C1-5011-040078AD2FB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u texte 4">
            <a:extLst>
              <a:ext uri="{FF2B5EF4-FFF2-40B4-BE49-F238E27FC236}">
                <a16:creationId xmlns:a16="http://schemas.microsoft.com/office/drawing/2014/main" id="{811B7F6D-3E68-7D66-0D67-2EF9A2D316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75AE8E9-AE6E-7C8A-7966-54D3AD153F0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Espace réservé de la date 6">
            <a:extLst>
              <a:ext uri="{FF2B5EF4-FFF2-40B4-BE49-F238E27FC236}">
                <a16:creationId xmlns:a16="http://schemas.microsoft.com/office/drawing/2014/main" id="{3355C844-30DD-3A3A-36D1-FB06FD8ADAF3}"/>
              </a:ext>
            </a:extLst>
          </p:cNvPr>
          <p:cNvSpPr>
            <a:spLocks noGrp="1"/>
          </p:cNvSpPr>
          <p:nvPr>
            <p:ph type="dt" sz="half" idx="10"/>
          </p:nvPr>
        </p:nvSpPr>
        <p:spPr/>
        <p:txBody>
          <a:bodyPr/>
          <a:lstStyle/>
          <a:p>
            <a:fld id="{0E804663-6A6A-2840-BCA5-308ECACC5CF2}" type="datetime1">
              <a:rPr lang="fr-FR" smtClean="0"/>
              <a:t>08/03/2025</a:t>
            </a:fld>
            <a:endParaRPr lang="en-GB"/>
          </a:p>
        </p:txBody>
      </p:sp>
      <p:sp>
        <p:nvSpPr>
          <p:cNvPr id="8" name="Espace réservé du pied de page 7">
            <a:extLst>
              <a:ext uri="{FF2B5EF4-FFF2-40B4-BE49-F238E27FC236}">
                <a16:creationId xmlns:a16="http://schemas.microsoft.com/office/drawing/2014/main" id="{55F02C50-591A-0FD7-97DE-1F1DB9F8CB5D}"/>
              </a:ext>
            </a:extLst>
          </p:cNvPr>
          <p:cNvSpPr>
            <a:spLocks noGrp="1"/>
          </p:cNvSpPr>
          <p:nvPr>
            <p:ph type="ftr" sz="quarter" idx="11"/>
          </p:nvPr>
        </p:nvSpPr>
        <p:spPr/>
        <p:txBody>
          <a:bodyPr/>
          <a:lstStyle/>
          <a:p>
            <a:r>
              <a:rPr lang="en-GB"/>
              <a:t>Activation Functions. Author : David Thébault</a:t>
            </a:r>
          </a:p>
        </p:txBody>
      </p:sp>
      <p:sp>
        <p:nvSpPr>
          <p:cNvPr id="9" name="Espace réservé du numéro de diapositive 8">
            <a:extLst>
              <a:ext uri="{FF2B5EF4-FFF2-40B4-BE49-F238E27FC236}">
                <a16:creationId xmlns:a16="http://schemas.microsoft.com/office/drawing/2014/main" id="{28BDFAAC-80B9-4577-0866-631FD2D7F6E2}"/>
              </a:ext>
            </a:extLst>
          </p:cNvPr>
          <p:cNvSpPr>
            <a:spLocks noGrp="1"/>
          </p:cNvSpPr>
          <p:nvPr>
            <p:ph type="sldNum" sz="quarter" idx="12"/>
          </p:nvPr>
        </p:nvSpPr>
        <p:spPr/>
        <p:txBody>
          <a:bodyPr/>
          <a:lstStyle/>
          <a:p>
            <a:fld id="{6576FC11-CB27-884D-AB4B-9D6B264C05EB}" type="slidenum">
              <a:rPr lang="en-GB" smtClean="0"/>
              <a:t>‹N°›</a:t>
            </a:fld>
            <a:endParaRPr lang="en-GB"/>
          </a:p>
        </p:txBody>
      </p:sp>
    </p:spTree>
    <p:extLst>
      <p:ext uri="{BB962C8B-B14F-4D97-AF65-F5344CB8AC3E}">
        <p14:creationId xmlns:p14="http://schemas.microsoft.com/office/powerpoint/2010/main" val="1801809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7EC5A3-2D4F-7868-5CD2-81A01F542C15}"/>
              </a:ext>
            </a:extLst>
          </p:cNvPr>
          <p:cNvSpPr>
            <a:spLocks noGrp="1"/>
          </p:cNvSpPr>
          <p:nvPr>
            <p:ph type="title"/>
          </p:nvPr>
        </p:nvSpPr>
        <p:spPr/>
        <p:txBody>
          <a:bodyPr/>
          <a:lstStyle/>
          <a:p>
            <a:r>
              <a:rPr lang="fr-FR"/>
              <a:t>Modifiez le style du titre</a:t>
            </a:r>
            <a:endParaRPr lang="en-GB"/>
          </a:p>
        </p:txBody>
      </p:sp>
      <p:sp>
        <p:nvSpPr>
          <p:cNvPr id="3" name="Espace réservé de la date 2">
            <a:extLst>
              <a:ext uri="{FF2B5EF4-FFF2-40B4-BE49-F238E27FC236}">
                <a16:creationId xmlns:a16="http://schemas.microsoft.com/office/drawing/2014/main" id="{46A2D0CA-1B8F-1D0D-D28E-7FD6D35AC406}"/>
              </a:ext>
            </a:extLst>
          </p:cNvPr>
          <p:cNvSpPr>
            <a:spLocks noGrp="1"/>
          </p:cNvSpPr>
          <p:nvPr>
            <p:ph type="dt" sz="half" idx="10"/>
          </p:nvPr>
        </p:nvSpPr>
        <p:spPr/>
        <p:txBody>
          <a:bodyPr/>
          <a:lstStyle/>
          <a:p>
            <a:fld id="{810A8193-1E70-3940-9F41-EDA8FC3700D8}" type="datetime1">
              <a:rPr lang="fr-FR" smtClean="0"/>
              <a:t>08/03/2025</a:t>
            </a:fld>
            <a:endParaRPr lang="en-GB"/>
          </a:p>
        </p:txBody>
      </p:sp>
      <p:sp>
        <p:nvSpPr>
          <p:cNvPr id="4" name="Espace réservé du pied de page 3">
            <a:extLst>
              <a:ext uri="{FF2B5EF4-FFF2-40B4-BE49-F238E27FC236}">
                <a16:creationId xmlns:a16="http://schemas.microsoft.com/office/drawing/2014/main" id="{2F9F88AA-E377-7FCC-00F7-582E5E2041B9}"/>
              </a:ext>
            </a:extLst>
          </p:cNvPr>
          <p:cNvSpPr>
            <a:spLocks noGrp="1"/>
          </p:cNvSpPr>
          <p:nvPr>
            <p:ph type="ftr" sz="quarter" idx="11"/>
          </p:nvPr>
        </p:nvSpPr>
        <p:spPr/>
        <p:txBody>
          <a:bodyPr/>
          <a:lstStyle/>
          <a:p>
            <a:r>
              <a:rPr lang="en-GB"/>
              <a:t>Activation Functions. Author : David Thébault</a:t>
            </a:r>
          </a:p>
        </p:txBody>
      </p:sp>
      <p:sp>
        <p:nvSpPr>
          <p:cNvPr id="5" name="Espace réservé du numéro de diapositive 4">
            <a:extLst>
              <a:ext uri="{FF2B5EF4-FFF2-40B4-BE49-F238E27FC236}">
                <a16:creationId xmlns:a16="http://schemas.microsoft.com/office/drawing/2014/main" id="{7A47046C-0D39-16DA-CD68-11B1AC18BE3E}"/>
              </a:ext>
            </a:extLst>
          </p:cNvPr>
          <p:cNvSpPr>
            <a:spLocks noGrp="1"/>
          </p:cNvSpPr>
          <p:nvPr>
            <p:ph type="sldNum" sz="quarter" idx="12"/>
          </p:nvPr>
        </p:nvSpPr>
        <p:spPr/>
        <p:txBody>
          <a:bodyPr/>
          <a:lstStyle/>
          <a:p>
            <a:fld id="{6576FC11-CB27-884D-AB4B-9D6B264C05EB}" type="slidenum">
              <a:rPr lang="en-GB" smtClean="0"/>
              <a:t>‹N°›</a:t>
            </a:fld>
            <a:endParaRPr lang="en-GB"/>
          </a:p>
        </p:txBody>
      </p:sp>
    </p:spTree>
    <p:extLst>
      <p:ext uri="{BB962C8B-B14F-4D97-AF65-F5344CB8AC3E}">
        <p14:creationId xmlns:p14="http://schemas.microsoft.com/office/powerpoint/2010/main" val="1088735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8701F4F-4F03-36B1-9C9A-FB6993B95F73}"/>
              </a:ext>
            </a:extLst>
          </p:cNvPr>
          <p:cNvSpPr>
            <a:spLocks noGrp="1"/>
          </p:cNvSpPr>
          <p:nvPr>
            <p:ph type="dt" sz="half" idx="10"/>
          </p:nvPr>
        </p:nvSpPr>
        <p:spPr/>
        <p:txBody>
          <a:bodyPr/>
          <a:lstStyle/>
          <a:p>
            <a:fld id="{37F1A674-A2A8-9F4B-B6E9-807E29177D1C}" type="datetime1">
              <a:rPr lang="fr-FR" smtClean="0"/>
              <a:t>08/03/2025</a:t>
            </a:fld>
            <a:endParaRPr lang="en-GB"/>
          </a:p>
        </p:txBody>
      </p:sp>
      <p:sp>
        <p:nvSpPr>
          <p:cNvPr id="3" name="Espace réservé du pied de page 2">
            <a:extLst>
              <a:ext uri="{FF2B5EF4-FFF2-40B4-BE49-F238E27FC236}">
                <a16:creationId xmlns:a16="http://schemas.microsoft.com/office/drawing/2014/main" id="{5BFFA9F9-062F-3F2C-58F9-D6D4640182C4}"/>
              </a:ext>
            </a:extLst>
          </p:cNvPr>
          <p:cNvSpPr>
            <a:spLocks noGrp="1"/>
          </p:cNvSpPr>
          <p:nvPr>
            <p:ph type="ftr" sz="quarter" idx="11"/>
          </p:nvPr>
        </p:nvSpPr>
        <p:spPr/>
        <p:txBody>
          <a:bodyPr/>
          <a:lstStyle/>
          <a:p>
            <a:r>
              <a:rPr lang="en-GB"/>
              <a:t>Activation Functions. Author : David Thébault</a:t>
            </a:r>
          </a:p>
        </p:txBody>
      </p:sp>
      <p:sp>
        <p:nvSpPr>
          <p:cNvPr id="4" name="Espace réservé du numéro de diapositive 3">
            <a:extLst>
              <a:ext uri="{FF2B5EF4-FFF2-40B4-BE49-F238E27FC236}">
                <a16:creationId xmlns:a16="http://schemas.microsoft.com/office/drawing/2014/main" id="{F9F7B69F-5DA1-A053-5212-E48E594A1DE1}"/>
              </a:ext>
            </a:extLst>
          </p:cNvPr>
          <p:cNvSpPr>
            <a:spLocks noGrp="1"/>
          </p:cNvSpPr>
          <p:nvPr>
            <p:ph type="sldNum" sz="quarter" idx="12"/>
          </p:nvPr>
        </p:nvSpPr>
        <p:spPr/>
        <p:txBody>
          <a:bodyPr/>
          <a:lstStyle/>
          <a:p>
            <a:fld id="{6576FC11-CB27-884D-AB4B-9D6B264C05EB}" type="slidenum">
              <a:rPr lang="en-GB" smtClean="0"/>
              <a:t>‹N°›</a:t>
            </a:fld>
            <a:endParaRPr lang="en-GB"/>
          </a:p>
        </p:txBody>
      </p:sp>
    </p:spTree>
    <p:extLst>
      <p:ext uri="{BB962C8B-B14F-4D97-AF65-F5344CB8AC3E}">
        <p14:creationId xmlns:p14="http://schemas.microsoft.com/office/powerpoint/2010/main" val="4117951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1AC515-5A96-535C-27BF-DF9EE51B446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du contenu 2">
            <a:extLst>
              <a:ext uri="{FF2B5EF4-FFF2-40B4-BE49-F238E27FC236}">
                <a16:creationId xmlns:a16="http://schemas.microsoft.com/office/drawing/2014/main" id="{8975717C-6F32-6515-4028-13A51F08F6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texte 3">
            <a:extLst>
              <a:ext uri="{FF2B5EF4-FFF2-40B4-BE49-F238E27FC236}">
                <a16:creationId xmlns:a16="http://schemas.microsoft.com/office/drawing/2014/main" id="{BED79638-85EA-6ED6-97E2-C4BA12137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BD22D75-6D6C-F288-35B8-BD6D3C95629B}"/>
              </a:ext>
            </a:extLst>
          </p:cNvPr>
          <p:cNvSpPr>
            <a:spLocks noGrp="1"/>
          </p:cNvSpPr>
          <p:nvPr>
            <p:ph type="dt" sz="half" idx="10"/>
          </p:nvPr>
        </p:nvSpPr>
        <p:spPr/>
        <p:txBody>
          <a:bodyPr/>
          <a:lstStyle/>
          <a:p>
            <a:fld id="{6B496083-61C8-C447-B52F-A04201A13AFE}" type="datetime1">
              <a:rPr lang="fr-FR" smtClean="0"/>
              <a:t>08/03/2025</a:t>
            </a:fld>
            <a:endParaRPr lang="en-GB"/>
          </a:p>
        </p:txBody>
      </p:sp>
      <p:sp>
        <p:nvSpPr>
          <p:cNvPr id="6" name="Espace réservé du pied de page 5">
            <a:extLst>
              <a:ext uri="{FF2B5EF4-FFF2-40B4-BE49-F238E27FC236}">
                <a16:creationId xmlns:a16="http://schemas.microsoft.com/office/drawing/2014/main" id="{1946D511-0FE5-B1D6-4FD6-56FB2B06720B}"/>
              </a:ext>
            </a:extLst>
          </p:cNvPr>
          <p:cNvSpPr>
            <a:spLocks noGrp="1"/>
          </p:cNvSpPr>
          <p:nvPr>
            <p:ph type="ftr" sz="quarter" idx="11"/>
          </p:nvPr>
        </p:nvSpPr>
        <p:spPr/>
        <p:txBody>
          <a:bodyPr/>
          <a:lstStyle/>
          <a:p>
            <a:r>
              <a:rPr lang="en-GB"/>
              <a:t>Activation Functions. Author : David Thébault</a:t>
            </a:r>
          </a:p>
        </p:txBody>
      </p:sp>
      <p:sp>
        <p:nvSpPr>
          <p:cNvPr id="7" name="Espace réservé du numéro de diapositive 6">
            <a:extLst>
              <a:ext uri="{FF2B5EF4-FFF2-40B4-BE49-F238E27FC236}">
                <a16:creationId xmlns:a16="http://schemas.microsoft.com/office/drawing/2014/main" id="{6B6F84E7-0B55-B9A2-6D75-42138AA3D414}"/>
              </a:ext>
            </a:extLst>
          </p:cNvPr>
          <p:cNvSpPr>
            <a:spLocks noGrp="1"/>
          </p:cNvSpPr>
          <p:nvPr>
            <p:ph type="sldNum" sz="quarter" idx="12"/>
          </p:nvPr>
        </p:nvSpPr>
        <p:spPr/>
        <p:txBody>
          <a:bodyPr/>
          <a:lstStyle/>
          <a:p>
            <a:fld id="{6576FC11-CB27-884D-AB4B-9D6B264C05EB}" type="slidenum">
              <a:rPr lang="en-GB" smtClean="0"/>
              <a:t>‹N°›</a:t>
            </a:fld>
            <a:endParaRPr lang="en-GB"/>
          </a:p>
        </p:txBody>
      </p:sp>
    </p:spTree>
    <p:extLst>
      <p:ext uri="{BB962C8B-B14F-4D97-AF65-F5344CB8AC3E}">
        <p14:creationId xmlns:p14="http://schemas.microsoft.com/office/powerpoint/2010/main" val="3490905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970085-07CA-7540-D60C-4DF1E0F3916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pour une image  2">
            <a:extLst>
              <a:ext uri="{FF2B5EF4-FFF2-40B4-BE49-F238E27FC236}">
                <a16:creationId xmlns:a16="http://schemas.microsoft.com/office/drawing/2014/main" id="{A463C526-422B-533F-6732-7314228475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Espace réservé du texte 3">
            <a:extLst>
              <a:ext uri="{FF2B5EF4-FFF2-40B4-BE49-F238E27FC236}">
                <a16:creationId xmlns:a16="http://schemas.microsoft.com/office/drawing/2014/main" id="{2F217AC2-B8A6-E5CF-4950-5FFFD1B819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14B75E3-713C-E906-E24B-96C6B7A0100F}"/>
              </a:ext>
            </a:extLst>
          </p:cNvPr>
          <p:cNvSpPr>
            <a:spLocks noGrp="1"/>
          </p:cNvSpPr>
          <p:nvPr>
            <p:ph type="dt" sz="half" idx="10"/>
          </p:nvPr>
        </p:nvSpPr>
        <p:spPr/>
        <p:txBody>
          <a:bodyPr/>
          <a:lstStyle/>
          <a:p>
            <a:fld id="{1478C289-4533-9043-912A-C5DAD6920AF9}" type="datetime1">
              <a:rPr lang="fr-FR" smtClean="0"/>
              <a:t>08/03/2025</a:t>
            </a:fld>
            <a:endParaRPr lang="en-GB"/>
          </a:p>
        </p:txBody>
      </p:sp>
      <p:sp>
        <p:nvSpPr>
          <p:cNvPr id="6" name="Espace réservé du pied de page 5">
            <a:extLst>
              <a:ext uri="{FF2B5EF4-FFF2-40B4-BE49-F238E27FC236}">
                <a16:creationId xmlns:a16="http://schemas.microsoft.com/office/drawing/2014/main" id="{DF567C98-111B-FF04-0715-EC9DE10FFA54}"/>
              </a:ext>
            </a:extLst>
          </p:cNvPr>
          <p:cNvSpPr>
            <a:spLocks noGrp="1"/>
          </p:cNvSpPr>
          <p:nvPr>
            <p:ph type="ftr" sz="quarter" idx="11"/>
          </p:nvPr>
        </p:nvSpPr>
        <p:spPr/>
        <p:txBody>
          <a:bodyPr/>
          <a:lstStyle/>
          <a:p>
            <a:r>
              <a:rPr lang="en-GB"/>
              <a:t>Activation Functions. Author : David Thébault</a:t>
            </a:r>
          </a:p>
        </p:txBody>
      </p:sp>
      <p:sp>
        <p:nvSpPr>
          <p:cNvPr id="7" name="Espace réservé du numéro de diapositive 6">
            <a:extLst>
              <a:ext uri="{FF2B5EF4-FFF2-40B4-BE49-F238E27FC236}">
                <a16:creationId xmlns:a16="http://schemas.microsoft.com/office/drawing/2014/main" id="{22021F58-9323-4F06-2219-E9DA1A013FE5}"/>
              </a:ext>
            </a:extLst>
          </p:cNvPr>
          <p:cNvSpPr>
            <a:spLocks noGrp="1"/>
          </p:cNvSpPr>
          <p:nvPr>
            <p:ph type="sldNum" sz="quarter" idx="12"/>
          </p:nvPr>
        </p:nvSpPr>
        <p:spPr/>
        <p:txBody>
          <a:bodyPr/>
          <a:lstStyle/>
          <a:p>
            <a:fld id="{6576FC11-CB27-884D-AB4B-9D6B264C05EB}" type="slidenum">
              <a:rPr lang="en-GB" smtClean="0"/>
              <a:t>‹N°›</a:t>
            </a:fld>
            <a:endParaRPr lang="en-GB"/>
          </a:p>
        </p:txBody>
      </p:sp>
    </p:spTree>
    <p:extLst>
      <p:ext uri="{BB962C8B-B14F-4D97-AF65-F5344CB8AC3E}">
        <p14:creationId xmlns:p14="http://schemas.microsoft.com/office/powerpoint/2010/main" val="2228268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A2926B-D2BE-9566-3923-598DDCB7A63B}"/>
              </a:ext>
            </a:extLst>
          </p:cNvPr>
          <p:cNvSpPr>
            <a:spLocks noGrp="1"/>
          </p:cNvSpPr>
          <p:nvPr>
            <p:ph type="title"/>
          </p:nvPr>
        </p:nvSpPr>
        <p:spPr/>
        <p:txBody>
          <a:bodyPr/>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DBE6AFCC-00B4-609F-936D-120D0667614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9ED1A912-FDD2-B9EF-0C3B-B8F3D5772E4D}"/>
              </a:ext>
            </a:extLst>
          </p:cNvPr>
          <p:cNvSpPr>
            <a:spLocks noGrp="1"/>
          </p:cNvSpPr>
          <p:nvPr>
            <p:ph type="dt" sz="half" idx="10"/>
          </p:nvPr>
        </p:nvSpPr>
        <p:spPr/>
        <p:txBody>
          <a:bodyPr/>
          <a:lstStyle/>
          <a:p>
            <a:fld id="{C41FBC6D-16FF-6C44-8FD4-D04964FBBE5A}" type="datetime1">
              <a:rPr lang="fr-FR" smtClean="0"/>
              <a:t>08/03/2025</a:t>
            </a:fld>
            <a:endParaRPr lang="en-GB"/>
          </a:p>
        </p:txBody>
      </p:sp>
      <p:sp>
        <p:nvSpPr>
          <p:cNvPr id="5" name="Espace réservé du pied de page 4">
            <a:extLst>
              <a:ext uri="{FF2B5EF4-FFF2-40B4-BE49-F238E27FC236}">
                <a16:creationId xmlns:a16="http://schemas.microsoft.com/office/drawing/2014/main" id="{EDFAA531-E348-C1F2-0CD9-A197FF68B6D1}"/>
              </a:ext>
            </a:extLst>
          </p:cNvPr>
          <p:cNvSpPr>
            <a:spLocks noGrp="1"/>
          </p:cNvSpPr>
          <p:nvPr>
            <p:ph type="ftr" sz="quarter" idx="11"/>
          </p:nvPr>
        </p:nvSpPr>
        <p:spPr/>
        <p:txBody>
          <a:bodyPr/>
          <a:lstStyle/>
          <a:p>
            <a:r>
              <a:rPr lang="en-GB"/>
              <a:t>Activation Functions. Author : David Thébault</a:t>
            </a:r>
          </a:p>
        </p:txBody>
      </p:sp>
      <p:sp>
        <p:nvSpPr>
          <p:cNvPr id="6" name="Espace réservé du numéro de diapositive 5">
            <a:extLst>
              <a:ext uri="{FF2B5EF4-FFF2-40B4-BE49-F238E27FC236}">
                <a16:creationId xmlns:a16="http://schemas.microsoft.com/office/drawing/2014/main" id="{845FBFBA-E03E-CB7A-47D0-896E82AFD2DE}"/>
              </a:ext>
            </a:extLst>
          </p:cNvPr>
          <p:cNvSpPr>
            <a:spLocks noGrp="1"/>
          </p:cNvSpPr>
          <p:nvPr>
            <p:ph type="sldNum" sz="quarter" idx="12"/>
          </p:nvPr>
        </p:nvSpPr>
        <p:spPr/>
        <p:txBody>
          <a:bodyPr/>
          <a:lstStyle/>
          <a:p>
            <a:fld id="{6576FC11-CB27-884D-AB4B-9D6B264C05EB}" type="slidenum">
              <a:rPr lang="en-GB" smtClean="0"/>
              <a:t>‹N°›</a:t>
            </a:fld>
            <a:endParaRPr lang="en-GB"/>
          </a:p>
        </p:txBody>
      </p:sp>
    </p:spTree>
    <p:extLst>
      <p:ext uri="{BB962C8B-B14F-4D97-AF65-F5344CB8AC3E}">
        <p14:creationId xmlns:p14="http://schemas.microsoft.com/office/powerpoint/2010/main" val="4020654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98140F4-7F1E-FE95-B238-31CE235A391A}"/>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GB"/>
          </a:p>
        </p:txBody>
      </p:sp>
      <p:sp>
        <p:nvSpPr>
          <p:cNvPr id="3" name="Espace réservé du texte vertical 2">
            <a:extLst>
              <a:ext uri="{FF2B5EF4-FFF2-40B4-BE49-F238E27FC236}">
                <a16:creationId xmlns:a16="http://schemas.microsoft.com/office/drawing/2014/main" id="{1C3EFC0C-27CF-045E-E0E5-74F5A0BD549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8FD44094-1961-2CF3-34A1-CBE4ED8CB14E}"/>
              </a:ext>
            </a:extLst>
          </p:cNvPr>
          <p:cNvSpPr>
            <a:spLocks noGrp="1"/>
          </p:cNvSpPr>
          <p:nvPr>
            <p:ph type="dt" sz="half" idx="10"/>
          </p:nvPr>
        </p:nvSpPr>
        <p:spPr/>
        <p:txBody>
          <a:bodyPr/>
          <a:lstStyle/>
          <a:p>
            <a:fld id="{E2E6080E-D604-9540-A250-531F86C75191}" type="datetime1">
              <a:rPr lang="fr-FR" smtClean="0"/>
              <a:t>08/03/2025</a:t>
            </a:fld>
            <a:endParaRPr lang="en-GB"/>
          </a:p>
        </p:txBody>
      </p:sp>
      <p:sp>
        <p:nvSpPr>
          <p:cNvPr id="5" name="Espace réservé du pied de page 4">
            <a:extLst>
              <a:ext uri="{FF2B5EF4-FFF2-40B4-BE49-F238E27FC236}">
                <a16:creationId xmlns:a16="http://schemas.microsoft.com/office/drawing/2014/main" id="{9FC67D93-109C-6676-A269-72EC5CBBB18D}"/>
              </a:ext>
            </a:extLst>
          </p:cNvPr>
          <p:cNvSpPr>
            <a:spLocks noGrp="1"/>
          </p:cNvSpPr>
          <p:nvPr>
            <p:ph type="ftr" sz="quarter" idx="11"/>
          </p:nvPr>
        </p:nvSpPr>
        <p:spPr/>
        <p:txBody>
          <a:bodyPr/>
          <a:lstStyle/>
          <a:p>
            <a:r>
              <a:rPr lang="en-GB"/>
              <a:t>Activation Functions. Author : David Thébault</a:t>
            </a:r>
          </a:p>
        </p:txBody>
      </p:sp>
      <p:sp>
        <p:nvSpPr>
          <p:cNvPr id="6" name="Espace réservé du numéro de diapositive 5">
            <a:extLst>
              <a:ext uri="{FF2B5EF4-FFF2-40B4-BE49-F238E27FC236}">
                <a16:creationId xmlns:a16="http://schemas.microsoft.com/office/drawing/2014/main" id="{CB96E41A-4FA1-DEFA-3C10-C8E78BC73F35}"/>
              </a:ext>
            </a:extLst>
          </p:cNvPr>
          <p:cNvSpPr>
            <a:spLocks noGrp="1"/>
          </p:cNvSpPr>
          <p:nvPr>
            <p:ph type="sldNum" sz="quarter" idx="12"/>
          </p:nvPr>
        </p:nvSpPr>
        <p:spPr/>
        <p:txBody>
          <a:bodyPr/>
          <a:lstStyle/>
          <a:p>
            <a:fld id="{6576FC11-CB27-884D-AB4B-9D6B264C05EB}" type="slidenum">
              <a:rPr lang="en-GB" smtClean="0"/>
              <a:t>‹N°›</a:t>
            </a:fld>
            <a:endParaRPr lang="en-GB"/>
          </a:p>
        </p:txBody>
      </p:sp>
    </p:spTree>
    <p:extLst>
      <p:ext uri="{BB962C8B-B14F-4D97-AF65-F5344CB8AC3E}">
        <p14:creationId xmlns:p14="http://schemas.microsoft.com/office/powerpoint/2010/main" val="1205980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0046E17-D2B5-6000-ECB7-9549EC9E9A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GB"/>
          </a:p>
        </p:txBody>
      </p:sp>
      <p:sp>
        <p:nvSpPr>
          <p:cNvPr id="3" name="Espace réservé du texte 2">
            <a:extLst>
              <a:ext uri="{FF2B5EF4-FFF2-40B4-BE49-F238E27FC236}">
                <a16:creationId xmlns:a16="http://schemas.microsoft.com/office/drawing/2014/main" id="{16B007CB-6B7E-8BA6-D8A1-4DF8B542B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a:extLst>
              <a:ext uri="{FF2B5EF4-FFF2-40B4-BE49-F238E27FC236}">
                <a16:creationId xmlns:a16="http://schemas.microsoft.com/office/drawing/2014/main" id="{D68B6F74-2A9C-BB48-37C1-90901C1FF4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0C1813-9756-8B43-8205-38B47E61B0F9}" type="datetime1">
              <a:rPr lang="fr-FR" smtClean="0"/>
              <a:t>08/03/2025</a:t>
            </a:fld>
            <a:endParaRPr lang="en-GB"/>
          </a:p>
        </p:txBody>
      </p:sp>
      <p:sp>
        <p:nvSpPr>
          <p:cNvPr id="5" name="Espace réservé du pied de page 4">
            <a:extLst>
              <a:ext uri="{FF2B5EF4-FFF2-40B4-BE49-F238E27FC236}">
                <a16:creationId xmlns:a16="http://schemas.microsoft.com/office/drawing/2014/main" id="{961AB564-48F0-86A3-24B7-620143A62E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Activation Functions. Author : David Thébault</a:t>
            </a:r>
          </a:p>
        </p:txBody>
      </p:sp>
      <p:sp>
        <p:nvSpPr>
          <p:cNvPr id="6" name="Espace réservé du numéro de diapositive 5">
            <a:extLst>
              <a:ext uri="{FF2B5EF4-FFF2-40B4-BE49-F238E27FC236}">
                <a16:creationId xmlns:a16="http://schemas.microsoft.com/office/drawing/2014/main" id="{B8FE632A-EF1A-710B-8904-72CBCF1060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76FC11-CB27-884D-AB4B-9D6B264C05EB}" type="slidenum">
              <a:rPr lang="en-GB" smtClean="0"/>
              <a:t>‹N°›</a:t>
            </a:fld>
            <a:endParaRPr lang="en-GB"/>
          </a:p>
        </p:txBody>
      </p:sp>
    </p:spTree>
    <p:extLst>
      <p:ext uri="{BB962C8B-B14F-4D97-AF65-F5344CB8AC3E}">
        <p14:creationId xmlns:p14="http://schemas.microsoft.com/office/powerpoint/2010/main" val="189871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320.png"/><Relationship Id="rId4" Type="http://schemas.openxmlformats.org/officeDocument/2006/relationships/image" Target="../media/image1310.png"/></Relationships>
</file>

<file path=ppt/slides/_rels/slide10.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00.png"/></Relationships>
</file>

<file path=ppt/slides/_rels/slide11.xml.rels><?xml version="1.0" encoding="UTF-8" standalone="yes"?>
<Relationships xmlns="http://schemas.openxmlformats.org/package/2006/relationships"><Relationship Id="rId3" Type="http://schemas.openxmlformats.org/officeDocument/2006/relationships/image" Target="../media/image133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60.png"/><Relationship Id="rId5" Type="http://schemas.openxmlformats.org/officeDocument/2006/relationships/image" Target="../media/image1350.png"/><Relationship Id="rId4" Type="http://schemas.openxmlformats.org/officeDocument/2006/relationships/image" Target="../media/image1340.png"/></Relationships>
</file>

<file path=ppt/slides/_rels/slide12.xml.rels><?xml version="1.0" encoding="UTF-8" standalone="yes"?>
<Relationships xmlns="http://schemas.openxmlformats.org/package/2006/relationships"><Relationship Id="rId3" Type="http://schemas.openxmlformats.org/officeDocument/2006/relationships/image" Target="../media/image133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60.png"/><Relationship Id="rId5" Type="http://schemas.openxmlformats.org/officeDocument/2006/relationships/image" Target="../media/image1350.png"/><Relationship Id="rId4" Type="http://schemas.openxmlformats.org/officeDocument/2006/relationships/image" Target="../media/image13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3508F7-25A6-6B7F-942F-8554A15C9164}"/>
              </a:ext>
            </a:extLst>
          </p:cNvPr>
          <p:cNvSpPr>
            <a:spLocks noGrp="1"/>
          </p:cNvSpPr>
          <p:nvPr>
            <p:ph type="ctrTitle"/>
          </p:nvPr>
        </p:nvSpPr>
        <p:spPr/>
        <p:txBody>
          <a:bodyPr/>
          <a:lstStyle/>
          <a:p>
            <a:r>
              <a:rPr lang="en-GB" dirty="0"/>
              <a:t>Activation functions</a:t>
            </a:r>
          </a:p>
        </p:txBody>
      </p:sp>
      <p:sp>
        <p:nvSpPr>
          <p:cNvPr id="3" name="Sous-titre 2">
            <a:extLst>
              <a:ext uri="{FF2B5EF4-FFF2-40B4-BE49-F238E27FC236}">
                <a16:creationId xmlns:a16="http://schemas.microsoft.com/office/drawing/2014/main" id="{0CB9E322-C914-C47F-8548-570C4DD59FC2}"/>
              </a:ext>
            </a:extLst>
          </p:cNvPr>
          <p:cNvSpPr>
            <a:spLocks noGrp="1"/>
          </p:cNvSpPr>
          <p:nvPr>
            <p:ph type="subTitle" idx="1"/>
          </p:nvPr>
        </p:nvSpPr>
        <p:spPr/>
        <p:txBody>
          <a:bodyPr/>
          <a:lstStyle/>
          <a:p>
            <a:r>
              <a:rPr lang="en-GB" dirty="0"/>
              <a:t>Neural Networks</a:t>
            </a:r>
          </a:p>
        </p:txBody>
      </p:sp>
      <p:sp>
        <p:nvSpPr>
          <p:cNvPr id="4" name="Espace réservé du pied de page 3">
            <a:extLst>
              <a:ext uri="{FF2B5EF4-FFF2-40B4-BE49-F238E27FC236}">
                <a16:creationId xmlns:a16="http://schemas.microsoft.com/office/drawing/2014/main" id="{05902E9E-C03B-E196-9AD5-DCB04DA32E6A}"/>
              </a:ext>
            </a:extLst>
          </p:cNvPr>
          <p:cNvSpPr>
            <a:spLocks noGrp="1"/>
          </p:cNvSpPr>
          <p:nvPr>
            <p:ph type="ftr" sz="quarter" idx="11"/>
          </p:nvPr>
        </p:nvSpPr>
        <p:spPr/>
        <p:txBody>
          <a:bodyPr/>
          <a:lstStyle/>
          <a:p>
            <a:r>
              <a:rPr lang="en-GB"/>
              <a:t>Activation Functions. Author : David Thébault</a:t>
            </a:r>
            <a:endParaRPr lang="en-GB" dirty="0"/>
          </a:p>
        </p:txBody>
      </p:sp>
    </p:spTree>
    <p:extLst>
      <p:ext uri="{BB962C8B-B14F-4D97-AF65-F5344CB8AC3E}">
        <p14:creationId xmlns:p14="http://schemas.microsoft.com/office/powerpoint/2010/main" val="1902962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2FDC4-43E1-2850-FEEF-D35DFDF1E64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7A7635F-F26C-49CF-FBF5-1775D106CEB3}"/>
              </a:ext>
            </a:extLst>
          </p:cNvPr>
          <p:cNvSpPr>
            <a:spLocks noGrp="1"/>
          </p:cNvSpPr>
          <p:nvPr>
            <p:ph type="title"/>
          </p:nvPr>
        </p:nvSpPr>
        <p:spPr/>
        <p:txBody>
          <a:bodyPr>
            <a:normAutofit/>
          </a:bodyPr>
          <a:lstStyle/>
          <a:p>
            <a:pPr marL="0" indent="0">
              <a:buNone/>
            </a:pPr>
            <a:r>
              <a:rPr lang="en-GB" sz="3600" b="1" dirty="0">
                <a:latin typeface="Aptos" panose="020B0004020202020204" pitchFamily="34" charset="0"/>
              </a:rPr>
              <a:t>Sigmoid function</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A11EC024-A732-6CBD-7AC2-349A941CC64A}"/>
                  </a:ext>
                </a:extLst>
              </p:cNvPr>
              <p:cNvSpPr>
                <a:spLocks noGrp="1"/>
              </p:cNvSpPr>
              <p:nvPr>
                <p:ph idx="1"/>
              </p:nvPr>
            </p:nvSpPr>
            <p:spPr>
              <a:xfrm>
                <a:off x="838200" y="1825625"/>
                <a:ext cx="3200400" cy="1114345"/>
              </a:xfrm>
              <a:noFill/>
            </p:spPr>
            <p:txBody>
              <a:bodyPr>
                <a:normAutofit/>
              </a:bodyPr>
              <a:lstStyle/>
              <a:p>
                <a:pPr marL="0" indent="0">
                  <a:buNone/>
                </a:pPr>
                <a14:m>
                  <m:oMathPara xmlns:m="http://schemas.openxmlformats.org/officeDocument/2006/math">
                    <m:oMathParaPr>
                      <m:jc m:val="left"/>
                    </m:oMathParaPr>
                    <m:oMath xmlns:m="http://schemas.openxmlformats.org/officeDocument/2006/math">
                      <m:r>
                        <a:rPr lang="fr-FR" b="0" i="1" smtClean="0">
                          <a:latin typeface="Cambria Math" panose="02040503050406030204" pitchFamily="18" charset="0"/>
                        </a:rPr>
                        <m:t>𝜎</m:t>
                      </m:r>
                      <m:d>
                        <m:dPr>
                          <m:ctrlPr>
                            <a:rPr lang="fr-FR" b="0" i="1" smtClean="0">
                              <a:latin typeface="Cambria Math" panose="02040503050406030204" pitchFamily="18" charset="0"/>
                            </a:rPr>
                          </m:ctrlPr>
                        </m:dPr>
                        <m:e>
                          <m:r>
                            <a:rPr lang="fr-FR" b="0" i="1" smtClean="0">
                              <a:latin typeface="Cambria Math" panose="02040503050406030204" pitchFamily="18" charset="0"/>
                            </a:rPr>
                            <m:t>𝑥</m:t>
                          </m:r>
                        </m:e>
                      </m:d>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b="0" i="1" smtClean="0">
                              <a:latin typeface="Cambria Math" panose="02040503050406030204" pitchFamily="18" charset="0"/>
                            </a:rPr>
                            <m:t>1</m:t>
                          </m:r>
                        </m:num>
                        <m:den>
                          <m:r>
                            <a:rPr lang="fr-FR" b="0" i="1" smtClean="0">
                              <a:latin typeface="Cambria Math" panose="02040503050406030204" pitchFamily="18" charset="0"/>
                            </a:rPr>
                            <m:t>1+</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𝑒</m:t>
                              </m:r>
                            </m:e>
                            <m:sup>
                              <m:r>
                                <a:rPr lang="fr-FR" b="0" i="1" smtClean="0">
                                  <a:latin typeface="Cambria Math" panose="02040503050406030204" pitchFamily="18" charset="0"/>
                                </a:rPr>
                                <m:t>−</m:t>
                              </m:r>
                              <m:r>
                                <a:rPr lang="fr-FR" b="0" i="1" smtClean="0">
                                  <a:latin typeface="Cambria Math" panose="02040503050406030204" pitchFamily="18" charset="0"/>
                                </a:rPr>
                                <m:t>𝑥</m:t>
                              </m:r>
                            </m:sup>
                          </m:sSup>
                        </m:den>
                      </m:f>
                    </m:oMath>
                  </m:oMathPara>
                </a14:m>
                <a:endParaRPr lang="en-GB" dirty="0"/>
              </a:p>
              <a:p>
                <a:pPr marL="0" indent="0">
                  <a:buNone/>
                </a:pPr>
                <a:endParaRPr lang="en-GB" dirty="0"/>
              </a:p>
              <a:p>
                <a:pPr marL="0" indent="0">
                  <a:buNone/>
                </a:pPr>
                <a:endParaRPr lang="en-GB" dirty="0"/>
              </a:p>
            </p:txBody>
          </p:sp>
        </mc:Choice>
        <mc:Fallback xmlns="">
          <p:sp>
            <p:nvSpPr>
              <p:cNvPr id="3" name="Espace réservé du contenu 2">
                <a:extLst>
                  <a:ext uri="{FF2B5EF4-FFF2-40B4-BE49-F238E27FC236}">
                    <a16:creationId xmlns:a16="http://schemas.microsoft.com/office/drawing/2014/main" id="{A11EC024-A732-6CBD-7AC2-349A941CC64A}"/>
                  </a:ext>
                </a:extLst>
              </p:cNvPr>
              <p:cNvSpPr>
                <a:spLocks noGrp="1" noRot="1" noChangeAspect="1" noMove="1" noResize="1" noEditPoints="1" noAdjustHandles="1" noChangeArrowheads="1" noChangeShapeType="1" noTextEdit="1"/>
              </p:cNvSpPr>
              <p:nvPr>
                <p:ph idx="1"/>
              </p:nvPr>
            </p:nvSpPr>
            <p:spPr>
              <a:xfrm>
                <a:off x="838200" y="1825625"/>
                <a:ext cx="3200400" cy="1114345"/>
              </a:xfrm>
              <a:blipFill>
                <a:blip r:embed="rId2"/>
                <a:stretch>
                  <a:fillRect t="-2247"/>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DAA8A0F5-FC10-F325-FFEE-2D3C80927EDE}"/>
              </a:ext>
            </a:extLst>
          </p:cNvPr>
          <p:cNvSpPr>
            <a:spLocks noGrp="1"/>
          </p:cNvSpPr>
          <p:nvPr>
            <p:ph type="ftr" sz="quarter" idx="11"/>
          </p:nvPr>
        </p:nvSpPr>
        <p:spPr/>
        <p:txBody>
          <a:bodyPr/>
          <a:lstStyle/>
          <a:p>
            <a:r>
              <a:rPr lang="en-GB"/>
              <a:t>Activation Functions. Author : David Thébault</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C78FEB97-4E7B-0D55-A499-7D9F945BBA27}"/>
                  </a:ext>
                </a:extLst>
              </p:cNvPr>
              <p:cNvSpPr txBox="1"/>
              <p:nvPr/>
            </p:nvSpPr>
            <p:spPr>
              <a:xfrm>
                <a:off x="393539" y="2844273"/>
                <a:ext cx="4939214" cy="2677656"/>
              </a:xfrm>
              <a:prstGeom prst="rect">
                <a:avLst/>
              </a:prstGeom>
              <a:noFill/>
            </p:spPr>
            <p:txBody>
              <a:bodyPr wrap="square" rtlCol="0">
                <a:spAutoFit/>
              </a:bodyPr>
              <a:lstStyle/>
              <a:p>
                <a14:m>
                  <m:oMath xmlns:m="http://schemas.openxmlformats.org/officeDocument/2006/math">
                    <m:r>
                      <a:rPr lang="fr-FR" sz="1200" b="0" i="1" smtClean="0">
                        <a:latin typeface="Cambria Math" panose="02040503050406030204" pitchFamily="18" charset="0"/>
                      </a:rPr>
                      <m:t>𝜎</m:t>
                    </m:r>
                    <m:r>
                      <a:rPr lang="fr-FR" sz="1200" b="0" i="1" smtClean="0">
                        <a:latin typeface="Cambria Math" panose="02040503050406030204" pitchFamily="18" charset="0"/>
                      </a:rPr>
                      <m:t>(</m:t>
                    </m:r>
                    <m:r>
                      <a:rPr lang="fr-FR" sz="1200" b="0" i="1" smtClean="0">
                        <a:latin typeface="Cambria Math" panose="02040503050406030204" pitchFamily="18" charset="0"/>
                      </a:rPr>
                      <m:t>𝑥</m:t>
                    </m:r>
                    <m:r>
                      <a:rPr lang="fr-FR" sz="1200" b="0" i="1" smtClean="0">
                        <a:latin typeface="Cambria Math" panose="02040503050406030204" pitchFamily="18" charset="0"/>
                      </a:rPr>
                      <m:t>)∈</m:t>
                    </m:r>
                    <m:d>
                      <m:dPr>
                        <m:begChr m:val="["/>
                        <m:endChr m:val="]"/>
                        <m:ctrlPr>
                          <a:rPr lang="fr-FR" sz="1200" b="0" i="1" smtClean="0">
                            <a:latin typeface="Cambria Math" panose="02040503050406030204" pitchFamily="18" charset="0"/>
                          </a:rPr>
                        </m:ctrlPr>
                      </m:dPr>
                      <m:e>
                        <m:r>
                          <a:rPr lang="fr-FR" sz="1200" b="0" i="1" smtClean="0">
                            <a:latin typeface="Cambria Math" panose="02040503050406030204" pitchFamily="18" charset="0"/>
                          </a:rPr>
                          <m:t>0,1</m:t>
                        </m:r>
                      </m:e>
                    </m:d>
                  </m:oMath>
                </a14:m>
                <a:r>
                  <a:rPr lang="en-GB" sz="1200" dirty="0"/>
                  <a:t> For modelling a probability </a:t>
                </a:r>
              </a:p>
              <a:p>
                <a:endParaRPr lang="en-GB" sz="1200" dirty="0"/>
              </a:p>
              <a:p>
                <a:pPr marL="171450" indent="-171450">
                  <a:buFont typeface="Arial" panose="020B0604020202020204" pitchFamily="34" charset="0"/>
                  <a:buChar char="•"/>
                </a:pPr>
                <a:r>
                  <a:rPr lang="en-GB" sz="1200" dirty="0"/>
                  <a:t>(+) Offers a smooth, continuous derivative (+) gradient descent</a:t>
                </a:r>
              </a:p>
              <a:p>
                <a:pPr marL="171450" indent="-171450">
                  <a:buFont typeface="Arial" panose="020B0604020202020204" pitchFamily="34" charset="0"/>
                  <a:buChar char="•"/>
                </a:pPr>
                <a:r>
                  <a:rPr lang="en-GB" sz="1200" dirty="0"/>
                  <a:t>(+) Outputs are between 0 and 1</a:t>
                </a:r>
              </a:p>
              <a:p>
                <a:pPr marL="171450" indent="-171450">
                  <a:buFont typeface="Arial" panose="020B0604020202020204" pitchFamily="34" charset="0"/>
                  <a:buChar char="•"/>
                </a:pPr>
                <a:r>
                  <a:rPr lang="en-GB" sz="1200" dirty="0"/>
                  <a:t>(+) Zero centred for a simple decision boundary</a:t>
                </a:r>
              </a:p>
              <a:p>
                <a:pPr marL="171450" indent="-171450">
                  <a:buFont typeface="Arial" panose="020B0604020202020204" pitchFamily="34" charset="0"/>
                  <a:buChar char="•"/>
                </a:pPr>
                <a:endParaRPr lang="en-GB" sz="1200" dirty="0"/>
              </a:p>
              <a:p>
                <a:pPr marL="171450" indent="-171450">
                  <a:buFont typeface="Arial" panose="020B0604020202020204" pitchFamily="34" charset="0"/>
                  <a:buChar char="•"/>
                </a:pPr>
                <a:r>
                  <a:rPr lang="en-GB" sz="1200" dirty="0">
                    <a:solidFill>
                      <a:srgbClr val="FF0000"/>
                    </a:solidFill>
                  </a:rPr>
                  <a:t>(-) The extremities of the curve leads to gradient close to zero contributing to the “Vanishing Gradient” problem, slowing the convergence</a:t>
                </a:r>
              </a:p>
              <a:p>
                <a:pPr marL="171450" indent="-171450">
                  <a:buFont typeface="Arial" panose="020B0604020202020204" pitchFamily="34" charset="0"/>
                  <a:buChar char="•"/>
                </a:pPr>
                <a:r>
                  <a:rPr lang="en-GB" sz="1200" dirty="0">
                    <a:solidFill>
                      <a:srgbClr val="FF0000"/>
                    </a:solidFill>
                  </a:rPr>
                  <a:t>(-) Outputs are centred around 0.5, which can lead to activation values always positive and then introduce a bias</a:t>
                </a:r>
              </a:p>
              <a:p>
                <a:pPr marL="171450" indent="-171450">
                  <a:buFont typeface="Arial" panose="020B0604020202020204" pitchFamily="34" charset="0"/>
                  <a:buChar char="•"/>
                </a:pPr>
                <a:r>
                  <a:rPr lang="en-GB" sz="1200" dirty="0"/>
                  <a:t>(-) exponential operation makes this activation function a bit more expensive than alternatives.</a:t>
                </a:r>
              </a:p>
              <a:p>
                <a:pPr marL="171450" indent="-171450">
                  <a:buFont typeface="Arial" panose="020B0604020202020204" pitchFamily="34" charset="0"/>
                  <a:buChar char="•"/>
                </a:pPr>
                <a:endParaRPr lang="en-GB" sz="1200" dirty="0">
                  <a:solidFill>
                    <a:schemeClr val="bg1">
                      <a:lumMod val="50000"/>
                    </a:schemeClr>
                  </a:solidFill>
                </a:endParaRPr>
              </a:p>
            </p:txBody>
          </p:sp>
        </mc:Choice>
        <mc:Fallback xmlns="">
          <p:sp>
            <p:nvSpPr>
              <p:cNvPr id="5" name="ZoneTexte 4">
                <a:extLst>
                  <a:ext uri="{FF2B5EF4-FFF2-40B4-BE49-F238E27FC236}">
                    <a16:creationId xmlns:a16="http://schemas.microsoft.com/office/drawing/2014/main" id="{C78FEB97-4E7B-0D55-A499-7D9F945BBA27}"/>
                  </a:ext>
                </a:extLst>
              </p:cNvPr>
              <p:cNvSpPr txBox="1">
                <a:spLocks noRot="1" noChangeAspect="1" noMove="1" noResize="1" noEditPoints="1" noAdjustHandles="1" noChangeArrowheads="1" noChangeShapeType="1" noTextEdit="1"/>
              </p:cNvSpPr>
              <p:nvPr/>
            </p:nvSpPr>
            <p:spPr>
              <a:xfrm>
                <a:off x="393539" y="2844273"/>
                <a:ext cx="4939214" cy="2677656"/>
              </a:xfrm>
              <a:prstGeom prst="rect">
                <a:avLst/>
              </a:prstGeom>
              <a:blipFill>
                <a:blip r:embed="rId3"/>
                <a:stretch>
                  <a:fillRect t="-474"/>
                </a:stretch>
              </a:blipFill>
            </p:spPr>
            <p:txBody>
              <a:bodyPr/>
              <a:lstStyle/>
              <a:p>
                <a:r>
                  <a:rPr lang="en-GB">
                    <a:noFill/>
                  </a:rPr>
                  <a:t> </a:t>
                </a:r>
              </a:p>
            </p:txBody>
          </p:sp>
        </mc:Fallback>
      </mc:AlternateContent>
      <p:pic>
        <p:nvPicPr>
          <p:cNvPr id="7" name="Image 6" descr="Une image contenant texte, ligne, Tracé, diagramme&#10;&#10;Description générée automatiquement">
            <a:extLst>
              <a:ext uri="{FF2B5EF4-FFF2-40B4-BE49-F238E27FC236}">
                <a16:creationId xmlns:a16="http://schemas.microsoft.com/office/drawing/2014/main" id="{E336F8C8-BC3A-5985-F3B7-190B2CF5CFC6}"/>
              </a:ext>
            </a:extLst>
          </p:cNvPr>
          <p:cNvPicPr>
            <a:picLocks noChangeAspect="1"/>
          </p:cNvPicPr>
          <p:nvPr/>
        </p:nvPicPr>
        <p:blipFill>
          <a:blip r:embed="rId4"/>
          <a:stretch>
            <a:fillRect/>
          </a:stretch>
        </p:blipFill>
        <p:spPr>
          <a:xfrm>
            <a:off x="5112833" y="1183589"/>
            <a:ext cx="6727655" cy="4036593"/>
          </a:xfrm>
          <a:prstGeom prst="rect">
            <a:avLst/>
          </a:prstGeom>
        </p:spPr>
      </p:pic>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2F004982-B0A5-D512-7A8E-A0477D44C8F6}"/>
                  </a:ext>
                </a:extLst>
              </p:cNvPr>
              <p:cNvSpPr txBox="1"/>
              <p:nvPr/>
            </p:nvSpPr>
            <p:spPr>
              <a:xfrm>
                <a:off x="627927" y="5361061"/>
                <a:ext cx="300652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𝜎</m:t>
                      </m:r>
                      <m:r>
                        <a:rPr lang="fr-FR" b="0" i="1" smtClean="0">
                          <a:latin typeface="Cambria Math" panose="02040503050406030204" pitchFamily="18" charset="0"/>
                        </a:rPr>
                        <m:t>′</m:t>
                      </m:r>
                      <m:d>
                        <m:dPr>
                          <m:ctrlPr>
                            <a:rPr lang="fr-FR" b="0" i="1" smtClean="0">
                              <a:latin typeface="Cambria Math" panose="02040503050406030204" pitchFamily="18" charset="0"/>
                            </a:rPr>
                          </m:ctrlPr>
                        </m:dPr>
                        <m:e>
                          <m:r>
                            <a:rPr lang="fr-FR" b="0" i="1" smtClean="0">
                              <a:latin typeface="Cambria Math" panose="02040503050406030204" pitchFamily="18" charset="0"/>
                            </a:rPr>
                            <m:t>𝑥</m:t>
                          </m:r>
                        </m:e>
                      </m:d>
                      <m:r>
                        <a:rPr lang="fr-FR" b="0" i="1" smtClean="0">
                          <a:latin typeface="Cambria Math" panose="02040503050406030204" pitchFamily="18" charset="0"/>
                        </a:rPr>
                        <m:t>=</m:t>
                      </m:r>
                      <m:r>
                        <a:rPr lang="fr-FR" b="0" i="1" smtClean="0">
                          <a:latin typeface="Cambria Math" panose="02040503050406030204" pitchFamily="18" charset="0"/>
                        </a:rPr>
                        <m:t>𝜎</m:t>
                      </m:r>
                      <m:r>
                        <a:rPr lang="fr-FR" b="0" i="1" smtClean="0">
                          <a:latin typeface="Cambria Math" panose="02040503050406030204" pitchFamily="18" charset="0"/>
                        </a:rPr>
                        <m:t>(</m:t>
                      </m:r>
                      <m:r>
                        <a:rPr lang="fr-FR" b="0" i="1" smtClean="0">
                          <a:latin typeface="Cambria Math" panose="02040503050406030204" pitchFamily="18" charset="0"/>
                        </a:rPr>
                        <m:t>𝑥</m:t>
                      </m:r>
                      <m:r>
                        <a:rPr lang="fr-FR" b="0" i="1" smtClean="0">
                          <a:latin typeface="Cambria Math" panose="02040503050406030204" pitchFamily="18" charset="0"/>
                        </a:rPr>
                        <m:t>)(1−</m:t>
                      </m:r>
                      <m:r>
                        <a:rPr lang="fr-FR" b="0" i="1" smtClean="0">
                          <a:latin typeface="Cambria Math" panose="02040503050406030204" pitchFamily="18" charset="0"/>
                        </a:rPr>
                        <m:t>𝜎</m:t>
                      </m:r>
                      <m:d>
                        <m:dPr>
                          <m:ctrlPr>
                            <a:rPr lang="fr-FR" b="0" i="1" smtClean="0">
                              <a:latin typeface="Cambria Math" panose="02040503050406030204" pitchFamily="18" charset="0"/>
                            </a:rPr>
                          </m:ctrlPr>
                        </m:dPr>
                        <m:e>
                          <m:r>
                            <a:rPr lang="fr-FR" b="0" i="1" smtClean="0">
                              <a:latin typeface="Cambria Math" panose="02040503050406030204" pitchFamily="18" charset="0"/>
                            </a:rPr>
                            <m:t>𝑥</m:t>
                          </m:r>
                        </m:e>
                      </m:d>
                      <m:r>
                        <a:rPr lang="fr-FR" b="0" i="1" smtClean="0">
                          <a:latin typeface="Cambria Math" panose="02040503050406030204" pitchFamily="18" charset="0"/>
                        </a:rPr>
                        <m:t>)</m:t>
                      </m:r>
                    </m:oMath>
                  </m:oMathPara>
                </a14:m>
                <a:endParaRPr lang="en-GB" dirty="0"/>
              </a:p>
            </p:txBody>
          </p:sp>
        </mc:Choice>
        <mc:Fallback xmlns="">
          <p:sp>
            <p:nvSpPr>
              <p:cNvPr id="9" name="ZoneTexte 8">
                <a:extLst>
                  <a:ext uri="{FF2B5EF4-FFF2-40B4-BE49-F238E27FC236}">
                    <a16:creationId xmlns:a16="http://schemas.microsoft.com/office/drawing/2014/main" id="{2F004982-B0A5-D512-7A8E-A0477D44C8F6}"/>
                  </a:ext>
                </a:extLst>
              </p:cNvPr>
              <p:cNvSpPr txBox="1">
                <a:spLocks noRot="1" noChangeAspect="1" noMove="1" noResize="1" noEditPoints="1" noAdjustHandles="1" noChangeArrowheads="1" noChangeShapeType="1" noTextEdit="1"/>
              </p:cNvSpPr>
              <p:nvPr/>
            </p:nvSpPr>
            <p:spPr>
              <a:xfrm>
                <a:off x="627927" y="5361061"/>
                <a:ext cx="3006524" cy="369332"/>
              </a:xfrm>
              <a:prstGeom prst="rect">
                <a:avLst/>
              </a:prstGeom>
              <a:blipFill>
                <a:blip r:embed="rId5"/>
                <a:stretch>
                  <a:fillRect b="-12903"/>
                </a:stretch>
              </a:blipFill>
            </p:spPr>
            <p:txBody>
              <a:bodyPr/>
              <a:lstStyle/>
              <a:p>
                <a:r>
                  <a:rPr lang="en-GB">
                    <a:noFill/>
                  </a:rPr>
                  <a:t> </a:t>
                </a:r>
              </a:p>
            </p:txBody>
          </p:sp>
        </mc:Fallback>
      </mc:AlternateContent>
    </p:spTree>
    <p:extLst>
      <p:ext uri="{BB962C8B-B14F-4D97-AF65-F5344CB8AC3E}">
        <p14:creationId xmlns:p14="http://schemas.microsoft.com/office/powerpoint/2010/main" val="3256533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CDE7F-007F-36A4-ABAA-7560B200B98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0B9A7F-696D-3EB9-CC05-C50153606CC3}"/>
              </a:ext>
            </a:extLst>
          </p:cNvPr>
          <p:cNvSpPr>
            <a:spLocks noGrp="1"/>
          </p:cNvSpPr>
          <p:nvPr>
            <p:ph type="title"/>
          </p:nvPr>
        </p:nvSpPr>
        <p:spPr/>
        <p:txBody>
          <a:bodyPr>
            <a:normAutofit/>
          </a:bodyPr>
          <a:lstStyle/>
          <a:p>
            <a:pPr marL="0" indent="0">
              <a:buNone/>
            </a:pPr>
            <a:r>
              <a:rPr lang="en-GB" sz="3600" b="1" dirty="0">
                <a:latin typeface="Aptos" panose="020B0004020202020204" pitchFamily="34" charset="0"/>
              </a:rPr>
              <a:t>Hyperbolic tangent function</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E65E7553-1262-18E2-2F4A-0C57DCFD7004}"/>
                  </a:ext>
                </a:extLst>
              </p:cNvPr>
              <p:cNvSpPr>
                <a:spLocks noGrp="1"/>
              </p:cNvSpPr>
              <p:nvPr>
                <p:ph idx="1"/>
              </p:nvPr>
            </p:nvSpPr>
            <p:spPr>
              <a:xfrm>
                <a:off x="838200" y="1825625"/>
                <a:ext cx="3293962" cy="1206942"/>
              </a:xfrm>
              <a:noFill/>
            </p:spPr>
            <p:txBody>
              <a:bodyPr/>
              <a:lstStyle/>
              <a:p>
                <a:pPr marL="0" indent="0">
                  <a:buNone/>
                </a:pPr>
                <a14:m>
                  <m:oMathPara xmlns:m="http://schemas.openxmlformats.org/officeDocument/2006/math">
                    <m:oMathParaPr>
                      <m:jc m:val="left"/>
                    </m:oMathParaPr>
                    <m:oMath xmlns:m="http://schemas.openxmlformats.org/officeDocument/2006/math">
                      <m:r>
                        <a:rPr lang="fr-FR" b="0" i="1" smtClean="0">
                          <a:latin typeface="Cambria Math" panose="02040503050406030204" pitchFamily="18" charset="0"/>
                        </a:rPr>
                        <m:t>𝑡𝑎𝑛h</m:t>
                      </m:r>
                      <m:d>
                        <m:dPr>
                          <m:ctrlPr>
                            <a:rPr lang="fr-FR" b="0" i="1" smtClean="0">
                              <a:latin typeface="Cambria Math" panose="02040503050406030204" pitchFamily="18" charset="0"/>
                            </a:rPr>
                          </m:ctrlPr>
                        </m:dPr>
                        <m:e>
                          <m:r>
                            <a:rPr lang="fr-FR" b="0" i="1" smtClean="0">
                              <a:latin typeface="Cambria Math" panose="02040503050406030204" pitchFamily="18" charset="0"/>
                            </a:rPr>
                            <m:t>𝑥</m:t>
                          </m:r>
                        </m:e>
                      </m:d>
                      <m:r>
                        <a:rPr lang="fr-FR" b="0" i="1" smtClean="0">
                          <a:latin typeface="Cambria Math" panose="02040503050406030204" pitchFamily="18" charset="0"/>
                        </a:rPr>
                        <m:t>=</m:t>
                      </m:r>
                      <m:f>
                        <m:fPr>
                          <m:ctrlPr>
                            <a:rPr lang="fr-FR" b="0" i="1" smtClean="0">
                              <a:latin typeface="Cambria Math" panose="02040503050406030204" pitchFamily="18" charset="0"/>
                            </a:rPr>
                          </m:ctrlPr>
                        </m:fPr>
                        <m:num>
                          <m:sSup>
                            <m:sSupPr>
                              <m:ctrlPr>
                                <a:rPr lang="fr-FR" i="1">
                                  <a:latin typeface="Cambria Math" panose="02040503050406030204" pitchFamily="18" charset="0"/>
                                </a:rPr>
                              </m:ctrlPr>
                            </m:sSupPr>
                            <m:e>
                              <m:r>
                                <a:rPr lang="fr-FR" i="1">
                                  <a:latin typeface="Cambria Math" panose="02040503050406030204" pitchFamily="18" charset="0"/>
                                </a:rPr>
                                <m:t>𝑒</m:t>
                              </m:r>
                            </m:e>
                            <m:sup>
                              <m:r>
                                <a:rPr lang="fr-FR" i="1">
                                  <a:latin typeface="Cambria Math" panose="02040503050406030204" pitchFamily="18" charset="0"/>
                                </a:rPr>
                                <m:t>𝑥</m:t>
                              </m:r>
                            </m:sup>
                          </m:sSup>
                          <m:r>
                            <a:rPr lang="fr-FR" b="0" i="1" smtClean="0">
                              <a:latin typeface="Cambria Math" panose="02040503050406030204" pitchFamily="18" charset="0"/>
                            </a:rPr>
                            <m:t>−</m:t>
                          </m:r>
                          <m:sSup>
                            <m:sSupPr>
                              <m:ctrlPr>
                                <a:rPr lang="fr-FR" i="1">
                                  <a:latin typeface="Cambria Math" panose="02040503050406030204" pitchFamily="18" charset="0"/>
                                </a:rPr>
                              </m:ctrlPr>
                            </m:sSupPr>
                            <m:e>
                              <m:r>
                                <a:rPr lang="fr-FR" i="1">
                                  <a:latin typeface="Cambria Math" panose="02040503050406030204" pitchFamily="18" charset="0"/>
                                </a:rPr>
                                <m:t>𝑒</m:t>
                              </m:r>
                            </m:e>
                            <m:sup>
                              <m:r>
                                <a:rPr lang="fr-FR" i="1">
                                  <a:latin typeface="Cambria Math" panose="02040503050406030204" pitchFamily="18" charset="0"/>
                                </a:rPr>
                                <m:t>−</m:t>
                              </m:r>
                              <m:r>
                                <a:rPr lang="fr-FR" i="1">
                                  <a:latin typeface="Cambria Math" panose="02040503050406030204" pitchFamily="18" charset="0"/>
                                </a:rPr>
                                <m:t>𝑥</m:t>
                              </m:r>
                            </m:sup>
                          </m:sSup>
                        </m:num>
                        <m:den>
                          <m:sSup>
                            <m:sSupPr>
                              <m:ctrlPr>
                                <a:rPr lang="fr-FR" i="1">
                                  <a:latin typeface="Cambria Math" panose="02040503050406030204" pitchFamily="18" charset="0"/>
                                </a:rPr>
                              </m:ctrlPr>
                            </m:sSupPr>
                            <m:e>
                              <m:r>
                                <a:rPr lang="fr-FR" i="1">
                                  <a:latin typeface="Cambria Math" panose="02040503050406030204" pitchFamily="18" charset="0"/>
                                </a:rPr>
                                <m:t>𝑒</m:t>
                              </m:r>
                            </m:e>
                            <m:sup>
                              <m:r>
                                <a:rPr lang="fr-FR" i="1">
                                  <a:latin typeface="Cambria Math" panose="02040503050406030204" pitchFamily="18" charset="0"/>
                                </a:rPr>
                                <m:t>𝑥</m:t>
                              </m:r>
                            </m:sup>
                          </m:sSup>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𝑒</m:t>
                              </m:r>
                            </m:e>
                            <m:sup>
                              <m:r>
                                <a:rPr lang="fr-FR" b="0" i="1" smtClean="0">
                                  <a:latin typeface="Cambria Math" panose="02040503050406030204" pitchFamily="18" charset="0"/>
                                </a:rPr>
                                <m:t>−</m:t>
                              </m:r>
                              <m:r>
                                <a:rPr lang="fr-FR" b="0" i="1" smtClean="0">
                                  <a:latin typeface="Cambria Math" panose="02040503050406030204" pitchFamily="18" charset="0"/>
                                </a:rPr>
                                <m:t>𝑥</m:t>
                              </m:r>
                            </m:sup>
                          </m:sSup>
                        </m:den>
                      </m:f>
                    </m:oMath>
                  </m:oMathPara>
                </a14:m>
                <a:endParaRPr lang="en-GB" dirty="0"/>
              </a:p>
              <a:p>
                <a:pPr marL="0" indent="0">
                  <a:buNone/>
                </a:pPr>
                <a:endParaRPr lang="en-GB" dirty="0"/>
              </a:p>
              <a:p>
                <a:pPr marL="0" indent="0">
                  <a:buNone/>
                </a:pPr>
                <a:endParaRPr lang="en-GB" dirty="0"/>
              </a:p>
            </p:txBody>
          </p:sp>
        </mc:Choice>
        <mc:Fallback xmlns="">
          <p:sp>
            <p:nvSpPr>
              <p:cNvPr id="3" name="Espace réservé du contenu 2">
                <a:extLst>
                  <a:ext uri="{FF2B5EF4-FFF2-40B4-BE49-F238E27FC236}">
                    <a16:creationId xmlns:a16="http://schemas.microsoft.com/office/drawing/2014/main" id="{E65E7553-1262-18E2-2F4A-0C57DCFD7004}"/>
                  </a:ext>
                </a:extLst>
              </p:cNvPr>
              <p:cNvSpPr>
                <a:spLocks noGrp="1" noRot="1" noChangeAspect="1" noMove="1" noResize="1" noEditPoints="1" noAdjustHandles="1" noChangeArrowheads="1" noChangeShapeType="1" noTextEdit="1"/>
              </p:cNvSpPr>
              <p:nvPr>
                <p:ph idx="1"/>
              </p:nvPr>
            </p:nvSpPr>
            <p:spPr>
              <a:xfrm>
                <a:off x="838200" y="1825625"/>
                <a:ext cx="3293962" cy="1206942"/>
              </a:xfrm>
              <a:blipFill>
                <a:blip r:embed="rId2"/>
                <a:stretch>
                  <a:fillRect l="-1538"/>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339AE7CE-A3B9-ECDB-B9B8-1E492318B1F8}"/>
              </a:ext>
            </a:extLst>
          </p:cNvPr>
          <p:cNvSpPr>
            <a:spLocks noGrp="1"/>
          </p:cNvSpPr>
          <p:nvPr>
            <p:ph type="ftr" sz="quarter" idx="11"/>
          </p:nvPr>
        </p:nvSpPr>
        <p:spPr/>
        <p:txBody>
          <a:bodyPr/>
          <a:lstStyle/>
          <a:p>
            <a:r>
              <a:rPr lang="en-GB"/>
              <a:t>Activation Functions. Author : David Thébault</a:t>
            </a:r>
          </a:p>
        </p:txBody>
      </p:sp>
      <p:pic>
        <p:nvPicPr>
          <p:cNvPr id="10" name="Image 9" descr="Une image contenant texte, ligne, Tracé, diagramme&#10;&#10;Description générée automatiquement">
            <a:extLst>
              <a:ext uri="{FF2B5EF4-FFF2-40B4-BE49-F238E27FC236}">
                <a16:creationId xmlns:a16="http://schemas.microsoft.com/office/drawing/2014/main" id="{0578A1C3-737A-CD25-F25A-84B437E3C2B6}"/>
              </a:ext>
            </a:extLst>
          </p:cNvPr>
          <p:cNvPicPr>
            <a:picLocks noChangeAspect="1"/>
          </p:cNvPicPr>
          <p:nvPr/>
        </p:nvPicPr>
        <p:blipFill>
          <a:blip r:embed="rId3"/>
          <a:stretch>
            <a:fillRect/>
          </a:stretch>
        </p:blipFill>
        <p:spPr>
          <a:xfrm>
            <a:off x="5182130" y="1414744"/>
            <a:ext cx="6171670" cy="3703002"/>
          </a:xfrm>
          <a:prstGeom prst="rect">
            <a:avLst/>
          </a:prstGeom>
        </p:spPr>
      </p:pic>
      <p:sp>
        <p:nvSpPr>
          <p:cNvPr id="11" name="ZoneTexte 10">
            <a:extLst>
              <a:ext uri="{FF2B5EF4-FFF2-40B4-BE49-F238E27FC236}">
                <a16:creationId xmlns:a16="http://schemas.microsoft.com/office/drawing/2014/main" id="{D9B1259B-DD63-95E6-0FF5-253E47FBBE7D}"/>
              </a:ext>
            </a:extLst>
          </p:cNvPr>
          <p:cNvSpPr txBox="1"/>
          <p:nvPr/>
        </p:nvSpPr>
        <p:spPr>
          <a:xfrm>
            <a:off x="381964" y="2950266"/>
            <a:ext cx="4939214" cy="2677656"/>
          </a:xfrm>
          <a:prstGeom prst="rect">
            <a:avLst/>
          </a:prstGeom>
          <a:noFill/>
        </p:spPr>
        <p:txBody>
          <a:bodyPr wrap="square" rtlCol="0">
            <a:spAutoFit/>
          </a:bodyPr>
          <a:lstStyle/>
          <a:p>
            <a:pPr marL="171450" indent="-171450">
              <a:buFont typeface="Arial" panose="020B0604020202020204" pitchFamily="34" charset="0"/>
              <a:buChar char="•"/>
            </a:pPr>
            <a:r>
              <a:rPr lang="en-GB" sz="1200" dirty="0"/>
              <a:t>(+) Outputs are between -1 and 1 which allows a better distribution of the activation values around zero</a:t>
            </a:r>
          </a:p>
          <a:p>
            <a:pPr marL="171450" indent="-171450">
              <a:buFont typeface="Arial" panose="020B0604020202020204" pitchFamily="34" charset="0"/>
              <a:buChar char="•"/>
            </a:pPr>
            <a:r>
              <a:rPr lang="en-GB" sz="1200" dirty="0"/>
              <a:t>(+) Offers a smooth, continuous derivative (+) gradient descent</a:t>
            </a:r>
          </a:p>
          <a:p>
            <a:pPr marL="171450" indent="-171450">
              <a:buFont typeface="Arial" panose="020B0604020202020204" pitchFamily="34" charset="0"/>
              <a:buChar char="•"/>
            </a:pPr>
            <a:r>
              <a:rPr lang="en-GB" sz="1200" dirty="0"/>
              <a:t>(+) Zero centred for a simple decision boundary</a:t>
            </a:r>
          </a:p>
          <a:p>
            <a:pPr marL="171450" indent="-171450">
              <a:buFont typeface="Arial" panose="020B0604020202020204" pitchFamily="34" charset="0"/>
              <a:buChar char="•"/>
            </a:pPr>
            <a:r>
              <a:rPr lang="en-GB" sz="1200" dirty="0"/>
              <a:t>(+) Outputs are centred around 0. This helps to centre the data and reduce the bias which may lead to a faster convergence</a:t>
            </a:r>
          </a:p>
          <a:p>
            <a:pPr marL="171450" indent="-171450">
              <a:buFont typeface="Arial" panose="020B0604020202020204" pitchFamily="34" charset="0"/>
              <a:buChar char="•"/>
            </a:pPr>
            <a:endParaRPr lang="en-GB" sz="1200" dirty="0"/>
          </a:p>
          <a:p>
            <a:pPr marL="171450" indent="-171450">
              <a:buFont typeface="Arial" panose="020B0604020202020204" pitchFamily="34" charset="0"/>
              <a:buChar char="•"/>
            </a:pPr>
            <a:r>
              <a:rPr lang="en-GB" sz="1200" dirty="0"/>
              <a:t>(-) The extremities of the curve leads to gradient close to zero contributing to the “Vanishing Gradient” problem. But this </a:t>
            </a:r>
            <a:r>
              <a:rPr lang="en-GB" sz="1200" b="1" dirty="0"/>
              <a:t>saturation</a:t>
            </a:r>
            <a:r>
              <a:rPr lang="en-GB" sz="1200" dirty="0"/>
              <a:t> is - compared to sigmoid function – more symmetric around zero which can help maintaining more stable gradients.</a:t>
            </a:r>
          </a:p>
          <a:p>
            <a:pPr marL="171450" indent="-171450">
              <a:buFont typeface="Arial" panose="020B0604020202020204" pitchFamily="34" charset="0"/>
              <a:buChar char="•"/>
            </a:pPr>
            <a:r>
              <a:rPr lang="en-GB" sz="1200" dirty="0"/>
              <a:t>(-) exponential operation makes this activation function a bit more expensive than alternatives.</a:t>
            </a:r>
          </a:p>
          <a:p>
            <a:pPr marL="171450" indent="-171450">
              <a:buFont typeface="Arial" panose="020B0604020202020204" pitchFamily="34" charset="0"/>
              <a:buChar char="•"/>
            </a:pPr>
            <a:endParaRPr lang="en-GB" sz="1200" dirty="0">
              <a:solidFill>
                <a:schemeClr val="bg1">
                  <a:lumMod val="50000"/>
                </a:schemeClr>
              </a:solidFill>
            </a:endParaRPr>
          </a:p>
        </p:txBody>
      </p:sp>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DAF59EC8-5120-BA55-53D6-63A9245D9B11}"/>
                  </a:ext>
                </a:extLst>
              </p:cNvPr>
              <p:cNvSpPr txBox="1"/>
              <p:nvPr/>
            </p:nvSpPr>
            <p:spPr>
              <a:xfrm>
                <a:off x="381964" y="5735820"/>
                <a:ext cx="3006524" cy="3879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𝑡𝑎𝑛</m:t>
                      </m:r>
                      <m:sSup>
                        <m:sSupPr>
                          <m:ctrlPr>
                            <a:rPr lang="fr-FR" b="0" i="1" smtClean="0">
                              <a:latin typeface="Cambria Math" panose="02040503050406030204" pitchFamily="18" charset="0"/>
                            </a:rPr>
                          </m:ctrlPr>
                        </m:sSupPr>
                        <m:e>
                          <m:r>
                            <a:rPr lang="fr-FR" b="0" i="1" smtClean="0">
                              <a:latin typeface="Cambria Math" panose="02040503050406030204" pitchFamily="18" charset="0"/>
                            </a:rPr>
                            <m:t>h</m:t>
                          </m:r>
                        </m:e>
                        <m:sup>
                          <m:r>
                            <a:rPr lang="fr-FR" b="0" i="1" smtClean="0">
                              <a:latin typeface="Cambria Math" panose="02040503050406030204" pitchFamily="18" charset="0"/>
                            </a:rPr>
                            <m:t>′</m:t>
                          </m:r>
                          <m:d>
                            <m:dPr>
                              <m:ctrlPr>
                                <a:rPr lang="fr-FR" b="0" i="1" smtClean="0">
                                  <a:latin typeface="Cambria Math" panose="02040503050406030204" pitchFamily="18" charset="0"/>
                                </a:rPr>
                              </m:ctrlPr>
                            </m:dPr>
                            <m:e>
                              <m:r>
                                <a:rPr lang="fr-FR" b="0" i="1" smtClean="0">
                                  <a:latin typeface="Cambria Math" panose="02040503050406030204" pitchFamily="18" charset="0"/>
                                </a:rPr>
                                <m:t>𝑥</m:t>
                              </m:r>
                            </m:e>
                          </m:d>
                        </m:sup>
                      </m:sSup>
                      <m:r>
                        <a:rPr lang="fr-FR" b="0" i="1" smtClean="0">
                          <a:latin typeface="Cambria Math" panose="02040503050406030204" pitchFamily="18" charset="0"/>
                        </a:rPr>
                        <m:t>=1−</m:t>
                      </m:r>
                      <m:r>
                        <a:rPr lang="fr-FR" b="0" i="1" smtClean="0">
                          <a:latin typeface="Cambria Math" panose="02040503050406030204" pitchFamily="18" charset="0"/>
                        </a:rPr>
                        <m:t>𝑡𝑎𝑛</m:t>
                      </m:r>
                      <m:sSup>
                        <m:sSupPr>
                          <m:ctrlPr>
                            <a:rPr lang="fr-FR" b="0" i="1" smtClean="0">
                              <a:latin typeface="Cambria Math" panose="02040503050406030204" pitchFamily="18" charset="0"/>
                            </a:rPr>
                          </m:ctrlPr>
                        </m:sSupPr>
                        <m:e>
                          <m:r>
                            <a:rPr lang="fr-FR" b="0" i="1" smtClean="0">
                              <a:latin typeface="Cambria Math" panose="02040503050406030204" pitchFamily="18" charset="0"/>
                            </a:rPr>
                            <m:t>h</m:t>
                          </m:r>
                        </m:e>
                        <m:sup>
                          <m:r>
                            <a:rPr lang="fr-FR" b="0" i="1" smtClean="0">
                              <a:latin typeface="Cambria Math" panose="02040503050406030204" pitchFamily="18" charset="0"/>
                            </a:rPr>
                            <m:t>2</m:t>
                          </m:r>
                        </m:sup>
                      </m:sSup>
                      <m:r>
                        <a:rPr lang="fr-FR" b="0" i="1" smtClean="0">
                          <a:latin typeface="Cambria Math" panose="02040503050406030204" pitchFamily="18" charset="0"/>
                        </a:rPr>
                        <m:t>(</m:t>
                      </m:r>
                      <m:r>
                        <a:rPr lang="fr-FR" b="0" i="1" smtClean="0">
                          <a:latin typeface="Cambria Math" panose="02040503050406030204" pitchFamily="18" charset="0"/>
                        </a:rPr>
                        <m:t>𝑥</m:t>
                      </m:r>
                      <m:r>
                        <a:rPr lang="fr-FR" b="0" i="1" smtClean="0">
                          <a:latin typeface="Cambria Math" panose="02040503050406030204" pitchFamily="18" charset="0"/>
                        </a:rPr>
                        <m:t>)</m:t>
                      </m:r>
                    </m:oMath>
                  </m:oMathPara>
                </a14:m>
                <a:endParaRPr lang="en-GB" dirty="0"/>
              </a:p>
            </p:txBody>
          </p:sp>
        </mc:Choice>
        <mc:Fallback xmlns="">
          <p:sp>
            <p:nvSpPr>
              <p:cNvPr id="12" name="ZoneTexte 11">
                <a:extLst>
                  <a:ext uri="{FF2B5EF4-FFF2-40B4-BE49-F238E27FC236}">
                    <a16:creationId xmlns:a16="http://schemas.microsoft.com/office/drawing/2014/main" id="{DAF59EC8-5120-BA55-53D6-63A9245D9B11}"/>
                  </a:ext>
                </a:extLst>
              </p:cNvPr>
              <p:cNvSpPr txBox="1">
                <a:spLocks noRot="1" noChangeAspect="1" noMove="1" noResize="1" noEditPoints="1" noAdjustHandles="1" noChangeArrowheads="1" noChangeShapeType="1" noTextEdit="1"/>
              </p:cNvSpPr>
              <p:nvPr/>
            </p:nvSpPr>
            <p:spPr>
              <a:xfrm>
                <a:off x="381964" y="5735820"/>
                <a:ext cx="3006524" cy="387927"/>
              </a:xfrm>
              <a:prstGeom prst="rect">
                <a:avLst/>
              </a:prstGeom>
              <a:blipFill>
                <a:blip r:embed="rId4"/>
                <a:stretch>
                  <a:fillRect b="-9375"/>
                </a:stretch>
              </a:blipFill>
            </p:spPr>
            <p:txBody>
              <a:bodyPr/>
              <a:lstStyle/>
              <a:p>
                <a:r>
                  <a:rPr lang="en-GB">
                    <a:noFill/>
                  </a:rPr>
                  <a:t> </a:t>
                </a:r>
              </a:p>
            </p:txBody>
          </p:sp>
        </mc:Fallback>
      </mc:AlternateContent>
    </p:spTree>
    <p:extLst>
      <p:ext uri="{BB962C8B-B14F-4D97-AF65-F5344CB8AC3E}">
        <p14:creationId xmlns:p14="http://schemas.microsoft.com/office/powerpoint/2010/main" val="3425928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6B147-9966-982C-39A5-CBA6F159FB4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B2608F9-6EBC-4C13-CF6C-CDCC96298B89}"/>
              </a:ext>
            </a:extLst>
          </p:cNvPr>
          <p:cNvSpPr>
            <a:spLocks noGrp="1"/>
          </p:cNvSpPr>
          <p:nvPr>
            <p:ph type="title"/>
          </p:nvPr>
        </p:nvSpPr>
        <p:spPr/>
        <p:txBody>
          <a:bodyPr>
            <a:normAutofit/>
          </a:bodyPr>
          <a:lstStyle/>
          <a:p>
            <a:pPr marL="0" indent="0">
              <a:buNone/>
            </a:pPr>
            <a:r>
              <a:rPr lang="en-GB" sz="3600" b="1" dirty="0">
                <a:latin typeface="Aptos" panose="020B0004020202020204" pitchFamily="34" charset="0"/>
              </a:rPr>
              <a:t>Relu function</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49FB77B6-DC3F-6C0F-EF53-A3AB6EE5DCED}"/>
                  </a:ext>
                </a:extLst>
              </p:cNvPr>
              <p:cNvSpPr>
                <a:spLocks noGrp="1"/>
              </p:cNvSpPr>
              <p:nvPr>
                <p:ph idx="1"/>
              </p:nvPr>
            </p:nvSpPr>
            <p:spPr>
              <a:xfrm>
                <a:off x="838200" y="1825625"/>
                <a:ext cx="3826397" cy="841211"/>
              </a:xfrm>
              <a:noFill/>
            </p:spPr>
            <p:txBody>
              <a:bodyPr/>
              <a:lstStyle/>
              <a:p>
                <a:pPr marL="0" indent="0">
                  <a:buNone/>
                </a:pPr>
                <a14:m>
                  <m:oMathPara xmlns:m="http://schemas.openxmlformats.org/officeDocument/2006/math">
                    <m:oMathParaPr>
                      <m:jc m:val="left"/>
                    </m:oMathParaPr>
                    <m:oMath xmlns:m="http://schemas.openxmlformats.org/officeDocument/2006/math">
                      <m:r>
                        <a:rPr lang="fr-FR" b="0" i="1" smtClean="0">
                          <a:latin typeface="Cambria Math" panose="02040503050406030204" pitchFamily="18" charset="0"/>
                        </a:rPr>
                        <m:t>𝑟𝑒𝑙𝑢</m:t>
                      </m:r>
                      <m:d>
                        <m:dPr>
                          <m:ctrlPr>
                            <a:rPr lang="fr-FR" b="0" i="1" smtClean="0">
                              <a:latin typeface="Cambria Math" panose="02040503050406030204" pitchFamily="18" charset="0"/>
                            </a:rPr>
                          </m:ctrlPr>
                        </m:dPr>
                        <m:e>
                          <m:r>
                            <a:rPr lang="fr-FR" b="0" i="1" smtClean="0">
                              <a:latin typeface="Cambria Math" panose="02040503050406030204" pitchFamily="18" charset="0"/>
                            </a:rPr>
                            <m:t>𝑥</m:t>
                          </m:r>
                        </m:e>
                      </m:d>
                      <m:r>
                        <a:rPr lang="fr-FR" b="0" i="1" smtClean="0">
                          <a:latin typeface="Cambria Math" panose="02040503050406030204" pitchFamily="18" charset="0"/>
                        </a:rPr>
                        <m:t>=</m:t>
                      </m:r>
                      <m:r>
                        <m:rPr>
                          <m:sty m:val="p"/>
                        </m:rPr>
                        <a:rPr lang="fr-FR" b="0" i="0" smtClean="0">
                          <a:latin typeface="Cambria Math" panose="02040503050406030204" pitchFamily="18" charset="0"/>
                        </a:rPr>
                        <m:t>max</m:t>
                      </m:r>
                      <m:r>
                        <a:rPr lang="fr-FR" b="0" i="1" smtClean="0">
                          <a:latin typeface="Cambria Math" panose="02040503050406030204" pitchFamily="18" charset="0"/>
                        </a:rPr>
                        <m:t>⁡(0, </m:t>
                      </m:r>
                      <m:r>
                        <a:rPr lang="fr-FR" b="0" i="1" smtClean="0">
                          <a:latin typeface="Cambria Math" panose="02040503050406030204" pitchFamily="18" charset="0"/>
                        </a:rPr>
                        <m:t>𝑥</m:t>
                      </m:r>
                      <m:r>
                        <a:rPr lang="fr-FR" b="0" i="1" smtClean="0">
                          <a:latin typeface="Cambria Math" panose="02040503050406030204" pitchFamily="18" charset="0"/>
                        </a:rPr>
                        <m:t>)</m:t>
                      </m:r>
                    </m:oMath>
                  </m:oMathPara>
                </a14:m>
                <a:endParaRPr lang="en-GB" dirty="0"/>
              </a:p>
              <a:p>
                <a:pPr marL="0" indent="0">
                  <a:buNone/>
                </a:pPr>
                <a:endParaRPr lang="en-GB" dirty="0"/>
              </a:p>
              <a:p>
                <a:pPr marL="0" indent="0">
                  <a:buNone/>
                </a:pPr>
                <a:endParaRPr lang="en-GB" dirty="0"/>
              </a:p>
            </p:txBody>
          </p:sp>
        </mc:Choice>
        <mc:Fallback xmlns="">
          <p:sp>
            <p:nvSpPr>
              <p:cNvPr id="3" name="Espace réservé du contenu 2">
                <a:extLst>
                  <a:ext uri="{FF2B5EF4-FFF2-40B4-BE49-F238E27FC236}">
                    <a16:creationId xmlns:a16="http://schemas.microsoft.com/office/drawing/2014/main" id="{49FB77B6-DC3F-6C0F-EF53-A3AB6EE5DCED}"/>
                  </a:ext>
                </a:extLst>
              </p:cNvPr>
              <p:cNvSpPr>
                <a:spLocks noGrp="1" noRot="1" noChangeAspect="1" noMove="1" noResize="1" noEditPoints="1" noAdjustHandles="1" noChangeArrowheads="1" noChangeShapeType="1" noTextEdit="1"/>
              </p:cNvSpPr>
              <p:nvPr>
                <p:ph idx="1"/>
              </p:nvPr>
            </p:nvSpPr>
            <p:spPr>
              <a:xfrm>
                <a:off x="838200" y="1825625"/>
                <a:ext cx="3826397" cy="841211"/>
              </a:xfrm>
              <a:blipFill>
                <a:blip r:embed="rId2"/>
                <a:stretch>
                  <a:fillRect l="-1325" t="-2985"/>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E6CA7E80-F9B4-0A84-7D2E-F9B5EE660FB7}"/>
              </a:ext>
            </a:extLst>
          </p:cNvPr>
          <p:cNvSpPr>
            <a:spLocks noGrp="1"/>
          </p:cNvSpPr>
          <p:nvPr>
            <p:ph type="ftr" sz="quarter" idx="11"/>
          </p:nvPr>
        </p:nvSpPr>
        <p:spPr/>
        <p:txBody>
          <a:bodyPr/>
          <a:lstStyle/>
          <a:p>
            <a:r>
              <a:rPr lang="en-GB"/>
              <a:t>Activation Functions. Author : David Thébault</a:t>
            </a:r>
          </a:p>
        </p:txBody>
      </p:sp>
      <p:pic>
        <p:nvPicPr>
          <p:cNvPr id="7" name="Image 6" descr="Une image contenant ligne, Tracé, texte, diagramme&#10;&#10;Description générée automatiquement">
            <a:extLst>
              <a:ext uri="{FF2B5EF4-FFF2-40B4-BE49-F238E27FC236}">
                <a16:creationId xmlns:a16="http://schemas.microsoft.com/office/drawing/2014/main" id="{15DBA6B8-2705-D213-C074-46AE610BE11F}"/>
              </a:ext>
            </a:extLst>
          </p:cNvPr>
          <p:cNvPicPr>
            <a:picLocks noChangeAspect="1"/>
          </p:cNvPicPr>
          <p:nvPr/>
        </p:nvPicPr>
        <p:blipFill>
          <a:blip r:embed="rId3"/>
          <a:stretch>
            <a:fillRect/>
          </a:stretch>
        </p:blipFill>
        <p:spPr>
          <a:xfrm>
            <a:off x="4849792" y="1477797"/>
            <a:ext cx="6504008" cy="3902405"/>
          </a:xfrm>
          <a:prstGeom prst="rect">
            <a:avLst/>
          </a:prstGeom>
        </p:spPr>
      </p:pic>
      <p:sp>
        <p:nvSpPr>
          <p:cNvPr id="9" name="ZoneTexte 8">
            <a:extLst>
              <a:ext uri="{FF2B5EF4-FFF2-40B4-BE49-F238E27FC236}">
                <a16:creationId xmlns:a16="http://schemas.microsoft.com/office/drawing/2014/main" id="{E79F96C3-FE76-5B13-AEA2-90DF09B3A04F}"/>
              </a:ext>
            </a:extLst>
          </p:cNvPr>
          <p:cNvSpPr txBox="1"/>
          <p:nvPr/>
        </p:nvSpPr>
        <p:spPr>
          <a:xfrm>
            <a:off x="381964" y="2950266"/>
            <a:ext cx="4939214" cy="2123658"/>
          </a:xfrm>
          <a:prstGeom prst="rect">
            <a:avLst/>
          </a:prstGeom>
          <a:noFill/>
        </p:spPr>
        <p:txBody>
          <a:bodyPr wrap="square" rtlCol="0">
            <a:spAutoFit/>
          </a:bodyPr>
          <a:lstStyle/>
          <a:p>
            <a:pPr marL="171450" indent="-171450">
              <a:buFont typeface="Arial" panose="020B0604020202020204" pitchFamily="34" charset="0"/>
              <a:buChar char="•"/>
            </a:pPr>
            <a:r>
              <a:rPr lang="en-GB" sz="1200" dirty="0"/>
              <a:t>(+) Converges faster and computationally cheaper</a:t>
            </a:r>
          </a:p>
          <a:p>
            <a:pPr marL="171450" indent="-171450">
              <a:buFont typeface="Arial" panose="020B0604020202020204" pitchFamily="34" charset="0"/>
              <a:buChar char="•"/>
            </a:pPr>
            <a:r>
              <a:rPr lang="en-GB" sz="1200" dirty="0"/>
              <a:t>(+) Simple, non-saturating gradient pas zero enables deeper networks (i.e. more layers)</a:t>
            </a:r>
          </a:p>
          <a:p>
            <a:pPr marL="171450" indent="-171450">
              <a:buFont typeface="Arial" panose="020B0604020202020204" pitchFamily="34" charset="0"/>
              <a:buChar char="•"/>
            </a:pPr>
            <a:endParaRPr lang="en-GB" sz="1200" dirty="0"/>
          </a:p>
          <a:p>
            <a:pPr marL="171450" indent="-171450">
              <a:buFont typeface="Arial" panose="020B0604020202020204" pitchFamily="34" charset="0"/>
              <a:buChar char="•"/>
            </a:pPr>
            <a:r>
              <a:rPr lang="en-GB" sz="1200" dirty="0"/>
              <a:t>(-) Poor initialization weights and high learning rate can lead to “dying” Relu (inactive neurons, only output zero because the weighted input is always negative for our training instances) which can slow down the performance of the model and slower the convergence. Used pertinent weights initialisations, adequate learning rates and use variances of Relu can avoid this issue.</a:t>
            </a:r>
          </a:p>
          <a:p>
            <a:pPr marL="171450" indent="-171450">
              <a:buFont typeface="Arial" panose="020B0604020202020204" pitchFamily="34" charset="0"/>
              <a:buChar char="•"/>
            </a:pPr>
            <a:endParaRPr lang="en-GB" sz="1200" dirty="0">
              <a:solidFill>
                <a:schemeClr val="bg1">
                  <a:lumMod val="50000"/>
                </a:schemeClr>
              </a:solidFill>
            </a:endParaRPr>
          </a:p>
        </p:txBody>
      </p: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D1379E04-B9E0-CFF1-13DC-CD3997E1931C}"/>
                  </a:ext>
                </a:extLst>
              </p:cNvPr>
              <p:cNvSpPr txBox="1"/>
              <p:nvPr/>
            </p:nvSpPr>
            <p:spPr>
              <a:xfrm>
                <a:off x="9468091" y="3374019"/>
                <a:ext cx="742960" cy="525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i="1" smtClean="0">
                              <a:latin typeface="Cambria Math" panose="02040503050406030204" pitchFamily="18" charset="0"/>
                            </a:rPr>
                            <m:t>𝑑𝑦</m:t>
                          </m:r>
                        </m:num>
                        <m:den>
                          <m:r>
                            <a:rPr lang="en-GB" i="1" smtClean="0">
                              <a:latin typeface="Cambria Math" panose="02040503050406030204" pitchFamily="18" charset="0"/>
                            </a:rPr>
                            <m:t>𝑑𝑥</m:t>
                          </m:r>
                        </m:den>
                      </m:f>
                      <m:r>
                        <a:rPr lang="fr-FR" b="0" i="1" smtClean="0">
                          <a:latin typeface="Cambria Math" panose="02040503050406030204" pitchFamily="18" charset="0"/>
                        </a:rPr>
                        <m:t>=1</m:t>
                      </m:r>
                    </m:oMath>
                  </m:oMathPara>
                </a14:m>
                <a:endParaRPr lang="en-GB" dirty="0"/>
              </a:p>
            </p:txBody>
          </p:sp>
        </mc:Choice>
        <mc:Fallback xmlns="">
          <p:sp>
            <p:nvSpPr>
              <p:cNvPr id="10" name="ZoneTexte 9">
                <a:extLst>
                  <a:ext uri="{FF2B5EF4-FFF2-40B4-BE49-F238E27FC236}">
                    <a16:creationId xmlns:a16="http://schemas.microsoft.com/office/drawing/2014/main" id="{D1379E04-B9E0-CFF1-13DC-CD3997E1931C}"/>
                  </a:ext>
                </a:extLst>
              </p:cNvPr>
              <p:cNvSpPr txBox="1">
                <a:spLocks noRot="1" noChangeAspect="1" noMove="1" noResize="1" noEditPoints="1" noAdjustHandles="1" noChangeArrowheads="1" noChangeShapeType="1" noTextEdit="1"/>
              </p:cNvSpPr>
              <p:nvPr/>
            </p:nvSpPr>
            <p:spPr>
              <a:xfrm>
                <a:off x="9468091" y="3374019"/>
                <a:ext cx="742960" cy="525913"/>
              </a:xfrm>
              <a:prstGeom prst="rect">
                <a:avLst/>
              </a:prstGeom>
              <a:blipFill>
                <a:blip r:embed="rId4"/>
                <a:stretch>
                  <a:fillRect l="-10000" t="-2326" r="-6667" b="-13953"/>
                </a:stretch>
              </a:blipFill>
            </p:spPr>
            <p:txBody>
              <a:bodyPr/>
              <a:lstStyle/>
              <a:p>
                <a:r>
                  <a:rPr lang="en-GB">
                    <a:noFill/>
                  </a:rPr>
                  <a:t> </a:t>
                </a:r>
              </a:p>
            </p:txBody>
          </p:sp>
        </mc:Fallback>
      </mc:AlternateContent>
    </p:spTree>
    <p:extLst>
      <p:ext uri="{BB962C8B-B14F-4D97-AF65-F5344CB8AC3E}">
        <p14:creationId xmlns:p14="http://schemas.microsoft.com/office/powerpoint/2010/main" val="1441608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C324C-1158-E28E-11F6-2E0410ADCD3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519F698-6DCC-9B8C-EBDB-B196A0B03038}"/>
              </a:ext>
            </a:extLst>
          </p:cNvPr>
          <p:cNvSpPr>
            <a:spLocks noGrp="1"/>
          </p:cNvSpPr>
          <p:nvPr>
            <p:ph type="title"/>
          </p:nvPr>
        </p:nvSpPr>
        <p:spPr/>
        <p:txBody>
          <a:bodyPr>
            <a:normAutofit/>
          </a:bodyPr>
          <a:lstStyle/>
          <a:p>
            <a:pPr marL="0" indent="0">
              <a:buNone/>
            </a:pPr>
            <a:r>
              <a:rPr lang="en-GB" sz="3600" b="1" dirty="0">
                <a:latin typeface="Aptos" panose="020B0004020202020204" pitchFamily="34" charset="0"/>
              </a:rPr>
              <a:t>Leaky Relu</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F5994B8F-B666-91D1-1988-90FC6E408B56}"/>
                  </a:ext>
                </a:extLst>
              </p:cNvPr>
              <p:cNvSpPr>
                <a:spLocks noGrp="1"/>
              </p:cNvSpPr>
              <p:nvPr>
                <p:ph idx="1"/>
              </p:nvPr>
            </p:nvSpPr>
            <p:spPr>
              <a:xfrm>
                <a:off x="838200" y="1825625"/>
                <a:ext cx="5257800" cy="1325563"/>
              </a:xfrm>
              <a:noFill/>
            </p:spPr>
            <p:txBody>
              <a:bodyPr>
                <a:noAutofit/>
              </a:bodyPr>
              <a:lstStyle/>
              <a:p>
                <a:pPr marL="0" indent="0">
                  <a:buNone/>
                </a:pPr>
                <a14:m>
                  <m:oMathPara xmlns:m="http://schemas.openxmlformats.org/officeDocument/2006/math">
                    <m:oMathParaPr>
                      <m:jc m:val="left"/>
                    </m:oMathParaPr>
                    <m:oMath xmlns:m="http://schemas.openxmlformats.org/officeDocument/2006/math">
                      <m:r>
                        <a:rPr lang="fr-FR" b="0" i="1" smtClean="0">
                          <a:latin typeface="Cambria Math" panose="02040503050406030204" pitchFamily="18" charset="0"/>
                        </a:rPr>
                        <m:t>𝑙𝑒𝑎𝑘𝑦</m:t>
                      </m:r>
                      <m:r>
                        <a:rPr lang="fr-FR" b="0" i="1" smtClean="0">
                          <a:latin typeface="Cambria Math" panose="02040503050406030204" pitchFamily="18" charset="0"/>
                        </a:rPr>
                        <m:t>_</m:t>
                      </m:r>
                      <m:r>
                        <a:rPr lang="fr-FR" b="0" i="1" smtClean="0">
                          <a:latin typeface="Cambria Math" panose="02040503050406030204" pitchFamily="18" charset="0"/>
                        </a:rPr>
                        <m:t>𝑟𝑒𝑙</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𝛼</m:t>
                          </m:r>
                        </m:sub>
                      </m:sSub>
                      <m:d>
                        <m:dPr>
                          <m:ctrlPr>
                            <a:rPr lang="fr-FR" b="0" i="1" smtClean="0">
                              <a:latin typeface="Cambria Math" panose="02040503050406030204" pitchFamily="18" charset="0"/>
                            </a:rPr>
                          </m:ctrlPr>
                        </m:dPr>
                        <m:e>
                          <m:r>
                            <a:rPr lang="fr-FR" b="0" i="1" smtClean="0">
                              <a:latin typeface="Cambria Math" panose="02040503050406030204" pitchFamily="18" charset="0"/>
                            </a:rPr>
                            <m:t>𝑥</m:t>
                          </m:r>
                        </m:e>
                      </m:d>
                      <m:r>
                        <a:rPr lang="fr-FR" b="0" i="1" smtClean="0">
                          <a:latin typeface="Cambria Math" panose="02040503050406030204" pitchFamily="18" charset="0"/>
                        </a:rPr>
                        <m:t>=</m:t>
                      </m:r>
                      <m:d>
                        <m:dPr>
                          <m:begChr m:val="{"/>
                          <m:endChr m:val=""/>
                          <m:ctrlPr>
                            <a:rPr lang="fr-FR" b="0" i="1" smtClean="0">
                              <a:latin typeface="Cambria Math" panose="02040503050406030204" pitchFamily="18" charset="0"/>
                            </a:rPr>
                          </m:ctrlPr>
                        </m:dPr>
                        <m:e>
                          <m:eqArr>
                            <m:eqArrPr>
                              <m:ctrlPr>
                                <a:rPr lang="fr-FR" b="0" i="1" smtClean="0">
                                  <a:latin typeface="Cambria Math" panose="02040503050406030204" pitchFamily="18" charset="0"/>
                                </a:rPr>
                              </m:ctrlPr>
                            </m:eqArrPr>
                            <m:e>
                              <m:r>
                                <a:rPr lang="fr-FR" b="0" i="1" smtClean="0">
                                  <a:latin typeface="Cambria Math" panose="02040503050406030204" pitchFamily="18" charset="0"/>
                                </a:rPr>
                                <m:t>𝑥</m:t>
                              </m:r>
                              <m:r>
                                <a:rPr lang="fr-FR" b="0" i="1" smtClean="0">
                                  <a:latin typeface="Cambria Math" panose="02040503050406030204" pitchFamily="18" charset="0"/>
                                </a:rPr>
                                <m:t> </m:t>
                              </m:r>
                              <m:r>
                                <a:rPr lang="fr-FR" b="0" i="1" smtClean="0">
                                  <a:latin typeface="Cambria Math" panose="02040503050406030204" pitchFamily="18" charset="0"/>
                                </a:rPr>
                                <m:t>𝑖𝑓</m:t>
                              </m:r>
                              <m:r>
                                <a:rPr lang="fr-FR" b="0" i="1" smtClean="0">
                                  <a:latin typeface="Cambria Math" panose="02040503050406030204" pitchFamily="18" charset="0"/>
                                </a:rPr>
                                <m:t> </m:t>
                              </m:r>
                              <m:r>
                                <a:rPr lang="fr-FR" b="0" i="1" smtClean="0">
                                  <a:latin typeface="Cambria Math" panose="02040503050406030204" pitchFamily="18" charset="0"/>
                                </a:rPr>
                                <m:t>𝑥</m:t>
                              </m:r>
                              <m:r>
                                <a:rPr lang="fr-FR" b="0" i="1" smtClean="0">
                                  <a:latin typeface="Cambria Math" panose="02040503050406030204" pitchFamily="18" charset="0"/>
                                  <a:ea typeface="Cambria Math" panose="02040503050406030204" pitchFamily="18" charset="0"/>
                                </a:rPr>
                                <m:t>≥0</m:t>
                              </m:r>
                            </m:e>
                            <m:e>
                              <m:r>
                                <a:rPr lang="fr-FR" b="0" i="1" smtClean="0">
                                  <a:latin typeface="Cambria Math" panose="02040503050406030204" pitchFamily="18" charset="0"/>
                                </a:rPr>
                                <m:t>𝛼</m:t>
                              </m:r>
                              <m:r>
                                <a:rPr lang="fr-FR" b="0" i="1" smtClean="0">
                                  <a:latin typeface="Cambria Math" panose="02040503050406030204" pitchFamily="18" charset="0"/>
                                </a:rPr>
                                <m:t>𝑥</m:t>
                              </m:r>
                              <m:r>
                                <a:rPr lang="fr-FR" b="0" i="1" smtClean="0">
                                  <a:latin typeface="Cambria Math" panose="02040503050406030204" pitchFamily="18" charset="0"/>
                                </a:rPr>
                                <m:t> </m:t>
                              </m:r>
                              <m:r>
                                <a:rPr lang="fr-FR" b="0" i="1" smtClean="0">
                                  <a:latin typeface="Cambria Math" panose="02040503050406030204" pitchFamily="18" charset="0"/>
                                </a:rPr>
                                <m:t>𝑖𝑓</m:t>
                              </m:r>
                              <m:r>
                                <a:rPr lang="fr-FR" b="0" i="1" smtClean="0">
                                  <a:latin typeface="Cambria Math" panose="02040503050406030204" pitchFamily="18" charset="0"/>
                                </a:rPr>
                                <m:t> </m:t>
                              </m:r>
                              <m:r>
                                <a:rPr lang="fr-FR" b="0" i="1" smtClean="0">
                                  <a:latin typeface="Cambria Math" panose="02040503050406030204" pitchFamily="18" charset="0"/>
                                </a:rPr>
                                <m:t>𝑥</m:t>
                              </m:r>
                              <m:r>
                                <a:rPr lang="fr-FR" b="0" i="1" smtClean="0">
                                  <a:latin typeface="Cambria Math" panose="02040503050406030204" pitchFamily="18" charset="0"/>
                                  <a:ea typeface="Cambria Math" panose="02040503050406030204" pitchFamily="18" charset="0"/>
                                </a:rPr>
                                <m:t>&lt;0</m:t>
                              </m:r>
                            </m:e>
                          </m:eqArr>
                        </m:e>
                      </m:d>
                    </m:oMath>
                  </m:oMathPara>
                </a14:m>
                <a:endParaRPr lang="en-GB" dirty="0"/>
              </a:p>
              <a:p>
                <a:pPr marL="0" indent="0">
                  <a:buNone/>
                </a:pPr>
                <a:endParaRPr lang="en-GB" dirty="0"/>
              </a:p>
              <a:p>
                <a:pPr marL="0" indent="0">
                  <a:buNone/>
                </a:pPr>
                <a:endParaRPr lang="en-GB" dirty="0"/>
              </a:p>
            </p:txBody>
          </p:sp>
        </mc:Choice>
        <mc:Fallback xmlns="">
          <p:sp>
            <p:nvSpPr>
              <p:cNvPr id="3" name="Espace réservé du contenu 2">
                <a:extLst>
                  <a:ext uri="{FF2B5EF4-FFF2-40B4-BE49-F238E27FC236}">
                    <a16:creationId xmlns:a16="http://schemas.microsoft.com/office/drawing/2014/main" id="{F5994B8F-B666-91D1-1988-90FC6E408B56}"/>
                  </a:ext>
                </a:extLst>
              </p:cNvPr>
              <p:cNvSpPr>
                <a:spLocks noGrp="1" noRot="1" noChangeAspect="1" noMove="1" noResize="1" noEditPoints="1" noAdjustHandles="1" noChangeArrowheads="1" noChangeShapeType="1" noTextEdit="1"/>
              </p:cNvSpPr>
              <p:nvPr>
                <p:ph idx="1"/>
              </p:nvPr>
            </p:nvSpPr>
            <p:spPr>
              <a:xfrm>
                <a:off x="838200" y="1825625"/>
                <a:ext cx="5257800" cy="1325563"/>
              </a:xfrm>
              <a:blipFill>
                <a:blip r:embed="rId3"/>
                <a:stretch>
                  <a:fillRect l="-1446" t="-164151" b="-205660"/>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CBE89E54-B1E1-66F5-4EF7-08E73FD7759B}"/>
              </a:ext>
            </a:extLst>
          </p:cNvPr>
          <p:cNvSpPr>
            <a:spLocks noGrp="1"/>
          </p:cNvSpPr>
          <p:nvPr>
            <p:ph type="ftr" sz="quarter" idx="11"/>
          </p:nvPr>
        </p:nvSpPr>
        <p:spPr/>
        <p:txBody>
          <a:bodyPr/>
          <a:lstStyle/>
          <a:p>
            <a:r>
              <a:rPr lang="en-GB"/>
              <a:t>Activation Functions. Author : David Thébault</a:t>
            </a:r>
          </a:p>
        </p:txBody>
      </p:sp>
      <p:pic>
        <p:nvPicPr>
          <p:cNvPr id="6" name="Image 5" descr="Une image contenant ligne, Tracé, diagramme, texte&#10;&#10;Description générée automatiquement">
            <a:extLst>
              <a:ext uri="{FF2B5EF4-FFF2-40B4-BE49-F238E27FC236}">
                <a16:creationId xmlns:a16="http://schemas.microsoft.com/office/drawing/2014/main" id="{CA4641A3-5A21-6199-B1D2-AB51AA6B8A74}"/>
              </a:ext>
            </a:extLst>
          </p:cNvPr>
          <p:cNvPicPr>
            <a:picLocks noChangeAspect="1"/>
          </p:cNvPicPr>
          <p:nvPr/>
        </p:nvPicPr>
        <p:blipFill>
          <a:blip r:embed="rId4"/>
          <a:stretch>
            <a:fillRect/>
          </a:stretch>
        </p:blipFill>
        <p:spPr>
          <a:xfrm>
            <a:off x="5830511" y="1270511"/>
            <a:ext cx="6268924" cy="3761354"/>
          </a:xfrm>
          <a:prstGeom prst="rect">
            <a:avLst/>
          </a:prstGeom>
        </p:spPr>
      </p:pic>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555D1092-9D45-1DE1-83EE-04E73A146095}"/>
                  </a:ext>
                </a:extLst>
              </p:cNvPr>
              <p:cNvSpPr txBox="1"/>
              <p:nvPr/>
            </p:nvSpPr>
            <p:spPr>
              <a:xfrm>
                <a:off x="1064871" y="3588152"/>
                <a:ext cx="1145894" cy="646331"/>
              </a:xfrm>
              <a:prstGeom prst="rect">
                <a:avLst/>
              </a:prstGeom>
              <a:noFill/>
            </p:spPr>
            <p:txBody>
              <a:bodyPr wrap="square" rtlCol="0">
                <a:spAutoFit/>
              </a:bodyPr>
              <a:lstStyle/>
              <a:p>
                <a:r>
                  <a:rPr lang="en-GB" dirty="0"/>
                  <a:t>Typically </a:t>
                </a:r>
                <a14:m>
                  <m:oMath xmlns:m="http://schemas.openxmlformats.org/officeDocument/2006/math">
                    <m:r>
                      <a:rPr lang="fr-FR" b="0" i="1" smtClean="0">
                        <a:latin typeface="Cambria Math" panose="02040503050406030204" pitchFamily="18" charset="0"/>
                      </a:rPr>
                      <m:t>𝛼</m:t>
                    </m:r>
                    <m:r>
                      <a:rPr lang="fr-FR" b="0" i="1" smtClean="0">
                        <a:latin typeface="Cambria Math" panose="02040503050406030204" pitchFamily="18" charset="0"/>
                      </a:rPr>
                      <m:t>=0.01</m:t>
                    </m:r>
                  </m:oMath>
                </a14:m>
                <a:r>
                  <a:rPr lang="en-GB" dirty="0"/>
                  <a:t> </a:t>
                </a:r>
              </a:p>
            </p:txBody>
          </p:sp>
        </mc:Choice>
        <mc:Fallback xmlns="">
          <p:sp>
            <p:nvSpPr>
              <p:cNvPr id="8" name="ZoneTexte 7">
                <a:extLst>
                  <a:ext uri="{FF2B5EF4-FFF2-40B4-BE49-F238E27FC236}">
                    <a16:creationId xmlns:a16="http://schemas.microsoft.com/office/drawing/2014/main" id="{555D1092-9D45-1DE1-83EE-04E73A146095}"/>
                  </a:ext>
                </a:extLst>
              </p:cNvPr>
              <p:cNvSpPr txBox="1">
                <a:spLocks noRot="1" noChangeAspect="1" noMove="1" noResize="1" noEditPoints="1" noAdjustHandles="1" noChangeArrowheads="1" noChangeShapeType="1" noTextEdit="1"/>
              </p:cNvSpPr>
              <p:nvPr/>
            </p:nvSpPr>
            <p:spPr>
              <a:xfrm>
                <a:off x="1064871" y="3588152"/>
                <a:ext cx="1145894" cy="646331"/>
              </a:xfrm>
              <a:prstGeom prst="rect">
                <a:avLst/>
              </a:prstGeom>
              <a:blipFill>
                <a:blip r:embed="rId5"/>
                <a:stretch>
                  <a:fillRect l="-5495" t="-3846"/>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2" name="ZoneTexte 11">
                <a:extLst>
                  <a:ext uri="{FF2B5EF4-FFF2-40B4-BE49-F238E27FC236}">
                    <a16:creationId xmlns:a16="http://schemas.microsoft.com/office/drawing/2014/main" id="{ED61C98D-BB7D-3707-327D-221D6AC9A084}"/>
                  </a:ext>
                </a:extLst>
              </p:cNvPr>
              <p:cNvSpPr txBox="1"/>
              <p:nvPr/>
            </p:nvSpPr>
            <p:spPr>
              <a:xfrm>
                <a:off x="838199" y="4768029"/>
                <a:ext cx="5863389" cy="1384995"/>
              </a:xfrm>
              <a:prstGeom prst="rect">
                <a:avLst/>
              </a:prstGeom>
              <a:noFill/>
            </p:spPr>
            <p:txBody>
              <a:bodyPr wrap="square">
                <a:spAutoFit/>
              </a:bodyPr>
              <a:lstStyle/>
              <a:p>
                <a:pPr marL="285750" indent="-285750">
                  <a:buFont typeface="Arial" panose="020B0604020202020204" pitchFamily="34" charset="0"/>
                  <a:buChar char="•"/>
                </a:pPr>
                <a:r>
                  <a:rPr lang="en-GB" sz="1400" dirty="0"/>
                  <a:t>The slope for negative values is controlled by the hyperparameter </a:t>
                </a:r>
                <a14:m>
                  <m:oMath xmlns:m="http://schemas.openxmlformats.org/officeDocument/2006/math">
                    <m:r>
                      <a:rPr lang="fr-FR" sz="1400" b="0" i="1" smtClean="0">
                        <a:latin typeface="Cambria Math" panose="02040503050406030204" pitchFamily="18" charset="0"/>
                      </a:rPr>
                      <m:t>𝛼</m:t>
                    </m:r>
                  </m:oMath>
                </a14:m>
                <a:endParaRPr lang="en-GB" sz="1400" dirty="0"/>
              </a:p>
              <a:p>
                <a:pPr marL="285750" indent="-285750">
                  <a:buFont typeface="Arial" panose="020B0604020202020204" pitchFamily="34" charset="0"/>
                  <a:buChar char="•"/>
                </a:pPr>
                <a:r>
                  <a:rPr lang="en-GB" sz="1400" dirty="0"/>
                  <a:t>(+) This avoids dying values.</a:t>
                </a:r>
              </a:p>
              <a:p>
                <a:pPr marL="285750" indent="-285750">
                  <a:buFont typeface="Arial" panose="020B0604020202020204" pitchFamily="34" charset="0"/>
                  <a:buChar char="•"/>
                </a:pPr>
                <a:r>
                  <a:rPr lang="en-GB" sz="1400" dirty="0"/>
                  <a:t>(+) Leaky value has been showed to perform better than regular values</a:t>
                </a:r>
              </a:p>
              <a:p>
                <a:pPr marL="285750" indent="-285750">
                  <a:buFont typeface="Arial" panose="020B0604020202020204" pitchFamily="34" charset="0"/>
                  <a:buChar char="•"/>
                </a:pPr>
                <a:r>
                  <a:rPr lang="en-GB" sz="1400" dirty="0"/>
                  <a:t>(+) when you have dead neurons with Relu that you want to activate, Leaky Relu is a good alternative (when &lt;0 this is not zero compared to Relu).</a:t>
                </a:r>
              </a:p>
            </p:txBody>
          </p:sp>
        </mc:Choice>
        <mc:Fallback>
          <p:sp>
            <p:nvSpPr>
              <p:cNvPr id="12" name="ZoneTexte 11">
                <a:extLst>
                  <a:ext uri="{FF2B5EF4-FFF2-40B4-BE49-F238E27FC236}">
                    <a16:creationId xmlns:a16="http://schemas.microsoft.com/office/drawing/2014/main" id="{ED61C98D-BB7D-3707-327D-221D6AC9A084}"/>
                  </a:ext>
                </a:extLst>
              </p:cNvPr>
              <p:cNvSpPr txBox="1">
                <a:spLocks noRot="1" noChangeAspect="1" noMove="1" noResize="1" noEditPoints="1" noAdjustHandles="1" noChangeArrowheads="1" noChangeShapeType="1" noTextEdit="1"/>
              </p:cNvSpPr>
              <p:nvPr/>
            </p:nvSpPr>
            <p:spPr>
              <a:xfrm>
                <a:off x="838199" y="4768029"/>
                <a:ext cx="5863389" cy="1384995"/>
              </a:xfrm>
              <a:prstGeom prst="rect">
                <a:avLst/>
              </a:prstGeom>
              <a:blipFill>
                <a:blip r:embed="rId6"/>
                <a:stretch>
                  <a:fillRect l="-216" t="-909" b="-3636"/>
                </a:stretch>
              </a:blipFill>
            </p:spPr>
            <p:txBody>
              <a:bodyPr/>
              <a:lstStyle/>
              <a:p>
                <a:r>
                  <a:rPr lang="en-GB">
                    <a:noFill/>
                  </a:rPr>
                  <a:t> </a:t>
                </a:r>
              </a:p>
            </p:txBody>
          </p:sp>
        </mc:Fallback>
      </mc:AlternateContent>
    </p:spTree>
    <p:extLst>
      <p:ext uri="{BB962C8B-B14F-4D97-AF65-F5344CB8AC3E}">
        <p14:creationId xmlns:p14="http://schemas.microsoft.com/office/powerpoint/2010/main" val="4009422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23766-5C41-8E33-109C-06DEAF4E8CF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A1ED2BC-3C88-9A17-C07D-9805D04B86D1}"/>
              </a:ext>
            </a:extLst>
          </p:cNvPr>
          <p:cNvSpPr>
            <a:spLocks noGrp="1"/>
          </p:cNvSpPr>
          <p:nvPr>
            <p:ph type="title"/>
          </p:nvPr>
        </p:nvSpPr>
        <p:spPr/>
        <p:txBody>
          <a:bodyPr>
            <a:normAutofit/>
          </a:bodyPr>
          <a:lstStyle/>
          <a:p>
            <a:pPr marL="0" indent="0">
              <a:buNone/>
            </a:pPr>
            <a:r>
              <a:rPr lang="en-GB" sz="3600" b="1" dirty="0">
                <a:latin typeface="Aptos" panose="020B0004020202020204" pitchFamily="34" charset="0"/>
              </a:rPr>
              <a:t>Exponential Linear Unit (ELU)</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AF21FEDC-24E2-D652-3AC9-AE48A597236A}"/>
                  </a:ext>
                </a:extLst>
              </p:cNvPr>
              <p:cNvSpPr>
                <a:spLocks noGrp="1"/>
              </p:cNvSpPr>
              <p:nvPr>
                <p:ph idx="1"/>
              </p:nvPr>
            </p:nvSpPr>
            <p:spPr>
              <a:xfrm>
                <a:off x="838200" y="1825625"/>
                <a:ext cx="5257800" cy="1325563"/>
              </a:xfrm>
              <a:noFill/>
            </p:spPr>
            <p:txBody>
              <a:bodyPr>
                <a:noAutofit/>
              </a:bodyPr>
              <a:lstStyle/>
              <a:p>
                <a:pPr marL="0" indent="0">
                  <a:buNone/>
                </a:pPr>
                <a14:m>
                  <m:oMathPara xmlns:m="http://schemas.openxmlformats.org/officeDocument/2006/math">
                    <m:oMathParaPr>
                      <m:jc m:val="left"/>
                    </m:oMathParaPr>
                    <m:oMath xmlns:m="http://schemas.openxmlformats.org/officeDocument/2006/math">
                      <m:r>
                        <a:rPr lang="fr-FR" b="0" i="1" smtClean="0">
                          <a:latin typeface="Cambria Math" panose="02040503050406030204" pitchFamily="18" charset="0"/>
                        </a:rPr>
                        <m:t>𝐸𝐿</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𝑈</m:t>
                          </m:r>
                        </m:e>
                        <m:sub>
                          <m:r>
                            <a:rPr lang="fr-FR" b="0" i="1" smtClean="0">
                              <a:latin typeface="Cambria Math" panose="02040503050406030204" pitchFamily="18" charset="0"/>
                            </a:rPr>
                            <m:t>𝛼</m:t>
                          </m:r>
                        </m:sub>
                      </m:sSub>
                      <m:d>
                        <m:dPr>
                          <m:ctrlPr>
                            <a:rPr lang="fr-FR" b="0" i="1" smtClean="0">
                              <a:latin typeface="Cambria Math" panose="02040503050406030204" pitchFamily="18" charset="0"/>
                            </a:rPr>
                          </m:ctrlPr>
                        </m:dPr>
                        <m:e>
                          <m:r>
                            <a:rPr lang="fr-FR" b="0" i="1" smtClean="0">
                              <a:latin typeface="Cambria Math" panose="02040503050406030204" pitchFamily="18" charset="0"/>
                            </a:rPr>
                            <m:t>𝑥</m:t>
                          </m:r>
                        </m:e>
                      </m:d>
                      <m:r>
                        <a:rPr lang="fr-FR" b="0" i="1" smtClean="0">
                          <a:latin typeface="Cambria Math" panose="02040503050406030204" pitchFamily="18" charset="0"/>
                        </a:rPr>
                        <m:t>=</m:t>
                      </m:r>
                      <m:d>
                        <m:dPr>
                          <m:begChr m:val="{"/>
                          <m:endChr m:val=""/>
                          <m:ctrlPr>
                            <a:rPr lang="fr-FR" b="0" i="1" smtClean="0">
                              <a:latin typeface="Cambria Math" panose="02040503050406030204" pitchFamily="18" charset="0"/>
                            </a:rPr>
                          </m:ctrlPr>
                        </m:dPr>
                        <m:e>
                          <m:eqArr>
                            <m:eqArrPr>
                              <m:ctrlPr>
                                <a:rPr lang="fr-FR" b="0" i="1" smtClean="0">
                                  <a:latin typeface="Cambria Math" panose="02040503050406030204" pitchFamily="18" charset="0"/>
                                </a:rPr>
                              </m:ctrlPr>
                            </m:eqArrPr>
                            <m:e>
                              <m:r>
                                <a:rPr lang="fr-FR" b="0" i="1" smtClean="0">
                                  <a:latin typeface="Cambria Math" panose="02040503050406030204" pitchFamily="18" charset="0"/>
                                </a:rPr>
                                <m:t>𝑥</m:t>
                              </m:r>
                              <m:r>
                                <a:rPr lang="fr-FR" b="0" i="1" smtClean="0">
                                  <a:latin typeface="Cambria Math" panose="02040503050406030204" pitchFamily="18" charset="0"/>
                                </a:rPr>
                                <m:t> </m:t>
                              </m:r>
                              <m:r>
                                <a:rPr lang="fr-FR" b="0" i="1" smtClean="0">
                                  <a:latin typeface="Cambria Math" panose="02040503050406030204" pitchFamily="18" charset="0"/>
                                </a:rPr>
                                <m:t>𝑖𝑓</m:t>
                              </m:r>
                              <m:r>
                                <a:rPr lang="fr-FR" b="0" i="1" smtClean="0">
                                  <a:latin typeface="Cambria Math" panose="02040503050406030204" pitchFamily="18" charset="0"/>
                                </a:rPr>
                                <m:t> </m:t>
                              </m:r>
                              <m:r>
                                <a:rPr lang="fr-FR" b="0" i="1" smtClean="0">
                                  <a:latin typeface="Cambria Math" panose="02040503050406030204" pitchFamily="18" charset="0"/>
                                </a:rPr>
                                <m:t>𝑥</m:t>
                              </m:r>
                              <m:r>
                                <a:rPr lang="fr-FR" b="0" i="1" smtClean="0">
                                  <a:latin typeface="Cambria Math" panose="02040503050406030204" pitchFamily="18" charset="0"/>
                                  <a:ea typeface="Cambria Math" panose="02040503050406030204" pitchFamily="18" charset="0"/>
                                </a:rPr>
                                <m:t>≥0</m:t>
                              </m:r>
                            </m:e>
                            <m:e>
                              <m:r>
                                <a:rPr lang="fr-FR" b="0" i="1" smtClean="0">
                                  <a:latin typeface="Cambria Math" panose="02040503050406030204" pitchFamily="18" charset="0"/>
                                </a:rPr>
                                <m:t>𝛼</m:t>
                              </m:r>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𝑒</m:t>
                                  </m:r>
                                </m:e>
                                <m:sup>
                                  <m:r>
                                    <a:rPr lang="fr-FR" b="0" i="1" smtClean="0">
                                      <a:latin typeface="Cambria Math" panose="02040503050406030204" pitchFamily="18" charset="0"/>
                                    </a:rPr>
                                    <m:t>𝑥</m:t>
                                  </m:r>
                                </m:sup>
                              </m:sSup>
                              <m:r>
                                <a:rPr lang="fr-FR" b="0" i="1" smtClean="0">
                                  <a:latin typeface="Cambria Math" panose="02040503050406030204" pitchFamily="18" charset="0"/>
                                </a:rPr>
                                <m:t>−1) </m:t>
                              </m:r>
                              <m:r>
                                <a:rPr lang="fr-FR" b="0" i="1" smtClean="0">
                                  <a:latin typeface="Cambria Math" panose="02040503050406030204" pitchFamily="18" charset="0"/>
                                </a:rPr>
                                <m:t>𝑖𝑓</m:t>
                              </m:r>
                              <m:r>
                                <a:rPr lang="fr-FR" b="0" i="1" smtClean="0">
                                  <a:latin typeface="Cambria Math" panose="02040503050406030204" pitchFamily="18" charset="0"/>
                                </a:rPr>
                                <m:t> </m:t>
                              </m:r>
                              <m:r>
                                <a:rPr lang="fr-FR" b="0" i="1" smtClean="0">
                                  <a:latin typeface="Cambria Math" panose="02040503050406030204" pitchFamily="18" charset="0"/>
                                </a:rPr>
                                <m:t>𝑥</m:t>
                              </m:r>
                              <m:r>
                                <a:rPr lang="fr-FR" b="0" i="1" smtClean="0">
                                  <a:latin typeface="Cambria Math" panose="02040503050406030204" pitchFamily="18" charset="0"/>
                                  <a:ea typeface="Cambria Math" panose="02040503050406030204" pitchFamily="18" charset="0"/>
                                </a:rPr>
                                <m:t>&lt;0</m:t>
                              </m:r>
                            </m:e>
                          </m:eqArr>
                        </m:e>
                      </m:d>
                    </m:oMath>
                  </m:oMathPara>
                </a14:m>
                <a:endParaRPr lang="en-GB" dirty="0"/>
              </a:p>
              <a:p>
                <a:pPr marL="0" indent="0">
                  <a:buNone/>
                </a:pPr>
                <a:endParaRPr lang="en-GB" dirty="0"/>
              </a:p>
              <a:p>
                <a:pPr marL="0" indent="0">
                  <a:buNone/>
                </a:pPr>
                <a:endParaRPr lang="en-GB" dirty="0"/>
              </a:p>
            </p:txBody>
          </p:sp>
        </mc:Choice>
        <mc:Fallback xmlns="">
          <p:sp>
            <p:nvSpPr>
              <p:cNvPr id="3" name="Espace réservé du contenu 2">
                <a:extLst>
                  <a:ext uri="{FF2B5EF4-FFF2-40B4-BE49-F238E27FC236}">
                    <a16:creationId xmlns:a16="http://schemas.microsoft.com/office/drawing/2014/main" id="{AF21FEDC-24E2-D652-3AC9-AE48A597236A}"/>
                  </a:ext>
                </a:extLst>
              </p:cNvPr>
              <p:cNvSpPr>
                <a:spLocks noGrp="1" noRot="1" noChangeAspect="1" noMove="1" noResize="1" noEditPoints="1" noAdjustHandles="1" noChangeArrowheads="1" noChangeShapeType="1" noTextEdit="1"/>
              </p:cNvSpPr>
              <p:nvPr>
                <p:ph idx="1"/>
              </p:nvPr>
            </p:nvSpPr>
            <p:spPr>
              <a:xfrm>
                <a:off x="838200" y="1825625"/>
                <a:ext cx="5257800" cy="1325563"/>
              </a:xfrm>
              <a:blipFill>
                <a:blip r:embed="rId2"/>
                <a:stretch>
                  <a:fillRect l="-723" t="-164151" b="-205660"/>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561916D4-B69C-B0A1-F321-AA39DCEA7E33}"/>
              </a:ext>
            </a:extLst>
          </p:cNvPr>
          <p:cNvSpPr>
            <a:spLocks noGrp="1"/>
          </p:cNvSpPr>
          <p:nvPr>
            <p:ph type="ftr" sz="quarter" idx="11"/>
          </p:nvPr>
        </p:nvSpPr>
        <p:spPr/>
        <p:txBody>
          <a:bodyPr/>
          <a:lstStyle/>
          <a:p>
            <a:r>
              <a:rPr lang="en-GB"/>
              <a:t>Activation Functions. Author : David Thébault</a:t>
            </a:r>
          </a:p>
        </p:txBody>
      </p:sp>
      <p:pic>
        <p:nvPicPr>
          <p:cNvPr id="7" name="Image 6" descr="Une image contenant ligne, Tracé, diagramme, texte&#10;&#10;Description générée automatiquement">
            <a:extLst>
              <a:ext uri="{FF2B5EF4-FFF2-40B4-BE49-F238E27FC236}">
                <a16:creationId xmlns:a16="http://schemas.microsoft.com/office/drawing/2014/main" id="{C03B5110-319F-89AC-1700-E4600EF17097}"/>
              </a:ext>
            </a:extLst>
          </p:cNvPr>
          <p:cNvPicPr>
            <a:picLocks noChangeAspect="1"/>
          </p:cNvPicPr>
          <p:nvPr/>
        </p:nvPicPr>
        <p:blipFill>
          <a:blip r:embed="rId3"/>
          <a:stretch>
            <a:fillRect/>
          </a:stretch>
        </p:blipFill>
        <p:spPr>
          <a:xfrm>
            <a:off x="5861425" y="1354237"/>
            <a:ext cx="6330575" cy="3798345"/>
          </a:xfrm>
          <a:prstGeom prst="rect">
            <a:avLst/>
          </a:prstGeom>
        </p:spPr>
      </p:pic>
      <p:sp>
        <p:nvSpPr>
          <p:cNvPr id="8" name="ZoneTexte 7">
            <a:extLst>
              <a:ext uri="{FF2B5EF4-FFF2-40B4-BE49-F238E27FC236}">
                <a16:creationId xmlns:a16="http://schemas.microsoft.com/office/drawing/2014/main" id="{C2B3940F-F5D6-1049-5301-BDFB0714F08F}"/>
              </a:ext>
            </a:extLst>
          </p:cNvPr>
          <p:cNvSpPr txBox="1"/>
          <p:nvPr/>
        </p:nvSpPr>
        <p:spPr>
          <a:xfrm>
            <a:off x="838200" y="4527393"/>
            <a:ext cx="4509304" cy="738664"/>
          </a:xfrm>
          <a:prstGeom prst="rect">
            <a:avLst/>
          </a:prstGeom>
          <a:noFill/>
        </p:spPr>
        <p:txBody>
          <a:bodyPr wrap="square">
            <a:spAutoFit/>
          </a:bodyPr>
          <a:lstStyle/>
          <a:p>
            <a:pPr marL="285750" indent="-285750">
              <a:buFont typeface="Arial" panose="020B0604020202020204" pitchFamily="34" charset="0"/>
              <a:buChar char="•"/>
            </a:pPr>
            <a:r>
              <a:rPr lang="en-GB" sz="1400" dirty="0"/>
              <a:t>(-) Still an issue of “Vanishing Gradient” for large negative numbers</a:t>
            </a:r>
          </a:p>
          <a:p>
            <a:pPr marL="285750" indent="-285750">
              <a:buFont typeface="Arial" panose="020B0604020202020204" pitchFamily="34" charset="0"/>
              <a:buChar char="•"/>
            </a:pPr>
            <a:r>
              <a:rPr lang="en-GB" sz="1400" dirty="0"/>
              <a:t>(-) slow to compute du to the exponentiation</a:t>
            </a:r>
          </a:p>
        </p:txBody>
      </p:sp>
    </p:spTree>
    <p:extLst>
      <p:ext uri="{BB962C8B-B14F-4D97-AF65-F5344CB8AC3E}">
        <p14:creationId xmlns:p14="http://schemas.microsoft.com/office/powerpoint/2010/main" val="3660116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6C1EE-3CDB-88A2-7347-BCED3D9A5CF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ECF02DA-E862-3135-A6E9-B2F1840BF88D}"/>
              </a:ext>
            </a:extLst>
          </p:cNvPr>
          <p:cNvSpPr>
            <a:spLocks noGrp="1"/>
          </p:cNvSpPr>
          <p:nvPr>
            <p:ph type="title"/>
          </p:nvPr>
        </p:nvSpPr>
        <p:spPr/>
        <p:txBody>
          <a:bodyPr>
            <a:normAutofit/>
          </a:bodyPr>
          <a:lstStyle/>
          <a:p>
            <a:pPr marL="0" indent="0">
              <a:buNone/>
            </a:pPr>
            <a:r>
              <a:rPr lang="en-GB" sz="3600" b="1" dirty="0">
                <a:latin typeface="Aptos" panose="020B0004020202020204" pitchFamily="34" charset="0"/>
              </a:rPr>
              <a:t>What to pick-up ?</a:t>
            </a:r>
          </a:p>
        </p:txBody>
      </p:sp>
      <p:sp>
        <p:nvSpPr>
          <p:cNvPr id="4" name="Espace réservé du pied de page 3">
            <a:extLst>
              <a:ext uri="{FF2B5EF4-FFF2-40B4-BE49-F238E27FC236}">
                <a16:creationId xmlns:a16="http://schemas.microsoft.com/office/drawing/2014/main" id="{B164AE82-C726-11E1-5971-8862D59721AF}"/>
              </a:ext>
            </a:extLst>
          </p:cNvPr>
          <p:cNvSpPr>
            <a:spLocks noGrp="1"/>
          </p:cNvSpPr>
          <p:nvPr>
            <p:ph type="ftr" sz="quarter" idx="11"/>
          </p:nvPr>
        </p:nvSpPr>
        <p:spPr/>
        <p:txBody>
          <a:bodyPr/>
          <a:lstStyle/>
          <a:p>
            <a:r>
              <a:rPr lang="en-GB"/>
              <a:t>Activation Functions. Author : David Thébault</a:t>
            </a:r>
          </a:p>
        </p:txBody>
      </p:sp>
      <p:graphicFrame>
        <p:nvGraphicFramePr>
          <p:cNvPr id="9" name="Tableau 8">
            <a:extLst>
              <a:ext uri="{FF2B5EF4-FFF2-40B4-BE49-F238E27FC236}">
                <a16:creationId xmlns:a16="http://schemas.microsoft.com/office/drawing/2014/main" id="{8DF31E75-5F45-F456-5A36-574438A2DA3E}"/>
              </a:ext>
            </a:extLst>
          </p:cNvPr>
          <p:cNvGraphicFramePr>
            <a:graphicFrameLocks noGrp="1"/>
          </p:cNvGraphicFramePr>
          <p:nvPr>
            <p:extLst>
              <p:ext uri="{D42A27DB-BD31-4B8C-83A1-F6EECF244321}">
                <p14:modId xmlns:p14="http://schemas.microsoft.com/office/powerpoint/2010/main" val="1902203930"/>
              </p:ext>
            </p:extLst>
          </p:nvPr>
        </p:nvGraphicFramePr>
        <p:xfrm>
          <a:off x="724061" y="1538982"/>
          <a:ext cx="10202442" cy="4572000"/>
        </p:xfrm>
        <a:graphic>
          <a:graphicData uri="http://schemas.openxmlformats.org/drawingml/2006/table">
            <a:tbl>
              <a:tblPr firstRow="1" bandRow="1">
                <a:tableStyleId>{5C22544A-7EE6-4342-B048-85BDC9FD1C3A}</a:tableStyleId>
              </a:tblPr>
              <a:tblGrid>
                <a:gridCol w="2285358">
                  <a:extLst>
                    <a:ext uri="{9D8B030D-6E8A-4147-A177-3AD203B41FA5}">
                      <a16:colId xmlns:a16="http://schemas.microsoft.com/office/drawing/2014/main" val="695115176"/>
                    </a:ext>
                  </a:extLst>
                </a:gridCol>
                <a:gridCol w="3183038">
                  <a:extLst>
                    <a:ext uri="{9D8B030D-6E8A-4147-A177-3AD203B41FA5}">
                      <a16:colId xmlns:a16="http://schemas.microsoft.com/office/drawing/2014/main" val="1136081879"/>
                    </a:ext>
                  </a:extLst>
                </a:gridCol>
                <a:gridCol w="4734046">
                  <a:extLst>
                    <a:ext uri="{9D8B030D-6E8A-4147-A177-3AD203B41FA5}">
                      <a16:colId xmlns:a16="http://schemas.microsoft.com/office/drawing/2014/main" val="3590354021"/>
                    </a:ext>
                  </a:extLst>
                </a:gridCol>
              </a:tblGrid>
              <a:tr h="395726">
                <a:tc>
                  <a:txBody>
                    <a:bodyPr/>
                    <a:lstStyle/>
                    <a:p>
                      <a:pPr algn="ctr"/>
                      <a:endParaRPr lang="en-GB" dirty="0"/>
                    </a:p>
                    <a:p>
                      <a:pPr algn="ctr"/>
                      <a:r>
                        <a:rPr lang="en-GB" dirty="0"/>
                        <a:t>Layers</a:t>
                      </a:r>
                    </a:p>
                  </a:txBody>
                  <a:tcPr/>
                </a:tc>
                <a:tc>
                  <a:txBody>
                    <a:bodyPr/>
                    <a:lstStyle/>
                    <a:p>
                      <a:pPr algn="ctr"/>
                      <a:endParaRPr lang="en-GB" dirty="0"/>
                    </a:p>
                    <a:p>
                      <a:pPr algn="ctr"/>
                      <a:r>
                        <a:rPr lang="en-GB" dirty="0"/>
                        <a:t>Issue</a:t>
                      </a:r>
                    </a:p>
                  </a:txBody>
                  <a:tcPr/>
                </a:tc>
                <a:tc>
                  <a:txBody>
                    <a:bodyPr/>
                    <a:lstStyle/>
                    <a:p>
                      <a:pPr algn="ctr"/>
                      <a:endParaRPr lang="en-GB" dirty="0"/>
                    </a:p>
                    <a:p>
                      <a:pPr algn="ctr"/>
                      <a:r>
                        <a:rPr lang="en-GB" dirty="0"/>
                        <a:t>Activation function</a:t>
                      </a:r>
                    </a:p>
                    <a:p>
                      <a:pPr algn="ctr"/>
                      <a:endParaRPr lang="en-GB" dirty="0"/>
                    </a:p>
                  </a:txBody>
                  <a:tcPr/>
                </a:tc>
                <a:extLst>
                  <a:ext uri="{0D108BD9-81ED-4DB2-BD59-A6C34878D82A}">
                    <a16:rowId xmlns:a16="http://schemas.microsoft.com/office/drawing/2014/main" val="3556866556"/>
                  </a:ext>
                </a:extLst>
              </a:tr>
              <a:tr h="370840">
                <a:tc>
                  <a:txBody>
                    <a:bodyPr/>
                    <a:lstStyle/>
                    <a:p>
                      <a:endParaRPr lang="en-GB" dirty="0"/>
                    </a:p>
                    <a:p>
                      <a:r>
                        <a:rPr lang="en-GB" dirty="0"/>
                        <a:t>Hidden layers</a:t>
                      </a:r>
                    </a:p>
                  </a:txBody>
                  <a:tcPr/>
                </a:tc>
                <a:tc>
                  <a:txBody>
                    <a:bodyPr/>
                    <a:lstStyle/>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Relu, Leaky Relu, ELU</a:t>
                      </a:r>
                    </a:p>
                    <a:p>
                      <a:endParaRPr lang="en-GB" dirty="0"/>
                    </a:p>
                  </a:txBody>
                  <a:tcPr/>
                </a:tc>
                <a:extLst>
                  <a:ext uri="{0D108BD9-81ED-4DB2-BD59-A6C34878D82A}">
                    <a16:rowId xmlns:a16="http://schemas.microsoft.com/office/drawing/2014/main" val="749249042"/>
                  </a:ext>
                </a:extLst>
              </a:tr>
              <a:tr h="370840">
                <a:tc>
                  <a:txBody>
                    <a:bodyPr/>
                    <a:lstStyle/>
                    <a:p>
                      <a:endParaRPr lang="en-GB" dirty="0"/>
                    </a:p>
                    <a:p>
                      <a:r>
                        <a:rPr lang="en-GB" dirty="0"/>
                        <a:t>Output layers</a:t>
                      </a:r>
                    </a:p>
                  </a:txBody>
                  <a:tcPr/>
                </a:tc>
                <a:tc>
                  <a:txBody>
                    <a:bodyPr/>
                    <a:lstStyle/>
                    <a:p>
                      <a:endParaRPr lang="en-GB" dirty="0"/>
                    </a:p>
                    <a:p>
                      <a:r>
                        <a:rPr lang="en-GB" dirty="0"/>
                        <a:t>Regression</a:t>
                      </a:r>
                    </a:p>
                  </a:txBody>
                  <a:tcPr/>
                </a:tc>
                <a:tc>
                  <a:txBody>
                    <a:bodyPr/>
                    <a:lstStyle/>
                    <a:p>
                      <a:endParaRPr lang="en-GB" dirty="0"/>
                    </a:p>
                    <a:p>
                      <a:r>
                        <a:rPr lang="en-GB" dirty="0"/>
                        <a:t>No need any output activation function</a:t>
                      </a:r>
                    </a:p>
                    <a:p>
                      <a:endParaRPr lang="en-GB" dirty="0"/>
                    </a:p>
                  </a:txBody>
                  <a:tcPr/>
                </a:tc>
                <a:extLst>
                  <a:ext uri="{0D108BD9-81ED-4DB2-BD59-A6C34878D82A}">
                    <a16:rowId xmlns:a16="http://schemas.microsoft.com/office/drawing/2014/main" val="1019290649"/>
                  </a:ext>
                </a:extLst>
              </a:tr>
              <a:tr h="370840">
                <a:tc>
                  <a:txBody>
                    <a:bodyPr/>
                    <a:lstStyle/>
                    <a:p>
                      <a:endParaRPr lang="en-GB" dirty="0"/>
                    </a:p>
                  </a:txBody>
                  <a:tcPr/>
                </a:tc>
                <a:tc>
                  <a:txBody>
                    <a:bodyPr/>
                    <a:lstStyle/>
                    <a:p>
                      <a:endParaRPr lang="en-GB" dirty="0"/>
                    </a:p>
                    <a:p>
                      <a:r>
                        <a:rPr lang="en-GB" dirty="0"/>
                        <a:t>Binary classification</a:t>
                      </a:r>
                    </a:p>
                  </a:txBody>
                  <a:tcPr/>
                </a:tc>
                <a:tc>
                  <a:txBody>
                    <a:bodyPr/>
                    <a:lstStyle/>
                    <a:p>
                      <a:endParaRPr lang="en-GB" dirty="0"/>
                    </a:p>
                    <a:p>
                      <a:r>
                        <a:rPr lang="en-GB" dirty="0"/>
                        <a:t>Sigmoid</a:t>
                      </a:r>
                    </a:p>
                    <a:p>
                      <a:endParaRPr lang="en-GB" dirty="0"/>
                    </a:p>
                  </a:txBody>
                  <a:tcPr/>
                </a:tc>
                <a:extLst>
                  <a:ext uri="{0D108BD9-81ED-4DB2-BD59-A6C34878D82A}">
                    <a16:rowId xmlns:a16="http://schemas.microsoft.com/office/drawing/2014/main" val="3298497234"/>
                  </a:ext>
                </a:extLst>
              </a:tr>
              <a:tr h="370840">
                <a:tc>
                  <a:txBody>
                    <a:bodyPr/>
                    <a:lstStyle/>
                    <a:p>
                      <a:endParaRPr lang="en-GB" dirty="0"/>
                    </a:p>
                  </a:txBody>
                  <a:tcPr/>
                </a:tc>
                <a:tc>
                  <a:txBody>
                    <a:bodyPr/>
                    <a:lstStyle/>
                    <a:p>
                      <a:endParaRPr lang="en-GB" dirty="0"/>
                    </a:p>
                    <a:p>
                      <a:r>
                        <a:rPr lang="en-GB" dirty="0"/>
                        <a:t>Multiclass classification</a:t>
                      </a:r>
                    </a:p>
                  </a:txBody>
                  <a:tcPr/>
                </a:tc>
                <a:tc>
                  <a:txBody>
                    <a:bodyPr/>
                    <a:lstStyle/>
                    <a:p>
                      <a:endParaRPr lang="en-GB" dirty="0"/>
                    </a:p>
                    <a:p>
                      <a:r>
                        <a:rPr lang="en-GB" dirty="0"/>
                        <a:t>Softmax</a:t>
                      </a:r>
                    </a:p>
                    <a:p>
                      <a:endParaRPr lang="en-GB" dirty="0"/>
                    </a:p>
                  </a:txBody>
                  <a:tcPr/>
                </a:tc>
                <a:extLst>
                  <a:ext uri="{0D108BD9-81ED-4DB2-BD59-A6C34878D82A}">
                    <a16:rowId xmlns:a16="http://schemas.microsoft.com/office/drawing/2014/main" val="4030982412"/>
                  </a:ext>
                </a:extLst>
              </a:tr>
            </a:tbl>
          </a:graphicData>
        </a:graphic>
      </p:graphicFrame>
    </p:spTree>
    <p:extLst>
      <p:ext uri="{BB962C8B-B14F-4D97-AF65-F5344CB8AC3E}">
        <p14:creationId xmlns:p14="http://schemas.microsoft.com/office/powerpoint/2010/main" val="4003072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F5AC9-5718-C21A-9169-7CA859D218E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F35BC95-B55A-8868-2A1C-4A39144BC19C}"/>
              </a:ext>
            </a:extLst>
          </p:cNvPr>
          <p:cNvSpPr>
            <a:spLocks noGrp="1"/>
          </p:cNvSpPr>
          <p:nvPr>
            <p:ph type="ctrTitle"/>
          </p:nvPr>
        </p:nvSpPr>
        <p:spPr/>
        <p:txBody>
          <a:bodyPr/>
          <a:lstStyle/>
          <a:p>
            <a:r>
              <a:rPr lang="en-GB" dirty="0"/>
              <a:t>Appendices</a:t>
            </a:r>
            <a:endParaRPr lang="en-GB" noProof="0" dirty="0"/>
          </a:p>
        </p:txBody>
      </p:sp>
      <p:sp>
        <p:nvSpPr>
          <p:cNvPr id="3" name="Espace réservé du pied de page 2">
            <a:extLst>
              <a:ext uri="{FF2B5EF4-FFF2-40B4-BE49-F238E27FC236}">
                <a16:creationId xmlns:a16="http://schemas.microsoft.com/office/drawing/2014/main" id="{E9F4D8DF-4AE3-9BBD-2F74-627FCFE84407}"/>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1678134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ECAD3-1759-E3FA-5FEE-5C25E89D765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0C86C1-75D4-4D1A-4A3B-AA7C79BC9770}"/>
              </a:ext>
            </a:extLst>
          </p:cNvPr>
          <p:cNvSpPr>
            <a:spLocks noGrp="1"/>
          </p:cNvSpPr>
          <p:nvPr>
            <p:ph type="title"/>
          </p:nvPr>
        </p:nvSpPr>
        <p:spPr/>
        <p:txBody>
          <a:bodyPr/>
          <a:lstStyle/>
          <a:p>
            <a:r>
              <a:rPr lang="fr-FR" dirty="0"/>
              <a:t>Neural Network</a:t>
            </a:r>
          </a:p>
        </p:txBody>
      </p:sp>
      <mc:AlternateContent xmlns:mc="http://schemas.openxmlformats.org/markup-compatibility/2006" xmlns:a14="http://schemas.microsoft.com/office/drawing/2010/main">
        <mc:Choice Requires="a14">
          <p:sp>
            <p:nvSpPr>
              <p:cNvPr id="49" name="ZoneTexte 48">
                <a:extLst>
                  <a:ext uri="{FF2B5EF4-FFF2-40B4-BE49-F238E27FC236}">
                    <a16:creationId xmlns:a16="http://schemas.microsoft.com/office/drawing/2014/main" id="{4963A1D4-E889-6FC0-7EA7-7DC66F9D9F3D}"/>
                  </a:ext>
                </a:extLst>
              </p:cNvPr>
              <p:cNvSpPr txBox="1"/>
              <p:nvPr/>
            </p:nvSpPr>
            <p:spPr>
              <a:xfrm>
                <a:off x="746051" y="2310102"/>
                <a:ext cx="318976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2400" b="1" i="1" smtClean="0">
                          <a:latin typeface="Cambria Math" panose="02040503050406030204" pitchFamily="18" charset="0"/>
                        </a:rPr>
                        <m:t>𝒇</m:t>
                      </m:r>
                      <m:d>
                        <m:dPr>
                          <m:ctrlPr>
                            <a:rPr lang="fr-FR" sz="2400" b="1" i="1" smtClean="0">
                              <a:latin typeface="Cambria Math" panose="02040503050406030204" pitchFamily="18" charset="0"/>
                            </a:rPr>
                          </m:ctrlPr>
                        </m:dPr>
                        <m:e>
                          <m:r>
                            <a:rPr lang="fr-FR" sz="2400" b="1" i="1" smtClean="0">
                              <a:latin typeface="Cambria Math" panose="02040503050406030204" pitchFamily="18" charset="0"/>
                            </a:rPr>
                            <m:t>𝒙</m:t>
                          </m:r>
                        </m:e>
                      </m:d>
                      <m:r>
                        <a:rPr lang="fr-FR" sz="2400" b="1" i="1" smtClean="0">
                          <a:latin typeface="Cambria Math" panose="02040503050406030204" pitchFamily="18" charset="0"/>
                        </a:rPr>
                        <m:t>=</m:t>
                      </m:r>
                      <m:r>
                        <a:rPr lang="fr-FR" sz="2400" b="1" i="1" smtClean="0">
                          <a:latin typeface="Cambria Math" panose="02040503050406030204" pitchFamily="18" charset="0"/>
                        </a:rPr>
                        <m:t>𝒎𝒂𝒙</m:t>
                      </m:r>
                      <m:r>
                        <a:rPr lang="fr-FR" sz="2400" b="1" i="1" smtClean="0">
                          <a:latin typeface="Cambria Math" panose="02040503050406030204" pitchFamily="18" charset="0"/>
                        </a:rPr>
                        <m:t>(</m:t>
                      </m:r>
                      <m:r>
                        <a:rPr lang="fr-FR" sz="2400" b="1" i="1" smtClean="0">
                          <a:latin typeface="Cambria Math" panose="02040503050406030204" pitchFamily="18" charset="0"/>
                        </a:rPr>
                        <m:t>𝟎</m:t>
                      </m:r>
                      <m:r>
                        <a:rPr lang="fr-FR" sz="2400" b="1" i="1" smtClean="0">
                          <a:latin typeface="Cambria Math" panose="02040503050406030204" pitchFamily="18" charset="0"/>
                        </a:rPr>
                        <m:t>, </m:t>
                      </m:r>
                      <m:r>
                        <a:rPr lang="fr-FR" sz="2400" b="1" i="1" smtClean="0">
                          <a:latin typeface="Cambria Math" panose="02040503050406030204" pitchFamily="18" charset="0"/>
                        </a:rPr>
                        <m:t>𝒙</m:t>
                      </m:r>
                      <m:r>
                        <a:rPr lang="fr-FR" sz="2400" b="1" i="1" smtClean="0">
                          <a:latin typeface="Cambria Math" panose="02040503050406030204" pitchFamily="18" charset="0"/>
                        </a:rPr>
                        <m:t>)</m:t>
                      </m:r>
                    </m:oMath>
                  </m:oMathPara>
                </a14:m>
                <a:endParaRPr lang="fr-FR" sz="2400" b="1" dirty="0"/>
              </a:p>
            </p:txBody>
          </p:sp>
        </mc:Choice>
        <mc:Fallback xmlns="">
          <p:sp>
            <p:nvSpPr>
              <p:cNvPr id="49" name="ZoneTexte 48">
                <a:extLst>
                  <a:ext uri="{FF2B5EF4-FFF2-40B4-BE49-F238E27FC236}">
                    <a16:creationId xmlns:a16="http://schemas.microsoft.com/office/drawing/2014/main" id="{4963A1D4-E889-6FC0-7EA7-7DC66F9D9F3D}"/>
                  </a:ext>
                </a:extLst>
              </p:cNvPr>
              <p:cNvSpPr txBox="1">
                <a:spLocks noRot="1" noChangeAspect="1" noMove="1" noResize="1" noEditPoints="1" noAdjustHandles="1" noChangeArrowheads="1" noChangeShapeType="1" noTextEdit="1"/>
              </p:cNvSpPr>
              <p:nvPr/>
            </p:nvSpPr>
            <p:spPr>
              <a:xfrm>
                <a:off x="746051" y="2310102"/>
                <a:ext cx="3189766" cy="461665"/>
              </a:xfrm>
              <a:prstGeom prst="rect">
                <a:avLst/>
              </a:prstGeom>
              <a:blipFill>
                <a:blip r:embed="rId3"/>
                <a:stretch>
                  <a:fillRect b="-1315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5B2D8702-989F-3F72-CA3E-2B25FE0ACCEE}"/>
                  </a:ext>
                </a:extLst>
              </p:cNvPr>
              <p:cNvSpPr txBox="1"/>
              <p:nvPr/>
            </p:nvSpPr>
            <p:spPr>
              <a:xfrm>
                <a:off x="5977274" y="2295679"/>
                <a:ext cx="2278911" cy="8784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𝑓</m:t>
                          </m:r>
                        </m:e>
                        <m:sup>
                          <m:r>
                            <a:rPr lang="fr-FR" sz="1600" b="0" i="1" smtClean="0">
                              <a:latin typeface="Cambria Math" panose="02040503050406030204" pitchFamily="18" charset="0"/>
                            </a:rPr>
                            <m:t>′</m:t>
                          </m:r>
                        </m:sup>
                      </m:sSup>
                      <m:d>
                        <m:dPr>
                          <m:ctrlPr>
                            <a:rPr lang="fr-FR" sz="1600" b="0" i="1" smtClean="0">
                              <a:latin typeface="Cambria Math" panose="02040503050406030204" pitchFamily="18" charset="0"/>
                            </a:rPr>
                          </m:ctrlPr>
                        </m:dPr>
                        <m:e>
                          <m:r>
                            <a:rPr lang="fr-FR" sz="1600" b="0" i="1" smtClean="0">
                              <a:latin typeface="Cambria Math" panose="02040503050406030204" pitchFamily="18" charset="0"/>
                            </a:rPr>
                            <m:t>𝑥</m:t>
                          </m:r>
                        </m:e>
                      </m:d>
                      <m:r>
                        <a:rPr lang="fr-FR" sz="1600" b="0" i="1" smtClean="0">
                          <a:latin typeface="Cambria Math" panose="02040503050406030204" pitchFamily="18" charset="0"/>
                        </a:rPr>
                        <m:t>= </m:t>
                      </m:r>
                      <m:d>
                        <m:dPr>
                          <m:begChr m:val="{"/>
                          <m:endChr m:val=""/>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r>
                                <a:rPr lang="fr-FR" sz="1600" b="0" i="1" smtClean="0">
                                  <a:latin typeface="Cambria Math" panose="02040503050406030204" pitchFamily="18" charset="0"/>
                                </a:rPr>
                                <m:t>1 </m:t>
                              </m:r>
                              <m:r>
                                <m:rPr>
                                  <m:sty m:val="p"/>
                                </m:rPr>
                                <a:rPr lang="fr-FR" sz="1600" b="0" i="0" smtClean="0">
                                  <a:latin typeface="Cambria Math" panose="02040503050406030204" pitchFamily="18" charset="0"/>
                                </a:rPr>
                                <m:t>if</m:t>
                              </m:r>
                              <m:r>
                                <a:rPr lang="fr-FR" sz="1600" b="0" i="1" smtClean="0">
                                  <a:latin typeface="Cambria Math" panose="02040503050406030204" pitchFamily="18" charset="0"/>
                                </a:rPr>
                                <m:t> </m:t>
                              </m:r>
                              <m:r>
                                <a:rPr lang="fr-FR" sz="1600" b="0" i="1" smtClean="0">
                                  <a:latin typeface="Cambria Math" panose="02040503050406030204" pitchFamily="18" charset="0"/>
                                </a:rPr>
                                <m:t>𝑥</m:t>
                              </m:r>
                              <m:r>
                                <a:rPr lang="fr-FR" sz="1600" b="0" i="1" smtClean="0">
                                  <a:latin typeface="Cambria Math" panose="02040503050406030204" pitchFamily="18" charset="0"/>
                                </a:rPr>
                                <m:t> ≥0</m:t>
                              </m:r>
                            </m:e>
                            <m:e>
                              <m:r>
                                <a:rPr lang="fr-FR" sz="1600" b="0" i="1" smtClean="0">
                                  <a:latin typeface="Cambria Math" panose="02040503050406030204" pitchFamily="18" charset="0"/>
                                  <a:ea typeface="Cambria Math" panose="02040503050406030204" pitchFamily="18" charset="0"/>
                                </a:rPr>
                                <m:t> </m:t>
                              </m:r>
                            </m:e>
                            <m:e>
                              <m:r>
                                <a:rPr lang="fr-FR" sz="1600" b="0" i="1" smtClean="0">
                                  <a:latin typeface="Cambria Math" panose="02040503050406030204" pitchFamily="18" charset="0"/>
                                  <a:ea typeface="Cambria Math" panose="02040503050406030204" pitchFamily="18" charset="0"/>
                                </a:rPr>
                                <m:t>0 </m:t>
                              </m:r>
                              <m:r>
                                <m:rPr>
                                  <m:sty m:val="p"/>
                                </m:rPr>
                                <a:rPr lang="fr-FR" sz="1600" b="0" i="0" smtClean="0">
                                  <a:latin typeface="Cambria Math" panose="02040503050406030204" pitchFamily="18" charset="0"/>
                                  <a:ea typeface="Cambria Math" panose="02040503050406030204" pitchFamily="18" charset="0"/>
                                </a:rPr>
                                <m:t>else</m:t>
                              </m:r>
                            </m:e>
                          </m:eqArr>
                        </m:e>
                      </m:d>
                    </m:oMath>
                  </m:oMathPara>
                </a14:m>
                <a:endParaRPr lang="fr-FR" sz="1600" dirty="0"/>
              </a:p>
            </p:txBody>
          </p:sp>
        </mc:Choice>
        <mc:Fallback xmlns="">
          <p:sp>
            <p:nvSpPr>
              <p:cNvPr id="3" name="ZoneTexte 2">
                <a:extLst>
                  <a:ext uri="{FF2B5EF4-FFF2-40B4-BE49-F238E27FC236}">
                    <a16:creationId xmlns:a16="http://schemas.microsoft.com/office/drawing/2014/main" id="{5B2D8702-989F-3F72-CA3E-2B25FE0ACCEE}"/>
                  </a:ext>
                </a:extLst>
              </p:cNvPr>
              <p:cNvSpPr txBox="1">
                <a:spLocks noRot="1" noChangeAspect="1" noMove="1" noResize="1" noEditPoints="1" noAdjustHandles="1" noChangeArrowheads="1" noChangeShapeType="1" noTextEdit="1"/>
              </p:cNvSpPr>
              <p:nvPr/>
            </p:nvSpPr>
            <p:spPr>
              <a:xfrm>
                <a:off x="5977274" y="2295679"/>
                <a:ext cx="2278911" cy="878446"/>
              </a:xfrm>
              <a:prstGeom prst="rect">
                <a:avLst/>
              </a:prstGeom>
              <a:blipFill>
                <a:blip r:embed="rId4"/>
                <a:stretch>
                  <a:fillRect l="-20000" t="-198592" r="-12222" b="-284507"/>
                </a:stretch>
              </a:blipFill>
            </p:spPr>
            <p:txBody>
              <a:bodyPr/>
              <a:lstStyle/>
              <a:p>
                <a:r>
                  <a:rPr lang="en-GB">
                    <a:noFill/>
                  </a:rPr>
                  <a:t> </a:t>
                </a:r>
              </a:p>
            </p:txBody>
          </p:sp>
        </mc:Fallback>
      </mc:AlternateContent>
      <p:sp>
        <p:nvSpPr>
          <p:cNvPr id="12" name="ZoneTexte 11">
            <a:extLst>
              <a:ext uri="{FF2B5EF4-FFF2-40B4-BE49-F238E27FC236}">
                <a16:creationId xmlns:a16="http://schemas.microsoft.com/office/drawing/2014/main" id="{5F55C25C-3BA3-13E7-9AAE-CA99E2B15D1C}"/>
              </a:ext>
            </a:extLst>
          </p:cNvPr>
          <p:cNvSpPr txBox="1"/>
          <p:nvPr/>
        </p:nvSpPr>
        <p:spPr>
          <a:xfrm>
            <a:off x="746051" y="1515270"/>
            <a:ext cx="5101856" cy="584775"/>
          </a:xfrm>
          <a:prstGeom prst="rect">
            <a:avLst/>
          </a:prstGeom>
          <a:noFill/>
        </p:spPr>
        <p:txBody>
          <a:bodyPr wrap="square" rtlCol="0">
            <a:spAutoFit/>
          </a:bodyPr>
          <a:lstStyle/>
          <a:p>
            <a:r>
              <a:rPr lang="en-GB" sz="3200" b="1" noProof="0" dirty="0"/>
              <a:t>Relu function</a:t>
            </a:r>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2ECA4FF8-CB97-4DD0-2578-0FE1A7F1DD20}"/>
                  </a:ext>
                </a:extLst>
              </p:cNvPr>
              <p:cNvSpPr txBox="1"/>
              <p:nvPr/>
            </p:nvSpPr>
            <p:spPr>
              <a:xfrm>
                <a:off x="5977273" y="3585148"/>
                <a:ext cx="2278911" cy="4978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2400" b="1" i="1" smtClean="0">
                              <a:latin typeface="Cambria Math" panose="02040503050406030204" pitchFamily="18" charset="0"/>
                            </a:rPr>
                          </m:ctrlPr>
                        </m:sSupPr>
                        <m:e>
                          <m:r>
                            <a:rPr lang="fr-FR" sz="2400" b="1" i="1" smtClean="0">
                              <a:latin typeface="Cambria Math" panose="02040503050406030204" pitchFamily="18" charset="0"/>
                            </a:rPr>
                            <m:t>𝒇</m:t>
                          </m:r>
                        </m:e>
                        <m:sup>
                          <m:r>
                            <a:rPr lang="fr-FR" sz="2400" b="1" i="1" smtClean="0">
                              <a:latin typeface="Cambria Math" panose="02040503050406030204" pitchFamily="18" charset="0"/>
                            </a:rPr>
                            <m:t>′</m:t>
                          </m:r>
                        </m:sup>
                      </m:sSup>
                      <m:d>
                        <m:dPr>
                          <m:ctrlPr>
                            <a:rPr lang="fr-FR" sz="2400" b="1" i="1" smtClean="0">
                              <a:latin typeface="Cambria Math" panose="02040503050406030204" pitchFamily="18" charset="0"/>
                            </a:rPr>
                          </m:ctrlPr>
                        </m:dPr>
                        <m:e>
                          <m:r>
                            <a:rPr lang="fr-FR" sz="2400" b="1" i="1" smtClean="0">
                              <a:latin typeface="Cambria Math" panose="02040503050406030204" pitchFamily="18" charset="0"/>
                            </a:rPr>
                            <m:t>𝒙</m:t>
                          </m:r>
                        </m:e>
                      </m:d>
                      <m:r>
                        <a:rPr lang="fr-FR" sz="2400" b="1" i="1" smtClean="0">
                          <a:latin typeface="Cambria Math" panose="02040503050406030204" pitchFamily="18" charset="0"/>
                        </a:rPr>
                        <m:t>=</m:t>
                      </m:r>
                      <m:sSub>
                        <m:sSubPr>
                          <m:ctrlPr>
                            <a:rPr lang="fr-FR" sz="2400" b="1" i="1" smtClean="0">
                              <a:latin typeface="Cambria Math" panose="02040503050406030204" pitchFamily="18" charset="0"/>
                            </a:rPr>
                          </m:ctrlPr>
                        </m:sSubPr>
                        <m:e>
                          <m:r>
                            <a:rPr lang="fr-FR" sz="2400" b="1" i="1" smtClean="0">
                              <a:latin typeface="Cambria Math" panose="02040503050406030204" pitchFamily="18" charset="0"/>
                            </a:rPr>
                            <m:t>𝟏</m:t>
                          </m:r>
                        </m:e>
                        <m:sub>
                          <m:r>
                            <a:rPr lang="fr-FR" sz="2400" b="1" i="1" smtClean="0">
                              <a:latin typeface="Cambria Math" panose="02040503050406030204" pitchFamily="18" charset="0"/>
                            </a:rPr>
                            <m:t>{</m:t>
                          </m:r>
                          <m:r>
                            <a:rPr lang="fr-FR" sz="2400" b="1" i="1" smtClean="0">
                              <a:latin typeface="Cambria Math" panose="02040503050406030204" pitchFamily="18" charset="0"/>
                            </a:rPr>
                            <m:t>𝒙</m:t>
                          </m:r>
                          <m:r>
                            <a:rPr lang="fr-FR" sz="2400" b="1" i="1" smtClean="0">
                              <a:latin typeface="Cambria Math" panose="02040503050406030204" pitchFamily="18" charset="0"/>
                            </a:rPr>
                            <m:t> ≥</m:t>
                          </m:r>
                          <m:r>
                            <a:rPr lang="fr-FR" sz="2400" b="1" i="1" smtClean="0">
                              <a:latin typeface="Cambria Math" panose="02040503050406030204" pitchFamily="18" charset="0"/>
                              <a:ea typeface="Cambria Math" panose="02040503050406030204" pitchFamily="18" charset="0"/>
                            </a:rPr>
                            <m:t>𝟎</m:t>
                          </m:r>
                          <m:r>
                            <a:rPr lang="fr-FR" sz="2400" b="1" i="1" smtClean="0">
                              <a:latin typeface="Cambria Math" panose="02040503050406030204" pitchFamily="18" charset="0"/>
                              <a:ea typeface="Cambria Math" panose="02040503050406030204" pitchFamily="18" charset="0"/>
                            </a:rPr>
                            <m:t>}</m:t>
                          </m:r>
                        </m:sub>
                      </m:sSub>
                    </m:oMath>
                  </m:oMathPara>
                </a14:m>
                <a:endParaRPr lang="fr-FR" sz="2400" b="1" dirty="0"/>
              </a:p>
            </p:txBody>
          </p:sp>
        </mc:Choice>
        <mc:Fallback xmlns="">
          <p:sp>
            <p:nvSpPr>
              <p:cNvPr id="4" name="ZoneTexte 3">
                <a:extLst>
                  <a:ext uri="{FF2B5EF4-FFF2-40B4-BE49-F238E27FC236}">
                    <a16:creationId xmlns:a16="http://schemas.microsoft.com/office/drawing/2014/main" id="{2ECA4FF8-CB97-4DD0-2578-0FE1A7F1DD20}"/>
                  </a:ext>
                </a:extLst>
              </p:cNvPr>
              <p:cNvSpPr txBox="1">
                <a:spLocks noRot="1" noChangeAspect="1" noMove="1" noResize="1" noEditPoints="1" noAdjustHandles="1" noChangeArrowheads="1" noChangeShapeType="1" noTextEdit="1"/>
              </p:cNvSpPr>
              <p:nvPr/>
            </p:nvSpPr>
            <p:spPr>
              <a:xfrm>
                <a:off x="5977273" y="3585148"/>
                <a:ext cx="2278911" cy="497893"/>
              </a:xfrm>
              <a:prstGeom prst="rect">
                <a:avLst/>
              </a:prstGeom>
              <a:blipFill>
                <a:blip r:embed="rId5"/>
                <a:stretch>
                  <a:fillRect b="-12500"/>
                </a:stretch>
              </a:blipFill>
            </p:spPr>
            <p:txBody>
              <a:bodyPr/>
              <a:lstStyle/>
              <a:p>
                <a:r>
                  <a:rPr lang="en-GB">
                    <a:noFill/>
                  </a:rPr>
                  <a:t> </a:t>
                </a:r>
              </a:p>
            </p:txBody>
          </p:sp>
        </mc:Fallback>
      </mc:AlternateContent>
      <p:sp>
        <p:nvSpPr>
          <p:cNvPr id="5" name="Espace réservé du pied de page 4">
            <a:extLst>
              <a:ext uri="{FF2B5EF4-FFF2-40B4-BE49-F238E27FC236}">
                <a16:creationId xmlns:a16="http://schemas.microsoft.com/office/drawing/2014/main" id="{4144736A-7260-BC71-0C84-8BE267A5277C}"/>
              </a:ext>
            </a:extLst>
          </p:cNvPr>
          <p:cNvSpPr>
            <a:spLocks noGrp="1"/>
          </p:cNvSpPr>
          <p:nvPr>
            <p:ph type="ftr" sz="quarter" idx="11"/>
          </p:nvPr>
        </p:nvSpPr>
        <p:spPr/>
        <p:txBody>
          <a:bodyPr/>
          <a:lstStyle/>
          <a:p>
            <a:r>
              <a:rPr lang="fr-FR"/>
              <a:t>Introduction to Neural Networks. Author: David Thébault</a:t>
            </a:r>
          </a:p>
        </p:txBody>
      </p:sp>
      <p:sp>
        <p:nvSpPr>
          <p:cNvPr id="6" name="ZoneTexte 5">
            <a:extLst>
              <a:ext uri="{FF2B5EF4-FFF2-40B4-BE49-F238E27FC236}">
                <a16:creationId xmlns:a16="http://schemas.microsoft.com/office/drawing/2014/main" id="{E602F021-15F0-9864-61D6-82AFB593DBC8}"/>
              </a:ext>
            </a:extLst>
          </p:cNvPr>
          <p:cNvSpPr txBox="1"/>
          <p:nvPr/>
        </p:nvSpPr>
        <p:spPr>
          <a:xfrm>
            <a:off x="6049925" y="1507681"/>
            <a:ext cx="5101856" cy="584775"/>
          </a:xfrm>
          <a:prstGeom prst="rect">
            <a:avLst/>
          </a:prstGeom>
          <a:noFill/>
        </p:spPr>
        <p:txBody>
          <a:bodyPr wrap="square" rtlCol="0">
            <a:spAutoFit/>
          </a:bodyPr>
          <a:lstStyle/>
          <a:p>
            <a:r>
              <a:rPr lang="en-GB" sz="3200" b="1" noProof="0" dirty="0"/>
              <a:t>Relu Gradient</a:t>
            </a:r>
          </a:p>
        </p:txBody>
      </p:sp>
    </p:spTree>
    <p:extLst>
      <p:ext uri="{BB962C8B-B14F-4D97-AF65-F5344CB8AC3E}">
        <p14:creationId xmlns:p14="http://schemas.microsoft.com/office/powerpoint/2010/main" val="427464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641B2-05C6-B222-47FD-FE0B17F6E1A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C03199-D3D0-F138-92D2-BF20D7387284}"/>
              </a:ext>
            </a:extLst>
          </p:cNvPr>
          <p:cNvSpPr>
            <a:spLocks noGrp="1"/>
          </p:cNvSpPr>
          <p:nvPr>
            <p:ph type="title"/>
          </p:nvPr>
        </p:nvSpPr>
        <p:spPr/>
        <p:txBody>
          <a:bodyPr/>
          <a:lstStyle/>
          <a:p>
            <a:r>
              <a:rPr lang="fr-FR" dirty="0"/>
              <a:t>Neural Network</a:t>
            </a:r>
          </a:p>
        </p:txBody>
      </p:sp>
      <mc:AlternateContent xmlns:mc="http://schemas.openxmlformats.org/markup-compatibility/2006" xmlns:a14="http://schemas.microsoft.com/office/drawing/2010/main">
        <mc:Choice Requires="a14">
          <p:sp>
            <p:nvSpPr>
              <p:cNvPr id="49" name="ZoneTexte 48">
                <a:extLst>
                  <a:ext uri="{FF2B5EF4-FFF2-40B4-BE49-F238E27FC236}">
                    <a16:creationId xmlns:a16="http://schemas.microsoft.com/office/drawing/2014/main" id="{86719B58-BF2B-BCC3-88DD-88464F369B0F}"/>
                  </a:ext>
                </a:extLst>
              </p:cNvPr>
              <p:cNvSpPr txBox="1"/>
              <p:nvPr/>
            </p:nvSpPr>
            <p:spPr>
              <a:xfrm>
                <a:off x="746050" y="2310102"/>
                <a:ext cx="4257749" cy="15903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noProof="0" smtClean="0">
                          <a:latin typeface="Cambria Math" panose="02040503050406030204" pitchFamily="18" charset="0"/>
                        </a:rPr>
                        <m:t>𝒇</m:t>
                      </m:r>
                      <m:d>
                        <m:dPr>
                          <m:ctrlPr>
                            <a:rPr lang="en-GB" sz="2400" b="1" i="1" noProof="0" smtClean="0">
                              <a:latin typeface="Cambria Math" panose="02040503050406030204" pitchFamily="18" charset="0"/>
                            </a:rPr>
                          </m:ctrlPr>
                        </m:dPr>
                        <m:e>
                          <m:r>
                            <a:rPr lang="en-GB" sz="2400" b="1" i="1" noProof="0" smtClean="0">
                              <a:latin typeface="Cambria Math" panose="02040503050406030204" pitchFamily="18" charset="0"/>
                            </a:rPr>
                            <m:t>𝒙</m:t>
                          </m:r>
                        </m:e>
                      </m:d>
                      <m:r>
                        <a:rPr lang="en-GB" sz="2400" b="1" i="1" noProof="0" smtClean="0">
                          <a:latin typeface="Cambria Math" panose="02040503050406030204" pitchFamily="18" charset="0"/>
                        </a:rPr>
                        <m:t>= </m:t>
                      </m:r>
                      <m:f>
                        <m:fPr>
                          <m:ctrlPr>
                            <a:rPr lang="en-GB" sz="2400" b="1" i="1" noProof="0" smtClean="0">
                              <a:latin typeface="Cambria Math" panose="02040503050406030204" pitchFamily="18" charset="0"/>
                            </a:rPr>
                          </m:ctrlPr>
                        </m:fPr>
                        <m:num>
                          <m:r>
                            <a:rPr lang="en-GB" sz="2400" b="1" i="1" noProof="0" smtClean="0">
                              <a:latin typeface="Cambria Math" panose="02040503050406030204" pitchFamily="18" charset="0"/>
                            </a:rPr>
                            <m:t>𝟏</m:t>
                          </m:r>
                        </m:num>
                        <m:den>
                          <m:r>
                            <a:rPr lang="en-GB" sz="2400" b="1" i="1" noProof="0" smtClean="0">
                              <a:latin typeface="Cambria Math" panose="02040503050406030204" pitchFamily="18" charset="0"/>
                            </a:rPr>
                            <m:t>𝟏</m:t>
                          </m:r>
                          <m:r>
                            <a:rPr lang="en-GB" sz="2400" b="1" i="1" noProof="0" smtClean="0">
                              <a:latin typeface="Cambria Math" panose="02040503050406030204" pitchFamily="18" charset="0"/>
                            </a:rPr>
                            <m:t>+</m:t>
                          </m:r>
                          <m:r>
                            <a:rPr lang="en-GB" sz="2400" b="1" i="0" noProof="0" smtClean="0">
                              <a:latin typeface="Cambria Math" panose="02040503050406030204" pitchFamily="18" charset="0"/>
                            </a:rPr>
                            <m:t>𝐞𝐱𝐩</m:t>
                          </m:r>
                          <m:r>
                            <a:rPr lang="en-GB" sz="2400" b="1" i="1" noProof="0" smtClean="0">
                              <a:latin typeface="Cambria Math" panose="02040503050406030204" pitchFamily="18" charset="0"/>
                            </a:rPr>
                            <m:t>⁡(−</m:t>
                          </m:r>
                          <m:r>
                            <a:rPr lang="en-GB" sz="2400" b="1" i="1" noProof="0" smtClean="0">
                              <a:latin typeface="Cambria Math" panose="02040503050406030204" pitchFamily="18" charset="0"/>
                            </a:rPr>
                            <m:t>𝒙</m:t>
                          </m:r>
                          <m:r>
                            <a:rPr lang="en-GB" sz="2400" b="1" i="1" noProof="0" smtClean="0">
                              <a:latin typeface="Cambria Math" panose="02040503050406030204" pitchFamily="18" charset="0"/>
                            </a:rPr>
                            <m:t>)</m:t>
                          </m:r>
                        </m:den>
                      </m:f>
                      <m:r>
                        <a:rPr lang="en-GB" sz="2400" b="1" i="1" noProof="0" smtClean="0">
                          <a:latin typeface="Cambria Math" panose="02040503050406030204" pitchFamily="18" charset="0"/>
                        </a:rPr>
                        <m:t>∈[</m:t>
                      </m:r>
                      <m:r>
                        <a:rPr lang="en-GB" sz="2400" b="1" i="1" noProof="0" smtClean="0">
                          <a:latin typeface="Cambria Math" panose="02040503050406030204" pitchFamily="18" charset="0"/>
                        </a:rPr>
                        <m:t>𝟎</m:t>
                      </m:r>
                      <m:r>
                        <a:rPr lang="en-GB" sz="2400" b="1" i="1" noProof="0" smtClean="0">
                          <a:latin typeface="Cambria Math" panose="02040503050406030204" pitchFamily="18" charset="0"/>
                        </a:rPr>
                        <m:t>,</m:t>
                      </m:r>
                      <m:r>
                        <a:rPr lang="en-GB" sz="2400" b="1" i="1" noProof="0" smtClean="0">
                          <a:latin typeface="Cambria Math" panose="02040503050406030204" pitchFamily="18" charset="0"/>
                        </a:rPr>
                        <m:t>𝟏</m:t>
                      </m:r>
                      <m:r>
                        <a:rPr lang="en-GB" sz="2400" b="1" i="1" noProof="0" smtClean="0">
                          <a:latin typeface="Cambria Math" panose="02040503050406030204" pitchFamily="18" charset="0"/>
                        </a:rPr>
                        <m:t>]</m:t>
                      </m:r>
                    </m:oMath>
                  </m:oMathPara>
                </a14:m>
                <a:endParaRPr lang="en-GB" sz="2400" b="1" noProof="0" dirty="0"/>
              </a:p>
              <a:p>
                <a:endParaRPr lang="en-GB" sz="2400" b="1" noProof="0" dirty="0"/>
              </a:p>
              <a:p>
                <a:r>
                  <a:rPr lang="en-GB" sz="2400" noProof="0" dirty="0"/>
                  <a:t>Modelling a probability</a:t>
                </a:r>
              </a:p>
            </p:txBody>
          </p:sp>
        </mc:Choice>
        <mc:Fallback xmlns="">
          <p:sp>
            <p:nvSpPr>
              <p:cNvPr id="49" name="ZoneTexte 48">
                <a:extLst>
                  <a:ext uri="{FF2B5EF4-FFF2-40B4-BE49-F238E27FC236}">
                    <a16:creationId xmlns:a16="http://schemas.microsoft.com/office/drawing/2014/main" id="{86719B58-BF2B-BCC3-88DD-88464F369B0F}"/>
                  </a:ext>
                </a:extLst>
              </p:cNvPr>
              <p:cNvSpPr txBox="1">
                <a:spLocks noRot="1" noChangeAspect="1" noMove="1" noResize="1" noEditPoints="1" noAdjustHandles="1" noChangeArrowheads="1" noChangeShapeType="1" noTextEdit="1"/>
              </p:cNvSpPr>
              <p:nvPr/>
            </p:nvSpPr>
            <p:spPr>
              <a:xfrm>
                <a:off x="746050" y="2310102"/>
                <a:ext cx="4257749" cy="1590372"/>
              </a:xfrm>
              <a:prstGeom prst="rect">
                <a:avLst/>
              </a:prstGeom>
              <a:blipFill>
                <a:blip r:embed="rId3"/>
                <a:stretch>
                  <a:fillRect l="-2077" b="-787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83AFC6FB-7902-047E-07EB-701256325101}"/>
                  </a:ext>
                </a:extLst>
              </p:cNvPr>
              <p:cNvSpPr txBox="1"/>
              <p:nvPr/>
            </p:nvSpPr>
            <p:spPr>
              <a:xfrm>
                <a:off x="5940056" y="1836033"/>
                <a:ext cx="4674780" cy="4288738"/>
              </a:xfrm>
              <a:prstGeom prst="rect">
                <a:avLst/>
              </a:prstGeom>
              <a:noFill/>
            </p:spPr>
            <p:txBody>
              <a:bodyPr wrap="square" rtlCol="0">
                <a:spAutoFit/>
              </a:bodyPr>
              <a:lstStyle/>
              <a:p>
                <a14:m>
                  <m:oMath xmlns:m="http://schemas.openxmlformats.org/officeDocument/2006/math">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𝑓</m:t>
                        </m:r>
                      </m:e>
                      <m:sup>
                        <m:r>
                          <a:rPr lang="fr-FR" sz="1600" b="0" i="1" smtClean="0">
                            <a:latin typeface="Cambria Math" panose="02040503050406030204" pitchFamily="18" charset="0"/>
                          </a:rPr>
                          <m:t>′</m:t>
                        </m:r>
                      </m:sup>
                    </m:sSup>
                    <m:d>
                      <m:dPr>
                        <m:ctrlPr>
                          <a:rPr lang="fr-FR" sz="1600" b="0" i="1" smtClean="0">
                            <a:latin typeface="Cambria Math" panose="02040503050406030204" pitchFamily="18" charset="0"/>
                          </a:rPr>
                        </m:ctrlPr>
                      </m:dPr>
                      <m:e>
                        <m:r>
                          <a:rPr lang="fr-FR" sz="1600" b="0" i="1" smtClean="0">
                            <a:latin typeface="Cambria Math" panose="02040503050406030204" pitchFamily="18" charset="0"/>
                          </a:rPr>
                          <m:t>𝑥</m:t>
                        </m:r>
                      </m:e>
                    </m:d>
                    <m:r>
                      <a:rPr lang="fr-FR" sz="1600" b="0" i="1" smtClean="0">
                        <a:latin typeface="Cambria Math" panose="02040503050406030204" pitchFamily="18" charset="0"/>
                      </a:rPr>
                      <m:t>= </m:t>
                    </m:r>
                    <m:f>
                      <m:fPr>
                        <m:ctrlPr>
                          <a:rPr lang="fr-FR" sz="1600" b="0" i="1" smtClean="0">
                            <a:latin typeface="Cambria Math" panose="02040503050406030204" pitchFamily="18" charset="0"/>
                          </a:rPr>
                        </m:ctrlPr>
                      </m:fPr>
                      <m:num>
                        <m:r>
                          <a:rPr lang="fr-FR" sz="1600" b="0" i="1" smtClean="0">
                            <a:latin typeface="Cambria Math" panose="02040503050406030204" pitchFamily="18" charset="0"/>
                          </a:rPr>
                          <m:t>0</m:t>
                        </m:r>
                        <m:r>
                          <a:rPr lang="fr-FR" sz="1600" b="0" i="1" smtClean="0">
                            <a:latin typeface="Cambria Math" panose="02040503050406030204" pitchFamily="18" charset="0"/>
                            <a:ea typeface="Cambria Math" panose="02040503050406030204" pitchFamily="18" charset="0"/>
                          </a:rPr>
                          <m:t>×</m:t>
                        </m:r>
                        <m:d>
                          <m:dPr>
                            <m:ctrlPr>
                              <a:rPr lang="fr-FR" sz="1600" b="0" i="1" smtClean="0">
                                <a:latin typeface="Cambria Math" panose="02040503050406030204" pitchFamily="18" charset="0"/>
                                <a:ea typeface="Cambria Math" panose="02040503050406030204" pitchFamily="18" charset="0"/>
                              </a:rPr>
                            </m:ctrlPr>
                          </m:dPr>
                          <m:e>
                            <m:r>
                              <a:rPr lang="fr-FR" sz="1600" b="0" i="1" smtClean="0">
                                <a:latin typeface="Cambria Math" panose="02040503050406030204" pitchFamily="18" charset="0"/>
                                <a:ea typeface="Cambria Math" panose="02040503050406030204" pitchFamily="18" charset="0"/>
                              </a:rPr>
                              <m:t>1+</m:t>
                            </m:r>
                            <m:func>
                              <m:funcPr>
                                <m:ctrlPr>
                                  <a:rPr lang="fr-FR" sz="1600" b="0" i="1" smtClean="0">
                                    <a:latin typeface="Cambria Math" panose="02040503050406030204" pitchFamily="18" charset="0"/>
                                    <a:ea typeface="Cambria Math" panose="02040503050406030204" pitchFamily="18" charset="0"/>
                                  </a:rPr>
                                </m:ctrlPr>
                              </m:funcPr>
                              <m:fName>
                                <m:r>
                                  <m:rPr>
                                    <m:sty m:val="p"/>
                                  </m:rPr>
                                  <a:rPr lang="fr-FR" sz="1600" b="0" i="0" smtClean="0">
                                    <a:latin typeface="Cambria Math" panose="02040503050406030204" pitchFamily="18" charset="0"/>
                                    <a:ea typeface="Cambria Math" panose="02040503050406030204" pitchFamily="18" charset="0"/>
                                  </a:rPr>
                                  <m:t>exp</m:t>
                                </m:r>
                              </m:fName>
                              <m:e>
                                <m:d>
                                  <m:dPr>
                                    <m:ctrlPr>
                                      <a:rPr lang="fr-FR" sz="1600" b="0" i="1" smtClean="0">
                                        <a:latin typeface="Cambria Math" panose="02040503050406030204" pitchFamily="18" charset="0"/>
                                        <a:ea typeface="Cambria Math" panose="02040503050406030204" pitchFamily="18" charset="0"/>
                                      </a:rPr>
                                    </m:ctrlPr>
                                  </m:dPr>
                                  <m:e>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𝑥</m:t>
                                    </m:r>
                                  </m:e>
                                </m:d>
                              </m:e>
                            </m:func>
                          </m:e>
                        </m:d>
                        <m:r>
                          <a:rPr lang="fr-FR" sz="1600" b="0" i="1" smtClean="0">
                            <a:latin typeface="Cambria Math" panose="02040503050406030204" pitchFamily="18" charset="0"/>
                            <a:ea typeface="Cambria Math" panose="02040503050406030204" pitchFamily="18" charset="0"/>
                          </a:rPr>
                          <m:t> − 1×(−1)×</m:t>
                        </m:r>
                        <m:r>
                          <m:rPr>
                            <m:sty m:val="p"/>
                          </m:rPr>
                          <a:rPr lang="fr-FR" sz="1600" b="0" i="0" smtClean="0">
                            <a:latin typeface="Cambria Math" panose="02040503050406030204" pitchFamily="18" charset="0"/>
                            <a:ea typeface="Cambria Math" panose="02040503050406030204" pitchFamily="18" charset="0"/>
                          </a:rPr>
                          <m:t>exp</m:t>
                        </m:r>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𝑥</m:t>
                        </m:r>
                        <m:r>
                          <a:rPr lang="fr-FR" sz="1600" b="0" i="1" smtClean="0">
                            <a:latin typeface="Cambria Math" panose="02040503050406030204" pitchFamily="18" charset="0"/>
                            <a:ea typeface="Cambria Math" panose="02040503050406030204" pitchFamily="18" charset="0"/>
                          </a:rPr>
                          <m:t>)</m:t>
                        </m:r>
                      </m:num>
                      <m:den>
                        <m:d>
                          <m:dPr>
                            <m:ctrlPr>
                              <a:rPr lang="fr-FR" sz="1600" b="0" i="1" smtClean="0">
                                <a:latin typeface="Cambria Math" panose="02040503050406030204" pitchFamily="18" charset="0"/>
                              </a:rPr>
                            </m:ctrlPr>
                          </m:dPr>
                          <m:e>
                            <m:r>
                              <a:rPr lang="fr-FR" sz="1600" b="0" i="1" smtClean="0">
                                <a:latin typeface="Cambria Math" panose="02040503050406030204" pitchFamily="18" charset="0"/>
                              </a:rPr>
                              <m:t>1+</m:t>
                            </m:r>
                            <m:func>
                              <m:funcPr>
                                <m:ctrlPr>
                                  <a:rPr lang="fr-FR" sz="1600" b="0" i="1" smtClean="0">
                                    <a:latin typeface="Cambria Math" panose="02040503050406030204" pitchFamily="18" charset="0"/>
                                  </a:rPr>
                                </m:ctrlPr>
                              </m:funcPr>
                              <m:fName>
                                <m:r>
                                  <m:rPr>
                                    <m:sty m:val="p"/>
                                  </m:rPr>
                                  <a:rPr lang="fr-FR" sz="1600" b="0" i="0" smtClean="0">
                                    <a:latin typeface="Cambria Math" panose="02040503050406030204" pitchFamily="18" charset="0"/>
                                  </a:rPr>
                                  <m:t>exp</m:t>
                                </m:r>
                              </m:fName>
                              <m:e>
                                <m:d>
                                  <m:dPr>
                                    <m:ctrlPr>
                                      <a:rPr lang="fr-FR" sz="1600" b="0" i="1" smtClean="0">
                                        <a:latin typeface="Cambria Math" panose="02040503050406030204" pitchFamily="18" charset="0"/>
                                      </a:rPr>
                                    </m:ctrlPr>
                                  </m:dPr>
                                  <m:e>
                                    <m:r>
                                      <a:rPr lang="fr-FR" sz="1600" b="0" i="1" smtClean="0">
                                        <a:latin typeface="Cambria Math" panose="02040503050406030204" pitchFamily="18" charset="0"/>
                                      </a:rPr>
                                      <m:t>−</m:t>
                                    </m:r>
                                    <m:r>
                                      <a:rPr lang="fr-FR" sz="1600" b="0" i="1" smtClean="0">
                                        <a:latin typeface="Cambria Math" panose="02040503050406030204" pitchFamily="18" charset="0"/>
                                      </a:rPr>
                                      <m:t>𝑥</m:t>
                                    </m:r>
                                  </m:e>
                                </m:d>
                              </m:e>
                            </m:func>
                          </m:e>
                        </m:d>
                        <m:r>
                          <a:rPr lang="fr-FR" sz="1600" b="0" i="1" baseline="30000" smtClean="0">
                            <a:latin typeface="Cambria Math" panose="02040503050406030204" pitchFamily="18" charset="0"/>
                          </a:rPr>
                          <m:t>2</m:t>
                        </m:r>
                      </m:den>
                    </m:f>
                  </m:oMath>
                </a14:m>
                <a:r>
                  <a:rPr lang="fr-FR" sz="1600" dirty="0"/>
                  <a:t> </a:t>
                </a:r>
              </a:p>
              <a:p>
                <a:endParaRPr lang="fr-FR" sz="1600" i="1" dirty="0">
                  <a:latin typeface="Cambria Math" panose="02040503050406030204" pitchFamily="18" charset="0"/>
                </a:endParaRPr>
              </a:p>
              <a:p>
                <a14:m>
                  <m:oMath xmlns:m="http://schemas.openxmlformats.org/officeDocument/2006/math">
                    <m:sSup>
                      <m:sSupPr>
                        <m:ctrlPr>
                          <a:rPr lang="fr-FR" sz="1600" i="1">
                            <a:latin typeface="Cambria Math" panose="02040503050406030204" pitchFamily="18" charset="0"/>
                          </a:rPr>
                        </m:ctrlPr>
                      </m:sSupPr>
                      <m:e>
                        <m:r>
                          <a:rPr lang="fr-FR" sz="1600" i="1">
                            <a:latin typeface="Cambria Math" panose="02040503050406030204" pitchFamily="18" charset="0"/>
                          </a:rPr>
                          <m:t>𝑓</m:t>
                        </m:r>
                      </m:e>
                      <m:sup>
                        <m:r>
                          <a:rPr lang="fr-FR" sz="1600" i="1">
                            <a:latin typeface="Cambria Math" panose="02040503050406030204" pitchFamily="18" charset="0"/>
                          </a:rPr>
                          <m:t>′</m:t>
                        </m:r>
                      </m:sup>
                    </m:sSup>
                    <m:d>
                      <m:dPr>
                        <m:ctrlPr>
                          <a:rPr lang="fr-FR" sz="1600" i="1">
                            <a:latin typeface="Cambria Math" panose="02040503050406030204" pitchFamily="18" charset="0"/>
                          </a:rPr>
                        </m:ctrlPr>
                      </m:dPr>
                      <m:e>
                        <m:r>
                          <a:rPr lang="fr-FR" sz="1600" i="1">
                            <a:latin typeface="Cambria Math" panose="02040503050406030204" pitchFamily="18" charset="0"/>
                          </a:rPr>
                          <m:t>𝑥</m:t>
                        </m:r>
                      </m:e>
                    </m:d>
                    <m:r>
                      <a:rPr lang="fr-FR" sz="1600" i="1">
                        <a:latin typeface="Cambria Math" panose="02040503050406030204" pitchFamily="18" charset="0"/>
                      </a:rPr>
                      <m:t>=</m:t>
                    </m:r>
                  </m:oMath>
                </a14:m>
                <a:r>
                  <a:rPr lang="fr-FR" sz="1600" dirty="0"/>
                  <a:t> </a:t>
                </a:r>
                <a14:m>
                  <m:oMath xmlns:m="http://schemas.openxmlformats.org/officeDocument/2006/math">
                    <m:f>
                      <m:fPr>
                        <m:ctrlPr>
                          <a:rPr lang="fr-FR" sz="1600" i="1" smtClean="0">
                            <a:latin typeface="Cambria Math" panose="02040503050406030204" pitchFamily="18" charset="0"/>
                          </a:rPr>
                        </m:ctrlPr>
                      </m:fPr>
                      <m:num>
                        <m:r>
                          <m:rPr>
                            <m:sty m:val="p"/>
                          </m:rPr>
                          <a:rPr lang="fr-FR" sz="1600" b="0" i="0" smtClean="0">
                            <a:latin typeface="Cambria Math" panose="02040503050406030204" pitchFamily="18" charset="0"/>
                          </a:rPr>
                          <m:t>exp</m:t>
                        </m:r>
                        <m:r>
                          <a:rPr lang="fr-FR" sz="1600" b="0" i="1" smtClean="0">
                            <a:latin typeface="Cambria Math" panose="02040503050406030204" pitchFamily="18" charset="0"/>
                          </a:rPr>
                          <m:t>⁡(−</m:t>
                        </m:r>
                        <m:r>
                          <a:rPr lang="fr-FR" sz="1600" b="0" i="1" smtClean="0">
                            <a:latin typeface="Cambria Math" panose="02040503050406030204" pitchFamily="18" charset="0"/>
                          </a:rPr>
                          <m:t>𝑥</m:t>
                        </m:r>
                        <m:r>
                          <a:rPr lang="fr-FR" sz="1600" b="0" i="1" smtClean="0">
                            <a:latin typeface="Cambria Math" panose="02040503050406030204" pitchFamily="18" charset="0"/>
                          </a:rPr>
                          <m:t>)</m:t>
                        </m:r>
                      </m:num>
                      <m:den>
                        <m:d>
                          <m:dPr>
                            <m:ctrlPr>
                              <a:rPr lang="fr-FR" sz="1600" i="1">
                                <a:latin typeface="Cambria Math" panose="02040503050406030204" pitchFamily="18" charset="0"/>
                              </a:rPr>
                            </m:ctrlPr>
                          </m:dPr>
                          <m:e>
                            <m:r>
                              <a:rPr lang="fr-FR" sz="1600" i="1">
                                <a:latin typeface="Cambria Math" panose="02040503050406030204" pitchFamily="18" charset="0"/>
                              </a:rPr>
                              <m:t>1+</m:t>
                            </m:r>
                            <m:func>
                              <m:funcPr>
                                <m:ctrlPr>
                                  <a:rPr lang="fr-FR" sz="1600" i="1">
                                    <a:latin typeface="Cambria Math" panose="02040503050406030204" pitchFamily="18" charset="0"/>
                                  </a:rPr>
                                </m:ctrlPr>
                              </m:funcPr>
                              <m:fName>
                                <m:r>
                                  <m:rPr>
                                    <m:sty m:val="p"/>
                                  </m:rPr>
                                  <a:rPr lang="fr-FR" sz="1600">
                                    <a:latin typeface="Cambria Math" panose="02040503050406030204" pitchFamily="18" charset="0"/>
                                  </a:rPr>
                                  <m:t>exp</m:t>
                                </m:r>
                              </m:fName>
                              <m:e>
                                <m:d>
                                  <m:dPr>
                                    <m:ctrlPr>
                                      <a:rPr lang="fr-FR" sz="1600" i="1">
                                        <a:latin typeface="Cambria Math" panose="02040503050406030204" pitchFamily="18" charset="0"/>
                                      </a:rPr>
                                    </m:ctrlPr>
                                  </m:dPr>
                                  <m:e>
                                    <m:r>
                                      <a:rPr lang="fr-FR" sz="1600" i="1">
                                        <a:latin typeface="Cambria Math" panose="02040503050406030204" pitchFamily="18" charset="0"/>
                                      </a:rPr>
                                      <m:t>−</m:t>
                                    </m:r>
                                    <m:r>
                                      <a:rPr lang="fr-FR" sz="1600" i="1">
                                        <a:latin typeface="Cambria Math" panose="02040503050406030204" pitchFamily="18" charset="0"/>
                                      </a:rPr>
                                      <m:t>𝑥</m:t>
                                    </m:r>
                                  </m:e>
                                </m:d>
                              </m:e>
                            </m:func>
                          </m:e>
                        </m:d>
                        <m:r>
                          <a:rPr lang="fr-FR" sz="1600" i="1" baseline="30000">
                            <a:latin typeface="Cambria Math" panose="02040503050406030204" pitchFamily="18" charset="0"/>
                          </a:rPr>
                          <m:t>2</m:t>
                        </m:r>
                      </m:den>
                    </m:f>
                  </m:oMath>
                </a14:m>
                <a:r>
                  <a:rPr lang="fr-FR" sz="1600" dirty="0"/>
                  <a:t> </a:t>
                </a:r>
              </a:p>
              <a:p>
                <a:endParaRPr lang="fr-FR" sz="1600" dirty="0"/>
              </a:p>
              <a:p>
                <a14:m>
                  <m:oMath xmlns:m="http://schemas.openxmlformats.org/officeDocument/2006/math">
                    <m:sSup>
                      <m:sSupPr>
                        <m:ctrlPr>
                          <a:rPr lang="fr-FR" sz="1600" i="1">
                            <a:latin typeface="Cambria Math" panose="02040503050406030204" pitchFamily="18" charset="0"/>
                          </a:rPr>
                        </m:ctrlPr>
                      </m:sSupPr>
                      <m:e>
                        <m:r>
                          <a:rPr lang="fr-FR" sz="1600" i="1">
                            <a:latin typeface="Cambria Math" panose="02040503050406030204" pitchFamily="18" charset="0"/>
                          </a:rPr>
                          <m:t>𝑓</m:t>
                        </m:r>
                      </m:e>
                      <m:sup>
                        <m:r>
                          <a:rPr lang="fr-FR" sz="1600" i="1">
                            <a:latin typeface="Cambria Math" panose="02040503050406030204" pitchFamily="18" charset="0"/>
                          </a:rPr>
                          <m:t>′</m:t>
                        </m:r>
                      </m:sup>
                    </m:sSup>
                    <m:d>
                      <m:dPr>
                        <m:ctrlPr>
                          <a:rPr lang="fr-FR" sz="1600" i="1">
                            <a:latin typeface="Cambria Math" panose="02040503050406030204" pitchFamily="18" charset="0"/>
                          </a:rPr>
                        </m:ctrlPr>
                      </m:dPr>
                      <m:e>
                        <m:r>
                          <a:rPr lang="fr-FR" sz="1600" i="1">
                            <a:latin typeface="Cambria Math" panose="02040503050406030204" pitchFamily="18" charset="0"/>
                          </a:rPr>
                          <m:t>𝑥</m:t>
                        </m:r>
                      </m:e>
                    </m:d>
                    <m:r>
                      <a:rPr lang="fr-FR" sz="1600" i="1">
                        <a:latin typeface="Cambria Math" panose="02040503050406030204" pitchFamily="18" charset="0"/>
                      </a:rPr>
                      <m:t>=</m:t>
                    </m:r>
                  </m:oMath>
                </a14:m>
                <a:r>
                  <a:rPr lang="fr-FR" sz="1600" dirty="0"/>
                  <a:t> </a:t>
                </a:r>
                <a14:m>
                  <m:oMath xmlns:m="http://schemas.openxmlformats.org/officeDocument/2006/math">
                    <m:f>
                      <m:fPr>
                        <m:ctrlPr>
                          <a:rPr lang="fr-FR" sz="1600" i="1">
                            <a:latin typeface="Cambria Math" panose="02040503050406030204" pitchFamily="18" charset="0"/>
                          </a:rPr>
                        </m:ctrlPr>
                      </m:fPr>
                      <m:num>
                        <m:r>
                          <a:rPr lang="fr-FR" sz="1600" b="0" i="0" smtClean="0">
                            <a:latin typeface="Cambria Math" panose="02040503050406030204" pitchFamily="18" charset="0"/>
                          </a:rPr>
                          <m:t>1+</m:t>
                        </m:r>
                        <m:func>
                          <m:funcPr>
                            <m:ctrlPr>
                              <a:rPr lang="fr-FR" sz="1600" i="1">
                                <a:latin typeface="Cambria Math" panose="02040503050406030204" pitchFamily="18" charset="0"/>
                              </a:rPr>
                            </m:ctrlPr>
                          </m:funcPr>
                          <m:fName>
                            <m:r>
                              <m:rPr>
                                <m:sty m:val="p"/>
                              </m:rPr>
                              <a:rPr lang="fr-FR" sz="1600">
                                <a:latin typeface="Cambria Math" panose="02040503050406030204" pitchFamily="18" charset="0"/>
                              </a:rPr>
                              <m:t>exp</m:t>
                            </m:r>
                          </m:fName>
                          <m:e>
                            <m:d>
                              <m:dPr>
                                <m:ctrlPr>
                                  <a:rPr lang="fr-FR" sz="1600" i="1">
                                    <a:latin typeface="Cambria Math" panose="02040503050406030204" pitchFamily="18" charset="0"/>
                                  </a:rPr>
                                </m:ctrlPr>
                              </m:dPr>
                              <m:e>
                                <m:r>
                                  <a:rPr lang="fr-FR" sz="1600" i="1">
                                    <a:latin typeface="Cambria Math" panose="02040503050406030204" pitchFamily="18" charset="0"/>
                                  </a:rPr>
                                  <m:t>−</m:t>
                                </m:r>
                                <m:r>
                                  <a:rPr lang="fr-FR" sz="1600" i="1">
                                    <a:latin typeface="Cambria Math" panose="02040503050406030204" pitchFamily="18" charset="0"/>
                                  </a:rPr>
                                  <m:t>𝑥</m:t>
                                </m:r>
                              </m:e>
                            </m:d>
                          </m:e>
                        </m:func>
                        <m:r>
                          <a:rPr lang="fr-FR" sz="1600" i="1">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rPr>
                          <m:t>1 </m:t>
                        </m:r>
                      </m:num>
                      <m:den>
                        <m:d>
                          <m:dPr>
                            <m:ctrlPr>
                              <a:rPr lang="fr-FR" sz="1600" i="1">
                                <a:latin typeface="Cambria Math" panose="02040503050406030204" pitchFamily="18" charset="0"/>
                              </a:rPr>
                            </m:ctrlPr>
                          </m:dPr>
                          <m:e>
                            <m:r>
                              <a:rPr lang="fr-FR" sz="1600" i="1">
                                <a:latin typeface="Cambria Math" panose="02040503050406030204" pitchFamily="18" charset="0"/>
                              </a:rPr>
                              <m:t>1+</m:t>
                            </m:r>
                            <m:func>
                              <m:funcPr>
                                <m:ctrlPr>
                                  <a:rPr lang="fr-FR" sz="1600" i="1">
                                    <a:latin typeface="Cambria Math" panose="02040503050406030204" pitchFamily="18" charset="0"/>
                                  </a:rPr>
                                </m:ctrlPr>
                              </m:funcPr>
                              <m:fName>
                                <m:r>
                                  <m:rPr>
                                    <m:sty m:val="p"/>
                                  </m:rPr>
                                  <a:rPr lang="fr-FR" sz="1600">
                                    <a:latin typeface="Cambria Math" panose="02040503050406030204" pitchFamily="18" charset="0"/>
                                  </a:rPr>
                                  <m:t>exp</m:t>
                                </m:r>
                              </m:fName>
                              <m:e>
                                <m:d>
                                  <m:dPr>
                                    <m:ctrlPr>
                                      <a:rPr lang="fr-FR" sz="1600" i="1">
                                        <a:latin typeface="Cambria Math" panose="02040503050406030204" pitchFamily="18" charset="0"/>
                                      </a:rPr>
                                    </m:ctrlPr>
                                  </m:dPr>
                                  <m:e>
                                    <m:r>
                                      <a:rPr lang="fr-FR" sz="1600" i="1">
                                        <a:latin typeface="Cambria Math" panose="02040503050406030204" pitchFamily="18" charset="0"/>
                                      </a:rPr>
                                      <m:t>−</m:t>
                                    </m:r>
                                    <m:r>
                                      <a:rPr lang="fr-FR" sz="1600" i="1">
                                        <a:latin typeface="Cambria Math" panose="02040503050406030204" pitchFamily="18" charset="0"/>
                                      </a:rPr>
                                      <m:t>𝑥</m:t>
                                    </m:r>
                                  </m:e>
                                </m:d>
                              </m:e>
                            </m:func>
                          </m:e>
                        </m:d>
                        <m:r>
                          <a:rPr lang="fr-FR" sz="1600" i="1" baseline="30000">
                            <a:latin typeface="Cambria Math" panose="02040503050406030204" pitchFamily="18" charset="0"/>
                          </a:rPr>
                          <m:t>2</m:t>
                        </m:r>
                      </m:den>
                    </m:f>
                  </m:oMath>
                </a14:m>
                <a:endParaRPr lang="fr-FR" sz="1600" dirty="0"/>
              </a:p>
              <a:p>
                <a:endParaRPr lang="fr-FR" sz="1600" i="1" dirty="0">
                  <a:latin typeface="Cambria Math" panose="02040503050406030204" pitchFamily="18" charset="0"/>
                </a:endParaRPr>
              </a:p>
              <a:p>
                <a14:m>
                  <m:oMath xmlns:m="http://schemas.openxmlformats.org/officeDocument/2006/math">
                    <m:sSup>
                      <m:sSupPr>
                        <m:ctrlPr>
                          <a:rPr lang="fr-FR" sz="1600" i="1">
                            <a:latin typeface="Cambria Math" panose="02040503050406030204" pitchFamily="18" charset="0"/>
                          </a:rPr>
                        </m:ctrlPr>
                      </m:sSupPr>
                      <m:e>
                        <m:r>
                          <a:rPr lang="fr-FR" sz="1600" i="1">
                            <a:latin typeface="Cambria Math" panose="02040503050406030204" pitchFamily="18" charset="0"/>
                          </a:rPr>
                          <m:t>𝑓</m:t>
                        </m:r>
                      </m:e>
                      <m:sup>
                        <m:r>
                          <a:rPr lang="fr-FR" sz="1600" i="1">
                            <a:latin typeface="Cambria Math" panose="02040503050406030204" pitchFamily="18" charset="0"/>
                          </a:rPr>
                          <m:t>′</m:t>
                        </m:r>
                      </m:sup>
                    </m:sSup>
                    <m:d>
                      <m:dPr>
                        <m:ctrlPr>
                          <a:rPr lang="fr-FR" sz="1600" i="1">
                            <a:latin typeface="Cambria Math" panose="02040503050406030204" pitchFamily="18" charset="0"/>
                          </a:rPr>
                        </m:ctrlPr>
                      </m:dPr>
                      <m:e>
                        <m:r>
                          <a:rPr lang="fr-FR" sz="1600" i="1">
                            <a:latin typeface="Cambria Math" panose="02040503050406030204" pitchFamily="18" charset="0"/>
                          </a:rPr>
                          <m:t>𝑥</m:t>
                        </m:r>
                      </m:e>
                    </m:d>
                    <m:r>
                      <a:rPr lang="fr-FR" sz="1600" i="1">
                        <a:latin typeface="Cambria Math" panose="02040503050406030204" pitchFamily="18" charset="0"/>
                      </a:rPr>
                      <m:t>= </m:t>
                    </m:r>
                    <m:f>
                      <m:fPr>
                        <m:ctrlPr>
                          <a:rPr lang="fr-FR" sz="1600" i="1">
                            <a:latin typeface="Cambria Math" panose="02040503050406030204" pitchFamily="18" charset="0"/>
                          </a:rPr>
                        </m:ctrlPr>
                      </m:fPr>
                      <m:num>
                        <m:r>
                          <a:rPr lang="fr-FR" sz="1600">
                            <a:latin typeface="Cambria Math" panose="02040503050406030204" pitchFamily="18" charset="0"/>
                          </a:rPr>
                          <m:t>1+</m:t>
                        </m:r>
                        <m:func>
                          <m:funcPr>
                            <m:ctrlPr>
                              <a:rPr lang="fr-FR" sz="1600" i="1">
                                <a:latin typeface="Cambria Math" panose="02040503050406030204" pitchFamily="18" charset="0"/>
                              </a:rPr>
                            </m:ctrlPr>
                          </m:funcPr>
                          <m:fName>
                            <m:r>
                              <m:rPr>
                                <m:sty m:val="p"/>
                              </m:rPr>
                              <a:rPr lang="fr-FR" sz="1600">
                                <a:latin typeface="Cambria Math" panose="02040503050406030204" pitchFamily="18" charset="0"/>
                              </a:rPr>
                              <m:t>exp</m:t>
                            </m:r>
                          </m:fName>
                          <m:e>
                            <m:d>
                              <m:dPr>
                                <m:ctrlPr>
                                  <a:rPr lang="fr-FR" sz="1600" i="1">
                                    <a:latin typeface="Cambria Math" panose="02040503050406030204" pitchFamily="18" charset="0"/>
                                  </a:rPr>
                                </m:ctrlPr>
                              </m:dPr>
                              <m:e>
                                <m:r>
                                  <a:rPr lang="fr-FR" sz="1600" i="1">
                                    <a:latin typeface="Cambria Math" panose="02040503050406030204" pitchFamily="18" charset="0"/>
                                  </a:rPr>
                                  <m:t>−</m:t>
                                </m:r>
                                <m:r>
                                  <a:rPr lang="fr-FR" sz="1600" i="1">
                                    <a:latin typeface="Cambria Math" panose="02040503050406030204" pitchFamily="18" charset="0"/>
                                  </a:rPr>
                                  <m:t>𝑥</m:t>
                                </m:r>
                              </m:e>
                            </m:d>
                          </m:e>
                        </m:func>
                        <m:r>
                          <a:rPr lang="fr-FR" sz="1600" i="1">
                            <a:latin typeface="Cambria Math" panose="02040503050406030204" pitchFamily="18" charset="0"/>
                          </a:rPr>
                          <m:t> </m:t>
                        </m:r>
                      </m:num>
                      <m:den>
                        <m:d>
                          <m:dPr>
                            <m:ctrlPr>
                              <a:rPr lang="fr-FR" sz="1600" i="1">
                                <a:latin typeface="Cambria Math" panose="02040503050406030204" pitchFamily="18" charset="0"/>
                              </a:rPr>
                            </m:ctrlPr>
                          </m:dPr>
                          <m:e>
                            <m:r>
                              <a:rPr lang="fr-FR" sz="1600" i="1">
                                <a:latin typeface="Cambria Math" panose="02040503050406030204" pitchFamily="18" charset="0"/>
                              </a:rPr>
                              <m:t>1+</m:t>
                            </m:r>
                            <m:func>
                              <m:funcPr>
                                <m:ctrlPr>
                                  <a:rPr lang="fr-FR" sz="1600" i="1">
                                    <a:latin typeface="Cambria Math" panose="02040503050406030204" pitchFamily="18" charset="0"/>
                                  </a:rPr>
                                </m:ctrlPr>
                              </m:funcPr>
                              <m:fName>
                                <m:r>
                                  <m:rPr>
                                    <m:sty m:val="p"/>
                                  </m:rPr>
                                  <a:rPr lang="fr-FR" sz="1600">
                                    <a:latin typeface="Cambria Math" panose="02040503050406030204" pitchFamily="18" charset="0"/>
                                  </a:rPr>
                                  <m:t>exp</m:t>
                                </m:r>
                              </m:fName>
                              <m:e>
                                <m:d>
                                  <m:dPr>
                                    <m:ctrlPr>
                                      <a:rPr lang="fr-FR" sz="1600" i="1">
                                        <a:latin typeface="Cambria Math" panose="02040503050406030204" pitchFamily="18" charset="0"/>
                                      </a:rPr>
                                    </m:ctrlPr>
                                  </m:dPr>
                                  <m:e>
                                    <m:r>
                                      <a:rPr lang="fr-FR" sz="1600" i="1">
                                        <a:latin typeface="Cambria Math" panose="02040503050406030204" pitchFamily="18" charset="0"/>
                                      </a:rPr>
                                      <m:t>−</m:t>
                                    </m:r>
                                    <m:r>
                                      <a:rPr lang="fr-FR" sz="1600" i="1">
                                        <a:latin typeface="Cambria Math" panose="02040503050406030204" pitchFamily="18" charset="0"/>
                                      </a:rPr>
                                      <m:t>𝑥</m:t>
                                    </m:r>
                                  </m:e>
                                </m:d>
                              </m:e>
                            </m:func>
                          </m:e>
                        </m:d>
                        <m:r>
                          <a:rPr lang="fr-FR" sz="1600" i="1" baseline="30000">
                            <a:latin typeface="Cambria Math" panose="02040503050406030204" pitchFamily="18" charset="0"/>
                          </a:rPr>
                          <m:t>2</m:t>
                        </m:r>
                      </m:den>
                    </m:f>
                  </m:oMath>
                </a14:m>
                <a:r>
                  <a:rPr lang="fr-FR" sz="1600" dirty="0"/>
                  <a:t> </a:t>
                </a:r>
                <a14:m>
                  <m:oMath xmlns:m="http://schemas.openxmlformats.org/officeDocument/2006/math">
                    <m:r>
                      <a:rPr lang="fr-FR" sz="1600" i="1">
                        <a:latin typeface="Cambria Math" panose="02040503050406030204" pitchFamily="18" charset="0"/>
                        <a:ea typeface="Cambria Math" panose="02040503050406030204" pitchFamily="18" charset="0"/>
                      </a:rPr>
                      <m:t>−</m:t>
                    </m:r>
                  </m:oMath>
                </a14:m>
                <a:r>
                  <a:rPr lang="fr-FR" sz="1600" dirty="0"/>
                  <a:t> </a:t>
                </a:r>
                <a14:m>
                  <m:oMath xmlns:m="http://schemas.openxmlformats.org/officeDocument/2006/math">
                    <m:f>
                      <m:fPr>
                        <m:ctrlPr>
                          <a:rPr lang="fr-FR" sz="1600" i="1">
                            <a:latin typeface="Cambria Math" panose="02040503050406030204" pitchFamily="18" charset="0"/>
                          </a:rPr>
                        </m:ctrlPr>
                      </m:fPr>
                      <m:num>
                        <m:r>
                          <a:rPr lang="fr-FR" sz="1600">
                            <a:latin typeface="Cambria Math" panose="02040503050406030204" pitchFamily="18" charset="0"/>
                          </a:rPr>
                          <m:t>1</m:t>
                        </m:r>
                        <m:r>
                          <a:rPr lang="fr-FR" sz="1600" i="1">
                            <a:latin typeface="Cambria Math" panose="02040503050406030204" pitchFamily="18" charset="0"/>
                          </a:rPr>
                          <m:t> </m:t>
                        </m:r>
                      </m:num>
                      <m:den>
                        <m:d>
                          <m:dPr>
                            <m:ctrlPr>
                              <a:rPr lang="fr-FR" sz="1600" i="1">
                                <a:latin typeface="Cambria Math" panose="02040503050406030204" pitchFamily="18" charset="0"/>
                              </a:rPr>
                            </m:ctrlPr>
                          </m:dPr>
                          <m:e>
                            <m:r>
                              <a:rPr lang="fr-FR" sz="1600" i="1">
                                <a:latin typeface="Cambria Math" panose="02040503050406030204" pitchFamily="18" charset="0"/>
                              </a:rPr>
                              <m:t>1+</m:t>
                            </m:r>
                            <m:func>
                              <m:funcPr>
                                <m:ctrlPr>
                                  <a:rPr lang="fr-FR" sz="1600" i="1">
                                    <a:latin typeface="Cambria Math" panose="02040503050406030204" pitchFamily="18" charset="0"/>
                                  </a:rPr>
                                </m:ctrlPr>
                              </m:funcPr>
                              <m:fName>
                                <m:r>
                                  <m:rPr>
                                    <m:sty m:val="p"/>
                                  </m:rPr>
                                  <a:rPr lang="fr-FR" sz="1600">
                                    <a:latin typeface="Cambria Math" panose="02040503050406030204" pitchFamily="18" charset="0"/>
                                  </a:rPr>
                                  <m:t>exp</m:t>
                                </m:r>
                              </m:fName>
                              <m:e>
                                <m:d>
                                  <m:dPr>
                                    <m:ctrlPr>
                                      <a:rPr lang="fr-FR" sz="1600" i="1">
                                        <a:latin typeface="Cambria Math" panose="02040503050406030204" pitchFamily="18" charset="0"/>
                                      </a:rPr>
                                    </m:ctrlPr>
                                  </m:dPr>
                                  <m:e>
                                    <m:r>
                                      <a:rPr lang="fr-FR" sz="1600" i="1">
                                        <a:latin typeface="Cambria Math" panose="02040503050406030204" pitchFamily="18" charset="0"/>
                                      </a:rPr>
                                      <m:t>−</m:t>
                                    </m:r>
                                    <m:r>
                                      <a:rPr lang="fr-FR" sz="1600" i="1">
                                        <a:latin typeface="Cambria Math" panose="02040503050406030204" pitchFamily="18" charset="0"/>
                                      </a:rPr>
                                      <m:t>𝑥</m:t>
                                    </m:r>
                                  </m:e>
                                </m:d>
                              </m:e>
                            </m:func>
                          </m:e>
                        </m:d>
                        <m:r>
                          <a:rPr lang="fr-FR" sz="1600" i="1" baseline="30000">
                            <a:latin typeface="Cambria Math" panose="02040503050406030204" pitchFamily="18" charset="0"/>
                          </a:rPr>
                          <m:t>2</m:t>
                        </m:r>
                      </m:den>
                    </m:f>
                  </m:oMath>
                </a14:m>
                <a:r>
                  <a:rPr lang="fr-FR" sz="1600" dirty="0"/>
                  <a:t> </a:t>
                </a:r>
              </a:p>
              <a:p>
                <a:endParaRPr lang="fr-FR" sz="1600" dirty="0"/>
              </a:p>
              <a:p>
                <a14:m>
                  <m:oMath xmlns:m="http://schemas.openxmlformats.org/officeDocument/2006/math">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𝑓</m:t>
                        </m:r>
                      </m:e>
                      <m:sup>
                        <m:r>
                          <a:rPr lang="fr-FR" sz="1600" b="0" i="1" smtClean="0">
                            <a:latin typeface="Cambria Math" panose="02040503050406030204" pitchFamily="18" charset="0"/>
                          </a:rPr>
                          <m:t>′</m:t>
                        </m:r>
                      </m:sup>
                    </m:sSup>
                    <m:d>
                      <m:dPr>
                        <m:ctrlPr>
                          <a:rPr lang="fr-FR" sz="1600" b="0" i="1" smtClean="0">
                            <a:latin typeface="Cambria Math" panose="02040503050406030204" pitchFamily="18" charset="0"/>
                          </a:rPr>
                        </m:ctrlPr>
                      </m:dPr>
                      <m:e>
                        <m:r>
                          <a:rPr lang="fr-FR" sz="1600" b="0" i="1" smtClean="0">
                            <a:latin typeface="Cambria Math" panose="02040503050406030204" pitchFamily="18" charset="0"/>
                          </a:rPr>
                          <m:t>𝑥</m:t>
                        </m:r>
                      </m:e>
                    </m:d>
                    <m:r>
                      <a:rPr lang="fr-FR" sz="1600" i="1">
                        <a:latin typeface="Cambria Math" panose="02040503050406030204" pitchFamily="18" charset="0"/>
                      </a:rPr>
                      <m:t>=</m:t>
                    </m:r>
                  </m:oMath>
                </a14:m>
                <a:r>
                  <a:rPr lang="fr-FR" sz="1600" dirty="0"/>
                  <a:t> </a:t>
                </a:r>
                <a14:m>
                  <m:oMath xmlns:m="http://schemas.openxmlformats.org/officeDocument/2006/math">
                    <m:f>
                      <m:fPr>
                        <m:ctrlPr>
                          <a:rPr lang="fr-FR" sz="1600" i="1">
                            <a:latin typeface="Cambria Math" panose="02040503050406030204" pitchFamily="18" charset="0"/>
                          </a:rPr>
                        </m:ctrlPr>
                      </m:fPr>
                      <m:num>
                        <m:r>
                          <a:rPr lang="fr-FR" sz="1600" b="0" i="1" smtClean="0">
                            <a:latin typeface="Cambria Math" panose="02040503050406030204" pitchFamily="18" charset="0"/>
                          </a:rPr>
                          <m:t>1</m:t>
                        </m:r>
                        <m:r>
                          <a:rPr lang="fr-FR" sz="1600" i="1">
                            <a:latin typeface="Cambria Math" panose="02040503050406030204" pitchFamily="18" charset="0"/>
                          </a:rPr>
                          <m:t> </m:t>
                        </m:r>
                      </m:num>
                      <m:den>
                        <m:d>
                          <m:dPr>
                            <m:ctrlPr>
                              <a:rPr lang="fr-FR" sz="1600" i="1">
                                <a:latin typeface="Cambria Math" panose="02040503050406030204" pitchFamily="18" charset="0"/>
                              </a:rPr>
                            </m:ctrlPr>
                          </m:dPr>
                          <m:e>
                            <m:r>
                              <a:rPr lang="fr-FR" sz="1600" i="1">
                                <a:latin typeface="Cambria Math" panose="02040503050406030204" pitchFamily="18" charset="0"/>
                              </a:rPr>
                              <m:t>1+</m:t>
                            </m:r>
                            <m:func>
                              <m:funcPr>
                                <m:ctrlPr>
                                  <a:rPr lang="fr-FR" sz="1600" i="1">
                                    <a:latin typeface="Cambria Math" panose="02040503050406030204" pitchFamily="18" charset="0"/>
                                  </a:rPr>
                                </m:ctrlPr>
                              </m:funcPr>
                              <m:fName>
                                <m:r>
                                  <m:rPr>
                                    <m:sty m:val="p"/>
                                  </m:rPr>
                                  <a:rPr lang="fr-FR" sz="1600">
                                    <a:latin typeface="Cambria Math" panose="02040503050406030204" pitchFamily="18" charset="0"/>
                                  </a:rPr>
                                  <m:t>exp</m:t>
                                </m:r>
                              </m:fName>
                              <m:e>
                                <m:d>
                                  <m:dPr>
                                    <m:ctrlPr>
                                      <a:rPr lang="fr-FR" sz="1600" i="1">
                                        <a:latin typeface="Cambria Math" panose="02040503050406030204" pitchFamily="18" charset="0"/>
                                      </a:rPr>
                                    </m:ctrlPr>
                                  </m:dPr>
                                  <m:e>
                                    <m:r>
                                      <a:rPr lang="fr-FR" sz="1600" i="1">
                                        <a:latin typeface="Cambria Math" panose="02040503050406030204" pitchFamily="18" charset="0"/>
                                      </a:rPr>
                                      <m:t>−</m:t>
                                    </m:r>
                                    <m:r>
                                      <a:rPr lang="fr-FR" sz="1600" i="1">
                                        <a:latin typeface="Cambria Math" panose="02040503050406030204" pitchFamily="18" charset="0"/>
                                      </a:rPr>
                                      <m:t>𝑥</m:t>
                                    </m:r>
                                  </m:e>
                                </m:d>
                              </m:e>
                            </m:func>
                          </m:e>
                        </m:d>
                      </m:den>
                    </m:f>
                  </m:oMath>
                </a14:m>
                <a:r>
                  <a:rPr lang="fr-FR" sz="1600" dirty="0"/>
                  <a:t> - </a:t>
                </a:r>
                <a14:m>
                  <m:oMath xmlns:m="http://schemas.openxmlformats.org/officeDocument/2006/math">
                    <m:f>
                      <m:fPr>
                        <m:ctrlPr>
                          <a:rPr lang="fr-FR" sz="1600" i="1">
                            <a:latin typeface="Cambria Math" panose="02040503050406030204" pitchFamily="18" charset="0"/>
                          </a:rPr>
                        </m:ctrlPr>
                      </m:fPr>
                      <m:num>
                        <m:r>
                          <a:rPr lang="fr-FR" sz="1600">
                            <a:latin typeface="Cambria Math" panose="02040503050406030204" pitchFamily="18" charset="0"/>
                          </a:rPr>
                          <m:t>1</m:t>
                        </m:r>
                        <m:r>
                          <a:rPr lang="fr-FR" sz="1600" i="1">
                            <a:latin typeface="Cambria Math" panose="02040503050406030204" pitchFamily="18" charset="0"/>
                          </a:rPr>
                          <m:t> </m:t>
                        </m:r>
                      </m:num>
                      <m:den>
                        <m:d>
                          <m:dPr>
                            <m:ctrlPr>
                              <a:rPr lang="fr-FR" sz="1600" i="1">
                                <a:latin typeface="Cambria Math" panose="02040503050406030204" pitchFamily="18" charset="0"/>
                              </a:rPr>
                            </m:ctrlPr>
                          </m:dPr>
                          <m:e>
                            <m:r>
                              <a:rPr lang="fr-FR" sz="1600" i="1">
                                <a:latin typeface="Cambria Math" panose="02040503050406030204" pitchFamily="18" charset="0"/>
                              </a:rPr>
                              <m:t>1+</m:t>
                            </m:r>
                            <m:func>
                              <m:funcPr>
                                <m:ctrlPr>
                                  <a:rPr lang="fr-FR" sz="1600" i="1">
                                    <a:latin typeface="Cambria Math" panose="02040503050406030204" pitchFamily="18" charset="0"/>
                                  </a:rPr>
                                </m:ctrlPr>
                              </m:funcPr>
                              <m:fName>
                                <m:r>
                                  <m:rPr>
                                    <m:sty m:val="p"/>
                                  </m:rPr>
                                  <a:rPr lang="fr-FR" sz="1600">
                                    <a:latin typeface="Cambria Math" panose="02040503050406030204" pitchFamily="18" charset="0"/>
                                  </a:rPr>
                                  <m:t>exp</m:t>
                                </m:r>
                              </m:fName>
                              <m:e>
                                <m:d>
                                  <m:dPr>
                                    <m:ctrlPr>
                                      <a:rPr lang="fr-FR" sz="1600" i="1">
                                        <a:latin typeface="Cambria Math" panose="02040503050406030204" pitchFamily="18" charset="0"/>
                                      </a:rPr>
                                    </m:ctrlPr>
                                  </m:dPr>
                                  <m:e>
                                    <m:r>
                                      <a:rPr lang="fr-FR" sz="1600" i="1">
                                        <a:latin typeface="Cambria Math" panose="02040503050406030204" pitchFamily="18" charset="0"/>
                                      </a:rPr>
                                      <m:t>−</m:t>
                                    </m:r>
                                    <m:r>
                                      <a:rPr lang="fr-FR" sz="1600" i="1">
                                        <a:latin typeface="Cambria Math" panose="02040503050406030204" pitchFamily="18" charset="0"/>
                                      </a:rPr>
                                      <m:t>𝑥</m:t>
                                    </m:r>
                                  </m:e>
                                </m:d>
                              </m:e>
                            </m:func>
                          </m:e>
                        </m:d>
                        <m:r>
                          <a:rPr lang="fr-FR" sz="1600" i="1" baseline="30000">
                            <a:latin typeface="Cambria Math" panose="02040503050406030204" pitchFamily="18" charset="0"/>
                          </a:rPr>
                          <m:t>2</m:t>
                        </m:r>
                      </m:den>
                    </m:f>
                  </m:oMath>
                </a14:m>
                <a:endParaRPr lang="fr-FR" sz="1600" baseline="30000" dirty="0"/>
              </a:p>
              <a:p>
                <a:endParaRPr lang="fr-FR" sz="1600" b="0" i="1" dirty="0">
                  <a:latin typeface="Cambria Math" panose="02040503050406030204" pitchFamily="18" charset="0"/>
                </a:endParaRPr>
              </a:p>
              <a:p>
                <a14:m>
                  <m:oMath xmlns:m="http://schemas.openxmlformats.org/officeDocument/2006/math">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𝑓</m:t>
                        </m:r>
                      </m:e>
                      <m:sup>
                        <m:r>
                          <a:rPr lang="fr-FR" sz="1600" b="0" i="1" smtClean="0">
                            <a:latin typeface="Cambria Math" panose="02040503050406030204" pitchFamily="18" charset="0"/>
                          </a:rPr>
                          <m:t>′</m:t>
                        </m:r>
                      </m:sup>
                    </m:sSup>
                    <m:d>
                      <m:dPr>
                        <m:ctrlPr>
                          <a:rPr lang="fr-FR" sz="1600" b="0" i="1" smtClean="0">
                            <a:latin typeface="Cambria Math" panose="02040503050406030204" pitchFamily="18" charset="0"/>
                          </a:rPr>
                        </m:ctrlPr>
                      </m:dPr>
                      <m:e>
                        <m:r>
                          <a:rPr lang="fr-FR" sz="1600" b="0" i="1" smtClean="0">
                            <a:latin typeface="Cambria Math" panose="02040503050406030204" pitchFamily="18" charset="0"/>
                          </a:rPr>
                          <m:t>𝑥</m:t>
                        </m:r>
                      </m:e>
                    </m:d>
                    <m:r>
                      <a:rPr lang="fr-FR" sz="1600" i="1">
                        <a:latin typeface="Cambria Math" panose="02040503050406030204" pitchFamily="18" charset="0"/>
                      </a:rPr>
                      <m:t>=</m:t>
                    </m:r>
                  </m:oMath>
                </a14:m>
                <a:r>
                  <a:rPr lang="fr-FR" sz="1600" dirty="0"/>
                  <a:t> </a:t>
                </a:r>
                <a14:m>
                  <m:oMath xmlns:m="http://schemas.openxmlformats.org/officeDocument/2006/math">
                    <m:r>
                      <a:rPr lang="fr-FR" sz="1600" b="0" i="1" smtClean="0">
                        <a:latin typeface="Cambria Math" panose="02040503050406030204" pitchFamily="18" charset="0"/>
                      </a:rPr>
                      <m:t>𝑓</m:t>
                    </m:r>
                    <m:r>
                      <a:rPr lang="fr-FR" sz="1600" b="0" i="1" smtClean="0">
                        <a:latin typeface="Cambria Math" panose="02040503050406030204" pitchFamily="18" charset="0"/>
                      </a:rPr>
                      <m:t>(</m:t>
                    </m:r>
                    <m:r>
                      <a:rPr lang="fr-FR" sz="1600" b="0" i="1" smtClean="0">
                        <a:latin typeface="Cambria Math" panose="02040503050406030204" pitchFamily="18" charset="0"/>
                      </a:rPr>
                      <m:t>𝑥</m:t>
                    </m:r>
                    <m:r>
                      <a:rPr lang="fr-FR" sz="1600" b="0" i="1" smtClean="0">
                        <a:latin typeface="Cambria Math" panose="02040503050406030204" pitchFamily="18" charset="0"/>
                      </a:rPr>
                      <m:t>)</m:t>
                    </m:r>
                  </m:oMath>
                </a14:m>
                <a:r>
                  <a:rPr lang="fr-FR" sz="1600" dirty="0"/>
                  <a:t> </a:t>
                </a:r>
                <a14:m>
                  <m:oMath xmlns:m="http://schemas.openxmlformats.org/officeDocument/2006/math">
                    <m:r>
                      <a:rPr lang="fr-FR" sz="1600" b="0" i="1"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rPr>
                      <m:t>𝑓</m:t>
                    </m:r>
                    <m:sSup>
                      <m:sSupPr>
                        <m:ctrlPr>
                          <a:rPr lang="fr-FR" sz="1600" b="0" i="1" smtClean="0">
                            <a:latin typeface="Cambria Math" panose="02040503050406030204" pitchFamily="18" charset="0"/>
                          </a:rPr>
                        </m:ctrlPr>
                      </m:sSupPr>
                      <m:e>
                        <m:d>
                          <m:dPr>
                            <m:ctrlPr>
                              <a:rPr lang="fr-FR" sz="1600" b="0" i="1" smtClean="0">
                                <a:latin typeface="Cambria Math" panose="02040503050406030204" pitchFamily="18" charset="0"/>
                              </a:rPr>
                            </m:ctrlPr>
                          </m:dPr>
                          <m:e>
                            <m:r>
                              <a:rPr lang="fr-FR" sz="1600" b="0" i="1" smtClean="0">
                                <a:latin typeface="Cambria Math" panose="02040503050406030204" pitchFamily="18" charset="0"/>
                              </a:rPr>
                              <m:t>𝑥</m:t>
                            </m:r>
                          </m:e>
                        </m:d>
                      </m:e>
                      <m:sup>
                        <m:r>
                          <a:rPr lang="fr-FR" sz="1600" b="0" i="1" smtClean="0">
                            <a:latin typeface="Cambria Math" panose="02040503050406030204" pitchFamily="18" charset="0"/>
                          </a:rPr>
                          <m:t>2</m:t>
                        </m:r>
                      </m:sup>
                    </m:sSup>
                  </m:oMath>
                </a14:m>
                <a:endParaRPr lang="fr-FR" sz="1600" b="0" dirty="0"/>
              </a:p>
              <a:p>
                <a:endParaRPr lang="fr-FR" sz="1600" baseline="30000" dirty="0"/>
              </a:p>
              <a:p>
                <a:endParaRPr lang="fr-FR" sz="1600" baseline="30000" dirty="0"/>
              </a:p>
              <a:p>
                <a14:m>
                  <m:oMath xmlns:m="http://schemas.openxmlformats.org/officeDocument/2006/math">
                    <m:sSup>
                      <m:sSupPr>
                        <m:ctrlPr>
                          <a:rPr lang="fr-FR" sz="2800" b="1" i="1" smtClean="0">
                            <a:latin typeface="Cambria Math" panose="02040503050406030204" pitchFamily="18" charset="0"/>
                          </a:rPr>
                        </m:ctrlPr>
                      </m:sSupPr>
                      <m:e>
                        <m:r>
                          <a:rPr lang="fr-FR" sz="2800" b="1" i="1" smtClean="0">
                            <a:latin typeface="Cambria Math" panose="02040503050406030204" pitchFamily="18" charset="0"/>
                          </a:rPr>
                          <m:t>𝒇</m:t>
                        </m:r>
                      </m:e>
                      <m:sup>
                        <m:r>
                          <a:rPr lang="fr-FR" sz="2800" b="1" i="1" smtClean="0">
                            <a:latin typeface="Cambria Math" panose="02040503050406030204" pitchFamily="18" charset="0"/>
                          </a:rPr>
                          <m:t>′</m:t>
                        </m:r>
                      </m:sup>
                    </m:sSup>
                    <m:d>
                      <m:dPr>
                        <m:ctrlPr>
                          <a:rPr lang="fr-FR" sz="2800" b="1" i="1" smtClean="0">
                            <a:latin typeface="Cambria Math" panose="02040503050406030204" pitchFamily="18" charset="0"/>
                          </a:rPr>
                        </m:ctrlPr>
                      </m:dPr>
                      <m:e>
                        <m:r>
                          <a:rPr lang="fr-FR" sz="2800" b="1" i="1" smtClean="0">
                            <a:latin typeface="Cambria Math" panose="02040503050406030204" pitchFamily="18" charset="0"/>
                          </a:rPr>
                          <m:t>𝒙</m:t>
                        </m:r>
                      </m:e>
                    </m:d>
                    <m:r>
                      <a:rPr lang="fr-FR" sz="2800" b="1" i="1">
                        <a:latin typeface="Cambria Math" panose="02040503050406030204" pitchFamily="18" charset="0"/>
                      </a:rPr>
                      <m:t>=</m:t>
                    </m:r>
                  </m:oMath>
                </a14:m>
                <a:r>
                  <a:rPr lang="fr-FR" sz="2800" b="1" dirty="0"/>
                  <a:t> </a:t>
                </a:r>
                <a14:m>
                  <m:oMath xmlns:m="http://schemas.openxmlformats.org/officeDocument/2006/math">
                    <m:r>
                      <a:rPr lang="fr-FR" sz="2800" b="1" i="1" smtClean="0">
                        <a:latin typeface="Cambria Math" panose="02040503050406030204" pitchFamily="18" charset="0"/>
                      </a:rPr>
                      <m:t>𝒇</m:t>
                    </m:r>
                    <m:r>
                      <a:rPr lang="fr-FR" sz="2800" b="1" i="1" smtClean="0">
                        <a:latin typeface="Cambria Math" panose="02040503050406030204" pitchFamily="18" charset="0"/>
                      </a:rPr>
                      <m:t>(</m:t>
                    </m:r>
                    <m:r>
                      <a:rPr lang="fr-FR" sz="2800" b="1" i="1" smtClean="0">
                        <a:latin typeface="Cambria Math" panose="02040503050406030204" pitchFamily="18" charset="0"/>
                      </a:rPr>
                      <m:t>𝒙</m:t>
                    </m:r>
                    <m:r>
                      <a:rPr lang="fr-FR" sz="2800" b="1" i="1" smtClean="0">
                        <a:latin typeface="Cambria Math" panose="02040503050406030204" pitchFamily="18" charset="0"/>
                      </a:rPr>
                      <m:t>)</m:t>
                    </m:r>
                  </m:oMath>
                </a14:m>
                <a:r>
                  <a:rPr lang="fr-FR" sz="2800" b="1" dirty="0"/>
                  <a:t> </a:t>
                </a:r>
                <a14:m>
                  <m:oMath xmlns:m="http://schemas.openxmlformats.org/officeDocument/2006/math">
                    <m:r>
                      <a:rPr lang="fr-FR" sz="2800" b="1" i="0" smtClean="0">
                        <a:latin typeface="Cambria Math" panose="02040503050406030204" pitchFamily="18" charset="0"/>
                        <a:ea typeface="Cambria Math" panose="02040503050406030204" pitchFamily="18" charset="0"/>
                      </a:rPr>
                      <m:t>( </m:t>
                    </m:r>
                    <m:r>
                      <a:rPr lang="fr-FR" sz="2800" b="1" i="0" smtClean="0">
                        <a:latin typeface="Cambria Math" panose="02040503050406030204" pitchFamily="18" charset="0"/>
                        <a:ea typeface="Cambria Math" panose="02040503050406030204" pitchFamily="18" charset="0"/>
                      </a:rPr>
                      <m:t>𝟏</m:t>
                    </m:r>
                    <m:r>
                      <a:rPr lang="fr-FR" sz="2800" b="1" i="0" smtClean="0">
                        <a:latin typeface="Cambria Math" panose="02040503050406030204" pitchFamily="18" charset="0"/>
                        <a:ea typeface="Cambria Math" panose="02040503050406030204" pitchFamily="18" charset="0"/>
                      </a:rPr>
                      <m:t> </m:t>
                    </m:r>
                    <m:r>
                      <a:rPr lang="fr-FR" sz="2800" b="1" i="1" smtClean="0">
                        <a:latin typeface="Cambria Math" panose="02040503050406030204" pitchFamily="18" charset="0"/>
                        <a:ea typeface="Cambria Math" panose="02040503050406030204" pitchFamily="18" charset="0"/>
                      </a:rPr>
                      <m:t>− </m:t>
                    </m:r>
                    <m:r>
                      <a:rPr lang="fr-FR" sz="2800" b="1" i="1" smtClean="0">
                        <a:latin typeface="Cambria Math" panose="02040503050406030204" pitchFamily="18" charset="0"/>
                      </a:rPr>
                      <m:t>𝒇</m:t>
                    </m:r>
                    <m:d>
                      <m:dPr>
                        <m:ctrlPr>
                          <a:rPr lang="fr-FR" sz="2800" b="1" i="1" smtClean="0">
                            <a:latin typeface="Cambria Math" panose="02040503050406030204" pitchFamily="18" charset="0"/>
                          </a:rPr>
                        </m:ctrlPr>
                      </m:dPr>
                      <m:e>
                        <m:r>
                          <a:rPr lang="fr-FR" sz="2800" b="1" i="1" smtClean="0">
                            <a:latin typeface="Cambria Math" panose="02040503050406030204" pitchFamily="18" charset="0"/>
                          </a:rPr>
                          <m:t>𝒙</m:t>
                        </m:r>
                      </m:e>
                    </m:d>
                    <m:r>
                      <a:rPr lang="fr-FR" sz="2800" b="1" i="1" smtClean="0">
                        <a:latin typeface="Cambria Math" panose="02040503050406030204" pitchFamily="18" charset="0"/>
                      </a:rPr>
                      <m:t>)</m:t>
                    </m:r>
                  </m:oMath>
                </a14:m>
                <a:endParaRPr lang="fr-FR" sz="2800" b="1" dirty="0"/>
              </a:p>
            </p:txBody>
          </p:sp>
        </mc:Choice>
        <mc:Fallback xmlns="">
          <p:sp>
            <p:nvSpPr>
              <p:cNvPr id="3" name="ZoneTexte 2">
                <a:extLst>
                  <a:ext uri="{FF2B5EF4-FFF2-40B4-BE49-F238E27FC236}">
                    <a16:creationId xmlns:a16="http://schemas.microsoft.com/office/drawing/2014/main" id="{FB6D498D-94AC-7DEF-044E-74B92DCE2B49}"/>
                  </a:ext>
                </a:extLst>
              </p:cNvPr>
              <p:cNvSpPr txBox="1">
                <a:spLocks noRot="1" noChangeAspect="1" noMove="1" noResize="1" noEditPoints="1" noAdjustHandles="1" noChangeArrowheads="1" noChangeShapeType="1" noTextEdit="1"/>
              </p:cNvSpPr>
              <p:nvPr/>
            </p:nvSpPr>
            <p:spPr>
              <a:xfrm>
                <a:off x="5940056" y="1836033"/>
                <a:ext cx="4674780" cy="4288738"/>
              </a:xfrm>
              <a:prstGeom prst="rect">
                <a:avLst/>
              </a:prstGeom>
              <a:blipFill>
                <a:blip r:embed="rId4"/>
                <a:stretch>
                  <a:fillRect l="-1626" b="-1770"/>
                </a:stretch>
              </a:blipFill>
            </p:spPr>
            <p:txBody>
              <a:bodyPr/>
              <a:lstStyle/>
              <a:p>
                <a:r>
                  <a:rPr lang="fr-FR">
                    <a:noFill/>
                  </a:rPr>
                  <a:t> </a:t>
                </a:r>
              </a:p>
            </p:txBody>
          </p:sp>
        </mc:Fallback>
      </mc:AlternateContent>
      <p:sp>
        <p:nvSpPr>
          <p:cNvPr id="12" name="ZoneTexte 11">
            <a:extLst>
              <a:ext uri="{FF2B5EF4-FFF2-40B4-BE49-F238E27FC236}">
                <a16:creationId xmlns:a16="http://schemas.microsoft.com/office/drawing/2014/main" id="{80BBC7F4-53EE-377F-A6D1-D1250ECE66FE}"/>
              </a:ext>
            </a:extLst>
          </p:cNvPr>
          <p:cNvSpPr txBox="1"/>
          <p:nvPr/>
        </p:nvSpPr>
        <p:spPr>
          <a:xfrm>
            <a:off x="746051" y="1515270"/>
            <a:ext cx="5101856" cy="584775"/>
          </a:xfrm>
          <a:prstGeom prst="rect">
            <a:avLst/>
          </a:prstGeom>
          <a:noFill/>
        </p:spPr>
        <p:txBody>
          <a:bodyPr wrap="square" rtlCol="0">
            <a:spAutoFit/>
          </a:bodyPr>
          <a:lstStyle/>
          <a:p>
            <a:r>
              <a:rPr lang="en-GB" sz="3200" b="1" noProof="0" dirty="0"/>
              <a:t>Sigmoid function</a:t>
            </a:r>
          </a:p>
        </p:txBody>
      </p:sp>
      <p:sp>
        <p:nvSpPr>
          <p:cNvPr id="4" name="Espace réservé du pied de page 3">
            <a:extLst>
              <a:ext uri="{FF2B5EF4-FFF2-40B4-BE49-F238E27FC236}">
                <a16:creationId xmlns:a16="http://schemas.microsoft.com/office/drawing/2014/main" id="{7E93D323-4857-F258-8C9A-5EA61170345D}"/>
              </a:ext>
            </a:extLst>
          </p:cNvPr>
          <p:cNvSpPr>
            <a:spLocks noGrp="1"/>
          </p:cNvSpPr>
          <p:nvPr>
            <p:ph type="ftr" sz="quarter" idx="11"/>
          </p:nvPr>
        </p:nvSpPr>
        <p:spPr/>
        <p:txBody>
          <a:bodyPr/>
          <a:lstStyle/>
          <a:p>
            <a:r>
              <a:rPr lang="fr-FR"/>
              <a:t>Introduction to Neural Networks. Author: David Thébault</a:t>
            </a:r>
          </a:p>
        </p:txBody>
      </p:sp>
      <p:sp>
        <p:nvSpPr>
          <p:cNvPr id="5" name="ZoneTexte 4">
            <a:extLst>
              <a:ext uri="{FF2B5EF4-FFF2-40B4-BE49-F238E27FC236}">
                <a16:creationId xmlns:a16="http://schemas.microsoft.com/office/drawing/2014/main" id="{99DC0B05-EC5E-5AEA-13AC-9E21FB7C6D5E}"/>
              </a:ext>
            </a:extLst>
          </p:cNvPr>
          <p:cNvSpPr txBox="1"/>
          <p:nvPr/>
        </p:nvSpPr>
        <p:spPr>
          <a:xfrm>
            <a:off x="994144" y="5539996"/>
            <a:ext cx="5101856" cy="584775"/>
          </a:xfrm>
          <a:prstGeom prst="rect">
            <a:avLst/>
          </a:prstGeom>
          <a:noFill/>
        </p:spPr>
        <p:txBody>
          <a:bodyPr wrap="square" rtlCol="0">
            <a:spAutoFit/>
          </a:bodyPr>
          <a:lstStyle/>
          <a:p>
            <a:r>
              <a:rPr lang="en-GB" sz="3200" b="1" noProof="0" dirty="0"/>
              <a:t>Sigmoid Gradient</a:t>
            </a:r>
          </a:p>
        </p:txBody>
      </p:sp>
    </p:spTree>
    <p:extLst>
      <p:ext uri="{BB962C8B-B14F-4D97-AF65-F5344CB8AC3E}">
        <p14:creationId xmlns:p14="http://schemas.microsoft.com/office/powerpoint/2010/main" val="3375137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46E14-FFC0-1CC2-C84A-435936FB744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74BA442-2AC9-963C-5AED-CEDD493A146F}"/>
              </a:ext>
            </a:extLst>
          </p:cNvPr>
          <p:cNvSpPr>
            <a:spLocks noGrp="1"/>
          </p:cNvSpPr>
          <p:nvPr>
            <p:ph type="title"/>
          </p:nvPr>
        </p:nvSpPr>
        <p:spPr/>
        <p:txBody>
          <a:bodyPr/>
          <a:lstStyle/>
          <a:p>
            <a:r>
              <a:rPr lang="fr-FR" dirty="0"/>
              <a:t>Neural Network</a:t>
            </a:r>
          </a:p>
        </p:txBody>
      </p:sp>
      <mc:AlternateContent xmlns:mc="http://schemas.openxmlformats.org/markup-compatibility/2006" xmlns:a14="http://schemas.microsoft.com/office/drawing/2010/main">
        <mc:Choice Requires="a14">
          <p:sp>
            <p:nvSpPr>
              <p:cNvPr id="49" name="ZoneTexte 48">
                <a:extLst>
                  <a:ext uri="{FF2B5EF4-FFF2-40B4-BE49-F238E27FC236}">
                    <a16:creationId xmlns:a16="http://schemas.microsoft.com/office/drawing/2014/main" id="{174F0D62-735F-9F76-4532-99644B53EC84}"/>
                  </a:ext>
                </a:extLst>
              </p:cNvPr>
              <p:cNvSpPr txBox="1"/>
              <p:nvPr/>
            </p:nvSpPr>
            <p:spPr>
              <a:xfrm>
                <a:off x="746050" y="2310102"/>
                <a:ext cx="4674779" cy="9142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2400" b="0" i="1" smtClean="0">
                              <a:latin typeface="Cambria Math" panose="02040503050406030204" pitchFamily="18" charset="0"/>
                            </a:rPr>
                          </m:ctrlPr>
                        </m:sSubPr>
                        <m:e>
                          <m:r>
                            <a:rPr lang="fr-FR" sz="2400" b="0" i="1" smtClean="0">
                              <a:latin typeface="Cambria Math" panose="02040503050406030204" pitchFamily="18" charset="0"/>
                            </a:rPr>
                            <m:t>𝑠</m:t>
                          </m:r>
                        </m:e>
                        <m:sub>
                          <m:r>
                            <m:rPr>
                              <m:sty m:val="p"/>
                            </m:rPr>
                            <a:rPr lang="fr-FR" sz="2400" b="0" i="0" smtClean="0">
                              <a:latin typeface="Cambria Math" panose="02040503050406030204" pitchFamily="18" charset="0"/>
                            </a:rPr>
                            <m:t>j</m:t>
                          </m:r>
                        </m:sub>
                      </m:sSub>
                      <m:r>
                        <a:rPr lang="fr-FR" sz="2400" b="0" i="0" smtClean="0">
                          <a:latin typeface="Cambria Math" panose="02040503050406030204" pitchFamily="18" charset="0"/>
                        </a:rPr>
                        <m:t>=</m:t>
                      </m:r>
                      <m:r>
                        <m:rPr>
                          <m:sty m:val="p"/>
                        </m:rPr>
                        <a:rPr lang="fr-FR" sz="2400" b="0" i="0" smtClean="0">
                          <a:latin typeface="Cambria Math" panose="02040503050406030204" pitchFamily="18" charset="0"/>
                        </a:rPr>
                        <m:t>softmax</m:t>
                      </m:r>
                      <m:d>
                        <m:dPr>
                          <m:ctrlPr>
                            <a:rPr lang="fr-FR" sz="2400" i="1" smtClean="0">
                              <a:latin typeface="Cambria Math" panose="02040503050406030204" pitchFamily="18" charset="0"/>
                            </a:rPr>
                          </m:ctrlPr>
                        </m:dPr>
                        <m:e>
                          <m:sSub>
                            <m:sSubPr>
                              <m:ctrlPr>
                                <a:rPr lang="fr-FR" sz="2400" i="1" smtClean="0">
                                  <a:latin typeface="Cambria Math" panose="02040503050406030204" pitchFamily="18" charset="0"/>
                                </a:rPr>
                              </m:ctrlPr>
                            </m:sSubPr>
                            <m:e>
                              <m:r>
                                <a:rPr lang="fr-FR" sz="2400" b="0" i="1" smtClean="0">
                                  <a:latin typeface="Cambria Math" panose="02040503050406030204" pitchFamily="18" charset="0"/>
                                </a:rPr>
                                <m:t>𝑧</m:t>
                              </m:r>
                            </m:e>
                            <m:sub>
                              <m:r>
                                <a:rPr lang="fr-FR" sz="2400" b="0" i="1" smtClean="0">
                                  <a:latin typeface="Cambria Math" panose="02040503050406030204" pitchFamily="18" charset="0"/>
                                </a:rPr>
                                <m:t>𝑗</m:t>
                              </m:r>
                            </m:sub>
                          </m:sSub>
                        </m:e>
                      </m:d>
                      <m:r>
                        <a:rPr lang="fr-FR" sz="2400" b="0" i="1" smtClean="0">
                          <a:latin typeface="Cambria Math" panose="02040503050406030204" pitchFamily="18" charset="0"/>
                        </a:rPr>
                        <m:t>= </m:t>
                      </m:r>
                      <m:f>
                        <m:fPr>
                          <m:ctrlPr>
                            <a:rPr lang="fr-FR" sz="2400" i="1" smtClean="0">
                              <a:latin typeface="Cambria Math" panose="02040503050406030204" pitchFamily="18" charset="0"/>
                            </a:rPr>
                          </m:ctrlPr>
                        </m:fPr>
                        <m:num>
                          <m:r>
                            <m:rPr>
                              <m:sty m:val="p"/>
                            </m:rPr>
                            <a:rPr lang="fr-FR" sz="2400" b="0" i="1">
                              <a:latin typeface="Cambria Math" panose="02040503050406030204" pitchFamily="18" charset="0"/>
                            </a:rPr>
                            <m:t>exp</m:t>
                          </m:r>
                          <m:r>
                            <a:rPr lang="fr-FR" sz="2400" b="0" i="1">
                              <a:latin typeface="Cambria Math" panose="02040503050406030204" pitchFamily="18" charset="0"/>
                            </a:rPr>
                            <m:t>⁡(</m:t>
                          </m:r>
                          <m:sSub>
                            <m:sSubPr>
                              <m:ctrlPr>
                                <a:rPr lang="fr-FR" sz="2400" i="1" smtClean="0">
                                  <a:latin typeface="Cambria Math" panose="02040503050406030204" pitchFamily="18" charset="0"/>
                                </a:rPr>
                              </m:ctrlPr>
                            </m:sSubPr>
                            <m:e>
                              <m:r>
                                <a:rPr lang="fr-FR" sz="2400" b="0" i="1" smtClean="0">
                                  <a:latin typeface="Cambria Math" panose="02040503050406030204" pitchFamily="18" charset="0"/>
                                </a:rPr>
                                <m:t>𝑧</m:t>
                              </m:r>
                            </m:e>
                            <m:sub>
                              <m:r>
                                <a:rPr lang="fr-FR" sz="2400" b="0" i="1" smtClean="0">
                                  <a:latin typeface="Cambria Math" panose="02040503050406030204" pitchFamily="18" charset="0"/>
                                </a:rPr>
                                <m:t>𝑗</m:t>
                              </m:r>
                            </m:sub>
                          </m:sSub>
                          <m:r>
                            <a:rPr lang="fr-FR" sz="2400" b="0" i="1">
                              <a:latin typeface="Cambria Math" panose="02040503050406030204" pitchFamily="18" charset="0"/>
                            </a:rPr>
                            <m:t>)</m:t>
                          </m:r>
                        </m:num>
                        <m:den>
                          <m:nary>
                            <m:naryPr>
                              <m:chr m:val="∑"/>
                              <m:ctrlPr>
                                <a:rPr lang="fr-FR" sz="2400" i="1" smtClean="0">
                                  <a:latin typeface="Cambria Math" panose="02040503050406030204" pitchFamily="18" charset="0"/>
                                </a:rPr>
                              </m:ctrlPr>
                            </m:naryPr>
                            <m:sub>
                              <m:r>
                                <a:rPr lang="fr-FR" sz="2400" b="0" i="1">
                                  <a:latin typeface="Cambria Math" panose="02040503050406030204" pitchFamily="18" charset="0"/>
                                </a:rPr>
                                <m:t>𝑖</m:t>
                              </m:r>
                              <m:r>
                                <a:rPr lang="fr-FR" sz="2400" b="0" i="1">
                                  <a:latin typeface="Cambria Math" panose="02040503050406030204" pitchFamily="18" charset="0"/>
                                </a:rPr>
                                <m:t>=1</m:t>
                              </m:r>
                            </m:sub>
                            <m:sup>
                              <m:r>
                                <a:rPr lang="fr-FR" sz="2400" b="0" i="1">
                                  <a:latin typeface="Cambria Math" panose="02040503050406030204" pitchFamily="18" charset="0"/>
                                </a:rPr>
                                <m:t>𝑘</m:t>
                              </m:r>
                            </m:sup>
                            <m:e>
                              <m:r>
                                <m:rPr>
                                  <m:sty m:val="p"/>
                                </m:rPr>
                                <a:rPr lang="fr-FR" sz="2400" b="0" i="1">
                                  <a:latin typeface="Cambria Math" panose="02040503050406030204" pitchFamily="18" charset="0"/>
                                </a:rPr>
                                <m:t>exp</m:t>
                              </m:r>
                              <m:r>
                                <a:rPr lang="fr-FR" sz="2400" b="0" i="1">
                                  <a:latin typeface="Cambria Math" panose="02040503050406030204" pitchFamily="18" charset="0"/>
                                </a:rPr>
                                <m:t>⁡(</m:t>
                              </m:r>
                              <m:sSub>
                                <m:sSubPr>
                                  <m:ctrlPr>
                                    <a:rPr lang="fr-FR" sz="2400" i="1">
                                      <a:latin typeface="Cambria Math" panose="02040503050406030204" pitchFamily="18" charset="0"/>
                                    </a:rPr>
                                  </m:ctrlPr>
                                </m:sSubPr>
                                <m:e>
                                  <m:r>
                                    <a:rPr lang="fr-FR" sz="2400" b="0" i="1" smtClean="0">
                                      <a:latin typeface="Cambria Math" panose="02040503050406030204" pitchFamily="18" charset="0"/>
                                    </a:rPr>
                                    <m:t>𝑧</m:t>
                                  </m:r>
                                </m:e>
                                <m:sub>
                                  <m:r>
                                    <a:rPr lang="fr-FR" sz="2400" b="0" i="1" smtClean="0">
                                      <a:latin typeface="Cambria Math" panose="02040503050406030204" pitchFamily="18" charset="0"/>
                                    </a:rPr>
                                    <m:t>𝑖</m:t>
                                  </m:r>
                                </m:sub>
                              </m:sSub>
                              <m:r>
                                <a:rPr lang="fr-FR" sz="2400" b="0" i="1">
                                  <a:latin typeface="Cambria Math" panose="02040503050406030204" pitchFamily="18" charset="0"/>
                                </a:rPr>
                                <m:t>)</m:t>
                              </m:r>
                            </m:e>
                          </m:nary>
                        </m:den>
                      </m:f>
                      <m:r>
                        <a:rPr lang="fr-FR" sz="2400" b="0" i="1" smtClean="0">
                          <a:latin typeface="Cambria Math" panose="02040503050406030204" pitchFamily="18" charset="0"/>
                        </a:rPr>
                        <m:t> </m:t>
                      </m:r>
                    </m:oMath>
                  </m:oMathPara>
                </a14:m>
                <a:endParaRPr lang="fr-FR" sz="2400" dirty="0"/>
              </a:p>
            </p:txBody>
          </p:sp>
        </mc:Choice>
        <mc:Fallback xmlns="">
          <p:sp>
            <p:nvSpPr>
              <p:cNvPr id="49" name="ZoneTexte 48">
                <a:extLst>
                  <a:ext uri="{FF2B5EF4-FFF2-40B4-BE49-F238E27FC236}">
                    <a16:creationId xmlns:a16="http://schemas.microsoft.com/office/drawing/2014/main" id="{174F0D62-735F-9F76-4532-99644B53EC84}"/>
                  </a:ext>
                </a:extLst>
              </p:cNvPr>
              <p:cNvSpPr txBox="1">
                <a:spLocks noRot="1" noChangeAspect="1" noMove="1" noResize="1" noEditPoints="1" noAdjustHandles="1" noChangeArrowheads="1" noChangeShapeType="1" noTextEdit="1"/>
              </p:cNvSpPr>
              <p:nvPr/>
            </p:nvSpPr>
            <p:spPr>
              <a:xfrm>
                <a:off x="746050" y="2310102"/>
                <a:ext cx="4674779" cy="914289"/>
              </a:xfrm>
              <a:prstGeom prst="rect">
                <a:avLst/>
              </a:prstGeom>
              <a:blipFill>
                <a:blip r:embed="rId3"/>
                <a:stretch>
                  <a:fillRect t="-17808" b="-95890"/>
                </a:stretch>
              </a:blipFill>
            </p:spPr>
            <p:txBody>
              <a:bodyPr/>
              <a:lstStyle/>
              <a:p>
                <a:r>
                  <a:rPr lang="en-GB">
                    <a:noFill/>
                  </a:rPr>
                  <a:t> </a:t>
                </a:r>
              </a:p>
            </p:txBody>
          </p:sp>
        </mc:Fallback>
      </mc:AlternateContent>
      <p:sp>
        <p:nvSpPr>
          <p:cNvPr id="12" name="ZoneTexte 11">
            <a:extLst>
              <a:ext uri="{FF2B5EF4-FFF2-40B4-BE49-F238E27FC236}">
                <a16:creationId xmlns:a16="http://schemas.microsoft.com/office/drawing/2014/main" id="{794C61D1-E0ED-3E4E-4BA2-3C58E0F266BC}"/>
              </a:ext>
            </a:extLst>
          </p:cNvPr>
          <p:cNvSpPr txBox="1"/>
          <p:nvPr/>
        </p:nvSpPr>
        <p:spPr>
          <a:xfrm>
            <a:off x="746050" y="1515270"/>
            <a:ext cx="10515599" cy="584775"/>
          </a:xfrm>
          <a:prstGeom prst="rect">
            <a:avLst/>
          </a:prstGeom>
          <a:noFill/>
        </p:spPr>
        <p:txBody>
          <a:bodyPr wrap="square" rtlCol="0">
            <a:spAutoFit/>
          </a:bodyPr>
          <a:lstStyle/>
          <a:p>
            <a:r>
              <a:rPr lang="en-GB" sz="3200" b="1" noProof="0" dirty="0"/>
              <a:t>Softmax function </a:t>
            </a:r>
            <a:r>
              <a:rPr lang="en-GB" sz="2400" noProof="0" dirty="0"/>
              <a:t>(generalization of the sigmoid function)</a:t>
            </a:r>
            <a:endParaRPr lang="en-GB" sz="3200" noProof="0" dirty="0"/>
          </a:p>
        </p:txBody>
      </p:sp>
      <p:sp>
        <p:nvSpPr>
          <p:cNvPr id="4" name="Espace réservé du pied de page 3">
            <a:extLst>
              <a:ext uri="{FF2B5EF4-FFF2-40B4-BE49-F238E27FC236}">
                <a16:creationId xmlns:a16="http://schemas.microsoft.com/office/drawing/2014/main" id="{82F2CCBB-44AC-36D6-CB12-05FC81ABB9F7}"/>
              </a:ext>
            </a:extLst>
          </p:cNvPr>
          <p:cNvSpPr>
            <a:spLocks noGrp="1"/>
          </p:cNvSpPr>
          <p:nvPr>
            <p:ph type="ftr" sz="quarter" idx="11"/>
          </p:nvPr>
        </p:nvSpPr>
        <p:spPr/>
        <p:txBody>
          <a:bodyPr/>
          <a:lstStyle/>
          <a:p>
            <a:r>
              <a:rPr lang="fr-FR"/>
              <a:t>Introduction to Neural Networks. Author: David Thébault</a:t>
            </a:r>
          </a:p>
        </p:txBody>
      </p:sp>
      <p:sp>
        <p:nvSpPr>
          <p:cNvPr id="5" name="ZoneTexte 4">
            <a:extLst>
              <a:ext uri="{FF2B5EF4-FFF2-40B4-BE49-F238E27FC236}">
                <a16:creationId xmlns:a16="http://schemas.microsoft.com/office/drawing/2014/main" id="{F1EAA60D-F37A-14A0-F494-EC90B4A25098}"/>
              </a:ext>
            </a:extLst>
          </p:cNvPr>
          <p:cNvSpPr txBox="1"/>
          <p:nvPr/>
        </p:nvSpPr>
        <p:spPr>
          <a:xfrm>
            <a:off x="838200" y="3680372"/>
            <a:ext cx="5101856" cy="584775"/>
          </a:xfrm>
          <a:prstGeom prst="rect">
            <a:avLst/>
          </a:prstGeom>
          <a:noFill/>
        </p:spPr>
        <p:txBody>
          <a:bodyPr wrap="square" rtlCol="0">
            <a:spAutoFit/>
          </a:bodyPr>
          <a:lstStyle/>
          <a:p>
            <a:r>
              <a:rPr lang="en-GB" sz="3200" b="1" noProof="0" dirty="0"/>
              <a:t>Softmax Gradient</a:t>
            </a: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DC998C5B-2206-F962-A395-8EC85C2CCD33}"/>
                  </a:ext>
                </a:extLst>
              </p:cNvPr>
              <p:cNvSpPr txBox="1"/>
              <p:nvPr/>
            </p:nvSpPr>
            <p:spPr>
              <a:xfrm>
                <a:off x="6767945" y="2494751"/>
                <a:ext cx="3231658" cy="738664"/>
              </a:xfrm>
              <a:prstGeom prst="rect">
                <a:avLst/>
              </a:prstGeom>
              <a:noFill/>
            </p:spPr>
            <p:txBody>
              <a:bodyPr wrap="square" rtlCol="0">
                <a:spAutoFit/>
              </a:bodyPr>
              <a:lstStyle/>
              <a:p>
                <a:r>
                  <a:rPr lang="en-GB" sz="1400" b="0" i="1" dirty="0">
                    <a:solidFill>
                      <a:schemeClr val="bg1">
                        <a:lumMod val="50000"/>
                      </a:schemeClr>
                    </a:solidFill>
                    <a:latin typeface="Cambria Math" panose="02040503050406030204" pitchFamily="18" charset="0"/>
                  </a:rPr>
                  <a:t>With</a:t>
                </a:r>
                <a:r>
                  <a:rPr lang="fr-FR" sz="1400" b="0" i="1" dirty="0">
                    <a:solidFill>
                      <a:schemeClr val="bg1">
                        <a:lumMod val="50000"/>
                      </a:schemeClr>
                    </a:solidFill>
                    <a:latin typeface="Cambria Math" panose="02040503050406030204" pitchFamily="18" charset="0"/>
                  </a:rPr>
                  <a:t>:</a:t>
                </a:r>
              </a:p>
              <a:p>
                <a:pPr marL="285750" indent="-285750">
                  <a:buFont typeface="Arial" panose="020B0604020202020204" pitchFamily="34" charset="0"/>
                  <a:buChar char="•"/>
                </a:pPr>
                <a14:m>
                  <m:oMath xmlns:m="http://schemas.openxmlformats.org/officeDocument/2006/math">
                    <m:r>
                      <a:rPr lang="fr-FR" sz="1400" b="0" i="1" smtClean="0">
                        <a:solidFill>
                          <a:schemeClr val="bg1">
                            <a:lumMod val="50000"/>
                          </a:schemeClr>
                        </a:solidFill>
                        <a:latin typeface="Cambria Math" panose="02040503050406030204" pitchFamily="18" charset="0"/>
                      </a:rPr>
                      <m:t>𝑗</m:t>
                    </m:r>
                    <m:r>
                      <a:rPr lang="fr-FR" sz="1400" b="0" i="1" smtClean="0">
                        <a:solidFill>
                          <a:schemeClr val="bg1">
                            <a:lumMod val="50000"/>
                          </a:schemeClr>
                        </a:solidFill>
                        <a:latin typeface="Cambria Math" panose="02040503050406030204" pitchFamily="18" charset="0"/>
                      </a:rPr>
                      <m:t>=1,…,</m:t>
                    </m:r>
                    <m:r>
                      <a:rPr lang="fr-FR" sz="1400" b="0" i="1" smtClean="0">
                        <a:solidFill>
                          <a:schemeClr val="bg1">
                            <a:lumMod val="50000"/>
                          </a:schemeClr>
                        </a:solidFill>
                        <a:latin typeface="Cambria Math" panose="02040503050406030204" pitchFamily="18" charset="0"/>
                      </a:rPr>
                      <m:t>𝑛</m:t>
                    </m:r>
                    <m:r>
                      <a:rPr lang="fr-FR" sz="1400" b="0" i="1" smtClean="0">
                        <a:solidFill>
                          <a:schemeClr val="bg1">
                            <a:lumMod val="50000"/>
                          </a:schemeClr>
                        </a:solidFill>
                        <a:latin typeface="Cambria Math" panose="02040503050406030204" pitchFamily="18" charset="0"/>
                      </a:rPr>
                      <m:t> </m:t>
                    </m:r>
                    <m:r>
                      <a:rPr lang="fr-FR" sz="1400" b="0" i="1" smtClean="0">
                        <a:solidFill>
                          <a:schemeClr val="bg1">
                            <a:lumMod val="50000"/>
                          </a:schemeClr>
                        </a:solidFill>
                        <a:latin typeface="Cambria Math" panose="02040503050406030204" pitchFamily="18" charset="0"/>
                      </a:rPr>
                      <m:t>𝑖𝑛𝑠𝑡𝑎𝑛𝑐𝑒𝑠</m:t>
                    </m:r>
                    <m:r>
                      <a:rPr lang="fr-FR" sz="1400" b="0" i="1" smtClean="0">
                        <a:solidFill>
                          <a:schemeClr val="bg1">
                            <a:lumMod val="50000"/>
                          </a:schemeClr>
                        </a:solidFill>
                        <a:latin typeface="Cambria Math" panose="02040503050406030204" pitchFamily="18" charset="0"/>
                      </a:rPr>
                      <m:t> </m:t>
                    </m:r>
                  </m:oMath>
                </a14:m>
                <a:endParaRPr lang="fr-FR" sz="1400" b="0" i="1" dirty="0">
                  <a:solidFill>
                    <a:schemeClr val="bg1">
                      <a:lumMod val="50000"/>
                    </a:schemeClr>
                  </a:solidFill>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fr-FR" sz="1400" b="0" i="1" smtClean="0">
                        <a:solidFill>
                          <a:schemeClr val="bg1">
                            <a:lumMod val="50000"/>
                          </a:schemeClr>
                        </a:solidFill>
                        <a:latin typeface="Cambria Math" panose="02040503050406030204" pitchFamily="18" charset="0"/>
                      </a:rPr>
                      <m:t>𝑘</m:t>
                    </m:r>
                    <m:r>
                      <a:rPr lang="fr-FR" sz="1400" b="0" i="1" smtClean="0">
                        <a:solidFill>
                          <a:schemeClr val="bg1">
                            <a:lumMod val="50000"/>
                          </a:schemeClr>
                        </a:solidFill>
                        <a:latin typeface="Cambria Math" panose="02040503050406030204" pitchFamily="18" charset="0"/>
                      </a:rPr>
                      <m:t> </m:t>
                    </m:r>
                    <m:r>
                      <a:rPr lang="fr-FR" sz="1400" b="0" i="1" smtClean="0">
                        <a:solidFill>
                          <a:schemeClr val="bg1">
                            <a:lumMod val="50000"/>
                          </a:schemeClr>
                        </a:solidFill>
                        <a:latin typeface="Cambria Math" panose="02040503050406030204" pitchFamily="18" charset="0"/>
                      </a:rPr>
                      <m:t>𝑡h𝑒</m:t>
                    </m:r>
                    <m:r>
                      <a:rPr lang="fr-FR" sz="1400" b="0" i="1" smtClean="0">
                        <a:solidFill>
                          <a:schemeClr val="bg1">
                            <a:lumMod val="50000"/>
                          </a:schemeClr>
                        </a:solidFill>
                        <a:latin typeface="Cambria Math" panose="02040503050406030204" pitchFamily="18" charset="0"/>
                      </a:rPr>
                      <m:t> </m:t>
                    </m:r>
                    <m:r>
                      <a:rPr lang="fr-FR" sz="1400" b="0" i="1" smtClean="0">
                        <a:solidFill>
                          <a:schemeClr val="bg1">
                            <a:lumMod val="50000"/>
                          </a:schemeClr>
                        </a:solidFill>
                        <a:latin typeface="Cambria Math" panose="02040503050406030204" pitchFamily="18" charset="0"/>
                      </a:rPr>
                      <m:t>𝑛𝑢𝑚𝑏𝑒𝑟</m:t>
                    </m:r>
                    <m:r>
                      <a:rPr lang="fr-FR" sz="1400" b="0" i="1" smtClean="0">
                        <a:solidFill>
                          <a:schemeClr val="bg1">
                            <a:lumMod val="50000"/>
                          </a:schemeClr>
                        </a:solidFill>
                        <a:latin typeface="Cambria Math" panose="02040503050406030204" pitchFamily="18" charset="0"/>
                      </a:rPr>
                      <m:t> </m:t>
                    </m:r>
                    <m:r>
                      <a:rPr lang="fr-FR" sz="1400" b="0" i="1" smtClean="0">
                        <a:solidFill>
                          <a:schemeClr val="bg1">
                            <a:lumMod val="50000"/>
                          </a:schemeClr>
                        </a:solidFill>
                        <a:latin typeface="Cambria Math" panose="02040503050406030204" pitchFamily="18" charset="0"/>
                      </a:rPr>
                      <m:t>𝑜𝑓</m:t>
                    </m:r>
                    <m:r>
                      <a:rPr lang="fr-FR" sz="1400" b="0" i="1" smtClean="0">
                        <a:solidFill>
                          <a:schemeClr val="bg1">
                            <a:lumMod val="50000"/>
                          </a:schemeClr>
                        </a:solidFill>
                        <a:latin typeface="Cambria Math" panose="02040503050406030204" pitchFamily="18" charset="0"/>
                      </a:rPr>
                      <m:t> </m:t>
                    </m:r>
                    <m:r>
                      <a:rPr lang="fr-FR" sz="1400" b="0" i="1" smtClean="0">
                        <a:solidFill>
                          <a:schemeClr val="bg1">
                            <a:lumMod val="50000"/>
                          </a:schemeClr>
                        </a:solidFill>
                        <a:latin typeface="Cambria Math" panose="02040503050406030204" pitchFamily="18" charset="0"/>
                      </a:rPr>
                      <m:t>𝑐𝑙𝑎𝑠𝑠𝑒𝑠</m:t>
                    </m:r>
                  </m:oMath>
                </a14:m>
                <a:endParaRPr lang="fr-FR" sz="1400" b="0" dirty="0">
                  <a:solidFill>
                    <a:schemeClr val="bg1">
                      <a:lumMod val="50000"/>
                    </a:schemeClr>
                  </a:solidFill>
                </a:endParaRPr>
              </a:p>
            </p:txBody>
          </p:sp>
        </mc:Choice>
        <mc:Fallback xmlns="">
          <p:sp>
            <p:nvSpPr>
              <p:cNvPr id="7" name="ZoneTexte 6">
                <a:extLst>
                  <a:ext uri="{FF2B5EF4-FFF2-40B4-BE49-F238E27FC236}">
                    <a16:creationId xmlns:a16="http://schemas.microsoft.com/office/drawing/2014/main" id="{DC998C5B-2206-F962-A395-8EC85C2CCD33}"/>
                  </a:ext>
                </a:extLst>
              </p:cNvPr>
              <p:cNvSpPr txBox="1">
                <a:spLocks noRot="1" noChangeAspect="1" noMove="1" noResize="1" noEditPoints="1" noAdjustHandles="1" noChangeArrowheads="1" noChangeShapeType="1" noTextEdit="1"/>
              </p:cNvSpPr>
              <p:nvPr/>
            </p:nvSpPr>
            <p:spPr>
              <a:xfrm>
                <a:off x="6767945" y="2494751"/>
                <a:ext cx="3231658" cy="738664"/>
              </a:xfrm>
              <a:prstGeom prst="rect">
                <a:avLst/>
              </a:prstGeom>
              <a:blipFill>
                <a:blip r:embed="rId4"/>
                <a:stretch>
                  <a:fillRect l="-391" t="-1695" b="-678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09B4CFE4-AF6D-8CF9-ABA8-AB9F9397892E}"/>
                  </a:ext>
                </a:extLst>
              </p:cNvPr>
              <p:cNvSpPr txBox="1"/>
              <p:nvPr/>
            </p:nvSpPr>
            <p:spPr>
              <a:xfrm>
                <a:off x="845132" y="4464379"/>
                <a:ext cx="8326582" cy="13310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𝑱</m:t>
                          </m:r>
                          <m:r>
                            <a:rPr lang="fr-FR" sz="2800" b="1" i="1" smtClean="0">
                              <a:latin typeface="Cambria Math" panose="02040503050406030204" pitchFamily="18" charset="0"/>
                            </a:rPr>
                            <m:t>=</m:t>
                          </m:r>
                          <m:d>
                            <m:dPr>
                              <m:ctrlPr>
                                <a:rPr lang="fr-FR" sz="2800" b="1" i="1" smtClean="0">
                                  <a:latin typeface="Cambria Math" panose="02040503050406030204" pitchFamily="18" charset="0"/>
                                </a:rPr>
                              </m:ctrlPr>
                            </m:dPr>
                            <m:e>
                              <m:m>
                                <m:mPr>
                                  <m:mcs>
                                    <m:mc>
                                      <m:mcPr>
                                        <m:count m:val="3"/>
                                        <m:mcJc m:val="center"/>
                                      </m:mcPr>
                                    </m:mc>
                                  </m:mcs>
                                  <m:ctrlPr>
                                    <a:rPr lang="fr-FR" sz="2800" b="1" i="1" smtClean="0">
                                      <a:latin typeface="Cambria Math" panose="02040503050406030204" pitchFamily="18" charset="0"/>
                                    </a:rPr>
                                  </m:ctrlPr>
                                </m:mPr>
                                <m:mr>
                                  <m:e>
                                    <m:sSub>
                                      <m:sSubPr>
                                        <m:ctrlPr>
                                          <a:rPr lang="fr-FR" sz="2800" b="1" i="1" smtClean="0">
                                            <a:latin typeface="Cambria Math" panose="02040503050406030204" pitchFamily="18" charset="0"/>
                                          </a:rPr>
                                        </m:ctrlPr>
                                      </m:sSubPr>
                                      <m:e>
                                        <m:r>
                                          <m:rPr>
                                            <m:brk m:alnAt="7"/>
                                          </m:rPr>
                                          <a:rPr lang="fr-FR" sz="2800" b="1" i="1" smtClean="0">
                                            <a:latin typeface="Cambria Math" panose="02040503050406030204" pitchFamily="18" charset="0"/>
                                          </a:rPr>
                                          <m:t>𝒔</m:t>
                                        </m:r>
                                      </m:e>
                                      <m:sub>
                                        <m:r>
                                          <a:rPr lang="fr-FR" sz="2800" b="1" i="1" smtClean="0">
                                            <a:latin typeface="Cambria Math" panose="02040503050406030204" pitchFamily="18" charset="0"/>
                                          </a:rPr>
                                          <m:t>𝟏</m:t>
                                        </m:r>
                                      </m:sub>
                                    </m:sSub>
                                    <m:d>
                                      <m:dPr>
                                        <m:ctrlPr>
                                          <a:rPr lang="fr-FR" sz="2800" b="1" i="1" smtClean="0">
                                            <a:latin typeface="Cambria Math" panose="02040503050406030204" pitchFamily="18" charset="0"/>
                                          </a:rPr>
                                        </m:ctrlPr>
                                      </m:dPr>
                                      <m:e>
                                        <m:r>
                                          <m:rPr>
                                            <m:brk m:alnAt="7"/>
                                          </m:rPr>
                                          <a:rPr lang="fr-FR" sz="2800" b="1" i="1" smtClean="0">
                                            <a:latin typeface="Cambria Math" panose="02040503050406030204" pitchFamily="18" charset="0"/>
                                          </a:rPr>
                                          <m:t>𝟏</m:t>
                                        </m:r>
                                        <m:r>
                                          <a:rPr lang="fr-FR" sz="2800" b="1" i="1" smtClean="0">
                                            <a:latin typeface="Cambria Math" panose="02040503050406030204" pitchFamily="18" charset="0"/>
                                          </a:rPr>
                                          <m:t>−</m:t>
                                        </m:r>
                                        <m:sSub>
                                          <m:sSubPr>
                                            <m:ctrlPr>
                                              <a:rPr lang="fr-FR" sz="2800" b="1" i="1" smtClean="0">
                                                <a:latin typeface="Cambria Math" panose="02040503050406030204" pitchFamily="18" charset="0"/>
                                              </a:rPr>
                                            </m:ctrlPr>
                                          </m:sSubPr>
                                          <m:e>
                                            <m:r>
                                              <m:rPr>
                                                <m:brk m:alnAt="7"/>
                                              </m:rPr>
                                              <a:rPr lang="fr-FR" sz="2800" b="1" i="1" smtClean="0">
                                                <a:latin typeface="Cambria Math" panose="02040503050406030204" pitchFamily="18" charset="0"/>
                                              </a:rPr>
                                              <m:t>𝒔</m:t>
                                            </m:r>
                                          </m:e>
                                          <m:sub>
                                            <m:r>
                                              <a:rPr lang="fr-FR" sz="2800" b="1" i="1" smtClean="0">
                                                <a:latin typeface="Cambria Math" panose="02040503050406030204" pitchFamily="18" charset="0"/>
                                              </a:rPr>
                                              <m:t>𝟏</m:t>
                                            </m:r>
                                          </m:sub>
                                        </m:sSub>
                                      </m:e>
                                    </m:d>
                                  </m:e>
                                  <m:e>
                                    <m:r>
                                      <a:rPr lang="fr-FR" sz="2800" b="1" i="1" smtClean="0">
                                        <a:latin typeface="Cambria Math" panose="02040503050406030204" pitchFamily="18" charset="0"/>
                                      </a:rPr>
                                      <m:t>⋯</m:t>
                                    </m:r>
                                  </m:e>
                                  <m:e>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m:t>
                                        </m:r>
                                        <m:r>
                                          <a:rPr lang="fr-FR" sz="2800" b="1" i="1" smtClean="0">
                                            <a:latin typeface="Cambria Math" panose="02040503050406030204" pitchFamily="18" charset="0"/>
                                          </a:rPr>
                                          <m:t>𝒔</m:t>
                                        </m:r>
                                      </m:e>
                                      <m:sub>
                                        <m:r>
                                          <a:rPr lang="fr-FR" sz="2800" b="1" i="1" smtClean="0">
                                            <a:latin typeface="Cambria Math" panose="02040503050406030204" pitchFamily="18" charset="0"/>
                                          </a:rPr>
                                          <m:t>𝟏</m:t>
                                        </m:r>
                                      </m:sub>
                                    </m:sSub>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𝒔</m:t>
                                        </m:r>
                                      </m:e>
                                      <m:sub>
                                        <m:r>
                                          <a:rPr lang="fr-FR" sz="2800" b="1" i="1" smtClean="0">
                                            <a:latin typeface="Cambria Math" panose="02040503050406030204" pitchFamily="18" charset="0"/>
                                          </a:rPr>
                                          <m:t>𝒌</m:t>
                                        </m:r>
                                      </m:sub>
                                    </m:sSub>
                                  </m:e>
                                </m:mr>
                                <m:mr>
                                  <m:e>
                                    <m:r>
                                      <a:rPr lang="fr-FR" sz="2800" b="1" i="1" smtClean="0">
                                        <a:latin typeface="Cambria Math" panose="02040503050406030204" pitchFamily="18" charset="0"/>
                                      </a:rPr>
                                      <m:t>⋮</m:t>
                                    </m:r>
                                  </m:e>
                                  <m:e>
                                    <m:r>
                                      <a:rPr lang="fr-FR" sz="2800" b="1" i="1" smtClean="0">
                                        <a:latin typeface="Cambria Math" panose="02040503050406030204" pitchFamily="18" charset="0"/>
                                      </a:rPr>
                                      <m:t>⋱</m:t>
                                    </m:r>
                                  </m:e>
                                  <m:e>
                                    <m:r>
                                      <a:rPr lang="fr-FR" sz="2800" b="1" i="1" smtClean="0">
                                        <a:latin typeface="Cambria Math" panose="02040503050406030204" pitchFamily="18" charset="0"/>
                                      </a:rPr>
                                      <m:t>⋮</m:t>
                                    </m:r>
                                  </m:e>
                                </m:mr>
                                <m:mr>
                                  <m:e>
                                    <m:r>
                                      <a:rPr lang="fr-FR" sz="2800" b="1" i="1" smtClean="0">
                                        <a:latin typeface="Cambria Math" panose="02040503050406030204" pitchFamily="18" charset="0"/>
                                      </a:rPr>
                                      <m:t>−</m:t>
                                    </m:r>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𝒔</m:t>
                                        </m:r>
                                      </m:e>
                                      <m:sub>
                                        <m:r>
                                          <a:rPr lang="fr-FR" sz="2800" b="1" i="1" smtClean="0">
                                            <a:latin typeface="Cambria Math" panose="02040503050406030204" pitchFamily="18" charset="0"/>
                                          </a:rPr>
                                          <m:t>𝒌</m:t>
                                        </m:r>
                                      </m:sub>
                                    </m:sSub>
                                    <m:r>
                                      <a:rPr lang="fr-FR" sz="2800" b="1" i="1" smtClean="0">
                                        <a:latin typeface="Cambria Math" panose="02040503050406030204" pitchFamily="18" charset="0"/>
                                      </a:rPr>
                                      <m:t>𝒔</m:t>
                                    </m:r>
                                    <m:r>
                                      <a:rPr lang="fr-FR" sz="2800" b="1" i="1" smtClean="0">
                                        <a:latin typeface="Cambria Math" panose="02040503050406030204" pitchFamily="18" charset="0"/>
                                      </a:rPr>
                                      <m:t>𝟏</m:t>
                                    </m:r>
                                  </m:e>
                                  <m:e>
                                    <m:r>
                                      <a:rPr lang="fr-FR" sz="2800" b="1" i="1" smtClean="0">
                                        <a:latin typeface="Cambria Math" panose="02040503050406030204" pitchFamily="18" charset="0"/>
                                      </a:rPr>
                                      <m:t>⋯</m:t>
                                    </m:r>
                                  </m:e>
                                  <m:e>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𝒔</m:t>
                                        </m:r>
                                      </m:e>
                                      <m:sub>
                                        <m:r>
                                          <a:rPr lang="fr-FR" sz="2800" b="1" i="1" smtClean="0">
                                            <a:latin typeface="Cambria Math" panose="02040503050406030204" pitchFamily="18" charset="0"/>
                                          </a:rPr>
                                          <m:t>𝒌</m:t>
                                        </m:r>
                                      </m:sub>
                                    </m:sSub>
                                    <m:d>
                                      <m:dPr>
                                        <m:ctrlPr>
                                          <a:rPr lang="fr-FR" sz="2800" b="1" i="1" smtClean="0">
                                            <a:latin typeface="Cambria Math" panose="02040503050406030204" pitchFamily="18" charset="0"/>
                                          </a:rPr>
                                        </m:ctrlPr>
                                      </m:dPr>
                                      <m:e>
                                        <m:r>
                                          <a:rPr lang="fr-FR" sz="2800" b="1" i="1" smtClean="0">
                                            <a:latin typeface="Cambria Math" panose="02040503050406030204" pitchFamily="18" charset="0"/>
                                          </a:rPr>
                                          <m:t>𝟏</m:t>
                                        </m:r>
                                        <m:r>
                                          <a:rPr lang="fr-FR" sz="2800" b="1" i="1" smtClean="0">
                                            <a:latin typeface="Cambria Math" panose="02040503050406030204" pitchFamily="18" charset="0"/>
                                          </a:rPr>
                                          <m:t>−</m:t>
                                        </m:r>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𝒔</m:t>
                                            </m:r>
                                          </m:e>
                                          <m:sub>
                                            <m:r>
                                              <a:rPr lang="fr-FR" sz="2800" b="1" i="1" smtClean="0">
                                                <a:latin typeface="Cambria Math" panose="02040503050406030204" pitchFamily="18" charset="0"/>
                                              </a:rPr>
                                              <m:t>𝒌</m:t>
                                            </m:r>
                                          </m:sub>
                                        </m:sSub>
                                      </m:e>
                                    </m:d>
                                  </m:e>
                                </m:mr>
                              </m:m>
                            </m:e>
                          </m:d>
                          <m:r>
                            <a:rPr lang="fr-FR" sz="2800" b="1" i="1" smtClean="0">
                              <a:latin typeface="Cambria Math" panose="02040503050406030204" pitchFamily="18" charset="0"/>
                            </a:rPr>
                            <m:t>=(</m:t>
                          </m:r>
                          <m:r>
                            <a:rPr lang="fr-FR" sz="2800" b="1" i="1" smtClean="0">
                              <a:latin typeface="Cambria Math" panose="02040503050406030204" pitchFamily="18" charset="0"/>
                            </a:rPr>
                            <m:t>𝒔</m:t>
                          </m:r>
                        </m:e>
                        <m:sub>
                          <m:r>
                            <a:rPr lang="fr-FR" sz="2800" b="1" i="1" smtClean="0">
                              <a:latin typeface="Cambria Math" panose="02040503050406030204" pitchFamily="18" charset="0"/>
                            </a:rPr>
                            <m:t>𝒊</m:t>
                          </m:r>
                        </m:sub>
                      </m:sSub>
                      <m:r>
                        <a:rPr lang="fr-FR" sz="2800" b="1" i="1" smtClean="0">
                          <a:latin typeface="Cambria Math" panose="02040503050406030204" pitchFamily="18" charset="0"/>
                        </a:rPr>
                        <m:t>(</m:t>
                      </m:r>
                      <m:sSub>
                        <m:sSubPr>
                          <m:ctrlPr>
                            <a:rPr lang="fr-FR" sz="2800" b="1" i="1" smtClean="0">
                              <a:latin typeface="Cambria Math" panose="02040503050406030204" pitchFamily="18" charset="0"/>
                              <a:ea typeface="Cambria Math" panose="02040503050406030204" pitchFamily="18" charset="0"/>
                            </a:rPr>
                          </m:ctrlPr>
                        </m:sSubPr>
                        <m:e>
                          <m:r>
                            <a:rPr lang="fr-FR" sz="2800" b="1" i="1" smtClean="0">
                              <a:latin typeface="Cambria Math" panose="02040503050406030204" pitchFamily="18" charset="0"/>
                              <a:ea typeface="Cambria Math" panose="02040503050406030204" pitchFamily="18" charset="0"/>
                            </a:rPr>
                            <m:t>𝜹</m:t>
                          </m:r>
                        </m:e>
                        <m:sub>
                          <m:d>
                            <m:dPr>
                              <m:begChr m:val="{"/>
                              <m:endChr m:val="}"/>
                              <m:ctrlPr>
                                <a:rPr lang="fr-FR" sz="2800" b="1" i="1" smtClean="0">
                                  <a:latin typeface="Cambria Math" panose="02040503050406030204" pitchFamily="18" charset="0"/>
                                  <a:ea typeface="Cambria Math" panose="02040503050406030204" pitchFamily="18" charset="0"/>
                                </a:rPr>
                              </m:ctrlPr>
                            </m:dPr>
                            <m:e>
                              <m:r>
                                <a:rPr lang="fr-FR" sz="2800" b="1" i="1" smtClean="0">
                                  <a:latin typeface="Cambria Math" panose="02040503050406030204" pitchFamily="18" charset="0"/>
                                  <a:ea typeface="Cambria Math" panose="02040503050406030204" pitchFamily="18" charset="0"/>
                                </a:rPr>
                                <m:t>𝒊𝒋</m:t>
                              </m:r>
                            </m:e>
                          </m:d>
                        </m:sub>
                      </m:sSub>
                      <m:r>
                        <a:rPr lang="fr-FR" sz="2800" b="1" i="1" smtClean="0">
                          <a:latin typeface="Cambria Math" panose="02040503050406030204" pitchFamily="18" charset="0"/>
                        </a:rPr>
                        <m:t> −</m:t>
                      </m:r>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𝒔</m:t>
                          </m:r>
                        </m:e>
                        <m:sub>
                          <m:r>
                            <a:rPr lang="fr-FR" sz="2800" b="1" i="1" smtClean="0">
                              <a:latin typeface="Cambria Math" panose="02040503050406030204" pitchFamily="18" charset="0"/>
                            </a:rPr>
                            <m:t>𝒋</m:t>
                          </m:r>
                        </m:sub>
                      </m:sSub>
                      <m:r>
                        <a:rPr lang="fr-FR" sz="2800" b="1" i="1" smtClean="0">
                          <a:latin typeface="Cambria Math" panose="02040503050406030204" pitchFamily="18" charset="0"/>
                        </a:rPr>
                        <m:t>))</m:t>
                      </m:r>
                    </m:oMath>
                  </m:oMathPara>
                </a14:m>
                <a:endParaRPr lang="en-GB" sz="2800" b="1" dirty="0"/>
              </a:p>
            </p:txBody>
          </p:sp>
        </mc:Choice>
        <mc:Fallback xmlns="">
          <p:sp>
            <p:nvSpPr>
              <p:cNvPr id="8" name="ZoneTexte 7">
                <a:extLst>
                  <a:ext uri="{FF2B5EF4-FFF2-40B4-BE49-F238E27FC236}">
                    <a16:creationId xmlns:a16="http://schemas.microsoft.com/office/drawing/2014/main" id="{09B4CFE4-AF6D-8CF9-ABA8-AB9F9397892E}"/>
                  </a:ext>
                </a:extLst>
              </p:cNvPr>
              <p:cNvSpPr txBox="1">
                <a:spLocks noRot="1" noChangeAspect="1" noMove="1" noResize="1" noEditPoints="1" noAdjustHandles="1" noChangeArrowheads="1" noChangeShapeType="1" noTextEdit="1"/>
              </p:cNvSpPr>
              <p:nvPr/>
            </p:nvSpPr>
            <p:spPr>
              <a:xfrm>
                <a:off x="845132" y="4464379"/>
                <a:ext cx="8326582" cy="1331005"/>
              </a:xfrm>
              <a:prstGeom prst="rect">
                <a:avLst/>
              </a:prstGeom>
              <a:blipFill>
                <a:blip r:embed="rId5"/>
                <a:stretch>
                  <a:fillRect l="-457" r="-457" b="-188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1DE8856A-4A54-49F6-2DA8-8955E0E395E9}"/>
                  </a:ext>
                </a:extLst>
              </p:cNvPr>
              <p:cNvSpPr txBox="1"/>
              <p:nvPr/>
            </p:nvSpPr>
            <p:spPr>
              <a:xfrm>
                <a:off x="6767945" y="5671987"/>
                <a:ext cx="4114800" cy="32508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fr-FR" sz="1400" i="1" smtClean="0">
                              <a:solidFill>
                                <a:schemeClr val="bg1">
                                  <a:lumMod val="50000"/>
                                </a:schemeClr>
                              </a:solidFill>
                              <a:latin typeface="Cambria Math" panose="02040503050406030204" pitchFamily="18" charset="0"/>
                              <a:ea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ea typeface="Cambria Math" panose="02040503050406030204" pitchFamily="18" charset="0"/>
                            </a:rPr>
                            <m:t>𝑤h𝑒𝑟𝑒</m:t>
                          </m:r>
                          <m:r>
                            <a:rPr lang="fr-FR" sz="1400" b="0" i="1" smtClean="0">
                              <a:solidFill>
                                <a:schemeClr val="bg1">
                                  <a:lumMod val="50000"/>
                                </a:schemeClr>
                              </a:solidFill>
                              <a:latin typeface="Cambria Math" panose="02040503050406030204" pitchFamily="18" charset="0"/>
                              <a:ea typeface="Cambria Math" panose="02040503050406030204" pitchFamily="18" charset="0"/>
                            </a:rPr>
                            <m:t> </m:t>
                          </m:r>
                          <m:r>
                            <a:rPr lang="fr-FR" sz="1400" b="0" i="1" smtClean="0">
                              <a:solidFill>
                                <a:schemeClr val="bg1">
                                  <a:lumMod val="50000"/>
                                </a:schemeClr>
                              </a:solidFill>
                              <a:latin typeface="Cambria Math" panose="02040503050406030204" pitchFamily="18" charset="0"/>
                              <a:ea typeface="Cambria Math" panose="02040503050406030204" pitchFamily="18" charset="0"/>
                            </a:rPr>
                            <m:t>𝛿</m:t>
                          </m:r>
                        </m:e>
                        <m:sub>
                          <m:d>
                            <m:dPr>
                              <m:begChr m:val="{"/>
                              <m:endChr m:val="}"/>
                              <m:ctrlPr>
                                <a:rPr lang="fr-FR" sz="1400" i="1" smtClean="0">
                                  <a:solidFill>
                                    <a:schemeClr val="bg1">
                                      <a:lumMod val="50000"/>
                                    </a:schemeClr>
                                  </a:solidFill>
                                  <a:latin typeface="Cambria Math" panose="02040503050406030204" pitchFamily="18" charset="0"/>
                                  <a:ea typeface="Cambria Math" panose="02040503050406030204" pitchFamily="18" charset="0"/>
                                </a:rPr>
                              </m:ctrlPr>
                            </m:dPr>
                            <m:e>
                              <m:r>
                                <a:rPr lang="fr-FR" sz="1400" b="0" i="1" smtClean="0">
                                  <a:solidFill>
                                    <a:schemeClr val="bg1">
                                      <a:lumMod val="50000"/>
                                    </a:schemeClr>
                                  </a:solidFill>
                                  <a:latin typeface="Cambria Math" panose="02040503050406030204" pitchFamily="18" charset="0"/>
                                  <a:ea typeface="Cambria Math" panose="02040503050406030204" pitchFamily="18" charset="0"/>
                                </a:rPr>
                                <m:t>𝑖𝑗</m:t>
                              </m:r>
                            </m:e>
                          </m:d>
                        </m:sub>
                      </m:sSub>
                      <m:r>
                        <a:rPr lang="fr-FR" sz="1400" b="0" i="1" smtClean="0">
                          <a:solidFill>
                            <a:schemeClr val="bg1">
                              <a:lumMod val="50000"/>
                            </a:schemeClr>
                          </a:solidFill>
                          <a:latin typeface="Cambria Math" panose="02040503050406030204" pitchFamily="18" charset="0"/>
                          <a:ea typeface="Cambria Math" panose="02040503050406030204" pitchFamily="18" charset="0"/>
                        </a:rPr>
                        <m:t> </m:t>
                      </m:r>
                      <m:r>
                        <a:rPr lang="fr-FR" sz="1400" b="0" i="1" smtClean="0">
                          <a:solidFill>
                            <a:schemeClr val="bg1">
                              <a:lumMod val="50000"/>
                            </a:schemeClr>
                          </a:solidFill>
                          <a:latin typeface="Cambria Math" panose="02040503050406030204" pitchFamily="18" charset="0"/>
                          <a:ea typeface="Cambria Math" panose="02040503050406030204" pitchFamily="18" charset="0"/>
                        </a:rPr>
                        <m:t>𝑖𝑠</m:t>
                      </m:r>
                      <m:r>
                        <a:rPr lang="fr-FR" sz="1400" b="0" i="1" smtClean="0">
                          <a:solidFill>
                            <a:schemeClr val="bg1">
                              <a:lumMod val="50000"/>
                            </a:schemeClr>
                          </a:solidFill>
                          <a:latin typeface="Cambria Math" panose="02040503050406030204" pitchFamily="18" charset="0"/>
                          <a:ea typeface="Cambria Math" panose="02040503050406030204" pitchFamily="18" charset="0"/>
                        </a:rPr>
                        <m:t> </m:t>
                      </m:r>
                      <m:r>
                        <a:rPr lang="fr-FR" sz="1400" b="0" i="1" smtClean="0">
                          <a:solidFill>
                            <a:schemeClr val="bg1">
                              <a:lumMod val="50000"/>
                            </a:schemeClr>
                          </a:solidFill>
                          <a:latin typeface="Cambria Math" panose="02040503050406030204" pitchFamily="18" charset="0"/>
                          <a:ea typeface="Cambria Math" panose="02040503050406030204" pitchFamily="18" charset="0"/>
                        </a:rPr>
                        <m:t>𝑡h𝑒</m:t>
                      </m:r>
                      <m:r>
                        <a:rPr lang="fr-FR" sz="1400" b="0" i="1" smtClean="0">
                          <a:solidFill>
                            <a:schemeClr val="bg1">
                              <a:lumMod val="50000"/>
                            </a:schemeClr>
                          </a:solidFill>
                          <a:latin typeface="Cambria Math" panose="02040503050406030204" pitchFamily="18" charset="0"/>
                          <a:ea typeface="Cambria Math" panose="02040503050406030204" pitchFamily="18" charset="0"/>
                        </a:rPr>
                        <m:t> </m:t>
                      </m:r>
                      <m:r>
                        <a:rPr lang="fr-FR" sz="1400" b="0" i="1" smtClean="0">
                          <a:solidFill>
                            <a:schemeClr val="bg1">
                              <a:lumMod val="50000"/>
                            </a:schemeClr>
                          </a:solidFill>
                          <a:latin typeface="Cambria Math" panose="02040503050406030204" pitchFamily="18" charset="0"/>
                          <a:ea typeface="Cambria Math" panose="02040503050406030204" pitchFamily="18" charset="0"/>
                        </a:rPr>
                        <m:t>𝐾𝑟𝑜𝑛𝑒𝑐𝑘𝑒𝑟</m:t>
                      </m:r>
                      <m:r>
                        <a:rPr lang="fr-FR" sz="1400" b="0" i="1" smtClean="0">
                          <a:solidFill>
                            <a:schemeClr val="bg1">
                              <a:lumMod val="50000"/>
                            </a:schemeClr>
                          </a:solidFill>
                          <a:latin typeface="Cambria Math" panose="02040503050406030204" pitchFamily="18" charset="0"/>
                          <a:ea typeface="Cambria Math" panose="02040503050406030204" pitchFamily="18" charset="0"/>
                        </a:rPr>
                        <m:t> </m:t>
                      </m:r>
                      <m:r>
                        <a:rPr lang="fr-FR" sz="1400" b="0" i="1" smtClean="0">
                          <a:solidFill>
                            <a:schemeClr val="bg1">
                              <a:lumMod val="50000"/>
                            </a:schemeClr>
                          </a:solidFill>
                          <a:latin typeface="Cambria Math" panose="02040503050406030204" pitchFamily="18" charset="0"/>
                          <a:ea typeface="Cambria Math" panose="02040503050406030204" pitchFamily="18" charset="0"/>
                        </a:rPr>
                        <m:t>𝑑𝑒𝑙𝑡𝑎</m:t>
                      </m:r>
                    </m:oMath>
                  </m:oMathPara>
                </a14:m>
                <a:endParaRPr lang="en-GB" sz="1400" dirty="0">
                  <a:solidFill>
                    <a:schemeClr val="bg1">
                      <a:lumMod val="50000"/>
                    </a:schemeClr>
                  </a:solidFill>
                </a:endParaRPr>
              </a:p>
            </p:txBody>
          </p:sp>
        </mc:Choice>
        <mc:Fallback xmlns="">
          <p:sp>
            <p:nvSpPr>
              <p:cNvPr id="10" name="ZoneTexte 9">
                <a:extLst>
                  <a:ext uri="{FF2B5EF4-FFF2-40B4-BE49-F238E27FC236}">
                    <a16:creationId xmlns:a16="http://schemas.microsoft.com/office/drawing/2014/main" id="{1DE8856A-4A54-49F6-2DA8-8955E0E395E9}"/>
                  </a:ext>
                </a:extLst>
              </p:cNvPr>
              <p:cNvSpPr txBox="1">
                <a:spLocks noRot="1" noChangeAspect="1" noMove="1" noResize="1" noEditPoints="1" noAdjustHandles="1" noChangeArrowheads="1" noChangeShapeType="1" noTextEdit="1"/>
              </p:cNvSpPr>
              <p:nvPr/>
            </p:nvSpPr>
            <p:spPr>
              <a:xfrm>
                <a:off x="6767945" y="5671987"/>
                <a:ext cx="4114800" cy="325089"/>
              </a:xfrm>
              <a:prstGeom prst="rect">
                <a:avLst/>
              </a:prstGeom>
              <a:blipFill>
                <a:blip r:embed="rId6"/>
                <a:stretch>
                  <a:fillRect b="-3704"/>
                </a:stretch>
              </a:blipFill>
            </p:spPr>
            <p:txBody>
              <a:bodyPr/>
              <a:lstStyle/>
              <a:p>
                <a:r>
                  <a:rPr lang="en-GB">
                    <a:noFill/>
                  </a:rPr>
                  <a:t> </a:t>
                </a:r>
              </a:p>
            </p:txBody>
          </p:sp>
        </mc:Fallback>
      </mc:AlternateContent>
    </p:spTree>
    <p:extLst>
      <p:ext uri="{BB962C8B-B14F-4D97-AF65-F5344CB8AC3E}">
        <p14:creationId xmlns:p14="http://schemas.microsoft.com/office/powerpoint/2010/main" val="2599219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E9D8C-BFAF-F130-1FB4-8EBB2956B71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560C1DE-A644-6C0F-85AC-127E12D69A6A}"/>
              </a:ext>
            </a:extLst>
          </p:cNvPr>
          <p:cNvSpPr>
            <a:spLocks noGrp="1"/>
          </p:cNvSpPr>
          <p:nvPr>
            <p:ph type="title"/>
          </p:nvPr>
        </p:nvSpPr>
        <p:spPr/>
        <p:txBody>
          <a:bodyPr/>
          <a:lstStyle/>
          <a:p>
            <a:r>
              <a:rPr lang="fr-FR" dirty="0"/>
              <a:t>Neural Network</a:t>
            </a:r>
          </a:p>
        </p:txBody>
      </p:sp>
      <mc:AlternateContent xmlns:mc="http://schemas.openxmlformats.org/markup-compatibility/2006" xmlns:a14="http://schemas.microsoft.com/office/drawing/2010/main">
        <mc:Choice Requires="a14">
          <p:sp>
            <p:nvSpPr>
              <p:cNvPr id="49" name="ZoneTexte 48">
                <a:extLst>
                  <a:ext uri="{FF2B5EF4-FFF2-40B4-BE49-F238E27FC236}">
                    <a16:creationId xmlns:a16="http://schemas.microsoft.com/office/drawing/2014/main" id="{378092D0-688F-F7FC-482F-185262C86A02}"/>
                  </a:ext>
                </a:extLst>
              </p:cNvPr>
              <p:cNvSpPr txBox="1"/>
              <p:nvPr/>
            </p:nvSpPr>
            <p:spPr>
              <a:xfrm>
                <a:off x="746050" y="2310102"/>
                <a:ext cx="4674779" cy="9142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2400" b="0" i="1" smtClean="0">
                              <a:latin typeface="Cambria Math" panose="02040503050406030204" pitchFamily="18" charset="0"/>
                            </a:rPr>
                          </m:ctrlPr>
                        </m:sSubPr>
                        <m:e>
                          <m:r>
                            <a:rPr lang="fr-FR" sz="2400" b="0" i="1" smtClean="0">
                              <a:latin typeface="Cambria Math" panose="02040503050406030204" pitchFamily="18" charset="0"/>
                            </a:rPr>
                            <m:t>𝑠</m:t>
                          </m:r>
                        </m:e>
                        <m:sub>
                          <m:r>
                            <m:rPr>
                              <m:sty m:val="p"/>
                            </m:rPr>
                            <a:rPr lang="fr-FR" sz="2400" b="0" i="0" smtClean="0">
                              <a:latin typeface="Cambria Math" panose="02040503050406030204" pitchFamily="18" charset="0"/>
                            </a:rPr>
                            <m:t>j</m:t>
                          </m:r>
                        </m:sub>
                      </m:sSub>
                      <m:r>
                        <a:rPr lang="fr-FR" sz="2400" b="0" i="0" smtClean="0">
                          <a:latin typeface="Cambria Math" panose="02040503050406030204" pitchFamily="18" charset="0"/>
                        </a:rPr>
                        <m:t>=</m:t>
                      </m:r>
                      <m:r>
                        <m:rPr>
                          <m:sty m:val="p"/>
                        </m:rPr>
                        <a:rPr lang="fr-FR" sz="2400" b="0" i="0" smtClean="0">
                          <a:latin typeface="Cambria Math" panose="02040503050406030204" pitchFamily="18" charset="0"/>
                        </a:rPr>
                        <m:t>softmax</m:t>
                      </m:r>
                      <m:d>
                        <m:dPr>
                          <m:ctrlPr>
                            <a:rPr lang="fr-FR" sz="2400" i="1" smtClean="0">
                              <a:latin typeface="Cambria Math" panose="02040503050406030204" pitchFamily="18" charset="0"/>
                            </a:rPr>
                          </m:ctrlPr>
                        </m:dPr>
                        <m:e>
                          <m:sSub>
                            <m:sSubPr>
                              <m:ctrlPr>
                                <a:rPr lang="fr-FR" sz="2400" i="1" smtClean="0">
                                  <a:latin typeface="Cambria Math" panose="02040503050406030204" pitchFamily="18" charset="0"/>
                                </a:rPr>
                              </m:ctrlPr>
                            </m:sSubPr>
                            <m:e>
                              <m:r>
                                <a:rPr lang="fr-FR" sz="2400" b="0" i="1" smtClean="0">
                                  <a:latin typeface="Cambria Math" panose="02040503050406030204" pitchFamily="18" charset="0"/>
                                </a:rPr>
                                <m:t>𝑧</m:t>
                              </m:r>
                            </m:e>
                            <m:sub>
                              <m:r>
                                <a:rPr lang="fr-FR" sz="2400" b="0" i="1" smtClean="0">
                                  <a:latin typeface="Cambria Math" panose="02040503050406030204" pitchFamily="18" charset="0"/>
                                </a:rPr>
                                <m:t>𝑗</m:t>
                              </m:r>
                            </m:sub>
                          </m:sSub>
                        </m:e>
                      </m:d>
                      <m:r>
                        <a:rPr lang="fr-FR" sz="2400" b="0" i="1" smtClean="0">
                          <a:latin typeface="Cambria Math" panose="02040503050406030204" pitchFamily="18" charset="0"/>
                        </a:rPr>
                        <m:t>= </m:t>
                      </m:r>
                      <m:f>
                        <m:fPr>
                          <m:ctrlPr>
                            <a:rPr lang="fr-FR" sz="2400" i="1" smtClean="0">
                              <a:latin typeface="Cambria Math" panose="02040503050406030204" pitchFamily="18" charset="0"/>
                            </a:rPr>
                          </m:ctrlPr>
                        </m:fPr>
                        <m:num>
                          <m:r>
                            <m:rPr>
                              <m:sty m:val="p"/>
                            </m:rPr>
                            <a:rPr lang="fr-FR" sz="2400" b="0" i="1">
                              <a:latin typeface="Cambria Math" panose="02040503050406030204" pitchFamily="18" charset="0"/>
                            </a:rPr>
                            <m:t>exp</m:t>
                          </m:r>
                          <m:r>
                            <a:rPr lang="fr-FR" sz="2400" b="0" i="1">
                              <a:latin typeface="Cambria Math" panose="02040503050406030204" pitchFamily="18" charset="0"/>
                            </a:rPr>
                            <m:t>⁡(</m:t>
                          </m:r>
                          <m:sSub>
                            <m:sSubPr>
                              <m:ctrlPr>
                                <a:rPr lang="fr-FR" sz="2400" i="1" smtClean="0">
                                  <a:latin typeface="Cambria Math" panose="02040503050406030204" pitchFamily="18" charset="0"/>
                                </a:rPr>
                              </m:ctrlPr>
                            </m:sSubPr>
                            <m:e>
                              <m:r>
                                <a:rPr lang="fr-FR" sz="2400" b="0" i="1" smtClean="0">
                                  <a:latin typeface="Cambria Math" panose="02040503050406030204" pitchFamily="18" charset="0"/>
                                </a:rPr>
                                <m:t>𝑧</m:t>
                              </m:r>
                            </m:e>
                            <m:sub>
                              <m:r>
                                <a:rPr lang="fr-FR" sz="2400" b="0" i="1" smtClean="0">
                                  <a:latin typeface="Cambria Math" panose="02040503050406030204" pitchFamily="18" charset="0"/>
                                </a:rPr>
                                <m:t>𝑗</m:t>
                              </m:r>
                            </m:sub>
                          </m:sSub>
                          <m:r>
                            <a:rPr lang="fr-FR" sz="2400" b="0" i="1">
                              <a:latin typeface="Cambria Math" panose="02040503050406030204" pitchFamily="18" charset="0"/>
                            </a:rPr>
                            <m:t>)</m:t>
                          </m:r>
                        </m:num>
                        <m:den>
                          <m:nary>
                            <m:naryPr>
                              <m:chr m:val="∑"/>
                              <m:ctrlPr>
                                <a:rPr lang="fr-FR" sz="2400" i="1" smtClean="0">
                                  <a:latin typeface="Cambria Math" panose="02040503050406030204" pitchFamily="18" charset="0"/>
                                </a:rPr>
                              </m:ctrlPr>
                            </m:naryPr>
                            <m:sub>
                              <m:r>
                                <a:rPr lang="fr-FR" sz="2400" b="0" i="1">
                                  <a:latin typeface="Cambria Math" panose="02040503050406030204" pitchFamily="18" charset="0"/>
                                </a:rPr>
                                <m:t>𝑖</m:t>
                              </m:r>
                              <m:r>
                                <a:rPr lang="fr-FR" sz="2400" b="0" i="1">
                                  <a:latin typeface="Cambria Math" panose="02040503050406030204" pitchFamily="18" charset="0"/>
                                </a:rPr>
                                <m:t>=1</m:t>
                              </m:r>
                            </m:sub>
                            <m:sup>
                              <m:r>
                                <a:rPr lang="fr-FR" sz="2400" b="0" i="1">
                                  <a:latin typeface="Cambria Math" panose="02040503050406030204" pitchFamily="18" charset="0"/>
                                </a:rPr>
                                <m:t>𝑘</m:t>
                              </m:r>
                            </m:sup>
                            <m:e>
                              <m:r>
                                <m:rPr>
                                  <m:sty m:val="p"/>
                                </m:rPr>
                                <a:rPr lang="fr-FR" sz="2400" b="0" i="1">
                                  <a:latin typeface="Cambria Math" panose="02040503050406030204" pitchFamily="18" charset="0"/>
                                </a:rPr>
                                <m:t>exp</m:t>
                              </m:r>
                              <m:r>
                                <a:rPr lang="fr-FR" sz="2400" b="0" i="1">
                                  <a:latin typeface="Cambria Math" panose="02040503050406030204" pitchFamily="18" charset="0"/>
                                </a:rPr>
                                <m:t>⁡(</m:t>
                              </m:r>
                              <m:sSub>
                                <m:sSubPr>
                                  <m:ctrlPr>
                                    <a:rPr lang="fr-FR" sz="2400" i="1">
                                      <a:latin typeface="Cambria Math" panose="02040503050406030204" pitchFamily="18" charset="0"/>
                                    </a:rPr>
                                  </m:ctrlPr>
                                </m:sSubPr>
                                <m:e>
                                  <m:r>
                                    <a:rPr lang="fr-FR" sz="2400" b="0" i="1" smtClean="0">
                                      <a:latin typeface="Cambria Math" panose="02040503050406030204" pitchFamily="18" charset="0"/>
                                    </a:rPr>
                                    <m:t>𝑧</m:t>
                                  </m:r>
                                </m:e>
                                <m:sub>
                                  <m:r>
                                    <a:rPr lang="fr-FR" sz="2400" b="0" i="1" smtClean="0">
                                      <a:latin typeface="Cambria Math" panose="02040503050406030204" pitchFamily="18" charset="0"/>
                                    </a:rPr>
                                    <m:t>𝑖</m:t>
                                  </m:r>
                                </m:sub>
                              </m:sSub>
                              <m:r>
                                <a:rPr lang="fr-FR" sz="2400" b="0" i="1">
                                  <a:latin typeface="Cambria Math" panose="02040503050406030204" pitchFamily="18" charset="0"/>
                                </a:rPr>
                                <m:t>)</m:t>
                              </m:r>
                            </m:e>
                          </m:nary>
                        </m:den>
                      </m:f>
                      <m:r>
                        <a:rPr lang="fr-FR" sz="2400" b="0" i="1" smtClean="0">
                          <a:latin typeface="Cambria Math" panose="02040503050406030204" pitchFamily="18" charset="0"/>
                        </a:rPr>
                        <m:t> </m:t>
                      </m:r>
                    </m:oMath>
                  </m:oMathPara>
                </a14:m>
                <a:endParaRPr lang="fr-FR" sz="2400" dirty="0"/>
              </a:p>
            </p:txBody>
          </p:sp>
        </mc:Choice>
        <mc:Fallback xmlns="">
          <p:sp>
            <p:nvSpPr>
              <p:cNvPr id="49" name="ZoneTexte 48">
                <a:extLst>
                  <a:ext uri="{FF2B5EF4-FFF2-40B4-BE49-F238E27FC236}">
                    <a16:creationId xmlns:a16="http://schemas.microsoft.com/office/drawing/2014/main" id="{378092D0-688F-F7FC-482F-185262C86A02}"/>
                  </a:ext>
                </a:extLst>
              </p:cNvPr>
              <p:cNvSpPr txBox="1">
                <a:spLocks noRot="1" noChangeAspect="1" noMove="1" noResize="1" noEditPoints="1" noAdjustHandles="1" noChangeArrowheads="1" noChangeShapeType="1" noTextEdit="1"/>
              </p:cNvSpPr>
              <p:nvPr/>
            </p:nvSpPr>
            <p:spPr>
              <a:xfrm>
                <a:off x="746050" y="2310102"/>
                <a:ext cx="4674779" cy="914289"/>
              </a:xfrm>
              <a:prstGeom prst="rect">
                <a:avLst/>
              </a:prstGeom>
              <a:blipFill>
                <a:blip r:embed="rId3"/>
                <a:stretch>
                  <a:fillRect t="-17808" b="-95890"/>
                </a:stretch>
              </a:blipFill>
            </p:spPr>
            <p:txBody>
              <a:bodyPr/>
              <a:lstStyle/>
              <a:p>
                <a:r>
                  <a:rPr lang="en-GB">
                    <a:noFill/>
                  </a:rPr>
                  <a:t> </a:t>
                </a:r>
              </a:p>
            </p:txBody>
          </p:sp>
        </mc:Fallback>
      </mc:AlternateContent>
      <p:sp>
        <p:nvSpPr>
          <p:cNvPr id="12" name="ZoneTexte 11">
            <a:extLst>
              <a:ext uri="{FF2B5EF4-FFF2-40B4-BE49-F238E27FC236}">
                <a16:creationId xmlns:a16="http://schemas.microsoft.com/office/drawing/2014/main" id="{282D2AD9-C976-0331-CD6C-5C0965C28F1A}"/>
              </a:ext>
            </a:extLst>
          </p:cNvPr>
          <p:cNvSpPr txBox="1"/>
          <p:nvPr/>
        </p:nvSpPr>
        <p:spPr>
          <a:xfrm>
            <a:off x="746050" y="1515270"/>
            <a:ext cx="10515599" cy="584775"/>
          </a:xfrm>
          <a:prstGeom prst="rect">
            <a:avLst/>
          </a:prstGeom>
          <a:noFill/>
        </p:spPr>
        <p:txBody>
          <a:bodyPr wrap="square" rtlCol="0">
            <a:spAutoFit/>
          </a:bodyPr>
          <a:lstStyle/>
          <a:p>
            <a:r>
              <a:rPr lang="en-GB" sz="3200" b="1" noProof="0" dirty="0"/>
              <a:t>Softmax function </a:t>
            </a:r>
            <a:r>
              <a:rPr lang="en-GB" sz="2400" noProof="0" dirty="0"/>
              <a:t>(generalization of the sigmoid function)</a:t>
            </a:r>
            <a:endParaRPr lang="en-GB" sz="3200" noProof="0" dirty="0"/>
          </a:p>
        </p:txBody>
      </p:sp>
      <p:sp>
        <p:nvSpPr>
          <p:cNvPr id="4" name="Espace réservé du pied de page 3">
            <a:extLst>
              <a:ext uri="{FF2B5EF4-FFF2-40B4-BE49-F238E27FC236}">
                <a16:creationId xmlns:a16="http://schemas.microsoft.com/office/drawing/2014/main" id="{5C9A1D73-D5CE-514D-93D1-88348B144431}"/>
              </a:ext>
            </a:extLst>
          </p:cNvPr>
          <p:cNvSpPr>
            <a:spLocks noGrp="1"/>
          </p:cNvSpPr>
          <p:nvPr>
            <p:ph type="ftr" sz="quarter" idx="11"/>
          </p:nvPr>
        </p:nvSpPr>
        <p:spPr/>
        <p:txBody>
          <a:bodyPr/>
          <a:lstStyle/>
          <a:p>
            <a:r>
              <a:rPr lang="fr-FR"/>
              <a:t>Introduction to Neural Networks. Author: David Thébault</a:t>
            </a:r>
          </a:p>
        </p:txBody>
      </p:sp>
      <p:sp>
        <p:nvSpPr>
          <p:cNvPr id="5" name="ZoneTexte 4">
            <a:extLst>
              <a:ext uri="{FF2B5EF4-FFF2-40B4-BE49-F238E27FC236}">
                <a16:creationId xmlns:a16="http://schemas.microsoft.com/office/drawing/2014/main" id="{2C8ADD87-BFA6-4D94-927D-ED0241C2D4E1}"/>
              </a:ext>
            </a:extLst>
          </p:cNvPr>
          <p:cNvSpPr txBox="1"/>
          <p:nvPr/>
        </p:nvSpPr>
        <p:spPr>
          <a:xfrm>
            <a:off x="838200" y="3680372"/>
            <a:ext cx="5101856" cy="584775"/>
          </a:xfrm>
          <a:prstGeom prst="rect">
            <a:avLst/>
          </a:prstGeom>
          <a:noFill/>
        </p:spPr>
        <p:txBody>
          <a:bodyPr wrap="square" rtlCol="0">
            <a:spAutoFit/>
          </a:bodyPr>
          <a:lstStyle/>
          <a:p>
            <a:r>
              <a:rPr lang="en-GB" sz="3200" b="1" noProof="0" dirty="0"/>
              <a:t>Softmax Gradient</a:t>
            </a: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5D848251-11B4-219B-E7AF-7734D176E743}"/>
                  </a:ext>
                </a:extLst>
              </p:cNvPr>
              <p:cNvSpPr txBox="1"/>
              <p:nvPr/>
            </p:nvSpPr>
            <p:spPr>
              <a:xfrm>
                <a:off x="6767945" y="2494751"/>
                <a:ext cx="3231658" cy="738664"/>
              </a:xfrm>
              <a:prstGeom prst="rect">
                <a:avLst/>
              </a:prstGeom>
              <a:noFill/>
            </p:spPr>
            <p:txBody>
              <a:bodyPr wrap="square" rtlCol="0">
                <a:spAutoFit/>
              </a:bodyPr>
              <a:lstStyle/>
              <a:p>
                <a:r>
                  <a:rPr lang="en-GB" sz="1400" b="0" i="1" dirty="0">
                    <a:solidFill>
                      <a:schemeClr val="bg1">
                        <a:lumMod val="50000"/>
                      </a:schemeClr>
                    </a:solidFill>
                    <a:latin typeface="Cambria Math" panose="02040503050406030204" pitchFamily="18" charset="0"/>
                  </a:rPr>
                  <a:t>With</a:t>
                </a:r>
                <a:r>
                  <a:rPr lang="fr-FR" sz="1400" b="0" i="1" dirty="0">
                    <a:solidFill>
                      <a:schemeClr val="bg1">
                        <a:lumMod val="50000"/>
                      </a:schemeClr>
                    </a:solidFill>
                    <a:latin typeface="Cambria Math" panose="02040503050406030204" pitchFamily="18" charset="0"/>
                  </a:rPr>
                  <a:t>:</a:t>
                </a:r>
              </a:p>
              <a:p>
                <a:pPr marL="285750" indent="-285750">
                  <a:buFont typeface="Arial" panose="020B0604020202020204" pitchFamily="34" charset="0"/>
                  <a:buChar char="•"/>
                </a:pPr>
                <a14:m>
                  <m:oMath xmlns:m="http://schemas.openxmlformats.org/officeDocument/2006/math">
                    <m:r>
                      <a:rPr lang="fr-FR" sz="1400" b="0" i="1" smtClean="0">
                        <a:solidFill>
                          <a:schemeClr val="bg1">
                            <a:lumMod val="50000"/>
                          </a:schemeClr>
                        </a:solidFill>
                        <a:latin typeface="Cambria Math" panose="02040503050406030204" pitchFamily="18" charset="0"/>
                      </a:rPr>
                      <m:t>𝑗</m:t>
                    </m:r>
                    <m:r>
                      <a:rPr lang="fr-FR" sz="1400" b="0" i="1" smtClean="0">
                        <a:solidFill>
                          <a:schemeClr val="bg1">
                            <a:lumMod val="50000"/>
                          </a:schemeClr>
                        </a:solidFill>
                        <a:latin typeface="Cambria Math" panose="02040503050406030204" pitchFamily="18" charset="0"/>
                      </a:rPr>
                      <m:t>=1,…,</m:t>
                    </m:r>
                    <m:r>
                      <a:rPr lang="fr-FR" sz="1400" b="0" i="1" smtClean="0">
                        <a:solidFill>
                          <a:schemeClr val="bg1">
                            <a:lumMod val="50000"/>
                          </a:schemeClr>
                        </a:solidFill>
                        <a:latin typeface="Cambria Math" panose="02040503050406030204" pitchFamily="18" charset="0"/>
                      </a:rPr>
                      <m:t>𝑛</m:t>
                    </m:r>
                    <m:r>
                      <a:rPr lang="fr-FR" sz="1400" b="0" i="1" smtClean="0">
                        <a:solidFill>
                          <a:schemeClr val="bg1">
                            <a:lumMod val="50000"/>
                          </a:schemeClr>
                        </a:solidFill>
                        <a:latin typeface="Cambria Math" panose="02040503050406030204" pitchFamily="18" charset="0"/>
                      </a:rPr>
                      <m:t> </m:t>
                    </m:r>
                    <m:r>
                      <a:rPr lang="fr-FR" sz="1400" b="0" i="1" smtClean="0">
                        <a:solidFill>
                          <a:schemeClr val="bg1">
                            <a:lumMod val="50000"/>
                          </a:schemeClr>
                        </a:solidFill>
                        <a:latin typeface="Cambria Math" panose="02040503050406030204" pitchFamily="18" charset="0"/>
                      </a:rPr>
                      <m:t>𝑖𝑛𝑠𝑡𝑎𝑛𝑐𝑒𝑠</m:t>
                    </m:r>
                    <m:r>
                      <a:rPr lang="fr-FR" sz="1400" b="0" i="1" smtClean="0">
                        <a:solidFill>
                          <a:schemeClr val="bg1">
                            <a:lumMod val="50000"/>
                          </a:schemeClr>
                        </a:solidFill>
                        <a:latin typeface="Cambria Math" panose="02040503050406030204" pitchFamily="18" charset="0"/>
                      </a:rPr>
                      <m:t> </m:t>
                    </m:r>
                  </m:oMath>
                </a14:m>
                <a:endParaRPr lang="fr-FR" sz="1400" b="0" i="1" dirty="0">
                  <a:solidFill>
                    <a:schemeClr val="bg1">
                      <a:lumMod val="50000"/>
                    </a:schemeClr>
                  </a:solidFill>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fr-FR" sz="1400" b="0" i="1" smtClean="0">
                        <a:solidFill>
                          <a:schemeClr val="bg1">
                            <a:lumMod val="50000"/>
                          </a:schemeClr>
                        </a:solidFill>
                        <a:latin typeface="Cambria Math" panose="02040503050406030204" pitchFamily="18" charset="0"/>
                      </a:rPr>
                      <m:t>𝑘</m:t>
                    </m:r>
                    <m:r>
                      <a:rPr lang="fr-FR" sz="1400" b="0" i="1" smtClean="0">
                        <a:solidFill>
                          <a:schemeClr val="bg1">
                            <a:lumMod val="50000"/>
                          </a:schemeClr>
                        </a:solidFill>
                        <a:latin typeface="Cambria Math" panose="02040503050406030204" pitchFamily="18" charset="0"/>
                      </a:rPr>
                      <m:t> </m:t>
                    </m:r>
                    <m:r>
                      <a:rPr lang="fr-FR" sz="1400" b="0" i="1" smtClean="0">
                        <a:solidFill>
                          <a:schemeClr val="bg1">
                            <a:lumMod val="50000"/>
                          </a:schemeClr>
                        </a:solidFill>
                        <a:latin typeface="Cambria Math" panose="02040503050406030204" pitchFamily="18" charset="0"/>
                      </a:rPr>
                      <m:t>𝑡h𝑒</m:t>
                    </m:r>
                    <m:r>
                      <a:rPr lang="fr-FR" sz="1400" b="0" i="1" smtClean="0">
                        <a:solidFill>
                          <a:schemeClr val="bg1">
                            <a:lumMod val="50000"/>
                          </a:schemeClr>
                        </a:solidFill>
                        <a:latin typeface="Cambria Math" panose="02040503050406030204" pitchFamily="18" charset="0"/>
                      </a:rPr>
                      <m:t> </m:t>
                    </m:r>
                    <m:r>
                      <a:rPr lang="fr-FR" sz="1400" b="0" i="1" smtClean="0">
                        <a:solidFill>
                          <a:schemeClr val="bg1">
                            <a:lumMod val="50000"/>
                          </a:schemeClr>
                        </a:solidFill>
                        <a:latin typeface="Cambria Math" panose="02040503050406030204" pitchFamily="18" charset="0"/>
                      </a:rPr>
                      <m:t>𝑛𝑢𝑚𝑏𝑒𝑟</m:t>
                    </m:r>
                    <m:r>
                      <a:rPr lang="fr-FR" sz="1400" b="0" i="1" smtClean="0">
                        <a:solidFill>
                          <a:schemeClr val="bg1">
                            <a:lumMod val="50000"/>
                          </a:schemeClr>
                        </a:solidFill>
                        <a:latin typeface="Cambria Math" panose="02040503050406030204" pitchFamily="18" charset="0"/>
                      </a:rPr>
                      <m:t> </m:t>
                    </m:r>
                    <m:r>
                      <a:rPr lang="fr-FR" sz="1400" b="0" i="1" smtClean="0">
                        <a:solidFill>
                          <a:schemeClr val="bg1">
                            <a:lumMod val="50000"/>
                          </a:schemeClr>
                        </a:solidFill>
                        <a:latin typeface="Cambria Math" panose="02040503050406030204" pitchFamily="18" charset="0"/>
                      </a:rPr>
                      <m:t>𝑜𝑓</m:t>
                    </m:r>
                    <m:r>
                      <a:rPr lang="fr-FR" sz="1400" b="0" i="1" smtClean="0">
                        <a:solidFill>
                          <a:schemeClr val="bg1">
                            <a:lumMod val="50000"/>
                          </a:schemeClr>
                        </a:solidFill>
                        <a:latin typeface="Cambria Math" panose="02040503050406030204" pitchFamily="18" charset="0"/>
                      </a:rPr>
                      <m:t> </m:t>
                    </m:r>
                    <m:r>
                      <a:rPr lang="fr-FR" sz="1400" b="0" i="1" smtClean="0">
                        <a:solidFill>
                          <a:schemeClr val="bg1">
                            <a:lumMod val="50000"/>
                          </a:schemeClr>
                        </a:solidFill>
                        <a:latin typeface="Cambria Math" panose="02040503050406030204" pitchFamily="18" charset="0"/>
                      </a:rPr>
                      <m:t>𝑐𝑙𝑎𝑠𝑠𝑒𝑠</m:t>
                    </m:r>
                  </m:oMath>
                </a14:m>
                <a:endParaRPr lang="fr-FR" sz="1400" b="0" dirty="0">
                  <a:solidFill>
                    <a:schemeClr val="bg1">
                      <a:lumMod val="50000"/>
                    </a:schemeClr>
                  </a:solidFill>
                </a:endParaRPr>
              </a:p>
            </p:txBody>
          </p:sp>
        </mc:Choice>
        <mc:Fallback xmlns="">
          <p:sp>
            <p:nvSpPr>
              <p:cNvPr id="7" name="ZoneTexte 6">
                <a:extLst>
                  <a:ext uri="{FF2B5EF4-FFF2-40B4-BE49-F238E27FC236}">
                    <a16:creationId xmlns:a16="http://schemas.microsoft.com/office/drawing/2014/main" id="{5D848251-11B4-219B-E7AF-7734D176E743}"/>
                  </a:ext>
                </a:extLst>
              </p:cNvPr>
              <p:cNvSpPr txBox="1">
                <a:spLocks noRot="1" noChangeAspect="1" noMove="1" noResize="1" noEditPoints="1" noAdjustHandles="1" noChangeArrowheads="1" noChangeShapeType="1" noTextEdit="1"/>
              </p:cNvSpPr>
              <p:nvPr/>
            </p:nvSpPr>
            <p:spPr>
              <a:xfrm>
                <a:off x="6767945" y="2494751"/>
                <a:ext cx="3231658" cy="738664"/>
              </a:xfrm>
              <a:prstGeom prst="rect">
                <a:avLst/>
              </a:prstGeom>
              <a:blipFill>
                <a:blip r:embed="rId4"/>
                <a:stretch>
                  <a:fillRect l="-391" t="-1695" b="-678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ACA2CC2E-D075-92CF-FBEB-FF755CA4F110}"/>
                  </a:ext>
                </a:extLst>
              </p:cNvPr>
              <p:cNvSpPr txBox="1"/>
              <p:nvPr/>
            </p:nvSpPr>
            <p:spPr>
              <a:xfrm>
                <a:off x="845132" y="4464379"/>
                <a:ext cx="8326582" cy="13310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𝑱</m:t>
                          </m:r>
                          <m:r>
                            <a:rPr lang="fr-FR" sz="2800" b="1" i="1" smtClean="0">
                              <a:latin typeface="Cambria Math" panose="02040503050406030204" pitchFamily="18" charset="0"/>
                            </a:rPr>
                            <m:t>=</m:t>
                          </m:r>
                          <m:d>
                            <m:dPr>
                              <m:ctrlPr>
                                <a:rPr lang="fr-FR" sz="2800" b="1" i="1" smtClean="0">
                                  <a:latin typeface="Cambria Math" panose="02040503050406030204" pitchFamily="18" charset="0"/>
                                </a:rPr>
                              </m:ctrlPr>
                            </m:dPr>
                            <m:e>
                              <m:m>
                                <m:mPr>
                                  <m:mcs>
                                    <m:mc>
                                      <m:mcPr>
                                        <m:count m:val="3"/>
                                        <m:mcJc m:val="center"/>
                                      </m:mcPr>
                                    </m:mc>
                                  </m:mcs>
                                  <m:ctrlPr>
                                    <a:rPr lang="fr-FR" sz="2800" b="1" i="1" smtClean="0">
                                      <a:latin typeface="Cambria Math" panose="02040503050406030204" pitchFamily="18" charset="0"/>
                                    </a:rPr>
                                  </m:ctrlPr>
                                </m:mPr>
                                <m:mr>
                                  <m:e>
                                    <m:sSub>
                                      <m:sSubPr>
                                        <m:ctrlPr>
                                          <a:rPr lang="fr-FR" sz="2800" b="1" i="1" smtClean="0">
                                            <a:latin typeface="Cambria Math" panose="02040503050406030204" pitchFamily="18" charset="0"/>
                                          </a:rPr>
                                        </m:ctrlPr>
                                      </m:sSubPr>
                                      <m:e>
                                        <m:r>
                                          <m:rPr>
                                            <m:brk m:alnAt="7"/>
                                          </m:rPr>
                                          <a:rPr lang="fr-FR" sz="2800" b="1" i="1" smtClean="0">
                                            <a:latin typeface="Cambria Math" panose="02040503050406030204" pitchFamily="18" charset="0"/>
                                          </a:rPr>
                                          <m:t>𝒔</m:t>
                                        </m:r>
                                      </m:e>
                                      <m:sub>
                                        <m:r>
                                          <a:rPr lang="fr-FR" sz="2800" b="1" i="1" smtClean="0">
                                            <a:latin typeface="Cambria Math" panose="02040503050406030204" pitchFamily="18" charset="0"/>
                                          </a:rPr>
                                          <m:t>𝟏</m:t>
                                        </m:r>
                                      </m:sub>
                                    </m:sSub>
                                    <m:d>
                                      <m:dPr>
                                        <m:ctrlPr>
                                          <a:rPr lang="fr-FR" sz="2800" b="1" i="1" smtClean="0">
                                            <a:latin typeface="Cambria Math" panose="02040503050406030204" pitchFamily="18" charset="0"/>
                                          </a:rPr>
                                        </m:ctrlPr>
                                      </m:dPr>
                                      <m:e>
                                        <m:r>
                                          <m:rPr>
                                            <m:brk m:alnAt="7"/>
                                          </m:rPr>
                                          <a:rPr lang="fr-FR" sz="2800" b="1" i="1" smtClean="0">
                                            <a:latin typeface="Cambria Math" panose="02040503050406030204" pitchFamily="18" charset="0"/>
                                          </a:rPr>
                                          <m:t>𝟏</m:t>
                                        </m:r>
                                        <m:r>
                                          <a:rPr lang="fr-FR" sz="2800" b="1" i="1" smtClean="0">
                                            <a:latin typeface="Cambria Math" panose="02040503050406030204" pitchFamily="18" charset="0"/>
                                          </a:rPr>
                                          <m:t>−</m:t>
                                        </m:r>
                                        <m:sSub>
                                          <m:sSubPr>
                                            <m:ctrlPr>
                                              <a:rPr lang="fr-FR" sz="2800" b="1" i="1" smtClean="0">
                                                <a:latin typeface="Cambria Math" panose="02040503050406030204" pitchFamily="18" charset="0"/>
                                              </a:rPr>
                                            </m:ctrlPr>
                                          </m:sSubPr>
                                          <m:e>
                                            <m:r>
                                              <m:rPr>
                                                <m:brk m:alnAt="7"/>
                                              </m:rPr>
                                              <a:rPr lang="fr-FR" sz="2800" b="1" i="1" smtClean="0">
                                                <a:latin typeface="Cambria Math" panose="02040503050406030204" pitchFamily="18" charset="0"/>
                                              </a:rPr>
                                              <m:t>𝒔</m:t>
                                            </m:r>
                                          </m:e>
                                          <m:sub>
                                            <m:r>
                                              <a:rPr lang="fr-FR" sz="2800" b="1" i="1" smtClean="0">
                                                <a:latin typeface="Cambria Math" panose="02040503050406030204" pitchFamily="18" charset="0"/>
                                              </a:rPr>
                                              <m:t>𝟏</m:t>
                                            </m:r>
                                          </m:sub>
                                        </m:sSub>
                                      </m:e>
                                    </m:d>
                                  </m:e>
                                  <m:e>
                                    <m:r>
                                      <a:rPr lang="fr-FR" sz="2800" b="1" i="1" smtClean="0">
                                        <a:latin typeface="Cambria Math" panose="02040503050406030204" pitchFamily="18" charset="0"/>
                                      </a:rPr>
                                      <m:t>⋯</m:t>
                                    </m:r>
                                  </m:e>
                                  <m:e>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m:t>
                                        </m:r>
                                        <m:r>
                                          <a:rPr lang="fr-FR" sz="2800" b="1" i="1" smtClean="0">
                                            <a:latin typeface="Cambria Math" panose="02040503050406030204" pitchFamily="18" charset="0"/>
                                          </a:rPr>
                                          <m:t>𝒔</m:t>
                                        </m:r>
                                      </m:e>
                                      <m:sub>
                                        <m:r>
                                          <a:rPr lang="fr-FR" sz="2800" b="1" i="1" smtClean="0">
                                            <a:latin typeface="Cambria Math" panose="02040503050406030204" pitchFamily="18" charset="0"/>
                                          </a:rPr>
                                          <m:t>𝟏</m:t>
                                        </m:r>
                                      </m:sub>
                                    </m:sSub>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𝒔</m:t>
                                        </m:r>
                                      </m:e>
                                      <m:sub>
                                        <m:r>
                                          <a:rPr lang="fr-FR" sz="2800" b="1" i="1" smtClean="0">
                                            <a:latin typeface="Cambria Math" panose="02040503050406030204" pitchFamily="18" charset="0"/>
                                          </a:rPr>
                                          <m:t>𝒌</m:t>
                                        </m:r>
                                      </m:sub>
                                    </m:sSub>
                                  </m:e>
                                </m:mr>
                                <m:mr>
                                  <m:e>
                                    <m:r>
                                      <a:rPr lang="fr-FR" sz="2800" b="1" i="1" smtClean="0">
                                        <a:latin typeface="Cambria Math" panose="02040503050406030204" pitchFamily="18" charset="0"/>
                                      </a:rPr>
                                      <m:t>⋮</m:t>
                                    </m:r>
                                  </m:e>
                                  <m:e>
                                    <m:r>
                                      <a:rPr lang="fr-FR" sz="2800" b="1" i="1" smtClean="0">
                                        <a:latin typeface="Cambria Math" panose="02040503050406030204" pitchFamily="18" charset="0"/>
                                      </a:rPr>
                                      <m:t>⋱</m:t>
                                    </m:r>
                                  </m:e>
                                  <m:e>
                                    <m:r>
                                      <a:rPr lang="fr-FR" sz="2800" b="1" i="1" smtClean="0">
                                        <a:latin typeface="Cambria Math" panose="02040503050406030204" pitchFamily="18" charset="0"/>
                                      </a:rPr>
                                      <m:t>⋮</m:t>
                                    </m:r>
                                  </m:e>
                                </m:mr>
                                <m:mr>
                                  <m:e>
                                    <m:r>
                                      <a:rPr lang="fr-FR" sz="2800" b="1" i="1" smtClean="0">
                                        <a:latin typeface="Cambria Math" panose="02040503050406030204" pitchFamily="18" charset="0"/>
                                      </a:rPr>
                                      <m:t>−</m:t>
                                    </m:r>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𝒔</m:t>
                                        </m:r>
                                      </m:e>
                                      <m:sub>
                                        <m:r>
                                          <a:rPr lang="fr-FR" sz="2800" b="1" i="1" smtClean="0">
                                            <a:latin typeface="Cambria Math" panose="02040503050406030204" pitchFamily="18" charset="0"/>
                                          </a:rPr>
                                          <m:t>𝒌</m:t>
                                        </m:r>
                                      </m:sub>
                                    </m:sSub>
                                    <m:r>
                                      <a:rPr lang="fr-FR" sz="2800" b="1" i="1" smtClean="0">
                                        <a:latin typeface="Cambria Math" panose="02040503050406030204" pitchFamily="18" charset="0"/>
                                      </a:rPr>
                                      <m:t>𝒔</m:t>
                                    </m:r>
                                    <m:r>
                                      <a:rPr lang="fr-FR" sz="2800" b="1" i="1" smtClean="0">
                                        <a:latin typeface="Cambria Math" panose="02040503050406030204" pitchFamily="18" charset="0"/>
                                      </a:rPr>
                                      <m:t>𝟏</m:t>
                                    </m:r>
                                  </m:e>
                                  <m:e>
                                    <m:r>
                                      <a:rPr lang="fr-FR" sz="2800" b="1" i="1" smtClean="0">
                                        <a:latin typeface="Cambria Math" panose="02040503050406030204" pitchFamily="18" charset="0"/>
                                      </a:rPr>
                                      <m:t>⋯</m:t>
                                    </m:r>
                                  </m:e>
                                  <m:e>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𝒔</m:t>
                                        </m:r>
                                      </m:e>
                                      <m:sub>
                                        <m:r>
                                          <a:rPr lang="fr-FR" sz="2800" b="1" i="1" smtClean="0">
                                            <a:latin typeface="Cambria Math" panose="02040503050406030204" pitchFamily="18" charset="0"/>
                                          </a:rPr>
                                          <m:t>𝒌</m:t>
                                        </m:r>
                                      </m:sub>
                                    </m:sSub>
                                    <m:d>
                                      <m:dPr>
                                        <m:ctrlPr>
                                          <a:rPr lang="fr-FR" sz="2800" b="1" i="1" smtClean="0">
                                            <a:latin typeface="Cambria Math" panose="02040503050406030204" pitchFamily="18" charset="0"/>
                                          </a:rPr>
                                        </m:ctrlPr>
                                      </m:dPr>
                                      <m:e>
                                        <m:r>
                                          <a:rPr lang="fr-FR" sz="2800" b="1" i="1" smtClean="0">
                                            <a:latin typeface="Cambria Math" panose="02040503050406030204" pitchFamily="18" charset="0"/>
                                          </a:rPr>
                                          <m:t>𝟏</m:t>
                                        </m:r>
                                        <m:r>
                                          <a:rPr lang="fr-FR" sz="2800" b="1" i="1" smtClean="0">
                                            <a:latin typeface="Cambria Math" panose="02040503050406030204" pitchFamily="18" charset="0"/>
                                          </a:rPr>
                                          <m:t>−</m:t>
                                        </m:r>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𝒔</m:t>
                                            </m:r>
                                          </m:e>
                                          <m:sub>
                                            <m:r>
                                              <a:rPr lang="fr-FR" sz="2800" b="1" i="1" smtClean="0">
                                                <a:latin typeface="Cambria Math" panose="02040503050406030204" pitchFamily="18" charset="0"/>
                                              </a:rPr>
                                              <m:t>𝒌</m:t>
                                            </m:r>
                                          </m:sub>
                                        </m:sSub>
                                      </m:e>
                                    </m:d>
                                  </m:e>
                                </m:mr>
                              </m:m>
                            </m:e>
                          </m:d>
                          <m:r>
                            <a:rPr lang="fr-FR" sz="2800" b="1" i="1" smtClean="0">
                              <a:latin typeface="Cambria Math" panose="02040503050406030204" pitchFamily="18" charset="0"/>
                            </a:rPr>
                            <m:t>=(</m:t>
                          </m:r>
                          <m:r>
                            <a:rPr lang="fr-FR" sz="2800" b="1" i="1" smtClean="0">
                              <a:latin typeface="Cambria Math" panose="02040503050406030204" pitchFamily="18" charset="0"/>
                            </a:rPr>
                            <m:t>𝒔</m:t>
                          </m:r>
                        </m:e>
                        <m:sub>
                          <m:r>
                            <a:rPr lang="fr-FR" sz="2800" b="1" i="1" smtClean="0">
                              <a:latin typeface="Cambria Math" panose="02040503050406030204" pitchFamily="18" charset="0"/>
                            </a:rPr>
                            <m:t>𝒊</m:t>
                          </m:r>
                        </m:sub>
                      </m:sSub>
                      <m:r>
                        <a:rPr lang="fr-FR" sz="2800" b="1" i="1" smtClean="0">
                          <a:latin typeface="Cambria Math" panose="02040503050406030204" pitchFamily="18" charset="0"/>
                        </a:rPr>
                        <m:t>(</m:t>
                      </m:r>
                      <m:sSub>
                        <m:sSubPr>
                          <m:ctrlPr>
                            <a:rPr lang="fr-FR" sz="2800" b="1" i="1" smtClean="0">
                              <a:latin typeface="Cambria Math" panose="02040503050406030204" pitchFamily="18" charset="0"/>
                              <a:ea typeface="Cambria Math" panose="02040503050406030204" pitchFamily="18" charset="0"/>
                            </a:rPr>
                          </m:ctrlPr>
                        </m:sSubPr>
                        <m:e>
                          <m:r>
                            <a:rPr lang="fr-FR" sz="2800" b="1" i="1" smtClean="0">
                              <a:latin typeface="Cambria Math" panose="02040503050406030204" pitchFamily="18" charset="0"/>
                              <a:ea typeface="Cambria Math" panose="02040503050406030204" pitchFamily="18" charset="0"/>
                            </a:rPr>
                            <m:t>𝜹</m:t>
                          </m:r>
                        </m:e>
                        <m:sub>
                          <m:d>
                            <m:dPr>
                              <m:begChr m:val="{"/>
                              <m:endChr m:val="}"/>
                              <m:ctrlPr>
                                <a:rPr lang="fr-FR" sz="2800" b="1" i="1" smtClean="0">
                                  <a:latin typeface="Cambria Math" panose="02040503050406030204" pitchFamily="18" charset="0"/>
                                  <a:ea typeface="Cambria Math" panose="02040503050406030204" pitchFamily="18" charset="0"/>
                                </a:rPr>
                              </m:ctrlPr>
                            </m:dPr>
                            <m:e>
                              <m:r>
                                <a:rPr lang="fr-FR" sz="2800" b="1" i="1" smtClean="0">
                                  <a:latin typeface="Cambria Math" panose="02040503050406030204" pitchFamily="18" charset="0"/>
                                  <a:ea typeface="Cambria Math" panose="02040503050406030204" pitchFamily="18" charset="0"/>
                                </a:rPr>
                                <m:t>𝒊𝒋</m:t>
                              </m:r>
                            </m:e>
                          </m:d>
                        </m:sub>
                      </m:sSub>
                      <m:r>
                        <a:rPr lang="fr-FR" sz="2800" b="1" i="1" smtClean="0">
                          <a:latin typeface="Cambria Math" panose="02040503050406030204" pitchFamily="18" charset="0"/>
                        </a:rPr>
                        <m:t> −</m:t>
                      </m:r>
                      <m:sSub>
                        <m:sSubPr>
                          <m:ctrlPr>
                            <a:rPr lang="fr-FR" sz="2800" b="1" i="1" smtClean="0">
                              <a:latin typeface="Cambria Math" panose="02040503050406030204" pitchFamily="18" charset="0"/>
                            </a:rPr>
                          </m:ctrlPr>
                        </m:sSubPr>
                        <m:e>
                          <m:r>
                            <a:rPr lang="fr-FR" sz="2800" b="1" i="1" smtClean="0">
                              <a:latin typeface="Cambria Math" panose="02040503050406030204" pitchFamily="18" charset="0"/>
                            </a:rPr>
                            <m:t>𝒔</m:t>
                          </m:r>
                        </m:e>
                        <m:sub>
                          <m:r>
                            <a:rPr lang="fr-FR" sz="2800" b="1" i="1" smtClean="0">
                              <a:latin typeface="Cambria Math" panose="02040503050406030204" pitchFamily="18" charset="0"/>
                            </a:rPr>
                            <m:t>𝒋</m:t>
                          </m:r>
                        </m:sub>
                      </m:sSub>
                      <m:r>
                        <a:rPr lang="fr-FR" sz="2800" b="1" i="1" smtClean="0">
                          <a:latin typeface="Cambria Math" panose="02040503050406030204" pitchFamily="18" charset="0"/>
                        </a:rPr>
                        <m:t>))</m:t>
                      </m:r>
                    </m:oMath>
                  </m:oMathPara>
                </a14:m>
                <a:endParaRPr lang="en-GB" sz="2800" b="1" dirty="0"/>
              </a:p>
            </p:txBody>
          </p:sp>
        </mc:Choice>
        <mc:Fallback xmlns="">
          <p:sp>
            <p:nvSpPr>
              <p:cNvPr id="8" name="ZoneTexte 7">
                <a:extLst>
                  <a:ext uri="{FF2B5EF4-FFF2-40B4-BE49-F238E27FC236}">
                    <a16:creationId xmlns:a16="http://schemas.microsoft.com/office/drawing/2014/main" id="{ACA2CC2E-D075-92CF-FBEB-FF755CA4F110}"/>
                  </a:ext>
                </a:extLst>
              </p:cNvPr>
              <p:cNvSpPr txBox="1">
                <a:spLocks noRot="1" noChangeAspect="1" noMove="1" noResize="1" noEditPoints="1" noAdjustHandles="1" noChangeArrowheads="1" noChangeShapeType="1" noTextEdit="1"/>
              </p:cNvSpPr>
              <p:nvPr/>
            </p:nvSpPr>
            <p:spPr>
              <a:xfrm>
                <a:off x="845132" y="4464379"/>
                <a:ext cx="8326582" cy="1331005"/>
              </a:xfrm>
              <a:prstGeom prst="rect">
                <a:avLst/>
              </a:prstGeom>
              <a:blipFill>
                <a:blip r:embed="rId5"/>
                <a:stretch>
                  <a:fillRect l="-457" r="-457" b="-188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74CE20D5-8B77-ADAA-06ED-47DEFF956B03}"/>
                  </a:ext>
                </a:extLst>
              </p:cNvPr>
              <p:cNvSpPr txBox="1"/>
              <p:nvPr/>
            </p:nvSpPr>
            <p:spPr>
              <a:xfrm>
                <a:off x="6767945" y="5671987"/>
                <a:ext cx="4114800" cy="32508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fr-FR" sz="1400" i="1" smtClean="0">
                              <a:solidFill>
                                <a:schemeClr val="bg1">
                                  <a:lumMod val="50000"/>
                                </a:schemeClr>
                              </a:solidFill>
                              <a:latin typeface="Cambria Math" panose="02040503050406030204" pitchFamily="18" charset="0"/>
                              <a:ea typeface="Cambria Math" panose="02040503050406030204" pitchFamily="18" charset="0"/>
                            </a:rPr>
                          </m:ctrlPr>
                        </m:sSubPr>
                        <m:e>
                          <m:r>
                            <a:rPr lang="fr-FR" sz="1400" b="0" i="1" smtClean="0">
                              <a:solidFill>
                                <a:schemeClr val="bg1">
                                  <a:lumMod val="50000"/>
                                </a:schemeClr>
                              </a:solidFill>
                              <a:latin typeface="Cambria Math" panose="02040503050406030204" pitchFamily="18" charset="0"/>
                              <a:ea typeface="Cambria Math" panose="02040503050406030204" pitchFamily="18" charset="0"/>
                            </a:rPr>
                            <m:t>𝑤h𝑒𝑟𝑒</m:t>
                          </m:r>
                          <m:r>
                            <a:rPr lang="fr-FR" sz="1400" b="0" i="1" smtClean="0">
                              <a:solidFill>
                                <a:schemeClr val="bg1">
                                  <a:lumMod val="50000"/>
                                </a:schemeClr>
                              </a:solidFill>
                              <a:latin typeface="Cambria Math" panose="02040503050406030204" pitchFamily="18" charset="0"/>
                              <a:ea typeface="Cambria Math" panose="02040503050406030204" pitchFamily="18" charset="0"/>
                            </a:rPr>
                            <m:t> </m:t>
                          </m:r>
                          <m:r>
                            <a:rPr lang="fr-FR" sz="1400" b="0" i="1" smtClean="0">
                              <a:solidFill>
                                <a:schemeClr val="bg1">
                                  <a:lumMod val="50000"/>
                                </a:schemeClr>
                              </a:solidFill>
                              <a:latin typeface="Cambria Math" panose="02040503050406030204" pitchFamily="18" charset="0"/>
                              <a:ea typeface="Cambria Math" panose="02040503050406030204" pitchFamily="18" charset="0"/>
                            </a:rPr>
                            <m:t>𝛿</m:t>
                          </m:r>
                        </m:e>
                        <m:sub>
                          <m:d>
                            <m:dPr>
                              <m:begChr m:val="{"/>
                              <m:endChr m:val="}"/>
                              <m:ctrlPr>
                                <a:rPr lang="fr-FR" sz="1400" i="1" smtClean="0">
                                  <a:solidFill>
                                    <a:schemeClr val="bg1">
                                      <a:lumMod val="50000"/>
                                    </a:schemeClr>
                                  </a:solidFill>
                                  <a:latin typeface="Cambria Math" panose="02040503050406030204" pitchFamily="18" charset="0"/>
                                  <a:ea typeface="Cambria Math" panose="02040503050406030204" pitchFamily="18" charset="0"/>
                                </a:rPr>
                              </m:ctrlPr>
                            </m:dPr>
                            <m:e>
                              <m:r>
                                <a:rPr lang="fr-FR" sz="1400" b="0" i="1" smtClean="0">
                                  <a:solidFill>
                                    <a:schemeClr val="bg1">
                                      <a:lumMod val="50000"/>
                                    </a:schemeClr>
                                  </a:solidFill>
                                  <a:latin typeface="Cambria Math" panose="02040503050406030204" pitchFamily="18" charset="0"/>
                                  <a:ea typeface="Cambria Math" panose="02040503050406030204" pitchFamily="18" charset="0"/>
                                </a:rPr>
                                <m:t>𝑖𝑗</m:t>
                              </m:r>
                            </m:e>
                          </m:d>
                        </m:sub>
                      </m:sSub>
                      <m:r>
                        <a:rPr lang="fr-FR" sz="1400" b="0" i="1" smtClean="0">
                          <a:solidFill>
                            <a:schemeClr val="bg1">
                              <a:lumMod val="50000"/>
                            </a:schemeClr>
                          </a:solidFill>
                          <a:latin typeface="Cambria Math" panose="02040503050406030204" pitchFamily="18" charset="0"/>
                          <a:ea typeface="Cambria Math" panose="02040503050406030204" pitchFamily="18" charset="0"/>
                        </a:rPr>
                        <m:t> </m:t>
                      </m:r>
                      <m:r>
                        <a:rPr lang="fr-FR" sz="1400" b="0" i="1" smtClean="0">
                          <a:solidFill>
                            <a:schemeClr val="bg1">
                              <a:lumMod val="50000"/>
                            </a:schemeClr>
                          </a:solidFill>
                          <a:latin typeface="Cambria Math" panose="02040503050406030204" pitchFamily="18" charset="0"/>
                          <a:ea typeface="Cambria Math" panose="02040503050406030204" pitchFamily="18" charset="0"/>
                        </a:rPr>
                        <m:t>𝑖𝑠</m:t>
                      </m:r>
                      <m:r>
                        <a:rPr lang="fr-FR" sz="1400" b="0" i="1" smtClean="0">
                          <a:solidFill>
                            <a:schemeClr val="bg1">
                              <a:lumMod val="50000"/>
                            </a:schemeClr>
                          </a:solidFill>
                          <a:latin typeface="Cambria Math" panose="02040503050406030204" pitchFamily="18" charset="0"/>
                          <a:ea typeface="Cambria Math" panose="02040503050406030204" pitchFamily="18" charset="0"/>
                        </a:rPr>
                        <m:t> </m:t>
                      </m:r>
                      <m:r>
                        <a:rPr lang="fr-FR" sz="1400" b="0" i="1" smtClean="0">
                          <a:solidFill>
                            <a:schemeClr val="bg1">
                              <a:lumMod val="50000"/>
                            </a:schemeClr>
                          </a:solidFill>
                          <a:latin typeface="Cambria Math" panose="02040503050406030204" pitchFamily="18" charset="0"/>
                          <a:ea typeface="Cambria Math" panose="02040503050406030204" pitchFamily="18" charset="0"/>
                        </a:rPr>
                        <m:t>𝑡h𝑒</m:t>
                      </m:r>
                      <m:r>
                        <a:rPr lang="fr-FR" sz="1400" b="0" i="1" smtClean="0">
                          <a:solidFill>
                            <a:schemeClr val="bg1">
                              <a:lumMod val="50000"/>
                            </a:schemeClr>
                          </a:solidFill>
                          <a:latin typeface="Cambria Math" panose="02040503050406030204" pitchFamily="18" charset="0"/>
                          <a:ea typeface="Cambria Math" panose="02040503050406030204" pitchFamily="18" charset="0"/>
                        </a:rPr>
                        <m:t> </m:t>
                      </m:r>
                      <m:r>
                        <a:rPr lang="fr-FR" sz="1400" b="0" i="1" smtClean="0">
                          <a:solidFill>
                            <a:schemeClr val="bg1">
                              <a:lumMod val="50000"/>
                            </a:schemeClr>
                          </a:solidFill>
                          <a:latin typeface="Cambria Math" panose="02040503050406030204" pitchFamily="18" charset="0"/>
                          <a:ea typeface="Cambria Math" panose="02040503050406030204" pitchFamily="18" charset="0"/>
                        </a:rPr>
                        <m:t>𝐾𝑟𝑜𝑛𝑒𝑐𝑘𝑒𝑟</m:t>
                      </m:r>
                      <m:r>
                        <a:rPr lang="fr-FR" sz="1400" b="0" i="1" smtClean="0">
                          <a:solidFill>
                            <a:schemeClr val="bg1">
                              <a:lumMod val="50000"/>
                            </a:schemeClr>
                          </a:solidFill>
                          <a:latin typeface="Cambria Math" panose="02040503050406030204" pitchFamily="18" charset="0"/>
                          <a:ea typeface="Cambria Math" panose="02040503050406030204" pitchFamily="18" charset="0"/>
                        </a:rPr>
                        <m:t> </m:t>
                      </m:r>
                      <m:r>
                        <a:rPr lang="fr-FR" sz="1400" b="0" i="1" smtClean="0">
                          <a:solidFill>
                            <a:schemeClr val="bg1">
                              <a:lumMod val="50000"/>
                            </a:schemeClr>
                          </a:solidFill>
                          <a:latin typeface="Cambria Math" panose="02040503050406030204" pitchFamily="18" charset="0"/>
                          <a:ea typeface="Cambria Math" panose="02040503050406030204" pitchFamily="18" charset="0"/>
                        </a:rPr>
                        <m:t>𝑑𝑒𝑙𝑡𝑎</m:t>
                      </m:r>
                    </m:oMath>
                  </m:oMathPara>
                </a14:m>
                <a:endParaRPr lang="en-GB" sz="1400" dirty="0">
                  <a:solidFill>
                    <a:schemeClr val="bg1">
                      <a:lumMod val="50000"/>
                    </a:schemeClr>
                  </a:solidFill>
                </a:endParaRPr>
              </a:p>
            </p:txBody>
          </p:sp>
        </mc:Choice>
        <mc:Fallback xmlns="">
          <p:sp>
            <p:nvSpPr>
              <p:cNvPr id="10" name="ZoneTexte 9">
                <a:extLst>
                  <a:ext uri="{FF2B5EF4-FFF2-40B4-BE49-F238E27FC236}">
                    <a16:creationId xmlns:a16="http://schemas.microsoft.com/office/drawing/2014/main" id="{74CE20D5-8B77-ADAA-06ED-47DEFF956B03}"/>
                  </a:ext>
                </a:extLst>
              </p:cNvPr>
              <p:cNvSpPr txBox="1">
                <a:spLocks noRot="1" noChangeAspect="1" noMove="1" noResize="1" noEditPoints="1" noAdjustHandles="1" noChangeArrowheads="1" noChangeShapeType="1" noTextEdit="1"/>
              </p:cNvSpPr>
              <p:nvPr/>
            </p:nvSpPr>
            <p:spPr>
              <a:xfrm>
                <a:off x="6767945" y="5671987"/>
                <a:ext cx="4114800" cy="325089"/>
              </a:xfrm>
              <a:prstGeom prst="rect">
                <a:avLst/>
              </a:prstGeom>
              <a:blipFill>
                <a:blip r:embed="rId6"/>
                <a:stretch>
                  <a:fillRect b="-3704"/>
                </a:stretch>
              </a:blipFill>
            </p:spPr>
            <p:txBody>
              <a:bodyPr/>
              <a:lstStyle/>
              <a:p>
                <a:r>
                  <a:rPr lang="en-GB">
                    <a:noFill/>
                  </a:rPr>
                  <a:t> </a:t>
                </a:r>
              </a:p>
            </p:txBody>
          </p:sp>
        </mc:Fallback>
      </mc:AlternateContent>
    </p:spTree>
    <p:extLst>
      <p:ext uri="{BB962C8B-B14F-4D97-AF65-F5344CB8AC3E}">
        <p14:creationId xmlns:p14="http://schemas.microsoft.com/office/powerpoint/2010/main" val="180350778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12747</TotalTime>
  <Words>779</Words>
  <Application>Microsoft Macintosh PowerPoint</Application>
  <PresentationFormat>Grand écran</PresentationFormat>
  <Paragraphs>130</Paragraphs>
  <Slides>12</Slides>
  <Notes>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12</vt:i4>
      </vt:variant>
    </vt:vector>
  </HeadingPairs>
  <TitlesOfParts>
    <vt:vector size="17" baseType="lpstr">
      <vt:lpstr>Aptos</vt:lpstr>
      <vt:lpstr>Aptos Display</vt:lpstr>
      <vt:lpstr>Arial</vt:lpstr>
      <vt:lpstr>Cambria Math</vt:lpstr>
      <vt:lpstr>Thème Office</vt:lpstr>
      <vt:lpstr>Activation functions</vt:lpstr>
      <vt:lpstr>Sigmoid function</vt:lpstr>
      <vt:lpstr>Hyperbolic tangent function</vt:lpstr>
      <vt:lpstr>Relu function</vt:lpstr>
      <vt:lpstr>Leaky Relu</vt:lpstr>
      <vt:lpstr>Exponential Linear Unit (ELU)</vt:lpstr>
      <vt:lpstr>What to pick-up ?</vt:lpstr>
      <vt:lpstr>Appendices</vt:lpstr>
      <vt:lpstr>Neural Network</vt:lpstr>
      <vt:lpstr>Neural Network</vt:lpstr>
      <vt:lpstr>Neural Network</vt:lpstr>
      <vt:lpstr>Neural Network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THEBAULT</dc:creator>
  <cp:lastModifiedBy>David THEBAULT</cp:lastModifiedBy>
  <cp:revision>76</cp:revision>
  <dcterms:created xsi:type="dcterms:W3CDTF">2024-11-29T21:26:22Z</dcterms:created>
  <dcterms:modified xsi:type="dcterms:W3CDTF">2025-03-08T18:08:23Z</dcterms:modified>
</cp:coreProperties>
</file>