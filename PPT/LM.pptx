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301" r:id="rId4"/>
    <p:sldId id="302" r:id="rId5"/>
    <p:sldId id="303" r:id="rId6"/>
    <p:sldId id="304" r:id="rId7"/>
    <p:sldId id="305" r:id="rId8"/>
    <p:sldId id="306" r:id="rId9"/>
    <p:sldId id="308" r:id="rId10"/>
    <p:sldId id="307" r:id="rId11"/>
    <p:sldId id="309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5"/>
    <p:restoredTop sz="95081"/>
  </p:normalViewPr>
  <p:slideViewPr>
    <p:cSldViewPr snapToGrid="0">
      <p:cViewPr varScale="1">
        <p:scale>
          <a:sx n="210" d="100"/>
          <a:sy n="210" d="100"/>
        </p:scale>
        <p:origin x="1048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1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1ACA-B3B5-2C4B-9EDA-C0BA6CE5D44C}" type="datetimeFigureOut">
              <a:rPr lang="en-GB" smtClean="0"/>
              <a:t>25/07/2026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F5B79-958C-7D41-A64D-F75AF375924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42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Traitement automatique du </a:t>
            </a:r>
            <a:r>
              <a:rPr lang="fr-FR" noProof="0" dirty="0" err="1"/>
              <a:t>language</a:t>
            </a:r>
            <a:r>
              <a:rPr lang="fr-FR" noProof="0" dirty="0"/>
              <a:t> naturel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F5B79-958C-7D41-A64D-F75AF375924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86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617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E1A8-80F1-D689-CCDE-03AC8E23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E0C9F8-2849-D8A6-E0F5-254A60AD1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94ACA1E-5EF6-369F-ED76-DB08A8EE2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8F54AE-3C46-A705-53CC-DCE86DFCF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2308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6DDF-EA8E-CA06-C710-9539F262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EC1CAB-87AD-019E-EAC4-A33E25E90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3A3924-C939-897B-A225-1EEB469D4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069159-DA4C-6BB1-82BE-402257170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8073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38F18-CEAE-CD12-9699-2919F5305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50D76D4-5AEB-8360-9FA6-E1EB85EE4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7FBD3A8-9C21-2BB6-00B5-CA37CF153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B7C539-FBF9-91E9-B287-7AF16DC63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3435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3C60-A45B-98DA-8BA7-02B8D4BB9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188D9DD-E123-3E7D-04BD-490CFC7F9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84F1414-3DC0-9AF0-899A-DAD4CC95F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98A4F22-3732-93F6-FA0F-6D425481D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805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928D7-24DA-27BC-3E5C-AE6AB8019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29336DC-8734-4125-E190-F326CF45C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EC8CAF5-195C-7C01-47E4-947A271D7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9661AF-AE3A-313D-BCBB-57723BA39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9191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7D1C8-BE73-E04D-8B2B-15259AA5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A48F11C-5F88-7DCE-B344-03B26FA36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08AABB-1861-BB1A-CBF1-D9C208299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3D0098-368A-8AC9-F447-0440AFF53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476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24F54-5FA1-D764-CA0F-76FEE44F2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1A66074-12C2-47D6-85CA-F253FD33C8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36575D6-AEC0-C95D-84ED-8F34F526D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5295D26-2DB5-9316-FAA6-4BAAAC17B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504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7FE4E-8F79-AC83-D10A-FC1923CC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368BBF1-64DC-B8AF-B56B-3D5208ABC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DD5372-82F8-A6BF-47D4-5D0406694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6D3E75-1A6B-E8B4-9393-FBFA50E88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678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1156-FAAF-B2DD-0E27-73601739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6EC03C-A3E0-D48E-9CC0-8490AA13E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B5BCFC-8B33-B111-24EF-E778CEBCD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1EB24A-31A0-B068-5ECC-48B128BAE8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E20620-1C2C-7043-8B38-691BB5666C4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512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E638AB-AB44-4F44-785B-96931090D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C5BB094-185D-6C1F-E8E2-02C460A2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48E908-3F7D-BE66-1BAF-48AFA60EB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B0C8F-8E33-7D4B-9DCF-7846A2EEA7BC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DB4057-F791-D7BB-5389-3187C8C9C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80D4BA-190C-14AF-E6BC-1AB74F44D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86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0FE821-2576-9651-58EC-D62A8C7C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5DD06-FC64-CFC1-0A6C-ADC01010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337CA26-36E2-1A7A-72F3-37DF3F8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5EB9-46A4-524F-A835-D669998F01A6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D1542E-D2D1-BB47-00D6-D9B1EF66D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2E8FE9-F73F-DD65-CDEE-D88E626E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6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BC490C-7B6A-CD7C-DA28-04CBFF3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ED621-B471-72E9-02E2-0D472DEA4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63065-521A-5DBC-71F4-DCF6E9D37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56E9-F474-FE40-9628-98DEF26086B4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BED33D-F900-95F1-B4D5-F8803096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D1837B-5DBE-E8E0-5F94-CA65E491E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73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0EB0C-2D6C-A35D-3E38-8EF35B11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9E5493-B0AB-CE62-736C-951FD00FD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308763-2A51-56FC-5374-D7A15ECC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AFD73C-7D06-D51F-510A-3529CF77D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66BB-E4F9-CD47-978F-A29BA084C690}" type="datetime1">
              <a:rPr lang="fr-FR" smtClean="0"/>
              <a:t>25/07/2026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CBF3C5-04D3-9218-12FE-9DE02DD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728E8-0E1D-7809-2E4D-ADCF6F1FF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16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4130B-9370-7883-0717-1BD68A38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848E4E-97DD-6C44-9961-5F656105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EF8ED9-7E68-987E-4801-4FCC154EA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E617C08-B632-10ED-F514-3542580AE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C8005FD-BB5C-7715-9BBB-4652B44B7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8748F56-F980-5498-B88A-57DB85FF4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135E-FA81-C949-BF84-217CF1FED30B}" type="datetime1">
              <a:rPr lang="fr-FR" smtClean="0"/>
              <a:t>25/07/2026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54B50B6-47B3-6075-4EC2-36F65EA1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5A3815-5467-2E89-3A5F-0BA78FAB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9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BDB8EC-5949-E9DB-81BD-1745DCE71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307A441-A698-1837-AC62-4D179787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417FA-B0AE-A046-961D-49ACF96A1E38}" type="datetime1">
              <a:rPr lang="fr-FR" smtClean="0"/>
              <a:t>25/07/2026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C7AD70-E50C-75FF-4C19-8242D663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DA152C5-28E3-1071-CEF8-84E90084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62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017A14-40F9-6437-5261-222B51BEB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370DE-B107-C14C-8AC4-727633FCA810}" type="datetime1">
              <a:rPr lang="fr-FR" smtClean="0"/>
              <a:t>25/07/2026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1AAAE1D-5F91-D7B8-0C07-F57F37D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7FDAD7-2841-DE0C-052B-36858072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155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7B945-B2F7-153C-3391-88D7C31A8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1A287C-1AD2-E80E-E53C-28DCFA7D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B51E35-4073-D78F-44C5-C2143EB0D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7E06BC-CF7C-52F4-A947-C96A2BDBF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79A73-56E1-0847-98C6-1343EC2D8C39}" type="datetime1">
              <a:rPr lang="fr-FR" smtClean="0"/>
              <a:t>25/07/2026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7F41F4-A70C-6EAD-4A46-A5C287EC6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76A87E-FA41-78D4-EC00-5D89984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885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0BC82-6D03-592A-0C8A-8804C8AD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859FD4-01A7-D155-B541-03EAFB59A9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FF0AA2-CEED-722D-EC4B-68D1642CF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7F03BE-E420-E221-39C5-0519A77F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33398-1D35-6544-A2CC-10E1CFDB53BA}" type="datetime1">
              <a:rPr lang="fr-FR" smtClean="0"/>
              <a:t>25/07/2026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8752CD-3356-E07D-5257-BE3F6539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514820-E6C4-F3D4-EE8D-70ABD3B1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61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7F897-700C-3101-5C3C-72A9FF91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882897-D3D4-C2D1-D319-9B718B030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AF124C-E111-5CC6-61AA-889BF1A47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6B707-1D71-774A-9821-01A895ED4CA0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D92984-1579-FADD-F22D-588D62EB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F842A-D66B-0FA6-5EE0-CE72083F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3431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283032-C078-B82A-8633-A57C5B4CA3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5D9928-6925-D028-A1F6-4349D4D4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6365FF-1093-5263-CEC4-A966C0CA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FA1DB-9F39-7549-A1CF-7DB3AA086340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69AAC2-C2B1-D84B-3DA1-7D3688A7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91DF25-B577-4592-5552-5C6F2E8F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0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8E99DA2-E800-51D7-232D-195A1643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CD912A-3146-AFCE-A9CC-E173D878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4607F7-0DF0-ADD6-CDE4-5E5480058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F0546-0615-3E45-8C8A-078A7AEBEBD8}" type="datetime1">
              <a:rPr lang="fr-FR" smtClean="0"/>
              <a:t>25/07/2026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06EDC5-D7F4-E73D-0D3C-F995AEDFF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Introduction to NLP. Author: David Thébault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18EB3C-E203-29A4-64EE-1B7292D3A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0816F-190A-DA4E-84D3-F6FF722C1D33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728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30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8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27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F56B84-BFA1-BA9A-1552-59B724FBA9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Language Models</a:t>
            </a:r>
            <a:br>
              <a:rPr lang="en-GB" noProof="0" dirty="0"/>
            </a:br>
            <a:r>
              <a:rPr lang="en-GB" noProof="0" dirty="0"/>
              <a:t>(LM)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0571C27-E009-ADD7-40B4-859AAF7C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RNN.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1299667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4A8439-9850-DBFA-890A-1A6B7ED1A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336254-BF5B-D5F4-FDE7-9B8877DA5C0C}"/>
              </a:ext>
            </a:extLst>
          </p:cNvPr>
          <p:cNvSpPr txBox="1"/>
          <p:nvPr/>
        </p:nvSpPr>
        <p:spPr>
          <a:xfrm>
            <a:off x="838199" y="1828799"/>
            <a:ext cx="10515600" cy="42062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She spent the day swimming in the ______.</a:t>
            </a:r>
          </a:p>
          <a:p>
            <a:endParaRPr lang="en-GB" sz="2800" b="1" dirty="0">
              <a:latin typeface="ui-sans-serif"/>
            </a:endParaRPr>
          </a:p>
          <a:p>
            <a:endParaRPr lang="en-GB" sz="2800" b="1" dirty="0">
              <a:latin typeface="ui-sans-serif"/>
            </a:endParaRPr>
          </a:p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With highest probability we can predict “lake”, “ocean”</a:t>
            </a:r>
          </a:p>
          <a:p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Language is predictable, some sequences are more probable than others.</a:t>
            </a: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80C3AF8-C45E-CEB2-2A8A-048DF2E7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357513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7E630-6888-D2B3-66D1-C1688E41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0F860-A4FC-8843-1A34-F7BFD0E24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18B38C2-7337-878A-AD70-26F4A197C18B}"/>
                  </a:ext>
                </a:extLst>
              </p:cNvPr>
              <p:cNvSpPr txBox="1"/>
              <p:nvPr/>
            </p:nvSpPr>
            <p:spPr>
              <a:xfrm>
                <a:off x="838199" y="1828799"/>
                <a:ext cx="10515600" cy="4206241"/>
              </a:xfrm>
              <a:prstGeom prst="rect">
                <a:avLst/>
              </a:prstGeom>
              <a:noFill/>
            </p:spPr>
            <p:txBody>
              <a:bodyPr wrap="square" lIns="90000" rtlCol="0">
                <a:noAutofit/>
              </a:bodyPr>
              <a:lstStyle/>
              <a:p>
                <a:r>
                  <a:rPr lang="en-GB" sz="2800" b="1" i="0" u="none" strike="noStrike" dirty="0">
                    <a:effectLst/>
                    <a:latin typeface="ui-sans-serif"/>
                  </a:rPr>
                  <a:t>A language </a:t>
                </a:r>
                <a:r>
                  <a:rPr lang="en-GB" sz="2800" b="1" dirty="0">
                    <a:latin typeface="ui-sans-serif"/>
                  </a:rPr>
                  <a:t>m</a:t>
                </a:r>
                <a:r>
                  <a:rPr lang="en-GB" sz="2800" b="1" i="0" u="none" strike="noStrike" dirty="0">
                    <a:effectLst/>
                    <a:latin typeface="ui-sans-serif"/>
                  </a:rPr>
                  <a:t>odel determines the probability of a sequence of words</a:t>
                </a:r>
              </a:p>
              <a:p>
                <a:endParaRPr lang="en-GB" sz="2800" b="1" dirty="0">
                  <a:latin typeface="ui-sans-serif"/>
                </a:endParaRPr>
              </a:p>
              <a:p>
                <a:endParaRPr lang="en-GB" sz="2800" b="1" dirty="0">
                  <a:latin typeface="ui-sans-serif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« 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𝑜𝑐𝑒𝑎𝑛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» </m:t>
                          </m:r>
                        </m:e>
                      </m:d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𝑠𝑝𝑒𝑛𝑡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𝑑𝑎𝑦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»)=0.6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« 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𝑚𝑖𝑙𝑘𝑠h𝑎𝑘𝑒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» </m:t>
                          </m:r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𝑠h𝑒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𝑠𝑝𝑒𝑛𝑡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𝑑𝑎𝑦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 « 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𝑠𝑤𝑖𝑚𝑚𝑖𝑛𝑔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»,«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𝑖𝑛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», « 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𝑡h𝑒</m:t>
                      </m:r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»)=0.02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fr-FR" sz="20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fr-FR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fr-FR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fr-F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…,</m:t>
                              </m:r>
                              <m:sSub>
                                <m:sSubPr>
                                  <m:ctrlP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20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318B38C2-7337-878A-AD70-26F4A197C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828799"/>
                <a:ext cx="10515600" cy="4206241"/>
              </a:xfrm>
              <a:prstGeom prst="rect">
                <a:avLst/>
              </a:prstGeom>
              <a:blipFill>
                <a:blip r:embed="rId3"/>
                <a:stretch>
                  <a:fillRect l="-1206" t="-1807" b="-195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3ECBDC28-05BE-6112-D47E-49E5829D1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2893147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5DDA-8DEB-0468-0C5B-583FE42D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1759C8-2D8B-5377-D383-1CADA095F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CEB215-7EB2-148C-888C-140E35D8D3DF}"/>
              </a:ext>
            </a:extLst>
          </p:cNvPr>
          <p:cNvSpPr txBox="1"/>
          <p:nvPr/>
        </p:nvSpPr>
        <p:spPr>
          <a:xfrm>
            <a:off x="838199" y="1828799"/>
            <a:ext cx="10515600" cy="42062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A language </a:t>
            </a:r>
            <a:r>
              <a:rPr lang="en-GB" sz="2800" b="1" dirty="0">
                <a:latin typeface="ui-sans-serif"/>
              </a:rPr>
              <a:t>m</a:t>
            </a:r>
            <a:r>
              <a:rPr lang="en-GB" sz="2800" b="1" i="0" u="none" strike="noStrike" dirty="0">
                <a:effectLst/>
                <a:latin typeface="ui-sans-serif"/>
              </a:rPr>
              <a:t>odel determines the probability of a sequence of words</a:t>
            </a:r>
          </a:p>
          <a:p>
            <a:endParaRPr lang="en-GB" sz="2800" b="1" dirty="0">
              <a:latin typeface="ui-sans-serif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Speech recognition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Translation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Auto correct / completion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Text generation</a:t>
            </a:r>
            <a:endParaRPr lang="en-GB" sz="2800" b="1" dirty="0">
              <a:latin typeface="ui-sans-serif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13DD032D-698B-CD75-FF7B-F8EBD66D4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417872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4F786-C634-EEB9-9B9A-BC09623E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7C968-5DB0-8B72-5FEF-14B15A5B8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2DBB670-A062-C29E-0261-8CD7EE9C766F}"/>
              </a:ext>
            </a:extLst>
          </p:cNvPr>
          <p:cNvSpPr txBox="1"/>
          <p:nvPr/>
        </p:nvSpPr>
        <p:spPr>
          <a:xfrm>
            <a:off x="838199" y="1828799"/>
            <a:ext cx="10515600" cy="420624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How to train an RNN based language model ?</a:t>
            </a:r>
          </a:p>
          <a:p>
            <a:endParaRPr lang="en-GB" sz="2800" b="1" dirty="0">
              <a:latin typeface="ui-sans-serif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Training is self-supervised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Corpus segmented into pieces such as chunks or sentences or paragraphs or documents…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Each piece is now one training example</a:t>
            </a: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B0CAC977-5369-3C06-C3F3-267015D8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</p:spTree>
    <p:extLst>
      <p:ext uri="{BB962C8B-B14F-4D97-AF65-F5344CB8AC3E}">
        <p14:creationId xmlns:p14="http://schemas.microsoft.com/office/powerpoint/2010/main" val="348500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2402A-6EF2-C627-C902-59EDD7B18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A41BDF-5EDB-C66F-7175-D3D5BC49D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080623F-0158-A7A1-D5A8-A1D37382072C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How to train an RNN based language model ?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F03B25DD-0328-2832-0E67-26AF2463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812E3F-6F7E-2A86-78A1-807B7698A2B6}"/>
                  </a:ext>
                </a:extLst>
              </p:cNvPr>
              <p:cNvSpPr txBox="1"/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812E3F-6F7E-2A86-78A1-807B7698A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A6025-0E02-1BED-A7ED-E0B57F5CA4DF}"/>
                  </a:ext>
                </a:extLst>
              </p:cNvPr>
              <p:cNvSpPr txBox="1"/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A6025-0E02-1BED-A7ED-E0B57F5CA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blipFill>
                <a:blip r:embed="rId4"/>
                <a:stretch>
                  <a:fillRect l="-14706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E4F79BE-A7F7-0AC4-8C32-C099C9AE5FE5}"/>
              </a:ext>
            </a:extLst>
          </p:cNvPr>
          <p:cNvSpPr/>
          <p:nvPr/>
        </p:nvSpPr>
        <p:spPr>
          <a:xfrm>
            <a:off x="1732008" y="4119541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37EC525-6F6A-2D7D-8EEF-CE238F557323}"/>
              </a:ext>
            </a:extLst>
          </p:cNvPr>
          <p:cNvCxnSpPr>
            <a:cxnSpLocks/>
          </p:cNvCxnSpPr>
          <p:nvPr/>
        </p:nvCxnSpPr>
        <p:spPr>
          <a:xfrm flipV="1">
            <a:off x="2011408" y="384865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ABFE24F-CEA1-BF3C-D010-499A9B3B3C4E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2011408" y="4881541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5490611-160C-FFF8-1AF2-9F41E4AEA8DB}"/>
                  </a:ext>
                </a:extLst>
              </p:cNvPr>
              <p:cNvSpPr txBox="1"/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D5490611-160C-FFF8-1AF2-9F41E4AEA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blipFill>
                <a:blip r:embed="rId5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C0C0ED8-6A30-FBDE-86EA-3428509A2813}"/>
                  </a:ext>
                </a:extLst>
              </p:cNvPr>
              <p:cNvSpPr txBox="1"/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2C0C0ED8-6A30-FBDE-86EA-3428509A2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0AB1EAD-23AE-1ECD-ADAF-E07681B39063}"/>
              </a:ext>
            </a:extLst>
          </p:cNvPr>
          <p:cNvSpPr/>
          <p:nvPr/>
        </p:nvSpPr>
        <p:spPr>
          <a:xfrm>
            <a:off x="3006072" y="4125637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F085B4D-3934-A3A2-0A11-08A6E1BB582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3285472" y="48876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181F4F9-34D5-D538-B986-35D2DFF4C74D}"/>
                  </a:ext>
                </a:extLst>
              </p:cNvPr>
              <p:cNvSpPr txBox="1"/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A181F4F9-34D5-D538-B986-35D2DFF4C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ED130AA-38A4-75FF-7C2D-44E61046E78A}"/>
              </a:ext>
            </a:extLst>
          </p:cNvPr>
          <p:cNvSpPr/>
          <p:nvPr/>
        </p:nvSpPr>
        <p:spPr>
          <a:xfrm>
            <a:off x="4280136" y="4131733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AFEE1DC-43F2-70F4-0787-688BE0684948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4559536" y="48937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3407FF2-2773-7E69-E7BC-AF2226BE63D4}"/>
                  </a:ext>
                </a:extLst>
              </p:cNvPr>
              <p:cNvSpPr txBox="1"/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E3407FF2-2773-7E69-E7BC-AF2226BE6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blipFill>
                <a:blip r:embed="rId8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B908698-FD7E-3352-1483-6FCF6A4114E9}"/>
              </a:ext>
            </a:extLst>
          </p:cNvPr>
          <p:cNvSpPr/>
          <p:nvPr/>
        </p:nvSpPr>
        <p:spPr>
          <a:xfrm>
            <a:off x="5542008" y="4137829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0832048D-D00D-C696-3C81-633B1F9232CC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5821408" y="48998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A590E35-54D8-D578-B4D4-5D62E83636E9}"/>
                  </a:ext>
                </a:extLst>
              </p:cNvPr>
              <p:cNvSpPr txBox="1"/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A590E35-54D8-D578-B4D4-5D62E8363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C985841-105F-7854-B4E0-FF3DFE7A7C71}"/>
                  </a:ext>
                </a:extLst>
              </p:cNvPr>
              <p:cNvSpPr txBox="1"/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DC985841-105F-7854-B4E0-FF3DFE7A7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D8501DD-ED8C-2DB7-62E7-0F25714E3F5C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290808" y="450054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368AD5E3-2A67-87FC-3298-6D031AB33A6A}"/>
              </a:ext>
            </a:extLst>
          </p:cNvPr>
          <p:cNvCxnSpPr/>
          <p:nvPr/>
        </p:nvCxnSpPr>
        <p:spPr>
          <a:xfrm>
            <a:off x="3564872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ED54301-4FDA-A216-75C7-72347C0F2AE9}"/>
              </a:ext>
            </a:extLst>
          </p:cNvPr>
          <p:cNvCxnSpPr/>
          <p:nvPr/>
        </p:nvCxnSpPr>
        <p:spPr>
          <a:xfrm>
            <a:off x="4835468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22C21F3-C9CC-0E5A-6939-DB9F9F9DF765}"/>
              </a:ext>
            </a:extLst>
          </p:cNvPr>
          <p:cNvSpPr txBox="1"/>
          <p:nvPr/>
        </p:nvSpPr>
        <p:spPr>
          <a:xfrm>
            <a:off x="1725020" y="5724572"/>
            <a:ext cx="142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“She”</a:t>
            </a:r>
          </a:p>
          <a:p>
            <a:r>
              <a:rPr lang="en-GB" sz="1000" dirty="0"/>
              <a:t>[0.00154, 0.58..]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3FF8FA3-F0C7-1593-A1D9-34305F940642}"/>
              </a:ext>
            </a:extLst>
          </p:cNvPr>
          <p:cNvSpPr txBox="1"/>
          <p:nvPr/>
        </p:nvSpPr>
        <p:spPr>
          <a:xfrm>
            <a:off x="2880364" y="5747158"/>
            <a:ext cx="1093032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GB" sz="1000" dirty="0"/>
              <a:t>“swam”</a:t>
            </a:r>
          </a:p>
          <a:p>
            <a:r>
              <a:rPr lang="en-GB" sz="1000" dirty="0"/>
              <a:t>[0.0445, 0.078..]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646AC45-0835-488D-7C38-1F6B961125E9}"/>
              </a:ext>
            </a:extLst>
          </p:cNvPr>
          <p:cNvSpPr txBox="1"/>
          <p:nvPr/>
        </p:nvSpPr>
        <p:spPr>
          <a:xfrm>
            <a:off x="4226564" y="5747158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“in”</a:t>
            </a:r>
          </a:p>
          <a:p>
            <a:r>
              <a:rPr lang="en-GB" sz="1000" dirty="0"/>
              <a:t>[0.0021, 0.008..]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AC452D82-98F8-9E95-D3B5-8CF38EB5327A}"/>
              </a:ext>
            </a:extLst>
          </p:cNvPr>
          <p:cNvSpPr txBox="1"/>
          <p:nvPr/>
        </p:nvSpPr>
        <p:spPr>
          <a:xfrm>
            <a:off x="5542008" y="5747158"/>
            <a:ext cx="109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“the”</a:t>
            </a:r>
          </a:p>
          <a:p>
            <a:r>
              <a:rPr lang="en-GB" sz="1000" dirty="0"/>
              <a:t>[0.1821, 0.082..]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380EFE6-D1C9-B476-C97C-BA6FA01A2880}"/>
              </a:ext>
            </a:extLst>
          </p:cNvPr>
          <p:cNvSpPr txBox="1"/>
          <p:nvPr/>
        </p:nvSpPr>
        <p:spPr>
          <a:xfrm>
            <a:off x="2071374" y="387465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75A2D7E-7521-2F47-FBCA-4CD011590643}"/>
              </a:ext>
            </a:extLst>
          </p:cNvPr>
          <p:cNvSpPr txBox="1"/>
          <p:nvPr/>
        </p:nvSpPr>
        <p:spPr>
          <a:xfrm>
            <a:off x="2041888" y="4957646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8495F77-4011-6F8B-9314-ADB6CBF1318D}"/>
              </a:ext>
            </a:extLst>
          </p:cNvPr>
          <p:cNvSpPr txBox="1"/>
          <p:nvPr/>
        </p:nvSpPr>
        <p:spPr>
          <a:xfrm>
            <a:off x="3341352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BB917F3-1692-F1F3-7A5A-56D1DCFE58DF}"/>
              </a:ext>
            </a:extLst>
          </p:cNvPr>
          <p:cNvSpPr txBox="1"/>
          <p:nvPr/>
        </p:nvSpPr>
        <p:spPr>
          <a:xfrm>
            <a:off x="4591032" y="495747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CDA7AE15-7463-AAFD-2EA1-0B4D31905296}"/>
              </a:ext>
            </a:extLst>
          </p:cNvPr>
          <p:cNvSpPr txBox="1"/>
          <p:nvPr/>
        </p:nvSpPr>
        <p:spPr>
          <a:xfrm>
            <a:off x="5791944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64B81AE-1C08-97A5-F6AF-D3FFD4910823}"/>
              </a:ext>
            </a:extLst>
          </p:cNvPr>
          <p:cNvSpPr txBox="1"/>
          <p:nvPr/>
        </p:nvSpPr>
        <p:spPr>
          <a:xfrm>
            <a:off x="2447831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FD81DB7A-7FE5-07C6-6795-96B165FAEFBC}"/>
              </a:ext>
            </a:extLst>
          </p:cNvPr>
          <p:cNvSpPr txBox="1"/>
          <p:nvPr/>
        </p:nvSpPr>
        <p:spPr>
          <a:xfrm>
            <a:off x="3697511" y="451273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AD61866-AB7F-1CC1-E2C7-025839339D46}"/>
              </a:ext>
            </a:extLst>
          </p:cNvPr>
          <p:cNvSpPr txBox="1"/>
          <p:nvPr/>
        </p:nvSpPr>
        <p:spPr>
          <a:xfrm>
            <a:off x="4995959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DD887DB-63FE-BE09-DA34-123DE130CF6C}"/>
                  </a:ext>
                </a:extLst>
              </p:cNvPr>
              <p:cNvSpPr txBox="1"/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ADD887DB-63FE-BE09-DA34-123DE130C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blipFill>
                <a:blip r:embed="rId11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F1A6CEB1-F4B3-0598-8096-A0ACBD00E94E}"/>
                  </a:ext>
                </a:extLst>
              </p:cNvPr>
              <p:cNvSpPr/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F1A6CEB1-F4B3-0598-8096-A0ACBD00E9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EED3C74B-4F29-17AF-DC2D-96824E34AFF6}"/>
              </a:ext>
            </a:extLst>
          </p:cNvPr>
          <p:cNvCxnSpPr>
            <a:cxnSpLocks/>
            <a:stCxn id="38" idx="3"/>
            <a:endCxn id="7" idx="1"/>
          </p:cNvCxnSpPr>
          <p:nvPr/>
        </p:nvCxnSpPr>
        <p:spPr>
          <a:xfrm flipV="1">
            <a:off x="1241302" y="4500541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F4F62563-F320-8D82-7237-D2D2A866398A}"/>
                  </a:ext>
                </a:extLst>
              </p:cNvPr>
              <p:cNvSpPr txBox="1"/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F4F62563-F320-8D82-7237-D2D2A8663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blipFill>
                <a:blip r:embed="rId13"/>
                <a:stretch>
                  <a:fillRect l="-8824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0D5D3F0-A9C5-B703-EDCA-B47547B8E592}"/>
              </a:ext>
            </a:extLst>
          </p:cNvPr>
          <p:cNvCxnSpPr>
            <a:cxnSpLocks/>
          </p:cNvCxnSpPr>
          <p:nvPr/>
        </p:nvCxnSpPr>
        <p:spPr>
          <a:xfrm flipV="1">
            <a:off x="2013083" y="352878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9DDBA46-6BFB-A94B-55F1-61B27C12CB61}"/>
                  </a:ext>
                </a:extLst>
              </p:cNvPr>
              <p:cNvSpPr txBox="1"/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09DDBA46-6BFB-A94B-55F1-61B27C12C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blipFill>
                <a:blip r:embed="rId14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64491C99-D5F6-28B0-F8AA-2D5E69A06018}"/>
              </a:ext>
            </a:extLst>
          </p:cNvPr>
          <p:cNvCxnSpPr>
            <a:cxnSpLocks/>
          </p:cNvCxnSpPr>
          <p:nvPr/>
        </p:nvCxnSpPr>
        <p:spPr>
          <a:xfrm flipV="1">
            <a:off x="3299265" y="3850333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59DFABC9-71B8-3324-096F-A1D130F000B5}"/>
              </a:ext>
            </a:extLst>
          </p:cNvPr>
          <p:cNvSpPr txBox="1"/>
          <p:nvPr/>
        </p:nvSpPr>
        <p:spPr>
          <a:xfrm>
            <a:off x="3359231" y="38763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B682366-04BA-50CD-150F-5AD95BA45209}"/>
                  </a:ext>
                </a:extLst>
              </p:cNvPr>
              <p:cNvSpPr txBox="1"/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1B682366-04BA-50CD-150F-5AD95BA45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blipFill>
                <a:blip r:embed="rId15"/>
                <a:stretch>
                  <a:fillRect l="-5882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1A2F1FE5-ABC9-5A32-0408-F4C9646B557E}"/>
              </a:ext>
            </a:extLst>
          </p:cNvPr>
          <p:cNvCxnSpPr>
            <a:cxnSpLocks/>
          </p:cNvCxnSpPr>
          <p:nvPr/>
        </p:nvCxnSpPr>
        <p:spPr>
          <a:xfrm flipV="1">
            <a:off x="3300940" y="3530464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D6A1771-4C36-6774-727F-7AEF172345D3}"/>
                  </a:ext>
                </a:extLst>
              </p:cNvPr>
              <p:cNvSpPr txBox="1"/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5D6A1771-4C36-6774-727F-7AEF17234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blipFill>
                <a:blip r:embed="rId16"/>
                <a:stretch>
                  <a:fillRect l="-11429" t="-14286" r="-5714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69264922-951A-075C-20B7-D0570F80CE2A}"/>
              </a:ext>
            </a:extLst>
          </p:cNvPr>
          <p:cNvCxnSpPr>
            <a:cxnSpLocks/>
          </p:cNvCxnSpPr>
          <p:nvPr/>
        </p:nvCxnSpPr>
        <p:spPr>
          <a:xfrm flipV="1">
            <a:off x="4575406" y="384028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BD4571CE-83AA-A302-A943-8ACE7CF5A6A5}"/>
              </a:ext>
            </a:extLst>
          </p:cNvPr>
          <p:cNvSpPr txBox="1"/>
          <p:nvPr/>
        </p:nvSpPr>
        <p:spPr>
          <a:xfrm>
            <a:off x="4635372" y="386628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88E431F3-5DCE-6E62-FF0D-A8C00B0336F0}"/>
                  </a:ext>
                </a:extLst>
              </p:cNvPr>
              <p:cNvSpPr txBox="1"/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88E431F3-5DCE-6E62-FF0D-A8C00B033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blipFill>
                <a:blip r:embed="rId17"/>
                <a:stretch>
                  <a:fillRect l="-8824" r="-294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3276966A-CBB1-D204-51D9-C2C413C41FD1}"/>
              </a:ext>
            </a:extLst>
          </p:cNvPr>
          <p:cNvCxnSpPr>
            <a:cxnSpLocks/>
          </p:cNvCxnSpPr>
          <p:nvPr/>
        </p:nvCxnSpPr>
        <p:spPr>
          <a:xfrm flipV="1">
            <a:off x="4577081" y="352041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95397AF-BFCE-E8C1-4FC0-3FEC0E57C025}"/>
                  </a:ext>
                </a:extLst>
              </p:cNvPr>
              <p:cNvSpPr txBox="1"/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E95397AF-BFCE-E8C1-4FC0-3FEC0E57C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blipFill>
                <a:blip r:embed="rId18"/>
                <a:stretch>
                  <a:fillRect l="-11429" t="-15000" r="-2857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7D28531A-09A1-6BB3-5BEA-6AA8913A9987}"/>
              </a:ext>
            </a:extLst>
          </p:cNvPr>
          <p:cNvCxnSpPr>
            <a:cxnSpLocks/>
          </p:cNvCxnSpPr>
          <p:nvPr/>
        </p:nvCxnSpPr>
        <p:spPr>
          <a:xfrm flipV="1">
            <a:off x="5841507" y="3850331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A7C17C3A-5DB2-53FC-327F-4D990B4FAB51}"/>
              </a:ext>
            </a:extLst>
          </p:cNvPr>
          <p:cNvSpPr txBox="1"/>
          <p:nvPr/>
        </p:nvSpPr>
        <p:spPr>
          <a:xfrm>
            <a:off x="5901473" y="3876332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F230A871-DF93-D93D-62B1-8D7224A4D076}"/>
                  </a:ext>
                </a:extLst>
              </p:cNvPr>
              <p:cNvSpPr txBox="1"/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F230A871-DF93-D93D-62B1-8D7224A4D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blipFill>
                <a:blip r:embed="rId19"/>
                <a:stretch>
                  <a:fillRect l="-9091" r="-6061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E4D3D584-37FB-EC51-A208-F73FB0B57802}"/>
              </a:ext>
            </a:extLst>
          </p:cNvPr>
          <p:cNvCxnSpPr>
            <a:cxnSpLocks/>
          </p:cNvCxnSpPr>
          <p:nvPr/>
        </p:nvCxnSpPr>
        <p:spPr>
          <a:xfrm flipV="1">
            <a:off x="5843182" y="353046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AC2473F-6440-9526-11B8-01DC98F654D0}"/>
                  </a:ext>
                </a:extLst>
              </p:cNvPr>
              <p:cNvSpPr txBox="1"/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9AC2473F-6440-9526-11B8-01DC98F65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blipFill>
                <a:blip r:embed="rId20"/>
                <a:stretch>
                  <a:fillRect l="-11429" r="-571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5EE9E7CA-FD6E-D9D2-DDBD-8766535992A5}"/>
                  </a:ext>
                </a:extLst>
              </p:cNvPr>
              <p:cNvSpPr txBox="1"/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5EE9E7CA-FD6E-D9D2-DDBD-876653599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blipFill>
                <a:blip r:embed="rId21"/>
                <a:stretch>
                  <a:fillRect l="-11429" r="-285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86708ABB-6886-42F1-08A0-4F32A7B0D3B4}"/>
                  </a:ext>
                </a:extLst>
              </p:cNvPr>
              <p:cNvSpPr txBox="1"/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86708ABB-6886-42F1-08A0-4F32A7B0D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blipFill>
                <a:blip r:embed="rId2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7AA8FE38-7839-453D-94B1-4BA457E45983}"/>
                  </a:ext>
                </a:extLst>
              </p:cNvPr>
              <p:cNvSpPr txBox="1"/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7AA8FE38-7839-453D-94B1-4BA457E45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blipFill>
                <a:blip r:embed="rId23"/>
                <a:stretch>
                  <a:fillRect l="-8333" r="-2778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7245F17C-CC6B-39E5-75B8-A53BD2C25DB5}"/>
              </a:ext>
            </a:extLst>
          </p:cNvPr>
          <p:cNvCxnSpPr/>
          <p:nvPr/>
        </p:nvCxnSpPr>
        <p:spPr>
          <a:xfrm>
            <a:off x="1725020" y="438525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198FCF0-D181-FCA9-D940-6D0524B798B6}"/>
              </a:ext>
            </a:extLst>
          </p:cNvPr>
          <p:cNvCxnSpPr/>
          <p:nvPr/>
        </p:nvCxnSpPr>
        <p:spPr>
          <a:xfrm>
            <a:off x="3006072" y="4388075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D50C89E1-F4CF-C53A-6485-8813C557060A}"/>
              </a:ext>
            </a:extLst>
          </p:cNvPr>
          <p:cNvCxnSpPr/>
          <p:nvPr/>
        </p:nvCxnSpPr>
        <p:spPr>
          <a:xfrm>
            <a:off x="4272702" y="439833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9A394019-7567-F772-7948-242F3B970AE2}"/>
              </a:ext>
            </a:extLst>
          </p:cNvPr>
          <p:cNvCxnSpPr/>
          <p:nvPr/>
        </p:nvCxnSpPr>
        <p:spPr>
          <a:xfrm>
            <a:off x="5538514" y="4408589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F3874F03-840E-3892-00AE-305C5B7414BA}"/>
              </a:ext>
            </a:extLst>
          </p:cNvPr>
          <p:cNvSpPr txBox="1"/>
          <p:nvPr/>
        </p:nvSpPr>
        <p:spPr>
          <a:xfrm>
            <a:off x="107703" y="2244642"/>
            <a:ext cx="1014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softmax gives a probability for each word of the vocabulary of being the next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EAB621C6-B385-5CDD-3D6D-7D5A78573405}"/>
                  </a:ext>
                </a:extLst>
              </p:cNvPr>
              <p:cNvSpPr txBox="1"/>
              <p:nvPr/>
            </p:nvSpPr>
            <p:spPr>
              <a:xfrm>
                <a:off x="1114816" y="2766565"/>
                <a:ext cx="25349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                …“hit”,    “swan”,  “ran”…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fr-FR" sz="10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00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000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fr-FR" sz="1000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000" dirty="0">
                    <a:highlight>
                      <a:srgbClr val="FFFF00"/>
                    </a:highlight>
                  </a:rPr>
                  <a:t>[…0.6,        0.02,         0.1…]</a:t>
                </a:r>
              </a:p>
            </p:txBody>
          </p:sp>
        </mc:Choice>
        <mc:Fallback xmlns="">
          <p:sp>
            <p:nvSpPr>
              <p:cNvPr id="169" name="ZoneTexte 168">
                <a:extLst>
                  <a:ext uri="{FF2B5EF4-FFF2-40B4-BE49-F238E27FC236}">
                    <a16:creationId xmlns:a16="http://schemas.microsoft.com/office/drawing/2014/main" id="{EAB621C6-B385-5CDD-3D6D-7D5A78573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16" y="2766565"/>
                <a:ext cx="2534927" cy="400110"/>
              </a:xfrm>
              <a:prstGeom prst="rect">
                <a:avLst/>
              </a:prstGeom>
              <a:blipFill>
                <a:blip r:embed="rId2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ZoneTexte 169">
            <a:extLst>
              <a:ext uri="{FF2B5EF4-FFF2-40B4-BE49-F238E27FC236}">
                <a16:creationId xmlns:a16="http://schemas.microsoft.com/office/drawing/2014/main" id="{B008DA3F-43FC-A70E-0CF0-BE80CFDF3A78}"/>
              </a:ext>
            </a:extLst>
          </p:cNvPr>
          <p:cNvSpPr txBox="1"/>
          <p:nvPr/>
        </p:nvSpPr>
        <p:spPr>
          <a:xfrm>
            <a:off x="6703657" y="2236534"/>
            <a:ext cx="51196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Use next word in the sequence as target (y) for current time step.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For example, at t=1 we use the word “swam” as the target.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“swan” can be its word embedding or its index in the vocabulary.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And we continue for the rest of the sentence.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Note: 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At time step 3 we feed the RNN with the word “in” and the hidden state is “She swam”.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The output is the probability distribution of each word of the vocabulary of being next in the sequence.</a:t>
            </a: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Then we calculate the loss and ignore the output itself. And instead feed the network the correct next word in the sequence “the”.</a:t>
            </a:r>
          </a:p>
          <a:p>
            <a:endParaRPr lang="en-GB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This technique is called </a:t>
            </a:r>
            <a:r>
              <a:rPr lang="en-GB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Teacher</a:t>
            </a:r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GB" sz="1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Forcing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55C79CDF-C976-8CA2-810E-19D68EF141CF}"/>
                  </a:ext>
                </a:extLst>
              </p:cNvPr>
              <p:cNvSpPr txBox="1"/>
              <p:nvPr/>
            </p:nvSpPr>
            <p:spPr>
              <a:xfrm>
                <a:off x="1758502" y="2396468"/>
                <a:ext cx="4647747" cy="207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</m:sSub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fr-FR" sz="1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acc>
                      <m:accPr>
                        <m:chr m:val="̂"/>
                        <m:ctrlP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[« 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𝑠𝑤𝑎𝑛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»]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…                                         </m:t>
                        </m:r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=4</m:t>
                        </m:r>
                      </m:sub>
                    </m:sSub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fr-FR" sz="12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⁡</m:t>
                    </m:r>
                    <m:acc>
                      <m:accPr>
                        <m:chr m:val="̂"/>
                        <m:ctrlP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[« </m:t>
                    </m:r>
                    <m:r>
                      <a:rPr lang="fr-F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fr-FR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»]</m:t>
                    </m:r>
                  </m:oMath>
                </a14:m>
                <a:r>
                  <a:rPr lang="en-GB" sz="1200" dirty="0">
                    <a:solidFill>
                      <a:srgbClr val="C00000"/>
                    </a:solidFill>
                  </a:rPr>
                  <a:t>.  </a:t>
                </a:r>
              </a:p>
            </p:txBody>
          </p:sp>
        </mc:Choice>
        <mc:Fallback xmlns="">
          <p:sp>
            <p:nvSpPr>
              <p:cNvPr id="171" name="ZoneTexte 170">
                <a:extLst>
                  <a:ext uri="{FF2B5EF4-FFF2-40B4-BE49-F238E27FC236}">
                    <a16:creationId xmlns:a16="http://schemas.microsoft.com/office/drawing/2014/main" id="{55C79CDF-C976-8CA2-810E-19D68EF14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502" y="2396468"/>
                <a:ext cx="4647747" cy="207236"/>
              </a:xfrm>
              <a:prstGeom prst="rect">
                <a:avLst/>
              </a:prstGeom>
              <a:blipFill>
                <a:blip r:embed="rId25"/>
                <a:stretch>
                  <a:fillRect l="-1090" t="-11765" r="-1090" b="-47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2" name="Connecteur droit avec flèche 171">
            <a:extLst>
              <a:ext uri="{FF2B5EF4-FFF2-40B4-BE49-F238E27FC236}">
                <a16:creationId xmlns:a16="http://schemas.microsoft.com/office/drawing/2014/main" id="{348090A5-BFBF-720C-2A5D-B2A6C4EA9632}"/>
              </a:ext>
            </a:extLst>
          </p:cNvPr>
          <p:cNvCxnSpPr>
            <a:cxnSpLocks/>
          </p:cNvCxnSpPr>
          <p:nvPr/>
        </p:nvCxnSpPr>
        <p:spPr>
          <a:xfrm flipV="1">
            <a:off x="1966141" y="266174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08B88D0B-501C-699A-55EE-E210D5EA7D02}"/>
                  </a:ext>
                </a:extLst>
              </p:cNvPr>
              <p:cNvSpPr txBox="1"/>
              <p:nvPr/>
            </p:nvSpPr>
            <p:spPr>
              <a:xfrm>
                <a:off x="1746013" y="2052115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3" name="ZoneTexte 172">
                <a:extLst>
                  <a:ext uri="{FF2B5EF4-FFF2-40B4-BE49-F238E27FC236}">
                    <a16:creationId xmlns:a16="http://schemas.microsoft.com/office/drawing/2014/main" id="{08B88D0B-501C-699A-55EE-E210D5EA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013" y="2052115"/>
                <a:ext cx="424732" cy="246221"/>
              </a:xfrm>
              <a:prstGeom prst="rect">
                <a:avLst/>
              </a:prstGeom>
              <a:blipFill>
                <a:blip r:embed="rId26"/>
                <a:stretch>
                  <a:fillRect l="-11765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Connecteur droit avec flèche 173">
            <a:extLst>
              <a:ext uri="{FF2B5EF4-FFF2-40B4-BE49-F238E27FC236}">
                <a16:creationId xmlns:a16="http://schemas.microsoft.com/office/drawing/2014/main" id="{7C598F58-8872-529B-B4B6-B54D8D748EE3}"/>
              </a:ext>
            </a:extLst>
          </p:cNvPr>
          <p:cNvCxnSpPr>
            <a:cxnSpLocks/>
          </p:cNvCxnSpPr>
          <p:nvPr/>
        </p:nvCxnSpPr>
        <p:spPr>
          <a:xfrm rot="-300000" flipH="1">
            <a:off x="1971778" y="2299322"/>
            <a:ext cx="21492" cy="180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9BF4C056-F7A8-60D4-D8C6-36598DD33944}"/>
                  </a:ext>
                </a:extLst>
              </p:cNvPr>
              <p:cNvSpPr txBox="1"/>
              <p:nvPr/>
            </p:nvSpPr>
            <p:spPr>
              <a:xfrm>
                <a:off x="2447831" y="2051791"/>
                <a:ext cx="4033510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en-GB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CCE Loss : the higher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begChr m:val="["/>
                        <m:endChr m:val="]"/>
                        <m:ctrlP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« </m:t>
                        </m:r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𝑠𝑤𝑎𝑛</m:t>
                        </m:r>
                        <m:r>
                          <a:rPr lang="fr-FR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»</m:t>
                        </m:r>
                      </m:e>
                    </m:d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𝑙𝑜𝑤𝑒𝑟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𝑙𝑜𝑠𝑠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9BF4C056-F7A8-60D4-D8C6-36598DD339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31" y="2051791"/>
                <a:ext cx="4033510" cy="36948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18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BD189-1960-D324-14AF-1665C1E1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66B1E5-3C67-81E8-5859-94ECEF5A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1CAC22C-11ED-2DA8-2296-6E96AF63DFBF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Once the RNN is trained, Text generation is straight forward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E5EAA42-6F43-299D-3917-83DD8C10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5F8325E-2DC4-9FF9-9DE7-DD8351065577}"/>
                  </a:ext>
                </a:extLst>
              </p:cNvPr>
              <p:cNvSpPr txBox="1"/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D5F8325E-2DC4-9FF9-9DE7-DD8351065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5403084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F4645B0-CDB7-FE97-E34F-8CDC0A699EF3}"/>
                  </a:ext>
                </a:extLst>
              </p:cNvPr>
              <p:cNvSpPr txBox="1"/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F4645B0-CDB7-FE97-E34F-8CDC0A699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3270847"/>
                <a:ext cx="424732" cy="246221"/>
              </a:xfrm>
              <a:prstGeom prst="rect">
                <a:avLst/>
              </a:prstGeom>
              <a:blipFill>
                <a:blip r:embed="rId4"/>
                <a:stretch>
                  <a:fillRect l="-14706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081B5A7-9997-262A-2108-C1E10848709E}"/>
              </a:ext>
            </a:extLst>
          </p:cNvPr>
          <p:cNvSpPr/>
          <p:nvPr/>
        </p:nvSpPr>
        <p:spPr>
          <a:xfrm>
            <a:off x="1732008" y="4119541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48850BD6-D4E0-9711-8F5B-786BB39EE7B6}"/>
              </a:ext>
            </a:extLst>
          </p:cNvPr>
          <p:cNvCxnSpPr>
            <a:cxnSpLocks/>
          </p:cNvCxnSpPr>
          <p:nvPr/>
        </p:nvCxnSpPr>
        <p:spPr>
          <a:xfrm flipV="1">
            <a:off x="2011408" y="384865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EC4A9AB-AB65-4B6E-1104-CD9FA3AE5E3C}"/>
              </a:ext>
            </a:extLst>
          </p:cNvPr>
          <p:cNvCxnSpPr>
            <a:cxnSpLocks/>
            <a:stCxn id="3" idx="0"/>
            <a:endCxn id="7" idx="2"/>
          </p:cNvCxnSpPr>
          <p:nvPr/>
        </p:nvCxnSpPr>
        <p:spPr>
          <a:xfrm flipH="1" flipV="1">
            <a:off x="2011408" y="4881541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F42F22-0FFA-5886-A1D0-EF44B5E7BB12}"/>
                  </a:ext>
                </a:extLst>
              </p:cNvPr>
              <p:cNvSpPr txBox="1"/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90F42F22-0FFA-5886-A1D0-EF44B5E7B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4119541"/>
                <a:ext cx="429348" cy="246221"/>
              </a:xfrm>
              <a:prstGeom prst="rect">
                <a:avLst/>
              </a:prstGeom>
              <a:blipFill>
                <a:blip r:embed="rId5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815AD4-C07D-C4C3-FD6A-2EC822772209}"/>
                  </a:ext>
                </a:extLst>
              </p:cNvPr>
              <p:cNvSpPr txBox="1"/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8A815AD4-C07D-C4C3-FD6A-2EC822772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5409180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354DB61-CE40-BE05-F1E2-063FB30AC4DB}"/>
              </a:ext>
            </a:extLst>
          </p:cNvPr>
          <p:cNvSpPr/>
          <p:nvPr/>
        </p:nvSpPr>
        <p:spPr>
          <a:xfrm>
            <a:off x="3006072" y="4125637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BCAA080-B1AA-7E0C-5B54-C4F20EEC9224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H="1" flipV="1">
            <a:off x="3285472" y="48876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4715E2D-B0AE-942E-7FF4-6AF757A8F2B8}"/>
                  </a:ext>
                </a:extLst>
              </p:cNvPr>
              <p:cNvSpPr txBox="1"/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4715E2D-B0AE-942E-7FF4-6AF757A8F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5415276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AC6F3D0-435D-D54E-BE84-19D80C649A77}"/>
              </a:ext>
            </a:extLst>
          </p:cNvPr>
          <p:cNvSpPr/>
          <p:nvPr/>
        </p:nvSpPr>
        <p:spPr>
          <a:xfrm>
            <a:off x="4280136" y="4131733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ED308BB4-237C-CA4B-2502-60BC374ADF6E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H="1" flipV="1">
            <a:off x="4559536" y="48937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FA1DE09-AC39-0F10-094B-AE306E440B07}"/>
                  </a:ext>
                </a:extLst>
              </p:cNvPr>
              <p:cNvSpPr txBox="1"/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FA1DE09-AC39-0F10-094B-AE306E440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5421372"/>
                <a:ext cx="424732" cy="246221"/>
              </a:xfrm>
              <a:prstGeom prst="rect">
                <a:avLst/>
              </a:prstGeom>
              <a:blipFill>
                <a:blip r:embed="rId8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E2EEBC1-0D59-6AF2-F88F-0B109685BD1A}"/>
              </a:ext>
            </a:extLst>
          </p:cNvPr>
          <p:cNvSpPr/>
          <p:nvPr/>
        </p:nvSpPr>
        <p:spPr>
          <a:xfrm>
            <a:off x="5542008" y="4137829"/>
            <a:ext cx="558800" cy="762000"/>
          </a:xfrm>
          <a:prstGeom prst="round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6C4558C5-1B30-C75A-59CD-DE76617577EE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5821408" y="48998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599D3E-E04E-45C5-A789-14E9EBE1FA9B}"/>
                  </a:ext>
                </a:extLst>
              </p:cNvPr>
              <p:cNvSpPr txBox="1"/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599D3E-E04E-45C5-A789-14E9EBE1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4119541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1765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6159AD52-B1C4-57C7-32C6-5A7F8DB76BCA}"/>
                  </a:ext>
                </a:extLst>
              </p:cNvPr>
              <p:cNvSpPr txBox="1"/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6159AD52-B1C4-57C7-32C6-5A7F8DB76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4127330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2A5101AE-A68F-EF7C-BFC9-9F459895366A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2290808" y="4500541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3DF1CA8-5D83-9777-2BBF-CDE7DEB4366F}"/>
              </a:ext>
            </a:extLst>
          </p:cNvPr>
          <p:cNvCxnSpPr/>
          <p:nvPr/>
        </p:nvCxnSpPr>
        <p:spPr>
          <a:xfrm>
            <a:off x="3564872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FB8AF143-5F43-7106-CD6E-65FDA7DC9D61}"/>
              </a:ext>
            </a:extLst>
          </p:cNvPr>
          <p:cNvCxnSpPr/>
          <p:nvPr/>
        </p:nvCxnSpPr>
        <p:spPr>
          <a:xfrm>
            <a:off x="4835468" y="4518829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E0B2590D-9306-D577-1068-DF42FE6A85F2}"/>
              </a:ext>
            </a:extLst>
          </p:cNvPr>
          <p:cNvSpPr txBox="1"/>
          <p:nvPr/>
        </p:nvSpPr>
        <p:spPr>
          <a:xfrm>
            <a:off x="1725020" y="5724572"/>
            <a:ext cx="142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&lt;Start&gt;</a:t>
            </a:r>
          </a:p>
          <a:p>
            <a:r>
              <a:rPr lang="en-GB" sz="1000" dirty="0"/>
              <a:t>[0.00154, 0.58..]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929DE7AF-2833-E9BA-8CE3-E4260F16DAC3}"/>
              </a:ext>
            </a:extLst>
          </p:cNvPr>
          <p:cNvSpPr txBox="1"/>
          <p:nvPr/>
        </p:nvSpPr>
        <p:spPr>
          <a:xfrm>
            <a:off x="2880364" y="5761446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The</a:t>
            </a:r>
            <a:r>
              <a:rPr lang="en-GB" sz="1000" dirty="0"/>
              <a:t>”</a:t>
            </a:r>
          </a:p>
          <a:p>
            <a:r>
              <a:rPr lang="en-GB" sz="1000" dirty="0"/>
              <a:t>[0.0445, 0.078..]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D0DF23B-42F8-6767-7B2D-187A138F746A}"/>
              </a:ext>
            </a:extLst>
          </p:cNvPr>
          <p:cNvSpPr txBox="1"/>
          <p:nvPr/>
        </p:nvSpPr>
        <p:spPr>
          <a:xfrm>
            <a:off x="4226564" y="5747158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cat</a:t>
            </a:r>
            <a:r>
              <a:rPr lang="en-GB" sz="1000" dirty="0"/>
              <a:t>”</a:t>
            </a:r>
          </a:p>
          <a:p>
            <a:r>
              <a:rPr lang="en-GB" sz="1000" dirty="0"/>
              <a:t>[0.0021, 0.008..]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2C3FB2B-FAC0-82C5-2B7B-2BAFAECC78C1}"/>
              </a:ext>
            </a:extLst>
          </p:cNvPr>
          <p:cNvSpPr txBox="1"/>
          <p:nvPr/>
        </p:nvSpPr>
        <p:spPr>
          <a:xfrm>
            <a:off x="5542008" y="5747158"/>
            <a:ext cx="109303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“</a:t>
            </a:r>
            <a:r>
              <a:rPr lang="en-GB" sz="12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knowcked</a:t>
            </a:r>
            <a:r>
              <a:rPr lang="en-GB" sz="1000" dirty="0"/>
              <a:t>”</a:t>
            </a:r>
          </a:p>
          <a:p>
            <a:r>
              <a:rPr lang="en-GB" sz="1000" dirty="0"/>
              <a:t>[0.1821, 0.082..]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AB3683D-6D2B-6D52-2BBD-827F1697E093}"/>
              </a:ext>
            </a:extLst>
          </p:cNvPr>
          <p:cNvSpPr txBox="1"/>
          <p:nvPr/>
        </p:nvSpPr>
        <p:spPr>
          <a:xfrm>
            <a:off x="2071374" y="387465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F1D04D-DA30-7827-2DA6-EA10DC56BA09}"/>
              </a:ext>
            </a:extLst>
          </p:cNvPr>
          <p:cNvSpPr txBox="1"/>
          <p:nvPr/>
        </p:nvSpPr>
        <p:spPr>
          <a:xfrm>
            <a:off x="2041888" y="4957646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F239A3A4-EBF4-B7DD-8C57-83A91B441F0E}"/>
              </a:ext>
            </a:extLst>
          </p:cNvPr>
          <p:cNvSpPr txBox="1"/>
          <p:nvPr/>
        </p:nvSpPr>
        <p:spPr>
          <a:xfrm>
            <a:off x="3341352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1FB7982-75F8-6A7C-B652-C22E9C7D0C32}"/>
              </a:ext>
            </a:extLst>
          </p:cNvPr>
          <p:cNvSpPr txBox="1"/>
          <p:nvPr/>
        </p:nvSpPr>
        <p:spPr>
          <a:xfrm>
            <a:off x="4591032" y="495747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89D95FD-D5DE-5674-C286-5F96D28D96EC}"/>
              </a:ext>
            </a:extLst>
          </p:cNvPr>
          <p:cNvSpPr txBox="1"/>
          <p:nvPr/>
        </p:nvSpPr>
        <p:spPr>
          <a:xfrm>
            <a:off x="5791944" y="495137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U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E303706-9AA3-9010-9C70-ED8F3CEB62D1}"/>
              </a:ext>
            </a:extLst>
          </p:cNvPr>
          <p:cNvSpPr txBox="1"/>
          <p:nvPr/>
        </p:nvSpPr>
        <p:spPr>
          <a:xfrm>
            <a:off x="2447831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0A34AA51-779F-57F5-9CB5-30F090B003F9}"/>
              </a:ext>
            </a:extLst>
          </p:cNvPr>
          <p:cNvSpPr txBox="1"/>
          <p:nvPr/>
        </p:nvSpPr>
        <p:spPr>
          <a:xfrm>
            <a:off x="3697511" y="4512733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6477CEB-90EC-5AF3-E78F-6DA3652F8294}"/>
              </a:ext>
            </a:extLst>
          </p:cNvPr>
          <p:cNvSpPr txBox="1"/>
          <p:nvPr/>
        </p:nvSpPr>
        <p:spPr>
          <a:xfrm>
            <a:off x="4995959" y="451882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508F0EDF-A87D-6A4B-B07D-507B084C723C}"/>
                  </a:ext>
                </a:extLst>
              </p:cNvPr>
              <p:cNvSpPr txBox="1"/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508F0EDF-A87D-6A4B-B07D-507B084C7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4127330"/>
                <a:ext cx="429348" cy="246221"/>
              </a:xfrm>
              <a:prstGeom prst="rect">
                <a:avLst/>
              </a:prstGeom>
              <a:blipFill>
                <a:blip r:embed="rId11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CC08FE65-22CB-6541-95F3-9F8CCC21772E}"/>
                  </a:ext>
                </a:extLst>
              </p:cNvPr>
              <p:cNvSpPr/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 : coins arrondis 37">
                <a:extLst>
                  <a:ext uri="{FF2B5EF4-FFF2-40B4-BE49-F238E27FC236}">
                    <a16:creationId xmlns:a16="http://schemas.microsoft.com/office/drawing/2014/main" id="{CC08FE65-22CB-6541-95F3-9F8CCC2177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4123657"/>
                <a:ext cx="345440" cy="762000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59C8CF26-4A78-F98A-4217-2EE6A92416CB}"/>
              </a:ext>
            </a:extLst>
          </p:cNvPr>
          <p:cNvCxnSpPr>
            <a:cxnSpLocks/>
            <a:stCxn id="38" idx="3"/>
            <a:endCxn id="7" idx="1"/>
          </p:cNvCxnSpPr>
          <p:nvPr/>
        </p:nvCxnSpPr>
        <p:spPr>
          <a:xfrm flipV="1">
            <a:off x="1241302" y="4500541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99E7B616-F88F-9412-4913-B84FF85C94BD}"/>
                  </a:ext>
                </a:extLst>
              </p:cNvPr>
              <p:cNvSpPr txBox="1"/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99E7B616-F88F-9412-4913-B84FF85C9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634" y="3573967"/>
                <a:ext cx="418000" cy="246221"/>
              </a:xfrm>
              <a:prstGeom prst="rect">
                <a:avLst/>
              </a:prstGeom>
              <a:blipFill>
                <a:blip r:embed="rId13"/>
                <a:stretch>
                  <a:fillRect l="-8824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2117F230-C4D2-69A5-DD99-B2E509843778}"/>
              </a:ext>
            </a:extLst>
          </p:cNvPr>
          <p:cNvCxnSpPr>
            <a:cxnSpLocks/>
          </p:cNvCxnSpPr>
          <p:nvPr/>
        </p:nvCxnSpPr>
        <p:spPr>
          <a:xfrm flipV="1">
            <a:off x="2013083" y="352878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AC580CEF-B30B-5ADB-A8F1-10929E39BB83}"/>
                  </a:ext>
                </a:extLst>
              </p:cNvPr>
              <p:cNvSpPr txBox="1"/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AC580CEF-B30B-5ADB-A8F1-10929E39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61" y="3272526"/>
                <a:ext cx="424732" cy="246221"/>
              </a:xfrm>
              <a:prstGeom prst="rect">
                <a:avLst/>
              </a:prstGeom>
              <a:blipFill>
                <a:blip r:embed="rId14"/>
                <a:stretch>
                  <a:fillRect l="-11765" t="-15000" r="-5882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76231155-5AE8-E83C-68D4-ABB2D53A2FD2}"/>
              </a:ext>
            </a:extLst>
          </p:cNvPr>
          <p:cNvCxnSpPr>
            <a:cxnSpLocks/>
          </p:cNvCxnSpPr>
          <p:nvPr/>
        </p:nvCxnSpPr>
        <p:spPr>
          <a:xfrm flipV="1">
            <a:off x="3299265" y="3850333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ZoneTexte 52">
            <a:extLst>
              <a:ext uri="{FF2B5EF4-FFF2-40B4-BE49-F238E27FC236}">
                <a16:creationId xmlns:a16="http://schemas.microsoft.com/office/drawing/2014/main" id="{BD0871E4-BE0B-CDBA-DA92-E37F2C2F9209}"/>
              </a:ext>
            </a:extLst>
          </p:cNvPr>
          <p:cNvSpPr txBox="1"/>
          <p:nvPr/>
        </p:nvSpPr>
        <p:spPr>
          <a:xfrm>
            <a:off x="3359231" y="387633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E9E6361-1A61-EA7D-56A4-264520EA3992}"/>
                  </a:ext>
                </a:extLst>
              </p:cNvPr>
              <p:cNvSpPr txBox="1"/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AE9E6361-1A61-EA7D-56A4-264520EA3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491" y="3575646"/>
                <a:ext cx="418000" cy="246221"/>
              </a:xfrm>
              <a:prstGeom prst="rect">
                <a:avLst/>
              </a:prstGeom>
              <a:blipFill>
                <a:blip r:embed="rId15"/>
                <a:stretch>
                  <a:fillRect l="-5882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AA73B79A-AB92-3B4B-3CE9-E662C54CFF14}"/>
              </a:ext>
            </a:extLst>
          </p:cNvPr>
          <p:cNvCxnSpPr>
            <a:cxnSpLocks/>
          </p:cNvCxnSpPr>
          <p:nvPr/>
        </p:nvCxnSpPr>
        <p:spPr>
          <a:xfrm flipV="1">
            <a:off x="3300940" y="3530464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A852E4DC-279B-E8FD-738D-A4BF5662E528}"/>
                  </a:ext>
                </a:extLst>
              </p:cNvPr>
              <p:cNvSpPr txBox="1"/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A852E4DC-279B-E8FD-738D-A4BF5662E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002" y="3262477"/>
                <a:ext cx="424732" cy="246221"/>
              </a:xfrm>
              <a:prstGeom prst="rect">
                <a:avLst/>
              </a:prstGeom>
              <a:blipFill>
                <a:blip r:embed="rId16"/>
                <a:stretch>
                  <a:fillRect l="-11429" t="-14286" r="-5714" b="-190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6F70A8DC-909F-BA67-BEF2-0B6FC3DCFA43}"/>
              </a:ext>
            </a:extLst>
          </p:cNvPr>
          <p:cNvCxnSpPr>
            <a:cxnSpLocks/>
          </p:cNvCxnSpPr>
          <p:nvPr/>
        </p:nvCxnSpPr>
        <p:spPr>
          <a:xfrm flipV="1">
            <a:off x="4575406" y="3840284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>
            <a:extLst>
              <a:ext uri="{FF2B5EF4-FFF2-40B4-BE49-F238E27FC236}">
                <a16:creationId xmlns:a16="http://schemas.microsoft.com/office/drawing/2014/main" id="{262AA3D7-4DAB-E90F-0AC2-DB71635C5174}"/>
              </a:ext>
            </a:extLst>
          </p:cNvPr>
          <p:cNvSpPr txBox="1"/>
          <p:nvPr/>
        </p:nvSpPr>
        <p:spPr>
          <a:xfrm>
            <a:off x="4635372" y="3866285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F9227071-2208-EA44-4F08-924784C7F895}"/>
                  </a:ext>
                </a:extLst>
              </p:cNvPr>
              <p:cNvSpPr txBox="1"/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F9227071-2208-EA44-4F08-924784C7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8632" y="3565597"/>
                <a:ext cx="418000" cy="246221"/>
              </a:xfrm>
              <a:prstGeom prst="rect">
                <a:avLst/>
              </a:prstGeom>
              <a:blipFill>
                <a:blip r:embed="rId17"/>
                <a:stretch>
                  <a:fillRect l="-8824" r="-2941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6C969070-FCA9-E14E-5C08-6333F1840639}"/>
              </a:ext>
            </a:extLst>
          </p:cNvPr>
          <p:cNvCxnSpPr>
            <a:cxnSpLocks/>
          </p:cNvCxnSpPr>
          <p:nvPr/>
        </p:nvCxnSpPr>
        <p:spPr>
          <a:xfrm flipV="1">
            <a:off x="4577081" y="3520415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7BCD628E-6937-C553-CD41-D934FCD352A4}"/>
                  </a:ext>
                </a:extLst>
              </p:cNvPr>
              <p:cNvSpPr txBox="1"/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7BCD628E-6937-C553-CD41-D934FCD35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103" y="3272524"/>
                <a:ext cx="424732" cy="246221"/>
              </a:xfrm>
              <a:prstGeom prst="rect">
                <a:avLst/>
              </a:prstGeom>
              <a:blipFill>
                <a:blip r:embed="rId18"/>
                <a:stretch>
                  <a:fillRect l="-11429" t="-15000" r="-2857" b="-2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9BB34B3-4878-226C-53A9-ECF1C337302A}"/>
              </a:ext>
            </a:extLst>
          </p:cNvPr>
          <p:cNvCxnSpPr>
            <a:cxnSpLocks/>
          </p:cNvCxnSpPr>
          <p:nvPr/>
        </p:nvCxnSpPr>
        <p:spPr>
          <a:xfrm flipV="1">
            <a:off x="5841507" y="3850331"/>
            <a:ext cx="3962" cy="25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C4E26186-5DE4-3140-DA0E-73A34681B5D6}"/>
              </a:ext>
            </a:extLst>
          </p:cNvPr>
          <p:cNvSpPr txBox="1"/>
          <p:nvPr/>
        </p:nvSpPr>
        <p:spPr>
          <a:xfrm>
            <a:off x="5901473" y="3876332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0070C0"/>
                </a:solidFill>
              </a:rPr>
              <a:t>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97D944B0-54E7-F318-4535-8D42F784A0E2}"/>
                  </a:ext>
                </a:extLst>
              </p:cNvPr>
              <p:cNvSpPr txBox="1"/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97D944B0-54E7-F318-4535-8D42F784A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733" y="3575644"/>
                <a:ext cx="418000" cy="246221"/>
              </a:xfrm>
              <a:prstGeom prst="rect">
                <a:avLst/>
              </a:prstGeom>
              <a:blipFill>
                <a:blip r:embed="rId19"/>
                <a:stretch>
                  <a:fillRect l="-9091" r="-6061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9051D59C-3C61-ECDD-3461-501654794EBA}"/>
              </a:ext>
            </a:extLst>
          </p:cNvPr>
          <p:cNvCxnSpPr>
            <a:cxnSpLocks/>
          </p:cNvCxnSpPr>
          <p:nvPr/>
        </p:nvCxnSpPr>
        <p:spPr>
          <a:xfrm flipV="1">
            <a:off x="5843182" y="3530462"/>
            <a:ext cx="3962" cy="144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2CF6A4AC-272B-DD6E-2DDF-5CF0479567B9}"/>
                  </a:ext>
                </a:extLst>
              </p:cNvPr>
              <p:cNvSpPr txBox="1"/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8" name="ZoneTexte 77">
                <a:extLst>
                  <a:ext uri="{FF2B5EF4-FFF2-40B4-BE49-F238E27FC236}">
                    <a16:creationId xmlns:a16="http://schemas.microsoft.com/office/drawing/2014/main" id="{2CF6A4AC-272B-DD6E-2DDF-5CF047956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763" y="4113788"/>
                <a:ext cx="429348" cy="246221"/>
              </a:xfrm>
              <a:prstGeom prst="rect">
                <a:avLst/>
              </a:prstGeom>
              <a:blipFill>
                <a:blip r:embed="rId20"/>
                <a:stretch>
                  <a:fillRect l="-11429" r="-571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ACF2600B-3DAE-9586-6649-1C672D973E85}"/>
                  </a:ext>
                </a:extLst>
              </p:cNvPr>
              <p:cNvSpPr txBox="1"/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9" name="ZoneTexte 78">
                <a:extLst>
                  <a:ext uri="{FF2B5EF4-FFF2-40B4-BE49-F238E27FC236}">
                    <a16:creationId xmlns:a16="http://schemas.microsoft.com/office/drawing/2014/main" id="{ACF2600B-3DAE-9586-6649-1C672D97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593" y="4130799"/>
                <a:ext cx="429348" cy="246221"/>
              </a:xfrm>
              <a:prstGeom prst="rect">
                <a:avLst/>
              </a:prstGeom>
              <a:blipFill>
                <a:blip r:embed="rId21"/>
                <a:stretch>
                  <a:fillRect l="-11429" r="-2857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CDE8C0-1A52-B8A3-2BC1-B3814071A7E8}"/>
                  </a:ext>
                </a:extLst>
              </p:cNvPr>
              <p:cNvSpPr txBox="1"/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ZoneTexte 79">
                <a:extLst>
                  <a:ext uri="{FF2B5EF4-FFF2-40B4-BE49-F238E27FC236}">
                    <a16:creationId xmlns:a16="http://schemas.microsoft.com/office/drawing/2014/main" id="{9ACDE8C0-1A52-B8A3-2BC1-B3814071A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147" y="4137755"/>
                <a:ext cx="429348" cy="246221"/>
              </a:xfrm>
              <a:prstGeom prst="rect">
                <a:avLst/>
              </a:prstGeom>
              <a:blipFill>
                <a:blip r:embed="rId22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D36261D4-91BB-8682-5135-5A7F79925573}"/>
                  </a:ext>
                </a:extLst>
              </p:cNvPr>
              <p:cNvSpPr txBox="1"/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D36261D4-91BB-8682-5135-5A7F79925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285" y="4137908"/>
                <a:ext cx="429348" cy="246221"/>
              </a:xfrm>
              <a:prstGeom prst="rect">
                <a:avLst/>
              </a:prstGeom>
              <a:blipFill>
                <a:blip r:embed="rId23"/>
                <a:stretch>
                  <a:fillRect l="-8333" r="-2778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3404AFFE-E47F-D135-53AC-6E9C8052B9C4}"/>
              </a:ext>
            </a:extLst>
          </p:cNvPr>
          <p:cNvCxnSpPr/>
          <p:nvPr/>
        </p:nvCxnSpPr>
        <p:spPr>
          <a:xfrm>
            <a:off x="1725020" y="438525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633D9CB4-334F-B0F3-5BE5-2B9D728963CA}"/>
              </a:ext>
            </a:extLst>
          </p:cNvPr>
          <p:cNvCxnSpPr/>
          <p:nvPr/>
        </p:nvCxnSpPr>
        <p:spPr>
          <a:xfrm>
            <a:off x="3006072" y="4388075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7D15ABC8-AA26-E640-3FD0-1B5DF9FDA4C3}"/>
              </a:ext>
            </a:extLst>
          </p:cNvPr>
          <p:cNvCxnSpPr/>
          <p:nvPr/>
        </p:nvCxnSpPr>
        <p:spPr>
          <a:xfrm>
            <a:off x="4272702" y="4398332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6693DF94-9C7C-8A99-4B76-06A0F6259D9B}"/>
              </a:ext>
            </a:extLst>
          </p:cNvPr>
          <p:cNvCxnSpPr/>
          <p:nvPr/>
        </p:nvCxnSpPr>
        <p:spPr>
          <a:xfrm>
            <a:off x="5538514" y="4408589"/>
            <a:ext cx="565788" cy="0"/>
          </a:xfrm>
          <a:prstGeom prst="lin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3D1372BF-DFB4-A974-D41F-460FA4A68397}"/>
              </a:ext>
            </a:extLst>
          </p:cNvPr>
          <p:cNvSpPr txBox="1"/>
          <p:nvPr/>
        </p:nvSpPr>
        <p:spPr>
          <a:xfrm>
            <a:off x="107703" y="2244642"/>
            <a:ext cx="10148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softmax gives a probability for each word of the vocabulary of being the next</a:t>
            </a:r>
          </a:p>
        </p:txBody>
      </p:sp>
      <p:sp>
        <p:nvSpPr>
          <p:cNvPr id="170" name="ZoneTexte 169">
            <a:extLst>
              <a:ext uri="{FF2B5EF4-FFF2-40B4-BE49-F238E27FC236}">
                <a16:creationId xmlns:a16="http://schemas.microsoft.com/office/drawing/2014/main" id="{FD4C4BF9-E45B-3C86-A7D9-1AD6B39C4BDE}"/>
              </a:ext>
            </a:extLst>
          </p:cNvPr>
          <p:cNvSpPr txBox="1"/>
          <p:nvPr/>
        </p:nvSpPr>
        <p:spPr>
          <a:xfrm>
            <a:off x="7444845" y="3517069"/>
            <a:ext cx="243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Autoregressive Generation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31843131-7A64-8200-E3F5-E102A706307C}"/>
                  </a:ext>
                </a:extLst>
              </p:cNvPr>
              <p:cNvSpPr txBox="1"/>
              <p:nvPr/>
            </p:nvSpPr>
            <p:spPr>
              <a:xfrm>
                <a:off x="1608749" y="2750331"/>
                <a:ext cx="703653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The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5" name="ZoneTexte 174">
                <a:extLst>
                  <a:ext uri="{FF2B5EF4-FFF2-40B4-BE49-F238E27FC236}">
                    <a16:creationId xmlns:a16="http://schemas.microsoft.com/office/drawing/2014/main" id="{31843131-7A64-8200-E3F5-E102A7063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749" y="2750331"/>
                <a:ext cx="703653" cy="369486"/>
              </a:xfrm>
              <a:prstGeom prst="rect">
                <a:avLst/>
              </a:prstGeom>
              <a:blipFill>
                <a:blip r:embed="rId2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Connecteur en arc 40">
            <a:extLst>
              <a:ext uri="{FF2B5EF4-FFF2-40B4-BE49-F238E27FC236}">
                <a16:creationId xmlns:a16="http://schemas.microsoft.com/office/drawing/2014/main" id="{68E833B4-391B-ACF2-0FD0-BB9651D0ADB4}"/>
              </a:ext>
            </a:extLst>
          </p:cNvPr>
          <p:cNvCxnSpPr>
            <a:stCxn id="175" idx="3"/>
            <a:endCxn id="26" idx="1"/>
          </p:cNvCxnSpPr>
          <p:nvPr/>
        </p:nvCxnSpPr>
        <p:spPr>
          <a:xfrm>
            <a:off x="2312402" y="2935074"/>
            <a:ext cx="567962" cy="30418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15B3E4C0-5F07-437F-8136-99E4740B2676}"/>
                  </a:ext>
                </a:extLst>
              </p:cNvPr>
              <p:cNvSpPr txBox="1"/>
              <p:nvPr/>
            </p:nvSpPr>
            <p:spPr>
              <a:xfrm>
                <a:off x="2932735" y="2745566"/>
                <a:ext cx="703653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cat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15B3E4C0-5F07-437F-8136-99E4740B2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735" y="2745566"/>
                <a:ext cx="703653" cy="36948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Connecteur en arc 42">
            <a:extLst>
              <a:ext uri="{FF2B5EF4-FFF2-40B4-BE49-F238E27FC236}">
                <a16:creationId xmlns:a16="http://schemas.microsoft.com/office/drawing/2014/main" id="{FC215AF0-D860-8893-BC16-BBA767610A30}"/>
              </a:ext>
            </a:extLst>
          </p:cNvPr>
          <p:cNvCxnSpPr>
            <a:stCxn id="42" idx="3"/>
          </p:cNvCxnSpPr>
          <p:nvPr/>
        </p:nvCxnSpPr>
        <p:spPr>
          <a:xfrm>
            <a:off x="3636388" y="2930309"/>
            <a:ext cx="567962" cy="304181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1851FDD1-2AAE-59D4-F4D1-6D6E7B7A97CD}"/>
                  </a:ext>
                </a:extLst>
              </p:cNvPr>
              <p:cNvSpPr txBox="1"/>
              <p:nvPr/>
            </p:nvSpPr>
            <p:spPr>
              <a:xfrm>
                <a:off x="4116436" y="2755086"/>
                <a:ext cx="966201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knocked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4" name="ZoneTexte 43">
                <a:extLst>
                  <a:ext uri="{FF2B5EF4-FFF2-40B4-BE49-F238E27FC236}">
                    <a16:creationId xmlns:a16="http://schemas.microsoft.com/office/drawing/2014/main" id="{1851FDD1-2AAE-59D4-F4D1-6D6E7B7A97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436" y="2755086"/>
                <a:ext cx="966201" cy="36948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eur en arc 44">
            <a:extLst>
              <a:ext uri="{FF2B5EF4-FFF2-40B4-BE49-F238E27FC236}">
                <a16:creationId xmlns:a16="http://schemas.microsoft.com/office/drawing/2014/main" id="{4DD10C4D-20D2-732E-556B-BDF20BD67D9C}"/>
              </a:ext>
            </a:extLst>
          </p:cNvPr>
          <p:cNvCxnSpPr>
            <a:cxnSpLocks/>
            <a:stCxn id="44" idx="3"/>
            <a:endCxn id="28" idx="1"/>
          </p:cNvCxnSpPr>
          <p:nvPr/>
        </p:nvCxnSpPr>
        <p:spPr>
          <a:xfrm>
            <a:off x="5082637" y="2939829"/>
            <a:ext cx="459371" cy="30227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0BB63AE-F803-9178-773A-5D11D81DF840}"/>
                  </a:ext>
                </a:extLst>
              </p:cNvPr>
              <p:cNvSpPr txBox="1"/>
              <p:nvPr/>
            </p:nvSpPr>
            <p:spPr>
              <a:xfrm>
                <a:off x="5368980" y="2750319"/>
                <a:ext cx="966201" cy="36948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r>
                  <a:rPr lang="fr-FR" sz="1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«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over</m:t>
                    </m:r>
                    <m:r>
                      <a:rPr lang="fr-FR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»</m:t>
                    </m:r>
                  </m:oMath>
                </a14:m>
                <a:endParaRPr lang="en-GB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ZoneTexte 53">
                <a:extLst>
                  <a:ext uri="{FF2B5EF4-FFF2-40B4-BE49-F238E27FC236}">
                    <a16:creationId xmlns:a16="http://schemas.microsoft.com/office/drawing/2014/main" id="{D0BB63AE-F803-9178-773A-5D11D81DF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980" y="2750319"/>
                <a:ext cx="966201" cy="369486"/>
              </a:xfrm>
              <a:prstGeom prst="rect">
                <a:avLst/>
              </a:prstGeom>
              <a:blipFill>
                <a:blip r:embed="rId2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Connecteur en arc 56">
            <a:extLst>
              <a:ext uri="{FF2B5EF4-FFF2-40B4-BE49-F238E27FC236}">
                <a16:creationId xmlns:a16="http://schemas.microsoft.com/office/drawing/2014/main" id="{9AC4F254-611F-46FD-56CF-304B664C74C7}"/>
              </a:ext>
            </a:extLst>
          </p:cNvPr>
          <p:cNvCxnSpPr>
            <a:cxnSpLocks/>
          </p:cNvCxnSpPr>
          <p:nvPr/>
        </p:nvCxnSpPr>
        <p:spPr>
          <a:xfrm>
            <a:off x="6263741" y="2935062"/>
            <a:ext cx="459371" cy="302277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5371DC01-86D3-34E3-4EC4-D7CCBF5D7692}"/>
              </a:ext>
            </a:extLst>
          </p:cNvPr>
          <p:cNvSpPr txBox="1"/>
          <p:nvPr/>
        </p:nvSpPr>
        <p:spPr>
          <a:xfrm>
            <a:off x="6649518" y="4267050"/>
            <a:ext cx="692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005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099E-D81A-39D6-32CE-2AFD5B55A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FBC01-603D-17D2-26B1-1D9E4022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B9E2D1C-0658-DD31-7A21-0416B4504535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Once the RNN is trained, how do we evaluate the Language Model ?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4116B8D3-8CEF-506F-57A3-855777142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513EDC5-173B-02DE-6132-9F0F920DC9BC}"/>
                  </a:ext>
                </a:extLst>
              </p:cNvPr>
              <p:cNvSpPr txBox="1"/>
              <p:nvPr/>
            </p:nvSpPr>
            <p:spPr>
              <a:xfrm>
                <a:off x="1685925" y="2686050"/>
                <a:ext cx="7897664" cy="19158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𝑃𝑒𝑟𝑝𝑙𝑒𝑥𝑖𝑡𝑦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ctrlPr>
                            <a:rPr lang="fr-F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fr-FR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g>
                        <m:e>
                          <m:nary>
                            <m:naryPr>
                              <m:chr m:val="∏"/>
                              <m:ctrl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FR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𝐿𝑀</m:t>
                                      </m:r>
                                    </m:sub>
                                  </m:sSub>
                                  <m:d>
                                    <m:dPr>
                                      <m:endChr m:val="|"/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fr-FR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b>
                                  </m:s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  <m:sSub>
                                    <m:sSubPr>
                                      <m:ctrlP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fr-F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fr-FR" sz="32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nary>
                        </m:e>
                      </m:rad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5513EDC5-173B-02DE-6132-9F0F920DC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925" y="2686050"/>
                <a:ext cx="7897664" cy="1915845"/>
              </a:xfrm>
              <a:prstGeom prst="rect">
                <a:avLst/>
              </a:prstGeom>
              <a:blipFill>
                <a:blip r:embed="rId3"/>
                <a:stretch>
                  <a:fillRect t="-66447" b="-1151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ZoneTexte 47">
            <a:extLst>
              <a:ext uri="{FF2B5EF4-FFF2-40B4-BE49-F238E27FC236}">
                <a16:creationId xmlns:a16="http://schemas.microsoft.com/office/drawing/2014/main" id="{4E7C5D82-97F7-CE19-C283-CC7A6C36F51D}"/>
              </a:ext>
            </a:extLst>
          </p:cNvPr>
          <p:cNvSpPr txBox="1"/>
          <p:nvPr/>
        </p:nvSpPr>
        <p:spPr>
          <a:xfrm>
            <a:off x="3395661" y="5703621"/>
            <a:ext cx="5400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The lower the score, the better.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D8FB870-5F38-4DCB-72F9-7D282F35848D}"/>
              </a:ext>
            </a:extLst>
          </p:cNvPr>
          <p:cNvSpPr txBox="1"/>
          <p:nvPr/>
        </p:nvSpPr>
        <p:spPr>
          <a:xfrm>
            <a:off x="4365411" y="4885292"/>
            <a:ext cx="540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Inverse probability of the test set (entire test corpus)</a:t>
            </a:r>
          </a:p>
        </p:txBody>
      </p:sp>
      <p:sp>
        <p:nvSpPr>
          <p:cNvPr id="50" name="Accolade ouvrante 49">
            <a:extLst>
              <a:ext uri="{FF2B5EF4-FFF2-40B4-BE49-F238E27FC236}">
                <a16:creationId xmlns:a16="http://schemas.microsoft.com/office/drawing/2014/main" id="{F83C1CAB-B63A-2232-D921-45DBF713A7E6}"/>
              </a:ext>
            </a:extLst>
          </p:cNvPr>
          <p:cNvSpPr/>
          <p:nvPr/>
        </p:nvSpPr>
        <p:spPr>
          <a:xfrm rot="16200000">
            <a:off x="6909667" y="2507270"/>
            <a:ext cx="371475" cy="446866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859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B77-9060-3463-E445-985EDEE3F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53B41-E8D8-49FE-64F1-FDE8BF9CE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CCD2B0D-99D8-4586-7A09-0F1DB7A96498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01E63D98-D4F4-AF20-D76F-1C714ED04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A06266F-8292-A4A3-E7C2-FC4FC30C338A}"/>
                  </a:ext>
                </a:extLst>
              </p:cNvPr>
              <p:cNvSpPr txBox="1"/>
              <p:nvPr/>
            </p:nvSpPr>
            <p:spPr>
              <a:xfrm>
                <a:off x="542924" y="2644571"/>
                <a:ext cx="9958389" cy="1740306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«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𝑤𝑎𝑠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𝑠𝑢𝑝𝑝𝑜𝑠𝑒𝑑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𝑚𝑒𝑒𝑡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h𝑖𝑠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𝑓𝑟𝑖𝑒𝑛𝑑𝑠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𝑠h𝑜𝑤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𝑏𝑢𝑡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𝑠𝑜𝑚𝑒𝑡h𝑖𝑛𝑔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𝑐𝑎𝑚𝑒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𝑢𝑝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𝑎𝑡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𝑤𝑜𝑟𝑘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fr-FR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𝑐𝑎𝑙𝑙𝑒𝑑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highlight>
                            <a:srgbClr val="FFFF00"/>
                          </a:highlight>
                          <a:latin typeface="Cambria Math" panose="02040503050406030204" pitchFamily="18" charset="0"/>
                        </a:rPr>
                        <m:t>𝑡h𝑒𝑚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𝑠𝑎𝑦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h𝑒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𝑤𝑜𝑢𝑙𝑑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𝑙𝑎𝑡𝑒</m:t>
                      </m:r>
                      <m:r>
                        <a:rPr lang="fr-FR" sz="3200" b="0" i="1" smtClean="0">
                          <a:latin typeface="Cambria Math" panose="02040503050406030204" pitchFamily="18" charset="0"/>
                        </a:rPr>
                        <m:t>. »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8A06266F-8292-A4A3-E7C2-FC4FC30C3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24" y="2644571"/>
                <a:ext cx="9958389" cy="1740306"/>
              </a:xfrm>
              <a:prstGeom prst="rect">
                <a:avLst/>
              </a:prstGeom>
              <a:blipFill>
                <a:blip r:embed="rId3"/>
                <a:stretch>
                  <a:fillRect t="-2878" b="-5036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ZoneTexte 47">
            <a:extLst>
              <a:ext uri="{FF2B5EF4-FFF2-40B4-BE49-F238E27FC236}">
                <a16:creationId xmlns:a16="http://schemas.microsoft.com/office/drawing/2014/main" id="{BB3F2CD3-6B73-EAB1-C722-DED5E955EFB6}"/>
              </a:ext>
            </a:extLst>
          </p:cNvPr>
          <p:cNvSpPr txBox="1"/>
          <p:nvPr/>
        </p:nvSpPr>
        <p:spPr>
          <a:xfrm>
            <a:off x="542924" y="4843767"/>
            <a:ext cx="10658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“them” is dependent of “friends” but this is where simple RNN became struggling 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C0EC833-4167-037A-426C-6AEB24EDD81A}"/>
              </a:ext>
            </a:extLst>
          </p:cNvPr>
          <p:cNvCxnSpPr/>
          <p:nvPr/>
        </p:nvCxnSpPr>
        <p:spPr>
          <a:xfrm>
            <a:off x="3700463" y="4129087"/>
            <a:ext cx="107156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orme libre 22">
            <a:extLst>
              <a:ext uri="{FF2B5EF4-FFF2-40B4-BE49-F238E27FC236}">
                <a16:creationId xmlns:a16="http://schemas.microsoft.com/office/drawing/2014/main" id="{DA0C0809-883A-E66D-6EE7-BD792110F820}"/>
              </a:ext>
            </a:extLst>
          </p:cNvPr>
          <p:cNvSpPr/>
          <p:nvPr/>
        </p:nvSpPr>
        <p:spPr>
          <a:xfrm>
            <a:off x="1198016" y="2507626"/>
            <a:ext cx="5788572" cy="1964361"/>
          </a:xfrm>
          <a:custGeom>
            <a:avLst/>
            <a:gdLst>
              <a:gd name="connsiteX0" fmla="*/ 3116809 w 5788572"/>
              <a:gd name="connsiteY0" fmla="*/ 1707186 h 1964361"/>
              <a:gd name="connsiteX1" fmla="*/ 3045372 w 5788572"/>
              <a:gd name="connsiteY1" fmla="*/ 1778623 h 1964361"/>
              <a:gd name="connsiteX2" fmla="*/ 2988222 w 5788572"/>
              <a:gd name="connsiteY2" fmla="*/ 1807198 h 1964361"/>
              <a:gd name="connsiteX3" fmla="*/ 2873922 w 5788572"/>
              <a:gd name="connsiteY3" fmla="*/ 1835773 h 1964361"/>
              <a:gd name="connsiteX4" fmla="*/ 2688184 w 5788572"/>
              <a:gd name="connsiteY4" fmla="*/ 1864348 h 1964361"/>
              <a:gd name="connsiteX5" fmla="*/ 2488159 w 5788572"/>
              <a:gd name="connsiteY5" fmla="*/ 1892923 h 1964361"/>
              <a:gd name="connsiteX6" fmla="*/ 2259559 w 5788572"/>
              <a:gd name="connsiteY6" fmla="*/ 1935786 h 1964361"/>
              <a:gd name="connsiteX7" fmla="*/ 2188122 w 5788572"/>
              <a:gd name="connsiteY7" fmla="*/ 1950073 h 1964361"/>
              <a:gd name="connsiteX8" fmla="*/ 2102397 w 5788572"/>
              <a:gd name="connsiteY8" fmla="*/ 1964361 h 1964361"/>
              <a:gd name="connsiteX9" fmla="*/ 673647 w 5788572"/>
              <a:gd name="connsiteY9" fmla="*/ 1950073 h 1964361"/>
              <a:gd name="connsiteX10" fmla="*/ 459334 w 5788572"/>
              <a:gd name="connsiteY10" fmla="*/ 1935786 h 1964361"/>
              <a:gd name="connsiteX11" fmla="*/ 387897 w 5788572"/>
              <a:gd name="connsiteY11" fmla="*/ 1921498 h 1964361"/>
              <a:gd name="connsiteX12" fmla="*/ 287884 w 5788572"/>
              <a:gd name="connsiteY12" fmla="*/ 1892923 h 1964361"/>
              <a:gd name="connsiteX13" fmla="*/ 216447 w 5788572"/>
              <a:gd name="connsiteY13" fmla="*/ 1807198 h 1964361"/>
              <a:gd name="connsiteX14" fmla="*/ 187872 w 5788572"/>
              <a:gd name="connsiteY14" fmla="*/ 1764336 h 1964361"/>
              <a:gd name="connsiteX15" fmla="*/ 102147 w 5788572"/>
              <a:gd name="connsiteY15" fmla="*/ 1678611 h 1964361"/>
              <a:gd name="connsiteX16" fmla="*/ 73572 w 5788572"/>
              <a:gd name="connsiteY16" fmla="*/ 1621461 h 1964361"/>
              <a:gd name="connsiteX17" fmla="*/ 44997 w 5788572"/>
              <a:gd name="connsiteY17" fmla="*/ 1578598 h 1964361"/>
              <a:gd name="connsiteX18" fmla="*/ 2134 w 5788572"/>
              <a:gd name="connsiteY18" fmla="*/ 1435723 h 1964361"/>
              <a:gd name="connsiteX19" fmla="*/ 30709 w 5788572"/>
              <a:gd name="connsiteY19" fmla="*/ 907086 h 1964361"/>
              <a:gd name="connsiteX20" fmla="*/ 44997 w 5788572"/>
              <a:gd name="connsiteY20" fmla="*/ 864223 h 1964361"/>
              <a:gd name="connsiteX21" fmla="*/ 59284 w 5788572"/>
              <a:gd name="connsiteY21" fmla="*/ 749923 h 1964361"/>
              <a:gd name="connsiteX22" fmla="*/ 87859 w 5788572"/>
              <a:gd name="connsiteY22" fmla="*/ 692773 h 1964361"/>
              <a:gd name="connsiteX23" fmla="*/ 102147 w 5788572"/>
              <a:gd name="connsiteY23" fmla="*/ 635623 h 1964361"/>
              <a:gd name="connsiteX24" fmla="*/ 116434 w 5788572"/>
              <a:gd name="connsiteY24" fmla="*/ 535611 h 1964361"/>
              <a:gd name="connsiteX25" fmla="*/ 145009 w 5788572"/>
              <a:gd name="connsiteY25" fmla="*/ 492748 h 1964361"/>
              <a:gd name="connsiteX26" fmla="*/ 187872 w 5788572"/>
              <a:gd name="connsiteY26" fmla="*/ 349873 h 1964361"/>
              <a:gd name="connsiteX27" fmla="*/ 216447 w 5788572"/>
              <a:gd name="connsiteY27" fmla="*/ 292723 h 1964361"/>
              <a:gd name="connsiteX28" fmla="*/ 287884 w 5788572"/>
              <a:gd name="connsiteY28" fmla="*/ 235573 h 1964361"/>
              <a:gd name="connsiteX29" fmla="*/ 330747 w 5788572"/>
              <a:gd name="connsiteY29" fmla="*/ 206998 h 1964361"/>
              <a:gd name="connsiteX30" fmla="*/ 416472 w 5788572"/>
              <a:gd name="connsiteY30" fmla="*/ 178423 h 1964361"/>
              <a:gd name="connsiteX31" fmla="*/ 459334 w 5788572"/>
              <a:gd name="connsiteY31" fmla="*/ 164136 h 1964361"/>
              <a:gd name="connsiteX32" fmla="*/ 502197 w 5788572"/>
              <a:gd name="connsiteY32" fmla="*/ 135561 h 1964361"/>
              <a:gd name="connsiteX33" fmla="*/ 659359 w 5788572"/>
              <a:gd name="connsiteY33" fmla="*/ 92698 h 1964361"/>
              <a:gd name="connsiteX34" fmla="*/ 745084 w 5788572"/>
              <a:gd name="connsiteY34" fmla="*/ 78411 h 1964361"/>
              <a:gd name="connsiteX35" fmla="*/ 1773784 w 5788572"/>
              <a:gd name="connsiteY35" fmla="*/ 64123 h 1964361"/>
              <a:gd name="connsiteX36" fmla="*/ 2873922 w 5788572"/>
              <a:gd name="connsiteY36" fmla="*/ 35548 h 1964361"/>
              <a:gd name="connsiteX37" fmla="*/ 3145384 w 5788572"/>
              <a:gd name="connsiteY37" fmla="*/ 64123 h 1964361"/>
              <a:gd name="connsiteX38" fmla="*/ 3388272 w 5788572"/>
              <a:gd name="connsiteY38" fmla="*/ 92698 h 1964361"/>
              <a:gd name="connsiteX39" fmla="*/ 4959897 w 5788572"/>
              <a:gd name="connsiteY39" fmla="*/ 106986 h 1964361"/>
              <a:gd name="connsiteX40" fmla="*/ 5102772 w 5788572"/>
              <a:gd name="connsiteY40" fmla="*/ 121273 h 1964361"/>
              <a:gd name="connsiteX41" fmla="*/ 5217072 w 5788572"/>
              <a:gd name="connsiteY41" fmla="*/ 149848 h 1964361"/>
              <a:gd name="connsiteX42" fmla="*/ 5417097 w 5788572"/>
              <a:gd name="connsiteY42" fmla="*/ 164136 h 1964361"/>
              <a:gd name="connsiteX43" fmla="*/ 5588547 w 5788572"/>
              <a:gd name="connsiteY43" fmla="*/ 178423 h 1964361"/>
              <a:gd name="connsiteX44" fmla="*/ 5645697 w 5788572"/>
              <a:gd name="connsiteY44" fmla="*/ 192711 h 1964361"/>
              <a:gd name="connsiteX45" fmla="*/ 5702847 w 5788572"/>
              <a:gd name="connsiteY45" fmla="*/ 278436 h 1964361"/>
              <a:gd name="connsiteX46" fmla="*/ 5745709 w 5788572"/>
              <a:gd name="connsiteY46" fmla="*/ 307011 h 1964361"/>
              <a:gd name="connsiteX47" fmla="*/ 5788572 w 5788572"/>
              <a:gd name="connsiteY47" fmla="*/ 349873 h 1964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788572" h="1964361">
                <a:moveTo>
                  <a:pt x="3116809" y="1707186"/>
                </a:moveTo>
                <a:cubicBezTo>
                  <a:pt x="3092997" y="1730998"/>
                  <a:pt x="3071954" y="1757948"/>
                  <a:pt x="3045372" y="1778623"/>
                </a:cubicBezTo>
                <a:cubicBezTo>
                  <a:pt x="3028560" y="1791699"/>
                  <a:pt x="3007798" y="1798808"/>
                  <a:pt x="2988222" y="1807198"/>
                </a:cubicBezTo>
                <a:cubicBezTo>
                  <a:pt x="2946976" y="1824875"/>
                  <a:pt x="2920374" y="1825450"/>
                  <a:pt x="2873922" y="1835773"/>
                </a:cubicBezTo>
                <a:cubicBezTo>
                  <a:pt x="2730770" y="1867585"/>
                  <a:pt x="2933282" y="1832379"/>
                  <a:pt x="2688184" y="1864348"/>
                </a:cubicBezTo>
                <a:cubicBezTo>
                  <a:pt x="2621398" y="1873059"/>
                  <a:pt x="2488159" y="1892923"/>
                  <a:pt x="2488159" y="1892923"/>
                </a:cubicBezTo>
                <a:cubicBezTo>
                  <a:pt x="2338900" y="1942676"/>
                  <a:pt x="2461210" y="1908899"/>
                  <a:pt x="2259559" y="1935786"/>
                </a:cubicBezTo>
                <a:cubicBezTo>
                  <a:pt x="2235488" y="1938995"/>
                  <a:pt x="2212014" y="1945729"/>
                  <a:pt x="2188122" y="1950073"/>
                </a:cubicBezTo>
                <a:cubicBezTo>
                  <a:pt x="2159620" y="1955255"/>
                  <a:pt x="2130972" y="1959598"/>
                  <a:pt x="2102397" y="1964361"/>
                </a:cubicBezTo>
                <a:lnTo>
                  <a:pt x="673647" y="1950073"/>
                </a:lnTo>
                <a:cubicBezTo>
                  <a:pt x="602062" y="1948828"/>
                  <a:pt x="530575" y="1942910"/>
                  <a:pt x="459334" y="1935786"/>
                </a:cubicBezTo>
                <a:cubicBezTo>
                  <a:pt x="435171" y="1933370"/>
                  <a:pt x="411603" y="1926766"/>
                  <a:pt x="387897" y="1921498"/>
                </a:cubicBezTo>
                <a:cubicBezTo>
                  <a:pt x="334069" y="1909536"/>
                  <a:pt x="335621" y="1908836"/>
                  <a:pt x="287884" y="1892923"/>
                </a:cubicBezTo>
                <a:cubicBezTo>
                  <a:pt x="216938" y="1786505"/>
                  <a:pt x="308120" y="1917207"/>
                  <a:pt x="216447" y="1807198"/>
                </a:cubicBezTo>
                <a:cubicBezTo>
                  <a:pt x="205454" y="1794007"/>
                  <a:pt x="199280" y="1777170"/>
                  <a:pt x="187872" y="1764336"/>
                </a:cubicBezTo>
                <a:cubicBezTo>
                  <a:pt x="161024" y="1734132"/>
                  <a:pt x="120219" y="1714756"/>
                  <a:pt x="102147" y="1678611"/>
                </a:cubicBezTo>
                <a:cubicBezTo>
                  <a:pt x="92622" y="1659561"/>
                  <a:pt x="84139" y="1639953"/>
                  <a:pt x="73572" y="1621461"/>
                </a:cubicBezTo>
                <a:cubicBezTo>
                  <a:pt x="65053" y="1606552"/>
                  <a:pt x="51971" y="1594290"/>
                  <a:pt x="44997" y="1578598"/>
                </a:cubicBezTo>
                <a:cubicBezTo>
                  <a:pt x="25121" y="1533877"/>
                  <a:pt x="14008" y="1483218"/>
                  <a:pt x="2134" y="1435723"/>
                </a:cubicBezTo>
                <a:cubicBezTo>
                  <a:pt x="9900" y="1179444"/>
                  <a:pt x="-20823" y="1087449"/>
                  <a:pt x="30709" y="907086"/>
                </a:cubicBezTo>
                <a:cubicBezTo>
                  <a:pt x="34846" y="892605"/>
                  <a:pt x="40234" y="878511"/>
                  <a:pt x="44997" y="864223"/>
                </a:cubicBezTo>
                <a:cubicBezTo>
                  <a:pt x="49759" y="826123"/>
                  <a:pt x="49972" y="787173"/>
                  <a:pt x="59284" y="749923"/>
                </a:cubicBezTo>
                <a:cubicBezTo>
                  <a:pt x="64450" y="729260"/>
                  <a:pt x="80381" y="712715"/>
                  <a:pt x="87859" y="692773"/>
                </a:cubicBezTo>
                <a:cubicBezTo>
                  <a:pt x="94754" y="674387"/>
                  <a:pt x="98634" y="654943"/>
                  <a:pt x="102147" y="635623"/>
                </a:cubicBezTo>
                <a:cubicBezTo>
                  <a:pt x="108171" y="602490"/>
                  <a:pt x="106757" y="567867"/>
                  <a:pt x="116434" y="535611"/>
                </a:cubicBezTo>
                <a:cubicBezTo>
                  <a:pt x="121368" y="519164"/>
                  <a:pt x="138035" y="508440"/>
                  <a:pt x="145009" y="492748"/>
                </a:cubicBezTo>
                <a:cubicBezTo>
                  <a:pt x="223171" y="316883"/>
                  <a:pt x="138000" y="482864"/>
                  <a:pt x="187872" y="349873"/>
                </a:cubicBezTo>
                <a:cubicBezTo>
                  <a:pt x="195350" y="329931"/>
                  <a:pt x="205880" y="311215"/>
                  <a:pt x="216447" y="292723"/>
                </a:cubicBezTo>
                <a:cubicBezTo>
                  <a:pt x="254982" y="225287"/>
                  <a:pt x="227323" y="265854"/>
                  <a:pt x="287884" y="235573"/>
                </a:cubicBezTo>
                <a:cubicBezTo>
                  <a:pt x="303243" y="227894"/>
                  <a:pt x="315055" y="213972"/>
                  <a:pt x="330747" y="206998"/>
                </a:cubicBezTo>
                <a:cubicBezTo>
                  <a:pt x="358272" y="194765"/>
                  <a:pt x="387897" y="187948"/>
                  <a:pt x="416472" y="178423"/>
                </a:cubicBezTo>
                <a:lnTo>
                  <a:pt x="459334" y="164136"/>
                </a:lnTo>
                <a:cubicBezTo>
                  <a:pt x="473622" y="154611"/>
                  <a:pt x="486505" y="142535"/>
                  <a:pt x="502197" y="135561"/>
                </a:cubicBezTo>
                <a:cubicBezTo>
                  <a:pt x="556271" y="111528"/>
                  <a:pt x="602478" y="103040"/>
                  <a:pt x="659359" y="92698"/>
                </a:cubicBezTo>
                <a:cubicBezTo>
                  <a:pt x="687861" y="87516"/>
                  <a:pt x="716124" y="79154"/>
                  <a:pt x="745084" y="78411"/>
                </a:cubicBezTo>
                <a:cubicBezTo>
                  <a:pt x="1087904" y="69621"/>
                  <a:pt x="1430884" y="68886"/>
                  <a:pt x="1773784" y="64123"/>
                </a:cubicBezTo>
                <a:cubicBezTo>
                  <a:pt x="2149161" y="-60997"/>
                  <a:pt x="1845064" y="35548"/>
                  <a:pt x="2873922" y="35548"/>
                </a:cubicBezTo>
                <a:cubicBezTo>
                  <a:pt x="2886204" y="35548"/>
                  <a:pt x="3125563" y="61291"/>
                  <a:pt x="3145384" y="64123"/>
                </a:cubicBezTo>
                <a:cubicBezTo>
                  <a:pt x="3286899" y="84339"/>
                  <a:pt x="3159931" y="88955"/>
                  <a:pt x="3388272" y="92698"/>
                </a:cubicBezTo>
                <a:lnTo>
                  <a:pt x="4959897" y="106986"/>
                </a:lnTo>
                <a:cubicBezTo>
                  <a:pt x="5007522" y="111748"/>
                  <a:pt x="5055561" y="113405"/>
                  <a:pt x="5102772" y="121273"/>
                </a:cubicBezTo>
                <a:cubicBezTo>
                  <a:pt x="5141510" y="127729"/>
                  <a:pt x="5178160" y="144542"/>
                  <a:pt x="5217072" y="149848"/>
                </a:cubicBezTo>
                <a:cubicBezTo>
                  <a:pt x="5283304" y="158880"/>
                  <a:pt x="5350449" y="159009"/>
                  <a:pt x="5417097" y="164136"/>
                </a:cubicBezTo>
                <a:lnTo>
                  <a:pt x="5588547" y="178423"/>
                </a:lnTo>
                <a:cubicBezTo>
                  <a:pt x="5607597" y="183186"/>
                  <a:pt x="5630919" y="179780"/>
                  <a:pt x="5645697" y="192711"/>
                </a:cubicBezTo>
                <a:cubicBezTo>
                  <a:pt x="5671543" y="215326"/>
                  <a:pt x="5674272" y="259386"/>
                  <a:pt x="5702847" y="278436"/>
                </a:cubicBezTo>
                <a:cubicBezTo>
                  <a:pt x="5717134" y="287961"/>
                  <a:pt x="5732518" y="296018"/>
                  <a:pt x="5745709" y="307011"/>
                </a:cubicBezTo>
                <a:cubicBezTo>
                  <a:pt x="5761231" y="319946"/>
                  <a:pt x="5788572" y="349873"/>
                  <a:pt x="5788572" y="3498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1501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EC68-C816-4C06-E72B-391AB27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 : coins arrondis 113">
            <a:extLst>
              <a:ext uri="{FF2B5EF4-FFF2-40B4-BE49-F238E27FC236}">
                <a16:creationId xmlns:a16="http://schemas.microsoft.com/office/drawing/2014/main" id="{C5875AAC-11B6-86B8-BB65-7F990C564A3D}"/>
              </a:ext>
            </a:extLst>
          </p:cNvPr>
          <p:cNvSpPr/>
          <p:nvPr/>
        </p:nvSpPr>
        <p:spPr>
          <a:xfrm>
            <a:off x="4303594" y="3522907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B3A015-11F6-5223-A024-55CA77621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002E8C-C74D-E7A7-1139-8F058A38BC5E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C9072892-CDEF-916D-D63E-D8610FC8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EDC62DC-FCFA-FCAE-4451-3F2ED22D2297}"/>
              </a:ext>
            </a:extLst>
          </p:cNvPr>
          <p:cNvSpPr txBox="1"/>
          <p:nvPr/>
        </p:nvSpPr>
        <p:spPr>
          <a:xfrm>
            <a:off x="753395" y="2335903"/>
            <a:ext cx="10658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Issue with Simple RNNs, earlier signal may weaken over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F539753-A2B9-ED37-BDB0-3D9AD5E895D3}"/>
                  </a:ext>
                </a:extLst>
              </p:cNvPr>
              <p:cNvSpPr txBox="1"/>
              <p:nvPr/>
            </p:nvSpPr>
            <p:spPr>
              <a:xfrm>
                <a:off x="1803004" y="4788680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1F539753-A2B9-ED37-BDB0-3D9AD5E89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004" y="4788680"/>
                <a:ext cx="424732" cy="246221"/>
              </a:xfrm>
              <a:prstGeom prst="rect">
                <a:avLst/>
              </a:prstGeom>
              <a:blipFill>
                <a:blip r:embed="rId3"/>
                <a:stretch>
                  <a:fillRect l="-14706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5ECB928-A0A7-B893-E4A2-1359081A6021}"/>
              </a:ext>
            </a:extLst>
          </p:cNvPr>
          <p:cNvCxnSpPr>
            <a:cxnSpLocks/>
            <a:stCxn id="24" idx="0"/>
          </p:cNvCxnSpPr>
          <p:nvPr/>
        </p:nvCxnSpPr>
        <p:spPr>
          <a:xfrm flipH="1" flipV="1">
            <a:off x="2011408" y="4267137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EB605A86-D5C1-0C16-3578-730AB3BAFD2F}"/>
                  </a:ext>
                </a:extLst>
              </p:cNvPr>
              <p:cNvSpPr txBox="1"/>
              <p:nvPr/>
            </p:nvSpPr>
            <p:spPr>
              <a:xfrm>
                <a:off x="2438252" y="3505137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EB605A86-D5C1-0C16-3578-730AB3BAF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252" y="3505137"/>
                <a:ext cx="429348" cy="246221"/>
              </a:xfrm>
              <a:prstGeom prst="rect">
                <a:avLst/>
              </a:prstGeom>
              <a:blipFill>
                <a:blip r:embed="rId4"/>
                <a:stretch>
                  <a:fillRect l="-11765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5909338-7DFC-FE81-009D-66D473E8408D}"/>
                  </a:ext>
                </a:extLst>
              </p:cNvPr>
              <p:cNvSpPr txBox="1"/>
              <p:nvPr/>
            </p:nvSpPr>
            <p:spPr>
              <a:xfrm>
                <a:off x="3077068" y="4794776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45909338-7DFC-FE81-009D-66D473E84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68" y="4794776"/>
                <a:ext cx="424732" cy="246221"/>
              </a:xfrm>
              <a:prstGeom prst="rect">
                <a:avLst/>
              </a:prstGeom>
              <a:blipFill>
                <a:blip r:embed="rId5"/>
                <a:stretch>
                  <a:fillRect l="-14706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504A7784-F7EA-D9B4-926B-A21D71F35D94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3285472" y="4273233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028A833-FED3-069E-99FB-637BBE153116}"/>
                  </a:ext>
                </a:extLst>
              </p:cNvPr>
              <p:cNvSpPr txBox="1"/>
              <p:nvPr/>
            </p:nvSpPr>
            <p:spPr>
              <a:xfrm>
                <a:off x="4351132" y="4800872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D028A833-FED3-069E-99FB-637BBE153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132" y="4800872"/>
                <a:ext cx="424732" cy="246221"/>
              </a:xfrm>
              <a:prstGeom prst="rect">
                <a:avLst/>
              </a:prstGeom>
              <a:blipFill>
                <a:blip r:embed="rId6"/>
                <a:stretch>
                  <a:fillRect l="-14706" r="-8824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9DB9EFF6-CC5D-F3A6-9118-2BA70A183873}"/>
              </a:ext>
            </a:extLst>
          </p:cNvPr>
          <p:cNvCxnSpPr>
            <a:cxnSpLocks/>
            <a:stCxn id="31" idx="0"/>
          </p:cNvCxnSpPr>
          <p:nvPr/>
        </p:nvCxnSpPr>
        <p:spPr>
          <a:xfrm flipH="1" flipV="1">
            <a:off x="4559536" y="4279329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88D78C6B-81D3-B5E9-F71D-1E30AE297204}"/>
                  </a:ext>
                </a:extLst>
              </p:cNvPr>
              <p:cNvSpPr txBox="1"/>
              <p:nvPr/>
            </p:nvSpPr>
            <p:spPr>
              <a:xfrm>
                <a:off x="5613004" y="4806968"/>
                <a:ext cx="42473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=4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88D78C6B-81D3-B5E9-F71D-1E30AE297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04" y="4806968"/>
                <a:ext cx="424732" cy="246221"/>
              </a:xfrm>
              <a:prstGeom prst="rect">
                <a:avLst/>
              </a:prstGeom>
              <a:blipFill>
                <a:blip r:embed="rId7"/>
                <a:stretch>
                  <a:fillRect l="-14706" r="-5882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852309D9-0136-EF81-38AA-E2E53485BBEF}"/>
              </a:ext>
            </a:extLst>
          </p:cNvPr>
          <p:cNvCxnSpPr>
            <a:cxnSpLocks/>
            <a:stCxn id="34" idx="0"/>
          </p:cNvCxnSpPr>
          <p:nvPr/>
        </p:nvCxnSpPr>
        <p:spPr>
          <a:xfrm flipH="1" flipV="1">
            <a:off x="5821408" y="4285425"/>
            <a:ext cx="3962" cy="5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9469A15-C5F0-B6E3-E3E2-6970AF244E84}"/>
                  </a:ext>
                </a:extLst>
              </p:cNvPr>
              <p:cNvSpPr txBox="1"/>
              <p:nvPr/>
            </p:nvSpPr>
            <p:spPr>
              <a:xfrm>
                <a:off x="3687088" y="3505137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D9469A15-C5F0-B6E3-E3E2-6970AF244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088" y="3505137"/>
                <a:ext cx="429348" cy="246221"/>
              </a:xfrm>
              <a:prstGeom prst="rect">
                <a:avLst/>
              </a:prstGeom>
              <a:blipFill>
                <a:blip r:embed="rId8"/>
                <a:stretch>
                  <a:fillRect l="-11765" r="-5882" b="-1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00AD9348-BFCD-FF3A-F766-A299BCCC7EA2}"/>
                  </a:ext>
                </a:extLst>
              </p:cNvPr>
              <p:cNvSpPr txBox="1"/>
              <p:nvPr/>
            </p:nvSpPr>
            <p:spPr>
              <a:xfrm>
                <a:off x="5002636" y="3512926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00AD9348-BFCD-FF3A-F766-A299BCCC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636" y="3512926"/>
                <a:ext cx="429348" cy="246221"/>
              </a:xfrm>
              <a:prstGeom prst="rect">
                <a:avLst/>
              </a:prstGeom>
              <a:blipFill>
                <a:blip r:embed="rId9"/>
                <a:stretch>
                  <a:fillRect l="-14706" r="-5882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D76965E9-F876-C531-13B6-75147BCE64AA}"/>
              </a:ext>
            </a:extLst>
          </p:cNvPr>
          <p:cNvCxnSpPr>
            <a:cxnSpLocks/>
          </p:cNvCxnSpPr>
          <p:nvPr/>
        </p:nvCxnSpPr>
        <p:spPr>
          <a:xfrm>
            <a:off x="2290808" y="3886137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B570847-697C-B215-D767-A33D92940C06}"/>
              </a:ext>
            </a:extLst>
          </p:cNvPr>
          <p:cNvCxnSpPr/>
          <p:nvPr/>
        </p:nvCxnSpPr>
        <p:spPr>
          <a:xfrm>
            <a:off x="3564872" y="3904425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CA7CF719-D81F-9488-1025-569FE7BF9393}"/>
              </a:ext>
            </a:extLst>
          </p:cNvPr>
          <p:cNvCxnSpPr/>
          <p:nvPr/>
        </p:nvCxnSpPr>
        <p:spPr>
          <a:xfrm>
            <a:off x="4835468" y="3904425"/>
            <a:ext cx="715264" cy="6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4A72C434-BA2A-D7EF-C16E-E091D3ADE8B0}"/>
                  </a:ext>
                </a:extLst>
              </p:cNvPr>
              <p:cNvSpPr txBox="1"/>
              <p:nvPr/>
            </p:nvSpPr>
            <p:spPr>
              <a:xfrm>
                <a:off x="1265362" y="3512926"/>
                <a:ext cx="42934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4A72C434-BA2A-D7EF-C16E-E091D3ADE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362" y="3512926"/>
                <a:ext cx="429348" cy="246221"/>
              </a:xfrm>
              <a:prstGeom prst="rect">
                <a:avLst/>
              </a:prstGeom>
              <a:blipFill>
                <a:blip r:embed="rId10"/>
                <a:stretch>
                  <a:fillRect l="-11429" r="-5714" b="-142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56A2863F-044A-0FA1-DB6E-9CAFFD6A49C7}"/>
                  </a:ext>
                </a:extLst>
              </p:cNvPr>
              <p:cNvSpPr/>
              <p:nvPr/>
            </p:nvSpPr>
            <p:spPr>
              <a:xfrm>
                <a:off x="895862" y="3509253"/>
                <a:ext cx="345440" cy="762000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105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angle : coins arrondis 57">
                <a:extLst>
                  <a:ext uri="{FF2B5EF4-FFF2-40B4-BE49-F238E27FC236}">
                    <a16:creationId xmlns:a16="http://schemas.microsoft.com/office/drawing/2014/main" id="{56A2863F-044A-0FA1-DB6E-9CAFFD6A4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862" y="3509253"/>
                <a:ext cx="345440" cy="76200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6350"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ECBCFF5F-04A9-655E-CD8E-534BE9363338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241302" y="3886137"/>
            <a:ext cx="490706" cy="41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4DAD0919-4F47-C16E-1E4C-CCC0AAE0E9D9}"/>
              </a:ext>
            </a:extLst>
          </p:cNvPr>
          <p:cNvSpPr/>
          <p:nvPr/>
        </p:nvSpPr>
        <p:spPr>
          <a:xfrm>
            <a:off x="1728794" y="3505137"/>
            <a:ext cx="558800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BA952EC5-B556-0205-2126-B8CA03BF4FA9}"/>
              </a:ext>
            </a:extLst>
          </p:cNvPr>
          <p:cNvSpPr/>
          <p:nvPr/>
        </p:nvSpPr>
        <p:spPr>
          <a:xfrm>
            <a:off x="3008869" y="3514646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0" name="Rectangle : coins arrondis 109">
            <a:extLst>
              <a:ext uri="{FF2B5EF4-FFF2-40B4-BE49-F238E27FC236}">
                <a16:creationId xmlns:a16="http://schemas.microsoft.com/office/drawing/2014/main" id="{C1013D95-E746-3FA2-58B8-061744674DD7}"/>
              </a:ext>
            </a:extLst>
          </p:cNvPr>
          <p:cNvSpPr/>
          <p:nvPr/>
        </p:nvSpPr>
        <p:spPr>
          <a:xfrm>
            <a:off x="3021105" y="3509137"/>
            <a:ext cx="397779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532ECD5F-FD33-AC9A-AE03-CDCAC0253B59}"/>
              </a:ext>
            </a:extLst>
          </p:cNvPr>
          <p:cNvSpPr/>
          <p:nvPr/>
        </p:nvSpPr>
        <p:spPr>
          <a:xfrm>
            <a:off x="5590228" y="3562335"/>
            <a:ext cx="558800" cy="762000"/>
          </a:xfrm>
          <a:prstGeom prst="roundRect">
            <a:avLst/>
          </a:prstGeom>
          <a:solidFill>
            <a:srgbClr val="FFC000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4D9388C8-9F08-53FB-37E2-2E89D0CD4675}"/>
              </a:ext>
            </a:extLst>
          </p:cNvPr>
          <p:cNvSpPr/>
          <p:nvPr/>
        </p:nvSpPr>
        <p:spPr>
          <a:xfrm>
            <a:off x="5583800" y="3561579"/>
            <a:ext cx="164625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 : coins arrondis 114">
            <a:extLst>
              <a:ext uri="{FF2B5EF4-FFF2-40B4-BE49-F238E27FC236}">
                <a16:creationId xmlns:a16="http://schemas.microsoft.com/office/drawing/2014/main" id="{DA8F995E-2DA7-0738-E163-5005F004BE7D}"/>
              </a:ext>
            </a:extLst>
          </p:cNvPr>
          <p:cNvSpPr/>
          <p:nvPr/>
        </p:nvSpPr>
        <p:spPr>
          <a:xfrm>
            <a:off x="4297166" y="3523425"/>
            <a:ext cx="246644" cy="76200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2ABDC11F-66E7-8F0E-694E-6F5A5828DDA3}"/>
              </a:ext>
            </a:extLst>
          </p:cNvPr>
          <p:cNvSpPr/>
          <p:nvPr/>
        </p:nvSpPr>
        <p:spPr>
          <a:xfrm flipH="1">
            <a:off x="4660870" y="3530696"/>
            <a:ext cx="275053" cy="76200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FF6B8056-6112-1FE3-84D1-1DF6BBDB30D6}"/>
              </a:ext>
            </a:extLst>
          </p:cNvPr>
          <p:cNvSpPr/>
          <p:nvPr/>
        </p:nvSpPr>
        <p:spPr>
          <a:xfrm>
            <a:off x="5819864" y="3551845"/>
            <a:ext cx="164625" cy="77400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F809A3EE-4484-C4F3-86A2-1799B26F250D}"/>
              </a:ext>
            </a:extLst>
          </p:cNvPr>
          <p:cNvSpPr/>
          <p:nvPr/>
        </p:nvSpPr>
        <p:spPr>
          <a:xfrm flipH="1">
            <a:off x="5975597" y="3559787"/>
            <a:ext cx="246643" cy="7740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FC63E0E6-E58D-A1C5-871A-0F6239E0D7FE}"/>
              </a:ext>
            </a:extLst>
          </p:cNvPr>
          <p:cNvSpPr txBox="1"/>
          <p:nvPr/>
        </p:nvSpPr>
        <p:spPr>
          <a:xfrm>
            <a:off x="750122" y="5305303"/>
            <a:ext cx="11322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Vanishing / Exploding gradients during training.</a:t>
            </a:r>
          </a:p>
          <a:p>
            <a:r>
              <a:rPr lang="en-GB" sz="2000" dirty="0">
                <a:latin typeface="Cambria Math" panose="02040503050406030204" pitchFamily="18" charset="0"/>
                <a:ea typeface="Cambria Math" panose="02040503050406030204" pitchFamily="18" charset="0"/>
              </a:rPr>
              <a:t>Repeated multiplication during BPTT can lead to network either ceasing to learn or becoming unstable.</a:t>
            </a:r>
          </a:p>
        </p:txBody>
      </p:sp>
    </p:spTree>
    <p:extLst>
      <p:ext uri="{BB962C8B-B14F-4D97-AF65-F5344CB8AC3E}">
        <p14:creationId xmlns:p14="http://schemas.microsoft.com/office/powerpoint/2010/main" val="58052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D314-DDD0-5E9D-61D2-D8E66E60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1212BF-8974-0AD4-6AD3-CCC0A83A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noProof="0" dirty="0"/>
              <a:t>Language Models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028769C-4ABC-A55E-0D5A-06DFD6EBD722}"/>
              </a:ext>
            </a:extLst>
          </p:cNvPr>
          <p:cNvSpPr txBox="1"/>
          <p:nvPr/>
        </p:nvSpPr>
        <p:spPr>
          <a:xfrm>
            <a:off x="838199" y="1514468"/>
            <a:ext cx="10515600" cy="609601"/>
          </a:xfrm>
          <a:prstGeom prst="rect">
            <a:avLst/>
          </a:prstGeom>
          <a:noFill/>
        </p:spPr>
        <p:txBody>
          <a:bodyPr wrap="square" lIns="90000" rtlCol="0">
            <a:noAutofit/>
          </a:bodyPr>
          <a:lstStyle/>
          <a:p>
            <a:r>
              <a:rPr lang="en-GB" sz="2800" b="1" i="0" u="none" strike="noStrike" dirty="0">
                <a:effectLst/>
                <a:latin typeface="ui-sans-serif"/>
              </a:rPr>
              <a:t>Long-Range dependencies</a:t>
            </a:r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en-GB" sz="2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3079B81-CE2D-DD8D-64FB-B70E8D8F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549346" cy="365125"/>
          </a:xfrm>
        </p:spPr>
        <p:txBody>
          <a:bodyPr/>
          <a:lstStyle/>
          <a:p>
            <a:r>
              <a:rPr lang="en-GB" noProof="1"/>
              <a:t>LM. Author: David Thébault – Based on NLPDemystified.org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62B45CC0-B2EC-C42D-307A-DBEB2A6EED6E}"/>
              </a:ext>
            </a:extLst>
          </p:cNvPr>
          <p:cNvSpPr txBox="1"/>
          <p:nvPr/>
        </p:nvSpPr>
        <p:spPr>
          <a:xfrm>
            <a:off x="753395" y="2335903"/>
            <a:ext cx="106584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simple RNN often has a hard time modelling long-range dependencies.</a:t>
            </a:r>
          </a:p>
          <a:p>
            <a:endParaRPr lang="en-GB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 few remedies: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Batch normalization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Careful weight initialization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Gradient clipping for exploding gradients</a:t>
            </a:r>
          </a:p>
          <a:p>
            <a:pPr marL="342900" indent="-342900">
              <a:buFontTx/>
              <a:buChar char="-"/>
            </a:pP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Or </a:t>
            </a:r>
            <a:r>
              <a:rPr lang="en-GB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use a different cell architecture</a:t>
            </a:r>
            <a:r>
              <a:rPr lang="en-GB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452085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40797</TotalTime>
  <Words>908</Words>
  <Application>Microsoft Macintosh PowerPoint</Application>
  <PresentationFormat>Grand écran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ui-sans-serif</vt:lpstr>
      <vt:lpstr>Thème Office</vt:lpstr>
      <vt:lpstr>Language Models (LM)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  <vt:lpstr>Language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THEBAULT</dc:creator>
  <cp:lastModifiedBy>David THEBAULT</cp:lastModifiedBy>
  <cp:revision>223</cp:revision>
  <dcterms:created xsi:type="dcterms:W3CDTF">2024-12-16T21:11:27Z</dcterms:created>
  <dcterms:modified xsi:type="dcterms:W3CDTF">2026-07-25T13:48:57Z</dcterms:modified>
</cp:coreProperties>
</file>