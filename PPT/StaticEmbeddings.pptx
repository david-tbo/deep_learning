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73" r:id="rId4"/>
    <p:sldId id="260" r:id="rId5"/>
    <p:sldId id="284" r:id="rId6"/>
    <p:sldId id="275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33"/>
    <p:restoredTop sz="88644"/>
  </p:normalViewPr>
  <p:slideViewPr>
    <p:cSldViewPr snapToGrid="0">
      <p:cViewPr>
        <p:scale>
          <a:sx n="50" d="100"/>
          <a:sy n="50" d="100"/>
        </p:scale>
        <p:origin x="144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AA1ACA-B3B5-2C4B-9EDA-C0BA6CE5D44C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F5B79-958C-7D41-A64D-F75AF375924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423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Traitement automatique du </a:t>
            </a:r>
            <a:r>
              <a:rPr lang="fr-FR" noProof="0" dirty="0" err="1"/>
              <a:t>language</a:t>
            </a:r>
            <a:r>
              <a:rPr lang="fr-FR" noProof="0" dirty="0"/>
              <a:t> naturel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F5B79-958C-7D41-A64D-F75AF375924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186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6174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65355-836B-A8E5-68F9-4016C263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87B481C-BB2B-7A0E-3718-8A1CF227C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466D0BE-121F-95CA-FB59-592CD652D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750"/>
              </a:spcAft>
            </a:pPr>
            <a:br>
              <a:rPr lang="fr-FR" b="0" dirty="0">
                <a:effectLst/>
              </a:rPr>
            </a:br>
            <a:r>
              <a:rPr lang="fr-FR" b="0" dirty="0" err="1">
                <a:effectLst/>
              </a:rPr>
              <a:t>Ambiguity</a:t>
            </a:r>
            <a:r>
              <a:rPr lang="fr-FR" b="0" dirty="0">
                <a:effectLst/>
              </a:rPr>
              <a:t> (Ambiguïté)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"I </a:t>
            </a:r>
            <a:r>
              <a:rPr lang="fr-FR" dirty="0" err="1">
                <a:effectLst/>
              </a:rPr>
              <a:t>saw</a:t>
            </a:r>
            <a:r>
              <a:rPr lang="fr-FR" dirty="0">
                <a:effectLst/>
              </a:rPr>
              <a:t> the </a:t>
            </a:r>
            <a:r>
              <a:rPr lang="fr-FR" dirty="0" err="1">
                <a:effectLst/>
              </a:rPr>
              <a:t>banker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with</a:t>
            </a:r>
            <a:r>
              <a:rPr lang="fr-FR" dirty="0">
                <a:effectLst/>
              </a:rPr>
              <a:t> the </a:t>
            </a:r>
            <a:r>
              <a:rPr lang="fr-FR" dirty="0" err="1">
                <a:effectLst/>
              </a:rPr>
              <a:t>telescope</a:t>
            </a:r>
            <a:r>
              <a:rPr lang="fr-FR" dirty="0">
                <a:effectLst/>
              </a:rPr>
              <a:t>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This sentence </a:t>
            </a:r>
            <a:r>
              <a:rPr lang="fr-FR" dirty="0" err="1">
                <a:effectLst/>
              </a:rPr>
              <a:t>is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ambiguous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because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it</a:t>
            </a:r>
            <a:r>
              <a:rPr lang="fr-FR" dirty="0">
                <a:effectLst/>
              </a:rPr>
              <a:t> can </a:t>
            </a:r>
            <a:r>
              <a:rPr lang="fr-FR" dirty="0" err="1">
                <a:effectLst/>
              </a:rPr>
              <a:t>mean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either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that</a:t>
            </a:r>
            <a:r>
              <a:rPr lang="fr-FR" dirty="0">
                <a:effectLst/>
              </a:rPr>
              <a:t> the </a:t>
            </a:r>
            <a:r>
              <a:rPr lang="fr-FR" dirty="0" err="1">
                <a:effectLst/>
              </a:rPr>
              <a:t>banker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is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using</a:t>
            </a:r>
            <a:r>
              <a:rPr lang="fr-FR" dirty="0">
                <a:effectLst/>
              </a:rPr>
              <a:t> a </a:t>
            </a:r>
            <a:r>
              <a:rPr lang="fr-FR" dirty="0" err="1">
                <a:effectLst/>
              </a:rPr>
              <a:t>telescope</a:t>
            </a:r>
            <a:r>
              <a:rPr lang="fr-FR" dirty="0">
                <a:effectLst/>
              </a:rPr>
              <a:t> or </a:t>
            </a:r>
            <a:r>
              <a:rPr lang="fr-FR" dirty="0" err="1">
                <a:effectLst/>
              </a:rPr>
              <a:t>that</a:t>
            </a:r>
            <a:r>
              <a:rPr lang="fr-FR" dirty="0">
                <a:effectLst/>
              </a:rPr>
              <a:t> the speaker </a:t>
            </a:r>
            <a:r>
              <a:rPr lang="fr-FR" dirty="0" err="1">
                <a:effectLst/>
              </a:rPr>
              <a:t>saw</a:t>
            </a:r>
            <a:r>
              <a:rPr lang="fr-FR" dirty="0">
                <a:effectLst/>
              </a:rPr>
              <a:t> the </a:t>
            </a:r>
            <a:r>
              <a:rPr lang="fr-FR" dirty="0" err="1">
                <a:effectLst/>
              </a:rPr>
              <a:t>banker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using</a:t>
            </a:r>
            <a:r>
              <a:rPr lang="fr-FR" dirty="0">
                <a:effectLst/>
              </a:rPr>
              <a:t> a </a:t>
            </a:r>
            <a:r>
              <a:rPr lang="fr-FR" dirty="0" err="1">
                <a:effectLst/>
              </a:rPr>
              <a:t>telescope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Polysemy</a:t>
            </a:r>
            <a:r>
              <a:rPr lang="fr-FR" b="0" dirty="0">
                <a:effectLst/>
              </a:rPr>
              <a:t> (Polysémie)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"The </a:t>
            </a:r>
            <a:r>
              <a:rPr lang="fr-FR" dirty="0" err="1">
                <a:effectLst/>
              </a:rPr>
              <a:t>bank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robbery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was</a:t>
            </a:r>
            <a:r>
              <a:rPr lang="fr-FR" dirty="0">
                <a:effectLst/>
              </a:rPr>
              <a:t> quick."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The </a:t>
            </a:r>
            <a:r>
              <a:rPr lang="fr-FR" dirty="0" err="1">
                <a:effectLst/>
              </a:rPr>
              <a:t>word</a:t>
            </a:r>
            <a:r>
              <a:rPr lang="fr-FR" dirty="0">
                <a:effectLst/>
              </a:rPr>
              <a:t> "</a:t>
            </a:r>
            <a:r>
              <a:rPr lang="fr-FR" dirty="0" err="1">
                <a:effectLst/>
              </a:rPr>
              <a:t>bank</a:t>
            </a:r>
            <a:r>
              <a:rPr lang="fr-FR" dirty="0">
                <a:effectLst/>
              </a:rPr>
              <a:t>" can </a:t>
            </a:r>
            <a:r>
              <a:rPr lang="fr-FR" dirty="0" err="1">
                <a:effectLst/>
              </a:rPr>
              <a:t>mean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either</a:t>
            </a:r>
            <a:r>
              <a:rPr lang="fr-FR" dirty="0">
                <a:effectLst/>
              </a:rPr>
              <a:t> a </a:t>
            </a:r>
            <a:r>
              <a:rPr lang="fr-FR" dirty="0" err="1">
                <a:effectLst/>
              </a:rPr>
              <a:t>financial</a:t>
            </a:r>
            <a:r>
              <a:rPr lang="fr-FR" dirty="0">
                <a:effectLst/>
              </a:rPr>
              <a:t> institution or the </a:t>
            </a:r>
            <a:r>
              <a:rPr lang="fr-FR" dirty="0" err="1">
                <a:effectLst/>
              </a:rPr>
              <a:t>side</a:t>
            </a:r>
            <a:r>
              <a:rPr lang="fr-FR" dirty="0">
                <a:effectLst/>
              </a:rPr>
              <a:t> of a river.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Homonymy</a:t>
            </a:r>
            <a:r>
              <a:rPr lang="fr-FR" b="0" dirty="0">
                <a:effectLst/>
              </a:rPr>
              <a:t> (Homonymie)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"The </a:t>
            </a:r>
            <a:r>
              <a:rPr lang="fr-FR" dirty="0" err="1">
                <a:effectLst/>
              </a:rPr>
              <a:t>bass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was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too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loud</a:t>
            </a:r>
            <a:r>
              <a:rPr lang="fr-FR" dirty="0">
                <a:effectLst/>
              </a:rPr>
              <a:t>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The </a:t>
            </a:r>
            <a:r>
              <a:rPr lang="fr-FR" dirty="0" err="1">
                <a:effectLst/>
              </a:rPr>
              <a:t>word</a:t>
            </a:r>
            <a:r>
              <a:rPr lang="fr-FR" dirty="0">
                <a:effectLst/>
              </a:rPr>
              <a:t> "</a:t>
            </a:r>
            <a:r>
              <a:rPr lang="fr-FR" dirty="0" err="1">
                <a:effectLst/>
              </a:rPr>
              <a:t>bass</a:t>
            </a:r>
            <a:r>
              <a:rPr lang="fr-FR" dirty="0">
                <a:effectLst/>
              </a:rPr>
              <a:t>" can </a:t>
            </a:r>
            <a:r>
              <a:rPr lang="fr-FR" dirty="0" err="1">
                <a:effectLst/>
              </a:rPr>
              <a:t>refer</a:t>
            </a:r>
            <a:r>
              <a:rPr lang="fr-FR" dirty="0">
                <a:effectLst/>
              </a:rPr>
              <a:t> to </a:t>
            </a:r>
            <a:r>
              <a:rPr lang="fr-FR" dirty="0" err="1">
                <a:effectLst/>
              </a:rPr>
              <a:t>either</a:t>
            </a:r>
            <a:r>
              <a:rPr lang="fr-FR" dirty="0">
                <a:effectLst/>
              </a:rPr>
              <a:t> a type of </a:t>
            </a:r>
            <a:r>
              <a:rPr lang="fr-FR" dirty="0" err="1">
                <a:effectLst/>
              </a:rPr>
              <a:t>fish</a:t>
            </a:r>
            <a:r>
              <a:rPr lang="fr-FR" dirty="0">
                <a:effectLst/>
              </a:rPr>
              <a:t> or a </a:t>
            </a:r>
            <a:r>
              <a:rPr lang="fr-FR" dirty="0" err="1">
                <a:effectLst/>
              </a:rPr>
              <a:t>low-frequency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sound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Synonymy</a:t>
            </a:r>
            <a:r>
              <a:rPr lang="fr-FR" b="0" dirty="0">
                <a:effectLst/>
              </a:rPr>
              <a:t> (Synonymie)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"The cat </a:t>
            </a:r>
            <a:r>
              <a:rPr lang="fr-FR" dirty="0" err="1">
                <a:effectLst/>
              </a:rPr>
              <a:t>is</a:t>
            </a:r>
            <a:r>
              <a:rPr lang="fr-FR" dirty="0">
                <a:effectLst/>
              </a:rPr>
              <a:t> on the couch."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The </a:t>
            </a:r>
            <a:r>
              <a:rPr lang="fr-FR" dirty="0" err="1">
                <a:effectLst/>
              </a:rPr>
              <a:t>word</a:t>
            </a:r>
            <a:r>
              <a:rPr lang="fr-FR" dirty="0">
                <a:effectLst/>
              </a:rPr>
              <a:t> "couch" can </a:t>
            </a:r>
            <a:r>
              <a:rPr lang="fr-FR" dirty="0" err="1">
                <a:effectLst/>
              </a:rPr>
              <a:t>be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replaced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with</a:t>
            </a:r>
            <a:r>
              <a:rPr lang="fr-FR" dirty="0">
                <a:effectLst/>
              </a:rPr>
              <a:t> "sofa" </a:t>
            </a:r>
            <a:r>
              <a:rPr lang="fr-FR" dirty="0" err="1">
                <a:effectLst/>
              </a:rPr>
              <a:t>without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changing</a:t>
            </a:r>
            <a:r>
              <a:rPr lang="fr-FR" dirty="0">
                <a:effectLst/>
              </a:rPr>
              <a:t> the </a:t>
            </a:r>
            <a:r>
              <a:rPr lang="fr-FR" dirty="0" err="1">
                <a:effectLst/>
              </a:rPr>
              <a:t>meaning</a:t>
            </a:r>
            <a:r>
              <a:rPr lang="fr-FR" dirty="0">
                <a:effectLst/>
              </a:rPr>
              <a:t> of the sentence, but an NLP model must </a:t>
            </a:r>
            <a:r>
              <a:rPr lang="fr-FR" dirty="0" err="1">
                <a:effectLst/>
              </a:rPr>
              <a:t>understand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that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these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words</a:t>
            </a:r>
            <a:r>
              <a:rPr lang="fr-FR" dirty="0">
                <a:effectLst/>
              </a:rPr>
              <a:t> are </a:t>
            </a:r>
            <a:r>
              <a:rPr lang="fr-FR" dirty="0" err="1">
                <a:effectLst/>
              </a:rPr>
              <a:t>synonyms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Context</a:t>
            </a:r>
            <a:r>
              <a:rPr lang="fr-FR" b="0" dirty="0">
                <a:effectLst/>
              </a:rPr>
              <a:t> </a:t>
            </a:r>
            <a:r>
              <a:rPr lang="fr-FR" b="0" dirty="0" err="1">
                <a:effectLst/>
              </a:rPr>
              <a:t>Dependency</a:t>
            </a:r>
            <a:r>
              <a:rPr lang="fr-FR" b="0" dirty="0">
                <a:effectLst/>
              </a:rPr>
              <a:t> (Dépendance au contexte)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"I </a:t>
            </a:r>
            <a:r>
              <a:rPr lang="fr-FR" dirty="0" err="1">
                <a:effectLst/>
              </a:rPr>
              <a:t>am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going</a:t>
            </a:r>
            <a:r>
              <a:rPr lang="fr-FR" dirty="0">
                <a:effectLst/>
              </a:rPr>
              <a:t> to the </a:t>
            </a:r>
            <a:r>
              <a:rPr lang="fr-FR" dirty="0" err="1">
                <a:effectLst/>
              </a:rPr>
              <a:t>bank</a:t>
            </a:r>
            <a:r>
              <a:rPr lang="fr-FR" dirty="0">
                <a:effectLst/>
              </a:rPr>
              <a:t>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The </a:t>
            </a:r>
            <a:r>
              <a:rPr lang="fr-FR" dirty="0" err="1">
                <a:effectLst/>
              </a:rPr>
              <a:t>word</a:t>
            </a:r>
            <a:r>
              <a:rPr lang="fr-FR" dirty="0">
                <a:effectLst/>
              </a:rPr>
              <a:t> "</a:t>
            </a:r>
            <a:r>
              <a:rPr lang="fr-FR" dirty="0" err="1">
                <a:effectLst/>
              </a:rPr>
              <a:t>bank</a:t>
            </a:r>
            <a:r>
              <a:rPr lang="fr-FR" dirty="0">
                <a:effectLst/>
              </a:rPr>
              <a:t>" can </a:t>
            </a:r>
            <a:r>
              <a:rPr lang="fr-FR" dirty="0" err="1">
                <a:effectLst/>
              </a:rPr>
              <a:t>mean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either</a:t>
            </a:r>
            <a:r>
              <a:rPr lang="fr-FR" dirty="0">
                <a:effectLst/>
              </a:rPr>
              <a:t> a </a:t>
            </a:r>
            <a:r>
              <a:rPr lang="fr-FR" dirty="0" err="1">
                <a:effectLst/>
              </a:rPr>
              <a:t>financial</a:t>
            </a:r>
            <a:r>
              <a:rPr lang="fr-FR" dirty="0">
                <a:effectLst/>
              </a:rPr>
              <a:t> institution or the </a:t>
            </a:r>
            <a:r>
              <a:rPr lang="fr-FR" dirty="0" err="1">
                <a:effectLst/>
              </a:rPr>
              <a:t>side</a:t>
            </a:r>
            <a:r>
              <a:rPr lang="fr-FR" dirty="0">
                <a:effectLst/>
              </a:rPr>
              <a:t> of a river, </a:t>
            </a:r>
            <a:r>
              <a:rPr lang="fr-FR" dirty="0" err="1">
                <a:effectLst/>
              </a:rPr>
              <a:t>depending</a:t>
            </a:r>
            <a:r>
              <a:rPr lang="fr-FR" dirty="0">
                <a:effectLst/>
              </a:rPr>
              <a:t> on the </a:t>
            </a:r>
            <a:r>
              <a:rPr lang="fr-FR" dirty="0" err="1">
                <a:effectLst/>
              </a:rPr>
              <a:t>context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Idioms</a:t>
            </a:r>
            <a:r>
              <a:rPr lang="fr-FR" b="0" dirty="0">
                <a:effectLst/>
              </a:rPr>
              <a:t> (Expressions idiomatiques)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</a:t>
            </a:r>
            <a:r>
              <a:rPr lang="fr-FR" dirty="0" err="1">
                <a:effectLst/>
              </a:rPr>
              <a:t>It's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raining</a:t>
            </a:r>
            <a:r>
              <a:rPr lang="fr-FR" dirty="0">
                <a:effectLst/>
              </a:rPr>
              <a:t> cats and </a:t>
            </a:r>
            <a:r>
              <a:rPr lang="fr-FR" dirty="0" err="1">
                <a:effectLst/>
              </a:rPr>
              <a:t>dogs</a:t>
            </a:r>
            <a:r>
              <a:rPr lang="fr-FR" dirty="0">
                <a:effectLst/>
              </a:rPr>
              <a:t>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This </a:t>
            </a:r>
            <a:r>
              <a:rPr lang="fr-FR" dirty="0" err="1">
                <a:effectLst/>
              </a:rPr>
              <a:t>idiomatic</a:t>
            </a:r>
            <a:r>
              <a:rPr lang="fr-FR" dirty="0">
                <a:effectLst/>
              </a:rPr>
              <a:t> expression means </a:t>
            </a:r>
            <a:r>
              <a:rPr lang="fr-FR" dirty="0" err="1">
                <a:effectLst/>
              </a:rPr>
              <a:t>it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is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raining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heavily</a:t>
            </a:r>
            <a:r>
              <a:rPr lang="fr-FR" dirty="0">
                <a:effectLst/>
              </a:rPr>
              <a:t>, but </a:t>
            </a:r>
            <a:r>
              <a:rPr lang="fr-FR" dirty="0" err="1">
                <a:effectLst/>
              </a:rPr>
              <a:t>literally</a:t>
            </a:r>
            <a:r>
              <a:rPr lang="fr-FR" dirty="0">
                <a:effectLst/>
              </a:rPr>
              <a:t>, </a:t>
            </a:r>
            <a:r>
              <a:rPr lang="fr-FR" dirty="0" err="1">
                <a:effectLst/>
              </a:rPr>
              <a:t>it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makes</a:t>
            </a:r>
            <a:r>
              <a:rPr lang="fr-FR" dirty="0">
                <a:effectLst/>
              </a:rPr>
              <a:t> no </a:t>
            </a:r>
            <a:r>
              <a:rPr lang="fr-FR" dirty="0" err="1">
                <a:effectLst/>
              </a:rPr>
              <a:t>sense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Sarcasm</a:t>
            </a:r>
            <a:r>
              <a:rPr lang="fr-FR" b="0" dirty="0">
                <a:effectLst/>
              </a:rPr>
              <a:t> (Sarcasme)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"Oh </a:t>
            </a:r>
            <a:r>
              <a:rPr lang="fr-FR" dirty="0" err="1">
                <a:effectLst/>
              </a:rPr>
              <a:t>great</a:t>
            </a:r>
            <a:r>
              <a:rPr lang="fr-FR" dirty="0">
                <a:effectLst/>
              </a:rPr>
              <a:t>, </a:t>
            </a:r>
            <a:r>
              <a:rPr lang="fr-FR" dirty="0" err="1">
                <a:effectLst/>
              </a:rPr>
              <a:t>it's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raining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again</a:t>
            </a:r>
            <a:r>
              <a:rPr lang="fr-FR" dirty="0">
                <a:effectLst/>
              </a:rPr>
              <a:t>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</a:t>
            </a:r>
            <a:r>
              <a:rPr lang="fr-FR" dirty="0" err="1">
                <a:effectLst/>
              </a:rPr>
              <a:t>Sarcasm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is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difficult</a:t>
            </a:r>
            <a:r>
              <a:rPr lang="fr-FR" dirty="0">
                <a:effectLst/>
              </a:rPr>
              <a:t> for NLP </a:t>
            </a:r>
            <a:r>
              <a:rPr lang="fr-FR" dirty="0" err="1">
                <a:effectLst/>
              </a:rPr>
              <a:t>models</a:t>
            </a:r>
            <a:r>
              <a:rPr lang="fr-FR" dirty="0">
                <a:effectLst/>
              </a:rPr>
              <a:t> to </a:t>
            </a:r>
            <a:r>
              <a:rPr lang="fr-FR" dirty="0" err="1">
                <a:effectLst/>
              </a:rPr>
              <a:t>detect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because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it</a:t>
            </a:r>
            <a:r>
              <a:rPr lang="fr-FR" dirty="0">
                <a:effectLst/>
              </a:rPr>
              <a:t> relies on </a:t>
            </a:r>
            <a:r>
              <a:rPr lang="fr-FR" dirty="0" err="1">
                <a:effectLst/>
              </a:rPr>
              <a:t>tone</a:t>
            </a:r>
            <a:r>
              <a:rPr lang="fr-FR" dirty="0">
                <a:effectLst/>
              </a:rPr>
              <a:t> and </a:t>
            </a:r>
            <a:r>
              <a:rPr lang="fr-FR" dirty="0" err="1">
                <a:effectLst/>
              </a:rPr>
              <a:t>context</a:t>
            </a:r>
            <a:r>
              <a:rPr lang="fr-FR" dirty="0">
                <a:effectLst/>
              </a:rPr>
              <a:t>, </a:t>
            </a:r>
            <a:r>
              <a:rPr lang="fr-FR" dirty="0" err="1">
                <a:effectLst/>
              </a:rPr>
              <a:t>which</a:t>
            </a:r>
            <a:r>
              <a:rPr lang="fr-FR" dirty="0">
                <a:effectLst/>
              </a:rPr>
              <a:t> are not </a:t>
            </a:r>
            <a:r>
              <a:rPr lang="fr-FR" dirty="0" err="1">
                <a:effectLst/>
              </a:rPr>
              <a:t>always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obvious</a:t>
            </a:r>
            <a:r>
              <a:rPr lang="fr-FR" dirty="0">
                <a:effectLst/>
              </a:rPr>
              <a:t> in </a:t>
            </a:r>
            <a:r>
              <a:rPr lang="fr-FR" dirty="0" err="1">
                <a:effectLst/>
              </a:rPr>
              <a:t>written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text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Negation</a:t>
            </a:r>
            <a:r>
              <a:rPr lang="fr-FR" b="0" dirty="0">
                <a:effectLst/>
              </a:rPr>
              <a:t> (Négation)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"I </a:t>
            </a:r>
            <a:r>
              <a:rPr lang="fr-FR" dirty="0" err="1">
                <a:effectLst/>
              </a:rPr>
              <a:t>did</a:t>
            </a:r>
            <a:r>
              <a:rPr lang="fr-FR" dirty="0">
                <a:effectLst/>
              </a:rPr>
              <a:t> not </a:t>
            </a:r>
            <a:r>
              <a:rPr lang="fr-FR" dirty="0" err="1">
                <a:effectLst/>
              </a:rPr>
              <a:t>say</a:t>
            </a:r>
            <a:r>
              <a:rPr lang="fr-FR" dirty="0">
                <a:effectLst/>
              </a:rPr>
              <a:t> I </a:t>
            </a:r>
            <a:r>
              <a:rPr lang="fr-FR" dirty="0" err="1">
                <a:effectLst/>
              </a:rPr>
              <a:t>would</a:t>
            </a:r>
            <a:r>
              <a:rPr lang="fr-FR" dirty="0">
                <a:effectLst/>
              </a:rPr>
              <a:t> come."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</a:t>
            </a:r>
            <a:r>
              <a:rPr lang="fr-FR" dirty="0" err="1">
                <a:effectLst/>
              </a:rPr>
              <a:t>Negation</a:t>
            </a:r>
            <a:r>
              <a:rPr lang="fr-FR" dirty="0">
                <a:effectLst/>
              </a:rPr>
              <a:t> can reverse the </a:t>
            </a:r>
            <a:r>
              <a:rPr lang="fr-FR" dirty="0" err="1">
                <a:effectLst/>
              </a:rPr>
              <a:t>meaning</a:t>
            </a:r>
            <a:r>
              <a:rPr lang="fr-FR" dirty="0">
                <a:effectLst/>
              </a:rPr>
              <a:t> of a sentence, </a:t>
            </a:r>
            <a:r>
              <a:rPr lang="fr-FR" dirty="0" err="1">
                <a:effectLst/>
              </a:rPr>
              <a:t>which</a:t>
            </a:r>
            <a:r>
              <a:rPr lang="fr-FR" dirty="0">
                <a:effectLst/>
              </a:rPr>
              <a:t> can </a:t>
            </a:r>
            <a:r>
              <a:rPr lang="fr-FR" dirty="0" err="1">
                <a:effectLst/>
              </a:rPr>
              <a:t>be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challenging</a:t>
            </a:r>
            <a:r>
              <a:rPr lang="fr-FR" dirty="0">
                <a:effectLst/>
              </a:rPr>
              <a:t> for an NLP model to </a:t>
            </a:r>
            <a:r>
              <a:rPr lang="fr-FR" dirty="0" err="1">
                <a:effectLst/>
              </a:rPr>
              <a:t>interpret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correctly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Coreference</a:t>
            </a:r>
            <a:r>
              <a:rPr lang="fr-FR" b="0" dirty="0">
                <a:effectLst/>
              </a:rPr>
              <a:t> </a:t>
            </a:r>
            <a:r>
              <a:rPr lang="fr-FR" b="0" dirty="0" err="1">
                <a:effectLst/>
              </a:rPr>
              <a:t>Resolution</a:t>
            </a:r>
            <a:r>
              <a:rPr lang="fr-FR" b="0" dirty="0">
                <a:effectLst/>
              </a:rPr>
              <a:t> (Résolution de coréférence)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"Mary </a:t>
            </a:r>
            <a:r>
              <a:rPr lang="fr-FR" dirty="0" err="1">
                <a:effectLst/>
              </a:rPr>
              <a:t>said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she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would</a:t>
            </a:r>
            <a:r>
              <a:rPr lang="fr-FR" dirty="0">
                <a:effectLst/>
              </a:rPr>
              <a:t> come."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The </a:t>
            </a:r>
            <a:r>
              <a:rPr lang="fr-FR" dirty="0" err="1">
                <a:effectLst/>
              </a:rPr>
              <a:t>pronoun</a:t>
            </a:r>
            <a:r>
              <a:rPr lang="fr-FR" dirty="0">
                <a:effectLst/>
              </a:rPr>
              <a:t> "</a:t>
            </a:r>
            <a:r>
              <a:rPr lang="fr-FR" dirty="0" err="1">
                <a:effectLst/>
              </a:rPr>
              <a:t>she</a:t>
            </a:r>
            <a:r>
              <a:rPr lang="fr-FR" dirty="0">
                <a:effectLst/>
              </a:rPr>
              <a:t>" </a:t>
            </a:r>
            <a:r>
              <a:rPr lang="fr-FR" dirty="0" err="1">
                <a:effectLst/>
              </a:rPr>
              <a:t>refers</a:t>
            </a:r>
            <a:r>
              <a:rPr lang="fr-FR" dirty="0">
                <a:effectLst/>
              </a:rPr>
              <a:t> to "Mary," and an NLP model must </a:t>
            </a:r>
            <a:r>
              <a:rPr lang="fr-FR" dirty="0" err="1">
                <a:effectLst/>
              </a:rPr>
              <a:t>understand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this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coreference</a:t>
            </a:r>
            <a:r>
              <a:rPr lang="fr-FR" dirty="0">
                <a:effectLst/>
              </a:rPr>
              <a:t> to </a:t>
            </a:r>
            <a:r>
              <a:rPr lang="fr-FR" dirty="0" err="1">
                <a:effectLst/>
              </a:rPr>
              <a:t>interpret</a:t>
            </a:r>
            <a:r>
              <a:rPr lang="fr-FR" dirty="0">
                <a:effectLst/>
              </a:rPr>
              <a:t> the sentence </a:t>
            </a:r>
            <a:r>
              <a:rPr lang="fr-FR" dirty="0" err="1">
                <a:effectLst/>
              </a:rPr>
              <a:t>correctly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Named</a:t>
            </a:r>
            <a:r>
              <a:rPr lang="fr-FR" b="0" dirty="0">
                <a:effectLst/>
              </a:rPr>
              <a:t> </a:t>
            </a:r>
            <a:r>
              <a:rPr lang="fr-FR" b="0" dirty="0" err="1">
                <a:effectLst/>
              </a:rPr>
              <a:t>Entity</a:t>
            </a:r>
            <a:r>
              <a:rPr lang="fr-FR" b="0" dirty="0">
                <a:effectLst/>
              </a:rPr>
              <a:t> Recognition (Reconnaissance d'entités nommées)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"Paris </a:t>
            </a:r>
            <a:r>
              <a:rPr lang="fr-FR" dirty="0" err="1">
                <a:effectLst/>
              </a:rPr>
              <a:t>is</a:t>
            </a:r>
            <a:r>
              <a:rPr lang="fr-FR" dirty="0">
                <a:effectLst/>
              </a:rPr>
              <a:t> the capital of France."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An NLP model must </a:t>
            </a:r>
            <a:r>
              <a:rPr lang="fr-FR" dirty="0" err="1">
                <a:effectLst/>
              </a:rPr>
              <a:t>identify</a:t>
            </a:r>
            <a:r>
              <a:rPr lang="fr-FR" dirty="0">
                <a:effectLst/>
              </a:rPr>
              <a:t> "Paris" as a city and "France" as a country, </a:t>
            </a:r>
            <a:r>
              <a:rPr lang="fr-FR" dirty="0" err="1">
                <a:effectLst/>
              </a:rPr>
              <a:t>which</a:t>
            </a:r>
            <a:r>
              <a:rPr lang="fr-FR" dirty="0">
                <a:effectLst/>
              </a:rPr>
              <a:t> can </a:t>
            </a:r>
            <a:r>
              <a:rPr lang="fr-FR" dirty="0" err="1">
                <a:effectLst/>
              </a:rPr>
              <a:t>be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challenging</a:t>
            </a:r>
            <a:r>
              <a:rPr lang="fr-FR" dirty="0">
                <a:effectLst/>
              </a:rPr>
              <a:t> due to the </a:t>
            </a:r>
            <a:r>
              <a:rPr lang="fr-FR" dirty="0" err="1">
                <a:effectLst/>
              </a:rPr>
              <a:t>variability</a:t>
            </a:r>
            <a:r>
              <a:rPr lang="fr-FR" dirty="0">
                <a:effectLst/>
              </a:rPr>
              <a:t> of </a:t>
            </a:r>
            <a:r>
              <a:rPr lang="fr-FR" dirty="0" err="1">
                <a:effectLst/>
              </a:rPr>
              <a:t>proper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names</a:t>
            </a:r>
            <a:r>
              <a:rPr lang="fr-FR" dirty="0">
                <a:effectLst/>
              </a:rPr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E18641-E232-41BC-928C-98D623B92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824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264BA-EBD1-974D-5CEC-BF93C1ACE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B7EDD29-9ECB-3A29-29BE-E9F03964D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188A1FD-FDDC-4E35-AE9D-0452DE42E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200A778-9ACF-2084-9563-AC87B5B693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8715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D2670-486F-98F0-EC77-047305079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1D3F434-7EFE-B20A-E9FE-FC03560F4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2AAFCEE-F488-6E49-B491-9E9E0E0B9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7260FD-51F3-EF65-F96A-0DD5D597C5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581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83E8C-8831-5D53-36C9-611FF0C83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44A1146-E77C-67F1-F12E-126F05B07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426C2EF-8B2B-F5E0-8300-501F9FE34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endParaRPr lang="fr-FR" b="0" i="0" u="none" strike="noStrike" dirty="0">
              <a:solidFill>
                <a:srgbClr val="E4E4E7"/>
              </a:solidFill>
              <a:effectLst/>
              <a:latin typeface="ui-sans-serif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510790-CDAD-E65B-F4A6-8C4D5118F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7091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E638AB-AB44-4F44-785B-96931090D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C5BB094-185D-6C1F-E8E2-02C460A2E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48E908-3F7D-BE66-1BAF-48AFA60EB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B0C8F-8E33-7D4B-9DCF-7846A2EEA7BC}" type="datetime1">
              <a:rPr lang="fr-FR" smtClean="0"/>
              <a:t>03/02/2025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DB4057-F791-D7BB-5389-3187C8C9C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80D4BA-190C-14AF-E6BC-1AB74F44D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86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0FE821-2576-9651-58EC-D62A8C7CD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75DD06-FC64-CFC1-0A6C-ADC010106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37CA26-36E2-1A7A-72F3-37DF3F80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5EB9-46A4-524F-A835-D669998F01A6}" type="datetime1">
              <a:rPr lang="fr-FR" smtClean="0"/>
              <a:t>03/02/2025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D1542E-D2D1-BB47-00D6-D9B1EF66D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2E8FE9-F73F-DD65-CDEE-D88E626E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86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BC490C-7B6A-CD7C-DA28-04CBFF384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0ED621-B471-72E9-02E2-0D472DEA4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A63065-521A-5DBC-71F4-DCF6E9D37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256E9-F474-FE40-9628-98DEF26086B4}" type="datetime1">
              <a:rPr lang="fr-FR" smtClean="0"/>
              <a:t>03/02/2025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BED33D-F900-95F1-B4D5-F8803096C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D1837B-5DBE-E8E0-5F94-CA65E491E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73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0EB0C-2D6C-A35D-3E38-8EF35B11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9E5493-B0AB-CE62-736C-951FD00FD5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F308763-2A51-56FC-5374-D7A15ECCA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AAFD73C-7D06-D51F-510A-3529CF77D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A66BB-E4F9-CD47-978F-A29BA084C690}" type="datetime1">
              <a:rPr lang="fr-FR" smtClean="0"/>
              <a:t>03/02/2025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2CBF3C5-04D3-9218-12FE-9DE02DDCD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4728E8-0E1D-7809-2E4D-ADCF6F1FF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716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54130B-9370-7883-0717-1BD68A386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F848E4E-97DD-6C44-9961-5F656105D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3EF8ED9-7E68-987E-4801-4FCC154EA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E617C08-B632-10ED-F514-3542580AE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C8005FD-BB5C-7715-9BBB-4652B44B7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8748F56-F980-5498-B88A-57DB85FF4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135E-FA81-C949-BF84-217CF1FED30B}" type="datetime1">
              <a:rPr lang="fr-FR" smtClean="0"/>
              <a:t>03/02/2025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54B50B6-47B3-6075-4EC2-36F65EA10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25A3815-5467-2E89-3A5F-0BA78FAB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97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DB8EC-5949-E9DB-81BD-1745DCE71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307A441-A698-1837-AC62-4D1797875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417FA-B0AE-A046-961D-49ACF96A1E38}" type="datetime1">
              <a:rPr lang="fr-FR" smtClean="0"/>
              <a:t>03/02/2025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0C7AD70-E50C-75FF-4C19-8242D6634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DA152C5-28E3-1071-CEF8-84E900845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5627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D017A14-40F9-6437-5261-222B51BEB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70DE-B107-C14C-8AC4-727633FCA810}" type="datetime1">
              <a:rPr lang="fr-FR" smtClean="0"/>
              <a:t>03/02/2025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1AAAE1D-5F91-D7B8-0C07-F57F37D24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7FDAD7-2841-DE0C-052B-368580726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550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B7B945-B2F7-153C-3391-88D7C31A8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1A287C-1AD2-E80E-E53C-28DCFA7D6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EB51E35-4073-D78F-44C5-C2143EB0D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7E06BC-CF7C-52F4-A947-C96A2BDBF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9A73-56E1-0847-98C6-1343EC2D8C39}" type="datetime1">
              <a:rPr lang="fr-FR" smtClean="0"/>
              <a:t>03/02/2025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7F41F4-A70C-6EAD-4A46-A5C287EC6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076A87E-FA41-78D4-EC00-5D8998430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8857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D0BC82-6D03-592A-0C8A-8804C8AD7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9859FD4-01A7-D155-B541-03EAFB59A9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6FF0AA2-CEED-722D-EC4B-68D1642CF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7F03BE-E420-E221-39C5-0519A77F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3398-1D35-6544-A2CC-10E1CFDB53BA}" type="datetime1">
              <a:rPr lang="fr-FR" smtClean="0"/>
              <a:t>03/02/2025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8752CD-3356-E07D-5257-BE3F6539A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E514820-E6C4-F3D4-EE8D-70ABD3B1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61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47F897-700C-3101-5C3C-72A9FF91D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2882897-D3D4-C2D1-D319-9B718B030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AF124C-E111-5CC6-61AA-889BF1A47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B707-1D71-774A-9821-01A895ED4CA0}" type="datetime1">
              <a:rPr lang="fr-FR" smtClean="0"/>
              <a:t>03/02/2025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D92984-1579-FADD-F22D-588D62EB6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3F842A-D66B-0FA6-5EE0-CE72083FB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431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D283032-C078-B82A-8633-A57C5B4CA3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5D9928-6925-D028-A1F6-4349D4D49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6365FF-1093-5263-CEC4-A966C0CA1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A1DB-9F39-7549-A1CF-7DB3AA086340}" type="datetime1">
              <a:rPr lang="fr-FR" smtClean="0"/>
              <a:t>03/02/2025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69AAC2-C2B1-D84B-3DA1-7D3688A7E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91DF25-B577-4592-5552-5C6F2E8F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07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8E99DA2-E800-51D7-232D-195A1643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5CD912A-3146-AFCE-A9CC-E173D878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4607F7-0DF0-ADD6-CDE4-5E5480058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9F0546-0615-3E45-8C8A-078A7AEBEBD8}" type="datetime1">
              <a:rPr lang="fr-FR" smtClean="0"/>
              <a:t>03/02/2025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06EDC5-D7F4-E73D-0D3C-F995AEDFF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18EB3C-E203-29A4-64EE-1B7292D3A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28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56B84-BFA1-BA9A-1552-59B724FBA9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Natural Language Processing </a:t>
            </a:r>
            <a:r>
              <a:rPr lang="en-GB" dirty="0"/>
              <a:t>Static Embeddings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0571C27-E009-ADD7-40B4-859AAF7C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</p:spTree>
    <p:extLst>
      <p:ext uri="{BB962C8B-B14F-4D97-AF65-F5344CB8AC3E}">
        <p14:creationId xmlns:p14="http://schemas.microsoft.com/office/powerpoint/2010/main" val="1299667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4A8439-9850-DBFA-890A-1A6B7ED1A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Static Embeddings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FE9E441-FD91-7B42-3069-A065C36B7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B336254-BF5B-D5F4-FDE7-9B8877DA5C0C}"/>
              </a:ext>
            </a:extLst>
          </p:cNvPr>
          <p:cNvSpPr txBox="1"/>
          <p:nvPr/>
        </p:nvSpPr>
        <p:spPr>
          <a:xfrm>
            <a:off x="838199" y="1828800"/>
            <a:ext cx="10515600" cy="1955800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b="1" i="0" u="none" strike="noStrike" dirty="0">
                <a:effectLst/>
                <a:latin typeface="ui-sans-serif"/>
              </a:rPr>
              <a:t>xxx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5134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DD52C-9560-252A-987B-C7E33A39A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632051-9A49-2CBB-D52F-792CBA6B9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Static Embeddings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4CB4AD7-AD70-75FC-9829-1EA684429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3C8AB3B-6C02-E73C-3DAF-2D0DE0C862FB}"/>
              </a:ext>
            </a:extLst>
          </p:cNvPr>
          <p:cNvSpPr txBox="1"/>
          <p:nvPr/>
        </p:nvSpPr>
        <p:spPr>
          <a:xfrm>
            <a:off x="838199" y="1828800"/>
            <a:ext cx="8703365" cy="4279900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1400" b="1" i="0" u="none" strike="noStrike" dirty="0">
                <a:effectLst/>
                <a:latin typeface="ui-sans-serif"/>
              </a:rPr>
              <a:t>xxx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49636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999EA-4530-EF17-A608-74FAA6691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805455-25B8-4238-4F19-D13879E36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Static Embeddings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D50EA91-4E0D-B280-BDA4-095E90EFA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0604C93-B59A-1851-60BC-504047DB7EDA}"/>
              </a:ext>
            </a:extLst>
          </p:cNvPr>
          <p:cNvSpPr txBox="1"/>
          <p:nvPr/>
        </p:nvSpPr>
        <p:spPr>
          <a:xfrm>
            <a:off x="838199" y="1828800"/>
            <a:ext cx="8683488" cy="1987826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/>
            <a:r>
              <a:rPr lang="en-GB" b="1" i="0" u="none" strike="noStrike" dirty="0">
                <a:effectLst/>
                <a:latin typeface="ui-sans-serif"/>
              </a:rPr>
              <a:t>xxx</a:t>
            </a:r>
            <a:endParaRPr lang="en-GB" b="0" i="0" u="none" strike="noStrike" dirty="0">
              <a:effectLst/>
              <a:latin typeface="ui-sans-serif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9990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46A85-6CA9-B486-E654-7FE68B3D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FC8B85-3044-AC27-8EF4-40FD8EBC8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noProof="0" dirty="0"/>
              <a:t>NLP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A26035D-78E9-2F62-EF8E-9DB9A5C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DE4DA70-D14B-F54C-9F42-1B20C5A89243}"/>
              </a:ext>
            </a:extLst>
          </p:cNvPr>
          <p:cNvSpPr txBox="1"/>
          <p:nvPr/>
        </p:nvSpPr>
        <p:spPr>
          <a:xfrm>
            <a:off x="2919663" y="3208421"/>
            <a:ext cx="6112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/>
              <a:t>Word 2 </a:t>
            </a:r>
            <a:r>
              <a:rPr lang="en-GB" sz="3600" b="1" dirty="0" err="1"/>
              <a:t>Vec</a:t>
            </a:r>
            <a:endParaRPr lang="en-GB" sz="3600" b="1" dirty="0"/>
          </a:p>
        </p:txBody>
      </p:sp>
    </p:spTree>
    <p:extLst>
      <p:ext uri="{BB962C8B-B14F-4D97-AF65-F5344CB8AC3E}">
        <p14:creationId xmlns:p14="http://schemas.microsoft.com/office/powerpoint/2010/main" val="3263461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73A2C-CCC5-720F-4044-01A9BC2C8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D9D9D1-62DD-CE93-A023-2AFAF21F0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Tokenization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8D13D7-5D1B-FE8D-E8A8-50D5C3341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5D8C8B5-9CA6-C5F8-FDF2-D4D1F090E0EC}"/>
              </a:ext>
            </a:extLst>
          </p:cNvPr>
          <p:cNvSpPr txBox="1"/>
          <p:nvPr/>
        </p:nvSpPr>
        <p:spPr>
          <a:xfrm>
            <a:off x="838199" y="1525445"/>
            <a:ext cx="1029502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 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Tokenization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spacy</a:t>
            </a:r>
            <a:endParaRPr lang="fr-FR" sz="14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 err="1">
                <a:effectLst/>
                <a:latin typeface="Menlo" panose="020B0609030804020204" pitchFamily="49" charset="0"/>
              </a:rPr>
              <a:t>nlp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spacy.load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'en_core_web_sm'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400" b="0" dirty="0">
                <a:effectLst/>
                <a:latin typeface="Menlo" panose="020B0609030804020204" pitchFamily="49" charset="0"/>
              </a:rPr>
              <a:t>sentence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"He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didn't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want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to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pay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$20 for the book."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doc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nlp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(sentence)</a:t>
            </a:r>
          </a:p>
          <a:p>
            <a:pPr>
              <a:lnSpc>
                <a:spcPts val="1350"/>
              </a:lnSpc>
            </a:pPr>
            <a:r>
              <a:rPr lang="fr-FR" sz="14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(doc)</a:t>
            </a:r>
          </a:p>
          <a:p>
            <a:pPr>
              <a:lnSpc>
                <a:spcPts val="1350"/>
              </a:lnSpc>
            </a:pPr>
            <a:r>
              <a:rPr lang="fr-FR" sz="14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([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t.text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doc]) 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iterate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over the Doc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object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(doc[</a:t>
            </a:r>
            <a:r>
              <a:rPr lang="fr-FR" sz="14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fr-FR" sz="14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fr-FR" sz="14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])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Slicing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([(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t.text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,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t.i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)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doc])</a:t>
            </a:r>
          </a:p>
          <a:p>
            <a:pPr>
              <a:lnSpc>
                <a:spcPts val="1350"/>
              </a:lnSpc>
            </a:pPr>
            <a:endParaRPr lang="fr-FR" sz="1400" dirty="0">
              <a:solidFill>
                <a:srgbClr val="DFD5D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400" b="0" dirty="0">
              <a:solidFill>
                <a:srgbClr val="DFD5D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He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didn't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want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 to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pay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 $20 for the book.</a:t>
            </a:r>
          </a:p>
          <a:p>
            <a:pPr>
              <a:lnSpc>
                <a:spcPts val="135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['He', 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did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"n'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", 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want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'to', 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pay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'$', '20', 'for', 'the', 'book', '.']</a:t>
            </a:r>
          </a:p>
          <a:p>
            <a:pPr>
              <a:lnSpc>
                <a:spcPts val="135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He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didn't</a:t>
            </a:r>
            <a:endParaRPr lang="fr-FR" sz="14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[('He', 0), ('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did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1), ("n'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", 2), ('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want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3), ('to', 4), ('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pay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5), ('$', 6), ('20', 7), ('for', 8), ('the', 9), ('book', 10), ('.', 11)]</a:t>
            </a:r>
          </a:p>
        </p:txBody>
      </p:sp>
    </p:spTree>
    <p:extLst>
      <p:ext uri="{BB962C8B-B14F-4D97-AF65-F5344CB8AC3E}">
        <p14:creationId xmlns:p14="http://schemas.microsoft.com/office/powerpoint/2010/main" val="107098050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29920</TotalTime>
  <Words>672</Words>
  <Application>Microsoft Macintosh PowerPoint</Application>
  <PresentationFormat>Grand écran</PresentationFormat>
  <Paragraphs>68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Menlo</vt:lpstr>
      <vt:lpstr>ui-sans-serif</vt:lpstr>
      <vt:lpstr>Thème Office</vt:lpstr>
      <vt:lpstr>Natural Language Processing Static Embeddings</vt:lpstr>
      <vt:lpstr>Static Embeddings</vt:lpstr>
      <vt:lpstr>Static Embeddings</vt:lpstr>
      <vt:lpstr>Static Embeddings</vt:lpstr>
      <vt:lpstr>NLP</vt:lpstr>
      <vt:lpstr>NLP – Tokenization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THEBAULT</dc:creator>
  <cp:lastModifiedBy>David THEBAULT</cp:lastModifiedBy>
  <cp:revision>111</cp:revision>
  <dcterms:created xsi:type="dcterms:W3CDTF">2024-12-16T21:11:27Z</dcterms:created>
  <dcterms:modified xsi:type="dcterms:W3CDTF">2025-02-03T21:04:51Z</dcterms:modified>
</cp:coreProperties>
</file>