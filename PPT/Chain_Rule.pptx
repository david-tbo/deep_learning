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345" r:id="rId4"/>
    <p:sldId id="346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/>
    <p:restoredTop sz="83186"/>
  </p:normalViewPr>
  <p:slideViewPr>
    <p:cSldViewPr snapToGrid="0">
      <p:cViewPr varScale="1">
        <p:scale>
          <a:sx n="131" d="100"/>
          <a:sy n="131" d="100"/>
        </p:scale>
        <p:origin x="1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11F8-E0B1-1048-90C9-7B5C3CB594D7}" type="datetimeFigureOut">
              <a:rPr lang="fr-FR" smtClean="0"/>
              <a:t>16/03/2025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E20620-1C2C-7043-8B38-691BB5666C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5127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7677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A5037-34D4-4696-F56F-DA92B78A5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767F6F2-DA71-36B7-9FA9-D399FBA22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65A8419-6E37-0971-954D-7655FF322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F025AD-E33B-8895-16B7-8B80A6BB0B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633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64D96-3984-580F-3DFC-B35328A5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B644782-6E00-4F34-0C6A-6E2BE87AB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C787B40-E85D-9A39-ECCE-13F94851B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8B0672-5E2B-54E8-2C42-92B42309B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3648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DD944E-353A-0969-8365-64AFFDD97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19466A-6247-FECF-30AA-500646B63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8E1E11-47E1-4869-4830-5DB7EF20B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A9A57-8E37-F14B-9391-4F149BA7D9BA}" type="datetime1">
              <a:rPr lang="fr-FR" smtClean="0"/>
              <a:t>16/03/2025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8785D3-A4ED-3A61-06C0-C72D3FA1F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The Chain Rule.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4B34F1-153B-B297-754F-5278D77ED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432F1-B5B9-3C47-A455-7BB5A781D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2361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8CCF12-4A30-A572-A485-1341AFE1D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B8CBBF-34B6-60C7-3F26-5CB8E4E6E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BB483D-5FDF-50CD-3EAE-DE68E0C3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A49A2-9B73-244F-A354-A4440EC1356F}" type="datetime1">
              <a:rPr lang="fr-FR" smtClean="0"/>
              <a:t>16/03/2025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9175BE-5B47-E567-BE2A-3FC3718D1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The Chain Rule.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C81F8A-8DBB-3AD1-3D19-BF416D02D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432F1-B5B9-3C47-A455-7BB5A781D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2815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AADA400-D07F-8E6D-1537-426B596CD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F83CB2-4046-4F54-03D3-E1B814387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B55753-5C35-3CC7-D7B2-FBEB2079A2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77408-4A21-EE43-9C54-31672AA4B1A1}" type="datetime1">
              <a:rPr lang="fr-FR" smtClean="0"/>
              <a:t>16/03/2025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F585E5-CA03-DD40-2278-8F72FC30D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 noProof="0" dirty="0"/>
              <a:t>The Chain Rule.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6FED89-57B1-F816-7CCC-8334F59D1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B432F1-B5B9-3C47-A455-7BB5A781DE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5953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56B84-BFA1-BA9A-1552-59B724FBA9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The Chain Rule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0571C27-E009-ADD7-40B4-859AAF7C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The Chain Rule. Author: David Thébault</a:t>
            </a:r>
          </a:p>
        </p:txBody>
      </p:sp>
    </p:spTree>
    <p:extLst>
      <p:ext uri="{BB962C8B-B14F-4D97-AF65-F5344CB8AC3E}">
        <p14:creationId xmlns:p14="http://schemas.microsoft.com/office/powerpoint/2010/main" val="1299667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B024F6-9C8F-1DC5-D2C5-74AAFB89A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730"/>
            <a:ext cx="10515600" cy="1325563"/>
          </a:xfrm>
        </p:spPr>
        <p:txBody>
          <a:bodyPr/>
          <a:lstStyle/>
          <a:p>
            <a:r>
              <a:rPr lang="en-GB" dirty="0"/>
              <a:t>The chain rule definition</a:t>
            </a:r>
            <a:endParaRPr lang="en-GB" noProof="0" dirty="0"/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270C1B47-5788-AF11-3C8B-367200C2F8A3}"/>
              </a:ext>
            </a:extLst>
          </p:cNvPr>
          <p:cNvSpPr txBox="1"/>
          <p:nvPr/>
        </p:nvSpPr>
        <p:spPr>
          <a:xfrm>
            <a:off x="838200" y="1416966"/>
            <a:ext cx="106755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GB" sz="2400" i="0" u="none" strike="noStrike" noProof="0" dirty="0">
                <a:solidFill>
                  <a:srgbClr val="000000"/>
                </a:solidFill>
                <a:effectLst/>
              </a:rPr>
              <a:t>The chain rule is a fundamental rule in calculus that describes how to differentiate a composite function. </a:t>
            </a:r>
          </a:p>
        </p:txBody>
      </p:sp>
      <p:sp>
        <p:nvSpPr>
          <p:cNvPr id="10" name="Espace réservé du pied de page 2">
            <a:extLst>
              <a:ext uri="{FF2B5EF4-FFF2-40B4-BE49-F238E27FC236}">
                <a16:creationId xmlns:a16="http://schemas.microsoft.com/office/drawing/2014/main" id="{66E0F520-0BA1-5BB2-2A40-C3A834A12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The Chain Rule. Author: David Thébault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C5C23194-7E4A-41F7-295C-C3E97F82C8B6}"/>
                  </a:ext>
                </a:extLst>
              </p:cNvPr>
              <p:cNvSpPr txBox="1"/>
              <p:nvPr/>
            </p:nvSpPr>
            <p:spPr>
              <a:xfrm>
                <a:off x="945776" y="2320861"/>
                <a:ext cx="10201836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)→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C5C23194-7E4A-41F7-295C-C3E97F82C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776" y="2320861"/>
                <a:ext cx="10201836" cy="430887"/>
              </a:xfrm>
              <a:prstGeom prst="rect">
                <a:avLst/>
              </a:prstGeom>
              <a:blipFill>
                <a:blip r:embed="rId3"/>
                <a:stretch>
                  <a:fillRect t="-8571" b="-3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221A7C0C-398B-1549-EB3F-034AA41E5B05}"/>
                  </a:ext>
                </a:extLst>
              </p:cNvPr>
              <p:cNvSpPr txBox="1"/>
              <p:nvPr/>
            </p:nvSpPr>
            <p:spPr>
              <a:xfrm>
                <a:off x="945776" y="3041033"/>
                <a:ext cx="1100865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i="0" u="none" strike="noStrike" noProof="0" dirty="0">
                    <a:solidFill>
                      <a:srgbClr val="000000"/>
                    </a:solidFill>
                    <a:effectLst/>
                  </a:rPr>
                  <a:t>If a function </a:t>
                </a:r>
                <a:r>
                  <a:rPr lang="fr-FR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i="0" u="none" strike="noStrike" noProof="0" dirty="0">
                    <a:solidFill>
                      <a:srgbClr val="000000"/>
                    </a:solidFill>
                    <a:effectLst/>
                  </a:rPr>
                  <a:t> depends on </a:t>
                </a:r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i="0" u="none" strike="noStrike" noProof="0" dirty="0">
                    <a:solidFill>
                      <a:srgbClr val="000000"/>
                    </a:solidFill>
                    <a:effectLst/>
                  </a:rPr>
                  <a:t>, which itself depends on </a:t>
                </a:r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i="0" u="none" strike="noStrike" noProof="0" dirty="0">
                    <a:solidFill>
                      <a:srgbClr val="000000"/>
                    </a:solidFill>
                    <a:effectLst/>
                  </a:rPr>
                  <a:t>, then the derivative of </a:t>
                </a:r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i="0" u="none" strike="noStrike" noProof="0" dirty="0">
                    <a:solidFill>
                      <a:srgbClr val="000000"/>
                    </a:solidFill>
                    <a:effectLst/>
                  </a:rPr>
                  <a:t> with respect to </a:t>
                </a:r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i="0" u="none" strike="noStrike" noProof="0" dirty="0">
                    <a:solidFill>
                      <a:srgbClr val="000000"/>
                    </a:solidFill>
                    <a:effectLst/>
                  </a:rPr>
                  <a:t> is given by the product of the derivative of </a:t>
                </a:r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i="0" u="none" strike="noStrike" noProof="0" dirty="0">
                    <a:solidFill>
                      <a:srgbClr val="000000"/>
                    </a:solidFill>
                    <a:effectLst/>
                  </a:rPr>
                  <a:t> with respect to </a:t>
                </a:r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i="0" u="none" strike="noStrike" noProof="0" dirty="0">
                    <a:solidFill>
                      <a:srgbClr val="000000"/>
                    </a:solidFill>
                    <a:effectLst/>
                  </a:rPr>
                  <a:t> and the derivative of </a:t>
                </a:r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i="0" u="none" strike="noStrike" noProof="0" dirty="0">
                    <a:solidFill>
                      <a:srgbClr val="000000"/>
                    </a:solidFill>
                    <a:effectLst/>
                  </a:rPr>
                  <a:t> with respect to </a:t>
                </a:r>
                <a:r>
                  <a:rPr lang="fr-F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i="0" u="none" strike="noStrike" noProof="0" dirty="0">
                    <a:solidFill>
                      <a:srgbClr val="000000"/>
                    </a:solidFill>
                    <a:effectLst/>
                  </a:rPr>
                  <a:t>:</a:t>
                </a:r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221A7C0C-398B-1549-EB3F-034AA41E5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776" y="3041033"/>
                <a:ext cx="11008659" cy="646331"/>
              </a:xfrm>
              <a:prstGeom prst="rect">
                <a:avLst/>
              </a:prstGeom>
              <a:blipFill>
                <a:blip r:embed="rId4"/>
                <a:stretch>
                  <a:fillRect l="-461" t="-3846" r="-691" b="-134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3A41813F-47AB-ADE7-3EA3-52C44C519F48}"/>
                  </a:ext>
                </a:extLst>
              </p:cNvPr>
              <p:cNvSpPr txBox="1"/>
              <p:nvPr/>
            </p:nvSpPr>
            <p:spPr>
              <a:xfrm>
                <a:off x="4948250" y="4029360"/>
                <a:ext cx="1861151" cy="8947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GB" sz="2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sz="2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f>
                        <m:f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3A41813F-47AB-ADE7-3EA3-52C44C519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8250" y="4029360"/>
                <a:ext cx="1861151" cy="894797"/>
              </a:xfrm>
              <a:prstGeom prst="rect">
                <a:avLst/>
              </a:prstGeom>
              <a:blipFill>
                <a:blip r:embed="rId5"/>
                <a:stretch>
                  <a:fillRect l="-4054" t="-2817" r="-5405" b="-169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ZoneTexte 18">
            <a:extLst>
              <a:ext uri="{FF2B5EF4-FFF2-40B4-BE49-F238E27FC236}">
                <a16:creationId xmlns:a16="http://schemas.microsoft.com/office/drawing/2014/main" id="{CF211D7E-B931-42CC-1E9B-1E5EE4F6FDF2}"/>
              </a:ext>
            </a:extLst>
          </p:cNvPr>
          <p:cNvSpPr txBox="1"/>
          <p:nvPr/>
        </p:nvSpPr>
        <p:spPr>
          <a:xfrm>
            <a:off x="945776" y="5071702"/>
            <a:ext cx="10408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noProof="0" dirty="0">
                <a:solidFill>
                  <a:srgbClr val="000000"/>
                </a:solidFill>
              </a:rPr>
              <a:t>This equation is equivalent to the mathematical formula:</a:t>
            </a:r>
            <a:endParaRPr lang="en-GB" sz="2000" i="0" u="none" strike="noStrike" noProof="0" dirty="0">
              <a:solidFill>
                <a:srgbClr val="00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295715DC-12E7-2793-37EE-82C8CFA2D9A3}"/>
                  </a:ext>
                </a:extLst>
              </p:cNvPr>
              <p:cNvSpPr txBox="1"/>
              <p:nvPr/>
            </p:nvSpPr>
            <p:spPr>
              <a:xfrm>
                <a:off x="3569988" y="5683248"/>
                <a:ext cx="46176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  <m:sup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)×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′(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295715DC-12E7-2793-37EE-82C8CFA2D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988" y="5683248"/>
                <a:ext cx="4617674" cy="430887"/>
              </a:xfrm>
              <a:prstGeom prst="rect">
                <a:avLst/>
              </a:prstGeom>
              <a:blipFill>
                <a:blip r:embed="rId6"/>
                <a:stretch>
                  <a:fillRect t="-5714" r="-2473" b="-3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998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17C55-74F8-AB6C-6283-501406273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0CEE1C-DC7F-BE18-1795-1EFFDF40D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730"/>
            <a:ext cx="10515600" cy="1325563"/>
          </a:xfrm>
        </p:spPr>
        <p:txBody>
          <a:bodyPr/>
          <a:lstStyle/>
          <a:p>
            <a:r>
              <a:rPr lang="en-GB" dirty="0"/>
              <a:t>The chain rule definition</a:t>
            </a:r>
            <a:endParaRPr lang="en-GB" noProof="0" dirty="0"/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5AB1228-91C4-2DE9-D4B0-35DA51B615AF}"/>
              </a:ext>
            </a:extLst>
          </p:cNvPr>
          <p:cNvSpPr txBox="1"/>
          <p:nvPr/>
        </p:nvSpPr>
        <p:spPr>
          <a:xfrm>
            <a:off x="838200" y="1416966"/>
            <a:ext cx="2948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GB" sz="2400" i="0" u="none" strike="noStrike" noProof="0" dirty="0">
                <a:solidFill>
                  <a:srgbClr val="000000"/>
                </a:solidFill>
                <a:effectLst/>
              </a:rPr>
              <a:t>Demonstration (1/2):</a:t>
            </a:r>
          </a:p>
        </p:txBody>
      </p:sp>
      <p:sp>
        <p:nvSpPr>
          <p:cNvPr id="10" name="Espace réservé du pied de page 2">
            <a:extLst>
              <a:ext uri="{FF2B5EF4-FFF2-40B4-BE49-F238E27FC236}">
                <a16:creationId xmlns:a16="http://schemas.microsoft.com/office/drawing/2014/main" id="{0B894974-B034-2855-BE0C-9C9043B3C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The Chain Rule. Author: David Thébault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3F763A61-C192-D308-23CC-95F60B65C378}"/>
                  </a:ext>
                </a:extLst>
              </p:cNvPr>
              <p:cNvSpPr txBox="1"/>
              <p:nvPr/>
            </p:nvSpPr>
            <p:spPr>
              <a:xfrm>
                <a:off x="945776" y="2320861"/>
                <a:ext cx="10201836" cy="5081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  <m: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∘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+∆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∘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6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→0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fr-FR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ctrlPr>
                                            <a:rPr lang="fr-FR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fr-FR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fr-FR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+∆</m:t>
                                          </m:r>
                                          <m:r>
                                            <a:rPr lang="fr-FR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fr-FR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3F763A61-C192-D308-23CC-95F60B65C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776" y="2320861"/>
                <a:ext cx="10201836" cy="508152"/>
              </a:xfrm>
              <a:prstGeom prst="rect">
                <a:avLst/>
              </a:prstGeom>
              <a:blipFill>
                <a:blip r:embed="rId3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ZoneTexte 18">
            <a:extLst>
              <a:ext uri="{FF2B5EF4-FFF2-40B4-BE49-F238E27FC236}">
                <a16:creationId xmlns:a16="http://schemas.microsoft.com/office/drawing/2014/main" id="{9C847F4D-6E5A-F9AF-7E25-71ECE9389904}"/>
              </a:ext>
            </a:extLst>
          </p:cNvPr>
          <p:cNvSpPr txBox="1"/>
          <p:nvPr/>
        </p:nvSpPr>
        <p:spPr>
          <a:xfrm>
            <a:off x="891988" y="3101966"/>
            <a:ext cx="16898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noProof="0" dirty="0">
                <a:solidFill>
                  <a:srgbClr val="000000"/>
                </a:solidFill>
              </a:rPr>
              <a:t>Let’s introduce:</a:t>
            </a:r>
            <a:endParaRPr lang="en-GB" sz="1600" i="0" u="none" strike="noStrike" noProof="0" dirty="0">
              <a:solidFill>
                <a:srgbClr val="00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D4AD0365-49F7-6194-E49B-47C521CBF2C5}"/>
                  </a:ext>
                </a:extLst>
              </p:cNvPr>
              <p:cNvSpPr txBox="1"/>
              <p:nvPr/>
            </p:nvSpPr>
            <p:spPr>
              <a:xfrm>
                <a:off x="3787163" y="1447705"/>
                <a:ext cx="46176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  <m:sup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)×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′(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D4AD0365-49F7-6194-E49B-47C521CBF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7163" y="1447705"/>
                <a:ext cx="4617674" cy="430887"/>
              </a:xfrm>
              <a:prstGeom prst="rect">
                <a:avLst/>
              </a:prstGeom>
              <a:blipFill>
                <a:blip r:embed="rId4"/>
                <a:stretch>
                  <a:fillRect t="-5714" r="-2473" b="-3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0D573915-9C76-A850-443F-F86602808663}"/>
                  </a:ext>
                </a:extLst>
              </p:cNvPr>
              <p:cNvSpPr txBox="1"/>
              <p:nvPr/>
            </p:nvSpPr>
            <p:spPr>
              <a:xfrm>
                <a:off x="2597574" y="3132876"/>
                <a:ext cx="23791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+∆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0D573915-9C76-A850-443F-F86602808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574" y="3132876"/>
                <a:ext cx="2379177" cy="276999"/>
              </a:xfrm>
              <a:prstGeom prst="rect">
                <a:avLst/>
              </a:prstGeom>
              <a:blipFill>
                <a:blip r:embed="rId5"/>
                <a:stretch>
                  <a:fillRect l="-1596" r="-3191" b="-347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E480E269-BD09-D463-1D44-8B4E3BD00F8D}"/>
                  </a:ext>
                </a:extLst>
              </p:cNvPr>
              <p:cNvSpPr txBox="1"/>
              <p:nvPr/>
            </p:nvSpPr>
            <p:spPr>
              <a:xfrm>
                <a:off x="995082" y="3633861"/>
                <a:ext cx="4921624" cy="5081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  <m: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fr-FR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+∆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fr-F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sz="16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16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E480E269-BD09-D463-1D44-8B4E3BD00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082" y="3633861"/>
                <a:ext cx="4921624" cy="508152"/>
              </a:xfrm>
              <a:prstGeom prst="rect">
                <a:avLst/>
              </a:prstGeom>
              <a:blipFill>
                <a:blip r:embed="rId6"/>
                <a:stretch>
                  <a:fillRect l="-257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>
            <a:extLst>
              <a:ext uri="{FF2B5EF4-FFF2-40B4-BE49-F238E27FC236}">
                <a16:creationId xmlns:a16="http://schemas.microsoft.com/office/drawing/2014/main" id="{75187D36-0DBC-F697-ED06-09308FF90E36}"/>
              </a:ext>
            </a:extLst>
          </p:cNvPr>
          <p:cNvSpPr txBox="1"/>
          <p:nvPr/>
        </p:nvSpPr>
        <p:spPr>
          <a:xfrm>
            <a:off x="891987" y="4446681"/>
            <a:ext cx="19318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noProof="0" dirty="0">
                <a:solidFill>
                  <a:srgbClr val="000000"/>
                </a:solidFill>
              </a:rPr>
              <a:t>Let’s notice that:</a:t>
            </a:r>
            <a:endParaRPr lang="en-GB" sz="1600" i="0" u="none" strike="noStrike" noProof="0" dirty="0">
              <a:solidFill>
                <a:srgbClr val="00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87878C72-69D0-CDEF-5AA8-DE37CEECC3C5}"/>
                  </a:ext>
                </a:extLst>
              </p:cNvPr>
              <p:cNvSpPr txBox="1"/>
              <p:nvPr/>
            </p:nvSpPr>
            <p:spPr>
              <a:xfrm>
                <a:off x="891987" y="5066223"/>
                <a:ext cx="9405908" cy="360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+∆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)⇔</m:t>
                          </m:r>
                        </m:e>
                      </m:func>
                      <m:func>
                        <m:func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)+∆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)=0</m:t>
                          </m:r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⇔</m:t>
                          </m:r>
                          <m:func>
                            <m:funcPr>
                              <m:ctrlPr>
                                <a:rPr lang="fr-F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→0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fr-F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e>
                          </m:func>
                          <m:r>
                            <a:rPr lang="fr-F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⇔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→0⇒∆</m:t>
                          </m:r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→0</m:t>
                          </m:r>
                          <m:r>
                            <m:rPr>
                              <m:nor/>
                            </m:rPr>
                            <a:rPr lang="en-GB" dirty="0"/>
                            <m:t> 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87878C72-69D0-CDEF-5AA8-DE37CEECC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987" y="5066223"/>
                <a:ext cx="9405908" cy="360868"/>
              </a:xfrm>
              <a:prstGeom prst="rect">
                <a:avLst/>
              </a:prstGeom>
              <a:blipFill>
                <a:blip r:embed="rId7"/>
                <a:stretch>
                  <a:fillRect t="-13333" r="-540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e 20">
            <a:extLst>
              <a:ext uri="{FF2B5EF4-FFF2-40B4-BE49-F238E27FC236}">
                <a16:creationId xmlns:a16="http://schemas.microsoft.com/office/drawing/2014/main" id="{26870763-63A7-15EA-EA30-24C481047713}"/>
              </a:ext>
            </a:extLst>
          </p:cNvPr>
          <p:cNvGrpSpPr/>
          <p:nvPr/>
        </p:nvGrpSpPr>
        <p:grpSpPr>
          <a:xfrm>
            <a:off x="2597574" y="4534402"/>
            <a:ext cx="4213126" cy="570442"/>
            <a:chOff x="5298141" y="3967501"/>
            <a:chExt cx="4213126" cy="570442"/>
          </a:xfrm>
        </p:grpSpPr>
        <p:cxnSp>
          <p:nvCxnSpPr>
            <p:cNvPr id="12" name="Connecteur droit avec flèche 11">
              <a:extLst>
                <a:ext uri="{FF2B5EF4-FFF2-40B4-BE49-F238E27FC236}">
                  <a16:creationId xmlns:a16="http://schemas.microsoft.com/office/drawing/2014/main" id="{2FD1E17E-7289-0445-7BB0-3626065163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98141" y="4086605"/>
              <a:ext cx="977155" cy="451338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ZoneTexte 12">
                  <a:extLst>
                    <a:ext uri="{FF2B5EF4-FFF2-40B4-BE49-F238E27FC236}">
                      <a16:creationId xmlns:a16="http://schemas.microsoft.com/office/drawing/2014/main" id="{373D201F-A8AE-01F5-5FDF-CD673CD168D6}"/>
                    </a:ext>
                  </a:extLst>
                </p:cNvPr>
                <p:cNvSpPr txBox="1"/>
                <p:nvPr/>
              </p:nvSpPr>
              <p:spPr>
                <a:xfrm>
                  <a:off x="6306672" y="3967501"/>
                  <a:ext cx="3204595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𝑑𝑖𝑓𝑓𝑒𝑟𝑒𝑛𝑡𝑖𝑎𝑏𝑙𝑒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𝑡h𝑒𝑟𝑒𝑓𝑜𝑟𝑒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𝑖𝑡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𝑖𝑠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𝑐𝑜𝑛𝑡𝑖𝑛𝑢𝑜𝑢𝑠</m:t>
                        </m:r>
                      </m:oMath>
                    </m:oMathPara>
                  </a14:m>
                  <a:endParaRPr lang="en-GB" sz="12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" name="ZoneTexte 12">
                  <a:extLst>
                    <a:ext uri="{FF2B5EF4-FFF2-40B4-BE49-F238E27FC236}">
                      <a16:creationId xmlns:a16="http://schemas.microsoft.com/office/drawing/2014/main" id="{373D201F-A8AE-01F5-5FDF-CD673CD168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6672" y="3967501"/>
                  <a:ext cx="3204595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1186" t="-13333" r="-395" b="-3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36539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88AAD-5C9C-DA15-74DE-193854F2D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308005-BB8B-9BDA-2CD9-2A81A0908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730"/>
            <a:ext cx="10515600" cy="1325563"/>
          </a:xfrm>
        </p:spPr>
        <p:txBody>
          <a:bodyPr/>
          <a:lstStyle/>
          <a:p>
            <a:r>
              <a:rPr lang="en-GB" dirty="0"/>
              <a:t>The chain rule definition</a:t>
            </a:r>
            <a:endParaRPr lang="en-GB" noProof="0" dirty="0"/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98AD478B-09B8-C4D7-FD05-F109941E91E4}"/>
              </a:ext>
            </a:extLst>
          </p:cNvPr>
          <p:cNvSpPr txBox="1"/>
          <p:nvPr/>
        </p:nvSpPr>
        <p:spPr>
          <a:xfrm>
            <a:off x="838200" y="1416966"/>
            <a:ext cx="2948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GB" sz="2400" i="0" u="none" strike="noStrike" noProof="0" dirty="0">
                <a:solidFill>
                  <a:srgbClr val="000000"/>
                </a:solidFill>
                <a:effectLst/>
              </a:rPr>
              <a:t>Demonstration (2/2):</a:t>
            </a:r>
          </a:p>
        </p:txBody>
      </p:sp>
      <p:sp>
        <p:nvSpPr>
          <p:cNvPr id="10" name="Espace réservé du pied de page 2">
            <a:extLst>
              <a:ext uri="{FF2B5EF4-FFF2-40B4-BE49-F238E27FC236}">
                <a16:creationId xmlns:a16="http://schemas.microsoft.com/office/drawing/2014/main" id="{5B4E6AA2-FF0A-436D-7674-D5885A03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noProof="0" dirty="0"/>
              <a:t>The Chain Rule. Author: David Thébault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9F44C0D-50CB-BE9F-FB20-BBCB6D6B6129}"/>
                  </a:ext>
                </a:extLst>
              </p:cNvPr>
              <p:cNvSpPr txBox="1"/>
              <p:nvPr/>
            </p:nvSpPr>
            <p:spPr>
              <a:xfrm>
                <a:off x="983927" y="2666874"/>
                <a:ext cx="10201836" cy="2779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+∆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)−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+∆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9F44C0D-50CB-BE9F-FB20-BBCB6D6B6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27" y="2666874"/>
                <a:ext cx="10201836" cy="277961"/>
              </a:xfrm>
              <a:prstGeom prst="rect">
                <a:avLst/>
              </a:prstGeom>
              <a:blipFill>
                <a:blip r:embed="rId3"/>
                <a:stretch>
                  <a:fillRect l="-871" b="-304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ZoneTexte 18">
            <a:extLst>
              <a:ext uri="{FF2B5EF4-FFF2-40B4-BE49-F238E27FC236}">
                <a16:creationId xmlns:a16="http://schemas.microsoft.com/office/drawing/2014/main" id="{94F83518-1147-7474-291E-9987838D6096}"/>
              </a:ext>
            </a:extLst>
          </p:cNvPr>
          <p:cNvSpPr txBox="1"/>
          <p:nvPr/>
        </p:nvSpPr>
        <p:spPr>
          <a:xfrm>
            <a:off x="891988" y="3169201"/>
            <a:ext cx="16898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noProof="0" dirty="0">
                <a:solidFill>
                  <a:srgbClr val="000000"/>
                </a:solidFill>
              </a:rPr>
              <a:t>If now we put:</a:t>
            </a:r>
            <a:endParaRPr lang="en-GB" sz="1600" i="0" u="none" strike="noStrike" noProof="0" dirty="0">
              <a:solidFill>
                <a:srgbClr val="00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9CBE4BE1-75D4-C4A0-50EE-3ADB1F33F444}"/>
                  </a:ext>
                </a:extLst>
              </p:cNvPr>
              <p:cNvSpPr txBox="1"/>
              <p:nvPr/>
            </p:nvSpPr>
            <p:spPr>
              <a:xfrm>
                <a:off x="3787163" y="1447705"/>
                <a:ext cx="46176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  <m:sup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)×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′(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9CBE4BE1-75D4-C4A0-50EE-3ADB1F33F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7163" y="1447705"/>
                <a:ext cx="4617674" cy="430887"/>
              </a:xfrm>
              <a:prstGeom prst="rect">
                <a:avLst/>
              </a:prstGeom>
              <a:blipFill>
                <a:blip r:embed="rId4"/>
                <a:stretch>
                  <a:fillRect t="-5714" r="-2473" b="-3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C3C599B3-F2D9-3C40-7C39-95C82E4B314B}"/>
                  </a:ext>
                </a:extLst>
              </p:cNvPr>
              <p:cNvSpPr txBox="1"/>
              <p:nvPr/>
            </p:nvSpPr>
            <p:spPr>
              <a:xfrm>
                <a:off x="2409310" y="2162958"/>
                <a:ext cx="210859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+∆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C3C599B3-F2D9-3C40-7C39-95C82E4B3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9310" y="2162958"/>
                <a:ext cx="2108590" cy="246221"/>
              </a:xfrm>
              <a:prstGeom prst="rect">
                <a:avLst/>
              </a:prstGeom>
              <a:blipFill>
                <a:blip r:embed="rId5"/>
                <a:stretch>
                  <a:fillRect l="-1796" b="-4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>
            <a:extLst>
              <a:ext uri="{FF2B5EF4-FFF2-40B4-BE49-F238E27FC236}">
                <a16:creationId xmlns:a16="http://schemas.microsoft.com/office/drawing/2014/main" id="{111CF811-170D-11BC-D763-7458C2702776}"/>
              </a:ext>
            </a:extLst>
          </p:cNvPr>
          <p:cNvSpPr txBox="1"/>
          <p:nvPr/>
        </p:nvSpPr>
        <p:spPr>
          <a:xfrm>
            <a:off x="891987" y="2125453"/>
            <a:ext cx="16898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noProof="0" dirty="0">
                <a:solidFill>
                  <a:srgbClr val="000000"/>
                </a:solidFill>
              </a:rPr>
              <a:t>By definition:</a:t>
            </a:r>
            <a:endParaRPr lang="en-GB" sz="1600" i="0" u="none" strike="noStrike" noProof="0" dirty="0">
              <a:solidFill>
                <a:srgbClr val="00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F3634F80-A7AA-D6AD-372F-61CC97902B5A}"/>
                  </a:ext>
                </a:extLst>
              </p:cNvPr>
              <p:cNvSpPr txBox="1"/>
              <p:nvPr/>
            </p:nvSpPr>
            <p:spPr>
              <a:xfrm>
                <a:off x="2422757" y="3188792"/>
                <a:ext cx="84548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F3634F80-A7AA-D6AD-372F-61CC97902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2757" y="3188792"/>
                <a:ext cx="845488" cy="246221"/>
              </a:xfrm>
              <a:prstGeom prst="rect">
                <a:avLst/>
              </a:prstGeom>
              <a:blipFill>
                <a:blip r:embed="rId6"/>
                <a:stretch>
                  <a:fillRect l="-2941" r="-8824" b="-3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AADBAD91-F884-4246-0686-FC961A9C095F}"/>
                  </a:ext>
                </a:extLst>
              </p:cNvPr>
              <p:cNvSpPr txBox="1"/>
              <p:nvPr/>
            </p:nvSpPr>
            <p:spPr>
              <a:xfrm>
                <a:off x="959222" y="3766298"/>
                <a:ext cx="10201836" cy="2779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+∆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)−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+∆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AADBAD91-F884-4246-0686-FC961A9C0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22" y="3766298"/>
                <a:ext cx="10201836" cy="277961"/>
              </a:xfrm>
              <a:prstGeom prst="rect">
                <a:avLst/>
              </a:prstGeom>
              <a:blipFill>
                <a:blip r:embed="rId7"/>
                <a:stretch>
                  <a:fillRect l="-871" b="-304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9CEB54CA-91B5-7FC6-A722-2F062F2746F0}"/>
                  </a:ext>
                </a:extLst>
              </p:cNvPr>
              <p:cNvSpPr txBox="1"/>
              <p:nvPr/>
            </p:nvSpPr>
            <p:spPr>
              <a:xfrm>
                <a:off x="838200" y="4438252"/>
                <a:ext cx="10201836" cy="5081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  <m: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fr-FR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+∆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fr-F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+∆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den>
                          </m:f>
                        </m:e>
                      </m:func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9CEB54CA-91B5-7FC6-A722-2F062F274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38252"/>
                <a:ext cx="10201836" cy="508152"/>
              </a:xfrm>
              <a:prstGeom prst="rect">
                <a:avLst/>
              </a:prstGeom>
              <a:blipFill>
                <a:blip r:embed="rId8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71B70CF6-A92B-C0DB-75A7-684EDF63A1F6}"/>
                  </a:ext>
                </a:extLst>
              </p:cNvPr>
              <p:cNvSpPr txBox="1"/>
              <p:nvPr/>
            </p:nvSpPr>
            <p:spPr>
              <a:xfrm>
                <a:off x="989480" y="5445023"/>
                <a:ext cx="6098240" cy="570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+∆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den>
                          </m:f>
                        </m:e>
                      </m:func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′(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71B70CF6-A92B-C0DB-75A7-684EDF63A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480" y="5445023"/>
                <a:ext cx="6098240" cy="570221"/>
              </a:xfrm>
              <a:prstGeom prst="rect">
                <a:avLst/>
              </a:prstGeom>
              <a:blipFill>
                <a:blip r:embed="rId9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041CA83B-DEB3-2EF1-D1D1-02EE1BEC3424}"/>
                  </a:ext>
                </a:extLst>
              </p:cNvPr>
              <p:cNvSpPr txBox="1"/>
              <p:nvPr/>
            </p:nvSpPr>
            <p:spPr>
              <a:xfrm>
                <a:off x="5504328" y="5445023"/>
                <a:ext cx="3853681" cy="570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l-GR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+∆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′(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041CA83B-DEB3-2EF1-D1D1-02EE1BEC3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328" y="5445023"/>
                <a:ext cx="3853681" cy="570221"/>
              </a:xfrm>
              <a:prstGeom prst="rect">
                <a:avLst/>
              </a:prstGeom>
              <a:blipFill>
                <a:blip r:embed="rId10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ZoneTexte 21">
            <a:extLst>
              <a:ext uri="{FF2B5EF4-FFF2-40B4-BE49-F238E27FC236}">
                <a16:creationId xmlns:a16="http://schemas.microsoft.com/office/drawing/2014/main" id="{DC1CFC0F-11F8-02D8-F544-4862A4468DED}"/>
              </a:ext>
            </a:extLst>
          </p:cNvPr>
          <p:cNvSpPr txBox="1"/>
          <p:nvPr/>
        </p:nvSpPr>
        <p:spPr>
          <a:xfrm>
            <a:off x="9622946" y="5731147"/>
            <a:ext cx="1008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</a:rPr>
              <a:t>CQFD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5704EE-E1D5-CAB5-3F20-5C7F5797127D}"/>
              </a:ext>
            </a:extLst>
          </p:cNvPr>
          <p:cNvSpPr/>
          <p:nvPr/>
        </p:nvSpPr>
        <p:spPr>
          <a:xfrm>
            <a:off x="9523379" y="5816465"/>
            <a:ext cx="184825" cy="19877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22916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35214</TotalTime>
  <Words>296</Words>
  <Application>Microsoft Macintosh PowerPoint</Application>
  <PresentationFormat>Grand écran</PresentationFormat>
  <Paragraphs>41</Paragraphs>
  <Slides>4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Thème Office</vt:lpstr>
      <vt:lpstr>The Chain Rule</vt:lpstr>
      <vt:lpstr>The chain rule definition</vt:lpstr>
      <vt:lpstr>The chain rule definition</vt:lpstr>
      <vt:lpstr>The chain rule definition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THEBAULT</dc:creator>
  <cp:lastModifiedBy>David THEBAULT</cp:lastModifiedBy>
  <cp:revision>389</cp:revision>
  <dcterms:created xsi:type="dcterms:W3CDTF">2024-11-11T16:09:09Z</dcterms:created>
  <dcterms:modified xsi:type="dcterms:W3CDTF">2025-03-16T17:22:44Z</dcterms:modified>
</cp:coreProperties>
</file>