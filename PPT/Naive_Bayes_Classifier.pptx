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72" r:id="rId4"/>
    <p:sldId id="285" r:id="rId5"/>
    <p:sldId id="286" r:id="rId6"/>
    <p:sldId id="287" r:id="rId7"/>
    <p:sldId id="288" r:id="rId8"/>
    <p:sldId id="289" r:id="rId9"/>
    <p:sldId id="299" r:id="rId10"/>
    <p:sldId id="290" r:id="rId11"/>
    <p:sldId id="291" r:id="rId12"/>
    <p:sldId id="292" r:id="rId13"/>
    <p:sldId id="300" r:id="rId14"/>
    <p:sldId id="295" r:id="rId15"/>
    <p:sldId id="297" r:id="rId16"/>
    <p:sldId id="293" r:id="rId17"/>
    <p:sldId id="302" r:id="rId18"/>
    <p:sldId id="303" r:id="rId19"/>
    <p:sldId id="304" r:id="rId20"/>
    <p:sldId id="305" r:id="rId21"/>
    <p:sldId id="306" r:id="rId22"/>
    <p:sldId id="307" r:id="rId23"/>
    <p:sldId id="309" r:id="rId24"/>
    <p:sldId id="308" r:id="rId25"/>
    <p:sldId id="310" r:id="rId26"/>
    <p:sldId id="311" r:id="rId27"/>
    <p:sldId id="312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6"/>
    <p:restoredTop sz="82558"/>
  </p:normalViewPr>
  <p:slideViewPr>
    <p:cSldViewPr snapToGrid="0">
      <p:cViewPr varScale="1">
        <p:scale>
          <a:sx n="97" d="100"/>
          <a:sy n="97" d="100"/>
        </p:scale>
        <p:origin x="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9401A-D510-3145-A5CD-9798280D1D61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4FA35-352E-7345-BF43-1862644F8DF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5B79-958C-7D41-A64D-F75AF37592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8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17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1EDB-8496-8125-E6F3-700230F8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75056F-C07B-4C18-6399-8E6EA6A4C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5FE30E-DFFD-F7B7-425F-C9F702E43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P(A intersection B) = P(B intersection A)</a:t>
            </a:r>
          </a:p>
          <a:p>
            <a:r>
              <a:rPr lang="en-GB" noProof="0" dirty="0"/>
              <a:t>P(A | B) = P(A intersection B) / P(B)</a:t>
            </a:r>
          </a:p>
          <a:p>
            <a:r>
              <a:rPr lang="en-GB" noProof="0" dirty="0"/>
              <a:t>P(B | A) = P(A intersection B) / P(A)</a:t>
            </a:r>
          </a:p>
          <a:p>
            <a:endParaRPr lang="en-GB" noProof="0" dirty="0"/>
          </a:p>
          <a:p>
            <a:pPr marL="171450" indent="-171450">
              <a:buFont typeface="Symbol" pitchFamily="2" charset="2"/>
              <a:buChar char="Þ"/>
            </a:pPr>
            <a:r>
              <a:rPr lang="en-GB" noProof="0" dirty="0"/>
              <a:t>P(A | B) x P(A) = P(B | A) x P(B)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GB" noProof="0" dirty="0"/>
              <a:t>P(A | B) = P(B) x P(B | A) / P(A)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GB" noProof="0" dirty="0"/>
              <a:t>CQFD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0FB581-A42C-FBD3-1F49-A3CFAB49B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429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98C5A-DBE7-8D5B-69EB-5F9A5902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6A3FD6-F190-1FF8-42AF-7BF1EF7F4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331903-9DEC-0758-E95F-C51E8F7B1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69FC2-CAEC-AD8E-CFCE-A7625E3EC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797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F6EAC-D3A2-BAB0-AEA6-BD804282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333F14-C80C-9419-C663-CA932CBF1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85334A-B4A2-B747-D019-61C715795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32AD79-1DA8-C2C4-F426-56D862340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972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D4A37-540D-59D1-3D12-9622E909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8AA8E9-2EB2-515A-07BC-3C6E0813A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D49C950-E6AE-7D49-9725-F758F0EB2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With the naive approach despite “Thank”  and “you” are correlated we assume they are not.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91118C-B455-347F-94F3-8F0B1633E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028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99B60-0F51-BE0F-1451-BE91F7824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95B835-2C40-CE56-18C1-E7CC50090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39CF17-DB9A-306F-A6C7-07A6C2229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76BC3D-E9E4-5CDA-F7BE-EC7464D5F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415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684F-A364-6FED-F4E9-487C8BD1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08CDA2-793C-48EA-36A2-A516883D8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8BD497F-25D6-18B8-6763-DD36A3714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01F624-D8D1-6597-9476-8F34DA761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06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8488-74C4-13F1-946A-600833F5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0F3E16-FF6C-82E8-56DD-AD4062F06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C112272-54EB-0929-BD3C-12B1A3CA8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5A10FF-F20D-89AC-E462-32355167E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029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EFFF-E4EB-B31E-B308-306FCF9F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4C0465-9785-5FAB-0F20-36CF7BC05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88354C-E836-52D6-8903-9EAC6B4DA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5891BC-9E6A-7BAD-4ED5-A63A1D9CC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363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E597-E84A-10EA-6B4C-C3D9D4DB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A59CCF5-D358-ECB4-EF88-8EFACE069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C8FA3A3-6682-5292-6CB7-A793A0F6D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9864F3-23BD-8A1D-F4FF-1B9869F1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796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4DFB-2D9B-F18E-D274-4B7BD868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8F7236-B06C-6AA2-B39A-569182ADB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894BAA-7791-9D7F-1450-AEB2162D0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8EEE12-2292-E692-53C2-231070413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4908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0CE04-49E1-1EB3-A038-708D0895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E7860D8-2966-BE45-9A00-A5F9829D4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9022AD-621C-EB7B-F5A2-9B250B5AE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1047B2-666F-388D-6CD0-785D783CD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809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C1BAF-7583-44DB-EE03-17B4F115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E65B0CA-E92C-8DE7-D872-E88C8929A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E6531E8-6FA6-0577-DEF7-77376ACDC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AE9BF7-C8BE-1026-328A-31338C98E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4167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A0E4-DE8D-B1E4-5039-8B476C1A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6FA7FB-E2D4-A955-2577-78FD051F1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7B30E3F-BDCC-A955-67A4-5B9E887DB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2BF557-CAE7-F956-6DE9-4934A86E1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494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AD83-3D30-5CB0-FAB5-E8EB1705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7D4DB5-5AF0-80E1-4BE8-91E0C45CB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2626AF-33F4-784F-86D7-1DC84E26C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8387DE-B1F6-8821-99CE-D1F21A969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479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0D82-018F-B74C-1561-61A1EACE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AAE80B0-D124-EEE5-0735-FFE4E6206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8658FE6-4C30-E2F4-E749-1A2ED2326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02826A-EA78-C908-7D55-08B5816CC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654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C6D1-31E6-CDCA-39FC-A9BB7DE4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AAB060-C1A4-546C-A45C-05613E25D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C49B15-3F32-221C-55A7-7E01A2928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350"/>
              </a:lnSpc>
            </a:pPr>
            <a:r>
              <a:rPr lang="fr-FR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These</a:t>
            </a:r>
            <a:r>
              <a:rPr lang="fr-FR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are the possible topics a post can </a:t>
            </a:r>
            <a:r>
              <a:rPr lang="fr-FR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belong</a:t>
            </a:r>
            <a:r>
              <a:rPr lang="fr-FR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to.</a:t>
            </a:r>
            <a:endParaRPr lang="fr-FR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training_corpus</a:t>
            </a:r>
            <a:r>
              <a:rPr lang="fr-FR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target_names</a:t>
            </a:r>
            <a:endParaRPr lang="fr-FR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GB" b="1" noProof="0" dirty="0"/>
          </a:p>
          <a:p>
            <a:r>
              <a:rPr lang="en-GB" b="1" noProof="0" dirty="0"/>
              <a:t>['</a:t>
            </a:r>
            <a:r>
              <a:rPr lang="en-GB" b="1" noProof="0" dirty="0" err="1"/>
              <a:t>alt.atheism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comp.graphics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comp.os.ms-windows.misc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comp.sys.ibm.pc.hardware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comp.sys.mac.hardware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comp.windows.x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misc.forsale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rec.autos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rec.motorcycles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rec.sport.baseball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rec.sport.hockey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sci.crypt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sci.electronics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sci.med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sci.space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soc.religion.christian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talk.politics.guns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talk.politics.mideast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talk.politics.misc</a:t>
            </a:r>
            <a:r>
              <a:rPr lang="en-GB" b="1" noProof="0" dirty="0"/>
              <a:t>',</a:t>
            </a:r>
          </a:p>
          <a:p>
            <a:r>
              <a:rPr lang="en-GB" b="1" noProof="0" dirty="0"/>
              <a:t> '</a:t>
            </a:r>
            <a:r>
              <a:rPr lang="en-GB" b="1" noProof="0" dirty="0" err="1"/>
              <a:t>talk.religion.misc</a:t>
            </a:r>
            <a:r>
              <a:rPr lang="en-GB" b="1" noProof="0" dirty="0"/>
              <a:t>']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00485C-0310-0AE0-C1FD-3F1514800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8851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AD24-8A68-8816-E0E3-C706E9409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B277C8-E684-98FA-80A5-902EBFF4B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EEB344-EEF6-246D-EE77-6ADDABED4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520DB0-3128-DC85-4C3B-F61DD16C1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262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917E2-9A8C-5B54-D6BB-70329535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E520898-13DA-4253-A9C4-5ED0F3CD5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6F84EC-8A2D-C172-F5F8-44A00AF5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4837FD-5AFD-2EF1-8B19-B67C3E98F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852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4734-83A7-F377-9CED-B675E42C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844B27A-BA98-171B-3EC3-9CE014BB4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7B9363-DEBE-4609-25D4-8C6DE0C65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AC329B-F4DC-2F52-8A1E-74AC28B43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3991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E0F4-54D5-C09F-FE86-4767235D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FDB5A7-1903-ECF0-5CE5-0A9FFEC8C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550E6A-5830-91D0-9A00-E92C276B0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8D19A9-5EBE-3401-A239-350D2E85A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657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5BF3D-82FA-5979-270F-53C16F08F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8579A3-25AB-E713-E878-D18066DAD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C07ED4-ED09-BEAD-2529-05B903362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AC58A3-EAE1-269D-A90F-6579317AA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1227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F9AB-CC07-B512-CDF0-88607DBE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D5BF1B-838E-0A26-6497-2D71D2E27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3AB14B-F25D-048F-E880-3373334D3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6BE5CE-55B1-4326-ED09-6499B7010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1802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744C-060D-7028-33A4-794F0FA6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1A6610-F892-4C17-398E-17D980944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34059A-484C-9295-B844-EF57998EB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44F5AD-FA34-319C-CC82-7594D5B23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7205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C5A05-02C6-A2B5-F8C2-46CDFDEB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B4189D4-43B8-0D05-2A96-39BA654E0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08B9F67-4FFC-C7EC-7175-B99286BCB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0AB62B-9035-983B-33FC-A17852175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1795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85DDD-66FD-C2B0-C642-69675772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A810796-9872-ED13-2C9C-ED88B5A44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D0A43F5-550A-A84C-3E66-929692049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DBE027-D8B5-956F-DC1D-3E0A90374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39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70CBD-2044-C166-ECB4-B5E04FF86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113E5F-03C3-18E2-FCEF-5EAEF2C2B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C1DD83-75D3-0C57-B17D-46F385BA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EF8CD5-AF43-340E-75EC-21C2B99D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94F8B-F444-CF76-5EAE-14902605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57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4153C-B194-04D9-AC8D-003346E2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A136BF-46C1-85DC-CF58-09624E267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F97642-BEEC-650E-EA28-95D472DA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07D93-390F-6441-C146-2B8599DE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2AC055-10B4-3F39-8AF0-72A1AFA5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2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3DB80-C408-70FB-F92B-852E9DFC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B06203-602E-FF20-5EAF-5651685DF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3AEE4A-0AF7-F59F-CEF3-BCB5EC06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86623A-8EE1-2AB8-8D88-AB6FAF5C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B31BB0-EE25-7CDD-ED6A-EF71DB6E3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46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BC5CC-1612-2E99-2360-C7D7D486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D4BAF8-9419-2659-12F9-380BD70C8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0CAAE3-48EA-C79D-F0A5-B2B94302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6844DB-D409-6593-C0DD-A16B2335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7D7F13-441C-3514-1FE6-D3BA2456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3C3FED-9F80-58AC-68DA-7E13756F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59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4877B-3675-9701-F7F5-6057C2D3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65331-88C9-A910-C951-A7A61B8B8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14EF64-F5B6-2969-12C0-3A7250E2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2EFC147-85CD-625A-49C9-55DAEF609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EB3046F-283D-EAE3-B76D-56B029DF5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EBE3F1-204E-6CDB-AA11-687ABE64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7894E7-148D-9F3B-FCB5-1C479370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A3C6896-5632-CB3E-5EE9-1EA4B533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1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D1066-12A6-77B4-A50C-5E798266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710CDE-733F-C7D0-D838-8B83DB36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DC78F9-8F1B-313E-25EC-2AADF2FD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10B4FF-8DFC-6FDB-161B-27B99A46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02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777153-E75F-C824-E8BE-8990E8DD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99D7FDB-C2A0-754F-B712-C081D0C9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1DB440-D618-FB26-E611-FF2BCCF1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04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515FC-C0B9-85EB-61A3-3FB0A933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6E78D8-7A37-3A64-22F4-9321C8822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267898-BFC1-2176-8903-0B5D991FB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B55939-A8B1-F021-5D5D-FFA66696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990A93-5E36-45AC-F49E-1ED8CFFA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5FC3F0-B696-254C-1328-CD7A0167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33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C3365-739C-42C1-39EB-B8057662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391ACDD-07B4-E6CE-3F24-AC97D05F6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245B25-0A03-5829-5651-A8D28FC24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368B7E-EFBF-1624-412E-274A73EB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67AF3E-4163-77DE-29E7-05056030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6E3F94-DD4B-4118-5C03-54C7B05D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79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92E0B-B550-E988-3CCB-FFF97B48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283FFD-55BE-9721-6D74-62C2583BE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25E748-CA56-BFB6-3A92-F8AFC219C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7DF5BF-1E2A-AB40-A2A7-F6FFF90E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659DFB-7AAF-6495-BEA9-CE850044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74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1E121DC-A2B1-952E-113E-11295ABD1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58FDE7-8E1E-BAC5-862E-88052E59C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089BB4-3887-F8C0-801B-B89FAD0AF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4785C4-BBA7-49D2-52EB-8DC6D863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47BE72-105F-866E-95CF-0E8203C5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98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41734BF-6DF7-E3AC-4872-A490DD66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481795-F1E3-7BED-8D75-DD849C3D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4B7897-1F7C-84D1-5F86-0FB9E9486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02A82-6BE8-724E-9810-84149E189E03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F2713B-38B1-FC93-6F14-8B00FB41A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4D7ACB-FB9A-CF0E-9C5E-A2EEC2078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92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Naive Bayes Classifier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B69ED97-53CD-8DC0-36B3-8D168C6342AB}"/>
              </a:ext>
            </a:extLst>
          </p:cNvPr>
          <p:cNvSpPr txBox="1"/>
          <p:nvPr/>
        </p:nvSpPr>
        <p:spPr>
          <a:xfrm>
            <a:off x="3423684" y="3827721"/>
            <a:ext cx="4890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8439-9850-DBFA-890A-1A6B7ED1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336254-BF5B-D5F4-FDE7-9B8877DA5C0C}"/>
              </a:ext>
            </a:extLst>
          </p:cNvPr>
          <p:cNvSpPr txBox="1"/>
          <p:nvPr/>
        </p:nvSpPr>
        <p:spPr>
          <a:xfrm>
            <a:off x="838199" y="1828800"/>
            <a:ext cx="10515600" cy="19558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Fast and Simple Text Classification</a:t>
            </a:r>
            <a:endParaRPr lang="en-GB" sz="2800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7B2E440C-0D83-2118-BBE4-48ECA74D5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357513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8422-A569-A02D-CEB3-6A09B13C9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F86B807-F7CE-2BEB-7337-884A0632D4A2}"/>
                  </a:ext>
                </a:extLst>
              </p:cNvPr>
              <p:cNvSpPr txBox="1"/>
              <p:nvPr/>
            </p:nvSpPr>
            <p:spPr>
              <a:xfrm>
                <a:off x="965795" y="1828800"/>
                <a:ext cx="8465289" cy="3898900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Bayes’ Theorem:</a:t>
                </a:r>
                <a:endParaRPr lang="en-GB" sz="2800" i="0" u="none" strike="noStrike" dirty="0">
                  <a:effectLst/>
                  <a:latin typeface="ui-sans-serif"/>
                </a:endParaRPr>
              </a:p>
              <a:p>
                <a:endParaRPr lang="en-GB" dirty="0">
                  <a:latin typeface="ui-sans-serif"/>
                </a:endParaRPr>
              </a:p>
              <a:p>
                <a:endParaRPr lang="en-GB" sz="2800" dirty="0">
                  <a:latin typeface="ui-sans-serif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×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sz="2800" b="0" dirty="0"/>
              </a:p>
              <a:p>
                <a:endParaRPr lang="en-GB" sz="28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𝐻𝑦𝑝𝑜𝑡h𝑒𝑠𝑖𝑠</m:t>
                    </m:r>
                  </m:oMath>
                </a14:m>
                <a:r>
                  <a:rPr lang="fr-FR" b="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𝐷𝑎𝑡𝑎</m:t>
                    </m:r>
                  </m:oMath>
                </a14:m>
                <a:r>
                  <a:rPr lang="fr-FR" b="0" dirty="0"/>
                  <a:t> </a:t>
                </a:r>
              </a:p>
              <a:p>
                <a:endParaRPr lang="fr-FR" sz="2800" b="0" dirty="0"/>
              </a:p>
              <a:p>
                <a:endParaRPr lang="en-GB" sz="28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F86B807-F7CE-2BEB-7337-884A0632D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795" y="1828800"/>
                <a:ext cx="8465289" cy="3898900"/>
              </a:xfrm>
              <a:prstGeom prst="rect">
                <a:avLst/>
              </a:prstGeom>
              <a:blipFill>
                <a:blip r:embed="rId3"/>
                <a:stretch>
                  <a:fillRect l="-1497" t="-1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>
            <a:extLst>
              <a:ext uri="{FF2B5EF4-FFF2-40B4-BE49-F238E27FC236}">
                <a16:creationId xmlns:a16="http://schemas.microsoft.com/office/drawing/2014/main" id="{C0FFA4AC-5D3B-7130-30C0-AB7B553D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0668749E-8314-2C93-2CA3-E69D87BB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8B0CEE1-1BA5-5C61-9225-4D8BB67D4C4E}"/>
                  </a:ext>
                </a:extLst>
              </p:cNvPr>
              <p:cNvSpPr txBox="1"/>
              <p:nvPr/>
            </p:nvSpPr>
            <p:spPr>
              <a:xfrm>
                <a:off x="8794885" y="2554470"/>
                <a:ext cx="3283701" cy="1749057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) :</m:t>
                    </m:r>
                    <m:r>
                      <a:rPr lang="fr-FR" sz="1800" b="1" i="1" smtClean="0">
                        <a:latin typeface="Cambria Math" panose="02040503050406030204" pitchFamily="18" charset="0"/>
                      </a:rPr>
                      <m:t>𝑷𝒐𝒔𝒕𝒆𝒓𝒊𝒐𝒓</m:t>
                    </m:r>
                  </m:oMath>
                </a14:m>
                <a:r>
                  <a:rPr lang="en-GB" dirty="0"/>
                  <a:t> </a:t>
                </a:r>
                <a:endParaRPr lang="fr-FR" sz="1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fr-FR" sz="1800" b="1" i="1" smtClean="0">
                        <a:latin typeface="Cambria Math" panose="02040503050406030204" pitchFamily="18" charset="0"/>
                      </a:rPr>
                      <m:t>𝑷𝒓𝒊𝒐𝒓</m:t>
                    </m:r>
                  </m:oMath>
                </a14:m>
                <a:r>
                  <a:rPr lang="fr-FR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) :</m:t>
                    </m:r>
                    <m:r>
                      <a:rPr lang="fr-FR" sz="1800" b="1" i="1" smtClean="0">
                        <a:latin typeface="Cambria Math" panose="02040503050406030204" pitchFamily="18" charset="0"/>
                      </a:rPr>
                      <m:t>𝑳𝒊𝒌𝒆𝒍𝒊𝒉𝒐𝒐</m:t>
                    </m:r>
                  </m:oMath>
                </a14:m>
                <a:r>
                  <a:rPr lang="en-GB" b="1" dirty="0"/>
                  <a:t>d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𝑁𝑜𝑟𝑚𝑎𝑙𝑖𝑧𝑖𝑛𝑔</m:t>
                    </m:r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8B0CEE1-1BA5-5C61-9225-4D8BB67D4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85" y="2554470"/>
                <a:ext cx="3283701" cy="1749057"/>
              </a:xfrm>
              <a:prstGeom prst="rect">
                <a:avLst/>
              </a:prstGeom>
              <a:blipFill>
                <a:blip r:embed="rId4"/>
                <a:stretch>
                  <a:fillRect b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A093C9E-3C45-E935-37F6-F12C5930EA06}"/>
              </a:ext>
            </a:extLst>
          </p:cNvPr>
          <p:cNvSpPr/>
          <p:nvPr/>
        </p:nvSpPr>
        <p:spPr>
          <a:xfrm>
            <a:off x="2604977" y="2684720"/>
            <a:ext cx="5548423" cy="14885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511FC069-E416-498C-CFB4-D71779956F97}"/>
              </a:ext>
            </a:extLst>
          </p:cNvPr>
          <p:cNvSpPr/>
          <p:nvPr/>
        </p:nvSpPr>
        <p:spPr>
          <a:xfrm>
            <a:off x="8452884" y="2554470"/>
            <a:ext cx="489101" cy="174905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62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E07D-C036-ED2B-F5B5-CACC3511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691A4D-145E-41B8-B7DC-7297CCA2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4661ED1-564E-D699-2A12-735C2A3636C7}"/>
                  </a:ext>
                </a:extLst>
              </p:cNvPr>
              <p:cNvSpPr txBox="1"/>
              <p:nvPr/>
            </p:nvSpPr>
            <p:spPr>
              <a:xfrm>
                <a:off x="838199" y="1828800"/>
                <a:ext cx="10515600" cy="432745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Application to Document Classification:</a:t>
                </a:r>
              </a:p>
              <a:p>
                <a:endParaRPr lang="en-GB" sz="2800" b="1" dirty="0">
                  <a:latin typeface="ui-sans-serif"/>
                </a:endParaRPr>
              </a:p>
              <a:p>
                <a:r>
                  <a:rPr lang="en-GB" sz="2800" dirty="0">
                    <a:latin typeface="ui-sans-serif"/>
                  </a:rPr>
                  <a:t>Find the class </a:t>
                </a:r>
                <a14:m>
                  <m:oMath xmlns:m="http://schemas.openxmlformats.org/officeDocument/2006/math"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800" dirty="0"/>
                  <a:t> that maximizes the posterior probability i.e. the most probable class.</a:t>
                </a:r>
              </a:p>
              <a:p>
                <a:endParaRPr lang="en-GB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sub>
                      </m:sSub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  <a:p>
                <a:endParaRPr lang="en-GB" sz="2800" dirty="0"/>
              </a:p>
              <a:p>
                <a:r>
                  <a:rPr lang="en-GB" sz="2400" b="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Here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b="0" i="1" noProof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noProof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b="0" i="1" noProof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is un-useful as a constant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4661ED1-564E-D699-2A12-735C2A363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8800"/>
                <a:ext cx="10515600" cy="4327452"/>
              </a:xfrm>
              <a:prstGeom prst="rect">
                <a:avLst/>
              </a:prstGeom>
              <a:blipFill>
                <a:blip r:embed="rId3"/>
                <a:stretch>
                  <a:fillRect l="-1206" t="-1760" r="-1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7BBE2077-115D-6A10-914C-F6D3B673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73208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7A14-ADC1-8F86-D77A-58366AA1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0310B-8426-28C8-A306-35918A97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1D5204AD-E664-CCAF-F7A0-8692A1A665C7}"/>
                  </a:ext>
                </a:extLst>
              </p:cNvPr>
              <p:cNvSpPr txBox="1"/>
              <p:nvPr/>
            </p:nvSpPr>
            <p:spPr>
              <a:xfrm>
                <a:off x="838198" y="1828800"/>
                <a:ext cx="11208490" cy="432745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Application to Document Classification:</a:t>
                </a:r>
              </a:p>
              <a:p>
                <a:endParaRPr lang="en-GB" sz="2800" b="1" dirty="0">
                  <a:latin typeface="ui-sans-serif"/>
                </a:endParaRPr>
              </a:p>
              <a:p>
                <a14:m>
                  <m:oMath xmlns:m="http://schemas.openxmlformats.org/officeDocument/2006/math"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800" b="0" i="0" noProof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sz="2800" b="0" noProof="0" dirty="0"/>
                  <a:t>s </a:t>
                </a:r>
                <a:r>
                  <a:rPr lang="en-GB" sz="2800" noProof="0" dirty="0"/>
                  <a:t>simple to compute: </a:t>
                </a:r>
                <a14:m>
                  <m:oMath xmlns:m="http://schemas.openxmlformats.org/officeDocument/2006/math"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𝑑𝑜𝑐𝑢𝑚𝑒𝑛𝑡𝑠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𝑐𝑙𝑎𝑠𝑠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𝑑𝑜𝑐𝑢𝑚𝑒𝑛𝑡𝑠</m:t>
                        </m:r>
                      </m:den>
                    </m:f>
                  </m:oMath>
                </a14:m>
                <a:r>
                  <a:rPr lang="en-GB" sz="2800" noProof="0" dirty="0"/>
                  <a:t> </a:t>
                </a:r>
              </a:p>
              <a:p>
                <a:endParaRPr lang="fr-FR" sz="28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800" dirty="0"/>
                  <a:t> </a:t>
                </a:r>
                <a:r>
                  <a:rPr lang="en-GB" sz="2400" dirty="0"/>
                  <a:t>is more complex to determine as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endParaRPr lang="en-GB" sz="2800" dirty="0"/>
              </a:p>
              <a:p>
                <a:r>
                  <a:rPr lang="en-GB" sz="2400" dirty="0"/>
                  <a:t>i.e. the probability of this sequence of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/>
                  <a:t> in this order knowing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1D5204AD-E664-CCAF-F7A0-8692A1A66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828800"/>
                <a:ext cx="11208490" cy="4327452"/>
              </a:xfrm>
              <a:prstGeom prst="rect">
                <a:avLst/>
              </a:prstGeom>
              <a:blipFill>
                <a:blip r:embed="rId3"/>
                <a:stretch>
                  <a:fillRect l="-1131" t="-17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8515B754-BD37-FB9F-2567-DE1D5B72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30324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EC22-9135-FE95-2675-C895B1859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6C3C58-82A6-BAA4-D519-C481A228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F82A8266-F1E0-E1B5-77BC-8A9BDD098234}"/>
                  </a:ext>
                </a:extLst>
              </p:cNvPr>
              <p:cNvSpPr txBox="1"/>
              <p:nvPr/>
            </p:nvSpPr>
            <p:spPr>
              <a:xfrm>
                <a:off x="838199" y="1828800"/>
                <a:ext cx="11219122" cy="4527550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Application to Document Classification:</a:t>
                </a:r>
              </a:p>
              <a:p>
                <a:endParaRPr lang="en-GB" sz="2800" b="1" dirty="0">
                  <a:latin typeface="ui-sans-serif"/>
                </a:endParaRPr>
              </a:p>
              <a:p>
                <a:r>
                  <a:rPr lang="en-GB" sz="2400" b="0" noProof="0" dirty="0"/>
                  <a:t>To simplify the computation of the likelihood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GB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noProof="0" dirty="0"/>
                  <a:t> we make two assumptions (the second is the “</a:t>
                </a:r>
                <a:r>
                  <a:rPr lang="en-GB" sz="2400" b="1" noProof="0" dirty="0"/>
                  <a:t>naive</a:t>
                </a:r>
                <a:r>
                  <a:rPr lang="en-GB" sz="2400" noProof="0" dirty="0"/>
                  <a:t>” one):</a:t>
                </a:r>
              </a:p>
              <a:p>
                <a:endParaRPr lang="en-GB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400" noProof="0" dirty="0"/>
                  <a:t>Word order does not matter, so we use Bag Of Words representations.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400" noProof="0" dirty="0"/>
                  <a:t>Word appearances are independent of each other given a particular class.</a:t>
                </a:r>
              </a:p>
              <a:p>
                <a:endParaRPr lang="en-GB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∏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GB" sz="2800" dirty="0"/>
                  <a:t> </a:t>
                </a:r>
              </a:p>
              <a:p>
                <a:endParaRPr lang="en-GB" sz="2800" dirty="0"/>
              </a:p>
              <a:p>
                <a:r>
                  <a:rPr lang="en-GB" sz="2400" dirty="0"/>
                  <a:t>							And this is now easier to calculate.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F82A8266-F1E0-E1B5-77BC-8A9BDD098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8800"/>
                <a:ext cx="11219122" cy="4527550"/>
              </a:xfrm>
              <a:prstGeom prst="rect">
                <a:avLst/>
              </a:prstGeom>
              <a:blipFill>
                <a:blip r:embed="rId3"/>
                <a:stretch>
                  <a:fillRect l="-1130" t="-1681" r="-1017" b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CA2B501B-DA07-2154-2115-56B476FC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3" name="Flèche vers le bas 2">
            <a:extLst>
              <a:ext uri="{FF2B5EF4-FFF2-40B4-BE49-F238E27FC236}">
                <a16:creationId xmlns:a16="http://schemas.microsoft.com/office/drawing/2014/main" id="{EE41F612-692D-4B24-9AB0-D0900E85EEE6}"/>
              </a:ext>
            </a:extLst>
          </p:cNvPr>
          <p:cNvSpPr/>
          <p:nvPr/>
        </p:nvSpPr>
        <p:spPr>
          <a:xfrm>
            <a:off x="6847367" y="4635790"/>
            <a:ext cx="318977" cy="3402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76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E093-0543-015B-A0A4-FABE36A1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94FA3-5875-04A4-D3E7-A8AB6F38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B115AEB-3EEC-5BEA-BC40-2E4031550D69}"/>
                  </a:ext>
                </a:extLst>
              </p:cNvPr>
              <p:cNvSpPr txBox="1"/>
              <p:nvPr/>
            </p:nvSpPr>
            <p:spPr>
              <a:xfrm>
                <a:off x="838199" y="1828800"/>
                <a:ext cx="10515600" cy="432745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Application to Document Classification:</a:t>
                </a:r>
              </a:p>
              <a:p>
                <a:endParaRPr lang="en-GB" sz="2800" b="1" dirty="0">
                  <a:latin typeface="ui-sans-serif"/>
                </a:endParaRPr>
              </a:p>
              <a:p>
                <a:r>
                  <a:rPr lang="en-GB" sz="2800" dirty="0">
                    <a:latin typeface="ui-sans-serif"/>
                  </a:rPr>
                  <a:t>Find the class </a:t>
                </a:r>
                <a14:m>
                  <m:oMath xmlns:m="http://schemas.openxmlformats.org/officeDocument/2006/math"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800" dirty="0"/>
                  <a:t> that maximizes the posterior probability i.e. the most probable class is equivalent to 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b="0" i="1" u="none" strike="noStrike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800" b="1" i="1" u="none" strike="noStrike" smtClea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GB" sz="2800" dirty="0"/>
                  <a:t> :</a:t>
                </a:r>
              </a:p>
              <a:p>
                <a:endParaRPr lang="en-GB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2800" b="0" i="1" u="none" strike="noStrike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u="none" strike="noStrike" smtClean="0">
                              <a:effectLst/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sub>
                      </m:sSub>
                      <m:func>
                        <m:func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B115AEB-3EEC-5BEA-BC40-2E4031550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8800"/>
                <a:ext cx="10515600" cy="4327452"/>
              </a:xfrm>
              <a:prstGeom prst="rect">
                <a:avLst/>
              </a:prstGeom>
              <a:blipFill>
                <a:blip r:embed="rId3"/>
                <a:stretch>
                  <a:fillRect l="-1206" t="-1760" r="-1448" b="-23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15086820-C71C-6D96-F99F-C985AB38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73677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66C5-A544-A98B-90EA-EE5C533B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1FECB9-0223-0E98-FC6E-F2E1CDC8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68EE0F-7F9F-E8B7-EFCD-3F583D910492}"/>
              </a:ext>
            </a:extLst>
          </p:cNvPr>
          <p:cNvSpPr txBox="1"/>
          <p:nvPr/>
        </p:nvSpPr>
        <p:spPr>
          <a:xfrm>
            <a:off x="838199" y="1828800"/>
            <a:ext cx="6104861" cy="295585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</a:t>
            </a:r>
          </a:p>
          <a:p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1947A0A0-2031-FD7B-DE0A-A6CB9B6C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9E44259-3430-0129-DFA0-AAA93C9A9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262973"/>
              </p:ext>
            </p:extLst>
          </p:nvPr>
        </p:nvGraphicFramePr>
        <p:xfrm>
          <a:off x="947478" y="2408378"/>
          <a:ext cx="579356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220">
                  <a:extLst>
                    <a:ext uri="{9D8B030D-6E8A-4147-A177-3AD203B41FA5}">
                      <a16:colId xmlns:a16="http://schemas.microsoft.com/office/drawing/2014/main" val="72230864"/>
                    </a:ext>
                  </a:extLst>
                </a:gridCol>
                <a:gridCol w="1678343">
                  <a:extLst>
                    <a:ext uri="{9D8B030D-6E8A-4147-A177-3AD203B41FA5}">
                      <a16:colId xmlns:a16="http://schemas.microsoft.com/office/drawing/2014/main" val="243697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1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“Beyond the pandemic”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62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“Compelling jumble of philosophy”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5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“Vaccine rollout enters second phase”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3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“Man regains sight with implant”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44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“My toilet is haunted”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030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06AD590-05F3-3159-C1FC-4A69871155E9}"/>
                  </a:ext>
                </a:extLst>
              </p:cNvPr>
              <p:cNvSpPr txBox="1"/>
              <p:nvPr/>
            </p:nvSpPr>
            <p:spPr>
              <a:xfrm>
                <a:off x="7538772" y="2371821"/>
                <a:ext cx="4049232" cy="2261597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400" b="1" noProof="0" dirty="0"/>
                  <a:t>Calculate the prior </a:t>
                </a:r>
                <a14:m>
                  <m:oMath xmlns:m="http://schemas.openxmlformats.org/officeDocument/2006/math">
                    <m:r>
                      <a:rPr lang="en-GB" sz="2400" b="1" i="1" noProof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GB" sz="2400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en-GB" sz="2400" b="1" noProof="0" dirty="0"/>
                  <a:t>:</a:t>
                </a:r>
              </a:p>
              <a:p>
                <a:endParaRPr lang="en-GB" noProof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𝑁𝑜𝑡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06AD590-05F3-3159-C1FC-4A6987115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772" y="2371821"/>
                <a:ext cx="4049232" cy="2261597"/>
              </a:xfrm>
              <a:prstGeom prst="rect">
                <a:avLst/>
              </a:prstGeom>
              <a:blipFill>
                <a:blip r:embed="rId3"/>
                <a:stretch>
                  <a:fillRect l="-2188" t="-2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42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A0D4-C394-B05D-0189-576FF68D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0C2E1C-564B-67E3-B2C2-36AF041C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6188BFE-B155-0DF3-1AC4-DCA87E2DF8C7}"/>
              </a:ext>
            </a:extLst>
          </p:cNvPr>
          <p:cNvSpPr txBox="1"/>
          <p:nvPr/>
        </p:nvSpPr>
        <p:spPr>
          <a:xfrm>
            <a:off x="838199" y="1828800"/>
            <a:ext cx="6104861" cy="295585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</a:t>
            </a:r>
          </a:p>
          <a:p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198E9547-F712-C178-6677-27C04955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6DD099F-4DF6-C046-077F-84CEEE23B466}"/>
              </a:ext>
            </a:extLst>
          </p:cNvPr>
          <p:cNvGraphicFramePr>
            <a:graphicFrameLocks noGrp="1"/>
          </p:cNvGraphicFramePr>
          <p:nvPr/>
        </p:nvGraphicFramePr>
        <p:xfrm>
          <a:off x="947478" y="2408378"/>
          <a:ext cx="579356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220">
                  <a:extLst>
                    <a:ext uri="{9D8B030D-6E8A-4147-A177-3AD203B41FA5}">
                      <a16:colId xmlns:a16="http://schemas.microsoft.com/office/drawing/2014/main" val="72230864"/>
                    </a:ext>
                  </a:extLst>
                </a:gridCol>
                <a:gridCol w="1678343">
                  <a:extLst>
                    <a:ext uri="{9D8B030D-6E8A-4147-A177-3AD203B41FA5}">
                      <a16:colId xmlns:a16="http://schemas.microsoft.com/office/drawing/2014/main" val="243697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1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“Beyond the pandemic”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62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“Compelling jumble of philosophy”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5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“Vaccine rollout enters second phase”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3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“Man regains sight with implant”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44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“My toilet is haunted”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030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7F0BF29-54CB-72FD-7548-0CE41F33CD43}"/>
                  </a:ext>
                </a:extLst>
              </p:cNvPr>
              <p:cNvSpPr txBox="1"/>
              <p:nvPr/>
            </p:nvSpPr>
            <p:spPr>
              <a:xfrm>
                <a:off x="6943060" y="2356658"/>
                <a:ext cx="5248940" cy="2276760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400" b="1" dirty="0"/>
                  <a:t>Calculate the likelihoods: 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𝐶𝑜𝑢𝑛𝑡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𝐶𝑜𝑢𝑛𝑡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𝑤𝑜𝑟𝑑𝑠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GB" sz="2400" dirty="0"/>
                  <a:t> </a:t>
                </a:r>
              </a:p>
              <a:p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𝑉𝑎𝑐𝑐𝑖𝑛𝑒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𝑚𝑒𝑑𝑖𝑐𝑎𝑙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=0.076923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7F0BF29-54CB-72FD-7548-0CE41F33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060" y="2356658"/>
                <a:ext cx="5248940" cy="2276760"/>
              </a:xfrm>
              <a:prstGeom prst="rect">
                <a:avLst/>
              </a:prstGeom>
              <a:blipFill>
                <a:blip r:embed="rId3"/>
                <a:stretch>
                  <a:fillRect l="-1687" t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14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02A2C-5506-DFA9-57BC-39E15412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0A491-1704-E4ED-D50C-913217AF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AB4C731E-56D2-90A0-C12E-E72D6B8381C3}"/>
                  </a:ext>
                </a:extLst>
              </p:cNvPr>
              <p:cNvSpPr txBox="1"/>
              <p:nvPr/>
            </p:nvSpPr>
            <p:spPr>
              <a:xfrm>
                <a:off x="838199" y="1828800"/>
                <a:ext cx="10515600" cy="432745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Application to Document Classification:</a:t>
                </a:r>
              </a:p>
              <a:p>
                <a:endParaRPr lang="en-GB" sz="2800" b="1" dirty="0">
                  <a:latin typeface="ui-sans-serif"/>
                </a:endParaRPr>
              </a:p>
              <a:p>
                <a:r>
                  <a:rPr lang="en-GB" sz="2800" noProof="0" dirty="0">
                    <a:latin typeface="ui-sans-serif"/>
                  </a:rPr>
                  <a:t>If the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800" noProof="0" dirty="0"/>
                  <a:t> is not in the class </a:t>
                </a:r>
                <a14:m>
                  <m:oMath xmlns:m="http://schemas.openxmlformats.org/officeDocument/2006/math"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800" noProof="0" dirty="0"/>
                  <a:t> then </a:t>
                </a:r>
                <a14:m>
                  <m:oMath xmlns:m="http://schemas.openxmlformats.org/officeDocument/2006/math"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28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800" noProof="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b="0" i="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28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sz="28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GB" sz="28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800" noProof="0" dirty="0"/>
                  <a:t> does not exist !   To avoid it we add the smooth parameter </a:t>
                </a:r>
                <a14:m>
                  <m:oMath xmlns:m="http://schemas.openxmlformats.org/officeDocument/2006/math">
                    <m:r>
                      <a:rPr lang="fr-FR" sz="2800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2800" noProof="0" dirty="0"/>
                  <a:t>:</a:t>
                </a:r>
              </a:p>
              <a:p>
                <a:endParaRPr lang="en-GB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𝑎𝑙𝑙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  <a:p>
                <a:endParaRPr lang="en-GB" sz="2800" noProof="0" dirty="0"/>
              </a:p>
              <a:p>
                <a:r>
                  <a:rPr lang="en-GB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2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40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the total number of words of the Vocabulary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AB4C731E-56D2-90A0-C12E-E72D6B838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8800"/>
                <a:ext cx="10515600" cy="4327452"/>
              </a:xfrm>
              <a:prstGeom prst="rect">
                <a:avLst/>
              </a:prstGeom>
              <a:blipFill>
                <a:blip r:embed="rId3"/>
                <a:stretch>
                  <a:fillRect l="-1206" t="-1760"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AE60A9E9-F595-A2CA-F8E4-8625E044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209298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917AA-817F-5A68-7E36-DA2BFF4B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047F83-0BBE-7753-09F0-B9FC2E96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7E175F-B335-8B72-BC3F-B786DCA6268F}"/>
              </a:ext>
            </a:extLst>
          </p:cNvPr>
          <p:cNvSpPr txBox="1"/>
          <p:nvPr/>
        </p:nvSpPr>
        <p:spPr>
          <a:xfrm>
            <a:off x="838199" y="1828800"/>
            <a:ext cx="7315201" cy="294516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noProof="0" dirty="0">
                <a:latin typeface="ui-sans-serif"/>
              </a:rPr>
              <a:t>Let’s now classify the document « vaccine trial »</a:t>
            </a:r>
            <a:endParaRPr lang="en-GB" sz="2800" noProof="0" dirty="0"/>
          </a:p>
          <a:p>
            <a:endParaRPr lang="en-GB" sz="2800" b="1" dirty="0">
              <a:latin typeface="ui-sans-serif"/>
            </a:endParaRPr>
          </a:p>
          <a:p>
            <a:endParaRPr lang="en-GB" sz="2800" dirty="0"/>
          </a:p>
          <a:p>
            <a:endParaRPr lang="en-GB" sz="2800" noProof="0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03D185E1-C4D1-251A-5624-40ACA85B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700781D-0DFF-C99F-DFA8-DB31B771CD26}"/>
                  </a:ext>
                </a:extLst>
              </p:cNvPr>
              <p:cNvSpPr txBox="1"/>
              <p:nvPr/>
            </p:nvSpPr>
            <p:spPr>
              <a:xfrm>
                <a:off x="6850320" y="2353474"/>
                <a:ext cx="5234588" cy="2761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0" noProof="0" dirty="0"/>
                  <a:t>1. Calculate the prior </a:t>
                </a:r>
                <a14:m>
                  <m:oMath xmlns:m="http://schemas.openxmlformats.org/officeDocument/2006/math">
                    <m:r>
                      <a:rPr lang="en-GB" sz="16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GB" sz="1600" noProof="0" dirty="0"/>
                  <a:t>:</a:t>
                </a:r>
              </a:p>
              <a:p>
                <a:endParaRPr lang="en-GB" sz="1600" noProof="0" dirty="0"/>
              </a:p>
              <a:p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=3/5</m:t>
                    </m:r>
                  </m:oMath>
                </a14:m>
                <a:r>
                  <a:rPr lang="en-GB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𝑁𝑜𝑡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en-GB" sz="1600" dirty="0"/>
                  <a:t> 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2. Calculate the likelihoods:</a:t>
                </a:r>
              </a:p>
              <a:p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𝑣𝑎𝑐𝑐𝑖𝑛𝑒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𝑚𝑒𝑑𝑖𝑐𝑎𝑙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13+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×21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1+1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13+1×21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=0.0588</m:t>
                    </m:r>
                  </m:oMath>
                </a14:m>
                <a:r>
                  <a:rPr lang="en-GB" sz="1600" dirty="0"/>
                  <a:t> </a:t>
                </a:r>
              </a:p>
              <a:p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𝑡𝑟𝑖𝑎𝑙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𝑚𝑒𝑑𝑖𝑐𝑎𝑙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13+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×21</m:t>
                        </m:r>
                      </m:den>
                    </m:f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13+1×21</m:t>
                        </m:r>
                      </m:den>
                    </m:f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=0.0294117</m:t>
                    </m:r>
                  </m:oMath>
                </a14:m>
                <a:r>
                  <a:rPr lang="en-GB" sz="1600" dirty="0"/>
                  <a:t> 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700781D-0DFF-C99F-DFA8-DB31B771C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320" y="2353474"/>
                <a:ext cx="5234588" cy="2761012"/>
              </a:xfrm>
              <a:prstGeom prst="rect">
                <a:avLst/>
              </a:prstGeom>
              <a:blipFill>
                <a:blip r:embed="rId3"/>
                <a:stretch>
                  <a:fillRect l="-726" t="-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75BE6782-073B-20BF-26DF-E31FBF6DB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86463"/>
              </p:ext>
            </p:extLst>
          </p:nvPr>
        </p:nvGraphicFramePr>
        <p:xfrm>
          <a:off x="947478" y="2408378"/>
          <a:ext cx="579356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220">
                  <a:extLst>
                    <a:ext uri="{9D8B030D-6E8A-4147-A177-3AD203B41FA5}">
                      <a16:colId xmlns:a16="http://schemas.microsoft.com/office/drawing/2014/main" val="72230864"/>
                    </a:ext>
                  </a:extLst>
                </a:gridCol>
                <a:gridCol w="1678343">
                  <a:extLst>
                    <a:ext uri="{9D8B030D-6E8A-4147-A177-3AD203B41FA5}">
                      <a16:colId xmlns:a16="http://schemas.microsoft.com/office/drawing/2014/main" val="243697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1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“Beyond the pandemic”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62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“Compelling jumble of philosophy”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5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“Vaccine rollout enters second phase”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3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“Man regains sight with implant”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44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“My toilet is haunted”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030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3C678CE-76EA-75BC-829C-CEBEDF7EECA0}"/>
                  </a:ext>
                </a:extLst>
              </p:cNvPr>
              <p:cNvSpPr txBox="1"/>
              <p:nvPr/>
            </p:nvSpPr>
            <p:spPr>
              <a:xfrm>
                <a:off x="947478" y="4773965"/>
                <a:ext cx="10505829" cy="169590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GB" sz="1600" dirty="0"/>
                  <a:t>3. Calculate the posteriors: </a:t>
                </a:r>
              </a:p>
              <a:p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𝑣𝑎𝑐𝑐𝑖𝑛𝑒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𝑡𝑟𝑖𝑎𝑙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𝑚𝑒𝑑𝑖𝑐𝑎𝑙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𝑣𝑎𝑐𝑐𝑖𝑛𝑒</m:t>
                        </m:r>
                      </m:e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𝑡𝑟𝑖𝑎𝑙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𝑚𝑒𝑑𝑖𝑐𝑎𝑙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𝑣𝑎𝑐𝑐𝑖𝑛𝑒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𝑡𝑟𝑖𝑎𝑙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=−6.87</m:t>
                    </m:r>
                  </m:oMath>
                </a14:m>
                <a:r>
                  <a:rPr lang="en-GB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𝑁𝑜𝑡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𝑣𝑎𝑐𝑐𝑖𝑛𝑒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𝑡𝑟𝑖𝑎𝑙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=−7.65</m:t>
                    </m:r>
                  </m:oMath>
                </a14:m>
                <a:r>
                  <a:rPr lang="en-GB" sz="1600" dirty="0"/>
                  <a:t> </a:t>
                </a: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3C678CE-76EA-75BC-829C-CEBEDF7EE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8" y="4773965"/>
                <a:ext cx="10505829" cy="1695909"/>
              </a:xfrm>
              <a:prstGeom prst="rect">
                <a:avLst/>
              </a:prstGeom>
              <a:blipFill>
                <a:blip r:embed="rId4"/>
                <a:stretch>
                  <a:fillRect l="-242" t="-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4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DCED3-99A2-0BB8-F7C8-EFF7B789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C4D145-C7EE-E409-FF2E-AD3E0ED1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06BCB68-4149-9316-7B77-02E87A90A1EA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</a:t>
            </a:r>
            <a:endParaRPr lang="en-GB" sz="2800" b="1" dirty="0">
              <a:latin typeface="ui-sans-serif"/>
            </a:endParaRPr>
          </a:p>
          <a:p>
            <a:endParaRPr lang="en-GB" sz="2800" dirty="0"/>
          </a:p>
          <a:p>
            <a:endParaRPr lang="en-GB" sz="2800" noProof="0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16482C8E-6047-ED4F-1796-DC8F58BD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98EBE46-5D08-8114-EDEF-2FF7BA5B22A8}"/>
                  </a:ext>
                </a:extLst>
              </p:cNvPr>
              <p:cNvSpPr txBox="1"/>
              <p:nvPr/>
            </p:nvSpPr>
            <p:spPr>
              <a:xfrm>
                <a:off x="847971" y="2453427"/>
                <a:ext cx="10505829" cy="169590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GB" sz="1800" b="0" noProof="0" dirty="0"/>
                  <a:t>As </a:t>
                </a:r>
                <a14:m>
                  <m:oMath xmlns:m="http://schemas.openxmlformats.org/officeDocument/2006/math">
                    <m:r>
                      <a:rPr lang="en-GB" sz="18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𝑣𝑎𝑐𝑐𝑖𝑛𝑒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𝑡𝑟𝑖𝑎𝑙</m:t>
                        </m:r>
                      </m:e>
                    </m:d>
                    <m:r>
                      <a:rPr lang="en-GB" sz="1800" b="0" i="1" noProof="0" smtClean="0">
                        <a:latin typeface="Cambria Math" panose="02040503050406030204" pitchFamily="18" charset="0"/>
                      </a:rPr>
                      <m:t>=−6.87</m:t>
                    </m:r>
                    <m:r>
                      <a:rPr lang="en-GB" sz="1800" b="1" i="1" noProof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8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8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𝑁𝑜𝑡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𝑚𝑒𝑑𝑖𝑐𝑎𝑙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𝑣𝑎𝑐𝑐𝑖𝑛𝑒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800" b="0" i="1" noProof="0" smtClean="0">
                            <a:latin typeface="Cambria Math" panose="02040503050406030204" pitchFamily="18" charset="0"/>
                          </a:rPr>
                          <m:t>𝑡𝑟𝑖𝑎𝑙</m:t>
                        </m:r>
                      </m:e>
                    </m:d>
                    <m:r>
                      <a:rPr lang="en-GB" sz="1800" b="0" i="1" noProof="0" smtClean="0">
                        <a:latin typeface="Cambria Math" panose="02040503050406030204" pitchFamily="18" charset="0"/>
                      </a:rPr>
                      <m:t>=−7.65</m:t>
                    </m:r>
                  </m:oMath>
                </a14:m>
                <a:r>
                  <a:rPr lang="en-GB" sz="1800" noProof="0" dirty="0"/>
                  <a:t> the </a:t>
                </a:r>
                <a:r>
                  <a:rPr lang="en-GB" sz="1800" noProof="0" dirty="0" err="1"/>
                  <a:t>mos</a:t>
                </a:r>
                <a:r>
                  <a:rPr lang="en-GB" dirty="0"/>
                  <a:t>t probable class is “Medical”</a:t>
                </a:r>
                <a:endParaRPr lang="en-GB" sz="1800" noProof="0" dirty="0"/>
              </a:p>
              <a:p>
                <a:endParaRPr lang="en-GB" b="1" noProof="0" dirty="0"/>
              </a:p>
              <a:p>
                <a:pPr algn="ctr"/>
                <a:r>
                  <a:rPr lang="en-GB" sz="2000" b="1" noProof="0" dirty="0"/>
                  <a:t>“Vaccine trial” is</a:t>
                </a:r>
                <a:r>
                  <a:rPr lang="en-GB" sz="2000" noProof="0" dirty="0"/>
                  <a:t> naively Bayes </a:t>
                </a:r>
                <a:r>
                  <a:rPr lang="en-GB" sz="2000" b="1" noProof="0" dirty="0"/>
                  <a:t>classified as a Medical document</a:t>
                </a:r>
              </a:p>
              <a:p>
                <a:endParaRPr lang="en-GB" sz="1600" b="0" i="1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98EBE46-5D08-8114-EDEF-2FF7BA5B2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71" y="2453427"/>
                <a:ext cx="10505829" cy="1695909"/>
              </a:xfrm>
              <a:prstGeom prst="rect">
                <a:avLst/>
              </a:prstGeom>
              <a:blipFill>
                <a:blip r:embed="rId3"/>
                <a:stretch>
                  <a:fillRect l="-483" t="-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63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8F37-AB54-0D2B-2B33-7E82CF9A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C248DC-B372-AADA-D3AF-C1807507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8E5C0FB-7209-9A6A-D860-FDF18D5CA5FE}"/>
              </a:ext>
            </a:extLst>
          </p:cNvPr>
          <p:cNvSpPr txBox="1"/>
          <p:nvPr/>
        </p:nvSpPr>
        <p:spPr>
          <a:xfrm>
            <a:off x="838199" y="2572685"/>
            <a:ext cx="5055974" cy="35191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Create a Bunch object to store the documents and the classes. </a:t>
            </a:r>
          </a:p>
          <a:p>
            <a:pPr>
              <a:lnSpc>
                <a:spcPts val="135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</a:t>
            </a: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Bunch() is more used in NLP than </a:t>
            </a:r>
            <a:r>
              <a:rPr lang="en-GB" sz="8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pd.DataFrame</a:t>
            </a: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()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800" b="1" dirty="0">
              <a:solidFill>
                <a:srgbClr val="0081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utils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Bunch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i="1" noProof="0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documents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"Beyond the pandemic"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	 "Compelling jumble of philosophy"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	 "Vaccine rollout enters second phase"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	 "Man regains sight with implant"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	 "My toilet is haunted"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classes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"Medical"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noProof="0" dirty="0">
                <a:solidFill>
                  <a:srgbClr val="C44445"/>
                </a:solidFill>
                <a:latin typeface="Menlo" panose="020B0609030804020204" pitchFamily="49" charset="0"/>
              </a:rPr>
              <a:t>          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"Not Medical"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       "Medical"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       "Medical"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       "Not Medical"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Bunch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documents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documents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7E330DBC-9081-232F-19AF-F5F4F51D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783D0D7-FA8C-A2D2-4664-802B7751A5BC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</a:t>
            </a:r>
            <a:endParaRPr lang="en-GB" sz="2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1A8740-F47D-D006-5F1A-3FB323D4B79C}"/>
              </a:ext>
            </a:extLst>
          </p:cNvPr>
          <p:cNvSpPr txBox="1"/>
          <p:nvPr/>
        </p:nvSpPr>
        <p:spPr>
          <a:xfrm>
            <a:off x="6096000" y="2554570"/>
            <a:ext cx="5469924" cy="35191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prior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"""Returns the prior P(c) of the c class"""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nb_documents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documents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nb_class_occurrences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sz="800" dirty="0">
                <a:solidFill>
                  <a:srgbClr val="333333"/>
                </a:solidFill>
                <a:latin typeface="Menlo" panose="020B0609030804020204" pitchFamily="49" charset="0"/>
              </a:rPr>
              <a:t>		      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p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nb_class_occurrences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nb_documents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</a:t>
            </a:r>
          </a:p>
          <a:p>
            <a:pPr algn="l"/>
            <a:endParaRPr lang="en-GB" sz="800" b="0" i="0" u="none" strike="noStrike" noProof="0" dirty="0">
              <a:effectLst/>
              <a:latin typeface="ui-sans-serif"/>
            </a:endParaRPr>
          </a:p>
          <a:p>
            <a:pPr algn="l"/>
            <a:endParaRPr lang="en-GB" sz="800" b="0" i="0" u="none" strike="noStrike" noProof="0" dirty="0">
              <a:effectLst/>
              <a:latin typeface="ui-sans-serif"/>
            </a:endParaRPr>
          </a:p>
          <a:p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prior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"Medical"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prior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"Not Medical"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algn="l"/>
            <a:endParaRPr lang="en-GB" sz="800" dirty="0">
              <a:latin typeface="ui-sans-serif"/>
            </a:endParaRPr>
          </a:p>
          <a:p>
            <a:pPr algn="l"/>
            <a:r>
              <a:rPr lang="en-GB" sz="800" b="1" i="0" dirty="0">
                <a:solidFill>
                  <a:srgbClr val="333333"/>
                </a:solidFill>
                <a:effectLst/>
                <a:latin typeface="var(--notebook-cell-output-font-family)"/>
              </a:rPr>
              <a:t>(0.6, 0.4)</a:t>
            </a:r>
          </a:p>
        </p:txBody>
      </p:sp>
    </p:spTree>
    <p:extLst>
      <p:ext uri="{BB962C8B-B14F-4D97-AF65-F5344CB8AC3E}">
        <p14:creationId xmlns:p14="http://schemas.microsoft.com/office/powerpoint/2010/main" val="1678854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E2BCA-B76D-33DB-316D-27E270D15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409E1-5B50-D9C3-8EB7-C0213C09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BE9D6A-5ED6-5BED-A164-ABC1AC02654C}"/>
              </a:ext>
            </a:extLst>
          </p:cNvPr>
          <p:cNvSpPr txBox="1"/>
          <p:nvPr/>
        </p:nvSpPr>
        <p:spPr>
          <a:xfrm>
            <a:off x="838199" y="2486186"/>
            <a:ext cx="4981833" cy="36056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vocabulary_class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list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"Returns the list of the words in the class"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documents_filters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 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doc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sz="800" dirty="0">
                <a:solidFill>
                  <a:srgbClr val="333333"/>
                </a:solidFill>
                <a:latin typeface="Menlo" panose="020B0609030804020204" pitchFamily="49" charset="0"/>
              </a:rPr>
              <a:t>		 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zip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documents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sz="800" dirty="0">
                <a:solidFill>
                  <a:srgbClr val="333333"/>
                </a:solidFill>
                <a:latin typeface="Menlo" panose="020B0609030804020204" pitchFamily="49" charset="0"/>
              </a:rPr>
              <a:t>		 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vocab_class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 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doc </a:t>
            </a:r>
          </a:p>
          <a:p>
            <a:pPr>
              <a:lnSpc>
                <a:spcPct val="150000"/>
              </a:lnSpc>
            </a:pPr>
            <a:r>
              <a:rPr lang="en-GB" sz="800" dirty="0">
                <a:solidFill>
                  <a:srgbClr val="333333"/>
                </a:solidFill>
                <a:latin typeface="Menlo" panose="020B0609030804020204" pitchFamily="49" charset="0"/>
              </a:rPr>
              <a:t>		    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documents_filters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]).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split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 ‘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vocab_class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vocabulary_class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'Medical'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algn="l"/>
            <a:endParaRPr lang="en-GB" sz="800" b="0" i="0" u="none" strike="noStrike" noProof="0" dirty="0">
              <a:effectLst/>
              <a:latin typeface="ui-sans-serif"/>
            </a:endParaRPr>
          </a:p>
          <a:p>
            <a:pPr algn="l"/>
            <a:endParaRPr lang="en-GB" sz="800" b="0" i="0" u="none" strike="noStrike" noProof="0" dirty="0">
              <a:effectLst/>
              <a:latin typeface="ui-sans-serif"/>
            </a:endParaRPr>
          </a:p>
          <a:p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['beyond', 'the', 'pandemic', 'vaccine', 'rollout', 'enters’, </a:t>
            </a:r>
          </a:p>
          <a:p>
            <a:r>
              <a:rPr lang="en-GB" sz="800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'second', 'phase', 'man', 'regains', 'sight', 'with', 'implant']</a:t>
            </a:r>
            <a:br>
              <a:rPr lang="en-GB" sz="800" b="0" i="0" dirty="0">
                <a:solidFill>
                  <a:srgbClr val="333333"/>
                </a:solidFill>
                <a:effectLst/>
                <a:latin typeface="var(--notebook-cell-output-font-family)"/>
              </a:rPr>
            </a:br>
            <a:endParaRPr lang="en-GB" sz="800" b="0" i="0" dirty="0">
              <a:solidFill>
                <a:srgbClr val="333333"/>
              </a:solidFill>
              <a:effectLst/>
              <a:latin typeface="var(--notebook-cell-output-font-family)"/>
            </a:endParaRPr>
          </a:p>
          <a:p>
            <a:pPr algn="l"/>
            <a:endParaRPr lang="en-GB" sz="800" b="0" i="0" u="none" strike="noStrike" noProof="0" dirty="0">
              <a:effectLst/>
              <a:latin typeface="ui-sans-serif"/>
            </a:endParaRPr>
          </a:p>
          <a:p>
            <a:endParaRPr lang="en-GB" sz="800" noProof="0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F1424968-3180-5A9B-192B-1807D18B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2D4E08-5BD0-715D-BC3E-07F4B4E05C6D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</a:t>
            </a:r>
            <a:endParaRPr lang="en-GB" sz="2800" b="1" dirty="0">
              <a:latin typeface="ui-sans-serif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E38C831-81D9-7D71-D9FE-F0B95800B4AF}"/>
              </a:ext>
            </a:extLst>
          </p:cNvPr>
          <p:cNvSpPr txBox="1"/>
          <p:nvPr/>
        </p:nvSpPr>
        <p:spPr>
          <a:xfrm>
            <a:off x="6225761" y="2486186"/>
            <a:ext cx="5488460" cy="36056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p_likelihood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word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alpha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"""Takes a word and a class and return the likelihood p(word | class)"""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from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collections 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Counter</a:t>
            </a:r>
          </a:p>
          <a:p>
            <a:pPr>
              <a:lnSpc>
                <a:spcPct val="15000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   # count all w in c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all_w_in_c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vocabulary_class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   # count </a:t>
            </a:r>
            <a:r>
              <a:rPr lang="en-GB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w_i</a:t>
            </a: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in c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wi_in_c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Counter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vocabulary_class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))[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word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()]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wi_in_c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alpha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all_w_in_c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alpha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v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</a:t>
            </a:r>
          </a:p>
          <a:p>
            <a:pPr>
              <a:lnSpc>
                <a:spcPct val="150000"/>
              </a:lnSpc>
            </a:pPr>
            <a:b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p_likelihood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'Vaccine'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'Medical'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br>
              <a:rPr lang="en-GB" sz="800" b="0" i="0" dirty="0">
                <a:solidFill>
                  <a:srgbClr val="333333"/>
                </a:solidFill>
                <a:effectLst/>
                <a:latin typeface="var(--notebook-cell-output-font-family)"/>
              </a:rPr>
            </a:br>
            <a:r>
              <a:rPr lang="en-GB" sz="800" b="0" i="0" u="none" strike="noStrike" noProof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0.058823529411764705</a:t>
            </a:r>
          </a:p>
          <a:p>
            <a:pPr algn="l"/>
            <a:endParaRPr lang="en-GB" sz="800" dirty="0">
              <a:latin typeface="ui-sans-serif"/>
            </a:endParaRPr>
          </a:p>
          <a:p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p_likelihood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'trial'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'Medical’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endParaRPr lang="fr-FR" sz="8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0.029411764705882353</a:t>
            </a:r>
            <a:endParaRPr lang="en-GB" sz="800" noProof="0" dirty="0"/>
          </a:p>
        </p:txBody>
      </p:sp>
    </p:spTree>
    <p:extLst>
      <p:ext uri="{BB962C8B-B14F-4D97-AF65-F5344CB8AC3E}">
        <p14:creationId xmlns:p14="http://schemas.microsoft.com/office/powerpoint/2010/main" val="356849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9AA0D-D536-04F3-D2D5-38525069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32CB85-FEE3-6880-E389-A612D084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40C5E3-1A41-BEC7-CEED-1F48C9322B98}"/>
              </a:ext>
            </a:extLst>
          </p:cNvPr>
          <p:cNvSpPr txBox="1"/>
          <p:nvPr/>
        </p:nvSpPr>
        <p:spPr>
          <a:xfrm>
            <a:off x="838199" y="1913254"/>
            <a:ext cx="5389606" cy="43639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9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p_likelihood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9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word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alpha</a:t>
            </a:r>
            <a:r>
              <a:rPr lang="fr-FR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9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0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fr-FR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9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"""Takes a word and a class and return the likelihood p(word | class)"""</a:t>
            </a:r>
            <a:endParaRPr lang="en-GB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9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from</a:t>
            </a: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collections </a:t>
            </a:r>
            <a:r>
              <a:rPr lang="en-GB" sz="9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Counter</a:t>
            </a:r>
          </a:p>
          <a:p>
            <a:pPr>
              <a:lnSpc>
                <a:spcPct val="150000"/>
              </a:lnSpc>
            </a:pPr>
            <a:r>
              <a:rPr lang="en-GB" sz="9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   # count all w in c</a:t>
            </a:r>
            <a:endParaRPr lang="en-GB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all_w_in_c</a:t>
            </a: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9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vocabulary_class</a:t>
            </a:r>
            <a:r>
              <a:rPr lang="en-GB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9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   # count </a:t>
            </a:r>
            <a:r>
              <a:rPr lang="en-GB" sz="9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w_i</a:t>
            </a:r>
            <a:r>
              <a:rPr lang="en-GB" sz="9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in c</a:t>
            </a:r>
            <a:endParaRPr lang="en-GB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wi_in_c</a:t>
            </a: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Counter</a:t>
            </a:r>
            <a:r>
              <a:rPr lang="en-GB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vocabulary_class</a:t>
            </a:r>
            <a:r>
              <a:rPr lang="en-GB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class_to_filter</a:t>
            </a:r>
            <a:r>
              <a:rPr lang="en-GB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))[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word</a:t>
            </a:r>
            <a:r>
              <a:rPr lang="en-GB" sz="9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GB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()]</a:t>
            </a:r>
            <a:endParaRPr lang="en-GB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 </a:t>
            </a:r>
            <a:r>
              <a:rPr lang="fr-FR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wi_in_c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alpha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9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all_w_in_c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alpha </a:t>
            </a:r>
            <a:r>
              <a:rPr lang="fr-FR" sz="9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v</a:t>
            </a:r>
            <a:r>
              <a:rPr lang="fr-FR" sz="9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9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</a:t>
            </a:r>
          </a:p>
          <a:p>
            <a:pPr>
              <a:lnSpc>
                <a:spcPct val="150000"/>
              </a:lnSpc>
            </a:pPr>
            <a:br>
              <a:rPr lang="en-GB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9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p_likelihood</a:t>
            </a:r>
            <a:r>
              <a:rPr lang="en-GB" sz="9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9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'Vaccine'</a:t>
            </a:r>
            <a:r>
              <a:rPr lang="en-GB" sz="9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9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9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'Medical'</a:t>
            </a:r>
            <a:r>
              <a:rPr lang="en-GB" sz="9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br>
              <a:rPr lang="en-GB" sz="900" b="0" i="0" dirty="0">
                <a:solidFill>
                  <a:srgbClr val="333333"/>
                </a:solidFill>
                <a:effectLst/>
                <a:latin typeface="var(--notebook-cell-output-font-family)"/>
              </a:rPr>
            </a:br>
            <a:r>
              <a:rPr lang="en-GB" sz="900" b="0" i="0" u="none" strike="noStrike" noProof="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0.058823529411764705</a:t>
            </a:r>
          </a:p>
          <a:p>
            <a:pPr algn="l"/>
            <a:endParaRPr lang="en-GB" sz="900" dirty="0">
              <a:latin typeface="ui-sans-serif"/>
            </a:endParaRPr>
          </a:p>
          <a:p>
            <a:r>
              <a:rPr lang="en-GB" sz="9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p_likelihood</a:t>
            </a:r>
            <a:r>
              <a:rPr lang="en-GB" sz="9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9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'trial'</a:t>
            </a:r>
            <a:r>
              <a:rPr lang="en-GB" sz="9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9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9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'Not Medical’</a:t>
            </a:r>
            <a:r>
              <a:rPr lang="en-GB" sz="9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endParaRPr lang="fr-FR" sz="9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r>
              <a:rPr lang="fr-FR" sz="9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0.034482758620689655</a:t>
            </a:r>
          </a:p>
          <a:p>
            <a:pPr algn="l"/>
            <a:endParaRPr lang="en-GB" sz="900" noProof="0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074FB653-0EE3-1C52-1368-10CF698D1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2F03AF3-7F78-8481-CB9A-14509EF7F245}"/>
              </a:ext>
            </a:extLst>
          </p:cNvPr>
          <p:cNvSpPr txBox="1"/>
          <p:nvPr/>
        </p:nvSpPr>
        <p:spPr>
          <a:xfrm>
            <a:off x="838199" y="1346878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</a:t>
            </a:r>
            <a:endParaRPr lang="en-GB" sz="2800" b="1" dirty="0">
              <a:latin typeface="ui-sans-serif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6513B8-983B-AE87-50B8-A5C37F8E0028}"/>
              </a:ext>
            </a:extLst>
          </p:cNvPr>
          <p:cNvSpPr txBox="1"/>
          <p:nvPr/>
        </p:nvSpPr>
        <p:spPr>
          <a:xfrm>
            <a:off x="6435832" y="1927934"/>
            <a:ext cx="5476103" cy="4349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predict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document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"""Predict the class of a document"""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words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document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split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 ‘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'-inf’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predicted_class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None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classes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prob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prior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word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words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prob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p_likelihood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word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prob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prob</a:t>
            </a: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           print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1" noProof="0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8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"max_prob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round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predicted_class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classe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predicted_class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Document to test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test_document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"vaccine trial"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Predict the class of the document to test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predicted_class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predict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test_document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"Medical"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"Not Medical"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1" noProof="0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8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”The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document '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test_document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’ belongs to the class '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predicted_class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’. »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max_prob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 -6.87</a:t>
            </a:r>
          </a:p>
          <a:p>
            <a:pPr>
              <a:lnSpc>
                <a:spcPct val="150000"/>
              </a:lnSpc>
            </a:pP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The document 'vaccine trial’ belongs to the class 'Medical'.</a:t>
            </a:r>
          </a:p>
          <a:p>
            <a:pPr>
              <a:lnSpc>
                <a:spcPct val="15000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342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1D191-DE18-9F8C-5B5E-2C36A190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F4121-7471-DAED-2835-08AAF5FA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2581F3-CA16-0AEB-A8BB-7F376B11EBB4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</a:t>
            </a:r>
            <a:endParaRPr lang="en-GB" sz="2800" b="1" dirty="0">
              <a:latin typeface="ui-sans-serif"/>
            </a:endParaRPr>
          </a:p>
          <a:p>
            <a:endParaRPr lang="en-GB" sz="2800" dirty="0"/>
          </a:p>
          <a:p>
            <a:endParaRPr lang="en-GB" sz="2800" noProof="0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DC3D404C-CDD8-096F-9EA2-2EA31350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54D5BF3-4974-2B45-AD8A-A318B29A8D4D}"/>
                  </a:ext>
                </a:extLst>
              </p:cNvPr>
              <p:cNvSpPr txBox="1"/>
              <p:nvPr/>
            </p:nvSpPr>
            <p:spPr>
              <a:xfrm>
                <a:off x="847971" y="2453427"/>
                <a:ext cx="10505829" cy="375598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GB" sz="2400" noProof="0" dirty="0"/>
                  <a:t>Scoring Naive Bayes</a:t>
                </a:r>
                <a:r>
                  <a:rPr lang="en-GB" sz="2400" dirty="0"/>
                  <a:t> or </a:t>
                </a:r>
                <a:r>
                  <a:rPr lang="en-GB" sz="2000" noProof="0" dirty="0"/>
                  <a:t>Conversion into probabilities:</a:t>
                </a:r>
              </a:p>
              <a:p>
                <a:endParaRPr lang="en-GB" sz="2000" b="1" dirty="0"/>
              </a:p>
              <a:p>
                <a:r>
                  <a:rPr lang="en-GB" sz="2000" noProof="0" dirty="0"/>
                  <a:t>To do that we need to reverse the log operation with the exponential.</a:t>
                </a:r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𝑚𝑒𝑑𝑖𝑐𝑎𝑙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𝑣𝑎𝑐𝑐𝑖𝑛𝑒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𝑡𝑟𝑖𝑎𝑙</m:t>
                          </m:r>
                        </m:e>
                      </m:d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=−6.87</m:t>
                      </m:r>
                    </m:oMath>
                  </m:oMathPara>
                </a14:m>
                <a:endParaRPr lang="fr-FR" sz="20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𝑁𝑜𝑡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𝑚𝑒𝑑𝑖𝑐𝑎𝑙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𝑣𝑎𝑐𝑐𝑖𝑛𝑒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𝑡𝑟𝑖𝑎𝑙</m:t>
                          </m:r>
                        </m:e>
                      </m:d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=−7.65</m:t>
                      </m:r>
                    </m:oMath>
                  </m:oMathPara>
                </a14:m>
                <a:endParaRPr lang="fr-FR" sz="2000" b="0" noProof="0" dirty="0"/>
              </a:p>
              <a:p>
                <a:endParaRPr lang="en-GB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000" b="0" i="0" noProof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fr-FR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noProof="0" smtClean="0">
                                  <a:latin typeface="Cambria Math" panose="02040503050406030204" pitchFamily="18" charset="0"/>
                                </a:rPr>
                                <m:t>−6.87</m:t>
                              </m:r>
                            </m:e>
                          </m:d>
                        </m:e>
                      </m:func>
                      <m:r>
                        <a:rPr lang="fr-FR" sz="2000" b="0" i="1" noProof="0" smtClean="0">
                          <a:latin typeface="Cambria Math" panose="02040503050406030204" pitchFamily="18" charset="0"/>
                        </a:rPr>
                        <m:t>=0.0010</m:t>
                      </m:r>
                    </m:oMath>
                  </m:oMathPara>
                </a14:m>
                <a:endParaRPr lang="fr-FR" sz="20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000" b="0" i="0" noProof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fr-FR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noProof="0" smtClean="0">
                                  <a:latin typeface="Cambria Math" panose="02040503050406030204" pitchFamily="18" charset="0"/>
                                </a:rPr>
                                <m:t>−7.65</m:t>
                              </m:r>
                            </m:e>
                          </m:d>
                        </m:e>
                      </m:func>
                      <m:r>
                        <a:rPr lang="fr-FR" sz="2000" b="0" i="1" noProof="0" smtClean="0">
                          <a:latin typeface="Cambria Math" panose="02040503050406030204" pitchFamily="18" charset="0"/>
                        </a:rPr>
                        <m:t>=0.0004</m:t>
                      </m:r>
                    </m:oMath>
                  </m:oMathPara>
                </a14:m>
                <a:endParaRPr lang="fr-FR" sz="2000" b="0" noProof="0" dirty="0"/>
              </a:p>
              <a:p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𝑚𝑒𝑑𝑖𝑐𝑎𝑙</m:t>
                          </m:r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𝑣𝑎𝑐𝑐𝑖𝑛𝑒</m:t>
                          </m:r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𝑡𝑟𝑖𝑎𝑙</m:t>
                          </m:r>
                        </m:e>
                      </m:d>
                      <m:r>
                        <a:rPr lang="fr-FR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0.0010</m:t>
                          </m:r>
                        </m:num>
                        <m:den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0.0010+0.0004</m:t>
                          </m:r>
                        </m:den>
                      </m:f>
                      <m:r>
                        <a:rPr lang="fr-FR" sz="2000" b="0" i="1" noProof="0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fr-FR" sz="2000" b="0" noProof="0" dirty="0"/>
              </a:p>
              <a:p>
                <a:endParaRPr lang="en-GB" sz="2000" noProof="0" dirty="0"/>
              </a:p>
              <a:p>
                <a:endParaRPr lang="en-GB" sz="1600" b="0" i="1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54D5BF3-4974-2B45-AD8A-A318B29A8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71" y="2453427"/>
                <a:ext cx="10505829" cy="3755987"/>
              </a:xfrm>
              <a:prstGeom prst="rect">
                <a:avLst/>
              </a:prstGeom>
              <a:blipFill>
                <a:blip r:embed="rId3"/>
                <a:stretch>
                  <a:fillRect l="-844" t="-1007" b="-1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660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65E6-7286-B6C8-EC5F-68163376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8702B-3A26-77E6-DAC7-0040BF3A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8EB2D068-C1FD-2E40-8DB3-E26DDCBB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F60E451-7592-5F41-A978-D094E5D2246A}"/>
              </a:ext>
            </a:extLst>
          </p:cNvPr>
          <p:cNvSpPr txBox="1"/>
          <p:nvPr/>
        </p:nvSpPr>
        <p:spPr>
          <a:xfrm>
            <a:off x="847972" y="2593169"/>
            <a:ext cx="4589002" cy="3134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The packages</a:t>
            </a:r>
            <a:endParaRPr lang="fr-FR" sz="800" b="1" dirty="0">
              <a:solidFill>
                <a:srgbClr val="008100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fr-FR" sz="800" b="1" dirty="0">
              <a:solidFill>
                <a:srgbClr val="0081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i="1" dirty="0">
                <a:solidFill>
                  <a:srgbClr val="6A8B93"/>
                </a:solidFill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matplotlib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pyplot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numpy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pandas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pd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spacy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b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metrics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model_selection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datasets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fetch_20newsgroups</a:t>
            </a: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dummy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DummyClassifier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feature_extraction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TfidfVectorizer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metrics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confusion_matrix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ConfusionMatrixDisplay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model_selection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train_test_split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naive_bayes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MultinomialNB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sklearn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Pipeline</a:t>
            </a:r>
          </a:p>
          <a:p>
            <a:endParaRPr lang="en-GB" sz="2000" noProof="0" dirty="0"/>
          </a:p>
          <a:p>
            <a:endParaRPr lang="en-GB" sz="1600" b="0" i="1" noProof="0" dirty="0">
              <a:latin typeface="Cambria Math" panose="020405030504060302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1012427-DD80-6750-0438-43EF5DAA2199}"/>
              </a:ext>
            </a:extLst>
          </p:cNvPr>
          <p:cNvSpPr txBox="1"/>
          <p:nvPr/>
        </p:nvSpPr>
        <p:spPr>
          <a:xfrm>
            <a:off x="5545094" y="2593169"/>
            <a:ext cx="6292679" cy="3134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Load the data. Remove headers, footers, and quotes from training set and split.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fetch_20newsgroups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subset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'train’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dirty="0">
                <a:solidFill>
                  <a:srgbClr val="333333"/>
                </a:solidFill>
                <a:latin typeface="Menlo" panose="020B0609030804020204" pitchFamily="49" charset="0"/>
              </a:rPr>
              <a:t>			 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remove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'headers'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'footers'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'quotes’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train_data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val_data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train_labels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val_labels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train_test_split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		   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				      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train_size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dirty="0">
                <a:solidFill>
                  <a:srgbClr val="333333"/>
                </a:solidFill>
                <a:latin typeface="Menlo" panose="020B0609030804020204" pitchFamily="49" charset="0"/>
              </a:rPr>
              <a:t>				      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7863D01-3508-E577-AA0F-DA7F0D9AE009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369586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559C-814F-93E9-759C-2ECD5946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07371-30DB-A5B3-8E18-3C8D9805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B888A4AD-1EC0-70E6-FD58-73C1F6850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3BED7F7-DBDC-55AF-97AD-44DF9063D513}"/>
              </a:ext>
            </a:extLst>
          </p:cNvPr>
          <p:cNvSpPr txBox="1"/>
          <p:nvPr/>
        </p:nvSpPr>
        <p:spPr>
          <a:xfrm>
            <a:off x="847972" y="2580812"/>
            <a:ext cx="4589002" cy="3134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When starting, it's a good idea to check the target distribution.</a:t>
            </a:r>
          </a:p>
          <a:p>
            <a:pPr>
              <a:lnSpc>
                <a:spcPct val="15000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In our case, the target is balanced. </a:t>
            </a:r>
          </a:p>
          <a:p>
            <a:pPr>
              <a:lnSpc>
                <a:spcPct val="150000"/>
              </a:lnSpc>
            </a:pPr>
            <a:endParaRPr lang="en-GB" sz="800" b="1" dirty="0">
              <a:solidFill>
                <a:srgbClr val="008100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800" b="1" dirty="0">
              <a:solidFill>
                <a:srgbClr val="0081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bins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counts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unique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training_corpus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return_counts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freq_series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Series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counts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8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training_corpus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figure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figsize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freq_series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plot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kind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'bar'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set_xticklabels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bins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rotation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show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GB" sz="2000" noProof="0" dirty="0"/>
          </a:p>
          <a:p>
            <a:endParaRPr lang="en-GB" sz="1600" b="0" i="1" noProof="0" dirty="0">
              <a:latin typeface="Cambria Math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3C3F7E-D84C-FDAD-162D-BF78BA108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459" y="2580658"/>
            <a:ext cx="4757352" cy="31667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8AE6654-2252-0A2D-C380-D72011D93C02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12047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6A20-4109-CA80-6C32-841AAC4F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A25DC-87B8-8309-9A64-F2FE546C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A1EC96FD-2BDB-CCD8-F429-44BA5897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3BAB77-2466-12BF-8EC7-5A4538BA277C}"/>
              </a:ext>
            </a:extLst>
          </p:cNvPr>
          <p:cNvSpPr txBox="1"/>
          <p:nvPr/>
        </p:nvSpPr>
        <p:spPr>
          <a:xfrm>
            <a:off x="847972" y="2580812"/>
            <a:ext cx="4589002" cy="3134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The pre-processing step</a:t>
            </a:r>
          </a:p>
          <a:p>
            <a:pPr>
              <a:lnSpc>
                <a:spcPct val="150000"/>
              </a:lnSpc>
            </a:pPr>
            <a:endParaRPr lang="en-GB" sz="800" b="1" dirty="0">
              <a:solidFill>
                <a:srgbClr val="008100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Load the </a:t>
            </a:r>
            <a:r>
              <a:rPr lang="en-GB" sz="800" i="1" dirty="0" err="1">
                <a:solidFill>
                  <a:srgbClr val="6A8B93"/>
                </a:solidFill>
                <a:latin typeface="Menlo" panose="020B0609030804020204" pitchFamily="49" charset="0"/>
              </a:rPr>
              <a:t>spaCy</a:t>
            </a: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 English model</a:t>
            </a: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nlp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spacy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'en_core_web_sm’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GB" sz="800" i="1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Define the pipeline without ‘</a:t>
            </a:r>
            <a:r>
              <a:rPr lang="en-GB" sz="800" i="1" dirty="0" err="1">
                <a:solidFill>
                  <a:srgbClr val="6A8B93"/>
                </a:solidFill>
                <a:latin typeface="Menlo" panose="020B0609030804020204" pitchFamily="49" charset="0"/>
              </a:rPr>
              <a:t>ner</a:t>
            </a: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’ and ‘parser’</a:t>
            </a: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unwanted_pipes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ner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parser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Further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remove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stop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words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take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the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lemma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instead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token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spacy_tokenizer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doc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):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fr-FR" sz="800" b="1" dirty="0" err="1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nlp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disable_pipes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unwanted_pipes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):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lemma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nlp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\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AD3EFE"/>
                </a:solidFill>
                <a:latin typeface="Menlo" panose="020B0609030804020204" pitchFamily="49" charset="0"/>
              </a:rPr>
              <a:t>           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is_punct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\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  not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is_space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\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  not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is_stop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\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is_alpha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endParaRPr lang="en-GB" sz="2000" noProof="0" dirty="0"/>
          </a:p>
          <a:p>
            <a:endParaRPr lang="en-GB" sz="1600" b="0" i="1" noProof="0" dirty="0">
              <a:latin typeface="Cambria Math" panose="020405030504060302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0A1323-A150-7CA9-45C5-8A13104521B8}"/>
              </a:ext>
            </a:extLst>
          </p:cNvPr>
          <p:cNvSpPr txBox="1"/>
          <p:nvPr/>
        </p:nvSpPr>
        <p:spPr>
          <a:xfrm>
            <a:off x="5683582" y="2585789"/>
            <a:ext cx="4589002" cy="3134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Vectorization of the training dataset:</a:t>
            </a:r>
          </a:p>
          <a:p>
            <a:pPr>
              <a:lnSpc>
                <a:spcPct val="150000"/>
              </a:lnSpc>
            </a:pPr>
            <a:endParaRPr lang="en-GB" sz="800" b="1" dirty="0">
              <a:solidFill>
                <a:srgbClr val="00810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vectorizer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TfidfVectorizer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spacy_tokenizer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train_feature_vects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vectorizer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fit_transform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train_data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fr-FR" sz="8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Check the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features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now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of training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features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train_feature_vects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toarray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flatten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())))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ar(--notebook-cell-output-font-family)"/>
              </a:rPr>
              <a:t>Number of training features: 42803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A0ECC68-7754-6FA8-0D52-8D594BA60C23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546885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3AB4-F380-FE29-5D5E-DC68B781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CE0B9-6A2C-3559-D634-45335ABC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A18B2E-3C1B-D8B4-57C6-B0D101152275}"/>
              </a:ext>
            </a:extLst>
          </p:cNvPr>
          <p:cNvSpPr txBox="1"/>
          <p:nvPr/>
        </p:nvSpPr>
        <p:spPr>
          <a:xfrm>
            <a:off x="838199" y="182880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84490A66-5196-F317-C158-98C5EA50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6090B74-364B-147E-5957-F15FBB29ADF2}"/>
              </a:ext>
            </a:extLst>
          </p:cNvPr>
          <p:cNvSpPr txBox="1"/>
          <p:nvPr/>
        </p:nvSpPr>
        <p:spPr>
          <a:xfrm>
            <a:off x="847972" y="2432528"/>
            <a:ext cx="4589002" cy="37334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Instantiate a classifier with the default settings.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nb_classifier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MultinomialNB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i="1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Train the model: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nb_classifier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train_feature_vects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train_labels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</a:t>
            </a:r>
            <a:r>
              <a:rPr lang="en-GB" sz="800" i="1" dirty="0" err="1">
                <a:solidFill>
                  <a:srgbClr val="6A8B93"/>
                </a:solidFill>
                <a:latin typeface="Menlo" panose="020B0609030804020204" pitchFamily="49" charset="0"/>
              </a:rPr>
              <a:t>nb_classifier.get_params</a:t>
            </a: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</a:pPr>
            <a:endParaRPr lang="en-GB" sz="800" i="1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Classifier performance on the train dataset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'Training F1 score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fewer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features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metrics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f1_score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train_labels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train_preds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average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'macro'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GB" sz="1050" b="0" i="1" noProof="0" dirty="0">
              <a:latin typeface="Cambria Math" panose="02040503050406030204" pitchFamily="18" charset="0"/>
            </a:endParaRPr>
          </a:p>
          <a:p>
            <a:r>
              <a:rPr lang="en-GB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ar(--notebook-cell-output-font-family)"/>
              </a:rPr>
              <a:t>Training F1 score with fewer features: 0.839229137359691</a:t>
            </a:r>
          </a:p>
          <a:p>
            <a:endParaRPr lang="en-GB" sz="800" b="1" dirty="0">
              <a:solidFill>
                <a:schemeClr val="tx1">
                  <a:lumMod val="50000"/>
                  <a:lumOff val="50000"/>
                </a:schemeClr>
              </a:solidFill>
              <a:latin typeface="var(--notebook-cell-output-font-family)"/>
            </a:endParaRPr>
          </a:p>
          <a:p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Check the classifier performance on the validation dataset</a:t>
            </a:r>
          </a:p>
          <a:p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val_feature_vects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vectorizer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transform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val_data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endParaRPr lang="fr-FR" sz="8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val_preds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nb_classifier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val_feature_vects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'Validation F1 score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fewer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features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metrics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f1_score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val_labels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val_preds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average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'macro'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GB" sz="800" i="1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r>
              <a:rPr lang="en-GB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ar(--notebook-cell-output-font-family)"/>
              </a:rPr>
              <a:t>Validation F1 score with fewer features: 0.673409559015635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E7C375-0F54-06EF-D37B-D939B027EB2E}"/>
              </a:ext>
            </a:extLst>
          </p:cNvPr>
          <p:cNvSpPr txBox="1"/>
          <p:nvPr/>
        </p:nvSpPr>
        <p:spPr>
          <a:xfrm>
            <a:off x="5683580" y="2437504"/>
            <a:ext cx="6364257" cy="37285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</a:t>
            </a:r>
            <a:r>
              <a:rPr lang="fr-FR" sz="800" i="1" dirty="0" err="1">
                <a:solidFill>
                  <a:srgbClr val="6A8B93"/>
                </a:solidFill>
                <a:latin typeface="Menlo" panose="020B0609030804020204" pitchFamily="49" charset="0"/>
              </a:rPr>
              <a:t>creates</a:t>
            </a:r>
            <a:r>
              <a:rPr lang="fr-FR" sz="800" i="1" dirty="0">
                <a:solidFill>
                  <a:srgbClr val="6A8B93"/>
                </a:solidFill>
                <a:latin typeface="Menlo" panose="020B0609030804020204" pitchFamily="49" charset="0"/>
              </a:rPr>
              <a:t> and displays a </a:t>
            </a:r>
            <a:r>
              <a:rPr lang="fr-FR" sz="800" i="1" dirty="0" err="1">
                <a:solidFill>
                  <a:srgbClr val="6A8B93"/>
                </a:solidFill>
                <a:latin typeface="Menlo" panose="020B0609030804020204" pitchFamily="49" charset="0"/>
              </a:rPr>
              <a:t>normalized</a:t>
            </a:r>
            <a:r>
              <a:rPr lang="fr-FR" sz="800" i="1" dirty="0">
                <a:solidFill>
                  <a:srgbClr val="6A8B93"/>
                </a:solidFill>
                <a:latin typeface="Menlo" panose="020B0609030804020204" pitchFamily="49" charset="0"/>
              </a:rPr>
              <a:t> confusion matrix for a classifier.</a:t>
            </a: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GB" sz="800" b="1" dirty="0">
              <a:solidFill>
                <a:srgbClr val="00810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fig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subplots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figsize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disp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ConfusionMatrixDisplay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from_estimator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nb_classifier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	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val_feature_vects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	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val_labels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normalize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			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display_labels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target_names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			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xticks_rotation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'vertical'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GB" sz="1600" b="0" i="1" noProof="0" dirty="0">
              <a:latin typeface="Cambria Math" panose="02040503050406030204" pitchFamily="18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ECA6621-2B8D-0011-7325-0858A9956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655" y="3645242"/>
            <a:ext cx="2489261" cy="24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A5668-4CCF-9462-84DA-456F0E45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417EF-5256-2174-139E-BC528EDC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658780-9F7E-AAF4-9C9F-67CC4AF58DE3}"/>
              </a:ext>
            </a:extLst>
          </p:cNvPr>
          <p:cNvSpPr txBox="1"/>
          <p:nvPr/>
        </p:nvSpPr>
        <p:spPr>
          <a:xfrm>
            <a:off x="838199" y="133452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0594EE5-B549-EE44-254B-A5ACA0388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70" y="1841957"/>
            <a:ext cx="4989725" cy="48795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FDDD56B0-5FF5-44C9-B81E-730DC1EB1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B28784-F64C-3B2C-22EF-E098FC592E5E}"/>
              </a:ext>
            </a:extLst>
          </p:cNvPr>
          <p:cNvSpPr txBox="1"/>
          <p:nvPr/>
        </p:nvSpPr>
        <p:spPr>
          <a:xfrm>
            <a:off x="5350476" y="1841957"/>
            <a:ext cx="6195234" cy="3170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fr-FR" sz="1000" b="1" i="0" u="none" strike="noStrike" dirty="0" err="1">
                <a:effectLst/>
                <a:latin typeface="ui-sans-serif"/>
              </a:rPr>
              <a:t>Normalized</a:t>
            </a:r>
            <a:r>
              <a:rPr lang="fr-FR" sz="1000" b="1" i="0" u="none" strike="noStrike" dirty="0">
                <a:effectLst/>
                <a:latin typeface="ui-sans-serif"/>
              </a:rPr>
              <a:t> Confusion Matrix</a:t>
            </a:r>
          </a:p>
          <a:p>
            <a:pPr algn="l"/>
            <a:r>
              <a:rPr lang="fr-FR" sz="1000" b="0" i="0" u="none" strike="noStrike" dirty="0">
                <a:effectLst/>
                <a:latin typeface="ui-sans-serif"/>
              </a:rPr>
              <a:t>In a </a:t>
            </a:r>
            <a:r>
              <a:rPr lang="fr-FR" sz="1000" b="0" i="0" u="none" strike="noStrike" dirty="0" err="1">
                <a:effectLst/>
                <a:latin typeface="ui-sans-serif"/>
              </a:rPr>
              <a:t>normalized</a:t>
            </a:r>
            <a:r>
              <a:rPr lang="fr-FR" sz="1000" b="0" i="0" u="none" strike="noStrike" dirty="0">
                <a:effectLst/>
                <a:latin typeface="ui-sans-serif"/>
              </a:rPr>
              <a:t> confusion matrix, the values are </a:t>
            </a:r>
            <a:r>
              <a:rPr lang="fr-FR" sz="1000" b="0" i="0" u="none" strike="noStrike" dirty="0" err="1">
                <a:effectLst/>
                <a:latin typeface="ui-sans-serif"/>
              </a:rPr>
              <a:t>expressed</a:t>
            </a:r>
            <a:r>
              <a:rPr lang="fr-FR" sz="1000" b="0" i="0" u="none" strike="noStrike" dirty="0">
                <a:effectLst/>
                <a:latin typeface="ui-sans-serif"/>
              </a:rPr>
              <a:t> as proportions or percentages </a:t>
            </a:r>
            <a:r>
              <a:rPr lang="fr-FR" sz="1000" b="0" i="0" u="none" strike="noStrike" dirty="0" err="1">
                <a:effectLst/>
                <a:latin typeface="ui-sans-serif"/>
              </a:rPr>
              <a:t>rather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than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absolute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numbers</a:t>
            </a:r>
            <a:r>
              <a:rPr lang="fr-FR" sz="1000" b="0" i="0" u="none" strike="noStrike" dirty="0">
                <a:effectLst/>
                <a:latin typeface="ui-sans-serif"/>
              </a:rPr>
              <a:t>. This </a:t>
            </a:r>
            <a:r>
              <a:rPr lang="fr-FR" sz="1000" b="0" i="0" u="none" strike="noStrike" dirty="0" err="1">
                <a:effectLst/>
                <a:latin typeface="ui-sans-serif"/>
              </a:rPr>
              <a:t>allows</a:t>
            </a:r>
            <a:r>
              <a:rPr lang="fr-FR" sz="1000" b="0" i="0" u="none" strike="noStrike" dirty="0">
                <a:effectLst/>
                <a:latin typeface="ui-sans-serif"/>
              </a:rPr>
              <a:t> for </a:t>
            </a:r>
            <a:r>
              <a:rPr lang="fr-FR" sz="1000" b="0" i="0" u="none" strike="noStrike" dirty="0" err="1">
                <a:effectLst/>
                <a:latin typeface="ui-sans-serif"/>
              </a:rPr>
              <a:t>better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comparison</a:t>
            </a:r>
            <a:r>
              <a:rPr lang="fr-FR" sz="1000" b="0" i="0" u="none" strike="noStrike" dirty="0">
                <a:effectLst/>
                <a:latin typeface="ui-sans-serif"/>
              </a:rPr>
              <a:t> of performance </a:t>
            </a:r>
            <a:r>
              <a:rPr lang="fr-FR" sz="1000" b="0" i="0" u="none" strike="noStrike" dirty="0" err="1">
                <a:effectLst/>
                <a:latin typeface="ui-sans-serif"/>
              </a:rPr>
              <a:t>across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different</a:t>
            </a:r>
            <a:r>
              <a:rPr lang="fr-FR" sz="1000" b="0" i="0" u="none" strike="noStrike" dirty="0">
                <a:effectLst/>
                <a:latin typeface="ui-sans-serif"/>
              </a:rPr>
              <a:t> classes, </a:t>
            </a:r>
            <a:r>
              <a:rPr lang="fr-FR" sz="1000" b="0" i="0" u="none" strike="noStrike" dirty="0" err="1">
                <a:effectLst/>
                <a:latin typeface="ui-sans-serif"/>
              </a:rPr>
              <a:t>especially</a:t>
            </a:r>
            <a:r>
              <a:rPr lang="fr-FR" sz="1000" b="0" i="0" u="none" strike="noStrike" dirty="0">
                <a:effectLst/>
                <a:latin typeface="ui-sans-serif"/>
              </a:rPr>
              <a:t> if the classes are </a:t>
            </a:r>
            <a:r>
              <a:rPr lang="fr-FR" sz="1000" b="0" i="0" u="none" strike="noStrike" dirty="0" err="1">
                <a:effectLst/>
                <a:latin typeface="ui-sans-serif"/>
              </a:rPr>
              <a:t>imbalanced</a:t>
            </a:r>
            <a:r>
              <a:rPr lang="fr-FR" sz="1000" b="0" i="0" u="none" strike="noStrike" dirty="0">
                <a:effectLst/>
                <a:latin typeface="ui-sans-serif"/>
              </a:rPr>
              <a:t>.</a:t>
            </a:r>
          </a:p>
          <a:p>
            <a:pPr algn="l"/>
            <a:endParaRPr lang="fr-FR" sz="1000" b="1" i="0" u="none" strike="noStrike" dirty="0">
              <a:effectLst/>
              <a:latin typeface="ui-sans-serif"/>
            </a:endParaRPr>
          </a:p>
          <a:p>
            <a:pPr algn="l"/>
            <a:r>
              <a:rPr lang="fr-FR" sz="1000" b="1" i="0" u="none" strike="noStrike" dirty="0" err="1">
                <a:effectLst/>
                <a:latin typeface="ui-sans-serif"/>
              </a:rPr>
              <a:t>Interpreting</a:t>
            </a:r>
            <a:r>
              <a:rPr lang="fr-FR" sz="1000" b="1" i="0" u="none" strike="noStrike" dirty="0">
                <a:effectLst/>
                <a:latin typeface="ui-sans-serif"/>
              </a:rPr>
              <a:t> the Coefficients</a:t>
            </a:r>
          </a:p>
          <a:p>
            <a:pPr algn="l">
              <a:buFont typeface="+mj-lt"/>
              <a:buAutoNum type="arabicPeriod"/>
            </a:pPr>
            <a:r>
              <a:rPr lang="fr-FR" sz="1000" b="0" i="0" u="none" strike="noStrike" dirty="0">
                <a:effectLst/>
                <a:latin typeface="ui-sans-serif"/>
              </a:rPr>
              <a:t>Main Diagonal: The values on the main diagonal (</a:t>
            </a:r>
            <a:r>
              <a:rPr lang="fr-FR" sz="1000" b="0" i="0" u="none" strike="noStrike" dirty="0" err="1">
                <a:effectLst/>
                <a:latin typeface="ui-sans-serif"/>
              </a:rPr>
              <a:t>from</a:t>
            </a:r>
            <a:r>
              <a:rPr lang="fr-FR" sz="1000" b="0" i="0" u="none" strike="noStrike" dirty="0">
                <a:effectLst/>
                <a:latin typeface="ui-sans-serif"/>
              </a:rPr>
              <a:t> top-</a:t>
            </a:r>
            <a:r>
              <a:rPr lang="fr-FR" sz="1000" b="0" i="0" u="none" strike="noStrike" dirty="0" err="1">
                <a:effectLst/>
                <a:latin typeface="ui-sans-serif"/>
              </a:rPr>
              <a:t>left</a:t>
            </a:r>
            <a:r>
              <a:rPr lang="fr-FR" sz="1000" b="0" i="0" u="none" strike="noStrike" dirty="0">
                <a:effectLst/>
                <a:latin typeface="ui-sans-serif"/>
              </a:rPr>
              <a:t> to </a:t>
            </a:r>
            <a:r>
              <a:rPr lang="fr-FR" sz="1000" b="0" i="0" u="none" strike="noStrike" dirty="0" err="1">
                <a:effectLst/>
                <a:latin typeface="ui-sans-serif"/>
              </a:rPr>
              <a:t>bottom</a:t>
            </a:r>
            <a:r>
              <a:rPr lang="fr-FR" sz="1000" b="0" i="0" u="none" strike="noStrike" dirty="0">
                <a:effectLst/>
                <a:latin typeface="ui-sans-serif"/>
              </a:rPr>
              <a:t>-right) </a:t>
            </a:r>
            <a:r>
              <a:rPr lang="fr-FR" sz="1000" b="0" i="0" u="none" strike="noStrike" dirty="0" err="1">
                <a:effectLst/>
                <a:latin typeface="ui-sans-serif"/>
              </a:rPr>
              <a:t>represent</a:t>
            </a:r>
            <a:r>
              <a:rPr lang="fr-FR" sz="1000" b="0" i="0" u="none" strike="noStrike" dirty="0">
                <a:effectLst/>
                <a:latin typeface="ui-sans-serif"/>
              </a:rPr>
              <a:t> the proportions of </a:t>
            </a:r>
            <a:r>
              <a:rPr lang="fr-FR" sz="1000" b="0" i="0" u="none" strike="noStrike" dirty="0" err="1">
                <a:effectLst/>
                <a:latin typeface="ui-sans-serif"/>
              </a:rPr>
              <a:t>true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predictions</a:t>
            </a:r>
            <a:r>
              <a:rPr lang="fr-FR" sz="1000" b="0" i="0" u="none" strike="noStrike" dirty="0">
                <a:effectLst/>
                <a:latin typeface="ui-sans-serif"/>
              </a:rPr>
              <a:t> (</a:t>
            </a:r>
            <a:r>
              <a:rPr lang="fr-FR" sz="1000" b="0" i="0" u="none" strike="noStrike" dirty="0" err="1">
                <a:effectLst/>
                <a:latin typeface="ui-sans-serif"/>
              </a:rPr>
              <a:t>true</a:t>
            </a:r>
            <a:r>
              <a:rPr lang="fr-FR" sz="1000" b="0" i="0" u="none" strike="noStrike" dirty="0">
                <a:effectLst/>
                <a:latin typeface="ui-sans-serif"/>
              </a:rPr>
              <a:t> positives) for </a:t>
            </a:r>
            <a:r>
              <a:rPr lang="fr-FR" sz="1000" b="0" i="0" u="none" strike="noStrike" dirty="0" err="1">
                <a:effectLst/>
                <a:latin typeface="ui-sans-serif"/>
              </a:rPr>
              <a:t>each</a:t>
            </a:r>
            <a:r>
              <a:rPr lang="fr-FR" sz="1000" b="0" i="0" u="none" strike="noStrike" dirty="0">
                <a:effectLst/>
                <a:latin typeface="ui-sans-serif"/>
              </a:rPr>
              <a:t> class. A value close to 1 </a:t>
            </a:r>
            <a:r>
              <a:rPr lang="fr-FR" sz="1000" b="0" i="0" u="none" strike="noStrike" dirty="0" err="1">
                <a:effectLst/>
                <a:latin typeface="ui-sans-serif"/>
              </a:rPr>
              <a:t>indicates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that</a:t>
            </a:r>
            <a:r>
              <a:rPr lang="fr-FR" sz="1000" b="0" i="0" u="none" strike="noStrike" dirty="0">
                <a:effectLst/>
                <a:latin typeface="ui-sans-serif"/>
              </a:rPr>
              <a:t> the model </a:t>
            </a:r>
            <a:r>
              <a:rPr lang="fr-FR" sz="1000" b="0" i="0" u="none" strike="noStrike" dirty="0" err="1">
                <a:effectLst/>
                <a:latin typeface="ui-sans-serif"/>
              </a:rPr>
              <a:t>correctly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predicts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this</a:t>
            </a:r>
            <a:r>
              <a:rPr lang="fr-FR" sz="1000" b="0" i="0" u="none" strike="noStrike" dirty="0">
                <a:effectLst/>
                <a:latin typeface="ui-sans-serif"/>
              </a:rPr>
              <a:t> class </a:t>
            </a:r>
            <a:r>
              <a:rPr lang="fr-FR" sz="1000" b="0" i="0" u="none" strike="noStrike" dirty="0" err="1">
                <a:effectLst/>
                <a:latin typeface="ui-sans-serif"/>
              </a:rPr>
              <a:t>most</a:t>
            </a:r>
            <a:r>
              <a:rPr lang="fr-FR" sz="1000" b="0" i="0" u="none" strike="noStrike" dirty="0">
                <a:effectLst/>
                <a:latin typeface="ui-sans-serif"/>
              </a:rPr>
              <a:t> of the time.</a:t>
            </a:r>
          </a:p>
          <a:p>
            <a:pPr algn="l">
              <a:buFont typeface="+mj-lt"/>
              <a:buAutoNum type="arabicPeriod"/>
            </a:pPr>
            <a:r>
              <a:rPr lang="fr-FR" sz="1000" b="0" i="0" u="none" strike="noStrike" dirty="0">
                <a:effectLst/>
                <a:latin typeface="ui-sans-serif"/>
              </a:rPr>
              <a:t>Off-Diagonal: The values off the main diagonal </a:t>
            </a:r>
            <a:r>
              <a:rPr lang="fr-FR" sz="1000" b="0" i="0" u="none" strike="noStrike" dirty="0" err="1">
                <a:effectLst/>
                <a:latin typeface="ui-sans-serif"/>
              </a:rPr>
              <a:t>represent</a:t>
            </a:r>
            <a:r>
              <a:rPr lang="fr-FR" sz="1000" b="0" i="0" u="none" strike="noStrike" dirty="0">
                <a:effectLst/>
                <a:latin typeface="ui-sans-serif"/>
              </a:rPr>
              <a:t> the proportions of false </a:t>
            </a:r>
            <a:r>
              <a:rPr lang="fr-FR" sz="1000" b="0" i="0" u="none" strike="noStrike" dirty="0" err="1">
                <a:effectLst/>
                <a:latin typeface="ui-sans-serif"/>
              </a:rPr>
              <a:t>predictions</a:t>
            </a:r>
            <a:r>
              <a:rPr lang="fr-FR" sz="1000" b="0" i="0" u="none" strike="noStrike" dirty="0">
                <a:effectLst/>
                <a:latin typeface="ui-sans-serif"/>
              </a:rPr>
              <a:t>. For </a:t>
            </a:r>
            <a:r>
              <a:rPr lang="fr-FR" sz="1000" b="0" i="0" u="none" strike="noStrike" dirty="0" err="1">
                <a:effectLst/>
                <a:latin typeface="ui-sans-serif"/>
              </a:rPr>
              <a:t>example</a:t>
            </a:r>
            <a:r>
              <a:rPr lang="fr-FR" sz="1000" b="0" i="0" u="none" strike="noStrike" dirty="0">
                <a:effectLst/>
                <a:latin typeface="ui-sans-serif"/>
              </a:rPr>
              <a:t>, the value at </a:t>
            </a:r>
            <a:r>
              <a:rPr lang="fr-FR" sz="1000" b="0" i="0" u="none" strike="noStrike" dirty="0" err="1">
                <a:effectLst/>
                <a:latin typeface="ui-sans-serif"/>
              </a:rPr>
              <a:t>row</a:t>
            </a:r>
            <a:r>
              <a:rPr lang="fr-FR" sz="1000" b="0" i="0" u="none" strike="noStrike" dirty="0">
                <a:effectLst/>
                <a:latin typeface="ui-sans-serif"/>
              </a:rPr>
              <a:t> i and </a:t>
            </a:r>
            <a:r>
              <a:rPr lang="fr-FR" sz="1000" b="0" i="0" u="none" strike="noStrike" dirty="0" err="1">
                <a:effectLst/>
                <a:latin typeface="ui-sans-serif"/>
              </a:rPr>
              <a:t>column</a:t>
            </a:r>
            <a:r>
              <a:rPr lang="fr-FR" sz="1000" b="0" i="0" u="none" strike="noStrike" dirty="0">
                <a:effectLst/>
                <a:latin typeface="ui-sans-serif"/>
              </a:rPr>
              <a:t> j (</a:t>
            </a:r>
            <a:r>
              <a:rPr lang="fr-FR" sz="1000" b="0" i="0" u="none" strike="noStrike" dirty="0" err="1">
                <a:effectLst/>
                <a:latin typeface="ui-sans-serif"/>
              </a:rPr>
              <a:t>where</a:t>
            </a:r>
            <a:r>
              <a:rPr lang="fr-FR" sz="1000" b="0" i="0" u="none" strike="noStrike" dirty="0">
                <a:effectLst/>
                <a:latin typeface="ui-sans-serif"/>
              </a:rPr>
              <a:t> i ≠ j) </a:t>
            </a:r>
            <a:r>
              <a:rPr lang="fr-FR" sz="1000" b="0" i="0" u="none" strike="noStrike" dirty="0" err="1">
                <a:effectLst/>
                <a:latin typeface="ui-sans-serif"/>
              </a:rPr>
              <a:t>indicates</a:t>
            </a:r>
            <a:r>
              <a:rPr lang="fr-FR" sz="1000" b="0" i="0" u="none" strike="noStrike" dirty="0">
                <a:effectLst/>
                <a:latin typeface="ui-sans-serif"/>
              </a:rPr>
              <a:t> the proportion of instances of class i </a:t>
            </a:r>
            <a:r>
              <a:rPr lang="fr-FR" sz="1000" b="0" i="0" u="none" strike="noStrike" dirty="0" err="1">
                <a:effectLst/>
                <a:latin typeface="ui-sans-serif"/>
              </a:rPr>
              <a:t>that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were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incorrectly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predicted</a:t>
            </a:r>
            <a:r>
              <a:rPr lang="fr-FR" sz="1000" b="0" i="0" u="none" strike="noStrike" dirty="0">
                <a:effectLst/>
                <a:latin typeface="ui-sans-serif"/>
              </a:rPr>
              <a:t> as </a:t>
            </a:r>
            <a:r>
              <a:rPr lang="fr-FR" sz="1000" b="0" i="0" u="none" strike="noStrike" dirty="0" err="1">
                <a:effectLst/>
                <a:latin typeface="ui-sans-serif"/>
              </a:rPr>
              <a:t>belonging</a:t>
            </a:r>
            <a:r>
              <a:rPr lang="fr-FR" sz="1000" b="0" i="0" u="none" strike="noStrike" dirty="0">
                <a:effectLst/>
                <a:latin typeface="ui-sans-serif"/>
              </a:rPr>
              <a:t> to class j.</a:t>
            </a:r>
          </a:p>
          <a:p>
            <a:pPr algn="l">
              <a:buFont typeface="+mj-lt"/>
              <a:buAutoNum type="arabicPeriod"/>
            </a:pPr>
            <a:r>
              <a:rPr lang="fr-FR" sz="1000" b="0" i="0" u="none" strike="noStrike" dirty="0" err="1">
                <a:effectLst/>
                <a:latin typeface="ui-sans-serif"/>
              </a:rPr>
              <a:t>Rows</a:t>
            </a:r>
            <a:r>
              <a:rPr lang="fr-FR" sz="1000" b="0" i="0" u="none" strike="noStrike" dirty="0">
                <a:effectLst/>
                <a:latin typeface="ui-sans-serif"/>
              </a:rPr>
              <a:t>: </a:t>
            </a:r>
            <a:r>
              <a:rPr lang="fr-FR" sz="1000" b="0" i="0" u="none" strike="noStrike" dirty="0" err="1">
                <a:effectLst/>
                <a:latin typeface="ui-sans-serif"/>
              </a:rPr>
              <a:t>Each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row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represents</a:t>
            </a:r>
            <a:r>
              <a:rPr lang="fr-FR" sz="1000" b="0" i="0" u="none" strike="noStrike" dirty="0">
                <a:effectLst/>
                <a:latin typeface="ui-sans-serif"/>
              </a:rPr>
              <a:t> the </a:t>
            </a:r>
            <a:r>
              <a:rPr lang="fr-FR" sz="1000" b="0" i="0" u="none" strike="noStrike" dirty="0" err="1">
                <a:effectLst/>
                <a:latin typeface="ui-sans-serif"/>
              </a:rPr>
              <a:t>actual</a:t>
            </a:r>
            <a:r>
              <a:rPr lang="fr-FR" sz="1000" b="0" i="0" u="none" strike="noStrike" dirty="0">
                <a:effectLst/>
                <a:latin typeface="ui-sans-serif"/>
              </a:rPr>
              <a:t> instances of a class. The </a:t>
            </a:r>
            <a:r>
              <a:rPr lang="fr-FR" sz="1000" b="0" i="0" u="none" strike="noStrike" dirty="0" err="1">
                <a:effectLst/>
                <a:latin typeface="ui-sans-serif"/>
              </a:rPr>
              <a:t>sum</a:t>
            </a:r>
            <a:r>
              <a:rPr lang="fr-FR" sz="1000" b="0" i="0" u="none" strike="noStrike" dirty="0">
                <a:effectLst/>
                <a:latin typeface="ui-sans-serif"/>
              </a:rPr>
              <a:t> of the values in a </a:t>
            </a:r>
            <a:r>
              <a:rPr lang="fr-FR" sz="1000" b="0" i="0" u="none" strike="noStrike" dirty="0" err="1">
                <a:effectLst/>
                <a:latin typeface="ui-sans-serif"/>
              </a:rPr>
              <a:t>row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equals</a:t>
            </a:r>
            <a:r>
              <a:rPr lang="fr-FR" sz="1000" b="0" i="0" u="none" strike="noStrike" dirty="0">
                <a:effectLst/>
                <a:latin typeface="ui-sans-serif"/>
              </a:rPr>
              <a:t> 1 (or 100% if </a:t>
            </a:r>
            <a:r>
              <a:rPr lang="fr-FR" sz="1000" b="0" i="0" u="none" strike="noStrike" dirty="0" err="1">
                <a:effectLst/>
                <a:latin typeface="ui-sans-serif"/>
              </a:rPr>
              <a:t>expressed</a:t>
            </a:r>
            <a:r>
              <a:rPr lang="fr-FR" sz="1000" b="0" i="0" u="none" strike="noStrike" dirty="0">
                <a:effectLst/>
                <a:latin typeface="ui-sans-serif"/>
              </a:rPr>
              <a:t> as percentages).</a:t>
            </a:r>
          </a:p>
          <a:p>
            <a:pPr algn="l">
              <a:buFont typeface="+mj-lt"/>
              <a:buAutoNum type="arabicPeriod"/>
            </a:pPr>
            <a:r>
              <a:rPr lang="fr-FR" sz="1000" b="0" i="0" u="none" strike="noStrike" dirty="0" err="1">
                <a:effectLst/>
                <a:latin typeface="ui-sans-serif"/>
              </a:rPr>
              <a:t>Columns</a:t>
            </a:r>
            <a:r>
              <a:rPr lang="fr-FR" sz="1000" b="0" i="0" u="none" strike="noStrike" dirty="0">
                <a:effectLst/>
                <a:latin typeface="ui-sans-serif"/>
              </a:rPr>
              <a:t>: </a:t>
            </a:r>
            <a:r>
              <a:rPr lang="fr-FR" sz="1000" b="0" i="0" u="none" strike="noStrike" dirty="0" err="1">
                <a:effectLst/>
                <a:latin typeface="ui-sans-serif"/>
              </a:rPr>
              <a:t>Each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column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represents</a:t>
            </a:r>
            <a:r>
              <a:rPr lang="fr-FR" sz="1000" b="0" i="0" u="none" strike="noStrike" dirty="0">
                <a:effectLst/>
                <a:latin typeface="ui-sans-serif"/>
              </a:rPr>
              <a:t> the </a:t>
            </a:r>
            <a:r>
              <a:rPr lang="fr-FR" sz="1000" b="0" i="0" u="none" strike="noStrike" dirty="0" err="1">
                <a:effectLst/>
                <a:latin typeface="ui-sans-serif"/>
              </a:rPr>
              <a:t>predictions</a:t>
            </a:r>
            <a:r>
              <a:rPr lang="fr-FR" sz="1000" b="0" i="0" u="none" strike="noStrike" dirty="0">
                <a:effectLst/>
                <a:latin typeface="ui-sans-serif"/>
              </a:rPr>
              <a:t> of a class. The </a:t>
            </a:r>
            <a:r>
              <a:rPr lang="fr-FR" sz="1000" b="0" i="0" u="none" strike="noStrike" dirty="0" err="1">
                <a:effectLst/>
                <a:latin typeface="ui-sans-serif"/>
              </a:rPr>
              <a:t>sum</a:t>
            </a:r>
            <a:r>
              <a:rPr lang="fr-FR" sz="1000" b="0" i="0" u="none" strike="noStrike" dirty="0">
                <a:effectLst/>
                <a:latin typeface="ui-sans-serif"/>
              </a:rPr>
              <a:t> of the values in a </a:t>
            </a:r>
            <a:r>
              <a:rPr lang="fr-FR" sz="1000" b="0" i="0" u="none" strike="noStrike" dirty="0" err="1">
                <a:effectLst/>
                <a:latin typeface="ui-sans-serif"/>
              </a:rPr>
              <a:t>column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is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also</a:t>
            </a:r>
            <a:r>
              <a:rPr lang="fr-FR" sz="1000" b="0" i="0" u="none" strike="noStrike" dirty="0">
                <a:effectLst/>
                <a:latin typeface="ui-sans-serif"/>
              </a:rPr>
              <a:t> </a:t>
            </a:r>
            <a:r>
              <a:rPr lang="fr-FR" sz="1000" b="0" i="0" u="none" strike="noStrike" dirty="0" err="1">
                <a:effectLst/>
                <a:latin typeface="ui-sans-serif"/>
              </a:rPr>
              <a:t>equal</a:t>
            </a:r>
            <a:r>
              <a:rPr lang="fr-FR" sz="1000" b="0" i="0" u="none" strike="noStrike" dirty="0">
                <a:effectLst/>
                <a:latin typeface="ui-sans-serif"/>
              </a:rPr>
              <a:t> to 1 (or 100%).</a:t>
            </a:r>
          </a:p>
          <a:p>
            <a:pPr algn="l">
              <a:buFont typeface="+mj-lt"/>
              <a:buAutoNum type="arabicPeriod"/>
            </a:pPr>
            <a:endParaRPr lang="fr-FR" sz="1000" dirty="0">
              <a:latin typeface="ui-sans-serif"/>
            </a:endParaRPr>
          </a:p>
          <a:p>
            <a:pPr algn="l"/>
            <a:r>
              <a:rPr lang="fr-FR" sz="1000" b="0" i="0" u="sng" strike="noStrike" dirty="0">
                <a:effectLst/>
                <a:latin typeface="ui-sans-serif"/>
              </a:rPr>
              <a:t>Example</a:t>
            </a:r>
            <a:r>
              <a:rPr lang="fr-FR" sz="1000" b="0" i="0" u="none" strike="noStrike" dirty="0">
                <a:effectLst/>
                <a:latin typeface="ui-sans-serif"/>
              </a:rPr>
              <a:t>:</a:t>
            </a:r>
          </a:p>
          <a:p>
            <a:pPr algn="l"/>
            <a:r>
              <a:rPr lang="fr-FR" sz="1000" dirty="0">
                <a:latin typeface="ui-sans-serif"/>
              </a:rPr>
              <a:t>For ‘</a:t>
            </a:r>
            <a:r>
              <a:rPr lang="fr-FR" sz="1000" dirty="0" err="1">
                <a:latin typeface="ui-sans-serif"/>
              </a:rPr>
              <a:t>alt.atheism</a:t>
            </a:r>
            <a:r>
              <a:rPr lang="fr-FR" sz="1000" dirty="0">
                <a:latin typeface="ui-sans-serif"/>
              </a:rPr>
              <a:t>’, the proportions of </a:t>
            </a:r>
            <a:r>
              <a:rPr lang="fr-FR" sz="1000" dirty="0" err="1">
                <a:latin typeface="ui-sans-serif"/>
              </a:rPr>
              <a:t>true</a:t>
            </a:r>
            <a:r>
              <a:rPr lang="fr-FR" sz="1000" dirty="0">
                <a:latin typeface="ui-sans-serif"/>
              </a:rPr>
              <a:t> </a:t>
            </a:r>
            <a:r>
              <a:rPr lang="fr-FR" sz="1000" dirty="0" err="1">
                <a:latin typeface="ui-sans-serif"/>
              </a:rPr>
              <a:t>predictions</a:t>
            </a:r>
            <a:r>
              <a:rPr lang="fr-FR" sz="1000" dirty="0">
                <a:latin typeface="ui-sans-serif"/>
              </a:rPr>
              <a:t> </a:t>
            </a:r>
            <a:r>
              <a:rPr lang="fr-FR" sz="1000" dirty="0" err="1">
                <a:latin typeface="ui-sans-serif"/>
              </a:rPr>
              <a:t>is</a:t>
            </a:r>
            <a:r>
              <a:rPr lang="fr-FR" sz="1000" dirty="0">
                <a:latin typeface="ui-sans-serif"/>
              </a:rPr>
              <a:t> </a:t>
            </a:r>
            <a:r>
              <a:rPr lang="fr-FR" sz="1000" dirty="0" err="1">
                <a:latin typeface="ui-sans-serif"/>
              </a:rPr>
              <a:t>only</a:t>
            </a:r>
            <a:r>
              <a:rPr lang="fr-FR" sz="1000" dirty="0">
                <a:latin typeface="ui-sans-serif"/>
              </a:rPr>
              <a:t> </a:t>
            </a:r>
            <a:r>
              <a:rPr lang="fr-FR" sz="1000" dirty="0" err="1">
                <a:latin typeface="ui-sans-serif"/>
              </a:rPr>
              <a:t>equal</a:t>
            </a:r>
            <a:r>
              <a:rPr lang="fr-FR" sz="1000" dirty="0">
                <a:latin typeface="ui-sans-serif"/>
              </a:rPr>
              <a:t> to 31%. The class </a:t>
            </a:r>
            <a:r>
              <a:rPr lang="fr-FR" sz="1000" dirty="0" err="1">
                <a:latin typeface="ui-sans-serif"/>
              </a:rPr>
              <a:t>was</a:t>
            </a:r>
            <a:r>
              <a:rPr lang="fr-FR" sz="1000" dirty="0">
                <a:latin typeface="ui-sans-serif"/>
              </a:rPr>
              <a:t> more </a:t>
            </a:r>
            <a:r>
              <a:rPr lang="fr-FR" sz="1000" dirty="0" err="1">
                <a:latin typeface="ui-sans-serif"/>
              </a:rPr>
              <a:t>predict</a:t>
            </a:r>
            <a:r>
              <a:rPr lang="fr-FR" sz="1000" dirty="0">
                <a:latin typeface="ui-sans-serif"/>
              </a:rPr>
              <a:t> (43%) as ‘</a:t>
            </a:r>
            <a:r>
              <a:rPr lang="fr-FR" sz="1000" dirty="0" err="1">
                <a:latin typeface="ui-sans-serif"/>
              </a:rPr>
              <a:t>soc.religion.christian</a:t>
            </a:r>
            <a:r>
              <a:rPr lang="fr-FR" sz="1000" dirty="0">
                <a:latin typeface="ui-sans-serif"/>
              </a:rPr>
              <a:t>’.</a:t>
            </a:r>
            <a:endParaRPr lang="fr-FR" sz="1000" b="0" i="0" u="none" strike="noStrike" dirty="0"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822115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31EF-4295-D166-278B-B0187E397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D03D6F-86A3-7211-24F7-C570BAC0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3E0D81-BF62-96A6-CC6C-2FDB3380240F}"/>
              </a:ext>
            </a:extLst>
          </p:cNvPr>
          <p:cNvSpPr txBox="1"/>
          <p:nvPr/>
        </p:nvSpPr>
        <p:spPr>
          <a:xfrm>
            <a:off x="838199" y="133452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BAAE9E34-F232-0534-876E-D996B678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9EF783B-DA27-157B-B525-8FC181662A76}"/>
              </a:ext>
            </a:extLst>
          </p:cNvPr>
          <p:cNvSpPr txBox="1"/>
          <p:nvPr/>
        </p:nvSpPr>
        <p:spPr>
          <a:xfrm>
            <a:off x="847971" y="1962967"/>
            <a:ext cx="5837034" cy="43933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The classification report.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metrics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classification_report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val_labels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val_preds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		      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target_names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target_names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endParaRPr lang="fr-FR" sz="8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precision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recall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f1-score   support</a:t>
            </a:r>
          </a:p>
          <a:p>
            <a:pPr>
              <a:lnSpc>
                <a:spcPts val="1350"/>
              </a:lnSpc>
            </a:pP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alt.atheism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1.00      0.09      0.17        97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comp.graphics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0.73      0.50      0.59       114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comp.os.ms-windows.misc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0.74      0.63      0.68       112</a:t>
            </a: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comp.sys.ibm.pc.hardware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0.56      0.69      0.61       127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comp.sys.mac.hardware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0.83      0.71      0.76       112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comp.windows.x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0.69      0.87      0.77       115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misc.forsale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0.87      0.60      0.71       124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rec.autos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0.76      0.63      0.69       108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rec.motorcycles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0.47      0.70      0.56        99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rec.sport.baseball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0.96      0.76      0.85       113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rec.sport.hockey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0.83      0.83      0.83       108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sci.crypt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0.57      0.89      0.69       120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sci.electronics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0.82      0.52      0.64       119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sci.med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0.89      0.71      0.79       119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 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sci.space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0.86      0.59      0.70       118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soc.religion.christian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0.24      0.94      0.38       128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1539B0-588F-ADBD-BF2D-DFD5A9FD9AF7}"/>
              </a:ext>
            </a:extLst>
          </p:cNvPr>
          <p:cNvSpPr txBox="1"/>
          <p:nvPr/>
        </p:nvSpPr>
        <p:spPr>
          <a:xfrm>
            <a:off x="6895070" y="1967944"/>
            <a:ext cx="5004487" cy="43884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</a:t>
            </a:r>
            <a:r>
              <a:rPr lang="fr-FR" sz="800" i="1" dirty="0">
                <a:solidFill>
                  <a:srgbClr val="6A8B93"/>
                </a:solidFill>
                <a:latin typeface="Menlo" panose="020B0609030804020204" pitchFamily="49" charset="0"/>
              </a:rPr>
              <a:t>A few observations</a:t>
            </a: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GB" sz="800" i="1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# 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Atheism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has a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perfect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precision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score but terrible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recall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signalling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that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# the model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was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right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classified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something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under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atheism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 but # 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missed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the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vast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majority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in the corpus. </a:t>
            </a:r>
          </a:p>
          <a:p>
            <a:endParaRPr lang="en-GB" sz="1600" b="0" i="1" noProof="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729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3605-8AA7-A489-8519-A65AD03B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89684-24F7-BBD5-0806-06ADF2CC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2B237F-C11E-3951-5FA3-FED2D1E43AB6}"/>
              </a:ext>
            </a:extLst>
          </p:cNvPr>
          <p:cNvSpPr txBox="1"/>
          <p:nvPr/>
        </p:nvSpPr>
        <p:spPr>
          <a:xfrm>
            <a:off x="838199" y="133452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BDFA4DDF-8BD3-9A83-1DB4-453E0761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7199BD-82A6-67B2-D95E-62D0124F6C73}"/>
              </a:ext>
            </a:extLst>
          </p:cNvPr>
          <p:cNvSpPr txBox="1"/>
          <p:nvPr/>
        </p:nvSpPr>
        <p:spPr>
          <a:xfrm>
            <a:off x="576122" y="1965456"/>
            <a:ext cx="5626970" cy="43933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Tuning the hyperparameter alpha to improve the model: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The alpha values to try.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params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'alpha'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0.01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10.0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,],}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Instantiate the search with the model we want to try and fit it on the training data.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multinomial_nb_grid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model_selection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GridSearchCV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MultinomialNB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noProof="0" dirty="0">
                <a:solidFill>
                  <a:srgbClr val="333333"/>
                </a:solidFill>
                <a:latin typeface="Menlo" panose="020B0609030804020204" pitchFamily="49" charset="0"/>
              </a:rPr>
              <a:t>			      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param_grid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params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noProof="0" dirty="0">
                <a:solidFill>
                  <a:srgbClr val="333333"/>
                </a:solidFill>
                <a:latin typeface="Menlo" panose="020B0609030804020204" pitchFamily="49" charset="0"/>
              </a:rPr>
              <a:t>			      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scoring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'f1_macro’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lvl="7">
              <a:lnSpc>
                <a:spcPts val="1350"/>
              </a:lnSpc>
            </a:pP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n_jobs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=-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lvl="7">
              <a:lnSpc>
                <a:spcPts val="1350"/>
              </a:lnSpc>
            </a:pP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cv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lvl="7">
              <a:lnSpc>
                <a:spcPts val="1350"/>
              </a:lnSpc>
            </a:pP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verbose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7">
              <a:lnSpc>
                <a:spcPts val="135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800" dirty="0">
              <a:solidFill>
                <a:srgbClr val="252525"/>
              </a:solidFill>
              <a:latin typeface="Menlo" panose="020B060903080402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D171944-2762-032B-EBB4-FB80FB70CD98}"/>
              </a:ext>
            </a:extLst>
          </p:cNvPr>
          <p:cNvSpPr txBox="1"/>
          <p:nvPr/>
        </p:nvSpPr>
        <p:spPr>
          <a:xfrm>
            <a:off x="6450226" y="1967944"/>
            <a:ext cx="5412260" cy="43884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multinomial_nb_grid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train_feature_vects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train_labels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Fitting 5 folds for each of 5 candidates, totalling 25 fits [CV 1/5] END ........................alpha=0.01;, score=0.737 total time= 0.0s [CV 4/5] END .........................alpha=0.1;, score=0.737 total time= 0.0s [CV 2/5] END ........................alpha=0.01;, score=0.738 total time= 0.0s [CV 3/5] END ........................alpha=0.01;, score=0.735 total time= 0.0s [CV 5/5] END .........................alpha=0.1;, score=0.741 total time= 0.0s [CV 4/5] END ........................alpha=0.01;, score=0.744 total time= 0.0s [CV 1/5] END .........................alpha=0.5;, score=0.690 total time= 0.0s [CV 2/5] END .........................alpha=0.5;, score=0.703 total time= 0.0s [CV 3/5] END .........................alpha=0.5;, score=0.674 total time= 0.1s [CV 4/5] END .........................alpha=0.5;, score=0.699 total time= 0.1s [CV 5/5] END ........................alpha=0.01;, score=0.768 total time= 0.1s [CV 1/5] END .........................alpha=0.1;, score=0.718 total time= 0.1s [CV 5/5] END .........................alpha=0.5;, score=0.706 total time= 0.1s [CV 2/5] END .........................alpha=1.0;, score=0.685 total time= 0.0s [CV 1/5] END .........................alpha=1.0;, score=0.679 total time= 0.1s [CV 4/5] END .........................alpha=1.0;, score=0.684 total time= 0.0s [CV 3/5] END .........................alpha=1.0;, score=0.658 total time= 0.1s [CV 5/5] END .........................alpha=1.0;, score=0.686 total time= 0.0s [CV 1/5] END ........................alpha=10.0;, score=0.596 total time= 0.0s [CV 2/5] END .........................alpha=0.1;, score=0.735 total time= 0.0s [CV 3/5] END</a:t>
            </a: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608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C1C77-33F1-21C2-B38D-E5395C37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2BE762-7CB9-DA60-A898-B540ED70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F99256-9511-D798-D793-BFEE4B8DBA1A}"/>
              </a:ext>
            </a:extLst>
          </p:cNvPr>
          <p:cNvSpPr txBox="1"/>
          <p:nvPr/>
        </p:nvSpPr>
        <p:spPr>
          <a:xfrm>
            <a:off x="838199" y="133452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6FC00E34-0F99-6F9D-16A0-0F3B6158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A5E1FD-6351-33CE-033C-E271466E7C9F}"/>
              </a:ext>
            </a:extLst>
          </p:cNvPr>
          <p:cNvSpPr txBox="1"/>
          <p:nvPr/>
        </p:nvSpPr>
        <p:spPr>
          <a:xfrm>
            <a:off x="489622" y="1965456"/>
            <a:ext cx="6207737" cy="43933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'Best parameter value(s):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multinomial_nb_grid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best_params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Best parameter value(s): {'alpha': 0.01}</a:t>
            </a:r>
          </a:p>
          <a:p>
            <a:pPr>
              <a:lnSpc>
                <a:spcPts val="1350"/>
              </a:lnSpc>
            </a:pPr>
            <a:endParaRPr lang="en-GB" sz="800" i="1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best_nb_classifier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multinomial_nb_grid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best_estimator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</a:t>
            </a:r>
          </a:p>
          <a:p>
            <a:pPr>
              <a:lnSpc>
                <a:spcPts val="1350"/>
              </a:lnSpc>
            </a:pP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val_preds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best_nb_classifier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val_feature_vects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800" b="0" dirty="0">
              <a:solidFill>
                <a:srgbClr val="68482D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'Validation F1 score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fewer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features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metrics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f1_score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val_labels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					  	 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val_preds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fr-FR" sz="800" dirty="0">
                <a:solidFill>
                  <a:srgbClr val="333333"/>
                </a:solidFill>
                <a:latin typeface="Menlo" panose="020B0609030804020204" pitchFamily="49" charset="0"/>
              </a:rPr>
              <a:t>				                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average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'macro’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)))</a:t>
            </a:r>
          </a:p>
          <a:p>
            <a:pPr>
              <a:lnSpc>
                <a:spcPts val="1350"/>
              </a:lnSpc>
            </a:pPr>
            <a:endParaRPr lang="fr-FR" sz="8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Validation F1 score with fewer features: 0.7343805683794756</a:t>
            </a:r>
          </a:p>
          <a:p>
            <a:pPr>
              <a:lnSpc>
                <a:spcPts val="135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848EEB4-50C0-0005-3FA4-9DE305E4BCEB}"/>
              </a:ext>
            </a:extLst>
          </p:cNvPr>
          <p:cNvSpPr txBox="1"/>
          <p:nvPr/>
        </p:nvSpPr>
        <p:spPr>
          <a:xfrm>
            <a:off x="6796216" y="1967944"/>
            <a:ext cx="5276335" cy="43884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we can use the function below to view the most commonly occurring words in # each category.:</a:t>
            </a:r>
          </a:p>
          <a:p>
            <a:pPr>
              <a:lnSpc>
                <a:spcPct val="15000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show_top_words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classifier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vectorizer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categories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top_n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feature_names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asarray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vectorizer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get_feature_names_out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for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category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categories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):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prob_sorted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classifier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feature_log_prob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:].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argsort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()[::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    print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category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 "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feature_names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prob_sorted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[: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top_n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]])))</a:t>
            </a:r>
          </a:p>
          <a:p>
            <a:pPr>
              <a:lnSpc>
                <a:spcPts val="135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show_top_words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best_nb_classifier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noProof="0" dirty="0">
                <a:solidFill>
                  <a:srgbClr val="333333"/>
                </a:solidFill>
                <a:latin typeface="Menlo" panose="020B0609030804020204" pitchFamily="49" charset="0"/>
              </a:rPr>
              <a:t>	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vectorizer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target_names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alt.atheism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 god religion atheist people think say atheism post belief believe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comp.graphics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 file graphic image thank program format look know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need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comp.os.ms-windows.misc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 window file driver problem use program card thank font do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comp.sys.ibm.pc.hardware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 drive card controller bus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scsi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monitor ide mb thank pc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comp.sys.mac.hardware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 mac apple drive problem monitor card thank work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simms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quadra </a:t>
            </a:r>
            <a:r>
              <a:rPr lang="en-GB" sz="800" b="0" i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comp.windows.x</a:t>
            </a: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 x window server widget motif application use run thank </a:t>
            </a:r>
          </a:p>
          <a:p>
            <a:pPr>
              <a:lnSpc>
                <a:spcPts val="1350"/>
              </a:lnSpc>
            </a:pPr>
            <a:r>
              <a:rPr lang="en-GB" sz="800" b="0" i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[…]</a:t>
            </a:r>
            <a:endParaRPr lang="en-GB" sz="800" b="0" noProof="0" dirty="0">
              <a:solidFill>
                <a:srgbClr val="25252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722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54D8-281D-E208-5D33-7FB3861F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3CDDA-88F9-DBAC-4B72-BDC518F2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C8F9BC-94C1-7A04-071F-6489C72456F8}"/>
              </a:ext>
            </a:extLst>
          </p:cNvPr>
          <p:cNvSpPr txBox="1"/>
          <p:nvPr/>
        </p:nvSpPr>
        <p:spPr>
          <a:xfrm>
            <a:off x="838199" y="133452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F943E53F-C8E2-BCF3-9341-0896ABD1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355DD6-04B6-39AE-7DE5-80B431E4FA8A}"/>
              </a:ext>
            </a:extLst>
          </p:cNvPr>
          <p:cNvSpPr txBox="1"/>
          <p:nvPr/>
        </p:nvSpPr>
        <p:spPr>
          <a:xfrm>
            <a:off x="489622" y="1841886"/>
            <a:ext cx="11039232" cy="45144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Create the final Naïve Bayes Model</a:t>
            </a:r>
          </a:p>
          <a:p>
            <a:pPr>
              <a:lnSpc>
                <a:spcPts val="135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Create the text classification pipeline with TF-IDF vectorization and a Naïve Bayes Classifier</a:t>
            </a:r>
          </a:p>
          <a:p>
            <a:pPr>
              <a:lnSpc>
                <a:spcPts val="135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text_classifier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Pipeline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([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  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'vectorizer'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TfidfVectorizer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spacy_tokenizer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)),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  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'classifier'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MultinomialNB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alpha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0.01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Train the model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text_classifier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filtered_training_corpus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Download the test dataset</a:t>
            </a: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filtered_test_corpus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fetch_20newsgroups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subset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'test'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remove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'headers'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'footers'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'quotes’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Pass the raw test data directly to the classifier</a:t>
            </a: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test_preds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text_classifier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filtered_test_corpus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25252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fig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subplots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figsize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ConfusionMatrixDisplay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from_predictions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filtered_test_corpus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noProof="0" dirty="0">
                <a:solidFill>
                  <a:srgbClr val="333333"/>
                </a:solidFill>
                <a:latin typeface="Menlo" panose="020B0609030804020204" pitchFamily="49" charset="0"/>
              </a:rPr>
              <a:t>		          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test_preds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normalize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'true’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GB" sz="800" noProof="0" dirty="0">
                <a:solidFill>
                  <a:srgbClr val="333333"/>
                </a:solidFill>
                <a:latin typeface="Menlo" panose="020B0609030804020204" pitchFamily="49" charset="0"/>
              </a:rPr>
              <a:t>		          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display_labels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filtered_test_corpus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target_names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xticks_rotation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'vertical'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show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365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3F2B-24E5-9D68-C8C8-DBED1F31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C0648-658C-6908-C943-C0C4A371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8B39F8E-8C8E-000B-3AF7-12A39D782A66}"/>
              </a:ext>
            </a:extLst>
          </p:cNvPr>
          <p:cNvSpPr txBox="1"/>
          <p:nvPr/>
        </p:nvSpPr>
        <p:spPr>
          <a:xfrm>
            <a:off x="838199" y="133452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Application to Document Classification: </a:t>
            </a:r>
            <a:r>
              <a:rPr lang="en-GB" sz="2800" noProof="0" dirty="0"/>
              <a:t>fetch_20newsgroup dataset</a:t>
            </a:r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B45DC707-458D-D82A-31EE-38F20A92A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D035E2A-A13A-0DF4-D071-AE24473C0A24}"/>
              </a:ext>
            </a:extLst>
          </p:cNvPr>
          <p:cNvSpPr txBox="1"/>
          <p:nvPr/>
        </p:nvSpPr>
        <p:spPr>
          <a:xfrm>
            <a:off x="489622" y="1841886"/>
            <a:ext cx="11039232" cy="45144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 The function </a:t>
            </a:r>
            <a:r>
              <a:rPr lang="en-GB" sz="800" i="1" dirty="0" err="1">
                <a:solidFill>
                  <a:srgbClr val="6A8B93"/>
                </a:solidFill>
                <a:latin typeface="Menlo" panose="020B0609030804020204" pitchFamily="49" charset="0"/>
              </a:rPr>
              <a:t>classify_text</a:t>
            </a: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 takes a trained classifier and a text document, predicts the class probabilities, and returns the most probable class along with its probability.</a:t>
            </a:r>
          </a:p>
          <a:p>
            <a:pPr>
              <a:lnSpc>
                <a:spcPts val="135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classify_text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clf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doc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labels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probas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clf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predict_proba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doc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]).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flatten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max_proba_idx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argmax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probas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if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labels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most_proba_class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labels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max_proba_idx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else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most_proba_class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max_proba_idx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most_proba_class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probas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max_proba_idx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endParaRPr lang="en-GB" sz="8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dirty="0">
              <a:solidFill>
                <a:srgbClr val="25252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Predictions: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Post from r/medicine.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"Hello everyone so am doing my thesis on Ischemic heart disease have been using online articles and textbooks mostly Harrisons internal med. could u recommended me some source specifically books where </a:t>
            </a:r>
            <a:r>
              <a:rPr lang="en-GB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can get more about in depth knowledge on IHD."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classify_text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text_classifier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filtered_test_corpus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target_names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dirty="0">
              <a:solidFill>
                <a:srgbClr val="25252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('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sci.med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', np.float64(0.7210299189355043))</a:t>
            </a:r>
          </a:p>
        </p:txBody>
      </p:sp>
    </p:spTree>
    <p:extLst>
      <p:ext uri="{BB962C8B-B14F-4D97-AF65-F5344CB8AC3E}">
        <p14:creationId xmlns:p14="http://schemas.microsoft.com/office/powerpoint/2010/main" val="3543414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CDDF8-30A3-C179-CB0C-EE5DF5AE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8FE33-539E-50C3-C83B-62A53FB2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Naive Bayes Classifier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D7D714-DF71-1BD5-6868-C1D682F193C3}"/>
              </a:ext>
            </a:extLst>
          </p:cNvPr>
          <p:cNvSpPr txBox="1"/>
          <p:nvPr/>
        </p:nvSpPr>
        <p:spPr>
          <a:xfrm>
            <a:off x="838199" y="1334521"/>
            <a:ext cx="10379150" cy="53162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Dummy classifier: guess the most frequent class</a:t>
            </a:r>
            <a:endParaRPr lang="en-GB" sz="2800" b="1" dirty="0">
              <a:latin typeface="ui-sans-serif"/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918B851C-720A-53D8-DF15-9AEDEBB6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Naive Bayes Classifier. Author: David Thébault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52245BB-3677-20C9-CACD-E6C14AB646C6}"/>
              </a:ext>
            </a:extLst>
          </p:cNvPr>
          <p:cNvSpPr txBox="1"/>
          <p:nvPr/>
        </p:nvSpPr>
        <p:spPr>
          <a:xfrm>
            <a:off x="489622" y="1841886"/>
            <a:ext cx="11039232" cy="45144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i="0" u="none" strike="noStrike" noProof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# Utility:</a:t>
            </a: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# A factice classifier is often used as a baseline </a:t>
            </a:r>
            <a:r>
              <a:rPr lang="en-GB" sz="800" noProof="1">
                <a:solidFill>
                  <a:schemeClr val="tx2">
                    <a:lumMod val="50000"/>
                    <a:lumOff val="50000"/>
                  </a:schemeClr>
                </a:solidFill>
                <a:latin typeface="Menlo" panose="020B0609030804020204" pitchFamily="49" charset="0"/>
              </a:rPr>
              <a:t>for comparison with more sophisticated models.</a:t>
            </a:r>
            <a:endParaRPr lang="en-GB" sz="800" b="0" i="0" u="none" strike="noStrike" noProof="1">
              <a:solidFill>
                <a:schemeClr val="tx2">
                  <a:lumMod val="50000"/>
                  <a:lumOff val="50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# If a </a:t>
            </a:r>
            <a:r>
              <a:rPr lang="en-GB" sz="800" noProof="1">
                <a:solidFill>
                  <a:schemeClr val="tx2">
                    <a:lumMod val="50000"/>
                    <a:lumOff val="50000"/>
                  </a:schemeClr>
                </a:solidFill>
                <a:latin typeface="Menlo" panose="020B0609030804020204" pitchFamily="49" charset="0"/>
              </a:rPr>
              <a:t>more complex model can not overpass the factice classifier performance, this can indicate problems with the data.</a:t>
            </a:r>
            <a:endParaRPr lang="en-GB" sz="800" b="0" i="0" u="none" strike="noStrike" noProof="1">
              <a:solidFill>
                <a:schemeClr val="tx2">
                  <a:lumMod val="50000"/>
                  <a:lumOff val="50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1" noProof="1">
              <a:solidFill>
                <a:srgbClr val="00B050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i="0" u="none" strike="noStrike" noProof="1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800" b="0" i="0" u="none" strike="noStrike" noProof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sklearn.dummy </a:t>
            </a:r>
            <a:r>
              <a:rPr lang="en-GB" sz="800" b="1" i="0" u="none" strike="noStrike" noProof="1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800" b="0" i="0" u="none" strike="noStrike" noProof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DummyClassifier</a:t>
            </a:r>
          </a:p>
          <a:p>
            <a:pPr>
              <a:lnSpc>
                <a:spcPts val="1350"/>
              </a:lnSpc>
            </a:pPr>
            <a:endParaRPr lang="en-GB" sz="800" b="0" i="0" u="none" strike="noStrike" noProof="1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# Initialize a Factice classifier.</a:t>
            </a: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dummy_clf = DummyClassifier(strategy</a:t>
            </a:r>
            <a:r>
              <a:rPr lang="en-GB" sz="800" b="0" i="0" u="none" strike="noStrike" noProof="1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="most_frequent"</a:t>
            </a: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GB" sz="800" noProof="1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# Train a dummy classifier which just guesses the most frequent class.</a:t>
            </a: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dummy_clf.fit(train_feature_vects, train_labels)</a:t>
            </a:r>
          </a:p>
          <a:p>
            <a:pPr>
              <a:lnSpc>
                <a:spcPts val="1350"/>
              </a:lnSpc>
            </a:pPr>
            <a:endParaRPr lang="en-GB" sz="800" noProof="1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# Evaluate the classifier.</a:t>
            </a:r>
          </a:p>
          <a:p>
            <a:pPr>
              <a:lnSpc>
                <a:spcPts val="1350"/>
              </a:lnSpc>
            </a:pP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dummy_clf.score(</a:t>
            </a:r>
            <a:r>
              <a:rPr lang="en-GB" sz="800" noProof="1">
                <a:latin typeface="Menlo" panose="020B0609030804020204" pitchFamily="49" charset="0"/>
              </a:rPr>
              <a:t>val</a:t>
            </a: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_feature_vects, </a:t>
            </a:r>
            <a:r>
              <a:rPr lang="en-GB" sz="800" noProof="1">
                <a:latin typeface="Menlo" panose="020B0609030804020204" pitchFamily="49" charset="0"/>
              </a:rPr>
              <a:t>val</a:t>
            </a:r>
            <a:r>
              <a:rPr lang="en-GB" sz="800" b="0" i="0" u="none" strike="noStrike" noProof="1">
                <a:effectLst/>
                <a:latin typeface="Menlo" panose="020B0609030804020204" pitchFamily="49" charset="0"/>
              </a:rPr>
              <a:t>_labels)</a:t>
            </a:r>
          </a:p>
          <a:p>
            <a:pPr>
              <a:lnSpc>
                <a:spcPts val="1350"/>
              </a:lnSpc>
            </a:pPr>
            <a:endParaRPr lang="en-GB" sz="800" b="0" i="0" u="none" strike="noStrike" noProof="1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i="0" u="none" strike="noStrike" noProof="1">
              <a:solidFill>
                <a:schemeClr val="tx2">
                  <a:lumMod val="50000"/>
                  <a:lumOff val="50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800" b="0" i="0" u="none" strike="noStrike" noProof="1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05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5922</TotalTime>
  <Words>4800</Words>
  <Application>Microsoft Macintosh PowerPoint</Application>
  <PresentationFormat>Grand écran</PresentationFormat>
  <Paragraphs>568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Menlo</vt:lpstr>
      <vt:lpstr>Symbol</vt:lpstr>
      <vt:lpstr>ui-sans-serif</vt:lpstr>
      <vt:lpstr>var(--notebook-cell-output-font-family)</vt:lpstr>
      <vt:lpstr>Thème Office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  <vt:lpstr>Naive Bayes Classifier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82</cp:revision>
  <dcterms:created xsi:type="dcterms:W3CDTF">2025-01-02T20:19:00Z</dcterms:created>
  <dcterms:modified xsi:type="dcterms:W3CDTF">2025-01-15T21:58:08Z</dcterms:modified>
</cp:coreProperties>
</file>