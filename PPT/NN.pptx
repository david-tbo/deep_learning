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7"/>
  </p:notesMasterIdLst>
  <p:sldIdLst>
    <p:sldId id="256" r:id="rId2"/>
    <p:sldId id="257" r:id="rId3"/>
    <p:sldId id="258" r:id="rId4"/>
    <p:sldId id="259" r:id="rId5"/>
    <p:sldId id="260" r:id="rId6"/>
    <p:sldId id="290" r:id="rId7"/>
    <p:sldId id="287" r:id="rId8"/>
    <p:sldId id="283" r:id="rId9"/>
    <p:sldId id="285" r:id="rId10"/>
    <p:sldId id="291" r:id="rId11"/>
    <p:sldId id="294" r:id="rId12"/>
    <p:sldId id="295" r:id="rId13"/>
    <p:sldId id="296" r:id="rId14"/>
    <p:sldId id="288" r:id="rId15"/>
    <p:sldId id="297" r:id="rId16"/>
    <p:sldId id="279" r:id="rId17"/>
    <p:sldId id="278" r:id="rId18"/>
    <p:sldId id="280" r:id="rId19"/>
    <p:sldId id="282" r:id="rId20"/>
    <p:sldId id="281" r:id="rId21"/>
    <p:sldId id="277" r:id="rId22"/>
    <p:sldId id="299" r:id="rId23"/>
    <p:sldId id="262" r:id="rId24"/>
    <p:sldId id="261" r:id="rId25"/>
    <p:sldId id="263" r:id="rId26"/>
    <p:sldId id="300" r:id="rId27"/>
    <p:sldId id="266" r:id="rId28"/>
    <p:sldId id="298" r:id="rId29"/>
    <p:sldId id="267" r:id="rId30"/>
    <p:sldId id="268" r:id="rId31"/>
    <p:sldId id="272" r:id="rId32"/>
    <p:sldId id="271" r:id="rId33"/>
    <p:sldId id="273" r:id="rId34"/>
    <p:sldId id="274" r:id="rId35"/>
    <p:sldId id="275" r:id="rId36"/>
    <p:sldId id="276" r:id="rId37"/>
    <p:sldId id="269" r:id="rId38"/>
    <p:sldId id="304" r:id="rId39"/>
    <p:sldId id="305" r:id="rId40"/>
    <p:sldId id="306" r:id="rId41"/>
    <p:sldId id="316" r:id="rId42"/>
    <p:sldId id="307" r:id="rId43"/>
    <p:sldId id="310" r:id="rId44"/>
    <p:sldId id="313" r:id="rId45"/>
    <p:sldId id="311" r:id="rId46"/>
    <p:sldId id="314" r:id="rId47"/>
    <p:sldId id="315" r:id="rId48"/>
    <p:sldId id="321" r:id="rId49"/>
    <p:sldId id="323" r:id="rId50"/>
    <p:sldId id="324" r:id="rId51"/>
    <p:sldId id="325" r:id="rId52"/>
    <p:sldId id="322" r:id="rId53"/>
    <p:sldId id="317" r:id="rId54"/>
    <p:sldId id="326" r:id="rId55"/>
    <p:sldId id="327" r:id="rId56"/>
    <p:sldId id="328" r:id="rId57"/>
    <p:sldId id="329" r:id="rId58"/>
    <p:sldId id="318" r:id="rId59"/>
    <p:sldId id="330" r:id="rId60"/>
    <p:sldId id="331" r:id="rId61"/>
    <p:sldId id="332" r:id="rId62"/>
    <p:sldId id="333" r:id="rId63"/>
    <p:sldId id="319" r:id="rId64"/>
    <p:sldId id="334" r:id="rId65"/>
    <p:sldId id="335" r:id="rId6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353"/>
    <p:restoredTop sz="83140"/>
  </p:normalViewPr>
  <p:slideViewPr>
    <p:cSldViewPr snapToGrid="0">
      <p:cViewPr varScale="1">
        <p:scale>
          <a:sx n="85" d="100"/>
          <a:sy n="85" d="100"/>
        </p:scale>
        <p:origin x="91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9C11F8-E0B1-1048-90C9-7B5C3CB594D7}" type="datetimeFigureOut">
              <a:rPr lang="fr-FR" smtClean="0"/>
              <a:t>08/03/2025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E20620-1C2C-7043-8B38-691BB5666C4A}" type="slidenum">
              <a:rPr lang="fr-FR" smtClean="0"/>
              <a:t>‹N°›</a:t>
            </a:fld>
            <a:endParaRPr lang="fr-FR"/>
          </a:p>
        </p:txBody>
      </p:sp>
    </p:spTree>
    <p:extLst>
      <p:ext uri="{BB962C8B-B14F-4D97-AF65-F5344CB8AC3E}">
        <p14:creationId xmlns:p14="http://schemas.microsoft.com/office/powerpoint/2010/main" val="915127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GB" noProof="0" dirty="0"/>
              <a:t>See the neural networks as a function.</a:t>
            </a:r>
          </a:p>
        </p:txBody>
      </p:sp>
      <p:sp>
        <p:nvSpPr>
          <p:cNvPr id="4" name="Espace réservé du numéro de diapositive 3"/>
          <p:cNvSpPr>
            <a:spLocks noGrp="1"/>
          </p:cNvSpPr>
          <p:nvPr>
            <p:ph type="sldNum" sz="quarter" idx="5"/>
          </p:nvPr>
        </p:nvSpPr>
        <p:spPr/>
        <p:txBody>
          <a:bodyPr/>
          <a:lstStyle/>
          <a:p>
            <a:fld id="{BFE20620-1C2C-7043-8B38-691BB5666C4A}" type="slidenum">
              <a:rPr lang="fr-FR" smtClean="0"/>
              <a:t>2</a:t>
            </a:fld>
            <a:endParaRPr lang="fr-FR"/>
          </a:p>
        </p:txBody>
      </p:sp>
    </p:spTree>
    <p:extLst>
      <p:ext uri="{BB962C8B-B14F-4D97-AF65-F5344CB8AC3E}">
        <p14:creationId xmlns:p14="http://schemas.microsoft.com/office/powerpoint/2010/main" val="27561749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Imagine </a:t>
            </a:r>
            <a:r>
              <a:rPr lang="fr-FR" dirty="0" err="1"/>
              <a:t>you</a:t>
            </a:r>
            <a:r>
              <a:rPr lang="fr-FR" dirty="0"/>
              <a:t> have </a:t>
            </a:r>
            <a:r>
              <a:rPr lang="fr-FR" dirty="0" err="1"/>
              <a:t>two</a:t>
            </a:r>
            <a:r>
              <a:rPr lang="fr-FR" dirty="0"/>
              <a:t> input values x and w </a:t>
            </a:r>
            <a:r>
              <a:rPr lang="fr-FR" dirty="0" err="1"/>
              <a:t>respectively</a:t>
            </a:r>
            <a:r>
              <a:rPr lang="fr-FR" dirty="0"/>
              <a:t> </a:t>
            </a:r>
            <a:r>
              <a:rPr lang="fr-FR" dirty="0" err="1"/>
              <a:t>equal</a:t>
            </a:r>
            <a:r>
              <a:rPr lang="fr-FR" dirty="0"/>
              <a:t> to 3 and 1. </a:t>
            </a:r>
            <a:r>
              <a:rPr lang="fr-FR" dirty="0" err="1"/>
              <a:t>Your</a:t>
            </a:r>
            <a:r>
              <a:rPr lang="fr-FR" dirty="0"/>
              <a:t> </a:t>
            </a:r>
            <a:r>
              <a:rPr lang="fr-FR" dirty="0" err="1"/>
              <a:t>function</a:t>
            </a:r>
            <a:r>
              <a:rPr lang="fr-FR" dirty="0"/>
              <a:t> </a:t>
            </a:r>
            <a:r>
              <a:rPr lang="fr-FR" dirty="0" err="1"/>
              <a:t>makes</a:t>
            </a:r>
            <a:r>
              <a:rPr lang="fr-FR" dirty="0"/>
              <a:t> the </a:t>
            </a:r>
            <a:r>
              <a:rPr lang="fr-FR" dirty="0" err="1"/>
              <a:t>product</a:t>
            </a:r>
            <a:r>
              <a:rPr lang="fr-FR" dirty="0"/>
              <a:t> and </a:t>
            </a:r>
            <a:r>
              <a:rPr lang="fr-FR" dirty="0" err="1"/>
              <a:t>so</a:t>
            </a:r>
            <a:r>
              <a:rPr lang="fr-FR" dirty="0"/>
              <a:t> </a:t>
            </a:r>
            <a:r>
              <a:rPr lang="fr-FR" dirty="0" err="1"/>
              <a:t>result</a:t>
            </a:r>
            <a:r>
              <a:rPr lang="fr-FR" dirty="0"/>
              <a:t> in 3. But </a:t>
            </a:r>
            <a:r>
              <a:rPr lang="fr-FR" dirty="0" err="1"/>
              <a:t>your</a:t>
            </a:r>
            <a:r>
              <a:rPr lang="fr-FR" dirty="0"/>
              <a:t> </a:t>
            </a:r>
            <a:r>
              <a:rPr lang="fr-FR" dirty="0" err="1"/>
              <a:t>target</a:t>
            </a:r>
            <a:r>
              <a:rPr lang="fr-FR" dirty="0"/>
              <a:t> </a:t>
            </a:r>
            <a:r>
              <a:rPr lang="fr-FR" dirty="0" err="1"/>
              <a:t>is</a:t>
            </a:r>
            <a:r>
              <a:rPr lang="fr-FR" dirty="0"/>
              <a:t> to </a:t>
            </a:r>
            <a:r>
              <a:rPr lang="fr-FR" dirty="0" err="1"/>
              <a:t>get</a:t>
            </a:r>
            <a:r>
              <a:rPr lang="fr-FR" dirty="0"/>
              <a:t> 10. Are </a:t>
            </a:r>
            <a:r>
              <a:rPr lang="fr-FR" dirty="0" err="1"/>
              <a:t>your</a:t>
            </a:r>
            <a:r>
              <a:rPr lang="fr-FR" dirty="0"/>
              <a:t> close ? No </a:t>
            </a:r>
            <a:r>
              <a:rPr lang="fr-FR" dirty="0" err="1"/>
              <a:t>so</a:t>
            </a:r>
            <a:r>
              <a:rPr lang="fr-FR" dirty="0"/>
              <a:t> </a:t>
            </a:r>
            <a:r>
              <a:rPr lang="fr-FR" dirty="0" err="1"/>
              <a:t>you</a:t>
            </a:r>
            <a:r>
              <a:rPr lang="fr-FR" dirty="0"/>
              <a:t> </a:t>
            </a:r>
            <a:r>
              <a:rPr lang="fr-FR" dirty="0" err="1"/>
              <a:t>will</a:t>
            </a:r>
            <a:r>
              <a:rPr lang="fr-FR" dirty="0"/>
              <a:t> </a:t>
            </a:r>
            <a:r>
              <a:rPr lang="fr-FR" dirty="0" err="1"/>
              <a:t>need</a:t>
            </a:r>
            <a:r>
              <a:rPr lang="fr-FR" dirty="0"/>
              <a:t> to </a:t>
            </a:r>
            <a:r>
              <a:rPr lang="fr-FR" dirty="0" err="1"/>
              <a:t>modify</a:t>
            </a:r>
            <a:r>
              <a:rPr lang="fr-FR" dirty="0"/>
              <a:t> </a:t>
            </a:r>
            <a:r>
              <a:rPr lang="fr-FR" dirty="0" err="1"/>
              <a:t>your</a:t>
            </a:r>
            <a:r>
              <a:rPr lang="fr-FR" dirty="0"/>
              <a:t> </a:t>
            </a:r>
            <a:r>
              <a:rPr lang="fr-FR" dirty="0" err="1"/>
              <a:t>parameter</a:t>
            </a:r>
            <a:r>
              <a:rPr lang="fr-FR" dirty="0"/>
              <a:t> </a:t>
            </a:r>
            <a:r>
              <a:rPr lang="fr-FR" dirty="0" err="1"/>
              <a:t>which</a:t>
            </a:r>
            <a:r>
              <a:rPr lang="fr-FR" dirty="0"/>
              <a:t> </a:t>
            </a:r>
            <a:r>
              <a:rPr lang="fr-FR" dirty="0" err="1"/>
              <a:t>is</a:t>
            </a:r>
            <a:r>
              <a:rPr lang="fr-FR" dirty="0"/>
              <a:t> W.</a:t>
            </a:r>
          </a:p>
        </p:txBody>
      </p:sp>
      <p:sp>
        <p:nvSpPr>
          <p:cNvPr id="4" name="Espace réservé du numéro de diapositive 3"/>
          <p:cNvSpPr>
            <a:spLocks noGrp="1"/>
          </p:cNvSpPr>
          <p:nvPr>
            <p:ph type="sldNum" sz="quarter" idx="5"/>
          </p:nvPr>
        </p:nvSpPr>
        <p:spPr/>
        <p:txBody>
          <a:bodyPr/>
          <a:lstStyle/>
          <a:p>
            <a:fld id="{BFE20620-1C2C-7043-8B38-691BB5666C4A}" type="slidenum">
              <a:rPr lang="fr-FR" smtClean="0"/>
              <a:t>3</a:t>
            </a:fld>
            <a:endParaRPr lang="fr-FR"/>
          </a:p>
        </p:txBody>
      </p:sp>
    </p:spTree>
    <p:extLst>
      <p:ext uri="{BB962C8B-B14F-4D97-AF65-F5344CB8AC3E}">
        <p14:creationId xmlns:p14="http://schemas.microsoft.com/office/powerpoint/2010/main" val="1993372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4093E-CE00-127C-D076-0498F54B034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F98D49F-C065-A39C-0508-F734C7104FB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9721DF6-D642-FEEB-4B16-60A2270114C6}"/>
              </a:ext>
            </a:extLst>
          </p:cNvPr>
          <p:cNvSpPr>
            <a:spLocks noGrp="1"/>
          </p:cNvSpPr>
          <p:nvPr>
            <p:ph type="body" idx="1"/>
          </p:nvPr>
        </p:nvSpPr>
        <p:spPr/>
        <p:txBody>
          <a:bodyPr/>
          <a:lstStyle/>
          <a:p>
            <a:r>
              <a:rPr lang="fr-FR" dirty="0"/>
              <a:t>Imagine </a:t>
            </a:r>
            <a:r>
              <a:rPr lang="fr-FR" dirty="0" err="1"/>
              <a:t>you</a:t>
            </a:r>
            <a:r>
              <a:rPr lang="fr-FR" dirty="0"/>
              <a:t> have </a:t>
            </a:r>
            <a:r>
              <a:rPr lang="fr-FR" dirty="0" err="1"/>
              <a:t>two</a:t>
            </a:r>
            <a:r>
              <a:rPr lang="fr-FR" dirty="0"/>
              <a:t> input values x and w </a:t>
            </a:r>
            <a:r>
              <a:rPr lang="fr-FR" dirty="0" err="1"/>
              <a:t>respectively</a:t>
            </a:r>
            <a:r>
              <a:rPr lang="fr-FR" dirty="0"/>
              <a:t> </a:t>
            </a:r>
            <a:r>
              <a:rPr lang="fr-FR" dirty="0" err="1"/>
              <a:t>equal</a:t>
            </a:r>
            <a:r>
              <a:rPr lang="fr-FR" dirty="0"/>
              <a:t> to 3 and 1. </a:t>
            </a:r>
            <a:r>
              <a:rPr lang="fr-FR" dirty="0" err="1"/>
              <a:t>Your</a:t>
            </a:r>
            <a:r>
              <a:rPr lang="fr-FR" dirty="0"/>
              <a:t> </a:t>
            </a:r>
            <a:r>
              <a:rPr lang="fr-FR" dirty="0" err="1"/>
              <a:t>function</a:t>
            </a:r>
            <a:r>
              <a:rPr lang="fr-FR" dirty="0"/>
              <a:t> </a:t>
            </a:r>
            <a:r>
              <a:rPr lang="fr-FR" dirty="0" err="1"/>
              <a:t>makes</a:t>
            </a:r>
            <a:r>
              <a:rPr lang="fr-FR" dirty="0"/>
              <a:t> the </a:t>
            </a:r>
            <a:r>
              <a:rPr lang="fr-FR" dirty="0" err="1"/>
              <a:t>product</a:t>
            </a:r>
            <a:r>
              <a:rPr lang="fr-FR" dirty="0"/>
              <a:t> and </a:t>
            </a:r>
            <a:r>
              <a:rPr lang="fr-FR" dirty="0" err="1"/>
              <a:t>so</a:t>
            </a:r>
            <a:r>
              <a:rPr lang="fr-FR" dirty="0"/>
              <a:t> </a:t>
            </a:r>
            <a:r>
              <a:rPr lang="fr-FR" dirty="0" err="1"/>
              <a:t>result</a:t>
            </a:r>
            <a:r>
              <a:rPr lang="fr-FR" dirty="0"/>
              <a:t> in 3. But </a:t>
            </a:r>
            <a:r>
              <a:rPr lang="fr-FR" dirty="0" err="1"/>
              <a:t>your</a:t>
            </a:r>
            <a:r>
              <a:rPr lang="fr-FR" dirty="0"/>
              <a:t> </a:t>
            </a:r>
            <a:r>
              <a:rPr lang="fr-FR" dirty="0" err="1"/>
              <a:t>target</a:t>
            </a:r>
            <a:r>
              <a:rPr lang="fr-FR" dirty="0"/>
              <a:t> </a:t>
            </a:r>
            <a:r>
              <a:rPr lang="fr-FR" dirty="0" err="1"/>
              <a:t>is</a:t>
            </a:r>
            <a:r>
              <a:rPr lang="fr-FR" dirty="0"/>
              <a:t> to </a:t>
            </a:r>
            <a:r>
              <a:rPr lang="fr-FR" dirty="0" err="1"/>
              <a:t>get</a:t>
            </a:r>
            <a:r>
              <a:rPr lang="fr-FR" dirty="0"/>
              <a:t> 10. Are </a:t>
            </a:r>
            <a:r>
              <a:rPr lang="fr-FR" dirty="0" err="1"/>
              <a:t>your</a:t>
            </a:r>
            <a:r>
              <a:rPr lang="fr-FR" dirty="0"/>
              <a:t> close ? No </a:t>
            </a:r>
            <a:r>
              <a:rPr lang="fr-FR" dirty="0" err="1"/>
              <a:t>so</a:t>
            </a:r>
            <a:r>
              <a:rPr lang="fr-FR" dirty="0"/>
              <a:t> </a:t>
            </a:r>
            <a:r>
              <a:rPr lang="fr-FR" dirty="0" err="1"/>
              <a:t>you</a:t>
            </a:r>
            <a:r>
              <a:rPr lang="fr-FR" dirty="0"/>
              <a:t> </a:t>
            </a:r>
            <a:r>
              <a:rPr lang="fr-FR" dirty="0" err="1"/>
              <a:t>will</a:t>
            </a:r>
            <a:r>
              <a:rPr lang="fr-FR" dirty="0"/>
              <a:t> </a:t>
            </a:r>
            <a:r>
              <a:rPr lang="fr-FR" dirty="0" err="1"/>
              <a:t>need</a:t>
            </a:r>
            <a:r>
              <a:rPr lang="fr-FR" dirty="0"/>
              <a:t> to </a:t>
            </a:r>
            <a:r>
              <a:rPr lang="fr-FR" dirty="0" err="1"/>
              <a:t>modify</a:t>
            </a:r>
            <a:r>
              <a:rPr lang="fr-FR" dirty="0"/>
              <a:t> </a:t>
            </a:r>
            <a:r>
              <a:rPr lang="fr-FR" dirty="0" err="1"/>
              <a:t>your</a:t>
            </a:r>
            <a:r>
              <a:rPr lang="fr-FR" dirty="0"/>
              <a:t> </a:t>
            </a:r>
            <a:r>
              <a:rPr lang="fr-FR" dirty="0" err="1"/>
              <a:t>parameter</a:t>
            </a:r>
            <a:r>
              <a:rPr lang="fr-FR" dirty="0"/>
              <a:t> </a:t>
            </a:r>
            <a:r>
              <a:rPr lang="fr-FR" dirty="0" err="1"/>
              <a:t>which</a:t>
            </a:r>
            <a:r>
              <a:rPr lang="fr-FR" dirty="0"/>
              <a:t> </a:t>
            </a:r>
            <a:r>
              <a:rPr lang="fr-FR" dirty="0" err="1"/>
              <a:t>is</a:t>
            </a:r>
            <a:r>
              <a:rPr lang="fr-FR" dirty="0"/>
              <a:t> W.</a:t>
            </a:r>
          </a:p>
        </p:txBody>
      </p:sp>
      <p:sp>
        <p:nvSpPr>
          <p:cNvPr id="4" name="Espace réservé du numéro de diapositive 3">
            <a:extLst>
              <a:ext uri="{FF2B5EF4-FFF2-40B4-BE49-F238E27FC236}">
                <a16:creationId xmlns:a16="http://schemas.microsoft.com/office/drawing/2014/main" id="{C849CDA7-9194-1CB2-675F-B862EF69DCFE}"/>
              </a:ext>
            </a:extLst>
          </p:cNvPr>
          <p:cNvSpPr>
            <a:spLocks noGrp="1"/>
          </p:cNvSpPr>
          <p:nvPr>
            <p:ph type="sldNum" sz="quarter" idx="5"/>
          </p:nvPr>
        </p:nvSpPr>
        <p:spPr/>
        <p:txBody>
          <a:bodyPr/>
          <a:lstStyle/>
          <a:p>
            <a:fld id="{BFE20620-1C2C-7043-8B38-691BB5666C4A}" type="slidenum">
              <a:rPr lang="fr-FR" smtClean="0"/>
              <a:t>4</a:t>
            </a:fld>
            <a:endParaRPr lang="fr-FR"/>
          </a:p>
        </p:txBody>
      </p:sp>
    </p:spTree>
    <p:extLst>
      <p:ext uri="{BB962C8B-B14F-4D97-AF65-F5344CB8AC3E}">
        <p14:creationId xmlns:p14="http://schemas.microsoft.com/office/powerpoint/2010/main" val="3623358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GB" dirty="0"/>
              <a:t> net </a:t>
            </a:r>
            <a:r>
              <a:rPr lang="en-GB" dirty="0" err="1"/>
              <a:t>est</a:t>
            </a:r>
            <a:r>
              <a:rPr lang="en-GB" dirty="0"/>
              <a:t> le signal </a:t>
            </a:r>
            <a:r>
              <a:rPr lang="en-GB" dirty="0" err="1"/>
              <a:t>d’entrée</a:t>
            </a:r>
            <a:endParaRPr lang="en-GB" dirty="0"/>
          </a:p>
          <a:p>
            <a:r>
              <a:rPr lang="en-GB" dirty="0"/>
              <a:t> out </a:t>
            </a:r>
            <a:r>
              <a:rPr lang="en-GB" dirty="0" err="1"/>
              <a:t>est</a:t>
            </a:r>
            <a:r>
              <a:rPr lang="en-GB" dirty="0"/>
              <a:t> le signal de sortie</a:t>
            </a:r>
          </a:p>
          <a:p>
            <a:endParaRPr lang="en-GB" dirty="0"/>
          </a:p>
        </p:txBody>
      </p:sp>
      <p:sp>
        <p:nvSpPr>
          <p:cNvPr id="4" name="Espace réservé du numéro de diapositive 3"/>
          <p:cNvSpPr>
            <a:spLocks noGrp="1"/>
          </p:cNvSpPr>
          <p:nvPr>
            <p:ph type="sldNum" sz="quarter" idx="5"/>
          </p:nvPr>
        </p:nvSpPr>
        <p:spPr/>
        <p:txBody>
          <a:bodyPr/>
          <a:lstStyle/>
          <a:p>
            <a:fld id="{BFE20620-1C2C-7043-8B38-691BB5666C4A}" type="slidenum">
              <a:rPr lang="fr-FR" smtClean="0"/>
              <a:t>5</a:t>
            </a:fld>
            <a:endParaRPr lang="fr-FR"/>
          </a:p>
        </p:txBody>
      </p:sp>
    </p:spTree>
    <p:extLst>
      <p:ext uri="{BB962C8B-B14F-4D97-AF65-F5344CB8AC3E}">
        <p14:creationId xmlns:p14="http://schemas.microsoft.com/office/powerpoint/2010/main" val="30276778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sz="quarter" idx="5"/>
          </p:nvPr>
        </p:nvSpPr>
        <p:spPr/>
        <p:txBody>
          <a:bodyPr/>
          <a:lstStyle/>
          <a:p>
            <a:fld id="{BFE20620-1C2C-7043-8B38-691BB5666C4A}" type="slidenum">
              <a:rPr lang="fr-FR" smtClean="0"/>
              <a:t>8</a:t>
            </a:fld>
            <a:endParaRPr lang="fr-FR"/>
          </a:p>
        </p:txBody>
      </p:sp>
    </p:spTree>
    <p:extLst>
      <p:ext uri="{BB962C8B-B14F-4D97-AF65-F5344CB8AC3E}">
        <p14:creationId xmlns:p14="http://schemas.microsoft.com/office/powerpoint/2010/main" val="15705446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FE20620-1C2C-7043-8B38-691BB5666C4A}" type="slidenum">
              <a:rPr lang="fr-FR" smtClean="0"/>
              <a:t>24</a:t>
            </a:fld>
            <a:endParaRPr lang="fr-FR"/>
          </a:p>
        </p:txBody>
      </p:sp>
    </p:spTree>
    <p:extLst>
      <p:ext uri="{BB962C8B-B14F-4D97-AF65-F5344CB8AC3E}">
        <p14:creationId xmlns:p14="http://schemas.microsoft.com/office/powerpoint/2010/main" val="17511044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C063A-4DEA-61AC-4CBA-9A575907FF1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1A8458F-101B-F3D0-A4C1-C731B11044B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124FF18-83F5-45E5-107D-05383656CFF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F392DD4-B24F-2DA6-DA5C-AE83727D94FF}"/>
              </a:ext>
            </a:extLst>
          </p:cNvPr>
          <p:cNvSpPr>
            <a:spLocks noGrp="1"/>
          </p:cNvSpPr>
          <p:nvPr>
            <p:ph type="sldNum" sz="quarter" idx="5"/>
          </p:nvPr>
        </p:nvSpPr>
        <p:spPr/>
        <p:txBody>
          <a:bodyPr/>
          <a:lstStyle/>
          <a:p>
            <a:fld id="{BFE20620-1C2C-7043-8B38-691BB5666C4A}" type="slidenum">
              <a:rPr lang="fr-FR" smtClean="0"/>
              <a:t>25</a:t>
            </a:fld>
            <a:endParaRPr lang="fr-FR"/>
          </a:p>
        </p:txBody>
      </p:sp>
    </p:spTree>
    <p:extLst>
      <p:ext uri="{BB962C8B-B14F-4D97-AF65-F5344CB8AC3E}">
        <p14:creationId xmlns:p14="http://schemas.microsoft.com/office/powerpoint/2010/main" val="27947650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996AB-6D68-7D04-8265-AB37F4D82BE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37FD745-215A-B64E-8F87-C1E0C00B734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179CDF4-FB46-9B90-0470-634BF70419E1}"/>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CCE78049-FC89-B803-8C9A-A3FEF5498C81}"/>
              </a:ext>
            </a:extLst>
          </p:cNvPr>
          <p:cNvSpPr>
            <a:spLocks noGrp="1"/>
          </p:cNvSpPr>
          <p:nvPr>
            <p:ph type="sldNum" sz="quarter" idx="5"/>
          </p:nvPr>
        </p:nvSpPr>
        <p:spPr/>
        <p:txBody>
          <a:bodyPr/>
          <a:lstStyle/>
          <a:p>
            <a:fld id="{BFE20620-1C2C-7043-8B38-691BB5666C4A}" type="slidenum">
              <a:rPr lang="fr-FR" smtClean="0"/>
              <a:t>48</a:t>
            </a:fld>
            <a:endParaRPr lang="fr-FR"/>
          </a:p>
        </p:txBody>
      </p:sp>
    </p:spTree>
    <p:extLst>
      <p:ext uri="{BB962C8B-B14F-4D97-AF65-F5344CB8AC3E}">
        <p14:creationId xmlns:p14="http://schemas.microsoft.com/office/powerpoint/2010/main" val="31482100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73A34-D27E-A862-24D4-6B65DCCBF8D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969D940-4733-43B5-E7D3-8203C28E105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EA1D318-B3B2-CF3A-4635-29662BAC25FB}"/>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EE5A7D4E-7E12-1D1F-A85E-AA30C0F817B1}"/>
              </a:ext>
            </a:extLst>
          </p:cNvPr>
          <p:cNvSpPr>
            <a:spLocks noGrp="1"/>
          </p:cNvSpPr>
          <p:nvPr>
            <p:ph type="sldNum" sz="quarter" idx="5"/>
          </p:nvPr>
        </p:nvSpPr>
        <p:spPr/>
        <p:txBody>
          <a:bodyPr/>
          <a:lstStyle/>
          <a:p>
            <a:fld id="{BFE20620-1C2C-7043-8B38-691BB5666C4A}" type="slidenum">
              <a:rPr lang="fr-FR" smtClean="0"/>
              <a:t>49</a:t>
            </a:fld>
            <a:endParaRPr lang="fr-FR"/>
          </a:p>
        </p:txBody>
      </p:sp>
    </p:spTree>
    <p:extLst>
      <p:ext uri="{BB962C8B-B14F-4D97-AF65-F5344CB8AC3E}">
        <p14:creationId xmlns:p14="http://schemas.microsoft.com/office/powerpoint/2010/main" val="29353302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5DECD-93F8-ED42-1C8F-9F08CFE21F1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ECB22D9-7128-06A0-88F9-5F366CF5783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7551BA5-6B19-E37F-1D25-DC788DA06509}"/>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45D39EEB-A8A6-D8AC-ACE2-794562609C33}"/>
              </a:ext>
            </a:extLst>
          </p:cNvPr>
          <p:cNvSpPr>
            <a:spLocks noGrp="1"/>
          </p:cNvSpPr>
          <p:nvPr>
            <p:ph type="sldNum" sz="quarter" idx="5"/>
          </p:nvPr>
        </p:nvSpPr>
        <p:spPr/>
        <p:txBody>
          <a:bodyPr/>
          <a:lstStyle/>
          <a:p>
            <a:fld id="{BFE20620-1C2C-7043-8B38-691BB5666C4A}" type="slidenum">
              <a:rPr lang="fr-FR" smtClean="0"/>
              <a:t>50</a:t>
            </a:fld>
            <a:endParaRPr lang="fr-FR"/>
          </a:p>
        </p:txBody>
      </p:sp>
    </p:spTree>
    <p:extLst>
      <p:ext uri="{BB962C8B-B14F-4D97-AF65-F5344CB8AC3E}">
        <p14:creationId xmlns:p14="http://schemas.microsoft.com/office/powerpoint/2010/main" val="19469278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F6A90-E213-AFBC-F4A2-5D1F3C12DA5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46A1456-0E72-39C6-70F3-E259A5B8486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86A9427-2BC4-E5F8-59EE-AEF4CB155F28}"/>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A938E4F5-4332-C750-BCD3-82A1347B6A3A}"/>
              </a:ext>
            </a:extLst>
          </p:cNvPr>
          <p:cNvSpPr>
            <a:spLocks noGrp="1"/>
          </p:cNvSpPr>
          <p:nvPr>
            <p:ph type="sldNum" sz="quarter" idx="5"/>
          </p:nvPr>
        </p:nvSpPr>
        <p:spPr/>
        <p:txBody>
          <a:bodyPr/>
          <a:lstStyle/>
          <a:p>
            <a:fld id="{BFE20620-1C2C-7043-8B38-691BB5666C4A}" type="slidenum">
              <a:rPr lang="fr-FR" smtClean="0"/>
              <a:t>51</a:t>
            </a:fld>
            <a:endParaRPr lang="fr-FR"/>
          </a:p>
        </p:txBody>
      </p:sp>
    </p:spTree>
    <p:extLst>
      <p:ext uri="{BB962C8B-B14F-4D97-AF65-F5344CB8AC3E}">
        <p14:creationId xmlns:p14="http://schemas.microsoft.com/office/powerpoint/2010/main" val="1073058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81C67-653D-6AC4-2AEB-16BDA5EBF0E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3A70F2D-3ED9-A3C2-A005-0E2BC0711F8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00E66CC-5A5D-9F88-2240-48E96AE5AF27}"/>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C1EEBCB4-DC8C-D2D1-6E28-0E70DD840D4E}"/>
              </a:ext>
            </a:extLst>
          </p:cNvPr>
          <p:cNvSpPr>
            <a:spLocks noGrp="1"/>
          </p:cNvSpPr>
          <p:nvPr>
            <p:ph type="sldNum" sz="quarter" idx="5"/>
          </p:nvPr>
        </p:nvSpPr>
        <p:spPr/>
        <p:txBody>
          <a:bodyPr/>
          <a:lstStyle/>
          <a:p>
            <a:fld id="{BFE20620-1C2C-7043-8B38-691BB5666C4A}" type="slidenum">
              <a:rPr lang="fr-FR" smtClean="0"/>
              <a:t>52</a:t>
            </a:fld>
            <a:endParaRPr lang="fr-FR"/>
          </a:p>
        </p:txBody>
      </p:sp>
    </p:spTree>
    <p:extLst>
      <p:ext uri="{BB962C8B-B14F-4D97-AF65-F5344CB8AC3E}">
        <p14:creationId xmlns:p14="http://schemas.microsoft.com/office/powerpoint/2010/main" val="24497733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sz="quarter" idx="5"/>
          </p:nvPr>
        </p:nvSpPr>
        <p:spPr/>
        <p:txBody>
          <a:bodyPr/>
          <a:lstStyle/>
          <a:p>
            <a:fld id="{BFE20620-1C2C-7043-8B38-691BB5666C4A}" type="slidenum">
              <a:rPr lang="fr-FR" smtClean="0"/>
              <a:t>53</a:t>
            </a:fld>
            <a:endParaRPr lang="fr-FR"/>
          </a:p>
        </p:txBody>
      </p:sp>
    </p:spTree>
    <p:extLst>
      <p:ext uri="{BB962C8B-B14F-4D97-AF65-F5344CB8AC3E}">
        <p14:creationId xmlns:p14="http://schemas.microsoft.com/office/powerpoint/2010/main" val="2921545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1B932-79E6-D60A-9D90-8BD8EC7238E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53A2CF8-4B5D-1626-9A83-8ACBB266AD3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855959C-6303-9F7A-91BA-A3EF925CD28B}"/>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7F8EF2CA-169D-E2D5-1706-AE6B7AD609A4}"/>
              </a:ext>
            </a:extLst>
          </p:cNvPr>
          <p:cNvSpPr>
            <a:spLocks noGrp="1"/>
          </p:cNvSpPr>
          <p:nvPr>
            <p:ph type="sldNum" sz="quarter" idx="5"/>
          </p:nvPr>
        </p:nvSpPr>
        <p:spPr/>
        <p:txBody>
          <a:bodyPr/>
          <a:lstStyle/>
          <a:p>
            <a:fld id="{BFE20620-1C2C-7043-8B38-691BB5666C4A}" type="slidenum">
              <a:rPr lang="fr-FR" smtClean="0"/>
              <a:t>54</a:t>
            </a:fld>
            <a:endParaRPr lang="fr-FR"/>
          </a:p>
        </p:txBody>
      </p:sp>
    </p:spTree>
    <p:extLst>
      <p:ext uri="{BB962C8B-B14F-4D97-AF65-F5344CB8AC3E}">
        <p14:creationId xmlns:p14="http://schemas.microsoft.com/office/powerpoint/2010/main" val="1231216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A5BDD-00C6-5608-B0AF-E6C09C13353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0EE1B1F-4906-5642-A435-95EBF9C03FB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790BD2E-3017-F4B5-4D77-D027D054031D}"/>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E1D129CC-E30C-036F-2F4D-E31A28630BC3}"/>
              </a:ext>
            </a:extLst>
          </p:cNvPr>
          <p:cNvSpPr>
            <a:spLocks noGrp="1"/>
          </p:cNvSpPr>
          <p:nvPr>
            <p:ph type="sldNum" sz="quarter" idx="5"/>
          </p:nvPr>
        </p:nvSpPr>
        <p:spPr/>
        <p:txBody>
          <a:bodyPr/>
          <a:lstStyle/>
          <a:p>
            <a:fld id="{BFE20620-1C2C-7043-8B38-691BB5666C4A}" type="slidenum">
              <a:rPr lang="fr-FR" smtClean="0"/>
              <a:t>55</a:t>
            </a:fld>
            <a:endParaRPr lang="fr-FR"/>
          </a:p>
        </p:txBody>
      </p:sp>
    </p:spTree>
    <p:extLst>
      <p:ext uri="{BB962C8B-B14F-4D97-AF65-F5344CB8AC3E}">
        <p14:creationId xmlns:p14="http://schemas.microsoft.com/office/powerpoint/2010/main" val="13206240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61086-4B24-251F-845F-542941B1806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3CADE8D-CE6C-7E1F-3CA2-5BB7DEB0DAB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3941F24-E8BA-8496-003C-0721C459FDD5}"/>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273EAFC6-2A15-4C74-E31D-C205F346FAAA}"/>
              </a:ext>
            </a:extLst>
          </p:cNvPr>
          <p:cNvSpPr>
            <a:spLocks noGrp="1"/>
          </p:cNvSpPr>
          <p:nvPr>
            <p:ph type="sldNum" sz="quarter" idx="5"/>
          </p:nvPr>
        </p:nvSpPr>
        <p:spPr/>
        <p:txBody>
          <a:bodyPr/>
          <a:lstStyle/>
          <a:p>
            <a:fld id="{BFE20620-1C2C-7043-8B38-691BB5666C4A}" type="slidenum">
              <a:rPr lang="fr-FR" smtClean="0"/>
              <a:t>56</a:t>
            </a:fld>
            <a:endParaRPr lang="fr-FR"/>
          </a:p>
        </p:txBody>
      </p:sp>
    </p:spTree>
    <p:extLst>
      <p:ext uri="{BB962C8B-B14F-4D97-AF65-F5344CB8AC3E}">
        <p14:creationId xmlns:p14="http://schemas.microsoft.com/office/powerpoint/2010/main" val="696325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6B993-63B4-DB99-DFB2-E9251B8A8D0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475A955-D9E1-718B-D940-36194E7ED45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C51EFB6-62AE-ADDC-7401-02DE40291FEC}"/>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88A8D19A-6380-F65B-8EEC-F41760A28F76}"/>
              </a:ext>
            </a:extLst>
          </p:cNvPr>
          <p:cNvSpPr>
            <a:spLocks noGrp="1"/>
          </p:cNvSpPr>
          <p:nvPr>
            <p:ph type="sldNum" sz="quarter" idx="5"/>
          </p:nvPr>
        </p:nvSpPr>
        <p:spPr/>
        <p:txBody>
          <a:bodyPr/>
          <a:lstStyle/>
          <a:p>
            <a:fld id="{BFE20620-1C2C-7043-8B38-691BB5666C4A}" type="slidenum">
              <a:rPr lang="fr-FR" smtClean="0"/>
              <a:t>57</a:t>
            </a:fld>
            <a:endParaRPr lang="fr-FR"/>
          </a:p>
        </p:txBody>
      </p:sp>
    </p:spTree>
    <p:extLst>
      <p:ext uri="{BB962C8B-B14F-4D97-AF65-F5344CB8AC3E}">
        <p14:creationId xmlns:p14="http://schemas.microsoft.com/office/powerpoint/2010/main" val="16769427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sz="quarter" idx="5"/>
          </p:nvPr>
        </p:nvSpPr>
        <p:spPr/>
        <p:txBody>
          <a:bodyPr/>
          <a:lstStyle/>
          <a:p>
            <a:fld id="{BFE20620-1C2C-7043-8B38-691BB5666C4A}" type="slidenum">
              <a:rPr lang="fr-FR" smtClean="0"/>
              <a:t>58</a:t>
            </a:fld>
            <a:endParaRPr lang="fr-FR"/>
          </a:p>
        </p:txBody>
      </p:sp>
    </p:spTree>
    <p:extLst>
      <p:ext uri="{BB962C8B-B14F-4D97-AF65-F5344CB8AC3E}">
        <p14:creationId xmlns:p14="http://schemas.microsoft.com/office/powerpoint/2010/main" val="40059856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E4D29-FC7B-D322-EED0-4F014E51452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A577C89-9176-7ECD-62C3-79A8ACB5C38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2A32BCF-C987-8D1B-CF8B-C45666350FF8}"/>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4462A936-3704-1DE4-C6D4-8F2BF61C4082}"/>
              </a:ext>
            </a:extLst>
          </p:cNvPr>
          <p:cNvSpPr>
            <a:spLocks noGrp="1"/>
          </p:cNvSpPr>
          <p:nvPr>
            <p:ph type="sldNum" sz="quarter" idx="5"/>
          </p:nvPr>
        </p:nvSpPr>
        <p:spPr/>
        <p:txBody>
          <a:bodyPr/>
          <a:lstStyle/>
          <a:p>
            <a:fld id="{BFE20620-1C2C-7043-8B38-691BB5666C4A}" type="slidenum">
              <a:rPr lang="fr-FR" smtClean="0"/>
              <a:t>59</a:t>
            </a:fld>
            <a:endParaRPr lang="fr-FR"/>
          </a:p>
        </p:txBody>
      </p:sp>
    </p:spTree>
    <p:extLst>
      <p:ext uri="{BB962C8B-B14F-4D97-AF65-F5344CB8AC3E}">
        <p14:creationId xmlns:p14="http://schemas.microsoft.com/office/powerpoint/2010/main" val="2313199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DABC1-32C1-38E7-7006-D3BC1232F49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BC193A0-2BF4-E27E-90A2-115964E6EF5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8EDFD22-4721-652A-60DB-4C75C32ECCE0}"/>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1B24EF5E-9655-C029-CAA4-0B242B9A2DAE}"/>
              </a:ext>
            </a:extLst>
          </p:cNvPr>
          <p:cNvSpPr>
            <a:spLocks noGrp="1"/>
          </p:cNvSpPr>
          <p:nvPr>
            <p:ph type="sldNum" sz="quarter" idx="5"/>
          </p:nvPr>
        </p:nvSpPr>
        <p:spPr/>
        <p:txBody>
          <a:bodyPr/>
          <a:lstStyle/>
          <a:p>
            <a:fld id="{BFE20620-1C2C-7043-8B38-691BB5666C4A}" type="slidenum">
              <a:rPr lang="fr-FR" smtClean="0"/>
              <a:t>60</a:t>
            </a:fld>
            <a:endParaRPr lang="fr-FR"/>
          </a:p>
        </p:txBody>
      </p:sp>
    </p:spTree>
    <p:extLst>
      <p:ext uri="{BB962C8B-B14F-4D97-AF65-F5344CB8AC3E}">
        <p14:creationId xmlns:p14="http://schemas.microsoft.com/office/powerpoint/2010/main" val="16996310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CAE51-469C-D9CE-2529-DA7502A7167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BE43EE3-B369-3A0D-518C-EB0B7E8CE58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AE5B936-F524-35F2-38DC-24E70AA7D725}"/>
              </a:ext>
            </a:extLst>
          </p:cNvPr>
          <p:cNvSpPr>
            <a:spLocks noGrp="1"/>
          </p:cNvSpPr>
          <p:nvPr>
            <p:ph type="body" idx="1"/>
          </p:nvPr>
        </p:nvSpPr>
        <p:spPr/>
        <p:txBody>
          <a:bodyPr/>
          <a:lstStyle/>
          <a:p>
            <a:r>
              <a:rPr lang="en-GB" dirty="0"/>
              <a:t>If not use: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i="1" dirty="0">
                <a:solidFill>
                  <a:srgbClr val="8C8C8C"/>
                </a:solidFill>
                <a:effectLst/>
              </a:rPr>
              <a:t># </a:t>
            </a:r>
            <a:r>
              <a:rPr lang="fr-FR" sz="1200" i="1" dirty="0" err="1">
                <a:solidFill>
                  <a:srgbClr val="8C8C8C"/>
                </a:solidFill>
                <a:effectLst/>
              </a:rPr>
              <a:t>tensor</a:t>
            </a:r>
            <a:r>
              <a:rPr lang="fr-FR" sz="1200" i="1" dirty="0">
                <a:solidFill>
                  <a:srgbClr val="8C8C8C"/>
                </a:solidFill>
                <a:effectLst/>
              </a:rPr>
              <a:t>([3., 3., 3., 3.])</a:t>
            </a:r>
            <a:br>
              <a:rPr lang="fr-FR" sz="1200" i="1" dirty="0">
                <a:solidFill>
                  <a:srgbClr val="8C8C8C"/>
                </a:solidFill>
                <a:effectLst/>
              </a:rPr>
            </a:br>
            <a:r>
              <a:rPr lang="fr-FR" sz="1200" i="1" dirty="0">
                <a:solidFill>
                  <a:srgbClr val="8C8C8C"/>
                </a:solidFill>
                <a:effectLst/>
              </a:rPr>
              <a:t># </a:t>
            </a:r>
            <a:r>
              <a:rPr lang="fr-FR" sz="1200" i="1" dirty="0" err="1">
                <a:solidFill>
                  <a:srgbClr val="8C8C8C"/>
                </a:solidFill>
                <a:effectLst/>
              </a:rPr>
              <a:t>tensor</a:t>
            </a:r>
            <a:r>
              <a:rPr lang="fr-FR" sz="1200" i="1" dirty="0">
                <a:solidFill>
                  <a:srgbClr val="8C8C8C"/>
                </a:solidFill>
                <a:effectLst/>
              </a:rPr>
              <a:t>([6., 6., 6., 6.])</a:t>
            </a:r>
            <a:br>
              <a:rPr lang="fr-FR" sz="1200" i="1" dirty="0">
                <a:solidFill>
                  <a:srgbClr val="8C8C8C"/>
                </a:solidFill>
                <a:effectLst/>
              </a:rPr>
            </a:br>
            <a:r>
              <a:rPr lang="fr-FR" sz="1200" i="1" dirty="0">
                <a:solidFill>
                  <a:srgbClr val="8C8C8C"/>
                </a:solidFill>
                <a:effectLst/>
              </a:rPr>
              <a:t># </a:t>
            </a:r>
            <a:r>
              <a:rPr lang="fr-FR" sz="1200" i="1" dirty="0" err="1">
                <a:solidFill>
                  <a:srgbClr val="8C8C8C"/>
                </a:solidFill>
                <a:effectLst/>
              </a:rPr>
              <a:t>tensor</a:t>
            </a:r>
            <a:r>
              <a:rPr lang="fr-FR" sz="1200" i="1" dirty="0">
                <a:solidFill>
                  <a:srgbClr val="8C8C8C"/>
                </a:solidFill>
                <a:effectLst/>
              </a:rPr>
              <a:t>([9., 9., 9., 9.])</a:t>
            </a:r>
            <a:endParaRPr lang="fr-FR" sz="1200" dirty="0">
              <a:solidFill>
                <a:srgbClr val="080808"/>
              </a:solidFill>
              <a:effectLst/>
            </a:endParaRPr>
          </a:p>
          <a:p>
            <a:endParaRPr lang="en-GB" dirty="0"/>
          </a:p>
        </p:txBody>
      </p:sp>
      <p:sp>
        <p:nvSpPr>
          <p:cNvPr id="4" name="Espace réservé du numéro de diapositive 3">
            <a:extLst>
              <a:ext uri="{FF2B5EF4-FFF2-40B4-BE49-F238E27FC236}">
                <a16:creationId xmlns:a16="http://schemas.microsoft.com/office/drawing/2014/main" id="{B25BBD0E-3997-4B03-D26D-FC56462954E4}"/>
              </a:ext>
            </a:extLst>
          </p:cNvPr>
          <p:cNvSpPr>
            <a:spLocks noGrp="1"/>
          </p:cNvSpPr>
          <p:nvPr>
            <p:ph type="sldNum" sz="quarter" idx="5"/>
          </p:nvPr>
        </p:nvSpPr>
        <p:spPr/>
        <p:txBody>
          <a:bodyPr/>
          <a:lstStyle/>
          <a:p>
            <a:fld id="{BFE20620-1C2C-7043-8B38-691BB5666C4A}" type="slidenum">
              <a:rPr lang="fr-FR" smtClean="0"/>
              <a:t>61</a:t>
            </a:fld>
            <a:endParaRPr lang="fr-FR"/>
          </a:p>
        </p:txBody>
      </p:sp>
    </p:spTree>
    <p:extLst>
      <p:ext uri="{BB962C8B-B14F-4D97-AF65-F5344CB8AC3E}">
        <p14:creationId xmlns:p14="http://schemas.microsoft.com/office/powerpoint/2010/main" val="25674349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A77BF-3514-444C-C6CE-8109B4553FB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9E7CBD3-43E3-1421-5FA2-5383C0F02BB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802B97D-13AA-4733-E619-CBC8CD7D0B02}"/>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460B595A-0063-34C0-4649-1823D62EB79B}"/>
              </a:ext>
            </a:extLst>
          </p:cNvPr>
          <p:cNvSpPr>
            <a:spLocks noGrp="1"/>
          </p:cNvSpPr>
          <p:nvPr>
            <p:ph type="sldNum" sz="quarter" idx="5"/>
          </p:nvPr>
        </p:nvSpPr>
        <p:spPr/>
        <p:txBody>
          <a:bodyPr/>
          <a:lstStyle/>
          <a:p>
            <a:fld id="{BFE20620-1C2C-7043-8B38-691BB5666C4A}" type="slidenum">
              <a:rPr lang="fr-FR" smtClean="0"/>
              <a:t>62</a:t>
            </a:fld>
            <a:endParaRPr lang="fr-FR"/>
          </a:p>
        </p:txBody>
      </p:sp>
    </p:spTree>
    <p:extLst>
      <p:ext uri="{BB962C8B-B14F-4D97-AF65-F5344CB8AC3E}">
        <p14:creationId xmlns:p14="http://schemas.microsoft.com/office/powerpoint/2010/main" val="24444673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DD944E-353A-0969-8365-64AFFDD97684}"/>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9E19466A-6247-FECF-30AA-500646B639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F98E1E11-47E1-4869-4830-5DB7EF20BC43}"/>
              </a:ext>
            </a:extLst>
          </p:cNvPr>
          <p:cNvSpPr>
            <a:spLocks noGrp="1"/>
          </p:cNvSpPr>
          <p:nvPr>
            <p:ph type="dt" sz="half" idx="10"/>
          </p:nvPr>
        </p:nvSpPr>
        <p:spPr/>
        <p:txBody>
          <a:bodyPr/>
          <a:lstStyle/>
          <a:p>
            <a:fld id="{0E7A9A57-8E37-F14B-9391-4F149BA7D9BA}" type="datetime1">
              <a:rPr lang="fr-FR" smtClean="0"/>
              <a:t>08/03/2025</a:t>
            </a:fld>
            <a:endParaRPr lang="fr-FR"/>
          </a:p>
        </p:txBody>
      </p:sp>
      <p:sp>
        <p:nvSpPr>
          <p:cNvPr id="5" name="Espace réservé du pied de page 4">
            <a:extLst>
              <a:ext uri="{FF2B5EF4-FFF2-40B4-BE49-F238E27FC236}">
                <a16:creationId xmlns:a16="http://schemas.microsoft.com/office/drawing/2014/main" id="{AF8785D3-A4ED-3A61-06C0-C72D3FA1F5E1}"/>
              </a:ext>
            </a:extLst>
          </p:cNvPr>
          <p:cNvSpPr>
            <a:spLocks noGrp="1"/>
          </p:cNvSpPr>
          <p:nvPr>
            <p:ph type="ftr" sz="quarter" idx="11"/>
          </p:nvPr>
        </p:nvSpPr>
        <p:spPr/>
        <p:txBody>
          <a:bodyPr/>
          <a:lstStyle/>
          <a:p>
            <a:r>
              <a:rPr lang="fr-FR"/>
              <a:t>Introduction to Neural Networks. Author: David Thébault</a:t>
            </a:r>
          </a:p>
        </p:txBody>
      </p:sp>
      <p:sp>
        <p:nvSpPr>
          <p:cNvPr id="6" name="Espace réservé du numéro de diapositive 5">
            <a:extLst>
              <a:ext uri="{FF2B5EF4-FFF2-40B4-BE49-F238E27FC236}">
                <a16:creationId xmlns:a16="http://schemas.microsoft.com/office/drawing/2014/main" id="{664B34F1-153B-B297-754F-5278D77EDF4D}"/>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2002361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8CCF12-4A30-A572-A485-1341AFE1D08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ABB8CBBF-34B6-60C7-3F26-5CB8E4E6E795}"/>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6BB483D-5FDF-50CD-3EAE-DE68E0C30654}"/>
              </a:ext>
            </a:extLst>
          </p:cNvPr>
          <p:cNvSpPr>
            <a:spLocks noGrp="1"/>
          </p:cNvSpPr>
          <p:nvPr>
            <p:ph type="dt" sz="half" idx="10"/>
          </p:nvPr>
        </p:nvSpPr>
        <p:spPr/>
        <p:txBody>
          <a:bodyPr/>
          <a:lstStyle/>
          <a:p>
            <a:fld id="{A1EA49A2-9B73-244F-A354-A4440EC1356F}" type="datetime1">
              <a:rPr lang="fr-FR" smtClean="0"/>
              <a:t>08/03/2025</a:t>
            </a:fld>
            <a:endParaRPr lang="fr-FR"/>
          </a:p>
        </p:txBody>
      </p:sp>
      <p:sp>
        <p:nvSpPr>
          <p:cNvPr id="5" name="Espace réservé du pied de page 4">
            <a:extLst>
              <a:ext uri="{FF2B5EF4-FFF2-40B4-BE49-F238E27FC236}">
                <a16:creationId xmlns:a16="http://schemas.microsoft.com/office/drawing/2014/main" id="{C69175BE-5B47-E567-BE2A-3FC3718D1D57}"/>
              </a:ext>
            </a:extLst>
          </p:cNvPr>
          <p:cNvSpPr>
            <a:spLocks noGrp="1"/>
          </p:cNvSpPr>
          <p:nvPr>
            <p:ph type="ftr" sz="quarter" idx="11"/>
          </p:nvPr>
        </p:nvSpPr>
        <p:spPr/>
        <p:txBody>
          <a:bodyPr/>
          <a:lstStyle/>
          <a:p>
            <a:r>
              <a:rPr lang="fr-FR"/>
              <a:t>Introduction to Neural Networks. Author: David Thébault</a:t>
            </a:r>
          </a:p>
        </p:txBody>
      </p:sp>
      <p:sp>
        <p:nvSpPr>
          <p:cNvPr id="6" name="Espace réservé du numéro de diapositive 5">
            <a:extLst>
              <a:ext uri="{FF2B5EF4-FFF2-40B4-BE49-F238E27FC236}">
                <a16:creationId xmlns:a16="http://schemas.microsoft.com/office/drawing/2014/main" id="{B3C81F8A-8DBB-3AD1-3D19-BF416D02D10B}"/>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3812815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14292C-AA07-015C-D693-769EEAC2ADDB}"/>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B7C12A38-25D8-13CE-5054-25679450297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A317F5D-D504-B018-7C17-8A703D27FBDB}"/>
              </a:ext>
            </a:extLst>
          </p:cNvPr>
          <p:cNvSpPr>
            <a:spLocks noGrp="1"/>
          </p:cNvSpPr>
          <p:nvPr>
            <p:ph type="dt" sz="half" idx="10"/>
          </p:nvPr>
        </p:nvSpPr>
        <p:spPr/>
        <p:txBody>
          <a:bodyPr/>
          <a:lstStyle/>
          <a:p>
            <a:fld id="{B3197FAC-E7CB-F24B-9DE6-CF97B36979AA}" type="datetime1">
              <a:rPr lang="fr-FR" smtClean="0"/>
              <a:t>08/03/2025</a:t>
            </a:fld>
            <a:endParaRPr lang="fr-FR"/>
          </a:p>
        </p:txBody>
      </p:sp>
      <p:sp>
        <p:nvSpPr>
          <p:cNvPr id="5" name="Espace réservé du pied de page 4">
            <a:extLst>
              <a:ext uri="{FF2B5EF4-FFF2-40B4-BE49-F238E27FC236}">
                <a16:creationId xmlns:a16="http://schemas.microsoft.com/office/drawing/2014/main" id="{16882E33-4418-D261-0385-D55E9B832F68}"/>
              </a:ext>
            </a:extLst>
          </p:cNvPr>
          <p:cNvSpPr>
            <a:spLocks noGrp="1"/>
          </p:cNvSpPr>
          <p:nvPr>
            <p:ph type="ftr" sz="quarter" idx="11"/>
          </p:nvPr>
        </p:nvSpPr>
        <p:spPr/>
        <p:txBody>
          <a:bodyPr/>
          <a:lstStyle/>
          <a:p>
            <a:r>
              <a:rPr lang="fr-FR"/>
              <a:t>Introduction to Neural Networks. Author: David Thébault</a:t>
            </a:r>
          </a:p>
        </p:txBody>
      </p:sp>
      <p:sp>
        <p:nvSpPr>
          <p:cNvPr id="6" name="Espace réservé du numéro de diapositive 5">
            <a:extLst>
              <a:ext uri="{FF2B5EF4-FFF2-40B4-BE49-F238E27FC236}">
                <a16:creationId xmlns:a16="http://schemas.microsoft.com/office/drawing/2014/main" id="{05AEA5D8-EB94-39C7-1B75-550784795274}"/>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4211196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2BADA7-B622-D365-B5E0-58D9757B706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3F8DA9B-F3E3-B556-0B3A-3D98E7200956}"/>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EB4C417A-5EFA-4591-5379-5451D0181D6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5394D19E-B1CA-6FFF-65EC-A53B5BF176BC}"/>
              </a:ext>
            </a:extLst>
          </p:cNvPr>
          <p:cNvSpPr>
            <a:spLocks noGrp="1"/>
          </p:cNvSpPr>
          <p:nvPr>
            <p:ph type="dt" sz="half" idx="10"/>
          </p:nvPr>
        </p:nvSpPr>
        <p:spPr/>
        <p:txBody>
          <a:bodyPr/>
          <a:lstStyle/>
          <a:p>
            <a:fld id="{4EF72703-6F55-B143-926D-33F29B68ED9D}" type="datetime1">
              <a:rPr lang="fr-FR" smtClean="0"/>
              <a:t>08/03/2025</a:t>
            </a:fld>
            <a:endParaRPr lang="fr-FR"/>
          </a:p>
        </p:txBody>
      </p:sp>
      <p:sp>
        <p:nvSpPr>
          <p:cNvPr id="6" name="Espace réservé du pied de page 5">
            <a:extLst>
              <a:ext uri="{FF2B5EF4-FFF2-40B4-BE49-F238E27FC236}">
                <a16:creationId xmlns:a16="http://schemas.microsoft.com/office/drawing/2014/main" id="{AC3F38DC-5472-A2CE-5659-212C5F89F4A2}"/>
              </a:ext>
            </a:extLst>
          </p:cNvPr>
          <p:cNvSpPr>
            <a:spLocks noGrp="1"/>
          </p:cNvSpPr>
          <p:nvPr>
            <p:ph type="ftr" sz="quarter" idx="11"/>
          </p:nvPr>
        </p:nvSpPr>
        <p:spPr/>
        <p:txBody>
          <a:bodyPr/>
          <a:lstStyle/>
          <a:p>
            <a:r>
              <a:rPr lang="fr-FR"/>
              <a:t>Introduction to Neural Networks. Author: David Thébault</a:t>
            </a:r>
          </a:p>
        </p:txBody>
      </p:sp>
      <p:sp>
        <p:nvSpPr>
          <p:cNvPr id="7" name="Espace réservé du numéro de diapositive 6">
            <a:extLst>
              <a:ext uri="{FF2B5EF4-FFF2-40B4-BE49-F238E27FC236}">
                <a16:creationId xmlns:a16="http://schemas.microsoft.com/office/drawing/2014/main" id="{31ED1353-EBAD-EF6D-897B-15787473150E}"/>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124082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32CFB2-4EDC-1B32-9474-59E92AFBD59D}"/>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830C631B-6547-2381-FAFC-18B43DB147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CA2BF280-771E-AB14-F18E-C8E55A4F7E86}"/>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2C950A4D-5A94-0D96-24F3-4534B88CC5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AEC53D22-06BF-4724-6B30-30C4F96FCED6}"/>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24AEA263-C714-3EBD-DBC4-FC3537444D9E}"/>
              </a:ext>
            </a:extLst>
          </p:cNvPr>
          <p:cNvSpPr>
            <a:spLocks noGrp="1"/>
          </p:cNvSpPr>
          <p:nvPr>
            <p:ph type="dt" sz="half" idx="10"/>
          </p:nvPr>
        </p:nvSpPr>
        <p:spPr/>
        <p:txBody>
          <a:bodyPr/>
          <a:lstStyle/>
          <a:p>
            <a:fld id="{4F108BCD-D917-1C43-94A2-2AEB6486CFBD}" type="datetime1">
              <a:rPr lang="fr-FR" smtClean="0"/>
              <a:t>08/03/2025</a:t>
            </a:fld>
            <a:endParaRPr lang="fr-FR"/>
          </a:p>
        </p:txBody>
      </p:sp>
      <p:sp>
        <p:nvSpPr>
          <p:cNvPr id="8" name="Espace réservé du pied de page 7">
            <a:extLst>
              <a:ext uri="{FF2B5EF4-FFF2-40B4-BE49-F238E27FC236}">
                <a16:creationId xmlns:a16="http://schemas.microsoft.com/office/drawing/2014/main" id="{F78E8A6D-6498-7537-6C16-3284273714DE}"/>
              </a:ext>
            </a:extLst>
          </p:cNvPr>
          <p:cNvSpPr>
            <a:spLocks noGrp="1"/>
          </p:cNvSpPr>
          <p:nvPr>
            <p:ph type="ftr" sz="quarter" idx="11"/>
          </p:nvPr>
        </p:nvSpPr>
        <p:spPr/>
        <p:txBody>
          <a:bodyPr/>
          <a:lstStyle/>
          <a:p>
            <a:r>
              <a:rPr lang="fr-FR"/>
              <a:t>Introduction to Neural Networks. Author: David Thébault</a:t>
            </a:r>
          </a:p>
        </p:txBody>
      </p:sp>
      <p:sp>
        <p:nvSpPr>
          <p:cNvPr id="9" name="Espace réservé du numéro de diapositive 8">
            <a:extLst>
              <a:ext uri="{FF2B5EF4-FFF2-40B4-BE49-F238E27FC236}">
                <a16:creationId xmlns:a16="http://schemas.microsoft.com/office/drawing/2014/main" id="{1E993A8B-BC15-2168-EDCC-F5BAC4482F69}"/>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29559978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CF2EC3-0FF3-DBDD-4A7D-C7802C69BF3A}"/>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214410A0-E148-1688-7CC4-8240F8E8120F}"/>
              </a:ext>
            </a:extLst>
          </p:cNvPr>
          <p:cNvSpPr>
            <a:spLocks noGrp="1"/>
          </p:cNvSpPr>
          <p:nvPr>
            <p:ph type="dt" sz="half" idx="10"/>
          </p:nvPr>
        </p:nvSpPr>
        <p:spPr/>
        <p:txBody>
          <a:bodyPr/>
          <a:lstStyle/>
          <a:p>
            <a:fld id="{347E7109-0ECC-0349-BFDB-B5D769BB8687}" type="datetime1">
              <a:rPr lang="fr-FR" smtClean="0"/>
              <a:t>08/03/2025</a:t>
            </a:fld>
            <a:endParaRPr lang="fr-FR"/>
          </a:p>
        </p:txBody>
      </p:sp>
      <p:sp>
        <p:nvSpPr>
          <p:cNvPr id="4" name="Espace réservé du pied de page 3">
            <a:extLst>
              <a:ext uri="{FF2B5EF4-FFF2-40B4-BE49-F238E27FC236}">
                <a16:creationId xmlns:a16="http://schemas.microsoft.com/office/drawing/2014/main" id="{AC24F487-C1F8-D3BB-3FB1-755C6CE5B02E}"/>
              </a:ext>
            </a:extLst>
          </p:cNvPr>
          <p:cNvSpPr>
            <a:spLocks noGrp="1"/>
          </p:cNvSpPr>
          <p:nvPr>
            <p:ph type="ftr" sz="quarter" idx="11"/>
          </p:nvPr>
        </p:nvSpPr>
        <p:spPr/>
        <p:txBody>
          <a:bodyPr/>
          <a:lstStyle/>
          <a:p>
            <a:r>
              <a:rPr lang="fr-FR"/>
              <a:t>Introduction to Neural Networks. Author: David Thébault</a:t>
            </a:r>
          </a:p>
        </p:txBody>
      </p:sp>
      <p:sp>
        <p:nvSpPr>
          <p:cNvPr id="5" name="Espace réservé du numéro de diapositive 4">
            <a:extLst>
              <a:ext uri="{FF2B5EF4-FFF2-40B4-BE49-F238E27FC236}">
                <a16:creationId xmlns:a16="http://schemas.microsoft.com/office/drawing/2014/main" id="{381BBC3F-EF7F-9571-DA84-A577CDDD676C}"/>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3303938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FA94B32-7AD0-CDAF-5DAE-807FD7DE60EC}"/>
              </a:ext>
            </a:extLst>
          </p:cNvPr>
          <p:cNvSpPr>
            <a:spLocks noGrp="1"/>
          </p:cNvSpPr>
          <p:nvPr>
            <p:ph type="dt" sz="half" idx="10"/>
          </p:nvPr>
        </p:nvSpPr>
        <p:spPr/>
        <p:txBody>
          <a:bodyPr/>
          <a:lstStyle/>
          <a:p>
            <a:fld id="{C673679C-73FC-0C42-84CC-C9257621E710}" type="datetime1">
              <a:rPr lang="fr-FR" smtClean="0"/>
              <a:t>08/03/2025</a:t>
            </a:fld>
            <a:endParaRPr lang="fr-FR"/>
          </a:p>
        </p:txBody>
      </p:sp>
      <p:sp>
        <p:nvSpPr>
          <p:cNvPr id="3" name="Espace réservé du pied de page 2">
            <a:extLst>
              <a:ext uri="{FF2B5EF4-FFF2-40B4-BE49-F238E27FC236}">
                <a16:creationId xmlns:a16="http://schemas.microsoft.com/office/drawing/2014/main" id="{AD46D768-ABDD-B7F7-6060-5838229326ED}"/>
              </a:ext>
            </a:extLst>
          </p:cNvPr>
          <p:cNvSpPr>
            <a:spLocks noGrp="1"/>
          </p:cNvSpPr>
          <p:nvPr>
            <p:ph type="ftr" sz="quarter" idx="11"/>
          </p:nvPr>
        </p:nvSpPr>
        <p:spPr/>
        <p:txBody>
          <a:bodyPr/>
          <a:lstStyle/>
          <a:p>
            <a:r>
              <a:rPr lang="fr-FR"/>
              <a:t>Introduction to Neural Networks. Author: David Thébault</a:t>
            </a:r>
          </a:p>
        </p:txBody>
      </p:sp>
      <p:sp>
        <p:nvSpPr>
          <p:cNvPr id="4" name="Espace réservé du numéro de diapositive 3">
            <a:extLst>
              <a:ext uri="{FF2B5EF4-FFF2-40B4-BE49-F238E27FC236}">
                <a16:creationId xmlns:a16="http://schemas.microsoft.com/office/drawing/2014/main" id="{967483F6-D0AF-3FD6-A494-D8A94310469A}"/>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2448642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C55374-170B-730A-834D-823B49900BB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9F4853C2-D86B-D6B2-8354-4795235FD1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003D0BE-A7B9-5C35-5D2F-B6120D683E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D7B273F-590C-812F-47EF-C01EC4BE5CBE}"/>
              </a:ext>
            </a:extLst>
          </p:cNvPr>
          <p:cNvSpPr>
            <a:spLocks noGrp="1"/>
          </p:cNvSpPr>
          <p:nvPr>
            <p:ph type="dt" sz="half" idx="10"/>
          </p:nvPr>
        </p:nvSpPr>
        <p:spPr/>
        <p:txBody>
          <a:bodyPr/>
          <a:lstStyle/>
          <a:p>
            <a:fld id="{CAA9CEEB-4EEE-3C40-B63B-27CAF1F2B31E}" type="datetime1">
              <a:rPr lang="fr-FR" smtClean="0"/>
              <a:t>08/03/2025</a:t>
            </a:fld>
            <a:endParaRPr lang="fr-FR"/>
          </a:p>
        </p:txBody>
      </p:sp>
      <p:sp>
        <p:nvSpPr>
          <p:cNvPr id="6" name="Espace réservé du pied de page 5">
            <a:extLst>
              <a:ext uri="{FF2B5EF4-FFF2-40B4-BE49-F238E27FC236}">
                <a16:creationId xmlns:a16="http://schemas.microsoft.com/office/drawing/2014/main" id="{FEBF2D89-354A-7EAE-4CA4-B4AA36E91C27}"/>
              </a:ext>
            </a:extLst>
          </p:cNvPr>
          <p:cNvSpPr>
            <a:spLocks noGrp="1"/>
          </p:cNvSpPr>
          <p:nvPr>
            <p:ph type="ftr" sz="quarter" idx="11"/>
          </p:nvPr>
        </p:nvSpPr>
        <p:spPr/>
        <p:txBody>
          <a:bodyPr/>
          <a:lstStyle/>
          <a:p>
            <a:r>
              <a:rPr lang="fr-FR"/>
              <a:t>Introduction to Neural Networks. Author: David Thébault</a:t>
            </a:r>
          </a:p>
        </p:txBody>
      </p:sp>
      <p:sp>
        <p:nvSpPr>
          <p:cNvPr id="7" name="Espace réservé du numéro de diapositive 6">
            <a:extLst>
              <a:ext uri="{FF2B5EF4-FFF2-40B4-BE49-F238E27FC236}">
                <a16:creationId xmlns:a16="http://schemas.microsoft.com/office/drawing/2014/main" id="{E95C16D4-AD7E-C52F-08C7-3F99D8082E85}"/>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1275906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738FC8E-5CEA-E473-2D0D-069C473B0BF0}"/>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6750C783-FA78-7CF7-99FB-A5C540D587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4C5F634A-AAC7-3F15-CEAF-8ED06DD372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D670B7F-B72B-47AF-C46A-03F198EAE837}"/>
              </a:ext>
            </a:extLst>
          </p:cNvPr>
          <p:cNvSpPr>
            <a:spLocks noGrp="1"/>
          </p:cNvSpPr>
          <p:nvPr>
            <p:ph type="dt" sz="half" idx="10"/>
          </p:nvPr>
        </p:nvSpPr>
        <p:spPr/>
        <p:txBody>
          <a:bodyPr/>
          <a:lstStyle/>
          <a:p>
            <a:fld id="{6ADE32E7-F72F-5E4B-AFB6-6DCFEF0E5A5C}" type="datetime1">
              <a:rPr lang="fr-FR" smtClean="0"/>
              <a:t>08/03/2025</a:t>
            </a:fld>
            <a:endParaRPr lang="fr-FR"/>
          </a:p>
        </p:txBody>
      </p:sp>
      <p:sp>
        <p:nvSpPr>
          <p:cNvPr id="6" name="Espace réservé du pied de page 5">
            <a:extLst>
              <a:ext uri="{FF2B5EF4-FFF2-40B4-BE49-F238E27FC236}">
                <a16:creationId xmlns:a16="http://schemas.microsoft.com/office/drawing/2014/main" id="{11F21E70-9264-D182-C0B8-0803C6D03AAF}"/>
              </a:ext>
            </a:extLst>
          </p:cNvPr>
          <p:cNvSpPr>
            <a:spLocks noGrp="1"/>
          </p:cNvSpPr>
          <p:nvPr>
            <p:ph type="ftr" sz="quarter" idx="11"/>
          </p:nvPr>
        </p:nvSpPr>
        <p:spPr/>
        <p:txBody>
          <a:bodyPr/>
          <a:lstStyle/>
          <a:p>
            <a:r>
              <a:rPr lang="fr-FR"/>
              <a:t>Introduction to Neural Networks. Author: David Thébault</a:t>
            </a:r>
          </a:p>
        </p:txBody>
      </p:sp>
      <p:sp>
        <p:nvSpPr>
          <p:cNvPr id="7" name="Espace réservé du numéro de diapositive 6">
            <a:extLst>
              <a:ext uri="{FF2B5EF4-FFF2-40B4-BE49-F238E27FC236}">
                <a16:creationId xmlns:a16="http://schemas.microsoft.com/office/drawing/2014/main" id="{D2EB2BC4-64B8-9844-52CE-A4C1888C6608}"/>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1050572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B3F7FA-9E3E-7353-A17B-5238435BD6C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451CD9A4-21FF-E3DE-190C-DDB4FBC517D5}"/>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F4DC3D2-7217-81EA-D510-9956C788B51A}"/>
              </a:ext>
            </a:extLst>
          </p:cNvPr>
          <p:cNvSpPr>
            <a:spLocks noGrp="1"/>
          </p:cNvSpPr>
          <p:nvPr>
            <p:ph type="dt" sz="half" idx="10"/>
          </p:nvPr>
        </p:nvSpPr>
        <p:spPr/>
        <p:txBody>
          <a:bodyPr/>
          <a:lstStyle/>
          <a:p>
            <a:fld id="{23E4CF20-4019-B646-9CAE-26A8D5289551}" type="datetime1">
              <a:rPr lang="fr-FR" smtClean="0"/>
              <a:t>08/03/2025</a:t>
            </a:fld>
            <a:endParaRPr lang="fr-FR"/>
          </a:p>
        </p:txBody>
      </p:sp>
      <p:sp>
        <p:nvSpPr>
          <p:cNvPr id="5" name="Espace réservé du pied de page 4">
            <a:extLst>
              <a:ext uri="{FF2B5EF4-FFF2-40B4-BE49-F238E27FC236}">
                <a16:creationId xmlns:a16="http://schemas.microsoft.com/office/drawing/2014/main" id="{B28DFD9A-8C57-8D49-02B5-3D3A54ABEA43}"/>
              </a:ext>
            </a:extLst>
          </p:cNvPr>
          <p:cNvSpPr>
            <a:spLocks noGrp="1"/>
          </p:cNvSpPr>
          <p:nvPr>
            <p:ph type="ftr" sz="quarter" idx="11"/>
          </p:nvPr>
        </p:nvSpPr>
        <p:spPr/>
        <p:txBody>
          <a:bodyPr/>
          <a:lstStyle/>
          <a:p>
            <a:r>
              <a:rPr lang="fr-FR"/>
              <a:t>Introduction to Neural Networks. Author: David Thébault</a:t>
            </a:r>
          </a:p>
        </p:txBody>
      </p:sp>
      <p:sp>
        <p:nvSpPr>
          <p:cNvPr id="6" name="Espace réservé du numéro de diapositive 5">
            <a:extLst>
              <a:ext uri="{FF2B5EF4-FFF2-40B4-BE49-F238E27FC236}">
                <a16:creationId xmlns:a16="http://schemas.microsoft.com/office/drawing/2014/main" id="{F1662E7C-1983-97FD-50BA-E81CD54AEFB0}"/>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16637910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AF09321-1FF5-7B5A-4E46-9C7F94548E29}"/>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7065DEB8-36CA-28AE-E38F-C79C2753FEB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D7DD4A3-B9C8-9602-53C1-6A8A3671D67F}"/>
              </a:ext>
            </a:extLst>
          </p:cNvPr>
          <p:cNvSpPr>
            <a:spLocks noGrp="1"/>
          </p:cNvSpPr>
          <p:nvPr>
            <p:ph type="dt" sz="half" idx="10"/>
          </p:nvPr>
        </p:nvSpPr>
        <p:spPr/>
        <p:txBody>
          <a:bodyPr/>
          <a:lstStyle/>
          <a:p>
            <a:fld id="{2945B831-3BBF-0A4D-85D6-BE253C348633}" type="datetime1">
              <a:rPr lang="fr-FR" smtClean="0"/>
              <a:t>08/03/2025</a:t>
            </a:fld>
            <a:endParaRPr lang="fr-FR"/>
          </a:p>
        </p:txBody>
      </p:sp>
      <p:sp>
        <p:nvSpPr>
          <p:cNvPr id="5" name="Espace réservé du pied de page 4">
            <a:extLst>
              <a:ext uri="{FF2B5EF4-FFF2-40B4-BE49-F238E27FC236}">
                <a16:creationId xmlns:a16="http://schemas.microsoft.com/office/drawing/2014/main" id="{33D9502E-93B7-D647-56D4-AFBEA9BABB15}"/>
              </a:ext>
            </a:extLst>
          </p:cNvPr>
          <p:cNvSpPr>
            <a:spLocks noGrp="1"/>
          </p:cNvSpPr>
          <p:nvPr>
            <p:ph type="ftr" sz="quarter" idx="11"/>
          </p:nvPr>
        </p:nvSpPr>
        <p:spPr/>
        <p:txBody>
          <a:bodyPr/>
          <a:lstStyle/>
          <a:p>
            <a:r>
              <a:rPr lang="fr-FR"/>
              <a:t>Introduction to Neural Networks. Author: David Thébault</a:t>
            </a:r>
          </a:p>
        </p:txBody>
      </p:sp>
      <p:sp>
        <p:nvSpPr>
          <p:cNvPr id="6" name="Espace réservé du numéro de diapositive 5">
            <a:extLst>
              <a:ext uri="{FF2B5EF4-FFF2-40B4-BE49-F238E27FC236}">
                <a16:creationId xmlns:a16="http://schemas.microsoft.com/office/drawing/2014/main" id="{5069E17C-7EAD-F07C-5110-1E5BBB523DDF}"/>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31214237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AADA400-D07F-8E6D-1537-426B596CD4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91F83CB2-4046-4F54-03D3-E1B8143879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4B55753-5C35-3CC7-D7B2-FBEB2079A2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C77408-4A21-EE43-9C54-31672AA4B1A1}" type="datetime1">
              <a:rPr lang="fr-FR" smtClean="0"/>
              <a:t>08/03/2025</a:t>
            </a:fld>
            <a:endParaRPr lang="fr-FR"/>
          </a:p>
        </p:txBody>
      </p:sp>
      <p:sp>
        <p:nvSpPr>
          <p:cNvPr id="5" name="Espace réservé du pied de page 4">
            <a:extLst>
              <a:ext uri="{FF2B5EF4-FFF2-40B4-BE49-F238E27FC236}">
                <a16:creationId xmlns:a16="http://schemas.microsoft.com/office/drawing/2014/main" id="{EEF585E5-CA03-DD40-2278-8F72FC30D3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fr-FR"/>
              <a:t>Introduction to Neural Networks. Author: David Thébault</a:t>
            </a:r>
          </a:p>
        </p:txBody>
      </p:sp>
      <p:sp>
        <p:nvSpPr>
          <p:cNvPr id="6" name="Espace réservé du numéro de diapositive 5">
            <a:extLst>
              <a:ext uri="{FF2B5EF4-FFF2-40B4-BE49-F238E27FC236}">
                <a16:creationId xmlns:a16="http://schemas.microsoft.com/office/drawing/2014/main" id="{E36FED89-57B1-F816-7CCC-8334F59D10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CB432F1-B5B9-3C47-A455-7BB5A781DE30}" type="slidenum">
              <a:rPr lang="fr-FR" smtClean="0"/>
              <a:t>‹N°›</a:t>
            </a:fld>
            <a:endParaRPr lang="fr-FR"/>
          </a:p>
        </p:txBody>
      </p:sp>
    </p:spTree>
    <p:extLst>
      <p:ext uri="{BB962C8B-B14F-4D97-AF65-F5344CB8AC3E}">
        <p14:creationId xmlns:p14="http://schemas.microsoft.com/office/powerpoint/2010/main" val="23659531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3" Type="http://schemas.openxmlformats.org/officeDocument/2006/relationships/image" Target="../media/image10.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3.png"/><Relationship Id="rId5" Type="http://schemas.openxmlformats.org/officeDocument/2006/relationships/image" Target="../media/image18.png"/><Relationship Id="rId15" Type="http://schemas.openxmlformats.org/officeDocument/2006/relationships/image" Target="../media/image27.png"/><Relationship Id="rId10" Type="http://schemas.openxmlformats.org/officeDocument/2006/relationships/image" Target="../media/image11.png"/><Relationship Id="rId4" Type="http://schemas.openxmlformats.org/officeDocument/2006/relationships/image" Target="../media/image17.png"/><Relationship Id="rId9" Type="http://schemas.openxmlformats.org/officeDocument/2006/relationships/image" Target="../media/image21.png"/><Relationship Id="rId14" Type="http://schemas.openxmlformats.org/officeDocument/2006/relationships/image" Target="../media/image26.png"/></Relationships>
</file>

<file path=ppt/slides/_rels/slide11.xml.rels><?xml version="1.0" encoding="UTF-8" standalone="yes"?>
<Relationships xmlns="http://schemas.openxmlformats.org/package/2006/relationships"><Relationship Id="rId8" Type="http://schemas.openxmlformats.org/officeDocument/2006/relationships/image" Target="../media/image22.png"/><Relationship Id="rId7" Type="http://schemas.openxmlformats.org/officeDocument/2006/relationships/image" Target="../media/image16.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28.png"/></Relationships>
</file>

<file path=ppt/slides/_rels/slide1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package" Target="../embeddings/Feuille_de_calcul_Microsoft_Excel.xlsx"/><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3.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5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94.png"/><Relationship Id="rId4" Type="http://schemas.openxmlformats.org/officeDocument/2006/relationships/image" Target="../media/image810.png"/></Relationships>
</file>

<file path=ppt/slides/_rels/slide19.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94.png"/><Relationship Id="rId4" Type="http://schemas.openxmlformats.org/officeDocument/2006/relationships/image" Target="../media/image810.png"/></Relationships>
</file>

<file path=ppt/slides/_rels/slide20.xml.rels><?xml version="1.0" encoding="UTF-8" standalone="yes"?>
<Relationships xmlns="http://schemas.openxmlformats.org/package/2006/relationships"><Relationship Id="rId8" Type="http://schemas.openxmlformats.org/officeDocument/2006/relationships/image" Target="../media/image340.png"/><Relationship Id="rId3" Type="http://schemas.openxmlformats.org/officeDocument/2006/relationships/image" Target="../media/image710.png"/><Relationship Id="rId7" Type="http://schemas.openxmlformats.org/officeDocument/2006/relationships/image" Target="../media/image33.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320.png"/><Relationship Id="rId11" Type="http://schemas.openxmlformats.org/officeDocument/2006/relationships/image" Target="../media/image370.png"/><Relationship Id="rId5" Type="http://schemas.openxmlformats.org/officeDocument/2006/relationships/image" Target="../media/image94.png"/><Relationship Id="rId10" Type="http://schemas.openxmlformats.org/officeDocument/2006/relationships/image" Target="../media/image360.png"/><Relationship Id="rId4" Type="http://schemas.openxmlformats.org/officeDocument/2006/relationships/image" Target="../media/image810.png"/><Relationship Id="rId9" Type="http://schemas.openxmlformats.org/officeDocument/2006/relationships/image" Target="../media/image38.png"/></Relationships>
</file>

<file path=ppt/slides/_rels/slide2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0.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6.png"/><Relationship Id="rId7" Type="http://schemas.openxmlformats.org/officeDocument/2006/relationships/image" Target="../media/image4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10.png"/><Relationship Id="rId5" Type="http://schemas.openxmlformats.org/officeDocument/2006/relationships/image" Target="../media/image200.png"/><Relationship Id="rId4" Type="http://schemas.openxmlformats.org/officeDocument/2006/relationships/image" Target="../media/image4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240.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260.png"/></Relationships>
</file>

<file path=ppt/slides/_rels/slide2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4.png"/><Relationship Id="rId7" Type="http://schemas.openxmlformats.org/officeDocument/2006/relationships/image" Target="../media/image57.png"/><Relationship Id="rId12" Type="http://schemas.openxmlformats.org/officeDocument/2006/relationships/image" Target="../media/image62.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6.png"/><Relationship Id="rId11" Type="http://schemas.openxmlformats.org/officeDocument/2006/relationships/image" Target="../media/image61.png"/><Relationship Id="rId5" Type="http://schemas.openxmlformats.org/officeDocument/2006/relationships/image" Target="../media/image55.png"/><Relationship Id="rId10" Type="http://schemas.openxmlformats.org/officeDocument/2006/relationships/image" Target="../media/image60.png"/><Relationship Id="rId4" Type="http://schemas.openxmlformats.org/officeDocument/2006/relationships/image" Target="../media/image310.png"/><Relationship Id="rId9" Type="http://schemas.openxmlformats.org/officeDocument/2006/relationships/image" Target="../media/image59.png"/></Relationships>
</file>

<file path=ppt/slides/_rels/slide30.xml.rels><?xml version="1.0" encoding="UTF-8" standalone="yes"?>
<Relationships xmlns="http://schemas.openxmlformats.org/package/2006/relationships"><Relationship Id="rId3" Type="http://schemas.openxmlformats.org/officeDocument/2006/relationships/image" Target="../media/image400.png"/><Relationship Id="rId7" Type="http://schemas.openxmlformats.org/officeDocument/2006/relationships/image" Target="../media/image65.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420.png"/><Relationship Id="rId4" Type="http://schemas.openxmlformats.org/officeDocument/2006/relationships/image" Target="../media/image63.png"/></Relationships>
</file>

<file path=ppt/slides/_rels/slide31.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450.png"/><Relationship Id="rId7" Type="http://schemas.openxmlformats.org/officeDocument/2006/relationships/image" Target="../media/image68.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460.png"/><Relationship Id="rId9" Type="http://schemas.openxmlformats.org/officeDocument/2006/relationships/image" Target="../media/image70.png"/></Relationships>
</file>

<file path=ppt/slides/_rels/slide32.xml.rels><?xml version="1.0" encoding="UTF-8" standalone="yes"?>
<Relationships xmlns="http://schemas.openxmlformats.org/package/2006/relationships"><Relationship Id="rId3" Type="http://schemas.openxmlformats.org/officeDocument/2006/relationships/image" Target="../media/image520.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540.png"/><Relationship Id="rId4" Type="http://schemas.openxmlformats.org/officeDocument/2006/relationships/image" Target="../media/image71.png"/></Relationships>
</file>

<file path=ppt/slides/_rels/slide33.xml.rels><?xml version="1.0" encoding="UTF-8" standalone="yes"?>
<Relationships xmlns="http://schemas.openxmlformats.org/package/2006/relationships"><Relationship Id="rId3" Type="http://schemas.openxmlformats.org/officeDocument/2006/relationships/image" Target="../media/image560.png"/><Relationship Id="rId7" Type="http://schemas.openxmlformats.org/officeDocument/2006/relationships/image" Target="../media/image75.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570.png"/></Relationships>
</file>

<file path=ppt/slides/_rels/slide34.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610.png"/><Relationship Id="rId7"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310.png"/></Relationships>
</file>

<file path=ppt/slides/_rels/slide35.xml.rels><?xml version="1.0" encoding="UTF-8" standalone="yes"?>
<Relationships xmlns="http://schemas.openxmlformats.org/package/2006/relationships"><Relationship Id="rId3" Type="http://schemas.openxmlformats.org/officeDocument/2006/relationships/image" Target="../media/image650.png"/><Relationship Id="rId7" Type="http://schemas.openxmlformats.org/officeDocument/2006/relationships/image" Target="../media/image81.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570.png"/></Relationships>
</file>

<file path=ppt/slides/_rels/slide36.xml.rels><?xml version="1.0" encoding="UTF-8" standalone="yes"?>
<Relationships xmlns="http://schemas.openxmlformats.org/package/2006/relationships"><Relationship Id="rId3" Type="http://schemas.openxmlformats.org/officeDocument/2006/relationships/image" Target="../media/image690.png"/><Relationship Id="rId7" Type="http://schemas.openxmlformats.org/officeDocument/2006/relationships/image" Target="../media/image83.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720.png"/><Relationship Id="rId5" Type="http://schemas.openxmlformats.org/officeDocument/2006/relationships/image" Target="../media/image82.png"/><Relationship Id="rId4" Type="http://schemas.openxmlformats.org/officeDocument/2006/relationships/image" Target="../media/image700.png"/></Relationships>
</file>

<file path=ppt/slides/_rels/slide37.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96.png"/><Relationship Id="rId3" Type="http://schemas.openxmlformats.org/officeDocument/2006/relationships/image" Target="../media/image85.png"/><Relationship Id="rId7" Type="http://schemas.openxmlformats.org/officeDocument/2006/relationships/image" Target="../media/image89.png"/><Relationship Id="rId12" Type="http://schemas.openxmlformats.org/officeDocument/2006/relationships/image" Target="../media/image95.png"/><Relationship Id="rId17" Type="http://schemas.openxmlformats.org/officeDocument/2006/relationships/image" Target="../media/image53.png"/><Relationship Id="rId2" Type="http://schemas.openxmlformats.org/officeDocument/2006/relationships/image" Target="../media/image84.png"/><Relationship Id="rId16" Type="http://schemas.openxmlformats.org/officeDocument/2006/relationships/image" Target="../media/image99.png"/><Relationship Id="rId1" Type="http://schemas.openxmlformats.org/officeDocument/2006/relationships/slideLayout" Target="../slideLayouts/slideLayout2.xml"/><Relationship Id="rId6" Type="http://schemas.openxmlformats.org/officeDocument/2006/relationships/image" Target="../media/image88.png"/><Relationship Id="rId11" Type="http://schemas.openxmlformats.org/officeDocument/2006/relationships/image" Target="../media/image93.png"/><Relationship Id="rId5" Type="http://schemas.openxmlformats.org/officeDocument/2006/relationships/image" Target="../media/image87.png"/><Relationship Id="rId15" Type="http://schemas.openxmlformats.org/officeDocument/2006/relationships/image" Target="../media/image98.png"/><Relationship Id="rId10" Type="http://schemas.openxmlformats.org/officeDocument/2006/relationships/image" Target="../media/image92.png"/><Relationship Id="rId4" Type="http://schemas.openxmlformats.org/officeDocument/2006/relationships/image" Target="../media/image86.png"/><Relationship Id="rId9" Type="http://schemas.openxmlformats.org/officeDocument/2006/relationships/image" Target="../media/image91.png"/><Relationship Id="rId14" Type="http://schemas.openxmlformats.org/officeDocument/2006/relationships/image" Target="../media/image97.png"/></Relationships>
</file>

<file path=ppt/slides/_rels/slide38.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53.png"/><Relationship Id="rId1" Type="http://schemas.openxmlformats.org/officeDocument/2006/relationships/slideLayout" Target="../slideLayouts/slideLayout2.xml"/><Relationship Id="rId5" Type="http://schemas.openxmlformats.org/officeDocument/2006/relationships/image" Target="../media/image104.png"/><Relationship Id="rId4" Type="http://schemas.openxmlformats.org/officeDocument/2006/relationships/image" Target="../media/image103.png"/></Relationships>
</file>

<file path=ppt/slides/_rels/slide4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53.png"/><Relationship Id="rId1" Type="http://schemas.openxmlformats.org/officeDocument/2006/relationships/slideLayout" Target="../slideLayouts/slideLayout2.xml"/><Relationship Id="rId5" Type="http://schemas.openxmlformats.org/officeDocument/2006/relationships/image" Target="../media/image107.png"/><Relationship Id="rId4" Type="http://schemas.openxmlformats.org/officeDocument/2006/relationships/image" Target="../media/image106.png"/></Relationships>
</file>

<file path=ppt/slides/_rels/slide41.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109.png"/><Relationship Id="rId5" Type="http://schemas.openxmlformats.org/officeDocument/2006/relationships/image" Target="../media/image107.png"/><Relationship Id="rId4" Type="http://schemas.openxmlformats.org/officeDocument/2006/relationships/image" Target="../media/image10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8" Type="http://schemas.openxmlformats.org/officeDocument/2006/relationships/image" Target="../media/image115.png"/><Relationship Id="rId13" Type="http://schemas.openxmlformats.org/officeDocument/2006/relationships/image" Target="../media/image120.png"/><Relationship Id="rId3" Type="http://schemas.openxmlformats.org/officeDocument/2006/relationships/image" Target="../media/image1090.png"/><Relationship Id="rId7" Type="http://schemas.openxmlformats.org/officeDocument/2006/relationships/image" Target="../media/image114.png"/><Relationship Id="rId12" Type="http://schemas.openxmlformats.org/officeDocument/2006/relationships/image" Target="../media/image119.png"/><Relationship Id="rId17" Type="http://schemas.openxmlformats.org/officeDocument/2006/relationships/image" Target="../media/image124.png"/><Relationship Id="rId2" Type="http://schemas.openxmlformats.org/officeDocument/2006/relationships/image" Target="../media/image1080.png"/><Relationship Id="rId16" Type="http://schemas.openxmlformats.org/officeDocument/2006/relationships/image" Target="../media/image123.png"/><Relationship Id="rId1" Type="http://schemas.openxmlformats.org/officeDocument/2006/relationships/slideLayout" Target="../slideLayouts/slideLayout2.xml"/><Relationship Id="rId6" Type="http://schemas.openxmlformats.org/officeDocument/2006/relationships/image" Target="../media/image113.png"/><Relationship Id="rId11" Type="http://schemas.openxmlformats.org/officeDocument/2006/relationships/image" Target="../media/image118.png"/><Relationship Id="rId5" Type="http://schemas.openxmlformats.org/officeDocument/2006/relationships/image" Target="../media/image112.png"/><Relationship Id="rId15" Type="http://schemas.openxmlformats.org/officeDocument/2006/relationships/image" Target="../media/image122.png"/><Relationship Id="rId10" Type="http://schemas.openxmlformats.org/officeDocument/2006/relationships/image" Target="../media/image117.png"/><Relationship Id="rId4" Type="http://schemas.openxmlformats.org/officeDocument/2006/relationships/image" Target="../media/image111.png"/><Relationship Id="rId9" Type="http://schemas.openxmlformats.org/officeDocument/2006/relationships/image" Target="../media/image116.png"/><Relationship Id="rId14" Type="http://schemas.openxmlformats.org/officeDocument/2006/relationships/image" Target="../media/image121.png"/></Relationships>
</file>

<file path=ppt/slides/_rels/slide44.xml.rels><?xml version="1.0" encoding="UTF-8" standalone="yes"?>
<Relationships xmlns="http://schemas.openxmlformats.org/package/2006/relationships"><Relationship Id="rId8" Type="http://schemas.openxmlformats.org/officeDocument/2006/relationships/image" Target="../media/image118.png"/><Relationship Id="rId13" Type="http://schemas.openxmlformats.org/officeDocument/2006/relationships/image" Target="../media/image126.png"/><Relationship Id="rId3" Type="http://schemas.openxmlformats.org/officeDocument/2006/relationships/image" Target="../media/image1090.png"/><Relationship Id="rId7" Type="http://schemas.openxmlformats.org/officeDocument/2006/relationships/image" Target="../media/image117.png"/><Relationship Id="rId12" Type="http://schemas.openxmlformats.org/officeDocument/2006/relationships/image" Target="../media/image122.png"/><Relationship Id="rId17" Type="http://schemas.openxmlformats.org/officeDocument/2006/relationships/image" Target="../media/image129.png"/><Relationship Id="rId2" Type="http://schemas.openxmlformats.org/officeDocument/2006/relationships/image" Target="../media/image1080.png"/><Relationship Id="rId16" Type="http://schemas.openxmlformats.org/officeDocument/2006/relationships/image" Target="../media/image111.png"/><Relationship Id="rId1" Type="http://schemas.openxmlformats.org/officeDocument/2006/relationships/slideLayout" Target="../slideLayouts/slideLayout2.xml"/><Relationship Id="rId6" Type="http://schemas.openxmlformats.org/officeDocument/2006/relationships/image" Target="../media/image116.png"/><Relationship Id="rId11" Type="http://schemas.openxmlformats.org/officeDocument/2006/relationships/image" Target="../media/image121.png"/><Relationship Id="rId5" Type="http://schemas.openxmlformats.org/officeDocument/2006/relationships/image" Target="../media/image115.png"/><Relationship Id="rId15" Type="http://schemas.openxmlformats.org/officeDocument/2006/relationships/image" Target="../media/image128.png"/><Relationship Id="rId10" Type="http://schemas.openxmlformats.org/officeDocument/2006/relationships/image" Target="../media/image120.png"/><Relationship Id="rId4" Type="http://schemas.openxmlformats.org/officeDocument/2006/relationships/image" Target="../media/image125.png"/><Relationship Id="rId9" Type="http://schemas.openxmlformats.org/officeDocument/2006/relationships/image" Target="../media/image119.png"/><Relationship Id="rId14" Type="http://schemas.openxmlformats.org/officeDocument/2006/relationships/image" Target="../media/image127.png"/></Relationships>
</file>

<file path=ppt/slides/_rels/slide45.xml.rels><?xml version="1.0" encoding="UTF-8" standalone="yes"?>
<Relationships xmlns="http://schemas.openxmlformats.org/package/2006/relationships"><Relationship Id="rId8" Type="http://schemas.openxmlformats.org/officeDocument/2006/relationships/image" Target="../media/image117.png"/><Relationship Id="rId13" Type="http://schemas.openxmlformats.org/officeDocument/2006/relationships/image" Target="../media/image122.png"/><Relationship Id="rId3" Type="http://schemas.openxmlformats.org/officeDocument/2006/relationships/image" Target="../media/image1090.png"/><Relationship Id="rId7" Type="http://schemas.openxmlformats.org/officeDocument/2006/relationships/image" Target="../media/image116.png"/><Relationship Id="rId12" Type="http://schemas.openxmlformats.org/officeDocument/2006/relationships/image" Target="../media/image121.png"/><Relationship Id="rId2" Type="http://schemas.openxmlformats.org/officeDocument/2006/relationships/image" Target="../media/image1080.png"/><Relationship Id="rId16" Type="http://schemas.openxmlformats.org/officeDocument/2006/relationships/image" Target="../media/image130.png"/><Relationship Id="rId1" Type="http://schemas.openxmlformats.org/officeDocument/2006/relationships/slideLayout" Target="../slideLayouts/slideLayout2.xml"/><Relationship Id="rId6" Type="http://schemas.openxmlformats.org/officeDocument/2006/relationships/image" Target="../media/image115.png"/><Relationship Id="rId11" Type="http://schemas.openxmlformats.org/officeDocument/2006/relationships/image" Target="../media/image120.png"/><Relationship Id="rId5" Type="http://schemas.openxmlformats.org/officeDocument/2006/relationships/image" Target="../media/image125.png"/><Relationship Id="rId15" Type="http://schemas.openxmlformats.org/officeDocument/2006/relationships/image" Target="../media/image1290.png"/><Relationship Id="rId10" Type="http://schemas.openxmlformats.org/officeDocument/2006/relationships/image" Target="../media/image119.png"/><Relationship Id="rId4" Type="http://schemas.openxmlformats.org/officeDocument/2006/relationships/image" Target="../media/image111.png"/><Relationship Id="rId9" Type="http://schemas.openxmlformats.org/officeDocument/2006/relationships/image" Target="../media/image118.png"/><Relationship Id="rId14" Type="http://schemas.openxmlformats.org/officeDocument/2006/relationships/image" Target="../media/image12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www.tensorflow.org/" TargetMode="External"/><Relationship Id="rId2" Type="http://schemas.openxmlformats.org/officeDocument/2006/relationships/hyperlink" Target="https://keras.io/" TargetMode="External"/><Relationship Id="rId1" Type="http://schemas.openxmlformats.org/officeDocument/2006/relationships/slideLayout" Target="../slideLayouts/slideLayout2.xml"/><Relationship Id="rId5" Type="http://schemas.openxmlformats.org/officeDocument/2006/relationships/hyperlink" Target="http://deeplearning.net/software/theano" TargetMode="External"/><Relationship Id="rId4" Type="http://schemas.openxmlformats.org/officeDocument/2006/relationships/hyperlink" Target="https://github.com/Microsoft/CNTK" TargetMode="Externa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F56B84-BFA1-BA9A-1552-59B724FBA9FC}"/>
              </a:ext>
            </a:extLst>
          </p:cNvPr>
          <p:cNvSpPr>
            <a:spLocks noGrp="1"/>
          </p:cNvSpPr>
          <p:nvPr>
            <p:ph type="ctrTitle"/>
          </p:nvPr>
        </p:nvSpPr>
        <p:spPr/>
        <p:txBody>
          <a:bodyPr/>
          <a:lstStyle/>
          <a:p>
            <a:r>
              <a:rPr lang="fr-FR" dirty="0"/>
              <a:t>Introduction to </a:t>
            </a:r>
            <a:br>
              <a:rPr lang="fr-FR" dirty="0"/>
            </a:br>
            <a:r>
              <a:rPr lang="en-GB" noProof="0" dirty="0"/>
              <a:t>Neural Network </a:t>
            </a:r>
            <a:endParaRPr lang="fr-FR" dirty="0"/>
          </a:p>
        </p:txBody>
      </p:sp>
      <p:sp>
        <p:nvSpPr>
          <p:cNvPr id="3" name="Espace réservé du pied de page 2">
            <a:extLst>
              <a:ext uri="{FF2B5EF4-FFF2-40B4-BE49-F238E27FC236}">
                <a16:creationId xmlns:a16="http://schemas.microsoft.com/office/drawing/2014/main" id="{70571C27-E009-ADD7-40B4-859AAF7C848C}"/>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12996678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alpha val="57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4A8439-9850-DBFA-890A-1A6B7ED1A314}"/>
              </a:ext>
            </a:extLst>
          </p:cNvPr>
          <p:cNvSpPr>
            <a:spLocks noGrp="1"/>
          </p:cNvSpPr>
          <p:nvPr>
            <p:ph type="title"/>
          </p:nvPr>
        </p:nvSpPr>
        <p:spPr/>
        <p:txBody>
          <a:bodyPr/>
          <a:lstStyle/>
          <a:p>
            <a:pPr algn="ctr"/>
            <a:r>
              <a:rPr lang="en-GB" noProof="0" dirty="0"/>
              <a:t>Neural Network as a function</a:t>
            </a:r>
          </a:p>
        </p:txBody>
      </p:sp>
      <p:sp>
        <p:nvSpPr>
          <p:cNvPr id="5" name="Ellipse 4">
            <a:extLst>
              <a:ext uri="{FF2B5EF4-FFF2-40B4-BE49-F238E27FC236}">
                <a16:creationId xmlns:a16="http://schemas.microsoft.com/office/drawing/2014/main" id="{D73E67B0-B123-4F11-5084-AFE16BA0D0BA}"/>
              </a:ext>
            </a:extLst>
          </p:cNvPr>
          <p:cNvSpPr/>
          <p:nvPr/>
        </p:nvSpPr>
        <p:spPr>
          <a:xfrm>
            <a:off x="1277655" y="3047558"/>
            <a:ext cx="1780231" cy="86743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tx1"/>
                </a:solidFill>
              </a:rPr>
              <a:t>Input</a:t>
            </a:r>
          </a:p>
        </p:txBody>
      </p:sp>
      <p:cxnSp>
        <p:nvCxnSpPr>
          <p:cNvPr id="17" name="Connecteur droit avec flèche 16">
            <a:extLst>
              <a:ext uri="{FF2B5EF4-FFF2-40B4-BE49-F238E27FC236}">
                <a16:creationId xmlns:a16="http://schemas.microsoft.com/office/drawing/2014/main" id="{11C69411-1119-7E57-C79E-4E41B757A43C}"/>
              </a:ext>
            </a:extLst>
          </p:cNvPr>
          <p:cNvCxnSpPr>
            <a:cxnSpLocks/>
          </p:cNvCxnSpPr>
          <p:nvPr/>
        </p:nvCxnSpPr>
        <p:spPr>
          <a:xfrm>
            <a:off x="7278129" y="3506118"/>
            <a:ext cx="122331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Connecteur droit avec flèche 24">
            <a:extLst>
              <a:ext uri="{FF2B5EF4-FFF2-40B4-BE49-F238E27FC236}">
                <a16:creationId xmlns:a16="http://schemas.microsoft.com/office/drawing/2014/main" id="{CDD247E2-CF73-FCBA-5998-0C1A01C9F7FA}"/>
              </a:ext>
            </a:extLst>
          </p:cNvPr>
          <p:cNvCxnSpPr>
            <a:cxnSpLocks/>
          </p:cNvCxnSpPr>
          <p:nvPr/>
        </p:nvCxnSpPr>
        <p:spPr>
          <a:xfrm>
            <a:off x="3155091" y="3506118"/>
            <a:ext cx="122331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35" name="Graphique 34" descr="Engrenage avec un remplissage uni">
            <a:extLst>
              <a:ext uri="{FF2B5EF4-FFF2-40B4-BE49-F238E27FC236}">
                <a16:creationId xmlns:a16="http://schemas.microsoft.com/office/drawing/2014/main" id="{42FA6701-42A2-3289-D48C-9223CB23CF6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72674" y="1792034"/>
            <a:ext cx="3378484" cy="3378484"/>
          </a:xfrm>
          <a:prstGeom prst="rect">
            <a:avLst/>
          </a:prstGeom>
        </p:spPr>
      </p:pic>
      <p:sp>
        <p:nvSpPr>
          <p:cNvPr id="36" name="ZoneTexte 35">
            <a:extLst>
              <a:ext uri="{FF2B5EF4-FFF2-40B4-BE49-F238E27FC236}">
                <a16:creationId xmlns:a16="http://schemas.microsoft.com/office/drawing/2014/main" id="{AE97AB25-FB63-BCD4-E345-FE6948AD28D0}"/>
              </a:ext>
            </a:extLst>
          </p:cNvPr>
          <p:cNvSpPr txBox="1"/>
          <p:nvPr/>
        </p:nvSpPr>
        <p:spPr>
          <a:xfrm>
            <a:off x="5466327" y="2952120"/>
            <a:ext cx="730293" cy="1107996"/>
          </a:xfrm>
          <a:prstGeom prst="rect">
            <a:avLst/>
          </a:prstGeom>
          <a:noFill/>
        </p:spPr>
        <p:txBody>
          <a:bodyPr wrap="square" rtlCol="0">
            <a:spAutoFit/>
          </a:bodyPr>
          <a:lstStyle/>
          <a:p>
            <a:pPr algn="ctr"/>
            <a:r>
              <a:rPr lang="fr-FR" sz="6600" dirty="0">
                <a:latin typeface="Cambria Math" panose="02040503050406030204" pitchFamily="18" charset="0"/>
                <a:ea typeface="Cambria Math" panose="02040503050406030204" pitchFamily="18" charset="0"/>
                <a:cs typeface="Courier New" panose="02070309020205020404" pitchFamily="49" charset="0"/>
              </a:rPr>
              <a:t>f</a:t>
            </a:r>
          </a:p>
        </p:txBody>
      </p:sp>
      <p:sp>
        <p:nvSpPr>
          <p:cNvPr id="39" name="Ellipse 38">
            <a:extLst>
              <a:ext uri="{FF2B5EF4-FFF2-40B4-BE49-F238E27FC236}">
                <a16:creationId xmlns:a16="http://schemas.microsoft.com/office/drawing/2014/main" id="{B7FC9DBE-46A4-DEC9-089D-66644D5F2E88}"/>
              </a:ext>
            </a:extLst>
          </p:cNvPr>
          <p:cNvSpPr/>
          <p:nvPr/>
        </p:nvSpPr>
        <p:spPr>
          <a:xfrm>
            <a:off x="8561366" y="3047558"/>
            <a:ext cx="2098283" cy="86743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tx1"/>
                </a:solidFill>
              </a:rPr>
              <a:t>Output</a:t>
            </a:r>
          </a:p>
        </p:txBody>
      </p:sp>
      <p:sp>
        <p:nvSpPr>
          <p:cNvPr id="40" name="Rectangle : coins arrondis 39">
            <a:extLst>
              <a:ext uri="{FF2B5EF4-FFF2-40B4-BE49-F238E27FC236}">
                <a16:creationId xmlns:a16="http://schemas.microsoft.com/office/drawing/2014/main" id="{86FFF493-10C4-3E67-52E6-373FC424453C}"/>
              </a:ext>
            </a:extLst>
          </p:cNvPr>
          <p:cNvSpPr/>
          <p:nvPr/>
        </p:nvSpPr>
        <p:spPr>
          <a:xfrm>
            <a:off x="4496844" y="2104373"/>
            <a:ext cx="2668044" cy="2630465"/>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ZoneTexte 40">
            <a:extLst>
              <a:ext uri="{FF2B5EF4-FFF2-40B4-BE49-F238E27FC236}">
                <a16:creationId xmlns:a16="http://schemas.microsoft.com/office/drawing/2014/main" id="{90CC886F-8DEB-5280-E38A-0665AE82A566}"/>
              </a:ext>
            </a:extLst>
          </p:cNvPr>
          <p:cNvSpPr txBox="1"/>
          <p:nvPr/>
        </p:nvSpPr>
        <p:spPr>
          <a:xfrm>
            <a:off x="1553227" y="5285984"/>
            <a:ext cx="3469710" cy="430887"/>
          </a:xfrm>
          <a:prstGeom prst="rect">
            <a:avLst/>
          </a:prstGeom>
          <a:noFill/>
        </p:spPr>
        <p:txBody>
          <a:bodyPr wrap="square" rtlCol="0">
            <a:spAutoFit/>
          </a:bodyPr>
          <a:lstStyle/>
          <a:p>
            <a:r>
              <a:rPr lang="en-US" sz="2200" b="1" noProof="0" dirty="0">
                <a:solidFill>
                  <a:schemeClr val="bg1">
                    <a:lumMod val="50000"/>
                  </a:schemeClr>
                </a:solidFill>
              </a:rPr>
              <a:t>Where f is the function</a:t>
            </a:r>
          </a:p>
        </p:txBody>
      </p:sp>
      <p:sp>
        <p:nvSpPr>
          <p:cNvPr id="3" name="Espace réservé du pied de page 2">
            <a:extLst>
              <a:ext uri="{FF2B5EF4-FFF2-40B4-BE49-F238E27FC236}">
                <a16:creationId xmlns:a16="http://schemas.microsoft.com/office/drawing/2014/main" id="{2FE9E441-FD91-7B42-3069-A065C36B7490}"/>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35751342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F2C40-D85A-6063-B40A-A8C72FB74951}"/>
            </a:ext>
          </a:extLst>
        </p:cNvPr>
        <p:cNvGrpSpPr/>
        <p:nvPr/>
      </p:nvGrpSpPr>
      <p:grpSpPr>
        <a:xfrm>
          <a:off x="0" y="0"/>
          <a:ext cx="0" cy="0"/>
          <a:chOff x="0" y="0"/>
          <a:chExt cx="0" cy="0"/>
        </a:xfrm>
      </p:grpSpPr>
      <p:sp>
        <p:nvSpPr>
          <p:cNvPr id="21" name="Ellipse 20">
            <a:extLst>
              <a:ext uri="{FF2B5EF4-FFF2-40B4-BE49-F238E27FC236}">
                <a16:creationId xmlns:a16="http://schemas.microsoft.com/office/drawing/2014/main" id="{B29EADD7-A317-6AE1-7394-BE2C42F1141E}"/>
              </a:ext>
            </a:extLst>
          </p:cNvPr>
          <p:cNvSpPr/>
          <p:nvPr/>
        </p:nvSpPr>
        <p:spPr>
          <a:xfrm>
            <a:off x="9894204" y="2654593"/>
            <a:ext cx="982060" cy="983206"/>
          </a:xfrm>
          <a:prstGeom prst="ellipse">
            <a:avLst/>
          </a:prstGeom>
          <a:noFill/>
          <a:ln w="12700">
            <a:solidFill>
              <a:schemeClr val="accent1">
                <a:shade val="15000"/>
                <a:alpha val="54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600" b="1" dirty="0">
                <a:solidFill>
                  <a:srgbClr val="FF0000"/>
                </a:solidFill>
              </a:rPr>
              <a:t>10</a:t>
            </a:r>
          </a:p>
        </p:txBody>
      </p:sp>
      <p:sp>
        <p:nvSpPr>
          <p:cNvPr id="2" name="Titre 1">
            <a:extLst>
              <a:ext uri="{FF2B5EF4-FFF2-40B4-BE49-F238E27FC236}">
                <a16:creationId xmlns:a16="http://schemas.microsoft.com/office/drawing/2014/main" id="{D745942F-4348-86D8-2C54-72078D4C511D}"/>
              </a:ext>
            </a:extLst>
          </p:cNvPr>
          <p:cNvSpPr>
            <a:spLocks noGrp="1"/>
          </p:cNvSpPr>
          <p:nvPr>
            <p:ph type="title"/>
          </p:nvPr>
        </p:nvSpPr>
        <p:spPr/>
        <p:txBody>
          <a:bodyPr/>
          <a:lstStyle/>
          <a:p>
            <a:pPr algn="ctr"/>
            <a:r>
              <a:rPr lang="en-GB" noProof="0" dirty="0"/>
              <a:t>Neural Network as a function</a:t>
            </a:r>
          </a:p>
        </p:txBody>
      </p:sp>
      <p:pic>
        <p:nvPicPr>
          <p:cNvPr id="20" name="Espace réservé du contenu 19" descr="Mille contour">
            <a:extLst>
              <a:ext uri="{FF2B5EF4-FFF2-40B4-BE49-F238E27FC236}">
                <a16:creationId xmlns:a16="http://schemas.microsoft.com/office/drawing/2014/main" id="{8E0EC4C6-D8A1-8E03-1185-2CB317ECEA71}"/>
              </a:ext>
            </a:extLst>
          </p:cNvPr>
          <p:cNvPicPr>
            <a:picLocks noGrp="1" noChangeAspect="1"/>
          </p:cNvPicPr>
          <p:nvPr>
            <p:ph idx="1"/>
          </p:nvPr>
        </p:nvPicPr>
        <p:blipFill>
          <a:blip r:embed="rId3">
            <a:extLst>
              <a:ext uri="{96DAC541-7B7A-43D3-8B79-37D633B846F1}">
                <asvg:svgBlip xmlns:asvg="http://schemas.microsoft.com/office/drawing/2016/SVG/main" r:embed="rId4"/>
              </a:ext>
            </a:extLst>
          </a:blip>
          <a:stretch>
            <a:fillRect/>
          </a:stretch>
        </p:blipFill>
        <p:spPr>
          <a:xfrm>
            <a:off x="9737383" y="2467547"/>
            <a:ext cx="1325563" cy="1325563"/>
          </a:xfrm>
        </p:spPr>
      </p:pic>
      <p:sp>
        <p:nvSpPr>
          <p:cNvPr id="4" name="Rectangle : coins arrondis 3">
            <a:extLst>
              <a:ext uri="{FF2B5EF4-FFF2-40B4-BE49-F238E27FC236}">
                <a16:creationId xmlns:a16="http://schemas.microsoft.com/office/drawing/2014/main" id="{4A74FC70-B382-24D9-DF28-204FB803BC7F}"/>
              </a:ext>
            </a:extLst>
          </p:cNvPr>
          <p:cNvSpPr/>
          <p:nvPr/>
        </p:nvSpPr>
        <p:spPr>
          <a:xfrm>
            <a:off x="4086532" y="2451547"/>
            <a:ext cx="2928551" cy="14333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dirty="0">
                <a:latin typeface="Cambria Math" panose="02040503050406030204" pitchFamily="18" charset="0"/>
                <a:ea typeface="Cambria Math" panose="02040503050406030204" pitchFamily="18" charset="0"/>
              </a:rPr>
              <a:t>f(x , w) = x . w</a:t>
            </a:r>
          </a:p>
        </p:txBody>
      </p:sp>
      <p:sp>
        <p:nvSpPr>
          <p:cNvPr id="5" name="Ellipse 4">
            <a:extLst>
              <a:ext uri="{FF2B5EF4-FFF2-40B4-BE49-F238E27FC236}">
                <a16:creationId xmlns:a16="http://schemas.microsoft.com/office/drawing/2014/main" id="{8E46E038-51C9-6F50-7E68-8BF59A7D243F}"/>
              </a:ext>
            </a:extLst>
          </p:cNvPr>
          <p:cNvSpPr/>
          <p:nvPr/>
        </p:nvSpPr>
        <p:spPr>
          <a:xfrm>
            <a:off x="1559507" y="2378067"/>
            <a:ext cx="1223319" cy="86743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latin typeface="Cambria Math" panose="02040503050406030204" pitchFamily="18" charset="0"/>
                <a:ea typeface="Cambria Math" panose="02040503050406030204" pitchFamily="18" charset="0"/>
              </a:rPr>
              <a:t>X = </a:t>
            </a:r>
            <a:r>
              <a:rPr lang="fr-FR" sz="3200" b="1" dirty="0">
                <a:solidFill>
                  <a:schemeClr val="tx1"/>
                </a:solidFill>
                <a:latin typeface="Cambria Math" panose="02040503050406030204" pitchFamily="18" charset="0"/>
                <a:ea typeface="Cambria Math" panose="02040503050406030204" pitchFamily="18" charset="0"/>
              </a:rPr>
              <a:t>3</a:t>
            </a:r>
            <a:endParaRPr lang="fr-FR" b="1" dirty="0">
              <a:solidFill>
                <a:schemeClr val="tx1"/>
              </a:solidFill>
              <a:latin typeface="Cambria Math" panose="02040503050406030204" pitchFamily="18" charset="0"/>
              <a:ea typeface="Cambria Math" panose="02040503050406030204" pitchFamily="18" charset="0"/>
            </a:endParaRPr>
          </a:p>
        </p:txBody>
      </p:sp>
      <p:sp>
        <p:nvSpPr>
          <p:cNvPr id="6" name="Ellipse 5">
            <a:extLst>
              <a:ext uri="{FF2B5EF4-FFF2-40B4-BE49-F238E27FC236}">
                <a16:creationId xmlns:a16="http://schemas.microsoft.com/office/drawing/2014/main" id="{4507167B-B404-3AC0-55A1-8C3D115E5484}"/>
              </a:ext>
            </a:extLst>
          </p:cNvPr>
          <p:cNvSpPr/>
          <p:nvPr/>
        </p:nvSpPr>
        <p:spPr>
          <a:xfrm>
            <a:off x="1464734" y="2900063"/>
            <a:ext cx="1400964" cy="976184"/>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lumMod val="50000"/>
                  </a:schemeClr>
                </a:solidFill>
                <a:latin typeface="Cambria Math" panose="02040503050406030204" pitchFamily="18" charset="0"/>
                <a:ea typeface="Cambria Math" panose="02040503050406030204" pitchFamily="18" charset="0"/>
              </a:rPr>
              <a:t>W = </a:t>
            </a:r>
            <a:r>
              <a:rPr lang="fr-FR" sz="3200" b="1" dirty="0">
                <a:solidFill>
                  <a:schemeClr val="bg1">
                    <a:lumMod val="50000"/>
                  </a:schemeClr>
                </a:solidFill>
                <a:latin typeface="Cambria Math" panose="02040503050406030204" pitchFamily="18" charset="0"/>
                <a:ea typeface="Cambria Math" panose="02040503050406030204" pitchFamily="18" charset="0"/>
              </a:rPr>
              <a:t>1</a:t>
            </a:r>
            <a:endParaRPr lang="fr-FR" b="1" dirty="0">
              <a:solidFill>
                <a:schemeClr val="bg1">
                  <a:lumMod val="50000"/>
                </a:schemeClr>
              </a:solidFill>
              <a:latin typeface="Cambria Math" panose="02040503050406030204" pitchFamily="18" charset="0"/>
              <a:ea typeface="Cambria Math" panose="02040503050406030204" pitchFamily="18" charset="0"/>
            </a:endParaRPr>
          </a:p>
        </p:txBody>
      </p:sp>
      <p:cxnSp>
        <p:nvCxnSpPr>
          <p:cNvPr id="10" name="Connecteur droit avec flèche 9">
            <a:extLst>
              <a:ext uri="{FF2B5EF4-FFF2-40B4-BE49-F238E27FC236}">
                <a16:creationId xmlns:a16="http://schemas.microsoft.com/office/drawing/2014/main" id="{DDF558A7-403D-ECFE-9875-B2E9B974B2AD}"/>
              </a:ext>
            </a:extLst>
          </p:cNvPr>
          <p:cNvCxnSpPr>
            <a:cxnSpLocks/>
          </p:cNvCxnSpPr>
          <p:nvPr/>
        </p:nvCxnSpPr>
        <p:spPr>
          <a:xfrm>
            <a:off x="2771107" y="3388155"/>
            <a:ext cx="122331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Connecteur droit avec flèche 16">
            <a:extLst>
              <a:ext uri="{FF2B5EF4-FFF2-40B4-BE49-F238E27FC236}">
                <a16:creationId xmlns:a16="http://schemas.microsoft.com/office/drawing/2014/main" id="{6BE10818-3637-17BC-1A12-5732C3B6983D}"/>
              </a:ext>
            </a:extLst>
          </p:cNvPr>
          <p:cNvCxnSpPr>
            <a:cxnSpLocks/>
          </p:cNvCxnSpPr>
          <p:nvPr/>
        </p:nvCxnSpPr>
        <p:spPr>
          <a:xfrm>
            <a:off x="7015083" y="3139168"/>
            <a:ext cx="122331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Ellipse 17">
            <a:extLst>
              <a:ext uri="{FF2B5EF4-FFF2-40B4-BE49-F238E27FC236}">
                <a16:creationId xmlns:a16="http://schemas.microsoft.com/office/drawing/2014/main" id="{8618ECF2-D133-6C85-52DD-1CC36BE8265C}"/>
              </a:ext>
            </a:extLst>
          </p:cNvPr>
          <p:cNvSpPr/>
          <p:nvPr/>
        </p:nvSpPr>
        <p:spPr>
          <a:xfrm>
            <a:off x="8238402" y="2651076"/>
            <a:ext cx="1136821" cy="976184"/>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accent1"/>
                </a:solidFill>
              </a:rPr>
              <a:t>3</a:t>
            </a:r>
          </a:p>
        </p:txBody>
      </p:sp>
      <p:sp>
        <p:nvSpPr>
          <p:cNvPr id="22" name="Rectangle 21">
            <a:extLst>
              <a:ext uri="{FF2B5EF4-FFF2-40B4-BE49-F238E27FC236}">
                <a16:creationId xmlns:a16="http://schemas.microsoft.com/office/drawing/2014/main" id="{356E9641-AABB-B6BD-68C1-925AF237A872}"/>
              </a:ext>
            </a:extLst>
          </p:cNvPr>
          <p:cNvSpPr/>
          <p:nvPr/>
        </p:nvSpPr>
        <p:spPr>
          <a:xfrm>
            <a:off x="8323906" y="4125891"/>
            <a:ext cx="2651214" cy="97848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accent1"/>
                </a:solidFill>
              </a:rPr>
              <a:t>f(x , w) – Target =</a:t>
            </a:r>
          </a:p>
          <a:p>
            <a:pPr algn="ctr"/>
            <a:r>
              <a:rPr lang="fr-FR" dirty="0">
                <a:solidFill>
                  <a:schemeClr val="accent1"/>
                </a:solidFill>
              </a:rPr>
              <a:t>3 – 10 = -7</a:t>
            </a:r>
          </a:p>
        </p:txBody>
      </p:sp>
      <p:cxnSp>
        <p:nvCxnSpPr>
          <p:cNvPr id="25" name="Connecteur droit avec flèche 24">
            <a:extLst>
              <a:ext uri="{FF2B5EF4-FFF2-40B4-BE49-F238E27FC236}">
                <a16:creationId xmlns:a16="http://schemas.microsoft.com/office/drawing/2014/main" id="{ADEAF3E7-EA72-07AA-D66F-2DDB43219A52}"/>
              </a:ext>
            </a:extLst>
          </p:cNvPr>
          <p:cNvCxnSpPr>
            <a:cxnSpLocks/>
          </p:cNvCxnSpPr>
          <p:nvPr/>
        </p:nvCxnSpPr>
        <p:spPr>
          <a:xfrm>
            <a:off x="2786876" y="2846876"/>
            <a:ext cx="122331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Connecteur droit avec flèche 26">
            <a:extLst>
              <a:ext uri="{FF2B5EF4-FFF2-40B4-BE49-F238E27FC236}">
                <a16:creationId xmlns:a16="http://schemas.microsoft.com/office/drawing/2014/main" id="{A12F936E-5307-66E2-C132-9187B9F8150B}"/>
              </a:ext>
            </a:extLst>
          </p:cNvPr>
          <p:cNvCxnSpPr>
            <a:endCxn id="18" idx="4"/>
          </p:cNvCxnSpPr>
          <p:nvPr/>
        </p:nvCxnSpPr>
        <p:spPr>
          <a:xfrm flipH="1" flipV="1">
            <a:off x="8806813" y="3627260"/>
            <a:ext cx="263327" cy="4986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Connecteur droit avec flèche 28">
            <a:extLst>
              <a:ext uri="{FF2B5EF4-FFF2-40B4-BE49-F238E27FC236}">
                <a16:creationId xmlns:a16="http://schemas.microsoft.com/office/drawing/2014/main" id="{177E749F-9FCA-0FF8-4B73-E726CDDE4BF2}"/>
              </a:ext>
            </a:extLst>
          </p:cNvPr>
          <p:cNvCxnSpPr>
            <a:cxnSpLocks/>
          </p:cNvCxnSpPr>
          <p:nvPr/>
        </p:nvCxnSpPr>
        <p:spPr>
          <a:xfrm flipV="1">
            <a:off x="9989793" y="3621450"/>
            <a:ext cx="310058" cy="4986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 name="ZoneTexte 2">
            <a:extLst>
              <a:ext uri="{FF2B5EF4-FFF2-40B4-BE49-F238E27FC236}">
                <a16:creationId xmlns:a16="http://schemas.microsoft.com/office/drawing/2014/main" id="{4CE6094F-9DA4-51D2-41D5-16B1D4F3FBB3}"/>
              </a:ext>
            </a:extLst>
          </p:cNvPr>
          <p:cNvSpPr txBox="1"/>
          <p:nvPr/>
        </p:nvSpPr>
        <p:spPr>
          <a:xfrm>
            <a:off x="838199" y="5999967"/>
            <a:ext cx="10785953" cy="461665"/>
          </a:xfrm>
          <a:prstGeom prst="rect">
            <a:avLst/>
          </a:prstGeom>
          <a:noFill/>
          <a:ln>
            <a:noFill/>
          </a:ln>
        </p:spPr>
        <p:txBody>
          <a:bodyPr wrap="square" rtlCol="0">
            <a:spAutoFit/>
          </a:bodyPr>
          <a:lstStyle/>
          <a:p>
            <a:r>
              <a:rPr lang="en-US" sz="2400" b="1" noProof="0" dirty="0"/>
              <a:t>The goal is to adjust W to match the target value or get as close as possible. </a:t>
            </a:r>
          </a:p>
        </p:txBody>
      </p:sp>
      <p:sp>
        <p:nvSpPr>
          <p:cNvPr id="7" name="Espace réservé du pied de page 6">
            <a:extLst>
              <a:ext uri="{FF2B5EF4-FFF2-40B4-BE49-F238E27FC236}">
                <a16:creationId xmlns:a16="http://schemas.microsoft.com/office/drawing/2014/main" id="{2A106C98-FE6B-D7D1-029C-A2BE454427AA}"/>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2452101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06D2E-AD4C-33B3-A18C-D49EE77B53E1}"/>
            </a:ext>
          </a:extLst>
        </p:cNvPr>
        <p:cNvGrpSpPr/>
        <p:nvPr/>
      </p:nvGrpSpPr>
      <p:grpSpPr>
        <a:xfrm>
          <a:off x="0" y="0"/>
          <a:ext cx="0" cy="0"/>
          <a:chOff x="0" y="0"/>
          <a:chExt cx="0" cy="0"/>
        </a:xfrm>
      </p:grpSpPr>
      <p:sp>
        <p:nvSpPr>
          <p:cNvPr id="21" name="Ellipse 20">
            <a:extLst>
              <a:ext uri="{FF2B5EF4-FFF2-40B4-BE49-F238E27FC236}">
                <a16:creationId xmlns:a16="http://schemas.microsoft.com/office/drawing/2014/main" id="{3CB4A1E0-2A28-FCC5-120D-12947BE61F38}"/>
              </a:ext>
            </a:extLst>
          </p:cNvPr>
          <p:cNvSpPr/>
          <p:nvPr/>
        </p:nvSpPr>
        <p:spPr>
          <a:xfrm>
            <a:off x="9894204" y="2654593"/>
            <a:ext cx="982060" cy="983206"/>
          </a:xfrm>
          <a:prstGeom prst="ellipse">
            <a:avLst/>
          </a:prstGeom>
          <a:noFill/>
          <a:ln w="12700">
            <a:solidFill>
              <a:schemeClr val="accent1">
                <a:shade val="15000"/>
                <a:alpha val="54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600" b="1" dirty="0">
                <a:solidFill>
                  <a:srgbClr val="FF0000"/>
                </a:solidFill>
              </a:rPr>
              <a:t>10</a:t>
            </a:r>
          </a:p>
        </p:txBody>
      </p:sp>
      <p:sp>
        <p:nvSpPr>
          <p:cNvPr id="2" name="Titre 1">
            <a:extLst>
              <a:ext uri="{FF2B5EF4-FFF2-40B4-BE49-F238E27FC236}">
                <a16:creationId xmlns:a16="http://schemas.microsoft.com/office/drawing/2014/main" id="{344CD5E4-EC13-D512-682A-100800A65069}"/>
              </a:ext>
            </a:extLst>
          </p:cNvPr>
          <p:cNvSpPr>
            <a:spLocks noGrp="1"/>
          </p:cNvSpPr>
          <p:nvPr>
            <p:ph type="title"/>
          </p:nvPr>
        </p:nvSpPr>
        <p:spPr/>
        <p:txBody>
          <a:bodyPr/>
          <a:lstStyle/>
          <a:p>
            <a:pPr algn="ctr"/>
            <a:r>
              <a:rPr lang="en-GB" noProof="0" dirty="0"/>
              <a:t>Neural Network as a function</a:t>
            </a:r>
          </a:p>
        </p:txBody>
      </p:sp>
      <p:pic>
        <p:nvPicPr>
          <p:cNvPr id="20" name="Espace réservé du contenu 19" descr="Mille contour">
            <a:extLst>
              <a:ext uri="{FF2B5EF4-FFF2-40B4-BE49-F238E27FC236}">
                <a16:creationId xmlns:a16="http://schemas.microsoft.com/office/drawing/2014/main" id="{850328C4-D297-D288-78EB-8E0F26AB0C00}"/>
              </a:ext>
            </a:extLst>
          </p:cNvPr>
          <p:cNvPicPr>
            <a:picLocks noGrp="1" noChangeAspect="1"/>
          </p:cNvPicPr>
          <p:nvPr>
            <p:ph idx="1"/>
          </p:nvPr>
        </p:nvPicPr>
        <p:blipFill>
          <a:blip r:embed="rId3">
            <a:extLst>
              <a:ext uri="{96DAC541-7B7A-43D3-8B79-37D633B846F1}">
                <asvg:svgBlip xmlns:asvg="http://schemas.microsoft.com/office/drawing/2016/SVG/main" r:embed="rId4"/>
              </a:ext>
            </a:extLst>
          </a:blip>
          <a:stretch>
            <a:fillRect/>
          </a:stretch>
        </p:blipFill>
        <p:spPr>
          <a:xfrm>
            <a:off x="9737383" y="2467547"/>
            <a:ext cx="1325563" cy="1325563"/>
          </a:xfrm>
        </p:spPr>
      </p:pic>
      <p:sp>
        <p:nvSpPr>
          <p:cNvPr id="4" name="Rectangle : coins arrondis 3">
            <a:extLst>
              <a:ext uri="{FF2B5EF4-FFF2-40B4-BE49-F238E27FC236}">
                <a16:creationId xmlns:a16="http://schemas.microsoft.com/office/drawing/2014/main" id="{D5A98AF1-0137-8E76-3657-55F16D0C27D6}"/>
              </a:ext>
            </a:extLst>
          </p:cNvPr>
          <p:cNvSpPr/>
          <p:nvPr/>
        </p:nvSpPr>
        <p:spPr>
          <a:xfrm>
            <a:off x="4086532" y="2451547"/>
            <a:ext cx="2928551" cy="14333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dirty="0">
                <a:latin typeface="Cambria Math" panose="02040503050406030204" pitchFamily="18" charset="0"/>
                <a:ea typeface="Cambria Math" panose="02040503050406030204" pitchFamily="18" charset="0"/>
              </a:rPr>
              <a:t>f(x , w) = x . w</a:t>
            </a:r>
          </a:p>
        </p:txBody>
      </p:sp>
      <p:cxnSp>
        <p:nvCxnSpPr>
          <p:cNvPr id="10" name="Connecteur droit avec flèche 9">
            <a:extLst>
              <a:ext uri="{FF2B5EF4-FFF2-40B4-BE49-F238E27FC236}">
                <a16:creationId xmlns:a16="http://schemas.microsoft.com/office/drawing/2014/main" id="{A29FF15B-EC21-72A6-E9ED-0E1296D3B95A}"/>
              </a:ext>
            </a:extLst>
          </p:cNvPr>
          <p:cNvCxnSpPr>
            <a:cxnSpLocks/>
          </p:cNvCxnSpPr>
          <p:nvPr/>
        </p:nvCxnSpPr>
        <p:spPr>
          <a:xfrm>
            <a:off x="2771107" y="3388155"/>
            <a:ext cx="122331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Connecteur droit avec flèche 16">
            <a:extLst>
              <a:ext uri="{FF2B5EF4-FFF2-40B4-BE49-F238E27FC236}">
                <a16:creationId xmlns:a16="http://schemas.microsoft.com/office/drawing/2014/main" id="{939D50CB-E424-FB85-D2D5-7756B2C9DC04}"/>
              </a:ext>
            </a:extLst>
          </p:cNvPr>
          <p:cNvCxnSpPr>
            <a:cxnSpLocks/>
          </p:cNvCxnSpPr>
          <p:nvPr/>
        </p:nvCxnSpPr>
        <p:spPr>
          <a:xfrm>
            <a:off x="7015083" y="3139168"/>
            <a:ext cx="122331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Ellipse 17">
            <a:extLst>
              <a:ext uri="{FF2B5EF4-FFF2-40B4-BE49-F238E27FC236}">
                <a16:creationId xmlns:a16="http://schemas.microsoft.com/office/drawing/2014/main" id="{E75371C1-0E3D-9CFB-5199-9D41AAFB30D6}"/>
              </a:ext>
            </a:extLst>
          </p:cNvPr>
          <p:cNvSpPr/>
          <p:nvPr/>
        </p:nvSpPr>
        <p:spPr>
          <a:xfrm>
            <a:off x="8238402" y="2651076"/>
            <a:ext cx="1136821" cy="976184"/>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accent1"/>
                </a:solidFill>
              </a:rPr>
              <a:t>3</a:t>
            </a:r>
          </a:p>
        </p:txBody>
      </p:sp>
      <p:sp>
        <p:nvSpPr>
          <p:cNvPr id="22" name="Rectangle 21">
            <a:extLst>
              <a:ext uri="{FF2B5EF4-FFF2-40B4-BE49-F238E27FC236}">
                <a16:creationId xmlns:a16="http://schemas.microsoft.com/office/drawing/2014/main" id="{FE35397A-9779-F1DC-90D1-1C682DEDB5FA}"/>
              </a:ext>
            </a:extLst>
          </p:cNvPr>
          <p:cNvSpPr/>
          <p:nvPr/>
        </p:nvSpPr>
        <p:spPr>
          <a:xfrm>
            <a:off x="8323906" y="4125891"/>
            <a:ext cx="2651214" cy="97848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noProof="0" dirty="0">
                <a:solidFill>
                  <a:schemeClr val="accent1"/>
                </a:solidFill>
                <a:latin typeface="Cambria Math" panose="02040503050406030204" pitchFamily="18" charset="0"/>
                <a:ea typeface="Cambria Math" panose="02040503050406030204" pitchFamily="18" charset="0"/>
              </a:rPr>
              <a:t>f(x , w) – target = 3 – 10 = -7</a:t>
            </a:r>
          </a:p>
        </p:txBody>
      </p:sp>
      <p:cxnSp>
        <p:nvCxnSpPr>
          <p:cNvPr id="25" name="Connecteur droit avec flèche 24">
            <a:extLst>
              <a:ext uri="{FF2B5EF4-FFF2-40B4-BE49-F238E27FC236}">
                <a16:creationId xmlns:a16="http://schemas.microsoft.com/office/drawing/2014/main" id="{8D360256-240C-4AD1-E54D-B1570C05FA44}"/>
              </a:ext>
            </a:extLst>
          </p:cNvPr>
          <p:cNvCxnSpPr>
            <a:cxnSpLocks/>
          </p:cNvCxnSpPr>
          <p:nvPr/>
        </p:nvCxnSpPr>
        <p:spPr>
          <a:xfrm>
            <a:off x="2786876" y="2846876"/>
            <a:ext cx="122331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Connecteur droit avec flèche 26">
            <a:extLst>
              <a:ext uri="{FF2B5EF4-FFF2-40B4-BE49-F238E27FC236}">
                <a16:creationId xmlns:a16="http://schemas.microsoft.com/office/drawing/2014/main" id="{F9E6BAFB-C68F-7F5C-F2F5-D85FB074ED78}"/>
              </a:ext>
            </a:extLst>
          </p:cNvPr>
          <p:cNvCxnSpPr>
            <a:endCxn id="18" idx="4"/>
          </p:cNvCxnSpPr>
          <p:nvPr/>
        </p:nvCxnSpPr>
        <p:spPr>
          <a:xfrm flipH="1" flipV="1">
            <a:off x="8806813" y="3627260"/>
            <a:ext cx="263327" cy="4986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Connecteur droit avec flèche 28">
            <a:extLst>
              <a:ext uri="{FF2B5EF4-FFF2-40B4-BE49-F238E27FC236}">
                <a16:creationId xmlns:a16="http://schemas.microsoft.com/office/drawing/2014/main" id="{C6882A9D-4F01-564D-F95E-59945A68E356}"/>
              </a:ext>
            </a:extLst>
          </p:cNvPr>
          <p:cNvCxnSpPr>
            <a:cxnSpLocks/>
          </p:cNvCxnSpPr>
          <p:nvPr/>
        </p:nvCxnSpPr>
        <p:spPr>
          <a:xfrm flipV="1">
            <a:off x="9989793" y="3621450"/>
            <a:ext cx="310058" cy="4986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 name="ZoneTexte 2">
            <a:extLst>
              <a:ext uri="{FF2B5EF4-FFF2-40B4-BE49-F238E27FC236}">
                <a16:creationId xmlns:a16="http://schemas.microsoft.com/office/drawing/2014/main" id="{B0E2525C-0966-8F03-59AD-80C9FA3E875E}"/>
              </a:ext>
            </a:extLst>
          </p:cNvPr>
          <p:cNvSpPr txBox="1"/>
          <p:nvPr/>
        </p:nvSpPr>
        <p:spPr>
          <a:xfrm>
            <a:off x="838199" y="5999967"/>
            <a:ext cx="10785953" cy="461665"/>
          </a:xfrm>
          <a:prstGeom prst="rect">
            <a:avLst/>
          </a:prstGeom>
          <a:noFill/>
          <a:ln>
            <a:noFill/>
          </a:ln>
        </p:spPr>
        <p:txBody>
          <a:bodyPr wrap="square" rtlCol="0">
            <a:spAutoFit/>
          </a:bodyPr>
          <a:lstStyle/>
          <a:p>
            <a:r>
              <a:rPr lang="en-US" sz="2400" b="1" noProof="0" dirty="0"/>
              <a:t>The goal is to adjust W to match the target value or get as close as possible. </a:t>
            </a:r>
          </a:p>
        </p:txBody>
      </p:sp>
      <p:sp>
        <p:nvSpPr>
          <p:cNvPr id="7" name="ZoneTexte 6">
            <a:extLst>
              <a:ext uri="{FF2B5EF4-FFF2-40B4-BE49-F238E27FC236}">
                <a16:creationId xmlns:a16="http://schemas.microsoft.com/office/drawing/2014/main" id="{4ED3BA64-5905-F0BF-6C8F-300BCABC3419}"/>
              </a:ext>
            </a:extLst>
          </p:cNvPr>
          <p:cNvSpPr txBox="1"/>
          <p:nvPr/>
        </p:nvSpPr>
        <p:spPr>
          <a:xfrm>
            <a:off x="746234" y="4572000"/>
            <a:ext cx="4424856" cy="984885"/>
          </a:xfrm>
          <a:prstGeom prst="rect">
            <a:avLst/>
          </a:prstGeom>
          <a:noFill/>
        </p:spPr>
        <p:txBody>
          <a:bodyPr wrap="square" rtlCol="0">
            <a:spAutoFit/>
          </a:bodyPr>
          <a:lstStyle/>
          <a:p>
            <a:r>
              <a:rPr lang="en-GB" noProof="0" dirty="0"/>
              <a:t>X is the </a:t>
            </a:r>
            <a:r>
              <a:rPr lang="en-GB" sz="2000" b="1" noProof="0" dirty="0"/>
              <a:t>feature</a:t>
            </a:r>
            <a:r>
              <a:rPr lang="en-GB" noProof="0" dirty="0"/>
              <a:t> given by the experience</a:t>
            </a:r>
          </a:p>
          <a:p>
            <a:endParaRPr lang="en-GB" noProof="0" dirty="0"/>
          </a:p>
          <a:p>
            <a:r>
              <a:rPr lang="en-GB" noProof="0" dirty="0"/>
              <a:t>W is the </a:t>
            </a:r>
            <a:r>
              <a:rPr lang="en-GB" sz="2000" b="1" noProof="0" dirty="0"/>
              <a:t>weight</a:t>
            </a:r>
            <a:endParaRPr lang="en-GB" b="1" noProof="0" dirty="0"/>
          </a:p>
        </p:txBody>
      </p:sp>
      <p:sp>
        <p:nvSpPr>
          <p:cNvPr id="8" name="Espace réservé du pied de page 7">
            <a:extLst>
              <a:ext uri="{FF2B5EF4-FFF2-40B4-BE49-F238E27FC236}">
                <a16:creationId xmlns:a16="http://schemas.microsoft.com/office/drawing/2014/main" id="{3D19AAA3-9149-6E30-E2E3-33B3DD4F1D7B}"/>
              </a:ext>
            </a:extLst>
          </p:cNvPr>
          <p:cNvSpPr>
            <a:spLocks noGrp="1"/>
          </p:cNvSpPr>
          <p:nvPr>
            <p:ph type="ftr" sz="quarter" idx="11"/>
          </p:nvPr>
        </p:nvSpPr>
        <p:spPr/>
        <p:txBody>
          <a:bodyPr/>
          <a:lstStyle/>
          <a:p>
            <a:r>
              <a:rPr lang="fr-FR"/>
              <a:t>Introduction to Neural Networks. Author: David Thébault</a:t>
            </a:r>
          </a:p>
        </p:txBody>
      </p:sp>
      <p:sp>
        <p:nvSpPr>
          <p:cNvPr id="9" name="Ellipse 8">
            <a:extLst>
              <a:ext uri="{FF2B5EF4-FFF2-40B4-BE49-F238E27FC236}">
                <a16:creationId xmlns:a16="http://schemas.microsoft.com/office/drawing/2014/main" id="{6275E653-A02D-A516-7561-7A88A75A5525}"/>
              </a:ext>
            </a:extLst>
          </p:cNvPr>
          <p:cNvSpPr/>
          <p:nvPr/>
        </p:nvSpPr>
        <p:spPr>
          <a:xfrm>
            <a:off x="1559507" y="2378067"/>
            <a:ext cx="1223319" cy="86743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latin typeface="Cambria Math" panose="02040503050406030204" pitchFamily="18" charset="0"/>
                <a:ea typeface="Cambria Math" panose="02040503050406030204" pitchFamily="18" charset="0"/>
              </a:rPr>
              <a:t>X = </a:t>
            </a:r>
            <a:r>
              <a:rPr lang="fr-FR" sz="3200" b="1" dirty="0">
                <a:solidFill>
                  <a:schemeClr val="tx1"/>
                </a:solidFill>
                <a:latin typeface="Cambria Math" panose="02040503050406030204" pitchFamily="18" charset="0"/>
                <a:ea typeface="Cambria Math" panose="02040503050406030204" pitchFamily="18" charset="0"/>
              </a:rPr>
              <a:t>3</a:t>
            </a:r>
            <a:endParaRPr lang="fr-FR" b="1" dirty="0">
              <a:solidFill>
                <a:schemeClr val="tx1"/>
              </a:solidFill>
              <a:latin typeface="Cambria Math" panose="02040503050406030204" pitchFamily="18" charset="0"/>
              <a:ea typeface="Cambria Math" panose="02040503050406030204" pitchFamily="18" charset="0"/>
            </a:endParaRPr>
          </a:p>
        </p:txBody>
      </p:sp>
      <p:sp>
        <p:nvSpPr>
          <p:cNvPr id="11" name="Ellipse 10">
            <a:extLst>
              <a:ext uri="{FF2B5EF4-FFF2-40B4-BE49-F238E27FC236}">
                <a16:creationId xmlns:a16="http://schemas.microsoft.com/office/drawing/2014/main" id="{0682CFF3-33B0-D7A3-967C-02E098E706ED}"/>
              </a:ext>
            </a:extLst>
          </p:cNvPr>
          <p:cNvSpPr/>
          <p:nvPr/>
        </p:nvSpPr>
        <p:spPr>
          <a:xfrm>
            <a:off x="1464734" y="2900063"/>
            <a:ext cx="1400964" cy="976184"/>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lumMod val="50000"/>
                  </a:schemeClr>
                </a:solidFill>
                <a:latin typeface="Cambria Math" panose="02040503050406030204" pitchFamily="18" charset="0"/>
                <a:ea typeface="Cambria Math" panose="02040503050406030204" pitchFamily="18" charset="0"/>
              </a:rPr>
              <a:t>W = </a:t>
            </a:r>
            <a:r>
              <a:rPr lang="fr-FR" sz="3200" b="1" dirty="0">
                <a:solidFill>
                  <a:schemeClr val="bg1">
                    <a:lumMod val="50000"/>
                  </a:schemeClr>
                </a:solidFill>
                <a:latin typeface="Cambria Math" panose="02040503050406030204" pitchFamily="18" charset="0"/>
                <a:ea typeface="Cambria Math" panose="02040503050406030204" pitchFamily="18" charset="0"/>
              </a:rPr>
              <a:t>1</a:t>
            </a:r>
            <a:endParaRPr lang="fr-FR" b="1" dirty="0">
              <a:solidFill>
                <a:schemeClr val="bg1">
                  <a:lumMod val="50000"/>
                </a:schemeClr>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587454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9B024F6-9C8F-1DC5-D2C5-74AAFB89ABA1}"/>
              </a:ext>
            </a:extLst>
          </p:cNvPr>
          <p:cNvSpPr>
            <a:spLocks noGrp="1"/>
          </p:cNvSpPr>
          <p:nvPr>
            <p:ph type="title"/>
          </p:nvPr>
        </p:nvSpPr>
        <p:spPr>
          <a:xfrm>
            <a:off x="838200" y="300730"/>
            <a:ext cx="10515600" cy="1325563"/>
          </a:xfrm>
        </p:spPr>
        <p:txBody>
          <a:bodyPr/>
          <a:lstStyle/>
          <a:p>
            <a:r>
              <a:rPr lang="en-GB" noProof="0" dirty="0"/>
              <a:t>Perceptron </a:t>
            </a:r>
            <a:r>
              <a:rPr lang="en-GB" sz="2400" noProof="0" dirty="0"/>
              <a:t>with a single input</a:t>
            </a:r>
            <a:endParaRPr lang="en-GB" noProof="0" dirty="0"/>
          </a:p>
        </p:txBody>
      </p:sp>
      <p:grpSp>
        <p:nvGrpSpPr>
          <p:cNvPr id="12" name="Groupe 11">
            <a:extLst>
              <a:ext uri="{FF2B5EF4-FFF2-40B4-BE49-F238E27FC236}">
                <a16:creationId xmlns:a16="http://schemas.microsoft.com/office/drawing/2014/main" id="{EA6A2939-FE11-CC65-B236-27F224B007A1}"/>
              </a:ext>
            </a:extLst>
          </p:cNvPr>
          <p:cNvGrpSpPr/>
          <p:nvPr/>
        </p:nvGrpSpPr>
        <p:grpSpPr>
          <a:xfrm>
            <a:off x="4992412" y="2220312"/>
            <a:ext cx="1061545" cy="1061545"/>
            <a:chOff x="3563007" y="2367455"/>
            <a:chExt cx="1061545" cy="1061545"/>
          </a:xfrm>
        </p:grpSpPr>
        <p:sp>
          <p:nvSpPr>
            <p:cNvPr id="4" name="Ellipse 3">
              <a:extLst>
                <a:ext uri="{FF2B5EF4-FFF2-40B4-BE49-F238E27FC236}">
                  <a16:creationId xmlns:a16="http://schemas.microsoft.com/office/drawing/2014/main" id="{FDA568BF-9DBD-2766-E0A2-F839CB67B3E5}"/>
                </a:ext>
              </a:extLst>
            </p:cNvPr>
            <p:cNvSpPr/>
            <p:nvPr/>
          </p:nvSpPr>
          <p:spPr>
            <a:xfrm>
              <a:off x="3563007" y="2367455"/>
              <a:ext cx="1061545" cy="106154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1400" dirty="0"/>
            </a:p>
          </p:txBody>
        </p:sp>
        <p:cxnSp>
          <p:nvCxnSpPr>
            <p:cNvPr id="8" name="Connecteur droit 7">
              <a:extLst>
                <a:ext uri="{FF2B5EF4-FFF2-40B4-BE49-F238E27FC236}">
                  <a16:creationId xmlns:a16="http://schemas.microsoft.com/office/drawing/2014/main" id="{C417C399-84A2-C2D5-9C12-9A3D3C435FB9}"/>
                </a:ext>
              </a:extLst>
            </p:cNvPr>
            <p:cNvCxnSpPr>
              <a:stCxn id="4" idx="0"/>
              <a:endCxn id="4" idx="4"/>
            </p:cNvCxnSpPr>
            <p:nvPr/>
          </p:nvCxnSpPr>
          <p:spPr>
            <a:xfrm>
              <a:off x="4093780" y="2367455"/>
              <a:ext cx="0" cy="1061545"/>
            </a:xfrm>
            <a:prstGeom prst="line">
              <a:avLst/>
            </a:prstGeom>
          </p:spPr>
          <p:style>
            <a:lnRef idx="2">
              <a:schemeClr val="accent1"/>
            </a:lnRef>
            <a:fillRef idx="0">
              <a:schemeClr val="accent1"/>
            </a:fillRef>
            <a:effectRef idx="1">
              <a:schemeClr val="accent1"/>
            </a:effectRef>
            <a:fontRef idx="minor">
              <a:schemeClr val="tx1"/>
            </a:fontRef>
          </p:style>
        </p:cxnSp>
      </p:grpSp>
      <p:cxnSp>
        <p:nvCxnSpPr>
          <p:cNvPr id="17" name="Connecteur droit avec flèche 16">
            <a:extLst>
              <a:ext uri="{FF2B5EF4-FFF2-40B4-BE49-F238E27FC236}">
                <a16:creationId xmlns:a16="http://schemas.microsoft.com/office/drawing/2014/main" id="{497E4BBB-A332-10CA-5E9B-2880D7ABAEFB}"/>
              </a:ext>
            </a:extLst>
          </p:cNvPr>
          <p:cNvCxnSpPr>
            <a:cxnSpLocks/>
          </p:cNvCxnSpPr>
          <p:nvPr/>
        </p:nvCxnSpPr>
        <p:spPr>
          <a:xfrm>
            <a:off x="3992596" y="2817110"/>
            <a:ext cx="9354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ZoneTexte 20">
            <a:extLst>
              <a:ext uri="{FF2B5EF4-FFF2-40B4-BE49-F238E27FC236}">
                <a16:creationId xmlns:a16="http://schemas.microsoft.com/office/drawing/2014/main" id="{E51EF9AC-EB3F-254E-0F15-DBC87837E8AF}"/>
              </a:ext>
            </a:extLst>
          </p:cNvPr>
          <p:cNvSpPr txBox="1"/>
          <p:nvPr/>
        </p:nvSpPr>
        <p:spPr>
          <a:xfrm>
            <a:off x="3380368" y="2461481"/>
            <a:ext cx="599090" cy="523220"/>
          </a:xfrm>
          <a:prstGeom prst="rect">
            <a:avLst/>
          </a:prstGeom>
          <a:noFill/>
        </p:spPr>
        <p:txBody>
          <a:bodyPr wrap="square" rtlCol="0">
            <a:spAutoFit/>
          </a:bodyPr>
          <a:lstStyle/>
          <a:p>
            <a:pPr algn="ctr"/>
            <a:r>
              <a:rPr lang="fr-FR" sz="2800" dirty="0"/>
              <a:t>x</a:t>
            </a:r>
            <a:endParaRPr lang="fr-FR" sz="2800" baseline="-25000" dirty="0"/>
          </a:p>
        </p:txBody>
      </p:sp>
      <p:sp>
        <p:nvSpPr>
          <p:cNvPr id="28" name="ZoneTexte 27">
            <a:extLst>
              <a:ext uri="{FF2B5EF4-FFF2-40B4-BE49-F238E27FC236}">
                <a16:creationId xmlns:a16="http://schemas.microsoft.com/office/drawing/2014/main" id="{6424CAC3-517C-833D-747B-083473276701}"/>
              </a:ext>
            </a:extLst>
          </p:cNvPr>
          <p:cNvSpPr txBox="1"/>
          <p:nvPr/>
        </p:nvSpPr>
        <p:spPr>
          <a:xfrm>
            <a:off x="4120034" y="2467393"/>
            <a:ext cx="599090"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w</a:t>
            </a:r>
          </a:p>
        </p:txBody>
      </p:sp>
      <p:cxnSp>
        <p:nvCxnSpPr>
          <p:cNvPr id="30" name="Connecteur droit avec flèche 29">
            <a:extLst>
              <a:ext uri="{FF2B5EF4-FFF2-40B4-BE49-F238E27FC236}">
                <a16:creationId xmlns:a16="http://schemas.microsoft.com/office/drawing/2014/main" id="{43A93FD4-CBC8-94E8-2901-051496D8E7F0}"/>
              </a:ext>
            </a:extLst>
          </p:cNvPr>
          <p:cNvCxnSpPr>
            <a:cxnSpLocks/>
          </p:cNvCxnSpPr>
          <p:nvPr/>
        </p:nvCxnSpPr>
        <p:spPr>
          <a:xfrm>
            <a:off x="6074977" y="2742628"/>
            <a:ext cx="9354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necteur droit avec flèche 31">
            <a:extLst>
              <a:ext uri="{FF2B5EF4-FFF2-40B4-BE49-F238E27FC236}">
                <a16:creationId xmlns:a16="http://schemas.microsoft.com/office/drawing/2014/main" id="{99A1F70D-B85F-6A1E-AD17-75324D9C6391}"/>
              </a:ext>
            </a:extLst>
          </p:cNvPr>
          <p:cNvCxnSpPr>
            <a:cxnSpLocks/>
          </p:cNvCxnSpPr>
          <p:nvPr/>
        </p:nvCxnSpPr>
        <p:spPr>
          <a:xfrm flipV="1">
            <a:off x="4651482" y="3166246"/>
            <a:ext cx="493330" cy="5994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ZoneTexte 35">
            <a:extLst>
              <a:ext uri="{FF2B5EF4-FFF2-40B4-BE49-F238E27FC236}">
                <a16:creationId xmlns:a16="http://schemas.microsoft.com/office/drawing/2014/main" id="{861C832A-29F9-4CF2-1096-B501327D8AFD}"/>
              </a:ext>
            </a:extLst>
          </p:cNvPr>
          <p:cNvSpPr txBox="1"/>
          <p:nvPr/>
        </p:nvSpPr>
        <p:spPr>
          <a:xfrm>
            <a:off x="4184429" y="3641845"/>
            <a:ext cx="599090"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b</a:t>
            </a:r>
          </a:p>
        </p:txBody>
      </p:sp>
      <p:sp>
        <p:nvSpPr>
          <p:cNvPr id="41" name="ZoneTexte 40">
            <a:extLst>
              <a:ext uri="{FF2B5EF4-FFF2-40B4-BE49-F238E27FC236}">
                <a16:creationId xmlns:a16="http://schemas.microsoft.com/office/drawing/2014/main" id="{E155B9B6-22C2-FB77-660D-CF469B5CD33F}"/>
              </a:ext>
            </a:extLst>
          </p:cNvPr>
          <p:cNvSpPr txBox="1"/>
          <p:nvPr/>
        </p:nvSpPr>
        <p:spPr>
          <a:xfrm>
            <a:off x="5034995" y="2635155"/>
            <a:ext cx="517929" cy="307777"/>
          </a:xfrm>
          <a:prstGeom prst="rect">
            <a:avLst/>
          </a:prstGeom>
          <a:noFill/>
        </p:spPr>
        <p:txBody>
          <a:bodyPr wrap="square" rtlCol="0">
            <a:spAutoFit/>
          </a:bodyPr>
          <a:lstStyle/>
          <a:p>
            <a:pPr algn="ctr"/>
            <a:r>
              <a:rPr lang="fr-FR" sz="1400" dirty="0"/>
              <a:t>net</a:t>
            </a:r>
          </a:p>
        </p:txBody>
      </p:sp>
      <p:sp>
        <p:nvSpPr>
          <p:cNvPr id="42" name="ZoneTexte 41">
            <a:extLst>
              <a:ext uri="{FF2B5EF4-FFF2-40B4-BE49-F238E27FC236}">
                <a16:creationId xmlns:a16="http://schemas.microsoft.com/office/drawing/2014/main" id="{122B0E1C-C9CF-35D6-D6DE-4A0851F40246}"/>
              </a:ext>
            </a:extLst>
          </p:cNvPr>
          <p:cNvSpPr txBox="1"/>
          <p:nvPr/>
        </p:nvSpPr>
        <p:spPr>
          <a:xfrm>
            <a:off x="5486866" y="2635155"/>
            <a:ext cx="517929" cy="307777"/>
          </a:xfrm>
          <a:prstGeom prst="rect">
            <a:avLst/>
          </a:prstGeom>
          <a:noFill/>
        </p:spPr>
        <p:txBody>
          <a:bodyPr wrap="square" rtlCol="0">
            <a:spAutoFit/>
          </a:bodyPr>
          <a:lstStyle/>
          <a:p>
            <a:pPr algn="ctr"/>
            <a:r>
              <a:rPr lang="fr-FR" sz="1400" dirty="0"/>
              <a:t>out</a:t>
            </a:r>
          </a:p>
        </p:txBody>
      </p:sp>
      <mc:AlternateContent xmlns:mc="http://schemas.openxmlformats.org/markup-compatibility/2006" xmlns:a14="http://schemas.microsoft.com/office/drawing/2010/main">
        <mc:Choice Requires="a14">
          <p:sp>
            <p:nvSpPr>
              <p:cNvPr id="43" name="ZoneTexte 42">
                <a:extLst>
                  <a:ext uri="{FF2B5EF4-FFF2-40B4-BE49-F238E27FC236}">
                    <a16:creationId xmlns:a16="http://schemas.microsoft.com/office/drawing/2014/main" id="{1F2622F4-B8F0-819E-B971-3C34D4595ABE}"/>
                  </a:ext>
                </a:extLst>
              </p:cNvPr>
              <p:cNvSpPr txBox="1"/>
              <p:nvPr/>
            </p:nvSpPr>
            <p:spPr>
              <a:xfrm>
                <a:off x="3249894" y="4640338"/>
                <a:ext cx="4242678" cy="738664"/>
              </a:xfrm>
              <a:prstGeom prst="rect">
                <a:avLst/>
              </a:prstGeom>
              <a:noFill/>
              <a:ln>
                <a:noFill/>
              </a:ln>
            </p:spPr>
            <p:txBody>
              <a:bodyPr wrap="square" lIns="0" tIns="0" rIns="0" bIns="0" rtlCol="0">
                <a:spAutoFit/>
              </a:bodyPr>
              <a:lstStyle/>
              <a:p>
                <a:pPr algn="ctr"/>
                <a:endParaRPr lang="fr-FR" sz="1600" dirty="0">
                  <a:latin typeface="Cambria Math" panose="02040503050406030204" pitchFamily="18" charset="0"/>
                </a:endParaRPr>
              </a:p>
              <a:p>
                <a:pPr algn="ctr"/>
                <a:r>
                  <a:rPr lang="fr-FR" sz="1600" dirty="0">
                    <a:latin typeface="Cambria Math" panose="02040503050406030204" pitchFamily="18" charset="0"/>
                  </a:rPr>
                  <a:t>  </a:t>
                </a:r>
                <a:r>
                  <a:rPr lang="fr-FR" sz="1600" b="1" dirty="0">
                    <a:latin typeface="Cambria Math" panose="02040503050406030204" pitchFamily="18" charset="0"/>
                  </a:rPr>
                  <a:t>net</a:t>
                </a:r>
                <a:r>
                  <a:rPr lang="fr-FR" sz="1600" b="0" i="1" dirty="0">
                    <a:latin typeface="Cambria Math" panose="02040503050406030204" pitchFamily="18" charset="0"/>
                  </a:rPr>
                  <a:t> = </a:t>
                </a:r>
                <a14:m>
                  <m:oMath xmlns:m="http://schemas.openxmlformats.org/officeDocument/2006/math">
                    <m:r>
                      <m:rPr>
                        <m:sty m:val="p"/>
                      </m:rPr>
                      <a:rPr lang="fr-FR" sz="1600" b="0" i="0" smtClean="0">
                        <a:latin typeface="Cambria Math" panose="02040503050406030204" pitchFamily="18" charset="0"/>
                        <a:ea typeface="Cambria Math" panose="02040503050406030204" pitchFamily="18" charset="0"/>
                      </a:rPr>
                      <m:t>X</m:t>
                    </m:r>
                    <m:r>
                      <a:rPr lang="fr-FR" sz="1600" b="0" i="0" smtClean="0">
                        <a:latin typeface="Cambria Math" panose="02040503050406030204" pitchFamily="18" charset="0"/>
                        <a:ea typeface="Cambria Math" panose="02040503050406030204" pitchFamily="18" charset="0"/>
                      </a:rPr>
                      <m:t> </m:t>
                    </m:r>
                    <m:r>
                      <a:rPr lang="fr-FR" sz="1600" b="0" i="1" smtClean="0">
                        <a:latin typeface="Cambria Math" panose="02040503050406030204" pitchFamily="18" charset="0"/>
                        <a:ea typeface="Cambria Math" panose="02040503050406030204" pitchFamily="18" charset="0"/>
                      </a:rPr>
                      <m:t>× </m:t>
                    </m:r>
                    <m:r>
                      <a:rPr lang="fr-FR" sz="1600" b="0" i="1" smtClean="0">
                        <a:latin typeface="Cambria Math" panose="02040503050406030204" pitchFamily="18" charset="0"/>
                        <a:ea typeface="Cambria Math" panose="02040503050406030204" pitchFamily="18" charset="0"/>
                      </a:rPr>
                      <m:t>𝑤</m:t>
                    </m:r>
                  </m:oMath>
                </a14:m>
                <a:r>
                  <a:rPr lang="fr-FR" sz="1600" i="1" dirty="0">
                    <a:latin typeface="Cambria Math" panose="02040503050406030204" pitchFamily="18" charset="0"/>
                  </a:rPr>
                  <a:t> </a:t>
                </a:r>
                <a:r>
                  <a:rPr lang="fr-FR" sz="1600" dirty="0">
                    <a:latin typeface="Cambria Math" panose="02040503050406030204" pitchFamily="18" charset="0"/>
                  </a:rPr>
                  <a:t>+ </a:t>
                </a:r>
                <a:r>
                  <a:rPr lang="fr-FR" sz="1600" b="0" dirty="0">
                    <a:latin typeface="Cambria Math" panose="02040503050406030204" pitchFamily="18" charset="0"/>
                  </a:rPr>
                  <a:t>b</a:t>
                </a:r>
                <a:r>
                  <a:rPr lang="fr-FR" sz="1600" dirty="0">
                    <a:latin typeface="Cambria Math" panose="02040503050406030204" pitchFamily="18" charset="0"/>
                  </a:rPr>
                  <a:t>     </a:t>
                </a:r>
                <a:r>
                  <a:rPr lang="fr-FR" sz="1600" b="1" dirty="0">
                    <a:latin typeface="Cambria Math" panose="02040503050406030204" pitchFamily="18" charset="0"/>
                  </a:rPr>
                  <a:t>out</a:t>
                </a:r>
                <a:r>
                  <a:rPr lang="fr-FR" sz="1600" dirty="0">
                    <a:latin typeface="Cambria Math" panose="02040503050406030204" pitchFamily="18" charset="0"/>
                  </a:rPr>
                  <a:t> </a:t>
                </a:r>
                <a14:m>
                  <m:oMath xmlns:m="http://schemas.openxmlformats.org/officeDocument/2006/math">
                    <m:r>
                      <a:rPr lang="fr-FR" sz="1600" b="0" i="1" smtClean="0">
                        <a:latin typeface="Cambria Math" panose="02040503050406030204" pitchFamily="18" charset="0"/>
                      </a:rPr>
                      <m:t>=</m:t>
                    </m:r>
                    <m:r>
                      <a:rPr lang="fr-FR" sz="1600" b="0" i="1" dirty="0" smtClean="0">
                        <a:latin typeface="Cambria Math" panose="02040503050406030204" pitchFamily="18" charset="0"/>
                        <a:ea typeface="Cambria Math" panose="02040503050406030204" pitchFamily="18" charset="0"/>
                      </a:rPr>
                      <m:t>𝜎</m:t>
                    </m:r>
                    <m:d>
                      <m:dPr>
                        <m:ctrlPr>
                          <a:rPr lang="fr-FR" sz="1600" b="0" i="1" smtClean="0">
                            <a:latin typeface="Cambria Math" panose="02040503050406030204" pitchFamily="18" charset="0"/>
                            <a:ea typeface="Cambria Math" panose="02040503050406030204" pitchFamily="18" charset="0"/>
                          </a:rPr>
                        </m:ctrlPr>
                      </m:dPr>
                      <m:e>
                        <m:r>
                          <m:rPr>
                            <m:sty m:val="p"/>
                          </m:rPr>
                          <a:rPr lang="fr-FR" sz="1600" b="0" i="0" smtClean="0">
                            <a:latin typeface="Cambria Math" panose="02040503050406030204" pitchFamily="18" charset="0"/>
                            <a:ea typeface="Cambria Math" panose="02040503050406030204" pitchFamily="18" charset="0"/>
                          </a:rPr>
                          <m:t>net</m:t>
                        </m:r>
                      </m:e>
                    </m:d>
                  </m:oMath>
                </a14:m>
                <a:r>
                  <a:rPr lang="fr-FR" sz="1600" b="0" dirty="0">
                    <a:latin typeface="Cambria Math" panose="02040503050406030204" pitchFamily="18" charset="0"/>
                    <a:ea typeface="Cambria Math" panose="02040503050406030204" pitchFamily="18" charset="0"/>
                  </a:rPr>
                  <a:t>           </a:t>
                </a:r>
              </a:p>
              <a:p>
                <a:pPr algn="ctr"/>
                <a:endParaRPr lang="fr-FR" sz="1600" dirty="0"/>
              </a:p>
            </p:txBody>
          </p:sp>
        </mc:Choice>
        <mc:Fallback xmlns="">
          <p:sp>
            <p:nvSpPr>
              <p:cNvPr id="43" name="ZoneTexte 42">
                <a:extLst>
                  <a:ext uri="{FF2B5EF4-FFF2-40B4-BE49-F238E27FC236}">
                    <a16:creationId xmlns:a16="http://schemas.microsoft.com/office/drawing/2014/main" id="{1F2622F4-B8F0-819E-B971-3C34D4595ABE}"/>
                  </a:ext>
                </a:extLst>
              </p:cNvPr>
              <p:cNvSpPr txBox="1">
                <a:spLocks noRot="1" noChangeAspect="1" noMove="1" noResize="1" noEditPoints="1" noAdjustHandles="1" noChangeArrowheads="1" noChangeShapeType="1" noTextEdit="1"/>
              </p:cNvSpPr>
              <p:nvPr/>
            </p:nvSpPr>
            <p:spPr>
              <a:xfrm>
                <a:off x="3249894" y="4640338"/>
                <a:ext cx="4242678" cy="738664"/>
              </a:xfrm>
              <a:prstGeom prst="rect">
                <a:avLst/>
              </a:prstGeom>
              <a:blipFill>
                <a:blip r:embed="rId3"/>
                <a:stretch>
                  <a:fillRect/>
                </a:stretch>
              </a:blipFill>
              <a:ln>
                <a:noFill/>
              </a:ln>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4" name="ZoneTexte 43">
                <a:extLst>
                  <a:ext uri="{FF2B5EF4-FFF2-40B4-BE49-F238E27FC236}">
                    <a16:creationId xmlns:a16="http://schemas.microsoft.com/office/drawing/2014/main" id="{96CD1995-B400-E73C-374A-1FD5C1E30579}"/>
                  </a:ext>
                </a:extLst>
              </p:cNvPr>
              <p:cNvSpPr txBox="1"/>
              <p:nvPr/>
            </p:nvSpPr>
            <p:spPr>
              <a:xfrm>
                <a:off x="7031418" y="2533615"/>
                <a:ext cx="2324249" cy="302840"/>
              </a:xfrm>
              <a:prstGeom prst="rect">
                <a:avLst/>
              </a:prstGeom>
              <a:noFill/>
              <a:ln>
                <a:solidFill>
                  <a:schemeClr val="tx1">
                    <a:lumMod val="50000"/>
                    <a:lumOff val="50000"/>
                  </a:schemeClr>
                </a:solidFill>
              </a:ln>
            </p:spPr>
            <p:txBody>
              <a:bodyPr wrap="square" rtlCol="0">
                <a:spAutoFit/>
              </a:bodyPr>
              <a:lstStyle/>
              <a:p>
                <a:pPr algn="ctr"/>
                <a14:m>
                  <m:oMath xmlns:m="http://schemas.openxmlformats.org/officeDocument/2006/math">
                    <m:r>
                      <a:rPr lang="fr-FR" sz="1400" b="0" i="1" noProof="0" smtClean="0">
                        <a:latin typeface="Cambria Math" panose="02040503050406030204" pitchFamily="18" charset="0"/>
                      </a:rPr>
                      <m:t>𝐿𝑜𝑠𝑠</m:t>
                    </m:r>
                    <m:r>
                      <a:rPr lang="fr-FR" sz="1400" b="0" i="1" noProof="0" smtClean="0">
                        <a:latin typeface="Cambria Math" panose="02040503050406030204" pitchFamily="18" charset="0"/>
                      </a:rPr>
                      <m:t>= (</m:t>
                    </m:r>
                    <m:r>
                      <m:rPr>
                        <m:sty m:val="p"/>
                      </m:rPr>
                      <a:rPr lang="fr-FR" sz="1400" b="0" i="0" noProof="0" smtClean="0">
                        <a:latin typeface="Cambria Math" panose="02040503050406030204" pitchFamily="18" charset="0"/>
                      </a:rPr>
                      <m:t>target</m:t>
                    </m:r>
                    <m:r>
                      <a:rPr lang="fr-FR" sz="1400" b="0" i="0" noProof="0" smtClean="0">
                        <a:latin typeface="Cambria Math" panose="02040503050406030204" pitchFamily="18" charset="0"/>
                      </a:rPr>
                      <m:t> − </m:t>
                    </m:r>
                    <m:r>
                      <m:rPr>
                        <m:sty m:val="p"/>
                      </m:rPr>
                      <a:rPr lang="fr-FR" sz="1400" b="0" i="0" noProof="0" smtClean="0">
                        <a:latin typeface="Cambria Math" panose="02040503050406030204" pitchFamily="18" charset="0"/>
                      </a:rPr>
                      <m:t>out</m:t>
                    </m:r>
                    <m:r>
                      <a:rPr lang="fr-FR" sz="1400" b="0" i="1" noProof="0" smtClean="0">
                        <a:latin typeface="Cambria Math" panose="02040503050406030204" pitchFamily="18" charset="0"/>
                      </a:rPr>
                      <m:t>)</m:t>
                    </m:r>
                  </m:oMath>
                </a14:m>
                <a:r>
                  <a:rPr lang="en-GB" sz="1400" baseline="30000" noProof="0" dirty="0"/>
                  <a:t>2</a:t>
                </a:r>
              </a:p>
            </p:txBody>
          </p:sp>
        </mc:Choice>
        <mc:Fallback xmlns="">
          <p:sp>
            <p:nvSpPr>
              <p:cNvPr id="44" name="ZoneTexte 43">
                <a:extLst>
                  <a:ext uri="{FF2B5EF4-FFF2-40B4-BE49-F238E27FC236}">
                    <a16:creationId xmlns:a16="http://schemas.microsoft.com/office/drawing/2014/main" id="{96CD1995-B400-E73C-374A-1FD5C1E30579}"/>
                  </a:ext>
                </a:extLst>
              </p:cNvPr>
              <p:cNvSpPr txBox="1">
                <a:spLocks noRot="1" noChangeAspect="1" noMove="1" noResize="1" noEditPoints="1" noAdjustHandles="1" noChangeArrowheads="1" noChangeShapeType="1" noTextEdit="1"/>
              </p:cNvSpPr>
              <p:nvPr/>
            </p:nvSpPr>
            <p:spPr>
              <a:xfrm>
                <a:off x="7031418" y="2533615"/>
                <a:ext cx="2324249" cy="302840"/>
              </a:xfrm>
              <a:prstGeom prst="rect">
                <a:avLst/>
              </a:prstGeom>
              <a:blipFill>
                <a:blip r:embed="rId4"/>
                <a:stretch>
                  <a:fillRect b="-12000"/>
                </a:stretch>
              </a:blipFill>
              <a:ln>
                <a:solidFill>
                  <a:schemeClr val="tx1">
                    <a:lumMod val="50000"/>
                    <a:lumOff val="50000"/>
                  </a:schemeClr>
                </a:solidFill>
              </a:ln>
            </p:spPr>
            <p:txBody>
              <a:bodyPr/>
              <a:lstStyle/>
              <a:p>
                <a:r>
                  <a:rPr lang="en-GB">
                    <a:noFill/>
                  </a:rPr>
                  <a:t> </a:t>
                </a:r>
              </a:p>
            </p:txBody>
          </p:sp>
        </mc:Fallback>
      </mc:AlternateContent>
      <p:sp>
        <p:nvSpPr>
          <p:cNvPr id="46" name="Espace réservé du pied de page 45">
            <a:extLst>
              <a:ext uri="{FF2B5EF4-FFF2-40B4-BE49-F238E27FC236}">
                <a16:creationId xmlns:a16="http://schemas.microsoft.com/office/drawing/2014/main" id="{71F913E4-CF75-B504-7AA4-4A49BB2E5434}"/>
              </a:ext>
            </a:extLst>
          </p:cNvPr>
          <p:cNvSpPr>
            <a:spLocks noGrp="1"/>
          </p:cNvSpPr>
          <p:nvPr>
            <p:ph type="ftr" sz="quarter" idx="11"/>
          </p:nvPr>
        </p:nvSpPr>
        <p:spPr/>
        <p:txBody>
          <a:bodyPr/>
          <a:lstStyle/>
          <a:p>
            <a:r>
              <a:rPr lang="fr-FR"/>
              <a:t>Introduction to Neural Networks. Author: David Thébault</a:t>
            </a:r>
          </a:p>
        </p:txBody>
      </p:sp>
      <p:cxnSp>
        <p:nvCxnSpPr>
          <p:cNvPr id="48" name="Connecteur droit 47">
            <a:extLst>
              <a:ext uri="{FF2B5EF4-FFF2-40B4-BE49-F238E27FC236}">
                <a16:creationId xmlns:a16="http://schemas.microsoft.com/office/drawing/2014/main" id="{AF84B693-B23E-8F68-A72D-3827D5885072}"/>
              </a:ext>
            </a:extLst>
          </p:cNvPr>
          <p:cNvCxnSpPr>
            <a:cxnSpLocks/>
          </p:cNvCxnSpPr>
          <p:nvPr/>
        </p:nvCxnSpPr>
        <p:spPr>
          <a:xfrm>
            <a:off x="5523184" y="4551696"/>
            <a:ext cx="0" cy="898487"/>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0" name="ZoneTexte 49">
                <a:extLst>
                  <a:ext uri="{FF2B5EF4-FFF2-40B4-BE49-F238E27FC236}">
                    <a16:creationId xmlns:a16="http://schemas.microsoft.com/office/drawing/2014/main" id="{270C1B47-5788-AF11-3C8B-367200C2F8A3}"/>
                  </a:ext>
                </a:extLst>
              </p:cNvPr>
              <p:cNvSpPr txBox="1"/>
              <p:nvPr/>
            </p:nvSpPr>
            <p:spPr>
              <a:xfrm>
                <a:off x="838200" y="1416966"/>
                <a:ext cx="10675513" cy="738664"/>
              </a:xfrm>
              <a:prstGeom prst="rect">
                <a:avLst/>
              </a:prstGeom>
              <a:noFill/>
            </p:spPr>
            <p:txBody>
              <a:bodyPr wrap="square" rtlCol="0">
                <a:spAutoFit/>
              </a:bodyPr>
              <a:lstStyle/>
              <a:p>
                <a:r>
                  <a:rPr lang="en-GB" sz="2400" b="1" dirty="0"/>
                  <a:t>Perceptron</a:t>
                </a:r>
                <a:r>
                  <a:rPr lang="en-GB" noProof="0" dirty="0"/>
                  <a:t> is a model </a:t>
                </a:r>
                <a:r>
                  <a:rPr lang="en-GB" dirty="0"/>
                  <a:t>composed a s</a:t>
                </a:r>
                <a:r>
                  <a:rPr lang="en-GB" noProof="0" dirty="0"/>
                  <a:t>ingle </a:t>
                </a:r>
                <a:r>
                  <a:rPr lang="en-GB" sz="2400" b="1" noProof="0" dirty="0"/>
                  <a:t>neuron</a:t>
                </a:r>
                <a:r>
                  <a:rPr lang="en-GB" noProof="0" dirty="0"/>
                  <a:t> that takes one or several inputs (below on input) and weight and sum the input(s) and then apply an activation function </a:t>
                </a:r>
                <a14:m>
                  <m:oMath xmlns:m="http://schemas.openxmlformats.org/officeDocument/2006/math">
                    <m:r>
                      <a:rPr lang="fr-FR" sz="1800" b="0" i="1" dirty="0" smtClean="0">
                        <a:latin typeface="Cambria Math" panose="02040503050406030204" pitchFamily="18" charset="0"/>
                        <a:ea typeface="Cambria Math" panose="02040503050406030204" pitchFamily="18" charset="0"/>
                      </a:rPr>
                      <m:t>𝜎</m:t>
                    </m:r>
                    <m:r>
                      <a:rPr lang="fr-FR" sz="1800" b="0" i="1" dirty="0" smtClean="0">
                        <a:latin typeface="Cambria Math" panose="02040503050406030204" pitchFamily="18" charset="0"/>
                        <a:ea typeface="Cambria Math" panose="02040503050406030204" pitchFamily="18" charset="0"/>
                      </a:rPr>
                      <m:t> </m:t>
                    </m:r>
                  </m:oMath>
                </a14:m>
                <a:r>
                  <a:rPr lang="en-GB" noProof="0" dirty="0"/>
                  <a:t>in order to produce an output.</a:t>
                </a:r>
              </a:p>
            </p:txBody>
          </p:sp>
        </mc:Choice>
        <mc:Fallback xmlns="">
          <p:sp>
            <p:nvSpPr>
              <p:cNvPr id="50" name="ZoneTexte 49">
                <a:extLst>
                  <a:ext uri="{FF2B5EF4-FFF2-40B4-BE49-F238E27FC236}">
                    <a16:creationId xmlns:a16="http://schemas.microsoft.com/office/drawing/2014/main" id="{270C1B47-5788-AF11-3C8B-367200C2F8A3}"/>
                  </a:ext>
                </a:extLst>
              </p:cNvPr>
              <p:cNvSpPr txBox="1">
                <a:spLocks noRot="1" noChangeAspect="1" noMove="1" noResize="1" noEditPoints="1" noAdjustHandles="1" noChangeArrowheads="1" noChangeShapeType="1" noTextEdit="1"/>
              </p:cNvSpPr>
              <p:nvPr/>
            </p:nvSpPr>
            <p:spPr>
              <a:xfrm>
                <a:off x="838200" y="1416966"/>
                <a:ext cx="10675513" cy="738664"/>
              </a:xfrm>
              <a:prstGeom prst="rect">
                <a:avLst/>
              </a:prstGeom>
              <a:blipFill>
                <a:blip r:embed="rId5"/>
                <a:stretch>
                  <a:fillRect l="-951" t="-6780" b="-13559"/>
                </a:stretch>
              </a:blipFill>
            </p:spPr>
            <p:txBody>
              <a:bodyPr/>
              <a:lstStyle/>
              <a:p>
                <a:r>
                  <a:rPr lang="fr-FR">
                    <a:noFill/>
                  </a:rPr>
                  <a:t> </a:t>
                </a:r>
              </a:p>
            </p:txBody>
          </p:sp>
        </mc:Fallback>
      </mc:AlternateContent>
      <p:sp>
        <p:nvSpPr>
          <p:cNvPr id="3" name="ZoneTexte 2">
            <a:extLst>
              <a:ext uri="{FF2B5EF4-FFF2-40B4-BE49-F238E27FC236}">
                <a16:creationId xmlns:a16="http://schemas.microsoft.com/office/drawing/2014/main" id="{0E642CC2-213C-18C0-72C3-8399F02D4F42}"/>
              </a:ext>
            </a:extLst>
          </p:cNvPr>
          <p:cNvSpPr txBox="1"/>
          <p:nvPr/>
        </p:nvSpPr>
        <p:spPr>
          <a:xfrm>
            <a:off x="838200" y="5696128"/>
            <a:ext cx="6773333" cy="369332"/>
          </a:xfrm>
          <a:prstGeom prst="rect">
            <a:avLst/>
          </a:prstGeom>
          <a:noFill/>
        </p:spPr>
        <p:txBody>
          <a:bodyPr wrap="square" rtlCol="0">
            <a:spAutoFit/>
          </a:bodyPr>
          <a:lstStyle/>
          <a:p>
            <a:r>
              <a:rPr lang="en-GB" noProof="0" dirty="0"/>
              <a:t>A </a:t>
            </a:r>
            <a:r>
              <a:rPr lang="en-GB" b="1" noProof="0" dirty="0"/>
              <a:t>neuron</a:t>
            </a:r>
            <a:r>
              <a:rPr lang="en-GB" noProof="0" dirty="0"/>
              <a:t> is also called a </a:t>
            </a:r>
            <a:r>
              <a:rPr lang="en-GB" b="1" noProof="0" dirty="0"/>
              <a:t>unit</a:t>
            </a:r>
            <a:r>
              <a:rPr lang="en-GB" noProof="0" dirty="0"/>
              <a:t> or a </a:t>
            </a:r>
            <a:r>
              <a:rPr lang="en-GB" b="1" noProof="0" dirty="0"/>
              <a:t>node</a:t>
            </a:r>
            <a:r>
              <a:rPr lang="en-GB" noProof="0" dirty="0"/>
              <a:t>.</a:t>
            </a:r>
          </a:p>
        </p:txBody>
      </p:sp>
      <p:sp>
        <p:nvSpPr>
          <p:cNvPr id="5" name="Flèche vers la droite 4">
            <a:extLst>
              <a:ext uri="{FF2B5EF4-FFF2-40B4-BE49-F238E27FC236}">
                <a16:creationId xmlns:a16="http://schemas.microsoft.com/office/drawing/2014/main" id="{FBB94B74-7CA2-F16F-9ED3-98D8227F6871}"/>
              </a:ext>
            </a:extLst>
          </p:cNvPr>
          <p:cNvSpPr/>
          <p:nvPr/>
        </p:nvSpPr>
        <p:spPr>
          <a:xfrm>
            <a:off x="3530600" y="3725256"/>
            <a:ext cx="3640661" cy="104030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noProof="0" dirty="0"/>
              <a:t>Forward Pass</a:t>
            </a:r>
          </a:p>
        </p:txBody>
      </p:sp>
      <p:sp>
        <p:nvSpPr>
          <p:cNvPr id="6" name="ZoneTexte 5">
            <a:extLst>
              <a:ext uri="{FF2B5EF4-FFF2-40B4-BE49-F238E27FC236}">
                <a16:creationId xmlns:a16="http://schemas.microsoft.com/office/drawing/2014/main" id="{E64BA53C-8AFE-03FF-EF60-7452BCB8428A}"/>
              </a:ext>
            </a:extLst>
          </p:cNvPr>
          <p:cNvSpPr txBox="1"/>
          <p:nvPr/>
        </p:nvSpPr>
        <p:spPr>
          <a:xfrm>
            <a:off x="838200" y="6051863"/>
            <a:ext cx="6773333" cy="276999"/>
          </a:xfrm>
          <a:prstGeom prst="rect">
            <a:avLst/>
          </a:prstGeom>
          <a:noFill/>
        </p:spPr>
        <p:txBody>
          <a:bodyPr wrap="square" rtlCol="0">
            <a:spAutoFit/>
          </a:bodyPr>
          <a:lstStyle/>
          <a:p>
            <a:r>
              <a:rPr lang="en-GB" sz="1200" noProof="0" dirty="0"/>
              <a:t>Note: in general, we have more than one input feature.</a:t>
            </a:r>
          </a:p>
        </p:txBody>
      </p:sp>
    </p:spTree>
    <p:extLst>
      <p:ext uri="{BB962C8B-B14F-4D97-AF65-F5344CB8AC3E}">
        <p14:creationId xmlns:p14="http://schemas.microsoft.com/office/powerpoint/2010/main" val="79998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398F5-A89B-4CA8-CF75-2256C43A7194}"/>
            </a:ext>
          </a:extLst>
        </p:cNvPr>
        <p:cNvGrpSpPr/>
        <p:nvPr/>
      </p:nvGrpSpPr>
      <p:grpSpPr>
        <a:xfrm>
          <a:off x="0" y="0"/>
          <a:ext cx="0" cy="0"/>
          <a:chOff x="0" y="0"/>
          <a:chExt cx="0" cy="0"/>
        </a:xfrm>
      </p:grpSpPr>
      <p:sp>
        <p:nvSpPr>
          <p:cNvPr id="46" name="Espace réservé du pied de page 45">
            <a:extLst>
              <a:ext uri="{FF2B5EF4-FFF2-40B4-BE49-F238E27FC236}">
                <a16:creationId xmlns:a16="http://schemas.microsoft.com/office/drawing/2014/main" id="{12B0C38B-A50A-69CB-030F-5B2279BB2E59}"/>
              </a:ext>
            </a:extLst>
          </p:cNvPr>
          <p:cNvSpPr>
            <a:spLocks noGrp="1"/>
          </p:cNvSpPr>
          <p:nvPr>
            <p:ph type="ftr" sz="quarter" idx="11"/>
          </p:nvPr>
        </p:nvSpPr>
        <p:spPr/>
        <p:txBody>
          <a:bodyPr/>
          <a:lstStyle/>
          <a:p>
            <a:r>
              <a:rPr lang="fr-FR"/>
              <a:t>Introduction to Neural Networks. Author: David Thébault</a:t>
            </a:r>
          </a:p>
        </p:txBody>
      </p:sp>
      <p:sp>
        <p:nvSpPr>
          <p:cNvPr id="50" name="ZoneTexte 49">
            <a:extLst>
              <a:ext uri="{FF2B5EF4-FFF2-40B4-BE49-F238E27FC236}">
                <a16:creationId xmlns:a16="http://schemas.microsoft.com/office/drawing/2014/main" id="{78E13507-348F-950A-ED1D-9A73ADD98316}"/>
              </a:ext>
            </a:extLst>
          </p:cNvPr>
          <p:cNvSpPr txBox="1"/>
          <p:nvPr/>
        </p:nvSpPr>
        <p:spPr>
          <a:xfrm>
            <a:off x="838200" y="1532877"/>
            <a:ext cx="6773333" cy="369332"/>
          </a:xfrm>
          <a:prstGeom prst="rect">
            <a:avLst/>
          </a:prstGeom>
          <a:noFill/>
        </p:spPr>
        <p:txBody>
          <a:bodyPr wrap="square" rtlCol="0">
            <a:spAutoFit/>
          </a:bodyPr>
          <a:lstStyle/>
          <a:p>
            <a:r>
              <a:rPr lang="en-GB" dirty="0"/>
              <a:t>The output of a Neural Network (NN) is just a function</a:t>
            </a:r>
          </a:p>
        </p:txBody>
      </p:sp>
      <p:sp>
        <p:nvSpPr>
          <p:cNvPr id="7" name="ZoneTexte 6">
            <a:extLst>
              <a:ext uri="{FF2B5EF4-FFF2-40B4-BE49-F238E27FC236}">
                <a16:creationId xmlns:a16="http://schemas.microsoft.com/office/drawing/2014/main" id="{80111948-F213-3F26-22DB-F11DDA17BFC7}"/>
              </a:ext>
            </a:extLst>
          </p:cNvPr>
          <p:cNvSpPr txBox="1"/>
          <p:nvPr/>
        </p:nvSpPr>
        <p:spPr>
          <a:xfrm>
            <a:off x="5743977" y="2459865"/>
            <a:ext cx="6053071" cy="2691684"/>
          </a:xfrm>
          <a:prstGeom prst="rect">
            <a:avLst/>
          </a:prstGeom>
          <a:noFill/>
        </p:spPr>
        <p:txBody>
          <a:bodyPr wrap="square" lIns="90000">
            <a:noAutofit/>
          </a:bodyPr>
          <a:lstStyle/>
          <a:p>
            <a:r>
              <a:rPr lang="en-GB" noProof="0" dirty="0"/>
              <a:t>It means that we can chain and compose layers of units into NN to approximate even more complex functions.</a:t>
            </a:r>
          </a:p>
          <a:p>
            <a:endParaRPr lang="en-GB" noProof="0" dirty="0"/>
          </a:p>
          <a:p>
            <a:r>
              <a:rPr lang="en-GB" noProof="0" dirty="0"/>
              <a:t>If a function transform input into outputs, then layers of units working together can help us to find more complex transformations between input and outputs. </a:t>
            </a:r>
          </a:p>
          <a:p>
            <a:endParaRPr lang="en-GB" dirty="0"/>
          </a:p>
          <a:p>
            <a:r>
              <a:rPr lang="en-GB" noProof="0" dirty="0"/>
              <a:t>For example: transformation of an input image into a label output describing what's the image.</a:t>
            </a:r>
          </a:p>
        </p:txBody>
      </p:sp>
      <p:sp>
        <p:nvSpPr>
          <p:cNvPr id="6" name="Titre 1">
            <a:extLst>
              <a:ext uri="{FF2B5EF4-FFF2-40B4-BE49-F238E27FC236}">
                <a16:creationId xmlns:a16="http://schemas.microsoft.com/office/drawing/2014/main" id="{A58A7EF2-FE2F-C7B1-05FB-C234FF98D7DF}"/>
              </a:ext>
            </a:extLst>
          </p:cNvPr>
          <p:cNvSpPr>
            <a:spLocks noGrp="1"/>
          </p:cNvSpPr>
          <p:nvPr>
            <p:ph type="title"/>
          </p:nvPr>
        </p:nvSpPr>
        <p:spPr>
          <a:xfrm>
            <a:off x="838200" y="300730"/>
            <a:ext cx="10515600" cy="1325563"/>
          </a:xfrm>
        </p:spPr>
        <p:txBody>
          <a:bodyPr/>
          <a:lstStyle/>
          <a:p>
            <a:r>
              <a:rPr lang="en-GB" noProof="0" dirty="0"/>
              <a:t>Perceptron </a:t>
            </a:r>
            <a:r>
              <a:rPr lang="en-GB" sz="2400" noProof="0" dirty="0"/>
              <a:t>with a single input</a:t>
            </a:r>
            <a:endParaRPr lang="en-GB" noProof="0" dirty="0"/>
          </a:p>
        </p:txBody>
      </p:sp>
      <p:pic>
        <p:nvPicPr>
          <p:cNvPr id="3" name="Image 2">
            <a:extLst>
              <a:ext uri="{FF2B5EF4-FFF2-40B4-BE49-F238E27FC236}">
                <a16:creationId xmlns:a16="http://schemas.microsoft.com/office/drawing/2014/main" id="{EE0DA759-9EF8-5BB3-738D-2590B5B05507}"/>
              </a:ext>
            </a:extLst>
          </p:cNvPr>
          <p:cNvPicPr>
            <a:picLocks noChangeAspect="1"/>
          </p:cNvPicPr>
          <p:nvPr/>
        </p:nvPicPr>
        <p:blipFill>
          <a:blip r:embed="rId2"/>
          <a:stretch>
            <a:fillRect/>
          </a:stretch>
        </p:blipFill>
        <p:spPr>
          <a:xfrm>
            <a:off x="680028" y="2219704"/>
            <a:ext cx="4787564" cy="2542772"/>
          </a:xfrm>
          <a:prstGeom prst="rect">
            <a:avLst/>
          </a:prstGeom>
        </p:spPr>
      </p:pic>
    </p:spTree>
    <p:extLst>
      <p:ext uri="{BB962C8B-B14F-4D97-AF65-F5344CB8AC3E}">
        <p14:creationId xmlns:p14="http://schemas.microsoft.com/office/powerpoint/2010/main" val="199715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6CDD1-BCB7-A59A-2D38-228303F521D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25D82DF-287C-93E8-242C-EEC41C3EE828}"/>
              </a:ext>
            </a:extLst>
          </p:cNvPr>
          <p:cNvSpPr>
            <a:spLocks noGrp="1"/>
          </p:cNvSpPr>
          <p:nvPr>
            <p:ph type="title"/>
          </p:nvPr>
        </p:nvSpPr>
        <p:spPr/>
        <p:txBody>
          <a:bodyPr/>
          <a:lstStyle/>
          <a:p>
            <a:r>
              <a:rPr lang="fr-FR" dirty="0"/>
              <a:t>Perceptron</a:t>
            </a:r>
          </a:p>
        </p:txBody>
      </p:sp>
      <p:sp>
        <p:nvSpPr>
          <p:cNvPr id="46" name="Espace réservé du pied de page 45">
            <a:extLst>
              <a:ext uri="{FF2B5EF4-FFF2-40B4-BE49-F238E27FC236}">
                <a16:creationId xmlns:a16="http://schemas.microsoft.com/office/drawing/2014/main" id="{5F80DC5C-A723-841E-838F-027F0BEA2062}"/>
              </a:ext>
            </a:extLst>
          </p:cNvPr>
          <p:cNvSpPr>
            <a:spLocks noGrp="1"/>
          </p:cNvSpPr>
          <p:nvPr>
            <p:ph type="ftr" sz="quarter" idx="11"/>
          </p:nvPr>
        </p:nvSpPr>
        <p:spPr/>
        <p:txBody>
          <a:bodyPr/>
          <a:lstStyle/>
          <a:p>
            <a:r>
              <a:rPr lang="fr-FR"/>
              <a:t>Introduction to Neural Networks. Author: David Thébault</a:t>
            </a:r>
            <a:endParaRPr lang="fr-FR" dirty="0"/>
          </a:p>
        </p:txBody>
      </p:sp>
      <p:sp>
        <p:nvSpPr>
          <p:cNvPr id="50" name="ZoneTexte 49">
            <a:extLst>
              <a:ext uri="{FF2B5EF4-FFF2-40B4-BE49-F238E27FC236}">
                <a16:creationId xmlns:a16="http://schemas.microsoft.com/office/drawing/2014/main" id="{DEAB3197-D8BA-67D3-6954-7DEE1A120749}"/>
              </a:ext>
            </a:extLst>
          </p:cNvPr>
          <p:cNvSpPr txBox="1"/>
          <p:nvPr/>
        </p:nvSpPr>
        <p:spPr>
          <a:xfrm>
            <a:off x="838200" y="1532877"/>
            <a:ext cx="6773333" cy="369332"/>
          </a:xfrm>
          <a:prstGeom prst="rect">
            <a:avLst/>
          </a:prstGeom>
          <a:noFill/>
        </p:spPr>
        <p:txBody>
          <a:bodyPr wrap="square" rtlCol="0">
            <a:spAutoFit/>
          </a:bodyPr>
          <a:lstStyle/>
          <a:p>
            <a:r>
              <a:rPr lang="en-GB" b="1" dirty="0"/>
              <a:t>How do we find the optimal w and b that minimize the loss ?</a:t>
            </a:r>
          </a:p>
        </p:txBody>
      </p:sp>
      <p:sp>
        <p:nvSpPr>
          <p:cNvPr id="7" name="ZoneTexte 6">
            <a:extLst>
              <a:ext uri="{FF2B5EF4-FFF2-40B4-BE49-F238E27FC236}">
                <a16:creationId xmlns:a16="http://schemas.microsoft.com/office/drawing/2014/main" id="{62B852AD-9B7A-3BAC-C228-7A203891E5D3}"/>
              </a:ext>
            </a:extLst>
          </p:cNvPr>
          <p:cNvSpPr txBox="1"/>
          <p:nvPr/>
        </p:nvSpPr>
        <p:spPr>
          <a:xfrm>
            <a:off x="838200" y="4894271"/>
            <a:ext cx="10803765" cy="861774"/>
          </a:xfrm>
          <a:prstGeom prst="rect">
            <a:avLst/>
          </a:prstGeom>
          <a:noFill/>
        </p:spPr>
        <p:txBody>
          <a:bodyPr wrap="square" rtlCol="0">
            <a:spAutoFit/>
          </a:bodyPr>
          <a:lstStyle/>
          <a:p>
            <a:r>
              <a:rPr lang="en-GB" b="1" dirty="0">
                <a:sym typeface="Wingdings" pitchFamily="2" charset="2"/>
              </a:rPr>
              <a:t>This fundamental of Artificial Intelligence is called the </a:t>
            </a:r>
            <a:r>
              <a:rPr lang="en-GB" sz="3200" b="1" noProof="0" dirty="0"/>
              <a:t>Gradient descent </a:t>
            </a:r>
            <a:r>
              <a:rPr lang="en-GB" b="1" noProof="0" dirty="0"/>
              <a:t>and we will see an example just after.</a:t>
            </a:r>
            <a:endParaRPr lang="en-GB" sz="3200" b="1" noProof="0" dirty="0"/>
          </a:p>
        </p:txBody>
      </p:sp>
      <p:sp>
        <p:nvSpPr>
          <p:cNvPr id="26" name="ZoneTexte 25">
            <a:extLst>
              <a:ext uri="{FF2B5EF4-FFF2-40B4-BE49-F238E27FC236}">
                <a16:creationId xmlns:a16="http://schemas.microsoft.com/office/drawing/2014/main" id="{68B8DF0F-9C09-FB72-B1A1-6FC0F65FF8F4}"/>
              </a:ext>
            </a:extLst>
          </p:cNvPr>
          <p:cNvSpPr txBox="1"/>
          <p:nvPr/>
        </p:nvSpPr>
        <p:spPr>
          <a:xfrm>
            <a:off x="800100" y="2244078"/>
            <a:ext cx="10803765" cy="2308324"/>
          </a:xfrm>
          <a:prstGeom prst="rect">
            <a:avLst/>
          </a:prstGeom>
          <a:noFill/>
        </p:spPr>
        <p:txBody>
          <a:bodyPr wrap="square" rtlCol="0">
            <a:spAutoFit/>
          </a:bodyPr>
          <a:lstStyle/>
          <a:p>
            <a:r>
              <a:rPr lang="en-GB" noProof="0" dirty="0"/>
              <a:t>In our simplified example we could test different values, but </a:t>
            </a:r>
            <a:r>
              <a:rPr lang="en-GB" b="1" noProof="0" dirty="0"/>
              <a:t>the computer needs a rule and an ending step for every cases</a:t>
            </a:r>
            <a:r>
              <a:rPr lang="en-GB" noProof="0" dirty="0"/>
              <a:t>.</a:t>
            </a:r>
          </a:p>
          <a:p>
            <a:endParaRPr lang="en-GB" noProof="0" dirty="0"/>
          </a:p>
          <a:p>
            <a:r>
              <a:rPr lang="en-GB" noProof="0" dirty="0"/>
              <a:t>If we can figure out how changing W affects the Loss and specifically how it can lower the Loss then, we can use this information to adjust W accordingly.</a:t>
            </a:r>
          </a:p>
          <a:p>
            <a:endParaRPr lang="en-GB" noProof="0" dirty="0"/>
          </a:p>
          <a:p>
            <a:r>
              <a:rPr lang="en-GB" noProof="0" dirty="0"/>
              <a:t>We do have this information </a:t>
            </a:r>
            <a:r>
              <a:rPr lang="en-GB" noProof="0" dirty="0">
                <a:sym typeface="Wingdings" pitchFamily="2" charset="2"/>
              </a:rPr>
              <a:t></a:t>
            </a:r>
          </a:p>
          <a:p>
            <a:r>
              <a:rPr lang="en-GB" noProof="0" dirty="0">
                <a:sym typeface="Wingdings" pitchFamily="2" charset="2"/>
              </a:rPr>
              <a:t>We can use the </a:t>
            </a:r>
            <a:r>
              <a:rPr lang="en-GB" b="1" noProof="0" dirty="0">
                <a:sym typeface="Wingdings" pitchFamily="2" charset="2"/>
              </a:rPr>
              <a:t>derivative</a:t>
            </a:r>
            <a:r>
              <a:rPr lang="en-GB" noProof="0" dirty="0">
                <a:sym typeface="Wingdings" pitchFamily="2" charset="2"/>
              </a:rPr>
              <a:t> of the Loss function with respect to W to measure its sensitivity to W. </a:t>
            </a:r>
            <a:endParaRPr lang="en-GB" noProof="0" dirty="0"/>
          </a:p>
        </p:txBody>
      </p:sp>
      <mc:AlternateContent xmlns:mc="http://schemas.openxmlformats.org/markup-compatibility/2006" xmlns:a14="http://schemas.microsoft.com/office/drawing/2010/main">
        <mc:Choice Requires="a14">
          <p:sp>
            <p:nvSpPr>
              <p:cNvPr id="29" name="ZoneTexte 28">
                <a:extLst>
                  <a:ext uri="{FF2B5EF4-FFF2-40B4-BE49-F238E27FC236}">
                    <a16:creationId xmlns:a16="http://schemas.microsoft.com/office/drawing/2014/main" id="{C942F572-3D1E-7454-BB2C-68AE11D7F9F1}"/>
                  </a:ext>
                </a:extLst>
              </p:cNvPr>
              <p:cNvSpPr txBox="1"/>
              <p:nvPr/>
            </p:nvSpPr>
            <p:spPr>
              <a:xfrm>
                <a:off x="6444513" y="5537087"/>
                <a:ext cx="3417774" cy="8192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2800" b="0" i="1" smtClean="0">
                          <a:latin typeface="Cambria Math" panose="02040503050406030204" pitchFamily="18" charset="0"/>
                        </a:rPr>
                        <m:t>𝑊</m:t>
                      </m:r>
                      <m:r>
                        <a:rPr lang="fr-FR" sz="2800" b="0" i="1" smtClean="0">
                          <a:latin typeface="Cambria Math" panose="02040503050406030204" pitchFamily="18" charset="0"/>
                        </a:rPr>
                        <m:t> ≔</m:t>
                      </m:r>
                      <m:r>
                        <a:rPr lang="fr-FR" sz="2800" b="0" i="1" smtClean="0">
                          <a:latin typeface="Cambria Math" panose="02040503050406030204" pitchFamily="18" charset="0"/>
                        </a:rPr>
                        <m:t>𝑊</m:t>
                      </m:r>
                      <m:r>
                        <a:rPr lang="fr-FR" sz="2800" b="0" i="1" smtClean="0">
                          <a:latin typeface="Cambria Math" panose="02040503050406030204" pitchFamily="18" charset="0"/>
                        </a:rPr>
                        <m:t> − </m:t>
                      </m:r>
                      <m:r>
                        <a:rPr lang="fr-FR" sz="2800" b="0" i="1" smtClean="0">
                          <a:latin typeface="Cambria Math" panose="02040503050406030204" pitchFamily="18" charset="0"/>
                          <a:ea typeface="Cambria Math" panose="02040503050406030204" pitchFamily="18" charset="0"/>
                        </a:rPr>
                        <m:t>𝛼</m:t>
                      </m:r>
                      <m:f>
                        <m:fPr>
                          <m:ctrlPr>
                            <a:rPr lang="fr-FR" sz="2800" b="0" i="1" smtClean="0">
                              <a:latin typeface="Cambria Math" panose="02040503050406030204" pitchFamily="18" charset="0"/>
                              <a:ea typeface="Cambria Math" panose="02040503050406030204" pitchFamily="18" charset="0"/>
                            </a:rPr>
                          </m:ctrlPr>
                        </m:fPr>
                        <m:num>
                          <m:r>
                            <a:rPr lang="fr-FR" sz="2800" b="0" i="1" smtClean="0">
                              <a:latin typeface="Cambria Math" panose="02040503050406030204" pitchFamily="18" charset="0"/>
                              <a:ea typeface="Cambria Math" panose="02040503050406030204" pitchFamily="18" charset="0"/>
                            </a:rPr>
                            <m:t>𝜕</m:t>
                          </m:r>
                          <m:r>
                            <a:rPr lang="fr-FR" sz="2800" b="0" i="1" smtClean="0">
                              <a:latin typeface="Cambria Math" panose="02040503050406030204" pitchFamily="18" charset="0"/>
                              <a:ea typeface="Cambria Math" panose="02040503050406030204" pitchFamily="18" charset="0"/>
                            </a:rPr>
                            <m:t>𝐿𝑜𝑠𝑠</m:t>
                          </m:r>
                        </m:num>
                        <m:den>
                          <m:r>
                            <a:rPr lang="fr-FR" sz="2800" b="0" i="1" smtClean="0">
                              <a:latin typeface="Cambria Math" panose="02040503050406030204" pitchFamily="18" charset="0"/>
                              <a:ea typeface="Cambria Math" panose="02040503050406030204" pitchFamily="18" charset="0"/>
                            </a:rPr>
                            <m:t>𝜕</m:t>
                          </m:r>
                          <m:r>
                            <a:rPr lang="fr-FR" sz="2800" b="0" i="1" smtClean="0">
                              <a:latin typeface="Cambria Math" panose="02040503050406030204" pitchFamily="18" charset="0"/>
                              <a:ea typeface="Cambria Math" panose="02040503050406030204" pitchFamily="18" charset="0"/>
                            </a:rPr>
                            <m:t>𝑊</m:t>
                          </m:r>
                        </m:den>
                      </m:f>
                    </m:oMath>
                  </m:oMathPara>
                </a14:m>
                <a:endParaRPr lang="fr-FR" sz="2800" dirty="0"/>
              </a:p>
            </p:txBody>
          </p:sp>
        </mc:Choice>
        <mc:Fallback xmlns="">
          <p:sp>
            <p:nvSpPr>
              <p:cNvPr id="29" name="ZoneTexte 28">
                <a:extLst>
                  <a:ext uri="{FF2B5EF4-FFF2-40B4-BE49-F238E27FC236}">
                    <a16:creationId xmlns:a16="http://schemas.microsoft.com/office/drawing/2014/main" id="{C942F572-3D1E-7454-BB2C-68AE11D7F9F1}"/>
                  </a:ext>
                </a:extLst>
              </p:cNvPr>
              <p:cNvSpPr txBox="1">
                <a:spLocks noRot="1" noChangeAspect="1" noMove="1" noResize="1" noEditPoints="1" noAdjustHandles="1" noChangeArrowheads="1" noChangeShapeType="1" noTextEdit="1"/>
              </p:cNvSpPr>
              <p:nvPr/>
            </p:nvSpPr>
            <p:spPr>
              <a:xfrm>
                <a:off x="6444513" y="5537087"/>
                <a:ext cx="3417774" cy="819263"/>
              </a:xfrm>
              <a:prstGeom prst="rect">
                <a:avLst/>
              </a:prstGeom>
              <a:blipFill>
                <a:blip r:embed="rId3"/>
                <a:stretch>
                  <a:fillRect b="-13636"/>
                </a:stretch>
              </a:blipFill>
            </p:spPr>
            <p:txBody>
              <a:bodyPr/>
              <a:lstStyle/>
              <a:p>
                <a:r>
                  <a:rPr lang="fr-FR">
                    <a:noFill/>
                  </a:rPr>
                  <a:t> </a:t>
                </a:r>
              </a:p>
            </p:txBody>
          </p:sp>
        </mc:Fallback>
      </mc:AlternateContent>
    </p:spTree>
    <p:extLst>
      <p:ext uri="{BB962C8B-B14F-4D97-AF65-F5344CB8AC3E}">
        <p14:creationId xmlns:p14="http://schemas.microsoft.com/office/powerpoint/2010/main" val="2896951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1C302-4AA2-2912-3114-5B344CE4718D}"/>
            </a:ext>
          </a:extLst>
        </p:cNvPr>
        <p:cNvGrpSpPr/>
        <p:nvPr/>
      </p:nvGrpSpPr>
      <p:grpSpPr>
        <a:xfrm>
          <a:off x="0" y="0"/>
          <a:ext cx="0" cy="0"/>
          <a:chOff x="0" y="0"/>
          <a:chExt cx="0" cy="0"/>
        </a:xfrm>
      </p:grpSpPr>
      <p:grpSp>
        <p:nvGrpSpPr>
          <p:cNvPr id="12" name="Groupe 11">
            <a:extLst>
              <a:ext uri="{FF2B5EF4-FFF2-40B4-BE49-F238E27FC236}">
                <a16:creationId xmlns:a16="http://schemas.microsoft.com/office/drawing/2014/main" id="{464DBECC-B4E6-37AA-171A-98B843E5F1CC}"/>
              </a:ext>
            </a:extLst>
          </p:cNvPr>
          <p:cNvGrpSpPr/>
          <p:nvPr/>
        </p:nvGrpSpPr>
        <p:grpSpPr>
          <a:xfrm>
            <a:off x="4992412" y="2220312"/>
            <a:ext cx="1061545" cy="1061545"/>
            <a:chOff x="3563007" y="2367455"/>
            <a:chExt cx="1061545" cy="1061545"/>
          </a:xfrm>
        </p:grpSpPr>
        <p:sp>
          <p:nvSpPr>
            <p:cNvPr id="4" name="Ellipse 3">
              <a:extLst>
                <a:ext uri="{FF2B5EF4-FFF2-40B4-BE49-F238E27FC236}">
                  <a16:creationId xmlns:a16="http://schemas.microsoft.com/office/drawing/2014/main" id="{704888AE-63DC-DFFB-AECC-751C72E298B0}"/>
                </a:ext>
              </a:extLst>
            </p:cNvPr>
            <p:cNvSpPr/>
            <p:nvPr/>
          </p:nvSpPr>
          <p:spPr>
            <a:xfrm>
              <a:off x="3563007" y="2367455"/>
              <a:ext cx="1061545" cy="106154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1400" dirty="0"/>
            </a:p>
          </p:txBody>
        </p:sp>
        <p:cxnSp>
          <p:nvCxnSpPr>
            <p:cNvPr id="8" name="Connecteur droit 7">
              <a:extLst>
                <a:ext uri="{FF2B5EF4-FFF2-40B4-BE49-F238E27FC236}">
                  <a16:creationId xmlns:a16="http://schemas.microsoft.com/office/drawing/2014/main" id="{8E653A6D-78D5-044E-A2FC-E5090E364A09}"/>
                </a:ext>
              </a:extLst>
            </p:cNvPr>
            <p:cNvCxnSpPr>
              <a:stCxn id="4" idx="0"/>
              <a:endCxn id="4" idx="4"/>
            </p:cNvCxnSpPr>
            <p:nvPr/>
          </p:nvCxnSpPr>
          <p:spPr>
            <a:xfrm>
              <a:off x="4093780" y="2367455"/>
              <a:ext cx="0" cy="1061545"/>
            </a:xfrm>
            <a:prstGeom prst="line">
              <a:avLst/>
            </a:prstGeom>
          </p:spPr>
          <p:style>
            <a:lnRef idx="2">
              <a:schemeClr val="accent1"/>
            </a:lnRef>
            <a:fillRef idx="0">
              <a:schemeClr val="accent1"/>
            </a:fillRef>
            <a:effectRef idx="1">
              <a:schemeClr val="accent1"/>
            </a:effectRef>
            <a:fontRef idx="minor">
              <a:schemeClr val="tx1"/>
            </a:fontRef>
          </p:style>
        </p:cxnSp>
      </p:grpSp>
      <p:cxnSp>
        <p:nvCxnSpPr>
          <p:cNvPr id="17" name="Connecteur droit avec flèche 16">
            <a:extLst>
              <a:ext uri="{FF2B5EF4-FFF2-40B4-BE49-F238E27FC236}">
                <a16:creationId xmlns:a16="http://schemas.microsoft.com/office/drawing/2014/main" id="{C3FFFB39-4330-8610-1FC9-DCA94BB9CA27}"/>
              </a:ext>
            </a:extLst>
          </p:cNvPr>
          <p:cNvCxnSpPr>
            <a:cxnSpLocks/>
          </p:cNvCxnSpPr>
          <p:nvPr/>
        </p:nvCxnSpPr>
        <p:spPr>
          <a:xfrm>
            <a:off x="3992596" y="2817110"/>
            <a:ext cx="9354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ZoneTexte 20">
            <a:extLst>
              <a:ext uri="{FF2B5EF4-FFF2-40B4-BE49-F238E27FC236}">
                <a16:creationId xmlns:a16="http://schemas.microsoft.com/office/drawing/2014/main" id="{CB39570C-58D8-F8EB-D326-003B40A0F708}"/>
              </a:ext>
            </a:extLst>
          </p:cNvPr>
          <p:cNvSpPr txBox="1"/>
          <p:nvPr/>
        </p:nvSpPr>
        <p:spPr>
          <a:xfrm>
            <a:off x="3382996" y="2533615"/>
            <a:ext cx="599090" cy="523220"/>
          </a:xfrm>
          <a:prstGeom prst="rect">
            <a:avLst/>
          </a:prstGeom>
          <a:noFill/>
        </p:spPr>
        <p:txBody>
          <a:bodyPr wrap="square" rtlCol="0">
            <a:spAutoFit/>
          </a:bodyPr>
          <a:lstStyle/>
          <a:p>
            <a:pPr algn="ctr"/>
            <a:r>
              <a:rPr lang="fr-FR" sz="2800" dirty="0"/>
              <a:t>x</a:t>
            </a:r>
            <a:endParaRPr lang="fr-FR" sz="2800" baseline="-25000" dirty="0"/>
          </a:p>
        </p:txBody>
      </p:sp>
      <p:sp>
        <p:nvSpPr>
          <p:cNvPr id="28" name="ZoneTexte 27">
            <a:extLst>
              <a:ext uri="{FF2B5EF4-FFF2-40B4-BE49-F238E27FC236}">
                <a16:creationId xmlns:a16="http://schemas.microsoft.com/office/drawing/2014/main" id="{8BD4AD34-F0D8-0852-585F-F708F20F0C1B}"/>
              </a:ext>
            </a:extLst>
          </p:cNvPr>
          <p:cNvSpPr txBox="1"/>
          <p:nvPr/>
        </p:nvSpPr>
        <p:spPr>
          <a:xfrm>
            <a:off x="4120034" y="2467393"/>
            <a:ext cx="599090"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w</a:t>
            </a:r>
          </a:p>
        </p:txBody>
      </p:sp>
      <p:cxnSp>
        <p:nvCxnSpPr>
          <p:cNvPr id="30" name="Connecteur droit avec flèche 29">
            <a:extLst>
              <a:ext uri="{FF2B5EF4-FFF2-40B4-BE49-F238E27FC236}">
                <a16:creationId xmlns:a16="http://schemas.microsoft.com/office/drawing/2014/main" id="{198508DD-F988-03CE-3596-71A3B1C103AE}"/>
              </a:ext>
            </a:extLst>
          </p:cNvPr>
          <p:cNvCxnSpPr>
            <a:cxnSpLocks/>
          </p:cNvCxnSpPr>
          <p:nvPr/>
        </p:nvCxnSpPr>
        <p:spPr>
          <a:xfrm>
            <a:off x="6074977" y="2742628"/>
            <a:ext cx="9354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necteur droit avec flèche 31">
            <a:extLst>
              <a:ext uri="{FF2B5EF4-FFF2-40B4-BE49-F238E27FC236}">
                <a16:creationId xmlns:a16="http://schemas.microsoft.com/office/drawing/2014/main" id="{2CD41CE6-B58C-AFD2-8198-D5A4DF0EC548}"/>
              </a:ext>
            </a:extLst>
          </p:cNvPr>
          <p:cNvCxnSpPr>
            <a:cxnSpLocks/>
          </p:cNvCxnSpPr>
          <p:nvPr/>
        </p:nvCxnSpPr>
        <p:spPr>
          <a:xfrm flipV="1">
            <a:off x="4651482" y="3166246"/>
            <a:ext cx="493330" cy="5994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ZoneTexte 35">
            <a:extLst>
              <a:ext uri="{FF2B5EF4-FFF2-40B4-BE49-F238E27FC236}">
                <a16:creationId xmlns:a16="http://schemas.microsoft.com/office/drawing/2014/main" id="{78FA0761-0E79-2D25-10EE-966267349F60}"/>
              </a:ext>
            </a:extLst>
          </p:cNvPr>
          <p:cNvSpPr txBox="1"/>
          <p:nvPr/>
        </p:nvSpPr>
        <p:spPr>
          <a:xfrm>
            <a:off x="4184429" y="3641845"/>
            <a:ext cx="599090"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b</a:t>
            </a:r>
          </a:p>
        </p:txBody>
      </p:sp>
      <p:sp>
        <p:nvSpPr>
          <p:cNvPr id="41" name="ZoneTexte 40">
            <a:extLst>
              <a:ext uri="{FF2B5EF4-FFF2-40B4-BE49-F238E27FC236}">
                <a16:creationId xmlns:a16="http://schemas.microsoft.com/office/drawing/2014/main" id="{2A7AC0F1-4675-B5AA-50A1-8A2B78DC4CE4}"/>
              </a:ext>
            </a:extLst>
          </p:cNvPr>
          <p:cNvSpPr txBox="1"/>
          <p:nvPr/>
        </p:nvSpPr>
        <p:spPr>
          <a:xfrm>
            <a:off x="5034995" y="2635155"/>
            <a:ext cx="517929" cy="307777"/>
          </a:xfrm>
          <a:prstGeom prst="rect">
            <a:avLst/>
          </a:prstGeom>
          <a:noFill/>
        </p:spPr>
        <p:txBody>
          <a:bodyPr wrap="square" rtlCol="0">
            <a:spAutoFit/>
          </a:bodyPr>
          <a:lstStyle/>
          <a:p>
            <a:pPr algn="ctr"/>
            <a:r>
              <a:rPr lang="fr-FR" sz="1400" dirty="0"/>
              <a:t>net</a:t>
            </a:r>
          </a:p>
        </p:txBody>
      </p:sp>
      <p:sp>
        <p:nvSpPr>
          <p:cNvPr id="42" name="ZoneTexte 41">
            <a:extLst>
              <a:ext uri="{FF2B5EF4-FFF2-40B4-BE49-F238E27FC236}">
                <a16:creationId xmlns:a16="http://schemas.microsoft.com/office/drawing/2014/main" id="{5DA70D46-79DF-F7BF-470D-BCC72CE063CD}"/>
              </a:ext>
            </a:extLst>
          </p:cNvPr>
          <p:cNvSpPr txBox="1"/>
          <p:nvPr/>
        </p:nvSpPr>
        <p:spPr>
          <a:xfrm>
            <a:off x="5486866" y="2635155"/>
            <a:ext cx="517929" cy="307777"/>
          </a:xfrm>
          <a:prstGeom prst="rect">
            <a:avLst/>
          </a:prstGeom>
          <a:noFill/>
        </p:spPr>
        <p:txBody>
          <a:bodyPr wrap="square" rtlCol="0">
            <a:spAutoFit/>
          </a:bodyPr>
          <a:lstStyle/>
          <a:p>
            <a:pPr algn="ctr"/>
            <a:r>
              <a:rPr lang="fr-FR" sz="1400" dirty="0"/>
              <a:t>out</a:t>
            </a:r>
          </a:p>
        </p:txBody>
      </p:sp>
      <mc:AlternateContent xmlns:mc="http://schemas.openxmlformats.org/markup-compatibility/2006" xmlns:a14="http://schemas.microsoft.com/office/drawing/2010/main">
        <mc:Choice Requires="a14">
          <p:sp>
            <p:nvSpPr>
              <p:cNvPr id="43" name="ZoneTexte 42">
                <a:extLst>
                  <a:ext uri="{FF2B5EF4-FFF2-40B4-BE49-F238E27FC236}">
                    <a16:creationId xmlns:a16="http://schemas.microsoft.com/office/drawing/2014/main" id="{CA8D9761-0DD3-F31E-C9AC-1C9AB6815153}"/>
                  </a:ext>
                </a:extLst>
              </p:cNvPr>
              <p:cNvSpPr txBox="1"/>
              <p:nvPr/>
            </p:nvSpPr>
            <p:spPr>
              <a:xfrm>
                <a:off x="3402299" y="5173742"/>
                <a:ext cx="4242678" cy="873188"/>
              </a:xfrm>
              <a:prstGeom prst="rect">
                <a:avLst/>
              </a:prstGeom>
              <a:noFill/>
              <a:ln>
                <a:noFill/>
              </a:ln>
            </p:spPr>
            <p:txBody>
              <a:bodyPr wrap="square" lIns="0" tIns="0" rIns="0" bIns="0" rtlCol="0">
                <a:spAutoFit/>
              </a:bodyPr>
              <a:lstStyle/>
              <a:p>
                <a:pPr algn="ctr"/>
                <a:endParaRPr lang="fr-FR" sz="1600" dirty="0">
                  <a:latin typeface="Cambria Math" panose="02040503050406030204" pitchFamily="18" charset="0"/>
                </a:endParaRPr>
              </a:p>
              <a:p>
                <a:pPr algn="ctr"/>
                <a:r>
                  <a:rPr lang="fr-FR" sz="1600" dirty="0">
                    <a:latin typeface="Cambria Math" panose="02040503050406030204" pitchFamily="18" charset="0"/>
                  </a:rPr>
                  <a:t>  </a:t>
                </a:r>
                <a:r>
                  <a:rPr lang="fr-FR" sz="1600" b="1" dirty="0">
                    <a:latin typeface="Cambria Math" panose="02040503050406030204" pitchFamily="18" charset="0"/>
                  </a:rPr>
                  <a:t>net</a:t>
                </a:r>
                <a:r>
                  <a:rPr lang="fr-FR" sz="1600" b="0" i="1" dirty="0">
                    <a:latin typeface="Cambria Math" panose="02040503050406030204" pitchFamily="18" charset="0"/>
                  </a:rPr>
                  <a:t> = </a:t>
                </a:r>
                <a14:m>
                  <m:oMath xmlns:m="http://schemas.openxmlformats.org/officeDocument/2006/math">
                    <m:r>
                      <m:rPr>
                        <m:sty m:val="p"/>
                      </m:rPr>
                      <a:rPr lang="fr-FR" sz="1600" b="0" i="0" smtClean="0">
                        <a:latin typeface="Cambria Math" panose="02040503050406030204" pitchFamily="18" charset="0"/>
                        <a:ea typeface="Cambria Math" panose="02040503050406030204" pitchFamily="18" charset="0"/>
                      </a:rPr>
                      <m:t>X</m:t>
                    </m:r>
                    <m:r>
                      <a:rPr lang="fr-FR" sz="1600" b="0" i="0" smtClean="0">
                        <a:latin typeface="Cambria Math" panose="02040503050406030204" pitchFamily="18" charset="0"/>
                        <a:ea typeface="Cambria Math" panose="02040503050406030204" pitchFamily="18" charset="0"/>
                      </a:rPr>
                      <m:t> </m:t>
                    </m:r>
                    <m:r>
                      <a:rPr lang="fr-FR" sz="1600" b="0" i="1" smtClean="0">
                        <a:latin typeface="Cambria Math" panose="02040503050406030204" pitchFamily="18" charset="0"/>
                        <a:ea typeface="Cambria Math" panose="02040503050406030204" pitchFamily="18" charset="0"/>
                      </a:rPr>
                      <m:t>× </m:t>
                    </m:r>
                    <m:r>
                      <a:rPr lang="fr-FR" sz="1600" b="0" i="1" smtClean="0">
                        <a:latin typeface="Cambria Math" panose="02040503050406030204" pitchFamily="18" charset="0"/>
                        <a:ea typeface="Cambria Math" panose="02040503050406030204" pitchFamily="18" charset="0"/>
                      </a:rPr>
                      <m:t>𝑤</m:t>
                    </m:r>
                  </m:oMath>
                </a14:m>
                <a:r>
                  <a:rPr lang="fr-FR" sz="1600" i="1" dirty="0">
                    <a:latin typeface="Cambria Math" panose="02040503050406030204" pitchFamily="18" charset="0"/>
                  </a:rPr>
                  <a:t> </a:t>
                </a:r>
                <a:r>
                  <a:rPr lang="fr-FR" sz="1600" dirty="0">
                    <a:latin typeface="Cambria Math" panose="02040503050406030204" pitchFamily="18" charset="0"/>
                  </a:rPr>
                  <a:t>+ </a:t>
                </a:r>
                <a:r>
                  <a:rPr lang="fr-FR" sz="1600" b="0" dirty="0">
                    <a:latin typeface="Cambria Math" panose="02040503050406030204" pitchFamily="18" charset="0"/>
                  </a:rPr>
                  <a:t>b</a:t>
                </a:r>
                <a:r>
                  <a:rPr lang="fr-FR" sz="1600" dirty="0">
                    <a:latin typeface="Cambria Math" panose="02040503050406030204" pitchFamily="18" charset="0"/>
                  </a:rPr>
                  <a:t>     </a:t>
                </a:r>
                <a:r>
                  <a:rPr lang="fr-FR" sz="1600" b="1" dirty="0">
                    <a:latin typeface="Cambria Math" panose="02040503050406030204" pitchFamily="18" charset="0"/>
                  </a:rPr>
                  <a:t>out</a:t>
                </a:r>
                <a:r>
                  <a:rPr lang="fr-FR" sz="1600" dirty="0">
                    <a:latin typeface="Cambria Math" panose="02040503050406030204" pitchFamily="18" charset="0"/>
                  </a:rPr>
                  <a:t> </a:t>
                </a:r>
                <a14:m>
                  <m:oMath xmlns:m="http://schemas.openxmlformats.org/officeDocument/2006/math">
                    <m:r>
                      <a:rPr lang="fr-FR" sz="1600" b="0" i="1" smtClean="0">
                        <a:latin typeface="Cambria Math" panose="02040503050406030204" pitchFamily="18" charset="0"/>
                      </a:rPr>
                      <m:t>=</m:t>
                    </m:r>
                    <m:f>
                      <m:fPr>
                        <m:ctrlPr>
                          <a:rPr lang="fr-FR" sz="1600" b="0" i="1" smtClean="0">
                            <a:latin typeface="Cambria Math" panose="02040503050406030204" pitchFamily="18" charset="0"/>
                          </a:rPr>
                        </m:ctrlPr>
                      </m:fPr>
                      <m:num>
                        <m:r>
                          <a:rPr lang="fr-FR" sz="1600" b="0" i="1" smtClean="0">
                            <a:latin typeface="Cambria Math" panose="02040503050406030204" pitchFamily="18" charset="0"/>
                          </a:rPr>
                          <m:t>1</m:t>
                        </m:r>
                      </m:num>
                      <m:den>
                        <m:r>
                          <a:rPr lang="fr-FR" sz="1600" b="0" i="1" smtClean="0">
                            <a:latin typeface="Cambria Math" panose="02040503050406030204" pitchFamily="18" charset="0"/>
                          </a:rPr>
                          <m:t>1+</m:t>
                        </m:r>
                        <m:r>
                          <m:rPr>
                            <m:sty m:val="p"/>
                          </m:rPr>
                          <a:rPr lang="fr-FR" sz="1600" b="0" i="0" smtClean="0">
                            <a:latin typeface="Cambria Math" panose="02040503050406030204" pitchFamily="18" charset="0"/>
                          </a:rPr>
                          <m:t>exp</m:t>
                        </m:r>
                        <m:r>
                          <a:rPr lang="fr-FR" sz="1600" b="0" i="1" smtClean="0">
                            <a:latin typeface="Cambria Math" panose="02040503050406030204" pitchFamily="18" charset="0"/>
                          </a:rPr>
                          <m:t>⁡(−</m:t>
                        </m:r>
                        <m:r>
                          <m:rPr>
                            <m:sty m:val="p"/>
                          </m:rPr>
                          <a:rPr lang="fr-FR" sz="1600" b="0" i="0" smtClean="0">
                            <a:latin typeface="Cambria Math" panose="02040503050406030204" pitchFamily="18" charset="0"/>
                          </a:rPr>
                          <m:t>net</m:t>
                        </m:r>
                        <m:r>
                          <a:rPr lang="fr-FR" sz="1600" b="0" i="1" smtClean="0">
                            <a:latin typeface="Cambria Math" panose="02040503050406030204" pitchFamily="18" charset="0"/>
                          </a:rPr>
                          <m:t>)</m:t>
                        </m:r>
                      </m:den>
                    </m:f>
                  </m:oMath>
                </a14:m>
                <a:endParaRPr lang="fr-FR" sz="1600" b="0" dirty="0">
                  <a:latin typeface="Cambria Math" panose="02040503050406030204" pitchFamily="18" charset="0"/>
                  <a:ea typeface="Cambria Math" panose="02040503050406030204" pitchFamily="18" charset="0"/>
                </a:endParaRPr>
              </a:p>
              <a:p>
                <a:pPr algn="ctr"/>
                <a:endParaRPr lang="fr-FR" sz="1600" dirty="0"/>
              </a:p>
            </p:txBody>
          </p:sp>
        </mc:Choice>
        <mc:Fallback xmlns="">
          <p:sp>
            <p:nvSpPr>
              <p:cNvPr id="43" name="ZoneTexte 42">
                <a:extLst>
                  <a:ext uri="{FF2B5EF4-FFF2-40B4-BE49-F238E27FC236}">
                    <a16:creationId xmlns:a16="http://schemas.microsoft.com/office/drawing/2014/main" id="{CA8D9761-0DD3-F31E-C9AC-1C9AB6815153}"/>
                  </a:ext>
                </a:extLst>
              </p:cNvPr>
              <p:cNvSpPr txBox="1">
                <a:spLocks noRot="1" noChangeAspect="1" noMove="1" noResize="1" noEditPoints="1" noAdjustHandles="1" noChangeArrowheads="1" noChangeShapeType="1" noTextEdit="1"/>
              </p:cNvSpPr>
              <p:nvPr/>
            </p:nvSpPr>
            <p:spPr>
              <a:xfrm>
                <a:off x="3402299" y="5173742"/>
                <a:ext cx="4242678" cy="873188"/>
              </a:xfrm>
              <a:prstGeom prst="rect">
                <a:avLst/>
              </a:prstGeom>
              <a:blipFill>
                <a:blip r:embed="rId3"/>
                <a:stretch>
                  <a:fillRect/>
                </a:stretch>
              </a:blipFill>
              <a:ln>
                <a:noFill/>
              </a:ln>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4" name="ZoneTexte 43">
                <a:extLst>
                  <a:ext uri="{FF2B5EF4-FFF2-40B4-BE49-F238E27FC236}">
                    <a16:creationId xmlns:a16="http://schemas.microsoft.com/office/drawing/2014/main" id="{8CE49B9B-5C55-5A8D-2F1A-A07DA8294577}"/>
                  </a:ext>
                </a:extLst>
              </p:cNvPr>
              <p:cNvSpPr txBox="1"/>
              <p:nvPr/>
            </p:nvSpPr>
            <p:spPr>
              <a:xfrm>
                <a:off x="7031418" y="2533615"/>
                <a:ext cx="2324249" cy="302840"/>
              </a:xfrm>
              <a:prstGeom prst="rect">
                <a:avLst/>
              </a:prstGeom>
              <a:noFill/>
              <a:ln>
                <a:solidFill>
                  <a:schemeClr val="tx1">
                    <a:lumMod val="50000"/>
                    <a:lumOff val="50000"/>
                  </a:schemeClr>
                </a:solidFill>
              </a:ln>
            </p:spPr>
            <p:txBody>
              <a:bodyPr wrap="square" rtlCol="0">
                <a:spAutoFit/>
              </a:bodyPr>
              <a:lstStyle/>
              <a:p>
                <a:pPr algn="ctr"/>
                <a14:m>
                  <m:oMath xmlns:m="http://schemas.openxmlformats.org/officeDocument/2006/math">
                    <m:r>
                      <a:rPr lang="fr-FR" sz="1400" b="0" i="1" noProof="0" smtClean="0">
                        <a:latin typeface="Cambria Math" panose="02040503050406030204" pitchFamily="18" charset="0"/>
                      </a:rPr>
                      <m:t>𝐿𝑜𝑠𝑠</m:t>
                    </m:r>
                    <m:r>
                      <a:rPr lang="fr-FR" sz="1400" b="0" i="1" noProof="0" smtClean="0">
                        <a:latin typeface="Cambria Math" panose="02040503050406030204" pitchFamily="18" charset="0"/>
                      </a:rPr>
                      <m:t>= (</m:t>
                    </m:r>
                    <m:r>
                      <m:rPr>
                        <m:sty m:val="p"/>
                      </m:rPr>
                      <a:rPr lang="fr-FR" sz="1400" b="0" i="0" noProof="0" smtClean="0">
                        <a:latin typeface="Cambria Math" panose="02040503050406030204" pitchFamily="18" charset="0"/>
                      </a:rPr>
                      <m:t>target</m:t>
                    </m:r>
                    <m:r>
                      <a:rPr lang="fr-FR" sz="1400" b="0" i="1" noProof="0" smtClean="0">
                        <a:latin typeface="Cambria Math" panose="02040503050406030204" pitchFamily="18" charset="0"/>
                      </a:rPr>
                      <m:t>−</m:t>
                    </m:r>
                    <m:r>
                      <m:rPr>
                        <m:sty m:val="p"/>
                      </m:rPr>
                      <a:rPr lang="fr-FR" sz="1400" b="0" i="0" noProof="0" smtClean="0">
                        <a:latin typeface="Cambria Math" panose="02040503050406030204" pitchFamily="18" charset="0"/>
                      </a:rPr>
                      <m:t>out</m:t>
                    </m:r>
                    <m:r>
                      <a:rPr lang="fr-FR" sz="1400" b="0" i="1" noProof="0" smtClean="0">
                        <a:latin typeface="Cambria Math" panose="02040503050406030204" pitchFamily="18" charset="0"/>
                      </a:rPr>
                      <m:t>)</m:t>
                    </m:r>
                  </m:oMath>
                </a14:m>
                <a:r>
                  <a:rPr lang="en-GB" sz="1400" baseline="30000" noProof="0" dirty="0"/>
                  <a:t>2</a:t>
                </a:r>
              </a:p>
            </p:txBody>
          </p:sp>
        </mc:Choice>
        <mc:Fallback xmlns="">
          <p:sp>
            <p:nvSpPr>
              <p:cNvPr id="44" name="ZoneTexte 43">
                <a:extLst>
                  <a:ext uri="{FF2B5EF4-FFF2-40B4-BE49-F238E27FC236}">
                    <a16:creationId xmlns:a16="http://schemas.microsoft.com/office/drawing/2014/main" id="{8CE49B9B-5C55-5A8D-2F1A-A07DA8294577}"/>
                  </a:ext>
                </a:extLst>
              </p:cNvPr>
              <p:cNvSpPr txBox="1">
                <a:spLocks noRot="1" noChangeAspect="1" noMove="1" noResize="1" noEditPoints="1" noAdjustHandles="1" noChangeArrowheads="1" noChangeShapeType="1" noTextEdit="1"/>
              </p:cNvSpPr>
              <p:nvPr/>
            </p:nvSpPr>
            <p:spPr>
              <a:xfrm>
                <a:off x="7031418" y="2533615"/>
                <a:ext cx="2324249" cy="302840"/>
              </a:xfrm>
              <a:prstGeom prst="rect">
                <a:avLst/>
              </a:prstGeom>
              <a:blipFill>
                <a:blip r:embed="rId4"/>
                <a:stretch>
                  <a:fillRect b="-12000"/>
                </a:stretch>
              </a:blipFill>
              <a:ln>
                <a:solidFill>
                  <a:schemeClr val="tx1">
                    <a:lumMod val="50000"/>
                    <a:lumOff val="50000"/>
                  </a:schemeClr>
                </a:solidFill>
              </a:ln>
            </p:spPr>
            <p:txBody>
              <a:bodyPr/>
              <a:lstStyle/>
              <a:p>
                <a:r>
                  <a:rPr lang="en-GB">
                    <a:noFill/>
                  </a:rPr>
                  <a:t> </a:t>
                </a:r>
              </a:p>
            </p:txBody>
          </p:sp>
        </mc:Fallback>
      </mc:AlternateContent>
      <p:sp>
        <p:nvSpPr>
          <p:cNvPr id="46" name="Espace réservé du pied de page 45">
            <a:extLst>
              <a:ext uri="{FF2B5EF4-FFF2-40B4-BE49-F238E27FC236}">
                <a16:creationId xmlns:a16="http://schemas.microsoft.com/office/drawing/2014/main" id="{F63264C4-2D63-A29C-777E-4111849DCDDF}"/>
              </a:ext>
            </a:extLst>
          </p:cNvPr>
          <p:cNvSpPr>
            <a:spLocks noGrp="1"/>
          </p:cNvSpPr>
          <p:nvPr>
            <p:ph type="ftr" sz="quarter" idx="11"/>
          </p:nvPr>
        </p:nvSpPr>
        <p:spPr/>
        <p:txBody>
          <a:bodyPr/>
          <a:lstStyle/>
          <a:p>
            <a:r>
              <a:rPr lang="fr-FR"/>
              <a:t>Introduction to Neural Networks. Author: David Thébault</a:t>
            </a:r>
          </a:p>
        </p:txBody>
      </p:sp>
      <p:cxnSp>
        <p:nvCxnSpPr>
          <p:cNvPr id="48" name="Connecteur droit 47">
            <a:extLst>
              <a:ext uri="{FF2B5EF4-FFF2-40B4-BE49-F238E27FC236}">
                <a16:creationId xmlns:a16="http://schemas.microsoft.com/office/drawing/2014/main" id="{101A1971-601C-F70A-CFA4-C87E2C1B4C6A}"/>
              </a:ext>
            </a:extLst>
          </p:cNvPr>
          <p:cNvCxnSpPr>
            <a:cxnSpLocks/>
          </p:cNvCxnSpPr>
          <p:nvPr/>
        </p:nvCxnSpPr>
        <p:spPr>
          <a:xfrm>
            <a:off x="5523184" y="5085100"/>
            <a:ext cx="0" cy="898487"/>
          </a:xfrm>
          <a:prstGeom prst="line">
            <a:avLst/>
          </a:prstGeom>
        </p:spPr>
        <p:style>
          <a:lnRef idx="2">
            <a:schemeClr val="accent1"/>
          </a:lnRef>
          <a:fillRef idx="0">
            <a:schemeClr val="accent1"/>
          </a:fillRef>
          <a:effectRef idx="1">
            <a:schemeClr val="accent1"/>
          </a:effectRef>
          <a:fontRef idx="minor">
            <a:schemeClr val="tx1"/>
          </a:fontRef>
        </p:style>
      </p:cxnSp>
      <p:sp>
        <p:nvSpPr>
          <p:cNvPr id="50" name="ZoneTexte 49">
            <a:extLst>
              <a:ext uri="{FF2B5EF4-FFF2-40B4-BE49-F238E27FC236}">
                <a16:creationId xmlns:a16="http://schemas.microsoft.com/office/drawing/2014/main" id="{BC10192F-FDB3-5FA7-3A15-1014679D26D6}"/>
              </a:ext>
            </a:extLst>
          </p:cNvPr>
          <p:cNvSpPr txBox="1"/>
          <p:nvPr/>
        </p:nvSpPr>
        <p:spPr>
          <a:xfrm>
            <a:off x="838200" y="1532877"/>
            <a:ext cx="6773333" cy="369332"/>
          </a:xfrm>
          <a:prstGeom prst="rect">
            <a:avLst/>
          </a:prstGeom>
          <a:noFill/>
        </p:spPr>
        <p:txBody>
          <a:bodyPr wrap="square" rtlCol="0">
            <a:spAutoFit/>
          </a:bodyPr>
          <a:lstStyle/>
          <a:p>
            <a:r>
              <a:rPr lang="en-GB" b="1" dirty="0"/>
              <a:t>How do we find the optimal w and b that minimize the loss ?</a:t>
            </a:r>
          </a:p>
        </p:txBody>
      </p:sp>
      <p:sp>
        <p:nvSpPr>
          <p:cNvPr id="6" name="Flèche vers la gauche 5">
            <a:extLst>
              <a:ext uri="{FF2B5EF4-FFF2-40B4-BE49-F238E27FC236}">
                <a16:creationId xmlns:a16="http://schemas.microsoft.com/office/drawing/2014/main" id="{9B1025B5-C9BD-0529-D33D-02572E046A85}"/>
              </a:ext>
            </a:extLst>
          </p:cNvPr>
          <p:cNvSpPr/>
          <p:nvPr/>
        </p:nvSpPr>
        <p:spPr>
          <a:xfrm>
            <a:off x="3384998" y="4450450"/>
            <a:ext cx="4030133" cy="795867"/>
          </a:xfrm>
          <a:prstGeom prst="lef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dirty="0"/>
              <a:t>BACKPROPAGATION</a:t>
            </a:r>
          </a:p>
        </p:txBody>
      </p:sp>
      <p:sp>
        <p:nvSpPr>
          <p:cNvPr id="33" name="ZoneTexte 32">
            <a:extLst>
              <a:ext uri="{FF2B5EF4-FFF2-40B4-BE49-F238E27FC236}">
                <a16:creationId xmlns:a16="http://schemas.microsoft.com/office/drawing/2014/main" id="{27BEBCF7-AB00-10FA-81F4-E6FB011CF1E7}"/>
              </a:ext>
            </a:extLst>
          </p:cNvPr>
          <p:cNvSpPr txBox="1"/>
          <p:nvPr/>
        </p:nvSpPr>
        <p:spPr>
          <a:xfrm>
            <a:off x="1024877" y="1837125"/>
            <a:ext cx="10709849" cy="461665"/>
          </a:xfrm>
          <a:prstGeom prst="rect">
            <a:avLst/>
          </a:prstGeom>
          <a:noFill/>
        </p:spPr>
        <p:txBody>
          <a:bodyPr wrap="square" rtlCol="0">
            <a:spAutoFit/>
          </a:bodyPr>
          <a:lstStyle/>
          <a:p>
            <a:r>
              <a:rPr lang="en-GB" sz="2400" b="1" noProof="0" dirty="0"/>
              <a:t>In the case of NN the Gradient is computed thanks to the Chain rule </a:t>
            </a:r>
          </a:p>
        </p:txBody>
      </p:sp>
      <mc:AlternateContent xmlns:mc="http://schemas.openxmlformats.org/markup-compatibility/2006" xmlns:a14="http://schemas.microsoft.com/office/drawing/2010/main">
        <mc:Choice Requires="a14">
          <p:sp>
            <p:nvSpPr>
              <p:cNvPr id="34" name="ZoneTexte 33">
                <a:extLst>
                  <a:ext uri="{FF2B5EF4-FFF2-40B4-BE49-F238E27FC236}">
                    <a16:creationId xmlns:a16="http://schemas.microsoft.com/office/drawing/2014/main" id="{35FCD291-5871-696F-AD2A-B7FD422FBB37}"/>
                  </a:ext>
                </a:extLst>
              </p:cNvPr>
              <p:cNvSpPr txBox="1"/>
              <p:nvPr/>
            </p:nvSpPr>
            <p:spPr>
              <a:xfrm>
                <a:off x="5849106" y="3766036"/>
                <a:ext cx="935421" cy="6190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i="1" smtClean="0">
                          <a:solidFill>
                            <a:srgbClr val="FF0002"/>
                          </a:solidFill>
                          <a:latin typeface="Cambria Math" panose="02040503050406030204" pitchFamily="18" charset="0"/>
                          <a:ea typeface="Cambria Math" panose="02040503050406030204" pitchFamily="18" charset="0"/>
                        </a:rPr>
                        <m:t>×</m:t>
                      </m:r>
                      <m:f>
                        <m:fPr>
                          <m:ctrlPr>
                            <a:rPr lang="fr-FR" i="1" smtClean="0">
                              <a:solidFill>
                                <a:srgbClr val="FF0002"/>
                              </a:solidFill>
                              <a:latin typeface="Cambria Math" panose="02040503050406030204" pitchFamily="18" charset="0"/>
                            </a:rPr>
                          </m:ctrlPr>
                        </m:fPr>
                        <m:num>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𝐿𝑜𝑠𝑠</m:t>
                          </m:r>
                        </m:num>
                        <m:den>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𝑜𝑢𝑡</m:t>
                          </m:r>
                        </m:den>
                      </m:f>
                    </m:oMath>
                  </m:oMathPara>
                </a14:m>
                <a:endParaRPr lang="fr-FR" dirty="0">
                  <a:solidFill>
                    <a:srgbClr val="FF0002"/>
                  </a:solidFill>
                </a:endParaRPr>
              </a:p>
            </p:txBody>
          </p:sp>
        </mc:Choice>
        <mc:Fallback xmlns="">
          <p:sp>
            <p:nvSpPr>
              <p:cNvPr id="34" name="ZoneTexte 33">
                <a:extLst>
                  <a:ext uri="{FF2B5EF4-FFF2-40B4-BE49-F238E27FC236}">
                    <a16:creationId xmlns:a16="http://schemas.microsoft.com/office/drawing/2014/main" id="{35FCD291-5871-696F-AD2A-B7FD422FBB37}"/>
                  </a:ext>
                </a:extLst>
              </p:cNvPr>
              <p:cNvSpPr txBox="1">
                <a:spLocks noRot="1" noChangeAspect="1" noMove="1" noResize="1" noEditPoints="1" noAdjustHandles="1" noChangeArrowheads="1" noChangeShapeType="1" noTextEdit="1"/>
              </p:cNvSpPr>
              <p:nvPr/>
            </p:nvSpPr>
            <p:spPr>
              <a:xfrm>
                <a:off x="5849106" y="3766036"/>
                <a:ext cx="935421" cy="619016"/>
              </a:xfrm>
              <a:prstGeom prst="rect">
                <a:avLst/>
              </a:prstGeom>
              <a:blipFill>
                <a:blip r:embed="rId5"/>
                <a:stretch>
                  <a:fillRect r="-1333" b="-40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5" name="ZoneTexte 34">
                <a:extLst>
                  <a:ext uri="{FF2B5EF4-FFF2-40B4-BE49-F238E27FC236}">
                    <a16:creationId xmlns:a16="http://schemas.microsoft.com/office/drawing/2014/main" id="{69C4163D-10FE-2D65-86FF-B4852D97D6CA}"/>
                  </a:ext>
                </a:extLst>
              </p:cNvPr>
              <p:cNvSpPr txBox="1"/>
              <p:nvPr/>
            </p:nvSpPr>
            <p:spPr>
              <a:xfrm>
                <a:off x="5052522" y="3804428"/>
                <a:ext cx="826060" cy="6190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i="1">
                          <a:solidFill>
                            <a:srgbClr val="FF0002"/>
                          </a:solidFill>
                          <a:latin typeface="Cambria Math" panose="02040503050406030204" pitchFamily="18" charset="0"/>
                          <a:ea typeface="Cambria Math" panose="02040503050406030204" pitchFamily="18" charset="0"/>
                        </a:rPr>
                        <m:t>×</m:t>
                      </m:r>
                      <m:f>
                        <m:fPr>
                          <m:ctrlPr>
                            <a:rPr lang="fr-FR" i="1" smtClean="0">
                              <a:solidFill>
                                <a:srgbClr val="FF0002"/>
                              </a:solidFill>
                              <a:latin typeface="Cambria Math" panose="02040503050406030204" pitchFamily="18" charset="0"/>
                            </a:rPr>
                          </m:ctrlPr>
                        </m:fPr>
                        <m:num>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𝑜𝑢𝑡</m:t>
                          </m:r>
                        </m:num>
                        <m:den>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𝑛𝑒𝑡</m:t>
                          </m:r>
                        </m:den>
                      </m:f>
                    </m:oMath>
                  </m:oMathPara>
                </a14:m>
                <a:endParaRPr lang="fr-FR" dirty="0">
                  <a:solidFill>
                    <a:srgbClr val="FF0002"/>
                  </a:solidFill>
                </a:endParaRPr>
              </a:p>
            </p:txBody>
          </p:sp>
        </mc:Choice>
        <mc:Fallback xmlns="">
          <p:sp>
            <p:nvSpPr>
              <p:cNvPr id="35" name="ZoneTexte 34">
                <a:extLst>
                  <a:ext uri="{FF2B5EF4-FFF2-40B4-BE49-F238E27FC236}">
                    <a16:creationId xmlns:a16="http://schemas.microsoft.com/office/drawing/2014/main" id="{69C4163D-10FE-2D65-86FF-B4852D97D6CA}"/>
                  </a:ext>
                </a:extLst>
              </p:cNvPr>
              <p:cNvSpPr txBox="1">
                <a:spLocks noRot="1" noChangeAspect="1" noMove="1" noResize="1" noEditPoints="1" noAdjustHandles="1" noChangeArrowheads="1" noChangeShapeType="1" noTextEdit="1"/>
              </p:cNvSpPr>
              <p:nvPr/>
            </p:nvSpPr>
            <p:spPr>
              <a:xfrm>
                <a:off x="5052522" y="3804428"/>
                <a:ext cx="826060" cy="619016"/>
              </a:xfrm>
              <a:prstGeom prst="rect">
                <a:avLst/>
              </a:prstGeom>
              <a:blipFill>
                <a:blip r:embed="rId6"/>
                <a:stretch>
                  <a:fillRect r="-1515" b="-40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7" name="ZoneTexte 36">
                <a:extLst>
                  <a:ext uri="{FF2B5EF4-FFF2-40B4-BE49-F238E27FC236}">
                    <a16:creationId xmlns:a16="http://schemas.microsoft.com/office/drawing/2014/main" id="{77A90DC7-B34C-803B-BE7E-B242FDF96882}"/>
                  </a:ext>
                </a:extLst>
              </p:cNvPr>
              <p:cNvSpPr txBox="1"/>
              <p:nvPr/>
            </p:nvSpPr>
            <p:spPr>
              <a:xfrm>
                <a:off x="4442982" y="3802058"/>
                <a:ext cx="734728" cy="61908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fr-FR" i="1" smtClean="0">
                              <a:solidFill>
                                <a:srgbClr val="FF0002"/>
                              </a:solidFill>
                              <a:latin typeface="Cambria Math" panose="02040503050406030204" pitchFamily="18" charset="0"/>
                            </a:rPr>
                          </m:ctrlPr>
                        </m:fPr>
                        <m:num>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𝑛𝑒𝑡</m:t>
                          </m:r>
                        </m:num>
                        <m:den>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𝑤</m:t>
                          </m:r>
                        </m:den>
                      </m:f>
                      <m:r>
                        <a:rPr lang="fr-FR" b="0" i="1" smtClean="0">
                          <a:solidFill>
                            <a:srgbClr val="FF0002"/>
                          </a:solidFill>
                          <a:latin typeface="Cambria Math" panose="02040503050406030204" pitchFamily="18" charset="0"/>
                        </a:rPr>
                        <m:t> </m:t>
                      </m:r>
                    </m:oMath>
                  </m:oMathPara>
                </a14:m>
                <a:endParaRPr lang="fr-FR" dirty="0">
                  <a:solidFill>
                    <a:srgbClr val="FF0002"/>
                  </a:solidFill>
                </a:endParaRPr>
              </a:p>
            </p:txBody>
          </p:sp>
        </mc:Choice>
        <mc:Fallback xmlns="">
          <p:sp>
            <p:nvSpPr>
              <p:cNvPr id="37" name="ZoneTexte 36">
                <a:extLst>
                  <a:ext uri="{FF2B5EF4-FFF2-40B4-BE49-F238E27FC236}">
                    <a16:creationId xmlns:a16="http://schemas.microsoft.com/office/drawing/2014/main" id="{77A90DC7-B34C-803B-BE7E-B242FDF96882}"/>
                  </a:ext>
                </a:extLst>
              </p:cNvPr>
              <p:cNvSpPr txBox="1">
                <a:spLocks noRot="1" noChangeAspect="1" noMove="1" noResize="1" noEditPoints="1" noAdjustHandles="1" noChangeArrowheads="1" noChangeShapeType="1" noTextEdit="1"/>
              </p:cNvSpPr>
              <p:nvPr/>
            </p:nvSpPr>
            <p:spPr>
              <a:xfrm>
                <a:off x="4442982" y="3802058"/>
                <a:ext cx="734728" cy="619080"/>
              </a:xfrm>
              <a:prstGeom prst="rect">
                <a:avLst/>
              </a:prstGeom>
              <a:blipFill>
                <a:blip r:embed="rId7"/>
                <a:stretch>
                  <a:fillRect r="-1695" b="-6122"/>
                </a:stretch>
              </a:blipFill>
            </p:spPr>
            <p:txBody>
              <a:bodyPr/>
              <a:lstStyle/>
              <a:p>
                <a:r>
                  <a:rPr lang="fr-FR">
                    <a:noFill/>
                  </a:rPr>
                  <a:t> </a:t>
                </a:r>
              </a:p>
            </p:txBody>
          </p:sp>
        </mc:Fallback>
      </mc:AlternateContent>
      <p:cxnSp>
        <p:nvCxnSpPr>
          <p:cNvPr id="38" name="Connecteur en arc 37">
            <a:extLst>
              <a:ext uri="{FF2B5EF4-FFF2-40B4-BE49-F238E27FC236}">
                <a16:creationId xmlns:a16="http://schemas.microsoft.com/office/drawing/2014/main" id="{D123BEA1-89FB-3269-24E0-61510959EDF1}"/>
              </a:ext>
            </a:extLst>
          </p:cNvPr>
          <p:cNvCxnSpPr>
            <a:cxnSpLocks/>
          </p:cNvCxnSpPr>
          <p:nvPr/>
        </p:nvCxnSpPr>
        <p:spPr>
          <a:xfrm rot="5400000">
            <a:off x="6378290" y="3233121"/>
            <a:ext cx="3025" cy="465667"/>
          </a:xfrm>
          <a:prstGeom prst="curvedConnector3">
            <a:avLst>
              <a:gd name="adj1" fmla="val 7657025"/>
            </a:avLst>
          </a:prstGeom>
          <a:ln w="50800">
            <a:solidFill>
              <a:srgbClr val="FF0002">
                <a:alpha val="50000"/>
              </a:srgbClr>
            </a:solidFill>
            <a:tailEnd type="triangle"/>
          </a:ln>
        </p:spPr>
        <p:style>
          <a:lnRef idx="2">
            <a:schemeClr val="accent1"/>
          </a:lnRef>
          <a:fillRef idx="0">
            <a:schemeClr val="accent1"/>
          </a:fillRef>
          <a:effectRef idx="1">
            <a:schemeClr val="accent1"/>
          </a:effectRef>
          <a:fontRef idx="minor">
            <a:schemeClr val="tx1"/>
          </a:fontRef>
        </p:style>
      </p:cxnSp>
      <p:cxnSp>
        <p:nvCxnSpPr>
          <p:cNvPr id="39" name="Connecteur en arc 38">
            <a:extLst>
              <a:ext uri="{FF2B5EF4-FFF2-40B4-BE49-F238E27FC236}">
                <a16:creationId xmlns:a16="http://schemas.microsoft.com/office/drawing/2014/main" id="{959DC544-AF84-48A4-2A77-54AE671D3487}"/>
              </a:ext>
            </a:extLst>
          </p:cNvPr>
          <p:cNvCxnSpPr>
            <a:cxnSpLocks/>
          </p:cNvCxnSpPr>
          <p:nvPr/>
        </p:nvCxnSpPr>
        <p:spPr>
          <a:xfrm rot="5400000">
            <a:off x="5551411" y="3208407"/>
            <a:ext cx="3025" cy="465667"/>
          </a:xfrm>
          <a:prstGeom prst="curvedConnector3">
            <a:avLst>
              <a:gd name="adj1" fmla="val 7657025"/>
            </a:avLst>
          </a:prstGeom>
          <a:ln w="50800">
            <a:solidFill>
              <a:srgbClr val="FF0002">
                <a:alpha val="50000"/>
              </a:srgbClr>
            </a:solidFill>
            <a:tailEnd type="triangle"/>
          </a:ln>
        </p:spPr>
        <p:style>
          <a:lnRef idx="2">
            <a:schemeClr val="accent1"/>
          </a:lnRef>
          <a:fillRef idx="0">
            <a:schemeClr val="accent1"/>
          </a:fillRef>
          <a:effectRef idx="1">
            <a:schemeClr val="accent1"/>
          </a:effectRef>
          <a:fontRef idx="minor">
            <a:schemeClr val="tx1"/>
          </a:fontRef>
        </p:style>
      </p:cxnSp>
      <p:cxnSp>
        <p:nvCxnSpPr>
          <p:cNvPr id="40" name="Connecteur en arc 39">
            <a:extLst>
              <a:ext uri="{FF2B5EF4-FFF2-40B4-BE49-F238E27FC236}">
                <a16:creationId xmlns:a16="http://schemas.microsoft.com/office/drawing/2014/main" id="{CB130A4F-87E3-3035-E73F-7FA60E026360}"/>
              </a:ext>
            </a:extLst>
          </p:cNvPr>
          <p:cNvCxnSpPr>
            <a:cxnSpLocks/>
          </p:cNvCxnSpPr>
          <p:nvPr/>
        </p:nvCxnSpPr>
        <p:spPr>
          <a:xfrm rot="5400000">
            <a:off x="4786721" y="3226600"/>
            <a:ext cx="3025" cy="465667"/>
          </a:xfrm>
          <a:prstGeom prst="curvedConnector3">
            <a:avLst>
              <a:gd name="adj1" fmla="val 7657025"/>
            </a:avLst>
          </a:prstGeom>
          <a:ln w="50800">
            <a:solidFill>
              <a:srgbClr val="FF0002">
                <a:alpha val="50000"/>
              </a:srgb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5" name="ZoneTexte 44">
                <a:extLst>
                  <a:ext uri="{FF2B5EF4-FFF2-40B4-BE49-F238E27FC236}">
                    <a16:creationId xmlns:a16="http://schemas.microsoft.com/office/drawing/2014/main" id="{E81A3F4A-8D01-F5F1-E268-C2A34F4BFD2E}"/>
                  </a:ext>
                </a:extLst>
              </p:cNvPr>
              <p:cNvSpPr txBox="1"/>
              <p:nvPr/>
            </p:nvSpPr>
            <p:spPr>
              <a:xfrm>
                <a:off x="6647340" y="3513655"/>
                <a:ext cx="2173951" cy="10287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3200" i="1" smtClean="0">
                          <a:solidFill>
                            <a:srgbClr val="FF0002"/>
                          </a:solidFill>
                          <a:latin typeface="Cambria Math" panose="02040503050406030204" pitchFamily="18" charset="0"/>
                          <a:ea typeface="Cambria Math" panose="02040503050406030204" pitchFamily="18" charset="0"/>
                        </a:rPr>
                        <m:t>=</m:t>
                      </m:r>
                      <m:f>
                        <m:fPr>
                          <m:ctrlPr>
                            <a:rPr lang="fr-FR" sz="3200" i="1" smtClean="0">
                              <a:solidFill>
                                <a:srgbClr val="FF0002"/>
                              </a:solidFill>
                              <a:latin typeface="Cambria Math" panose="02040503050406030204" pitchFamily="18" charset="0"/>
                            </a:rPr>
                          </m:ctrlPr>
                        </m:fPr>
                        <m:num>
                          <m:r>
                            <a:rPr lang="fr-FR" sz="3200" i="1" smtClean="0">
                              <a:solidFill>
                                <a:srgbClr val="FF0002"/>
                              </a:solidFill>
                              <a:latin typeface="Cambria Math" panose="02040503050406030204" pitchFamily="18" charset="0"/>
                            </a:rPr>
                            <m:t>𝜕</m:t>
                          </m:r>
                          <m:r>
                            <a:rPr lang="fr-FR" sz="3200" b="0" i="1" smtClean="0">
                              <a:solidFill>
                                <a:srgbClr val="FF0002"/>
                              </a:solidFill>
                              <a:latin typeface="Cambria Math" panose="02040503050406030204" pitchFamily="18" charset="0"/>
                            </a:rPr>
                            <m:t>𝐿𝑜𝑠𝑠</m:t>
                          </m:r>
                        </m:num>
                        <m:den>
                          <m:r>
                            <a:rPr lang="fr-FR" sz="3200" i="1" smtClean="0">
                              <a:solidFill>
                                <a:srgbClr val="FF0002"/>
                              </a:solidFill>
                              <a:latin typeface="Cambria Math" panose="02040503050406030204" pitchFamily="18" charset="0"/>
                            </a:rPr>
                            <m:t>𝜕</m:t>
                          </m:r>
                          <m:r>
                            <a:rPr lang="fr-FR" sz="3200" b="0" i="1" smtClean="0">
                              <a:solidFill>
                                <a:srgbClr val="FF0002"/>
                              </a:solidFill>
                              <a:latin typeface="Cambria Math" panose="02040503050406030204" pitchFamily="18" charset="0"/>
                            </a:rPr>
                            <m:t>𝑤</m:t>
                          </m:r>
                        </m:den>
                      </m:f>
                    </m:oMath>
                  </m:oMathPara>
                </a14:m>
                <a:endParaRPr lang="fr-FR" sz="3200" dirty="0">
                  <a:solidFill>
                    <a:srgbClr val="FF0002"/>
                  </a:solidFill>
                </a:endParaRPr>
              </a:p>
            </p:txBody>
          </p:sp>
        </mc:Choice>
        <mc:Fallback xmlns="">
          <p:sp>
            <p:nvSpPr>
              <p:cNvPr id="45" name="ZoneTexte 44">
                <a:extLst>
                  <a:ext uri="{FF2B5EF4-FFF2-40B4-BE49-F238E27FC236}">
                    <a16:creationId xmlns:a16="http://schemas.microsoft.com/office/drawing/2014/main" id="{E81A3F4A-8D01-F5F1-E268-C2A34F4BFD2E}"/>
                  </a:ext>
                </a:extLst>
              </p:cNvPr>
              <p:cNvSpPr txBox="1">
                <a:spLocks noRot="1" noChangeAspect="1" noMove="1" noResize="1" noEditPoints="1" noAdjustHandles="1" noChangeArrowheads="1" noChangeShapeType="1" noTextEdit="1"/>
              </p:cNvSpPr>
              <p:nvPr/>
            </p:nvSpPr>
            <p:spPr>
              <a:xfrm>
                <a:off x="6647340" y="3513655"/>
                <a:ext cx="2173951" cy="1028743"/>
              </a:xfrm>
              <a:prstGeom prst="rect">
                <a:avLst/>
              </a:prstGeom>
              <a:blipFill>
                <a:blip r:embed="rId8"/>
                <a:stretch>
                  <a:fillRect b="-8537"/>
                </a:stretch>
              </a:blipFill>
            </p:spPr>
            <p:txBody>
              <a:bodyPr/>
              <a:lstStyle/>
              <a:p>
                <a:r>
                  <a:rPr lang="fr-FR">
                    <a:noFill/>
                  </a:rPr>
                  <a:t> </a:t>
                </a:r>
              </a:p>
            </p:txBody>
          </p:sp>
        </mc:Fallback>
      </mc:AlternateContent>
      <p:sp>
        <p:nvSpPr>
          <p:cNvPr id="7" name="Titre 1">
            <a:extLst>
              <a:ext uri="{FF2B5EF4-FFF2-40B4-BE49-F238E27FC236}">
                <a16:creationId xmlns:a16="http://schemas.microsoft.com/office/drawing/2014/main" id="{AB2DDACB-5260-9087-DF61-5ECB7A98F009}"/>
              </a:ext>
            </a:extLst>
          </p:cNvPr>
          <p:cNvSpPr>
            <a:spLocks noGrp="1"/>
          </p:cNvSpPr>
          <p:nvPr>
            <p:ph type="title"/>
          </p:nvPr>
        </p:nvSpPr>
        <p:spPr>
          <a:xfrm>
            <a:off x="838200" y="300730"/>
            <a:ext cx="10515600" cy="1325563"/>
          </a:xfrm>
        </p:spPr>
        <p:txBody>
          <a:bodyPr/>
          <a:lstStyle/>
          <a:p>
            <a:r>
              <a:rPr lang="en-GB" noProof="0" dirty="0"/>
              <a:t>Perceptron </a:t>
            </a:r>
            <a:r>
              <a:rPr lang="en-GB" sz="2400" noProof="0" dirty="0"/>
              <a:t>with a single input</a:t>
            </a:r>
            <a:endParaRPr lang="en-GB" noProof="0" dirty="0"/>
          </a:p>
        </p:txBody>
      </p:sp>
      <p:sp>
        <p:nvSpPr>
          <p:cNvPr id="2" name="ZoneTexte 1">
            <a:extLst>
              <a:ext uri="{FF2B5EF4-FFF2-40B4-BE49-F238E27FC236}">
                <a16:creationId xmlns:a16="http://schemas.microsoft.com/office/drawing/2014/main" id="{2F9515B3-8A8B-B342-5929-15DAF0401653}"/>
              </a:ext>
            </a:extLst>
          </p:cNvPr>
          <p:cNvSpPr txBox="1"/>
          <p:nvPr/>
        </p:nvSpPr>
        <p:spPr>
          <a:xfrm>
            <a:off x="8521700" y="5837533"/>
            <a:ext cx="3441700" cy="646331"/>
          </a:xfrm>
          <a:prstGeom prst="rect">
            <a:avLst/>
          </a:prstGeom>
          <a:noFill/>
        </p:spPr>
        <p:txBody>
          <a:bodyPr wrap="square" rtlCol="0">
            <a:spAutoFit/>
          </a:bodyPr>
          <a:lstStyle/>
          <a:p>
            <a:r>
              <a:rPr lang="en-GB" sz="1200" dirty="0">
                <a:solidFill>
                  <a:srgbClr val="FF0000"/>
                </a:solidFill>
              </a:rPr>
              <a:t>Note: the dimensions of the gradient correspond to the dimensions of the “</a:t>
            </a:r>
            <a:r>
              <a:rPr lang="en-GB" sz="1200" dirty="0" err="1">
                <a:solidFill>
                  <a:srgbClr val="FF0000"/>
                </a:solidFill>
              </a:rPr>
              <a:t>derivator</a:t>
            </a:r>
            <a:r>
              <a:rPr lang="en-GB" sz="1200" dirty="0">
                <a:solidFill>
                  <a:srgbClr val="FF0000"/>
                </a:solidFill>
              </a:rPr>
              <a:t>” :</a:t>
            </a:r>
          </a:p>
          <a:p>
            <a:r>
              <a:rPr lang="en-GB" sz="1200" dirty="0" err="1">
                <a:solidFill>
                  <a:srgbClr val="FF0000"/>
                </a:solidFill>
              </a:rPr>
              <a:t>dLoss</a:t>
            </a:r>
            <a:r>
              <a:rPr lang="en-GB" sz="1200" dirty="0">
                <a:solidFill>
                  <a:srgbClr val="FF0000"/>
                </a:solidFill>
              </a:rPr>
              <a:t>/</a:t>
            </a:r>
            <a:r>
              <a:rPr lang="en-GB" sz="1200" dirty="0" err="1">
                <a:solidFill>
                  <a:srgbClr val="FF0000"/>
                </a:solidFill>
              </a:rPr>
              <a:t>dw</a:t>
            </a:r>
            <a:r>
              <a:rPr lang="en-GB" sz="1200" dirty="0">
                <a:solidFill>
                  <a:srgbClr val="FF0000"/>
                </a:solidFill>
              </a:rPr>
              <a:t> will have the same dimension as w.</a:t>
            </a:r>
          </a:p>
        </p:txBody>
      </p:sp>
    </p:spTree>
    <p:extLst>
      <p:ext uri="{BB962C8B-B14F-4D97-AF65-F5344CB8AC3E}">
        <p14:creationId xmlns:p14="http://schemas.microsoft.com/office/powerpoint/2010/main" val="35290598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686C2-A1FB-60E8-A862-1906F2C86E04}"/>
            </a:ext>
          </a:extLst>
        </p:cNvPr>
        <p:cNvGrpSpPr/>
        <p:nvPr/>
      </p:nvGrpSpPr>
      <p:grpSpPr>
        <a:xfrm>
          <a:off x="0" y="0"/>
          <a:ext cx="0" cy="0"/>
          <a:chOff x="0" y="0"/>
          <a:chExt cx="0" cy="0"/>
        </a:xfrm>
      </p:grpSpPr>
      <p:grpSp>
        <p:nvGrpSpPr>
          <p:cNvPr id="12" name="Groupe 11">
            <a:extLst>
              <a:ext uri="{FF2B5EF4-FFF2-40B4-BE49-F238E27FC236}">
                <a16:creationId xmlns:a16="http://schemas.microsoft.com/office/drawing/2014/main" id="{908C44CA-F1D8-B4A2-9EC0-2044F4C33B3C}"/>
              </a:ext>
            </a:extLst>
          </p:cNvPr>
          <p:cNvGrpSpPr/>
          <p:nvPr/>
        </p:nvGrpSpPr>
        <p:grpSpPr>
          <a:xfrm>
            <a:off x="4992412" y="2220312"/>
            <a:ext cx="1061545" cy="1061545"/>
            <a:chOff x="3563007" y="2367455"/>
            <a:chExt cx="1061545" cy="1061545"/>
          </a:xfrm>
        </p:grpSpPr>
        <p:sp>
          <p:nvSpPr>
            <p:cNvPr id="4" name="Ellipse 3">
              <a:extLst>
                <a:ext uri="{FF2B5EF4-FFF2-40B4-BE49-F238E27FC236}">
                  <a16:creationId xmlns:a16="http://schemas.microsoft.com/office/drawing/2014/main" id="{550127B8-9716-EBF3-496E-C1DEAB20E0DC}"/>
                </a:ext>
              </a:extLst>
            </p:cNvPr>
            <p:cNvSpPr/>
            <p:nvPr/>
          </p:nvSpPr>
          <p:spPr>
            <a:xfrm>
              <a:off x="3563007" y="2367455"/>
              <a:ext cx="1061545" cy="106154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1400" dirty="0"/>
            </a:p>
          </p:txBody>
        </p:sp>
        <p:cxnSp>
          <p:nvCxnSpPr>
            <p:cNvPr id="8" name="Connecteur droit 7">
              <a:extLst>
                <a:ext uri="{FF2B5EF4-FFF2-40B4-BE49-F238E27FC236}">
                  <a16:creationId xmlns:a16="http://schemas.microsoft.com/office/drawing/2014/main" id="{E439F901-3DDB-F0F9-0EEB-4C7F01896860}"/>
                </a:ext>
              </a:extLst>
            </p:cNvPr>
            <p:cNvCxnSpPr>
              <a:stCxn id="4" idx="0"/>
              <a:endCxn id="4" idx="4"/>
            </p:cNvCxnSpPr>
            <p:nvPr/>
          </p:nvCxnSpPr>
          <p:spPr>
            <a:xfrm>
              <a:off x="4093780" y="2367455"/>
              <a:ext cx="0" cy="1061545"/>
            </a:xfrm>
            <a:prstGeom prst="line">
              <a:avLst/>
            </a:prstGeom>
          </p:spPr>
          <p:style>
            <a:lnRef idx="2">
              <a:schemeClr val="accent1"/>
            </a:lnRef>
            <a:fillRef idx="0">
              <a:schemeClr val="accent1"/>
            </a:fillRef>
            <a:effectRef idx="1">
              <a:schemeClr val="accent1"/>
            </a:effectRef>
            <a:fontRef idx="minor">
              <a:schemeClr val="tx1"/>
            </a:fontRef>
          </p:style>
        </p:cxnSp>
      </p:grpSp>
      <p:cxnSp>
        <p:nvCxnSpPr>
          <p:cNvPr id="17" name="Connecteur droit avec flèche 16">
            <a:extLst>
              <a:ext uri="{FF2B5EF4-FFF2-40B4-BE49-F238E27FC236}">
                <a16:creationId xmlns:a16="http://schemas.microsoft.com/office/drawing/2014/main" id="{99C35A27-576C-50F9-B9A2-900EB13F5D48}"/>
              </a:ext>
            </a:extLst>
          </p:cNvPr>
          <p:cNvCxnSpPr>
            <a:cxnSpLocks/>
          </p:cNvCxnSpPr>
          <p:nvPr/>
        </p:nvCxnSpPr>
        <p:spPr>
          <a:xfrm>
            <a:off x="3992596" y="2817110"/>
            <a:ext cx="9354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ZoneTexte 20">
            <a:extLst>
              <a:ext uri="{FF2B5EF4-FFF2-40B4-BE49-F238E27FC236}">
                <a16:creationId xmlns:a16="http://schemas.microsoft.com/office/drawing/2014/main" id="{5534F8BC-B9C6-AB07-2DAD-C4FF367C5903}"/>
              </a:ext>
            </a:extLst>
          </p:cNvPr>
          <p:cNvSpPr txBox="1"/>
          <p:nvPr/>
        </p:nvSpPr>
        <p:spPr>
          <a:xfrm>
            <a:off x="3382996" y="2533615"/>
            <a:ext cx="599090" cy="523220"/>
          </a:xfrm>
          <a:prstGeom prst="rect">
            <a:avLst/>
          </a:prstGeom>
          <a:noFill/>
        </p:spPr>
        <p:txBody>
          <a:bodyPr wrap="square" rtlCol="0">
            <a:spAutoFit/>
          </a:bodyPr>
          <a:lstStyle/>
          <a:p>
            <a:pPr algn="ctr"/>
            <a:r>
              <a:rPr lang="fr-FR" sz="2800" dirty="0"/>
              <a:t>x</a:t>
            </a:r>
            <a:endParaRPr lang="fr-FR" sz="2800" baseline="-25000" dirty="0"/>
          </a:p>
        </p:txBody>
      </p:sp>
      <p:sp>
        <p:nvSpPr>
          <p:cNvPr id="28" name="ZoneTexte 27">
            <a:extLst>
              <a:ext uri="{FF2B5EF4-FFF2-40B4-BE49-F238E27FC236}">
                <a16:creationId xmlns:a16="http://schemas.microsoft.com/office/drawing/2014/main" id="{574BCD2E-59A9-0755-40CE-0CCE6999BA2C}"/>
              </a:ext>
            </a:extLst>
          </p:cNvPr>
          <p:cNvSpPr txBox="1"/>
          <p:nvPr/>
        </p:nvSpPr>
        <p:spPr>
          <a:xfrm>
            <a:off x="4120034" y="2467393"/>
            <a:ext cx="599090"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w</a:t>
            </a:r>
          </a:p>
        </p:txBody>
      </p:sp>
      <p:cxnSp>
        <p:nvCxnSpPr>
          <p:cNvPr id="30" name="Connecteur droit avec flèche 29">
            <a:extLst>
              <a:ext uri="{FF2B5EF4-FFF2-40B4-BE49-F238E27FC236}">
                <a16:creationId xmlns:a16="http://schemas.microsoft.com/office/drawing/2014/main" id="{49351350-5964-0ADE-FA9E-6CC16157739F}"/>
              </a:ext>
            </a:extLst>
          </p:cNvPr>
          <p:cNvCxnSpPr>
            <a:cxnSpLocks/>
          </p:cNvCxnSpPr>
          <p:nvPr/>
        </p:nvCxnSpPr>
        <p:spPr>
          <a:xfrm>
            <a:off x="6074977" y="2742628"/>
            <a:ext cx="9354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necteur droit avec flèche 31">
            <a:extLst>
              <a:ext uri="{FF2B5EF4-FFF2-40B4-BE49-F238E27FC236}">
                <a16:creationId xmlns:a16="http://schemas.microsoft.com/office/drawing/2014/main" id="{F7AF5889-D327-CC4C-C337-2819D6DAC9DC}"/>
              </a:ext>
            </a:extLst>
          </p:cNvPr>
          <p:cNvCxnSpPr>
            <a:cxnSpLocks/>
          </p:cNvCxnSpPr>
          <p:nvPr/>
        </p:nvCxnSpPr>
        <p:spPr>
          <a:xfrm flipV="1">
            <a:off x="4651482" y="3166246"/>
            <a:ext cx="493330" cy="5994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ZoneTexte 35">
            <a:extLst>
              <a:ext uri="{FF2B5EF4-FFF2-40B4-BE49-F238E27FC236}">
                <a16:creationId xmlns:a16="http://schemas.microsoft.com/office/drawing/2014/main" id="{D13F9D68-900E-81CD-E1B8-EC9DF31BF425}"/>
              </a:ext>
            </a:extLst>
          </p:cNvPr>
          <p:cNvSpPr txBox="1"/>
          <p:nvPr/>
        </p:nvSpPr>
        <p:spPr>
          <a:xfrm>
            <a:off x="4184429" y="3641845"/>
            <a:ext cx="599090"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b</a:t>
            </a:r>
          </a:p>
        </p:txBody>
      </p:sp>
      <p:sp>
        <p:nvSpPr>
          <p:cNvPr id="41" name="ZoneTexte 40">
            <a:extLst>
              <a:ext uri="{FF2B5EF4-FFF2-40B4-BE49-F238E27FC236}">
                <a16:creationId xmlns:a16="http://schemas.microsoft.com/office/drawing/2014/main" id="{56BBDCD9-E52C-1CEC-E259-FB6B50487594}"/>
              </a:ext>
            </a:extLst>
          </p:cNvPr>
          <p:cNvSpPr txBox="1"/>
          <p:nvPr/>
        </p:nvSpPr>
        <p:spPr>
          <a:xfrm>
            <a:off x="5034995" y="2635155"/>
            <a:ext cx="517929" cy="307777"/>
          </a:xfrm>
          <a:prstGeom prst="rect">
            <a:avLst/>
          </a:prstGeom>
          <a:noFill/>
        </p:spPr>
        <p:txBody>
          <a:bodyPr wrap="square" rtlCol="0">
            <a:spAutoFit/>
          </a:bodyPr>
          <a:lstStyle/>
          <a:p>
            <a:pPr algn="ctr"/>
            <a:r>
              <a:rPr lang="fr-FR" sz="1400" dirty="0"/>
              <a:t>net</a:t>
            </a:r>
          </a:p>
        </p:txBody>
      </p:sp>
      <p:sp>
        <p:nvSpPr>
          <p:cNvPr id="42" name="ZoneTexte 41">
            <a:extLst>
              <a:ext uri="{FF2B5EF4-FFF2-40B4-BE49-F238E27FC236}">
                <a16:creationId xmlns:a16="http://schemas.microsoft.com/office/drawing/2014/main" id="{2C7D2953-82F8-A700-84CF-EE026BA78EE5}"/>
              </a:ext>
            </a:extLst>
          </p:cNvPr>
          <p:cNvSpPr txBox="1"/>
          <p:nvPr/>
        </p:nvSpPr>
        <p:spPr>
          <a:xfrm>
            <a:off x="5486866" y="2635155"/>
            <a:ext cx="517929" cy="307777"/>
          </a:xfrm>
          <a:prstGeom prst="rect">
            <a:avLst/>
          </a:prstGeom>
          <a:noFill/>
        </p:spPr>
        <p:txBody>
          <a:bodyPr wrap="square" rtlCol="0">
            <a:spAutoFit/>
          </a:bodyPr>
          <a:lstStyle/>
          <a:p>
            <a:pPr algn="ctr"/>
            <a:r>
              <a:rPr lang="fr-FR" sz="1400" dirty="0"/>
              <a:t>out</a:t>
            </a:r>
          </a:p>
        </p:txBody>
      </p:sp>
      <mc:AlternateContent xmlns:mc="http://schemas.openxmlformats.org/markup-compatibility/2006" xmlns:a14="http://schemas.microsoft.com/office/drawing/2010/main">
        <mc:Choice Requires="a14">
          <p:sp>
            <p:nvSpPr>
              <p:cNvPr id="43" name="ZoneTexte 42">
                <a:extLst>
                  <a:ext uri="{FF2B5EF4-FFF2-40B4-BE49-F238E27FC236}">
                    <a16:creationId xmlns:a16="http://schemas.microsoft.com/office/drawing/2014/main" id="{5B5E4BD2-3C44-1221-9A95-83CA3F66E1FC}"/>
                  </a:ext>
                </a:extLst>
              </p:cNvPr>
              <p:cNvSpPr txBox="1"/>
              <p:nvPr/>
            </p:nvSpPr>
            <p:spPr>
              <a:xfrm>
                <a:off x="3402299" y="5173742"/>
                <a:ext cx="4242678" cy="873188"/>
              </a:xfrm>
              <a:prstGeom prst="rect">
                <a:avLst/>
              </a:prstGeom>
              <a:noFill/>
              <a:ln>
                <a:noFill/>
              </a:ln>
            </p:spPr>
            <p:txBody>
              <a:bodyPr wrap="square" lIns="0" tIns="0" rIns="0" bIns="0" rtlCol="0">
                <a:spAutoFit/>
              </a:bodyPr>
              <a:lstStyle/>
              <a:p>
                <a:pPr algn="ctr"/>
                <a:endParaRPr lang="fr-FR" sz="1600" dirty="0">
                  <a:latin typeface="Cambria Math" panose="02040503050406030204" pitchFamily="18" charset="0"/>
                </a:endParaRPr>
              </a:p>
              <a:p>
                <a:pPr algn="ctr"/>
                <a:r>
                  <a:rPr lang="fr-FR" sz="1600" dirty="0">
                    <a:latin typeface="Cambria Math" panose="02040503050406030204" pitchFamily="18" charset="0"/>
                  </a:rPr>
                  <a:t>  </a:t>
                </a:r>
                <a:r>
                  <a:rPr lang="fr-FR" sz="1600" b="1" dirty="0">
                    <a:latin typeface="Cambria Math" panose="02040503050406030204" pitchFamily="18" charset="0"/>
                  </a:rPr>
                  <a:t>net</a:t>
                </a:r>
                <a:r>
                  <a:rPr lang="fr-FR" sz="1600" b="0" i="1" dirty="0">
                    <a:latin typeface="Cambria Math" panose="02040503050406030204" pitchFamily="18" charset="0"/>
                  </a:rPr>
                  <a:t> = </a:t>
                </a:r>
                <a14:m>
                  <m:oMath xmlns:m="http://schemas.openxmlformats.org/officeDocument/2006/math">
                    <m:r>
                      <m:rPr>
                        <m:sty m:val="p"/>
                      </m:rPr>
                      <a:rPr lang="fr-FR" sz="1600" b="0" i="0" smtClean="0">
                        <a:latin typeface="Cambria Math" panose="02040503050406030204" pitchFamily="18" charset="0"/>
                        <a:ea typeface="Cambria Math" panose="02040503050406030204" pitchFamily="18" charset="0"/>
                      </a:rPr>
                      <m:t>X</m:t>
                    </m:r>
                    <m:r>
                      <a:rPr lang="fr-FR" sz="1600" b="0" i="0" smtClean="0">
                        <a:latin typeface="Cambria Math" panose="02040503050406030204" pitchFamily="18" charset="0"/>
                        <a:ea typeface="Cambria Math" panose="02040503050406030204" pitchFamily="18" charset="0"/>
                      </a:rPr>
                      <m:t> </m:t>
                    </m:r>
                    <m:r>
                      <a:rPr lang="fr-FR" sz="1600" b="0" i="1" smtClean="0">
                        <a:latin typeface="Cambria Math" panose="02040503050406030204" pitchFamily="18" charset="0"/>
                        <a:ea typeface="Cambria Math" panose="02040503050406030204" pitchFamily="18" charset="0"/>
                      </a:rPr>
                      <m:t>× </m:t>
                    </m:r>
                    <m:r>
                      <a:rPr lang="fr-FR" sz="1600" b="0" i="1" smtClean="0">
                        <a:latin typeface="Cambria Math" panose="02040503050406030204" pitchFamily="18" charset="0"/>
                        <a:ea typeface="Cambria Math" panose="02040503050406030204" pitchFamily="18" charset="0"/>
                      </a:rPr>
                      <m:t>𝑤</m:t>
                    </m:r>
                  </m:oMath>
                </a14:m>
                <a:r>
                  <a:rPr lang="fr-FR" sz="1600" i="1" dirty="0">
                    <a:latin typeface="Cambria Math" panose="02040503050406030204" pitchFamily="18" charset="0"/>
                  </a:rPr>
                  <a:t> </a:t>
                </a:r>
                <a:r>
                  <a:rPr lang="fr-FR" sz="1600" dirty="0">
                    <a:latin typeface="Cambria Math" panose="02040503050406030204" pitchFamily="18" charset="0"/>
                  </a:rPr>
                  <a:t>+ </a:t>
                </a:r>
                <a:r>
                  <a:rPr lang="fr-FR" sz="1600" b="0" dirty="0">
                    <a:latin typeface="Cambria Math" panose="02040503050406030204" pitchFamily="18" charset="0"/>
                  </a:rPr>
                  <a:t>b</a:t>
                </a:r>
                <a:r>
                  <a:rPr lang="fr-FR" sz="1600" dirty="0">
                    <a:latin typeface="Cambria Math" panose="02040503050406030204" pitchFamily="18" charset="0"/>
                  </a:rPr>
                  <a:t>     </a:t>
                </a:r>
                <a:r>
                  <a:rPr lang="fr-FR" sz="1600" b="1" dirty="0">
                    <a:latin typeface="Cambria Math" panose="02040503050406030204" pitchFamily="18" charset="0"/>
                  </a:rPr>
                  <a:t>out</a:t>
                </a:r>
                <a:r>
                  <a:rPr lang="fr-FR" sz="1600" dirty="0">
                    <a:latin typeface="Cambria Math" panose="02040503050406030204" pitchFamily="18" charset="0"/>
                  </a:rPr>
                  <a:t> </a:t>
                </a:r>
                <a14:m>
                  <m:oMath xmlns:m="http://schemas.openxmlformats.org/officeDocument/2006/math">
                    <m:r>
                      <a:rPr lang="fr-FR" sz="1600" b="0" i="1" smtClean="0">
                        <a:latin typeface="Cambria Math" panose="02040503050406030204" pitchFamily="18" charset="0"/>
                      </a:rPr>
                      <m:t>=</m:t>
                    </m:r>
                    <m:f>
                      <m:fPr>
                        <m:ctrlPr>
                          <a:rPr lang="fr-FR" sz="1600" b="0" i="1" smtClean="0">
                            <a:latin typeface="Cambria Math" panose="02040503050406030204" pitchFamily="18" charset="0"/>
                          </a:rPr>
                        </m:ctrlPr>
                      </m:fPr>
                      <m:num>
                        <m:r>
                          <a:rPr lang="fr-FR" sz="1600" b="0" i="1" smtClean="0">
                            <a:latin typeface="Cambria Math" panose="02040503050406030204" pitchFamily="18" charset="0"/>
                          </a:rPr>
                          <m:t>1</m:t>
                        </m:r>
                      </m:num>
                      <m:den>
                        <m:r>
                          <a:rPr lang="fr-FR" sz="1600" b="0" i="1" smtClean="0">
                            <a:latin typeface="Cambria Math" panose="02040503050406030204" pitchFamily="18" charset="0"/>
                          </a:rPr>
                          <m:t>1+</m:t>
                        </m:r>
                        <m:r>
                          <m:rPr>
                            <m:sty m:val="p"/>
                          </m:rPr>
                          <a:rPr lang="fr-FR" sz="1600" b="0" i="0" smtClean="0">
                            <a:latin typeface="Cambria Math" panose="02040503050406030204" pitchFamily="18" charset="0"/>
                          </a:rPr>
                          <m:t>exp</m:t>
                        </m:r>
                        <m:r>
                          <a:rPr lang="fr-FR" sz="1600" b="0" i="1" smtClean="0">
                            <a:latin typeface="Cambria Math" panose="02040503050406030204" pitchFamily="18" charset="0"/>
                          </a:rPr>
                          <m:t>⁡(−</m:t>
                        </m:r>
                        <m:r>
                          <m:rPr>
                            <m:sty m:val="p"/>
                          </m:rPr>
                          <a:rPr lang="fr-FR" sz="1600" b="0" i="0" smtClean="0">
                            <a:latin typeface="Cambria Math" panose="02040503050406030204" pitchFamily="18" charset="0"/>
                          </a:rPr>
                          <m:t>net</m:t>
                        </m:r>
                        <m:r>
                          <a:rPr lang="fr-FR" sz="1600" b="0" i="1" smtClean="0">
                            <a:latin typeface="Cambria Math" panose="02040503050406030204" pitchFamily="18" charset="0"/>
                          </a:rPr>
                          <m:t>)</m:t>
                        </m:r>
                      </m:den>
                    </m:f>
                  </m:oMath>
                </a14:m>
                <a:endParaRPr lang="fr-FR" sz="1600" b="0" dirty="0">
                  <a:latin typeface="Cambria Math" panose="02040503050406030204" pitchFamily="18" charset="0"/>
                  <a:ea typeface="Cambria Math" panose="02040503050406030204" pitchFamily="18" charset="0"/>
                </a:endParaRPr>
              </a:p>
              <a:p>
                <a:pPr algn="ctr"/>
                <a:endParaRPr lang="fr-FR" sz="1600" dirty="0"/>
              </a:p>
            </p:txBody>
          </p:sp>
        </mc:Choice>
        <mc:Fallback xmlns="">
          <p:sp>
            <p:nvSpPr>
              <p:cNvPr id="43" name="ZoneTexte 42">
                <a:extLst>
                  <a:ext uri="{FF2B5EF4-FFF2-40B4-BE49-F238E27FC236}">
                    <a16:creationId xmlns:a16="http://schemas.microsoft.com/office/drawing/2014/main" id="{5B5E4BD2-3C44-1221-9A95-83CA3F66E1FC}"/>
                  </a:ext>
                </a:extLst>
              </p:cNvPr>
              <p:cNvSpPr txBox="1">
                <a:spLocks noRot="1" noChangeAspect="1" noMove="1" noResize="1" noEditPoints="1" noAdjustHandles="1" noChangeArrowheads="1" noChangeShapeType="1" noTextEdit="1"/>
              </p:cNvSpPr>
              <p:nvPr/>
            </p:nvSpPr>
            <p:spPr>
              <a:xfrm>
                <a:off x="3402299" y="5173742"/>
                <a:ext cx="4242678" cy="873188"/>
              </a:xfrm>
              <a:prstGeom prst="rect">
                <a:avLst/>
              </a:prstGeom>
              <a:blipFill>
                <a:blip r:embed="rId2"/>
                <a:stretch>
                  <a:fillRect/>
                </a:stretch>
              </a:blipFill>
              <a:ln>
                <a:noFill/>
              </a:ln>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4" name="ZoneTexte 43">
                <a:extLst>
                  <a:ext uri="{FF2B5EF4-FFF2-40B4-BE49-F238E27FC236}">
                    <a16:creationId xmlns:a16="http://schemas.microsoft.com/office/drawing/2014/main" id="{BC06E6BC-1BA6-2E47-062B-4CFA998326AB}"/>
                  </a:ext>
                </a:extLst>
              </p:cNvPr>
              <p:cNvSpPr txBox="1"/>
              <p:nvPr/>
            </p:nvSpPr>
            <p:spPr>
              <a:xfrm>
                <a:off x="7031418" y="2533615"/>
                <a:ext cx="2324249" cy="302840"/>
              </a:xfrm>
              <a:prstGeom prst="rect">
                <a:avLst/>
              </a:prstGeom>
              <a:noFill/>
              <a:ln>
                <a:solidFill>
                  <a:schemeClr val="tx1">
                    <a:lumMod val="50000"/>
                    <a:lumOff val="50000"/>
                  </a:schemeClr>
                </a:solidFill>
              </a:ln>
            </p:spPr>
            <p:txBody>
              <a:bodyPr wrap="square" rtlCol="0">
                <a:spAutoFit/>
              </a:bodyPr>
              <a:lstStyle/>
              <a:p>
                <a:pPr algn="ctr"/>
                <a14:m>
                  <m:oMath xmlns:m="http://schemas.openxmlformats.org/officeDocument/2006/math">
                    <m:r>
                      <a:rPr lang="fr-FR" sz="1400" b="0" i="1" noProof="0" smtClean="0">
                        <a:latin typeface="Cambria Math" panose="02040503050406030204" pitchFamily="18" charset="0"/>
                      </a:rPr>
                      <m:t>𝐿𝑜𝑠𝑠</m:t>
                    </m:r>
                    <m:r>
                      <a:rPr lang="fr-FR" sz="1400" b="0" i="1" noProof="0" smtClean="0">
                        <a:latin typeface="Cambria Math" panose="02040503050406030204" pitchFamily="18" charset="0"/>
                      </a:rPr>
                      <m:t>= (</m:t>
                    </m:r>
                    <m:r>
                      <m:rPr>
                        <m:sty m:val="p"/>
                      </m:rPr>
                      <a:rPr lang="fr-FR" sz="1400" b="0" i="0" noProof="0" smtClean="0">
                        <a:latin typeface="Cambria Math" panose="02040503050406030204" pitchFamily="18" charset="0"/>
                      </a:rPr>
                      <m:t>target</m:t>
                    </m:r>
                    <m:r>
                      <a:rPr lang="fr-FR" sz="1400" b="0" i="1" noProof="0" smtClean="0">
                        <a:latin typeface="Cambria Math" panose="02040503050406030204" pitchFamily="18" charset="0"/>
                      </a:rPr>
                      <m:t>−</m:t>
                    </m:r>
                    <m:r>
                      <m:rPr>
                        <m:sty m:val="p"/>
                      </m:rPr>
                      <a:rPr lang="fr-FR" sz="1400" b="0" i="0" noProof="0" smtClean="0">
                        <a:latin typeface="Cambria Math" panose="02040503050406030204" pitchFamily="18" charset="0"/>
                      </a:rPr>
                      <m:t>out</m:t>
                    </m:r>
                    <m:r>
                      <a:rPr lang="fr-FR" sz="1400" b="0" i="1" noProof="0" smtClean="0">
                        <a:latin typeface="Cambria Math" panose="02040503050406030204" pitchFamily="18" charset="0"/>
                      </a:rPr>
                      <m:t>)</m:t>
                    </m:r>
                  </m:oMath>
                </a14:m>
                <a:r>
                  <a:rPr lang="en-GB" sz="1400" baseline="30000" noProof="0" dirty="0"/>
                  <a:t>2</a:t>
                </a:r>
              </a:p>
            </p:txBody>
          </p:sp>
        </mc:Choice>
        <mc:Fallback xmlns="">
          <p:sp>
            <p:nvSpPr>
              <p:cNvPr id="44" name="ZoneTexte 43">
                <a:extLst>
                  <a:ext uri="{FF2B5EF4-FFF2-40B4-BE49-F238E27FC236}">
                    <a16:creationId xmlns:a16="http://schemas.microsoft.com/office/drawing/2014/main" id="{BC06E6BC-1BA6-2E47-062B-4CFA998326AB}"/>
                  </a:ext>
                </a:extLst>
              </p:cNvPr>
              <p:cNvSpPr txBox="1">
                <a:spLocks noRot="1" noChangeAspect="1" noMove="1" noResize="1" noEditPoints="1" noAdjustHandles="1" noChangeArrowheads="1" noChangeShapeType="1" noTextEdit="1"/>
              </p:cNvSpPr>
              <p:nvPr/>
            </p:nvSpPr>
            <p:spPr>
              <a:xfrm>
                <a:off x="7031418" y="2533615"/>
                <a:ext cx="2324249" cy="302840"/>
              </a:xfrm>
              <a:prstGeom prst="rect">
                <a:avLst/>
              </a:prstGeom>
              <a:blipFill>
                <a:blip r:embed="rId3"/>
                <a:stretch>
                  <a:fillRect b="-12000"/>
                </a:stretch>
              </a:blipFill>
              <a:ln>
                <a:solidFill>
                  <a:schemeClr val="tx1">
                    <a:lumMod val="50000"/>
                    <a:lumOff val="50000"/>
                  </a:schemeClr>
                </a:solidFill>
              </a:ln>
            </p:spPr>
            <p:txBody>
              <a:bodyPr/>
              <a:lstStyle/>
              <a:p>
                <a:r>
                  <a:rPr lang="en-GB">
                    <a:noFill/>
                  </a:rPr>
                  <a:t> </a:t>
                </a:r>
              </a:p>
            </p:txBody>
          </p:sp>
        </mc:Fallback>
      </mc:AlternateContent>
      <p:sp>
        <p:nvSpPr>
          <p:cNvPr id="46" name="Espace réservé du pied de page 45">
            <a:extLst>
              <a:ext uri="{FF2B5EF4-FFF2-40B4-BE49-F238E27FC236}">
                <a16:creationId xmlns:a16="http://schemas.microsoft.com/office/drawing/2014/main" id="{234139EB-027F-5F50-567F-A93AB2F0C218}"/>
              </a:ext>
            </a:extLst>
          </p:cNvPr>
          <p:cNvSpPr>
            <a:spLocks noGrp="1"/>
          </p:cNvSpPr>
          <p:nvPr>
            <p:ph type="ftr" sz="quarter" idx="11"/>
          </p:nvPr>
        </p:nvSpPr>
        <p:spPr/>
        <p:txBody>
          <a:bodyPr/>
          <a:lstStyle/>
          <a:p>
            <a:r>
              <a:rPr lang="fr-FR"/>
              <a:t>Introduction to Neural Networks. Author: David Thébault</a:t>
            </a:r>
          </a:p>
        </p:txBody>
      </p:sp>
      <p:cxnSp>
        <p:nvCxnSpPr>
          <p:cNvPr id="48" name="Connecteur droit 47">
            <a:extLst>
              <a:ext uri="{FF2B5EF4-FFF2-40B4-BE49-F238E27FC236}">
                <a16:creationId xmlns:a16="http://schemas.microsoft.com/office/drawing/2014/main" id="{263A0164-06A7-1CA6-99A1-633E00361BA0}"/>
              </a:ext>
            </a:extLst>
          </p:cNvPr>
          <p:cNvCxnSpPr>
            <a:cxnSpLocks/>
          </p:cNvCxnSpPr>
          <p:nvPr/>
        </p:nvCxnSpPr>
        <p:spPr>
          <a:xfrm>
            <a:off x="5523184" y="5085100"/>
            <a:ext cx="0" cy="898487"/>
          </a:xfrm>
          <a:prstGeom prst="line">
            <a:avLst/>
          </a:prstGeom>
        </p:spPr>
        <p:style>
          <a:lnRef idx="2">
            <a:schemeClr val="accent1"/>
          </a:lnRef>
          <a:fillRef idx="0">
            <a:schemeClr val="accent1"/>
          </a:fillRef>
          <a:effectRef idx="1">
            <a:schemeClr val="accent1"/>
          </a:effectRef>
          <a:fontRef idx="minor">
            <a:schemeClr val="tx1"/>
          </a:fontRef>
        </p:style>
      </p:cxnSp>
      <p:sp>
        <p:nvSpPr>
          <p:cNvPr id="50" name="ZoneTexte 49">
            <a:extLst>
              <a:ext uri="{FF2B5EF4-FFF2-40B4-BE49-F238E27FC236}">
                <a16:creationId xmlns:a16="http://schemas.microsoft.com/office/drawing/2014/main" id="{86EBA9FE-9049-D84E-82D3-1FCBE9B770FA}"/>
              </a:ext>
            </a:extLst>
          </p:cNvPr>
          <p:cNvSpPr txBox="1"/>
          <p:nvPr/>
        </p:nvSpPr>
        <p:spPr>
          <a:xfrm>
            <a:off x="838200" y="1532877"/>
            <a:ext cx="6773333" cy="369332"/>
          </a:xfrm>
          <a:prstGeom prst="rect">
            <a:avLst/>
          </a:prstGeom>
          <a:noFill/>
        </p:spPr>
        <p:txBody>
          <a:bodyPr wrap="square" rtlCol="0">
            <a:spAutoFit/>
          </a:bodyPr>
          <a:lstStyle/>
          <a:p>
            <a:r>
              <a:rPr lang="en-GB" b="1" dirty="0"/>
              <a:t>How do we find the optimal w and b that minimize the loss ?</a:t>
            </a:r>
          </a:p>
        </p:txBody>
      </p:sp>
      <p:sp>
        <p:nvSpPr>
          <p:cNvPr id="6" name="Flèche vers la gauche 5">
            <a:extLst>
              <a:ext uri="{FF2B5EF4-FFF2-40B4-BE49-F238E27FC236}">
                <a16:creationId xmlns:a16="http://schemas.microsoft.com/office/drawing/2014/main" id="{1D53E3FA-0874-3090-0B32-511E3E10F0E3}"/>
              </a:ext>
            </a:extLst>
          </p:cNvPr>
          <p:cNvSpPr/>
          <p:nvPr/>
        </p:nvSpPr>
        <p:spPr>
          <a:xfrm>
            <a:off x="3384998" y="4450450"/>
            <a:ext cx="4030133" cy="795867"/>
          </a:xfrm>
          <a:prstGeom prst="lef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dirty="0"/>
              <a:t>BACKPROPAGATION</a:t>
            </a:r>
          </a:p>
        </p:txBody>
      </p:sp>
      <p:sp>
        <p:nvSpPr>
          <p:cNvPr id="7" name="ZoneTexte 6">
            <a:extLst>
              <a:ext uri="{FF2B5EF4-FFF2-40B4-BE49-F238E27FC236}">
                <a16:creationId xmlns:a16="http://schemas.microsoft.com/office/drawing/2014/main" id="{AB535F2D-E679-F579-06B8-CE64B5F2FAA5}"/>
              </a:ext>
            </a:extLst>
          </p:cNvPr>
          <p:cNvSpPr txBox="1"/>
          <p:nvPr/>
        </p:nvSpPr>
        <p:spPr>
          <a:xfrm>
            <a:off x="7611533" y="1425155"/>
            <a:ext cx="3806659" cy="584775"/>
          </a:xfrm>
          <a:prstGeom prst="rect">
            <a:avLst/>
          </a:prstGeom>
          <a:noFill/>
        </p:spPr>
        <p:txBody>
          <a:bodyPr wrap="square" rtlCol="0">
            <a:spAutoFit/>
          </a:bodyPr>
          <a:lstStyle/>
          <a:p>
            <a:r>
              <a:rPr lang="en-GB" sz="3200" b="1" noProof="0" dirty="0"/>
              <a:t>Gradient descent</a:t>
            </a:r>
          </a:p>
        </p:txBody>
      </p:sp>
      <mc:AlternateContent xmlns:mc="http://schemas.openxmlformats.org/markup-compatibility/2006" xmlns:a14="http://schemas.microsoft.com/office/drawing/2010/main">
        <mc:Choice Requires="a14">
          <p:sp>
            <p:nvSpPr>
              <p:cNvPr id="9" name="ZoneTexte 8">
                <a:extLst>
                  <a:ext uri="{FF2B5EF4-FFF2-40B4-BE49-F238E27FC236}">
                    <a16:creationId xmlns:a16="http://schemas.microsoft.com/office/drawing/2014/main" id="{5E915F08-D3D3-CA96-19EB-1899980FAFE6}"/>
                  </a:ext>
                </a:extLst>
              </p:cNvPr>
              <p:cNvSpPr txBox="1"/>
              <p:nvPr/>
            </p:nvSpPr>
            <p:spPr>
              <a:xfrm>
                <a:off x="5952138" y="3804673"/>
                <a:ext cx="935421" cy="6190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fr-FR" i="1" smtClean="0">
                              <a:solidFill>
                                <a:srgbClr val="FF0002"/>
                              </a:solidFill>
                              <a:latin typeface="Cambria Math" panose="02040503050406030204" pitchFamily="18" charset="0"/>
                            </a:rPr>
                          </m:ctrlPr>
                        </m:fPr>
                        <m:num>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𝐿𝑜𝑠𝑠</m:t>
                          </m:r>
                        </m:num>
                        <m:den>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𝑜𝑢𝑡</m:t>
                          </m:r>
                        </m:den>
                      </m:f>
                    </m:oMath>
                  </m:oMathPara>
                </a14:m>
                <a:endParaRPr lang="fr-FR" dirty="0">
                  <a:solidFill>
                    <a:srgbClr val="FF0002"/>
                  </a:solidFill>
                </a:endParaRPr>
              </a:p>
            </p:txBody>
          </p:sp>
        </mc:Choice>
        <mc:Fallback xmlns="">
          <p:sp>
            <p:nvSpPr>
              <p:cNvPr id="9" name="ZoneTexte 8">
                <a:extLst>
                  <a:ext uri="{FF2B5EF4-FFF2-40B4-BE49-F238E27FC236}">
                    <a16:creationId xmlns:a16="http://schemas.microsoft.com/office/drawing/2014/main" id="{5E915F08-D3D3-CA96-19EB-1899980FAFE6}"/>
                  </a:ext>
                </a:extLst>
              </p:cNvPr>
              <p:cNvSpPr txBox="1">
                <a:spLocks noRot="1" noChangeAspect="1" noMove="1" noResize="1" noEditPoints="1" noAdjustHandles="1" noChangeArrowheads="1" noChangeShapeType="1" noTextEdit="1"/>
              </p:cNvSpPr>
              <p:nvPr/>
            </p:nvSpPr>
            <p:spPr>
              <a:xfrm>
                <a:off x="5952138" y="3804673"/>
                <a:ext cx="935421" cy="619016"/>
              </a:xfrm>
              <a:prstGeom prst="rect">
                <a:avLst/>
              </a:prstGeom>
              <a:blipFill>
                <a:blip r:embed="rId4"/>
                <a:stretch>
                  <a:fillRect b="-40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FCA9BB82-361D-1243-AA99-B0FD1A32E1E3}"/>
                  </a:ext>
                </a:extLst>
              </p:cNvPr>
              <p:cNvSpPr txBox="1"/>
              <p:nvPr/>
            </p:nvSpPr>
            <p:spPr>
              <a:xfrm>
                <a:off x="5155554" y="3817307"/>
                <a:ext cx="826060" cy="6190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fr-FR" i="1" smtClean="0">
                              <a:solidFill>
                                <a:srgbClr val="FF0002"/>
                              </a:solidFill>
                              <a:latin typeface="Cambria Math" panose="02040503050406030204" pitchFamily="18" charset="0"/>
                            </a:rPr>
                          </m:ctrlPr>
                        </m:fPr>
                        <m:num>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𝑜𝑢𝑡</m:t>
                          </m:r>
                        </m:num>
                        <m:den>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𝑛𝑒𝑡</m:t>
                          </m:r>
                        </m:den>
                      </m:f>
                    </m:oMath>
                  </m:oMathPara>
                </a14:m>
                <a:endParaRPr lang="fr-FR" dirty="0">
                  <a:solidFill>
                    <a:srgbClr val="FF0002"/>
                  </a:solidFill>
                </a:endParaRPr>
              </a:p>
            </p:txBody>
          </p:sp>
        </mc:Choice>
        <mc:Fallback xmlns="">
          <p:sp>
            <p:nvSpPr>
              <p:cNvPr id="10" name="ZoneTexte 9">
                <a:extLst>
                  <a:ext uri="{FF2B5EF4-FFF2-40B4-BE49-F238E27FC236}">
                    <a16:creationId xmlns:a16="http://schemas.microsoft.com/office/drawing/2014/main" id="{FCA9BB82-361D-1243-AA99-B0FD1A32E1E3}"/>
                  </a:ext>
                </a:extLst>
              </p:cNvPr>
              <p:cNvSpPr txBox="1">
                <a:spLocks noRot="1" noChangeAspect="1" noMove="1" noResize="1" noEditPoints="1" noAdjustHandles="1" noChangeArrowheads="1" noChangeShapeType="1" noTextEdit="1"/>
              </p:cNvSpPr>
              <p:nvPr/>
            </p:nvSpPr>
            <p:spPr>
              <a:xfrm>
                <a:off x="5155554" y="3817307"/>
                <a:ext cx="826060" cy="619016"/>
              </a:xfrm>
              <a:prstGeom prst="rect">
                <a:avLst/>
              </a:prstGeom>
              <a:blipFill>
                <a:blip r:embed="rId5"/>
                <a:stretch>
                  <a:fillRect b="-40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4B6770C4-2352-9B56-A0AC-B703EEF8E246}"/>
                  </a:ext>
                </a:extLst>
              </p:cNvPr>
              <p:cNvSpPr txBox="1"/>
              <p:nvPr/>
            </p:nvSpPr>
            <p:spPr>
              <a:xfrm>
                <a:off x="4442982" y="3802058"/>
                <a:ext cx="734728" cy="61908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fr-FR" i="1" smtClean="0">
                              <a:solidFill>
                                <a:srgbClr val="FF0002"/>
                              </a:solidFill>
                              <a:latin typeface="Cambria Math" panose="02040503050406030204" pitchFamily="18" charset="0"/>
                            </a:rPr>
                          </m:ctrlPr>
                        </m:fPr>
                        <m:num>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𝑛𝑒𝑡</m:t>
                          </m:r>
                        </m:num>
                        <m:den>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𝑤</m:t>
                          </m:r>
                        </m:den>
                      </m:f>
                      <m:r>
                        <a:rPr lang="fr-FR" b="0" i="1" smtClean="0">
                          <a:solidFill>
                            <a:srgbClr val="FF0002"/>
                          </a:solidFill>
                          <a:latin typeface="Cambria Math" panose="02040503050406030204" pitchFamily="18" charset="0"/>
                        </a:rPr>
                        <m:t> </m:t>
                      </m:r>
                    </m:oMath>
                  </m:oMathPara>
                </a14:m>
                <a:endParaRPr lang="fr-FR" dirty="0">
                  <a:solidFill>
                    <a:srgbClr val="FF0002"/>
                  </a:solidFill>
                </a:endParaRPr>
              </a:p>
            </p:txBody>
          </p:sp>
        </mc:Choice>
        <mc:Fallback xmlns="">
          <p:sp>
            <p:nvSpPr>
              <p:cNvPr id="11" name="ZoneTexte 10">
                <a:extLst>
                  <a:ext uri="{FF2B5EF4-FFF2-40B4-BE49-F238E27FC236}">
                    <a16:creationId xmlns:a16="http://schemas.microsoft.com/office/drawing/2014/main" id="{4B6770C4-2352-9B56-A0AC-B703EEF8E246}"/>
                  </a:ext>
                </a:extLst>
              </p:cNvPr>
              <p:cNvSpPr txBox="1">
                <a:spLocks noRot="1" noChangeAspect="1" noMove="1" noResize="1" noEditPoints="1" noAdjustHandles="1" noChangeArrowheads="1" noChangeShapeType="1" noTextEdit="1"/>
              </p:cNvSpPr>
              <p:nvPr/>
            </p:nvSpPr>
            <p:spPr>
              <a:xfrm>
                <a:off x="4442982" y="3802058"/>
                <a:ext cx="734728" cy="619080"/>
              </a:xfrm>
              <a:prstGeom prst="rect">
                <a:avLst/>
              </a:prstGeom>
              <a:blipFill>
                <a:blip r:embed="rId6"/>
                <a:stretch>
                  <a:fillRect r="-1695" b="-6122"/>
                </a:stretch>
              </a:blipFill>
            </p:spPr>
            <p:txBody>
              <a:bodyPr/>
              <a:lstStyle/>
              <a:p>
                <a:r>
                  <a:rPr lang="fr-FR">
                    <a:noFill/>
                  </a:rPr>
                  <a:t> </a:t>
                </a:r>
              </a:p>
            </p:txBody>
          </p:sp>
        </mc:Fallback>
      </mc:AlternateContent>
      <p:sp>
        <p:nvSpPr>
          <p:cNvPr id="13" name="ZoneTexte 12">
            <a:extLst>
              <a:ext uri="{FF2B5EF4-FFF2-40B4-BE49-F238E27FC236}">
                <a16:creationId xmlns:a16="http://schemas.microsoft.com/office/drawing/2014/main" id="{26E54181-4A93-BA78-1FA1-F5A12B04FDAD}"/>
              </a:ext>
            </a:extLst>
          </p:cNvPr>
          <p:cNvSpPr txBox="1"/>
          <p:nvPr/>
        </p:nvSpPr>
        <p:spPr>
          <a:xfrm>
            <a:off x="4942865" y="3760612"/>
            <a:ext cx="457200" cy="707886"/>
          </a:xfrm>
          <a:prstGeom prst="rect">
            <a:avLst/>
          </a:prstGeom>
          <a:noFill/>
        </p:spPr>
        <p:txBody>
          <a:bodyPr wrap="square" rtlCol="0">
            <a:spAutoFit/>
          </a:bodyPr>
          <a:lstStyle/>
          <a:p>
            <a:pPr algn="ctr"/>
            <a:r>
              <a:rPr lang="fr-FR" sz="4000" b="1" dirty="0"/>
              <a:t>?</a:t>
            </a:r>
          </a:p>
        </p:txBody>
      </p:sp>
      <p:sp>
        <p:nvSpPr>
          <p:cNvPr id="14" name="ZoneTexte 13">
            <a:extLst>
              <a:ext uri="{FF2B5EF4-FFF2-40B4-BE49-F238E27FC236}">
                <a16:creationId xmlns:a16="http://schemas.microsoft.com/office/drawing/2014/main" id="{01B0BD6A-C7A8-A214-D6A4-92C6BF74C614}"/>
              </a:ext>
            </a:extLst>
          </p:cNvPr>
          <p:cNvSpPr txBox="1"/>
          <p:nvPr/>
        </p:nvSpPr>
        <p:spPr>
          <a:xfrm>
            <a:off x="5744673" y="3752754"/>
            <a:ext cx="457200" cy="707886"/>
          </a:xfrm>
          <a:prstGeom prst="rect">
            <a:avLst/>
          </a:prstGeom>
          <a:noFill/>
        </p:spPr>
        <p:txBody>
          <a:bodyPr wrap="square" rtlCol="0">
            <a:spAutoFit/>
          </a:bodyPr>
          <a:lstStyle/>
          <a:p>
            <a:pPr algn="ctr"/>
            <a:r>
              <a:rPr lang="fr-FR" sz="4000" b="1" dirty="0"/>
              <a:t>?</a:t>
            </a:r>
          </a:p>
        </p:txBody>
      </p:sp>
      <p:sp>
        <p:nvSpPr>
          <p:cNvPr id="15" name="ZoneTexte 14">
            <a:extLst>
              <a:ext uri="{FF2B5EF4-FFF2-40B4-BE49-F238E27FC236}">
                <a16:creationId xmlns:a16="http://schemas.microsoft.com/office/drawing/2014/main" id="{FE3E137A-E7D4-DAB4-5B05-418B1F7C43C2}"/>
              </a:ext>
            </a:extLst>
          </p:cNvPr>
          <p:cNvSpPr txBox="1"/>
          <p:nvPr/>
        </p:nvSpPr>
        <p:spPr>
          <a:xfrm>
            <a:off x="6632381" y="3759221"/>
            <a:ext cx="457200" cy="707886"/>
          </a:xfrm>
          <a:prstGeom prst="rect">
            <a:avLst/>
          </a:prstGeom>
          <a:noFill/>
        </p:spPr>
        <p:txBody>
          <a:bodyPr wrap="square" rtlCol="0">
            <a:spAutoFit/>
          </a:bodyPr>
          <a:lstStyle/>
          <a:p>
            <a:pPr algn="ctr"/>
            <a:r>
              <a:rPr lang="fr-FR" sz="4000" b="1" dirty="0"/>
              <a:t>?</a:t>
            </a:r>
          </a:p>
        </p:txBody>
      </p:sp>
      <p:cxnSp>
        <p:nvCxnSpPr>
          <p:cNvPr id="16" name="Connecteur en arc 15">
            <a:extLst>
              <a:ext uri="{FF2B5EF4-FFF2-40B4-BE49-F238E27FC236}">
                <a16:creationId xmlns:a16="http://schemas.microsoft.com/office/drawing/2014/main" id="{581E9C6C-F52D-1149-A4DA-6513BE1EB67E}"/>
              </a:ext>
            </a:extLst>
          </p:cNvPr>
          <p:cNvCxnSpPr>
            <a:cxnSpLocks/>
          </p:cNvCxnSpPr>
          <p:nvPr/>
        </p:nvCxnSpPr>
        <p:spPr>
          <a:xfrm rot="5400000">
            <a:off x="6378290" y="3233121"/>
            <a:ext cx="3025" cy="465667"/>
          </a:xfrm>
          <a:prstGeom prst="curvedConnector3">
            <a:avLst>
              <a:gd name="adj1" fmla="val 7657025"/>
            </a:avLst>
          </a:prstGeom>
          <a:ln w="50800">
            <a:solidFill>
              <a:srgbClr val="FF0002">
                <a:alpha val="50000"/>
              </a:srgbClr>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eur en arc 17">
            <a:extLst>
              <a:ext uri="{FF2B5EF4-FFF2-40B4-BE49-F238E27FC236}">
                <a16:creationId xmlns:a16="http://schemas.microsoft.com/office/drawing/2014/main" id="{7F04DB43-B877-3274-DC7E-38D9890F7585}"/>
              </a:ext>
            </a:extLst>
          </p:cNvPr>
          <p:cNvCxnSpPr>
            <a:cxnSpLocks/>
          </p:cNvCxnSpPr>
          <p:nvPr/>
        </p:nvCxnSpPr>
        <p:spPr>
          <a:xfrm rot="5400000">
            <a:off x="5551411" y="3208407"/>
            <a:ext cx="3025" cy="465667"/>
          </a:xfrm>
          <a:prstGeom prst="curvedConnector3">
            <a:avLst>
              <a:gd name="adj1" fmla="val 7657025"/>
            </a:avLst>
          </a:prstGeom>
          <a:ln w="50800">
            <a:solidFill>
              <a:srgbClr val="FF0002">
                <a:alpha val="50000"/>
              </a:srgbClr>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eur en arc 18">
            <a:extLst>
              <a:ext uri="{FF2B5EF4-FFF2-40B4-BE49-F238E27FC236}">
                <a16:creationId xmlns:a16="http://schemas.microsoft.com/office/drawing/2014/main" id="{1DA12969-327C-D265-A68E-7269B7FD1E68}"/>
              </a:ext>
            </a:extLst>
          </p:cNvPr>
          <p:cNvCxnSpPr>
            <a:cxnSpLocks/>
          </p:cNvCxnSpPr>
          <p:nvPr/>
        </p:nvCxnSpPr>
        <p:spPr>
          <a:xfrm rot="5400000">
            <a:off x="4786721" y="3226600"/>
            <a:ext cx="3025" cy="465667"/>
          </a:xfrm>
          <a:prstGeom prst="curvedConnector3">
            <a:avLst>
              <a:gd name="adj1" fmla="val 7657025"/>
            </a:avLst>
          </a:prstGeom>
          <a:ln w="50800">
            <a:solidFill>
              <a:srgbClr val="FF0002">
                <a:alpha val="50000"/>
              </a:srgbClr>
            </a:solidFill>
            <a:tailEnd type="triangle"/>
          </a:ln>
        </p:spPr>
        <p:style>
          <a:lnRef idx="2">
            <a:schemeClr val="accent1"/>
          </a:lnRef>
          <a:fillRef idx="0">
            <a:schemeClr val="accent1"/>
          </a:fillRef>
          <a:effectRef idx="1">
            <a:schemeClr val="accent1"/>
          </a:effectRef>
          <a:fontRef idx="minor">
            <a:schemeClr val="tx1"/>
          </a:fontRef>
        </p:style>
      </p:cxnSp>
      <p:sp>
        <p:nvSpPr>
          <p:cNvPr id="20" name="Titre 1">
            <a:extLst>
              <a:ext uri="{FF2B5EF4-FFF2-40B4-BE49-F238E27FC236}">
                <a16:creationId xmlns:a16="http://schemas.microsoft.com/office/drawing/2014/main" id="{C9B07D45-43F8-FD77-C167-3A0E4C1393BA}"/>
              </a:ext>
            </a:extLst>
          </p:cNvPr>
          <p:cNvSpPr>
            <a:spLocks noGrp="1"/>
          </p:cNvSpPr>
          <p:nvPr>
            <p:ph type="title"/>
          </p:nvPr>
        </p:nvSpPr>
        <p:spPr>
          <a:xfrm>
            <a:off x="838200" y="300730"/>
            <a:ext cx="10515600" cy="1325563"/>
          </a:xfrm>
        </p:spPr>
        <p:txBody>
          <a:bodyPr/>
          <a:lstStyle/>
          <a:p>
            <a:r>
              <a:rPr lang="en-GB" noProof="0" dirty="0"/>
              <a:t>Perceptron </a:t>
            </a:r>
            <a:r>
              <a:rPr lang="en-GB" sz="2400" noProof="0" dirty="0"/>
              <a:t>with a single input</a:t>
            </a:r>
            <a:endParaRPr lang="en-GB" noProof="0" dirty="0"/>
          </a:p>
        </p:txBody>
      </p:sp>
    </p:spTree>
    <p:extLst>
      <p:ext uri="{BB962C8B-B14F-4D97-AF65-F5344CB8AC3E}">
        <p14:creationId xmlns:p14="http://schemas.microsoft.com/office/powerpoint/2010/main" val="984083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0C387-6D9B-0181-3378-70A2455D8B70}"/>
            </a:ext>
          </a:extLst>
        </p:cNvPr>
        <p:cNvGrpSpPr/>
        <p:nvPr/>
      </p:nvGrpSpPr>
      <p:grpSpPr>
        <a:xfrm>
          <a:off x="0" y="0"/>
          <a:ext cx="0" cy="0"/>
          <a:chOff x="0" y="0"/>
          <a:chExt cx="0" cy="0"/>
        </a:xfrm>
      </p:grpSpPr>
      <p:grpSp>
        <p:nvGrpSpPr>
          <p:cNvPr id="12" name="Groupe 11">
            <a:extLst>
              <a:ext uri="{FF2B5EF4-FFF2-40B4-BE49-F238E27FC236}">
                <a16:creationId xmlns:a16="http://schemas.microsoft.com/office/drawing/2014/main" id="{BBD9A9BE-E6B8-BCF6-AC41-23FC3FA6696F}"/>
              </a:ext>
            </a:extLst>
          </p:cNvPr>
          <p:cNvGrpSpPr/>
          <p:nvPr/>
        </p:nvGrpSpPr>
        <p:grpSpPr>
          <a:xfrm>
            <a:off x="4992412" y="2220312"/>
            <a:ext cx="1061545" cy="1061545"/>
            <a:chOff x="3563007" y="2367455"/>
            <a:chExt cx="1061545" cy="1061545"/>
          </a:xfrm>
        </p:grpSpPr>
        <p:sp>
          <p:nvSpPr>
            <p:cNvPr id="4" name="Ellipse 3">
              <a:extLst>
                <a:ext uri="{FF2B5EF4-FFF2-40B4-BE49-F238E27FC236}">
                  <a16:creationId xmlns:a16="http://schemas.microsoft.com/office/drawing/2014/main" id="{0EEFAA5F-64FF-8CB5-F330-106066A9840D}"/>
                </a:ext>
              </a:extLst>
            </p:cNvPr>
            <p:cNvSpPr/>
            <p:nvPr/>
          </p:nvSpPr>
          <p:spPr>
            <a:xfrm>
              <a:off x="3563007" y="2367455"/>
              <a:ext cx="1061545" cy="106154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1400" dirty="0"/>
            </a:p>
          </p:txBody>
        </p:sp>
        <p:cxnSp>
          <p:nvCxnSpPr>
            <p:cNvPr id="8" name="Connecteur droit 7">
              <a:extLst>
                <a:ext uri="{FF2B5EF4-FFF2-40B4-BE49-F238E27FC236}">
                  <a16:creationId xmlns:a16="http://schemas.microsoft.com/office/drawing/2014/main" id="{6FABCEAB-B7D1-DB56-24FE-B14788645049}"/>
                </a:ext>
              </a:extLst>
            </p:cNvPr>
            <p:cNvCxnSpPr>
              <a:stCxn id="4" idx="0"/>
              <a:endCxn id="4" idx="4"/>
            </p:cNvCxnSpPr>
            <p:nvPr/>
          </p:nvCxnSpPr>
          <p:spPr>
            <a:xfrm>
              <a:off x="4093780" y="2367455"/>
              <a:ext cx="0" cy="1061545"/>
            </a:xfrm>
            <a:prstGeom prst="line">
              <a:avLst/>
            </a:prstGeom>
          </p:spPr>
          <p:style>
            <a:lnRef idx="2">
              <a:schemeClr val="accent1"/>
            </a:lnRef>
            <a:fillRef idx="0">
              <a:schemeClr val="accent1"/>
            </a:fillRef>
            <a:effectRef idx="1">
              <a:schemeClr val="accent1"/>
            </a:effectRef>
            <a:fontRef idx="minor">
              <a:schemeClr val="tx1"/>
            </a:fontRef>
          </p:style>
        </p:cxnSp>
      </p:grpSp>
      <p:cxnSp>
        <p:nvCxnSpPr>
          <p:cNvPr id="17" name="Connecteur droit avec flèche 16">
            <a:extLst>
              <a:ext uri="{FF2B5EF4-FFF2-40B4-BE49-F238E27FC236}">
                <a16:creationId xmlns:a16="http://schemas.microsoft.com/office/drawing/2014/main" id="{D48186C1-0A1D-5B73-F0CE-17357B9A68FF}"/>
              </a:ext>
            </a:extLst>
          </p:cNvPr>
          <p:cNvCxnSpPr>
            <a:cxnSpLocks/>
          </p:cNvCxnSpPr>
          <p:nvPr/>
        </p:nvCxnSpPr>
        <p:spPr>
          <a:xfrm>
            <a:off x="3992596" y="2817110"/>
            <a:ext cx="9354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ZoneTexte 20">
            <a:extLst>
              <a:ext uri="{FF2B5EF4-FFF2-40B4-BE49-F238E27FC236}">
                <a16:creationId xmlns:a16="http://schemas.microsoft.com/office/drawing/2014/main" id="{2F3A5AD3-FA91-D218-269D-A2639B3DF60B}"/>
              </a:ext>
            </a:extLst>
          </p:cNvPr>
          <p:cNvSpPr txBox="1"/>
          <p:nvPr/>
        </p:nvSpPr>
        <p:spPr>
          <a:xfrm>
            <a:off x="3382996" y="2533615"/>
            <a:ext cx="599090" cy="523220"/>
          </a:xfrm>
          <a:prstGeom prst="rect">
            <a:avLst/>
          </a:prstGeom>
          <a:noFill/>
        </p:spPr>
        <p:txBody>
          <a:bodyPr wrap="square" rtlCol="0">
            <a:spAutoFit/>
          </a:bodyPr>
          <a:lstStyle/>
          <a:p>
            <a:pPr algn="ctr"/>
            <a:r>
              <a:rPr lang="fr-FR" sz="2800" dirty="0"/>
              <a:t>x</a:t>
            </a:r>
            <a:endParaRPr lang="fr-FR" sz="2800" baseline="-25000" dirty="0"/>
          </a:p>
        </p:txBody>
      </p:sp>
      <p:sp>
        <p:nvSpPr>
          <p:cNvPr id="28" name="ZoneTexte 27">
            <a:extLst>
              <a:ext uri="{FF2B5EF4-FFF2-40B4-BE49-F238E27FC236}">
                <a16:creationId xmlns:a16="http://schemas.microsoft.com/office/drawing/2014/main" id="{6D18FFA5-23EA-F756-B1F5-47AC6C408529}"/>
              </a:ext>
            </a:extLst>
          </p:cNvPr>
          <p:cNvSpPr txBox="1"/>
          <p:nvPr/>
        </p:nvSpPr>
        <p:spPr>
          <a:xfrm>
            <a:off x="4120034" y="2467393"/>
            <a:ext cx="599090"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w</a:t>
            </a:r>
          </a:p>
        </p:txBody>
      </p:sp>
      <p:cxnSp>
        <p:nvCxnSpPr>
          <p:cNvPr id="30" name="Connecteur droit avec flèche 29">
            <a:extLst>
              <a:ext uri="{FF2B5EF4-FFF2-40B4-BE49-F238E27FC236}">
                <a16:creationId xmlns:a16="http://schemas.microsoft.com/office/drawing/2014/main" id="{CE455147-6872-71AC-2F55-32E227577BA5}"/>
              </a:ext>
            </a:extLst>
          </p:cNvPr>
          <p:cNvCxnSpPr>
            <a:cxnSpLocks/>
          </p:cNvCxnSpPr>
          <p:nvPr/>
        </p:nvCxnSpPr>
        <p:spPr>
          <a:xfrm>
            <a:off x="6074977" y="2742628"/>
            <a:ext cx="9354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necteur droit avec flèche 31">
            <a:extLst>
              <a:ext uri="{FF2B5EF4-FFF2-40B4-BE49-F238E27FC236}">
                <a16:creationId xmlns:a16="http://schemas.microsoft.com/office/drawing/2014/main" id="{8FF9C611-495F-5C9F-8178-31B3A2ACBF5B}"/>
              </a:ext>
            </a:extLst>
          </p:cNvPr>
          <p:cNvCxnSpPr>
            <a:cxnSpLocks/>
          </p:cNvCxnSpPr>
          <p:nvPr/>
        </p:nvCxnSpPr>
        <p:spPr>
          <a:xfrm flipV="1">
            <a:off x="4651482" y="3166246"/>
            <a:ext cx="493330" cy="5994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ZoneTexte 35">
            <a:extLst>
              <a:ext uri="{FF2B5EF4-FFF2-40B4-BE49-F238E27FC236}">
                <a16:creationId xmlns:a16="http://schemas.microsoft.com/office/drawing/2014/main" id="{FFB7D14C-77F3-FACF-49CD-2A51FE74607E}"/>
              </a:ext>
            </a:extLst>
          </p:cNvPr>
          <p:cNvSpPr txBox="1"/>
          <p:nvPr/>
        </p:nvSpPr>
        <p:spPr>
          <a:xfrm>
            <a:off x="4184429" y="3641845"/>
            <a:ext cx="599090"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b</a:t>
            </a:r>
          </a:p>
        </p:txBody>
      </p:sp>
      <p:sp>
        <p:nvSpPr>
          <p:cNvPr id="41" name="ZoneTexte 40">
            <a:extLst>
              <a:ext uri="{FF2B5EF4-FFF2-40B4-BE49-F238E27FC236}">
                <a16:creationId xmlns:a16="http://schemas.microsoft.com/office/drawing/2014/main" id="{D106DE5F-6B7D-9814-BD34-0A502DB3D11F}"/>
              </a:ext>
            </a:extLst>
          </p:cNvPr>
          <p:cNvSpPr txBox="1"/>
          <p:nvPr/>
        </p:nvSpPr>
        <p:spPr>
          <a:xfrm>
            <a:off x="5034995" y="2635155"/>
            <a:ext cx="517929" cy="307777"/>
          </a:xfrm>
          <a:prstGeom prst="rect">
            <a:avLst/>
          </a:prstGeom>
          <a:noFill/>
        </p:spPr>
        <p:txBody>
          <a:bodyPr wrap="square" rtlCol="0">
            <a:spAutoFit/>
          </a:bodyPr>
          <a:lstStyle/>
          <a:p>
            <a:pPr algn="ctr"/>
            <a:r>
              <a:rPr lang="fr-FR" sz="1400" dirty="0"/>
              <a:t>net</a:t>
            </a:r>
          </a:p>
        </p:txBody>
      </p:sp>
      <p:sp>
        <p:nvSpPr>
          <p:cNvPr id="42" name="ZoneTexte 41">
            <a:extLst>
              <a:ext uri="{FF2B5EF4-FFF2-40B4-BE49-F238E27FC236}">
                <a16:creationId xmlns:a16="http://schemas.microsoft.com/office/drawing/2014/main" id="{C7E41194-636B-D8EE-D534-96AF709BC3CC}"/>
              </a:ext>
            </a:extLst>
          </p:cNvPr>
          <p:cNvSpPr txBox="1"/>
          <p:nvPr/>
        </p:nvSpPr>
        <p:spPr>
          <a:xfrm>
            <a:off x="5486866" y="2635155"/>
            <a:ext cx="517929" cy="307777"/>
          </a:xfrm>
          <a:prstGeom prst="rect">
            <a:avLst/>
          </a:prstGeom>
          <a:noFill/>
        </p:spPr>
        <p:txBody>
          <a:bodyPr wrap="square" rtlCol="0">
            <a:spAutoFit/>
          </a:bodyPr>
          <a:lstStyle/>
          <a:p>
            <a:pPr algn="ctr"/>
            <a:r>
              <a:rPr lang="fr-FR" sz="1400" dirty="0"/>
              <a:t>out</a:t>
            </a:r>
          </a:p>
        </p:txBody>
      </p:sp>
      <mc:AlternateContent xmlns:mc="http://schemas.openxmlformats.org/markup-compatibility/2006" xmlns:a14="http://schemas.microsoft.com/office/drawing/2010/main">
        <mc:Choice Requires="a14">
          <p:sp>
            <p:nvSpPr>
              <p:cNvPr id="43" name="ZoneTexte 42">
                <a:extLst>
                  <a:ext uri="{FF2B5EF4-FFF2-40B4-BE49-F238E27FC236}">
                    <a16:creationId xmlns:a16="http://schemas.microsoft.com/office/drawing/2014/main" id="{9E7FF0EB-79C6-420C-62A3-0EF2CBCB5509}"/>
                  </a:ext>
                </a:extLst>
              </p:cNvPr>
              <p:cNvSpPr txBox="1"/>
              <p:nvPr/>
            </p:nvSpPr>
            <p:spPr>
              <a:xfrm>
                <a:off x="3402299" y="5173742"/>
                <a:ext cx="4242678" cy="873188"/>
              </a:xfrm>
              <a:prstGeom prst="rect">
                <a:avLst/>
              </a:prstGeom>
              <a:noFill/>
              <a:ln>
                <a:noFill/>
              </a:ln>
            </p:spPr>
            <p:txBody>
              <a:bodyPr wrap="square" lIns="0" tIns="0" rIns="0" bIns="0" rtlCol="0">
                <a:spAutoFit/>
              </a:bodyPr>
              <a:lstStyle/>
              <a:p>
                <a:pPr algn="ctr"/>
                <a:endParaRPr lang="fr-FR" sz="1600" dirty="0">
                  <a:latin typeface="Cambria Math" panose="02040503050406030204" pitchFamily="18" charset="0"/>
                </a:endParaRPr>
              </a:p>
              <a:p>
                <a:pPr algn="ctr"/>
                <a:r>
                  <a:rPr lang="fr-FR" sz="1600" dirty="0">
                    <a:latin typeface="Cambria Math" panose="02040503050406030204" pitchFamily="18" charset="0"/>
                  </a:rPr>
                  <a:t>  </a:t>
                </a:r>
                <a:r>
                  <a:rPr lang="fr-FR" sz="1600" b="1" dirty="0">
                    <a:latin typeface="Cambria Math" panose="02040503050406030204" pitchFamily="18" charset="0"/>
                  </a:rPr>
                  <a:t>net</a:t>
                </a:r>
                <a:r>
                  <a:rPr lang="fr-FR" sz="1600" b="0" i="1" dirty="0">
                    <a:latin typeface="Cambria Math" panose="02040503050406030204" pitchFamily="18" charset="0"/>
                  </a:rPr>
                  <a:t> = </a:t>
                </a:r>
                <a14:m>
                  <m:oMath xmlns:m="http://schemas.openxmlformats.org/officeDocument/2006/math">
                    <m:r>
                      <m:rPr>
                        <m:sty m:val="p"/>
                      </m:rPr>
                      <a:rPr lang="fr-FR" sz="1600" b="0" i="0" smtClean="0">
                        <a:latin typeface="Cambria Math" panose="02040503050406030204" pitchFamily="18" charset="0"/>
                        <a:ea typeface="Cambria Math" panose="02040503050406030204" pitchFamily="18" charset="0"/>
                      </a:rPr>
                      <m:t>X</m:t>
                    </m:r>
                    <m:r>
                      <a:rPr lang="fr-FR" sz="1600" b="0" i="0" smtClean="0">
                        <a:latin typeface="Cambria Math" panose="02040503050406030204" pitchFamily="18" charset="0"/>
                        <a:ea typeface="Cambria Math" panose="02040503050406030204" pitchFamily="18" charset="0"/>
                      </a:rPr>
                      <m:t> </m:t>
                    </m:r>
                    <m:r>
                      <a:rPr lang="fr-FR" sz="1600" b="0" i="1" smtClean="0">
                        <a:latin typeface="Cambria Math" panose="02040503050406030204" pitchFamily="18" charset="0"/>
                        <a:ea typeface="Cambria Math" panose="02040503050406030204" pitchFamily="18" charset="0"/>
                      </a:rPr>
                      <m:t>× </m:t>
                    </m:r>
                    <m:r>
                      <a:rPr lang="fr-FR" sz="1600" b="0" i="1" smtClean="0">
                        <a:latin typeface="Cambria Math" panose="02040503050406030204" pitchFamily="18" charset="0"/>
                        <a:ea typeface="Cambria Math" panose="02040503050406030204" pitchFamily="18" charset="0"/>
                      </a:rPr>
                      <m:t>𝑤</m:t>
                    </m:r>
                  </m:oMath>
                </a14:m>
                <a:r>
                  <a:rPr lang="fr-FR" sz="1600" i="1" dirty="0">
                    <a:latin typeface="Cambria Math" panose="02040503050406030204" pitchFamily="18" charset="0"/>
                  </a:rPr>
                  <a:t> </a:t>
                </a:r>
                <a:r>
                  <a:rPr lang="fr-FR" sz="1600" dirty="0">
                    <a:latin typeface="Cambria Math" panose="02040503050406030204" pitchFamily="18" charset="0"/>
                  </a:rPr>
                  <a:t>+ </a:t>
                </a:r>
                <a:r>
                  <a:rPr lang="fr-FR" sz="1600" b="0" dirty="0">
                    <a:latin typeface="Cambria Math" panose="02040503050406030204" pitchFamily="18" charset="0"/>
                  </a:rPr>
                  <a:t>b</a:t>
                </a:r>
                <a:r>
                  <a:rPr lang="fr-FR" sz="1600" dirty="0">
                    <a:latin typeface="Cambria Math" panose="02040503050406030204" pitchFamily="18" charset="0"/>
                  </a:rPr>
                  <a:t>     </a:t>
                </a:r>
                <a:r>
                  <a:rPr lang="fr-FR" sz="1600" b="1" dirty="0">
                    <a:latin typeface="Cambria Math" panose="02040503050406030204" pitchFamily="18" charset="0"/>
                  </a:rPr>
                  <a:t>out</a:t>
                </a:r>
                <a:r>
                  <a:rPr lang="fr-FR" sz="1600" dirty="0">
                    <a:latin typeface="Cambria Math" panose="02040503050406030204" pitchFamily="18" charset="0"/>
                  </a:rPr>
                  <a:t> </a:t>
                </a:r>
                <a14:m>
                  <m:oMath xmlns:m="http://schemas.openxmlformats.org/officeDocument/2006/math">
                    <m:r>
                      <a:rPr lang="fr-FR" sz="1600" b="0" i="1" smtClean="0">
                        <a:latin typeface="Cambria Math" panose="02040503050406030204" pitchFamily="18" charset="0"/>
                      </a:rPr>
                      <m:t>=</m:t>
                    </m:r>
                    <m:f>
                      <m:fPr>
                        <m:ctrlPr>
                          <a:rPr lang="fr-FR" sz="1600" b="0" i="1" smtClean="0">
                            <a:latin typeface="Cambria Math" panose="02040503050406030204" pitchFamily="18" charset="0"/>
                          </a:rPr>
                        </m:ctrlPr>
                      </m:fPr>
                      <m:num>
                        <m:r>
                          <a:rPr lang="fr-FR" sz="1600" b="0" i="1" smtClean="0">
                            <a:latin typeface="Cambria Math" panose="02040503050406030204" pitchFamily="18" charset="0"/>
                          </a:rPr>
                          <m:t>1</m:t>
                        </m:r>
                      </m:num>
                      <m:den>
                        <m:r>
                          <a:rPr lang="fr-FR" sz="1600" b="0" i="1" smtClean="0">
                            <a:latin typeface="Cambria Math" panose="02040503050406030204" pitchFamily="18" charset="0"/>
                          </a:rPr>
                          <m:t>1+</m:t>
                        </m:r>
                        <m:r>
                          <m:rPr>
                            <m:sty m:val="p"/>
                          </m:rPr>
                          <a:rPr lang="fr-FR" sz="1600" b="0" i="0" smtClean="0">
                            <a:latin typeface="Cambria Math" panose="02040503050406030204" pitchFamily="18" charset="0"/>
                          </a:rPr>
                          <m:t>exp</m:t>
                        </m:r>
                        <m:r>
                          <a:rPr lang="fr-FR" sz="1600" b="0" i="1" smtClean="0">
                            <a:latin typeface="Cambria Math" panose="02040503050406030204" pitchFamily="18" charset="0"/>
                          </a:rPr>
                          <m:t>⁡(−</m:t>
                        </m:r>
                        <m:r>
                          <m:rPr>
                            <m:sty m:val="p"/>
                          </m:rPr>
                          <a:rPr lang="fr-FR" sz="1600" b="0" i="0" smtClean="0">
                            <a:latin typeface="Cambria Math" panose="02040503050406030204" pitchFamily="18" charset="0"/>
                          </a:rPr>
                          <m:t>net</m:t>
                        </m:r>
                        <m:r>
                          <a:rPr lang="fr-FR" sz="1600" b="0" i="1" smtClean="0">
                            <a:latin typeface="Cambria Math" panose="02040503050406030204" pitchFamily="18" charset="0"/>
                          </a:rPr>
                          <m:t>)</m:t>
                        </m:r>
                      </m:den>
                    </m:f>
                  </m:oMath>
                </a14:m>
                <a:endParaRPr lang="fr-FR" sz="1600" b="0" dirty="0">
                  <a:latin typeface="Cambria Math" panose="02040503050406030204" pitchFamily="18" charset="0"/>
                  <a:ea typeface="Cambria Math" panose="02040503050406030204" pitchFamily="18" charset="0"/>
                </a:endParaRPr>
              </a:p>
              <a:p>
                <a:pPr algn="ctr"/>
                <a:endParaRPr lang="fr-FR" sz="1600" dirty="0"/>
              </a:p>
            </p:txBody>
          </p:sp>
        </mc:Choice>
        <mc:Fallback xmlns="">
          <p:sp>
            <p:nvSpPr>
              <p:cNvPr id="43" name="ZoneTexte 42">
                <a:extLst>
                  <a:ext uri="{FF2B5EF4-FFF2-40B4-BE49-F238E27FC236}">
                    <a16:creationId xmlns:a16="http://schemas.microsoft.com/office/drawing/2014/main" id="{9E7FF0EB-79C6-420C-62A3-0EF2CBCB5509}"/>
                  </a:ext>
                </a:extLst>
              </p:cNvPr>
              <p:cNvSpPr txBox="1">
                <a:spLocks noRot="1" noChangeAspect="1" noMove="1" noResize="1" noEditPoints="1" noAdjustHandles="1" noChangeArrowheads="1" noChangeShapeType="1" noTextEdit="1"/>
              </p:cNvSpPr>
              <p:nvPr/>
            </p:nvSpPr>
            <p:spPr>
              <a:xfrm>
                <a:off x="3402299" y="5173742"/>
                <a:ext cx="4242678" cy="873188"/>
              </a:xfrm>
              <a:prstGeom prst="rect">
                <a:avLst/>
              </a:prstGeom>
              <a:blipFill>
                <a:blip r:embed="rId2"/>
                <a:stretch>
                  <a:fillRect/>
                </a:stretch>
              </a:blipFill>
              <a:ln>
                <a:noFill/>
              </a:ln>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4" name="ZoneTexte 43">
                <a:extLst>
                  <a:ext uri="{FF2B5EF4-FFF2-40B4-BE49-F238E27FC236}">
                    <a16:creationId xmlns:a16="http://schemas.microsoft.com/office/drawing/2014/main" id="{524C26F9-926B-9463-C8DB-9E9A1E9C5F00}"/>
                  </a:ext>
                </a:extLst>
              </p:cNvPr>
              <p:cNvSpPr txBox="1"/>
              <p:nvPr/>
            </p:nvSpPr>
            <p:spPr>
              <a:xfrm>
                <a:off x="7031418" y="2533615"/>
                <a:ext cx="2324249" cy="302840"/>
              </a:xfrm>
              <a:prstGeom prst="rect">
                <a:avLst/>
              </a:prstGeom>
              <a:noFill/>
              <a:ln>
                <a:solidFill>
                  <a:schemeClr val="tx1">
                    <a:lumMod val="50000"/>
                    <a:lumOff val="50000"/>
                  </a:schemeClr>
                </a:solidFill>
              </a:ln>
            </p:spPr>
            <p:txBody>
              <a:bodyPr wrap="square" rtlCol="0">
                <a:spAutoFit/>
              </a:bodyPr>
              <a:lstStyle/>
              <a:p>
                <a:pPr algn="ctr"/>
                <a14:m>
                  <m:oMath xmlns:m="http://schemas.openxmlformats.org/officeDocument/2006/math">
                    <m:r>
                      <a:rPr lang="fr-FR" sz="1400" b="0" i="1" noProof="0" smtClean="0">
                        <a:latin typeface="Cambria Math" panose="02040503050406030204" pitchFamily="18" charset="0"/>
                      </a:rPr>
                      <m:t>𝐿𝑜𝑠𝑠</m:t>
                    </m:r>
                    <m:r>
                      <a:rPr lang="fr-FR" sz="1400" b="0" i="1" noProof="0" smtClean="0">
                        <a:latin typeface="Cambria Math" panose="02040503050406030204" pitchFamily="18" charset="0"/>
                      </a:rPr>
                      <m:t>= (</m:t>
                    </m:r>
                    <m:r>
                      <m:rPr>
                        <m:sty m:val="p"/>
                      </m:rPr>
                      <a:rPr lang="fr-FR" sz="1400" b="0" i="0" noProof="0" smtClean="0">
                        <a:latin typeface="Cambria Math" panose="02040503050406030204" pitchFamily="18" charset="0"/>
                      </a:rPr>
                      <m:t>target</m:t>
                    </m:r>
                    <m:r>
                      <a:rPr lang="fr-FR" sz="1400" b="0" i="1" noProof="0" smtClean="0">
                        <a:latin typeface="Cambria Math" panose="02040503050406030204" pitchFamily="18" charset="0"/>
                      </a:rPr>
                      <m:t>−</m:t>
                    </m:r>
                    <m:r>
                      <m:rPr>
                        <m:sty m:val="p"/>
                      </m:rPr>
                      <a:rPr lang="fr-FR" sz="1400" b="0" i="0" noProof="0" smtClean="0">
                        <a:latin typeface="Cambria Math" panose="02040503050406030204" pitchFamily="18" charset="0"/>
                      </a:rPr>
                      <m:t>out</m:t>
                    </m:r>
                    <m:r>
                      <a:rPr lang="fr-FR" sz="1400" b="0" i="1" noProof="0" smtClean="0">
                        <a:latin typeface="Cambria Math" panose="02040503050406030204" pitchFamily="18" charset="0"/>
                      </a:rPr>
                      <m:t>)</m:t>
                    </m:r>
                  </m:oMath>
                </a14:m>
                <a:r>
                  <a:rPr lang="en-GB" sz="1400" baseline="30000" noProof="0" dirty="0"/>
                  <a:t>2</a:t>
                </a:r>
              </a:p>
            </p:txBody>
          </p:sp>
        </mc:Choice>
        <mc:Fallback xmlns="">
          <p:sp>
            <p:nvSpPr>
              <p:cNvPr id="44" name="ZoneTexte 43">
                <a:extLst>
                  <a:ext uri="{FF2B5EF4-FFF2-40B4-BE49-F238E27FC236}">
                    <a16:creationId xmlns:a16="http://schemas.microsoft.com/office/drawing/2014/main" id="{524C26F9-926B-9463-C8DB-9E9A1E9C5F00}"/>
                  </a:ext>
                </a:extLst>
              </p:cNvPr>
              <p:cNvSpPr txBox="1">
                <a:spLocks noRot="1" noChangeAspect="1" noMove="1" noResize="1" noEditPoints="1" noAdjustHandles="1" noChangeArrowheads="1" noChangeShapeType="1" noTextEdit="1"/>
              </p:cNvSpPr>
              <p:nvPr/>
            </p:nvSpPr>
            <p:spPr>
              <a:xfrm>
                <a:off x="7031418" y="2533615"/>
                <a:ext cx="2324249" cy="302840"/>
              </a:xfrm>
              <a:prstGeom prst="rect">
                <a:avLst/>
              </a:prstGeom>
              <a:blipFill>
                <a:blip r:embed="rId3"/>
                <a:stretch>
                  <a:fillRect b="-12000"/>
                </a:stretch>
              </a:blipFill>
              <a:ln>
                <a:solidFill>
                  <a:schemeClr val="tx1">
                    <a:lumMod val="50000"/>
                    <a:lumOff val="50000"/>
                  </a:schemeClr>
                </a:solidFill>
              </a:ln>
            </p:spPr>
            <p:txBody>
              <a:bodyPr/>
              <a:lstStyle/>
              <a:p>
                <a:r>
                  <a:rPr lang="en-GB">
                    <a:noFill/>
                  </a:rPr>
                  <a:t> </a:t>
                </a:r>
              </a:p>
            </p:txBody>
          </p:sp>
        </mc:Fallback>
      </mc:AlternateContent>
      <p:sp>
        <p:nvSpPr>
          <p:cNvPr id="46" name="Espace réservé du pied de page 45">
            <a:extLst>
              <a:ext uri="{FF2B5EF4-FFF2-40B4-BE49-F238E27FC236}">
                <a16:creationId xmlns:a16="http://schemas.microsoft.com/office/drawing/2014/main" id="{E20A14D4-B985-B62C-2FEB-9300F3B7EC6F}"/>
              </a:ext>
            </a:extLst>
          </p:cNvPr>
          <p:cNvSpPr>
            <a:spLocks noGrp="1"/>
          </p:cNvSpPr>
          <p:nvPr>
            <p:ph type="ftr" sz="quarter" idx="11"/>
          </p:nvPr>
        </p:nvSpPr>
        <p:spPr/>
        <p:txBody>
          <a:bodyPr/>
          <a:lstStyle/>
          <a:p>
            <a:r>
              <a:rPr lang="fr-FR"/>
              <a:t>Introduction to Neural Networks. Author: David Thébault</a:t>
            </a:r>
          </a:p>
        </p:txBody>
      </p:sp>
      <p:cxnSp>
        <p:nvCxnSpPr>
          <p:cNvPr id="48" name="Connecteur droit 47">
            <a:extLst>
              <a:ext uri="{FF2B5EF4-FFF2-40B4-BE49-F238E27FC236}">
                <a16:creationId xmlns:a16="http://schemas.microsoft.com/office/drawing/2014/main" id="{7DEFD04C-391E-3B22-1086-583FC1E37FB7}"/>
              </a:ext>
            </a:extLst>
          </p:cNvPr>
          <p:cNvCxnSpPr>
            <a:cxnSpLocks/>
          </p:cNvCxnSpPr>
          <p:nvPr/>
        </p:nvCxnSpPr>
        <p:spPr>
          <a:xfrm>
            <a:off x="5523184" y="5085100"/>
            <a:ext cx="0" cy="898487"/>
          </a:xfrm>
          <a:prstGeom prst="line">
            <a:avLst/>
          </a:prstGeom>
        </p:spPr>
        <p:style>
          <a:lnRef idx="2">
            <a:schemeClr val="accent1"/>
          </a:lnRef>
          <a:fillRef idx="0">
            <a:schemeClr val="accent1"/>
          </a:fillRef>
          <a:effectRef idx="1">
            <a:schemeClr val="accent1"/>
          </a:effectRef>
          <a:fontRef idx="minor">
            <a:schemeClr val="tx1"/>
          </a:fontRef>
        </p:style>
      </p:cxnSp>
      <p:sp>
        <p:nvSpPr>
          <p:cNvPr id="50" name="ZoneTexte 49">
            <a:extLst>
              <a:ext uri="{FF2B5EF4-FFF2-40B4-BE49-F238E27FC236}">
                <a16:creationId xmlns:a16="http://schemas.microsoft.com/office/drawing/2014/main" id="{1F16B462-B1A4-8AD7-C19E-1FC9970CBC15}"/>
              </a:ext>
            </a:extLst>
          </p:cNvPr>
          <p:cNvSpPr txBox="1"/>
          <p:nvPr/>
        </p:nvSpPr>
        <p:spPr>
          <a:xfrm>
            <a:off x="838200" y="1532877"/>
            <a:ext cx="6773333" cy="369332"/>
          </a:xfrm>
          <a:prstGeom prst="rect">
            <a:avLst/>
          </a:prstGeom>
          <a:noFill/>
        </p:spPr>
        <p:txBody>
          <a:bodyPr wrap="square" rtlCol="0">
            <a:spAutoFit/>
          </a:bodyPr>
          <a:lstStyle/>
          <a:p>
            <a:r>
              <a:rPr lang="en-GB" b="1" dirty="0"/>
              <a:t>How do we find the optimal w and b that minimize the loss ?</a:t>
            </a:r>
          </a:p>
        </p:txBody>
      </p:sp>
      <p:sp>
        <p:nvSpPr>
          <p:cNvPr id="6" name="Flèche vers la gauche 5">
            <a:extLst>
              <a:ext uri="{FF2B5EF4-FFF2-40B4-BE49-F238E27FC236}">
                <a16:creationId xmlns:a16="http://schemas.microsoft.com/office/drawing/2014/main" id="{90C26CEE-EFA0-593D-5062-A5EB830C170A}"/>
              </a:ext>
            </a:extLst>
          </p:cNvPr>
          <p:cNvSpPr/>
          <p:nvPr/>
        </p:nvSpPr>
        <p:spPr>
          <a:xfrm>
            <a:off x="3384998" y="4450450"/>
            <a:ext cx="4030133" cy="795867"/>
          </a:xfrm>
          <a:prstGeom prst="lef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dirty="0"/>
              <a:t>BACKPROPAGATION</a:t>
            </a:r>
          </a:p>
        </p:txBody>
      </p:sp>
      <p:sp>
        <p:nvSpPr>
          <p:cNvPr id="7" name="ZoneTexte 6">
            <a:extLst>
              <a:ext uri="{FF2B5EF4-FFF2-40B4-BE49-F238E27FC236}">
                <a16:creationId xmlns:a16="http://schemas.microsoft.com/office/drawing/2014/main" id="{AE1FE1BE-8F0C-B3F8-973B-4BE5ED5C10AB}"/>
              </a:ext>
            </a:extLst>
          </p:cNvPr>
          <p:cNvSpPr txBox="1"/>
          <p:nvPr/>
        </p:nvSpPr>
        <p:spPr>
          <a:xfrm>
            <a:off x="7611533" y="1425155"/>
            <a:ext cx="3806659" cy="584775"/>
          </a:xfrm>
          <a:prstGeom prst="rect">
            <a:avLst/>
          </a:prstGeom>
          <a:noFill/>
        </p:spPr>
        <p:txBody>
          <a:bodyPr wrap="square" rtlCol="0">
            <a:spAutoFit/>
          </a:bodyPr>
          <a:lstStyle/>
          <a:p>
            <a:r>
              <a:rPr lang="en-GB" sz="3200" b="1" noProof="0" dirty="0"/>
              <a:t>Gradient descent</a:t>
            </a:r>
          </a:p>
        </p:txBody>
      </p:sp>
      <mc:AlternateContent xmlns:mc="http://schemas.openxmlformats.org/markup-compatibility/2006" xmlns:a14="http://schemas.microsoft.com/office/drawing/2010/main">
        <mc:Choice Requires="a14">
          <p:sp>
            <p:nvSpPr>
              <p:cNvPr id="9" name="ZoneTexte 8">
                <a:extLst>
                  <a:ext uri="{FF2B5EF4-FFF2-40B4-BE49-F238E27FC236}">
                    <a16:creationId xmlns:a16="http://schemas.microsoft.com/office/drawing/2014/main" id="{BF786019-4397-5198-9210-FEA3229FCA18}"/>
                  </a:ext>
                </a:extLst>
              </p:cNvPr>
              <p:cNvSpPr txBox="1"/>
              <p:nvPr/>
            </p:nvSpPr>
            <p:spPr>
              <a:xfrm>
                <a:off x="5952138" y="3804673"/>
                <a:ext cx="935421" cy="6190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fr-FR" i="1" smtClean="0">
                              <a:solidFill>
                                <a:srgbClr val="FF0002"/>
                              </a:solidFill>
                              <a:latin typeface="Cambria Math" panose="02040503050406030204" pitchFamily="18" charset="0"/>
                            </a:rPr>
                          </m:ctrlPr>
                        </m:fPr>
                        <m:num>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𝐿𝑜𝑠𝑠</m:t>
                          </m:r>
                        </m:num>
                        <m:den>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𝑜𝑢𝑡</m:t>
                          </m:r>
                        </m:den>
                      </m:f>
                    </m:oMath>
                  </m:oMathPara>
                </a14:m>
                <a:endParaRPr lang="fr-FR" dirty="0">
                  <a:solidFill>
                    <a:srgbClr val="FF0002"/>
                  </a:solidFill>
                </a:endParaRPr>
              </a:p>
            </p:txBody>
          </p:sp>
        </mc:Choice>
        <mc:Fallback xmlns="">
          <p:sp>
            <p:nvSpPr>
              <p:cNvPr id="9" name="ZoneTexte 8">
                <a:extLst>
                  <a:ext uri="{FF2B5EF4-FFF2-40B4-BE49-F238E27FC236}">
                    <a16:creationId xmlns:a16="http://schemas.microsoft.com/office/drawing/2014/main" id="{BF786019-4397-5198-9210-FEA3229FCA18}"/>
                  </a:ext>
                </a:extLst>
              </p:cNvPr>
              <p:cNvSpPr txBox="1">
                <a:spLocks noRot="1" noChangeAspect="1" noMove="1" noResize="1" noEditPoints="1" noAdjustHandles="1" noChangeArrowheads="1" noChangeShapeType="1" noTextEdit="1"/>
              </p:cNvSpPr>
              <p:nvPr/>
            </p:nvSpPr>
            <p:spPr>
              <a:xfrm>
                <a:off x="5952138" y="3804673"/>
                <a:ext cx="935421" cy="619016"/>
              </a:xfrm>
              <a:prstGeom prst="rect">
                <a:avLst/>
              </a:prstGeom>
              <a:blipFill>
                <a:blip r:embed="rId4"/>
                <a:stretch>
                  <a:fillRect b="-40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AED09B9B-BCA1-C858-DC05-239C78A831F5}"/>
                  </a:ext>
                </a:extLst>
              </p:cNvPr>
              <p:cNvSpPr txBox="1"/>
              <p:nvPr/>
            </p:nvSpPr>
            <p:spPr>
              <a:xfrm>
                <a:off x="5155554" y="3817307"/>
                <a:ext cx="826060" cy="6190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fr-FR" i="1" smtClean="0">
                              <a:solidFill>
                                <a:srgbClr val="FF0002"/>
                              </a:solidFill>
                              <a:latin typeface="Cambria Math" panose="02040503050406030204" pitchFamily="18" charset="0"/>
                            </a:rPr>
                          </m:ctrlPr>
                        </m:fPr>
                        <m:num>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𝑜𝑢𝑡</m:t>
                          </m:r>
                        </m:num>
                        <m:den>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𝑛𝑒𝑡</m:t>
                          </m:r>
                        </m:den>
                      </m:f>
                    </m:oMath>
                  </m:oMathPara>
                </a14:m>
                <a:endParaRPr lang="fr-FR" dirty="0">
                  <a:solidFill>
                    <a:srgbClr val="FF0002"/>
                  </a:solidFill>
                </a:endParaRPr>
              </a:p>
            </p:txBody>
          </p:sp>
        </mc:Choice>
        <mc:Fallback xmlns="">
          <p:sp>
            <p:nvSpPr>
              <p:cNvPr id="10" name="ZoneTexte 9">
                <a:extLst>
                  <a:ext uri="{FF2B5EF4-FFF2-40B4-BE49-F238E27FC236}">
                    <a16:creationId xmlns:a16="http://schemas.microsoft.com/office/drawing/2014/main" id="{AED09B9B-BCA1-C858-DC05-239C78A831F5}"/>
                  </a:ext>
                </a:extLst>
              </p:cNvPr>
              <p:cNvSpPr txBox="1">
                <a:spLocks noRot="1" noChangeAspect="1" noMove="1" noResize="1" noEditPoints="1" noAdjustHandles="1" noChangeArrowheads="1" noChangeShapeType="1" noTextEdit="1"/>
              </p:cNvSpPr>
              <p:nvPr/>
            </p:nvSpPr>
            <p:spPr>
              <a:xfrm>
                <a:off x="5155554" y="3817307"/>
                <a:ext cx="826060" cy="619016"/>
              </a:xfrm>
              <a:prstGeom prst="rect">
                <a:avLst/>
              </a:prstGeom>
              <a:blipFill>
                <a:blip r:embed="rId5"/>
                <a:stretch>
                  <a:fillRect b="-40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EE584933-041B-6CC0-E78F-1A4F8C8BCF70}"/>
                  </a:ext>
                </a:extLst>
              </p:cNvPr>
              <p:cNvSpPr txBox="1"/>
              <p:nvPr/>
            </p:nvSpPr>
            <p:spPr>
              <a:xfrm>
                <a:off x="4442982" y="3802058"/>
                <a:ext cx="734728" cy="61908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fr-FR" i="1" smtClean="0">
                              <a:solidFill>
                                <a:srgbClr val="FF0002"/>
                              </a:solidFill>
                              <a:latin typeface="Cambria Math" panose="02040503050406030204" pitchFamily="18" charset="0"/>
                            </a:rPr>
                          </m:ctrlPr>
                        </m:fPr>
                        <m:num>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𝑛𝑒𝑡</m:t>
                          </m:r>
                        </m:num>
                        <m:den>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𝑤</m:t>
                          </m:r>
                        </m:den>
                      </m:f>
                      <m:r>
                        <a:rPr lang="fr-FR" b="0" i="1" smtClean="0">
                          <a:solidFill>
                            <a:srgbClr val="FF0002"/>
                          </a:solidFill>
                          <a:latin typeface="Cambria Math" panose="02040503050406030204" pitchFamily="18" charset="0"/>
                        </a:rPr>
                        <m:t> </m:t>
                      </m:r>
                    </m:oMath>
                  </m:oMathPara>
                </a14:m>
                <a:endParaRPr lang="fr-FR" dirty="0">
                  <a:solidFill>
                    <a:srgbClr val="FF0002"/>
                  </a:solidFill>
                </a:endParaRPr>
              </a:p>
            </p:txBody>
          </p:sp>
        </mc:Choice>
        <mc:Fallback xmlns="">
          <p:sp>
            <p:nvSpPr>
              <p:cNvPr id="11" name="ZoneTexte 10">
                <a:extLst>
                  <a:ext uri="{FF2B5EF4-FFF2-40B4-BE49-F238E27FC236}">
                    <a16:creationId xmlns:a16="http://schemas.microsoft.com/office/drawing/2014/main" id="{EE584933-041B-6CC0-E78F-1A4F8C8BCF70}"/>
                  </a:ext>
                </a:extLst>
              </p:cNvPr>
              <p:cNvSpPr txBox="1">
                <a:spLocks noRot="1" noChangeAspect="1" noMove="1" noResize="1" noEditPoints="1" noAdjustHandles="1" noChangeArrowheads="1" noChangeShapeType="1" noTextEdit="1"/>
              </p:cNvSpPr>
              <p:nvPr/>
            </p:nvSpPr>
            <p:spPr>
              <a:xfrm>
                <a:off x="4442982" y="3802058"/>
                <a:ext cx="734728" cy="619080"/>
              </a:xfrm>
              <a:prstGeom prst="rect">
                <a:avLst/>
              </a:prstGeom>
              <a:blipFill>
                <a:blip r:embed="rId6"/>
                <a:stretch>
                  <a:fillRect r="-1695" b="-6122"/>
                </a:stretch>
              </a:blipFill>
            </p:spPr>
            <p:txBody>
              <a:bodyPr/>
              <a:lstStyle/>
              <a:p>
                <a:r>
                  <a:rPr lang="fr-FR">
                    <a:noFill/>
                  </a:rPr>
                  <a:t> </a:t>
                </a:r>
              </a:p>
            </p:txBody>
          </p:sp>
        </mc:Fallback>
      </mc:AlternateContent>
      <p:sp>
        <p:nvSpPr>
          <p:cNvPr id="13" name="ZoneTexte 12">
            <a:extLst>
              <a:ext uri="{FF2B5EF4-FFF2-40B4-BE49-F238E27FC236}">
                <a16:creationId xmlns:a16="http://schemas.microsoft.com/office/drawing/2014/main" id="{840ECC99-290A-02DF-2642-7E20B2D46E37}"/>
              </a:ext>
            </a:extLst>
          </p:cNvPr>
          <p:cNvSpPr txBox="1"/>
          <p:nvPr/>
        </p:nvSpPr>
        <p:spPr>
          <a:xfrm>
            <a:off x="4942865" y="3760612"/>
            <a:ext cx="457200" cy="707886"/>
          </a:xfrm>
          <a:prstGeom prst="rect">
            <a:avLst/>
          </a:prstGeom>
          <a:noFill/>
        </p:spPr>
        <p:txBody>
          <a:bodyPr wrap="square" rtlCol="0">
            <a:spAutoFit/>
          </a:bodyPr>
          <a:lstStyle/>
          <a:p>
            <a:pPr algn="ctr"/>
            <a:r>
              <a:rPr lang="fr-FR" sz="4000" b="1" dirty="0"/>
              <a:t>?</a:t>
            </a:r>
          </a:p>
        </p:txBody>
      </p:sp>
      <p:sp>
        <p:nvSpPr>
          <p:cNvPr id="14" name="ZoneTexte 13">
            <a:extLst>
              <a:ext uri="{FF2B5EF4-FFF2-40B4-BE49-F238E27FC236}">
                <a16:creationId xmlns:a16="http://schemas.microsoft.com/office/drawing/2014/main" id="{C859F4D3-5618-A6A2-B03B-E253008280AC}"/>
              </a:ext>
            </a:extLst>
          </p:cNvPr>
          <p:cNvSpPr txBox="1"/>
          <p:nvPr/>
        </p:nvSpPr>
        <p:spPr>
          <a:xfrm>
            <a:off x="5744673" y="3752754"/>
            <a:ext cx="457200" cy="707886"/>
          </a:xfrm>
          <a:prstGeom prst="rect">
            <a:avLst/>
          </a:prstGeom>
          <a:noFill/>
        </p:spPr>
        <p:txBody>
          <a:bodyPr wrap="square" rtlCol="0">
            <a:spAutoFit/>
          </a:bodyPr>
          <a:lstStyle/>
          <a:p>
            <a:pPr algn="ctr"/>
            <a:r>
              <a:rPr lang="fr-FR" sz="4000" b="1" dirty="0"/>
              <a:t>?</a:t>
            </a:r>
          </a:p>
        </p:txBody>
      </p:sp>
      <p:sp>
        <p:nvSpPr>
          <p:cNvPr id="15" name="ZoneTexte 14">
            <a:extLst>
              <a:ext uri="{FF2B5EF4-FFF2-40B4-BE49-F238E27FC236}">
                <a16:creationId xmlns:a16="http://schemas.microsoft.com/office/drawing/2014/main" id="{B8968501-18FE-AA14-C0B9-8D0A76B89338}"/>
              </a:ext>
            </a:extLst>
          </p:cNvPr>
          <p:cNvSpPr txBox="1"/>
          <p:nvPr/>
        </p:nvSpPr>
        <p:spPr>
          <a:xfrm>
            <a:off x="6632381" y="3759221"/>
            <a:ext cx="457200" cy="707886"/>
          </a:xfrm>
          <a:prstGeom prst="rect">
            <a:avLst/>
          </a:prstGeom>
          <a:noFill/>
        </p:spPr>
        <p:txBody>
          <a:bodyPr wrap="square" rtlCol="0">
            <a:spAutoFit/>
          </a:bodyPr>
          <a:lstStyle/>
          <a:p>
            <a:pPr algn="ctr"/>
            <a:r>
              <a:rPr lang="fr-FR" sz="4000" b="1" dirty="0"/>
              <a:t>?</a:t>
            </a:r>
          </a:p>
        </p:txBody>
      </p:sp>
      <p:cxnSp>
        <p:nvCxnSpPr>
          <p:cNvPr id="16" name="Connecteur en arc 15">
            <a:extLst>
              <a:ext uri="{FF2B5EF4-FFF2-40B4-BE49-F238E27FC236}">
                <a16:creationId xmlns:a16="http://schemas.microsoft.com/office/drawing/2014/main" id="{1F226288-4420-5B9A-4341-2A9A35F4DB3F}"/>
              </a:ext>
            </a:extLst>
          </p:cNvPr>
          <p:cNvCxnSpPr>
            <a:cxnSpLocks/>
          </p:cNvCxnSpPr>
          <p:nvPr/>
        </p:nvCxnSpPr>
        <p:spPr>
          <a:xfrm rot="5400000">
            <a:off x="6378290" y="3233121"/>
            <a:ext cx="3025" cy="465667"/>
          </a:xfrm>
          <a:prstGeom prst="curvedConnector3">
            <a:avLst>
              <a:gd name="adj1" fmla="val 7657025"/>
            </a:avLst>
          </a:prstGeom>
          <a:ln w="50800">
            <a:solidFill>
              <a:srgbClr val="FF0002">
                <a:alpha val="50000"/>
              </a:srgbClr>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eur en arc 17">
            <a:extLst>
              <a:ext uri="{FF2B5EF4-FFF2-40B4-BE49-F238E27FC236}">
                <a16:creationId xmlns:a16="http://schemas.microsoft.com/office/drawing/2014/main" id="{1BE8A27C-4C1C-45EF-AE35-B3CE937F96A9}"/>
              </a:ext>
            </a:extLst>
          </p:cNvPr>
          <p:cNvCxnSpPr>
            <a:cxnSpLocks/>
          </p:cNvCxnSpPr>
          <p:nvPr/>
        </p:nvCxnSpPr>
        <p:spPr>
          <a:xfrm rot="5400000">
            <a:off x="5551411" y="3208407"/>
            <a:ext cx="3025" cy="465667"/>
          </a:xfrm>
          <a:prstGeom prst="curvedConnector3">
            <a:avLst>
              <a:gd name="adj1" fmla="val 7657025"/>
            </a:avLst>
          </a:prstGeom>
          <a:ln w="50800">
            <a:solidFill>
              <a:srgbClr val="FF0002">
                <a:alpha val="50000"/>
              </a:srgbClr>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eur en arc 18">
            <a:extLst>
              <a:ext uri="{FF2B5EF4-FFF2-40B4-BE49-F238E27FC236}">
                <a16:creationId xmlns:a16="http://schemas.microsoft.com/office/drawing/2014/main" id="{6C3756B0-3CC4-4A9E-7A24-9B94FF521FC5}"/>
              </a:ext>
            </a:extLst>
          </p:cNvPr>
          <p:cNvCxnSpPr>
            <a:cxnSpLocks/>
          </p:cNvCxnSpPr>
          <p:nvPr/>
        </p:nvCxnSpPr>
        <p:spPr>
          <a:xfrm rot="5400000">
            <a:off x="4786721" y="3226600"/>
            <a:ext cx="3025" cy="465667"/>
          </a:xfrm>
          <a:prstGeom prst="curvedConnector3">
            <a:avLst>
              <a:gd name="adj1" fmla="val 7657025"/>
            </a:avLst>
          </a:prstGeom>
          <a:ln w="50800">
            <a:solidFill>
              <a:srgbClr val="FF0002">
                <a:alpha val="50000"/>
              </a:srgb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0" name="ZoneTexte 19">
                <a:extLst>
                  <a:ext uri="{FF2B5EF4-FFF2-40B4-BE49-F238E27FC236}">
                    <a16:creationId xmlns:a16="http://schemas.microsoft.com/office/drawing/2014/main" id="{D43165DE-29A5-C893-F911-DE20B5370BFF}"/>
                  </a:ext>
                </a:extLst>
              </p:cNvPr>
              <p:cNvSpPr txBox="1"/>
              <p:nvPr/>
            </p:nvSpPr>
            <p:spPr>
              <a:xfrm>
                <a:off x="8302903" y="3560932"/>
                <a:ext cx="826060" cy="5020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fr-FR" sz="1400" i="1" smtClean="0">
                              <a:solidFill>
                                <a:schemeClr val="tx1"/>
                              </a:solidFill>
                              <a:latin typeface="Cambria Math" panose="02040503050406030204" pitchFamily="18" charset="0"/>
                            </a:rPr>
                          </m:ctrlPr>
                        </m:fPr>
                        <m:num>
                          <m:r>
                            <a:rPr lang="fr-FR" sz="1400" i="1" smtClean="0">
                              <a:solidFill>
                                <a:schemeClr val="tx1"/>
                              </a:solidFill>
                              <a:latin typeface="Cambria Math" panose="02040503050406030204" pitchFamily="18" charset="0"/>
                            </a:rPr>
                            <m:t>𝜕</m:t>
                          </m:r>
                          <m:r>
                            <m:rPr>
                              <m:sty m:val="p"/>
                            </m:rPr>
                            <a:rPr lang="fr-FR" sz="1400" b="0" i="0" smtClean="0">
                              <a:solidFill>
                                <a:schemeClr val="tx1"/>
                              </a:solidFill>
                              <a:latin typeface="Cambria Math" panose="02040503050406030204" pitchFamily="18" charset="0"/>
                            </a:rPr>
                            <m:t>Loss</m:t>
                          </m:r>
                        </m:num>
                        <m:den>
                          <m:r>
                            <a:rPr lang="fr-FR" sz="1400" i="1" smtClean="0">
                              <a:solidFill>
                                <a:schemeClr val="tx1"/>
                              </a:solidFill>
                              <a:latin typeface="Cambria Math" panose="02040503050406030204" pitchFamily="18" charset="0"/>
                            </a:rPr>
                            <m:t>𝜕</m:t>
                          </m:r>
                          <m:r>
                            <m:rPr>
                              <m:sty m:val="p"/>
                            </m:rPr>
                            <a:rPr lang="fr-FR" sz="1400" b="0" i="0" smtClean="0">
                              <a:solidFill>
                                <a:schemeClr val="tx1"/>
                              </a:solidFill>
                              <a:latin typeface="Cambria Math" panose="02040503050406030204" pitchFamily="18" charset="0"/>
                            </a:rPr>
                            <m:t>out</m:t>
                          </m:r>
                        </m:den>
                      </m:f>
                    </m:oMath>
                  </m:oMathPara>
                </a14:m>
                <a:endParaRPr lang="fr-FR" sz="1400" dirty="0">
                  <a:solidFill>
                    <a:schemeClr val="tx1"/>
                  </a:solidFill>
                </a:endParaRPr>
              </a:p>
            </p:txBody>
          </p:sp>
        </mc:Choice>
        <mc:Fallback xmlns="">
          <p:sp>
            <p:nvSpPr>
              <p:cNvPr id="20" name="ZoneTexte 19">
                <a:extLst>
                  <a:ext uri="{FF2B5EF4-FFF2-40B4-BE49-F238E27FC236}">
                    <a16:creationId xmlns:a16="http://schemas.microsoft.com/office/drawing/2014/main" id="{D43165DE-29A5-C893-F911-DE20B5370BFF}"/>
                  </a:ext>
                </a:extLst>
              </p:cNvPr>
              <p:cNvSpPr txBox="1">
                <a:spLocks noRot="1" noChangeAspect="1" noMove="1" noResize="1" noEditPoints="1" noAdjustHandles="1" noChangeArrowheads="1" noChangeShapeType="1" noTextEdit="1"/>
              </p:cNvSpPr>
              <p:nvPr/>
            </p:nvSpPr>
            <p:spPr>
              <a:xfrm>
                <a:off x="8302903" y="3560932"/>
                <a:ext cx="826060" cy="502061"/>
              </a:xfrm>
              <a:prstGeom prst="rect">
                <a:avLst/>
              </a:prstGeom>
              <a:blipFill>
                <a:blip r:embed="rId7"/>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2" name="ZoneTexte 21">
                <a:extLst>
                  <a:ext uri="{FF2B5EF4-FFF2-40B4-BE49-F238E27FC236}">
                    <a16:creationId xmlns:a16="http://schemas.microsoft.com/office/drawing/2014/main" id="{4F6E893E-B05C-D2D7-2825-CBA4AC057D27}"/>
                  </a:ext>
                </a:extLst>
              </p:cNvPr>
              <p:cNvSpPr txBox="1"/>
              <p:nvPr/>
            </p:nvSpPr>
            <p:spPr>
              <a:xfrm>
                <a:off x="8302903" y="4232537"/>
                <a:ext cx="826060" cy="5019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fr-FR" sz="1400" i="1" smtClean="0">
                              <a:solidFill>
                                <a:schemeClr val="tx1"/>
                              </a:solidFill>
                              <a:latin typeface="Cambria Math" panose="02040503050406030204" pitchFamily="18" charset="0"/>
                            </a:rPr>
                          </m:ctrlPr>
                        </m:fPr>
                        <m:num>
                          <m:r>
                            <a:rPr lang="fr-FR" sz="1400" i="1" smtClean="0">
                              <a:solidFill>
                                <a:schemeClr val="tx1"/>
                              </a:solidFill>
                              <a:latin typeface="Cambria Math" panose="02040503050406030204" pitchFamily="18" charset="0"/>
                            </a:rPr>
                            <m:t>𝜕</m:t>
                          </m:r>
                          <m:r>
                            <m:rPr>
                              <m:sty m:val="p"/>
                            </m:rPr>
                            <a:rPr lang="fr-FR" sz="1400" b="0" i="0" smtClean="0">
                              <a:solidFill>
                                <a:schemeClr val="tx1"/>
                              </a:solidFill>
                              <a:latin typeface="Cambria Math" panose="02040503050406030204" pitchFamily="18" charset="0"/>
                            </a:rPr>
                            <m:t>out</m:t>
                          </m:r>
                        </m:num>
                        <m:den>
                          <m:r>
                            <a:rPr lang="fr-FR" sz="1400" i="1" smtClean="0">
                              <a:solidFill>
                                <a:schemeClr val="tx1"/>
                              </a:solidFill>
                              <a:latin typeface="Cambria Math" panose="02040503050406030204" pitchFamily="18" charset="0"/>
                            </a:rPr>
                            <m:t>𝜕</m:t>
                          </m:r>
                          <m:r>
                            <m:rPr>
                              <m:sty m:val="p"/>
                            </m:rPr>
                            <a:rPr lang="fr-FR" sz="1400" b="0" i="0" smtClean="0">
                              <a:solidFill>
                                <a:schemeClr val="tx1"/>
                              </a:solidFill>
                              <a:latin typeface="Cambria Math" panose="02040503050406030204" pitchFamily="18" charset="0"/>
                            </a:rPr>
                            <m:t>net</m:t>
                          </m:r>
                        </m:den>
                      </m:f>
                    </m:oMath>
                  </m:oMathPara>
                </a14:m>
                <a:endParaRPr lang="fr-FR" sz="1400" dirty="0">
                  <a:solidFill>
                    <a:schemeClr val="tx1"/>
                  </a:solidFill>
                </a:endParaRPr>
              </a:p>
            </p:txBody>
          </p:sp>
        </mc:Choice>
        <mc:Fallback xmlns="">
          <p:sp>
            <p:nvSpPr>
              <p:cNvPr id="22" name="ZoneTexte 21">
                <a:extLst>
                  <a:ext uri="{FF2B5EF4-FFF2-40B4-BE49-F238E27FC236}">
                    <a16:creationId xmlns:a16="http://schemas.microsoft.com/office/drawing/2014/main" id="{4F6E893E-B05C-D2D7-2825-CBA4AC057D27}"/>
                  </a:ext>
                </a:extLst>
              </p:cNvPr>
              <p:cNvSpPr txBox="1">
                <a:spLocks noRot="1" noChangeAspect="1" noMove="1" noResize="1" noEditPoints="1" noAdjustHandles="1" noChangeArrowheads="1" noChangeShapeType="1" noTextEdit="1"/>
              </p:cNvSpPr>
              <p:nvPr/>
            </p:nvSpPr>
            <p:spPr>
              <a:xfrm>
                <a:off x="8302903" y="4232537"/>
                <a:ext cx="826060" cy="501997"/>
              </a:xfrm>
              <a:prstGeom prst="rect">
                <a:avLst/>
              </a:prstGeom>
              <a:blipFill>
                <a:blip r:embed="rId8"/>
                <a:stretch>
                  <a:fillRect b="-25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3" name="ZoneTexte 22">
                <a:extLst>
                  <a:ext uri="{FF2B5EF4-FFF2-40B4-BE49-F238E27FC236}">
                    <a16:creationId xmlns:a16="http://schemas.microsoft.com/office/drawing/2014/main" id="{AA25DFC3-1F09-5475-9B28-E093DD1DD5B1}"/>
                  </a:ext>
                </a:extLst>
              </p:cNvPr>
              <p:cNvSpPr txBox="1"/>
              <p:nvPr/>
            </p:nvSpPr>
            <p:spPr>
              <a:xfrm>
                <a:off x="8302903" y="4923498"/>
                <a:ext cx="826060" cy="5019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fr-FR" sz="1400" i="1" smtClean="0">
                              <a:solidFill>
                                <a:schemeClr val="tx1"/>
                              </a:solidFill>
                              <a:latin typeface="Cambria Math" panose="02040503050406030204" pitchFamily="18" charset="0"/>
                            </a:rPr>
                          </m:ctrlPr>
                        </m:fPr>
                        <m:num>
                          <m:r>
                            <a:rPr lang="fr-FR" sz="1400" i="1" smtClean="0">
                              <a:solidFill>
                                <a:schemeClr val="tx1"/>
                              </a:solidFill>
                              <a:latin typeface="Cambria Math" panose="02040503050406030204" pitchFamily="18" charset="0"/>
                            </a:rPr>
                            <m:t>𝜕</m:t>
                          </m:r>
                          <m:r>
                            <m:rPr>
                              <m:sty m:val="p"/>
                            </m:rPr>
                            <a:rPr lang="fr-FR" sz="1400" b="0" i="0" smtClean="0">
                              <a:solidFill>
                                <a:schemeClr val="tx1"/>
                              </a:solidFill>
                              <a:latin typeface="Cambria Math" panose="02040503050406030204" pitchFamily="18" charset="0"/>
                            </a:rPr>
                            <m:t>net</m:t>
                          </m:r>
                        </m:num>
                        <m:den>
                          <m:r>
                            <a:rPr lang="fr-FR" sz="1400" i="1" smtClean="0">
                              <a:solidFill>
                                <a:schemeClr val="tx1"/>
                              </a:solidFill>
                              <a:latin typeface="Cambria Math" panose="02040503050406030204" pitchFamily="18" charset="0"/>
                            </a:rPr>
                            <m:t>𝜕</m:t>
                          </m:r>
                          <m:r>
                            <m:rPr>
                              <m:sty m:val="p"/>
                            </m:rPr>
                            <a:rPr lang="fr-FR" sz="1400" b="0" i="0" smtClean="0">
                              <a:solidFill>
                                <a:schemeClr val="tx1"/>
                              </a:solidFill>
                              <a:latin typeface="Cambria Math" panose="02040503050406030204" pitchFamily="18" charset="0"/>
                            </a:rPr>
                            <m:t>w</m:t>
                          </m:r>
                        </m:den>
                      </m:f>
                      <m:r>
                        <a:rPr lang="fr-FR" sz="1400" b="0" i="1" smtClean="0">
                          <a:solidFill>
                            <a:schemeClr val="tx1"/>
                          </a:solidFill>
                          <a:latin typeface="Cambria Math" panose="02040503050406030204" pitchFamily="18" charset="0"/>
                        </a:rPr>
                        <m:t> </m:t>
                      </m:r>
                    </m:oMath>
                  </m:oMathPara>
                </a14:m>
                <a:endParaRPr lang="fr-FR" sz="1400" dirty="0">
                  <a:solidFill>
                    <a:schemeClr val="tx1"/>
                  </a:solidFill>
                </a:endParaRPr>
              </a:p>
            </p:txBody>
          </p:sp>
        </mc:Choice>
        <mc:Fallback xmlns="">
          <p:sp>
            <p:nvSpPr>
              <p:cNvPr id="23" name="ZoneTexte 22">
                <a:extLst>
                  <a:ext uri="{FF2B5EF4-FFF2-40B4-BE49-F238E27FC236}">
                    <a16:creationId xmlns:a16="http://schemas.microsoft.com/office/drawing/2014/main" id="{AA25DFC3-1F09-5475-9B28-E093DD1DD5B1}"/>
                  </a:ext>
                </a:extLst>
              </p:cNvPr>
              <p:cNvSpPr txBox="1">
                <a:spLocks noRot="1" noChangeAspect="1" noMove="1" noResize="1" noEditPoints="1" noAdjustHandles="1" noChangeArrowheads="1" noChangeShapeType="1" noTextEdit="1"/>
              </p:cNvSpPr>
              <p:nvPr/>
            </p:nvSpPr>
            <p:spPr>
              <a:xfrm>
                <a:off x="8302903" y="4923498"/>
                <a:ext cx="826060" cy="501997"/>
              </a:xfrm>
              <a:prstGeom prst="rect">
                <a:avLst/>
              </a:prstGeom>
              <a:blipFill>
                <a:blip r:embed="rId9"/>
                <a:stretch>
                  <a:fillRect/>
                </a:stretch>
              </a:blipFill>
            </p:spPr>
            <p:txBody>
              <a:bodyPr/>
              <a:lstStyle/>
              <a:p>
                <a:r>
                  <a:rPr lang="fr-FR">
                    <a:noFill/>
                  </a:rPr>
                  <a:t> </a:t>
                </a:r>
              </a:p>
            </p:txBody>
          </p:sp>
        </mc:Fallback>
      </mc:AlternateContent>
      <p:sp>
        <p:nvSpPr>
          <p:cNvPr id="24" name="Parenthèses 23">
            <a:extLst>
              <a:ext uri="{FF2B5EF4-FFF2-40B4-BE49-F238E27FC236}">
                <a16:creationId xmlns:a16="http://schemas.microsoft.com/office/drawing/2014/main" id="{3BA6D1F1-5AAF-AC03-37FC-BE666E92DD44}"/>
              </a:ext>
            </a:extLst>
          </p:cNvPr>
          <p:cNvSpPr/>
          <p:nvPr/>
        </p:nvSpPr>
        <p:spPr>
          <a:xfrm>
            <a:off x="8302903" y="3560932"/>
            <a:ext cx="824996" cy="2481180"/>
          </a:xfrm>
          <a:prstGeom prst="bracket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mc:AlternateContent xmlns:mc="http://schemas.openxmlformats.org/markup-compatibility/2006" xmlns:a14="http://schemas.microsoft.com/office/drawing/2010/main">
        <mc:Choice Requires="a14">
          <p:sp>
            <p:nvSpPr>
              <p:cNvPr id="25" name="ZoneTexte 24">
                <a:extLst>
                  <a:ext uri="{FF2B5EF4-FFF2-40B4-BE49-F238E27FC236}">
                    <a16:creationId xmlns:a16="http://schemas.microsoft.com/office/drawing/2014/main" id="{0EB8C064-1B75-C63D-24FC-F754F242E20D}"/>
                  </a:ext>
                </a:extLst>
              </p:cNvPr>
              <p:cNvSpPr txBox="1"/>
              <p:nvPr/>
            </p:nvSpPr>
            <p:spPr>
              <a:xfrm>
                <a:off x="9905167" y="3539924"/>
                <a:ext cx="1770366"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400" b="0" i="0" smtClean="0">
                          <a:solidFill>
                            <a:schemeClr val="tx1"/>
                          </a:solidFill>
                          <a:latin typeface="Cambria Math" panose="02040503050406030204" pitchFamily="18" charset="0"/>
                        </a:rPr>
                        <m:t>−2(</m:t>
                      </m:r>
                      <m:r>
                        <m:rPr>
                          <m:sty m:val="p"/>
                        </m:rPr>
                        <a:rPr lang="fr-FR" sz="1400" i="0" smtClean="0">
                          <a:solidFill>
                            <a:schemeClr val="tx1"/>
                          </a:solidFill>
                          <a:latin typeface="Cambria Math" panose="02040503050406030204" pitchFamily="18" charset="0"/>
                        </a:rPr>
                        <m:t>t</m:t>
                      </m:r>
                      <m:r>
                        <m:rPr>
                          <m:sty m:val="p"/>
                        </m:rPr>
                        <a:rPr lang="fr-FR" sz="1400" b="0" i="0" smtClean="0">
                          <a:solidFill>
                            <a:schemeClr val="tx1"/>
                          </a:solidFill>
                          <a:latin typeface="Cambria Math" panose="02040503050406030204" pitchFamily="18" charset="0"/>
                        </a:rPr>
                        <m:t>arget</m:t>
                      </m:r>
                      <m:r>
                        <a:rPr lang="fr-FR" sz="1400" b="0" i="0" smtClean="0">
                          <a:solidFill>
                            <a:schemeClr val="tx1"/>
                          </a:solidFill>
                          <a:latin typeface="Cambria Math" panose="02040503050406030204" pitchFamily="18" charset="0"/>
                        </a:rPr>
                        <m:t> −</m:t>
                      </m:r>
                      <m:r>
                        <m:rPr>
                          <m:sty m:val="p"/>
                        </m:rPr>
                        <a:rPr lang="fr-FR" sz="1400" b="0" i="0" smtClean="0">
                          <a:solidFill>
                            <a:schemeClr val="tx1"/>
                          </a:solidFill>
                          <a:latin typeface="Cambria Math" panose="02040503050406030204" pitchFamily="18" charset="0"/>
                        </a:rPr>
                        <m:t>out</m:t>
                      </m:r>
                      <m:r>
                        <a:rPr lang="fr-FR" sz="1400" b="0" i="0" smtClean="0">
                          <a:solidFill>
                            <a:schemeClr val="tx1"/>
                          </a:solidFill>
                          <a:latin typeface="Cambria Math" panose="02040503050406030204" pitchFamily="18" charset="0"/>
                        </a:rPr>
                        <m:t>)</m:t>
                      </m:r>
                    </m:oMath>
                  </m:oMathPara>
                </a14:m>
                <a:endParaRPr lang="fr-FR" sz="1400" dirty="0">
                  <a:solidFill>
                    <a:schemeClr val="tx1"/>
                  </a:solidFill>
                </a:endParaRPr>
              </a:p>
            </p:txBody>
          </p:sp>
        </mc:Choice>
        <mc:Fallback xmlns="">
          <p:sp>
            <p:nvSpPr>
              <p:cNvPr id="25" name="ZoneTexte 24">
                <a:extLst>
                  <a:ext uri="{FF2B5EF4-FFF2-40B4-BE49-F238E27FC236}">
                    <a16:creationId xmlns:a16="http://schemas.microsoft.com/office/drawing/2014/main" id="{0EB8C064-1B75-C63D-24FC-F754F242E20D}"/>
                  </a:ext>
                </a:extLst>
              </p:cNvPr>
              <p:cNvSpPr txBox="1">
                <a:spLocks noRot="1" noChangeAspect="1" noMove="1" noResize="1" noEditPoints="1" noAdjustHandles="1" noChangeArrowheads="1" noChangeShapeType="1" noTextEdit="1"/>
              </p:cNvSpPr>
              <p:nvPr/>
            </p:nvSpPr>
            <p:spPr>
              <a:xfrm>
                <a:off x="9905167" y="3539924"/>
                <a:ext cx="1770366" cy="307777"/>
              </a:xfrm>
              <a:prstGeom prst="rect">
                <a:avLst/>
              </a:prstGeom>
              <a:blipFill>
                <a:blip r:embed="rId10"/>
                <a:stretch>
                  <a:fillRect b="-12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ZoneTexte 25">
                <a:extLst>
                  <a:ext uri="{FF2B5EF4-FFF2-40B4-BE49-F238E27FC236}">
                    <a16:creationId xmlns:a16="http://schemas.microsoft.com/office/drawing/2014/main" id="{25E1B0BF-4D20-A7DA-28AB-1341F8B02137}"/>
                  </a:ext>
                </a:extLst>
              </p:cNvPr>
              <p:cNvSpPr txBox="1"/>
              <p:nvPr/>
            </p:nvSpPr>
            <p:spPr>
              <a:xfrm>
                <a:off x="9905167" y="4211529"/>
                <a:ext cx="1770366"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fr-FR" sz="1400" i="0" smtClean="0">
                          <a:solidFill>
                            <a:schemeClr val="tx1"/>
                          </a:solidFill>
                          <a:latin typeface="Cambria Math" panose="02040503050406030204" pitchFamily="18" charset="0"/>
                        </a:rPr>
                        <m:t>o</m:t>
                      </m:r>
                      <m:r>
                        <m:rPr>
                          <m:sty m:val="p"/>
                        </m:rPr>
                        <a:rPr lang="fr-FR" sz="1400" b="0" i="0" smtClean="0">
                          <a:solidFill>
                            <a:schemeClr val="tx1"/>
                          </a:solidFill>
                          <a:latin typeface="Cambria Math" panose="02040503050406030204" pitchFamily="18" charset="0"/>
                        </a:rPr>
                        <m:t>ut</m:t>
                      </m:r>
                      <m:r>
                        <a:rPr lang="fr-FR" sz="1400" b="0" i="0" smtClean="0">
                          <a:solidFill>
                            <a:schemeClr val="tx1"/>
                          </a:solidFill>
                          <a:latin typeface="Cambria Math" panose="02040503050406030204" pitchFamily="18" charset="0"/>
                        </a:rPr>
                        <m:t>(1 −</m:t>
                      </m:r>
                      <m:r>
                        <m:rPr>
                          <m:sty m:val="p"/>
                        </m:rPr>
                        <a:rPr lang="fr-FR" sz="1400" b="0" i="0" smtClean="0">
                          <a:solidFill>
                            <a:schemeClr val="tx1"/>
                          </a:solidFill>
                          <a:latin typeface="Cambria Math" panose="02040503050406030204" pitchFamily="18" charset="0"/>
                        </a:rPr>
                        <m:t>out</m:t>
                      </m:r>
                      <m:r>
                        <a:rPr lang="fr-FR" sz="1400" b="0" i="0" smtClean="0">
                          <a:solidFill>
                            <a:schemeClr val="tx1"/>
                          </a:solidFill>
                          <a:latin typeface="Cambria Math" panose="02040503050406030204" pitchFamily="18" charset="0"/>
                        </a:rPr>
                        <m:t>)</m:t>
                      </m:r>
                    </m:oMath>
                  </m:oMathPara>
                </a14:m>
                <a:endParaRPr lang="fr-FR" sz="1400" dirty="0">
                  <a:solidFill>
                    <a:schemeClr val="tx1"/>
                  </a:solidFill>
                </a:endParaRPr>
              </a:p>
            </p:txBody>
          </p:sp>
        </mc:Choice>
        <mc:Fallback xmlns="">
          <p:sp>
            <p:nvSpPr>
              <p:cNvPr id="26" name="ZoneTexte 25">
                <a:extLst>
                  <a:ext uri="{FF2B5EF4-FFF2-40B4-BE49-F238E27FC236}">
                    <a16:creationId xmlns:a16="http://schemas.microsoft.com/office/drawing/2014/main" id="{25E1B0BF-4D20-A7DA-28AB-1341F8B02137}"/>
                  </a:ext>
                </a:extLst>
              </p:cNvPr>
              <p:cNvSpPr txBox="1">
                <a:spLocks noRot="1" noChangeAspect="1" noMove="1" noResize="1" noEditPoints="1" noAdjustHandles="1" noChangeArrowheads="1" noChangeShapeType="1" noTextEdit="1"/>
              </p:cNvSpPr>
              <p:nvPr/>
            </p:nvSpPr>
            <p:spPr>
              <a:xfrm>
                <a:off x="9905167" y="4211529"/>
                <a:ext cx="1770366" cy="307777"/>
              </a:xfrm>
              <a:prstGeom prst="rect">
                <a:avLst/>
              </a:prstGeom>
              <a:blipFill>
                <a:blip r:embed="rId11"/>
                <a:stretch>
                  <a:fillRect b="-120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7" name="ZoneTexte 26">
                <a:extLst>
                  <a:ext uri="{FF2B5EF4-FFF2-40B4-BE49-F238E27FC236}">
                    <a16:creationId xmlns:a16="http://schemas.microsoft.com/office/drawing/2014/main" id="{868D6E0B-A19A-0149-BE3F-5D473133229E}"/>
                  </a:ext>
                </a:extLst>
              </p:cNvPr>
              <p:cNvSpPr txBox="1"/>
              <p:nvPr/>
            </p:nvSpPr>
            <p:spPr>
              <a:xfrm>
                <a:off x="9905167" y="4910957"/>
                <a:ext cx="1770366"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fr-FR" sz="1400" i="0" smtClean="0">
                          <a:solidFill>
                            <a:schemeClr val="tx1"/>
                          </a:solidFill>
                          <a:latin typeface="Cambria Math" panose="02040503050406030204" pitchFamily="18" charset="0"/>
                        </a:rPr>
                        <m:t>x</m:t>
                      </m:r>
                    </m:oMath>
                  </m:oMathPara>
                </a14:m>
                <a:endParaRPr lang="fr-FR" sz="1400" dirty="0">
                  <a:solidFill>
                    <a:schemeClr val="tx1"/>
                  </a:solidFill>
                </a:endParaRPr>
              </a:p>
            </p:txBody>
          </p:sp>
        </mc:Choice>
        <mc:Fallback xmlns="">
          <p:sp>
            <p:nvSpPr>
              <p:cNvPr id="27" name="ZoneTexte 26">
                <a:extLst>
                  <a:ext uri="{FF2B5EF4-FFF2-40B4-BE49-F238E27FC236}">
                    <a16:creationId xmlns:a16="http://schemas.microsoft.com/office/drawing/2014/main" id="{868D6E0B-A19A-0149-BE3F-5D473133229E}"/>
                  </a:ext>
                </a:extLst>
              </p:cNvPr>
              <p:cNvSpPr txBox="1">
                <a:spLocks noRot="1" noChangeAspect="1" noMove="1" noResize="1" noEditPoints="1" noAdjustHandles="1" noChangeArrowheads="1" noChangeShapeType="1" noTextEdit="1"/>
              </p:cNvSpPr>
              <p:nvPr/>
            </p:nvSpPr>
            <p:spPr>
              <a:xfrm>
                <a:off x="9905167" y="4910957"/>
                <a:ext cx="1770366" cy="307777"/>
              </a:xfrm>
              <a:prstGeom prst="rect">
                <a:avLst/>
              </a:prstGeom>
              <a:blipFill>
                <a:blip r:embed="rId12"/>
                <a:stretch>
                  <a:fillRect/>
                </a:stretch>
              </a:blipFill>
            </p:spPr>
            <p:txBody>
              <a:bodyPr/>
              <a:lstStyle/>
              <a:p>
                <a:r>
                  <a:rPr lang="fr-FR">
                    <a:noFill/>
                  </a:rPr>
                  <a:t> </a:t>
                </a:r>
              </a:p>
            </p:txBody>
          </p:sp>
        </mc:Fallback>
      </mc:AlternateContent>
      <p:sp>
        <p:nvSpPr>
          <p:cNvPr id="29" name="Parenthèses 28">
            <a:extLst>
              <a:ext uri="{FF2B5EF4-FFF2-40B4-BE49-F238E27FC236}">
                <a16:creationId xmlns:a16="http://schemas.microsoft.com/office/drawing/2014/main" id="{E24659BB-1FBA-E214-708D-87044919C075}"/>
              </a:ext>
            </a:extLst>
          </p:cNvPr>
          <p:cNvSpPr/>
          <p:nvPr/>
        </p:nvSpPr>
        <p:spPr>
          <a:xfrm>
            <a:off x="9905167" y="3539924"/>
            <a:ext cx="1770366" cy="2502188"/>
          </a:xfrm>
          <a:prstGeom prst="bracket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mc:AlternateContent xmlns:mc="http://schemas.openxmlformats.org/markup-compatibility/2006" xmlns:a14="http://schemas.microsoft.com/office/drawing/2010/main">
        <mc:Choice Requires="a14">
          <p:sp>
            <p:nvSpPr>
              <p:cNvPr id="31" name="ZoneTexte 30">
                <a:extLst>
                  <a:ext uri="{FF2B5EF4-FFF2-40B4-BE49-F238E27FC236}">
                    <a16:creationId xmlns:a16="http://schemas.microsoft.com/office/drawing/2014/main" id="{E0703BD4-2848-6412-F6BA-E17827CD147F}"/>
                  </a:ext>
                </a:extLst>
              </p:cNvPr>
              <p:cNvSpPr txBox="1"/>
              <p:nvPr/>
            </p:nvSpPr>
            <p:spPr>
              <a:xfrm>
                <a:off x="9211733" y="4375237"/>
                <a:ext cx="6096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i="1" smtClean="0">
                          <a:latin typeface="Cambria Math" panose="02040503050406030204" pitchFamily="18" charset="0"/>
                          <a:ea typeface="Cambria Math" panose="02040503050406030204" pitchFamily="18" charset="0"/>
                        </a:rPr>
                        <m:t>=</m:t>
                      </m:r>
                    </m:oMath>
                  </m:oMathPara>
                </a14:m>
                <a:endParaRPr lang="fr-FR" dirty="0"/>
              </a:p>
            </p:txBody>
          </p:sp>
        </mc:Choice>
        <mc:Fallback xmlns="">
          <p:sp>
            <p:nvSpPr>
              <p:cNvPr id="31" name="ZoneTexte 30">
                <a:extLst>
                  <a:ext uri="{FF2B5EF4-FFF2-40B4-BE49-F238E27FC236}">
                    <a16:creationId xmlns:a16="http://schemas.microsoft.com/office/drawing/2014/main" id="{E0703BD4-2848-6412-F6BA-E17827CD147F}"/>
                  </a:ext>
                </a:extLst>
              </p:cNvPr>
              <p:cNvSpPr txBox="1">
                <a:spLocks noRot="1" noChangeAspect="1" noMove="1" noResize="1" noEditPoints="1" noAdjustHandles="1" noChangeArrowheads="1" noChangeShapeType="1" noTextEdit="1"/>
              </p:cNvSpPr>
              <p:nvPr/>
            </p:nvSpPr>
            <p:spPr>
              <a:xfrm>
                <a:off x="9211733" y="4375237"/>
                <a:ext cx="609600" cy="369332"/>
              </a:xfrm>
              <a:prstGeom prst="rect">
                <a:avLst/>
              </a:prstGeom>
              <a:blipFill>
                <a:blip r:embed="rId13"/>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BD6D017B-F2C3-4791-667E-63D8B769B6E8}"/>
                  </a:ext>
                </a:extLst>
              </p:cNvPr>
              <p:cNvSpPr txBox="1"/>
              <p:nvPr/>
            </p:nvSpPr>
            <p:spPr>
              <a:xfrm>
                <a:off x="8302903" y="5540115"/>
                <a:ext cx="826060" cy="5019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fr-FR" sz="1400" i="1" smtClean="0">
                              <a:solidFill>
                                <a:schemeClr val="tx1"/>
                              </a:solidFill>
                              <a:latin typeface="Cambria Math" panose="02040503050406030204" pitchFamily="18" charset="0"/>
                            </a:rPr>
                          </m:ctrlPr>
                        </m:fPr>
                        <m:num>
                          <m:r>
                            <a:rPr lang="fr-FR" sz="1400" i="1" smtClean="0">
                              <a:solidFill>
                                <a:schemeClr val="tx1"/>
                              </a:solidFill>
                              <a:latin typeface="Cambria Math" panose="02040503050406030204" pitchFamily="18" charset="0"/>
                            </a:rPr>
                            <m:t>𝜕</m:t>
                          </m:r>
                          <m:r>
                            <m:rPr>
                              <m:sty m:val="p"/>
                            </m:rPr>
                            <a:rPr lang="fr-FR" sz="1400" b="0" i="0" smtClean="0">
                              <a:solidFill>
                                <a:schemeClr val="tx1"/>
                              </a:solidFill>
                              <a:latin typeface="Cambria Math" panose="02040503050406030204" pitchFamily="18" charset="0"/>
                            </a:rPr>
                            <m:t>net</m:t>
                          </m:r>
                        </m:num>
                        <m:den>
                          <m:r>
                            <a:rPr lang="fr-FR" sz="1400" i="1" smtClean="0">
                              <a:solidFill>
                                <a:schemeClr val="tx1"/>
                              </a:solidFill>
                              <a:latin typeface="Cambria Math" panose="02040503050406030204" pitchFamily="18" charset="0"/>
                            </a:rPr>
                            <m:t>𝜕</m:t>
                          </m:r>
                          <m:r>
                            <m:rPr>
                              <m:sty m:val="p"/>
                            </m:rPr>
                            <a:rPr lang="fr-FR" sz="1400" b="0" i="0" smtClean="0">
                              <a:solidFill>
                                <a:schemeClr val="tx1"/>
                              </a:solidFill>
                              <a:latin typeface="Cambria Math" panose="02040503050406030204" pitchFamily="18" charset="0"/>
                            </a:rPr>
                            <m:t>b</m:t>
                          </m:r>
                        </m:den>
                      </m:f>
                      <m:r>
                        <a:rPr lang="fr-FR" sz="1400" b="0" i="1" smtClean="0">
                          <a:solidFill>
                            <a:schemeClr val="tx1"/>
                          </a:solidFill>
                          <a:latin typeface="Cambria Math" panose="02040503050406030204" pitchFamily="18" charset="0"/>
                        </a:rPr>
                        <m:t> </m:t>
                      </m:r>
                    </m:oMath>
                  </m:oMathPara>
                </a14:m>
                <a:endParaRPr lang="fr-FR" sz="1400" dirty="0">
                  <a:solidFill>
                    <a:schemeClr val="tx1"/>
                  </a:solidFill>
                </a:endParaRPr>
              </a:p>
            </p:txBody>
          </p:sp>
        </mc:Choice>
        <mc:Fallback xmlns="">
          <p:sp>
            <p:nvSpPr>
              <p:cNvPr id="3" name="ZoneTexte 2">
                <a:extLst>
                  <a:ext uri="{FF2B5EF4-FFF2-40B4-BE49-F238E27FC236}">
                    <a16:creationId xmlns:a16="http://schemas.microsoft.com/office/drawing/2014/main" id="{BD6D017B-F2C3-4791-667E-63D8B769B6E8}"/>
                  </a:ext>
                </a:extLst>
              </p:cNvPr>
              <p:cNvSpPr txBox="1">
                <a:spLocks noRot="1" noChangeAspect="1" noMove="1" noResize="1" noEditPoints="1" noAdjustHandles="1" noChangeArrowheads="1" noChangeShapeType="1" noTextEdit="1"/>
              </p:cNvSpPr>
              <p:nvPr/>
            </p:nvSpPr>
            <p:spPr>
              <a:xfrm>
                <a:off x="8302903" y="5540115"/>
                <a:ext cx="826060" cy="501997"/>
              </a:xfrm>
              <a:prstGeom prst="rect">
                <a:avLst/>
              </a:prstGeom>
              <a:blipFill>
                <a:blip r:embed="rId14"/>
                <a:stretch>
                  <a:fillRect b="-25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3D680C99-89A3-FD8A-1979-9D1363DD934C}"/>
                  </a:ext>
                </a:extLst>
              </p:cNvPr>
              <p:cNvSpPr txBox="1"/>
              <p:nvPr/>
            </p:nvSpPr>
            <p:spPr>
              <a:xfrm>
                <a:off x="9905167" y="5570213"/>
                <a:ext cx="1770366"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400" b="0" i="1" smtClean="0">
                          <a:solidFill>
                            <a:schemeClr val="tx1"/>
                          </a:solidFill>
                          <a:latin typeface="Cambria Math" panose="02040503050406030204" pitchFamily="18" charset="0"/>
                        </a:rPr>
                        <m:t>1</m:t>
                      </m:r>
                    </m:oMath>
                  </m:oMathPara>
                </a14:m>
                <a:endParaRPr lang="fr-FR" sz="1400" dirty="0">
                  <a:solidFill>
                    <a:schemeClr val="tx1"/>
                  </a:solidFill>
                </a:endParaRPr>
              </a:p>
            </p:txBody>
          </p:sp>
        </mc:Choice>
        <mc:Fallback xmlns="">
          <p:sp>
            <p:nvSpPr>
              <p:cNvPr id="5" name="ZoneTexte 4">
                <a:extLst>
                  <a:ext uri="{FF2B5EF4-FFF2-40B4-BE49-F238E27FC236}">
                    <a16:creationId xmlns:a16="http://schemas.microsoft.com/office/drawing/2014/main" id="{3D680C99-89A3-FD8A-1979-9D1363DD934C}"/>
                  </a:ext>
                </a:extLst>
              </p:cNvPr>
              <p:cNvSpPr txBox="1">
                <a:spLocks noRot="1" noChangeAspect="1" noMove="1" noResize="1" noEditPoints="1" noAdjustHandles="1" noChangeArrowheads="1" noChangeShapeType="1" noTextEdit="1"/>
              </p:cNvSpPr>
              <p:nvPr/>
            </p:nvSpPr>
            <p:spPr>
              <a:xfrm>
                <a:off x="9905167" y="5570213"/>
                <a:ext cx="1770366" cy="307777"/>
              </a:xfrm>
              <a:prstGeom prst="rect">
                <a:avLst/>
              </a:prstGeom>
              <a:blipFill>
                <a:blip r:embed="rId15"/>
                <a:stretch>
                  <a:fillRect/>
                </a:stretch>
              </a:blipFill>
            </p:spPr>
            <p:txBody>
              <a:bodyPr/>
              <a:lstStyle/>
              <a:p>
                <a:r>
                  <a:rPr lang="fr-FR">
                    <a:noFill/>
                  </a:rPr>
                  <a:t> </a:t>
                </a:r>
              </a:p>
            </p:txBody>
          </p:sp>
        </mc:Fallback>
      </mc:AlternateContent>
      <p:sp>
        <p:nvSpPr>
          <p:cNvPr id="35" name="Titre 1">
            <a:extLst>
              <a:ext uri="{FF2B5EF4-FFF2-40B4-BE49-F238E27FC236}">
                <a16:creationId xmlns:a16="http://schemas.microsoft.com/office/drawing/2014/main" id="{AD49DE4C-308A-9638-E9AD-ADB67077C2CF}"/>
              </a:ext>
            </a:extLst>
          </p:cNvPr>
          <p:cNvSpPr>
            <a:spLocks noGrp="1"/>
          </p:cNvSpPr>
          <p:nvPr>
            <p:ph type="title"/>
          </p:nvPr>
        </p:nvSpPr>
        <p:spPr>
          <a:xfrm>
            <a:off x="838200" y="300730"/>
            <a:ext cx="10515600" cy="1325563"/>
          </a:xfrm>
        </p:spPr>
        <p:txBody>
          <a:bodyPr/>
          <a:lstStyle/>
          <a:p>
            <a:r>
              <a:rPr lang="en-GB" noProof="0" dirty="0"/>
              <a:t>Perceptron </a:t>
            </a:r>
            <a:r>
              <a:rPr lang="en-GB" sz="2400" noProof="0" dirty="0"/>
              <a:t>with a single input</a:t>
            </a:r>
            <a:endParaRPr lang="en-GB" noProof="0" dirty="0"/>
          </a:p>
        </p:txBody>
      </p:sp>
    </p:spTree>
    <p:extLst>
      <p:ext uri="{BB962C8B-B14F-4D97-AF65-F5344CB8AC3E}">
        <p14:creationId xmlns:p14="http://schemas.microsoft.com/office/powerpoint/2010/main" val="3668343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B10DB-EECF-9EA8-8CC4-9027D920D4D8}"/>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7DAE70B2-3759-F828-1F3D-45DB49CCA3AF}"/>
              </a:ext>
            </a:extLst>
          </p:cNvPr>
          <p:cNvSpPr txBox="1"/>
          <p:nvPr/>
        </p:nvSpPr>
        <p:spPr>
          <a:xfrm>
            <a:off x="3510011" y="4794779"/>
            <a:ext cx="5845656" cy="1561571"/>
          </a:xfrm>
          <a:prstGeom prst="rect">
            <a:avLst/>
          </a:prstGeom>
          <a:noFill/>
          <a:ln>
            <a:solidFill>
              <a:schemeClr val="tx1"/>
            </a:solidFill>
          </a:ln>
        </p:spPr>
        <p:txBody>
          <a:bodyPr wrap="square" rtlCol="0">
            <a:spAutoFit/>
          </a:bodyPr>
          <a:lstStyle/>
          <a:p>
            <a:endParaRPr lang="fr-FR" dirty="0"/>
          </a:p>
        </p:txBody>
      </p:sp>
      <p:grpSp>
        <p:nvGrpSpPr>
          <p:cNvPr id="12" name="Groupe 11">
            <a:extLst>
              <a:ext uri="{FF2B5EF4-FFF2-40B4-BE49-F238E27FC236}">
                <a16:creationId xmlns:a16="http://schemas.microsoft.com/office/drawing/2014/main" id="{C6BACB26-6C89-14E3-3F32-4AB1716A4753}"/>
              </a:ext>
            </a:extLst>
          </p:cNvPr>
          <p:cNvGrpSpPr/>
          <p:nvPr/>
        </p:nvGrpSpPr>
        <p:grpSpPr>
          <a:xfrm>
            <a:off x="4992412" y="2220312"/>
            <a:ext cx="1061545" cy="1061545"/>
            <a:chOff x="3563007" y="2367455"/>
            <a:chExt cx="1061545" cy="1061545"/>
          </a:xfrm>
        </p:grpSpPr>
        <p:sp>
          <p:nvSpPr>
            <p:cNvPr id="4" name="Ellipse 3">
              <a:extLst>
                <a:ext uri="{FF2B5EF4-FFF2-40B4-BE49-F238E27FC236}">
                  <a16:creationId xmlns:a16="http://schemas.microsoft.com/office/drawing/2014/main" id="{72FF8D8E-6A6F-FB89-AFEC-0F93E5D0CBB7}"/>
                </a:ext>
              </a:extLst>
            </p:cNvPr>
            <p:cNvSpPr/>
            <p:nvPr/>
          </p:nvSpPr>
          <p:spPr>
            <a:xfrm>
              <a:off x="3563007" y="2367455"/>
              <a:ext cx="1061545" cy="106154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1400" dirty="0"/>
            </a:p>
          </p:txBody>
        </p:sp>
        <p:cxnSp>
          <p:nvCxnSpPr>
            <p:cNvPr id="8" name="Connecteur droit 7">
              <a:extLst>
                <a:ext uri="{FF2B5EF4-FFF2-40B4-BE49-F238E27FC236}">
                  <a16:creationId xmlns:a16="http://schemas.microsoft.com/office/drawing/2014/main" id="{31F404FE-3556-1DB9-4C84-096D8647C864}"/>
                </a:ext>
              </a:extLst>
            </p:cNvPr>
            <p:cNvCxnSpPr>
              <a:stCxn id="4" idx="0"/>
              <a:endCxn id="4" idx="4"/>
            </p:cNvCxnSpPr>
            <p:nvPr/>
          </p:nvCxnSpPr>
          <p:spPr>
            <a:xfrm>
              <a:off x="4093780" y="2367455"/>
              <a:ext cx="0" cy="1061545"/>
            </a:xfrm>
            <a:prstGeom prst="line">
              <a:avLst/>
            </a:prstGeom>
          </p:spPr>
          <p:style>
            <a:lnRef idx="2">
              <a:schemeClr val="accent1"/>
            </a:lnRef>
            <a:fillRef idx="0">
              <a:schemeClr val="accent1"/>
            </a:fillRef>
            <a:effectRef idx="1">
              <a:schemeClr val="accent1"/>
            </a:effectRef>
            <a:fontRef idx="minor">
              <a:schemeClr val="tx1"/>
            </a:fontRef>
          </p:style>
        </p:cxnSp>
      </p:grpSp>
      <p:cxnSp>
        <p:nvCxnSpPr>
          <p:cNvPr id="17" name="Connecteur droit avec flèche 16">
            <a:extLst>
              <a:ext uri="{FF2B5EF4-FFF2-40B4-BE49-F238E27FC236}">
                <a16:creationId xmlns:a16="http://schemas.microsoft.com/office/drawing/2014/main" id="{A85C11FE-2C47-E083-39B1-62AFADD9F698}"/>
              </a:ext>
            </a:extLst>
          </p:cNvPr>
          <p:cNvCxnSpPr>
            <a:cxnSpLocks/>
          </p:cNvCxnSpPr>
          <p:nvPr/>
        </p:nvCxnSpPr>
        <p:spPr>
          <a:xfrm>
            <a:off x="3992596" y="2817110"/>
            <a:ext cx="9354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ZoneTexte 20">
            <a:extLst>
              <a:ext uri="{FF2B5EF4-FFF2-40B4-BE49-F238E27FC236}">
                <a16:creationId xmlns:a16="http://schemas.microsoft.com/office/drawing/2014/main" id="{45734D6C-6354-58AF-1BFA-BA5B7963EDD7}"/>
              </a:ext>
            </a:extLst>
          </p:cNvPr>
          <p:cNvSpPr txBox="1"/>
          <p:nvPr/>
        </p:nvSpPr>
        <p:spPr>
          <a:xfrm>
            <a:off x="3382996" y="2533615"/>
            <a:ext cx="599090" cy="523220"/>
          </a:xfrm>
          <a:prstGeom prst="rect">
            <a:avLst/>
          </a:prstGeom>
          <a:noFill/>
        </p:spPr>
        <p:txBody>
          <a:bodyPr wrap="square" rtlCol="0">
            <a:spAutoFit/>
          </a:bodyPr>
          <a:lstStyle/>
          <a:p>
            <a:pPr algn="ctr"/>
            <a:r>
              <a:rPr lang="fr-FR" sz="2800" dirty="0"/>
              <a:t>x</a:t>
            </a:r>
            <a:endParaRPr lang="fr-FR" sz="2800" baseline="-25000" dirty="0"/>
          </a:p>
        </p:txBody>
      </p:sp>
      <p:sp>
        <p:nvSpPr>
          <p:cNvPr id="28" name="ZoneTexte 27">
            <a:extLst>
              <a:ext uri="{FF2B5EF4-FFF2-40B4-BE49-F238E27FC236}">
                <a16:creationId xmlns:a16="http://schemas.microsoft.com/office/drawing/2014/main" id="{5B699DAD-881A-D1DB-D184-D3C798D32107}"/>
              </a:ext>
            </a:extLst>
          </p:cNvPr>
          <p:cNvSpPr txBox="1"/>
          <p:nvPr/>
        </p:nvSpPr>
        <p:spPr>
          <a:xfrm>
            <a:off x="4120034" y="2467393"/>
            <a:ext cx="599090"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w</a:t>
            </a:r>
          </a:p>
        </p:txBody>
      </p:sp>
      <p:cxnSp>
        <p:nvCxnSpPr>
          <p:cNvPr id="30" name="Connecteur droit avec flèche 29">
            <a:extLst>
              <a:ext uri="{FF2B5EF4-FFF2-40B4-BE49-F238E27FC236}">
                <a16:creationId xmlns:a16="http://schemas.microsoft.com/office/drawing/2014/main" id="{4D5EDB4C-FFEA-E92E-D277-7A7D2FFCE15B}"/>
              </a:ext>
            </a:extLst>
          </p:cNvPr>
          <p:cNvCxnSpPr>
            <a:cxnSpLocks/>
          </p:cNvCxnSpPr>
          <p:nvPr/>
        </p:nvCxnSpPr>
        <p:spPr>
          <a:xfrm>
            <a:off x="6074977" y="2742628"/>
            <a:ext cx="9354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necteur droit avec flèche 31">
            <a:extLst>
              <a:ext uri="{FF2B5EF4-FFF2-40B4-BE49-F238E27FC236}">
                <a16:creationId xmlns:a16="http://schemas.microsoft.com/office/drawing/2014/main" id="{30761491-30C1-365B-B9FD-667707490ED8}"/>
              </a:ext>
            </a:extLst>
          </p:cNvPr>
          <p:cNvCxnSpPr>
            <a:cxnSpLocks/>
          </p:cNvCxnSpPr>
          <p:nvPr/>
        </p:nvCxnSpPr>
        <p:spPr>
          <a:xfrm flipV="1">
            <a:off x="4651482" y="3166246"/>
            <a:ext cx="493330" cy="5994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ZoneTexte 35">
            <a:extLst>
              <a:ext uri="{FF2B5EF4-FFF2-40B4-BE49-F238E27FC236}">
                <a16:creationId xmlns:a16="http://schemas.microsoft.com/office/drawing/2014/main" id="{2D06B606-2F00-DCA0-D2CA-2B25F07F9799}"/>
              </a:ext>
            </a:extLst>
          </p:cNvPr>
          <p:cNvSpPr txBox="1"/>
          <p:nvPr/>
        </p:nvSpPr>
        <p:spPr>
          <a:xfrm>
            <a:off x="4184429" y="3641845"/>
            <a:ext cx="599090"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b</a:t>
            </a:r>
          </a:p>
        </p:txBody>
      </p:sp>
      <p:sp>
        <p:nvSpPr>
          <p:cNvPr id="41" name="ZoneTexte 40">
            <a:extLst>
              <a:ext uri="{FF2B5EF4-FFF2-40B4-BE49-F238E27FC236}">
                <a16:creationId xmlns:a16="http://schemas.microsoft.com/office/drawing/2014/main" id="{76CCD043-F427-122F-BBC5-55EE39E0CFB0}"/>
              </a:ext>
            </a:extLst>
          </p:cNvPr>
          <p:cNvSpPr txBox="1"/>
          <p:nvPr/>
        </p:nvSpPr>
        <p:spPr>
          <a:xfrm>
            <a:off x="5034995" y="2635155"/>
            <a:ext cx="517929" cy="307777"/>
          </a:xfrm>
          <a:prstGeom prst="rect">
            <a:avLst/>
          </a:prstGeom>
          <a:noFill/>
        </p:spPr>
        <p:txBody>
          <a:bodyPr wrap="square" rtlCol="0">
            <a:spAutoFit/>
          </a:bodyPr>
          <a:lstStyle/>
          <a:p>
            <a:pPr algn="ctr"/>
            <a:r>
              <a:rPr lang="fr-FR" sz="1400" dirty="0"/>
              <a:t>net</a:t>
            </a:r>
          </a:p>
        </p:txBody>
      </p:sp>
      <p:sp>
        <p:nvSpPr>
          <p:cNvPr id="42" name="ZoneTexte 41">
            <a:extLst>
              <a:ext uri="{FF2B5EF4-FFF2-40B4-BE49-F238E27FC236}">
                <a16:creationId xmlns:a16="http://schemas.microsoft.com/office/drawing/2014/main" id="{F4178866-AB2E-04F9-6F8B-780814BD3AFD}"/>
              </a:ext>
            </a:extLst>
          </p:cNvPr>
          <p:cNvSpPr txBox="1"/>
          <p:nvPr/>
        </p:nvSpPr>
        <p:spPr>
          <a:xfrm>
            <a:off x="5486866" y="2635155"/>
            <a:ext cx="517929" cy="307777"/>
          </a:xfrm>
          <a:prstGeom prst="rect">
            <a:avLst/>
          </a:prstGeom>
          <a:noFill/>
        </p:spPr>
        <p:txBody>
          <a:bodyPr wrap="square" rtlCol="0">
            <a:spAutoFit/>
          </a:bodyPr>
          <a:lstStyle/>
          <a:p>
            <a:pPr algn="ctr"/>
            <a:r>
              <a:rPr lang="fr-FR" sz="1400" dirty="0"/>
              <a:t>out</a:t>
            </a:r>
          </a:p>
        </p:txBody>
      </p:sp>
      <mc:AlternateContent xmlns:mc="http://schemas.openxmlformats.org/markup-compatibility/2006" xmlns:a14="http://schemas.microsoft.com/office/drawing/2010/main">
        <mc:Choice Requires="a14">
          <p:sp>
            <p:nvSpPr>
              <p:cNvPr id="44" name="ZoneTexte 43">
                <a:extLst>
                  <a:ext uri="{FF2B5EF4-FFF2-40B4-BE49-F238E27FC236}">
                    <a16:creationId xmlns:a16="http://schemas.microsoft.com/office/drawing/2014/main" id="{46EA0281-3525-2FB4-43DB-7B1949889257}"/>
                  </a:ext>
                </a:extLst>
              </p:cNvPr>
              <p:cNvSpPr txBox="1"/>
              <p:nvPr/>
            </p:nvSpPr>
            <p:spPr>
              <a:xfrm>
                <a:off x="7031418" y="2533615"/>
                <a:ext cx="2324249" cy="302840"/>
              </a:xfrm>
              <a:prstGeom prst="rect">
                <a:avLst/>
              </a:prstGeom>
              <a:noFill/>
              <a:ln>
                <a:solidFill>
                  <a:schemeClr val="tx1">
                    <a:lumMod val="50000"/>
                    <a:lumOff val="50000"/>
                  </a:schemeClr>
                </a:solidFill>
              </a:ln>
            </p:spPr>
            <p:txBody>
              <a:bodyPr wrap="square" rtlCol="0">
                <a:spAutoFit/>
              </a:bodyPr>
              <a:lstStyle/>
              <a:p>
                <a:pPr algn="ctr"/>
                <a14:m>
                  <m:oMath xmlns:m="http://schemas.openxmlformats.org/officeDocument/2006/math">
                    <m:r>
                      <a:rPr lang="fr-FR" sz="1400" b="0" i="1" noProof="0" smtClean="0">
                        <a:latin typeface="Cambria Math" panose="02040503050406030204" pitchFamily="18" charset="0"/>
                      </a:rPr>
                      <m:t>𝐿𝑜𝑠𝑠</m:t>
                    </m:r>
                    <m:r>
                      <a:rPr lang="fr-FR" sz="1400" b="0" i="1" noProof="0" smtClean="0">
                        <a:latin typeface="Cambria Math" panose="02040503050406030204" pitchFamily="18" charset="0"/>
                      </a:rPr>
                      <m:t>= (</m:t>
                    </m:r>
                    <m:r>
                      <m:rPr>
                        <m:sty m:val="p"/>
                      </m:rPr>
                      <a:rPr lang="fr-FR" sz="1400" b="0" i="0" noProof="0" smtClean="0">
                        <a:latin typeface="Cambria Math" panose="02040503050406030204" pitchFamily="18" charset="0"/>
                      </a:rPr>
                      <m:t>target</m:t>
                    </m:r>
                    <m:r>
                      <a:rPr lang="fr-FR" sz="1400" b="0" i="1" noProof="0" smtClean="0">
                        <a:latin typeface="Cambria Math" panose="02040503050406030204" pitchFamily="18" charset="0"/>
                      </a:rPr>
                      <m:t>−</m:t>
                    </m:r>
                    <m:r>
                      <m:rPr>
                        <m:sty m:val="p"/>
                      </m:rPr>
                      <a:rPr lang="fr-FR" sz="1400" b="0" i="0" noProof="0" smtClean="0">
                        <a:latin typeface="Cambria Math" panose="02040503050406030204" pitchFamily="18" charset="0"/>
                      </a:rPr>
                      <m:t>out</m:t>
                    </m:r>
                    <m:r>
                      <a:rPr lang="fr-FR" sz="1400" b="0" i="1" noProof="0" smtClean="0">
                        <a:latin typeface="Cambria Math" panose="02040503050406030204" pitchFamily="18" charset="0"/>
                      </a:rPr>
                      <m:t>)</m:t>
                    </m:r>
                  </m:oMath>
                </a14:m>
                <a:r>
                  <a:rPr lang="en-GB" sz="1400" baseline="30000" noProof="0" dirty="0"/>
                  <a:t>2</a:t>
                </a:r>
              </a:p>
            </p:txBody>
          </p:sp>
        </mc:Choice>
        <mc:Fallback xmlns="">
          <p:sp>
            <p:nvSpPr>
              <p:cNvPr id="44" name="ZoneTexte 43">
                <a:extLst>
                  <a:ext uri="{FF2B5EF4-FFF2-40B4-BE49-F238E27FC236}">
                    <a16:creationId xmlns:a16="http://schemas.microsoft.com/office/drawing/2014/main" id="{46EA0281-3525-2FB4-43DB-7B1949889257}"/>
                  </a:ext>
                </a:extLst>
              </p:cNvPr>
              <p:cNvSpPr txBox="1">
                <a:spLocks noRot="1" noChangeAspect="1" noMove="1" noResize="1" noEditPoints="1" noAdjustHandles="1" noChangeArrowheads="1" noChangeShapeType="1" noTextEdit="1"/>
              </p:cNvSpPr>
              <p:nvPr/>
            </p:nvSpPr>
            <p:spPr>
              <a:xfrm>
                <a:off x="7031418" y="2533615"/>
                <a:ext cx="2324249" cy="302840"/>
              </a:xfrm>
              <a:prstGeom prst="rect">
                <a:avLst/>
              </a:prstGeom>
              <a:blipFill>
                <a:blip r:embed="rId2"/>
                <a:stretch>
                  <a:fillRect b="-12000"/>
                </a:stretch>
              </a:blipFill>
              <a:ln>
                <a:solidFill>
                  <a:schemeClr val="tx1">
                    <a:lumMod val="50000"/>
                    <a:lumOff val="50000"/>
                  </a:schemeClr>
                </a:solidFill>
              </a:ln>
            </p:spPr>
            <p:txBody>
              <a:bodyPr/>
              <a:lstStyle/>
              <a:p>
                <a:r>
                  <a:rPr lang="en-GB">
                    <a:noFill/>
                  </a:rPr>
                  <a:t> </a:t>
                </a:r>
              </a:p>
            </p:txBody>
          </p:sp>
        </mc:Fallback>
      </mc:AlternateContent>
      <p:sp>
        <p:nvSpPr>
          <p:cNvPr id="46" name="Espace réservé du pied de page 45">
            <a:extLst>
              <a:ext uri="{FF2B5EF4-FFF2-40B4-BE49-F238E27FC236}">
                <a16:creationId xmlns:a16="http://schemas.microsoft.com/office/drawing/2014/main" id="{DF391D9B-A5B5-C0EE-ECE9-8ECB8FD90DFA}"/>
              </a:ext>
            </a:extLst>
          </p:cNvPr>
          <p:cNvSpPr>
            <a:spLocks noGrp="1"/>
          </p:cNvSpPr>
          <p:nvPr>
            <p:ph type="ftr" sz="quarter" idx="11"/>
          </p:nvPr>
        </p:nvSpPr>
        <p:spPr/>
        <p:txBody>
          <a:bodyPr/>
          <a:lstStyle/>
          <a:p>
            <a:r>
              <a:rPr lang="fr-FR"/>
              <a:t>Introduction to Neural Networks. Author: David Thébault</a:t>
            </a:r>
          </a:p>
        </p:txBody>
      </p:sp>
      <p:sp>
        <p:nvSpPr>
          <p:cNvPr id="50" name="ZoneTexte 49">
            <a:extLst>
              <a:ext uri="{FF2B5EF4-FFF2-40B4-BE49-F238E27FC236}">
                <a16:creationId xmlns:a16="http://schemas.microsoft.com/office/drawing/2014/main" id="{DB3B4E72-662F-4328-3311-6FB2783CB15D}"/>
              </a:ext>
            </a:extLst>
          </p:cNvPr>
          <p:cNvSpPr txBox="1"/>
          <p:nvPr/>
        </p:nvSpPr>
        <p:spPr>
          <a:xfrm>
            <a:off x="838200" y="1532877"/>
            <a:ext cx="6773333" cy="369332"/>
          </a:xfrm>
          <a:prstGeom prst="rect">
            <a:avLst/>
          </a:prstGeom>
          <a:noFill/>
        </p:spPr>
        <p:txBody>
          <a:bodyPr wrap="square" rtlCol="0">
            <a:spAutoFit/>
          </a:bodyPr>
          <a:lstStyle/>
          <a:p>
            <a:r>
              <a:rPr lang="en-GB" b="1" dirty="0"/>
              <a:t>How do we find the optimal w and b that minimize the loss ?</a:t>
            </a:r>
          </a:p>
        </p:txBody>
      </p:sp>
      <p:sp>
        <p:nvSpPr>
          <p:cNvPr id="33" name="ZoneTexte 32">
            <a:extLst>
              <a:ext uri="{FF2B5EF4-FFF2-40B4-BE49-F238E27FC236}">
                <a16:creationId xmlns:a16="http://schemas.microsoft.com/office/drawing/2014/main" id="{B94EC791-0B47-819E-AFA2-5F686FCA8C5E}"/>
              </a:ext>
            </a:extLst>
          </p:cNvPr>
          <p:cNvSpPr txBox="1"/>
          <p:nvPr/>
        </p:nvSpPr>
        <p:spPr>
          <a:xfrm>
            <a:off x="1024877" y="1837125"/>
            <a:ext cx="10709849" cy="461665"/>
          </a:xfrm>
          <a:prstGeom prst="rect">
            <a:avLst/>
          </a:prstGeom>
          <a:noFill/>
        </p:spPr>
        <p:txBody>
          <a:bodyPr wrap="square" rtlCol="0">
            <a:spAutoFit/>
          </a:bodyPr>
          <a:lstStyle/>
          <a:p>
            <a:r>
              <a:rPr lang="en-GB" sz="2400" b="1" noProof="0" dirty="0"/>
              <a:t>In the case of NN the Gradient is computed thanks to the Chain rule </a:t>
            </a:r>
          </a:p>
        </p:txBody>
      </p:sp>
      <mc:AlternateContent xmlns:mc="http://schemas.openxmlformats.org/markup-compatibility/2006" xmlns:a14="http://schemas.microsoft.com/office/drawing/2010/main">
        <mc:Choice Requires="a14">
          <p:sp>
            <p:nvSpPr>
              <p:cNvPr id="34" name="ZoneTexte 33">
                <a:extLst>
                  <a:ext uri="{FF2B5EF4-FFF2-40B4-BE49-F238E27FC236}">
                    <a16:creationId xmlns:a16="http://schemas.microsoft.com/office/drawing/2014/main" id="{B0CA104D-8804-B0EA-E745-919686A5F9BB}"/>
                  </a:ext>
                </a:extLst>
              </p:cNvPr>
              <p:cNvSpPr txBox="1"/>
              <p:nvPr/>
            </p:nvSpPr>
            <p:spPr>
              <a:xfrm>
                <a:off x="5849106" y="3766036"/>
                <a:ext cx="935421" cy="6190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i="1" smtClean="0">
                          <a:solidFill>
                            <a:srgbClr val="FF0002"/>
                          </a:solidFill>
                          <a:latin typeface="Cambria Math" panose="02040503050406030204" pitchFamily="18" charset="0"/>
                          <a:ea typeface="Cambria Math" panose="02040503050406030204" pitchFamily="18" charset="0"/>
                        </a:rPr>
                        <m:t>×</m:t>
                      </m:r>
                      <m:f>
                        <m:fPr>
                          <m:ctrlPr>
                            <a:rPr lang="fr-FR" i="1" smtClean="0">
                              <a:solidFill>
                                <a:srgbClr val="FF0002"/>
                              </a:solidFill>
                              <a:latin typeface="Cambria Math" panose="02040503050406030204" pitchFamily="18" charset="0"/>
                            </a:rPr>
                          </m:ctrlPr>
                        </m:fPr>
                        <m:num>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𝐿𝑜𝑠𝑠</m:t>
                          </m:r>
                        </m:num>
                        <m:den>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𝑜𝑢𝑡</m:t>
                          </m:r>
                        </m:den>
                      </m:f>
                    </m:oMath>
                  </m:oMathPara>
                </a14:m>
                <a:endParaRPr lang="fr-FR" dirty="0">
                  <a:solidFill>
                    <a:srgbClr val="FF0002"/>
                  </a:solidFill>
                </a:endParaRPr>
              </a:p>
            </p:txBody>
          </p:sp>
        </mc:Choice>
        <mc:Fallback xmlns="">
          <p:sp>
            <p:nvSpPr>
              <p:cNvPr id="34" name="ZoneTexte 33">
                <a:extLst>
                  <a:ext uri="{FF2B5EF4-FFF2-40B4-BE49-F238E27FC236}">
                    <a16:creationId xmlns:a16="http://schemas.microsoft.com/office/drawing/2014/main" id="{B0CA104D-8804-B0EA-E745-919686A5F9BB}"/>
                  </a:ext>
                </a:extLst>
              </p:cNvPr>
              <p:cNvSpPr txBox="1">
                <a:spLocks noRot="1" noChangeAspect="1" noMove="1" noResize="1" noEditPoints="1" noAdjustHandles="1" noChangeArrowheads="1" noChangeShapeType="1" noTextEdit="1"/>
              </p:cNvSpPr>
              <p:nvPr/>
            </p:nvSpPr>
            <p:spPr>
              <a:xfrm>
                <a:off x="5849106" y="3766036"/>
                <a:ext cx="935421" cy="619016"/>
              </a:xfrm>
              <a:prstGeom prst="rect">
                <a:avLst/>
              </a:prstGeom>
              <a:blipFill>
                <a:blip r:embed="rId4"/>
                <a:stretch>
                  <a:fillRect r="-1333" b="-40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5" name="ZoneTexte 34">
                <a:extLst>
                  <a:ext uri="{FF2B5EF4-FFF2-40B4-BE49-F238E27FC236}">
                    <a16:creationId xmlns:a16="http://schemas.microsoft.com/office/drawing/2014/main" id="{1AE65946-B3E1-6C8F-9614-70F3BD2BF20B}"/>
                  </a:ext>
                </a:extLst>
              </p:cNvPr>
              <p:cNvSpPr txBox="1"/>
              <p:nvPr/>
            </p:nvSpPr>
            <p:spPr>
              <a:xfrm>
                <a:off x="5052522" y="3804428"/>
                <a:ext cx="826060" cy="6190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i="1">
                          <a:solidFill>
                            <a:srgbClr val="FF0002"/>
                          </a:solidFill>
                          <a:latin typeface="Cambria Math" panose="02040503050406030204" pitchFamily="18" charset="0"/>
                          <a:ea typeface="Cambria Math" panose="02040503050406030204" pitchFamily="18" charset="0"/>
                        </a:rPr>
                        <m:t>×</m:t>
                      </m:r>
                      <m:f>
                        <m:fPr>
                          <m:ctrlPr>
                            <a:rPr lang="fr-FR" i="1" smtClean="0">
                              <a:solidFill>
                                <a:srgbClr val="FF0002"/>
                              </a:solidFill>
                              <a:latin typeface="Cambria Math" panose="02040503050406030204" pitchFamily="18" charset="0"/>
                            </a:rPr>
                          </m:ctrlPr>
                        </m:fPr>
                        <m:num>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𝑜𝑢𝑡</m:t>
                          </m:r>
                        </m:num>
                        <m:den>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𝑛𝑒𝑡</m:t>
                          </m:r>
                        </m:den>
                      </m:f>
                    </m:oMath>
                  </m:oMathPara>
                </a14:m>
                <a:endParaRPr lang="fr-FR" dirty="0">
                  <a:solidFill>
                    <a:srgbClr val="FF0002"/>
                  </a:solidFill>
                </a:endParaRPr>
              </a:p>
            </p:txBody>
          </p:sp>
        </mc:Choice>
        <mc:Fallback xmlns="">
          <p:sp>
            <p:nvSpPr>
              <p:cNvPr id="35" name="ZoneTexte 34">
                <a:extLst>
                  <a:ext uri="{FF2B5EF4-FFF2-40B4-BE49-F238E27FC236}">
                    <a16:creationId xmlns:a16="http://schemas.microsoft.com/office/drawing/2014/main" id="{1AE65946-B3E1-6C8F-9614-70F3BD2BF20B}"/>
                  </a:ext>
                </a:extLst>
              </p:cNvPr>
              <p:cNvSpPr txBox="1">
                <a:spLocks noRot="1" noChangeAspect="1" noMove="1" noResize="1" noEditPoints="1" noAdjustHandles="1" noChangeArrowheads="1" noChangeShapeType="1" noTextEdit="1"/>
              </p:cNvSpPr>
              <p:nvPr/>
            </p:nvSpPr>
            <p:spPr>
              <a:xfrm>
                <a:off x="5052522" y="3804428"/>
                <a:ext cx="826060" cy="619016"/>
              </a:xfrm>
              <a:prstGeom prst="rect">
                <a:avLst/>
              </a:prstGeom>
              <a:blipFill>
                <a:blip r:embed="rId5"/>
                <a:stretch>
                  <a:fillRect r="-1515" b="-40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7" name="ZoneTexte 36">
                <a:extLst>
                  <a:ext uri="{FF2B5EF4-FFF2-40B4-BE49-F238E27FC236}">
                    <a16:creationId xmlns:a16="http://schemas.microsoft.com/office/drawing/2014/main" id="{57DA3CE0-5713-59C6-D762-60E822A93899}"/>
                  </a:ext>
                </a:extLst>
              </p:cNvPr>
              <p:cNvSpPr txBox="1"/>
              <p:nvPr/>
            </p:nvSpPr>
            <p:spPr>
              <a:xfrm>
                <a:off x="4442982" y="3802058"/>
                <a:ext cx="734728" cy="61908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fr-FR" i="1" smtClean="0">
                              <a:solidFill>
                                <a:srgbClr val="FF0002"/>
                              </a:solidFill>
                              <a:latin typeface="Cambria Math" panose="02040503050406030204" pitchFamily="18" charset="0"/>
                            </a:rPr>
                          </m:ctrlPr>
                        </m:fPr>
                        <m:num>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𝑛𝑒𝑡</m:t>
                          </m:r>
                        </m:num>
                        <m:den>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𝑤</m:t>
                          </m:r>
                        </m:den>
                      </m:f>
                      <m:r>
                        <a:rPr lang="fr-FR" b="0" i="1" smtClean="0">
                          <a:solidFill>
                            <a:srgbClr val="FF0002"/>
                          </a:solidFill>
                          <a:latin typeface="Cambria Math" panose="02040503050406030204" pitchFamily="18" charset="0"/>
                        </a:rPr>
                        <m:t> </m:t>
                      </m:r>
                    </m:oMath>
                  </m:oMathPara>
                </a14:m>
                <a:endParaRPr lang="fr-FR" dirty="0">
                  <a:solidFill>
                    <a:srgbClr val="FF0002"/>
                  </a:solidFill>
                </a:endParaRPr>
              </a:p>
            </p:txBody>
          </p:sp>
        </mc:Choice>
        <mc:Fallback xmlns="">
          <p:sp>
            <p:nvSpPr>
              <p:cNvPr id="37" name="ZoneTexte 36">
                <a:extLst>
                  <a:ext uri="{FF2B5EF4-FFF2-40B4-BE49-F238E27FC236}">
                    <a16:creationId xmlns:a16="http://schemas.microsoft.com/office/drawing/2014/main" id="{57DA3CE0-5713-59C6-D762-60E822A93899}"/>
                  </a:ext>
                </a:extLst>
              </p:cNvPr>
              <p:cNvSpPr txBox="1">
                <a:spLocks noRot="1" noChangeAspect="1" noMove="1" noResize="1" noEditPoints="1" noAdjustHandles="1" noChangeArrowheads="1" noChangeShapeType="1" noTextEdit="1"/>
              </p:cNvSpPr>
              <p:nvPr/>
            </p:nvSpPr>
            <p:spPr>
              <a:xfrm>
                <a:off x="4442982" y="3802058"/>
                <a:ext cx="734728" cy="619080"/>
              </a:xfrm>
              <a:prstGeom prst="rect">
                <a:avLst/>
              </a:prstGeom>
              <a:blipFill>
                <a:blip r:embed="rId6"/>
                <a:stretch>
                  <a:fillRect r="-1695" b="-6122"/>
                </a:stretch>
              </a:blipFill>
            </p:spPr>
            <p:txBody>
              <a:bodyPr/>
              <a:lstStyle/>
              <a:p>
                <a:r>
                  <a:rPr lang="fr-FR">
                    <a:noFill/>
                  </a:rPr>
                  <a:t> </a:t>
                </a:r>
              </a:p>
            </p:txBody>
          </p:sp>
        </mc:Fallback>
      </mc:AlternateContent>
      <p:cxnSp>
        <p:nvCxnSpPr>
          <p:cNvPr id="38" name="Connecteur en arc 37">
            <a:extLst>
              <a:ext uri="{FF2B5EF4-FFF2-40B4-BE49-F238E27FC236}">
                <a16:creationId xmlns:a16="http://schemas.microsoft.com/office/drawing/2014/main" id="{B00BB34E-708D-7B36-CC29-968CF05E3F22}"/>
              </a:ext>
            </a:extLst>
          </p:cNvPr>
          <p:cNvCxnSpPr>
            <a:cxnSpLocks/>
          </p:cNvCxnSpPr>
          <p:nvPr/>
        </p:nvCxnSpPr>
        <p:spPr>
          <a:xfrm rot="5400000">
            <a:off x="6378290" y="3233121"/>
            <a:ext cx="3025" cy="465667"/>
          </a:xfrm>
          <a:prstGeom prst="curvedConnector3">
            <a:avLst>
              <a:gd name="adj1" fmla="val 7657025"/>
            </a:avLst>
          </a:prstGeom>
          <a:ln w="50800">
            <a:solidFill>
              <a:srgbClr val="FF0002">
                <a:alpha val="50000"/>
              </a:srgbClr>
            </a:solidFill>
            <a:tailEnd type="triangle"/>
          </a:ln>
        </p:spPr>
        <p:style>
          <a:lnRef idx="2">
            <a:schemeClr val="accent1"/>
          </a:lnRef>
          <a:fillRef idx="0">
            <a:schemeClr val="accent1"/>
          </a:fillRef>
          <a:effectRef idx="1">
            <a:schemeClr val="accent1"/>
          </a:effectRef>
          <a:fontRef idx="minor">
            <a:schemeClr val="tx1"/>
          </a:fontRef>
        </p:style>
      </p:cxnSp>
      <p:cxnSp>
        <p:nvCxnSpPr>
          <p:cNvPr id="39" name="Connecteur en arc 38">
            <a:extLst>
              <a:ext uri="{FF2B5EF4-FFF2-40B4-BE49-F238E27FC236}">
                <a16:creationId xmlns:a16="http://schemas.microsoft.com/office/drawing/2014/main" id="{40804CBF-19F5-BA76-7B83-ACF78485F4AB}"/>
              </a:ext>
            </a:extLst>
          </p:cNvPr>
          <p:cNvCxnSpPr>
            <a:cxnSpLocks/>
          </p:cNvCxnSpPr>
          <p:nvPr/>
        </p:nvCxnSpPr>
        <p:spPr>
          <a:xfrm rot="5400000">
            <a:off x="5551411" y="3208407"/>
            <a:ext cx="3025" cy="465667"/>
          </a:xfrm>
          <a:prstGeom prst="curvedConnector3">
            <a:avLst>
              <a:gd name="adj1" fmla="val 7657025"/>
            </a:avLst>
          </a:prstGeom>
          <a:ln w="50800">
            <a:solidFill>
              <a:srgbClr val="FF0002">
                <a:alpha val="50000"/>
              </a:srgbClr>
            </a:solidFill>
            <a:tailEnd type="triangle"/>
          </a:ln>
        </p:spPr>
        <p:style>
          <a:lnRef idx="2">
            <a:schemeClr val="accent1"/>
          </a:lnRef>
          <a:fillRef idx="0">
            <a:schemeClr val="accent1"/>
          </a:fillRef>
          <a:effectRef idx="1">
            <a:schemeClr val="accent1"/>
          </a:effectRef>
          <a:fontRef idx="minor">
            <a:schemeClr val="tx1"/>
          </a:fontRef>
        </p:style>
      </p:cxnSp>
      <p:cxnSp>
        <p:nvCxnSpPr>
          <p:cNvPr id="40" name="Connecteur en arc 39">
            <a:extLst>
              <a:ext uri="{FF2B5EF4-FFF2-40B4-BE49-F238E27FC236}">
                <a16:creationId xmlns:a16="http://schemas.microsoft.com/office/drawing/2014/main" id="{EDAA21F4-011A-93D7-2307-3FA6A6CB1B1E}"/>
              </a:ext>
            </a:extLst>
          </p:cNvPr>
          <p:cNvCxnSpPr>
            <a:cxnSpLocks/>
          </p:cNvCxnSpPr>
          <p:nvPr/>
        </p:nvCxnSpPr>
        <p:spPr>
          <a:xfrm rot="5400000">
            <a:off x="4786721" y="3226600"/>
            <a:ext cx="3025" cy="465667"/>
          </a:xfrm>
          <a:prstGeom prst="curvedConnector3">
            <a:avLst>
              <a:gd name="adj1" fmla="val 7657025"/>
            </a:avLst>
          </a:prstGeom>
          <a:ln w="50800">
            <a:solidFill>
              <a:srgbClr val="FF0002">
                <a:alpha val="50000"/>
              </a:srgb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5" name="ZoneTexte 44">
                <a:extLst>
                  <a:ext uri="{FF2B5EF4-FFF2-40B4-BE49-F238E27FC236}">
                    <a16:creationId xmlns:a16="http://schemas.microsoft.com/office/drawing/2014/main" id="{E21F23B7-3FEB-A4C5-662F-BC11C0DE7C6F}"/>
                  </a:ext>
                </a:extLst>
              </p:cNvPr>
              <p:cNvSpPr txBox="1"/>
              <p:nvPr/>
            </p:nvSpPr>
            <p:spPr>
              <a:xfrm>
                <a:off x="6647340" y="3513655"/>
                <a:ext cx="2173951" cy="10287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3200" i="1" smtClean="0">
                          <a:solidFill>
                            <a:srgbClr val="FF0002"/>
                          </a:solidFill>
                          <a:latin typeface="Cambria Math" panose="02040503050406030204" pitchFamily="18" charset="0"/>
                          <a:ea typeface="Cambria Math" panose="02040503050406030204" pitchFamily="18" charset="0"/>
                        </a:rPr>
                        <m:t>=</m:t>
                      </m:r>
                      <m:f>
                        <m:fPr>
                          <m:ctrlPr>
                            <a:rPr lang="fr-FR" sz="3200" i="1" smtClean="0">
                              <a:solidFill>
                                <a:srgbClr val="FF0002"/>
                              </a:solidFill>
                              <a:latin typeface="Cambria Math" panose="02040503050406030204" pitchFamily="18" charset="0"/>
                            </a:rPr>
                          </m:ctrlPr>
                        </m:fPr>
                        <m:num>
                          <m:r>
                            <a:rPr lang="fr-FR" sz="3200" i="1" smtClean="0">
                              <a:solidFill>
                                <a:srgbClr val="FF0002"/>
                              </a:solidFill>
                              <a:latin typeface="Cambria Math" panose="02040503050406030204" pitchFamily="18" charset="0"/>
                            </a:rPr>
                            <m:t>𝜕</m:t>
                          </m:r>
                          <m:r>
                            <a:rPr lang="fr-FR" sz="3200" b="0" i="1" smtClean="0">
                              <a:solidFill>
                                <a:srgbClr val="FF0002"/>
                              </a:solidFill>
                              <a:latin typeface="Cambria Math" panose="02040503050406030204" pitchFamily="18" charset="0"/>
                            </a:rPr>
                            <m:t>𝐿𝑜𝑠𝑠</m:t>
                          </m:r>
                        </m:num>
                        <m:den>
                          <m:r>
                            <a:rPr lang="fr-FR" sz="3200" i="1" smtClean="0">
                              <a:solidFill>
                                <a:srgbClr val="FF0002"/>
                              </a:solidFill>
                              <a:latin typeface="Cambria Math" panose="02040503050406030204" pitchFamily="18" charset="0"/>
                            </a:rPr>
                            <m:t>𝜕</m:t>
                          </m:r>
                          <m:r>
                            <a:rPr lang="fr-FR" sz="3200" b="0" i="1" smtClean="0">
                              <a:solidFill>
                                <a:srgbClr val="FF0002"/>
                              </a:solidFill>
                              <a:latin typeface="Cambria Math" panose="02040503050406030204" pitchFamily="18" charset="0"/>
                            </a:rPr>
                            <m:t>𝑤</m:t>
                          </m:r>
                        </m:den>
                      </m:f>
                    </m:oMath>
                  </m:oMathPara>
                </a14:m>
                <a:endParaRPr lang="fr-FR" sz="3200" dirty="0">
                  <a:solidFill>
                    <a:srgbClr val="FF0002"/>
                  </a:solidFill>
                </a:endParaRPr>
              </a:p>
            </p:txBody>
          </p:sp>
        </mc:Choice>
        <mc:Fallback xmlns="">
          <p:sp>
            <p:nvSpPr>
              <p:cNvPr id="45" name="ZoneTexte 44">
                <a:extLst>
                  <a:ext uri="{FF2B5EF4-FFF2-40B4-BE49-F238E27FC236}">
                    <a16:creationId xmlns:a16="http://schemas.microsoft.com/office/drawing/2014/main" id="{E21F23B7-3FEB-A4C5-662F-BC11C0DE7C6F}"/>
                  </a:ext>
                </a:extLst>
              </p:cNvPr>
              <p:cNvSpPr txBox="1">
                <a:spLocks noRot="1" noChangeAspect="1" noMove="1" noResize="1" noEditPoints="1" noAdjustHandles="1" noChangeArrowheads="1" noChangeShapeType="1" noTextEdit="1"/>
              </p:cNvSpPr>
              <p:nvPr/>
            </p:nvSpPr>
            <p:spPr>
              <a:xfrm>
                <a:off x="6647340" y="3513655"/>
                <a:ext cx="2173951" cy="1028743"/>
              </a:xfrm>
              <a:prstGeom prst="rect">
                <a:avLst/>
              </a:prstGeom>
              <a:blipFill>
                <a:blip r:embed="rId7"/>
                <a:stretch>
                  <a:fillRect b="-8537"/>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98DF98AD-9877-6828-BEE5-4E8CB052C58A}"/>
                  </a:ext>
                </a:extLst>
              </p:cNvPr>
              <p:cNvSpPr txBox="1"/>
              <p:nvPr/>
            </p:nvSpPr>
            <p:spPr>
              <a:xfrm>
                <a:off x="3606260" y="4794779"/>
                <a:ext cx="5482321" cy="61908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fr-FR" i="1" smtClean="0">
                          <a:solidFill>
                            <a:schemeClr val="tx1"/>
                          </a:solidFill>
                          <a:latin typeface="Cambria Math" panose="02040503050406030204" pitchFamily="18" charset="0"/>
                        </a:rPr>
                        <m:t>X</m:t>
                      </m:r>
                      <m:r>
                        <a:rPr lang="fr-FR" b="0" i="1" smtClean="0">
                          <a:solidFill>
                            <a:schemeClr val="tx1"/>
                          </a:solidFill>
                          <a:latin typeface="Cambria Math" panose="02040503050406030204" pitchFamily="18" charset="0"/>
                        </a:rPr>
                        <m:t>  </m:t>
                      </m:r>
                      <m:r>
                        <a:rPr lang="fr-FR" i="1" smtClean="0">
                          <a:solidFill>
                            <a:schemeClr val="tx1"/>
                          </a:solidFill>
                          <a:latin typeface="Cambria Math" panose="02040503050406030204" pitchFamily="18" charset="0"/>
                          <a:ea typeface="Cambria Math" panose="02040503050406030204" pitchFamily="18" charset="0"/>
                        </a:rPr>
                        <m:t>×</m:t>
                      </m:r>
                      <m:r>
                        <a:rPr lang="fr-FR" b="0" i="0" smtClean="0">
                          <a:solidFill>
                            <a:schemeClr val="tx1"/>
                          </a:solidFill>
                          <a:latin typeface="Cambria Math" panose="02040503050406030204" pitchFamily="18" charset="0"/>
                          <a:ea typeface="Cambria Math" panose="02040503050406030204" pitchFamily="18" charset="0"/>
                        </a:rPr>
                        <m:t> </m:t>
                      </m:r>
                      <m:r>
                        <m:rPr>
                          <m:sty m:val="p"/>
                        </m:rPr>
                        <a:rPr lang="fr-FR" smtClean="0">
                          <a:solidFill>
                            <a:schemeClr val="tx1"/>
                          </a:solidFill>
                          <a:latin typeface="Cambria Math" panose="02040503050406030204" pitchFamily="18" charset="0"/>
                        </a:rPr>
                        <m:t>out</m:t>
                      </m:r>
                      <m:d>
                        <m:dPr>
                          <m:ctrlPr>
                            <a:rPr lang="fr-FR" i="1">
                              <a:solidFill>
                                <a:schemeClr val="tx1"/>
                              </a:solidFill>
                              <a:latin typeface="Cambria Math" panose="02040503050406030204" pitchFamily="18" charset="0"/>
                            </a:rPr>
                          </m:ctrlPr>
                        </m:dPr>
                        <m:e>
                          <m:r>
                            <a:rPr lang="fr-FR">
                              <a:solidFill>
                                <a:schemeClr val="tx1"/>
                              </a:solidFill>
                              <a:latin typeface="Cambria Math" panose="02040503050406030204" pitchFamily="18" charset="0"/>
                            </a:rPr>
                            <m:t>1 −</m:t>
                          </m:r>
                          <m:r>
                            <m:rPr>
                              <m:sty m:val="p"/>
                            </m:rPr>
                            <a:rPr lang="fr-FR">
                              <a:solidFill>
                                <a:schemeClr val="tx1"/>
                              </a:solidFill>
                              <a:latin typeface="Cambria Math" panose="02040503050406030204" pitchFamily="18" charset="0"/>
                            </a:rPr>
                            <m:t>out</m:t>
                          </m:r>
                        </m:e>
                      </m:d>
                      <m:r>
                        <a:rPr lang="fr-FR" b="0" i="0" smtClean="0">
                          <a:solidFill>
                            <a:schemeClr val="tx1"/>
                          </a:solidFill>
                          <a:latin typeface="Cambria Math" panose="02040503050406030204" pitchFamily="18" charset="0"/>
                        </a:rPr>
                        <m:t> </m:t>
                      </m:r>
                      <m:r>
                        <a:rPr lang="fr-FR" i="1" smtClean="0">
                          <a:solidFill>
                            <a:schemeClr val="tx1"/>
                          </a:solidFill>
                          <a:latin typeface="Cambria Math" panose="02040503050406030204" pitchFamily="18" charset="0"/>
                          <a:ea typeface="Cambria Math" panose="02040503050406030204" pitchFamily="18" charset="0"/>
                        </a:rPr>
                        <m:t>×</m:t>
                      </m:r>
                      <m:r>
                        <a:rPr lang="fr-FR" b="0" i="0" smtClean="0">
                          <a:solidFill>
                            <a:schemeClr val="tx1"/>
                          </a:solidFill>
                          <a:latin typeface="Cambria Math" panose="02040503050406030204" pitchFamily="18" charset="0"/>
                          <a:ea typeface="Cambria Math" panose="02040503050406030204" pitchFamily="18" charset="0"/>
                        </a:rPr>
                        <m:t> </m:t>
                      </m:r>
                      <m:d>
                        <m:dPr>
                          <m:ctrlPr>
                            <a:rPr lang="fr-FR" b="0" i="1" smtClean="0">
                              <a:solidFill>
                                <a:schemeClr val="tx1"/>
                              </a:solidFill>
                              <a:latin typeface="Cambria Math" panose="02040503050406030204" pitchFamily="18" charset="0"/>
                              <a:ea typeface="Cambria Math" panose="02040503050406030204" pitchFamily="18" charset="0"/>
                            </a:rPr>
                          </m:ctrlPr>
                        </m:dPr>
                        <m:e>
                          <m:r>
                            <a:rPr lang="fr-FR" b="0" i="0" smtClean="0">
                              <a:solidFill>
                                <a:schemeClr val="tx1"/>
                              </a:solidFill>
                              <a:latin typeface="Cambria Math" panose="02040503050406030204" pitchFamily="18" charset="0"/>
                              <a:ea typeface="Cambria Math" panose="02040503050406030204" pitchFamily="18" charset="0"/>
                            </a:rPr>
                            <m:t>−2</m:t>
                          </m:r>
                        </m:e>
                      </m:d>
                      <m:r>
                        <a:rPr lang="fr-FR" b="0" i="1" smtClean="0">
                          <a:solidFill>
                            <a:schemeClr val="tx1"/>
                          </a:solidFill>
                          <a:latin typeface="Cambria Math" panose="02040503050406030204" pitchFamily="18" charset="0"/>
                          <a:ea typeface="Cambria Math" panose="02040503050406030204" pitchFamily="18" charset="0"/>
                        </a:rPr>
                        <m:t>×</m:t>
                      </m:r>
                      <m:r>
                        <a:rPr lang="fr-FR" b="0" i="0" smtClean="0">
                          <a:solidFill>
                            <a:schemeClr val="tx1"/>
                          </a:solidFill>
                          <a:latin typeface="Cambria Math" panose="02040503050406030204" pitchFamily="18" charset="0"/>
                          <a:ea typeface="Cambria Math" panose="02040503050406030204" pitchFamily="18" charset="0"/>
                        </a:rPr>
                        <m:t>(</m:t>
                      </m:r>
                      <m:r>
                        <m:rPr>
                          <m:sty m:val="p"/>
                        </m:rPr>
                        <a:rPr lang="fr-FR" b="0" i="0" smtClean="0">
                          <a:solidFill>
                            <a:schemeClr val="tx1"/>
                          </a:solidFill>
                          <a:latin typeface="Cambria Math" panose="02040503050406030204" pitchFamily="18" charset="0"/>
                          <a:ea typeface="Cambria Math" panose="02040503050406030204" pitchFamily="18" charset="0"/>
                        </a:rPr>
                        <m:t>target</m:t>
                      </m:r>
                      <m:r>
                        <a:rPr lang="fr-FR" b="0" i="0" smtClean="0">
                          <a:solidFill>
                            <a:schemeClr val="tx1"/>
                          </a:solidFill>
                          <a:latin typeface="Cambria Math" panose="02040503050406030204" pitchFamily="18" charset="0"/>
                        </a:rPr>
                        <m:t> −</m:t>
                      </m:r>
                      <m:r>
                        <m:rPr>
                          <m:sty m:val="p"/>
                        </m:rPr>
                        <a:rPr lang="fr-FR" b="0" i="0" smtClean="0">
                          <a:solidFill>
                            <a:schemeClr val="tx1"/>
                          </a:solidFill>
                          <a:latin typeface="Cambria Math" panose="02040503050406030204" pitchFamily="18" charset="0"/>
                        </a:rPr>
                        <m:t>out</m:t>
                      </m:r>
                      <m:r>
                        <a:rPr lang="fr-FR" b="0" i="0" smtClean="0">
                          <a:solidFill>
                            <a:schemeClr val="tx1"/>
                          </a:solidFill>
                          <a:latin typeface="Cambria Math" panose="02040503050406030204" pitchFamily="18" charset="0"/>
                        </a:rPr>
                        <m:t>)= </m:t>
                      </m:r>
                      <m:f>
                        <m:fPr>
                          <m:ctrlPr>
                            <a:rPr lang="fr-FR" i="1">
                              <a:solidFill>
                                <a:schemeClr val="tx1"/>
                              </a:solidFill>
                              <a:latin typeface="Cambria Math" panose="02040503050406030204" pitchFamily="18" charset="0"/>
                            </a:rPr>
                          </m:ctrlPr>
                        </m:fPr>
                        <m:num>
                          <m:r>
                            <a:rPr lang="fr-FR" i="1">
                              <a:solidFill>
                                <a:schemeClr val="tx1"/>
                              </a:solidFill>
                              <a:latin typeface="Cambria Math" panose="02040503050406030204" pitchFamily="18" charset="0"/>
                            </a:rPr>
                            <m:t>𝜕</m:t>
                          </m:r>
                          <m:r>
                            <a:rPr lang="fr-FR" i="1">
                              <a:solidFill>
                                <a:schemeClr val="tx1"/>
                              </a:solidFill>
                              <a:latin typeface="Cambria Math" panose="02040503050406030204" pitchFamily="18" charset="0"/>
                            </a:rPr>
                            <m:t>𝐿𝑜𝑠𝑠</m:t>
                          </m:r>
                        </m:num>
                        <m:den>
                          <m:r>
                            <a:rPr lang="fr-FR" i="1">
                              <a:solidFill>
                                <a:schemeClr val="tx1"/>
                              </a:solidFill>
                              <a:latin typeface="Cambria Math" panose="02040503050406030204" pitchFamily="18" charset="0"/>
                            </a:rPr>
                            <m:t>𝜕</m:t>
                          </m:r>
                          <m:r>
                            <a:rPr lang="fr-FR" i="1">
                              <a:solidFill>
                                <a:schemeClr val="tx1"/>
                              </a:solidFill>
                              <a:latin typeface="Cambria Math" panose="02040503050406030204" pitchFamily="18" charset="0"/>
                            </a:rPr>
                            <m:t>𝑤</m:t>
                          </m:r>
                        </m:den>
                      </m:f>
                    </m:oMath>
                  </m:oMathPara>
                </a14:m>
                <a:endParaRPr lang="fr-FR" dirty="0">
                  <a:solidFill>
                    <a:schemeClr val="tx1"/>
                  </a:solidFill>
                </a:endParaRPr>
              </a:p>
            </p:txBody>
          </p:sp>
        </mc:Choice>
        <mc:Fallback xmlns="">
          <p:sp>
            <p:nvSpPr>
              <p:cNvPr id="10" name="ZoneTexte 9">
                <a:extLst>
                  <a:ext uri="{FF2B5EF4-FFF2-40B4-BE49-F238E27FC236}">
                    <a16:creationId xmlns:a16="http://schemas.microsoft.com/office/drawing/2014/main" id="{98DF98AD-9877-6828-BEE5-4E8CB052C58A}"/>
                  </a:ext>
                </a:extLst>
              </p:cNvPr>
              <p:cNvSpPr txBox="1">
                <a:spLocks noRot="1" noChangeAspect="1" noMove="1" noResize="1" noEditPoints="1" noAdjustHandles="1" noChangeArrowheads="1" noChangeShapeType="1" noTextEdit="1"/>
              </p:cNvSpPr>
              <p:nvPr/>
            </p:nvSpPr>
            <p:spPr>
              <a:xfrm>
                <a:off x="3606260" y="4794779"/>
                <a:ext cx="5482321" cy="619080"/>
              </a:xfrm>
              <a:prstGeom prst="rect">
                <a:avLst/>
              </a:prstGeom>
              <a:blipFill>
                <a:blip r:embed="rId8"/>
                <a:stretch>
                  <a:fillRect b="-6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D07B61CB-8A22-3112-AC75-222CEE5BD2CD}"/>
                  </a:ext>
                </a:extLst>
              </p:cNvPr>
              <p:cNvSpPr txBox="1"/>
              <p:nvPr/>
            </p:nvSpPr>
            <p:spPr>
              <a:xfrm>
                <a:off x="3535760" y="5586972"/>
                <a:ext cx="5722922" cy="61908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i="1" smtClean="0">
                          <a:latin typeface="Cambria Math" panose="02040503050406030204" pitchFamily="18" charset="0"/>
                        </a:rPr>
                        <m:t>1</m:t>
                      </m:r>
                      <m:r>
                        <a:rPr lang="fr-FR" b="0" i="1" smtClean="0">
                          <a:solidFill>
                            <a:schemeClr val="tx1"/>
                          </a:solidFill>
                          <a:latin typeface="Cambria Math" panose="02040503050406030204" pitchFamily="18" charset="0"/>
                        </a:rPr>
                        <m:t>  </m:t>
                      </m:r>
                      <m:r>
                        <a:rPr lang="fr-FR" i="1" smtClean="0">
                          <a:solidFill>
                            <a:schemeClr val="tx1"/>
                          </a:solidFill>
                          <a:latin typeface="Cambria Math" panose="02040503050406030204" pitchFamily="18" charset="0"/>
                          <a:ea typeface="Cambria Math" panose="02040503050406030204" pitchFamily="18" charset="0"/>
                        </a:rPr>
                        <m:t>×</m:t>
                      </m:r>
                      <m:r>
                        <a:rPr lang="fr-FR" b="0" i="0" smtClean="0">
                          <a:solidFill>
                            <a:schemeClr val="tx1"/>
                          </a:solidFill>
                          <a:latin typeface="Cambria Math" panose="02040503050406030204" pitchFamily="18" charset="0"/>
                          <a:ea typeface="Cambria Math" panose="02040503050406030204" pitchFamily="18" charset="0"/>
                        </a:rPr>
                        <m:t> </m:t>
                      </m:r>
                      <m:r>
                        <m:rPr>
                          <m:sty m:val="p"/>
                        </m:rPr>
                        <a:rPr lang="fr-FR" smtClean="0">
                          <a:solidFill>
                            <a:schemeClr val="tx1"/>
                          </a:solidFill>
                          <a:latin typeface="Cambria Math" panose="02040503050406030204" pitchFamily="18" charset="0"/>
                        </a:rPr>
                        <m:t>out</m:t>
                      </m:r>
                      <m:d>
                        <m:dPr>
                          <m:ctrlPr>
                            <a:rPr lang="fr-FR" i="1">
                              <a:solidFill>
                                <a:schemeClr val="tx1"/>
                              </a:solidFill>
                              <a:latin typeface="Cambria Math" panose="02040503050406030204" pitchFamily="18" charset="0"/>
                            </a:rPr>
                          </m:ctrlPr>
                        </m:dPr>
                        <m:e>
                          <m:r>
                            <a:rPr lang="fr-FR">
                              <a:solidFill>
                                <a:schemeClr val="tx1"/>
                              </a:solidFill>
                              <a:latin typeface="Cambria Math" panose="02040503050406030204" pitchFamily="18" charset="0"/>
                            </a:rPr>
                            <m:t>1 −</m:t>
                          </m:r>
                          <m:r>
                            <m:rPr>
                              <m:sty m:val="p"/>
                            </m:rPr>
                            <a:rPr lang="fr-FR">
                              <a:solidFill>
                                <a:schemeClr val="tx1"/>
                              </a:solidFill>
                              <a:latin typeface="Cambria Math" panose="02040503050406030204" pitchFamily="18" charset="0"/>
                            </a:rPr>
                            <m:t>out</m:t>
                          </m:r>
                        </m:e>
                      </m:d>
                      <m:r>
                        <a:rPr lang="fr-FR" b="0" i="0" smtClean="0">
                          <a:solidFill>
                            <a:schemeClr val="tx1"/>
                          </a:solidFill>
                          <a:latin typeface="Cambria Math" panose="02040503050406030204" pitchFamily="18" charset="0"/>
                        </a:rPr>
                        <m:t> </m:t>
                      </m:r>
                      <m:r>
                        <a:rPr lang="fr-FR" i="1" smtClean="0">
                          <a:solidFill>
                            <a:schemeClr val="tx1"/>
                          </a:solidFill>
                          <a:latin typeface="Cambria Math" panose="02040503050406030204" pitchFamily="18" charset="0"/>
                          <a:ea typeface="Cambria Math" panose="02040503050406030204" pitchFamily="18" charset="0"/>
                        </a:rPr>
                        <m:t>×</m:t>
                      </m:r>
                      <m:d>
                        <m:dPr>
                          <m:ctrlPr>
                            <a:rPr lang="fr-FR" i="1">
                              <a:latin typeface="Cambria Math" panose="02040503050406030204" pitchFamily="18" charset="0"/>
                              <a:ea typeface="Cambria Math" panose="02040503050406030204" pitchFamily="18" charset="0"/>
                            </a:rPr>
                          </m:ctrlPr>
                        </m:dPr>
                        <m:e>
                          <m:r>
                            <a:rPr lang="fr-FR">
                              <a:latin typeface="Cambria Math" panose="02040503050406030204" pitchFamily="18" charset="0"/>
                              <a:ea typeface="Cambria Math" panose="02040503050406030204" pitchFamily="18" charset="0"/>
                            </a:rPr>
                            <m:t>−2</m:t>
                          </m:r>
                        </m:e>
                      </m:d>
                      <m:r>
                        <a:rPr lang="fr-FR" i="1">
                          <a:latin typeface="Cambria Math" panose="02040503050406030204" pitchFamily="18" charset="0"/>
                          <a:ea typeface="Cambria Math" panose="02040503050406030204" pitchFamily="18" charset="0"/>
                        </a:rPr>
                        <m:t>×</m:t>
                      </m:r>
                      <m:r>
                        <a:rPr lang="fr-FR">
                          <a:latin typeface="Cambria Math" panose="02040503050406030204" pitchFamily="18" charset="0"/>
                          <a:ea typeface="Cambria Math" panose="02040503050406030204" pitchFamily="18" charset="0"/>
                        </a:rPr>
                        <m:t>(</m:t>
                      </m:r>
                      <m:r>
                        <m:rPr>
                          <m:sty m:val="p"/>
                        </m:rPr>
                        <a:rPr lang="fr-FR">
                          <a:latin typeface="Cambria Math" panose="02040503050406030204" pitchFamily="18" charset="0"/>
                          <a:ea typeface="Cambria Math" panose="02040503050406030204" pitchFamily="18" charset="0"/>
                        </a:rPr>
                        <m:t>target</m:t>
                      </m:r>
                      <m:r>
                        <a:rPr lang="fr-FR">
                          <a:latin typeface="Cambria Math" panose="02040503050406030204" pitchFamily="18" charset="0"/>
                        </a:rPr>
                        <m:t> −</m:t>
                      </m:r>
                      <m:r>
                        <m:rPr>
                          <m:sty m:val="p"/>
                        </m:rPr>
                        <a:rPr lang="fr-FR">
                          <a:latin typeface="Cambria Math" panose="02040503050406030204" pitchFamily="18" charset="0"/>
                        </a:rPr>
                        <m:t>out</m:t>
                      </m:r>
                      <m:r>
                        <a:rPr lang="fr-FR">
                          <a:latin typeface="Cambria Math" panose="02040503050406030204" pitchFamily="18" charset="0"/>
                        </a:rPr>
                        <m:t>)= </m:t>
                      </m:r>
                      <m:f>
                        <m:fPr>
                          <m:ctrlPr>
                            <a:rPr lang="fr-FR" i="1">
                              <a:solidFill>
                                <a:schemeClr val="tx1"/>
                              </a:solidFill>
                              <a:latin typeface="Cambria Math" panose="02040503050406030204" pitchFamily="18" charset="0"/>
                            </a:rPr>
                          </m:ctrlPr>
                        </m:fPr>
                        <m:num>
                          <m:r>
                            <a:rPr lang="fr-FR" i="1">
                              <a:solidFill>
                                <a:schemeClr val="tx1"/>
                              </a:solidFill>
                              <a:latin typeface="Cambria Math" panose="02040503050406030204" pitchFamily="18" charset="0"/>
                            </a:rPr>
                            <m:t>𝜕</m:t>
                          </m:r>
                          <m:r>
                            <a:rPr lang="fr-FR" i="1">
                              <a:solidFill>
                                <a:schemeClr val="tx1"/>
                              </a:solidFill>
                              <a:latin typeface="Cambria Math" panose="02040503050406030204" pitchFamily="18" charset="0"/>
                            </a:rPr>
                            <m:t>𝐿𝑜𝑠𝑠</m:t>
                          </m:r>
                        </m:num>
                        <m:den>
                          <m:r>
                            <a:rPr lang="fr-FR" i="1">
                              <a:solidFill>
                                <a:schemeClr val="tx1"/>
                              </a:solidFill>
                              <a:latin typeface="Cambria Math" panose="02040503050406030204" pitchFamily="18" charset="0"/>
                            </a:rPr>
                            <m:t>𝜕</m:t>
                          </m:r>
                          <m:r>
                            <m:rPr>
                              <m:sty m:val="p"/>
                            </m:rPr>
                            <a:rPr lang="fr-FR" b="0" i="0" smtClean="0">
                              <a:solidFill>
                                <a:schemeClr val="tx1"/>
                              </a:solidFill>
                              <a:latin typeface="Cambria Math" panose="02040503050406030204" pitchFamily="18" charset="0"/>
                            </a:rPr>
                            <m:t>b</m:t>
                          </m:r>
                        </m:den>
                      </m:f>
                    </m:oMath>
                  </m:oMathPara>
                </a14:m>
                <a:endParaRPr lang="fr-FR" dirty="0">
                  <a:solidFill>
                    <a:schemeClr val="tx1"/>
                  </a:solidFill>
                </a:endParaRPr>
              </a:p>
            </p:txBody>
          </p:sp>
        </mc:Choice>
        <mc:Fallback xmlns="">
          <p:sp>
            <p:nvSpPr>
              <p:cNvPr id="3" name="ZoneTexte 2">
                <a:extLst>
                  <a:ext uri="{FF2B5EF4-FFF2-40B4-BE49-F238E27FC236}">
                    <a16:creationId xmlns:a16="http://schemas.microsoft.com/office/drawing/2014/main" id="{D07B61CB-8A22-3112-AC75-222CEE5BD2CD}"/>
                  </a:ext>
                </a:extLst>
              </p:cNvPr>
              <p:cNvSpPr txBox="1">
                <a:spLocks noRot="1" noChangeAspect="1" noMove="1" noResize="1" noEditPoints="1" noAdjustHandles="1" noChangeArrowheads="1" noChangeShapeType="1" noTextEdit="1"/>
              </p:cNvSpPr>
              <p:nvPr/>
            </p:nvSpPr>
            <p:spPr>
              <a:xfrm>
                <a:off x="3535760" y="5586972"/>
                <a:ext cx="5722922" cy="619080"/>
              </a:xfrm>
              <a:prstGeom prst="rect">
                <a:avLst/>
              </a:prstGeom>
              <a:blipFill>
                <a:blip r:embed="rId9"/>
                <a:stretch>
                  <a:fillRect b="-6000"/>
                </a:stretch>
              </a:blipFill>
            </p:spPr>
            <p:txBody>
              <a:bodyPr/>
              <a:lstStyle/>
              <a:p>
                <a:r>
                  <a:rPr lang="en-GB">
                    <a:noFill/>
                  </a:rPr>
                  <a:t> </a:t>
                </a:r>
              </a:p>
            </p:txBody>
          </p:sp>
        </mc:Fallback>
      </mc:AlternateContent>
      <p:sp>
        <p:nvSpPr>
          <p:cNvPr id="9" name="Titre 1">
            <a:extLst>
              <a:ext uri="{FF2B5EF4-FFF2-40B4-BE49-F238E27FC236}">
                <a16:creationId xmlns:a16="http://schemas.microsoft.com/office/drawing/2014/main" id="{9541E1EE-9900-1450-9D9E-C3880B83E52E}"/>
              </a:ext>
            </a:extLst>
          </p:cNvPr>
          <p:cNvSpPr>
            <a:spLocks noGrp="1"/>
          </p:cNvSpPr>
          <p:nvPr>
            <p:ph type="title"/>
          </p:nvPr>
        </p:nvSpPr>
        <p:spPr>
          <a:xfrm>
            <a:off x="838200" y="300730"/>
            <a:ext cx="10515600" cy="1325563"/>
          </a:xfrm>
        </p:spPr>
        <p:txBody>
          <a:bodyPr/>
          <a:lstStyle/>
          <a:p>
            <a:r>
              <a:rPr lang="en-GB" noProof="0" dirty="0"/>
              <a:t>Perceptron </a:t>
            </a:r>
            <a:r>
              <a:rPr lang="en-GB" sz="2400" noProof="0" dirty="0"/>
              <a:t>with a single input</a:t>
            </a:r>
            <a:endParaRPr lang="en-GB" noProof="0" dirty="0"/>
          </a:p>
        </p:txBody>
      </p:sp>
    </p:spTree>
    <p:extLst>
      <p:ext uri="{BB962C8B-B14F-4D97-AF65-F5344CB8AC3E}">
        <p14:creationId xmlns:p14="http://schemas.microsoft.com/office/powerpoint/2010/main" val="36518384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39D0B-A159-ECBA-18EF-1F160C5A2E36}"/>
            </a:ext>
          </a:extLst>
        </p:cNvPr>
        <p:cNvGrpSpPr/>
        <p:nvPr/>
      </p:nvGrpSpPr>
      <p:grpSpPr>
        <a:xfrm>
          <a:off x="0" y="0"/>
          <a:ext cx="0" cy="0"/>
          <a:chOff x="0" y="0"/>
          <a:chExt cx="0" cy="0"/>
        </a:xfrm>
      </p:grpSpPr>
      <p:grpSp>
        <p:nvGrpSpPr>
          <p:cNvPr id="12" name="Groupe 11">
            <a:extLst>
              <a:ext uri="{FF2B5EF4-FFF2-40B4-BE49-F238E27FC236}">
                <a16:creationId xmlns:a16="http://schemas.microsoft.com/office/drawing/2014/main" id="{8E3B037B-0D58-8C18-DFCE-3E379732D394}"/>
              </a:ext>
            </a:extLst>
          </p:cNvPr>
          <p:cNvGrpSpPr/>
          <p:nvPr/>
        </p:nvGrpSpPr>
        <p:grpSpPr>
          <a:xfrm>
            <a:off x="4992412" y="2220312"/>
            <a:ext cx="1061545" cy="1061545"/>
            <a:chOff x="3563007" y="2367455"/>
            <a:chExt cx="1061545" cy="1061545"/>
          </a:xfrm>
        </p:grpSpPr>
        <p:sp>
          <p:nvSpPr>
            <p:cNvPr id="4" name="Ellipse 3">
              <a:extLst>
                <a:ext uri="{FF2B5EF4-FFF2-40B4-BE49-F238E27FC236}">
                  <a16:creationId xmlns:a16="http://schemas.microsoft.com/office/drawing/2014/main" id="{3A50EACD-E2DD-3A44-A80A-4D845C73C95D}"/>
                </a:ext>
              </a:extLst>
            </p:cNvPr>
            <p:cNvSpPr/>
            <p:nvPr/>
          </p:nvSpPr>
          <p:spPr>
            <a:xfrm>
              <a:off x="3563007" y="2367455"/>
              <a:ext cx="1061545" cy="106154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1400" dirty="0"/>
            </a:p>
          </p:txBody>
        </p:sp>
        <p:cxnSp>
          <p:nvCxnSpPr>
            <p:cNvPr id="8" name="Connecteur droit 7">
              <a:extLst>
                <a:ext uri="{FF2B5EF4-FFF2-40B4-BE49-F238E27FC236}">
                  <a16:creationId xmlns:a16="http://schemas.microsoft.com/office/drawing/2014/main" id="{29B7B210-DEF2-2843-7924-894FEB1905FA}"/>
                </a:ext>
              </a:extLst>
            </p:cNvPr>
            <p:cNvCxnSpPr>
              <a:stCxn id="4" idx="0"/>
              <a:endCxn id="4" idx="4"/>
            </p:cNvCxnSpPr>
            <p:nvPr/>
          </p:nvCxnSpPr>
          <p:spPr>
            <a:xfrm>
              <a:off x="4093780" y="2367455"/>
              <a:ext cx="0" cy="1061545"/>
            </a:xfrm>
            <a:prstGeom prst="line">
              <a:avLst/>
            </a:prstGeom>
          </p:spPr>
          <p:style>
            <a:lnRef idx="2">
              <a:schemeClr val="accent1"/>
            </a:lnRef>
            <a:fillRef idx="0">
              <a:schemeClr val="accent1"/>
            </a:fillRef>
            <a:effectRef idx="1">
              <a:schemeClr val="accent1"/>
            </a:effectRef>
            <a:fontRef idx="minor">
              <a:schemeClr val="tx1"/>
            </a:fontRef>
          </p:style>
        </p:cxnSp>
      </p:grpSp>
      <p:cxnSp>
        <p:nvCxnSpPr>
          <p:cNvPr id="17" name="Connecteur droit avec flèche 16">
            <a:extLst>
              <a:ext uri="{FF2B5EF4-FFF2-40B4-BE49-F238E27FC236}">
                <a16:creationId xmlns:a16="http://schemas.microsoft.com/office/drawing/2014/main" id="{D6FEC686-85B9-2FB5-2768-0647C0A6C274}"/>
              </a:ext>
            </a:extLst>
          </p:cNvPr>
          <p:cNvCxnSpPr>
            <a:cxnSpLocks/>
          </p:cNvCxnSpPr>
          <p:nvPr/>
        </p:nvCxnSpPr>
        <p:spPr>
          <a:xfrm>
            <a:off x="3992596" y="2817110"/>
            <a:ext cx="9354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ZoneTexte 20">
            <a:extLst>
              <a:ext uri="{FF2B5EF4-FFF2-40B4-BE49-F238E27FC236}">
                <a16:creationId xmlns:a16="http://schemas.microsoft.com/office/drawing/2014/main" id="{4A36B444-4FBB-3E70-B798-8341EB609C0E}"/>
              </a:ext>
            </a:extLst>
          </p:cNvPr>
          <p:cNvSpPr txBox="1"/>
          <p:nvPr/>
        </p:nvSpPr>
        <p:spPr>
          <a:xfrm>
            <a:off x="3382996" y="2533615"/>
            <a:ext cx="599090" cy="523220"/>
          </a:xfrm>
          <a:prstGeom prst="rect">
            <a:avLst/>
          </a:prstGeom>
          <a:noFill/>
        </p:spPr>
        <p:txBody>
          <a:bodyPr wrap="square" rtlCol="0">
            <a:spAutoFit/>
          </a:bodyPr>
          <a:lstStyle/>
          <a:p>
            <a:pPr algn="ctr"/>
            <a:r>
              <a:rPr lang="fr-FR" sz="2800" dirty="0"/>
              <a:t>x</a:t>
            </a:r>
            <a:endParaRPr lang="fr-FR" sz="2800" baseline="-25000" dirty="0"/>
          </a:p>
        </p:txBody>
      </p:sp>
      <p:sp>
        <p:nvSpPr>
          <p:cNvPr id="28" name="ZoneTexte 27">
            <a:extLst>
              <a:ext uri="{FF2B5EF4-FFF2-40B4-BE49-F238E27FC236}">
                <a16:creationId xmlns:a16="http://schemas.microsoft.com/office/drawing/2014/main" id="{60720C78-AC16-6690-DB3E-E33B463EE1E5}"/>
              </a:ext>
            </a:extLst>
          </p:cNvPr>
          <p:cNvSpPr txBox="1"/>
          <p:nvPr/>
        </p:nvSpPr>
        <p:spPr>
          <a:xfrm>
            <a:off x="4120034" y="2467393"/>
            <a:ext cx="599090"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w</a:t>
            </a:r>
          </a:p>
        </p:txBody>
      </p:sp>
      <p:cxnSp>
        <p:nvCxnSpPr>
          <p:cNvPr id="30" name="Connecteur droit avec flèche 29">
            <a:extLst>
              <a:ext uri="{FF2B5EF4-FFF2-40B4-BE49-F238E27FC236}">
                <a16:creationId xmlns:a16="http://schemas.microsoft.com/office/drawing/2014/main" id="{936CF56E-5BDE-BD91-B430-E17286340D0C}"/>
              </a:ext>
            </a:extLst>
          </p:cNvPr>
          <p:cNvCxnSpPr>
            <a:cxnSpLocks/>
          </p:cNvCxnSpPr>
          <p:nvPr/>
        </p:nvCxnSpPr>
        <p:spPr>
          <a:xfrm>
            <a:off x="6074977" y="2742628"/>
            <a:ext cx="9354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necteur droit avec flèche 31">
            <a:extLst>
              <a:ext uri="{FF2B5EF4-FFF2-40B4-BE49-F238E27FC236}">
                <a16:creationId xmlns:a16="http://schemas.microsoft.com/office/drawing/2014/main" id="{B49A3A82-2F2D-3CB1-C2A2-70B32768CD9C}"/>
              </a:ext>
            </a:extLst>
          </p:cNvPr>
          <p:cNvCxnSpPr>
            <a:cxnSpLocks/>
          </p:cNvCxnSpPr>
          <p:nvPr/>
        </p:nvCxnSpPr>
        <p:spPr>
          <a:xfrm flipV="1">
            <a:off x="4651482" y="3166246"/>
            <a:ext cx="493330" cy="5994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ZoneTexte 35">
            <a:extLst>
              <a:ext uri="{FF2B5EF4-FFF2-40B4-BE49-F238E27FC236}">
                <a16:creationId xmlns:a16="http://schemas.microsoft.com/office/drawing/2014/main" id="{B6879103-57A5-748E-0B18-00F62BA428DC}"/>
              </a:ext>
            </a:extLst>
          </p:cNvPr>
          <p:cNvSpPr txBox="1"/>
          <p:nvPr/>
        </p:nvSpPr>
        <p:spPr>
          <a:xfrm>
            <a:off x="4184429" y="3641845"/>
            <a:ext cx="599090"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b</a:t>
            </a:r>
          </a:p>
        </p:txBody>
      </p:sp>
      <p:sp>
        <p:nvSpPr>
          <p:cNvPr id="41" name="ZoneTexte 40">
            <a:extLst>
              <a:ext uri="{FF2B5EF4-FFF2-40B4-BE49-F238E27FC236}">
                <a16:creationId xmlns:a16="http://schemas.microsoft.com/office/drawing/2014/main" id="{03439691-F961-59FC-0AA6-D32D24724F79}"/>
              </a:ext>
            </a:extLst>
          </p:cNvPr>
          <p:cNvSpPr txBox="1"/>
          <p:nvPr/>
        </p:nvSpPr>
        <p:spPr>
          <a:xfrm>
            <a:off x="5034995" y="2635155"/>
            <a:ext cx="517929" cy="307777"/>
          </a:xfrm>
          <a:prstGeom prst="rect">
            <a:avLst/>
          </a:prstGeom>
          <a:noFill/>
        </p:spPr>
        <p:txBody>
          <a:bodyPr wrap="square" rtlCol="0">
            <a:spAutoFit/>
          </a:bodyPr>
          <a:lstStyle/>
          <a:p>
            <a:pPr algn="ctr"/>
            <a:r>
              <a:rPr lang="fr-FR" sz="1400" dirty="0"/>
              <a:t>net</a:t>
            </a:r>
          </a:p>
        </p:txBody>
      </p:sp>
      <p:sp>
        <p:nvSpPr>
          <p:cNvPr id="42" name="ZoneTexte 41">
            <a:extLst>
              <a:ext uri="{FF2B5EF4-FFF2-40B4-BE49-F238E27FC236}">
                <a16:creationId xmlns:a16="http://schemas.microsoft.com/office/drawing/2014/main" id="{1E1E8A50-B8B1-D6FE-B262-3BDE81AF0C4D}"/>
              </a:ext>
            </a:extLst>
          </p:cNvPr>
          <p:cNvSpPr txBox="1"/>
          <p:nvPr/>
        </p:nvSpPr>
        <p:spPr>
          <a:xfrm>
            <a:off x="5486866" y="2635155"/>
            <a:ext cx="517929" cy="307777"/>
          </a:xfrm>
          <a:prstGeom prst="rect">
            <a:avLst/>
          </a:prstGeom>
          <a:noFill/>
        </p:spPr>
        <p:txBody>
          <a:bodyPr wrap="square" rtlCol="0">
            <a:spAutoFit/>
          </a:bodyPr>
          <a:lstStyle/>
          <a:p>
            <a:pPr algn="ctr"/>
            <a:r>
              <a:rPr lang="fr-FR" sz="1400" dirty="0"/>
              <a:t>out</a:t>
            </a:r>
          </a:p>
        </p:txBody>
      </p:sp>
      <mc:AlternateContent xmlns:mc="http://schemas.openxmlformats.org/markup-compatibility/2006" xmlns:a14="http://schemas.microsoft.com/office/drawing/2010/main">
        <mc:Choice Requires="a14">
          <p:sp>
            <p:nvSpPr>
              <p:cNvPr id="44" name="ZoneTexte 43">
                <a:extLst>
                  <a:ext uri="{FF2B5EF4-FFF2-40B4-BE49-F238E27FC236}">
                    <a16:creationId xmlns:a16="http://schemas.microsoft.com/office/drawing/2014/main" id="{10736780-3F3B-75A8-D456-670611E6302F}"/>
                  </a:ext>
                </a:extLst>
              </p:cNvPr>
              <p:cNvSpPr txBox="1"/>
              <p:nvPr/>
            </p:nvSpPr>
            <p:spPr>
              <a:xfrm>
                <a:off x="7031418" y="2533615"/>
                <a:ext cx="2324249" cy="302840"/>
              </a:xfrm>
              <a:prstGeom prst="rect">
                <a:avLst/>
              </a:prstGeom>
              <a:noFill/>
              <a:ln>
                <a:solidFill>
                  <a:schemeClr val="tx1">
                    <a:lumMod val="50000"/>
                    <a:lumOff val="50000"/>
                  </a:schemeClr>
                </a:solidFill>
              </a:ln>
            </p:spPr>
            <p:txBody>
              <a:bodyPr wrap="square" rtlCol="0">
                <a:spAutoFit/>
              </a:bodyPr>
              <a:lstStyle/>
              <a:p>
                <a:pPr algn="ctr"/>
                <a14:m>
                  <m:oMath xmlns:m="http://schemas.openxmlformats.org/officeDocument/2006/math">
                    <m:r>
                      <a:rPr lang="fr-FR" sz="1400" b="0" i="1" noProof="0" smtClean="0">
                        <a:latin typeface="Cambria Math" panose="02040503050406030204" pitchFamily="18" charset="0"/>
                      </a:rPr>
                      <m:t>𝐿𝑜𝑠𝑠</m:t>
                    </m:r>
                    <m:r>
                      <a:rPr lang="fr-FR" sz="1400" b="0" i="1" noProof="0" smtClean="0">
                        <a:latin typeface="Cambria Math" panose="02040503050406030204" pitchFamily="18" charset="0"/>
                      </a:rPr>
                      <m:t>= (</m:t>
                    </m:r>
                    <m:r>
                      <m:rPr>
                        <m:sty m:val="p"/>
                      </m:rPr>
                      <a:rPr lang="fr-FR" sz="1400" b="0" i="0" noProof="0" smtClean="0">
                        <a:latin typeface="Cambria Math" panose="02040503050406030204" pitchFamily="18" charset="0"/>
                      </a:rPr>
                      <m:t>targ</m:t>
                    </m:r>
                    <m:r>
                      <a:rPr lang="fr-FR" sz="1400" b="0" i="1" noProof="0" smtClean="0">
                        <a:latin typeface="Cambria Math" panose="02040503050406030204" pitchFamily="18" charset="0"/>
                      </a:rPr>
                      <m:t>𝑒𝑡</m:t>
                    </m:r>
                    <m:r>
                      <a:rPr lang="fr-FR" sz="1400" b="0" i="1" noProof="0" smtClean="0">
                        <a:latin typeface="Cambria Math" panose="02040503050406030204" pitchFamily="18" charset="0"/>
                      </a:rPr>
                      <m:t>−</m:t>
                    </m:r>
                    <m:r>
                      <m:rPr>
                        <m:sty m:val="p"/>
                      </m:rPr>
                      <a:rPr lang="fr-FR" sz="1400" b="0" i="0" noProof="0" smtClean="0">
                        <a:latin typeface="Cambria Math" panose="02040503050406030204" pitchFamily="18" charset="0"/>
                      </a:rPr>
                      <m:t>out</m:t>
                    </m:r>
                    <m:r>
                      <a:rPr lang="fr-FR" sz="1400" b="0" i="1" noProof="0" smtClean="0">
                        <a:latin typeface="Cambria Math" panose="02040503050406030204" pitchFamily="18" charset="0"/>
                      </a:rPr>
                      <m:t>)</m:t>
                    </m:r>
                  </m:oMath>
                </a14:m>
                <a:r>
                  <a:rPr lang="en-GB" sz="1400" baseline="30000" noProof="0" dirty="0"/>
                  <a:t>2</a:t>
                </a:r>
              </a:p>
            </p:txBody>
          </p:sp>
        </mc:Choice>
        <mc:Fallback xmlns="">
          <p:sp>
            <p:nvSpPr>
              <p:cNvPr id="44" name="ZoneTexte 43">
                <a:extLst>
                  <a:ext uri="{FF2B5EF4-FFF2-40B4-BE49-F238E27FC236}">
                    <a16:creationId xmlns:a16="http://schemas.microsoft.com/office/drawing/2014/main" id="{10736780-3F3B-75A8-D456-670611E6302F}"/>
                  </a:ext>
                </a:extLst>
              </p:cNvPr>
              <p:cNvSpPr txBox="1">
                <a:spLocks noRot="1" noChangeAspect="1" noMove="1" noResize="1" noEditPoints="1" noAdjustHandles="1" noChangeArrowheads="1" noChangeShapeType="1" noTextEdit="1"/>
              </p:cNvSpPr>
              <p:nvPr/>
            </p:nvSpPr>
            <p:spPr>
              <a:xfrm>
                <a:off x="7031418" y="2533615"/>
                <a:ext cx="2324249" cy="302840"/>
              </a:xfrm>
              <a:prstGeom prst="rect">
                <a:avLst/>
              </a:prstGeom>
              <a:blipFill>
                <a:blip r:embed="rId2"/>
                <a:stretch>
                  <a:fillRect b="-12000"/>
                </a:stretch>
              </a:blipFill>
              <a:ln>
                <a:solidFill>
                  <a:schemeClr val="tx1">
                    <a:lumMod val="50000"/>
                    <a:lumOff val="50000"/>
                  </a:schemeClr>
                </a:solidFill>
              </a:ln>
            </p:spPr>
            <p:txBody>
              <a:bodyPr/>
              <a:lstStyle/>
              <a:p>
                <a:r>
                  <a:rPr lang="en-GB">
                    <a:noFill/>
                  </a:rPr>
                  <a:t> </a:t>
                </a:r>
              </a:p>
            </p:txBody>
          </p:sp>
        </mc:Fallback>
      </mc:AlternateContent>
      <p:sp>
        <p:nvSpPr>
          <p:cNvPr id="46" name="Espace réservé du pied de page 45">
            <a:extLst>
              <a:ext uri="{FF2B5EF4-FFF2-40B4-BE49-F238E27FC236}">
                <a16:creationId xmlns:a16="http://schemas.microsoft.com/office/drawing/2014/main" id="{B69576EE-FF17-B12A-6784-FA1DC1643D0A}"/>
              </a:ext>
            </a:extLst>
          </p:cNvPr>
          <p:cNvSpPr>
            <a:spLocks noGrp="1"/>
          </p:cNvSpPr>
          <p:nvPr>
            <p:ph type="ftr" sz="quarter" idx="11"/>
          </p:nvPr>
        </p:nvSpPr>
        <p:spPr/>
        <p:txBody>
          <a:bodyPr/>
          <a:lstStyle/>
          <a:p>
            <a:r>
              <a:rPr lang="fr-FR"/>
              <a:t>Introduction to Neural Networks. Author: David Thébault</a:t>
            </a:r>
          </a:p>
        </p:txBody>
      </p:sp>
      <p:sp>
        <p:nvSpPr>
          <p:cNvPr id="50" name="ZoneTexte 49">
            <a:extLst>
              <a:ext uri="{FF2B5EF4-FFF2-40B4-BE49-F238E27FC236}">
                <a16:creationId xmlns:a16="http://schemas.microsoft.com/office/drawing/2014/main" id="{28B8543F-E9F4-43E1-00B7-95458F3B82CD}"/>
              </a:ext>
            </a:extLst>
          </p:cNvPr>
          <p:cNvSpPr txBox="1"/>
          <p:nvPr/>
        </p:nvSpPr>
        <p:spPr>
          <a:xfrm>
            <a:off x="838200" y="1532877"/>
            <a:ext cx="6773333" cy="369332"/>
          </a:xfrm>
          <a:prstGeom prst="rect">
            <a:avLst/>
          </a:prstGeom>
          <a:noFill/>
        </p:spPr>
        <p:txBody>
          <a:bodyPr wrap="square" rtlCol="0">
            <a:spAutoFit/>
          </a:bodyPr>
          <a:lstStyle/>
          <a:p>
            <a:r>
              <a:rPr lang="en-GB" b="1" dirty="0"/>
              <a:t>Now we update W and b</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F62F9A56-D97D-6FFE-1A45-EDE8C587DFCF}"/>
                  </a:ext>
                </a:extLst>
              </p:cNvPr>
              <p:cNvSpPr txBox="1"/>
              <p:nvPr/>
            </p:nvSpPr>
            <p:spPr>
              <a:xfrm>
                <a:off x="3687255" y="4160623"/>
                <a:ext cx="3654701" cy="911596"/>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fr-FR" sz="2800" i="1" smtClean="0">
                          <a:solidFill>
                            <a:schemeClr val="tx1"/>
                          </a:solidFill>
                          <a:latin typeface="Cambria Math" panose="02040503050406030204" pitchFamily="18" charset="0"/>
                        </a:rPr>
                        <m:t>𝑤</m:t>
                      </m:r>
                      <m:r>
                        <a:rPr lang="fr-FR" sz="2800" b="0" i="1" smtClean="0">
                          <a:solidFill>
                            <a:schemeClr val="tx1"/>
                          </a:solidFill>
                          <a:latin typeface="Cambria Math" panose="02040503050406030204" pitchFamily="18" charset="0"/>
                        </a:rPr>
                        <m:t>≔</m:t>
                      </m:r>
                      <m:r>
                        <a:rPr lang="fr-FR" sz="2800" b="0" i="1" smtClean="0">
                          <a:solidFill>
                            <a:schemeClr val="tx1"/>
                          </a:solidFill>
                          <a:latin typeface="Cambria Math" panose="02040503050406030204" pitchFamily="18" charset="0"/>
                        </a:rPr>
                        <m:t>𝑤</m:t>
                      </m:r>
                      <m:r>
                        <a:rPr lang="fr-FR" sz="2800" b="0" i="1" smtClean="0">
                          <a:solidFill>
                            <a:schemeClr val="tx1"/>
                          </a:solidFill>
                          <a:latin typeface="Cambria Math" panose="02040503050406030204" pitchFamily="18" charset="0"/>
                        </a:rPr>
                        <m:t> −</m:t>
                      </m:r>
                      <m:r>
                        <a:rPr lang="fr-FR" sz="2800" b="0" i="1" smtClean="0">
                          <a:solidFill>
                            <a:schemeClr val="tx1"/>
                          </a:solidFill>
                          <a:latin typeface="Cambria Math" panose="02040503050406030204" pitchFamily="18" charset="0"/>
                        </a:rPr>
                        <m:t>𝛼</m:t>
                      </m:r>
                      <m:f>
                        <m:fPr>
                          <m:ctrlPr>
                            <a:rPr lang="fr-FR" sz="2800" i="1">
                              <a:solidFill>
                                <a:schemeClr val="tx1"/>
                              </a:solidFill>
                              <a:latin typeface="Cambria Math" panose="02040503050406030204" pitchFamily="18" charset="0"/>
                            </a:rPr>
                          </m:ctrlPr>
                        </m:fPr>
                        <m:num>
                          <m:r>
                            <a:rPr lang="fr-FR" sz="2800" i="1">
                              <a:solidFill>
                                <a:schemeClr val="tx1"/>
                              </a:solidFill>
                              <a:latin typeface="Cambria Math" panose="02040503050406030204" pitchFamily="18" charset="0"/>
                            </a:rPr>
                            <m:t>𝜕</m:t>
                          </m:r>
                          <m:r>
                            <a:rPr lang="fr-FR" sz="2800" i="1">
                              <a:solidFill>
                                <a:schemeClr val="tx1"/>
                              </a:solidFill>
                              <a:latin typeface="Cambria Math" panose="02040503050406030204" pitchFamily="18" charset="0"/>
                            </a:rPr>
                            <m:t>𝐿𝑜𝑠𝑠</m:t>
                          </m:r>
                        </m:num>
                        <m:den>
                          <m:r>
                            <a:rPr lang="fr-FR" sz="2800" i="1">
                              <a:solidFill>
                                <a:schemeClr val="tx1"/>
                              </a:solidFill>
                              <a:latin typeface="Cambria Math" panose="02040503050406030204" pitchFamily="18" charset="0"/>
                            </a:rPr>
                            <m:t>𝜕</m:t>
                          </m:r>
                          <m:r>
                            <a:rPr lang="fr-FR" sz="2800" i="1">
                              <a:solidFill>
                                <a:schemeClr val="tx1"/>
                              </a:solidFill>
                              <a:latin typeface="Cambria Math" panose="02040503050406030204" pitchFamily="18" charset="0"/>
                            </a:rPr>
                            <m:t>𝑤</m:t>
                          </m:r>
                        </m:den>
                      </m:f>
                    </m:oMath>
                  </m:oMathPara>
                </a14:m>
                <a:endParaRPr lang="fr-FR" sz="2800" dirty="0">
                  <a:solidFill>
                    <a:schemeClr val="tx1"/>
                  </a:solidFill>
                </a:endParaRPr>
              </a:p>
            </p:txBody>
          </p:sp>
        </mc:Choice>
        <mc:Fallback xmlns="">
          <p:sp>
            <p:nvSpPr>
              <p:cNvPr id="3" name="ZoneTexte 2">
                <a:extLst>
                  <a:ext uri="{FF2B5EF4-FFF2-40B4-BE49-F238E27FC236}">
                    <a16:creationId xmlns:a16="http://schemas.microsoft.com/office/drawing/2014/main" id="{F62F9A56-D97D-6FFE-1A45-EDE8C587DFCF}"/>
                  </a:ext>
                </a:extLst>
              </p:cNvPr>
              <p:cNvSpPr txBox="1">
                <a:spLocks noRot="1" noChangeAspect="1" noMove="1" noResize="1" noEditPoints="1" noAdjustHandles="1" noChangeArrowheads="1" noChangeShapeType="1" noTextEdit="1"/>
              </p:cNvSpPr>
              <p:nvPr/>
            </p:nvSpPr>
            <p:spPr>
              <a:xfrm>
                <a:off x="3687255" y="4160623"/>
                <a:ext cx="3654701" cy="911596"/>
              </a:xfrm>
              <a:prstGeom prst="rect">
                <a:avLst/>
              </a:prstGeom>
              <a:blipFill>
                <a:blip r:embed="rId4"/>
                <a:stretch>
                  <a:fillRect b="-6849"/>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B03FDBDA-144D-3BD7-741E-4DBFAD2F0ED1}"/>
                  </a:ext>
                </a:extLst>
              </p:cNvPr>
              <p:cNvSpPr txBox="1"/>
              <p:nvPr/>
            </p:nvSpPr>
            <p:spPr>
              <a:xfrm>
                <a:off x="3687256" y="5385432"/>
                <a:ext cx="3654714" cy="725776"/>
              </a:xfrm>
              <a:prstGeom prst="rect">
                <a:avLst/>
              </a:prstGeom>
              <a:noFill/>
            </p:spPr>
            <p:txBody>
              <a:bodyPr wrap="square" rtlCol="0">
                <a:spAutoFit/>
              </a:bodyPr>
              <a:lstStyle/>
              <a:p>
                <a:r>
                  <a:rPr lang="fr-FR" sz="2800" dirty="0"/>
                  <a:t>b </a:t>
                </a:r>
                <a14:m>
                  <m:oMath xmlns:m="http://schemas.openxmlformats.org/officeDocument/2006/math">
                    <m:r>
                      <a:rPr lang="fr-FR" sz="2800" b="0" i="1" smtClean="0">
                        <a:solidFill>
                          <a:schemeClr val="tx1"/>
                        </a:solidFill>
                        <a:latin typeface="Cambria Math" panose="02040503050406030204" pitchFamily="18" charset="0"/>
                      </a:rPr>
                      <m:t>≔</m:t>
                    </m:r>
                    <m:r>
                      <m:rPr>
                        <m:sty m:val="p"/>
                      </m:rPr>
                      <a:rPr lang="fr-FR" sz="2800" b="0" i="0" smtClean="0">
                        <a:solidFill>
                          <a:schemeClr val="tx1"/>
                        </a:solidFill>
                        <a:latin typeface="Cambria Math" panose="02040503050406030204" pitchFamily="18" charset="0"/>
                      </a:rPr>
                      <m:t>b</m:t>
                    </m:r>
                    <m:r>
                      <a:rPr lang="fr-FR" sz="2800" b="0" i="1" smtClean="0">
                        <a:solidFill>
                          <a:schemeClr val="tx1"/>
                        </a:solidFill>
                        <a:latin typeface="Cambria Math" panose="02040503050406030204" pitchFamily="18" charset="0"/>
                      </a:rPr>
                      <m:t> −</m:t>
                    </m:r>
                    <m:r>
                      <a:rPr lang="fr-FR" sz="2800" b="0" i="1" smtClean="0">
                        <a:solidFill>
                          <a:schemeClr val="tx1"/>
                        </a:solidFill>
                        <a:latin typeface="Cambria Math" panose="02040503050406030204" pitchFamily="18" charset="0"/>
                      </a:rPr>
                      <m:t>𝛼</m:t>
                    </m:r>
                    <m:f>
                      <m:fPr>
                        <m:ctrlPr>
                          <a:rPr lang="fr-FR" sz="2800" i="1">
                            <a:solidFill>
                              <a:schemeClr val="tx1"/>
                            </a:solidFill>
                            <a:latin typeface="Cambria Math" panose="02040503050406030204" pitchFamily="18" charset="0"/>
                          </a:rPr>
                        </m:ctrlPr>
                      </m:fPr>
                      <m:num>
                        <m:r>
                          <a:rPr lang="fr-FR" sz="2800" i="1">
                            <a:solidFill>
                              <a:schemeClr val="tx1"/>
                            </a:solidFill>
                            <a:latin typeface="Cambria Math" panose="02040503050406030204" pitchFamily="18" charset="0"/>
                          </a:rPr>
                          <m:t>𝜕</m:t>
                        </m:r>
                        <m:r>
                          <a:rPr lang="fr-FR" sz="2800" i="1">
                            <a:solidFill>
                              <a:schemeClr val="tx1"/>
                            </a:solidFill>
                            <a:latin typeface="Cambria Math" panose="02040503050406030204" pitchFamily="18" charset="0"/>
                          </a:rPr>
                          <m:t>𝐿𝑜𝑠𝑠</m:t>
                        </m:r>
                      </m:num>
                      <m:den>
                        <m:r>
                          <a:rPr lang="fr-FR" sz="2800" i="1">
                            <a:solidFill>
                              <a:schemeClr val="tx1"/>
                            </a:solidFill>
                            <a:latin typeface="Cambria Math" panose="02040503050406030204" pitchFamily="18" charset="0"/>
                          </a:rPr>
                          <m:t>𝜕</m:t>
                        </m:r>
                        <m:r>
                          <m:rPr>
                            <m:sty m:val="p"/>
                          </m:rPr>
                          <a:rPr lang="fr-FR" sz="2800" b="0" i="0" smtClean="0">
                            <a:solidFill>
                              <a:schemeClr val="tx1"/>
                            </a:solidFill>
                            <a:latin typeface="Cambria Math" panose="02040503050406030204" pitchFamily="18" charset="0"/>
                          </a:rPr>
                          <m:t>b</m:t>
                        </m:r>
                      </m:den>
                    </m:f>
                  </m:oMath>
                </a14:m>
                <a:endParaRPr lang="fr-FR" sz="2800" dirty="0">
                  <a:solidFill>
                    <a:schemeClr val="tx1"/>
                  </a:solidFill>
                </a:endParaRPr>
              </a:p>
            </p:txBody>
          </p:sp>
        </mc:Choice>
        <mc:Fallback xmlns="">
          <p:sp>
            <p:nvSpPr>
              <p:cNvPr id="6" name="ZoneTexte 5">
                <a:extLst>
                  <a:ext uri="{FF2B5EF4-FFF2-40B4-BE49-F238E27FC236}">
                    <a16:creationId xmlns:a16="http://schemas.microsoft.com/office/drawing/2014/main" id="{B03FDBDA-144D-3BD7-741E-4DBFAD2F0ED1}"/>
                  </a:ext>
                </a:extLst>
              </p:cNvPr>
              <p:cNvSpPr txBox="1">
                <a:spLocks noRot="1" noChangeAspect="1" noMove="1" noResize="1" noEditPoints="1" noAdjustHandles="1" noChangeArrowheads="1" noChangeShapeType="1" noTextEdit="1"/>
              </p:cNvSpPr>
              <p:nvPr/>
            </p:nvSpPr>
            <p:spPr>
              <a:xfrm>
                <a:off x="3687256" y="5385432"/>
                <a:ext cx="3654714" cy="725776"/>
              </a:xfrm>
              <a:prstGeom prst="rect">
                <a:avLst/>
              </a:prstGeom>
              <a:blipFill>
                <a:blip r:embed="rId5"/>
                <a:stretch>
                  <a:fillRect l="-3472" b="-12069"/>
                </a:stretch>
              </a:blipFill>
            </p:spPr>
            <p:txBody>
              <a:bodyPr/>
              <a:lstStyle/>
              <a:p>
                <a:r>
                  <a:rPr lang="fr-FR">
                    <a:noFill/>
                  </a:rPr>
                  <a:t> </a:t>
                </a:r>
              </a:p>
            </p:txBody>
          </p:sp>
        </mc:Fallback>
      </mc:AlternateContent>
      <p:sp>
        <p:nvSpPr>
          <p:cNvPr id="9" name="Parenthèse ouvrante 8">
            <a:extLst>
              <a:ext uri="{FF2B5EF4-FFF2-40B4-BE49-F238E27FC236}">
                <a16:creationId xmlns:a16="http://schemas.microsoft.com/office/drawing/2014/main" id="{E5087B77-740B-B023-04B9-A32533C09494}"/>
              </a:ext>
            </a:extLst>
          </p:cNvPr>
          <p:cNvSpPr/>
          <p:nvPr/>
        </p:nvSpPr>
        <p:spPr>
          <a:xfrm>
            <a:off x="3309873" y="4263655"/>
            <a:ext cx="317824" cy="1950585"/>
          </a:xfrm>
          <a:prstGeom prst="lef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 name="Titre 1">
            <a:extLst>
              <a:ext uri="{FF2B5EF4-FFF2-40B4-BE49-F238E27FC236}">
                <a16:creationId xmlns:a16="http://schemas.microsoft.com/office/drawing/2014/main" id="{543A2D39-F710-C5A8-AA73-69FC99038017}"/>
              </a:ext>
            </a:extLst>
          </p:cNvPr>
          <p:cNvSpPr>
            <a:spLocks noGrp="1"/>
          </p:cNvSpPr>
          <p:nvPr>
            <p:ph type="title"/>
          </p:nvPr>
        </p:nvSpPr>
        <p:spPr>
          <a:xfrm>
            <a:off x="838200" y="300730"/>
            <a:ext cx="10515600" cy="1325563"/>
          </a:xfrm>
        </p:spPr>
        <p:txBody>
          <a:bodyPr/>
          <a:lstStyle/>
          <a:p>
            <a:r>
              <a:rPr lang="en-GB" noProof="0" dirty="0"/>
              <a:t>Perceptron </a:t>
            </a:r>
            <a:r>
              <a:rPr lang="en-GB" sz="2400" noProof="0" dirty="0"/>
              <a:t>with a single input</a:t>
            </a:r>
            <a:endParaRPr lang="en-GB" noProof="0" dirty="0"/>
          </a:p>
        </p:txBody>
      </p:sp>
    </p:spTree>
    <p:extLst>
      <p:ext uri="{BB962C8B-B14F-4D97-AF65-F5344CB8AC3E}">
        <p14:creationId xmlns:p14="http://schemas.microsoft.com/office/powerpoint/2010/main" val="851135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0A3B3-6D71-D53B-F502-956CC4ED630C}"/>
            </a:ext>
          </a:extLst>
        </p:cNvPr>
        <p:cNvGrpSpPr/>
        <p:nvPr/>
      </p:nvGrpSpPr>
      <p:grpSpPr>
        <a:xfrm>
          <a:off x="0" y="0"/>
          <a:ext cx="0" cy="0"/>
          <a:chOff x="0" y="0"/>
          <a:chExt cx="0" cy="0"/>
        </a:xfrm>
      </p:grpSpPr>
      <p:grpSp>
        <p:nvGrpSpPr>
          <p:cNvPr id="12" name="Groupe 11">
            <a:extLst>
              <a:ext uri="{FF2B5EF4-FFF2-40B4-BE49-F238E27FC236}">
                <a16:creationId xmlns:a16="http://schemas.microsoft.com/office/drawing/2014/main" id="{9514827A-3223-9A96-C094-09616ADD8632}"/>
              </a:ext>
            </a:extLst>
          </p:cNvPr>
          <p:cNvGrpSpPr/>
          <p:nvPr/>
        </p:nvGrpSpPr>
        <p:grpSpPr>
          <a:xfrm>
            <a:off x="4992412" y="2220312"/>
            <a:ext cx="1061545" cy="1061545"/>
            <a:chOff x="3563007" y="2367455"/>
            <a:chExt cx="1061545" cy="1061545"/>
          </a:xfrm>
        </p:grpSpPr>
        <p:sp>
          <p:nvSpPr>
            <p:cNvPr id="4" name="Ellipse 3">
              <a:extLst>
                <a:ext uri="{FF2B5EF4-FFF2-40B4-BE49-F238E27FC236}">
                  <a16:creationId xmlns:a16="http://schemas.microsoft.com/office/drawing/2014/main" id="{05807561-2B58-1F22-B755-40B2DC36E475}"/>
                </a:ext>
              </a:extLst>
            </p:cNvPr>
            <p:cNvSpPr/>
            <p:nvPr/>
          </p:nvSpPr>
          <p:spPr>
            <a:xfrm>
              <a:off x="3563007" y="2367455"/>
              <a:ext cx="1061545" cy="106154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1400" dirty="0"/>
            </a:p>
          </p:txBody>
        </p:sp>
        <p:cxnSp>
          <p:nvCxnSpPr>
            <p:cNvPr id="8" name="Connecteur droit 7">
              <a:extLst>
                <a:ext uri="{FF2B5EF4-FFF2-40B4-BE49-F238E27FC236}">
                  <a16:creationId xmlns:a16="http://schemas.microsoft.com/office/drawing/2014/main" id="{FD4EB9F9-DDEE-6425-966D-B90970EB0E67}"/>
                </a:ext>
              </a:extLst>
            </p:cNvPr>
            <p:cNvCxnSpPr>
              <a:stCxn id="4" idx="0"/>
              <a:endCxn id="4" idx="4"/>
            </p:cNvCxnSpPr>
            <p:nvPr/>
          </p:nvCxnSpPr>
          <p:spPr>
            <a:xfrm>
              <a:off x="4093780" y="2367455"/>
              <a:ext cx="0" cy="1061545"/>
            </a:xfrm>
            <a:prstGeom prst="line">
              <a:avLst/>
            </a:prstGeom>
          </p:spPr>
          <p:style>
            <a:lnRef idx="2">
              <a:schemeClr val="accent1"/>
            </a:lnRef>
            <a:fillRef idx="0">
              <a:schemeClr val="accent1"/>
            </a:fillRef>
            <a:effectRef idx="1">
              <a:schemeClr val="accent1"/>
            </a:effectRef>
            <a:fontRef idx="minor">
              <a:schemeClr val="tx1"/>
            </a:fontRef>
          </p:style>
        </p:cxnSp>
      </p:grpSp>
      <p:cxnSp>
        <p:nvCxnSpPr>
          <p:cNvPr id="17" name="Connecteur droit avec flèche 16">
            <a:extLst>
              <a:ext uri="{FF2B5EF4-FFF2-40B4-BE49-F238E27FC236}">
                <a16:creationId xmlns:a16="http://schemas.microsoft.com/office/drawing/2014/main" id="{26A34BDB-AFD3-00C7-EEF1-A9FB802D84B0}"/>
              </a:ext>
            </a:extLst>
          </p:cNvPr>
          <p:cNvCxnSpPr>
            <a:cxnSpLocks/>
          </p:cNvCxnSpPr>
          <p:nvPr/>
        </p:nvCxnSpPr>
        <p:spPr>
          <a:xfrm>
            <a:off x="3992596" y="2817110"/>
            <a:ext cx="9354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ZoneTexte 20">
            <a:extLst>
              <a:ext uri="{FF2B5EF4-FFF2-40B4-BE49-F238E27FC236}">
                <a16:creationId xmlns:a16="http://schemas.microsoft.com/office/drawing/2014/main" id="{E781AAB4-766D-DD07-81AD-2C7ABF26F997}"/>
              </a:ext>
            </a:extLst>
          </p:cNvPr>
          <p:cNvSpPr txBox="1"/>
          <p:nvPr/>
        </p:nvSpPr>
        <p:spPr>
          <a:xfrm>
            <a:off x="3380368" y="2461481"/>
            <a:ext cx="599090" cy="523220"/>
          </a:xfrm>
          <a:prstGeom prst="rect">
            <a:avLst/>
          </a:prstGeom>
          <a:noFill/>
        </p:spPr>
        <p:txBody>
          <a:bodyPr wrap="square" rtlCol="0">
            <a:spAutoFit/>
          </a:bodyPr>
          <a:lstStyle/>
          <a:p>
            <a:pPr algn="ctr"/>
            <a:r>
              <a:rPr lang="fr-FR" sz="2800" dirty="0"/>
              <a:t>x</a:t>
            </a:r>
            <a:endParaRPr lang="fr-FR" sz="2800" baseline="-25000" dirty="0"/>
          </a:p>
        </p:txBody>
      </p:sp>
      <p:sp>
        <p:nvSpPr>
          <p:cNvPr id="28" name="ZoneTexte 27">
            <a:extLst>
              <a:ext uri="{FF2B5EF4-FFF2-40B4-BE49-F238E27FC236}">
                <a16:creationId xmlns:a16="http://schemas.microsoft.com/office/drawing/2014/main" id="{21ED482B-BFA4-F434-156C-F1E453CFF13A}"/>
              </a:ext>
            </a:extLst>
          </p:cNvPr>
          <p:cNvSpPr txBox="1"/>
          <p:nvPr/>
        </p:nvSpPr>
        <p:spPr>
          <a:xfrm>
            <a:off x="4120034" y="2467393"/>
            <a:ext cx="599090"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w</a:t>
            </a:r>
          </a:p>
        </p:txBody>
      </p:sp>
      <p:cxnSp>
        <p:nvCxnSpPr>
          <p:cNvPr id="30" name="Connecteur droit avec flèche 29">
            <a:extLst>
              <a:ext uri="{FF2B5EF4-FFF2-40B4-BE49-F238E27FC236}">
                <a16:creationId xmlns:a16="http://schemas.microsoft.com/office/drawing/2014/main" id="{4A43978B-BBCD-4F05-D57C-A999EA507135}"/>
              </a:ext>
            </a:extLst>
          </p:cNvPr>
          <p:cNvCxnSpPr>
            <a:cxnSpLocks/>
          </p:cNvCxnSpPr>
          <p:nvPr/>
        </p:nvCxnSpPr>
        <p:spPr>
          <a:xfrm>
            <a:off x="6074977" y="2742628"/>
            <a:ext cx="9354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necteur droit avec flèche 31">
            <a:extLst>
              <a:ext uri="{FF2B5EF4-FFF2-40B4-BE49-F238E27FC236}">
                <a16:creationId xmlns:a16="http://schemas.microsoft.com/office/drawing/2014/main" id="{BACF2E75-C48A-AA23-DC23-47C3FC47AF10}"/>
              </a:ext>
            </a:extLst>
          </p:cNvPr>
          <p:cNvCxnSpPr>
            <a:cxnSpLocks/>
          </p:cNvCxnSpPr>
          <p:nvPr/>
        </p:nvCxnSpPr>
        <p:spPr>
          <a:xfrm flipV="1">
            <a:off x="4651482" y="3166246"/>
            <a:ext cx="493330" cy="5994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ZoneTexte 35">
            <a:extLst>
              <a:ext uri="{FF2B5EF4-FFF2-40B4-BE49-F238E27FC236}">
                <a16:creationId xmlns:a16="http://schemas.microsoft.com/office/drawing/2014/main" id="{EACAF14E-D2CB-5122-C896-B2DD264923F8}"/>
              </a:ext>
            </a:extLst>
          </p:cNvPr>
          <p:cNvSpPr txBox="1"/>
          <p:nvPr/>
        </p:nvSpPr>
        <p:spPr>
          <a:xfrm>
            <a:off x="4184429" y="3641845"/>
            <a:ext cx="599090"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b</a:t>
            </a:r>
          </a:p>
        </p:txBody>
      </p:sp>
      <p:sp>
        <p:nvSpPr>
          <p:cNvPr id="41" name="ZoneTexte 40">
            <a:extLst>
              <a:ext uri="{FF2B5EF4-FFF2-40B4-BE49-F238E27FC236}">
                <a16:creationId xmlns:a16="http://schemas.microsoft.com/office/drawing/2014/main" id="{A90474F0-4632-47FD-31B5-8B9722A8DA75}"/>
              </a:ext>
            </a:extLst>
          </p:cNvPr>
          <p:cNvSpPr txBox="1"/>
          <p:nvPr/>
        </p:nvSpPr>
        <p:spPr>
          <a:xfrm>
            <a:off x="5034995" y="2635155"/>
            <a:ext cx="517929" cy="307777"/>
          </a:xfrm>
          <a:prstGeom prst="rect">
            <a:avLst/>
          </a:prstGeom>
          <a:noFill/>
        </p:spPr>
        <p:txBody>
          <a:bodyPr wrap="square" rtlCol="0">
            <a:spAutoFit/>
          </a:bodyPr>
          <a:lstStyle/>
          <a:p>
            <a:pPr algn="ctr"/>
            <a:r>
              <a:rPr lang="fr-FR" sz="1400" dirty="0"/>
              <a:t>net</a:t>
            </a:r>
          </a:p>
        </p:txBody>
      </p:sp>
      <p:sp>
        <p:nvSpPr>
          <p:cNvPr id="42" name="ZoneTexte 41">
            <a:extLst>
              <a:ext uri="{FF2B5EF4-FFF2-40B4-BE49-F238E27FC236}">
                <a16:creationId xmlns:a16="http://schemas.microsoft.com/office/drawing/2014/main" id="{09905CD5-FADA-3DFE-71F5-366A61ABCAE3}"/>
              </a:ext>
            </a:extLst>
          </p:cNvPr>
          <p:cNvSpPr txBox="1"/>
          <p:nvPr/>
        </p:nvSpPr>
        <p:spPr>
          <a:xfrm>
            <a:off x="5486866" y="2635155"/>
            <a:ext cx="517929" cy="307777"/>
          </a:xfrm>
          <a:prstGeom prst="rect">
            <a:avLst/>
          </a:prstGeom>
          <a:noFill/>
        </p:spPr>
        <p:txBody>
          <a:bodyPr wrap="square" rtlCol="0">
            <a:spAutoFit/>
          </a:bodyPr>
          <a:lstStyle/>
          <a:p>
            <a:pPr algn="ctr"/>
            <a:r>
              <a:rPr lang="fr-FR" sz="1400" dirty="0"/>
              <a:t>out</a:t>
            </a:r>
          </a:p>
        </p:txBody>
      </p:sp>
      <mc:AlternateContent xmlns:mc="http://schemas.openxmlformats.org/markup-compatibility/2006" xmlns:a14="http://schemas.microsoft.com/office/drawing/2010/main">
        <mc:Choice Requires="a14">
          <p:sp>
            <p:nvSpPr>
              <p:cNvPr id="43" name="ZoneTexte 42">
                <a:extLst>
                  <a:ext uri="{FF2B5EF4-FFF2-40B4-BE49-F238E27FC236}">
                    <a16:creationId xmlns:a16="http://schemas.microsoft.com/office/drawing/2014/main" id="{EC98DF6C-4815-E818-621B-A131681FED23}"/>
                  </a:ext>
                </a:extLst>
              </p:cNvPr>
              <p:cNvSpPr txBox="1"/>
              <p:nvPr/>
            </p:nvSpPr>
            <p:spPr>
              <a:xfrm>
                <a:off x="3249894" y="4640338"/>
                <a:ext cx="4242678" cy="738664"/>
              </a:xfrm>
              <a:prstGeom prst="rect">
                <a:avLst/>
              </a:prstGeom>
              <a:noFill/>
              <a:ln>
                <a:noFill/>
              </a:ln>
            </p:spPr>
            <p:txBody>
              <a:bodyPr wrap="square" lIns="0" tIns="0" rIns="0" bIns="0" rtlCol="0">
                <a:spAutoFit/>
              </a:bodyPr>
              <a:lstStyle/>
              <a:p>
                <a:pPr algn="ctr"/>
                <a:endParaRPr lang="fr-FR" sz="1600" dirty="0">
                  <a:latin typeface="Cambria Math" panose="02040503050406030204" pitchFamily="18" charset="0"/>
                </a:endParaRPr>
              </a:p>
              <a:p>
                <a:pPr algn="ctr"/>
                <a:r>
                  <a:rPr lang="fr-FR" sz="1600" dirty="0">
                    <a:latin typeface="Cambria Math" panose="02040503050406030204" pitchFamily="18" charset="0"/>
                  </a:rPr>
                  <a:t>  </a:t>
                </a:r>
                <a:r>
                  <a:rPr lang="fr-FR" sz="1600" b="1" dirty="0">
                    <a:latin typeface="Cambria Math" panose="02040503050406030204" pitchFamily="18" charset="0"/>
                  </a:rPr>
                  <a:t>net</a:t>
                </a:r>
                <a:r>
                  <a:rPr lang="fr-FR" sz="1600" b="0" i="1" dirty="0">
                    <a:latin typeface="Cambria Math" panose="02040503050406030204" pitchFamily="18" charset="0"/>
                  </a:rPr>
                  <a:t> = </a:t>
                </a:r>
                <a14:m>
                  <m:oMath xmlns:m="http://schemas.openxmlformats.org/officeDocument/2006/math">
                    <m:r>
                      <m:rPr>
                        <m:sty m:val="p"/>
                      </m:rPr>
                      <a:rPr lang="fr-FR" sz="1600" b="0" i="0" smtClean="0">
                        <a:latin typeface="Cambria Math" panose="02040503050406030204" pitchFamily="18" charset="0"/>
                        <a:ea typeface="Cambria Math" panose="02040503050406030204" pitchFamily="18" charset="0"/>
                      </a:rPr>
                      <m:t>X</m:t>
                    </m:r>
                    <m:r>
                      <a:rPr lang="fr-FR" sz="1600" b="0" i="0" smtClean="0">
                        <a:latin typeface="Cambria Math" panose="02040503050406030204" pitchFamily="18" charset="0"/>
                        <a:ea typeface="Cambria Math" panose="02040503050406030204" pitchFamily="18" charset="0"/>
                      </a:rPr>
                      <m:t> </m:t>
                    </m:r>
                    <m:r>
                      <a:rPr lang="fr-FR" sz="1600" b="0" i="1" smtClean="0">
                        <a:latin typeface="Cambria Math" panose="02040503050406030204" pitchFamily="18" charset="0"/>
                        <a:ea typeface="Cambria Math" panose="02040503050406030204" pitchFamily="18" charset="0"/>
                      </a:rPr>
                      <m:t>× </m:t>
                    </m:r>
                    <m:r>
                      <a:rPr lang="fr-FR" sz="1600" b="0" i="1" smtClean="0">
                        <a:latin typeface="Cambria Math" panose="02040503050406030204" pitchFamily="18" charset="0"/>
                        <a:ea typeface="Cambria Math" panose="02040503050406030204" pitchFamily="18" charset="0"/>
                      </a:rPr>
                      <m:t>𝑤</m:t>
                    </m:r>
                  </m:oMath>
                </a14:m>
                <a:r>
                  <a:rPr lang="fr-FR" sz="1600" i="1" dirty="0">
                    <a:latin typeface="Cambria Math" panose="02040503050406030204" pitchFamily="18" charset="0"/>
                  </a:rPr>
                  <a:t> </a:t>
                </a:r>
                <a:r>
                  <a:rPr lang="fr-FR" sz="1600" dirty="0">
                    <a:latin typeface="Cambria Math" panose="02040503050406030204" pitchFamily="18" charset="0"/>
                  </a:rPr>
                  <a:t>+ </a:t>
                </a:r>
                <a:r>
                  <a:rPr lang="fr-FR" sz="1600" b="0" dirty="0">
                    <a:latin typeface="Cambria Math" panose="02040503050406030204" pitchFamily="18" charset="0"/>
                  </a:rPr>
                  <a:t>b</a:t>
                </a:r>
                <a:r>
                  <a:rPr lang="fr-FR" sz="1600" dirty="0">
                    <a:latin typeface="Cambria Math" panose="02040503050406030204" pitchFamily="18" charset="0"/>
                  </a:rPr>
                  <a:t>     </a:t>
                </a:r>
                <a:r>
                  <a:rPr lang="fr-FR" sz="1600" b="1" dirty="0">
                    <a:latin typeface="Cambria Math" panose="02040503050406030204" pitchFamily="18" charset="0"/>
                  </a:rPr>
                  <a:t>out</a:t>
                </a:r>
                <a:r>
                  <a:rPr lang="fr-FR" sz="1600" dirty="0">
                    <a:latin typeface="Cambria Math" panose="02040503050406030204" pitchFamily="18" charset="0"/>
                  </a:rPr>
                  <a:t> </a:t>
                </a:r>
                <a14:m>
                  <m:oMath xmlns:m="http://schemas.openxmlformats.org/officeDocument/2006/math">
                    <m:r>
                      <a:rPr lang="fr-FR" sz="1600" b="0" i="1" smtClean="0">
                        <a:latin typeface="Cambria Math" panose="02040503050406030204" pitchFamily="18" charset="0"/>
                      </a:rPr>
                      <m:t>=</m:t>
                    </m:r>
                    <m:r>
                      <a:rPr lang="fr-FR" sz="1600" b="0" i="1" dirty="0" smtClean="0">
                        <a:latin typeface="Cambria Math" panose="02040503050406030204" pitchFamily="18" charset="0"/>
                        <a:ea typeface="Cambria Math" panose="02040503050406030204" pitchFamily="18" charset="0"/>
                      </a:rPr>
                      <m:t>𝜎</m:t>
                    </m:r>
                    <m:d>
                      <m:dPr>
                        <m:ctrlPr>
                          <a:rPr lang="fr-FR" sz="1600" b="0" i="1" smtClean="0">
                            <a:latin typeface="Cambria Math" panose="02040503050406030204" pitchFamily="18" charset="0"/>
                            <a:ea typeface="Cambria Math" panose="02040503050406030204" pitchFamily="18" charset="0"/>
                          </a:rPr>
                        </m:ctrlPr>
                      </m:dPr>
                      <m:e>
                        <m:r>
                          <m:rPr>
                            <m:sty m:val="p"/>
                          </m:rPr>
                          <a:rPr lang="fr-FR" sz="1600" b="0" i="0" smtClean="0">
                            <a:latin typeface="Cambria Math" panose="02040503050406030204" pitchFamily="18" charset="0"/>
                            <a:ea typeface="Cambria Math" panose="02040503050406030204" pitchFamily="18" charset="0"/>
                          </a:rPr>
                          <m:t>net</m:t>
                        </m:r>
                      </m:e>
                    </m:d>
                  </m:oMath>
                </a14:m>
                <a:r>
                  <a:rPr lang="fr-FR" sz="1600" b="0" dirty="0">
                    <a:latin typeface="Cambria Math" panose="02040503050406030204" pitchFamily="18" charset="0"/>
                    <a:ea typeface="Cambria Math" panose="02040503050406030204" pitchFamily="18" charset="0"/>
                  </a:rPr>
                  <a:t>           </a:t>
                </a:r>
              </a:p>
              <a:p>
                <a:pPr algn="ctr"/>
                <a:endParaRPr lang="fr-FR" sz="1600" dirty="0"/>
              </a:p>
            </p:txBody>
          </p:sp>
        </mc:Choice>
        <mc:Fallback xmlns="">
          <p:sp>
            <p:nvSpPr>
              <p:cNvPr id="43" name="ZoneTexte 42">
                <a:extLst>
                  <a:ext uri="{FF2B5EF4-FFF2-40B4-BE49-F238E27FC236}">
                    <a16:creationId xmlns:a16="http://schemas.microsoft.com/office/drawing/2014/main" id="{EC98DF6C-4815-E818-621B-A131681FED23}"/>
                  </a:ext>
                </a:extLst>
              </p:cNvPr>
              <p:cNvSpPr txBox="1">
                <a:spLocks noRot="1" noChangeAspect="1" noMove="1" noResize="1" noEditPoints="1" noAdjustHandles="1" noChangeArrowheads="1" noChangeShapeType="1" noTextEdit="1"/>
              </p:cNvSpPr>
              <p:nvPr/>
            </p:nvSpPr>
            <p:spPr>
              <a:xfrm>
                <a:off x="3249894" y="4640338"/>
                <a:ext cx="4242678" cy="738664"/>
              </a:xfrm>
              <a:prstGeom prst="rect">
                <a:avLst/>
              </a:prstGeom>
              <a:blipFill>
                <a:blip r:embed="rId2"/>
                <a:stretch>
                  <a:fillRect/>
                </a:stretch>
              </a:blipFill>
              <a:ln>
                <a:noFill/>
              </a:ln>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4" name="ZoneTexte 43">
                <a:extLst>
                  <a:ext uri="{FF2B5EF4-FFF2-40B4-BE49-F238E27FC236}">
                    <a16:creationId xmlns:a16="http://schemas.microsoft.com/office/drawing/2014/main" id="{43FEC52C-961B-8C1A-539D-30B9D28CFD93}"/>
                  </a:ext>
                </a:extLst>
              </p:cNvPr>
              <p:cNvSpPr txBox="1"/>
              <p:nvPr/>
            </p:nvSpPr>
            <p:spPr>
              <a:xfrm>
                <a:off x="7031418" y="2533615"/>
                <a:ext cx="2324249" cy="302840"/>
              </a:xfrm>
              <a:prstGeom prst="rect">
                <a:avLst/>
              </a:prstGeom>
              <a:noFill/>
              <a:ln>
                <a:solidFill>
                  <a:schemeClr val="tx1">
                    <a:lumMod val="50000"/>
                    <a:lumOff val="50000"/>
                  </a:schemeClr>
                </a:solidFill>
              </a:ln>
            </p:spPr>
            <p:txBody>
              <a:bodyPr wrap="square" rtlCol="0">
                <a:spAutoFit/>
              </a:bodyPr>
              <a:lstStyle/>
              <a:p>
                <a:pPr algn="ctr"/>
                <a14:m>
                  <m:oMath xmlns:m="http://schemas.openxmlformats.org/officeDocument/2006/math">
                    <m:r>
                      <a:rPr lang="fr-FR" sz="1400" b="0" i="1" noProof="0" smtClean="0">
                        <a:latin typeface="Cambria Math" panose="02040503050406030204" pitchFamily="18" charset="0"/>
                      </a:rPr>
                      <m:t>𝐿𝑜𝑠𝑠</m:t>
                    </m:r>
                    <m:r>
                      <a:rPr lang="fr-FR" sz="1400" b="0" i="1" noProof="0" smtClean="0">
                        <a:latin typeface="Cambria Math" panose="02040503050406030204" pitchFamily="18" charset="0"/>
                      </a:rPr>
                      <m:t>= (</m:t>
                    </m:r>
                    <m:r>
                      <m:rPr>
                        <m:sty m:val="p"/>
                      </m:rPr>
                      <a:rPr lang="fr-FR" sz="1400" b="0" i="0" noProof="0" smtClean="0">
                        <a:latin typeface="Cambria Math" panose="02040503050406030204" pitchFamily="18" charset="0"/>
                      </a:rPr>
                      <m:t>target</m:t>
                    </m:r>
                    <m:r>
                      <a:rPr lang="fr-FR" sz="1400" b="0" i="1" noProof="0" smtClean="0">
                        <a:latin typeface="Cambria Math" panose="02040503050406030204" pitchFamily="18" charset="0"/>
                      </a:rPr>
                      <m:t>−</m:t>
                    </m:r>
                    <m:r>
                      <m:rPr>
                        <m:sty m:val="p"/>
                      </m:rPr>
                      <a:rPr lang="fr-FR" sz="1400" b="0" i="0" noProof="0" smtClean="0">
                        <a:latin typeface="Cambria Math" panose="02040503050406030204" pitchFamily="18" charset="0"/>
                      </a:rPr>
                      <m:t>out</m:t>
                    </m:r>
                    <m:r>
                      <a:rPr lang="fr-FR" sz="1400" b="0" i="1" noProof="0" smtClean="0">
                        <a:latin typeface="Cambria Math" panose="02040503050406030204" pitchFamily="18" charset="0"/>
                      </a:rPr>
                      <m:t>)</m:t>
                    </m:r>
                  </m:oMath>
                </a14:m>
                <a:r>
                  <a:rPr lang="en-GB" sz="1400" baseline="30000" noProof="0" dirty="0"/>
                  <a:t>2</a:t>
                </a:r>
              </a:p>
            </p:txBody>
          </p:sp>
        </mc:Choice>
        <mc:Fallback xmlns="">
          <p:sp>
            <p:nvSpPr>
              <p:cNvPr id="44" name="ZoneTexte 43">
                <a:extLst>
                  <a:ext uri="{FF2B5EF4-FFF2-40B4-BE49-F238E27FC236}">
                    <a16:creationId xmlns:a16="http://schemas.microsoft.com/office/drawing/2014/main" id="{43FEC52C-961B-8C1A-539D-30B9D28CFD93}"/>
                  </a:ext>
                </a:extLst>
              </p:cNvPr>
              <p:cNvSpPr txBox="1">
                <a:spLocks noRot="1" noChangeAspect="1" noMove="1" noResize="1" noEditPoints="1" noAdjustHandles="1" noChangeArrowheads="1" noChangeShapeType="1" noTextEdit="1"/>
              </p:cNvSpPr>
              <p:nvPr/>
            </p:nvSpPr>
            <p:spPr>
              <a:xfrm>
                <a:off x="7031418" y="2533615"/>
                <a:ext cx="2324249" cy="302840"/>
              </a:xfrm>
              <a:prstGeom prst="rect">
                <a:avLst/>
              </a:prstGeom>
              <a:blipFill>
                <a:blip r:embed="rId3"/>
                <a:stretch>
                  <a:fillRect b="-12000"/>
                </a:stretch>
              </a:blipFill>
              <a:ln>
                <a:solidFill>
                  <a:schemeClr val="tx1">
                    <a:lumMod val="50000"/>
                    <a:lumOff val="50000"/>
                  </a:schemeClr>
                </a:solidFill>
              </a:ln>
            </p:spPr>
            <p:txBody>
              <a:bodyPr/>
              <a:lstStyle/>
              <a:p>
                <a:r>
                  <a:rPr lang="en-GB">
                    <a:noFill/>
                  </a:rPr>
                  <a:t> </a:t>
                </a:r>
              </a:p>
            </p:txBody>
          </p:sp>
        </mc:Fallback>
      </mc:AlternateContent>
      <p:sp>
        <p:nvSpPr>
          <p:cNvPr id="46" name="Espace réservé du pied de page 45">
            <a:extLst>
              <a:ext uri="{FF2B5EF4-FFF2-40B4-BE49-F238E27FC236}">
                <a16:creationId xmlns:a16="http://schemas.microsoft.com/office/drawing/2014/main" id="{F0AA4EC4-15F4-AEF4-4104-AA2F1D1DDB33}"/>
              </a:ext>
            </a:extLst>
          </p:cNvPr>
          <p:cNvSpPr>
            <a:spLocks noGrp="1"/>
          </p:cNvSpPr>
          <p:nvPr>
            <p:ph type="ftr" sz="quarter" idx="11"/>
          </p:nvPr>
        </p:nvSpPr>
        <p:spPr/>
        <p:txBody>
          <a:bodyPr/>
          <a:lstStyle/>
          <a:p>
            <a:r>
              <a:rPr lang="fr-FR"/>
              <a:t>Introduction to Neural Networks. Author: David Thébault</a:t>
            </a:r>
          </a:p>
        </p:txBody>
      </p:sp>
      <p:cxnSp>
        <p:nvCxnSpPr>
          <p:cNvPr id="48" name="Connecteur droit 47">
            <a:extLst>
              <a:ext uri="{FF2B5EF4-FFF2-40B4-BE49-F238E27FC236}">
                <a16:creationId xmlns:a16="http://schemas.microsoft.com/office/drawing/2014/main" id="{3ED2D7F6-C9DB-6DCE-C1A3-FDF10E191417}"/>
              </a:ext>
            </a:extLst>
          </p:cNvPr>
          <p:cNvCxnSpPr>
            <a:cxnSpLocks/>
          </p:cNvCxnSpPr>
          <p:nvPr/>
        </p:nvCxnSpPr>
        <p:spPr>
          <a:xfrm>
            <a:off x="5523184" y="4551696"/>
            <a:ext cx="0" cy="898487"/>
          </a:xfrm>
          <a:prstGeom prst="line">
            <a:avLst/>
          </a:prstGeom>
        </p:spPr>
        <p:style>
          <a:lnRef idx="2">
            <a:schemeClr val="accent1"/>
          </a:lnRef>
          <a:fillRef idx="0">
            <a:schemeClr val="accent1"/>
          </a:fillRef>
          <a:effectRef idx="1">
            <a:schemeClr val="accent1"/>
          </a:effectRef>
          <a:fontRef idx="minor">
            <a:schemeClr val="tx1"/>
          </a:fontRef>
        </p:style>
      </p:cxnSp>
      <p:sp>
        <p:nvSpPr>
          <p:cNvPr id="50" name="ZoneTexte 49">
            <a:extLst>
              <a:ext uri="{FF2B5EF4-FFF2-40B4-BE49-F238E27FC236}">
                <a16:creationId xmlns:a16="http://schemas.microsoft.com/office/drawing/2014/main" id="{E638A727-59E3-A129-BE1B-F0CAA9675D15}"/>
              </a:ext>
            </a:extLst>
          </p:cNvPr>
          <p:cNvSpPr txBox="1"/>
          <p:nvPr/>
        </p:nvSpPr>
        <p:spPr>
          <a:xfrm>
            <a:off x="838200" y="1532877"/>
            <a:ext cx="6773333" cy="369332"/>
          </a:xfrm>
          <a:prstGeom prst="rect">
            <a:avLst/>
          </a:prstGeom>
          <a:noFill/>
        </p:spPr>
        <p:txBody>
          <a:bodyPr wrap="square" rtlCol="0">
            <a:spAutoFit/>
          </a:bodyPr>
          <a:lstStyle/>
          <a:p>
            <a:r>
              <a:rPr lang="en-GB" noProof="0"/>
              <a:t>We repeat the Forward Pass with the new W and b</a:t>
            </a:r>
          </a:p>
        </p:txBody>
      </p:sp>
      <p:sp>
        <p:nvSpPr>
          <p:cNvPr id="3" name="ZoneTexte 2">
            <a:extLst>
              <a:ext uri="{FF2B5EF4-FFF2-40B4-BE49-F238E27FC236}">
                <a16:creationId xmlns:a16="http://schemas.microsoft.com/office/drawing/2014/main" id="{EF0DD337-EA91-DE05-6F1E-F22494FD9A55}"/>
              </a:ext>
            </a:extLst>
          </p:cNvPr>
          <p:cNvSpPr txBox="1"/>
          <p:nvPr/>
        </p:nvSpPr>
        <p:spPr>
          <a:xfrm>
            <a:off x="838200" y="5992345"/>
            <a:ext cx="9915656" cy="369332"/>
          </a:xfrm>
          <a:prstGeom prst="rect">
            <a:avLst/>
          </a:prstGeom>
          <a:noFill/>
        </p:spPr>
        <p:txBody>
          <a:bodyPr wrap="square" rtlCol="0">
            <a:spAutoFit/>
          </a:bodyPr>
          <a:lstStyle/>
          <a:p>
            <a:r>
              <a:rPr lang="en-GB" noProof="0" dirty="0"/>
              <a:t>The loss has decreased, and we iterate the updates of the weights and bias and the Forward Pass.</a:t>
            </a:r>
          </a:p>
        </p:txBody>
      </p:sp>
      <p:sp>
        <p:nvSpPr>
          <p:cNvPr id="5" name="Flèche vers la droite 4">
            <a:extLst>
              <a:ext uri="{FF2B5EF4-FFF2-40B4-BE49-F238E27FC236}">
                <a16:creationId xmlns:a16="http://schemas.microsoft.com/office/drawing/2014/main" id="{A7E84E84-E8C4-48B5-A141-8736543255FE}"/>
              </a:ext>
            </a:extLst>
          </p:cNvPr>
          <p:cNvSpPr/>
          <p:nvPr/>
        </p:nvSpPr>
        <p:spPr>
          <a:xfrm>
            <a:off x="3530600" y="3725256"/>
            <a:ext cx="3877878" cy="104030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noProof="0" dirty="0"/>
              <a:t>Forward Pass</a:t>
            </a:r>
          </a:p>
        </p:txBody>
      </p:sp>
      <p:sp>
        <p:nvSpPr>
          <p:cNvPr id="6" name="Flèche vers la gauche 5">
            <a:extLst>
              <a:ext uri="{FF2B5EF4-FFF2-40B4-BE49-F238E27FC236}">
                <a16:creationId xmlns:a16="http://schemas.microsoft.com/office/drawing/2014/main" id="{CAEC6CBB-E507-7C8A-FE2C-61CD98074310}"/>
              </a:ext>
            </a:extLst>
          </p:cNvPr>
          <p:cNvSpPr/>
          <p:nvPr/>
        </p:nvSpPr>
        <p:spPr>
          <a:xfrm>
            <a:off x="3384998" y="5261823"/>
            <a:ext cx="4030133" cy="795867"/>
          </a:xfrm>
          <a:prstGeom prst="lef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dirty="0"/>
              <a:t>BACKPROPAGATION</a:t>
            </a:r>
          </a:p>
        </p:txBody>
      </p:sp>
      <p:sp>
        <p:nvSpPr>
          <p:cNvPr id="7" name="Flèche courbée vers la droite 6">
            <a:extLst>
              <a:ext uri="{FF2B5EF4-FFF2-40B4-BE49-F238E27FC236}">
                <a16:creationId xmlns:a16="http://schemas.microsoft.com/office/drawing/2014/main" id="{917DD9CC-C59F-C151-F6BB-8131303EF7B2}"/>
              </a:ext>
            </a:extLst>
          </p:cNvPr>
          <p:cNvSpPr/>
          <p:nvPr/>
        </p:nvSpPr>
        <p:spPr>
          <a:xfrm flipV="1">
            <a:off x="2331077" y="4205909"/>
            <a:ext cx="643944" cy="1525188"/>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 name="Flèche courbée vers la droite 8">
            <a:extLst>
              <a:ext uri="{FF2B5EF4-FFF2-40B4-BE49-F238E27FC236}">
                <a16:creationId xmlns:a16="http://schemas.microsoft.com/office/drawing/2014/main" id="{B4C9BD09-F416-D4AB-71C3-C79CF50EE8EA}"/>
              </a:ext>
            </a:extLst>
          </p:cNvPr>
          <p:cNvSpPr/>
          <p:nvPr/>
        </p:nvSpPr>
        <p:spPr>
          <a:xfrm rot="10800000" flipV="1">
            <a:off x="7848239" y="4245407"/>
            <a:ext cx="643944" cy="1525188"/>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3" name="Titre 1">
            <a:extLst>
              <a:ext uri="{FF2B5EF4-FFF2-40B4-BE49-F238E27FC236}">
                <a16:creationId xmlns:a16="http://schemas.microsoft.com/office/drawing/2014/main" id="{4808D776-515F-0C4B-5AE7-1F0322BA6C0D}"/>
              </a:ext>
            </a:extLst>
          </p:cNvPr>
          <p:cNvSpPr>
            <a:spLocks noGrp="1"/>
          </p:cNvSpPr>
          <p:nvPr>
            <p:ph type="title"/>
          </p:nvPr>
        </p:nvSpPr>
        <p:spPr>
          <a:xfrm>
            <a:off x="838200" y="300730"/>
            <a:ext cx="10515600" cy="1325563"/>
          </a:xfrm>
        </p:spPr>
        <p:txBody>
          <a:bodyPr/>
          <a:lstStyle/>
          <a:p>
            <a:r>
              <a:rPr lang="en-GB" noProof="0" dirty="0"/>
              <a:t>Perceptron </a:t>
            </a:r>
            <a:r>
              <a:rPr lang="en-GB" sz="2400" noProof="0" dirty="0"/>
              <a:t>with a single input</a:t>
            </a:r>
            <a:endParaRPr lang="en-GB" noProof="0" dirty="0"/>
          </a:p>
        </p:txBody>
      </p:sp>
    </p:spTree>
    <p:extLst>
      <p:ext uri="{BB962C8B-B14F-4D97-AF65-F5344CB8AC3E}">
        <p14:creationId xmlns:p14="http://schemas.microsoft.com/office/powerpoint/2010/main" val="34705504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308D3-81D2-70CF-458F-EBE7CBEE44CF}"/>
            </a:ext>
          </a:extLst>
        </p:cNvPr>
        <p:cNvGrpSpPr/>
        <p:nvPr/>
      </p:nvGrpSpPr>
      <p:grpSpPr>
        <a:xfrm>
          <a:off x="0" y="0"/>
          <a:ext cx="0" cy="0"/>
          <a:chOff x="0" y="0"/>
          <a:chExt cx="0" cy="0"/>
        </a:xfrm>
      </p:grpSpPr>
      <p:sp>
        <p:nvSpPr>
          <p:cNvPr id="46" name="Espace réservé du pied de page 45">
            <a:extLst>
              <a:ext uri="{FF2B5EF4-FFF2-40B4-BE49-F238E27FC236}">
                <a16:creationId xmlns:a16="http://schemas.microsoft.com/office/drawing/2014/main" id="{E10D9817-3DAB-56CF-7676-09371059F920}"/>
              </a:ext>
            </a:extLst>
          </p:cNvPr>
          <p:cNvSpPr>
            <a:spLocks noGrp="1"/>
          </p:cNvSpPr>
          <p:nvPr>
            <p:ph type="ftr" sz="quarter" idx="11"/>
          </p:nvPr>
        </p:nvSpPr>
        <p:spPr/>
        <p:txBody>
          <a:bodyPr/>
          <a:lstStyle/>
          <a:p>
            <a:r>
              <a:rPr lang="fr-FR"/>
              <a:t>Introduction to Neural Networks. Author: David Thébault</a:t>
            </a:r>
            <a:endParaRPr lang="fr-FR" dirty="0"/>
          </a:p>
        </p:txBody>
      </p:sp>
      <p:sp>
        <p:nvSpPr>
          <p:cNvPr id="50" name="ZoneTexte 49">
            <a:extLst>
              <a:ext uri="{FF2B5EF4-FFF2-40B4-BE49-F238E27FC236}">
                <a16:creationId xmlns:a16="http://schemas.microsoft.com/office/drawing/2014/main" id="{4344A9E3-8B18-0A4E-C84F-11B47F67A66F}"/>
              </a:ext>
            </a:extLst>
          </p:cNvPr>
          <p:cNvSpPr txBox="1"/>
          <p:nvPr/>
        </p:nvSpPr>
        <p:spPr>
          <a:xfrm>
            <a:off x="838200" y="1532877"/>
            <a:ext cx="6773333" cy="369332"/>
          </a:xfrm>
          <a:prstGeom prst="rect">
            <a:avLst/>
          </a:prstGeom>
          <a:noFill/>
        </p:spPr>
        <p:txBody>
          <a:bodyPr wrap="square" rtlCol="0">
            <a:spAutoFit/>
          </a:bodyPr>
          <a:lstStyle/>
          <a:p>
            <a:r>
              <a:rPr lang="en-GB" b="1" dirty="0"/>
              <a:t>How do we find</a:t>
            </a:r>
            <a:r>
              <a:rPr lang="en-GB" b="1" baseline="30000" dirty="0"/>
              <a:t>1</a:t>
            </a:r>
            <a:r>
              <a:rPr lang="en-GB" b="1" dirty="0"/>
              <a:t> the optimal w that minimize the loss ?</a:t>
            </a:r>
          </a:p>
        </p:txBody>
      </p:sp>
      <p:sp>
        <p:nvSpPr>
          <p:cNvPr id="7" name="ZoneTexte 6">
            <a:extLst>
              <a:ext uri="{FF2B5EF4-FFF2-40B4-BE49-F238E27FC236}">
                <a16:creationId xmlns:a16="http://schemas.microsoft.com/office/drawing/2014/main" id="{E961AB8E-6C23-D2A3-DD2F-14D56CAD1002}"/>
              </a:ext>
            </a:extLst>
          </p:cNvPr>
          <p:cNvSpPr txBox="1"/>
          <p:nvPr/>
        </p:nvSpPr>
        <p:spPr>
          <a:xfrm>
            <a:off x="7611533" y="1425155"/>
            <a:ext cx="3806659" cy="584775"/>
          </a:xfrm>
          <a:prstGeom prst="rect">
            <a:avLst/>
          </a:prstGeom>
          <a:noFill/>
        </p:spPr>
        <p:txBody>
          <a:bodyPr wrap="square" rtlCol="0">
            <a:spAutoFit/>
          </a:bodyPr>
          <a:lstStyle/>
          <a:p>
            <a:r>
              <a:rPr lang="en-GB" sz="3200" b="1" noProof="0" dirty="0"/>
              <a:t>Gradient descent</a:t>
            </a:r>
          </a:p>
        </p:txBody>
      </p:sp>
      <p:sp>
        <p:nvSpPr>
          <p:cNvPr id="6" name="Titre 1">
            <a:extLst>
              <a:ext uri="{FF2B5EF4-FFF2-40B4-BE49-F238E27FC236}">
                <a16:creationId xmlns:a16="http://schemas.microsoft.com/office/drawing/2014/main" id="{D962C0ED-1BC5-90EA-C306-DA8A304C18AD}"/>
              </a:ext>
            </a:extLst>
          </p:cNvPr>
          <p:cNvSpPr>
            <a:spLocks noGrp="1"/>
          </p:cNvSpPr>
          <p:nvPr>
            <p:ph type="title"/>
          </p:nvPr>
        </p:nvSpPr>
        <p:spPr>
          <a:xfrm>
            <a:off x="838200" y="300730"/>
            <a:ext cx="10515600" cy="1325563"/>
          </a:xfrm>
        </p:spPr>
        <p:txBody>
          <a:bodyPr/>
          <a:lstStyle/>
          <a:p>
            <a:r>
              <a:rPr lang="en-GB" noProof="0" dirty="0"/>
              <a:t>Perceptron </a:t>
            </a:r>
            <a:r>
              <a:rPr lang="en-GB" sz="2400" noProof="0" dirty="0"/>
              <a:t>with a single input</a:t>
            </a:r>
            <a:endParaRPr lang="en-GB" noProof="0" dirty="0"/>
          </a:p>
        </p:txBody>
      </p:sp>
      <p:sp>
        <p:nvSpPr>
          <p:cNvPr id="8" name="ZoneTexte 7">
            <a:extLst>
              <a:ext uri="{FF2B5EF4-FFF2-40B4-BE49-F238E27FC236}">
                <a16:creationId xmlns:a16="http://schemas.microsoft.com/office/drawing/2014/main" id="{88273602-D456-6B4D-9AF9-F2F69CA47947}"/>
              </a:ext>
            </a:extLst>
          </p:cNvPr>
          <p:cNvSpPr txBox="1"/>
          <p:nvPr/>
        </p:nvSpPr>
        <p:spPr>
          <a:xfrm>
            <a:off x="838200" y="5958673"/>
            <a:ext cx="5341536" cy="261610"/>
          </a:xfrm>
          <a:prstGeom prst="rect">
            <a:avLst/>
          </a:prstGeom>
          <a:noFill/>
        </p:spPr>
        <p:txBody>
          <a:bodyPr wrap="square" rtlCol="0">
            <a:spAutoFit/>
          </a:bodyPr>
          <a:lstStyle/>
          <a:p>
            <a:r>
              <a:rPr lang="en-GB" sz="1100" baseline="30000" dirty="0"/>
              <a:t>1 </a:t>
            </a:r>
            <a:r>
              <a:rPr lang="en-GB" sz="1100" dirty="0"/>
              <a:t>For simplicity, we have only taken w and not b</a:t>
            </a:r>
          </a:p>
        </p:txBody>
      </p:sp>
      <p:pic>
        <p:nvPicPr>
          <p:cNvPr id="2" name="Image 1">
            <a:extLst>
              <a:ext uri="{FF2B5EF4-FFF2-40B4-BE49-F238E27FC236}">
                <a16:creationId xmlns:a16="http://schemas.microsoft.com/office/drawing/2014/main" id="{890CBED0-0FA2-CB3E-4FE8-FBFB97C5E9F2}"/>
              </a:ext>
            </a:extLst>
          </p:cNvPr>
          <p:cNvPicPr>
            <a:picLocks noChangeAspect="1"/>
          </p:cNvPicPr>
          <p:nvPr/>
        </p:nvPicPr>
        <p:blipFill>
          <a:blip r:embed="rId2"/>
          <a:stretch>
            <a:fillRect/>
          </a:stretch>
        </p:blipFill>
        <p:spPr>
          <a:xfrm>
            <a:off x="1081979" y="2355849"/>
            <a:ext cx="9006839" cy="2742623"/>
          </a:xfrm>
          <a:prstGeom prst="rect">
            <a:avLst/>
          </a:prstGeom>
        </p:spPr>
      </p:pic>
      <p:graphicFrame>
        <p:nvGraphicFramePr>
          <p:cNvPr id="4" name="Objet 3">
            <a:extLst>
              <a:ext uri="{FF2B5EF4-FFF2-40B4-BE49-F238E27FC236}">
                <a16:creationId xmlns:a16="http://schemas.microsoft.com/office/drawing/2014/main" id="{D54ABB44-B0C1-24CD-8A73-89936A21105B}"/>
              </a:ext>
            </a:extLst>
          </p:cNvPr>
          <p:cNvGraphicFramePr>
            <a:graphicFrameLocks noChangeAspect="1"/>
          </p:cNvGraphicFramePr>
          <p:nvPr>
            <p:extLst>
              <p:ext uri="{D42A27DB-BD31-4B8C-83A1-F6EECF244321}">
                <p14:modId xmlns:p14="http://schemas.microsoft.com/office/powerpoint/2010/main" val="2604857744"/>
              </p:ext>
            </p:extLst>
          </p:nvPr>
        </p:nvGraphicFramePr>
        <p:xfrm>
          <a:off x="10088818" y="5223772"/>
          <a:ext cx="965200" cy="609600"/>
        </p:xfrm>
        <a:graphic>
          <a:graphicData uri="http://schemas.openxmlformats.org/presentationml/2006/ole">
            <mc:AlternateContent xmlns:mc="http://schemas.openxmlformats.org/markup-compatibility/2006">
              <mc:Choice xmlns:v="urn:schemas-microsoft-com:vml" Requires="v">
                <p:oleObj name="Feuille de calcul" showAsIcon="1" r:id="rId3" imgW="965200" imgH="609600" progId="Excel.Sheet.12">
                  <p:embed/>
                </p:oleObj>
              </mc:Choice>
              <mc:Fallback>
                <p:oleObj name="Feuille de calcul" showAsIcon="1" r:id="rId3" imgW="965200" imgH="609600" progId="Excel.Sheet.12">
                  <p:embed/>
                  <p:pic>
                    <p:nvPicPr>
                      <p:cNvPr id="0" name=""/>
                      <p:cNvPicPr/>
                      <p:nvPr/>
                    </p:nvPicPr>
                    <p:blipFill>
                      <a:blip r:embed="rId4"/>
                      <a:stretch>
                        <a:fillRect/>
                      </a:stretch>
                    </p:blipFill>
                    <p:spPr>
                      <a:xfrm>
                        <a:off x="10088818" y="5223772"/>
                        <a:ext cx="965200" cy="609600"/>
                      </a:xfrm>
                      <a:prstGeom prst="rect">
                        <a:avLst/>
                      </a:prstGeom>
                    </p:spPr>
                  </p:pic>
                </p:oleObj>
              </mc:Fallback>
            </mc:AlternateContent>
          </a:graphicData>
        </a:graphic>
      </p:graphicFrame>
    </p:spTree>
    <p:extLst>
      <p:ext uri="{BB962C8B-B14F-4D97-AF65-F5344CB8AC3E}">
        <p14:creationId xmlns:p14="http://schemas.microsoft.com/office/powerpoint/2010/main" val="20541231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55241-380B-C406-A143-CB59228630F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C6D8C13-2526-3926-00D3-E790A8B029B9}"/>
              </a:ext>
            </a:extLst>
          </p:cNvPr>
          <p:cNvSpPr>
            <a:spLocks noGrp="1"/>
          </p:cNvSpPr>
          <p:nvPr>
            <p:ph type="ctrTitle"/>
          </p:nvPr>
        </p:nvSpPr>
        <p:spPr/>
        <p:txBody>
          <a:bodyPr/>
          <a:lstStyle/>
          <a:p>
            <a:r>
              <a:rPr lang="en-GB" noProof="0" dirty="0"/>
              <a:t>Perceptron with two inputs</a:t>
            </a:r>
          </a:p>
        </p:txBody>
      </p:sp>
      <p:sp>
        <p:nvSpPr>
          <p:cNvPr id="3" name="Espace réservé du pied de page 2">
            <a:extLst>
              <a:ext uri="{FF2B5EF4-FFF2-40B4-BE49-F238E27FC236}">
                <a16:creationId xmlns:a16="http://schemas.microsoft.com/office/drawing/2014/main" id="{A6950EEE-D19D-891D-9543-92EE8E8A43D8}"/>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12935115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4E4EC-1EE0-1272-D2A9-FF7B7C74FDC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B49A9E7-0947-DE75-24BA-94B5B97CE6D9}"/>
              </a:ext>
            </a:extLst>
          </p:cNvPr>
          <p:cNvSpPr>
            <a:spLocks noGrp="1"/>
          </p:cNvSpPr>
          <p:nvPr>
            <p:ph type="title"/>
          </p:nvPr>
        </p:nvSpPr>
        <p:spPr/>
        <p:txBody>
          <a:bodyPr/>
          <a:lstStyle/>
          <a:p>
            <a:r>
              <a:rPr lang="fr-FR" dirty="0"/>
              <a:t>Perceptron</a:t>
            </a:r>
          </a:p>
        </p:txBody>
      </p:sp>
      <p:grpSp>
        <p:nvGrpSpPr>
          <p:cNvPr id="12" name="Groupe 11">
            <a:extLst>
              <a:ext uri="{FF2B5EF4-FFF2-40B4-BE49-F238E27FC236}">
                <a16:creationId xmlns:a16="http://schemas.microsoft.com/office/drawing/2014/main" id="{995A84A6-F9CA-4F00-2E56-2B1F8C97809B}"/>
              </a:ext>
            </a:extLst>
          </p:cNvPr>
          <p:cNvGrpSpPr/>
          <p:nvPr/>
        </p:nvGrpSpPr>
        <p:grpSpPr>
          <a:xfrm>
            <a:off x="4992412" y="2220312"/>
            <a:ext cx="1061545" cy="1061545"/>
            <a:chOff x="3563007" y="2367455"/>
            <a:chExt cx="1061545" cy="1061545"/>
          </a:xfrm>
        </p:grpSpPr>
        <p:sp>
          <p:nvSpPr>
            <p:cNvPr id="4" name="Ellipse 3">
              <a:extLst>
                <a:ext uri="{FF2B5EF4-FFF2-40B4-BE49-F238E27FC236}">
                  <a16:creationId xmlns:a16="http://schemas.microsoft.com/office/drawing/2014/main" id="{8E384505-B98C-A3C6-0886-472120A5CAB3}"/>
                </a:ext>
              </a:extLst>
            </p:cNvPr>
            <p:cNvSpPr/>
            <p:nvPr/>
          </p:nvSpPr>
          <p:spPr>
            <a:xfrm>
              <a:off x="3563007" y="2367455"/>
              <a:ext cx="1061545" cy="106154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1400" dirty="0"/>
            </a:p>
          </p:txBody>
        </p:sp>
        <p:cxnSp>
          <p:nvCxnSpPr>
            <p:cNvPr id="8" name="Connecteur droit 7">
              <a:extLst>
                <a:ext uri="{FF2B5EF4-FFF2-40B4-BE49-F238E27FC236}">
                  <a16:creationId xmlns:a16="http://schemas.microsoft.com/office/drawing/2014/main" id="{86888F7E-46CD-0657-F0FB-E1D195772996}"/>
                </a:ext>
              </a:extLst>
            </p:cNvPr>
            <p:cNvCxnSpPr>
              <a:stCxn id="4" idx="0"/>
              <a:endCxn id="4" idx="4"/>
            </p:cNvCxnSpPr>
            <p:nvPr/>
          </p:nvCxnSpPr>
          <p:spPr>
            <a:xfrm>
              <a:off x="4093780" y="2367455"/>
              <a:ext cx="0" cy="1061545"/>
            </a:xfrm>
            <a:prstGeom prst="line">
              <a:avLst/>
            </a:prstGeom>
          </p:spPr>
          <p:style>
            <a:lnRef idx="2">
              <a:schemeClr val="accent1"/>
            </a:lnRef>
            <a:fillRef idx="0">
              <a:schemeClr val="accent1"/>
            </a:fillRef>
            <a:effectRef idx="1">
              <a:schemeClr val="accent1"/>
            </a:effectRef>
            <a:fontRef idx="minor">
              <a:schemeClr val="tx1"/>
            </a:fontRef>
          </p:style>
        </p:cxnSp>
      </p:grpSp>
      <p:cxnSp>
        <p:nvCxnSpPr>
          <p:cNvPr id="17" name="Connecteur droit avec flèche 16">
            <a:extLst>
              <a:ext uri="{FF2B5EF4-FFF2-40B4-BE49-F238E27FC236}">
                <a16:creationId xmlns:a16="http://schemas.microsoft.com/office/drawing/2014/main" id="{69D52685-8987-75C5-DC9D-13964E7F462A}"/>
              </a:ext>
            </a:extLst>
          </p:cNvPr>
          <p:cNvCxnSpPr>
            <a:cxnSpLocks/>
          </p:cNvCxnSpPr>
          <p:nvPr/>
        </p:nvCxnSpPr>
        <p:spPr>
          <a:xfrm>
            <a:off x="4056991" y="2572409"/>
            <a:ext cx="9354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B7F8ED8E-3552-F0FC-17DA-A05D51CB4C87}"/>
              </a:ext>
            </a:extLst>
          </p:cNvPr>
          <p:cNvCxnSpPr>
            <a:cxnSpLocks/>
          </p:cNvCxnSpPr>
          <p:nvPr/>
        </p:nvCxnSpPr>
        <p:spPr>
          <a:xfrm>
            <a:off x="4056991" y="2995453"/>
            <a:ext cx="9354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ZoneTexte 20">
            <a:extLst>
              <a:ext uri="{FF2B5EF4-FFF2-40B4-BE49-F238E27FC236}">
                <a16:creationId xmlns:a16="http://schemas.microsoft.com/office/drawing/2014/main" id="{35816691-17CC-5AD2-A482-44A63195F728}"/>
              </a:ext>
            </a:extLst>
          </p:cNvPr>
          <p:cNvSpPr txBox="1"/>
          <p:nvPr/>
        </p:nvSpPr>
        <p:spPr>
          <a:xfrm>
            <a:off x="3444763" y="2216780"/>
            <a:ext cx="599090" cy="523220"/>
          </a:xfrm>
          <a:prstGeom prst="rect">
            <a:avLst/>
          </a:prstGeom>
          <a:noFill/>
        </p:spPr>
        <p:txBody>
          <a:bodyPr wrap="square" rtlCol="0">
            <a:spAutoFit/>
          </a:bodyPr>
          <a:lstStyle/>
          <a:p>
            <a:pPr algn="ctr"/>
            <a:r>
              <a:rPr lang="fr-FR" sz="2800" dirty="0"/>
              <a:t>i</a:t>
            </a:r>
            <a:r>
              <a:rPr lang="fr-FR" sz="2800" baseline="-25000" dirty="0"/>
              <a:t>1</a:t>
            </a:r>
          </a:p>
        </p:txBody>
      </p:sp>
      <p:sp>
        <p:nvSpPr>
          <p:cNvPr id="22" name="ZoneTexte 21">
            <a:extLst>
              <a:ext uri="{FF2B5EF4-FFF2-40B4-BE49-F238E27FC236}">
                <a16:creationId xmlns:a16="http://schemas.microsoft.com/office/drawing/2014/main" id="{33422514-4E98-6DDD-45DD-7F97AC278774}"/>
              </a:ext>
            </a:extLst>
          </p:cNvPr>
          <p:cNvSpPr txBox="1"/>
          <p:nvPr/>
        </p:nvSpPr>
        <p:spPr>
          <a:xfrm>
            <a:off x="3468411" y="2731875"/>
            <a:ext cx="599090" cy="523220"/>
          </a:xfrm>
          <a:prstGeom prst="rect">
            <a:avLst/>
          </a:prstGeom>
          <a:noFill/>
        </p:spPr>
        <p:txBody>
          <a:bodyPr wrap="square" rtlCol="0">
            <a:spAutoFit/>
          </a:bodyPr>
          <a:lstStyle/>
          <a:p>
            <a:pPr algn="ctr"/>
            <a:r>
              <a:rPr lang="fr-FR" sz="2800" dirty="0"/>
              <a:t>i</a:t>
            </a:r>
            <a:r>
              <a:rPr lang="fr-FR" sz="2800" baseline="-25000" dirty="0"/>
              <a:t>2</a:t>
            </a:r>
          </a:p>
        </p:txBody>
      </p:sp>
      <p:sp>
        <p:nvSpPr>
          <p:cNvPr id="28" name="ZoneTexte 27">
            <a:extLst>
              <a:ext uri="{FF2B5EF4-FFF2-40B4-BE49-F238E27FC236}">
                <a16:creationId xmlns:a16="http://schemas.microsoft.com/office/drawing/2014/main" id="{3619A73D-BB69-61A6-EB52-9CBE7F4D28AB}"/>
              </a:ext>
            </a:extLst>
          </p:cNvPr>
          <p:cNvSpPr txBox="1"/>
          <p:nvPr/>
        </p:nvSpPr>
        <p:spPr>
          <a:xfrm>
            <a:off x="4184429" y="2222692"/>
            <a:ext cx="599090"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w1</a:t>
            </a:r>
          </a:p>
        </p:txBody>
      </p:sp>
      <p:sp>
        <p:nvSpPr>
          <p:cNvPr id="29" name="ZoneTexte 28">
            <a:extLst>
              <a:ext uri="{FF2B5EF4-FFF2-40B4-BE49-F238E27FC236}">
                <a16:creationId xmlns:a16="http://schemas.microsoft.com/office/drawing/2014/main" id="{1908BEF1-4052-6FF9-8676-F32D505775E4}"/>
              </a:ext>
            </a:extLst>
          </p:cNvPr>
          <p:cNvSpPr txBox="1"/>
          <p:nvPr/>
        </p:nvSpPr>
        <p:spPr>
          <a:xfrm>
            <a:off x="4184429" y="2954896"/>
            <a:ext cx="599090"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w2</a:t>
            </a:r>
          </a:p>
        </p:txBody>
      </p:sp>
      <p:cxnSp>
        <p:nvCxnSpPr>
          <p:cNvPr id="30" name="Connecteur droit avec flèche 29">
            <a:extLst>
              <a:ext uri="{FF2B5EF4-FFF2-40B4-BE49-F238E27FC236}">
                <a16:creationId xmlns:a16="http://schemas.microsoft.com/office/drawing/2014/main" id="{2A8B51C6-A8AA-F236-7889-62B5B1E345EE}"/>
              </a:ext>
            </a:extLst>
          </p:cNvPr>
          <p:cNvCxnSpPr>
            <a:cxnSpLocks/>
          </p:cNvCxnSpPr>
          <p:nvPr/>
        </p:nvCxnSpPr>
        <p:spPr>
          <a:xfrm>
            <a:off x="6074977" y="2742628"/>
            <a:ext cx="9354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necteur droit avec flèche 31">
            <a:extLst>
              <a:ext uri="{FF2B5EF4-FFF2-40B4-BE49-F238E27FC236}">
                <a16:creationId xmlns:a16="http://schemas.microsoft.com/office/drawing/2014/main" id="{29E6C5AA-7FB4-9AAA-CDFC-4FA975414BF1}"/>
              </a:ext>
            </a:extLst>
          </p:cNvPr>
          <p:cNvCxnSpPr>
            <a:cxnSpLocks/>
          </p:cNvCxnSpPr>
          <p:nvPr/>
        </p:nvCxnSpPr>
        <p:spPr>
          <a:xfrm flipV="1">
            <a:off x="4651482" y="3166246"/>
            <a:ext cx="493330" cy="5994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ZoneTexte 35">
            <a:extLst>
              <a:ext uri="{FF2B5EF4-FFF2-40B4-BE49-F238E27FC236}">
                <a16:creationId xmlns:a16="http://schemas.microsoft.com/office/drawing/2014/main" id="{61D97C81-E780-0B0E-530E-0A469A2BFF8B}"/>
              </a:ext>
            </a:extLst>
          </p:cNvPr>
          <p:cNvSpPr txBox="1"/>
          <p:nvPr/>
        </p:nvSpPr>
        <p:spPr>
          <a:xfrm>
            <a:off x="4184429" y="3641845"/>
            <a:ext cx="599090"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b1</a:t>
            </a:r>
          </a:p>
        </p:txBody>
      </p:sp>
      <p:sp>
        <p:nvSpPr>
          <p:cNvPr id="41" name="ZoneTexte 40">
            <a:extLst>
              <a:ext uri="{FF2B5EF4-FFF2-40B4-BE49-F238E27FC236}">
                <a16:creationId xmlns:a16="http://schemas.microsoft.com/office/drawing/2014/main" id="{B378451A-D013-44CB-0D51-1798CCAFDBFE}"/>
              </a:ext>
            </a:extLst>
          </p:cNvPr>
          <p:cNvSpPr txBox="1"/>
          <p:nvPr/>
        </p:nvSpPr>
        <p:spPr>
          <a:xfrm>
            <a:off x="5034995" y="2635155"/>
            <a:ext cx="517929" cy="307777"/>
          </a:xfrm>
          <a:prstGeom prst="rect">
            <a:avLst/>
          </a:prstGeom>
          <a:noFill/>
        </p:spPr>
        <p:txBody>
          <a:bodyPr wrap="square" rtlCol="0">
            <a:spAutoFit/>
          </a:bodyPr>
          <a:lstStyle/>
          <a:p>
            <a:pPr algn="ctr"/>
            <a:r>
              <a:rPr lang="fr-FR" sz="1400" dirty="0"/>
              <a:t>net</a:t>
            </a:r>
          </a:p>
        </p:txBody>
      </p:sp>
      <p:sp>
        <p:nvSpPr>
          <p:cNvPr id="42" name="ZoneTexte 41">
            <a:extLst>
              <a:ext uri="{FF2B5EF4-FFF2-40B4-BE49-F238E27FC236}">
                <a16:creationId xmlns:a16="http://schemas.microsoft.com/office/drawing/2014/main" id="{B96290A1-F8F5-2EF8-2214-65591ECC5AC0}"/>
              </a:ext>
            </a:extLst>
          </p:cNvPr>
          <p:cNvSpPr txBox="1"/>
          <p:nvPr/>
        </p:nvSpPr>
        <p:spPr>
          <a:xfrm>
            <a:off x="5486866" y="2635155"/>
            <a:ext cx="517929" cy="307777"/>
          </a:xfrm>
          <a:prstGeom prst="rect">
            <a:avLst/>
          </a:prstGeom>
          <a:noFill/>
        </p:spPr>
        <p:txBody>
          <a:bodyPr wrap="square" rtlCol="0">
            <a:spAutoFit/>
          </a:bodyPr>
          <a:lstStyle/>
          <a:p>
            <a:pPr algn="ctr"/>
            <a:r>
              <a:rPr lang="fr-FR" sz="1400" dirty="0"/>
              <a:t>out</a:t>
            </a:r>
          </a:p>
        </p:txBody>
      </p:sp>
      <mc:AlternateContent xmlns:mc="http://schemas.openxmlformats.org/markup-compatibility/2006" xmlns:a14="http://schemas.microsoft.com/office/drawing/2010/main">
        <mc:Choice Requires="a14">
          <p:sp>
            <p:nvSpPr>
              <p:cNvPr id="43" name="ZoneTexte 42">
                <a:extLst>
                  <a:ext uri="{FF2B5EF4-FFF2-40B4-BE49-F238E27FC236}">
                    <a16:creationId xmlns:a16="http://schemas.microsoft.com/office/drawing/2014/main" id="{DA9A3864-4A9E-2448-FF6B-3440375B97A6}"/>
                  </a:ext>
                </a:extLst>
              </p:cNvPr>
              <p:cNvSpPr txBox="1"/>
              <p:nvPr/>
            </p:nvSpPr>
            <p:spPr>
              <a:xfrm>
                <a:off x="2699990" y="4668451"/>
                <a:ext cx="4242678" cy="738664"/>
              </a:xfrm>
              <a:prstGeom prst="rect">
                <a:avLst/>
              </a:prstGeom>
              <a:noFill/>
              <a:ln>
                <a:noFill/>
              </a:ln>
            </p:spPr>
            <p:txBody>
              <a:bodyPr wrap="square" lIns="0" tIns="0" rIns="0" bIns="0" rtlCol="0">
                <a:spAutoFit/>
              </a:bodyPr>
              <a:lstStyle/>
              <a:p>
                <a:pPr algn="ctr"/>
                <a:endParaRPr lang="fr-FR" sz="1600" dirty="0">
                  <a:latin typeface="Cambria Math" panose="02040503050406030204" pitchFamily="18" charset="0"/>
                </a:endParaRPr>
              </a:p>
              <a:p>
                <a:pPr algn="ctr"/>
                <a:r>
                  <a:rPr lang="fr-FR" sz="1600" dirty="0">
                    <a:latin typeface="Cambria Math" panose="02040503050406030204" pitchFamily="18" charset="0"/>
                  </a:rPr>
                  <a:t>  </a:t>
                </a:r>
                <a:r>
                  <a:rPr lang="fr-FR" sz="1600" b="1" dirty="0">
                    <a:latin typeface="Cambria Math" panose="02040503050406030204" pitchFamily="18" charset="0"/>
                  </a:rPr>
                  <a:t>net</a:t>
                </a:r>
                <a:r>
                  <a:rPr lang="fr-FR" sz="1600" b="0" i="1" dirty="0">
                    <a:latin typeface="Cambria Math" panose="02040503050406030204" pitchFamily="18" charset="0"/>
                  </a:rPr>
                  <a:t> = </a:t>
                </a:r>
                <a14:m>
                  <m:oMath xmlns:m="http://schemas.openxmlformats.org/officeDocument/2006/math">
                    <m:r>
                      <m:rPr>
                        <m:sty m:val="p"/>
                      </m:rPr>
                      <a:rPr lang="fr-FR" sz="1600" b="0" i="0" smtClean="0">
                        <a:latin typeface="Cambria Math" panose="02040503050406030204" pitchFamily="18" charset="0"/>
                        <a:ea typeface="Cambria Math" panose="02040503050406030204" pitchFamily="18" charset="0"/>
                      </a:rPr>
                      <m:t>i</m:t>
                    </m:r>
                    <m:r>
                      <a:rPr lang="fr-FR" sz="1600" b="0" i="0" baseline="-25000" smtClean="0">
                        <a:latin typeface="Cambria Math" panose="02040503050406030204" pitchFamily="18" charset="0"/>
                        <a:ea typeface="Cambria Math" panose="02040503050406030204" pitchFamily="18" charset="0"/>
                      </a:rPr>
                      <m:t>1</m:t>
                    </m:r>
                    <m:r>
                      <a:rPr lang="fr-FR" sz="1600" b="0" i="0" smtClean="0">
                        <a:latin typeface="Cambria Math" panose="02040503050406030204" pitchFamily="18" charset="0"/>
                        <a:ea typeface="Cambria Math" panose="02040503050406030204" pitchFamily="18" charset="0"/>
                      </a:rPr>
                      <m:t> </m:t>
                    </m:r>
                    <m:r>
                      <a:rPr lang="fr-FR" sz="1600" b="0" i="1" smtClean="0">
                        <a:latin typeface="Cambria Math" panose="02040503050406030204" pitchFamily="18" charset="0"/>
                        <a:ea typeface="Cambria Math" panose="02040503050406030204" pitchFamily="18" charset="0"/>
                      </a:rPr>
                      <m:t>× </m:t>
                    </m:r>
                    <m:r>
                      <a:rPr lang="fr-FR" sz="1600" b="0" i="1" smtClean="0">
                        <a:latin typeface="Cambria Math" panose="02040503050406030204" pitchFamily="18" charset="0"/>
                        <a:ea typeface="Cambria Math" panose="02040503050406030204" pitchFamily="18" charset="0"/>
                      </a:rPr>
                      <m:t>𝑤</m:t>
                    </m:r>
                    <m:r>
                      <a:rPr lang="fr-FR" sz="1600" b="0" i="1" baseline="-25000" smtClean="0">
                        <a:latin typeface="Cambria Math" panose="02040503050406030204" pitchFamily="18" charset="0"/>
                        <a:ea typeface="Cambria Math" panose="02040503050406030204" pitchFamily="18" charset="0"/>
                      </a:rPr>
                      <m:t>1</m:t>
                    </m:r>
                  </m:oMath>
                </a14:m>
                <a:r>
                  <a:rPr lang="fr-FR" sz="1600" b="0" i="1" dirty="0">
                    <a:latin typeface="Cambria Math" panose="02040503050406030204" pitchFamily="18" charset="0"/>
                  </a:rPr>
                  <a:t> </a:t>
                </a:r>
                <a:r>
                  <a:rPr lang="fr-FR" sz="1600" b="0" dirty="0">
                    <a:latin typeface="Cambria Math" panose="02040503050406030204" pitchFamily="18" charset="0"/>
                  </a:rPr>
                  <a:t>+ </a:t>
                </a:r>
                <a14:m>
                  <m:oMath xmlns:m="http://schemas.openxmlformats.org/officeDocument/2006/math">
                    <m:r>
                      <m:rPr>
                        <m:sty m:val="p"/>
                      </m:rPr>
                      <a:rPr lang="fr-FR" sz="1600">
                        <a:latin typeface="Cambria Math" panose="02040503050406030204" pitchFamily="18" charset="0"/>
                        <a:ea typeface="Cambria Math" panose="02040503050406030204" pitchFamily="18" charset="0"/>
                      </a:rPr>
                      <m:t>i</m:t>
                    </m:r>
                    <m:r>
                      <a:rPr lang="fr-FR" sz="1600" b="0" i="0" baseline="-25000" smtClean="0">
                        <a:latin typeface="Cambria Math" panose="02040503050406030204" pitchFamily="18" charset="0"/>
                        <a:ea typeface="Cambria Math" panose="02040503050406030204" pitchFamily="18" charset="0"/>
                      </a:rPr>
                      <m:t>2</m:t>
                    </m:r>
                    <m:r>
                      <a:rPr lang="fr-FR" sz="1600">
                        <a:latin typeface="Cambria Math" panose="02040503050406030204" pitchFamily="18" charset="0"/>
                        <a:ea typeface="Cambria Math" panose="02040503050406030204" pitchFamily="18" charset="0"/>
                      </a:rPr>
                      <m:t> </m:t>
                    </m:r>
                    <m:r>
                      <a:rPr lang="fr-FR" sz="1600" i="1">
                        <a:latin typeface="Cambria Math" panose="02040503050406030204" pitchFamily="18" charset="0"/>
                        <a:ea typeface="Cambria Math" panose="02040503050406030204" pitchFamily="18" charset="0"/>
                      </a:rPr>
                      <m:t>× </m:t>
                    </m:r>
                    <m:r>
                      <a:rPr lang="fr-FR" sz="1600" i="1">
                        <a:latin typeface="Cambria Math" panose="02040503050406030204" pitchFamily="18" charset="0"/>
                        <a:ea typeface="Cambria Math" panose="02040503050406030204" pitchFamily="18" charset="0"/>
                      </a:rPr>
                      <m:t>𝑤</m:t>
                    </m:r>
                    <m:r>
                      <a:rPr lang="fr-FR" sz="1600" b="0" i="1" baseline="-25000" smtClean="0">
                        <a:latin typeface="Cambria Math" panose="02040503050406030204" pitchFamily="18" charset="0"/>
                        <a:ea typeface="Cambria Math" panose="02040503050406030204" pitchFamily="18" charset="0"/>
                      </a:rPr>
                      <m:t>2</m:t>
                    </m:r>
                  </m:oMath>
                </a14:m>
                <a:r>
                  <a:rPr lang="fr-FR" sz="1600" i="1" dirty="0">
                    <a:latin typeface="Cambria Math" panose="02040503050406030204" pitchFamily="18" charset="0"/>
                  </a:rPr>
                  <a:t> </a:t>
                </a:r>
                <a:r>
                  <a:rPr lang="fr-FR" sz="1600" dirty="0">
                    <a:latin typeface="Cambria Math" panose="02040503050406030204" pitchFamily="18" charset="0"/>
                  </a:rPr>
                  <a:t>+ </a:t>
                </a:r>
                <a:r>
                  <a:rPr lang="fr-FR" sz="1600" b="0" dirty="0">
                    <a:latin typeface="Cambria Math" panose="02040503050406030204" pitchFamily="18" charset="0"/>
                  </a:rPr>
                  <a:t>b</a:t>
                </a:r>
                <a:r>
                  <a:rPr lang="fr-FR" sz="1600" b="0" baseline="-25000" dirty="0">
                    <a:latin typeface="Cambria Math" panose="02040503050406030204" pitchFamily="18" charset="0"/>
                  </a:rPr>
                  <a:t>1</a:t>
                </a:r>
                <a:r>
                  <a:rPr lang="fr-FR" sz="1600" dirty="0">
                    <a:latin typeface="Cambria Math" panose="02040503050406030204" pitchFamily="18" charset="0"/>
                  </a:rPr>
                  <a:t>     </a:t>
                </a:r>
                <a:r>
                  <a:rPr lang="fr-FR" sz="1600" b="1" dirty="0">
                    <a:latin typeface="Cambria Math" panose="02040503050406030204" pitchFamily="18" charset="0"/>
                  </a:rPr>
                  <a:t>out</a:t>
                </a:r>
                <a:r>
                  <a:rPr lang="fr-FR" sz="1600" dirty="0">
                    <a:latin typeface="Cambria Math" panose="02040503050406030204" pitchFamily="18" charset="0"/>
                  </a:rPr>
                  <a:t> </a:t>
                </a:r>
                <a14:m>
                  <m:oMath xmlns:m="http://schemas.openxmlformats.org/officeDocument/2006/math">
                    <m:r>
                      <a:rPr lang="fr-FR" sz="1600" b="0" i="1" smtClean="0">
                        <a:latin typeface="Cambria Math" panose="02040503050406030204" pitchFamily="18" charset="0"/>
                      </a:rPr>
                      <m:t>=</m:t>
                    </m:r>
                    <m:r>
                      <a:rPr lang="fr-FR" sz="1600" b="0" i="1" dirty="0" smtClean="0">
                        <a:latin typeface="Cambria Math" panose="02040503050406030204" pitchFamily="18" charset="0"/>
                        <a:ea typeface="Cambria Math" panose="02040503050406030204" pitchFamily="18" charset="0"/>
                      </a:rPr>
                      <m:t>𝜎</m:t>
                    </m:r>
                    <m:d>
                      <m:dPr>
                        <m:ctrlPr>
                          <a:rPr lang="fr-FR" sz="1600" b="0" i="1" smtClean="0">
                            <a:latin typeface="Cambria Math" panose="02040503050406030204" pitchFamily="18" charset="0"/>
                            <a:ea typeface="Cambria Math" panose="02040503050406030204" pitchFamily="18" charset="0"/>
                          </a:rPr>
                        </m:ctrlPr>
                      </m:dPr>
                      <m:e>
                        <m:r>
                          <m:rPr>
                            <m:sty m:val="p"/>
                          </m:rPr>
                          <a:rPr lang="fr-FR" sz="1600" b="0" i="0" smtClean="0">
                            <a:latin typeface="Cambria Math" panose="02040503050406030204" pitchFamily="18" charset="0"/>
                            <a:ea typeface="Cambria Math" panose="02040503050406030204" pitchFamily="18" charset="0"/>
                          </a:rPr>
                          <m:t>net</m:t>
                        </m:r>
                      </m:e>
                    </m:d>
                  </m:oMath>
                </a14:m>
                <a:r>
                  <a:rPr lang="fr-FR" sz="1600" b="0" dirty="0">
                    <a:latin typeface="Cambria Math" panose="02040503050406030204" pitchFamily="18" charset="0"/>
                    <a:ea typeface="Cambria Math" panose="02040503050406030204" pitchFamily="18" charset="0"/>
                  </a:rPr>
                  <a:t>           </a:t>
                </a:r>
              </a:p>
              <a:p>
                <a:pPr algn="ctr"/>
                <a:endParaRPr lang="fr-FR" sz="1600" dirty="0"/>
              </a:p>
            </p:txBody>
          </p:sp>
        </mc:Choice>
        <mc:Fallback xmlns="">
          <p:sp>
            <p:nvSpPr>
              <p:cNvPr id="43" name="ZoneTexte 42">
                <a:extLst>
                  <a:ext uri="{FF2B5EF4-FFF2-40B4-BE49-F238E27FC236}">
                    <a16:creationId xmlns:a16="http://schemas.microsoft.com/office/drawing/2014/main" id="{1F2622F4-B8F0-819E-B971-3C34D4595ABE}"/>
                  </a:ext>
                </a:extLst>
              </p:cNvPr>
              <p:cNvSpPr txBox="1">
                <a:spLocks noRot="1" noChangeAspect="1" noMove="1" noResize="1" noEditPoints="1" noAdjustHandles="1" noChangeArrowheads="1" noChangeShapeType="1" noTextEdit="1"/>
              </p:cNvSpPr>
              <p:nvPr/>
            </p:nvSpPr>
            <p:spPr>
              <a:xfrm>
                <a:off x="2699990" y="4668451"/>
                <a:ext cx="4242678" cy="738664"/>
              </a:xfrm>
              <a:prstGeom prst="rect">
                <a:avLst/>
              </a:prstGeom>
              <a:blipFill>
                <a:blip r:embed="rId2"/>
                <a:stretch>
                  <a:fillRect/>
                </a:stretch>
              </a:blipFill>
              <a:ln>
                <a:noFill/>
              </a:ln>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4" name="ZoneTexte 43">
                <a:extLst>
                  <a:ext uri="{FF2B5EF4-FFF2-40B4-BE49-F238E27FC236}">
                    <a16:creationId xmlns:a16="http://schemas.microsoft.com/office/drawing/2014/main" id="{34981418-3EA4-9E5E-980D-1852A71B735C}"/>
                  </a:ext>
                </a:extLst>
              </p:cNvPr>
              <p:cNvSpPr txBox="1"/>
              <p:nvPr/>
            </p:nvSpPr>
            <p:spPr>
              <a:xfrm>
                <a:off x="7031418" y="2533615"/>
                <a:ext cx="2324249" cy="302840"/>
              </a:xfrm>
              <a:prstGeom prst="rect">
                <a:avLst/>
              </a:prstGeom>
              <a:noFill/>
              <a:ln>
                <a:solidFill>
                  <a:schemeClr val="tx1">
                    <a:lumMod val="50000"/>
                    <a:lumOff val="50000"/>
                  </a:schemeClr>
                </a:solidFill>
              </a:ln>
            </p:spPr>
            <p:txBody>
              <a:bodyPr wrap="square" rtlCol="0">
                <a:spAutoFit/>
              </a:bodyPr>
              <a:lstStyle/>
              <a:p>
                <a:pPr algn="ctr"/>
                <a14:m>
                  <m:oMath xmlns:m="http://schemas.openxmlformats.org/officeDocument/2006/math">
                    <m:r>
                      <a:rPr lang="fr-FR" sz="1400" b="0" i="1" noProof="0" smtClean="0">
                        <a:latin typeface="Cambria Math" panose="02040503050406030204" pitchFamily="18" charset="0"/>
                      </a:rPr>
                      <m:t>𝐿𝑜𝑠𝑠</m:t>
                    </m:r>
                    <m:r>
                      <a:rPr lang="fr-FR" sz="1400" b="0" i="1" noProof="0" smtClean="0">
                        <a:latin typeface="Cambria Math" panose="02040503050406030204" pitchFamily="18" charset="0"/>
                      </a:rPr>
                      <m:t>= (</m:t>
                    </m:r>
                    <m:r>
                      <m:rPr>
                        <m:sty m:val="p"/>
                      </m:rPr>
                      <a:rPr lang="fr-FR" sz="1400" b="0" i="0" noProof="0" smtClean="0">
                        <a:latin typeface="Cambria Math" panose="02040503050406030204" pitchFamily="18" charset="0"/>
                      </a:rPr>
                      <m:t>ta</m:t>
                    </m:r>
                    <m:r>
                      <a:rPr lang="fr-FR" sz="1400" b="0" i="1" noProof="0" smtClean="0">
                        <a:latin typeface="Cambria Math" panose="02040503050406030204" pitchFamily="18" charset="0"/>
                      </a:rPr>
                      <m:t>𝑟𝑔𝑒𝑡</m:t>
                    </m:r>
                    <m:r>
                      <a:rPr lang="fr-FR" sz="1400" b="0" i="1" noProof="0" smtClean="0">
                        <a:latin typeface="Cambria Math" panose="02040503050406030204" pitchFamily="18" charset="0"/>
                      </a:rPr>
                      <m:t>−</m:t>
                    </m:r>
                    <m:r>
                      <m:rPr>
                        <m:sty m:val="p"/>
                      </m:rPr>
                      <a:rPr lang="fr-FR" sz="1400" b="0" i="0" noProof="0" smtClean="0">
                        <a:latin typeface="Cambria Math" panose="02040503050406030204" pitchFamily="18" charset="0"/>
                      </a:rPr>
                      <m:t>out</m:t>
                    </m:r>
                    <m:r>
                      <a:rPr lang="fr-FR" sz="1400" b="0" i="1" noProof="0" smtClean="0">
                        <a:latin typeface="Cambria Math" panose="02040503050406030204" pitchFamily="18" charset="0"/>
                      </a:rPr>
                      <m:t>)</m:t>
                    </m:r>
                  </m:oMath>
                </a14:m>
                <a:r>
                  <a:rPr lang="en-GB" sz="1400" baseline="30000" noProof="0" dirty="0"/>
                  <a:t>2</a:t>
                </a:r>
              </a:p>
            </p:txBody>
          </p:sp>
        </mc:Choice>
        <mc:Fallback xmlns="">
          <p:sp>
            <p:nvSpPr>
              <p:cNvPr id="44" name="ZoneTexte 43">
                <a:extLst>
                  <a:ext uri="{FF2B5EF4-FFF2-40B4-BE49-F238E27FC236}">
                    <a16:creationId xmlns:a16="http://schemas.microsoft.com/office/drawing/2014/main" id="{34981418-3EA4-9E5E-980D-1852A71B735C}"/>
                  </a:ext>
                </a:extLst>
              </p:cNvPr>
              <p:cNvSpPr txBox="1">
                <a:spLocks noRot="1" noChangeAspect="1" noMove="1" noResize="1" noEditPoints="1" noAdjustHandles="1" noChangeArrowheads="1" noChangeShapeType="1" noTextEdit="1"/>
              </p:cNvSpPr>
              <p:nvPr/>
            </p:nvSpPr>
            <p:spPr>
              <a:xfrm>
                <a:off x="7031418" y="2533615"/>
                <a:ext cx="2324249" cy="302840"/>
              </a:xfrm>
              <a:prstGeom prst="rect">
                <a:avLst/>
              </a:prstGeom>
              <a:blipFill>
                <a:blip r:embed="rId3"/>
                <a:stretch>
                  <a:fillRect b="-12000"/>
                </a:stretch>
              </a:blipFill>
              <a:ln>
                <a:solidFill>
                  <a:schemeClr val="tx1">
                    <a:lumMod val="50000"/>
                    <a:lumOff val="50000"/>
                  </a:schemeClr>
                </a:solidFill>
              </a:ln>
            </p:spPr>
            <p:txBody>
              <a:bodyPr/>
              <a:lstStyle/>
              <a:p>
                <a:r>
                  <a:rPr lang="en-GB">
                    <a:noFill/>
                  </a:rPr>
                  <a:t> </a:t>
                </a:r>
              </a:p>
            </p:txBody>
          </p:sp>
        </mc:Fallback>
      </mc:AlternateContent>
      <p:sp>
        <p:nvSpPr>
          <p:cNvPr id="46" name="Espace réservé du pied de page 45">
            <a:extLst>
              <a:ext uri="{FF2B5EF4-FFF2-40B4-BE49-F238E27FC236}">
                <a16:creationId xmlns:a16="http://schemas.microsoft.com/office/drawing/2014/main" id="{53B52A3E-EB4B-E932-01E7-3B3394274C60}"/>
              </a:ext>
            </a:extLst>
          </p:cNvPr>
          <p:cNvSpPr>
            <a:spLocks noGrp="1"/>
          </p:cNvSpPr>
          <p:nvPr>
            <p:ph type="ftr" sz="quarter" idx="11"/>
          </p:nvPr>
        </p:nvSpPr>
        <p:spPr/>
        <p:txBody>
          <a:bodyPr/>
          <a:lstStyle/>
          <a:p>
            <a:r>
              <a:rPr lang="fr-FR"/>
              <a:t>Introduction to Neural Networks. Author: David Thébault</a:t>
            </a:r>
          </a:p>
        </p:txBody>
      </p:sp>
      <p:cxnSp>
        <p:nvCxnSpPr>
          <p:cNvPr id="48" name="Connecteur droit 47">
            <a:extLst>
              <a:ext uri="{FF2B5EF4-FFF2-40B4-BE49-F238E27FC236}">
                <a16:creationId xmlns:a16="http://schemas.microsoft.com/office/drawing/2014/main" id="{16593453-20EC-E5FD-043B-15BF365281ED}"/>
              </a:ext>
            </a:extLst>
          </p:cNvPr>
          <p:cNvCxnSpPr>
            <a:cxnSpLocks/>
          </p:cNvCxnSpPr>
          <p:nvPr/>
        </p:nvCxnSpPr>
        <p:spPr>
          <a:xfrm>
            <a:off x="5523184" y="4551696"/>
            <a:ext cx="0" cy="898487"/>
          </a:xfrm>
          <a:prstGeom prst="line">
            <a:avLst/>
          </a:prstGeom>
        </p:spPr>
        <p:style>
          <a:lnRef idx="2">
            <a:schemeClr val="accent1"/>
          </a:lnRef>
          <a:fillRef idx="0">
            <a:schemeClr val="accent1"/>
          </a:fillRef>
          <a:effectRef idx="1">
            <a:schemeClr val="accent1"/>
          </a:effectRef>
          <a:fontRef idx="minor">
            <a:schemeClr val="tx1"/>
          </a:fontRef>
        </p:style>
      </p:cxnSp>
      <p:sp>
        <p:nvSpPr>
          <p:cNvPr id="50" name="ZoneTexte 49">
            <a:extLst>
              <a:ext uri="{FF2B5EF4-FFF2-40B4-BE49-F238E27FC236}">
                <a16:creationId xmlns:a16="http://schemas.microsoft.com/office/drawing/2014/main" id="{53998EF1-9D5E-CDAF-32B7-2EF38FEB67EB}"/>
              </a:ext>
            </a:extLst>
          </p:cNvPr>
          <p:cNvSpPr txBox="1"/>
          <p:nvPr/>
        </p:nvSpPr>
        <p:spPr>
          <a:xfrm>
            <a:off x="838200" y="1532877"/>
            <a:ext cx="6773333" cy="369332"/>
          </a:xfrm>
          <a:prstGeom prst="rect">
            <a:avLst/>
          </a:prstGeom>
          <a:noFill/>
        </p:spPr>
        <p:txBody>
          <a:bodyPr wrap="square" rtlCol="0">
            <a:spAutoFit/>
          </a:bodyPr>
          <a:lstStyle/>
          <a:p>
            <a:r>
              <a:rPr lang="en-GB" noProof="0" dirty="0"/>
              <a:t>Two inputs and a single neuron with an activation function sigma</a:t>
            </a:r>
          </a:p>
        </p:txBody>
      </p:sp>
      <p:sp>
        <p:nvSpPr>
          <p:cNvPr id="51" name="Flèche vers la droite 50">
            <a:extLst>
              <a:ext uri="{FF2B5EF4-FFF2-40B4-BE49-F238E27FC236}">
                <a16:creationId xmlns:a16="http://schemas.microsoft.com/office/drawing/2014/main" id="{F9669571-97CE-35AD-518F-2E94F5DFAD9F}"/>
              </a:ext>
            </a:extLst>
          </p:cNvPr>
          <p:cNvSpPr/>
          <p:nvPr/>
        </p:nvSpPr>
        <p:spPr>
          <a:xfrm>
            <a:off x="3455054" y="3725256"/>
            <a:ext cx="3159881" cy="104030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3200" b="1" noProof="0" dirty="0"/>
              <a:t>Forward Pass</a:t>
            </a:r>
          </a:p>
        </p:txBody>
      </p:sp>
      <p:sp>
        <p:nvSpPr>
          <p:cNvPr id="3" name="ZoneTexte 2">
            <a:extLst>
              <a:ext uri="{FF2B5EF4-FFF2-40B4-BE49-F238E27FC236}">
                <a16:creationId xmlns:a16="http://schemas.microsoft.com/office/drawing/2014/main" id="{65A1CA96-3A50-56F2-EE43-8E8DBBF30744}"/>
              </a:ext>
            </a:extLst>
          </p:cNvPr>
          <p:cNvSpPr txBox="1"/>
          <p:nvPr/>
        </p:nvSpPr>
        <p:spPr>
          <a:xfrm>
            <a:off x="797762" y="5775497"/>
            <a:ext cx="6773333" cy="369332"/>
          </a:xfrm>
          <a:prstGeom prst="rect">
            <a:avLst/>
          </a:prstGeom>
          <a:noFill/>
        </p:spPr>
        <p:txBody>
          <a:bodyPr wrap="square" rtlCol="0">
            <a:spAutoFit/>
          </a:bodyPr>
          <a:lstStyle/>
          <a:p>
            <a:r>
              <a:rPr lang="en-GB" noProof="0" dirty="0"/>
              <a:t>A neuron is also called a unit or a node.</a:t>
            </a:r>
          </a:p>
        </p:txBody>
      </p:sp>
    </p:spTree>
    <p:extLst>
      <p:ext uri="{BB962C8B-B14F-4D97-AF65-F5344CB8AC3E}">
        <p14:creationId xmlns:p14="http://schemas.microsoft.com/office/powerpoint/2010/main" val="37524599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6697F-7E94-3A58-A617-C86EF57DFF0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5288E6F-8E78-20BB-F08A-CEE2801A7647}"/>
              </a:ext>
            </a:extLst>
          </p:cNvPr>
          <p:cNvSpPr>
            <a:spLocks noGrp="1"/>
          </p:cNvSpPr>
          <p:nvPr>
            <p:ph type="title"/>
          </p:nvPr>
        </p:nvSpPr>
        <p:spPr/>
        <p:txBody>
          <a:bodyPr/>
          <a:lstStyle/>
          <a:p>
            <a:r>
              <a:rPr lang="fr-FR" dirty="0"/>
              <a:t>Perceptron</a:t>
            </a:r>
          </a:p>
        </p:txBody>
      </p:sp>
      <p:grpSp>
        <p:nvGrpSpPr>
          <p:cNvPr id="12" name="Groupe 11">
            <a:extLst>
              <a:ext uri="{FF2B5EF4-FFF2-40B4-BE49-F238E27FC236}">
                <a16:creationId xmlns:a16="http://schemas.microsoft.com/office/drawing/2014/main" id="{8EE63592-880F-4F32-71EF-38F71F116F81}"/>
              </a:ext>
            </a:extLst>
          </p:cNvPr>
          <p:cNvGrpSpPr/>
          <p:nvPr/>
        </p:nvGrpSpPr>
        <p:grpSpPr>
          <a:xfrm>
            <a:off x="4992412" y="2220312"/>
            <a:ext cx="1061545" cy="1061545"/>
            <a:chOff x="3563007" y="2367455"/>
            <a:chExt cx="1061545" cy="1061545"/>
          </a:xfrm>
        </p:grpSpPr>
        <p:sp>
          <p:nvSpPr>
            <p:cNvPr id="4" name="Ellipse 3">
              <a:extLst>
                <a:ext uri="{FF2B5EF4-FFF2-40B4-BE49-F238E27FC236}">
                  <a16:creationId xmlns:a16="http://schemas.microsoft.com/office/drawing/2014/main" id="{3643038B-AE9E-C8E4-5B90-0B185578F59A}"/>
                </a:ext>
              </a:extLst>
            </p:cNvPr>
            <p:cNvSpPr/>
            <p:nvPr/>
          </p:nvSpPr>
          <p:spPr>
            <a:xfrm>
              <a:off x="3563007" y="2367455"/>
              <a:ext cx="1061545" cy="106154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1400" dirty="0"/>
            </a:p>
          </p:txBody>
        </p:sp>
        <p:cxnSp>
          <p:nvCxnSpPr>
            <p:cNvPr id="8" name="Connecteur droit 7">
              <a:extLst>
                <a:ext uri="{FF2B5EF4-FFF2-40B4-BE49-F238E27FC236}">
                  <a16:creationId xmlns:a16="http://schemas.microsoft.com/office/drawing/2014/main" id="{7EC34DA1-7E58-5BF8-2BA9-8C7F5347843E}"/>
                </a:ext>
              </a:extLst>
            </p:cNvPr>
            <p:cNvCxnSpPr>
              <a:stCxn id="4" idx="0"/>
              <a:endCxn id="4" idx="4"/>
            </p:cNvCxnSpPr>
            <p:nvPr/>
          </p:nvCxnSpPr>
          <p:spPr>
            <a:xfrm>
              <a:off x="4093780" y="2367455"/>
              <a:ext cx="0" cy="1061545"/>
            </a:xfrm>
            <a:prstGeom prst="line">
              <a:avLst/>
            </a:prstGeom>
          </p:spPr>
          <p:style>
            <a:lnRef idx="2">
              <a:schemeClr val="accent1"/>
            </a:lnRef>
            <a:fillRef idx="0">
              <a:schemeClr val="accent1"/>
            </a:fillRef>
            <a:effectRef idx="1">
              <a:schemeClr val="accent1"/>
            </a:effectRef>
            <a:fontRef idx="minor">
              <a:schemeClr val="tx1"/>
            </a:fontRef>
          </p:style>
        </p:cxnSp>
      </p:grpSp>
      <p:cxnSp>
        <p:nvCxnSpPr>
          <p:cNvPr id="17" name="Connecteur droit avec flèche 16">
            <a:extLst>
              <a:ext uri="{FF2B5EF4-FFF2-40B4-BE49-F238E27FC236}">
                <a16:creationId xmlns:a16="http://schemas.microsoft.com/office/drawing/2014/main" id="{6D3665A4-2034-E2CD-297B-2692893499F4}"/>
              </a:ext>
            </a:extLst>
          </p:cNvPr>
          <p:cNvCxnSpPr>
            <a:cxnSpLocks/>
          </p:cNvCxnSpPr>
          <p:nvPr/>
        </p:nvCxnSpPr>
        <p:spPr>
          <a:xfrm>
            <a:off x="4056991" y="2572409"/>
            <a:ext cx="9354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27F1B799-B5A0-5F36-589D-FC34F5B6F118}"/>
              </a:ext>
            </a:extLst>
          </p:cNvPr>
          <p:cNvCxnSpPr>
            <a:cxnSpLocks/>
          </p:cNvCxnSpPr>
          <p:nvPr/>
        </p:nvCxnSpPr>
        <p:spPr>
          <a:xfrm>
            <a:off x="4056991" y="2995453"/>
            <a:ext cx="9354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ZoneTexte 20">
            <a:extLst>
              <a:ext uri="{FF2B5EF4-FFF2-40B4-BE49-F238E27FC236}">
                <a16:creationId xmlns:a16="http://schemas.microsoft.com/office/drawing/2014/main" id="{5820E6D2-2402-C901-D83A-BF3EB1FAE9FB}"/>
              </a:ext>
            </a:extLst>
          </p:cNvPr>
          <p:cNvSpPr txBox="1"/>
          <p:nvPr/>
        </p:nvSpPr>
        <p:spPr>
          <a:xfrm>
            <a:off x="3444763" y="2216780"/>
            <a:ext cx="599090" cy="523220"/>
          </a:xfrm>
          <a:prstGeom prst="rect">
            <a:avLst/>
          </a:prstGeom>
          <a:noFill/>
        </p:spPr>
        <p:txBody>
          <a:bodyPr wrap="square" rtlCol="0">
            <a:spAutoFit/>
          </a:bodyPr>
          <a:lstStyle/>
          <a:p>
            <a:pPr algn="ctr"/>
            <a:r>
              <a:rPr lang="fr-FR" sz="2800" dirty="0"/>
              <a:t>i</a:t>
            </a:r>
            <a:r>
              <a:rPr lang="fr-FR" sz="2800" baseline="-25000" dirty="0"/>
              <a:t>1</a:t>
            </a:r>
          </a:p>
        </p:txBody>
      </p:sp>
      <p:sp>
        <p:nvSpPr>
          <p:cNvPr id="22" name="ZoneTexte 21">
            <a:extLst>
              <a:ext uri="{FF2B5EF4-FFF2-40B4-BE49-F238E27FC236}">
                <a16:creationId xmlns:a16="http://schemas.microsoft.com/office/drawing/2014/main" id="{912B492C-CB8C-DFD0-A3A2-E425507AC395}"/>
              </a:ext>
            </a:extLst>
          </p:cNvPr>
          <p:cNvSpPr txBox="1"/>
          <p:nvPr/>
        </p:nvSpPr>
        <p:spPr>
          <a:xfrm>
            <a:off x="3468411" y="2731875"/>
            <a:ext cx="599090" cy="523220"/>
          </a:xfrm>
          <a:prstGeom prst="rect">
            <a:avLst/>
          </a:prstGeom>
          <a:noFill/>
        </p:spPr>
        <p:txBody>
          <a:bodyPr wrap="square" rtlCol="0">
            <a:spAutoFit/>
          </a:bodyPr>
          <a:lstStyle/>
          <a:p>
            <a:pPr algn="ctr"/>
            <a:r>
              <a:rPr lang="fr-FR" sz="2800" dirty="0"/>
              <a:t>i</a:t>
            </a:r>
            <a:r>
              <a:rPr lang="fr-FR" sz="2800" baseline="-25000" dirty="0"/>
              <a:t>2</a:t>
            </a:r>
          </a:p>
        </p:txBody>
      </p:sp>
      <p:sp>
        <p:nvSpPr>
          <p:cNvPr id="28" name="ZoneTexte 27">
            <a:extLst>
              <a:ext uri="{FF2B5EF4-FFF2-40B4-BE49-F238E27FC236}">
                <a16:creationId xmlns:a16="http://schemas.microsoft.com/office/drawing/2014/main" id="{90F15958-15AD-E045-E7A8-51D4A729878F}"/>
              </a:ext>
            </a:extLst>
          </p:cNvPr>
          <p:cNvSpPr txBox="1"/>
          <p:nvPr/>
        </p:nvSpPr>
        <p:spPr>
          <a:xfrm>
            <a:off x="4184429" y="2222692"/>
            <a:ext cx="599090"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w1</a:t>
            </a:r>
          </a:p>
        </p:txBody>
      </p:sp>
      <p:sp>
        <p:nvSpPr>
          <p:cNvPr id="29" name="ZoneTexte 28">
            <a:extLst>
              <a:ext uri="{FF2B5EF4-FFF2-40B4-BE49-F238E27FC236}">
                <a16:creationId xmlns:a16="http://schemas.microsoft.com/office/drawing/2014/main" id="{BA128913-CA4E-7801-EABE-ED577D711201}"/>
              </a:ext>
            </a:extLst>
          </p:cNvPr>
          <p:cNvSpPr txBox="1"/>
          <p:nvPr/>
        </p:nvSpPr>
        <p:spPr>
          <a:xfrm>
            <a:off x="4184429" y="2954896"/>
            <a:ext cx="599090"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w2</a:t>
            </a:r>
          </a:p>
        </p:txBody>
      </p:sp>
      <p:cxnSp>
        <p:nvCxnSpPr>
          <p:cNvPr id="30" name="Connecteur droit avec flèche 29">
            <a:extLst>
              <a:ext uri="{FF2B5EF4-FFF2-40B4-BE49-F238E27FC236}">
                <a16:creationId xmlns:a16="http://schemas.microsoft.com/office/drawing/2014/main" id="{8FD7AFA6-C611-862C-B89B-23285B623A2B}"/>
              </a:ext>
            </a:extLst>
          </p:cNvPr>
          <p:cNvCxnSpPr>
            <a:cxnSpLocks/>
          </p:cNvCxnSpPr>
          <p:nvPr/>
        </p:nvCxnSpPr>
        <p:spPr>
          <a:xfrm>
            <a:off x="6074977" y="2742628"/>
            <a:ext cx="9354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necteur droit avec flèche 31">
            <a:extLst>
              <a:ext uri="{FF2B5EF4-FFF2-40B4-BE49-F238E27FC236}">
                <a16:creationId xmlns:a16="http://schemas.microsoft.com/office/drawing/2014/main" id="{87FF0364-CB61-9520-AB50-5CC394E43775}"/>
              </a:ext>
            </a:extLst>
          </p:cNvPr>
          <p:cNvCxnSpPr>
            <a:cxnSpLocks/>
          </p:cNvCxnSpPr>
          <p:nvPr/>
        </p:nvCxnSpPr>
        <p:spPr>
          <a:xfrm flipV="1">
            <a:off x="4651482" y="3166246"/>
            <a:ext cx="493330" cy="5994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ZoneTexte 35">
            <a:extLst>
              <a:ext uri="{FF2B5EF4-FFF2-40B4-BE49-F238E27FC236}">
                <a16:creationId xmlns:a16="http://schemas.microsoft.com/office/drawing/2014/main" id="{BBB8732F-DA33-D125-1B22-FBADC34E2D3D}"/>
              </a:ext>
            </a:extLst>
          </p:cNvPr>
          <p:cNvSpPr txBox="1"/>
          <p:nvPr/>
        </p:nvSpPr>
        <p:spPr>
          <a:xfrm>
            <a:off x="4184429" y="3641845"/>
            <a:ext cx="599090"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b1</a:t>
            </a:r>
          </a:p>
        </p:txBody>
      </p:sp>
      <p:sp>
        <p:nvSpPr>
          <p:cNvPr id="41" name="ZoneTexte 40">
            <a:extLst>
              <a:ext uri="{FF2B5EF4-FFF2-40B4-BE49-F238E27FC236}">
                <a16:creationId xmlns:a16="http://schemas.microsoft.com/office/drawing/2014/main" id="{E6CD7572-1C4C-E38C-5726-A87CD9717745}"/>
              </a:ext>
            </a:extLst>
          </p:cNvPr>
          <p:cNvSpPr txBox="1"/>
          <p:nvPr/>
        </p:nvSpPr>
        <p:spPr>
          <a:xfrm>
            <a:off x="5034995" y="2635155"/>
            <a:ext cx="517929" cy="307777"/>
          </a:xfrm>
          <a:prstGeom prst="rect">
            <a:avLst/>
          </a:prstGeom>
          <a:noFill/>
        </p:spPr>
        <p:txBody>
          <a:bodyPr wrap="square" rtlCol="0">
            <a:spAutoFit/>
          </a:bodyPr>
          <a:lstStyle/>
          <a:p>
            <a:pPr algn="ctr"/>
            <a:r>
              <a:rPr lang="fr-FR" sz="1400" dirty="0"/>
              <a:t>net</a:t>
            </a:r>
          </a:p>
        </p:txBody>
      </p:sp>
      <p:sp>
        <p:nvSpPr>
          <p:cNvPr id="42" name="ZoneTexte 41">
            <a:extLst>
              <a:ext uri="{FF2B5EF4-FFF2-40B4-BE49-F238E27FC236}">
                <a16:creationId xmlns:a16="http://schemas.microsoft.com/office/drawing/2014/main" id="{E39E1F35-E503-668C-1994-796BCFB6213F}"/>
              </a:ext>
            </a:extLst>
          </p:cNvPr>
          <p:cNvSpPr txBox="1"/>
          <p:nvPr/>
        </p:nvSpPr>
        <p:spPr>
          <a:xfrm>
            <a:off x="5486866" y="2635155"/>
            <a:ext cx="517929" cy="307777"/>
          </a:xfrm>
          <a:prstGeom prst="rect">
            <a:avLst/>
          </a:prstGeom>
          <a:noFill/>
        </p:spPr>
        <p:txBody>
          <a:bodyPr wrap="square" rtlCol="0">
            <a:spAutoFit/>
          </a:bodyPr>
          <a:lstStyle/>
          <a:p>
            <a:pPr algn="ctr"/>
            <a:r>
              <a:rPr lang="fr-FR" sz="1400" dirty="0"/>
              <a:t>out</a:t>
            </a:r>
          </a:p>
        </p:txBody>
      </p:sp>
      <mc:AlternateContent xmlns:mc="http://schemas.openxmlformats.org/markup-compatibility/2006" xmlns:a14="http://schemas.microsoft.com/office/drawing/2010/main">
        <mc:Choice Requires="a14">
          <p:sp>
            <p:nvSpPr>
              <p:cNvPr id="44" name="ZoneTexte 43">
                <a:extLst>
                  <a:ext uri="{FF2B5EF4-FFF2-40B4-BE49-F238E27FC236}">
                    <a16:creationId xmlns:a16="http://schemas.microsoft.com/office/drawing/2014/main" id="{744D9A07-9695-FE8A-ACDC-90C95098A139}"/>
                  </a:ext>
                </a:extLst>
              </p:cNvPr>
              <p:cNvSpPr txBox="1"/>
              <p:nvPr/>
            </p:nvSpPr>
            <p:spPr>
              <a:xfrm>
                <a:off x="7031418" y="2533615"/>
                <a:ext cx="2324249" cy="302840"/>
              </a:xfrm>
              <a:prstGeom prst="rect">
                <a:avLst/>
              </a:prstGeom>
              <a:noFill/>
              <a:ln>
                <a:solidFill>
                  <a:schemeClr val="tx1">
                    <a:lumMod val="50000"/>
                    <a:lumOff val="50000"/>
                  </a:schemeClr>
                </a:solidFill>
              </a:ln>
            </p:spPr>
            <p:txBody>
              <a:bodyPr wrap="square" rtlCol="0">
                <a:spAutoFit/>
              </a:bodyPr>
              <a:lstStyle/>
              <a:p>
                <a:pPr algn="ctr"/>
                <a14:m>
                  <m:oMath xmlns:m="http://schemas.openxmlformats.org/officeDocument/2006/math">
                    <m:r>
                      <a:rPr lang="fr-FR" sz="1400" b="0" i="1" noProof="0" smtClean="0">
                        <a:latin typeface="Cambria Math" panose="02040503050406030204" pitchFamily="18" charset="0"/>
                      </a:rPr>
                      <m:t>𝐿𝑜𝑠𝑠</m:t>
                    </m:r>
                    <m:r>
                      <a:rPr lang="fr-FR" sz="1400" b="0" i="1" noProof="0" smtClean="0">
                        <a:latin typeface="Cambria Math" panose="02040503050406030204" pitchFamily="18" charset="0"/>
                      </a:rPr>
                      <m:t>= (</m:t>
                    </m:r>
                    <m:r>
                      <m:rPr>
                        <m:sty m:val="p"/>
                      </m:rPr>
                      <a:rPr lang="fr-FR" sz="1400" b="0" i="0" noProof="0" smtClean="0">
                        <a:latin typeface="Cambria Math" panose="02040503050406030204" pitchFamily="18" charset="0"/>
                      </a:rPr>
                      <m:t>ta</m:t>
                    </m:r>
                    <m:r>
                      <a:rPr lang="fr-FR" sz="1400" b="0" i="1" noProof="0" smtClean="0">
                        <a:latin typeface="Cambria Math" panose="02040503050406030204" pitchFamily="18" charset="0"/>
                      </a:rPr>
                      <m:t>𝑟𝑔𝑒𝑡</m:t>
                    </m:r>
                    <m:r>
                      <a:rPr lang="fr-FR" sz="1400" b="0" i="1" noProof="0" smtClean="0">
                        <a:latin typeface="Cambria Math" panose="02040503050406030204" pitchFamily="18" charset="0"/>
                      </a:rPr>
                      <m:t>−</m:t>
                    </m:r>
                    <m:r>
                      <a:rPr lang="fr-FR" sz="1400" b="0" i="1" noProof="0" smtClean="0">
                        <a:latin typeface="Cambria Math" panose="02040503050406030204" pitchFamily="18" charset="0"/>
                      </a:rPr>
                      <m:t>𝑜𝑢𝑡</m:t>
                    </m:r>
                    <m:r>
                      <a:rPr lang="fr-FR" sz="1400" b="0" i="1" noProof="0" smtClean="0">
                        <a:latin typeface="Cambria Math" panose="02040503050406030204" pitchFamily="18" charset="0"/>
                      </a:rPr>
                      <m:t>)</m:t>
                    </m:r>
                  </m:oMath>
                </a14:m>
                <a:r>
                  <a:rPr lang="en-GB" sz="1400" baseline="30000" noProof="0" dirty="0"/>
                  <a:t>2</a:t>
                </a:r>
              </a:p>
            </p:txBody>
          </p:sp>
        </mc:Choice>
        <mc:Fallback xmlns="">
          <p:sp>
            <p:nvSpPr>
              <p:cNvPr id="44" name="ZoneTexte 43">
                <a:extLst>
                  <a:ext uri="{FF2B5EF4-FFF2-40B4-BE49-F238E27FC236}">
                    <a16:creationId xmlns:a16="http://schemas.microsoft.com/office/drawing/2014/main" id="{744D9A07-9695-FE8A-ACDC-90C95098A139}"/>
                  </a:ext>
                </a:extLst>
              </p:cNvPr>
              <p:cNvSpPr txBox="1">
                <a:spLocks noRot="1" noChangeAspect="1" noMove="1" noResize="1" noEditPoints="1" noAdjustHandles="1" noChangeArrowheads="1" noChangeShapeType="1" noTextEdit="1"/>
              </p:cNvSpPr>
              <p:nvPr/>
            </p:nvSpPr>
            <p:spPr>
              <a:xfrm>
                <a:off x="7031418" y="2533615"/>
                <a:ext cx="2324249" cy="302840"/>
              </a:xfrm>
              <a:prstGeom prst="rect">
                <a:avLst/>
              </a:prstGeom>
              <a:blipFill>
                <a:blip r:embed="rId2"/>
                <a:stretch>
                  <a:fillRect b="-12000"/>
                </a:stretch>
              </a:blipFill>
              <a:ln>
                <a:solidFill>
                  <a:schemeClr val="tx1">
                    <a:lumMod val="50000"/>
                    <a:lumOff val="50000"/>
                  </a:schemeClr>
                </a:solidFill>
              </a:ln>
            </p:spPr>
            <p:txBody>
              <a:bodyPr/>
              <a:lstStyle/>
              <a:p>
                <a:r>
                  <a:rPr lang="en-GB">
                    <a:noFill/>
                  </a:rPr>
                  <a:t> </a:t>
                </a:r>
              </a:p>
            </p:txBody>
          </p:sp>
        </mc:Fallback>
      </mc:AlternateContent>
      <p:sp>
        <p:nvSpPr>
          <p:cNvPr id="46" name="Espace réservé du pied de page 45">
            <a:extLst>
              <a:ext uri="{FF2B5EF4-FFF2-40B4-BE49-F238E27FC236}">
                <a16:creationId xmlns:a16="http://schemas.microsoft.com/office/drawing/2014/main" id="{625A4ECB-A2A1-7C2F-B234-DDFBF2B8DB59}"/>
              </a:ext>
            </a:extLst>
          </p:cNvPr>
          <p:cNvSpPr>
            <a:spLocks noGrp="1"/>
          </p:cNvSpPr>
          <p:nvPr>
            <p:ph type="ftr" sz="quarter" idx="11"/>
          </p:nvPr>
        </p:nvSpPr>
        <p:spPr/>
        <p:txBody>
          <a:bodyPr/>
          <a:lstStyle/>
          <a:p>
            <a:r>
              <a:rPr lang="fr-FR"/>
              <a:t>Introduction to Neural Networks. Author: David Thébault</a:t>
            </a:r>
          </a:p>
        </p:txBody>
      </p:sp>
      <p:sp>
        <p:nvSpPr>
          <p:cNvPr id="50" name="ZoneTexte 49">
            <a:extLst>
              <a:ext uri="{FF2B5EF4-FFF2-40B4-BE49-F238E27FC236}">
                <a16:creationId xmlns:a16="http://schemas.microsoft.com/office/drawing/2014/main" id="{30FE192E-571D-6CFA-ED9E-08E90FA20923}"/>
              </a:ext>
            </a:extLst>
          </p:cNvPr>
          <p:cNvSpPr txBox="1"/>
          <p:nvPr/>
        </p:nvSpPr>
        <p:spPr>
          <a:xfrm>
            <a:off x="838200" y="1532877"/>
            <a:ext cx="6773333" cy="369332"/>
          </a:xfrm>
          <a:prstGeom prst="rect">
            <a:avLst/>
          </a:prstGeom>
          <a:noFill/>
        </p:spPr>
        <p:txBody>
          <a:bodyPr wrap="square" rtlCol="0">
            <a:spAutoFit/>
          </a:bodyPr>
          <a:lstStyle/>
          <a:p>
            <a:r>
              <a:rPr lang="en-GB" noProof="0" dirty="0"/>
              <a:t>How do we find the optimal w</a:t>
            </a:r>
            <a:r>
              <a:rPr lang="en-GB" baseline="-25000" noProof="0" dirty="0"/>
              <a:t>1</a:t>
            </a:r>
            <a:r>
              <a:rPr lang="en-GB" noProof="0" dirty="0"/>
              <a:t>, w</a:t>
            </a:r>
            <a:r>
              <a:rPr lang="en-GB" baseline="-25000" noProof="0" dirty="0"/>
              <a:t>2</a:t>
            </a:r>
            <a:r>
              <a:rPr lang="en-GB" noProof="0" dirty="0"/>
              <a:t> and b</a:t>
            </a:r>
            <a:r>
              <a:rPr lang="en-GB" baseline="-25000" noProof="0" dirty="0"/>
              <a:t>1</a:t>
            </a:r>
            <a:r>
              <a:rPr lang="en-GB" noProof="0" dirty="0"/>
              <a:t> that minimize the loss ?</a:t>
            </a:r>
          </a:p>
        </p:txBody>
      </p:sp>
      <p:sp>
        <p:nvSpPr>
          <p:cNvPr id="3" name="Flèche vers la gauche 2">
            <a:extLst>
              <a:ext uri="{FF2B5EF4-FFF2-40B4-BE49-F238E27FC236}">
                <a16:creationId xmlns:a16="http://schemas.microsoft.com/office/drawing/2014/main" id="{8EDC9AC9-F979-555E-116D-A7FD72E59984}"/>
              </a:ext>
            </a:extLst>
          </p:cNvPr>
          <p:cNvSpPr/>
          <p:nvPr/>
        </p:nvSpPr>
        <p:spPr>
          <a:xfrm>
            <a:off x="3276600" y="4030133"/>
            <a:ext cx="4030133" cy="795867"/>
          </a:xfrm>
          <a:prstGeom prst="lef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dirty="0"/>
              <a:t>BACKPROPAGATION</a:t>
            </a:r>
          </a:p>
        </p:txBody>
      </p:sp>
    </p:spTree>
    <p:extLst>
      <p:ext uri="{BB962C8B-B14F-4D97-AF65-F5344CB8AC3E}">
        <p14:creationId xmlns:p14="http://schemas.microsoft.com/office/powerpoint/2010/main" val="15312477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68CAE-3651-0B34-C30F-D6BBC5D602E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7C0689E-21F4-874C-BEB7-E405F471ABBA}"/>
              </a:ext>
            </a:extLst>
          </p:cNvPr>
          <p:cNvSpPr>
            <a:spLocks noGrp="1"/>
          </p:cNvSpPr>
          <p:nvPr>
            <p:ph type="title"/>
          </p:nvPr>
        </p:nvSpPr>
        <p:spPr/>
        <p:txBody>
          <a:bodyPr/>
          <a:lstStyle/>
          <a:p>
            <a:r>
              <a:rPr lang="fr-FR" dirty="0"/>
              <a:t>Perceptron</a:t>
            </a:r>
          </a:p>
        </p:txBody>
      </p:sp>
      <p:grpSp>
        <p:nvGrpSpPr>
          <p:cNvPr id="12" name="Groupe 11">
            <a:extLst>
              <a:ext uri="{FF2B5EF4-FFF2-40B4-BE49-F238E27FC236}">
                <a16:creationId xmlns:a16="http://schemas.microsoft.com/office/drawing/2014/main" id="{D1F58048-8BC7-4B6F-2CC7-F3D7635FED10}"/>
              </a:ext>
            </a:extLst>
          </p:cNvPr>
          <p:cNvGrpSpPr/>
          <p:nvPr/>
        </p:nvGrpSpPr>
        <p:grpSpPr>
          <a:xfrm>
            <a:off x="4992412" y="2220312"/>
            <a:ext cx="1061545" cy="1061545"/>
            <a:chOff x="3563007" y="2367455"/>
            <a:chExt cx="1061545" cy="1061545"/>
          </a:xfrm>
        </p:grpSpPr>
        <p:sp>
          <p:nvSpPr>
            <p:cNvPr id="4" name="Ellipse 3">
              <a:extLst>
                <a:ext uri="{FF2B5EF4-FFF2-40B4-BE49-F238E27FC236}">
                  <a16:creationId xmlns:a16="http://schemas.microsoft.com/office/drawing/2014/main" id="{B96C5A81-ED07-4827-F518-0C33A62EE076}"/>
                </a:ext>
              </a:extLst>
            </p:cNvPr>
            <p:cNvSpPr/>
            <p:nvPr/>
          </p:nvSpPr>
          <p:spPr>
            <a:xfrm>
              <a:off x="3563007" y="2367455"/>
              <a:ext cx="1061545" cy="106154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1400" dirty="0"/>
            </a:p>
          </p:txBody>
        </p:sp>
        <p:cxnSp>
          <p:nvCxnSpPr>
            <p:cNvPr id="8" name="Connecteur droit 7">
              <a:extLst>
                <a:ext uri="{FF2B5EF4-FFF2-40B4-BE49-F238E27FC236}">
                  <a16:creationId xmlns:a16="http://schemas.microsoft.com/office/drawing/2014/main" id="{3734B157-B67F-8E4D-2BEB-FCF16504EB3A}"/>
                </a:ext>
              </a:extLst>
            </p:cNvPr>
            <p:cNvCxnSpPr>
              <a:stCxn id="4" idx="0"/>
              <a:endCxn id="4" idx="4"/>
            </p:cNvCxnSpPr>
            <p:nvPr/>
          </p:nvCxnSpPr>
          <p:spPr>
            <a:xfrm>
              <a:off x="4093780" y="2367455"/>
              <a:ext cx="0" cy="1061545"/>
            </a:xfrm>
            <a:prstGeom prst="line">
              <a:avLst/>
            </a:prstGeom>
          </p:spPr>
          <p:style>
            <a:lnRef idx="2">
              <a:schemeClr val="accent1"/>
            </a:lnRef>
            <a:fillRef idx="0">
              <a:schemeClr val="accent1"/>
            </a:fillRef>
            <a:effectRef idx="1">
              <a:schemeClr val="accent1"/>
            </a:effectRef>
            <a:fontRef idx="minor">
              <a:schemeClr val="tx1"/>
            </a:fontRef>
          </p:style>
        </p:cxnSp>
      </p:grpSp>
      <p:cxnSp>
        <p:nvCxnSpPr>
          <p:cNvPr id="17" name="Connecteur droit avec flèche 16">
            <a:extLst>
              <a:ext uri="{FF2B5EF4-FFF2-40B4-BE49-F238E27FC236}">
                <a16:creationId xmlns:a16="http://schemas.microsoft.com/office/drawing/2014/main" id="{14A89B5C-6903-C463-C94F-3CA32690E545}"/>
              </a:ext>
            </a:extLst>
          </p:cNvPr>
          <p:cNvCxnSpPr>
            <a:cxnSpLocks/>
          </p:cNvCxnSpPr>
          <p:nvPr/>
        </p:nvCxnSpPr>
        <p:spPr>
          <a:xfrm>
            <a:off x="4056991" y="2572409"/>
            <a:ext cx="9354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2ED706EC-6155-6D63-292E-EBCF013B02E0}"/>
              </a:ext>
            </a:extLst>
          </p:cNvPr>
          <p:cNvCxnSpPr>
            <a:cxnSpLocks/>
          </p:cNvCxnSpPr>
          <p:nvPr/>
        </p:nvCxnSpPr>
        <p:spPr>
          <a:xfrm>
            <a:off x="4056991" y="2995453"/>
            <a:ext cx="9354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ZoneTexte 20">
            <a:extLst>
              <a:ext uri="{FF2B5EF4-FFF2-40B4-BE49-F238E27FC236}">
                <a16:creationId xmlns:a16="http://schemas.microsoft.com/office/drawing/2014/main" id="{0888FD4B-7352-8527-6583-23AD9D811B3A}"/>
              </a:ext>
            </a:extLst>
          </p:cNvPr>
          <p:cNvSpPr txBox="1"/>
          <p:nvPr/>
        </p:nvSpPr>
        <p:spPr>
          <a:xfrm>
            <a:off x="3444763" y="2216780"/>
            <a:ext cx="599090" cy="523220"/>
          </a:xfrm>
          <a:prstGeom prst="rect">
            <a:avLst/>
          </a:prstGeom>
          <a:noFill/>
        </p:spPr>
        <p:txBody>
          <a:bodyPr wrap="square" rtlCol="0">
            <a:spAutoFit/>
          </a:bodyPr>
          <a:lstStyle/>
          <a:p>
            <a:pPr algn="ctr"/>
            <a:r>
              <a:rPr lang="fr-FR" sz="2800" dirty="0"/>
              <a:t>i</a:t>
            </a:r>
            <a:r>
              <a:rPr lang="fr-FR" sz="2800" baseline="-25000" dirty="0"/>
              <a:t>1</a:t>
            </a:r>
          </a:p>
        </p:txBody>
      </p:sp>
      <p:sp>
        <p:nvSpPr>
          <p:cNvPr id="22" name="ZoneTexte 21">
            <a:extLst>
              <a:ext uri="{FF2B5EF4-FFF2-40B4-BE49-F238E27FC236}">
                <a16:creationId xmlns:a16="http://schemas.microsoft.com/office/drawing/2014/main" id="{39D21293-2620-F989-67C7-FA2C2E4A4C7A}"/>
              </a:ext>
            </a:extLst>
          </p:cNvPr>
          <p:cNvSpPr txBox="1"/>
          <p:nvPr/>
        </p:nvSpPr>
        <p:spPr>
          <a:xfrm>
            <a:off x="3468411" y="2731875"/>
            <a:ext cx="599090" cy="523220"/>
          </a:xfrm>
          <a:prstGeom prst="rect">
            <a:avLst/>
          </a:prstGeom>
          <a:noFill/>
        </p:spPr>
        <p:txBody>
          <a:bodyPr wrap="square" rtlCol="0">
            <a:spAutoFit/>
          </a:bodyPr>
          <a:lstStyle/>
          <a:p>
            <a:pPr algn="ctr"/>
            <a:r>
              <a:rPr lang="fr-FR" sz="2800" dirty="0"/>
              <a:t>i</a:t>
            </a:r>
            <a:r>
              <a:rPr lang="fr-FR" sz="2800" baseline="-25000" dirty="0"/>
              <a:t>2</a:t>
            </a:r>
          </a:p>
        </p:txBody>
      </p:sp>
      <p:sp>
        <p:nvSpPr>
          <p:cNvPr id="28" name="ZoneTexte 27">
            <a:extLst>
              <a:ext uri="{FF2B5EF4-FFF2-40B4-BE49-F238E27FC236}">
                <a16:creationId xmlns:a16="http://schemas.microsoft.com/office/drawing/2014/main" id="{9B1C3C4E-A35D-2809-6833-E198DC162662}"/>
              </a:ext>
            </a:extLst>
          </p:cNvPr>
          <p:cNvSpPr txBox="1"/>
          <p:nvPr/>
        </p:nvSpPr>
        <p:spPr>
          <a:xfrm>
            <a:off x="4184429" y="2222692"/>
            <a:ext cx="599090"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w1</a:t>
            </a:r>
          </a:p>
        </p:txBody>
      </p:sp>
      <p:sp>
        <p:nvSpPr>
          <p:cNvPr id="29" name="ZoneTexte 28">
            <a:extLst>
              <a:ext uri="{FF2B5EF4-FFF2-40B4-BE49-F238E27FC236}">
                <a16:creationId xmlns:a16="http://schemas.microsoft.com/office/drawing/2014/main" id="{23F4CA41-F4DA-35B4-EFA5-C299EE2A5F99}"/>
              </a:ext>
            </a:extLst>
          </p:cNvPr>
          <p:cNvSpPr txBox="1"/>
          <p:nvPr/>
        </p:nvSpPr>
        <p:spPr>
          <a:xfrm>
            <a:off x="4184429" y="2954896"/>
            <a:ext cx="599090"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w2</a:t>
            </a:r>
          </a:p>
        </p:txBody>
      </p:sp>
      <p:cxnSp>
        <p:nvCxnSpPr>
          <p:cNvPr id="30" name="Connecteur droit avec flèche 29">
            <a:extLst>
              <a:ext uri="{FF2B5EF4-FFF2-40B4-BE49-F238E27FC236}">
                <a16:creationId xmlns:a16="http://schemas.microsoft.com/office/drawing/2014/main" id="{DEEA6809-E240-D9B8-0726-6489594B2A6D}"/>
              </a:ext>
            </a:extLst>
          </p:cNvPr>
          <p:cNvCxnSpPr>
            <a:cxnSpLocks/>
          </p:cNvCxnSpPr>
          <p:nvPr/>
        </p:nvCxnSpPr>
        <p:spPr>
          <a:xfrm>
            <a:off x="6074977" y="2742628"/>
            <a:ext cx="9354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necteur droit avec flèche 31">
            <a:extLst>
              <a:ext uri="{FF2B5EF4-FFF2-40B4-BE49-F238E27FC236}">
                <a16:creationId xmlns:a16="http://schemas.microsoft.com/office/drawing/2014/main" id="{810229A9-D80C-F968-222C-81951C3A2671}"/>
              </a:ext>
            </a:extLst>
          </p:cNvPr>
          <p:cNvCxnSpPr>
            <a:cxnSpLocks/>
          </p:cNvCxnSpPr>
          <p:nvPr/>
        </p:nvCxnSpPr>
        <p:spPr>
          <a:xfrm flipV="1">
            <a:off x="4651482" y="3166246"/>
            <a:ext cx="493330" cy="5994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ZoneTexte 35">
            <a:extLst>
              <a:ext uri="{FF2B5EF4-FFF2-40B4-BE49-F238E27FC236}">
                <a16:creationId xmlns:a16="http://schemas.microsoft.com/office/drawing/2014/main" id="{3776C010-0CCB-7FF7-7938-457C6B1847CD}"/>
              </a:ext>
            </a:extLst>
          </p:cNvPr>
          <p:cNvSpPr txBox="1"/>
          <p:nvPr/>
        </p:nvSpPr>
        <p:spPr>
          <a:xfrm>
            <a:off x="4184429" y="3641845"/>
            <a:ext cx="599090"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b1</a:t>
            </a:r>
          </a:p>
        </p:txBody>
      </p:sp>
      <p:sp>
        <p:nvSpPr>
          <p:cNvPr id="41" name="ZoneTexte 40">
            <a:extLst>
              <a:ext uri="{FF2B5EF4-FFF2-40B4-BE49-F238E27FC236}">
                <a16:creationId xmlns:a16="http://schemas.microsoft.com/office/drawing/2014/main" id="{B6343A86-DF7C-07AF-5CF5-B2ACB02B7F3B}"/>
              </a:ext>
            </a:extLst>
          </p:cNvPr>
          <p:cNvSpPr txBox="1"/>
          <p:nvPr/>
        </p:nvSpPr>
        <p:spPr>
          <a:xfrm>
            <a:off x="5034995" y="2635155"/>
            <a:ext cx="517929" cy="307777"/>
          </a:xfrm>
          <a:prstGeom prst="rect">
            <a:avLst/>
          </a:prstGeom>
          <a:noFill/>
        </p:spPr>
        <p:txBody>
          <a:bodyPr wrap="square" rtlCol="0">
            <a:spAutoFit/>
          </a:bodyPr>
          <a:lstStyle/>
          <a:p>
            <a:pPr algn="ctr"/>
            <a:r>
              <a:rPr lang="fr-FR" sz="1400" dirty="0"/>
              <a:t>net</a:t>
            </a:r>
          </a:p>
        </p:txBody>
      </p:sp>
      <p:sp>
        <p:nvSpPr>
          <p:cNvPr id="42" name="ZoneTexte 41">
            <a:extLst>
              <a:ext uri="{FF2B5EF4-FFF2-40B4-BE49-F238E27FC236}">
                <a16:creationId xmlns:a16="http://schemas.microsoft.com/office/drawing/2014/main" id="{B8504D1C-F952-13A1-2243-0A5A52ED8E24}"/>
              </a:ext>
            </a:extLst>
          </p:cNvPr>
          <p:cNvSpPr txBox="1"/>
          <p:nvPr/>
        </p:nvSpPr>
        <p:spPr>
          <a:xfrm>
            <a:off x="5486866" y="2635155"/>
            <a:ext cx="517929" cy="307777"/>
          </a:xfrm>
          <a:prstGeom prst="rect">
            <a:avLst/>
          </a:prstGeom>
          <a:noFill/>
        </p:spPr>
        <p:txBody>
          <a:bodyPr wrap="square" rtlCol="0">
            <a:spAutoFit/>
          </a:bodyPr>
          <a:lstStyle/>
          <a:p>
            <a:pPr algn="ctr"/>
            <a:r>
              <a:rPr lang="fr-FR" sz="1400" dirty="0"/>
              <a:t>out</a:t>
            </a:r>
          </a:p>
        </p:txBody>
      </p:sp>
      <mc:AlternateContent xmlns:mc="http://schemas.openxmlformats.org/markup-compatibility/2006" xmlns:a14="http://schemas.microsoft.com/office/drawing/2010/main">
        <mc:Choice Requires="a14">
          <p:sp>
            <p:nvSpPr>
              <p:cNvPr id="44" name="ZoneTexte 43">
                <a:extLst>
                  <a:ext uri="{FF2B5EF4-FFF2-40B4-BE49-F238E27FC236}">
                    <a16:creationId xmlns:a16="http://schemas.microsoft.com/office/drawing/2014/main" id="{11B21156-8840-C3A1-0808-6353561B64D8}"/>
                  </a:ext>
                </a:extLst>
              </p:cNvPr>
              <p:cNvSpPr txBox="1"/>
              <p:nvPr/>
            </p:nvSpPr>
            <p:spPr>
              <a:xfrm>
                <a:off x="7031418" y="2533615"/>
                <a:ext cx="2324249" cy="302840"/>
              </a:xfrm>
              <a:prstGeom prst="rect">
                <a:avLst/>
              </a:prstGeom>
              <a:noFill/>
              <a:ln>
                <a:solidFill>
                  <a:schemeClr val="tx1">
                    <a:lumMod val="50000"/>
                    <a:lumOff val="50000"/>
                  </a:schemeClr>
                </a:solidFill>
              </a:ln>
            </p:spPr>
            <p:txBody>
              <a:bodyPr wrap="square" rtlCol="0">
                <a:spAutoFit/>
              </a:bodyPr>
              <a:lstStyle/>
              <a:p>
                <a:pPr algn="ctr"/>
                <a14:m>
                  <m:oMath xmlns:m="http://schemas.openxmlformats.org/officeDocument/2006/math">
                    <m:r>
                      <a:rPr lang="fr-FR" sz="1400" b="0" i="1" noProof="0" smtClean="0">
                        <a:latin typeface="Cambria Math" panose="02040503050406030204" pitchFamily="18" charset="0"/>
                      </a:rPr>
                      <m:t>𝐿𝑜𝑠𝑠</m:t>
                    </m:r>
                    <m:r>
                      <a:rPr lang="fr-FR" sz="1400" b="0" i="1" noProof="0" smtClean="0">
                        <a:latin typeface="Cambria Math" panose="02040503050406030204" pitchFamily="18" charset="0"/>
                      </a:rPr>
                      <m:t>= (</m:t>
                    </m:r>
                    <m:r>
                      <m:rPr>
                        <m:sty m:val="p"/>
                      </m:rPr>
                      <a:rPr lang="fr-FR" sz="1400" b="0" i="0" noProof="0" smtClean="0">
                        <a:latin typeface="Cambria Math" panose="02040503050406030204" pitchFamily="18" charset="0"/>
                      </a:rPr>
                      <m:t>target</m:t>
                    </m:r>
                    <m:r>
                      <a:rPr lang="fr-FR" sz="1400" b="0" i="1" noProof="0" smtClean="0">
                        <a:latin typeface="Cambria Math" panose="02040503050406030204" pitchFamily="18" charset="0"/>
                      </a:rPr>
                      <m:t>−</m:t>
                    </m:r>
                    <m:r>
                      <m:rPr>
                        <m:sty m:val="p"/>
                      </m:rPr>
                      <a:rPr lang="fr-FR" sz="1400" b="0" i="0" noProof="0" smtClean="0">
                        <a:latin typeface="Cambria Math" panose="02040503050406030204" pitchFamily="18" charset="0"/>
                      </a:rPr>
                      <m:t>out</m:t>
                    </m:r>
                    <m:r>
                      <a:rPr lang="fr-FR" sz="1400" b="0" i="1" noProof="0" smtClean="0">
                        <a:latin typeface="Cambria Math" panose="02040503050406030204" pitchFamily="18" charset="0"/>
                      </a:rPr>
                      <m:t>)</m:t>
                    </m:r>
                  </m:oMath>
                </a14:m>
                <a:r>
                  <a:rPr lang="en-GB" sz="1400" baseline="30000" noProof="0" dirty="0"/>
                  <a:t>2</a:t>
                </a:r>
              </a:p>
            </p:txBody>
          </p:sp>
        </mc:Choice>
        <mc:Fallback xmlns="">
          <p:sp>
            <p:nvSpPr>
              <p:cNvPr id="44" name="ZoneTexte 43">
                <a:extLst>
                  <a:ext uri="{FF2B5EF4-FFF2-40B4-BE49-F238E27FC236}">
                    <a16:creationId xmlns:a16="http://schemas.microsoft.com/office/drawing/2014/main" id="{11B21156-8840-C3A1-0808-6353561B64D8}"/>
                  </a:ext>
                </a:extLst>
              </p:cNvPr>
              <p:cNvSpPr txBox="1">
                <a:spLocks noRot="1" noChangeAspect="1" noMove="1" noResize="1" noEditPoints="1" noAdjustHandles="1" noChangeArrowheads="1" noChangeShapeType="1" noTextEdit="1"/>
              </p:cNvSpPr>
              <p:nvPr/>
            </p:nvSpPr>
            <p:spPr>
              <a:xfrm>
                <a:off x="7031418" y="2533615"/>
                <a:ext cx="2324249" cy="302840"/>
              </a:xfrm>
              <a:prstGeom prst="rect">
                <a:avLst/>
              </a:prstGeom>
              <a:blipFill>
                <a:blip r:embed="rId2"/>
                <a:stretch>
                  <a:fillRect b="-12000"/>
                </a:stretch>
              </a:blipFill>
              <a:ln>
                <a:solidFill>
                  <a:schemeClr val="tx1">
                    <a:lumMod val="50000"/>
                    <a:lumOff val="50000"/>
                  </a:schemeClr>
                </a:solidFill>
              </a:ln>
            </p:spPr>
            <p:txBody>
              <a:bodyPr/>
              <a:lstStyle/>
              <a:p>
                <a:r>
                  <a:rPr lang="en-GB">
                    <a:noFill/>
                  </a:rPr>
                  <a:t> </a:t>
                </a:r>
              </a:p>
            </p:txBody>
          </p:sp>
        </mc:Fallback>
      </mc:AlternateContent>
      <p:sp>
        <p:nvSpPr>
          <p:cNvPr id="46" name="Espace réservé du pied de page 45">
            <a:extLst>
              <a:ext uri="{FF2B5EF4-FFF2-40B4-BE49-F238E27FC236}">
                <a16:creationId xmlns:a16="http://schemas.microsoft.com/office/drawing/2014/main" id="{B8D32A99-2B17-F20D-F6FE-5F3D7C1768D6}"/>
              </a:ext>
            </a:extLst>
          </p:cNvPr>
          <p:cNvSpPr>
            <a:spLocks noGrp="1"/>
          </p:cNvSpPr>
          <p:nvPr>
            <p:ph type="ftr" sz="quarter" idx="11"/>
          </p:nvPr>
        </p:nvSpPr>
        <p:spPr/>
        <p:txBody>
          <a:bodyPr/>
          <a:lstStyle/>
          <a:p>
            <a:r>
              <a:rPr lang="fr-FR"/>
              <a:t>Introduction to Neural Networks. Author: David Thébault</a:t>
            </a:r>
          </a:p>
        </p:txBody>
      </p:sp>
      <p:sp>
        <p:nvSpPr>
          <p:cNvPr id="50" name="ZoneTexte 49">
            <a:extLst>
              <a:ext uri="{FF2B5EF4-FFF2-40B4-BE49-F238E27FC236}">
                <a16:creationId xmlns:a16="http://schemas.microsoft.com/office/drawing/2014/main" id="{B9D0AF4E-3B32-BFD1-B15E-67F42C23120D}"/>
              </a:ext>
            </a:extLst>
          </p:cNvPr>
          <p:cNvSpPr txBox="1"/>
          <p:nvPr/>
        </p:nvSpPr>
        <p:spPr>
          <a:xfrm>
            <a:off x="838200" y="1532877"/>
            <a:ext cx="6773333" cy="369332"/>
          </a:xfrm>
          <a:prstGeom prst="rect">
            <a:avLst/>
          </a:prstGeom>
          <a:noFill/>
        </p:spPr>
        <p:txBody>
          <a:bodyPr wrap="square" rtlCol="0">
            <a:spAutoFit/>
          </a:bodyPr>
          <a:lstStyle/>
          <a:p>
            <a:r>
              <a:rPr lang="en-GB" noProof="0" dirty="0"/>
              <a:t>How do we find the optimal w</a:t>
            </a:r>
            <a:r>
              <a:rPr lang="en-GB" baseline="-25000" noProof="0" dirty="0"/>
              <a:t>1</a:t>
            </a:r>
            <a:r>
              <a:rPr lang="en-GB" noProof="0" dirty="0"/>
              <a:t>, w</a:t>
            </a:r>
            <a:r>
              <a:rPr lang="en-GB" baseline="-25000" noProof="0" dirty="0"/>
              <a:t>2</a:t>
            </a:r>
            <a:r>
              <a:rPr lang="en-GB" noProof="0" dirty="0"/>
              <a:t> and b</a:t>
            </a:r>
            <a:r>
              <a:rPr lang="en-GB" baseline="-25000" noProof="0" dirty="0"/>
              <a:t>1</a:t>
            </a:r>
            <a:r>
              <a:rPr lang="en-GB" noProof="0" dirty="0"/>
              <a:t> that minimize the loss ?</a:t>
            </a:r>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E8C908DE-2B31-43E8-D53A-CE2B1BAD5EC5}"/>
                  </a:ext>
                </a:extLst>
              </p:cNvPr>
              <p:cNvSpPr txBox="1"/>
              <p:nvPr/>
            </p:nvSpPr>
            <p:spPr>
              <a:xfrm>
                <a:off x="5952138" y="3804673"/>
                <a:ext cx="935421" cy="6190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fr-FR" i="1" smtClean="0">
                              <a:solidFill>
                                <a:srgbClr val="FF0002"/>
                              </a:solidFill>
                              <a:latin typeface="Cambria Math" panose="02040503050406030204" pitchFamily="18" charset="0"/>
                            </a:rPr>
                          </m:ctrlPr>
                        </m:fPr>
                        <m:num>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𝐿𝑜𝑠𝑠</m:t>
                          </m:r>
                        </m:num>
                        <m:den>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𝑜𝑢𝑡</m:t>
                          </m:r>
                        </m:den>
                      </m:f>
                    </m:oMath>
                  </m:oMathPara>
                </a14:m>
                <a:endParaRPr lang="fr-FR" dirty="0">
                  <a:solidFill>
                    <a:srgbClr val="FF0002"/>
                  </a:solidFill>
                </a:endParaRPr>
              </a:p>
            </p:txBody>
          </p:sp>
        </mc:Choice>
        <mc:Fallback xmlns="">
          <p:sp>
            <p:nvSpPr>
              <p:cNvPr id="6" name="ZoneTexte 5">
                <a:extLst>
                  <a:ext uri="{FF2B5EF4-FFF2-40B4-BE49-F238E27FC236}">
                    <a16:creationId xmlns:a16="http://schemas.microsoft.com/office/drawing/2014/main" id="{4C834B34-4977-A8F4-6694-F77B40A26429}"/>
                  </a:ext>
                </a:extLst>
              </p:cNvPr>
              <p:cNvSpPr txBox="1">
                <a:spLocks noRot="1" noChangeAspect="1" noMove="1" noResize="1" noEditPoints="1" noAdjustHandles="1" noChangeArrowheads="1" noChangeShapeType="1" noTextEdit="1"/>
              </p:cNvSpPr>
              <p:nvPr/>
            </p:nvSpPr>
            <p:spPr>
              <a:xfrm>
                <a:off x="5952138" y="3804673"/>
                <a:ext cx="935421" cy="619016"/>
              </a:xfrm>
              <a:prstGeom prst="rect">
                <a:avLst/>
              </a:prstGeom>
              <a:blipFill>
                <a:blip r:embed="rId3"/>
                <a:stretch>
                  <a:fillRect b="-40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8A51501F-B605-0E10-2D79-872D690F9E8B}"/>
                  </a:ext>
                </a:extLst>
              </p:cNvPr>
              <p:cNvSpPr txBox="1"/>
              <p:nvPr/>
            </p:nvSpPr>
            <p:spPr>
              <a:xfrm>
                <a:off x="5155554" y="3817307"/>
                <a:ext cx="826060" cy="6190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fr-FR" i="1" smtClean="0">
                              <a:solidFill>
                                <a:srgbClr val="FF0002"/>
                              </a:solidFill>
                              <a:latin typeface="Cambria Math" panose="02040503050406030204" pitchFamily="18" charset="0"/>
                            </a:rPr>
                          </m:ctrlPr>
                        </m:fPr>
                        <m:num>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𝑜𝑢𝑡</m:t>
                          </m:r>
                        </m:num>
                        <m:den>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𝑛𝑒𝑡</m:t>
                          </m:r>
                        </m:den>
                      </m:f>
                    </m:oMath>
                  </m:oMathPara>
                </a14:m>
                <a:endParaRPr lang="fr-FR" dirty="0">
                  <a:solidFill>
                    <a:srgbClr val="FF0002"/>
                  </a:solidFill>
                </a:endParaRPr>
              </a:p>
            </p:txBody>
          </p:sp>
        </mc:Choice>
        <mc:Fallback xmlns="">
          <p:sp>
            <p:nvSpPr>
              <p:cNvPr id="11" name="ZoneTexte 10">
                <a:extLst>
                  <a:ext uri="{FF2B5EF4-FFF2-40B4-BE49-F238E27FC236}">
                    <a16:creationId xmlns:a16="http://schemas.microsoft.com/office/drawing/2014/main" id="{C77A90AC-CCE8-A084-FDB5-E74C12BBE1EB}"/>
                  </a:ext>
                </a:extLst>
              </p:cNvPr>
              <p:cNvSpPr txBox="1">
                <a:spLocks noRot="1" noChangeAspect="1" noMove="1" noResize="1" noEditPoints="1" noAdjustHandles="1" noChangeArrowheads="1" noChangeShapeType="1" noTextEdit="1"/>
              </p:cNvSpPr>
              <p:nvPr/>
            </p:nvSpPr>
            <p:spPr>
              <a:xfrm>
                <a:off x="5155554" y="3817307"/>
                <a:ext cx="826060" cy="619016"/>
              </a:xfrm>
              <a:prstGeom prst="rect">
                <a:avLst/>
              </a:prstGeom>
              <a:blipFill>
                <a:blip r:embed="rId4"/>
                <a:stretch>
                  <a:fillRect b="-40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0443269E-4246-D0B0-CCF6-96823E2438D5}"/>
                  </a:ext>
                </a:extLst>
              </p:cNvPr>
              <p:cNvSpPr txBox="1"/>
              <p:nvPr/>
            </p:nvSpPr>
            <p:spPr>
              <a:xfrm>
                <a:off x="4442982" y="3802058"/>
                <a:ext cx="734728" cy="61908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fr-FR" i="1" smtClean="0">
                              <a:solidFill>
                                <a:srgbClr val="FF0002"/>
                              </a:solidFill>
                              <a:latin typeface="Cambria Math" panose="02040503050406030204" pitchFamily="18" charset="0"/>
                            </a:rPr>
                          </m:ctrlPr>
                        </m:fPr>
                        <m:num>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𝑛𝑒𝑡</m:t>
                          </m:r>
                        </m:num>
                        <m:den>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𝑤</m:t>
                          </m:r>
                          <m:r>
                            <a:rPr lang="fr-FR" b="0" i="1" smtClean="0">
                              <a:solidFill>
                                <a:srgbClr val="FF0002"/>
                              </a:solidFill>
                              <a:latin typeface="Cambria Math" panose="02040503050406030204" pitchFamily="18" charset="0"/>
                            </a:rPr>
                            <m:t>1</m:t>
                          </m:r>
                        </m:den>
                      </m:f>
                      <m:r>
                        <a:rPr lang="fr-FR" b="0" i="1" smtClean="0">
                          <a:solidFill>
                            <a:srgbClr val="FF0002"/>
                          </a:solidFill>
                          <a:latin typeface="Cambria Math" panose="02040503050406030204" pitchFamily="18" charset="0"/>
                        </a:rPr>
                        <m:t> </m:t>
                      </m:r>
                    </m:oMath>
                  </m:oMathPara>
                </a14:m>
                <a:endParaRPr lang="fr-FR" dirty="0">
                  <a:solidFill>
                    <a:srgbClr val="FF0002"/>
                  </a:solidFill>
                </a:endParaRPr>
              </a:p>
            </p:txBody>
          </p:sp>
        </mc:Choice>
        <mc:Fallback xmlns="">
          <p:sp>
            <p:nvSpPr>
              <p:cNvPr id="13" name="ZoneTexte 12">
                <a:extLst>
                  <a:ext uri="{FF2B5EF4-FFF2-40B4-BE49-F238E27FC236}">
                    <a16:creationId xmlns:a16="http://schemas.microsoft.com/office/drawing/2014/main" id="{6881A179-BBD4-6E80-99A7-FE5B90BDE851}"/>
                  </a:ext>
                </a:extLst>
              </p:cNvPr>
              <p:cNvSpPr txBox="1">
                <a:spLocks noRot="1" noChangeAspect="1" noMove="1" noResize="1" noEditPoints="1" noAdjustHandles="1" noChangeArrowheads="1" noChangeShapeType="1" noTextEdit="1"/>
              </p:cNvSpPr>
              <p:nvPr/>
            </p:nvSpPr>
            <p:spPr>
              <a:xfrm>
                <a:off x="4442982" y="3802058"/>
                <a:ext cx="734728" cy="619080"/>
              </a:xfrm>
              <a:prstGeom prst="rect">
                <a:avLst/>
              </a:prstGeom>
              <a:blipFill>
                <a:blip r:embed="rId5"/>
                <a:stretch>
                  <a:fillRect r="-1695" b="-6122"/>
                </a:stretch>
              </a:blipFill>
            </p:spPr>
            <p:txBody>
              <a:bodyPr/>
              <a:lstStyle/>
              <a:p>
                <a:r>
                  <a:rPr lang="fr-FR">
                    <a:noFill/>
                  </a:rPr>
                  <a:t> </a:t>
                </a:r>
              </a:p>
            </p:txBody>
          </p:sp>
        </mc:Fallback>
      </mc:AlternateContent>
      <p:sp>
        <p:nvSpPr>
          <p:cNvPr id="14" name="Flèche vers la gauche 13">
            <a:extLst>
              <a:ext uri="{FF2B5EF4-FFF2-40B4-BE49-F238E27FC236}">
                <a16:creationId xmlns:a16="http://schemas.microsoft.com/office/drawing/2014/main" id="{FB3E2719-DC3E-735D-3D83-2753A69E8612}"/>
              </a:ext>
            </a:extLst>
          </p:cNvPr>
          <p:cNvSpPr/>
          <p:nvPr/>
        </p:nvSpPr>
        <p:spPr>
          <a:xfrm>
            <a:off x="3384998" y="4653650"/>
            <a:ext cx="4030133" cy="795867"/>
          </a:xfrm>
          <a:prstGeom prst="lef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dirty="0"/>
              <a:t>BACKPROPAGATION</a:t>
            </a:r>
          </a:p>
        </p:txBody>
      </p:sp>
      <p:sp>
        <p:nvSpPr>
          <p:cNvPr id="15" name="ZoneTexte 14">
            <a:extLst>
              <a:ext uri="{FF2B5EF4-FFF2-40B4-BE49-F238E27FC236}">
                <a16:creationId xmlns:a16="http://schemas.microsoft.com/office/drawing/2014/main" id="{C1E03E61-78F6-5A3A-A180-FEB2B4D4BF98}"/>
              </a:ext>
            </a:extLst>
          </p:cNvPr>
          <p:cNvSpPr txBox="1"/>
          <p:nvPr/>
        </p:nvSpPr>
        <p:spPr>
          <a:xfrm>
            <a:off x="4942865" y="3760612"/>
            <a:ext cx="457200" cy="707886"/>
          </a:xfrm>
          <a:prstGeom prst="rect">
            <a:avLst/>
          </a:prstGeom>
          <a:noFill/>
        </p:spPr>
        <p:txBody>
          <a:bodyPr wrap="square" rtlCol="0">
            <a:spAutoFit/>
          </a:bodyPr>
          <a:lstStyle/>
          <a:p>
            <a:pPr algn="ctr"/>
            <a:r>
              <a:rPr lang="fr-FR" sz="4000" b="1" dirty="0"/>
              <a:t>?</a:t>
            </a:r>
          </a:p>
        </p:txBody>
      </p:sp>
      <p:sp>
        <p:nvSpPr>
          <p:cNvPr id="16" name="ZoneTexte 15">
            <a:extLst>
              <a:ext uri="{FF2B5EF4-FFF2-40B4-BE49-F238E27FC236}">
                <a16:creationId xmlns:a16="http://schemas.microsoft.com/office/drawing/2014/main" id="{724F3A55-E144-1B5B-CB9C-34A784B2B5C0}"/>
              </a:ext>
            </a:extLst>
          </p:cNvPr>
          <p:cNvSpPr txBox="1"/>
          <p:nvPr/>
        </p:nvSpPr>
        <p:spPr>
          <a:xfrm>
            <a:off x="5744673" y="3752754"/>
            <a:ext cx="457200" cy="707886"/>
          </a:xfrm>
          <a:prstGeom prst="rect">
            <a:avLst/>
          </a:prstGeom>
          <a:noFill/>
        </p:spPr>
        <p:txBody>
          <a:bodyPr wrap="square" rtlCol="0">
            <a:spAutoFit/>
          </a:bodyPr>
          <a:lstStyle/>
          <a:p>
            <a:pPr algn="ctr"/>
            <a:r>
              <a:rPr lang="fr-FR" sz="4000" b="1" dirty="0"/>
              <a:t>?</a:t>
            </a:r>
          </a:p>
        </p:txBody>
      </p:sp>
      <p:sp>
        <p:nvSpPr>
          <p:cNvPr id="19" name="ZoneTexte 18">
            <a:extLst>
              <a:ext uri="{FF2B5EF4-FFF2-40B4-BE49-F238E27FC236}">
                <a16:creationId xmlns:a16="http://schemas.microsoft.com/office/drawing/2014/main" id="{8C98B9A8-8D43-5E5B-C67C-68956B30100A}"/>
              </a:ext>
            </a:extLst>
          </p:cNvPr>
          <p:cNvSpPr txBox="1"/>
          <p:nvPr/>
        </p:nvSpPr>
        <p:spPr>
          <a:xfrm>
            <a:off x="6632381" y="3759221"/>
            <a:ext cx="457200" cy="707886"/>
          </a:xfrm>
          <a:prstGeom prst="rect">
            <a:avLst/>
          </a:prstGeom>
          <a:noFill/>
        </p:spPr>
        <p:txBody>
          <a:bodyPr wrap="square" rtlCol="0">
            <a:spAutoFit/>
          </a:bodyPr>
          <a:lstStyle/>
          <a:p>
            <a:pPr algn="ctr"/>
            <a:r>
              <a:rPr lang="fr-FR" sz="4000" b="1" dirty="0"/>
              <a:t>?</a:t>
            </a:r>
          </a:p>
        </p:txBody>
      </p:sp>
      <p:cxnSp>
        <p:nvCxnSpPr>
          <p:cNvPr id="39" name="Connecteur en arc 38">
            <a:extLst>
              <a:ext uri="{FF2B5EF4-FFF2-40B4-BE49-F238E27FC236}">
                <a16:creationId xmlns:a16="http://schemas.microsoft.com/office/drawing/2014/main" id="{EE565B34-47F6-F4C6-EB4D-6EBD02C8DEFC}"/>
              </a:ext>
            </a:extLst>
          </p:cNvPr>
          <p:cNvCxnSpPr>
            <a:cxnSpLocks/>
          </p:cNvCxnSpPr>
          <p:nvPr/>
        </p:nvCxnSpPr>
        <p:spPr>
          <a:xfrm rot="5400000">
            <a:off x="6378290" y="3233121"/>
            <a:ext cx="3025" cy="465667"/>
          </a:xfrm>
          <a:prstGeom prst="curvedConnector3">
            <a:avLst>
              <a:gd name="adj1" fmla="val 7657025"/>
            </a:avLst>
          </a:prstGeom>
          <a:ln w="50800">
            <a:solidFill>
              <a:srgbClr val="FF0002">
                <a:alpha val="50000"/>
              </a:srgbClr>
            </a:solidFill>
            <a:tailEnd type="triangle"/>
          </a:ln>
        </p:spPr>
        <p:style>
          <a:lnRef idx="2">
            <a:schemeClr val="accent1"/>
          </a:lnRef>
          <a:fillRef idx="0">
            <a:schemeClr val="accent1"/>
          </a:fillRef>
          <a:effectRef idx="1">
            <a:schemeClr val="accent1"/>
          </a:effectRef>
          <a:fontRef idx="minor">
            <a:schemeClr val="tx1"/>
          </a:fontRef>
        </p:style>
      </p:cxnSp>
      <p:cxnSp>
        <p:nvCxnSpPr>
          <p:cNvPr id="40" name="Connecteur en arc 39">
            <a:extLst>
              <a:ext uri="{FF2B5EF4-FFF2-40B4-BE49-F238E27FC236}">
                <a16:creationId xmlns:a16="http://schemas.microsoft.com/office/drawing/2014/main" id="{0CFEB6BA-7A05-B566-CB13-7ABA29DEC1F3}"/>
              </a:ext>
            </a:extLst>
          </p:cNvPr>
          <p:cNvCxnSpPr>
            <a:cxnSpLocks/>
          </p:cNvCxnSpPr>
          <p:nvPr/>
        </p:nvCxnSpPr>
        <p:spPr>
          <a:xfrm rot="5400000">
            <a:off x="5551411" y="3208407"/>
            <a:ext cx="3025" cy="465667"/>
          </a:xfrm>
          <a:prstGeom prst="curvedConnector3">
            <a:avLst>
              <a:gd name="adj1" fmla="val 7657025"/>
            </a:avLst>
          </a:prstGeom>
          <a:ln w="50800">
            <a:solidFill>
              <a:srgbClr val="FF0002">
                <a:alpha val="50000"/>
              </a:srgbClr>
            </a:solidFill>
            <a:tailEnd type="triangle"/>
          </a:ln>
        </p:spPr>
        <p:style>
          <a:lnRef idx="2">
            <a:schemeClr val="accent1"/>
          </a:lnRef>
          <a:fillRef idx="0">
            <a:schemeClr val="accent1"/>
          </a:fillRef>
          <a:effectRef idx="1">
            <a:schemeClr val="accent1"/>
          </a:effectRef>
          <a:fontRef idx="minor">
            <a:schemeClr val="tx1"/>
          </a:fontRef>
        </p:style>
      </p:cxnSp>
      <p:cxnSp>
        <p:nvCxnSpPr>
          <p:cNvPr id="45" name="Connecteur en arc 44">
            <a:extLst>
              <a:ext uri="{FF2B5EF4-FFF2-40B4-BE49-F238E27FC236}">
                <a16:creationId xmlns:a16="http://schemas.microsoft.com/office/drawing/2014/main" id="{A1AF03EE-B2A1-A507-2497-25BE46BA1FD1}"/>
              </a:ext>
            </a:extLst>
          </p:cNvPr>
          <p:cNvCxnSpPr>
            <a:cxnSpLocks/>
          </p:cNvCxnSpPr>
          <p:nvPr/>
        </p:nvCxnSpPr>
        <p:spPr>
          <a:xfrm rot="5400000">
            <a:off x="4786721" y="3226600"/>
            <a:ext cx="3025" cy="465667"/>
          </a:xfrm>
          <a:prstGeom prst="curvedConnector3">
            <a:avLst>
              <a:gd name="adj1" fmla="val 7657025"/>
            </a:avLst>
          </a:prstGeom>
          <a:ln w="50800">
            <a:solidFill>
              <a:srgbClr val="FF0002">
                <a:alpha val="50000"/>
              </a:srgbClr>
            </a:solidFill>
            <a:tailEnd type="triangle"/>
          </a:ln>
        </p:spPr>
        <p:style>
          <a:lnRef idx="2">
            <a:schemeClr val="accent1"/>
          </a:lnRef>
          <a:fillRef idx="0">
            <a:schemeClr val="accent1"/>
          </a:fillRef>
          <a:effectRef idx="1">
            <a:schemeClr val="accent1"/>
          </a:effectRef>
          <a:fontRef idx="minor">
            <a:schemeClr val="tx1"/>
          </a:fontRef>
        </p:style>
      </p:cxnSp>
      <p:sp>
        <p:nvSpPr>
          <p:cNvPr id="3" name="ZoneTexte 2">
            <a:extLst>
              <a:ext uri="{FF2B5EF4-FFF2-40B4-BE49-F238E27FC236}">
                <a16:creationId xmlns:a16="http://schemas.microsoft.com/office/drawing/2014/main" id="{DC64125C-6D22-D1AE-7653-A423A96F4174}"/>
              </a:ext>
            </a:extLst>
          </p:cNvPr>
          <p:cNvSpPr txBox="1"/>
          <p:nvPr/>
        </p:nvSpPr>
        <p:spPr>
          <a:xfrm>
            <a:off x="7406664" y="3882332"/>
            <a:ext cx="3324563" cy="584775"/>
          </a:xfrm>
          <a:prstGeom prst="rect">
            <a:avLst/>
          </a:prstGeom>
          <a:noFill/>
        </p:spPr>
        <p:txBody>
          <a:bodyPr wrap="square" rtlCol="0">
            <a:spAutoFit/>
          </a:bodyPr>
          <a:lstStyle/>
          <a:p>
            <a:r>
              <a:rPr lang="en-GB" sz="3200" b="1" noProof="0" dirty="0"/>
              <a:t>Gradient</a:t>
            </a:r>
          </a:p>
        </p:txBody>
      </p:sp>
    </p:spTree>
    <p:extLst>
      <p:ext uri="{BB962C8B-B14F-4D97-AF65-F5344CB8AC3E}">
        <p14:creationId xmlns:p14="http://schemas.microsoft.com/office/powerpoint/2010/main" val="6426751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0CC7D-A404-5639-235A-B64041E451B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D6659E1-3704-4D6A-01B6-01DD7CC21FFE}"/>
              </a:ext>
            </a:extLst>
          </p:cNvPr>
          <p:cNvSpPr>
            <a:spLocks noGrp="1"/>
          </p:cNvSpPr>
          <p:nvPr>
            <p:ph type="title"/>
          </p:nvPr>
        </p:nvSpPr>
        <p:spPr/>
        <p:txBody>
          <a:bodyPr/>
          <a:lstStyle/>
          <a:p>
            <a:r>
              <a:rPr lang="fr-FR" dirty="0"/>
              <a:t>Perceptron</a:t>
            </a:r>
          </a:p>
        </p:txBody>
      </p:sp>
      <p:grpSp>
        <p:nvGrpSpPr>
          <p:cNvPr id="12" name="Groupe 11">
            <a:extLst>
              <a:ext uri="{FF2B5EF4-FFF2-40B4-BE49-F238E27FC236}">
                <a16:creationId xmlns:a16="http://schemas.microsoft.com/office/drawing/2014/main" id="{BE4007DC-A8B9-1CAC-D931-1B44224CBC1B}"/>
              </a:ext>
            </a:extLst>
          </p:cNvPr>
          <p:cNvGrpSpPr/>
          <p:nvPr/>
        </p:nvGrpSpPr>
        <p:grpSpPr>
          <a:xfrm>
            <a:off x="4992412" y="2220312"/>
            <a:ext cx="1061545" cy="1061545"/>
            <a:chOff x="3563007" y="2367455"/>
            <a:chExt cx="1061545" cy="1061545"/>
          </a:xfrm>
        </p:grpSpPr>
        <p:sp>
          <p:nvSpPr>
            <p:cNvPr id="4" name="Ellipse 3">
              <a:extLst>
                <a:ext uri="{FF2B5EF4-FFF2-40B4-BE49-F238E27FC236}">
                  <a16:creationId xmlns:a16="http://schemas.microsoft.com/office/drawing/2014/main" id="{D1A6E300-121D-1671-D87A-E6BFEF678A56}"/>
                </a:ext>
              </a:extLst>
            </p:cNvPr>
            <p:cNvSpPr/>
            <p:nvPr/>
          </p:nvSpPr>
          <p:spPr>
            <a:xfrm>
              <a:off x="3563007" y="2367455"/>
              <a:ext cx="1061545" cy="106154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1400" dirty="0"/>
            </a:p>
          </p:txBody>
        </p:sp>
        <p:cxnSp>
          <p:nvCxnSpPr>
            <p:cNvPr id="8" name="Connecteur droit 7">
              <a:extLst>
                <a:ext uri="{FF2B5EF4-FFF2-40B4-BE49-F238E27FC236}">
                  <a16:creationId xmlns:a16="http://schemas.microsoft.com/office/drawing/2014/main" id="{A6657FB5-F734-E8EA-E99E-92FCC08E10A7}"/>
                </a:ext>
              </a:extLst>
            </p:cNvPr>
            <p:cNvCxnSpPr>
              <a:stCxn id="4" idx="0"/>
              <a:endCxn id="4" idx="4"/>
            </p:cNvCxnSpPr>
            <p:nvPr/>
          </p:nvCxnSpPr>
          <p:spPr>
            <a:xfrm>
              <a:off x="4093780" y="2367455"/>
              <a:ext cx="0" cy="1061545"/>
            </a:xfrm>
            <a:prstGeom prst="line">
              <a:avLst/>
            </a:prstGeom>
          </p:spPr>
          <p:style>
            <a:lnRef idx="2">
              <a:schemeClr val="accent1"/>
            </a:lnRef>
            <a:fillRef idx="0">
              <a:schemeClr val="accent1"/>
            </a:fillRef>
            <a:effectRef idx="1">
              <a:schemeClr val="accent1"/>
            </a:effectRef>
            <a:fontRef idx="minor">
              <a:schemeClr val="tx1"/>
            </a:fontRef>
          </p:style>
        </p:cxnSp>
      </p:grpSp>
      <p:cxnSp>
        <p:nvCxnSpPr>
          <p:cNvPr id="17" name="Connecteur droit avec flèche 16">
            <a:extLst>
              <a:ext uri="{FF2B5EF4-FFF2-40B4-BE49-F238E27FC236}">
                <a16:creationId xmlns:a16="http://schemas.microsoft.com/office/drawing/2014/main" id="{7F1742EC-064B-5F8E-C5ED-E225886AE458}"/>
              </a:ext>
            </a:extLst>
          </p:cNvPr>
          <p:cNvCxnSpPr>
            <a:cxnSpLocks/>
          </p:cNvCxnSpPr>
          <p:nvPr/>
        </p:nvCxnSpPr>
        <p:spPr>
          <a:xfrm>
            <a:off x="4056991" y="2572409"/>
            <a:ext cx="9354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DB8C9BD8-27E5-3CCC-857B-3F9385634756}"/>
              </a:ext>
            </a:extLst>
          </p:cNvPr>
          <p:cNvCxnSpPr>
            <a:cxnSpLocks/>
          </p:cNvCxnSpPr>
          <p:nvPr/>
        </p:nvCxnSpPr>
        <p:spPr>
          <a:xfrm>
            <a:off x="4056991" y="2995453"/>
            <a:ext cx="9354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ZoneTexte 20">
            <a:extLst>
              <a:ext uri="{FF2B5EF4-FFF2-40B4-BE49-F238E27FC236}">
                <a16:creationId xmlns:a16="http://schemas.microsoft.com/office/drawing/2014/main" id="{9E1550A3-FACB-DF99-F297-1DC0C5E4C2A2}"/>
              </a:ext>
            </a:extLst>
          </p:cNvPr>
          <p:cNvSpPr txBox="1"/>
          <p:nvPr/>
        </p:nvSpPr>
        <p:spPr>
          <a:xfrm>
            <a:off x="3444763" y="2216780"/>
            <a:ext cx="599090" cy="523220"/>
          </a:xfrm>
          <a:prstGeom prst="rect">
            <a:avLst/>
          </a:prstGeom>
          <a:noFill/>
        </p:spPr>
        <p:txBody>
          <a:bodyPr wrap="square" rtlCol="0">
            <a:spAutoFit/>
          </a:bodyPr>
          <a:lstStyle/>
          <a:p>
            <a:pPr algn="ctr"/>
            <a:r>
              <a:rPr lang="fr-FR" sz="2800" dirty="0"/>
              <a:t>i</a:t>
            </a:r>
            <a:r>
              <a:rPr lang="fr-FR" sz="2800" baseline="-25000" dirty="0"/>
              <a:t>1</a:t>
            </a:r>
          </a:p>
        </p:txBody>
      </p:sp>
      <p:sp>
        <p:nvSpPr>
          <p:cNvPr id="22" name="ZoneTexte 21">
            <a:extLst>
              <a:ext uri="{FF2B5EF4-FFF2-40B4-BE49-F238E27FC236}">
                <a16:creationId xmlns:a16="http://schemas.microsoft.com/office/drawing/2014/main" id="{4A497FEF-1B5D-9B98-3879-E27B583F20EF}"/>
              </a:ext>
            </a:extLst>
          </p:cNvPr>
          <p:cNvSpPr txBox="1"/>
          <p:nvPr/>
        </p:nvSpPr>
        <p:spPr>
          <a:xfrm>
            <a:off x="3468411" y="2731875"/>
            <a:ext cx="599090" cy="523220"/>
          </a:xfrm>
          <a:prstGeom prst="rect">
            <a:avLst/>
          </a:prstGeom>
          <a:noFill/>
        </p:spPr>
        <p:txBody>
          <a:bodyPr wrap="square" rtlCol="0">
            <a:spAutoFit/>
          </a:bodyPr>
          <a:lstStyle/>
          <a:p>
            <a:pPr algn="ctr"/>
            <a:r>
              <a:rPr lang="fr-FR" sz="2800" dirty="0"/>
              <a:t>i</a:t>
            </a:r>
            <a:r>
              <a:rPr lang="fr-FR" sz="2800" baseline="-25000" dirty="0"/>
              <a:t>2</a:t>
            </a:r>
          </a:p>
        </p:txBody>
      </p:sp>
      <p:sp>
        <p:nvSpPr>
          <p:cNvPr id="28" name="ZoneTexte 27">
            <a:extLst>
              <a:ext uri="{FF2B5EF4-FFF2-40B4-BE49-F238E27FC236}">
                <a16:creationId xmlns:a16="http://schemas.microsoft.com/office/drawing/2014/main" id="{46414F7B-EDE3-8D1B-F45D-7F2537408839}"/>
              </a:ext>
            </a:extLst>
          </p:cNvPr>
          <p:cNvSpPr txBox="1"/>
          <p:nvPr/>
        </p:nvSpPr>
        <p:spPr>
          <a:xfrm>
            <a:off x="4184429" y="2222692"/>
            <a:ext cx="599090"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w1</a:t>
            </a:r>
          </a:p>
        </p:txBody>
      </p:sp>
      <p:sp>
        <p:nvSpPr>
          <p:cNvPr id="29" name="ZoneTexte 28">
            <a:extLst>
              <a:ext uri="{FF2B5EF4-FFF2-40B4-BE49-F238E27FC236}">
                <a16:creationId xmlns:a16="http://schemas.microsoft.com/office/drawing/2014/main" id="{04D2B287-E4F7-D212-8E27-4E9B16D4D808}"/>
              </a:ext>
            </a:extLst>
          </p:cNvPr>
          <p:cNvSpPr txBox="1"/>
          <p:nvPr/>
        </p:nvSpPr>
        <p:spPr>
          <a:xfrm>
            <a:off x="4184429" y="2954896"/>
            <a:ext cx="599090"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w2</a:t>
            </a:r>
          </a:p>
        </p:txBody>
      </p:sp>
      <p:cxnSp>
        <p:nvCxnSpPr>
          <p:cNvPr id="30" name="Connecteur droit avec flèche 29">
            <a:extLst>
              <a:ext uri="{FF2B5EF4-FFF2-40B4-BE49-F238E27FC236}">
                <a16:creationId xmlns:a16="http://schemas.microsoft.com/office/drawing/2014/main" id="{0ECB56B2-1374-BF3B-F15D-C970F070A533}"/>
              </a:ext>
            </a:extLst>
          </p:cNvPr>
          <p:cNvCxnSpPr>
            <a:cxnSpLocks/>
          </p:cNvCxnSpPr>
          <p:nvPr/>
        </p:nvCxnSpPr>
        <p:spPr>
          <a:xfrm>
            <a:off x="6074977" y="2742628"/>
            <a:ext cx="9354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necteur droit avec flèche 31">
            <a:extLst>
              <a:ext uri="{FF2B5EF4-FFF2-40B4-BE49-F238E27FC236}">
                <a16:creationId xmlns:a16="http://schemas.microsoft.com/office/drawing/2014/main" id="{83FA3437-A279-7388-8DAE-17F6C9B6B7FA}"/>
              </a:ext>
            </a:extLst>
          </p:cNvPr>
          <p:cNvCxnSpPr>
            <a:cxnSpLocks/>
          </p:cNvCxnSpPr>
          <p:nvPr/>
        </p:nvCxnSpPr>
        <p:spPr>
          <a:xfrm flipV="1">
            <a:off x="4651482" y="3166246"/>
            <a:ext cx="493330" cy="5994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ZoneTexte 35">
            <a:extLst>
              <a:ext uri="{FF2B5EF4-FFF2-40B4-BE49-F238E27FC236}">
                <a16:creationId xmlns:a16="http://schemas.microsoft.com/office/drawing/2014/main" id="{CCCA32A0-EEDC-BC0E-78A8-70EC7BCDE696}"/>
              </a:ext>
            </a:extLst>
          </p:cNvPr>
          <p:cNvSpPr txBox="1"/>
          <p:nvPr/>
        </p:nvSpPr>
        <p:spPr>
          <a:xfrm>
            <a:off x="4184429" y="3641845"/>
            <a:ext cx="599090"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b1</a:t>
            </a:r>
          </a:p>
        </p:txBody>
      </p:sp>
      <p:sp>
        <p:nvSpPr>
          <p:cNvPr id="41" name="ZoneTexte 40">
            <a:extLst>
              <a:ext uri="{FF2B5EF4-FFF2-40B4-BE49-F238E27FC236}">
                <a16:creationId xmlns:a16="http://schemas.microsoft.com/office/drawing/2014/main" id="{EBA86E48-36FA-4FDB-937C-79BE6769321D}"/>
              </a:ext>
            </a:extLst>
          </p:cNvPr>
          <p:cNvSpPr txBox="1"/>
          <p:nvPr/>
        </p:nvSpPr>
        <p:spPr>
          <a:xfrm>
            <a:off x="5034995" y="2635155"/>
            <a:ext cx="517929" cy="307777"/>
          </a:xfrm>
          <a:prstGeom prst="rect">
            <a:avLst/>
          </a:prstGeom>
          <a:noFill/>
        </p:spPr>
        <p:txBody>
          <a:bodyPr wrap="square" rtlCol="0">
            <a:spAutoFit/>
          </a:bodyPr>
          <a:lstStyle/>
          <a:p>
            <a:pPr algn="ctr"/>
            <a:r>
              <a:rPr lang="fr-FR" sz="1400" dirty="0"/>
              <a:t>net</a:t>
            </a:r>
          </a:p>
        </p:txBody>
      </p:sp>
      <p:sp>
        <p:nvSpPr>
          <p:cNvPr id="42" name="ZoneTexte 41">
            <a:extLst>
              <a:ext uri="{FF2B5EF4-FFF2-40B4-BE49-F238E27FC236}">
                <a16:creationId xmlns:a16="http://schemas.microsoft.com/office/drawing/2014/main" id="{30768011-E1DA-728B-834D-1B8A2D409205}"/>
              </a:ext>
            </a:extLst>
          </p:cNvPr>
          <p:cNvSpPr txBox="1"/>
          <p:nvPr/>
        </p:nvSpPr>
        <p:spPr>
          <a:xfrm>
            <a:off x="5486866" y="2635155"/>
            <a:ext cx="517929" cy="307777"/>
          </a:xfrm>
          <a:prstGeom prst="rect">
            <a:avLst/>
          </a:prstGeom>
          <a:noFill/>
        </p:spPr>
        <p:txBody>
          <a:bodyPr wrap="square" rtlCol="0">
            <a:spAutoFit/>
          </a:bodyPr>
          <a:lstStyle/>
          <a:p>
            <a:pPr algn="ctr"/>
            <a:r>
              <a:rPr lang="fr-FR" sz="1400" dirty="0"/>
              <a:t>out</a:t>
            </a:r>
          </a:p>
        </p:txBody>
      </p:sp>
      <mc:AlternateContent xmlns:mc="http://schemas.openxmlformats.org/markup-compatibility/2006" xmlns:a14="http://schemas.microsoft.com/office/drawing/2010/main">
        <mc:Choice Requires="a14">
          <p:sp>
            <p:nvSpPr>
              <p:cNvPr id="44" name="ZoneTexte 43">
                <a:extLst>
                  <a:ext uri="{FF2B5EF4-FFF2-40B4-BE49-F238E27FC236}">
                    <a16:creationId xmlns:a16="http://schemas.microsoft.com/office/drawing/2014/main" id="{84EB8676-2D3B-1501-58C3-9B2399743628}"/>
                  </a:ext>
                </a:extLst>
              </p:cNvPr>
              <p:cNvSpPr txBox="1"/>
              <p:nvPr/>
            </p:nvSpPr>
            <p:spPr>
              <a:xfrm>
                <a:off x="7031418" y="2533615"/>
                <a:ext cx="2324249" cy="302840"/>
              </a:xfrm>
              <a:prstGeom prst="rect">
                <a:avLst/>
              </a:prstGeom>
              <a:noFill/>
              <a:ln>
                <a:solidFill>
                  <a:schemeClr val="tx1">
                    <a:lumMod val="50000"/>
                    <a:lumOff val="50000"/>
                  </a:schemeClr>
                </a:solidFill>
              </a:ln>
            </p:spPr>
            <p:txBody>
              <a:bodyPr wrap="square" rtlCol="0">
                <a:spAutoFit/>
              </a:bodyPr>
              <a:lstStyle/>
              <a:p>
                <a:pPr algn="ctr"/>
                <a14:m>
                  <m:oMath xmlns:m="http://schemas.openxmlformats.org/officeDocument/2006/math">
                    <m:r>
                      <a:rPr lang="fr-FR" sz="1400" b="0" i="1" noProof="0" smtClean="0">
                        <a:latin typeface="Cambria Math" panose="02040503050406030204" pitchFamily="18" charset="0"/>
                      </a:rPr>
                      <m:t>𝐿𝑜𝑠𝑠</m:t>
                    </m:r>
                    <m:r>
                      <a:rPr lang="fr-FR" sz="1400" b="0" i="1" noProof="0" smtClean="0">
                        <a:latin typeface="Cambria Math" panose="02040503050406030204" pitchFamily="18" charset="0"/>
                      </a:rPr>
                      <m:t>= (</m:t>
                    </m:r>
                    <m:r>
                      <m:rPr>
                        <m:sty m:val="p"/>
                      </m:rPr>
                      <a:rPr lang="fr-FR" sz="1400" b="0" i="0" noProof="0" smtClean="0">
                        <a:latin typeface="Cambria Math" panose="02040503050406030204" pitchFamily="18" charset="0"/>
                      </a:rPr>
                      <m:t>target</m:t>
                    </m:r>
                    <m:r>
                      <a:rPr lang="fr-FR" sz="1400" b="0" i="1" noProof="0" smtClean="0">
                        <a:latin typeface="Cambria Math" panose="02040503050406030204" pitchFamily="18" charset="0"/>
                      </a:rPr>
                      <m:t>−</m:t>
                    </m:r>
                    <m:r>
                      <a:rPr lang="fr-FR" sz="1400" b="0" i="1" noProof="0" smtClean="0">
                        <a:latin typeface="Cambria Math" panose="02040503050406030204" pitchFamily="18" charset="0"/>
                      </a:rPr>
                      <m:t>𝑜𝑢</m:t>
                    </m:r>
                    <m:r>
                      <m:rPr>
                        <m:sty m:val="p"/>
                      </m:rPr>
                      <a:rPr lang="fr-FR" sz="1400" b="0" i="0" noProof="0" smtClean="0">
                        <a:latin typeface="Cambria Math" panose="02040503050406030204" pitchFamily="18" charset="0"/>
                      </a:rPr>
                      <m:t>t</m:t>
                    </m:r>
                    <m:r>
                      <a:rPr lang="fr-FR" sz="1400" b="0" i="1" noProof="0" smtClean="0">
                        <a:latin typeface="Cambria Math" panose="02040503050406030204" pitchFamily="18" charset="0"/>
                      </a:rPr>
                      <m:t>)</m:t>
                    </m:r>
                  </m:oMath>
                </a14:m>
                <a:r>
                  <a:rPr lang="en-GB" sz="1400" baseline="30000" noProof="0" dirty="0"/>
                  <a:t>2</a:t>
                </a:r>
              </a:p>
            </p:txBody>
          </p:sp>
        </mc:Choice>
        <mc:Fallback xmlns="">
          <p:sp>
            <p:nvSpPr>
              <p:cNvPr id="44" name="ZoneTexte 43">
                <a:extLst>
                  <a:ext uri="{FF2B5EF4-FFF2-40B4-BE49-F238E27FC236}">
                    <a16:creationId xmlns:a16="http://schemas.microsoft.com/office/drawing/2014/main" id="{84EB8676-2D3B-1501-58C3-9B2399743628}"/>
                  </a:ext>
                </a:extLst>
              </p:cNvPr>
              <p:cNvSpPr txBox="1">
                <a:spLocks noRot="1" noChangeAspect="1" noMove="1" noResize="1" noEditPoints="1" noAdjustHandles="1" noChangeArrowheads="1" noChangeShapeType="1" noTextEdit="1"/>
              </p:cNvSpPr>
              <p:nvPr/>
            </p:nvSpPr>
            <p:spPr>
              <a:xfrm>
                <a:off x="7031418" y="2533615"/>
                <a:ext cx="2324249" cy="302840"/>
              </a:xfrm>
              <a:prstGeom prst="rect">
                <a:avLst/>
              </a:prstGeom>
              <a:blipFill>
                <a:blip r:embed="rId2"/>
                <a:stretch>
                  <a:fillRect b="-12000"/>
                </a:stretch>
              </a:blipFill>
              <a:ln>
                <a:solidFill>
                  <a:schemeClr val="tx1">
                    <a:lumMod val="50000"/>
                    <a:lumOff val="50000"/>
                  </a:schemeClr>
                </a:solidFill>
              </a:ln>
            </p:spPr>
            <p:txBody>
              <a:bodyPr/>
              <a:lstStyle/>
              <a:p>
                <a:r>
                  <a:rPr lang="en-GB">
                    <a:noFill/>
                  </a:rPr>
                  <a:t> </a:t>
                </a:r>
              </a:p>
            </p:txBody>
          </p:sp>
        </mc:Fallback>
      </mc:AlternateContent>
      <p:sp>
        <p:nvSpPr>
          <p:cNvPr id="46" name="Espace réservé du pied de page 45">
            <a:extLst>
              <a:ext uri="{FF2B5EF4-FFF2-40B4-BE49-F238E27FC236}">
                <a16:creationId xmlns:a16="http://schemas.microsoft.com/office/drawing/2014/main" id="{CBFA2C4B-40BE-CE11-299C-F1E9BBE4DE36}"/>
              </a:ext>
            </a:extLst>
          </p:cNvPr>
          <p:cNvSpPr>
            <a:spLocks noGrp="1"/>
          </p:cNvSpPr>
          <p:nvPr>
            <p:ph type="ftr" sz="quarter" idx="11"/>
          </p:nvPr>
        </p:nvSpPr>
        <p:spPr/>
        <p:txBody>
          <a:bodyPr/>
          <a:lstStyle/>
          <a:p>
            <a:r>
              <a:rPr lang="fr-FR"/>
              <a:t>Introduction to Neural Networks. Author: David Thébault</a:t>
            </a:r>
          </a:p>
        </p:txBody>
      </p:sp>
      <p:sp>
        <p:nvSpPr>
          <p:cNvPr id="50" name="ZoneTexte 49">
            <a:extLst>
              <a:ext uri="{FF2B5EF4-FFF2-40B4-BE49-F238E27FC236}">
                <a16:creationId xmlns:a16="http://schemas.microsoft.com/office/drawing/2014/main" id="{60B319ED-9B29-294D-CBE0-88132D977CCB}"/>
              </a:ext>
            </a:extLst>
          </p:cNvPr>
          <p:cNvSpPr txBox="1"/>
          <p:nvPr/>
        </p:nvSpPr>
        <p:spPr>
          <a:xfrm>
            <a:off x="838200" y="1532877"/>
            <a:ext cx="6773333" cy="369332"/>
          </a:xfrm>
          <a:prstGeom prst="rect">
            <a:avLst/>
          </a:prstGeom>
          <a:noFill/>
        </p:spPr>
        <p:txBody>
          <a:bodyPr wrap="square" rtlCol="0">
            <a:spAutoFit/>
          </a:bodyPr>
          <a:lstStyle/>
          <a:p>
            <a:r>
              <a:rPr lang="en-GB" noProof="0" dirty="0"/>
              <a:t>How do we find the optimal w</a:t>
            </a:r>
            <a:r>
              <a:rPr lang="en-GB" baseline="-25000" noProof="0" dirty="0"/>
              <a:t>1</a:t>
            </a:r>
            <a:r>
              <a:rPr lang="en-GB" noProof="0" dirty="0"/>
              <a:t>, w</a:t>
            </a:r>
            <a:r>
              <a:rPr lang="en-GB" baseline="-25000" noProof="0" dirty="0"/>
              <a:t>2</a:t>
            </a:r>
            <a:r>
              <a:rPr lang="en-GB" noProof="0" dirty="0"/>
              <a:t> and b</a:t>
            </a:r>
            <a:r>
              <a:rPr lang="en-GB" baseline="-25000" noProof="0" dirty="0"/>
              <a:t>1</a:t>
            </a:r>
            <a:r>
              <a:rPr lang="en-GB" noProof="0" dirty="0"/>
              <a:t> that minimize the loss ?</a:t>
            </a:r>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C0E6D594-E3FF-01A5-509F-CCBA2A81F65D}"/>
                  </a:ext>
                </a:extLst>
              </p:cNvPr>
              <p:cNvSpPr txBox="1"/>
              <p:nvPr/>
            </p:nvSpPr>
            <p:spPr>
              <a:xfrm>
                <a:off x="5952138" y="3804673"/>
                <a:ext cx="935421" cy="6190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fr-FR" i="1" smtClean="0">
                              <a:solidFill>
                                <a:srgbClr val="FF0002"/>
                              </a:solidFill>
                              <a:latin typeface="Cambria Math" panose="02040503050406030204" pitchFamily="18" charset="0"/>
                            </a:rPr>
                          </m:ctrlPr>
                        </m:fPr>
                        <m:num>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𝐿𝑜𝑠𝑠</m:t>
                          </m:r>
                        </m:num>
                        <m:den>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𝑜𝑢𝑡</m:t>
                          </m:r>
                        </m:den>
                      </m:f>
                    </m:oMath>
                  </m:oMathPara>
                </a14:m>
                <a:endParaRPr lang="fr-FR" dirty="0">
                  <a:solidFill>
                    <a:srgbClr val="FF0002"/>
                  </a:solidFill>
                </a:endParaRPr>
              </a:p>
            </p:txBody>
          </p:sp>
        </mc:Choice>
        <mc:Fallback xmlns="">
          <p:sp>
            <p:nvSpPr>
              <p:cNvPr id="6" name="ZoneTexte 5">
                <a:extLst>
                  <a:ext uri="{FF2B5EF4-FFF2-40B4-BE49-F238E27FC236}">
                    <a16:creationId xmlns:a16="http://schemas.microsoft.com/office/drawing/2014/main" id="{4C834B34-4977-A8F4-6694-F77B40A26429}"/>
                  </a:ext>
                </a:extLst>
              </p:cNvPr>
              <p:cNvSpPr txBox="1">
                <a:spLocks noRot="1" noChangeAspect="1" noMove="1" noResize="1" noEditPoints="1" noAdjustHandles="1" noChangeArrowheads="1" noChangeShapeType="1" noTextEdit="1"/>
              </p:cNvSpPr>
              <p:nvPr/>
            </p:nvSpPr>
            <p:spPr>
              <a:xfrm>
                <a:off x="5952138" y="3804673"/>
                <a:ext cx="935421" cy="619016"/>
              </a:xfrm>
              <a:prstGeom prst="rect">
                <a:avLst/>
              </a:prstGeom>
              <a:blipFill>
                <a:blip r:embed="rId3"/>
                <a:stretch>
                  <a:fillRect b="-40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6C9B2C9A-7C64-401D-F4DB-E5AC363E7777}"/>
                  </a:ext>
                </a:extLst>
              </p:cNvPr>
              <p:cNvSpPr txBox="1"/>
              <p:nvPr/>
            </p:nvSpPr>
            <p:spPr>
              <a:xfrm>
                <a:off x="5155554" y="3817307"/>
                <a:ext cx="826060" cy="6190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fr-FR" i="1" smtClean="0">
                              <a:solidFill>
                                <a:srgbClr val="FF0002"/>
                              </a:solidFill>
                              <a:latin typeface="Cambria Math" panose="02040503050406030204" pitchFamily="18" charset="0"/>
                            </a:rPr>
                          </m:ctrlPr>
                        </m:fPr>
                        <m:num>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𝑜𝑢𝑡</m:t>
                          </m:r>
                        </m:num>
                        <m:den>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𝑛𝑒𝑡</m:t>
                          </m:r>
                        </m:den>
                      </m:f>
                    </m:oMath>
                  </m:oMathPara>
                </a14:m>
                <a:endParaRPr lang="fr-FR" dirty="0">
                  <a:solidFill>
                    <a:srgbClr val="FF0002"/>
                  </a:solidFill>
                </a:endParaRPr>
              </a:p>
            </p:txBody>
          </p:sp>
        </mc:Choice>
        <mc:Fallback xmlns="">
          <p:sp>
            <p:nvSpPr>
              <p:cNvPr id="11" name="ZoneTexte 10">
                <a:extLst>
                  <a:ext uri="{FF2B5EF4-FFF2-40B4-BE49-F238E27FC236}">
                    <a16:creationId xmlns:a16="http://schemas.microsoft.com/office/drawing/2014/main" id="{C77A90AC-CCE8-A084-FDB5-E74C12BBE1EB}"/>
                  </a:ext>
                </a:extLst>
              </p:cNvPr>
              <p:cNvSpPr txBox="1">
                <a:spLocks noRot="1" noChangeAspect="1" noMove="1" noResize="1" noEditPoints="1" noAdjustHandles="1" noChangeArrowheads="1" noChangeShapeType="1" noTextEdit="1"/>
              </p:cNvSpPr>
              <p:nvPr/>
            </p:nvSpPr>
            <p:spPr>
              <a:xfrm>
                <a:off x="5155554" y="3817307"/>
                <a:ext cx="826060" cy="619016"/>
              </a:xfrm>
              <a:prstGeom prst="rect">
                <a:avLst/>
              </a:prstGeom>
              <a:blipFill>
                <a:blip r:embed="rId4"/>
                <a:stretch>
                  <a:fillRect b="-40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526EF130-0477-20D0-E819-8859732CA468}"/>
                  </a:ext>
                </a:extLst>
              </p:cNvPr>
              <p:cNvSpPr txBox="1"/>
              <p:nvPr/>
            </p:nvSpPr>
            <p:spPr>
              <a:xfrm>
                <a:off x="4442982" y="3802058"/>
                <a:ext cx="734728" cy="61908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fr-FR" i="1" smtClean="0">
                              <a:solidFill>
                                <a:srgbClr val="FF0002"/>
                              </a:solidFill>
                              <a:latin typeface="Cambria Math" panose="02040503050406030204" pitchFamily="18" charset="0"/>
                            </a:rPr>
                          </m:ctrlPr>
                        </m:fPr>
                        <m:num>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𝑛𝑒𝑡</m:t>
                          </m:r>
                        </m:num>
                        <m:den>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𝑤</m:t>
                          </m:r>
                          <m:r>
                            <a:rPr lang="fr-FR" b="0" i="1" smtClean="0">
                              <a:solidFill>
                                <a:srgbClr val="FF0002"/>
                              </a:solidFill>
                              <a:latin typeface="Cambria Math" panose="02040503050406030204" pitchFamily="18" charset="0"/>
                            </a:rPr>
                            <m:t>1</m:t>
                          </m:r>
                        </m:den>
                      </m:f>
                      <m:r>
                        <a:rPr lang="fr-FR" b="0" i="1" smtClean="0">
                          <a:solidFill>
                            <a:srgbClr val="FF0002"/>
                          </a:solidFill>
                          <a:latin typeface="Cambria Math" panose="02040503050406030204" pitchFamily="18" charset="0"/>
                        </a:rPr>
                        <m:t> </m:t>
                      </m:r>
                    </m:oMath>
                  </m:oMathPara>
                </a14:m>
                <a:endParaRPr lang="fr-FR" dirty="0">
                  <a:solidFill>
                    <a:srgbClr val="FF0002"/>
                  </a:solidFill>
                </a:endParaRPr>
              </a:p>
            </p:txBody>
          </p:sp>
        </mc:Choice>
        <mc:Fallback xmlns="">
          <p:sp>
            <p:nvSpPr>
              <p:cNvPr id="13" name="ZoneTexte 12">
                <a:extLst>
                  <a:ext uri="{FF2B5EF4-FFF2-40B4-BE49-F238E27FC236}">
                    <a16:creationId xmlns:a16="http://schemas.microsoft.com/office/drawing/2014/main" id="{6881A179-BBD4-6E80-99A7-FE5B90BDE851}"/>
                  </a:ext>
                </a:extLst>
              </p:cNvPr>
              <p:cNvSpPr txBox="1">
                <a:spLocks noRot="1" noChangeAspect="1" noMove="1" noResize="1" noEditPoints="1" noAdjustHandles="1" noChangeArrowheads="1" noChangeShapeType="1" noTextEdit="1"/>
              </p:cNvSpPr>
              <p:nvPr/>
            </p:nvSpPr>
            <p:spPr>
              <a:xfrm>
                <a:off x="4442982" y="3802058"/>
                <a:ext cx="734728" cy="619080"/>
              </a:xfrm>
              <a:prstGeom prst="rect">
                <a:avLst/>
              </a:prstGeom>
              <a:blipFill>
                <a:blip r:embed="rId5"/>
                <a:stretch>
                  <a:fillRect r="-1695" b="-6122"/>
                </a:stretch>
              </a:blipFill>
            </p:spPr>
            <p:txBody>
              <a:bodyPr/>
              <a:lstStyle/>
              <a:p>
                <a:r>
                  <a:rPr lang="fr-FR">
                    <a:noFill/>
                  </a:rPr>
                  <a:t> </a:t>
                </a:r>
              </a:p>
            </p:txBody>
          </p:sp>
        </mc:Fallback>
      </mc:AlternateContent>
      <p:sp>
        <p:nvSpPr>
          <p:cNvPr id="14" name="Flèche vers la gauche 13">
            <a:extLst>
              <a:ext uri="{FF2B5EF4-FFF2-40B4-BE49-F238E27FC236}">
                <a16:creationId xmlns:a16="http://schemas.microsoft.com/office/drawing/2014/main" id="{4A1E9AAB-AC63-7148-802B-9C0A48953CF4}"/>
              </a:ext>
            </a:extLst>
          </p:cNvPr>
          <p:cNvSpPr/>
          <p:nvPr/>
        </p:nvSpPr>
        <p:spPr>
          <a:xfrm>
            <a:off x="3384998" y="4653650"/>
            <a:ext cx="4030133" cy="795867"/>
          </a:xfrm>
          <a:prstGeom prst="lef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dirty="0"/>
              <a:t>BACKPROPAGATION</a:t>
            </a:r>
          </a:p>
        </p:txBody>
      </p:sp>
      <p:sp>
        <p:nvSpPr>
          <p:cNvPr id="15" name="ZoneTexte 14">
            <a:extLst>
              <a:ext uri="{FF2B5EF4-FFF2-40B4-BE49-F238E27FC236}">
                <a16:creationId xmlns:a16="http://schemas.microsoft.com/office/drawing/2014/main" id="{4BFA952A-A54A-7951-EE9A-964396C1C6C7}"/>
              </a:ext>
            </a:extLst>
          </p:cNvPr>
          <p:cNvSpPr txBox="1"/>
          <p:nvPr/>
        </p:nvSpPr>
        <p:spPr>
          <a:xfrm>
            <a:off x="4942865" y="3760612"/>
            <a:ext cx="457200" cy="707886"/>
          </a:xfrm>
          <a:prstGeom prst="rect">
            <a:avLst/>
          </a:prstGeom>
          <a:noFill/>
        </p:spPr>
        <p:txBody>
          <a:bodyPr wrap="square" rtlCol="0">
            <a:spAutoFit/>
          </a:bodyPr>
          <a:lstStyle/>
          <a:p>
            <a:pPr algn="ctr"/>
            <a:r>
              <a:rPr lang="fr-FR" sz="4000" b="1" dirty="0"/>
              <a:t>?</a:t>
            </a:r>
          </a:p>
        </p:txBody>
      </p:sp>
      <p:sp>
        <p:nvSpPr>
          <p:cNvPr id="16" name="ZoneTexte 15">
            <a:extLst>
              <a:ext uri="{FF2B5EF4-FFF2-40B4-BE49-F238E27FC236}">
                <a16:creationId xmlns:a16="http://schemas.microsoft.com/office/drawing/2014/main" id="{5D7A69EC-6D14-2AAE-29F3-8EA77703EFC6}"/>
              </a:ext>
            </a:extLst>
          </p:cNvPr>
          <p:cNvSpPr txBox="1"/>
          <p:nvPr/>
        </p:nvSpPr>
        <p:spPr>
          <a:xfrm>
            <a:off x="5744673" y="3752754"/>
            <a:ext cx="457200" cy="707886"/>
          </a:xfrm>
          <a:prstGeom prst="rect">
            <a:avLst/>
          </a:prstGeom>
          <a:noFill/>
        </p:spPr>
        <p:txBody>
          <a:bodyPr wrap="square" rtlCol="0">
            <a:spAutoFit/>
          </a:bodyPr>
          <a:lstStyle/>
          <a:p>
            <a:pPr algn="ctr"/>
            <a:r>
              <a:rPr lang="fr-FR" sz="4000" b="1" dirty="0"/>
              <a:t>?</a:t>
            </a:r>
          </a:p>
        </p:txBody>
      </p:sp>
      <p:sp>
        <p:nvSpPr>
          <p:cNvPr id="19" name="ZoneTexte 18">
            <a:extLst>
              <a:ext uri="{FF2B5EF4-FFF2-40B4-BE49-F238E27FC236}">
                <a16:creationId xmlns:a16="http://schemas.microsoft.com/office/drawing/2014/main" id="{6C0EA488-F3C0-8077-8DDB-38C6CEF6A1EF}"/>
              </a:ext>
            </a:extLst>
          </p:cNvPr>
          <p:cNvSpPr txBox="1"/>
          <p:nvPr/>
        </p:nvSpPr>
        <p:spPr>
          <a:xfrm>
            <a:off x="6632381" y="3759221"/>
            <a:ext cx="457200" cy="707886"/>
          </a:xfrm>
          <a:prstGeom prst="rect">
            <a:avLst/>
          </a:prstGeom>
          <a:noFill/>
        </p:spPr>
        <p:txBody>
          <a:bodyPr wrap="square" rtlCol="0">
            <a:spAutoFit/>
          </a:bodyPr>
          <a:lstStyle/>
          <a:p>
            <a:pPr algn="ctr"/>
            <a:r>
              <a:rPr lang="fr-FR" sz="4000" b="1" dirty="0"/>
              <a:t>?</a:t>
            </a:r>
          </a:p>
        </p:txBody>
      </p:sp>
      <p:cxnSp>
        <p:nvCxnSpPr>
          <p:cNvPr id="39" name="Connecteur en arc 38">
            <a:extLst>
              <a:ext uri="{FF2B5EF4-FFF2-40B4-BE49-F238E27FC236}">
                <a16:creationId xmlns:a16="http://schemas.microsoft.com/office/drawing/2014/main" id="{60DEAB4A-C58C-CC68-7691-078A91483A77}"/>
              </a:ext>
            </a:extLst>
          </p:cNvPr>
          <p:cNvCxnSpPr>
            <a:cxnSpLocks/>
          </p:cNvCxnSpPr>
          <p:nvPr/>
        </p:nvCxnSpPr>
        <p:spPr>
          <a:xfrm rot="5400000">
            <a:off x="6378290" y="3233121"/>
            <a:ext cx="3025" cy="465667"/>
          </a:xfrm>
          <a:prstGeom prst="curvedConnector3">
            <a:avLst>
              <a:gd name="adj1" fmla="val 7657025"/>
            </a:avLst>
          </a:prstGeom>
          <a:ln w="50800">
            <a:solidFill>
              <a:srgbClr val="FF0002">
                <a:alpha val="50000"/>
              </a:srgbClr>
            </a:solidFill>
            <a:tailEnd type="triangle"/>
          </a:ln>
        </p:spPr>
        <p:style>
          <a:lnRef idx="2">
            <a:schemeClr val="accent1"/>
          </a:lnRef>
          <a:fillRef idx="0">
            <a:schemeClr val="accent1"/>
          </a:fillRef>
          <a:effectRef idx="1">
            <a:schemeClr val="accent1"/>
          </a:effectRef>
          <a:fontRef idx="minor">
            <a:schemeClr val="tx1"/>
          </a:fontRef>
        </p:style>
      </p:cxnSp>
      <p:cxnSp>
        <p:nvCxnSpPr>
          <p:cNvPr id="40" name="Connecteur en arc 39">
            <a:extLst>
              <a:ext uri="{FF2B5EF4-FFF2-40B4-BE49-F238E27FC236}">
                <a16:creationId xmlns:a16="http://schemas.microsoft.com/office/drawing/2014/main" id="{EC8E5401-AB67-148A-B2DB-97CC241D6A85}"/>
              </a:ext>
            </a:extLst>
          </p:cNvPr>
          <p:cNvCxnSpPr>
            <a:cxnSpLocks/>
          </p:cNvCxnSpPr>
          <p:nvPr/>
        </p:nvCxnSpPr>
        <p:spPr>
          <a:xfrm rot="5400000">
            <a:off x="5551411" y="3208407"/>
            <a:ext cx="3025" cy="465667"/>
          </a:xfrm>
          <a:prstGeom prst="curvedConnector3">
            <a:avLst>
              <a:gd name="adj1" fmla="val 7657025"/>
            </a:avLst>
          </a:prstGeom>
          <a:ln w="50800">
            <a:solidFill>
              <a:srgbClr val="FF0002">
                <a:alpha val="50000"/>
              </a:srgbClr>
            </a:solidFill>
            <a:tailEnd type="triangle"/>
          </a:ln>
        </p:spPr>
        <p:style>
          <a:lnRef idx="2">
            <a:schemeClr val="accent1"/>
          </a:lnRef>
          <a:fillRef idx="0">
            <a:schemeClr val="accent1"/>
          </a:fillRef>
          <a:effectRef idx="1">
            <a:schemeClr val="accent1"/>
          </a:effectRef>
          <a:fontRef idx="minor">
            <a:schemeClr val="tx1"/>
          </a:fontRef>
        </p:style>
      </p:cxnSp>
      <p:cxnSp>
        <p:nvCxnSpPr>
          <p:cNvPr id="45" name="Connecteur en arc 44">
            <a:extLst>
              <a:ext uri="{FF2B5EF4-FFF2-40B4-BE49-F238E27FC236}">
                <a16:creationId xmlns:a16="http://schemas.microsoft.com/office/drawing/2014/main" id="{DF975C73-49EB-0923-51A9-12E0D4843A51}"/>
              </a:ext>
            </a:extLst>
          </p:cNvPr>
          <p:cNvCxnSpPr>
            <a:cxnSpLocks/>
          </p:cNvCxnSpPr>
          <p:nvPr/>
        </p:nvCxnSpPr>
        <p:spPr>
          <a:xfrm rot="5400000">
            <a:off x="4786721" y="3226600"/>
            <a:ext cx="3025" cy="465667"/>
          </a:xfrm>
          <a:prstGeom prst="curvedConnector3">
            <a:avLst>
              <a:gd name="adj1" fmla="val 7657025"/>
            </a:avLst>
          </a:prstGeom>
          <a:ln w="50800">
            <a:solidFill>
              <a:srgbClr val="FF0002">
                <a:alpha val="50000"/>
              </a:srgbClr>
            </a:solidFill>
            <a:tailEnd type="triangle"/>
          </a:ln>
        </p:spPr>
        <p:style>
          <a:lnRef idx="2">
            <a:schemeClr val="accent1"/>
          </a:lnRef>
          <a:fillRef idx="0">
            <a:schemeClr val="accent1"/>
          </a:fillRef>
          <a:effectRef idx="1">
            <a:schemeClr val="accent1"/>
          </a:effectRef>
          <a:fontRef idx="minor">
            <a:schemeClr val="tx1"/>
          </a:fontRef>
        </p:style>
      </p:cxnSp>
      <p:sp>
        <p:nvSpPr>
          <p:cNvPr id="3" name="ZoneTexte 2">
            <a:extLst>
              <a:ext uri="{FF2B5EF4-FFF2-40B4-BE49-F238E27FC236}">
                <a16:creationId xmlns:a16="http://schemas.microsoft.com/office/drawing/2014/main" id="{AE7073B3-C755-4093-5DF6-96D44C1E4B1E}"/>
              </a:ext>
            </a:extLst>
          </p:cNvPr>
          <p:cNvSpPr txBox="1"/>
          <p:nvPr/>
        </p:nvSpPr>
        <p:spPr>
          <a:xfrm>
            <a:off x="7406664" y="3882332"/>
            <a:ext cx="3324563" cy="584775"/>
          </a:xfrm>
          <a:prstGeom prst="rect">
            <a:avLst/>
          </a:prstGeom>
          <a:noFill/>
        </p:spPr>
        <p:txBody>
          <a:bodyPr wrap="square" rtlCol="0">
            <a:spAutoFit/>
          </a:bodyPr>
          <a:lstStyle/>
          <a:p>
            <a:r>
              <a:rPr lang="en-GB" sz="3200" b="1" noProof="0" dirty="0"/>
              <a:t>Gradient</a:t>
            </a:r>
          </a:p>
        </p:txBody>
      </p:sp>
    </p:spTree>
    <p:extLst>
      <p:ext uri="{BB962C8B-B14F-4D97-AF65-F5344CB8AC3E}">
        <p14:creationId xmlns:p14="http://schemas.microsoft.com/office/powerpoint/2010/main" val="42278220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42F20-19E1-2EF9-06F4-F78A4D8A761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0254B3A-0D78-6EFC-E944-41DF67FC9875}"/>
              </a:ext>
            </a:extLst>
          </p:cNvPr>
          <p:cNvSpPr>
            <a:spLocks noGrp="1"/>
          </p:cNvSpPr>
          <p:nvPr>
            <p:ph type="title"/>
          </p:nvPr>
        </p:nvSpPr>
        <p:spPr/>
        <p:txBody>
          <a:bodyPr/>
          <a:lstStyle/>
          <a:p>
            <a:r>
              <a:rPr lang="fr-FR" dirty="0"/>
              <a:t>Perceptron</a:t>
            </a:r>
          </a:p>
        </p:txBody>
      </p:sp>
      <p:grpSp>
        <p:nvGrpSpPr>
          <p:cNvPr id="12" name="Groupe 11">
            <a:extLst>
              <a:ext uri="{FF2B5EF4-FFF2-40B4-BE49-F238E27FC236}">
                <a16:creationId xmlns:a16="http://schemas.microsoft.com/office/drawing/2014/main" id="{87D04E57-9758-DD00-7B43-AD53FDF2EA38}"/>
              </a:ext>
            </a:extLst>
          </p:cNvPr>
          <p:cNvGrpSpPr/>
          <p:nvPr/>
        </p:nvGrpSpPr>
        <p:grpSpPr>
          <a:xfrm>
            <a:off x="4992412" y="2220312"/>
            <a:ext cx="1061545" cy="1061545"/>
            <a:chOff x="3563007" y="2367455"/>
            <a:chExt cx="1061545" cy="1061545"/>
          </a:xfrm>
        </p:grpSpPr>
        <p:sp>
          <p:nvSpPr>
            <p:cNvPr id="4" name="Ellipse 3">
              <a:extLst>
                <a:ext uri="{FF2B5EF4-FFF2-40B4-BE49-F238E27FC236}">
                  <a16:creationId xmlns:a16="http://schemas.microsoft.com/office/drawing/2014/main" id="{CB990F7C-482E-B9E3-363C-09C482E04F8D}"/>
                </a:ext>
              </a:extLst>
            </p:cNvPr>
            <p:cNvSpPr/>
            <p:nvPr/>
          </p:nvSpPr>
          <p:spPr>
            <a:xfrm>
              <a:off x="3563007" y="2367455"/>
              <a:ext cx="1061545" cy="106154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1400" dirty="0"/>
            </a:p>
          </p:txBody>
        </p:sp>
        <p:cxnSp>
          <p:nvCxnSpPr>
            <p:cNvPr id="8" name="Connecteur droit 7">
              <a:extLst>
                <a:ext uri="{FF2B5EF4-FFF2-40B4-BE49-F238E27FC236}">
                  <a16:creationId xmlns:a16="http://schemas.microsoft.com/office/drawing/2014/main" id="{57BAA127-0834-412F-AC40-10DC1E01602C}"/>
                </a:ext>
              </a:extLst>
            </p:cNvPr>
            <p:cNvCxnSpPr>
              <a:stCxn id="4" idx="0"/>
              <a:endCxn id="4" idx="4"/>
            </p:cNvCxnSpPr>
            <p:nvPr/>
          </p:nvCxnSpPr>
          <p:spPr>
            <a:xfrm>
              <a:off x="4093780" y="2367455"/>
              <a:ext cx="0" cy="1061545"/>
            </a:xfrm>
            <a:prstGeom prst="line">
              <a:avLst/>
            </a:prstGeom>
          </p:spPr>
          <p:style>
            <a:lnRef idx="2">
              <a:schemeClr val="accent1"/>
            </a:lnRef>
            <a:fillRef idx="0">
              <a:schemeClr val="accent1"/>
            </a:fillRef>
            <a:effectRef idx="1">
              <a:schemeClr val="accent1"/>
            </a:effectRef>
            <a:fontRef idx="minor">
              <a:schemeClr val="tx1"/>
            </a:fontRef>
          </p:style>
        </p:cxnSp>
      </p:grpSp>
      <p:cxnSp>
        <p:nvCxnSpPr>
          <p:cNvPr id="17" name="Connecteur droit avec flèche 16">
            <a:extLst>
              <a:ext uri="{FF2B5EF4-FFF2-40B4-BE49-F238E27FC236}">
                <a16:creationId xmlns:a16="http://schemas.microsoft.com/office/drawing/2014/main" id="{38D9AD3B-71C8-8BF5-76B4-F480FB8AB34A}"/>
              </a:ext>
            </a:extLst>
          </p:cNvPr>
          <p:cNvCxnSpPr>
            <a:cxnSpLocks/>
          </p:cNvCxnSpPr>
          <p:nvPr/>
        </p:nvCxnSpPr>
        <p:spPr>
          <a:xfrm>
            <a:off x="4056991" y="2572409"/>
            <a:ext cx="9354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ED4B8A74-678C-C03D-1506-1252025C27B7}"/>
              </a:ext>
            </a:extLst>
          </p:cNvPr>
          <p:cNvCxnSpPr>
            <a:cxnSpLocks/>
          </p:cNvCxnSpPr>
          <p:nvPr/>
        </p:nvCxnSpPr>
        <p:spPr>
          <a:xfrm>
            <a:off x="4056991" y="2995453"/>
            <a:ext cx="9354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ZoneTexte 20">
            <a:extLst>
              <a:ext uri="{FF2B5EF4-FFF2-40B4-BE49-F238E27FC236}">
                <a16:creationId xmlns:a16="http://schemas.microsoft.com/office/drawing/2014/main" id="{960DCE00-D1E7-A237-7DC4-B5D5C45AC17F}"/>
              </a:ext>
            </a:extLst>
          </p:cNvPr>
          <p:cNvSpPr txBox="1"/>
          <p:nvPr/>
        </p:nvSpPr>
        <p:spPr>
          <a:xfrm>
            <a:off x="3444763" y="2216780"/>
            <a:ext cx="599090" cy="523220"/>
          </a:xfrm>
          <a:prstGeom prst="rect">
            <a:avLst/>
          </a:prstGeom>
          <a:noFill/>
        </p:spPr>
        <p:txBody>
          <a:bodyPr wrap="square" rtlCol="0">
            <a:spAutoFit/>
          </a:bodyPr>
          <a:lstStyle/>
          <a:p>
            <a:pPr algn="ctr"/>
            <a:r>
              <a:rPr lang="fr-FR" sz="2800" dirty="0"/>
              <a:t>i</a:t>
            </a:r>
            <a:r>
              <a:rPr lang="fr-FR" sz="2800" baseline="-25000" dirty="0"/>
              <a:t>1</a:t>
            </a:r>
          </a:p>
        </p:txBody>
      </p:sp>
      <p:sp>
        <p:nvSpPr>
          <p:cNvPr id="22" name="ZoneTexte 21">
            <a:extLst>
              <a:ext uri="{FF2B5EF4-FFF2-40B4-BE49-F238E27FC236}">
                <a16:creationId xmlns:a16="http://schemas.microsoft.com/office/drawing/2014/main" id="{6B7D0D3C-5168-E115-7E1B-73B35114B759}"/>
              </a:ext>
            </a:extLst>
          </p:cNvPr>
          <p:cNvSpPr txBox="1"/>
          <p:nvPr/>
        </p:nvSpPr>
        <p:spPr>
          <a:xfrm>
            <a:off x="3468411" y="2731875"/>
            <a:ext cx="599090" cy="523220"/>
          </a:xfrm>
          <a:prstGeom prst="rect">
            <a:avLst/>
          </a:prstGeom>
          <a:noFill/>
        </p:spPr>
        <p:txBody>
          <a:bodyPr wrap="square" rtlCol="0">
            <a:spAutoFit/>
          </a:bodyPr>
          <a:lstStyle/>
          <a:p>
            <a:pPr algn="ctr"/>
            <a:r>
              <a:rPr lang="fr-FR" sz="2800" dirty="0"/>
              <a:t>i</a:t>
            </a:r>
            <a:r>
              <a:rPr lang="fr-FR" sz="2800" baseline="-25000" dirty="0"/>
              <a:t>2</a:t>
            </a:r>
          </a:p>
        </p:txBody>
      </p:sp>
      <p:sp>
        <p:nvSpPr>
          <p:cNvPr id="28" name="ZoneTexte 27">
            <a:extLst>
              <a:ext uri="{FF2B5EF4-FFF2-40B4-BE49-F238E27FC236}">
                <a16:creationId xmlns:a16="http://schemas.microsoft.com/office/drawing/2014/main" id="{5498EACD-C8B4-9371-1F6E-0F6CBA5E1D74}"/>
              </a:ext>
            </a:extLst>
          </p:cNvPr>
          <p:cNvSpPr txBox="1"/>
          <p:nvPr/>
        </p:nvSpPr>
        <p:spPr>
          <a:xfrm>
            <a:off x="4184429" y="2222692"/>
            <a:ext cx="599090"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w1</a:t>
            </a:r>
          </a:p>
        </p:txBody>
      </p:sp>
      <p:sp>
        <p:nvSpPr>
          <p:cNvPr id="29" name="ZoneTexte 28">
            <a:extLst>
              <a:ext uri="{FF2B5EF4-FFF2-40B4-BE49-F238E27FC236}">
                <a16:creationId xmlns:a16="http://schemas.microsoft.com/office/drawing/2014/main" id="{F17F9381-438F-9AF4-2692-4EE0FE734418}"/>
              </a:ext>
            </a:extLst>
          </p:cNvPr>
          <p:cNvSpPr txBox="1"/>
          <p:nvPr/>
        </p:nvSpPr>
        <p:spPr>
          <a:xfrm>
            <a:off x="4184429" y="2954896"/>
            <a:ext cx="599090"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w2</a:t>
            </a:r>
          </a:p>
        </p:txBody>
      </p:sp>
      <p:cxnSp>
        <p:nvCxnSpPr>
          <p:cNvPr id="30" name="Connecteur droit avec flèche 29">
            <a:extLst>
              <a:ext uri="{FF2B5EF4-FFF2-40B4-BE49-F238E27FC236}">
                <a16:creationId xmlns:a16="http://schemas.microsoft.com/office/drawing/2014/main" id="{1CDC116C-FA3D-4543-F752-000428352C8D}"/>
              </a:ext>
            </a:extLst>
          </p:cNvPr>
          <p:cNvCxnSpPr>
            <a:cxnSpLocks/>
          </p:cNvCxnSpPr>
          <p:nvPr/>
        </p:nvCxnSpPr>
        <p:spPr>
          <a:xfrm>
            <a:off x="6074977" y="2742628"/>
            <a:ext cx="9354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necteur droit avec flèche 31">
            <a:extLst>
              <a:ext uri="{FF2B5EF4-FFF2-40B4-BE49-F238E27FC236}">
                <a16:creationId xmlns:a16="http://schemas.microsoft.com/office/drawing/2014/main" id="{70D067D5-3231-24F7-8069-A6CBFB186369}"/>
              </a:ext>
            </a:extLst>
          </p:cNvPr>
          <p:cNvCxnSpPr>
            <a:cxnSpLocks/>
          </p:cNvCxnSpPr>
          <p:nvPr/>
        </p:nvCxnSpPr>
        <p:spPr>
          <a:xfrm flipV="1">
            <a:off x="4651482" y="3166246"/>
            <a:ext cx="493330" cy="5994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ZoneTexte 35">
            <a:extLst>
              <a:ext uri="{FF2B5EF4-FFF2-40B4-BE49-F238E27FC236}">
                <a16:creationId xmlns:a16="http://schemas.microsoft.com/office/drawing/2014/main" id="{33291468-DBDE-D766-165D-179F779FC99F}"/>
              </a:ext>
            </a:extLst>
          </p:cNvPr>
          <p:cNvSpPr txBox="1"/>
          <p:nvPr/>
        </p:nvSpPr>
        <p:spPr>
          <a:xfrm>
            <a:off x="4184429" y="3641845"/>
            <a:ext cx="599090"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b1</a:t>
            </a:r>
          </a:p>
        </p:txBody>
      </p:sp>
      <p:sp>
        <p:nvSpPr>
          <p:cNvPr id="41" name="ZoneTexte 40">
            <a:extLst>
              <a:ext uri="{FF2B5EF4-FFF2-40B4-BE49-F238E27FC236}">
                <a16:creationId xmlns:a16="http://schemas.microsoft.com/office/drawing/2014/main" id="{AE2E09C5-FBB8-299B-7053-4D1E44F89666}"/>
              </a:ext>
            </a:extLst>
          </p:cNvPr>
          <p:cNvSpPr txBox="1"/>
          <p:nvPr/>
        </p:nvSpPr>
        <p:spPr>
          <a:xfrm>
            <a:off x="5034995" y="2635155"/>
            <a:ext cx="517929" cy="307777"/>
          </a:xfrm>
          <a:prstGeom prst="rect">
            <a:avLst/>
          </a:prstGeom>
          <a:noFill/>
        </p:spPr>
        <p:txBody>
          <a:bodyPr wrap="square" rtlCol="0">
            <a:spAutoFit/>
          </a:bodyPr>
          <a:lstStyle/>
          <a:p>
            <a:pPr algn="ctr"/>
            <a:r>
              <a:rPr lang="fr-FR" sz="1400" dirty="0"/>
              <a:t>net</a:t>
            </a:r>
          </a:p>
        </p:txBody>
      </p:sp>
      <p:sp>
        <p:nvSpPr>
          <p:cNvPr id="42" name="ZoneTexte 41">
            <a:extLst>
              <a:ext uri="{FF2B5EF4-FFF2-40B4-BE49-F238E27FC236}">
                <a16:creationId xmlns:a16="http://schemas.microsoft.com/office/drawing/2014/main" id="{E9BB06C4-08EC-3DBA-0030-5EA2167A2C84}"/>
              </a:ext>
            </a:extLst>
          </p:cNvPr>
          <p:cNvSpPr txBox="1"/>
          <p:nvPr/>
        </p:nvSpPr>
        <p:spPr>
          <a:xfrm>
            <a:off x="5486866" y="2635155"/>
            <a:ext cx="517929" cy="307777"/>
          </a:xfrm>
          <a:prstGeom prst="rect">
            <a:avLst/>
          </a:prstGeom>
          <a:noFill/>
        </p:spPr>
        <p:txBody>
          <a:bodyPr wrap="square" rtlCol="0">
            <a:spAutoFit/>
          </a:bodyPr>
          <a:lstStyle/>
          <a:p>
            <a:pPr algn="ctr"/>
            <a:r>
              <a:rPr lang="fr-FR" sz="1400" dirty="0"/>
              <a:t>out</a:t>
            </a:r>
          </a:p>
        </p:txBody>
      </p:sp>
      <mc:AlternateContent xmlns:mc="http://schemas.openxmlformats.org/markup-compatibility/2006" xmlns:a14="http://schemas.microsoft.com/office/drawing/2010/main">
        <mc:Choice Requires="a14">
          <p:sp>
            <p:nvSpPr>
              <p:cNvPr id="44" name="ZoneTexte 43">
                <a:extLst>
                  <a:ext uri="{FF2B5EF4-FFF2-40B4-BE49-F238E27FC236}">
                    <a16:creationId xmlns:a16="http://schemas.microsoft.com/office/drawing/2014/main" id="{81B41C6E-B00C-DCEF-A764-728B91F5EC9F}"/>
                  </a:ext>
                </a:extLst>
              </p:cNvPr>
              <p:cNvSpPr txBox="1"/>
              <p:nvPr/>
            </p:nvSpPr>
            <p:spPr>
              <a:xfrm>
                <a:off x="7031418" y="2533615"/>
                <a:ext cx="2324249" cy="302840"/>
              </a:xfrm>
              <a:prstGeom prst="rect">
                <a:avLst/>
              </a:prstGeom>
              <a:noFill/>
              <a:ln>
                <a:solidFill>
                  <a:schemeClr val="tx1">
                    <a:lumMod val="50000"/>
                    <a:lumOff val="50000"/>
                  </a:schemeClr>
                </a:solidFill>
              </a:ln>
            </p:spPr>
            <p:txBody>
              <a:bodyPr wrap="square" rtlCol="0">
                <a:spAutoFit/>
              </a:bodyPr>
              <a:lstStyle/>
              <a:p>
                <a:pPr algn="ctr"/>
                <a14:m>
                  <m:oMath xmlns:m="http://schemas.openxmlformats.org/officeDocument/2006/math">
                    <m:r>
                      <a:rPr lang="fr-FR" sz="1400" b="0" i="1" noProof="0" smtClean="0">
                        <a:latin typeface="Cambria Math" panose="02040503050406030204" pitchFamily="18" charset="0"/>
                      </a:rPr>
                      <m:t>𝐿𝑜𝑠𝑠</m:t>
                    </m:r>
                    <m:r>
                      <a:rPr lang="fr-FR" sz="1400" b="0" i="1" noProof="0" smtClean="0">
                        <a:latin typeface="Cambria Math" panose="02040503050406030204" pitchFamily="18" charset="0"/>
                      </a:rPr>
                      <m:t>= (</m:t>
                    </m:r>
                    <m:r>
                      <m:rPr>
                        <m:sty m:val="p"/>
                      </m:rPr>
                      <a:rPr lang="fr-FR" sz="1400" b="0" i="0" noProof="0" smtClean="0">
                        <a:latin typeface="Cambria Math" panose="02040503050406030204" pitchFamily="18" charset="0"/>
                      </a:rPr>
                      <m:t>target</m:t>
                    </m:r>
                    <m:r>
                      <a:rPr lang="fr-FR" sz="1400" b="0" i="1" noProof="0" smtClean="0">
                        <a:latin typeface="Cambria Math" panose="02040503050406030204" pitchFamily="18" charset="0"/>
                      </a:rPr>
                      <m:t>−</m:t>
                    </m:r>
                    <m:r>
                      <m:rPr>
                        <m:sty m:val="p"/>
                      </m:rPr>
                      <a:rPr lang="fr-FR" sz="1400" b="0" i="0" noProof="0" smtClean="0">
                        <a:latin typeface="Cambria Math" panose="02040503050406030204" pitchFamily="18" charset="0"/>
                      </a:rPr>
                      <m:t>ou</m:t>
                    </m:r>
                    <m:r>
                      <a:rPr lang="fr-FR" sz="1400" b="0" i="1" noProof="0" smtClean="0">
                        <a:latin typeface="Cambria Math" panose="02040503050406030204" pitchFamily="18" charset="0"/>
                      </a:rPr>
                      <m:t>𝑡</m:t>
                    </m:r>
                    <m:r>
                      <a:rPr lang="fr-FR" sz="1400" b="0" i="1" noProof="0" smtClean="0">
                        <a:latin typeface="Cambria Math" panose="02040503050406030204" pitchFamily="18" charset="0"/>
                      </a:rPr>
                      <m:t>)</m:t>
                    </m:r>
                  </m:oMath>
                </a14:m>
                <a:r>
                  <a:rPr lang="en-GB" sz="1400" baseline="30000" noProof="0" dirty="0"/>
                  <a:t>2</a:t>
                </a:r>
              </a:p>
            </p:txBody>
          </p:sp>
        </mc:Choice>
        <mc:Fallback xmlns="">
          <p:sp>
            <p:nvSpPr>
              <p:cNvPr id="44" name="ZoneTexte 43">
                <a:extLst>
                  <a:ext uri="{FF2B5EF4-FFF2-40B4-BE49-F238E27FC236}">
                    <a16:creationId xmlns:a16="http://schemas.microsoft.com/office/drawing/2014/main" id="{81B41C6E-B00C-DCEF-A764-728B91F5EC9F}"/>
                  </a:ext>
                </a:extLst>
              </p:cNvPr>
              <p:cNvSpPr txBox="1">
                <a:spLocks noRot="1" noChangeAspect="1" noMove="1" noResize="1" noEditPoints="1" noAdjustHandles="1" noChangeArrowheads="1" noChangeShapeType="1" noTextEdit="1"/>
              </p:cNvSpPr>
              <p:nvPr/>
            </p:nvSpPr>
            <p:spPr>
              <a:xfrm>
                <a:off x="7031418" y="2533615"/>
                <a:ext cx="2324249" cy="302840"/>
              </a:xfrm>
              <a:prstGeom prst="rect">
                <a:avLst/>
              </a:prstGeom>
              <a:blipFill>
                <a:blip r:embed="rId2"/>
                <a:stretch>
                  <a:fillRect b="-12000"/>
                </a:stretch>
              </a:blipFill>
              <a:ln>
                <a:solidFill>
                  <a:schemeClr val="tx1">
                    <a:lumMod val="50000"/>
                    <a:lumOff val="50000"/>
                  </a:schemeClr>
                </a:solidFill>
              </a:ln>
            </p:spPr>
            <p:txBody>
              <a:bodyPr/>
              <a:lstStyle/>
              <a:p>
                <a:r>
                  <a:rPr lang="en-GB">
                    <a:noFill/>
                  </a:rPr>
                  <a:t> </a:t>
                </a:r>
              </a:p>
            </p:txBody>
          </p:sp>
        </mc:Fallback>
      </mc:AlternateContent>
      <p:sp>
        <p:nvSpPr>
          <p:cNvPr id="46" name="Espace réservé du pied de page 45">
            <a:extLst>
              <a:ext uri="{FF2B5EF4-FFF2-40B4-BE49-F238E27FC236}">
                <a16:creationId xmlns:a16="http://schemas.microsoft.com/office/drawing/2014/main" id="{69570483-EED7-6DAD-4832-B4FB21B94DA2}"/>
              </a:ext>
            </a:extLst>
          </p:cNvPr>
          <p:cNvSpPr>
            <a:spLocks noGrp="1"/>
          </p:cNvSpPr>
          <p:nvPr>
            <p:ph type="ftr" sz="quarter" idx="11"/>
          </p:nvPr>
        </p:nvSpPr>
        <p:spPr/>
        <p:txBody>
          <a:bodyPr/>
          <a:lstStyle/>
          <a:p>
            <a:r>
              <a:rPr lang="fr-FR"/>
              <a:t>Introduction to Neural Networks. Author: David Thébault</a:t>
            </a:r>
          </a:p>
        </p:txBody>
      </p:sp>
      <p:sp>
        <p:nvSpPr>
          <p:cNvPr id="50" name="ZoneTexte 49">
            <a:extLst>
              <a:ext uri="{FF2B5EF4-FFF2-40B4-BE49-F238E27FC236}">
                <a16:creationId xmlns:a16="http://schemas.microsoft.com/office/drawing/2014/main" id="{65CF24D4-FC6D-F83A-1AC0-383B7DF60B06}"/>
              </a:ext>
            </a:extLst>
          </p:cNvPr>
          <p:cNvSpPr txBox="1"/>
          <p:nvPr/>
        </p:nvSpPr>
        <p:spPr>
          <a:xfrm>
            <a:off x="838200" y="1532877"/>
            <a:ext cx="6773333" cy="369332"/>
          </a:xfrm>
          <a:prstGeom prst="rect">
            <a:avLst/>
          </a:prstGeom>
          <a:noFill/>
        </p:spPr>
        <p:txBody>
          <a:bodyPr wrap="square" rtlCol="0">
            <a:spAutoFit/>
          </a:bodyPr>
          <a:lstStyle/>
          <a:p>
            <a:r>
              <a:rPr lang="en-GB" noProof="0" dirty="0"/>
              <a:t>How do we find the optimal w</a:t>
            </a:r>
            <a:r>
              <a:rPr lang="en-GB" baseline="-25000" noProof="0" dirty="0"/>
              <a:t>1</a:t>
            </a:r>
            <a:r>
              <a:rPr lang="en-GB" noProof="0" dirty="0"/>
              <a:t>, w</a:t>
            </a:r>
            <a:r>
              <a:rPr lang="en-GB" baseline="-25000" noProof="0" dirty="0"/>
              <a:t>2</a:t>
            </a:r>
            <a:r>
              <a:rPr lang="en-GB" noProof="0" dirty="0"/>
              <a:t> and b</a:t>
            </a:r>
            <a:r>
              <a:rPr lang="en-GB" baseline="-25000" noProof="0" dirty="0"/>
              <a:t>1</a:t>
            </a:r>
            <a:r>
              <a:rPr lang="en-GB" noProof="0" dirty="0"/>
              <a:t> that minimize the loss ?</a:t>
            </a:r>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F58FFF5E-E271-D712-258D-A57B98F61C40}"/>
                  </a:ext>
                </a:extLst>
              </p:cNvPr>
              <p:cNvSpPr txBox="1"/>
              <p:nvPr/>
            </p:nvSpPr>
            <p:spPr>
              <a:xfrm>
                <a:off x="5952138" y="3804673"/>
                <a:ext cx="935421" cy="6190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fr-FR" i="1" smtClean="0">
                              <a:solidFill>
                                <a:srgbClr val="FF0002"/>
                              </a:solidFill>
                              <a:latin typeface="Cambria Math" panose="02040503050406030204" pitchFamily="18" charset="0"/>
                            </a:rPr>
                          </m:ctrlPr>
                        </m:fPr>
                        <m:num>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𝐿𝑜𝑠𝑠</m:t>
                          </m:r>
                        </m:num>
                        <m:den>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𝑜𝑢𝑡</m:t>
                          </m:r>
                        </m:den>
                      </m:f>
                    </m:oMath>
                  </m:oMathPara>
                </a14:m>
                <a:endParaRPr lang="fr-FR" dirty="0">
                  <a:solidFill>
                    <a:srgbClr val="FF0002"/>
                  </a:solidFill>
                </a:endParaRPr>
              </a:p>
            </p:txBody>
          </p:sp>
        </mc:Choice>
        <mc:Fallback xmlns="">
          <p:sp>
            <p:nvSpPr>
              <p:cNvPr id="6" name="ZoneTexte 5">
                <a:extLst>
                  <a:ext uri="{FF2B5EF4-FFF2-40B4-BE49-F238E27FC236}">
                    <a16:creationId xmlns:a16="http://schemas.microsoft.com/office/drawing/2014/main" id="{4C834B34-4977-A8F4-6694-F77B40A26429}"/>
                  </a:ext>
                </a:extLst>
              </p:cNvPr>
              <p:cNvSpPr txBox="1">
                <a:spLocks noRot="1" noChangeAspect="1" noMove="1" noResize="1" noEditPoints="1" noAdjustHandles="1" noChangeArrowheads="1" noChangeShapeType="1" noTextEdit="1"/>
              </p:cNvSpPr>
              <p:nvPr/>
            </p:nvSpPr>
            <p:spPr>
              <a:xfrm>
                <a:off x="5952138" y="3804673"/>
                <a:ext cx="935421" cy="619016"/>
              </a:xfrm>
              <a:prstGeom prst="rect">
                <a:avLst/>
              </a:prstGeom>
              <a:blipFill>
                <a:blip r:embed="rId3"/>
                <a:stretch>
                  <a:fillRect b="-40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DE68BC8D-97DD-E19F-1F21-56B0F8213DDE}"/>
                  </a:ext>
                </a:extLst>
              </p:cNvPr>
              <p:cNvSpPr txBox="1"/>
              <p:nvPr/>
            </p:nvSpPr>
            <p:spPr>
              <a:xfrm>
                <a:off x="5155554" y="3817307"/>
                <a:ext cx="826060" cy="6190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fr-FR" i="1" smtClean="0">
                              <a:solidFill>
                                <a:srgbClr val="FF0002"/>
                              </a:solidFill>
                              <a:latin typeface="Cambria Math" panose="02040503050406030204" pitchFamily="18" charset="0"/>
                            </a:rPr>
                          </m:ctrlPr>
                        </m:fPr>
                        <m:num>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𝑜𝑢𝑡</m:t>
                          </m:r>
                        </m:num>
                        <m:den>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𝑛𝑒𝑡</m:t>
                          </m:r>
                        </m:den>
                      </m:f>
                    </m:oMath>
                  </m:oMathPara>
                </a14:m>
                <a:endParaRPr lang="fr-FR" dirty="0">
                  <a:solidFill>
                    <a:srgbClr val="FF0002"/>
                  </a:solidFill>
                </a:endParaRPr>
              </a:p>
            </p:txBody>
          </p:sp>
        </mc:Choice>
        <mc:Fallback xmlns="">
          <p:sp>
            <p:nvSpPr>
              <p:cNvPr id="11" name="ZoneTexte 10">
                <a:extLst>
                  <a:ext uri="{FF2B5EF4-FFF2-40B4-BE49-F238E27FC236}">
                    <a16:creationId xmlns:a16="http://schemas.microsoft.com/office/drawing/2014/main" id="{C77A90AC-CCE8-A084-FDB5-E74C12BBE1EB}"/>
                  </a:ext>
                </a:extLst>
              </p:cNvPr>
              <p:cNvSpPr txBox="1">
                <a:spLocks noRot="1" noChangeAspect="1" noMove="1" noResize="1" noEditPoints="1" noAdjustHandles="1" noChangeArrowheads="1" noChangeShapeType="1" noTextEdit="1"/>
              </p:cNvSpPr>
              <p:nvPr/>
            </p:nvSpPr>
            <p:spPr>
              <a:xfrm>
                <a:off x="5155554" y="3817307"/>
                <a:ext cx="826060" cy="619016"/>
              </a:xfrm>
              <a:prstGeom prst="rect">
                <a:avLst/>
              </a:prstGeom>
              <a:blipFill>
                <a:blip r:embed="rId4"/>
                <a:stretch>
                  <a:fillRect b="-40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A0B98D39-4173-0342-E677-7AA4667BA595}"/>
                  </a:ext>
                </a:extLst>
              </p:cNvPr>
              <p:cNvSpPr txBox="1"/>
              <p:nvPr/>
            </p:nvSpPr>
            <p:spPr>
              <a:xfrm>
                <a:off x="4442982" y="3802058"/>
                <a:ext cx="734728" cy="61908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fr-FR" i="1" smtClean="0">
                              <a:solidFill>
                                <a:srgbClr val="FF0002"/>
                              </a:solidFill>
                              <a:latin typeface="Cambria Math" panose="02040503050406030204" pitchFamily="18" charset="0"/>
                            </a:rPr>
                          </m:ctrlPr>
                        </m:fPr>
                        <m:num>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𝑛𝑒𝑡</m:t>
                          </m:r>
                        </m:num>
                        <m:den>
                          <m:r>
                            <a:rPr lang="fr-FR" i="1" smtClean="0">
                              <a:solidFill>
                                <a:srgbClr val="FF0002"/>
                              </a:solidFill>
                              <a:latin typeface="Cambria Math" panose="02040503050406030204" pitchFamily="18" charset="0"/>
                            </a:rPr>
                            <m:t>𝜕</m:t>
                          </m:r>
                          <m:r>
                            <a:rPr lang="fr-FR" b="0" i="1" smtClean="0">
                              <a:solidFill>
                                <a:srgbClr val="FF0002"/>
                              </a:solidFill>
                              <a:latin typeface="Cambria Math" panose="02040503050406030204" pitchFamily="18" charset="0"/>
                            </a:rPr>
                            <m:t>𝑤</m:t>
                          </m:r>
                          <m:r>
                            <a:rPr lang="fr-FR" b="0" i="1" smtClean="0">
                              <a:solidFill>
                                <a:srgbClr val="FF0002"/>
                              </a:solidFill>
                              <a:latin typeface="Cambria Math" panose="02040503050406030204" pitchFamily="18" charset="0"/>
                            </a:rPr>
                            <m:t>1</m:t>
                          </m:r>
                        </m:den>
                      </m:f>
                      <m:r>
                        <a:rPr lang="fr-FR" b="0" i="1" smtClean="0">
                          <a:solidFill>
                            <a:srgbClr val="FF0002"/>
                          </a:solidFill>
                          <a:latin typeface="Cambria Math" panose="02040503050406030204" pitchFamily="18" charset="0"/>
                        </a:rPr>
                        <m:t> </m:t>
                      </m:r>
                    </m:oMath>
                  </m:oMathPara>
                </a14:m>
                <a:endParaRPr lang="fr-FR" dirty="0">
                  <a:solidFill>
                    <a:srgbClr val="FF0002"/>
                  </a:solidFill>
                </a:endParaRPr>
              </a:p>
            </p:txBody>
          </p:sp>
        </mc:Choice>
        <mc:Fallback xmlns="">
          <p:sp>
            <p:nvSpPr>
              <p:cNvPr id="13" name="ZoneTexte 12">
                <a:extLst>
                  <a:ext uri="{FF2B5EF4-FFF2-40B4-BE49-F238E27FC236}">
                    <a16:creationId xmlns:a16="http://schemas.microsoft.com/office/drawing/2014/main" id="{6881A179-BBD4-6E80-99A7-FE5B90BDE851}"/>
                  </a:ext>
                </a:extLst>
              </p:cNvPr>
              <p:cNvSpPr txBox="1">
                <a:spLocks noRot="1" noChangeAspect="1" noMove="1" noResize="1" noEditPoints="1" noAdjustHandles="1" noChangeArrowheads="1" noChangeShapeType="1" noTextEdit="1"/>
              </p:cNvSpPr>
              <p:nvPr/>
            </p:nvSpPr>
            <p:spPr>
              <a:xfrm>
                <a:off x="4442982" y="3802058"/>
                <a:ext cx="734728" cy="619080"/>
              </a:xfrm>
              <a:prstGeom prst="rect">
                <a:avLst/>
              </a:prstGeom>
              <a:blipFill>
                <a:blip r:embed="rId5"/>
                <a:stretch>
                  <a:fillRect r="-1695" b="-6122"/>
                </a:stretch>
              </a:blipFill>
            </p:spPr>
            <p:txBody>
              <a:bodyPr/>
              <a:lstStyle/>
              <a:p>
                <a:r>
                  <a:rPr lang="fr-FR">
                    <a:noFill/>
                  </a:rPr>
                  <a:t> </a:t>
                </a:r>
              </a:p>
            </p:txBody>
          </p:sp>
        </mc:Fallback>
      </mc:AlternateContent>
      <p:sp>
        <p:nvSpPr>
          <p:cNvPr id="14" name="Flèche vers la gauche 13">
            <a:extLst>
              <a:ext uri="{FF2B5EF4-FFF2-40B4-BE49-F238E27FC236}">
                <a16:creationId xmlns:a16="http://schemas.microsoft.com/office/drawing/2014/main" id="{D68836E1-64EB-DBC2-0F26-37E846608158}"/>
              </a:ext>
            </a:extLst>
          </p:cNvPr>
          <p:cNvSpPr/>
          <p:nvPr/>
        </p:nvSpPr>
        <p:spPr>
          <a:xfrm>
            <a:off x="3384998" y="4653650"/>
            <a:ext cx="4030133" cy="795867"/>
          </a:xfrm>
          <a:prstGeom prst="lef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dirty="0"/>
              <a:t>BACKPROPAGATION</a:t>
            </a:r>
          </a:p>
        </p:txBody>
      </p:sp>
      <p:sp>
        <p:nvSpPr>
          <p:cNvPr id="15" name="ZoneTexte 14">
            <a:extLst>
              <a:ext uri="{FF2B5EF4-FFF2-40B4-BE49-F238E27FC236}">
                <a16:creationId xmlns:a16="http://schemas.microsoft.com/office/drawing/2014/main" id="{4BFF1C03-904A-CE9C-595A-E99ADA1945F7}"/>
              </a:ext>
            </a:extLst>
          </p:cNvPr>
          <p:cNvSpPr txBox="1"/>
          <p:nvPr/>
        </p:nvSpPr>
        <p:spPr>
          <a:xfrm>
            <a:off x="4942865" y="3760612"/>
            <a:ext cx="457200" cy="707886"/>
          </a:xfrm>
          <a:prstGeom prst="rect">
            <a:avLst/>
          </a:prstGeom>
          <a:noFill/>
        </p:spPr>
        <p:txBody>
          <a:bodyPr wrap="square" rtlCol="0">
            <a:spAutoFit/>
          </a:bodyPr>
          <a:lstStyle/>
          <a:p>
            <a:pPr algn="ctr"/>
            <a:r>
              <a:rPr lang="fr-FR" sz="4000" b="1" dirty="0"/>
              <a:t>?</a:t>
            </a:r>
          </a:p>
        </p:txBody>
      </p:sp>
      <p:sp>
        <p:nvSpPr>
          <p:cNvPr id="16" name="ZoneTexte 15">
            <a:extLst>
              <a:ext uri="{FF2B5EF4-FFF2-40B4-BE49-F238E27FC236}">
                <a16:creationId xmlns:a16="http://schemas.microsoft.com/office/drawing/2014/main" id="{83F13F2F-A2A1-49E9-ED01-5E52C3D036CD}"/>
              </a:ext>
            </a:extLst>
          </p:cNvPr>
          <p:cNvSpPr txBox="1"/>
          <p:nvPr/>
        </p:nvSpPr>
        <p:spPr>
          <a:xfrm>
            <a:off x="5744673" y="3752754"/>
            <a:ext cx="457200" cy="707886"/>
          </a:xfrm>
          <a:prstGeom prst="rect">
            <a:avLst/>
          </a:prstGeom>
          <a:noFill/>
        </p:spPr>
        <p:txBody>
          <a:bodyPr wrap="square" rtlCol="0">
            <a:spAutoFit/>
          </a:bodyPr>
          <a:lstStyle/>
          <a:p>
            <a:pPr algn="ctr"/>
            <a:r>
              <a:rPr lang="fr-FR" sz="4000" b="1" dirty="0"/>
              <a:t>?</a:t>
            </a:r>
          </a:p>
        </p:txBody>
      </p:sp>
      <p:sp>
        <p:nvSpPr>
          <p:cNvPr id="19" name="ZoneTexte 18">
            <a:extLst>
              <a:ext uri="{FF2B5EF4-FFF2-40B4-BE49-F238E27FC236}">
                <a16:creationId xmlns:a16="http://schemas.microsoft.com/office/drawing/2014/main" id="{1983D5F9-7E19-1386-51E6-8AE3915837D9}"/>
              </a:ext>
            </a:extLst>
          </p:cNvPr>
          <p:cNvSpPr txBox="1"/>
          <p:nvPr/>
        </p:nvSpPr>
        <p:spPr>
          <a:xfrm>
            <a:off x="6632381" y="3759221"/>
            <a:ext cx="457200" cy="707886"/>
          </a:xfrm>
          <a:prstGeom prst="rect">
            <a:avLst/>
          </a:prstGeom>
          <a:noFill/>
        </p:spPr>
        <p:txBody>
          <a:bodyPr wrap="square" rtlCol="0">
            <a:spAutoFit/>
          </a:bodyPr>
          <a:lstStyle/>
          <a:p>
            <a:pPr algn="ctr"/>
            <a:r>
              <a:rPr lang="fr-FR" sz="4000" b="1" dirty="0"/>
              <a:t>?</a:t>
            </a:r>
          </a:p>
        </p:txBody>
      </p:sp>
      <p:cxnSp>
        <p:nvCxnSpPr>
          <p:cNvPr id="39" name="Connecteur en arc 38">
            <a:extLst>
              <a:ext uri="{FF2B5EF4-FFF2-40B4-BE49-F238E27FC236}">
                <a16:creationId xmlns:a16="http://schemas.microsoft.com/office/drawing/2014/main" id="{54B34CCF-BF63-7324-9F3A-081E655B8EC5}"/>
              </a:ext>
            </a:extLst>
          </p:cNvPr>
          <p:cNvCxnSpPr>
            <a:cxnSpLocks/>
          </p:cNvCxnSpPr>
          <p:nvPr/>
        </p:nvCxnSpPr>
        <p:spPr>
          <a:xfrm rot="5400000">
            <a:off x="6378290" y="3233121"/>
            <a:ext cx="3025" cy="465667"/>
          </a:xfrm>
          <a:prstGeom prst="curvedConnector3">
            <a:avLst>
              <a:gd name="adj1" fmla="val 7657025"/>
            </a:avLst>
          </a:prstGeom>
          <a:ln w="50800">
            <a:solidFill>
              <a:srgbClr val="FF0002">
                <a:alpha val="50000"/>
              </a:srgbClr>
            </a:solidFill>
            <a:tailEnd type="triangle"/>
          </a:ln>
        </p:spPr>
        <p:style>
          <a:lnRef idx="2">
            <a:schemeClr val="accent1"/>
          </a:lnRef>
          <a:fillRef idx="0">
            <a:schemeClr val="accent1"/>
          </a:fillRef>
          <a:effectRef idx="1">
            <a:schemeClr val="accent1"/>
          </a:effectRef>
          <a:fontRef idx="minor">
            <a:schemeClr val="tx1"/>
          </a:fontRef>
        </p:style>
      </p:cxnSp>
      <p:cxnSp>
        <p:nvCxnSpPr>
          <p:cNvPr id="40" name="Connecteur en arc 39">
            <a:extLst>
              <a:ext uri="{FF2B5EF4-FFF2-40B4-BE49-F238E27FC236}">
                <a16:creationId xmlns:a16="http://schemas.microsoft.com/office/drawing/2014/main" id="{0A7D691D-1CC6-1B0B-CCA3-C6DD175D4495}"/>
              </a:ext>
            </a:extLst>
          </p:cNvPr>
          <p:cNvCxnSpPr>
            <a:cxnSpLocks/>
          </p:cNvCxnSpPr>
          <p:nvPr/>
        </p:nvCxnSpPr>
        <p:spPr>
          <a:xfrm rot="5400000">
            <a:off x="5551411" y="3208407"/>
            <a:ext cx="3025" cy="465667"/>
          </a:xfrm>
          <a:prstGeom prst="curvedConnector3">
            <a:avLst>
              <a:gd name="adj1" fmla="val 7657025"/>
            </a:avLst>
          </a:prstGeom>
          <a:ln w="50800">
            <a:solidFill>
              <a:srgbClr val="FF0002">
                <a:alpha val="50000"/>
              </a:srgbClr>
            </a:solidFill>
            <a:tailEnd type="triangle"/>
          </a:ln>
        </p:spPr>
        <p:style>
          <a:lnRef idx="2">
            <a:schemeClr val="accent1"/>
          </a:lnRef>
          <a:fillRef idx="0">
            <a:schemeClr val="accent1"/>
          </a:fillRef>
          <a:effectRef idx="1">
            <a:schemeClr val="accent1"/>
          </a:effectRef>
          <a:fontRef idx="minor">
            <a:schemeClr val="tx1"/>
          </a:fontRef>
        </p:style>
      </p:cxnSp>
      <p:cxnSp>
        <p:nvCxnSpPr>
          <p:cNvPr id="45" name="Connecteur en arc 44">
            <a:extLst>
              <a:ext uri="{FF2B5EF4-FFF2-40B4-BE49-F238E27FC236}">
                <a16:creationId xmlns:a16="http://schemas.microsoft.com/office/drawing/2014/main" id="{E41409D1-B58E-03CD-29C1-1BE8AA4AE275}"/>
              </a:ext>
            </a:extLst>
          </p:cNvPr>
          <p:cNvCxnSpPr>
            <a:cxnSpLocks/>
          </p:cNvCxnSpPr>
          <p:nvPr/>
        </p:nvCxnSpPr>
        <p:spPr>
          <a:xfrm rot="5400000">
            <a:off x="4786721" y="3226600"/>
            <a:ext cx="3025" cy="465667"/>
          </a:xfrm>
          <a:prstGeom prst="curvedConnector3">
            <a:avLst>
              <a:gd name="adj1" fmla="val 7657025"/>
            </a:avLst>
          </a:prstGeom>
          <a:ln w="50800">
            <a:solidFill>
              <a:srgbClr val="FF0002">
                <a:alpha val="50000"/>
              </a:srgbClr>
            </a:solidFill>
            <a:tailEnd type="triangle"/>
          </a:ln>
        </p:spPr>
        <p:style>
          <a:lnRef idx="2">
            <a:schemeClr val="accent1"/>
          </a:lnRef>
          <a:fillRef idx="0">
            <a:schemeClr val="accent1"/>
          </a:fillRef>
          <a:effectRef idx="1">
            <a:schemeClr val="accent1"/>
          </a:effectRef>
          <a:fontRef idx="minor">
            <a:schemeClr val="tx1"/>
          </a:fontRef>
        </p:style>
      </p:cxnSp>
      <p:sp>
        <p:nvSpPr>
          <p:cNvPr id="3" name="ZoneTexte 2">
            <a:extLst>
              <a:ext uri="{FF2B5EF4-FFF2-40B4-BE49-F238E27FC236}">
                <a16:creationId xmlns:a16="http://schemas.microsoft.com/office/drawing/2014/main" id="{62EF0BC1-05B6-7F46-904F-5C0E1E9FC622}"/>
              </a:ext>
            </a:extLst>
          </p:cNvPr>
          <p:cNvSpPr txBox="1"/>
          <p:nvPr/>
        </p:nvSpPr>
        <p:spPr>
          <a:xfrm>
            <a:off x="7406664" y="3882332"/>
            <a:ext cx="3324563" cy="584775"/>
          </a:xfrm>
          <a:prstGeom prst="rect">
            <a:avLst/>
          </a:prstGeom>
          <a:noFill/>
        </p:spPr>
        <p:txBody>
          <a:bodyPr wrap="square" rtlCol="0">
            <a:spAutoFit/>
          </a:bodyPr>
          <a:lstStyle/>
          <a:p>
            <a:r>
              <a:rPr lang="en-GB" sz="3200" b="1" noProof="0" dirty="0"/>
              <a:t>Gradient</a:t>
            </a:r>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439BFDDA-3D5D-AFFB-888B-1BCC398815A1}"/>
                  </a:ext>
                </a:extLst>
              </p:cNvPr>
              <p:cNvSpPr txBox="1"/>
              <p:nvPr/>
            </p:nvSpPr>
            <p:spPr>
              <a:xfrm>
                <a:off x="8302903" y="4502762"/>
                <a:ext cx="826060" cy="5020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fr-FR" sz="1400" i="1" smtClean="0">
                              <a:solidFill>
                                <a:schemeClr val="tx1"/>
                              </a:solidFill>
                              <a:latin typeface="Cambria Math" panose="02040503050406030204" pitchFamily="18" charset="0"/>
                            </a:rPr>
                          </m:ctrlPr>
                        </m:fPr>
                        <m:num>
                          <m:r>
                            <a:rPr lang="fr-FR" sz="1400" i="1" smtClean="0">
                              <a:solidFill>
                                <a:schemeClr val="tx1"/>
                              </a:solidFill>
                              <a:latin typeface="Cambria Math" panose="02040503050406030204" pitchFamily="18" charset="0"/>
                            </a:rPr>
                            <m:t>𝜕</m:t>
                          </m:r>
                          <m:r>
                            <a:rPr lang="fr-FR" sz="1400" b="0" i="1" smtClean="0">
                              <a:solidFill>
                                <a:schemeClr val="tx1"/>
                              </a:solidFill>
                              <a:latin typeface="Cambria Math" panose="02040503050406030204" pitchFamily="18" charset="0"/>
                            </a:rPr>
                            <m:t>𝐿𝑜𝑠𝑠</m:t>
                          </m:r>
                        </m:num>
                        <m:den>
                          <m:r>
                            <a:rPr lang="fr-FR" sz="1400" i="1" smtClean="0">
                              <a:solidFill>
                                <a:schemeClr val="tx1"/>
                              </a:solidFill>
                              <a:latin typeface="Cambria Math" panose="02040503050406030204" pitchFamily="18" charset="0"/>
                            </a:rPr>
                            <m:t>𝜕</m:t>
                          </m:r>
                          <m:r>
                            <a:rPr lang="fr-FR" sz="1400" b="0" i="1" smtClean="0">
                              <a:solidFill>
                                <a:schemeClr val="tx1"/>
                              </a:solidFill>
                              <a:latin typeface="Cambria Math" panose="02040503050406030204" pitchFamily="18" charset="0"/>
                            </a:rPr>
                            <m:t>𝑜𝑢𝑡</m:t>
                          </m:r>
                        </m:den>
                      </m:f>
                    </m:oMath>
                  </m:oMathPara>
                </a14:m>
                <a:endParaRPr lang="fr-FR" sz="1400" dirty="0">
                  <a:solidFill>
                    <a:schemeClr val="tx1"/>
                  </a:solidFill>
                </a:endParaRPr>
              </a:p>
            </p:txBody>
          </p:sp>
        </mc:Choice>
        <mc:Fallback xmlns="">
          <p:sp>
            <p:nvSpPr>
              <p:cNvPr id="5" name="ZoneTexte 4">
                <a:extLst>
                  <a:ext uri="{FF2B5EF4-FFF2-40B4-BE49-F238E27FC236}">
                    <a16:creationId xmlns:a16="http://schemas.microsoft.com/office/drawing/2014/main" id="{439BFDDA-3D5D-AFFB-888B-1BCC398815A1}"/>
                  </a:ext>
                </a:extLst>
              </p:cNvPr>
              <p:cNvSpPr txBox="1">
                <a:spLocks noRot="1" noChangeAspect="1" noMove="1" noResize="1" noEditPoints="1" noAdjustHandles="1" noChangeArrowheads="1" noChangeShapeType="1" noTextEdit="1"/>
              </p:cNvSpPr>
              <p:nvPr/>
            </p:nvSpPr>
            <p:spPr>
              <a:xfrm>
                <a:off x="8302903" y="4502762"/>
                <a:ext cx="826060" cy="502061"/>
              </a:xfrm>
              <a:prstGeom prst="rect">
                <a:avLst/>
              </a:prstGeom>
              <a:blipFill>
                <a:blip r:embed="rId6"/>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B86012B6-D92D-8672-A7F2-5E65AD83DA08}"/>
                  </a:ext>
                </a:extLst>
              </p:cNvPr>
              <p:cNvSpPr txBox="1"/>
              <p:nvPr/>
            </p:nvSpPr>
            <p:spPr>
              <a:xfrm>
                <a:off x="8302903" y="5174367"/>
                <a:ext cx="826060" cy="5019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fr-FR" sz="1400" i="1" smtClean="0">
                              <a:solidFill>
                                <a:schemeClr val="tx1"/>
                              </a:solidFill>
                              <a:latin typeface="Cambria Math" panose="02040503050406030204" pitchFamily="18" charset="0"/>
                            </a:rPr>
                          </m:ctrlPr>
                        </m:fPr>
                        <m:num>
                          <m:r>
                            <a:rPr lang="fr-FR" sz="1400" i="1" smtClean="0">
                              <a:solidFill>
                                <a:schemeClr val="tx1"/>
                              </a:solidFill>
                              <a:latin typeface="Cambria Math" panose="02040503050406030204" pitchFamily="18" charset="0"/>
                            </a:rPr>
                            <m:t>𝜕</m:t>
                          </m:r>
                          <m:r>
                            <a:rPr lang="fr-FR" sz="1400" b="0" i="1" smtClean="0">
                              <a:solidFill>
                                <a:schemeClr val="tx1"/>
                              </a:solidFill>
                              <a:latin typeface="Cambria Math" panose="02040503050406030204" pitchFamily="18" charset="0"/>
                            </a:rPr>
                            <m:t>𝑜𝑢𝑡</m:t>
                          </m:r>
                        </m:num>
                        <m:den>
                          <m:r>
                            <a:rPr lang="fr-FR" sz="1400" i="1" smtClean="0">
                              <a:solidFill>
                                <a:schemeClr val="tx1"/>
                              </a:solidFill>
                              <a:latin typeface="Cambria Math" panose="02040503050406030204" pitchFamily="18" charset="0"/>
                            </a:rPr>
                            <m:t>𝜕</m:t>
                          </m:r>
                          <m:r>
                            <a:rPr lang="fr-FR" sz="1400" b="0" i="1" smtClean="0">
                              <a:solidFill>
                                <a:schemeClr val="tx1"/>
                              </a:solidFill>
                              <a:latin typeface="Cambria Math" panose="02040503050406030204" pitchFamily="18" charset="0"/>
                            </a:rPr>
                            <m:t>𝑛𝑒𝑡</m:t>
                          </m:r>
                        </m:den>
                      </m:f>
                    </m:oMath>
                  </m:oMathPara>
                </a14:m>
                <a:endParaRPr lang="fr-FR" sz="1400" dirty="0">
                  <a:solidFill>
                    <a:schemeClr val="tx1"/>
                  </a:solidFill>
                </a:endParaRPr>
              </a:p>
            </p:txBody>
          </p:sp>
        </mc:Choice>
        <mc:Fallback xmlns="">
          <p:sp>
            <p:nvSpPr>
              <p:cNvPr id="7" name="ZoneTexte 6">
                <a:extLst>
                  <a:ext uri="{FF2B5EF4-FFF2-40B4-BE49-F238E27FC236}">
                    <a16:creationId xmlns:a16="http://schemas.microsoft.com/office/drawing/2014/main" id="{B86012B6-D92D-8672-A7F2-5E65AD83DA08}"/>
                  </a:ext>
                </a:extLst>
              </p:cNvPr>
              <p:cNvSpPr txBox="1">
                <a:spLocks noRot="1" noChangeAspect="1" noMove="1" noResize="1" noEditPoints="1" noAdjustHandles="1" noChangeArrowheads="1" noChangeShapeType="1" noTextEdit="1"/>
              </p:cNvSpPr>
              <p:nvPr/>
            </p:nvSpPr>
            <p:spPr>
              <a:xfrm>
                <a:off x="8302903" y="5174367"/>
                <a:ext cx="826060" cy="501997"/>
              </a:xfrm>
              <a:prstGeom prst="rect">
                <a:avLst/>
              </a:prstGeom>
              <a:blipFill>
                <a:blip r:embed="rId7"/>
                <a:stretch>
                  <a:fillRect b="-25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9" name="ZoneTexte 8">
                <a:extLst>
                  <a:ext uri="{FF2B5EF4-FFF2-40B4-BE49-F238E27FC236}">
                    <a16:creationId xmlns:a16="http://schemas.microsoft.com/office/drawing/2014/main" id="{BEF94446-B112-A3C6-1DA0-DFA3472F520A}"/>
                  </a:ext>
                </a:extLst>
              </p:cNvPr>
              <p:cNvSpPr txBox="1"/>
              <p:nvPr/>
            </p:nvSpPr>
            <p:spPr>
              <a:xfrm>
                <a:off x="8302903" y="5873795"/>
                <a:ext cx="826060" cy="5019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fr-FR" sz="1400" i="1" smtClean="0">
                              <a:solidFill>
                                <a:schemeClr val="tx1"/>
                              </a:solidFill>
                              <a:latin typeface="Cambria Math" panose="02040503050406030204" pitchFamily="18" charset="0"/>
                            </a:rPr>
                          </m:ctrlPr>
                        </m:fPr>
                        <m:num>
                          <m:r>
                            <a:rPr lang="fr-FR" sz="1400" i="1" smtClean="0">
                              <a:solidFill>
                                <a:schemeClr val="tx1"/>
                              </a:solidFill>
                              <a:latin typeface="Cambria Math" panose="02040503050406030204" pitchFamily="18" charset="0"/>
                            </a:rPr>
                            <m:t>𝜕</m:t>
                          </m:r>
                          <m:r>
                            <a:rPr lang="fr-FR" sz="1400" b="0" i="1" smtClean="0">
                              <a:solidFill>
                                <a:schemeClr val="tx1"/>
                              </a:solidFill>
                              <a:latin typeface="Cambria Math" panose="02040503050406030204" pitchFamily="18" charset="0"/>
                            </a:rPr>
                            <m:t>𝑛𝑒𝑡</m:t>
                          </m:r>
                        </m:num>
                        <m:den>
                          <m:r>
                            <a:rPr lang="fr-FR" sz="1400" i="1" smtClean="0">
                              <a:solidFill>
                                <a:schemeClr val="tx1"/>
                              </a:solidFill>
                              <a:latin typeface="Cambria Math" panose="02040503050406030204" pitchFamily="18" charset="0"/>
                            </a:rPr>
                            <m:t>𝜕</m:t>
                          </m:r>
                          <m:r>
                            <a:rPr lang="fr-FR" sz="1400" b="0" i="1" smtClean="0">
                              <a:solidFill>
                                <a:schemeClr val="tx1"/>
                              </a:solidFill>
                              <a:latin typeface="Cambria Math" panose="02040503050406030204" pitchFamily="18" charset="0"/>
                            </a:rPr>
                            <m:t>𝑤</m:t>
                          </m:r>
                          <m:r>
                            <a:rPr lang="fr-FR" sz="1400" b="0" i="1" smtClean="0">
                              <a:solidFill>
                                <a:schemeClr val="tx1"/>
                              </a:solidFill>
                              <a:latin typeface="Cambria Math" panose="02040503050406030204" pitchFamily="18" charset="0"/>
                            </a:rPr>
                            <m:t>1</m:t>
                          </m:r>
                        </m:den>
                      </m:f>
                      <m:r>
                        <a:rPr lang="fr-FR" sz="1400" b="0" i="1" smtClean="0">
                          <a:solidFill>
                            <a:schemeClr val="tx1"/>
                          </a:solidFill>
                          <a:latin typeface="Cambria Math" panose="02040503050406030204" pitchFamily="18" charset="0"/>
                        </a:rPr>
                        <m:t> </m:t>
                      </m:r>
                    </m:oMath>
                  </m:oMathPara>
                </a14:m>
                <a:endParaRPr lang="fr-FR" sz="1400" dirty="0">
                  <a:solidFill>
                    <a:schemeClr val="tx1"/>
                  </a:solidFill>
                </a:endParaRPr>
              </a:p>
            </p:txBody>
          </p:sp>
        </mc:Choice>
        <mc:Fallback xmlns="">
          <p:sp>
            <p:nvSpPr>
              <p:cNvPr id="9" name="ZoneTexte 8">
                <a:extLst>
                  <a:ext uri="{FF2B5EF4-FFF2-40B4-BE49-F238E27FC236}">
                    <a16:creationId xmlns:a16="http://schemas.microsoft.com/office/drawing/2014/main" id="{BEF94446-B112-A3C6-1DA0-DFA3472F520A}"/>
                  </a:ext>
                </a:extLst>
              </p:cNvPr>
              <p:cNvSpPr txBox="1">
                <a:spLocks noRot="1" noChangeAspect="1" noMove="1" noResize="1" noEditPoints="1" noAdjustHandles="1" noChangeArrowheads="1" noChangeShapeType="1" noTextEdit="1"/>
              </p:cNvSpPr>
              <p:nvPr/>
            </p:nvSpPr>
            <p:spPr>
              <a:xfrm>
                <a:off x="8302903" y="5873795"/>
                <a:ext cx="826060" cy="501997"/>
              </a:xfrm>
              <a:prstGeom prst="rect">
                <a:avLst/>
              </a:prstGeom>
              <a:blipFill>
                <a:blip r:embed="rId8"/>
                <a:stretch>
                  <a:fillRect/>
                </a:stretch>
              </a:blipFill>
            </p:spPr>
            <p:txBody>
              <a:bodyPr/>
              <a:lstStyle/>
              <a:p>
                <a:r>
                  <a:rPr lang="fr-FR">
                    <a:noFill/>
                  </a:rPr>
                  <a:t> </a:t>
                </a:r>
              </a:p>
            </p:txBody>
          </p:sp>
        </mc:Fallback>
      </mc:AlternateContent>
      <p:sp>
        <p:nvSpPr>
          <p:cNvPr id="10" name="Parenthèses 9">
            <a:extLst>
              <a:ext uri="{FF2B5EF4-FFF2-40B4-BE49-F238E27FC236}">
                <a16:creationId xmlns:a16="http://schemas.microsoft.com/office/drawing/2014/main" id="{EBAF9B0E-A6F9-3ACE-401F-7AC4AE11A2A8}"/>
              </a:ext>
            </a:extLst>
          </p:cNvPr>
          <p:cNvSpPr/>
          <p:nvPr/>
        </p:nvSpPr>
        <p:spPr>
          <a:xfrm>
            <a:off x="8302903" y="4502762"/>
            <a:ext cx="826060" cy="1974238"/>
          </a:xfrm>
          <a:prstGeom prst="bracket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mc:AlternateContent xmlns:mc="http://schemas.openxmlformats.org/markup-compatibility/2006" xmlns:a14="http://schemas.microsoft.com/office/drawing/2010/main">
        <mc:Choice Requires="a14">
          <p:sp>
            <p:nvSpPr>
              <p:cNvPr id="20" name="ZoneTexte 19">
                <a:extLst>
                  <a:ext uri="{FF2B5EF4-FFF2-40B4-BE49-F238E27FC236}">
                    <a16:creationId xmlns:a16="http://schemas.microsoft.com/office/drawing/2014/main" id="{BB750F2E-54EC-41D0-336D-F7AA36E0CCB5}"/>
                  </a:ext>
                </a:extLst>
              </p:cNvPr>
              <p:cNvSpPr txBox="1"/>
              <p:nvPr/>
            </p:nvSpPr>
            <p:spPr>
              <a:xfrm>
                <a:off x="9905167" y="4481754"/>
                <a:ext cx="1770366"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400" b="0" i="1" smtClean="0">
                          <a:solidFill>
                            <a:schemeClr val="tx1"/>
                          </a:solidFill>
                          <a:latin typeface="Cambria Math" panose="02040503050406030204" pitchFamily="18" charset="0"/>
                        </a:rPr>
                        <m:t>−2(</m:t>
                      </m:r>
                      <m:r>
                        <a:rPr lang="fr-FR" sz="1400" b="0" i="1" smtClean="0">
                          <a:solidFill>
                            <a:schemeClr val="tx1"/>
                          </a:solidFill>
                          <a:latin typeface="Cambria Math" panose="02040503050406030204" pitchFamily="18" charset="0"/>
                        </a:rPr>
                        <m:t>𝑡𝑎𝑟𝑔𝑒𝑡</m:t>
                      </m:r>
                      <m:r>
                        <a:rPr lang="fr-FR" sz="1400" b="0" i="1" smtClean="0">
                          <a:solidFill>
                            <a:schemeClr val="tx1"/>
                          </a:solidFill>
                          <a:latin typeface="Cambria Math" panose="02040503050406030204" pitchFamily="18" charset="0"/>
                        </a:rPr>
                        <m:t> −</m:t>
                      </m:r>
                      <m:r>
                        <a:rPr lang="fr-FR" sz="1400" b="0" i="1" smtClean="0">
                          <a:solidFill>
                            <a:schemeClr val="tx1"/>
                          </a:solidFill>
                          <a:latin typeface="Cambria Math" panose="02040503050406030204" pitchFamily="18" charset="0"/>
                        </a:rPr>
                        <m:t>𝑜𝑢𝑡</m:t>
                      </m:r>
                      <m:r>
                        <a:rPr lang="fr-FR" sz="1400" b="0" i="1" smtClean="0">
                          <a:solidFill>
                            <a:schemeClr val="tx1"/>
                          </a:solidFill>
                          <a:latin typeface="Cambria Math" panose="02040503050406030204" pitchFamily="18" charset="0"/>
                        </a:rPr>
                        <m:t>)</m:t>
                      </m:r>
                    </m:oMath>
                  </m:oMathPara>
                </a14:m>
                <a:endParaRPr lang="fr-FR" sz="1400" dirty="0">
                  <a:solidFill>
                    <a:schemeClr val="tx1"/>
                  </a:solidFill>
                </a:endParaRPr>
              </a:p>
            </p:txBody>
          </p:sp>
        </mc:Choice>
        <mc:Fallback xmlns="">
          <p:sp>
            <p:nvSpPr>
              <p:cNvPr id="20" name="ZoneTexte 19">
                <a:extLst>
                  <a:ext uri="{FF2B5EF4-FFF2-40B4-BE49-F238E27FC236}">
                    <a16:creationId xmlns:a16="http://schemas.microsoft.com/office/drawing/2014/main" id="{BB750F2E-54EC-41D0-336D-F7AA36E0CCB5}"/>
                  </a:ext>
                </a:extLst>
              </p:cNvPr>
              <p:cNvSpPr txBox="1">
                <a:spLocks noRot="1" noChangeAspect="1" noMove="1" noResize="1" noEditPoints="1" noAdjustHandles="1" noChangeArrowheads="1" noChangeShapeType="1" noTextEdit="1"/>
              </p:cNvSpPr>
              <p:nvPr/>
            </p:nvSpPr>
            <p:spPr>
              <a:xfrm>
                <a:off x="9905167" y="4481754"/>
                <a:ext cx="1770366" cy="307777"/>
              </a:xfrm>
              <a:prstGeom prst="rect">
                <a:avLst/>
              </a:prstGeom>
              <a:blipFill>
                <a:blip r:embed="rId9"/>
                <a:stretch>
                  <a:fillRect b="-769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ZoneTexte 22">
                <a:extLst>
                  <a:ext uri="{FF2B5EF4-FFF2-40B4-BE49-F238E27FC236}">
                    <a16:creationId xmlns:a16="http://schemas.microsoft.com/office/drawing/2014/main" id="{47775CF9-48EA-A1D9-7B2D-8686CDB65280}"/>
                  </a:ext>
                </a:extLst>
              </p:cNvPr>
              <p:cNvSpPr txBox="1"/>
              <p:nvPr/>
            </p:nvSpPr>
            <p:spPr>
              <a:xfrm>
                <a:off x="9905167" y="5153359"/>
                <a:ext cx="1770366"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400" i="1" smtClean="0">
                          <a:solidFill>
                            <a:schemeClr val="tx1"/>
                          </a:solidFill>
                          <a:latin typeface="Cambria Math" panose="02040503050406030204" pitchFamily="18" charset="0"/>
                        </a:rPr>
                        <m:t>𝑜</m:t>
                      </m:r>
                      <m:r>
                        <a:rPr lang="fr-FR" sz="1400" b="0" i="1" smtClean="0">
                          <a:solidFill>
                            <a:schemeClr val="tx1"/>
                          </a:solidFill>
                          <a:latin typeface="Cambria Math" panose="02040503050406030204" pitchFamily="18" charset="0"/>
                        </a:rPr>
                        <m:t>𝑢𝑡</m:t>
                      </m:r>
                      <m:r>
                        <a:rPr lang="fr-FR" sz="1400" b="0" i="1" smtClean="0">
                          <a:solidFill>
                            <a:schemeClr val="tx1"/>
                          </a:solidFill>
                          <a:latin typeface="Cambria Math" panose="02040503050406030204" pitchFamily="18" charset="0"/>
                        </a:rPr>
                        <m:t>(1 −</m:t>
                      </m:r>
                      <m:r>
                        <a:rPr lang="fr-FR" sz="1400" b="0" i="1" smtClean="0">
                          <a:solidFill>
                            <a:schemeClr val="tx1"/>
                          </a:solidFill>
                          <a:latin typeface="Cambria Math" panose="02040503050406030204" pitchFamily="18" charset="0"/>
                        </a:rPr>
                        <m:t>𝑜𝑢𝑡</m:t>
                      </m:r>
                      <m:r>
                        <a:rPr lang="fr-FR" sz="1400" b="0" i="1" smtClean="0">
                          <a:solidFill>
                            <a:schemeClr val="tx1"/>
                          </a:solidFill>
                          <a:latin typeface="Cambria Math" panose="02040503050406030204" pitchFamily="18" charset="0"/>
                        </a:rPr>
                        <m:t>)</m:t>
                      </m:r>
                    </m:oMath>
                  </m:oMathPara>
                </a14:m>
                <a:endParaRPr lang="fr-FR" sz="1400" dirty="0">
                  <a:solidFill>
                    <a:schemeClr val="tx1"/>
                  </a:solidFill>
                </a:endParaRPr>
              </a:p>
            </p:txBody>
          </p:sp>
        </mc:Choice>
        <mc:Fallback xmlns="">
          <p:sp>
            <p:nvSpPr>
              <p:cNvPr id="23" name="ZoneTexte 22">
                <a:extLst>
                  <a:ext uri="{FF2B5EF4-FFF2-40B4-BE49-F238E27FC236}">
                    <a16:creationId xmlns:a16="http://schemas.microsoft.com/office/drawing/2014/main" id="{47775CF9-48EA-A1D9-7B2D-8686CDB65280}"/>
                  </a:ext>
                </a:extLst>
              </p:cNvPr>
              <p:cNvSpPr txBox="1">
                <a:spLocks noRot="1" noChangeAspect="1" noMove="1" noResize="1" noEditPoints="1" noAdjustHandles="1" noChangeArrowheads="1" noChangeShapeType="1" noTextEdit="1"/>
              </p:cNvSpPr>
              <p:nvPr/>
            </p:nvSpPr>
            <p:spPr>
              <a:xfrm>
                <a:off x="9905167" y="5153359"/>
                <a:ext cx="1770366" cy="307777"/>
              </a:xfrm>
              <a:prstGeom prst="rect">
                <a:avLst/>
              </a:prstGeom>
              <a:blipFill>
                <a:blip r:embed="rId10"/>
                <a:stretch>
                  <a:fillRect b="-7692"/>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4" name="ZoneTexte 23">
                <a:extLst>
                  <a:ext uri="{FF2B5EF4-FFF2-40B4-BE49-F238E27FC236}">
                    <a16:creationId xmlns:a16="http://schemas.microsoft.com/office/drawing/2014/main" id="{4DC04B51-D9C5-F8E2-F0B2-AE4ED395BD1F}"/>
                  </a:ext>
                </a:extLst>
              </p:cNvPr>
              <p:cNvSpPr txBox="1"/>
              <p:nvPr/>
            </p:nvSpPr>
            <p:spPr>
              <a:xfrm>
                <a:off x="9905167" y="5852787"/>
                <a:ext cx="1770366"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400" i="1" smtClean="0">
                          <a:solidFill>
                            <a:schemeClr val="tx1"/>
                          </a:solidFill>
                          <a:latin typeface="Cambria Math" panose="02040503050406030204" pitchFamily="18" charset="0"/>
                        </a:rPr>
                        <m:t>𝑥</m:t>
                      </m:r>
                    </m:oMath>
                  </m:oMathPara>
                </a14:m>
                <a:endParaRPr lang="fr-FR" sz="1400" dirty="0">
                  <a:solidFill>
                    <a:schemeClr val="tx1"/>
                  </a:solidFill>
                </a:endParaRPr>
              </a:p>
            </p:txBody>
          </p:sp>
        </mc:Choice>
        <mc:Fallback xmlns="">
          <p:sp>
            <p:nvSpPr>
              <p:cNvPr id="24" name="ZoneTexte 23">
                <a:extLst>
                  <a:ext uri="{FF2B5EF4-FFF2-40B4-BE49-F238E27FC236}">
                    <a16:creationId xmlns:a16="http://schemas.microsoft.com/office/drawing/2014/main" id="{4DC04B51-D9C5-F8E2-F0B2-AE4ED395BD1F}"/>
                  </a:ext>
                </a:extLst>
              </p:cNvPr>
              <p:cNvSpPr txBox="1">
                <a:spLocks noRot="1" noChangeAspect="1" noMove="1" noResize="1" noEditPoints="1" noAdjustHandles="1" noChangeArrowheads="1" noChangeShapeType="1" noTextEdit="1"/>
              </p:cNvSpPr>
              <p:nvPr/>
            </p:nvSpPr>
            <p:spPr>
              <a:xfrm>
                <a:off x="9905167" y="5852787"/>
                <a:ext cx="1770366" cy="307777"/>
              </a:xfrm>
              <a:prstGeom prst="rect">
                <a:avLst/>
              </a:prstGeom>
              <a:blipFill>
                <a:blip r:embed="rId11"/>
                <a:stretch>
                  <a:fillRect/>
                </a:stretch>
              </a:blipFill>
            </p:spPr>
            <p:txBody>
              <a:bodyPr/>
              <a:lstStyle/>
              <a:p>
                <a:r>
                  <a:rPr lang="fr-FR">
                    <a:noFill/>
                  </a:rPr>
                  <a:t> </a:t>
                </a:r>
              </a:p>
            </p:txBody>
          </p:sp>
        </mc:Fallback>
      </mc:AlternateContent>
      <p:sp>
        <p:nvSpPr>
          <p:cNvPr id="25" name="Parenthèses 24">
            <a:extLst>
              <a:ext uri="{FF2B5EF4-FFF2-40B4-BE49-F238E27FC236}">
                <a16:creationId xmlns:a16="http://schemas.microsoft.com/office/drawing/2014/main" id="{6A202E8E-067C-7772-6DAD-9334992D9F77}"/>
              </a:ext>
            </a:extLst>
          </p:cNvPr>
          <p:cNvSpPr/>
          <p:nvPr/>
        </p:nvSpPr>
        <p:spPr>
          <a:xfrm>
            <a:off x="9905167" y="4481754"/>
            <a:ext cx="1770366" cy="1974238"/>
          </a:xfrm>
          <a:prstGeom prst="bracket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Tree>
    <p:extLst>
      <p:ext uri="{BB962C8B-B14F-4D97-AF65-F5344CB8AC3E}">
        <p14:creationId xmlns:p14="http://schemas.microsoft.com/office/powerpoint/2010/main" val="39412984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0A6E5-C81A-E928-3AB5-318979E80F5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6CA7333-8A32-9508-748F-245FBABD73B3}"/>
              </a:ext>
            </a:extLst>
          </p:cNvPr>
          <p:cNvSpPr>
            <a:spLocks noGrp="1"/>
          </p:cNvSpPr>
          <p:nvPr>
            <p:ph type="title"/>
          </p:nvPr>
        </p:nvSpPr>
        <p:spPr/>
        <p:txBody>
          <a:bodyPr/>
          <a:lstStyle/>
          <a:p>
            <a:r>
              <a:rPr lang="fr-FR" dirty="0"/>
              <a:t>Perceptron</a:t>
            </a:r>
          </a:p>
        </p:txBody>
      </p:sp>
      <p:grpSp>
        <p:nvGrpSpPr>
          <p:cNvPr id="12" name="Groupe 11">
            <a:extLst>
              <a:ext uri="{FF2B5EF4-FFF2-40B4-BE49-F238E27FC236}">
                <a16:creationId xmlns:a16="http://schemas.microsoft.com/office/drawing/2014/main" id="{257A17FE-FBFB-EC4C-284C-E4E43E2BD4F4}"/>
              </a:ext>
            </a:extLst>
          </p:cNvPr>
          <p:cNvGrpSpPr/>
          <p:nvPr/>
        </p:nvGrpSpPr>
        <p:grpSpPr>
          <a:xfrm>
            <a:off x="4992412" y="2220312"/>
            <a:ext cx="1061545" cy="1061545"/>
            <a:chOff x="3563007" y="2367455"/>
            <a:chExt cx="1061545" cy="1061545"/>
          </a:xfrm>
        </p:grpSpPr>
        <p:sp>
          <p:nvSpPr>
            <p:cNvPr id="4" name="Ellipse 3">
              <a:extLst>
                <a:ext uri="{FF2B5EF4-FFF2-40B4-BE49-F238E27FC236}">
                  <a16:creationId xmlns:a16="http://schemas.microsoft.com/office/drawing/2014/main" id="{266F077F-F6FF-B0C7-421D-2B71A9027954}"/>
                </a:ext>
              </a:extLst>
            </p:cNvPr>
            <p:cNvSpPr/>
            <p:nvPr/>
          </p:nvSpPr>
          <p:spPr>
            <a:xfrm>
              <a:off x="3563007" y="2367455"/>
              <a:ext cx="1061545" cy="106154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1400" dirty="0"/>
            </a:p>
          </p:txBody>
        </p:sp>
        <p:cxnSp>
          <p:nvCxnSpPr>
            <p:cNvPr id="8" name="Connecteur droit 7">
              <a:extLst>
                <a:ext uri="{FF2B5EF4-FFF2-40B4-BE49-F238E27FC236}">
                  <a16:creationId xmlns:a16="http://schemas.microsoft.com/office/drawing/2014/main" id="{5636824F-BC26-25A2-E731-E5122342F59E}"/>
                </a:ext>
              </a:extLst>
            </p:cNvPr>
            <p:cNvCxnSpPr>
              <a:stCxn id="4" idx="0"/>
              <a:endCxn id="4" idx="4"/>
            </p:cNvCxnSpPr>
            <p:nvPr/>
          </p:nvCxnSpPr>
          <p:spPr>
            <a:xfrm>
              <a:off x="4093780" y="2367455"/>
              <a:ext cx="0" cy="1061545"/>
            </a:xfrm>
            <a:prstGeom prst="line">
              <a:avLst/>
            </a:prstGeom>
          </p:spPr>
          <p:style>
            <a:lnRef idx="2">
              <a:schemeClr val="accent1"/>
            </a:lnRef>
            <a:fillRef idx="0">
              <a:schemeClr val="accent1"/>
            </a:fillRef>
            <a:effectRef idx="1">
              <a:schemeClr val="accent1"/>
            </a:effectRef>
            <a:fontRef idx="minor">
              <a:schemeClr val="tx1"/>
            </a:fontRef>
          </p:style>
        </p:cxnSp>
      </p:grpSp>
      <p:cxnSp>
        <p:nvCxnSpPr>
          <p:cNvPr id="17" name="Connecteur droit avec flèche 16">
            <a:extLst>
              <a:ext uri="{FF2B5EF4-FFF2-40B4-BE49-F238E27FC236}">
                <a16:creationId xmlns:a16="http://schemas.microsoft.com/office/drawing/2014/main" id="{FE508CC9-4BBB-6AE8-92D3-E0AFFE1B4F4D}"/>
              </a:ext>
            </a:extLst>
          </p:cNvPr>
          <p:cNvCxnSpPr>
            <a:cxnSpLocks/>
          </p:cNvCxnSpPr>
          <p:nvPr/>
        </p:nvCxnSpPr>
        <p:spPr>
          <a:xfrm>
            <a:off x="4056991" y="2572409"/>
            <a:ext cx="9354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2711B0B6-AA8A-6A5B-E0AB-4D42E00DDC45}"/>
              </a:ext>
            </a:extLst>
          </p:cNvPr>
          <p:cNvCxnSpPr>
            <a:cxnSpLocks/>
          </p:cNvCxnSpPr>
          <p:nvPr/>
        </p:nvCxnSpPr>
        <p:spPr>
          <a:xfrm>
            <a:off x="4056991" y="2995453"/>
            <a:ext cx="9354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ZoneTexte 20">
            <a:extLst>
              <a:ext uri="{FF2B5EF4-FFF2-40B4-BE49-F238E27FC236}">
                <a16:creationId xmlns:a16="http://schemas.microsoft.com/office/drawing/2014/main" id="{528F06FF-849C-9E36-627C-CB22452168B5}"/>
              </a:ext>
            </a:extLst>
          </p:cNvPr>
          <p:cNvSpPr txBox="1"/>
          <p:nvPr/>
        </p:nvSpPr>
        <p:spPr>
          <a:xfrm>
            <a:off x="3444763" y="2216780"/>
            <a:ext cx="599090" cy="523220"/>
          </a:xfrm>
          <a:prstGeom prst="rect">
            <a:avLst/>
          </a:prstGeom>
          <a:noFill/>
        </p:spPr>
        <p:txBody>
          <a:bodyPr wrap="square" rtlCol="0">
            <a:spAutoFit/>
          </a:bodyPr>
          <a:lstStyle/>
          <a:p>
            <a:pPr algn="ctr"/>
            <a:r>
              <a:rPr lang="fr-FR" sz="2800" dirty="0"/>
              <a:t>i</a:t>
            </a:r>
            <a:r>
              <a:rPr lang="fr-FR" sz="2800" baseline="-25000" dirty="0"/>
              <a:t>1</a:t>
            </a:r>
          </a:p>
        </p:txBody>
      </p:sp>
      <p:sp>
        <p:nvSpPr>
          <p:cNvPr id="22" name="ZoneTexte 21">
            <a:extLst>
              <a:ext uri="{FF2B5EF4-FFF2-40B4-BE49-F238E27FC236}">
                <a16:creationId xmlns:a16="http://schemas.microsoft.com/office/drawing/2014/main" id="{EC602E85-AD05-FAE8-82F8-45C487E668DC}"/>
              </a:ext>
            </a:extLst>
          </p:cNvPr>
          <p:cNvSpPr txBox="1"/>
          <p:nvPr/>
        </p:nvSpPr>
        <p:spPr>
          <a:xfrm>
            <a:off x="3468411" y="2731875"/>
            <a:ext cx="599090" cy="523220"/>
          </a:xfrm>
          <a:prstGeom prst="rect">
            <a:avLst/>
          </a:prstGeom>
          <a:noFill/>
        </p:spPr>
        <p:txBody>
          <a:bodyPr wrap="square" rtlCol="0">
            <a:spAutoFit/>
          </a:bodyPr>
          <a:lstStyle/>
          <a:p>
            <a:pPr algn="ctr"/>
            <a:r>
              <a:rPr lang="fr-FR" sz="2800" dirty="0"/>
              <a:t>i</a:t>
            </a:r>
            <a:r>
              <a:rPr lang="fr-FR" sz="2800" baseline="-25000" dirty="0"/>
              <a:t>2</a:t>
            </a:r>
          </a:p>
        </p:txBody>
      </p:sp>
      <p:sp>
        <p:nvSpPr>
          <p:cNvPr id="28" name="ZoneTexte 27">
            <a:extLst>
              <a:ext uri="{FF2B5EF4-FFF2-40B4-BE49-F238E27FC236}">
                <a16:creationId xmlns:a16="http://schemas.microsoft.com/office/drawing/2014/main" id="{D9C272A5-57C1-9986-87D3-EFA11536FF41}"/>
              </a:ext>
            </a:extLst>
          </p:cNvPr>
          <p:cNvSpPr txBox="1"/>
          <p:nvPr/>
        </p:nvSpPr>
        <p:spPr>
          <a:xfrm>
            <a:off x="4184429" y="2222692"/>
            <a:ext cx="599090"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w1</a:t>
            </a:r>
          </a:p>
        </p:txBody>
      </p:sp>
      <p:sp>
        <p:nvSpPr>
          <p:cNvPr id="29" name="ZoneTexte 28">
            <a:extLst>
              <a:ext uri="{FF2B5EF4-FFF2-40B4-BE49-F238E27FC236}">
                <a16:creationId xmlns:a16="http://schemas.microsoft.com/office/drawing/2014/main" id="{B0F8F3FC-DD77-E42A-7ACE-026720FCD84E}"/>
              </a:ext>
            </a:extLst>
          </p:cNvPr>
          <p:cNvSpPr txBox="1"/>
          <p:nvPr/>
        </p:nvSpPr>
        <p:spPr>
          <a:xfrm>
            <a:off x="4184429" y="2954896"/>
            <a:ext cx="599090"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w2</a:t>
            </a:r>
          </a:p>
        </p:txBody>
      </p:sp>
      <p:cxnSp>
        <p:nvCxnSpPr>
          <p:cNvPr id="30" name="Connecteur droit avec flèche 29">
            <a:extLst>
              <a:ext uri="{FF2B5EF4-FFF2-40B4-BE49-F238E27FC236}">
                <a16:creationId xmlns:a16="http://schemas.microsoft.com/office/drawing/2014/main" id="{559E0349-94A1-D9B1-F665-264AE20F6CE8}"/>
              </a:ext>
            </a:extLst>
          </p:cNvPr>
          <p:cNvCxnSpPr>
            <a:cxnSpLocks/>
          </p:cNvCxnSpPr>
          <p:nvPr/>
        </p:nvCxnSpPr>
        <p:spPr>
          <a:xfrm>
            <a:off x="6074977" y="2742628"/>
            <a:ext cx="9354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necteur droit avec flèche 31">
            <a:extLst>
              <a:ext uri="{FF2B5EF4-FFF2-40B4-BE49-F238E27FC236}">
                <a16:creationId xmlns:a16="http://schemas.microsoft.com/office/drawing/2014/main" id="{B09F35CD-945A-AC6D-C643-C5D9EC2AA92D}"/>
              </a:ext>
            </a:extLst>
          </p:cNvPr>
          <p:cNvCxnSpPr>
            <a:cxnSpLocks/>
          </p:cNvCxnSpPr>
          <p:nvPr/>
        </p:nvCxnSpPr>
        <p:spPr>
          <a:xfrm flipV="1">
            <a:off x="4651482" y="3166246"/>
            <a:ext cx="493330" cy="5994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ZoneTexte 35">
            <a:extLst>
              <a:ext uri="{FF2B5EF4-FFF2-40B4-BE49-F238E27FC236}">
                <a16:creationId xmlns:a16="http://schemas.microsoft.com/office/drawing/2014/main" id="{541C72E8-372E-A65B-A340-27F0DF7E9327}"/>
              </a:ext>
            </a:extLst>
          </p:cNvPr>
          <p:cNvSpPr txBox="1"/>
          <p:nvPr/>
        </p:nvSpPr>
        <p:spPr>
          <a:xfrm>
            <a:off x="4184429" y="3641845"/>
            <a:ext cx="599090"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b1</a:t>
            </a:r>
          </a:p>
        </p:txBody>
      </p:sp>
      <p:sp>
        <p:nvSpPr>
          <p:cNvPr id="41" name="ZoneTexte 40">
            <a:extLst>
              <a:ext uri="{FF2B5EF4-FFF2-40B4-BE49-F238E27FC236}">
                <a16:creationId xmlns:a16="http://schemas.microsoft.com/office/drawing/2014/main" id="{64C3B828-60BA-89C2-F790-78A4EBF8B880}"/>
              </a:ext>
            </a:extLst>
          </p:cNvPr>
          <p:cNvSpPr txBox="1"/>
          <p:nvPr/>
        </p:nvSpPr>
        <p:spPr>
          <a:xfrm>
            <a:off x="5034995" y="2635155"/>
            <a:ext cx="517929" cy="307777"/>
          </a:xfrm>
          <a:prstGeom prst="rect">
            <a:avLst/>
          </a:prstGeom>
          <a:noFill/>
        </p:spPr>
        <p:txBody>
          <a:bodyPr wrap="square" rtlCol="0">
            <a:spAutoFit/>
          </a:bodyPr>
          <a:lstStyle/>
          <a:p>
            <a:pPr algn="ctr"/>
            <a:r>
              <a:rPr lang="fr-FR" sz="1400" dirty="0"/>
              <a:t>net</a:t>
            </a:r>
          </a:p>
        </p:txBody>
      </p:sp>
      <p:sp>
        <p:nvSpPr>
          <p:cNvPr id="42" name="ZoneTexte 41">
            <a:extLst>
              <a:ext uri="{FF2B5EF4-FFF2-40B4-BE49-F238E27FC236}">
                <a16:creationId xmlns:a16="http://schemas.microsoft.com/office/drawing/2014/main" id="{E802255B-D9FB-F54E-80E6-4EF8224EC7DE}"/>
              </a:ext>
            </a:extLst>
          </p:cNvPr>
          <p:cNvSpPr txBox="1"/>
          <p:nvPr/>
        </p:nvSpPr>
        <p:spPr>
          <a:xfrm>
            <a:off x="5486866" y="2635155"/>
            <a:ext cx="517929" cy="307777"/>
          </a:xfrm>
          <a:prstGeom prst="rect">
            <a:avLst/>
          </a:prstGeom>
          <a:noFill/>
        </p:spPr>
        <p:txBody>
          <a:bodyPr wrap="square" rtlCol="0">
            <a:spAutoFit/>
          </a:bodyPr>
          <a:lstStyle/>
          <a:p>
            <a:pPr algn="ctr"/>
            <a:r>
              <a:rPr lang="fr-FR" sz="1400" dirty="0"/>
              <a:t>out</a:t>
            </a:r>
          </a:p>
        </p:txBody>
      </p:sp>
      <mc:AlternateContent xmlns:mc="http://schemas.openxmlformats.org/markup-compatibility/2006" xmlns:a14="http://schemas.microsoft.com/office/drawing/2010/main">
        <mc:Choice Requires="a14">
          <p:sp>
            <p:nvSpPr>
              <p:cNvPr id="44" name="ZoneTexte 43">
                <a:extLst>
                  <a:ext uri="{FF2B5EF4-FFF2-40B4-BE49-F238E27FC236}">
                    <a16:creationId xmlns:a16="http://schemas.microsoft.com/office/drawing/2014/main" id="{C9C7B409-DCC3-0156-6A14-FE8139D14AAC}"/>
                  </a:ext>
                </a:extLst>
              </p:cNvPr>
              <p:cNvSpPr txBox="1"/>
              <p:nvPr/>
            </p:nvSpPr>
            <p:spPr>
              <a:xfrm>
                <a:off x="7031418" y="2533615"/>
                <a:ext cx="2324249" cy="302840"/>
              </a:xfrm>
              <a:prstGeom prst="rect">
                <a:avLst/>
              </a:prstGeom>
              <a:noFill/>
              <a:ln>
                <a:solidFill>
                  <a:schemeClr val="tx1">
                    <a:lumMod val="50000"/>
                    <a:lumOff val="50000"/>
                  </a:schemeClr>
                </a:solidFill>
              </a:ln>
            </p:spPr>
            <p:txBody>
              <a:bodyPr wrap="square" rtlCol="0">
                <a:spAutoFit/>
              </a:bodyPr>
              <a:lstStyle/>
              <a:p>
                <a:pPr algn="ctr"/>
                <a14:m>
                  <m:oMath xmlns:m="http://schemas.openxmlformats.org/officeDocument/2006/math">
                    <m:r>
                      <a:rPr lang="fr-FR" sz="1400" b="0" i="1" noProof="0" smtClean="0">
                        <a:latin typeface="Cambria Math" panose="02040503050406030204" pitchFamily="18" charset="0"/>
                      </a:rPr>
                      <m:t>𝐿𝑜𝑠𝑠</m:t>
                    </m:r>
                    <m:r>
                      <a:rPr lang="fr-FR" sz="1400" b="0" i="1" noProof="0" smtClean="0">
                        <a:latin typeface="Cambria Math" panose="02040503050406030204" pitchFamily="18" charset="0"/>
                      </a:rPr>
                      <m:t>= (</m:t>
                    </m:r>
                    <m:r>
                      <m:rPr>
                        <m:sty m:val="p"/>
                      </m:rPr>
                      <a:rPr lang="fr-FR" sz="1400" b="0" i="0" noProof="0" smtClean="0">
                        <a:latin typeface="Cambria Math" panose="02040503050406030204" pitchFamily="18" charset="0"/>
                      </a:rPr>
                      <m:t>target</m:t>
                    </m:r>
                    <m:r>
                      <a:rPr lang="fr-FR" sz="1400" b="0" i="1" noProof="0" smtClean="0">
                        <a:latin typeface="Cambria Math" panose="02040503050406030204" pitchFamily="18" charset="0"/>
                      </a:rPr>
                      <m:t>−</m:t>
                    </m:r>
                    <m:r>
                      <a:rPr lang="fr-FR" sz="1400" b="0" i="1" noProof="0" smtClean="0">
                        <a:latin typeface="Cambria Math" panose="02040503050406030204" pitchFamily="18" charset="0"/>
                      </a:rPr>
                      <m:t>𝑜𝑢</m:t>
                    </m:r>
                    <m:r>
                      <m:rPr>
                        <m:sty m:val="p"/>
                      </m:rPr>
                      <a:rPr lang="fr-FR" sz="1400" b="0" i="0" noProof="0" smtClean="0">
                        <a:latin typeface="Cambria Math" panose="02040503050406030204" pitchFamily="18" charset="0"/>
                      </a:rPr>
                      <m:t>t</m:t>
                    </m:r>
                    <m:r>
                      <a:rPr lang="fr-FR" sz="1400" b="0" i="1" noProof="0" smtClean="0">
                        <a:latin typeface="Cambria Math" panose="02040503050406030204" pitchFamily="18" charset="0"/>
                      </a:rPr>
                      <m:t>)</m:t>
                    </m:r>
                  </m:oMath>
                </a14:m>
                <a:r>
                  <a:rPr lang="en-GB" sz="1400" baseline="30000" noProof="0" dirty="0"/>
                  <a:t>2</a:t>
                </a:r>
              </a:p>
            </p:txBody>
          </p:sp>
        </mc:Choice>
        <mc:Fallback xmlns="">
          <p:sp>
            <p:nvSpPr>
              <p:cNvPr id="44" name="ZoneTexte 43">
                <a:extLst>
                  <a:ext uri="{FF2B5EF4-FFF2-40B4-BE49-F238E27FC236}">
                    <a16:creationId xmlns:a16="http://schemas.microsoft.com/office/drawing/2014/main" id="{C9C7B409-DCC3-0156-6A14-FE8139D14AAC}"/>
                  </a:ext>
                </a:extLst>
              </p:cNvPr>
              <p:cNvSpPr txBox="1">
                <a:spLocks noRot="1" noChangeAspect="1" noMove="1" noResize="1" noEditPoints="1" noAdjustHandles="1" noChangeArrowheads="1" noChangeShapeType="1" noTextEdit="1"/>
              </p:cNvSpPr>
              <p:nvPr/>
            </p:nvSpPr>
            <p:spPr>
              <a:xfrm>
                <a:off x="7031418" y="2533615"/>
                <a:ext cx="2324249" cy="302840"/>
              </a:xfrm>
              <a:prstGeom prst="rect">
                <a:avLst/>
              </a:prstGeom>
              <a:blipFill>
                <a:blip r:embed="rId2"/>
                <a:stretch>
                  <a:fillRect b="-12000"/>
                </a:stretch>
              </a:blipFill>
              <a:ln>
                <a:solidFill>
                  <a:schemeClr val="tx1">
                    <a:lumMod val="50000"/>
                    <a:lumOff val="50000"/>
                  </a:schemeClr>
                </a:solidFill>
              </a:ln>
            </p:spPr>
            <p:txBody>
              <a:bodyPr/>
              <a:lstStyle/>
              <a:p>
                <a:r>
                  <a:rPr lang="en-GB">
                    <a:noFill/>
                  </a:rPr>
                  <a:t> </a:t>
                </a:r>
              </a:p>
            </p:txBody>
          </p:sp>
        </mc:Fallback>
      </mc:AlternateContent>
      <p:sp>
        <p:nvSpPr>
          <p:cNvPr id="46" name="Espace réservé du pied de page 45">
            <a:extLst>
              <a:ext uri="{FF2B5EF4-FFF2-40B4-BE49-F238E27FC236}">
                <a16:creationId xmlns:a16="http://schemas.microsoft.com/office/drawing/2014/main" id="{9E0B4781-286E-0272-FCD0-642DD90E2C2E}"/>
              </a:ext>
            </a:extLst>
          </p:cNvPr>
          <p:cNvSpPr>
            <a:spLocks noGrp="1"/>
          </p:cNvSpPr>
          <p:nvPr>
            <p:ph type="ftr" sz="quarter" idx="11"/>
          </p:nvPr>
        </p:nvSpPr>
        <p:spPr/>
        <p:txBody>
          <a:bodyPr/>
          <a:lstStyle/>
          <a:p>
            <a:r>
              <a:rPr lang="fr-FR"/>
              <a:t>Introduction to Neural Networks. Author: David Thébault</a:t>
            </a:r>
          </a:p>
        </p:txBody>
      </p:sp>
      <p:sp>
        <p:nvSpPr>
          <p:cNvPr id="50" name="ZoneTexte 49">
            <a:extLst>
              <a:ext uri="{FF2B5EF4-FFF2-40B4-BE49-F238E27FC236}">
                <a16:creationId xmlns:a16="http://schemas.microsoft.com/office/drawing/2014/main" id="{C90A1438-81F3-61C4-09E2-F3B94A01F08B}"/>
              </a:ext>
            </a:extLst>
          </p:cNvPr>
          <p:cNvSpPr txBox="1"/>
          <p:nvPr/>
        </p:nvSpPr>
        <p:spPr>
          <a:xfrm>
            <a:off x="838200" y="1532877"/>
            <a:ext cx="6773333" cy="369332"/>
          </a:xfrm>
          <a:prstGeom prst="rect">
            <a:avLst/>
          </a:prstGeom>
          <a:noFill/>
        </p:spPr>
        <p:txBody>
          <a:bodyPr wrap="square" rtlCol="0">
            <a:spAutoFit/>
          </a:bodyPr>
          <a:lstStyle/>
          <a:p>
            <a:r>
              <a:rPr lang="en-GB" noProof="0" dirty="0"/>
              <a:t>How do we find the optimal w</a:t>
            </a:r>
            <a:r>
              <a:rPr lang="en-GB" baseline="-25000" noProof="0" dirty="0"/>
              <a:t>1</a:t>
            </a:r>
            <a:r>
              <a:rPr lang="en-GB" noProof="0" dirty="0"/>
              <a:t>, w</a:t>
            </a:r>
            <a:r>
              <a:rPr lang="en-GB" baseline="-25000" noProof="0" dirty="0"/>
              <a:t>2</a:t>
            </a:r>
            <a:r>
              <a:rPr lang="en-GB" noProof="0" dirty="0"/>
              <a:t> and b</a:t>
            </a:r>
            <a:r>
              <a:rPr lang="en-GB" baseline="-25000" noProof="0" dirty="0"/>
              <a:t>1</a:t>
            </a:r>
            <a:r>
              <a:rPr lang="en-GB" noProof="0" dirty="0"/>
              <a:t> that minimize the loss ?</a:t>
            </a:r>
          </a:p>
        </p:txBody>
      </p:sp>
      <p:sp>
        <p:nvSpPr>
          <p:cNvPr id="3" name="ZoneTexte 2">
            <a:extLst>
              <a:ext uri="{FF2B5EF4-FFF2-40B4-BE49-F238E27FC236}">
                <a16:creationId xmlns:a16="http://schemas.microsoft.com/office/drawing/2014/main" id="{8176B8E9-DDBC-8F71-A193-0CADFC7BBF62}"/>
              </a:ext>
            </a:extLst>
          </p:cNvPr>
          <p:cNvSpPr txBox="1"/>
          <p:nvPr/>
        </p:nvSpPr>
        <p:spPr>
          <a:xfrm>
            <a:off x="956108" y="3705852"/>
            <a:ext cx="2677732" cy="584775"/>
          </a:xfrm>
          <a:prstGeom prst="rect">
            <a:avLst/>
          </a:prstGeom>
          <a:noFill/>
        </p:spPr>
        <p:txBody>
          <a:bodyPr wrap="square" rtlCol="0">
            <a:spAutoFit/>
          </a:bodyPr>
          <a:lstStyle/>
          <a:p>
            <a:r>
              <a:rPr lang="fr-FR" sz="3200" b="1" dirty="0"/>
              <a:t>The process</a:t>
            </a:r>
          </a:p>
        </p:txBody>
      </p:sp>
      <p:sp>
        <p:nvSpPr>
          <p:cNvPr id="5" name="ZoneTexte 4">
            <a:extLst>
              <a:ext uri="{FF2B5EF4-FFF2-40B4-BE49-F238E27FC236}">
                <a16:creationId xmlns:a16="http://schemas.microsoft.com/office/drawing/2014/main" id="{1A86A6BB-3F54-AA5C-C5E8-55BF0883C7B5}"/>
              </a:ext>
            </a:extLst>
          </p:cNvPr>
          <p:cNvSpPr txBox="1"/>
          <p:nvPr/>
        </p:nvSpPr>
        <p:spPr>
          <a:xfrm>
            <a:off x="1146220" y="4456090"/>
            <a:ext cx="3998592" cy="646331"/>
          </a:xfrm>
          <a:prstGeom prst="rect">
            <a:avLst/>
          </a:prstGeom>
          <a:noFill/>
        </p:spPr>
        <p:txBody>
          <a:bodyPr wrap="square" rtlCol="0">
            <a:spAutoFit/>
          </a:bodyPr>
          <a:lstStyle/>
          <a:p>
            <a:pPr marL="342900" indent="-342900">
              <a:buAutoNum type="arabicPeriod"/>
            </a:pPr>
            <a:r>
              <a:rPr lang="en-GB" noProof="0"/>
              <a:t>set w to some initial value(s)</a:t>
            </a:r>
          </a:p>
          <a:p>
            <a:pPr marL="342900" indent="-342900">
              <a:buAutoNum type="arabicPeriod"/>
            </a:pPr>
            <a:endParaRPr lang="en-GB" noProof="0" dirty="0"/>
          </a:p>
        </p:txBody>
      </p:sp>
    </p:spTree>
    <p:extLst>
      <p:ext uri="{BB962C8B-B14F-4D97-AF65-F5344CB8AC3E}">
        <p14:creationId xmlns:p14="http://schemas.microsoft.com/office/powerpoint/2010/main" val="26533733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B1129-6687-B8EB-5B1C-EAB5B644484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0E8A0A4-AB15-11F4-0DC2-AD91B92A2F3D}"/>
              </a:ext>
            </a:extLst>
          </p:cNvPr>
          <p:cNvSpPr>
            <a:spLocks noGrp="1"/>
          </p:cNvSpPr>
          <p:nvPr>
            <p:ph type="ctrTitle"/>
          </p:nvPr>
        </p:nvSpPr>
        <p:spPr/>
        <p:txBody>
          <a:bodyPr/>
          <a:lstStyle/>
          <a:p>
            <a:r>
              <a:rPr lang="en-GB" dirty="0"/>
              <a:t>Neural Networks with multiple layers I</a:t>
            </a:r>
            <a:endParaRPr lang="en-GB" noProof="0" dirty="0"/>
          </a:p>
        </p:txBody>
      </p:sp>
      <p:sp>
        <p:nvSpPr>
          <p:cNvPr id="3" name="Espace réservé du pied de page 2">
            <a:extLst>
              <a:ext uri="{FF2B5EF4-FFF2-40B4-BE49-F238E27FC236}">
                <a16:creationId xmlns:a16="http://schemas.microsoft.com/office/drawing/2014/main" id="{085CA057-0C8D-35DE-4CA0-0BF23638DD62}"/>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16529225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3C2AE-62A4-9EF8-5386-B439CFCAF85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4E312D9-EFF1-B07A-F2E9-BE27EF17188B}"/>
              </a:ext>
            </a:extLst>
          </p:cNvPr>
          <p:cNvSpPr>
            <a:spLocks noGrp="1"/>
          </p:cNvSpPr>
          <p:nvPr>
            <p:ph type="title"/>
          </p:nvPr>
        </p:nvSpPr>
        <p:spPr/>
        <p:txBody>
          <a:bodyPr/>
          <a:lstStyle/>
          <a:p>
            <a:r>
              <a:rPr lang="fr-FR" dirty="0"/>
              <a:t>Neural Network</a:t>
            </a:r>
          </a:p>
        </p:txBody>
      </p:sp>
      <mc:AlternateContent xmlns:mc="http://schemas.openxmlformats.org/markup-compatibility/2006" xmlns:a14="http://schemas.microsoft.com/office/drawing/2010/main">
        <mc:Choice Requires="a14">
          <p:sp>
            <p:nvSpPr>
              <p:cNvPr id="40" name="ZoneTexte 39">
                <a:extLst>
                  <a:ext uri="{FF2B5EF4-FFF2-40B4-BE49-F238E27FC236}">
                    <a16:creationId xmlns:a16="http://schemas.microsoft.com/office/drawing/2014/main" id="{D6D5A47D-1CB1-75D2-23C1-02733FACFDEE}"/>
                  </a:ext>
                </a:extLst>
              </p:cNvPr>
              <p:cNvSpPr txBox="1"/>
              <p:nvPr/>
            </p:nvSpPr>
            <p:spPr>
              <a:xfrm>
                <a:off x="3713095" y="4440594"/>
                <a:ext cx="1815049" cy="553998"/>
              </a:xfrm>
              <a:prstGeom prst="rect">
                <a:avLst/>
              </a:prstGeom>
              <a:noFill/>
            </p:spPr>
            <p:txBody>
              <a:bodyPr wrap="none" lIns="0" tIns="0" rIns="0" bIns="0" rtlCol="0">
                <a:spAutoFit/>
              </a:bodyPr>
              <a:lstStyle/>
              <a:p>
                <a:r>
                  <a:rPr lang="fr-FR" sz="1200" dirty="0">
                    <a:latin typeface="Cambria Math" panose="02040503050406030204" pitchFamily="18" charset="0"/>
                  </a:rPr>
                  <a:t>net_h</a:t>
                </a:r>
                <a:r>
                  <a:rPr lang="fr-FR" sz="1200" b="0" i="1" dirty="0">
                    <a:latin typeface="Cambria Math" panose="02040503050406030204" pitchFamily="18" charset="0"/>
                  </a:rPr>
                  <a:t> = </a:t>
                </a:r>
                <a14:m>
                  <m:oMath xmlns:m="http://schemas.openxmlformats.org/officeDocument/2006/math">
                    <m:r>
                      <a:rPr lang="fr-FR" sz="1200" b="0" i="1" smtClean="0">
                        <a:latin typeface="Cambria Math" panose="02040503050406030204" pitchFamily="18" charset="0"/>
                        <a:ea typeface="Cambria Math" panose="02040503050406030204" pitchFamily="18" charset="0"/>
                      </a:rPr>
                      <m:t>𝑖</m:t>
                    </m:r>
                    <m:r>
                      <a:rPr lang="fr-FR" sz="1200" b="0" i="1" baseline="-25000" smtClean="0">
                        <a:latin typeface="Cambria Math" panose="02040503050406030204" pitchFamily="18" charset="0"/>
                        <a:ea typeface="Cambria Math" panose="02040503050406030204" pitchFamily="18" charset="0"/>
                      </a:rPr>
                      <m:t>1</m:t>
                    </m:r>
                    <m:r>
                      <a:rPr lang="fr-FR" sz="1200" b="0" i="1" smtClean="0">
                        <a:latin typeface="Cambria Math" panose="02040503050406030204" pitchFamily="18" charset="0"/>
                        <a:ea typeface="Cambria Math" panose="02040503050406030204" pitchFamily="18" charset="0"/>
                      </a:rPr>
                      <m:t>×</m:t>
                    </m:r>
                    <m:r>
                      <a:rPr lang="fr-FR" sz="1200" b="0" i="1" smtClean="0">
                        <a:latin typeface="Cambria Math" panose="02040503050406030204" pitchFamily="18" charset="0"/>
                        <a:ea typeface="Cambria Math" panose="02040503050406030204" pitchFamily="18" charset="0"/>
                      </a:rPr>
                      <m:t>𝑤</m:t>
                    </m:r>
                    <m:r>
                      <a:rPr lang="fr-FR" sz="1200" b="0" i="1" baseline="-25000" smtClean="0">
                        <a:latin typeface="Cambria Math" panose="02040503050406030204" pitchFamily="18" charset="0"/>
                        <a:ea typeface="Cambria Math" panose="02040503050406030204" pitchFamily="18" charset="0"/>
                      </a:rPr>
                      <m:t>1</m:t>
                    </m:r>
                    <m:r>
                      <a:rPr lang="fr-FR" sz="1200" b="0" i="1" smtClean="0">
                        <a:latin typeface="Cambria Math" panose="02040503050406030204" pitchFamily="18" charset="0"/>
                        <a:ea typeface="Cambria Math" panose="02040503050406030204" pitchFamily="18" charset="0"/>
                      </a:rPr>
                      <m:t>+</m:t>
                    </m:r>
                    <m:r>
                      <a:rPr lang="fr-FR" sz="1200" b="0" i="1" smtClean="0">
                        <a:latin typeface="Cambria Math" panose="02040503050406030204" pitchFamily="18" charset="0"/>
                        <a:ea typeface="Cambria Math" panose="02040503050406030204" pitchFamily="18" charset="0"/>
                      </a:rPr>
                      <m:t>𝑖</m:t>
                    </m:r>
                    <m:r>
                      <a:rPr lang="fr-FR" sz="1200" b="0" i="1" baseline="-25000" smtClean="0">
                        <a:latin typeface="Cambria Math" panose="02040503050406030204" pitchFamily="18" charset="0"/>
                        <a:ea typeface="Cambria Math" panose="02040503050406030204" pitchFamily="18" charset="0"/>
                      </a:rPr>
                      <m:t>2</m:t>
                    </m:r>
                    <m:r>
                      <a:rPr lang="fr-FR" sz="1200" b="0" i="1" smtClean="0">
                        <a:latin typeface="Cambria Math" panose="02040503050406030204" pitchFamily="18" charset="0"/>
                        <a:ea typeface="Cambria Math" panose="02040503050406030204" pitchFamily="18" charset="0"/>
                      </a:rPr>
                      <m:t>×</m:t>
                    </m:r>
                    <m:r>
                      <a:rPr lang="fr-FR" sz="1200" b="0" i="1" smtClean="0">
                        <a:latin typeface="Cambria Math" panose="02040503050406030204" pitchFamily="18" charset="0"/>
                        <a:ea typeface="Cambria Math" panose="02040503050406030204" pitchFamily="18" charset="0"/>
                      </a:rPr>
                      <m:t>𝑤</m:t>
                    </m:r>
                    <m:r>
                      <a:rPr lang="fr-FR" sz="1200" b="0" i="1" baseline="-25000" smtClean="0">
                        <a:latin typeface="Cambria Math" panose="02040503050406030204" pitchFamily="18" charset="0"/>
                        <a:ea typeface="Cambria Math" panose="02040503050406030204" pitchFamily="18" charset="0"/>
                      </a:rPr>
                      <m:t>2</m:t>
                    </m:r>
                    <m:r>
                      <a:rPr lang="fr-FR" sz="1200" b="0" i="1" smtClean="0">
                        <a:latin typeface="Cambria Math" panose="02040503050406030204" pitchFamily="18" charset="0"/>
                        <a:ea typeface="Cambria Math" panose="02040503050406030204" pitchFamily="18" charset="0"/>
                      </a:rPr>
                      <m:t>+</m:t>
                    </m:r>
                    <m:r>
                      <a:rPr lang="fr-FR" sz="1200" b="0" i="1" smtClean="0">
                        <a:latin typeface="Cambria Math" panose="02040503050406030204" pitchFamily="18" charset="0"/>
                        <a:ea typeface="Cambria Math" panose="02040503050406030204" pitchFamily="18" charset="0"/>
                      </a:rPr>
                      <m:t>𝑏</m:t>
                    </m:r>
                    <m:r>
                      <a:rPr lang="fr-FR" sz="1200" b="0" i="1" baseline="-25000" smtClean="0">
                        <a:latin typeface="Cambria Math" panose="02040503050406030204" pitchFamily="18" charset="0"/>
                        <a:ea typeface="Cambria Math" panose="02040503050406030204" pitchFamily="18" charset="0"/>
                      </a:rPr>
                      <m:t>1</m:t>
                    </m:r>
                  </m:oMath>
                </a14:m>
                <a:endParaRPr lang="fr-FR" sz="1200" b="0" i="1" dirty="0">
                  <a:latin typeface="Cambria Math" panose="02040503050406030204" pitchFamily="18" charset="0"/>
                </a:endParaRPr>
              </a:p>
              <a:p>
                <a:endParaRPr lang="fr-FR" sz="1200" dirty="0">
                  <a:latin typeface="Cambria Math" panose="02040503050406030204" pitchFamily="18" charset="0"/>
                </a:endParaRPr>
              </a:p>
              <a:p>
                <a:r>
                  <a:rPr lang="fr-FR" sz="1200" dirty="0">
                    <a:latin typeface="Cambria Math" panose="02040503050406030204" pitchFamily="18" charset="0"/>
                  </a:rPr>
                  <a:t>out_h </a:t>
                </a:r>
                <a14:m>
                  <m:oMath xmlns:m="http://schemas.openxmlformats.org/officeDocument/2006/math">
                    <m:r>
                      <a:rPr lang="fr-FR" sz="1200" b="0" i="1" smtClean="0">
                        <a:latin typeface="Cambria Math" panose="02040503050406030204" pitchFamily="18" charset="0"/>
                      </a:rPr>
                      <m:t>=</m:t>
                    </m:r>
                    <m:r>
                      <a:rPr lang="fr-FR" sz="1200" b="0" i="1" smtClean="0">
                        <a:latin typeface="Cambria Math" panose="02040503050406030204" pitchFamily="18" charset="0"/>
                      </a:rPr>
                      <m:t>𝑅𝑒𝐿𝑢</m:t>
                    </m:r>
                    <m:r>
                      <a:rPr lang="fr-FR" sz="1200" b="0" i="1" smtClean="0">
                        <a:latin typeface="Cambria Math" panose="02040503050406030204" pitchFamily="18" charset="0"/>
                        <a:ea typeface="Cambria Math" panose="02040503050406030204" pitchFamily="18" charset="0"/>
                      </a:rPr>
                      <m:t>(</m:t>
                    </m:r>
                    <m:r>
                      <m:rPr>
                        <m:sty m:val="p"/>
                      </m:rPr>
                      <a:rPr lang="fr-FR" sz="1200" b="0" i="0" smtClean="0">
                        <a:latin typeface="Cambria Math" panose="02040503050406030204" pitchFamily="18" charset="0"/>
                        <a:ea typeface="Cambria Math" panose="02040503050406030204" pitchFamily="18" charset="0"/>
                      </a:rPr>
                      <m:t>net</m:t>
                    </m:r>
                    <m:r>
                      <a:rPr lang="fr-FR" sz="1200" b="0" i="0" smtClean="0">
                        <a:latin typeface="Cambria Math" panose="02040503050406030204" pitchFamily="18" charset="0"/>
                        <a:ea typeface="Cambria Math" panose="02040503050406030204" pitchFamily="18" charset="0"/>
                      </a:rPr>
                      <m:t>_</m:t>
                    </m:r>
                    <m:r>
                      <m:rPr>
                        <m:sty m:val="p"/>
                      </m:rPr>
                      <a:rPr lang="fr-FR" sz="1200" b="0" i="0" smtClean="0">
                        <a:latin typeface="Cambria Math" panose="02040503050406030204" pitchFamily="18" charset="0"/>
                        <a:ea typeface="Cambria Math" panose="02040503050406030204" pitchFamily="18" charset="0"/>
                      </a:rPr>
                      <m:t>h</m:t>
                    </m:r>
                    <m:r>
                      <a:rPr lang="fr-FR" sz="1200" b="0" i="1" smtClean="0">
                        <a:latin typeface="Cambria Math" panose="02040503050406030204" pitchFamily="18" charset="0"/>
                        <a:ea typeface="Cambria Math" panose="02040503050406030204" pitchFamily="18" charset="0"/>
                      </a:rPr>
                      <m:t>)</m:t>
                    </m:r>
                  </m:oMath>
                </a14:m>
                <a:endParaRPr lang="fr-FR" sz="1200" dirty="0"/>
              </a:p>
            </p:txBody>
          </p:sp>
        </mc:Choice>
        <mc:Fallback xmlns="">
          <p:sp>
            <p:nvSpPr>
              <p:cNvPr id="40" name="ZoneTexte 39">
                <a:extLst>
                  <a:ext uri="{FF2B5EF4-FFF2-40B4-BE49-F238E27FC236}">
                    <a16:creationId xmlns:a16="http://schemas.microsoft.com/office/drawing/2014/main" id="{D6D5A47D-1CB1-75D2-23C1-02733FACFDEE}"/>
                  </a:ext>
                </a:extLst>
              </p:cNvPr>
              <p:cNvSpPr txBox="1">
                <a:spLocks noRot="1" noChangeAspect="1" noMove="1" noResize="1" noEditPoints="1" noAdjustHandles="1" noChangeArrowheads="1" noChangeShapeType="1" noTextEdit="1"/>
              </p:cNvSpPr>
              <p:nvPr/>
            </p:nvSpPr>
            <p:spPr>
              <a:xfrm>
                <a:off x="3713095" y="4440594"/>
                <a:ext cx="1815049" cy="553998"/>
              </a:xfrm>
              <a:prstGeom prst="rect">
                <a:avLst/>
              </a:prstGeom>
              <a:blipFill>
                <a:blip r:embed="rId2"/>
                <a:stretch>
                  <a:fillRect l="-4861" t="-6667" r="-694" b="-13333"/>
                </a:stretch>
              </a:blipFill>
            </p:spPr>
            <p:txBody>
              <a:bodyPr/>
              <a:lstStyle/>
              <a:p>
                <a:r>
                  <a:rPr lang="fr-FR">
                    <a:noFill/>
                  </a:rPr>
                  <a:t> </a:t>
                </a:r>
              </a:p>
            </p:txBody>
          </p:sp>
        </mc:Fallback>
      </mc:AlternateContent>
      <p:cxnSp>
        <p:nvCxnSpPr>
          <p:cNvPr id="17" name="Connecteur droit avec flèche 16">
            <a:extLst>
              <a:ext uri="{FF2B5EF4-FFF2-40B4-BE49-F238E27FC236}">
                <a16:creationId xmlns:a16="http://schemas.microsoft.com/office/drawing/2014/main" id="{E70CB94C-EA76-5022-EE16-C88BDD61E17E}"/>
              </a:ext>
            </a:extLst>
          </p:cNvPr>
          <p:cNvCxnSpPr>
            <a:cxnSpLocks/>
          </p:cNvCxnSpPr>
          <p:nvPr/>
        </p:nvCxnSpPr>
        <p:spPr>
          <a:xfrm>
            <a:off x="2741390" y="2191483"/>
            <a:ext cx="115346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6D176FF5-A603-B2ED-7EB4-E6548BE5AD84}"/>
              </a:ext>
            </a:extLst>
          </p:cNvPr>
          <p:cNvCxnSpPr>
            <a:cxnSpLocks/>
          </p:cNvCxnSpPr>
          <p:nvPr/>
        </p:nvCxnSpPr>
        <p:spPr>
          <a:xfrm>
            <a:off x="2741390" y="2733747"/>
            <a:ext cx="115346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ZoneTexte 20">
            <a:extLst>
              <a:ext uri="{FF2B5EF4-FFF2-40B4-BE49-F238E27FC236}">
                <a16:creationId xmlns:a16="http://schemas.microsoft.com/office/drawing/2014/main" id="{513E7057-4499-9C8B-E7A1-856638E15141}"/>
              </a:ext>
            </a:extLst>
          </p:cNvPr>
          <p:cNvSpPr txBox="1"/>
          <p:nvPr/>
        </p:nvSpPr>
        <p:spPr>
          <a:xfrm>
            <a:off x="2028575" y="1833324"/>
            <a:ext cx="738735" cy="670671"/>
          </a:xfrm>
          <a:prstGeom prst="rect">
            <a:avLst/>
          </a:prstGeom>
          <a:noFill/>
        </p:spPr>
        <p:txBody>
          <a:bodyPr wrap="square" rtlCol="0">
            <a:spAutoFit/>
          </a:bodyPr>
          <a:lstStyle/>
          <a:p>
            <a:pPr algn="ctr"/>
            <a:r>
              <a:rPr lang="fr-FR" sz="2800" dirty="0"/>
              <a:t>i</a:t>
            </a:r>
            <a:r>
              <a:rPr lang="fr-FR" sz="2800" baseline="-25000" dirty="0"/>
              <a:t>1</a:t>
            </a:r>
          </a:p>
        </p:txBody>
      </p:sp>
      <p:sp>
        <p:nvSpPr>
          <p:cNvPr id="22" name="ZoneTexte 21">
            <a:extLst>
              <a:ext uri="{FF2B5EF4-FFF2-40B4-BE49-F238E27FC236}">
                <a16:creationId xmlns:a16="http://schemas.microsoft.com/office/drawing/2014/main" id="{64816D35-5FE2-DD82-AAA0-EA6B99E46365}"/>
              </a:ext>
            </a:extLst>
          </p:cNvPr>
          <p:cNvSpPr txBox="1"/>
          <p:nvPr/>
        </p:nvSpPr>
        <p:spPr>
          <a:xfrm>
            <a:off x="2025003" y="2430041"/>
            <a:ext cx="738735" cy="670671"/>
          </a:xfrm>
          <a:prstGeom prst="rect">
            <a:avLst/>
          </a:prstGeom>
          <a:noFill/>
        </p:spPr>
        <p:txBody>
          <a:bodyPr wrap="square" rtlCol="0">
            <a:spAutoFit/>
          </a:bodyPr>
          <a:lstStyle/>
          <a:p>
            <a:pPr algn="ctr"/>
            <a:r>
              <a:rPr lang="fr-FR" sz="2800" dirty="0"/>
              <a:t>i</a:t>
            </a:r>
            <a:r>
              <a:rPr lang="fr-FR" sz="2800" baseline="-25000" dirty="0"/>
              <a:t>2</a:t>
            </a:r>
          </a:p>
        </p:txBody>
      </p:sp>
      <p:sp>
        <p:nvSpPr>
          <p:cNvPr id="28" name="ZoneTexte 27">
            <a:extLst>
              <a:ext uri="{FF2B5EF4-FFF2-40B4-BE49-F238E27FC236}">
                <a16:creationId xmlns:a16="http://schemas.microsoft.com/office/drawing/2014/main" id="{8A9CFE8C-02B0-25DA-CC6F-F4012365742E}"/>
              </a:ext>
            </a:extLst>
          </p:cNvPr>
          <p:cNvSpPr txBox="1"/>
          <p:nvPr/>
        </p:nvSpPr>
        <p:spPr>
          <a:xfrm>
            <a:off x="2898533" y="1743211"/>
            <a:ext cx="738735" cy="355061"/>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w1</a:t>
            </a:r>
          </a:p>
        </p:txBody>
      </p:sp>
      <p:sp>
        <p:nvSpPr>
          <p:cNvPr id="29" name="ZoneTexte 28">
            <a:extLst>
              <a:ext uri="{FF2B5EF4-FFF2-40B4-BE49-F238E27FC236}">
                <a16:creationId xmlns:a16="http://schemas.microsoft.com/office/drawing/2014/main" id="{60B52E68-53FA-51D1-A915-865C7D7729B5}"/>
              </a:ext>
            </a:extLst>
          </p:cNvPr>
          <p:cNvSpPr txBox="1"/>
          <p:nvPr/>
        </p:nvSpPr>
        <p:spPr>
          <a:xfrm>
            <a:off x="2898533" y="2681761"/>
            <a:ext cx="738735" cy="355061"/>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w2</a:t>
            </a:r>
          </a:p>
        </p:txBody>
      </p:sp>
      <p:cxnSp>
        <p:nvCxnSpPr>
          <p:cNvPr id="30" name="Connecteur droit avec flèche 29">
            <a:extLst>
              <a:ext uri="{FF2B5EF4-FFF2-40B4-BE49-F238E27FC236}">
                <a16:creationId xmlns:a16="http://schemas.microsoft.com/office/drawing/2014/main" id="{47C7D81A-A2B9-3F0D-F2BD-45D39D17A88B}"/>
              </a:ext>
            </a:extLst>
          </p:cNvPr>
          <p:cNvCxnSpPr>
            <a:cxnSpLocks/>
          </p:cNvCxnSpPr>
          <p:nvPr/>
        </p:nvCxnSpPr>
        <p:spPr>
          <a:xfrm>
            <a:off x="5229759" y="2409673"/>
            <a:ext cx="115346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necteur droit avec flèche 31">
            <a:extLst>
              <a:ext uri="{FF2B5EF4-FFF2-40B4-BE49-F238E27FC236}">
                <a16:creationId xmlns:a16="http://schemas.microsoft.com/office/drawing/2014/main" id="{DE9DB25D-9E67-9AD6-2296-F4CF41549993}"/>
              </a:ext>
            </a:extLst>
          </p:cNvPr>
          <p:cNvCxnSpPr>
            <a:cxnSpLocks/>
          </p:cNvCxnSpPr>
          <p:nvPr/>
        </p:nvCxnSpPr>
        <p:spPr>
          <a:xfrm flipV="1">
            <a:off x="3474454" y="2952672"/>
            <a:ext cx="608323" cy="7683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ZoneTexte 35">
            <a:extLst>
              <a:ext uri="{FF2B5EF4-FFF2-40B4-BE49-F238E27FC236}">
                <a16:creationId xmlns:a16="http://schemas.microsoft.com/office/drawing/2014/main" id="{8736A02D-5496-D956-7738-40EF98CAC56B}"/>
              </a:ext>
            </a:extLst>
          </p:cNvPr>
          <p:cNvSpPr txBox="1"/>
          <p:nvPr/>
        </p:nvSpPr>
        <p:spPr>
          <a:xfrm>
            <a:off x="2898533" y="3562301"/>
            <a:ext cx="738735" cy="355061"/>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b1</a:t>
            </a:r>
          </a:p>
        </p:txBody>
      </p:sp>
      <p:grpSp>
        <p:nvGrpSpPr>
          <p:cNvPr id="7" name="Groupe 6">
            <a:extLst>
              <a:ext uri="{FF2B5EF4-FFF2-40B4-BE49-F238E27FC236}">
                <a16:creationId xmlns:a16="http://schemas.microsoft.com/office/drawing/2014/main" id="{9190661B-49F0-E379-5D05-DC38718DC711}"/>
              </a:ext>
            </a:extLst>
          </p:cNvPr>
          <p:cNvGrpSpPr/>
          <p:nvPr/>
        </p:nvGrpSpPr>
        <p:grpSpPr>
          <a:xfrm>
            <a:off x="3817088" y="1740161"/>
            <a:ext cx="1438594" cy="1360703"/>
            <a:chOff x="4929347" y="2220312"/>
            <a:chExt cx="1166653" cy="1061545"/>
          </a:xfrm>
        </p:grpSpPr>
        <p:sp>
          <p:nvSpPr>
            <p:cNvPr id="4" name="Ellipse 3">
              <a:extLst>
                <a:ext uri="{FF2B5EF4-FFF2-40B4-BE49-F238E27FC236}">
                  <a16:creationId xmlns:a16="http://schemas.microsoft.com/office/drawing/2014/main" id="{AA83AACB-F433-FA8A-A0B3-7A4D65BFFDD4}"/>
                </a:ext>
              </a:extLst>
            </p:cNvPr>
            <p:cNvSpPr/>
            <p:nvPr/>
          </p:nvSpPr>
          <p:spPr>
            <a:xfrm>
              <a:off x="4992412" y="2220312"/>
              <a:ext cx="1061545" cy="106154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900" dirty="0"/>
            </a:p>
          </p:txBody>
        </p:sp>
        <p:cxnSp>
          <p:nvCxnSpPr>
            <p:cNvPr id="8" name="Connecteur droit 7">
              <a:extLst>
                <a:ext uri="{FF2B5EF4-FFF2-40B4-BE49-F238E27FC236}">
                  <a16:creationId xmlns:a16="http://schemas.microsoft.com/office/drawing/2014/main" id="{AFFCE28F-BE86-035A-12B2-74394EC34063}"/>
                </a:ext>
              </a:extLst>
            </p:cNvPr>
            <p:cNvCxnSpPr>
              <a:cxnSpLocks/>
              <a:stCxn id="4" idx="0"/>
              <a:endCxn id="4" idx="4"/>
            </p:cNvCxnSpPr>
            <p:nvPr/>
          </p:nvCxnSpPr>
          <p:spPr>
            <a:xfrm>
              <a:off x="5523185" y="2220312"/>
              <a:ext cx="0" cy="1061545"/>
            </a:xfrm>
            <a:prstGeom prst="line">
              <a:avLst/>
            </a:prstGeom>
          </p:spPr>
          <p:style>
            <a:lnRef idx="2">
              <a:schemeClr val="accent1"/>
            </a:lnRef>
            <a:fillRef idx="0">
              <a:schemeClr val="accent1"/>
            </a:fillRef>
            <a:effectRef idx="1">
              <a:schemeClr val="accent1"/>
            </a:effectRef>
            <a:fontRef idx="minor">
              <a:schemeClr val="tx1"/>
            </a:fontRef>
          </p:style>
        </p:cxnSp>
        <p:sp>
          <p:nvSpPr>
            <p:cNvPr id="5" name="ZoneTexte 4">
              <a:extLst>
                <a:ext uri="{FF2B5EF4-FFF2-40B4-BE49-F238E27FC236}">
                  <a16:creationId xmlns:a16="http://schemas.microsoft.com/office/drawing/2014/main" id="{2DCE7EA9-85F0-0056-6BE4-AAFDB00AFC18}"/>
                </a:ext>
              </a:extLst>
            </p:cNvPr>
            <p:cNvSpPr txBox="1"/>
            <p:nvPr/>
          </p:nvSpPr>
          <p:spPr>
            <a:xfrm>
              <a:off x="4929347" y="2607718"/>
              <a:ext cx="651638" cy="264121"/>
            </a:xfrm>
            <a:prstGeom prst="rect">
              <a:avLst/>
            </a:prstGeom>
            <a:noFill/>
          </p:spPr>
          <p:txBody>
            <a:bodyPr wrap="square" rtlCol="0">
              <a:spAutoFit/>
            </a:bodyPr>
            <a:lstStyle/>
            <a:p>
              <a:pPr algn="ctr"/>
              <a:r>
                <a:rPr lang="fr-FR" sz="1600" dirty="0"/>
                <a:t>net_h</a:t>
              </a:r>
            </a:p>
          </p:txBody>
        </p:sp>
        <p:sp>
          <p:nvSpPr>
            <p:cNvPr id="6" name="ZoneTexte 5">
              <a:extLst>
                <a:ext uri="{FF2B5EF4-FFF2-40B4-BE49-F238E27FC236}">
                  <a16:creationId xmlns:a16="http://schemas.microsoft.com/office/drawing/2014/main" id="{B56CE87F-24CF-F21F-32A8-D4C6A5693CE3}"/>
                </a:ext>
              </a:extLst>
            </p:cNvPr>
            <p:cNvSpPr txBox="1"/>
            <p:nvPr/>
          </p:nvSpPr>
          <p:spPr>
            <a:xfrm>
              <a:off x="5444362" y="2607718"/>
              <a:ext cx="651638" cy="264121"/>
            </a:xfrm>
            <a:prstGeom prst="rect">
              <a:avLst/>
            </a:prstGeom>
            <a:noFill/>
          </p:spPr>
          <p:txBody>
            <a:bodyPr wrap="square" rtlCol="0">
              <a:spAutoFit/>
            </a:bodyPr>
            <a:lstStyle/>
            <a:p>
              <a:pPr algn="ctr"/>
              <a:r>
                <a:rPr lang="fr-FR" sz="1600" dirty="0"/>
                <a:t>out_h</a:t>
              </a:r>
            </a:p>
          </p:txBody>
        </p:sp>
      </p:grpSp>
      <p:grpSp>
        <p:nvGrpSpPr>
          <p:cNvPr id="9" name="Groupe 8">
            <a:extLst>
              <a:ext uri="{FF2B5EF4-FFF2-40B4-BE49-F238E27FC236}">
                <a16:creationId xmlns:a16="http://schemas.microsoft.com/office/drawing/2014/main" id="{ED297CBE-0E8D-7C41-2BED-63CE8FD268F9}"/>
              </a:ext>
            </a:extLst>
          </p:cNvPr>
          <p:cNvGrpSpPr/>
          <p:nvPr/>
        </p:nvGrpSpPr>
        <p:grpSpPr>
          <a:xfrm>
            <a:off x="6337860" y="1690689"/>
            <a:ext cx="1438594" cy="1360703"/>
            <a:chOff x="4929347" y="2220312"/>
            <a:chExt cx="1166653" cy="1061545"/>
          </a:xfrm>
        </p:grpSpPr>
        <p:sp>
          <p:nvSpPr>
            <p:cNvPr id="10" name="Ellipse 9">
              <a:extLst>
                <a:ext uri="{FF2B5EF4-FFF2-40B4-BE49-F238E27FC236}">
                  <a16:creationId xmlns:a16="http://schemas.microsoft.com/office/drawing/2014/main" id="{32BA945E-A246-A86A-2A8D-05CD3A2881B7}"/>
                </a:ext>
              </a:extLst>
            </p:cNvPr>
            <p:cNvSpPr/>
            <p:nvPr/>
          </p:nvSpPr>
          <p:spPr>
            <a:xfrm>
              <a:off x="4992412" y="2220312"/>
              <a:ext cx="1061545" cy="106154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900" dirty="0"/>
            </a:p>
          </p:txBody>
        </p:sp>
        <p:cxnSp>
          <p:nvCxnSpPr>
            <p:cNvPr id="11" name="Connecteur droit 10">
              <a:extLst>
                <a:ext uri="{FF2B5EF4-FFF2-40B4-BE49-F238E27FC236}">
                  <a16:creationId xmlns:a16="http://schemas.microsoft.com/office/drawing/2014/main" id="{ED8B6E6A-BC6E-0394-4CA1-9295E3345DF1}"/>
                </a:ext>
              </a:extLst>
            </p:cNvPr>
            <p:cNvCxnSpPr>
              <a:cxnSpLocks/>
              <a:stCxn id="10" idx="0"/>
              <a:endCxn id="10" idx="4"/>
            </p:cNvCxnSpPr>
            <p:nvPr/>
          </p:nvCxnSpPr>
          <p:spPr>
            <a:xfrm>
              <a:off x="5523185" y="2220312"/>
              <a:ext cx="0" cy="1061545"/>
            </a:xfrm>
            <a:prstGeom prst="line">
              <a:avLst/>
            </a:prstGeom>
          </p:spPr>
          <p:style>
            <a:lnRef idx="2">
              <a:schemeClr val="accent1"/>
            </a:lnRef>
            <a:fillRef idx="0">
              <a:schemeClr val="accent1"/>
            </a:fillRef>
            <a:effectRef idx="1">
              <a:schemeClr val="accent1"/>
            </a:effectRef>
            <a:fontRef idx="minor">
              <a:schemeClr val="tx1"/>
            </a:fontRef>
          </p:style>
        </p:cxnSp>
        <p:sp>
          <p:nvSpPr>
            <p:cNvPr id="13" name="ZoneTexte 12">
              <a:extLst>
                <a:ext uri="{FF2B5EF4-FFF2-40B4-BE49-F238E27FC236}">
                  <a16:creationId xmlns:a16="http://schemas.microsoft.com/office/drawing/2014/main" id="{83DF32F7-C030-6D15-C1BC-36AB0DE16A6F}"/>
                </a:ext>
              </a:extLst>
            </p:cNvPr>
            <p:cNvSpPr txBox="1"/>
            <p:nvPr/>
          </p:nvSpPr>
          <p:spPr>
            <a:xfrm>
              <a:off x="4929347" y="2607718"/>
              <a:ext cx="651638" cy="264121"/>
            </a:xfrm>
            <a:prstGeom prst="rect">
              <a:avLst/>
            </a:prstGeom>
            <a:noFill/>
          </p:spPr>
          <p:txBody>
            <a:bodyPr wrap="square" rtlCol="0">
              <a:spAutoFit/>
            </a:bodyPr>
            <a:lstStyle/>
            <a:p>
              <a:pPr algn="ctr"/>
              <a:r>
                <a:rPr lang="fr-FR" sz="1600" dirty="0"/>
                <a:t>net_o</a:t>
              </a:r>
            </a:p>
          </p:txBody>
        </p:sp>
        <p:sp>
          <p:nvSpPr>
            <p:cNvPr id="14" name="ZoneTexte 13">
              <a:extLst>
                <a:ext uri="{FF2B5EF4-FFF2-40B4-BE49-F238E27FC236}">
                  <a16:creationId xmlns:a16="http://schemas.microsoft.com/office/drawing/2014/main" id="{31B96B33-673A-8A85-6D99-36EC07729022}"/>
                </a:ext>
              </a:extLst>
            </p:cNvPr>
            <p:cNvSpPr txBox="1"/>
            <p:nvPr/>
          </p:nvSpPr>
          <p:spPr>
            <a:xfrm>
              <a:off x="5444362" y="2607718"/>
              <a:ext cx="651638" cy="264121"/>
            </a:xfrm>
            <a:prstGeom prst="rect">
              <a:avLst/>
            </a:prstGeom>
            <a:noFill/>
          </p:spPr>
          <p:txBody>
            <a:bodyPr wrap="square" rtlCol="0">
              <a:spAutoFit/>
            </a:bodyPr>
            <a:lstStyle/>
            <a:p>
              <a:pPr algn="ctr"/>
              <a:r>
                <a:rPr lang="fr-FR" sz="1600" dirty="0"/>
                <a:t>out_o</a:t>
              </a:r>
            </a:p>
          </p:txBody>
        </p:sp>
      </p:grpSp>
      <p:sp>
        <p:nvSpPr>
          <p:cNvPr id="15" name="ZoneTexte 14">
            <a:extLst>
              <a:ext uri="{FF2B5EF4-FFF2-40B4-BE49-F238E27FC236}">
                <a16:creationId xmlns:a16="http://schemas.microsoft.com/office/drawing/2014/main" id="{9DFA189E-F4BB-B983-00E2-130E8B7E4E49}"/>
              </a:ext>
            </a:extLst>
          </p:cNvPr>
          <p:cNvSpPr txBox="1"/>
          <p:nvPr/>
        </p:nvSpPr>
        <p:spPr>
          <a:xfrm>
            <a:off x="5420109" y="2015979"/>
            <a:ext cx="738735" cy="355061"/>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w3</a:t>
            </a:r>
          </a:p>
        </p:txBody>
      </p:sp>
      <p:cxnSp>
        <p:nvCxnSpPr>
          <p:cNvPr id="16" name="Connecteur droit avec flèche 15">
            <a:extLst>
              <a:ext uri="{FF2B5EF4-FFF2-40B4-BE49-F238E27FC236}">
                <a16:creationId xmlns:a16="http://schemas.microsoft.com/office/drawing/2014/main" id="{DB95CD98-D437-505B-ABCB-08570BCBA863}"/>
              </a:ext>
            </a:extLst>
          </p:cNvPr>
          <p:cNvCxnSpPr>
            <a:cxnSpLocks/>
          </p:cNvCxnSpPr>
          <p:nvPr/>
        </p:nvCxnSpPr>
        <p:spPr>
          <a:xfrm flipV="1">
            <a:off x="6021140" y="2959414"/>
            <a:ext cx="608323" cy="7683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ZoneTexte 18">
            <a:extLst>
              <a:ext uri="{FF2B5EF4-FFF2-40B4-BE49-F238E27FC236}">
                <a16:creationId xmlns:a16="http://schemas.microsoft.com/office/drawing/2014/main" id="{577A0FE9-E26E-1653-BE3A-A00CDD66A974}"/>
              </a:ext>
            </a:extLst>
          </p:cNvPr>
          <p:cNvSpPr txBox="1"/>
          <p:nvPr/>
        </p:nvSpPr>
        <p:spPr>
          <a:xfrm>
            <a:off x="5445220" y="3569044"/>
            <a:ext cx="738735" cy="355061"/>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b2</a:t>
            </a:r>
          </a:p>
        </p:txBody>
      </p:sp>
      <p:cxnSp>
        <p:nvCxnSpPr>
          <p:cNvPr id="20" name="Connecteur droit avec flèche 19">
            <a:extLst>
              <a:ext uri="{FF2B5EF4-FFF2-40B4-BE49-F238E27FC236}">
                <a16:creationId xmlns:a16="http://schemas.microsoft.com/office/drawing/2014/main" id="{0E859C74-81F4-465A-9848-7B1F20B98924}"/>
              </a:ext>
            </a:extLst>
          </p:cNvPr>
          <p:cNvCxnSpPr>
            <a:cxnSpLocks/>
          </p:cNvCxnSpPr>
          <p:nvPr/>
        </p:nvCxnSpPr>
        <p:spPr>
          <a:xfrm>
            <a:off x="7782281" y="2401892"/>
            <a:ext cx="115346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ZoneTexte 22">
                <a:extLst>
                  <a:ext uri="{FF2B5EF4-FFF2-40B4-BE49-F238E27FC236}">
                    <a16:creationId xmlns:a16="http://schemas.microsoft.com/office/drawing/2014/main" id="{663A5DAE-1C87-A210-FCD0-8A2799A59D08}"/>
                  </a:ext>
                </a:extLst>
              </p:cNvPr>
              <p:cNvSpPr txBox="1"/>
              <p:nvPr/>
            </p:nvSpPr>
            <p:spPr>
              <a:xfrm>
                <a:off x="6415625" y="4440594"/>
                <a:ext cx="1762470" cy="553998"/>
              </a:xfrm>
              <a:prstGeom prst="rect">
                <a:avLst/>
              </a:prstGeom>
              <a:noFill/>
            </p:spPr>
            <p:txBody>
              <a:bodyPr wrap="none" lIns="0" tIns="0" rIns="0" bIns="0" rtlCol="0">
                <a:spAutoFit/>
              </a:bodyPr>
              <a:lstStyle/>
              <a:p>
                <a:r>
                  <a:rPr lang="fr-FR" sz="1200" dirty="0">
                    <a:latin typeface="Cambria Math" panose="02040503050406030204" pitchFamily="18" charset="0"/>
                  </a:rPr>
                  <a:t>net_o</a:t>
                </a:r>
                <a:r>
                  <a:rPr lang="fr-FR" sz="1200" b="0" i="1" dirty="0">
                    <a:latin typeface="Cambria Math" panose="02040503050406030204" pitchFamily="18" charset="0"/>
                  </a:rPr>
                  <a:t> = </a:t>
                </a:r>
                <a14:m>
                  <m:oMath xmlns:m="http://schemas.openxmlformats.org/officeDocument/2006/math">
                    <m:r>
                      <m:rPr>
                        <m:sty m:val="p"/>
                      </m:rPr>
                      <a:rPr lang="fr-FR" sz="1200" b="0" i="0" smtClean="0">
                        <a:latin typeface="Cambria Math" panose="02040503050406030204" pitchFamily="18" charset="0"/>
                        <a:ea typeface="Cambria Math" panose="02040503050406030204" pitchFamily="18" charset="0"/>
                      </a:rPr>
                      <m:t>out</m:t>
                    </m:r>
                    <m:r>
                      <a:rPr lang="fr-FR" sz="1200" b="0" i="0" smtClean="0">
                        <a:latin typeface="Cambria Math" panose="02040503050406030204" pitchFamily="18" charset="0"/>
                        <a:ea typeface="Cambria Math" panose="02040503050406030204" pitchFamily="18" charset="0"/>
                      </a:rPr>
                      <m:t>_</m:t>
                    </m:r>
                    <m:r>
                      <m:rPr>
                        <m:sty m:val="p"/>
                      </m:rPr>
                      <a:rPr lang="fr-FR" sz="1200" b="0" i="0" smtClean="0">
                        <a:latin typeface="Cambria Math" panose="02040503050406030204" pitchFamily="18" charset="0"/>
                        <a:ea typeface="Cambria Math" panose="02040503050406030204" pitchFamily="18" charset="0"/>
                      </a:rPr>
                      <m:t>h</m:t>
                    </m:r>
                    <m:r>
                      <a:rPr lang="fr-FR" sz="1200" b="0" i="1" smtClean="0">
                        <a:latin typeface="Cambria Math" panose="02040503050406030204" pitchFamily="18" charset="0"/>
                        <a:ea typeface="Cambria Math" panose="02040503050406030204" pitchFamily="18" charset="0"/>
                      </a:rPr>
                      <m:t>×</m:t>
                    </m:r>
                    <m:r>
                      <a:rPr lang="fr-FR" sz="1200" b="0" i="1" smtClean="0">
                        <a:latin typeface="Cambria Math" panose="02040503050406030204" pitchFamily="18" charset="0"/>
                        <a:ea typeface="Cambria Math" panose="02040503050406030204" pitchFamily="18" charset="0"/>
                      </a:rPr>
                      <m:t>𝑤</m:t>
                    </m:r>
                    <m:r>
                      <a:rPr lang="fr-FR" sz="1200" b="0" i="1" baseline="-25000" smtClean="0">
                        <a:latin typeface="Cambria Math" panose="02040503050406030204" pitchFamily="18" charset="0"/>
                        <a:ea typeface="Cambria Math" panose="02040503050406030204" pitchFamily="18" charset="0"/>
                      </a:rPr>
                      <m:t>3</m:t>
                    </m:r>
                  </m:oMath>
                </a14:m>
                <a:r>
                  <a:rPr lang="fr-FR" sz="1200" b="0" i="1" dirty="0">
                    <a:latin typeface="Cambria Math" panose="02040503050406030204" pitchFamily="18" charset="0"/>
                  </a:rPr>
                  <a:t> </a:t>
                </a:r>
                <a:r>
                  <a:rPr lang="fr-FR" sz="1200" b="0" dirty="0">
                    <a:latin typeface="Cambria Math" panose="02040503050406030204" pitchFamily="18" charset="0"/>
                  </a:rPr>
                  <a:t>+ b</a:t>
                </a:r>
                <a:r>
                  <a:rPr lang="fr-FR" sz="1200" baseline="-25000" dirty="0">
                    <a:latin typeface="Cambria Math" panose="02040503050406030204" pitchFamily="18" charset="0"/>
                  </a:rPr>
                  <a:t>2</a:t>
                </a:r>
                <a:endParaRPr lang="fr-FR" sz="1200" b="0" baseline="-25000" dirty="0">
                  <a:latin typeface="Cambria Math" panose="02040503050406030204" pitchFamily="18" charset="0"/>
                </a:endParaRPr>
              </a:p>
              <a:p>
                <a:endParaRPr lang="fr-FR" sz="1200" dirty="0">
                  <a:latin typeface="Cambria Math" panose="02040503050406030204" pitchFamily="18" charset="0"/>
                </a:endParaRPr>
              </a:p>
              <a:p>
                <a:r>
                  <a:rPr lang="fr-FR" sz="1200" dirty="0">
                    <a:latin typeface="Cambria Math" panose="02040503050406030204" pitchFamily="18" charset="0"/>
                  </a:rPr>
                  <a:t>out_o </a:t>
                </a:r>
                <a14:m>
                  <m:oMath xmlns:m="http://schemas.openxmlformats.org/officeDocument/2006/math">
                    <m:r>
                      <a:rPr lang="fr-FR" sz="1200" b="0" i="1" smtClean="0">
                        <a:latin typeface="Cambria Math" panose="02040503050406030204" pitchFamily="18" charset="0"/>
                      </a:rPr>
                      <m:t>=</m:t>
                    </m:r>
                    <m:r>
                      <m:rPr>
                        <m:sty m:val="p"/>
                      </m:rPr>
                      <a:rPr lang="fr-FR" sz="1200" b="0" i="0" smtClean="0">
                        <a:latin typeface="Cambria Math" panose="02040503050406030204" pitchFamily="18" charset="0"/>
                      </a:rPr>
                      <m:t>sigmoid</m:t>
                    </m:r>
                    <m:d>
                      <m:dPr>
                        <m:ctrlPr>
                          <a:rPr lang="fr-FR" sz="1200" b="0" i="1" smtClean="0">
                            <a:latin typeface="Cambria Math" panose="02040503050406030204" pitchFamily="18" charset="0"/>
                            <a:ea typeface="Cambria Math" panose="02040503050406030204" pitchFamily="18" charset="0"/>
                          </a:rPr>
                        </m:ctrlPr>
                      </m:dPr>
                      <m:e>
                        <m:sSub>
                          <m:sSubPr>
                            <m:ctrlPr>
                              <a:rPr lang="fr-FR" sz="1200" b="0" i="1" smtClean="0">
                                <a:latin typeface="Cambria Math" panose="02040503050406030204" pitchFamily="18" charset="0"/>
                                <a:ea typeface="Cambria Math" panose="02040503050406030204" pitchFamily="18" charset="0"/>
                              </a:rPr>
                            </m:ctrlPr>
                          </m:sSubPr>
                          <m:e>
                            <m:r>
                              <m:rPr>
                                <m:sty m:val="p"/>
                              </m:rPr>
                              <a:rPr lang="fr-FR" sz="1200" b="0" i="0" smtClean="0">
                                <a:latin typeface="Cambria Math" panose="02040503050406030204" pitchFamily="18" charset="0"/>
                                <a:ea typeface="Cambria Math" panose="02040503050406030204" pitchFamily="18" charset="0"/>
                              </a:rPr>
                              <m:t>net</m:t>
                            </m:r>
                          </m:e>
                          <m:sub>
                            <m:r>
                              <m:rPr>
                                <m:sty m:val="p"/>
                              </m:rPr>
                              <a:rPr lang="fr-FR" sz="1200" b="0" i="0" smtClean="0">
                                <a:latin typeface="Cambria Math" panose="02040503050406030204" pitchFamily="18" charset="0"/>
                                <a:ea typeface="Cambria Math" panose="02040503050406030204" pitchFamily="18" charset="0"/>
                              </a:rPr>
                              <m:t>o</m:t>
                            </m:r>
                          </m:sub>
                        </m:sSub>
                      </m:e>
                    </m:d>
                    <m:r>
                      <a:rPr lang="fr-FR" sz="1200" b="0" i="1" smtClean="0">
                        <a:latin typeface="Cambria Math" panose="02040503050406030204" pitchFamily="18" charset="0"/>
                        <a:ea typeface="Cambria Math" panose="02040503050406030204" pitchFamily="18" charset="0"/>
                      </a:rPr>
                      <m:t>=</m:t>
                    </m:r>
                    <m:r>
                      <m:rPr>
                        <m:nor/>
                      </m:rPr>
                      <a:rPr lang="fr-FR" sz="1200" dirty="0"/>
                      <m:t>ŷ</m:t>
                    </m:r>
                  </m:oMath>
                </a14:m>
                <a:endParaRPr lang="fr-FR" sz="1200" dirty="0"/>
              </a:p>
            </p:txBody>
          </p:sp>
        </mc:Choice>
        <mc:Fallback xmlns="">
          <p:sp>
            <p:nvSpPr>
              <p:cNvPr id="23" name="ZoneTexte 22">
                <a:extLst>
                  <a:ext uri="{FF2B5EF4-FFF2-40B4-BE49-F238E27FC236}">
                    <a16:creationId xmlns:a16="http://schemas.microsoft.com/office/drawing/2014/main" id="{663A5DAE-1C87-A210-FCD0-8A2799A59D08}"/>
                  </a:ext>
                </a:extLst>
              </p:cNvPr>
              <p:cNvSpPr txBox="1">
                <a:spLocks noRot="1" noChangeAspect="1" noMove="1" noResize="1" noEditPoints="1" noAdjustHandles="1" noChangeArrowheads="1" noChangeShapeType="1" noTextEdit="1"/>
              </p:cNvSpPr>
              <p:nvPr/>
            </p:nvSpPr>
            <p:spPr>
              <a:xfrm>
                <a:off x="6415625" y="4440594"/>
                <a:ext cx="1762470" cy="553998"/>
              </a:xfrm>
              <a:prstGeom prst="rect">
                <a:avLst/>
              </a:prstGeom>
              <a:blipFill>
                <a:blip r:embed="rId3"/>
                <a:stretch>
                  <a:fillRect l="-4965" t="-6667" r="-2128" b="-13333"/>
                </a:stretch>
              </a:blipFill>
            </p:spPr>
            <p:txBody>
              <a:bodyPr/>
              <a:lstStyle/>
              <a:p>
                <a:r>
                  <a:rPr lang="fr-FR">
                    <a:noFill/>
                  </a:rPr>
                  <a:t> </a:t>
                </a:r>
              </a:p>
            </p:txBody>
          </p:sp>
        </mc:Fallback>
      </mc:AlternateContent>
      <p:sp>
        <p:nvSpPr>
          <p:cNvPr id="25" name="Parenthèse fermante 24">
            <a:extLst>
              <a:ext uri="{FF2B5EF4-FFF2-40B4-BE49-F238E27FC236}">
                <a16:creationId xmlns:a16="http://schemas.microsoft.com/office/drawing/2014/main" id="{7BB6E8FC-239C-C5E8-B9FC-3D6E9C93EA25}"/>
              </a:ext>
            </a:extLst>
          </p:cNvPr>
          <p:cNvSpPr/>
          <p:nvPr/>
        </p:nvSpPr>
        <p:spPr>
          <a:xfrm rot="5400000">
            <a:off x="4455213" y="3341007"/>
            <a:ext cx="208638" cy="1559445"/>
          </a:xfrm>
          <a:prstGeom prst="rightBracket">
            <a:avLst/>
          </a:prstGeom>
          <a:noFill/>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dirty="0">
              <a:solidFill>
                <a:srgbClr val="C00000"/>
              </a:solidFill>
            </a:endParaRPr>
          </a:p>
        </p:txBody>
      </p:sp>
      <p:sp>
        <p:nvSpPr>
          <p:cNvPr id="27" name="Parenthèse fermante 26">
            <a:extLst>
              <a:ext uri="{FF2B5EF4-FFF2-40B4-BE49-F238E27FC236}">
                <a16:creationId xmlns:a16="http://schemas.microsoft.com/office/drawing/2014/main" id="{DBB98E83-083D-A151-0F8A-CA6934046883}"/>
              </a:ext>
            </a:extLst>
          </p:cNvPr>
          <p:cNvSpPr/>
          <p:nvPr/>
        </p:nvSpPr>
        <p:spPr>
          <a:xfrm rot="5400000">
            <a:off x="7108820" y="3321125"/>
            <a:ext cx="208638" cy="1559445"/>
          </a:xfrm>
          <a:prstGeom prst="rightBracket">
            <a:avLst/>
          </a:prstGeom>
          <a:noFill/>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dirty="0">
              <a:solidFill>
                <a:srgbClr val="C00000"/>
              </a:solidFill>
            </a:endParaRPr>
          </a:p>
        </p:txBody>
      </p:sp>
      <p:sp>
        <p:nvSpPr>
          <p:cNvPr id="31" name="ZoneTexte 30">
            <a:extLst>
              <a:ext uri="{FF2B5EF4-FFF2-40B4-BE49-F238E27FC236}">
                <a16:creationId xmlns:a16="http://schemas.microsoft.com/office/drawing/2014/main" id="{DCE54B7A-5699-5080-B684-4EF8B080B533}"/>
              </a:ext>
            </a:extLst>
          </p:cNvPr>
          <p:cNvSpPr txBox="1"/>
          <p:nvPr/>
        </p:nvSpPr>
        <p:spPr>
          <a:xfrm>
            <a:off x="4041912" y="3905034"/>
            <a:ext cx="1121062" cy="276999"/>
          </a:xfrm>
          <a:prstGeom prst="rect">
            <a:avLst/>
          </a:prstGeom>
          <a:noFill/>
        </p:spPr>
        <p:txBody>
          <a:bodyPr wrap="square" rtlCol="0">
            <a:spAutoFit/>
          </a:bodyPr>
          <a:lstStyle/>
          <a:p>
            <a:r>
              <a:rPr lang="en-GB" sz="1200" noProof="0" dirty="0"/>
              <a:t>Hidden layer</a:t>
            </a:r>
          </a:p>
        </p:txBody>
      </p:sp>
      <p:sp>
        <p:nvSpPr>
          <p:cNvPr id="33" name="ZoneTexte 32">
            <a:extLst>
              <a:ext uri="{FF2B5EF4-FFF2-40B4-BE49-F238E27FC236}">
                <a16:creationId xmlns:a16="http://schemas.microsoft.com/office/drawing/2014/main" id="{1F5BEFA4-DAF6-23F8-6B2E-E9BB16F748D2}"/>
              </a:ext>
            </a:extLst>
          </p:cNvPr>
          <p:cNvSpPr txBox="1"/>
          <p:nvPr/>
        </p:nvSpPr>
        <p:spPr>
          <a:xfrm>
            <a:off x="6691980" y="3868249"/>
            <a:ext cx="1121062" cy="276999"/>
          </a:xfrm>
          <a:prstGeom prst="rect">
            <a:avLst/>
          </a:prstGeom>
          <a:noFill/>
        </p:spPr>
        <p:txBody>
          <a:bodyPr wrap="square" rtlCol="0">
            <a:spAutoFit/>
          </a:bodyPr>
          <a:lstStyle/>
          <a:p>
            <a:r>
              <a:rPr lang="en-GB" sz="1200" noProof="0" dirty="0"/>
              <a:t>Output layer</a:t>
            </a:r>
          </a:p>
        </p:txBody>
      </p:sp>
      <p:sp>
        <p:nvSpPr>
          <p:cNvPr id="34" name="Parenthèse fermante 33">
            <a:extLst>
              <a:ext uri="{FF2B5EF4-FFF2-40B4-BE49-F238E27FC236}">
                <a16:creationId xmlns:a16="http://schemas.microsoft.com/office/drawing/2014/main" id="{8308F496-647C-F6FF-972D-6CA13C97E6A2}"/>
              </a:ext>
            </a:extLst>
          </p:cNvPr>
          <p:cNvSpPr/>
          <p:nvPr/>
        </p:nvSpPr>
        <p:spPr>
          <a:xfrm rot="5400000">
            <a:off x="2292774" y="3599285"/>
            <a:ext cx="172989" cy="1038780"/>
          </a:xfrm>
          <a:prstGeom prst="rightBracket">
            <a:avLst/>
          </a:prstGeom>
          <a:noFill/>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dirty="0">
              <a:solidFill>
                <a:srgbClr val="C00000"/>
              </a:solidFill>
            </a:endParaRPr>
          </a:p>
        </p:txBody>
      </p:sp>
      <p:sp>
        <p:nvSpPr>
          <p:cNvPr id="35" name="ZoneTexte 34">
            <a:extLst>
              <a:ext uri="{FF2B5EF4-FFF2-40B4-BE49-F238E27FC236}">
                <a16:creationId xmlns:a16="http://schemas.microsoft.com/office/drawing/2014/main" id="{18E2C41A-3C2C-23F5-D2BB-9E1CA1E3AE5E}"/>
              </a:ext>
            </a:extLst>
          </p:cNvPr>
          <p:cNvSpPr txBox="1"/>
          <p:nvPr/>
        </p:nvSpPr>
        <p:spPr>
          <a:xfrm>
            <a:off x="1818987" y="3920803"/>
            <a:ext cx="1121062" cy="276999"/>
          </a:xfrm>
          <a:prstGeom prst="rect">
            <a:avLst/>
          </a:prstGeom>
          <a:noFill/>
        </p:spPr>
        <p:txBody>
          <a:bodyPr wrap="square" rtlCol="0">
            <a:spAutoFit/>
          </a:bodyPr>
          <a:lstStyle/>
          <a:p>
            <a:pPr algn="ctr"/>
            <a:r>
              <a:rPr lang="en-GB" sz="1200" noProof="0" dirty="0"/>
              <a:t>Input layer</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4324DEB1-B141-1C68-0C69-006ACA219CD1}"/>
                  </a:ext>
                </a:extLst>
              </p:cNvPr>
              <p:cNvSpPr txBox="1"/>
              <p:nvPr/>
            </p:nvSpPr>
            <p:spPr>
              <a:xfrm>
                <a:off x="8863254" y="2172780"/>
                <a:ext cx="2684581" cy="302840"/>
              </a:xfrm>
              <a:prstGeom prst="rect">
                <a:avLst/>
              </a:prstGeom>
              <a:noFill/>
            </p:spPr>
            <p:txBody>
              <a:bodyPr wrap="square" rtlCol="0">
                <a:spAutoFit/>
              </a:bodyPr>
              <a:lstStyle/>
              <a:p>
                <a:pPr algn="ctr"/>
                <a14:m>
                  <m:oMath xmlns:m="http://schemas.openxmlformats.org/officeDocument/2006/math">
                    <m:r>
                      <a:rPr lang="fr-FR" sz="1400" b="0" i="1" noProof="0" smtClean="0">
                        <a:latin typeface="Cambria Math" panose="02040503050406030204" pitchFamily="18" charset="0"/>
                      </a:rPr>
                      <m:t>𝐿𝑜𝑠𝑠</m:t>
                    </m:r>
                    <m:r>
                      <a:rPr lang="fr-FR" sz="1400" b="0" i="1" noProof="0" smtClean="0">
                        <a:latin typeface="Cambria Math" panose="02040503050406030204" pitchFamily="18" charset="0"/>
                      </a:rPr>
                      <m:t>= (</m:t>
                    </m:r>
                    <m:r>
                      <a:rPr lang="fr-FR" sz="1400" b="0" i="1" noProof="0" smtClean="0">
                        <a:latin typeface="Cambria Math" panose="02040503050406030204" pitchFamily="18" charset="0"/>
                      </a:rPr>
                      <m:t>𝑡𝑎𝑟𝑔𝑒</m:t>
                    </m:r>
                    <m:sSub>
                      <m:sSubPr>
                        <m:ctrlPr>
                          <a:rPr lang="fr-FR" sz="1400" b="0" i="1" noProof="0" smtClean="0">
                            <a:latin typeface="Cambria Math" panose="02040503050406030204" pitchFamily="18" charset="0"/>
                          </a:rPr>
                        </m:ctrlPr>
                      </m:sSubPr>
                      <m:e>
                        <m:r>
                          <a:rPr lang="fr-FR" sz="1400" b="0" i="1" noProof="0" smtClean="0">
                            <a:latin typeface="Cambria Math" panose="02040503050406030204" pitchFamily="18" charset="0"/>
                          </a:rPr>
                          <m:t>𝑡</m:t>
                        </m:r>
                      </m:e>
                      <m:sub>
                        <m:r>
                          <a:rPr lang="fr-FR" sz="1400" b="0" i="1" noProof="0" smtClean="0">
                            <a:latin typeface="Cambria Math" panose="02040503050406030204" pitchFamily="18" charset="0"/>
                          </a:rPr>
                          <m:t>𝑜</m:t>
                        </m:r>
                      </m:sub>
                    </m:sSub>
                    <m:r>
                      <a:rPr lang="fr-FR" sz="1400" b="0" i="1" noProof="0" smtClean="0">
                        <a:latin typeface="Cambria Math" panose="02040503050406030204" pitchFamily="18" charset="0"/>
                      </a:rPr>
                      <m:t>−</m:t>
                    </m:r>
                    <m:r>
                      <a:rPr lang="fr-FR" sz="1400" b="0" i="1" noProof="0" smtClean="0">
                        <a:latin typeface="Cambria Math" panose="02040503050406030204" pitchFamily="18" charset="0"/>
                      </a:rPr>
                      <m:t>𝑜𝑢</m:t>
                    </m:r>
                    <m:sSub>
                      <m:sSubPr>
                        <m:ctrlPr>
                          <a:rPr lang="fr-FR" sz="1400" b="0" i="1" noProof="0" smtClean="0">
                            <a:latin typeface="Cambria Math" panose="02040503050406030204" pitchFamily="18" charset="0"/>
                          </a:rPr>
                        </m:ctrlPr>
                      </m:sSubPr>
                      <m:e>
                        <m:r>
                          <a:rPr lang="fr-FR" sz="1400" b="0" i="1" noProof="0" smtClean="0">
                            <a:latin typeface="Cambria Math" panose="02040503050406030204" pitchFamily="18" charset="0"/>
                          </a:rPr>
                          <m:t>𝑡</m:t>
                        </m:r>
                      </m:e>
                      <m:sub>
                        <m:r>
                          <a:rPr lang="fr-FR" sz="1400" b="0" i="1" noProof="0" smtClean="0">
                            <a:latin typeface="Cambria Math" panose="02040503050406030204" pitchFamily="18" charset="0"/>
                          </a:rPr>
                          <m:t>𝑜</m:t>
                        </m:r>
                      </m:sub>
                    </m:sSub>
                    <m:r>
                      <a:rPr lang="fr-FR" sz="1400" b="0" i="1" noProof="0" smtClean="0">
                        <a:latin typeface="Cambria Math" panose="02040503050406030204" pitchFamily="18" charset="0"/>
                      </a:rPr>
                      <m:t>)</m:t>
                    </m:r>
                  </m:oMath>
                </a14:m>
                <a:r>
                  <a:rPr lang="en-GB" sz="1400" baseline="30000" noProof="0" dirty="0"/>
                  <a:t>2</a:t>
                </a:r>
              </a:p>
            </p:txBody>
          </p:sp>
        </mc:Choice>
        <mc:Fallback xmlns="">
          <p:sp>
            <p:nvSpPr>
              <p:cNvPr id="3" name="ZoneTexte 2">
                <a:extLst>
                  <a:ext uri="{FF2B5EF4-FFF2-40B4-BE49-F238E27FC236}">
                    <a16:creationId xmlns:a16="http://schemas.microsoft.com/office/drawing/2014/main" id="{4324DEB1-B141-1C68-0C69-006ACA219CD1}"/>
                  </a:ext>
                </a:extLst>
              </p:cNvPr>
              <p:cNvSpPr txBox="1">
                <a:spLocks noRot="1" noChangeAspect="1" noMove="1" noResize="1" noEditPoints="1" noAdjustHandles="1" noChangeArrowheads="1" noChangeShapeType="1" noTextEdit="1"/>
              </p:cNvSpPr>
              <p:nvPr/>
            </p:nvSpPr>
            <p:spPr>
              <a:xfrm>
                <a:off x="8863254" y="2172780"/>
                <a:ext cx="2684581" cy="302840"/>
              </a:xfrm>
              <a:prstGeom prst="rect">
                <a:avLst/>
              </a:prstGeom>
              <a:blipFill>
                <a:blip r:embed="rId4"/>
                <a:stretch>
                  <a:fillRect b="-16000"/>
                </a:stretch>
              </a:blipFill>
            </p:spPr>
            <p:txBody>
              <a:bodyPr/>
              <a:lstStyle/>
              <a:p>
                <a:r>
                  <a:rPr lang="en-GB">
                    <a:noFill/>
                  </a:rPr>
                  <a:t> </a:t>
                </a:r>
              </a:p>
            </p:txBody>
          </p:sp>
        </mc:Fallback>
      </mc:AlternateContent>
      <p:sp>
        <p:nvSpPr>
          <p:cNvPr id="24" name="Espace réservé du pied de page 23">
            <a:extLst>
              <a:ext uri="{FF2B5EF4-FFF2-40B4-BE49-F238E27FC236}">
                <a16:creationId xmlns:a16="http://schemas.microsoft.com/office/drawing/2014/main" id="{40736686-DA6E-8510-9030-77988E5E4780}"/>
              </a:ext>
            </a:extLst>
          </p:cNvPr>
          <p:cNvSpPr>
            <a:spLocks noGrp="1"/>
          </p:cNvSpPr>
          <p:nvPr>
            <p:ph type="ftr" sz="quarter" idx="11"/>
          </p:nvPr>
        </p:nvSpPr>
        <p:spPr/>
        <p:txBody>
          <a:bodyPr/>
          <a:lstStyle/>
          <a:p>
            <a:r>
              <a:rPr lang="fr-FR"/>
              <a:t>Introduction to Neural Networks. Author: David Thébault</a:t>
            </a:r>
          </a:p>
        </p:txBody>
      </p:sp>
      <p:sp>
        <p:nvSpPr>
          <p:cNvPr id="26" name="Flèche vers la droite 25">
            <a:extLst>
              <a:ext uri="{FF2B5EF4-FFF2-40B4-BE49-F238E27FC236}">
                <a16:creationId xmlns:a16="http://schemas.microsoft.com/office/drawing/2014/main" id="{C1728019-9EA3-1BF9-EBB8-FAF733DB8546}"/>
              </a:ext>
            </a:extLst>
          </p:cNvPr>
          <p:cNvSpPr/>
          <p:nvPr/>
        </p:nvSpPr>
        <p:spPr>
          <a:xfrm>
            <a:off x="2201333" y="5291223"/>
            <a:ext cx="7078134" cy="104030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noProof="0" dirty="0"/>
              <a:t>Forward Pass</a:t>
            </a:r>
          </a:p>
        </p:txBody>
      </p:sp>
    </p:spTree>
    <p:extLst>
      <p:ext uri="{BB962C8B-B14F-4D97-AF65-F5344CB8AC3E}">
        <p14:creationId xmlns:p14="http://schemas.microsoft.com/office/powerpoint/2010/main" val="23617264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E791B-F044-1EA6-8C6E-9C7308F2ED2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F66E611-3C79-FC12-5D86-258C8C32BF63}"/>
              </a:ext>
            </a:extLst>
          </p:cNvPr>
          <p:cNvSpPr>
            <a:spLocks noGrp="1"/>
          </p:cNvSpPr>
          <p:nvPr>
            <p:ph type="title"/>
          </p:nvPr>
        </p:nvSpPr>
        <p:spPr/>
        <p:txBody>
          <a:bodyPr/>
          <a:lstStyle/>
          <a:p>
            <a:r>
              <a:rPr lang="fr-FR" dirty="0"/>
              <a:t>Neural Network</a:t>
            </a:r>
          </a:p>
        </p:txBody>
      </p:sp>
      <mc:AlternateContent xmlns:mc="http://schemas.openxmlformats.org/markup-compatibility/2006" xmlns:a14="http://schemas.microsoft.com/office/drawing/2010/main">
        <mc:Choice Requires="a14">
          <p:sp>
            <p:nvSpPr>
              <p:cNvPr id="37" name="ZoneTexte 36">
                <a:extLst>
                  <a:ext uri="{FF2B5EF4-FFF2-40B4-BE49-F238E27FC236}">
                    <a16:creationId xmlns:a16="http://schemas.microsoft.com/office/drawing/2014/main" id="{5402FD19-FFC1-F43B-B7D1-D5CD446C97F2}"/>
                  </a:ext>
                </a:extLst>
              </p:cNvPr>
              <p:cNvSpPr txBox="1"/>
              <p:nvPr/>
            </p:nvSpPr>
            <p:spPr>
              <a:xfrm>
                <a:off x="4384767" y="4984717"/>
                <a:ext cx="7409835" cy="454355"/>
              </a:xfrm>
              <a:prstGeom prst="rect">
                <a:avLst/>
              </a:prstGeom>
              <a:noFill/>
            </p:spPr>
            <p:txBody>
              <a:bodyPr wrap="square" rtlCol="0">
                <a:spAutoFit/>
              </a:bodyPr>
              <a:lstStyle/>
              <a:p>
                <a14:m>
                  <m:oMath xmlns:m="http://schemas.openxmlformats.org/officeDocument/2006/math">
                    <m:f>
                      <m:fPr>
                        <m:ctrlPr>
                          <a:rPr lang="fr-FR" sz="1600" i="1" smtClean="0">
                            <a:latin typeface="Cambria Math" panose="02040503050406030204" pitchFamily="18" charset="0"/>
                          </a:rPr>
                        </m:ctrlPr>
                      </m:fPr>
                      <m:num>
                        <m:r>
                          <a:rPr lang="fr-FR" sz="1600" i="0" smtClean="0">
                            <a:latin typeface="Cambria Math" panose="02040503050406030204" pitchFamily="18" charset="0"/>
                          </a:rPr>
                          <m:t>𝜕</m:t>
                        </m:r>
                        <m:r>
                          <m:rPr>
                            <m:sty m:val="p"/>
                          </m:rPr>
                          <a:rPr lang="fr-FR" sz="1600" b="0" i="0" smtClean="0">
                            <a:latin typeface="Cambria Math" panose="02040503050406030204" pitchFamily="18" charset="0"/>
                          </a:rPr>
                          <m:t>Loss</m:t>
                        </m:r>
                      </m:num>
                      <m:den>
                        <m:r>
                          <a:rPr lang="fr-FR" sz="1600" i="0" smtClean="0">
                            <a:latin typeface="Cambria Math" panose="02040503050406030204" pitchFamily="18" charset="0"/>
                          </a:rPr>
                          <m:t>𝜕</m:t>
                        </m:r>
                        <m:r>
                          <m:rPr>
                            <m:sty m:val="p"/>
                          </m:rPr>
                          <a:rPr lang="fr-FR" sz="1600" b="0" i="0" smtClean="0">
                            <a:latin typeface="Cambria Math" panose="02040503050406030204" pitchFamily="18" charset="0"/>
                          </a:rPr>
                          <m:t>w</m:t>
                        </m:r>
                        <m:r>
                          <a:rPr lang="fr-FR" sz="1600" b="0" i="0" smtClean="0">
                            <a:latin typeface="Cambria Math" panose="02040503050406030204" pitchFamily="18" charset="0"/>
                          </a:rPr>
                          <m:t>3</m:t>
                        </m:r>
                      </m:den>
                    </m:f>
                    <m:r>
                      <a:rPr lang="fr-FR" sz="1600" b="0" i="0" smtClean="0">
                        <a:latin typeface="Cambria Math" panose="02040503050406030204" pitchFamily="18" charset="0"/>
                      </a:rPr>
                      <m:t>= </m:t>
                    </m:r>
                    <m:f>
                      <m:fPr>
                        <m:ctrlPr>
                          <a:rPr lang="fr-FR" sz="1600" b="0" i="1" smtClean="0">
                            <a:solidFill>
                              <a:schemeClr val="accent2"/>
                            </a:solidFill>
                            <a:latin typeface="Cambria Math" panose="02040503050406030204" pitchFamily="18" charset="0"/>
                          </a:rPr>
                        </m:ctrlPr>
                      </m:fPr>
                      <m:num>
                        <m:r>
                          <a:rPr lang="fr-FR" sz="1600" b="0" i="0" smtClean="0">
                            <a:solidFill>
                              <a:schemeClr val="accent2"/>
                            </a:solidFill>
                            <a:latin typeface="Cambria Math" panose="02040503050406030204" pitchFamily="18" charset="0"/>
                          </a:rPr>
                          <m:t>𝜕</m:t>
                        </m:r>
                        <m:r>
                          <m:rPr>
                            <m:sty m:val="p"/>
                          </m:rPr>
                          <a:rPr lang="fr-FR" sz="1600" b="0" i="0" smtClean="0">
                            <a:solidFill>
                              <a:schemeClr val="accent2"/>
                            </a:solidFill>
                            <a:latin typeface="Cambria Math" panose="02040503050406030204" pitchFamily="18" charset="0"/>
                          </a:rPr>
                          <m:t>Loss</m:t>
                        </m:r>
                      </m:num>
                      <m:den>
                        <m:r>
                          <a:rPr lang="fr-FR" sz="1600" b="0" i="0" smtClean="0">
                            <a:solidFill>
                              <a:schemeClr val="accent2"/>
                            </a:solidFill>
                            <a:latin typeface="Cambria Math" panose="02040503050406030204" pitchFamily="18" charset="0"/>
                          </a:rPr>
                          <m:t>𝜕</m:t>
                        </m:r>
                        <m:r>
                          <m:rPr>
                            <m:sty m:val="p"/>
                          </m:rPr>
                          <a:rPr lang="fr-FR" sz="1600" b="0" i="0" smtClean="0">
                            <a:solidFill>
                              <a:schemeClr val="accent2"/>
                            </a:solidFill>
                            <a:latin typeface="Cambria Math" panose="02040503050406030204" pitchFamily="18" charset="0"/>
                          </a:rPr>
                          <m:t>out</m:t>
                        </m:r>
                        <m:r>
                          <a:rPr lang="fr-FR" sz="1600" b="0" i="0" smtClean="0">
                            <a:solidFill>
                              <a:schemeClr val="accent2"/>
                            </a:solidFill>
                            <a:latin typeface="Cambria Math" panose="02040503050406030204" pitchFamily="18" charset="0"/>
                          </a:rPr>
                          <m:t>_</m:t>
                        </m:r>
                        <m:r>
                          <m:rPr>
                            <m:sty m:val="p"/>
                          </m:rPr>
                          <a:rPr lang="fr-FR" sz="1600" b="0" i="0" smtClean="0">
                            <a:solidFill>
                              <a:schemeClr val="accent2"/>
                            </a:solidFill>
                            <a:latin typeface="Cambria Math" panose="02040503050406030204" pitchFamily="18" charset="0"/>
                          </a:rPr>
                          <m:t>o</m:t>
                        </m:r>
                      </m:den>
                    </m:f>
                    <m:r>
                      <a:rPr lang="fr-FR" sz="1600" b="0" i="0" smtClean="0">
                        <a:solidFill>
                          <a:schemeClr val="accent2"/>
                        </a:solidFill>
                        <a:latin typeface="Cambria Math" panose="02040503050406030204" pitchFamily="18" charset="0"/>
                      </a:rPr>
                      <m:t> </m:t>
                    </m:r>
                    <m:r>
                      <a:rPr lang="fr-FR" sz="1600" b="0" i="1" smtClean="0">
                        <a:latin typeface="Cambria Math" panose="02040503050406030204" pitchFamily="18" charset="0"/>
                        <a:ea typeface="Cambria Math" panose="02040503050406030204" pitchFamily="18" charset="0"/>
                      </a:rPr>
                      <m:t>×</m:t>
                    </m:r>
                    <m:f>
                      <m:fPr>
                        <m:ctrlPr>
                          <a:rPr lang="fr-FR" sz="1600" b="0" i="1" smtClean="0">
                            <a:solidFill>
                              <a:schemeClr val="accent1">
                                <a:lumMod val="60000"/>
                                <a:lumOff val="40000"/>
                              </a:schemeClr>
                            </a:solidFill>
                            <a:latin typeface="Cambria Math" panose="02040503050406030204" pitchFamily="18" charset="0"/>
                          </a:rPr>
                        </m:ctrlPr>
                      </m:fPr>
                      <m:num>
                        <m:r>
                          <a:rPr lang="fr-FR" sz="1600">
                            <a:solidFill>
                              <a:schemeClr val="accent1">
                                <a:lumMod val="60000"/>
                                <a:lumOff val="40000"/>
                              </a:schemeClr>
                            </a:solidFill>
                            <a:latin typeface="Cambria Math" panose="02040503050406030204" pitchFamily="18" charset="0"/>
                          </a:rPr>
                          <m:t>𝜕</m:t>
                        </m:r>
                        <m:r>
                          <m:rPr>
                            <m:sty m:val="p"/>
                          </m:rPr>
                          <a:rPr lang="fr-FR" sz="1600" b="0" i="0" smtClean="0">
                            <a:solidFill>
                              <a:schemeClr val="accent1">
                                <a:lumMod val="60000"/>
                                <a:lumOff val="40000"/>
                              </a:schemeClr>
                            </a:solidFill>
                            <a:latin typeface="Cambria Math" panose="02040503050406030204" pitchFamily="18" charset="0"/>
                          </a:rPr>
                          <m:t>out</m:t>
                        </m:r>
                        <m:r>
                          <a:rPr lang="fr-FR" sz="1600" b="0" i="0" smtClean="0">
                            <a:solidFill>
                              <a:schemeClr val="accent1">
                                <a:lumMod val="60000"/>
                                <a:lumOff val="40000"/>
                              </a:schemeClr>
                            </a:solidFill>
                            <a:latin typeface="Cambria Math" panose="02040503050406030204" pitchFamily="18" charset="0"/>
                          </a:rPr>
                          <m:t>_</m:t>
                        </m:r>
                        <m:r>
                          <m:rPr>
                            <m:sty m:val="p"/>
                          </m:rPr>
                          <a:rPr lang="fr-FR" sz="1600" b="0" i="0" smtClean="0">
                            <a:solidFill>
                              <a:schemeClr val="accent1">
                                <a:lumMod val="60000"/>
                                <a:lumOff val="40000"/>
                              </a:schemeClr>
                            </a:solidFill>
                            <a:latin typeface="Cambria Math" panose="02040503050406030204" pitchFamily="18" charset="0"/>
                          </a:rPr>
                          <m:t>o</m:t>
                        </m:r>
                      </m:num>
                      <m:den>
                        <m:r>
                          <a:rPr lang="fr-FR" sz="1600">
                            <a:solidFill>
                              <a:schemeClr val="accent1">
                                <a:lumMod val="60000"/>
                                <a:lumOff val="40000"/>
                              </a:schemeClr>
                            </a:solidFill>
                            <a:latin typeface="Cambria Math" panose="02040503050406030204" pitchFamily="18" charset="0"/>
                          </a:rPr>
                          <m:t>𝜕</m:t>
                        </m:r>
                        <m:r>
                          <m:rPr>
                            <m:sty m:val="p"/>
                          </m:rPr>
                          <a:rPr lang="fr-FR" sz="1600" b="0" i="0" smtClean="0">
                            <a:solidFill>
                              <a:schemeClr val="accent1">
                                <a:lumMod val="60000"/>
                                <a:lumOff val="40000"/>
                              </a:schemeClr>
                            </a:solidFill>
                            <a:latin typeface="Cambria Math" panose="02040503050406030204" pitchFamily="18" charset="0"/>
                          </a:rPr>
                          <m:t>net</m:t>
                        </m:r>
                        <m:r>
                          <a:rPr lang="fr-FR" sz="1600" b="0" i="0" smtClean="0">
                            <a:solidFill>
                              <a:schemeClr val="accent1">
                                <a:lumMod val="60000"/>
                                <a:lumOff val="40000"/>
                              </a:schemeClr>
                            </a:solidFill>
                            <a:latin typeface="Cambria Math" panose="02040503050406030204" pitchFamily="18" charset="0"/>
                          </a:rPr>
                          <m:t>_</m:t>
                        </m:r>
                        <m:r>
                          <m:rPr>
                            <m:sty m:val="p"/>
                          </m:rPr>
                          <a:rPr lang="fr-FR" sz="1600" b="0" i="0" smtClean="0">
                            <a:solidFill>
                              <a:schemeClr val="accent1">
                                <a:lumMod val="60000"/>
                                <a:lumOff val="40000"/>
                              </a:schemeClr>
                            </a:solidFill>
                            <a:latin typeface="Cambria Math" panose="02040503050406030204" pitchFamily="18" charset="0"/>
                          </a:rPr>
                          <m:t>o</m:t>
                        </m:r>
                      </m:den>
                    </m:f>
                    <m:r>
                      <a:rPr lang="fr-FR" sz="1600" b="0" i="1" smtClean="0">
                        <a:latin typeface="Cambria Math" panose="02040503050406030204" pitchFamily="18" charset="0"/>
                        <a:ea typeface="Cambria Math" panose="02040503050406030204" pitchFamily="18" charset="0"/>
                      </a:rPr>
                      <m:t>×</m:t>
                    </m:r>
                    <m:f>
                      <m:fPr>
                        <m:ctrlPr>
                          <a:rPr lang="fr-FR" sz="1600" b="0" i="1" smtClean="0">
                            <a:solidFill>
                              <a:schemeClr val="accent3">
                                <a:lumMod val="60000"/>
                                <a:lumOff val="40000"/>
                              </a:schemeClr>
                            </a:solidFill>
                            <a:latin typeface="Cambria Math" panose="02040503050406030204" pitchFamily="18" charset="0"/>
                          </a:rPr>
                        </m:ctrlPr>
                      </m:fPr>
                      <m:num>
                        <m:r>
                          <a:rPr lang="fr-FR" sz="1600">
                            <a:solidFill>
                              <a:schemeClr val="accent3">
                                <a:lumMod val="60000"/>
                                <a:lumOff val="40000"/>
                              </a:schemeClr>
                            </a:solidFill>
                            <a:latin typeface="Cambria Math" panose="02040503050406030204" pitchFamily="18" charset="0"/>
                          </a:rPr>
                          <m:t>𝜕</m:t>
                        </m:r>
                        <m:r>
                          <m:rPr>
                            <m:sty m:val="p"/>
                          </m:rPr>
                          <a:rPr lang="fr-FR" sz="1600" b="0" i="0" smtClean="0">
                            <a:solidFill>
                              <a:schemeClr val="accent3">
                                <a:lumMod val="60000"/>
                                <a:lumOff val="40000"/>
                              </a:schemeClr>
                            </a:solidFill>
                            <a:latin typeface="Cambria Math" panose="02040503050406030204" pitchFamily="18" charset="0"/>
                          </a:rPr>
                          <m:t>net</m:t>
                        </m:r>
                        <m:r>
                          <a:rPr lang="fr-FR" sz="1600" b="0" i="0" smtClean="0">
                            <a:solidFill>
                              <a:schemeClr val="accent3">
                                <a:lumMod val="60000"/>
                                <a:lumOff val="40000"/>
                              </a:schemeClr>
                            </a:solidFill>
                            <a:latin typeface="Cambria Math" panose="02040503050406030204" pitchFamily="18" charset="0"/>
                          </a:rPr>
                          <m:t>_</m:t>
                        </m:r>
                        <m:r>
                          <m:rPr>
                            <m:sty m:val="p"/>
                          </m:rPr>
                          <a:rPr lang="fr-FR" sz="1600" b="0" i="0" smtClean="0">
                            <a:solidFill>
                              <a:schemeClr val="accent3">
                                <a:lumMod val="60000"/>
                                <a:lumOff val="40000"/>
                              </a:schemeClr>
                            </a:solidFill>
                            <a:latin typeface="Cambria Math" panose="02040503050406030204" pitchFamily="18" charset="0"/>
                          </a:rPr>
                          <m:t>o</m:t>
                        </m:r>
                      </m:num>
                      <m:den>
                        <m:r>
                          <a:rPr lang="fr-FR" sz="1600">
                            <a:solidFill>
                              <a:schemeClr val="accent3">
                                <a:lumMod val="60000"/>
                                <a:lumOff val="40000"/>
                              </a:schemeClr>
                            </a:solidFill>
                            <a:latin typeface="Cambria Math" panose="02040503050406030204" pitchFamily="18" charset="0"/>
                          </a:rPr>
                          <m:t>𝜕</m:t>
                        </m:r>
                        <m:r>
                          <m:rPr>
                            <m:sty m:val="p"/>
                          </m:rPr>
                          <a:rPr lang="fr-FR" sz="1600" b="0" i="0" smtClean="0">
                            <a:solidFill>
                              <a:schemeClr val="accent3">
                                <a:lumMod val="60000"/>
                                <a:lumOff val="40000"/>
                              </a:schemeClr>
                            </a:solidFill>
                            <a:latin typeface="Cambria Math" panose="02040503050406030204" pitchFamily="18" charset="0"/>
                          </a:rPr>
                          <m:t>w</m:t>
                        </m:r>
                        <m:r>
                          <a:rPr lang="fr-FR" sz="1600" b="0" i="0" smtClean="0">
                            <a:solidFill>
                              <a:schemeClr val="accent3">
                                <a:lumMod val="60000"/>
                                <a:lumOff val="40000"/>
                              </a:schemeClr>
                            </a:solidFill>
                            <a:latin typeface="Cambria Math" panose="02040503050406030204" pitchFamily="18" charset="0"/>
                          </a:rPr>
                          <m:t>3</m:t>
                        </m:r>
                      </m:den>
                    </m:f>
                  </m:oMath>
                </a14:m>
                <a:r>
                  <a:rPr lang="fr-FR" sz="1600" dirty="0">
                    <a:solidFill>
                      <a:schemeClr val="accent3">
                        <a:lumMod val="60000"/>
                        <a:lumOff val="40000"/>
                      </a:schemeClr>
                    </a:solidFill>
                  </a:rPr>
                  <a:t> </a:t>
                </a:r>
                <a:r>
                  <a:rPr lang="fr-FR" sz="1600" dirty="0"/>
                  <a:t>= </a:t>
                </a:r>
                <a14:m>
                  <m:oMath xmlns:m="http://schemas.openxmlformats.org/officeDocument/2006/math">
                    <m:r>
                      <a:rPr lang="fr-FR" sz="1600">
                        <a:solidFill>
                          <a:schemeClr val="accent2"/>
                        </a:solidFill>
                        <a:latin typeface="Cambria Math" panose="02040503050406030204" pitchFamily="18" charset="0"/>
                        <a:ea typeface="Cambria Math" panose="02040503050406030204" pitchFamily="18" charset="0"/>
                      </a:rPr>
                      <m:t>−2</m:t>
                    </m:r>
                    <m:r>
                      <a:rPr lang="fr-FR" sz="1600" i="1">
                        <a:solidFill>
                          <a:schemeClr val="accent2"/>
                        </a:solidFill>
                        <a:latin typeface="Cambria Math" panose="02040503050406030204" pitchFamily="18" charset="0"/>
                        <a:ea typeface="Cambria Math" panose="02040503050406030204" pitchFamily="18" charset="0"/>
                      </a:rPr>
                      <m:t>×(</m:t>
                    </m:r>
                    <m:r>
                      <m:rPr>
                        <m:sty m:val="p"/>
                      </m:rPr>
                      <a:rPr lang="fr-FR" sz="1600">
                        <a:solidFill>
                          <a:schemeClr val="accent2"/>
                        </a:solidFill>
                        <a:latin typeface="Cambria Math" panose="02040503050406030204" pitchFamily="18" charset="0"/>
                        <a:ea typeface="Cambria Math" panose="02040503050406030204" pitchFamily="18" charset="0"/>
                      </a:rPr>
                      <m:t>target</m:t>
                    </m:r>
                    <m:r>
                      <a:rPr lang="fr-FR" sz="1600">
                        <a:solidFill>
                          <a:schemeClr val="accent2"/>
                        </a:solidFill>
                        <a:latin typeface="Cambria Math" panose="02040503050406030204" pitchFamily="18" charset="0"/>
                        <a:ea typeface="Cambria Math" panose="02040503050406030204" pitchFamily="18" charset="0"/>
                      </a:rPr>
                      <m:t> − </m:t>
                    </m:r>
                    <m:r>
                      <m:rPr>
                        <m:sty m:val="p"/>
                      </m:rPr>
                      <a:rPr lang="fr-FR" sz="1600">
                        <a:solidFill>
                          <a:schemeClr val="accent2"/>
                        </a:solidFill>
                        <a:latin typeface="Cambria Math" panose="02040503050406030204" pitchFamily="18" charset="0"/>
                        <a:ea typeface="Cambria Math" panose="02040503050406030204" pitchFamily="18" charset="0"/>
                      </a:rPr>
                      <m:t>out</m:t>
                    </m:r>
                    <m:r>
                      <a:rPr lang="fr-FR" sz="1600">
                        <a:solidFill>
                          <a:schemeClr val="accent2"/>
                        </a:solidFill>
                        <a:latin typeface="Cambria Math" panose="02040503050406030204" pitchFamily="18" charset="0"/>
                        <a:ea typeface="Cambria Math" panose="02040503050406030204" pitchFamily="18" charset="0"/>
                      </a:rPr>
                      <m:t>_</m:t>
                    </m:r>
                    <m:r>
                      <m:rPr>
                        <m:sty m:val="p"/>
                      </m:rPr>
                      <a:rPr lang="fr-FR" sz="1600">
                        <a:solidFill>
                          <a:schemeClr val="accent2"/>
                        </a:solidFill>
                        <a:latin typeface="Cambria Math" panose="02040503050406030204" pitchFamily="18" charset="0"/>
                        <a:ea typeface="Cambria Math" panose="02040503050406030204" pitchFamily="18" charset="0"/>
                      </a:rPr>
                      <m:t>o</m:t>
                    </m:r>
                  </m:oMath>
                </a14:m>
                <a:r>
                  <a:rPr lang="fr-FR" sz="1600" dirty="0">
                    <a:solidFill>
                      <a:schemeClr val="accent2"/>
                    </a:solidFill>
                    <a:latin typeface="Cambria Math" panose="02040503050406030204" pitchFamily="18" charset="0"/>
                    <a:ea typeface="Cambria Math" panose="02040503050406030204" pitchFamily="18" charset="0"/>
                  </a:rPr>
                  <a:t>) </a:t>
                </a:r>
                <a14:m>
                  <m:oMath xmlns:m="http://schemas.openxmlformats.org/officeDocument/2006/math">
                    <m:r>
                      <a:rPr lang="fr-FR" sz="1600" i="1" smtClean="0">
                        <a:latin typeface="Cambria Math" panose="02040503050406030204" pitchFamily="18" charset="0"/>
                        <a:ea typeface="Cambria Math" panose="02040503050406030204" pitchFamily="18" charset="0"/>
                      </a:rPr>
                      <m:t>×</m:t>
                    </m:r>
                    <m:r>
                      <m:rPr>
                        <m:nor/>
                      </m:rPr>
                      <a:rPr lang="fr-FR" sz="1600" b="0" i="0" smtClean="0">
                        <a:latin typeface="Cambria Math" panose="02040503050406030204" pitchFamily="18" charset="0"/>
                        <a:ea typeface="Cambria Math" panose="02040503050406030204" pitchFamily="18" charset="0"/>
                      </a:rPr>
                      <m:t> </m:t>
                    </m:r>
                    <m:r>
                      <m:rPr>
                        <m:nor/>
                      </m:rPr>
                      <a:rPr lang="fr-FR" sz="1600" dirty="0" smtClean="0">
                        <a:solidFill>
                          <a:schemeClr val="accent1">
                            <a:lumMod val="60000"/>
                            <a:lumOff val="40000"/>
                          </a:schemeClr>
                        </a:solidFill>
                        <a:latin typeface="Cambria Math" panose="02040503050406030204" pitchFamily="18" charset="0"/>
                      </a:rPr>
                      <m:t>out</m:t>
                    </m:r>
                    <m:r>
                      <m:rPr>
                        <m:nor/>
                      </m:rPr>
                      <a:rPr lang="fr-FR" sz="1600" dirty="0" smtClean="0">
                        <a:solidFill>
                          <a:schemeClr val="accent1">
                            <a:lumMod val="60000"/>
                            <a:lumOff val="40000"/>
                          </a:schemeClr>
                        </a:solidFill>
                        <a:latin typeface="Cambria Math" panose="02040503050406030204" pitchFamily="18" charset="0"/>
                      </a:rPr>
                      <m:t>_</m:t>
                    </m:r>
                    <m:r>
                      <m:rPr>
                        <m:nor/>
                      </m:rPr>
                      <a:rPr lang="fr-FR" sz="1600" dirty="0" smtClean="0">
                        <a:solidFill>
                          <a:schemeClr val="accent1">
                            <a:lumMod val="60000"/>
                            <a:lumOff val="40000"/>
                          </a:schemeClr>
                        </a:solidFill>
                        <a:latin typeface="Cambria Math" panose="02040503050406030204" pitchFamily="18" charset="0"/>
                      </a:rPr>
                      <m:t>o</m:t>
                    </m:r>
                    <m:r>
                      <a:rPr lang="fr-FR" sz="1600" b="0" i="1" dirty="0" smtClean="0">
                        <a:solidFill>
                          <a:schemeClr val="accent1">
                            <a:lumMod val="60000"/>
                            <a:lumOff val="40000"/>
                          </a:schemeClr>
                        </a:solidFill>
                        <a:latin typeface="Cambria Math" panose="02040503050406030204" pitchFamily="18" charset="0"/>
                      </a:rPr>
                      <m:t> </m:t>
                    </m:r>
                    <m:r>
                      <a:rPr lang="fr-FR" sz="1600" i="1">
                        <a:solidFill>
                          <a:schemeClr val="accent1">
                            <a:lumMod val="60000"/>
                            <a:lumOff val="40000"/>
                          </a:schemeClr>
                        </a:solidFill>
                        <a:latin typeface="Cambria Math" panose="02040503050406030204" pitchFamily="18" charset="0"/>
                        <a:ea typeface="Cambria Math" panose="02040503050406030204" pitchFamily="18" charset="0"/>
                      </a:rPr>
                      <m:t>(</m:t>
                    </m:r>
                    <m:r>
                      <a:rPr lang="fr-FR" sz="1600">
                        <a:solidFill>
                          <a:schemeClr val="accent1">
                            <a:lumMod val="60000"/>
                            <a:lumOff val="40000"/>
                          </a:schemeClr>
                        </a:solidFill>
                        <a:latin typeface="Cambria Math" panose="02040503050406030204" pitchFamily="18" charset="0"/>
                        <a:ea typeface="Cambria Math" panose="02040503050406030204" pitchFamily="18" charset="0"/>
                      </a:rPr>
                      <m:t>1−</m:t>
                    </m:r>
                    <m:r>
                      <m:rPr>
                        <m:sty m:val="p"/>
                      </m:rPr>
                      <a:rPr lang="fr-FR" sz="1600">
                        <a:solidFill>
                          <a:schemeClr val="accent1">
                            <a:lumMod val="60000"/>
                            <a:lumOff val="40000"/>
                          </a:schemeClr>
                        </a:solidFill>
                        <a:latin typeface="Cambria Math" panose="02040503050406030204" pitchFamily="18" charset="0"/>
                        <a:ea typeface="Cambria Math" panose="02040503050406030204" pitchFamily="18" charset="0"/>
                      </a:rPr>
                      <m:t>out</m:t>
                    </m:r>
                    <m:r>
                      <a:rPr lang="fr-FR" sz="1600">
                        <a:solidFill>
                          <a:schemeClr val="accent1">
                            <a:lumMod val="60000"/>
                            <a:lumOff val="40000"/>
                          </a:schemeClr>
                        </a:solidFill>
                        <a:latin typeface="Cambria Math" panose="02040503050406030204" pitchFamily="18" charset="0"/>
                        <a:ea typeface="Cambria Math" panose="02040503050406030204" pitchFamily="18" charset="0"/>
                      </a:rPr>
                      <m:t>_</m:t>
                    </m:r>
                    <m:r>
                      <m:rPr>
                        <m:sty m:val="p"/>
                      </m:rPr>
                      <a:rPr lang="fr-FR" sz="1600">
                        <a:solidFill>
                          <a:schemeClr val="accent1">
                            <a:lumMod val="60000"/>
                            <a:lumOff val="40000"/>
                          </a:schemeClr>
                        </a:solidFill>
                        <a:latin typeface="Cambria Math" panose="02040503050406030204" pitchFamily="18" charset="0"/>
                        <a:ea typeface="Cambria Math" panose="02040503050406030204" pitchFamily="18" charset="0"/>
                      </a:rPr>
                      <m:t>o</m:t>
                    </m:r>
                    <m:r>
                      <a:rPr lang="fr-FR" sz="1600" i="1">
                        <a:solidFill>
                          <a:schemeClr val="accent1">
                            <a:lumMod val="60000"/>
                            <a:lumOff val="40000"/>
                          </a:schemeClr>
                        </a:solidFill>
                        <a:latin typeface="Cambria Math" panose="02040503050406030204" pitchFamily="18" charset="0"/>
                        <a:ea typeface="Cambria Math" panose="02040503050406030204" pitchFamily="18" charset="0"/>
                      </a:rPr>
                      <m:t>)</m:t>
                    </m:r>
                  </m:oMath>
                </a14:m>
                <a:r>
                  <a:rPr lang="fr-FR" sz="1600" dirty="0">
                    <a:solidFill>
                      <a:schemeClr val="accent1">
                        <a:lumMod val="60000"/>
                        <a:lumOff val="40000"/>
                      </a:schemeClr>
                    </a:solidFill>
                    <a:latin typeface="Cambria Math" panose="02040503050406030204" pitchFamily="18" charset="0"/>
                  </a:rPr>
                  <a:t> </a:t>
                </a:r>
                <a14:m>
                  <m:oMath xmlns:m="http://schemas.openxmlformats.org/officeDocument/2006/math">
                    <m:r>
                      <a:rPr lang="fr-FR" sz="1600" i="1" dirty="0" smtClean="0">
                        <a:latin typeface="Cambria Math" panose="02040503050406030204" pitchFamily="18" charset="0"/>
                        <a:ea typeface="Cambria Math" panose="02040503050406030204" pitchFamily="18" charset="0"/>
                      </a:rPr>
                      <m:t>×</m:t>
                    </m:r>
                    <m:r>
                      <a:rPr lang="fr-FR" sz="1600" b="0" i="1" dirty="0" smtClean="0">
                        <a:latin typeface="Cambria Math" panose="02040503050406030204" pitchFamily="18" charset="0"/>
                        <a:ea typeface="Cambria Math" panose="02040503050406030204" pitchFamily="18" charset="0"/>
                      </a:rPr>
                      <m:t> </m:t>
                    </m:r>
                    <m:r>
                      <m:rPr>
                        <m:sty m:val="p"/>
                      </m:rPr>
                      <a:rPr lang="fr-FR" sz="1600" b="0" i="0" dirty="0" smtClean="0">
                        <a:solidFill>
                          <a:schemeClr val="accent3">
                            <a:lumMod val="60000"/>
                            <a:lumOff val="40000"/>
                          </a:schemeClr>
                        </a:solidFill>
                        <a:latin typeface="Cambria Math" panose="02040503050406030204" pitchFamily="18" charset="0"/>
                        <a:ea typeface="Cambria Math" panose="02040503050406030204" pitchFamily="18" charset="0"/>
                      </a:rPr>
                      <m:t>out</m:t>
                    </m:r>
                    <m:r>
                      <a:rPr lang="fr-FR" sz="1600" b="0" i="0" dirty="0" smtClean="0">
                        <a:solidFill>
                          <a:schemeClr val="accent3">
                            <a:lumMod val="60000"/>
                            <a:lumOff val="40000"/>
                          </a:schemeClr>
                        </a:solidFill>
                        <a:latin typeface="Cambria Math" panose="02040503050406030204" pitchFamily="18" charset="0"/>
                        <a:ea typeface="Cambria Math" panose="02040503050406030204" pitchFamily="18" charset="0"/>
                      </a:rPr>
                      <m:t>_</m:t>
                    </m:r>
                    <m:r>
                      <m:rPr>
                        <m:sty m:val="p"/>
                      </m:rPr>
                      <a:rPr lang="fr-FR" sz="1600" b="0" i="0" dirty="0" smtClean="0">
                        <a:solidFill>
                          <a:schemeClr val="accent3">
                            <a:lumMod val="60000"/>
                            <a:lumOff val="40000"/>
                          </a:schemeClr>
                        </a:solidFill>
                        <a:latin typeface="Cambria Math" panose="02040503050406030204" pitchFamily="18" charset="0"/>
                        <a:ea typeface="Cambria Math" panose="02040503050406030204" pitchFamily="18" charset="0"/>
                      </a:rPr>
                      <m:t>h</m:t>
                    </m:r>
                    <m:r>
                      <a:rPr lang="fr-FR" sz="1600" b="0" i="1" dirty="0" smtClean="0">
                        <a:latin typeface="Cambria Math" panose="02040503050406030204" pitchFamily="18" charset="0"/>
                        <a:ea typeface="Cambria Math" panose="02040503050406030204" pitchFamily="18" charset="0"/>
                      </a:rPr>
                      <m:t> </m:t>
                    </m:r>
                  </m:oMath>
                </a14:m>
                <a:endParaRPr lang="fr-FR" sz="1100" dirty="0">
                  <a:latin typeface="Cambria Math" panose="02040503050406030204" pitchFamily="18" charset="0"/>
                </a:endParaRPr>
              </a:p>
            </p:txBody>
          </p:sp>
        </mc:Choice>
        <mc:Fallback xmlns="">
          <p:sp>
            <p:nvSpPr>
              <p:cNvPr id="37" name="ZoneTexte 36">
                <a:extLst>
                  <a:ext uri="{FF2B5EF4-FFF2-40B4-BE49-F238E27FC236}">
                    <a16:creationId xmlns:a16="http://schemas.microsoft.com/office/drawing/2014/main" id="{5402FD19-FFC1-F43B-B7D1-D5CD446C97F2}"/>
                  </a:ext>
                </a:extLst>
              </p:cNvPr>
              <p:cNvSpPr txBox="1">
                <a:spLocks noRot="1" noChangeAspect="1" noMove="1" noResize="1" noEditPoints="1" noAdjustHandles="1" noChangeArrowheads="1" noChangeShapeType="1" noTextEdit="1"/>
              </p:cNvSpPr>
              <p:nvPr/>
            </p:nvSpPr>
            <p:spPr>
              <a:xfrm>
                <a:off x="4384767" y="4984717"/>
                <a:ext cx="7409835" cy="454355"/>
              </a:xfrm>
              <a:prstGeom prst="rect">
                <a:avLst/>
              </a:prstGeom>
              <a:blipFill>
                <a:blip r:embed="rId3"/>
                <a:stretch>
                  <a:fillRect b="-270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1" name="ZoneTexte 40">
                <a:extLst>
                  <a:ext uri="{FF2B5EF4-FFF2-40B4-BE49-F238E27FC236}">
                    <a16:creationId xmlns:a16="http://schemas.microsoft.com/office/drawing/2014/main" id="{BC506D5E-3683-E175-B875-365EFF469D0D}"/>
                  </a:ext>
                </a:extLst>
              </p:cNvPr>
              <p:cNvSpPr txBox="1"/>
              <p:nvPr/>
            </p:nvSpPr>
            <p:spPr>
              <a:xfrm>
                <a:off x="9001571" y="2989655"/>
                <a:ext cx="2571934" cy="454355"/>
              </a:xfrm>
              <a:prstGeom prst="rect">
                <a:avLst/>
              </a:prstGeom>
              <a:noFill/>
            </p:spPr>
            <p:txBody>
              <a:bodyPr wrap="square" rtlCol="0">
                <a:spAutoFit/>
              </a:bodyPr>
              <a:lstStyle/>
              <a:p>
                <a14:m>
                  <m:oMath xmlns:m="http://schemas.openxmlformats.org/officeDocument/2006/math">
                    <m:f>
                      <m:fPr>
                        <m:ctrlPr>
                          <a:rPr lang="fr-FR" sz="1600" b="0" i="1" smtClean="0">
                            <a:solidFill>
                              <a:schemeClr val="accent3">
                                <a:lumMod val="60000"/>
                                <a:lumOff val="40000"/>
                              </a:schemeClr>
                            </a:solidFill>
                            <a:latin typeface="Cambria Math" panose="02040503050406030204" pitchFamily="18" charset="0"/>
                            <a:ea typeface="Cambria Math" panose="02040503050406030204" pitchFamily="18" charset="0"/>
                          </a:rPr>
                        </m:ctrlPr>
                      </m:fPr>
                      <m:num>
                        <m:r>
                          <a:rPr lang="fr-FR" sz="1600">
                            <a:solidFill>
                              <a:schemeClr val="accent3">
                                <a:lumMod val="60000"/>
                                <a:lumOff val="40000"/>
                              </a:schemeClr>
                            </a:solidFill>
                            <a:latin typeface="Cambria Math" panose="02040503050406030204" pitchFamily="18" charset="0"/>
                            <a:ea typeface="Cambria Math" panose="02040503050406030204" pitchFamily="18" charset="0"/>
                          </a:rPr>
                          <m:t>𝜕</m:t>
                        </m:r>
                        <m:r>
                          <m:rPr>
                            <m:sty m:val="p"/>
                          </m:rPr>
                          <a:rPr lang="fr-FR" sz="1600" b="0" i="0" smtClean="0">
                            <a:solidFill>
                              <a:schemeClr val="accent3">
                                <a:lumMod val="60000"/>
                                <a:lumOff val="40000"/>
                              </a:schemeClr>
                            </a:solidFill>
                            <a:latin typeface="Cambria Math" panose="02040503050406030204" pitchFamily="18" charset="0"/>
                            <a:ea typeface="Cambria Math" panose="02040503050406030204" pitchFamily="18" charset="0"/>
                          </a:rPr>
                          <m:t>net</m:t>
                        </m:r>
                        <m:r>
                          <a:rPr lang="fr-FR" sz="1600" b="0" i="0" smtClean="0">
                            <a:solidFill>
                              <a:schemeClr val="accent3">
                                <a:lumMod val="60000"/>
                                <a:lumOff val="40000"/>
                              </a:schemeClr>
                            </a:solidFill>
                            <a:latin typeface="Cambria Math" panose="02040503050406030204" pitchFamily="18" charset="0"/>
                            <a:ea typeface="Cambria Math" panose="02040503050406030204" pitchFamily="18" charset="0"/>
                          </a:rPr>
                          <m:t>_</m:t>
                        </m:r>
                        <m:r>
                          <m:rPr>
                            <m:sty m:val="p"/>
                          </m:rPr>
                          <a:rPr lang="fr-FR" sz="1600" b="0" i="0" smtClean="0">
                            <a:solidFill>
                              <a:schemeClr val="accent3">
                                <a:lumMod val="60000"/>
                                <a:lumOff val="40000"/>
                              </a:schemeClr>
                            </a:solidFill>
                            <a:latin typeface="Cambria Math" panose="02040503050406030204" pitchFamily="18" charset="0"/>
                            <a:ea typeface="Cambria Math" panose="02040503050406030204" pitchFamily="18" charset="0"/>
                          </a:rPr>
                          <m:t>o</m:t>
                        </m:r>
                      </m:num>
                      <m:den>
                        <m:r>
                          <a:rPr lang="fr-FR" sz="1600">
                            <a:solidFill>
                              <a:schemeClr val="accent3">
                                <a:lumMod val="60000"/>
                                <a:lumOff val="40000"/>
                              </a:schemeClr>
                            </a:solidFill>
                            <a:latin typeface="Cambria Math" panose="02040503050406030204" pitchFamily="18" charset="0"/>
                            <a:ea typeface="Cambria Math" panose="02040503050406030204" pitchFamily="18" charset="0"/>
                          </a:rPr>
                          <m:t>𝜕</m:t>
                        </m:r>
                        <m:r>
                          <m:rPr>
                            <m:sty m:val="p"/>
                          </m:rPr>
                          <a:rPr lang="fr-FR" sz="1600" b="0" i="0" smtClean="0">
                            <a:solidFill>
                              <a:schemeClr val="accent3">
                                <a:lumMod val="60000"/>
                                <a:lumOff val="40000"/>
                              </a:schemeClr>
                            </a:solidFill>
                            <a:latin typeface="Cambria Math" panose="02040503050406030204" pitchFamily="18" charset="0"/>
                            <a:ea typeface="Cambria Math" panose="02040503050406030204" pitchFamily="18" charset="0"/>
                          </a:rPr>
                          <m:t>w</m:t>
                        </m:r>
                        <m:r>
                          <a:rPr lang="fr-FR" sz="1600" b="0" i="0" smtClean="0">
                            <a:solidFill>
                              <a:schemeClr val="accent3">
                                <a:lumMod val="60000"/>
                                <a:lumOff val="40000"/>
                              </a:schemeClr>
                            </a:solidFill>
                            <a:latin typeface="Cambria Math" panose="02040503050406030204" pitchFamily="18" charset="0"/>
                            <a:ea typeface="Cambria Math" panose="02040503050406030204" pitchFamily="18" charset="0"/>
                          </a:rPr>
                          <m:t>3</m:t>
                        </m:r>
                      </m:den>
                    </m:f>
                  </m:oMath>
                </a14:m>
                <a:r>
                  <a:rPr lang="fr-FR" sz="1600" dirty="0">
                    <a:solidFill>
                      <a:schemeClr val="accent3">
                        <a:lumMod val="60000"/>
                        <a:lumOff val="40000"/>
                      </a:schemeClr>
                    </a:solidFill>
                    <a:latin typeface="Cambria Math" panose="02040503050406030204" pitchFamily="18" charset="0"/>
                    <a:ea typeface="Cambria Math" panose="02040503050406030204" pitchFamily="18" charset="0"/>
                  </a:rPr>
                  <a:t> = out_h</a:t>
                </a:r>
              </a:p>
            </p:txBody>
          </p:sp>
        </mc:Choice>
        <mc:Fallback xmlns="">
          <p:sp>
            <p:nvSpPr>
              <p:cNvPr id="41" name="ZoneTexte 40">
                <a:extLst>
                  <a:ext uri="{FF2B5EF4-FFF2-40B4-BE49-F238E27FC236}">
                    <a16:creationId xmlns:a16="http://schemas.microsoft.com/office/drawing/2014/main" id="{BC506D5E-3683-E175-B875-365EFF469D0D}"/>
                  </a:ext>
                </a:extLst>
              </p:cNvPr>
              <p:cNvSpPr txBox="1">
                <a:spLocks noRot="1" noChangeAspect="1" noMove="1" noResize="1" noEditPoints="1" noAdjustHandles="1" noChangeArrowheads="1" noChangeShapeType="1" noTextEdit="1"/>
              </p:cNvSpPr>
              <p:nvPr/>
            </p:nvSpPr>
            <p:spPr>
              <a:xfrm>
                <a:off x="9001571" y="2989655"/>
                <a:ext cx="2571934" cy="454355"/>
              </a:xfrm>
              <a:prstGeom prst="rect">
                <a:avLst/>
              </a:prstGeom>
              <a:blipFill>
                <a:blip r:embed="rId4"/>
                <a:stretch>
                  <a:fillRect b="-270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2" name="ZoneTexte 41">
                <a:extLst>
                  <a:ext uri="{FF2B5EF4-FFF2-40B4-BE49-F238E27FC236}">
                    <a16:creationId xmlns:a16="http://schemas.microsoft.com/office/drawing/2014/main" id="{A64CAA52-8215-E04F-7B2B-3B605099995E}"/>
                  </a:ext>
                </a:extLst>
              </p:cNvPr>
              <p:cNvSpPr txBox="1"/>
              <p:nvPr/>
            </p:nvSpPr>
            <p:spPr>
              <a:xfrm>
                <a:off x="4384769" y="5631464"/>
                <a:ext cx="7094756" cy="454163"/>
              </a:xfrm>
              <a:prstGeom prst="rect">
                <a:avLst/>
              </a:prstGeom>
              <a:noFill/>
            </p:spPr>
            <p:txBody>
              <a:bodyPr wrap="square" rtlCol="0">
                <a:spAutoFit/>
              </a:bodyPr>
              <a:lstStyle/>
              <a:p>
                <a14:m>
                  <m:oMath xmlns:m="http://schemas.openxmlformats.org/officeDocument/2006/math">
                    <m:f>
                      <m:fPr>
                        <m:ctrlPr>
                          <a:rPr lang="fr-FR" sz="1600" i="1" smtClean="0">
                            <a:latin typeface="Cambria Math" panose="02040503050406030204" pitchFamily="18" charset="0"/>
                          </a:rPr>
                        </m:ctrlPr>
                      </m:fPr>
                      <m:num>
                        <m:r>
                          <a:rPr lang="fr-FR" sz="1600" i="0" smtClean="0">
                            <a:latin typeface="Cambria Math" panose="02040503050406030204" pitchFamily="18" charset="0"/>
                          </a:rPr>
                          <m:t>𝜕</m:t>
                        </m:r>
                        <m:r>
                          <m:rPr>
                            <m:sty m:val="p"/>
                          </m:rPr>
                          <a:rPr lang="fr-FR" sz="1600" b="0" i="0" smtClean="0">
                            <a:latin typeface="Cambria Math" panose="02040503050406030204" pitchFamily="18" charset="0"/>
                          </a:rPr>
                          <m:t>Loss</m:t>
                        </m:r>
                      </m:num>
                      <m:den>
                        <m:r>
                          <a:rPr lang="fr-FR" sz="1600" i="0" smtClean="0">
                            <a:latin typeface="Cambria Math" panose="02040503050406030204" pitchFamily="18" charset="0"/>
                          </a:rPr>
                          <m:t>𝜕</m:t>
                        </m:r>
                        <m:r>
                          <m:rPr>
                            <m:sty m:val="p"/>
                          </m:rPr>
                          <a:rPr lang="fr-FR" sz="1600" b="0" i="0" smtClean="0">
                            <a:latin typeface="Cambria Math" panose="02040503050406030204" pitchFamily="18" charset="0"/>
                          </a:rPr>
                          <m:t>b</m:t>
                        </m:r>
                        <m:r>
                          <a:rPr lang="fr-FR" sz="1600" b="0" i="0" smtClean="0">
                            <a:latin typeface="Cambria Math" panose="02040503050406030204" pitchFamily="18" charset="0"/>
                          </a:rPr>
                          <m:t>2</m:t>
                        </m:r>
                      </m:den>
                    </m:f>
                    <m:r>
                      <a:rPr lang="fr-FR" sz="1600" b="0" i="0" smtClean="0">
                        <a:latin typeface="Cambria Math" panose="02040503050406030204" pitchFamily="18" charset="0"/>
                      </a:rPr>
                      <m:t>= </m:t>
                    </m:r>
                    <m:f>
                      <m:fPr>
                        <m:ctrlPr>
                          <a:rPr lang="fr-FR" sz="1600" b="0" i="1" smtClean="0">
                            <a:solidFill>
                              <a:schemeClr val="accent2"/>
                            </a:solidFill>
                            <a:latin typeface="Cambria Math" panose="02040503050406030204" pitchFamily="18" charset="0"/>
                          </a:rPr>
                        </m:ctrlPr>
                      </m:fPr>
                      <m:num>
                        <m:r>
                          <a:rPr lang="fr-FR" sz="1600" b="0" i="0" smtClean="0">
                            <a:solidFill>
                              <a:schemeClr val="accent2"/>
                            </a:solidFill>
                            <a:latin typeface="Cambria Math" panose="02040503050406030204" pitchFamily="18" charset="0"/>
                          </a:rPr>
                          <m:t>𝜕</m:t>
                        </m:r>
                        <m:r>
                          <m:rPr>
                            <m:sty m:val="p"/>
                          </m:rPr>
                          <a:rPr lang="fr-FR" sz="1600" b="0" i="0" smtClean="0">
                            <a:solidFill>
                              <a:schemeClr val="accent2"/>
                            </a:solidFill>
                            <a:latin typeface="Cambria Math" panose="02040503050406030204" pitchFamily="18" charset="0"/>
                          </a:rPr>
                          <m:t>Loss</m:t>
                        </m:r>
                      </m:num>
                      <m:den>
                        <m:r>
                          <a:rPr lang="fr-FR" sz="1600" b="0" i="0" smtClean="0">
                            <a:solidFill>
                              <a:schemeClr val="accent2"/>
                            </a:solidFill>
                            <a:latin typeface="Cambria Math" panose="02040503050406030204" pitchFamily="18" charset="0"/>
                          </a:rPr>
                          <m:t>𝜕</m:t>
                        </m:r>
                        <m:r>
                          <m:rPr>
                            <m:sty m:val="p"/>
                          </m:rPr>
                          <a:rPr lang="fr-FR" sz="1600" b="0" i="0" smtClean="0">
                            <a:solidFill>
                              <a:schemeClr val="accent2"/>
                            </a:solidFill>
                            <a:latin typeface="Cambria Math" panose="02040503050406030204" pitchFamily="18" charset="0"/>
                          </a:rPr>
                          <m:t>out</m:t>
                        </m:r>
                        <m:r>
                          <a:rPr lang="fr-FR" sz="1600" b="0" i="0" smtClean="0">
                            <a:solidFill>
                              <a:schemeClr val="accent2"/>
                            </a:solidFill>
                            <a:latin typeface="Cambria Math" panose="02040503050406030204" pitchFamily="18" charset="0"/>
                          </a:rPr>
                          <m:t>_</m:t>
                        </m:r>
                        <m:r>
                          <m:rPr>
                            <m:sty m:val="p"/>
                          </m:rPr>
                          <a:rPr lang="fr-FR" sz="1600" b="0" i="0" smtClean="0">
                            <a:solidFill>
                              <a:schemeClr val="accent2"/>
                            </a:solidFill>
                            <a:latin typeface="Cambria Math" panose="02040503050406030204" pitchFamily="18" charset="0"/>
                          </a:rPr>
                          <m:t>o</m:t>
                        </m:r>
                      </m:den>
                    </m:f>
                    <m:r>
                      <a:rPr lang="fr-FR" sz="1600" b="0" i="0" smtClean="0">
                        <a:latin typeface="Cambria Math" panose="02040503050406030204" pitchFamily="18" charset="0"/>
                      </a:rPr>
                      <m:t> </m:t>
                    </m:r>
                    <m:r>
                      <a:rPr lang="fr-FR" sz="1600" b="0" i="1" smtClean="0">
                        <a:latin typeface="Cambria Math" panose="02040503050406030204" pitchFamily="18" charset="0"/>
                        <a:ea typeface="Cambria Math" panose="02040503050406030204" pitchFamily="18" charset="0"/>
                      </a:rPr>
                      <m:t>×</m:t>
                    </m:r>
                    <m:f>
                      <m:fPr>
                        <m:ctrlPr>
                          <a:rPr lang="fr-FR" sz="1600" b="0" i="1" smtClean="0">
                            <a:solidFill>
                              <a:schemeClr val="accent1">
                                <a:lumMod val="60000"/>
                                <a:lumOff val="40000"/>
                              </a:schemeClr>
                            </a:solidFill>
                            <a:latin typeface="Cambria Math" panose="02040503050406030204" pitchFamily="18" charset="0"/>
                          </a:rPr>
                        </m:ctrlPr>
                      </m:fPr>
                      <m:num>
                        <m:r>
                          <a:rPr lang="fr-FR" sz="1600">
                            <a:solidFill>
                              <a:schemeClr val="accent1">
                                <a:lumMod val="60000"/>
                                <a:lumOff val="40000"/>
                              </a:schemeClr>
                            </a:solidFill>
                            <a:latin typeface="Cambria Math" panose="02040503050406030204" pitchFamily="18" charset="0"/>
                          </a:rPr>
                          <m:t>𝜕</m:t>
                        </m:r>
                        <m:r>
                          <m:rPr>
                            <m:sty m:val="p"/>
                          </m:rPr>
                          <a:rPr lang="fr-FR" sz="1600" b="0" i="0" smtClean="0">
                            <a:solidFill>
                              <a:schemeClr val="accent1">
                                <a:lumMod val="60000"/>
                                <a:lumOff val="40000"/>
                              </a:schemeClr>
                            </a:solidFill>
                            <a:latin typeface="Cambria Math" panose="02040503050406030204" pitchFamily="18" charset="0"/>
                          </a:rPr>
                          <m:t>out</m:t>
                        </m:r>
                        <m:r>
                          <a:rPr lang="fr-FR" sz="1600" b="0" i="0" smtClean="0">
                            <a:solidFill>
                              <a:schemeClr val="accent1">
                                <a:lumMod val="60000"/>
                                <a:lumOff val="40000"/>
                              </a:schemeClr>
                            </a:solidFill>
                            <a:latin typeface="Cambria Math" panose="02040503050406030204" pitchFamily="18" charset="0"/>
                          </a:rPr>
                          <m:t>_</m:t>
                        </m:r>
                        <m:r>
                          <m:rPr>
                            <m:sty m:val="p"/>
                          </m:rPr>
                          <a:rPr lang="fr-FR" sz="1600" b="0" i="0" smtClean="0">
                            <a:solidFill>
                              <a:schemeClr val="accent1">
                                <a:lumMod val="60000"/>
                                <a:lumOff val="40000"/>
                              </a:schemeClr>
                            </a:solidFill>
                            <a:latin typeface="Cambria Math" panose="02040503050406030204" pitchFamily="18" charset="0"/>
                          </a:rPr>
                          <m:t>o</m:t>
                        </m:r>
                      </m:num>
                      <m:den>
                        <m:r>
                          <a:rPr lang="fr-FR" sz="1600">
                            <a:solidFill>
                              <a:schemeClr val="accent1">
                                <a:lumMod val="60000"/>
                                <a:lumOff val="40000"/>
                              </a:schemeClr>
                            </a:solidFill>
                            <a:latin typeface="Cambria Math" panose="02040503050406030204" pitchFamily="18" charset="0"/>
                          </a:rPr>
                          <m:t>𝜕</m:t>
                        </m:r>
                        <m:r>
                          <m:rPr>
                            <m:sty m:val="p"/>
                          </m:rPr>
                          <a:rPr lang="fr-FR" sz="1600" b="0" i="0" smtClean="0">
                            <a:solidFill>
                              <a:schemeClr val="accent1">
                                <a:lumMod val="60000"/>
                                <a:lumOff val="40000"/>
                              </a:schemeClr>
                            </a:solidFill>
                            <a:latin typeface="Cambria Math" panose="02040503050406030204" pitchFamily="18" charset="0"/>
                          </a:rPr>
                          <m:t>net</m:t>
                        </m:r>
                        <m:r>
                          <a:rPr lang="fr-FR" sz="1600" b="0" i="0" smtClean="0">
                            <a:solidFill>
                              <a:schemeClr val="accent1">
                                <a:lumMod val="60000"/>
                                <a:lumOff val="40000"/>
                              </a:schemeClr>
                            </a:solidFill>
                            <a:latin typeface="Cambria Math" panose="02040503050406030204" pitchFamily="18" charset="0"/>
                          </a:rPr>
                          <m:t>_</m:t>
                        </m:r>
                        <m:r>
                          <m:rPr>
                            <m:sty m:val="p"/>
                          </m:rPr>
                          <a:rPr lang="fr-FR" sz="1600" b="0" i="0" smtClean="0">
                            <a:solidFill>
                              <a:schemeClr val="accent1">
                                <a:lumMod val="60000"/>
                                <a:lumOff val="40000"/>
                              </a:schemeClr>
                            </a:solidFill>
                            <a:latin typeface="Cambria Math" panose="02040503050406030204" pitchFamily="18" charset="0"/>
                          </a:rPr>
                          <m:t>o</m:t>
                        </m:r>
                      </m:den>
                    </m:f>
                    <m:r>
                      <a:rPr lang="fr-FR" sz="1600" b="0" i="1" smtClean="0">
                        <a:latin typeface="Cambria Math" panose="02040503050406030204" pitchFamily="18" charset="0"/>
                        <a:ea typeface="Cambria Math" panose="02040503050406030204" pitchFamily="18" charset="0"/>
                      </a:rPr>
                      <m:t>×</m:t>
                    </m:r>
                    <m:f>
                      <m:fPr>
                        <m:ctrlPr>
                          <a:rPr lang="fr-FR" sz="1600" b="0" i="1" smtClean="0">
                            <a:solidFill>
                              <a:schemeClr val="accent5">
                                <a:lumMod val="60000"/>
                                <a:lumOff val="40000"/>
                              </a:schemeClr>
                            </a:solidFill>
                            <a:latin typeface="Cambria Math" panose="02040503050406030204" pitchFamily="18" charset="0"/>
                          </a:rPr>
                        </m:ctrlPr>
                      </m:fPr>
                      <m:num>
                        <m:r>
                          <a:rPr lang="fr-FR" sz="1600">
                            <a:solidFill>
                              <a:schemeClr val="accent5">
                                <a:lumMod val="60000"/>
                                <a:lumOff val="40000"/>
                              </a:schemeClr>
                            </a:solidFill>
                            <a:latin typeface="Cambria Math" panose="02040503050406030204" pitchFamily="18" charset="0"/>
                          </a:rPr>
                          <m:t>𝜕</m:t>
                        </m:r>
                        <m:r>
                          <m:rPr>
                            <m:sty m:val="p"/>
                          </m:rPr>
                          <a:rPr lang="fr-FR" sz="1600" b="0" i="0" smtClean="0">
                            <a:solidFill>
                              <a:schemeClr val="accent5">
                                <a:lumMod val="60000"/>
                                <a:lumOff val="40000"/>
                              </a:schemeClr>
                            </a:solidFill>
                            <a:latin typeface="Cambria Math" panose="02040503050406030204" pitchFamily="18" charset="0"/>
                          </a:rPr>
                          <m:t>net</m:t>
                        </m:r>
                        <m:r>
                          <a:rPr lang="fr-FR" sz="1600" b="0" i="0" smtClean="0">
                            <a:solidFill>
                              <a:schemeClr val="accent5">
                                <a:lumMod val="60000"/>
                                <a:lumOff val="40000"/>
                              </a:schemeClr>
                            </a:solidFill>
                            <a:latin typeface="Cambria Math" panose="02040503050406030204" pitchFamily="18" charset="0"/>
                          </a:rPr>
                          <m:t>_</m:t>
                        </m:r>
                        <m:r>
                          <m:rPr>
                            <m:sty m:val="p"/>
                          </m:rPr>
                          <a:rPr lang="fr-FR" sz="1600" b="0" i="0" smtClean="0">
                            <a:solidFill>
                              <a:schemeClr val="accent5">
                                <a:lumMod val="60000"/>
                                <a:lumOff val="40000"/>
                              </a:schemeClr>
                            </a:solidFill>
                            <a:latin typeface="Cambria Math" panose="02040503050406030204" pitchFamily="18" charset="0"/>
                          </a:rPr>
                          <m:t>o</m:t>
                        </m:r>
                      </m:num>
                      <m:den>
                        <m:r>
                          <a:rPr lang="fr-FR" sz="1600">
                            <a:solidFill>
                              <a:schemeClr val="accent5">
                                <a:lumMod val="60000"/>
                                <a:lumOff val="40000"/>
                              </a:schemeClr>
                            </a:solidFill>
                            <a:latin typeface="Cambria Math" panose="02040503050406030204" pitchFamily="18" charset="0"/>
                          </a:rPr>
                          <m:t>𝜕</m:t>
                        </m:r>
                        <m:r>
                          <m:rPr>
                            <m:sty m:val="p"/>
                          </m:rPr>
                          <a:rPr lang="fr-FR" sz="1600" b="0" i="0" smtClean="0">
                            <a:solidFill>
                              <a:schemeClr val="accent5">
                                <a:lumMod val="60000"/>
                                <a:lumOff val="40000"/>
                              </a:schemeClr>
                            </a:solidFill>
                            <a:latin typeface="Cambria Math" panose="02040503050406030204" pitchFamily="18" charset="0"/>
                          </a:rPr>
                          <m:t>b</m:t>
                        </m:r>
                        <m:r>
                          <a:rPr lang="fr-FR" sz="1600" b="0" i="0" smtClean="0">
                            <a:solidFill>
                              <a:schemeClr val="accent5">
                                <a:lumMod val="60000"/>
                                <a:lumOff val="40000"/>
                              </a:schemeClr>
                            </a:solidFill>
                            <a:latin typeface="Cambria Math" panose="02040503050406030204" pitchFamily="18" charset="0"/>
                          </a:rPr>
                          <m:t>2</m:t>
                        </m:r>
                      </m:den>
                    </m:f>
                    <m:r>
                      <m:rPr>
                        <m:nor/>
                      </m:rPr>
                      <a:rPr lang="fr-FR" sz="1600" dirty="0"/>
                      <m:t>=</m:t>
                    </m:r>
                    <m:r>
                      <a:rPr lang="fr-FR" sz="1600">
                        <a:solidFill>
                          <a:schemeClr val="accent2"/>
                        </a:solidFill>
                        <a:latin typeface="Cambria Math" panose="02040503050406030204" pitchFamily="18" charset="0"/>
                        <a:ea typeface="Cambria Math" panose="02040503050406030204" pitchFamily="18" charset="0"/>
                      </a:rPr>
                      <m:t>−2</m:t>
                    </m:r>
                    <m:r>
                      <a:rPr lang="fr-FR" sz="1600" i="1">
                        <a:solidFill>
                          <a:schemeClr val="accent2"/>
                        </a:solidFill>
                        <a:latin typeface="Cambria Math" panose="02040503050406030204" pitchFamily="18" charset="0"/>
                        <a:ea typeface="Cambria Math" panose="02040503050406030204" pitchFamily="18" charset="0"/>
                      </a:rPr>
                      <m:t>×(</m:t>
                    </m:r>
                    <m:r>
                      <m:rPr>
                        <m:sty m:val="p"/>
                      </m:rPr>
                      <a:rPr lang="fr-FR" sz="1600">
                        <a:solidFill>
                          <a:schemeClr val="accent2"/>
                        </a:solidFill>
                        <a:latin typeface="Cambria Math" panose="02040503050406030204" pitchFamily="18" charset="0"/>
                        <a:ea typeface="Cambria Math" panose="02040503050406030204" pitchFamily="18" charset="0"/>
                      </a:rPr>
                      <m:t>target</m:t>
                    </m:r>
                    <m:r>
                      <a:rPr lang="fr-FR" sz="1600">
                        <a:solidFill>
                          <a:schemeClr val="accent2"/>
                        </a:solidFill>
                        <a:latin typeface="Cambria Math" panose="02040503050406030204" pitchFamily="18" charset="0"/>
                        <a:ea typeface="Cambria Math" panose="02040503050406030204" pitchFamily="18" charset="0"/>
                      </a:rPr>
                      <m:t> − </m:t>
                    </m:r>
                    <m:r>
                      <m:rPr>
                        <m:sty m:val="p"/>
                      </m:rPr>
                      <a:rPr lang="fr-FR" sz="1600">
                        <a:solidFill>
                          <a:schemeClr val="accent2"/>
                        </a:solidFill>
                        <a:latin typeface="Cambria Math" panose="02040503050406030204" pitchFamily="18" charset="0"/>
                        <a:ea typeface="Cambria Math" panose="02040503050406030204" pitchFamily="18" charset="0"/>
                      </a:rPr>
                      <m:t>out</m:t>
                    </m:r>
                    <m:r>
                      <a:rPr lang="fr-FR" sz="1600">
                        <a:solidFill>
                          <a:schemeClr val="accent2"/>
                        </a:solidFill>
                        <a:latin typeface="Cambria Math" panose="02040503050406030204" pitchFamily="18" charset="0"/>
                        <a:ea typeface="Cambria Math" panose="02040503050406030204" pitchFamily="18" charset="0"/>
                      </a:rPr>
                      <m:t>_</m:t>
                    </m:r>
                    <m:r>
                      <m:rPr>
                        <m:sty m:val="p"/>
                      </m:rPr>
                      <a:rPr lang="fr-FR" sz="1600">
                        <a:solidFill>
                          <a:schemeClr val="accent2"/>
                        </a:solidFill>
                        <a:latin typeface="Cambria Math" panose="02040503050406030204" pitchFamily="18" charset="0"/>
                        <a:ea typeface="Cambria Math" panose="02040503050406030204" pitchFamily="18" charset="0"/>
                      </a:rPr>
                      <m:t>o</m:t>
                    </m:r>
                    <m:r>
                      <m:rPr>
                        <m:nor/>
                      </m:rPr>
                      <a:rPr lang="fr-FR" sz="1600" dirty="0">
                        <a:solidFill>
                          <a:schemeClr val="accent2"/>
                        </a:solidFill>
                        <a:latin typeface="Cambria Math" panose="02040503050406030204" pitchFamily="18" charset="0"/>
                        <a:ea typeface="Cambria Math" panose="02040503050406030204" pitchFamily="18" charset="0"/>
                      </a:rPr>
                      <m:t>)</m:t>
                    </m:r>
                    <m:r>
                      <a:rPr lang="fr-FR" sz="1600" i="1">
                        <a:latin typeface="Cambria Math" panose="02040503050406030204" pitchFamily="18" charset="0"/>
                        <a:ea typeface="Cambria Math" panose="02040503050406030204" pitchFamily="18" charset="0"/>
                      </a:rPr>
                      <m:t>×</m:t>
                    </m:r>
                    <m:r>
                      <m:rPr>
                        <m:nor/>
                      </m:rPr>
                      <a:rPr lang="fr-FR" sz="1600">
                        <a:latin typeface="Cambria Math" panose="02040503050406030204" pitchFamily="18" charset="0"/>
                        <a:ea typeface="Cambria Math" panose="02040503050406030204" pitchFamily="18" charset="0"/>
                      </a:rPr>
                      <m:t> </m:t>
                    </m:r>
                    <m:r>
                      <m:rPr>
                        <m:nor/>
                      </m:rPr>
                      <a:rPr lang="fr-FR" sz="1600" dirty="0" smtClean="0">
                        <a:solidFill>
                          <a:schemeClr val="accent1">
                            <a:lumMod val="60000"/>
                            <a:lumOff val="40000"/>
                          </a:schemeClr>
                        </a:solidFill>
                        <a:latin typeface="Cambria Math" panose="02040503050406030204" pitchFamily="18" charset="0"/>
                      </a:rPr>
                      <m:t>out</m:t>
                    </m:r>
                    <m:r>
                      <m:rPr>
                        <m:nor/>
                      </m:rPr>
                      <a:rPr lang="fr-FR" sz="1600" dirty="0" smtClean="0">
                        <a:solidFill>
                          <a:schemeClr val="accent1">
                            <a:lumMod val="60000"/>
                            <a:lumOff val="40000"/>
                          </a:schemeClr>
                        </a:solidFill>
                        <a:latin typeface="Cambria Math" panose="02040503050406030204" pitchFamily="18" charset="0"/>
                      </a:rPr>
                      <m:t>_</m:t>
                    </m:r>
                    <m:r>
                      <m:rPr>
                        <m:nor/>
                      </m:rPr>
                      <a:rPr lang="fr-FR" sz="1600" dirty="0" smtClean="0">
                        <a:solidFill>
                          <a:schemeClr val="accent1">
                            <a:lumMod val="60000"/>
                            <a:lumOff val="40000"/>
                          </a:schemeClr>
                        </a:solidFill>
                        <a:latin typeface="Cambria Math" panose="02040503050406030204" pitchFamily="18" charset="0"/>
                      </a:rPr>
                      <m:t>o</m:t>
                    </m:r>
                    <m:r>
                      <a:rPr lang="fr-FR" sz="1600" i="1" dirty="0">
                        <a:solidFill>
                          <a:schemeClr val="accent1">
                            <a:lumMod val="60000"/>
                            <a:lumOff val="40000"/>
                          </a:schemeClr>
                        </a:solidFill>
                        <a:latin typeface="Cambria Math" panose="02040503050406030204" pitchFamily="18" charset="0"/>
                      </a:rPr>
                      <m:t> </m:t>
                    </m:r>
                    <m:r>
                      <a:rPr lang="fr-FR" sz="1600" i="1">
                        <a:solidFill>
                          <a:schemeClr val="accent1">
                            <a:lumMod val="60000"/>
                            <a:lumOff val="40000"/>
                          </a:schemeClr>
                        </a:solidFill>
                        <a:latin typeface="Cambria Math" panose="02040503050406030204" pitchFamily="18" charset="0"/>
                        <a:ea typeface="Cambria Math" panose="02040503050406030204" pitchFamily="18" charset="0"/>
                      </a:rPr>
                      <m:t>(</m:t>
                    </m:r>
                    <m:r>
                      <a:rPr lang="fr-FR" sz="1600">
                        <a:solidFill>
                          <a:schemeClr val="accent1">
                            <a:lumMod val="60000"/>
                            <a:lumOff val="40000"/>
                          </a:schemeClr>
                        </a:solidFill>
                        <a:latin typeface="Cambria Math" panose="02040503050406030204" pitchFamily="18" charset="0"/>
                        <a:ea typeface="Cambria Math" panose="02040503050406030204" pitchFamily="18" charset="0"/>
                      </a:rPr>
                      <m:t>1−</m:t>
                    </m:r>
                    <m:r>
                      <m:rPr>
                        <m:sty m:val="p"/>
                      </m:rPr>
                      <a:rPr lang="fr-FR" sz="1600">
                        <a:solidFill>
                          <a:schemeClr val="accent1">
                            <a:lumMod val="60000"/>
                            <a:lumOff val="40000"/>
                          </a:schemeClr>
                        </a:solidFill>
                        <a:latin typeface="Cambria Math" panose="02040503050406030204" pitchFamily="18" charset="0"/>
                        <a:ea typeface="Cambria Math" panose="02040503050406030204" pitchFamily="18" charset="0"/>
                      </a:rPr>
                      <m:t>out</m:t>
                    </m:r>
                    <m:r>
                      <a:rPr lang="fr-FR" sz="1600">
                        <a:solidFill>
                          <a:schemeClr val="accent1">
                            <a:lumMod val="60000"/>
                            <a:lumOff val="40000"/>
                          </a:schemeClr>
                        </a:solidFill>
                        <a:latin typeface="Cambria Math" panose="02040503050406030204" pitchFamily="18" charset="0"/>
                        <a:ea typeface="Cambria Math" panose="02040503050406030204" pitchFamily="18" charset="0"/>
                      </a:rPr>
                      <m:t>_</m:t>
                    </m:r>
                    <m:r>
                      <m:rPr>
                        <m:sty m:val="p"/>
                      </m:rPr>
                      <a:rPr lang="fr-FR" sz="1600">
                        <a:solidFill>
                          <a:schemeClr val="accent1">
                            <a:lumMod val="60000"/>
                            <a:lumOff val="40000"/>
                          </a:schemeClr>
                        </a:solidFill>
                        <a:latin typeface="Cambria Math" panose="02040503050406030204" pitchFamily="18" charset="0"/>
                        <a:ea typeface="Cambria Math" panose="02040503050406030204" pitchFamily="18" charset="0"/>
                      </a:rPr>
                      <m:t>o</m:t>
                    </m:r>
                    <m:r>
                      <a:rPr lang="fr-FR" sz="1600" i="1">
                        <a:solidFill>
                          <a:schemeClr val="accent1">
                            <a:lumMod val="60000"/>
                            <a:lumOff val="40000"/>
                          </a:schemeClr>
                        </a:solidFill>
                        <a:latin typeface="Cambria Math" panose="02040503050406030204" pitchFamily="18" charset="0"/>
                        <a:ea typeface="Cambria Math" panose="02040503050406030204" pitchFamily="18" charset="0"/>
                      </a:rPr>
                      <m:t>)</m:t>
                    </m:r>
                    <m:r>
                      <m:rPr>
                        <m:nor/>
                      </m:rPr>
                      <a:rPr lang="fr-FR" sz="1600" dirty="0">
                        <a:solidFill>
                          <a:schemeClr val="accent1">
                            <a:lumMod val="60000"/>
                            <a:lumOff val="40000"/>
                          </a:schemeClr>
                        </a:solidFill>
                        <a:latin typeface="Cambria Math" panose="02040503050406030204" pitchFamily="18" charset="0"/>
                      </a:rPr>
                      <m:t> </m:t>
                    </m:r>
                    <m:r>
                      <a:rPr lang="fr-FR" sz="1600" i="1" dirty="0">
                        <a:latin typeface="Cambria Math" panose="02040503050406030204" pitchFamily="18" charset="0"/>
                        <a:ea typeface="Cambria Math" panose="02040503050406030204" pitchFamily="18" charset="0"/>
                      </a:rPr>
                      <m:t>×</m:t>
                    </m:r>
                  </m:oMath>
                </a14:m>
                <a:r>
                  <a:rPr lang="fr-FR" sz="1600" dirty="0"/>
                  <a:t> </a:t>
                </a:r>
                <a:r>
                  <a:rPr lang="fr-FR" sz="1600" dirty="0">
                    <a:solidFill>
                      <a:schemeClr val="accent5">
                        <a:lumMod val="60000"/>
                        <a:lumOff val="40000"/>
                      </a:schemeClr>
                    </a:solidFill>
                  </a:rPr>
                  <a:t>1</a:t>
                </a:r>
                <a:endParaRPr lang="fr-FR" dirty="0">
                  <a:solidFill>
                    <a:schemeClr val="accent5">
                      <a:lumMod val="60000"/>
                      <a:lumOff val="40000"/>
                    </a:schemeClr>
                  </a:solidFill>
                </a:endParaRPr>
              </a:p>
            </p:txBody>
          </p:sp>
        </mc:Choice>
        <mc:Fallback xmlns="">
          <p:sp>
            <p:nvSpPr>
              <p:cNvPr id="42" name="ZoneTexte 41">
                <a:extLst>
                  <a:ext uri="{FF2B5EF4-FFF2-40B4-BE49-F238E27FC236}">
                    <a16:creationId xmlns:a16="http://schemas.microsoft.com/office/drawing/2014/main" id="{A64CAA52-8215-E04F-7B2B-3B605099995E}"/>
                  </a:ext>
                </a:extLst>
              </p:cNvPr>
              <p:cNvSpPr txBox="1">
                <a:spLocks noRot="1" noChangeAspect="1" noMove="1" noResize="1" noEditPoints="1" noAdjustHandles="1" noChangeArrowheads="1" noChangeShapeType="1" noTextEdit="1"/>
              </p:cNvSpPr>
              <p:nvPr/>
            </p:nvSpPr>
            <p:spPr>
              <a:xfrm>
                <a:off x="4384769" y="5631464"/>
                <a:ext cx="7094756" cy="454163"/>
              </a:xfrm>
              <a:prstGeom prst="rect">
                <a:avLst/>
              </a:prstGeom>
              <a:blipFill>
                <a:blip r:embed="rId5"/>
                <a:stretch>
                  <a:fillRect b="-2703"/>
                </a:stretch>
              </a:blipFill>
            </p:spPr>
            <p:txBody>
              <a:bodyPr/>
              <a:lstStyle/>
              <a:p>
                <a:r>
                  <a:rPr lang="en-GB">
                    <a:noFill/>
                  </a:rPr>
                  <a:t> </a:t>
                </a:r>
              </a:p>
            </p:txBody>
          </p:sp>
        </mc:Fallback>
      </mc:AlternateContent>
      <p:sp>
        <p:nvSpPr>
          <p:cNvPr id="44" name="ZoneTexte 43">
            <a:extLst>
              <a:ext uri="{FF2B5EF4-FFF2-40B4-BE49-F238E27FC236}">
                <a16:creationId xmlns:a16="http://schemas.microsoft.com/office/drawing/2014/main" id="{F7697EF1-91C1-F676-DAE9-60BB17BB393B}"/>
              </a:ext>
            </a:extLst>
          </p:cNvPr>
          <p:cNvSpPr txBox="1"/>
          <p:nvPr/>
        </p:nvSpPr>
        <p:spPr>
          <a:xfrm>
            <a:off x="6271437" y="665068"/>
            <a:ext cx="1881963" cy="584775"/>
          </a:xfrm>
          <a:prstGeom prst="rect">
            <a:avLst/>
          </a:prstGeom>
          <a:noFill/>
        </p:spPr>
        <p:txBody>
          <a:bodyPr wrap="square" rtlCol="0">
            <a:spAutoFit/>
          </a:bodyPr>
          <a:lstStyle/>
          <a:p>
            <a:r>
              <a:rPr lang="fr-FR" sz="3200" b="1" dirty="0"/>
              <a:t>Gradient</a:t>
            </a:r>
          </a:p>
        </p:txBody>
      </p:sp>
      <mc:AlternateContent xmlns:mc="http://schemas.openxmlformats.org/markup-compatibility/2006" xmlns:a14="http://schemas.microsoft.com/office/drawing/2010/main">
        <mc:Choice Requires="a14">
          <p:sp>
            <p:nvSpPr>
              <p:cNvPr id="47" name="ZoneTexte 46">
                <a:extLst>
                  <a:ext uri="{FF2B5EF4-FFF2-40B4-BE49-F238E27FC236}">
                    <a16:creationId xmlns:a16="http://schemas.microsoft.com/office/drawing/2014/main" id="{161A659B-92D4-A903-B8A6-C4B830D39D77}"/>
                  </a:ext>
                </a:extLst>
              </p:cNvPr>
              <p:cNvSpPr txBox="1"/>
              <p:nvPr/>
            </p:nvSpPr>
            <p:spPr>
              <a:xfrm>
                <a:off x="9001571" y="1841102"/>
                <a:ext cx="3168786" cy="454355"/>
              </a:xfrm>
              <a:prstGeom prst="rect">
                <a:avLst/>
              </a:prstGeom>
              <a:noFill/>
            </p:spPr>
            <p:txBody>
              <a:bodyPr wrap="square">
                <a:spAutoFit/>
              </a:bodyPr>
              <a:lstStyle/>
              <a:p>
                <a14:m>
                  <m:oMath xmlns:m="http://schemas.openxmlformats.org/officeDocument/2006/math">
                    <m:f>
                      <m:fPr>
                        <m:ctrlPr>
                          <a:rPr lang="fr-FR" sz="1600" b="0" i="1" smtClean="0">
                            <a:solidFill>
                              <a:schemeClr val="accent2"/>
                            </a:solidFill>
                            <a:latin typeface="Cambria Math" panose="02040503050406030204" pitchFamily="18" charset="0"/>
                            <a:ea typeface="Cambria Math" panose="02040503050406030204" pitchFamily="18" charset="0"/>
                          </a:rPr>
                        </m:ctrlPr>
                      </m:fPr>
                      <m:num>
                        <m:r>
                          <a:rPr lang="fr-FR" sz="1600" b="0" i="0" smtClean="0">
                            <a:solidFill>
                              <a:schemeClr val="accent2"/>
                            </a:solidFill>
                            <a:latin typeface="Cambria Math" panose="02040503050406030204" pitchFamily="18" charset="0"/>
                            <a:ea typeface="Cambria Math" panose="02040503050406030204" pitchFamily="18" charset="0"/>
                          </a:rPr>
                          <m:t>𝜕</m:t>
                        </m:r>
                        <m:r>
                          <m:rPr>
                            <m:sty m:val="p"/>
                          </m:rPr>
                          <a:rPr lang="fr-FR" sz="1600" b="0" i="0" smtClean="0">
                            <a:solidFill>
                              <a:schemeClr val="accent2"/>
                            </a:solidFill>
                            <a:latin typeface="Cambria Math" panose="02040503050406030204" pitchFamily="18" charset="0"/>
                            <a:ea typeface="Cambria Math" panose="02040503050406030204" pitchFamily="18" charset="0"/>
                          </a:rPr>
                          <m:t>Loss</m:t>
                        </m:r>
                      </m:num>
                      <m:den>
                        <m:r>
                          <a:rPr lang="fr-FR" sz="1600" b="0" i="0" smtClean="0">
                            <a:solidFill>
                              <a:schemeClr val="accent2"/>
                            </a:solidFill>
                            <a:latin typeface="Cambria Math" panose="02040503050406030204" pitchFamily="18" charset="0"/>
                            <a:ea typeface="Cambria Math" panose="02040503050406030204" pitchFamily="18" charset="0"/>
                          </a:rPr>
                          <m:t>𝜕</m:t>
                        </m:r>
                        <m:r>
                          <m:rPr>
                            <m:sty m:val="p"/>
                          </m:rPr>
                          <a:rPr lang="fr-FR" sz="1600" b="0" i="0" smtClean="0">
                            <a:solidFill>
                              <a:schemeClr val="accent2"/>
                            </a:solidFill>
                            <a:latin typeface="Cambria Math" panose="02040503050406030204" pitchFamily="18" charset="0"/>
                            <a:ea typeface="Cambria Math" panose="02040503050406030204" pitchFamily="18" charset="0"/>
                          </a:rPr>
                          <m:t>out</m:t>
                        </m:r>
                        <m:r>
                          <a:rPr lang="fr-FR" sz="1600" b="0" i="0" smtClean="0">
                            <a:solidFill>
                              <a:schemeClr val="accent2"/>
                            </a:solidFill>
                            <a:latin typeface="Cambria Math" panose="02040503050406030204" pitchFamily="18" charset="0"/>
                            <a:ea typeface="Cambria Math" panose="02040503050406030204" pitchFamily="18" charset="0"/>
                          </a:rPr>
                          <m:t>_</m:t>
                        </m:r>
                        <m:r>
                          <m:rPr>
                            <m:sty m:val="p"/>
                          </m:rPr>
                          <a:rPr lang="fr-FR" sz="1600" b="0" i="0" smtClean="0">
                            <a:solidFill>
                              <a:schemeClr val="accent2"/>
                            </a:solidFill>
                            <a:latin typeface="Cambria Math" panose="02040503050406030204" pitchFamily="18" charset="0"/>
                            <a:ea typeface="Cambria Math" panose="02040503050406030204" pitchFamily="18" charset="0"/>
                          </a:rPr>
                          <m:t>o</m:t>
                        </m:r>
                      </m:den>
                    </m:f>
                    <m:r>
                      <a:rPr lang="fr-FR" sz="1600" b="0" i="0" smtClean="0">
                        <a:solidFill>
                          <a:schemeClr val="accent2"/>
                        </a:solidFill>
                        <a:latin typeface="Cambria Math" panose="02040503050406030204" pitchFamily="18" charset="0"/>
                        <a:ea typeface="Cambria Math" panose="02040503050406030204" pitchFamily="18" charset="0"/>
                      </a:rPr>
                      <m:t> =−2</m:t>
                    </m:r>
                    <m:r>
                      <a:rPr lang="fr-FR" sz="1600" b="0" i="1" smtClean="0">
                        <a:solidFill>
                          <a:schemeClr val="accent2"/>
                        </a:solidFill>
                        <a:latin typeface="Cambria Math" panose="02040503050406030204" pitchFamily="18" charset="0"/>
                        <a:ea typeface="Cambria Math" panose="02040503050406030204" pitchFamily="18" charset="0"/>
                      </a:rPr>
                      <m:t>×(</m:t>
                    </m:r>
                    <m:r>
                      <m:rPr>
                        <m:sty m:val="p"/>
                      </m:rPr>
                      <a:rPr lang="fr-FR" sz="1600">
                        <a:solidFill>
                          <a:schemeClr val="accent2"/>
                        </a:solidFill>
                        <a:latin typeface="Cambria Math" panose="02040503050406030204" pitchFamily="18" charset="0"/>
                        <a:ea typeface="Cambria Math" panose="02040503050406030204" pitchFamily="18" charset="0"/>
                      </a:rPr>
                      <m:t>target</m:t>
                    </m:r>
                    <m:r>
                      <a:rPr lang="fr-FR" sz="1600" b="0" i="0" smtClean="0">
                        <a:solidFill>
                          <a:schemeClr val="accent2"/>
                        </a:solidFill>
                        <a:latin typeface="Cambria Math" panose="02040503050406030204" pitchFamily="18" charset="0"/>
                        <a:ea typeface="Cambria Math" panose="02040503050406030204" pitchFamily="18" charset="0"/>
                      </a:rPr>
                      <m:t> − </m:t>
                    </m:r>
                    <m:r>
                      <m:rPr>
                        <m:sty m:val="p"/>
                      </m:rPr>
                      <a:rPr lang="fr-FR" sz="1600" b="0" i="0" smtClean="0">
                        <a:solidFill>
                          <a:schemeClr val="accent2"/>
                        </a:solidFill>
                        <a:latin typeface="Cambria Math" panose="02040503050406030204" pitchFamily="18" charset="0"/>
                        <a:ea typeface="Cambria Math" panose="02040503050406030204" pitchFamily="18" charset="0"/>
                      </a:rPr>
                      <m:t>out</m:t>
                    </m:r>
                    <m:r>
                      <a:rPr lang="fr-FR" sz="1600" b="0" i="0" smtClean="0">
                        <a:solidFill>
                          <a:schemeClr val="accent2"/>
                        </a:solidFill>
                        <a:latin typeface="Cambria Math" panose="02040503050406030204" pitchFamily="18" charset="0"/>
                        <a:ea typeface="Cambria Math" panose="02040503050406030204" pitchFamily="18" charset="0"/>
                      </a:rPr>
                      <m:t>_</m:t>
                    </m:r>
                    <m:r>
                      <m:rPr>
                        <m:sty m:val="p"/>
                      </m:rPr>
                      <a:rPr lang="fr-FR" sz="1600" b="0" i="0" smtClean="0">
                        <a:solidFill>
                          <a:schemeClr val="accent2"/>
                        </a:solidFill>
                        <a:latin typeface="Cambria Math" panose="02040503050406030204" pitchFamily="18" charset="0"/>
                        <a:ea typeface="Cambria Math" panose="02040503050406030204" pitchFamily="18" charset="0"/>
                      </a:rPr>
                      <m:t>o</m:t>
                    </m:r>
                  </m:oMath>
                </a14:m>
                <a:r>
                  <a:rPr lang="fr-FR" sz="1600" dirty="0">
                    <a:solidFill>
                      <a:schemeClr val="accent2"/>
                    </a:solidFill>
                    <a:latin typeface="Cambria Math" panose="02040503050406030204" pitchFamily="18" charset="0"/>
                    <a:ea typeface="Cambria Math" panose="02040503050406030204" pitchFamily="18" charset="0"/>
                  </a:rPr>
                  <a:t>)</a:t>
                </a:r>
              </a:p>
            </p:txBody>
          </p:sp>
        </mc:Choice>
        <mc:Fallback xmlns="">
          <p:sp>
            <p:nvSpPr>
              <p:cNvPr id="47" name="ZoneTexte 46">
                <a:extLst>
                  <a:ext uri="{FF2B5EF4-FFF2-40B4-BE49-F238E27FC236}">
                    <a16:creationId xmlns:a16="http://schemas.microsoft.com/office/drawing/2014/main" id="{161A659B-92D4-A903-B8A6-C4B830D39D77}"/>
                  </a:ext>
                </a:extLst>
              </p:cNvPr>
              <p:cNvSpPr txBox="1">
                <a:spLocks noRot="1" noChangeAspect="1" noMove="1" noResize="1" noEditPoints="1" noAdjustHandles="1" noChangeArrowheads="1" noChangeShapeType="1" noTextEdit="1"/>
              </p:cNvSpPr>
              <p:nvPr/>
            </p:nvSpPr>
            <p:spPr>
              <a:xfrm>
                <a:off x="9001571" y="1841102"/>
                <a:ext cx="3168786" cy="454355"/>
              </a:xfrm>
              <a:prstGeom prst="rect">
                <a:avLst/>
              </a:prstGeom>
              <a:blipFill>
                <a:blip r:embed="rId6"/>
                <a:stretch>
                  <a:fillRect b="-5405"/>
                </a:stretch>
              </a:blipFill>
            </p:spPr>
            <p:txBody>
              <a:bodyPr/>
              <a:lstStyle/>
              <a:p>
                <a:r>
                  <a:rPr lang="en-GB">
                    <a:noFill/>
                  </a:rPr>
                  <a:t> </a:t>
                </a:r>
              </a:p>
            </p:txBody>
          </p:sp>
        </mc:Fallback>
      </mc:AlternateContent>
      <p:sp>
        <p:nvSpPr>
          <p:cNvPr id="48" name="ZoneTexte 47">
            <a:extLst>
              <a:ext uri="{FF2B5EF4-FFF2-40B4-BE49-F238E27FC236}">
                <a16:creationId xmlns:a16="http://schemas.microsoft.com/office/drawing/2014/main" id="{E97093B5-96CE-D332-51F2-B10F5C023909}"/>
              </a:ext>
            </a:extLst>
          </p:cNvPr>
          <p:cNvSpPr txBox="1"/>
          <p:nvPr/>
        </p:nvSpPr>
        <p:spPr>
          <a:xfrm>
            <a:off x="4993956" y="4634764"/>
            <a:ext cx="1669310" cy="307777"/>
          </a:xfrm>
          <a:prstGeom prst="rect">
            <a:avLst/>
          </a:prstGeom>
          <a:noFill/>
        </p:spPr>
        <p:txBody>
          <a:bodyPr wrap="square" rtlCol="0">
            <a:spAutoFit/>
          </a:bodyPr>
          <a:lstStyle/>
          <a:p>
            <a:r>
              <a:rPr lang="fr-FR" sz="1400" b="1" dirty="0"/>
              <a:t>THE CHAIN RULE</a:t>
            </a:r>
          </a:p>
        </p:txBody>
      </p:sp>
      <p:sp>
        <p:nvSpPr>
          <p:cNvPr id="56" name="Espace réservé du pied de page 55">
            <a:extLst>
              <a:ext uri="{FF2B5EF4-FFF2-40B4-BE49-F238E27FC236}">
                <a16:creationId xmlns:a16="http://schemas.microsoft.com/office/drawing/2014/main" id="{C14BF5E3-1A7D-5C18-DFA5-BCA3A9FA33CB}"/>
              </a:ext>
            </a:extLst>
          </p:cNvPr>
          <p:cNvSpPr>
            <a:spLocks noGrp="1"/>
          </p:cNvSpPr>
          <p:nvPr>
            <p:ph type="ftr" sz="quarter" idx="11"/>
          </p:nvPr>
        </p:nvSpPr>
        <p:spPr/>
        <p:txBody>
          <a:bodyPr/>
          <a:lstStyle/>
          <a:p>
            <a:r>
              <a:rPr lang="fr-FR"/>
              <a:t>Introduction to Neural Networks. Author: David Thébault</a:t>
            </a:r>
          </a:p>
        </p:txBody>
      </p:sp>
      <mc:AlternateContent xmlns:mc="http://schemas.openxmlformats.org/markup-compatibility/2006" xmlns:a14="http://schemas.microsoft.com/office/drawing/2010/main">
        <mc:Choice Requires="a14">
          <p:sp>
            <p:nvSpPr>
              <p:cNvPr id="57" name="ZoneTexte 56">
                <a:extLst>
                  <a:ext uri="{FF2B5EF4-FFF2-40B4-BE49-F238E27FC236}">
                    <a16:creationId xmlns:a16="http://schemas.microsoft.com/office/drawing/2014/main" id="{A4F8FBEE-D7C2-AB7E-4AC9-BC7456E46070}"/>
                  </a:ext>
                </a:extLst>
              </p:cNvPr>
              <p:cNvSpPr txBox="1"/>
              <p:nvPr/>
            </p:nvSpPr>
            <p:spPr>
              <a:xfrm>
                <a:off x="9001571" y="2427716"/>
                <a:ext cx="2793031" cy="454355"/>
              </a:xfrm>
              <a:prstGeom prst="rect">
                <a:avLst/>
              </a:prstGeom>
              <a:noFill/>
            </p:spPr>
            <p:txBody>
              <a:bodyPr wrap="square" rtlCol="0">
                <a:spAutoFit/>
              </a:bodyPr>
              <a:lstStyle/>
              <a:p>
                <a14:m>
                  <m:oMath xmlns:m="http://schemas.openxmlformats.org/officeDocument/2006/math">
                    <m:f>
                      <m:fPr>
                        <m:ctrlPr>
                          <a:rPr lang="fr-FR" sz="1600" b="0" i="1" smtClean="0">
                            <a:solidFill>
                              <a:schemeClr val="accent4"/>
                            </a:solidFill>
                            <a:latin typeface="Cambria Math" panose="02040503050406030204" pitchFamily="18" charset="0"/>
                            <a:ea typeface="Cambria Math" panose="02040503050406030204" pitchFamily="18" charset="0"/>
                          </a:rPr>
                        </m:ctrlPr>
                      </m:fPr>
                      <m:num>
                        <m:r>
                          <a:rPr lang="fr-FR" sz="1600">
                            <a:solidFill>
                              <a:schemeClr val="accent4"/>
                            </a:solidFill>
                            <a:latin typeface="Cambria Math" panose="02040503050406030204" pitchFamily="18" charset="0"/>
                            <a:ea typeface="Cambria Math" panose="02040503050406030204" pitchFamily="18" charset="0"/>
                          </a:rPr>
                          <m:t>𝜕</m:t>
                        </m:r>
                        <m:r>
                          <m:rPr>
                            <m:sty m:val="p"/>
                          </m:rPr>
                          <a:rPr lang="fr-FR" sz="1600" b="0" i="0" smtClean="0">
                            <a:solidFill>
                              <a:schemeClr val="accent4"/>
                            </a:solidFill>
                            <a:latin typeface="Cambria Math" panose="02040503050406030204" pitchFamily="18" charset="0"/>
                            <a:ea typeface="Cambria Math" panose="02040503050406030204" pitchFamily="18" charset="0"/>
                          </a:rPr>
                          <m:t>out</m:t>
                        </m:r>
                        <m:r>
                          <a:rPr lang="fr-FR" sz="1600" b="0" i="0" smtClean="0">
                            <a:solidFill>
                              <a:schemeClr val="accent4"/>
                            </a:solidFill>
                            <a:latin typeface="Cambria Math" panose="02040503050406030204" pitchFamily="18" charset="0"/>
                            <a:ea typeface="Cambria Math" panose="02040503050406030204" pitchFamily="18" charset="0"/>
                          </a:rPr>
                          <m:t>_</m:t>
                        </m:r>
                        <m:r>
                          <m:rPr>
                            <m:sty m:val="p"/>
                          </m:rPr>
                          <a:rPr lang="fr-FR" sz="1600" b="0" i="0" smtClean="0">
                            <a:solidFill>
                              <a:schemeClr val="accent4"/>
                            </a:solidFill>
                            <a:latin typeface="Cambria Math" panose="02040503050406030204" pitchFamily="18" charset="0"/>
                            <a:ea typeface="Cambria Math" panose="02040503050406030204" pitchFamily="18" charset="0"/>
                          </a:rPr>
                          <m:t>o</m:t>
                        </m:r>
                      </m:num>
                      <m:den>
                        <m:r>
                          <a:rPr lang="fr-FR" sz="1600">
                            <a:solidFill>
                              <a:schemeClr val="accent4"/>
                            </a:solidFill>
                            <a:latin typeface="Cambria Math" panose="02040503050406030204" pitchFamily="18" charset="0"/>
                            <a:ea typeface="Cambria Math" panose="02040503050406030204" pitchFamily="18" charset="0"/>
                          </a:rPr>
                          <m:t>𝜕</m:t>
                        </m:r>
                        <m:r>
                          <m:rPr>
                            <m:sty m:val="p"/>
                          </m:rPr>
                          <a:rPr lang="fr-FR" sz="1600" b="0" i="0" smtClean="0">
                            <a:solidFill>
                              <a:schemeClr val="accent4"/>
                            </a:solidFill>
                            <a:latin typeface="Cambria Math" panose="02040503050406030204" pitchFamily="18" charset="0"/>
                            <a:ea typeface="Cambria Math" panose="02040503050406030204" pitchFamily="18" charset="0"/>
                          </a:rPr>
                          <m:t>net</m:t>
                        </m:r>
                        <m:r>
                          <a:rPr lang="fr-FR" sz="1600" b="0" i="0" smtClean="0">
                            <a:solidFill>
                              <a:schemeClr val="accent4"/>
                            </a:solidFill>
                            <a:latin typeface="Cambria Math" panose="02040503050406030204" pitchFamily="18" charset="0"/>
                            <a:ea typeface="Cambria Math" panose="02040503050406030204" pitchFamily="18" charset="0"/>
                          </a:rPr>
                          <m:t>_</m:t>
                        </m:r>
                        <m:r>
                          <m:rPr>
                            <m:sty m:val="p"/>
                          </m:rPr>
                          <a:rPr lang="fr-FR" sz="1600" b="0" i="0" smtClean="0">
                            <a:solidFill>
                              <a:schemeClr val="accent4"/>
                            </a:solidFill>
                            <a:latin typeface="Cambria Math" panose="02040503050406030204" pitchFamily="18" charset="0"/>
                            <a:ea typeface="Cambria Math" panose="02040503050406030204" pitchFamily="18" charset="0"/>
                          </a:rPr>
                          <m:t>o</m:t>
                        </m:r>
                      </m:den>
                    </m:f>
                    <m:r>
                      <a:rPr lang="fr-FR" sz="1600" b="0" i="0" smtClean="0">
                        <a:solidFill>
                          <a:schemeClr val="accent4"/>
                        </a:solidFill>
                        <a:latin typeface="Cambria Math" panose="02040503050406030204" pitchFamily="18" charset="0"/>
                        <a:ea typeface="Cambria Math" panose="02040503050406030204" pitchFamily="18" charset="0"/>
                      </a:rPr>
                      <m:t>  </m:t>
                    </m:r>
                  </m:oMath>
                </a14:m>
                <a:r>
                  <a:rPr lang="fr-FR" sz="1600" b="0" dirty="0">
                    <a:solidFill>
                      <a:schemeClr val="accent4"/>
                    </a:solidFill>
                    <a:latin typeface="Cambria Math" panose="02040503050406030204" pitchFamily="18" charset="0"/>
                    <a:ea typeface="Cambria Math" panose="02040503050406030204" pitchFamily="18" charset="0"/>
                  </a:rPr>
                  <a:t>= out_o</a:t>
                </a:r>
                <a14:m>
                  <m:oMath xmlns:m="http://schemas.openxmlformats.org/officeDocument/2006/math">
                    <m:r>
                      <a:rPr lang="fr-FR" sz="1600" b="0" i="0" smtClean="0">
                        <a:solidFill>
                          <a:schemeClr val="accent4"/>
                        </a:solidFill>
                        <a:latin typeface="Cambria Math" panose="02040503050406030204" pitchFamily="18" charset="0"/>
                        <a:ea typeface="Cambria Math" panose="02040503050406030204" pitchFamily="18" charset="0"/>
                      </a:rPr>
                      <m:t> </m:t>
                    </m:r>
                    <m:d>
                      <m:dPr>
                        <m:ctrlPr>
                          <a:rPr lang="fr-FR" sz="1600" b="0" i="1" smtClean="0">
                            <a:solidFill>
                              <a:schemeClr val="accent4"/>
                            </a:solidFill>
                            <a:latin typeface="Cambria Math" panose="02040503050406030204" pitchFamily="18" charset="0"/>
                            <a:ea typeface="Cambria Math" panose="02040503050406030204" pitchFamily="18" charset="0"/>
                          </a:rPr>
                        </m:ctrlPr>
                      </m:dPr>
                      <m:e>
                        <m:r>
                          <a:rPr lang="fr-FR" sz="1600" b="0" i="0" smtClean="0">
                            <a:solidFill>
                              <a:schemeClr val="accent4"/>
                            </a:solidFill>
                            <a:latin typeface="Cambria Math" panose="02040503050406030204" pitchFamily="18" charset="0"/>
                            <a:ea typeface="Cambria Math" panose="02040503050406030204" pitchFamily="18" charset="0"/>
                          </a:rPr>
                          <m:t>1−</m:t>
                        </m:r>
                        <m:sSub>
                          <m:sSubPr>
                            <m:ctrlPr>
                              <a:rPr lang="fr-FR" sz="1600" b="0" i="1" smtClean="0">
                                <a:solidFill>
                                  <a:schemeClr val="accent4"/>
                                </a:solidFill>
                                <a:latin typeface="Cambria Math" panose="02040503050406030204" pitchFamily="18" charset="0"/>
                                <a:ea typeface="Cambria Math" panose="02040503050406030204" pitchFamily="18" charset="0"/>
                              </a:rPr>
                            </m:ctrlPr>
                          </m:sSubPr>
                          <m:e>
                            <m:r>
                              <m:rPr>
                                <m:sty m:val="p"/>
                              </m:rPr>
                              <a:rPr lang="fr-FR" sz="1600" b="0" i="0" smtClean="0">
                                <a:solidFill>
                                  <a:schemeClr val="accent4"/>
                                </a:solidFill>
                                <a:latin typeface="Cambria Math" panose="02040503050406030204" pitchFamily="18" charset="0"/>
                                <a:ea typeface="Cambria Math" panose="02040503050406030204" pitchFamily="18" charset="0"/>
                              </a:rPr>
                              <m:t>out</m:t>
                            </m:r>
                          </m:e>
                          <m:sub>
                            <m:r>
                              <m:rPr>
                                <m:sty m:val="p"/>
                              </m:rPr>
                              <a:rPr lang="fr-FR" sz="1600" b="0" i="0" smtClean="0">
                                <a:solidFill>
                                  <a:schemeClr val="accent4"/>
                                </a:solidFill>
                                <a:latin typeface="Cambria Math" panose="02040503050406030204" pitchFamily="18" charset="0"/>
                                <a:ea typeface="Cambria Math" panose="02040503050406030204" pitchFamily="18" charset="0"/>
                              </a:rPr>
                              <m:t>o</m:t>
                            </m:r>
                          </m:sub>
                        </m:sSub>
                      </m:e>
                    </m:d>
                    <m:r>
                      <a:rPr lang="fr-FR" sz="1600" b="0" i="1" smtClean="0">
                        <a:latin typeface="Cambria Math" panose="02040503050406030204" pitchFamily="18" charset="0"/>
                        <a:ea typeface="Cambria Math" panose="02040503050406030204" pitchFamily="18" charset="0"/>
                      </a:rPr>
                      <m:t> </m:t>
                    </m:r>
                    <m:r>
                      <a:rPr lang="fr-FR" sz="1600" b="0" i="0" smtClean="0">
                        <a:latin typeface="Cambria Math" panose="02040503050406030204" pitchFamily="18" charset="0"/>
                        <a:ea typeface="Cambria Math" panose="02040503050406030204" pitchFamily="18" charset="0"/>
                      </a:rPr>
                      <m:t> </m:t>
                    </m:r>
                  </m:oMath>
                </a14:m>
                <a:endParaRPr lang="fr-FR" sz="1600" b="0" i="0" dirty="0">
                  <a:latin typeface="Cambria Math" panose="02040503050406030204" pitchFamily="18" charset="0"/>
                  <a:ea typeface="Cambria Math" panose="02040503050406030204" pitchFamily="18" charset="0"/>
                </a:endParaRPr>
              </a:p>
            </p:txBody>
          </p:sp>
        </mc:Choice>
        <mc:Fallback xmlns="">
          <p:sp>
            <p:nvSpPr>
              <p:cNvPr id="57" name="ZoneTexte 56">
                <a:extLst>
                  <a:ext uri="{FF2B5EF4-FFF2-40B4-BE49-F238E27FC236}">
                    <a16:creationId xmlns:a16="http://schemas.microsoft.com/office/drawing/2014/main" id="{A4F8FBEE-D7C2-AB7E-4AC9-BC7456E46070}"/>
                  </a:ext>
                </a:extLst>
              </p:cNvPr>
              <p:cNvSpPr txBox="1">
                <a:spLocks noRot="1" noChangeAspect="1" noMove="1" noResize="1" noEditPoints="1" noAdjustHandles="1" noChangeArrowheads="1" noChangeShapeType="1" noTextEdit="1"/>
              </p:cNvSpPr>
              <p:nvPr/>
            </p:nvSpPr>
            <p:spPr>
              <a:xfrm>
                <a:off x="9001571" y="2427716"/>
                <a:ext cx="2793031" cy="454355"/>
              </a:xfrm>
              <a:prstGeom prst="rect">
                <a:avLst/>
              </a:prstGeom>
              <a:blipFill>
                <a:blip r:embed="rId7"/>
                <a:stretch>
                  <a:fillRect b="-2703"/>
                </a:stretch>
              </a:blipFill>
            </p:spPr>
            <p:txBody>
              <a:bodyPr/>
              <a:lstStyle/>
              <a:p>
                <a:r>
                  <a:rPr lang="en-GB">
                    <a:noFill/>
                  </a:rPr>
                  <a:t> </a:t>
                </a:r>
              </a:p>
            </p:txBody>
          </p:sp>
        </mc:Fallback>
      </mc:AlternateContent>
      <p:pic>
        <p:nvPicPr>
          <p:cNvPr id="5" name="Image 4">
            <a:extLst>
              <a:ext uri="{FF2B5EF4-FFF2-40B4-BE49-F238E27FC236}">
                <a16:creationId xmlns:a16="http://schemas.microsoft.com/office/drawing/2014/main" id="{B7A34E0B-1F1D-AAFA-CC65-088323A71459}"/>
              </a:ext>
            </a:extLst>
          </p:cNvPr>
          <p:cNvPicPr>
            <a:picLocks noChangeAspect="1"/>
          </p:cNvPicPr>
          <p:nvPr/>
        </p:nvPicPr>
        <p:blipFill>
          <a:blip r:embed="rId8"/>
          <a:stretch>
            <a:fillRect/>
          </a:stretch>
        </p:blipFill>
        <p:spPr>
          <a:xfrm>
            <a:off x="973130" y="1549786"/>
            <a:ext cx="7772400" cy="2719325"/>
          </a:xfrm>
          <a:prstGeom prst="rect">
            <a:avLst/>
          </a:prstGeom>
        </p:spPr>
      </p:pic>
    </p:spTree>
    <p:extLst>
      <p:ext uri="{BB962C8B-B14F-4D97-AF65-F5344CB8AC3E}">
        <p14:creationId xmlns:p14="http://schemas.microsoft.com/office/powerpoint/2010/main" val="20687238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B3E3A-00BF-12D5-6969-A7803EAD4C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4" name="ZoneTexte 23">
                <a:extLst>
                  <a:ext uri="{FF2B5EF4-FFF2-40B4-BE49-F238E27FC236}">
                    <a16:creationId xmlns:a16="http://schemas.microsoft.com/office/drawing/2014/main" id="{7B7A24ED-03CC-C2C7-13FD-4DF8FC5B3B8C}"/>
                  </a:ext>
                </a:extLst>
              </p:cNvPr>
              <p:cNvSpPr txBox="1"/>
              <p:nvPr/>
            </p:nvSpPr>
            <p:spPr>
              <a:xfrm>
                <a:off x="5655034" y="4984801"/>
                <a:ext cx="6168377" cy="1062599"/>
              </a:xfrm>
              <a:prstGeom prst="rect">
                <a:avLst/>
              </a:prstGeom>
              <a:noFill/>
            </p:spPr>
            <p:txBody>
              <a:bodyPr wrap="square" rtlCol="0">
                <a:spAutoFit/>
              </a:bodyPr>
              <a:lstStyle/>
              <a:p>
                <a14:m>
                  <m:oMath xmlns:m="http://schemas.openxmlformats.org/officeDocument/2006/math">
                    <m:f>
                      <m:fPr>
                        <m:ctrlPr>
                          <a:rPr lang="fr-FR" sz="1600" i="1" smtClean="0">
                            <a:latin typeface="Cambria Math" panose="02040503050406030204" pitchFamily="18" charset="0"/>
                            <a:ea typeface="Cambria Math" panose="02040503050406030204" pitchFamily="18" charset="0"/>
                          </a:rPr>
                        </m:ctrlPr>
                      </m:fPr>
                      <m:num>
                        <m:r>
                          <a:rPr lang="fr-FR" sz="1600" i="0" smtClean="0">
                            <a:latin typeface="Cambria Math" panose="02040503050406030204" pitchFamily="18" charset="0"/>
                            <a:ea typeface="Cambria Math" panose="02040503050406030204" pitchFamily="18" charset="0"/>
                          </a:rPr>
                          <m:t>𝜕</m:t>
                        </m:r>
                        <m:r>
                          <m:rPr>
                            <m:sty m:val="p"/>
                          </m:rPr>
                          <a:rPr lang="fr-FR" sz="1600" b="0" i="0" smtClean="0">
                            <a:latin typeface="Cambria Math" panose="02040503050406030204" pitchFamily="18" charset="0"/>
                            <a:ea typeface="Cambria Math" panose="02040503050406030204" pitchFamily="18" charset="0"/>
                          </a:rPr>
                          <m:t>Loss</m:t>
                        </m:r>
                      </m:num>
                      <m:den>
                        <m:r>
                          <a:rPr lang="fr-FR" sz="1600" i="0" smtClean="0">
                            <a:latin typeface="Cambria Math" panose="02040503050406030204" pitchFamily="18" charset="0"/>
                            <a:ea typeface="Cambria Math" panose="02040503050406030204" pitchFamily="18" charset="0"/>
                          </a:rPr>
                          <m:t>𝜕</m:t>
                        </m:r>
                        <m:r>
                          <m:rPr>
                            <m:sty m:val="p"/>
                          </m:rPr>
                          <a:rPr lang="fr-FR" sz="1600" b="0" i="0" smtClean="0">
                            <a:latin typeface="Cambria Math" panose="02040503050406030204" pitchFamily="18" charset="0"/>
                            <a:ea typeface="Cambria Math" panose="02040503050406030204" pitchFamily="18" charset="0"/>
                          </a:rPr>
                          <m:t>b</m:t>
                        </m:r>
                        <m:r>
                          <a:rPr lang="fr-FR" sz="1600" b="0" i="0" smtClean="0">
                            <a:latin typeface="Cambria Math" panose="02040503050406030204" pitchFamily="18" charset="0"/>
                            <a:ea typeface="Cambria Math" panose="02040503050406030204" pitchFamily="18" charset="0"/>
                          </a:rPr>
                          <m:t>2</m:t>
                        </m:r>
                      </m:den>
                    </m:f>
                    <m:r>
                      <a:rPr lang="fr-FR" sz="1600" b="0" i="0" smtClean="0">
                        <a:latin typeface="Cambria Math" panose="02040503050406030204" pitchFamily="18" charset="0"/>
                        <a:ea typeface="Cambria Math" panose="02040503050406030204" pitchFamily="18" charset="0"/>
                      </a:rPr>
                      <m:t>= </m:t>
                    </m:r>
                    <m:f>
                      <m:fPr>
                        <m:ctrlPr>
                          <a:rPr lang="fr-FR" sz="1600" b="0" i="1" smtClean="0">
                            <a:solidFill>
                              <a:schemeClr val="tx2">
                                <a:lumMod val="50000"/>
                                <a:lumOff val="50000"/>
                              </a:schemeClr>
                            </a:solidFill>
                            <a:latin typeface="Cambria Math" panose="02040503050406030204" pitchFamily="18" charset="0"/>
                            <a:ea typeface="Cambria Math" panose="02040503050406030204" pitchFamily="18" charset="0"/>
                          </a:rPr>
                        </m:ctrlPr>
                      </m:fPr>
                      <m:num>
                        <m:r>
                          <a:rPr lang="fr-FR" sz="1600" b="0" i="0" smtClean="0">
                            <a:solidFill>
                              <a:schemeClr val="tx2">
                                <a:lumMod val="50000"/>
                                <a:lumOff val="50000"/>
                              </a:schemeClr>
                            </a:solidFill>
                            <a:latin typeface="Cambria Math" panose="02040503050406030204" pitchFamily="18" charset="0"/>
                            <a:ea typeface="Cambria Math" panose="02040503050406030204" pitchFamily="18" charset="0"/>
                          </a:rPr>
                          <m:t>𝜕</m:t>
                        </m:r>
                        <m:r>
                          <m:rPr>
                            <m:sty m:val="p"/>
                          </m:rPr>
                          <a:rPr lang="fr-FR" sz="1600" b="0" i="0" smtClean="0">
                            <a:solidFill>
                              <a:schemeClr val="tx2">
                                <a:lumMod val="50000"/>
                                <a:lumOff val="50000"/>
                              </a:schemeClr>
                            </a:solidFill>
                            <a:latin typeface="Cambria Math" panose="02040503050406030204" pitchFamily="18" charset="0"/>
                            <a:ea typeface="Cambria Math" panose="02040503050406030204" pitchFamily="18" charset="0"/>
                          </a:rPr>
                          <m:t>Loss</m:t>
                        </m:r>
                      </m:num>
                      <m:den>
                        <m:r>
                          <a:rPr lang="fr-FR" sz="1600" b="0" i="0" smtClean="0">
                            <a:solidFill>
                              <a:schemeClr val="tx2">
                                <a:lumMod val="50000"/>
                                <a:lumOff val="50000"/>
                              </a:schemeClr>
                            </a:solidFill>
                            <a:latin typeface="Cambria Math" panose="02040503050406030204" pitchFamily="18" charset="0"/>
                            <a:ea typeface="Cambria Math" panose="02040503050406030204" pitchFamily="18" charset="0"/>
                          </a:rPr>
                          <m:t>𝜕</m:t>
                        </m:r>
                        <m:r>
                          <m:rPr>
                            <m:sty m:val="p"/>
                          </m:rPr>
                          <a:rPr lang="fr-FR" sz="1600" b="0" i="0" smtClean="0">
                            <a:solidFill>
                              <a:schemeClr val="tx2">
                                <a:lumMod val="50000"/>
                                <a:lumOff val="50000"/>
                              </a:schemeClr>
                            </a:solidFill>
                            <a:latin typeface="Cambria Math" panose="02040503050406030204" pitchFamily="18" charset="0"/>
                            <a:ea typeface="Cambria Math" panose="02040503050406030204" pitchFamily="18" charset="0"/>
                          </a:rPr>
                          <m:t>net</m:t>
                        </m:r>
                        <m:r>
                          <a:rPr lang="fr-FR" sz="1600" b="0" i="0" smtClean="0">
                            <a:solidFill>
                              <a:schemeClr val="tx2">
                                <a:lumMod val="50000"/>
                                <a:lumOff val="50000"/>
                              </a:schemeClr>
                            </a:solidFill>
                            <a:latin typeface="Cambria Math" panose="02040503050406030204" pitchFamily="18" charset="0"/>
                            <a:ea typeface="Cambria Math" panose="02040503050406030204" pitchFamily="18" charset="0"/>
                          </a:rPr>
                          <m:t>_</m:t>
                        </m:r>
                        <m:r>
                          <m:rPr>
                            <m:sty m:val="p"/>
                          </m:rPr>
                          <a:rPr lang="fr-FR" sz="1600" b="0" i="0" smtClean="0">
                            <a:solidFill>
                              <a:schemeClr val="tx2">
                                <a:lumMod val="50000"/>
                                <a:lumOff val="50000"/>
                              </a:schemeClr>
                            </a:solidFill>
                            <a:latin typeface="Cambria Math" panose="02040503050406030204" pitchFamily="18" charset="0"/>
                            <a:ea typeface="Cambria Math" panose="02040503050406030204" pitchFamily="18" charset="0"/>
                          </a:rPr>
                          <m:t>o</m:t>
                        </m:r>
                      </m:den>
                    </m:f>
                    <m:r>
                      <a:rPr lang="fr-FR" sz="1600" b="0" i="0" smtClean="0">
                        <a:solidFill>
                          <a:schemeClr val="tx2">
                            <a:lumMod val="50000"/>
                            <a:lumOff val="50000"/>
                          </a:schemeClr>
                        </a:solidFill>
                        <a:latin typeface="Cambria Math" panose="02040503050406030204" pitchFamily="18" charset="0"/>
                        <a:ea typeface="Cambria Math" panose="02040503050406030204" pitchFamily="18" charset="0"/>
                      </a:rPr>
                      <m:t> </m:t>
                    </m:r>
                    <m:r>
                      <a:rPr lang="fr-FR" sz="1600" b="0" i="1" smtClean="0">
                        <a:latin typeface="Cambria Math" panose="02040503050406030204" pitchFamily="18" charset="0"/>
                        <a:ea typeface="Cambria Math" panose="02040503050406030204" pitchFamily="18" charset="0"/>
                      </a:rPr>
                      <m:t>×</m:t>
                    </m:r>
                    <m:f>
                      <m:fPr>
                        <m:ctrlPr>
                          <a:rPr lang="fr-FR" sz="1600" b="0" i="1" smtClean="0">
                            <a:latin typeface="Cambria Math" panose="02040503050406030204" pitchFamily="18" charset="0"/>
                            <a:ea typeface="Cambria Math" panose="02040503050406030204" pitchFamily="18" charset="0"/>
                          </a:rPr>
                        </m:ctrlPr>
                      </m:fPr>
                      <m:num>
                        <m:r>
                          <a:rPr lang="fr-FR" sz="1600">
                            <a:latin typeface="Cambria Math" panose="02040503050406030204" pitchFamily="18" charset="0"/>
                            <a:ea typeface="Cambria Math" panose="02040503050406030204" pitchFamily="18" charset="0"/>
                          </a:rPr>
                          <m:t>𝜕</m:t>
                        </m:r>
                        <m:r>
                          <m:rPr>
                            <m:sty m:val="p"/>
                          </m:rPr>
                          <a:rPr lang="fr-FR" sz="1600" b="0" i="0" smtClean="0">
                            <a:latin typeface="Cambria Math" panose="02040503050406030204" pitchFamily="18" charset="0"/>
                            <a:ea typeface="Cambria Math" panose="02040503050406030204" pitchFamily="18" charset="0"/>
                          </a:rPr>
                          <m:t>net</m:t>
                        </m:r>
                        <m:r>
                          <a:rPr lang="fr-FR" sz="1600" b="0" i="0" smtClean="0">
                            <a:latin typeface="Cambria Math" panose="02040503050406030204" pitchFamily="18" charset="0"/>
                            <a:ea typeface="Cambria Math" panose="02040503050406030204" pitchFamily="18" charset="0"/>
                          </a:rPr>
                          <m:t>_</m:t>
                        </m:r>
                        <m:r>
                          <m:rPr>
                            <m:sty m:val="p"/>
                          </m:rPr>
                          <a:rPr lang="fr-FR" sz="1600" b="0" i="0" smtClean="0">
                            <a:latin typeface="Cambria Math" panose="02040503050406030204" pitchFamily="18" charset="0"/>
                            <a:ea typeface="Cambria Math" panose="02040503050406030204" pitchFamily="18" charset="0"/>
                          </a:rPr>
                          <m:t>o</m:t>
                        </m:r>
                      </m:num>
                      <m:den>
                        <m:r>
                          <a:rPr lang="fr-FR" sz="1600">
                            <a:latin typeface="Cambria Math" panose="02040503050406030204" pitchFamily="18" charset="0"/>
                            <a:ea typeface="Cambria Math" panose="02040503050406030204" pitchFamily="18" charset="0"/>
                          </a:rPr>
                          <m:t>𝜕</m:t>
                        </m:r>
                        <m:r>
                          <m:rPr>
                            <m:sty m:val="p"/>
                          </m:rPr>
                          <a:rPr lang="fr-FR" sz="1600" b="0" i="0" smtClean="0">
                            <a:latin typeface="Cambria Math" panose="02040503050406030204" pitchFamily="18" charset="0"/>
                            <a:ea typeface="Cambria Math" panose="02040503050406030204" pitchFamily="18" charset="0"/>
                          </a:rPr>
                          <m:t>out</m:t>
                        </m:r>
                        <m:r>
                          <a:rPr lang="fr-FR" sz="1600" b="0" i="0" smtClean="0">
                            <a:latin typeface="Cambria Math" panose="02040503050406030204" pitchFamily="18" charset="0"/>
                            <a:ea typeface="Cambria Math" panose="02040503050406030204" pitchFamily="18" charset="0"/>
                          </a:rPr>
                          <m:t>_</m:t>
                        </m:r>
                        <m:r>
                          <m:rPr>
                            <m:sty m:val="p"/>
                          </m:rPr>
                          <a:rPr lang="fr-FR" sz="1600" b="0" i="0" smtClean="0">
                            <a:latin typeface="Cambria Math" panose="02040503050406030204" pitchFamily="18" charset="0"/>
                            <a:ea typeface="Cambria Math" panose="02040503050406030204" pitchFamily="18" charset="0"/>
                          </a:rPr>
                          <m:t>h</m:t>
                        </m:r>
                      </m:den>
                    </m:f>
                    <m:r>
                      <a:rPr lang="fr-FR" sz="1600" b="0" i="1" smtClean="0">
                        <a:latin typeface="Cambria Math" panose="02040503050406030204" pitchFamily="18" charset="0"/>
                        <a:ea typeface="Cambria Math" panose="02040503050406030204" pitchFamily="18" charset="0"/>
                      </a:rPr>
                      <m:t>×</m:t>
                    </m:r>
                    <m:f>
                      <m:fPr>
                        <m:ctrlPr>
                          <a:rPr lang="fr-FR" sz="1600" b="0" i="1" smtClean="0">
                            <a:solidFill>
                              <a:schemeClr val="accent3">
                                <a:lumMod val="60000"/>
                                <a:lumOff val="40000"/>
                              </a:schemeClr>
                            </a:solidFill>
                            <a:latin typeface="Cambria Math" panose="02040503050406030204" pitchFamily="18" charset="0"/>
                            <a:ea typeface="Cambria Math" panose="02040503050406030204" pitchFamily="18" charset="0"/>
                          </a:rPr>
                        </m:ctrlPr>
                      </m:fPr>
                      <m:num>
                        <m:r>
                          <a:rPr lang="fr-FR" sz="1600">
                            <a:solidFill>
                              <a:schemeClr val="accent3">
                                <a:lumMod val="60000"/>
                                <a:lumOff val="40000"/>
                              </a:schemeClr>
                            </a:solidFill>
                            <a:latin typeface="Cambria Math" panose="02040503050406030204" pitchFamily="18" charset="0"/>
                            <a:ea typeface="Cambria Math" panose="02040503050406030204" pitchFamily="18" charset="0"/>
                          </a:rPr>
                          <m:t>𝜕</m:t>
                        </m:r>
                        <m:r>
                          <m:rPr>
                            <m:sty m:val="p"/>
                          </m:rPr>
                          <a:rPr lang="fr-FR" sz="1600" b="0" i="0" smtClean="0">
                            <a:solidFill>
                              <a:schemeClr val="accent3">
                                <a:lumMod val="60000"/>
                                <a:lumOff val="40000"/>
                              </a:schemeClr>
                            </a:solidFill>
                            <a:latin typeface="Cambria Math" panose="02040503050406030204" pitchFamily="18" charset="0"/>
                            <a:ea typeface="Cambria Math" panose="02040503050406030204" pitchFamily="18" charset="0"/>
                          </a:rPr>
                          <m:t>out</m:t>
                        </m:r>
                        <m:r>
                          <a:rPr lang="fr-FR" sz="1600" b="0" i="0" smtClean="0">
                            <a:solidFill>
                              <a:schemeClr val="accent3">
                                <a:lumMod val="60000"/>
                                <a:lumOff val="40000"/>
                              </a:schemeClr>
                            </a:solidFill>
                            <a:latin typeface="Cambria Math" panose="02040503050406030204" pitchFamily="18" charset="0"/>
                            <a:ea typeface="Cambria Math" panose="02040503050406030204" pitchFamily="18" charset="0"/>
                          </a:rPr>
                          <m:t>_</m:t>
                        </m:r>
                        <m:r>
                          <m:rPr>
                            <m:sty m:val="p"/>
                          </m:rPr>
                          <a:rPr lang="fr-FR" sz="1600" b="0" i="0" smtClean="0">
                            <a:solidFill>
                              <a:schemeClr val="accent3">
                                <a:lumMod val="60000"/>
                                <a:lumOff val="40000"/>
                              </a:schemeClr>
                            </a:solidFill>
                            <a:latin typeface="Cambria Math" panose="02040503050406030204" pitchFamily="18" charset="0"/>
                            <a:ea typeface="Cambria Math" panose="02040503050406030204" pitchFamily="18" charset="0"/>
                          </a:rPr>
                          <m:t>h</m:t>
                        </m:r>
                      </m:num>
                      <m:den>
                        <m:r>
                          <a:rPr lang="fr-FR" sz="1600">
                            <a:solidFill>
                              <a:schemeClr val="accent3">
                                <a:lumMod val="60000"/>
                                <a:lumOff val="40000"/>
                              </a:schemeClr>
                            </a:solidFill>
                            <a:latin typeface="Cambria Math" panose="02040503050406030204" pitchFamily="18" charset="0"/>
                            <a:ea typeface="Cambria Math" panose="02040503050406030204" pitchFamily="18" charset="0"/>
                          </a:rPr>
                          <m:t>𝜕</m:t>
                        </m:r>
                        <m:r>
                          <m:rPr>
                            <m:sty m:val="p"/>
                          </m:rPr>
                          <a:rPr lang="fr-FR" sz="1600" b="0" i="0" smtClean="0">
                            <a:solidFill>
                              <a:schemeClr val="accent3">
                                <a:lumMod val="60000"/>
                                <a:lumOff val="40000"/>
                              </a:schemeClr>
                            </a:solidFill>
                            <a:latin typeface="Cambria Math" panose="02040503050406030204" pitchFamily="18" charset="0"/>
                            <a:ea typeface="Cambria Math" panose="02040503050406030204" pitchFamily="18" charset="0"/>
                          </a:rPr>
                          <m:t>net</m:t>
                        </m:r>
                        <m:r>
                          <a:rPr lang="fr-FR" sz="1600" b="0" i="0" smtClean="0">
                            <a:solidFill>
                              <a:schemeClr val="accent3">
                                <a:lumMod val="60000"/>
                                <a:lumOff val="40000"/>
                              </a:schemeClr>
                            </a:solidFill>
                            <a:latin typeface="Cambria Math" panose="02040503050406030204" pitchFamily="18" charset="0"/>
                            <a:ea typeface="Cambria Math" panose="02040503050406030204" pitchFamily="18" charset="0"/>
                          </a:rPr>
                          <m:t>_</m:t>
                        </m:r>
                        <m:r>
                          <m:rPr>
                            <m:sty m:val="p"/>
                          </m:rPr>
                          <a:rPr lang="fr-FR" sz="1600" b="0" i="0" smtClean="0">
                            <a:solidFill>
                              <a:schemeClr val="accent3">
                                <a:lumMod val="60000"/>
                                <a:lumOff val="40000"/>
                              </a:schemeClr>
                            </a:solidFill>
                            <a:latin typeface="Cambria Math" panose="02040503050406030204" pitchFamily="18" charset="0"/>
                            <a:ea typeface="Cambria Math" panose="02040503050406030204" pitchFamily="18" charset="0"/>
                          </a:rPr>
                          <m:t>h</m:t>
                        </m:r>
                      </m:den>
                    </m:f>
                  </m:oMath>
                </a14:m>
                <a:r>
                  <a:rPr lang="fr-FR" sz="1600" dirty="0">
                    <a:latin typeface="Cambria Math" panose="02040503050406030204" pitchFamily="18" charset="0"/>
                    <a:ea typeface="Cambria Math" panose="02040503050406030204" pitchFamily="18" charset="0"/>
                  </a:rPr>
                  <a:t> </a:t>
                </a:r>
                <a14:m>
                  <m:oMath xmlns:m="http://schemas.openxmlformats.org/officeDocument/2006/math">
                    <m:r>
                      <a:rPr lang="fr-FR" sz="1600" i="1">
                        <a:latin typeface="Cambria Math" panose="02040503050406030204" pitchFamily="18" charset="0"/>
                        <a:ea typeface="Cambria Math" panose="02040503050406030204" pitchFamily="18" charset="0"/>
                      </a:rPr>
                      <m:t>×</m:t>
                    </m:r>
                    <m:f>
                      <m:fPr>
                        <m:ctrlPr>
                          <a:rPr lang="fr-FR" sz="1600" i="1" smtClean="0">
                            <a:solidFill>
                              <a:schemeClr val="accent2"/>
                            </a:solidFill>
                            <a:latin typeface="Cambria Math" panose="02040503050406030204" pitchFamily="18" charset="0"/>
                            <a:ea typeface="Cambria Math" panose="02040503050406030204" pitchFamily="18" charset="0"/>
                          </a:rPr>
                        </m:ctrlPr>
                      </m:fPr>
                      <m:num>
                        <m:r>
                          <a:rPr lang="fr-FR" sz="1600">
                            <a:solidFill>
                              <a:schemeClr val="accent2"/>
                            </a:solidFill>
                            <a:latin typeface="Cambria Math" panose="02040503050406030204" pitchFamily="18" charset="0"/>
                            <a:ea typeface="Cambria Math" panose="02040503050406030204" pitchFamily="18" charset="0"/>
                          </a:rPr>
                          <m:t>𝜕</m:t>
                        </m:r>
                        <m:r>
                          <m:rPr>
                            <m:sty m:val="p"/>
                          </m:rPr>
                          <a:rPr lang="fr-FR" sz="1600" b="0" i="0" smtClean="0">
                            <a:solidFill>
                              <a:schemeClr val="accent2"/>
                            </a:solidFill>
                            <a:latin typeface="Cambria Math" panose="02040503050406030204" pitchFamily="18" charset="0"/>
                            <a:ea typeface="Cambria Math" panose="02040503050406030204" pitchFamily="18" charset="0"/>
                          </a:rPr>
                          <m:t>ne</m:t>
                        </m:r>
                        <m:r>
                          <m:rPr>
                            <m:sty m:val="p"/>
                          </m:rPr>
                          <a:rPr lang="fr-FR" sz="1600">
                            <a:solidFill>
                              <a:schemeClr val="accent2"/>
                            </a:solidFill>
                            <a:latin typeface="Cambria Math" panose="02040503050406030204" pitchFamily="18" charset="0"/>
                            <a:ea typeface="Cambria Math" panose="02040503050406030204" pitchFamily="18" charset="0"/>
                          </a:rPr>
                          <m:t>t</m:t>
                        </m:r>
                        <m:r>
                          <a:rPr lang="fr-FR" sz="1600">
                            <a:solidFill>
                              <a:schemeClr val="accent2"/>
                            </a:solidFill>
                            <a:latin typeface="Cambria Math" panose="02040503050406030204" pitchFamily="18" charset="0"/>
                            <a:ea typeface="Cambria Math" panose="02040503050406030204" pitchFamily="18" charset="0"/>
                          </a:rPr>
                          <m:t>_</m:t>
                        </m:r>
                        <m:r>
                          <m:rPr>
                            <m:sty m:val="p"/>
                          </m:rPr>
                          <a:rPr lang="fr-FR" sz="1600">
                            <a:solidFill>
                              <a:schemeClr val="accent2"/>
                            </a:solidFill>
                            <a:latin typeface="Cambria Math" panose="02040503050406030204" pitchFamily="18" charset="0"/>
                            <a:ea typeface="Cambria Math" panose="02040503050406030204" pitchFamily="18" charset="0"/>
                          </a:rPr>
                          <m:t>h</m:t>
                        </m:r>
                      </m:num>
                      <m:den>
                        <m:r>
                          <a:rPr lang="fr-FR" sz="1600">
                            <a:solidFill>
                              <a:schemeClr val="accent2"/>
                            </a:solidFill>
                            <a:latin typeface="Cambria Math" panose="02040503050406030204" pitchFamily="18" charset="0"/>
                            <a:ea typeface="Cambria Math" panose="02040503050406030204" pitchFamily="18" charset="0"/>
                          </a:rPr>
                          <m:t>𝜕</m:t>
                        </m:r>
                        <m:r>
                          <m:rPr>
                            <m:sty m:val="p"/>
                          </m:rPr>
                          <a:rPr lang="fr-FR" sz="1600" b="0" i="0" smtClean="0">
                            <a:solidFill>
                              <a:schemeClr val="accent2"/>
                            </a:solidFill>
                            <a:latin typeface="Cambria Math" panose="02040503050406030204" pitchFamily="18" charset="0"/>
                            <a:ea typeface="Cambria Math" panose="02040503050406030204" pitchFamily="18" charset="0"/>
                          </a:rPr>
                          <m:t>b</m:t>
                        </m:r>
                        <m:r>
                          <a:rPr lang="fr-FR" sz="1600" b="0" i="0" smtClean="0">
                            <a:solidFill>
                              <a:schemeClr val="accent2"/>
                            </a:solidFill>
                            <a:latin typeface="Cambria Math" panose="02040503050406030204" pitchFamily="18" charset="0"/>
                            <a:ea typeface="Cambria Math" panose="02040503050406030204" pitchFamily="18" charset="0"/>
                          </a:rPr>
                          <m:t>2</m:t>
                        </m:r>
                      </m:den>
                    </m:f>
                    <m:r>
                      <a:rPr lang="fr-FR" sz="1600" i="1">
                        <a:latin typeface="Cambria Math" panose="02040503050406030204" pitchFamily="18" charset="0"/>
                        <a:ea typeface="Cambria Math" panose="02040503050406030204" pitchFamily="18" charset="0"/>
                      </a:rPr>
                      <m:t> </m:t>
                    </m:r>
                  </m:oMath>
                </a14:m>
                <a:endParaRPr lang="fr-FR" sz="1600" dirty="0">
                  <a:latin typeface="Cambria Math" panose="02040503050406030204" pitchFamily="18" charset="0"/>
                  <a:ea typeface="Cambria Math" panose="02040503050406030204" pitchFamily="18" charset="0"/>
                </a:endParaRPr>
              </a:p>
              <a:p>
                <a:endParaRPr lang="fr-FR" sz="1600" dirty="0">
                  <a:latin typeface="Cambria Math" panose="02040503050406030204" pitchFamily="18" charset="0"/>
                  <a:ea typeface="Cambria Math" panose="02040503050406030204" pitchFamily="18" charset="0"/>
                </a:endParaRPr>
              </a:p>
              <a:p>
                <a14:m>
                  <m:oMath xmlns:m="http://schemas.openxmlformats.org/officeDocument/2006/math">
                    <m:f>
                      <m:fPr>
                        <m:ctrlPr>
                          <a:rPr lang="fr-FR" sz="1600" i="1">
                            <a:latin typeface="Cambria Math" panose="02040503050406030204" pitchFamily="18" charset="0"/>
                            <a:ea typeface="Cambria Math" panose="02040503050406030204" pitchFamily="18" charset="0"/>
                          </a:rPr>
                        </m:ctrlPr>
                      </m:fPr>
                      <m:num>
                        <m:r>
                          <a:rPr lang="fr-FR" sz="1600">
                            <a:latin typeface="Cambria Math" panose="02040503050406030204" pitchFamily="18" charset="0"/>
                            <a:ea typeface="Cambria Math" panose="02040503050406030204" pitchFamily="18" charset="0"/>
                          </a:rPr>
                          <m:t>𝜕</m:t>
                        </m:r>
                        <m:r>
                          <m:rPr>
                            <m:sty m:val="p"/>
                          </m:rPr>
                          <a:rPr lang="fr-FR" sz="1600">
                            <a:latin typeface="Cambria Math" panose="02040503050406030204" pitchFamily="18" charset="0"/>
                            <a:ea typeface="Cambria Math" panose="02040503050406030204" pitchFamily="18" charset="0"/>
                          </a:rPr>
                          <m:t>Loss</m:t>
                        </m:r>
                      </m:num>
                      <m:den>
                        <m:r>
                          <a:rPr lang="fr-FR" sz="1600">
                            <a:latin typeface="Cambria Math" panose="02040503050406030204" pitchFamily="18" charset="0"/>
                            <a:ea typeface="Cambria Math" panose="02040503050406030204" pitchFamily="18" charset="0"/>
                          </a:rPr>
                          <m:t>𝜕</m:t>
                        </m:r>
                        <m:r>
                          <m:rPr>
                            <m:sty m:val="p"/>
                          </m:rPr>
                          <a:rPr lang="fr-FR" sz="1600" b="0" i="0" smtClean="0">
                            <a:latin typeface="Cambria Math" panose="02040503050406030204" pitchFamily="18" charset="0"/>
                            <a:ea typeface="Cambria Math" panose="02040503050406030204" pitchFamily="18" charset="0"/>
                          </a:rPr>
                          <m:t>b</m:t>
                        </m:r>
                        <m:r>
                          <a:rPr lang="fr-FR" sz="1600" b="0" i="0" smtClean="0">
                            <a:latin typeface="Cambria Math" panose="02040503050406030204" pitchFamily="18" charset="0"/>
                            <a:ea typeface="Cambria Math" panose="02040503050406030204" pitchFamily="18" charset="0"/>
                          </a:rPr>
                          <m:t>1</m:t>
                        </m:r>
                      </m:den>
                    </m:f>
                    <m:r>
                      <a:rPr lang="fr-FR" sz="1600">
                        <a:latin typeface="Cambria Math" panose="02040503050406030204" pitchFamily="18" charset="0"/>
                        <a:ea typeface="Cambria Math" panose="02040503050406030204" pitchFamily="18" charset="0"/>
                      </a:rPr>
                      <m:t>= </m:t>
                    </m:r>
                    <m:r>
                      <a:rPr lang="fr-FR" sz="1600">
                        <a:solidFill>
                          <a:schemeClr val="tx2">
                            <a:lumMod val="50000"/>
                            <a:lumOff val="50000"/>
                          </a:schemeClr>
                        </a:solidFill>
                        <a:latin typeface="Cambria Math" panose="02040503050406030204" pitchFamily="18" charset="0"/>
                        <a:ea typeface="Cambria Math" panose="02040503050406030204" pitchFamily="18" charset="0"/>
                      </a:rPr>
                      <m:t>−2</m:t>
                    </m:r>
                  </m:oMath>
                </a14:m>
                <a:r>
                  <a:rPr lang="fr-FR" sz="1600" dirty="0">
                    <a:solidFill>
                      <a:schemeClr val="tx2">
                        <a:lumMod val="50000"/>
                        <a:lumOff val="50000"/>
                      </a:schemeClr>
                    </a:solidFill>
                    <a:latin typeface="Cambria Math" panose="02040503050406030204" pitchFamily="18" charset="0"/>
                    <a:ea typeface="Cambria Math" panose="02040503050406030204" pitchFamily="18" charset="0"/>
                  </a:rPr>
                  <a:t>(</a:t>
                </a:r>
                <a14:m>
                  <m:oMath xmlns:m="http://schemas.openxmlformats.org/officeDocument/2006/math">
                    <m:r>
                      <m:rPr>
                        <m:sty m:val="p"/>
                      </m:rPr>
                      <a:rPr lang="fr-FR" sz="1600">
                        <a:solidFill>
                          <a:schemeClr val="tx2">
                            <a:lumMod val="50000"/>
                            <a:lumOff val="50000"/>
                          </a:schemeClr>
                        </a:solidFill>
                        <a:latin typeface="Cambria Math" panose="02040503050406030204" pitchFamily="18" charset="0"/>
                        <a:ea typeface="Cambria Math" panose="02040503050406030204" pitchFamily="18" charset="0"/>
                      </a:rPr>
                      <m:t>target</m:t>
                    </m:r>
                    <m:r>
                      <a:rPr lang="fr-FR" sz="1600">
                        <a:solidFill>
                          <a:schemeClr val="tx2">
                            <a:lumMod val="50000"/>
                            <a:lumOff val="50000"/>
                          </a:schemeClr>
                        </a:solidFill>
                        <a:latin typeface="Cambria Math" panose="02040503050406030204" pitchFamily="18" charset="0"/>
                        <a:ea typeface="Cambria Math" panose="02040503050406030204" pitchFamily="18" charset="0"/>
                      </a:rPr>
                      <m:t>−</m:t>
                    </m:r>
                    <m:r>
                      <m:rPr>
                        <m:sty m:val="p"/>
                      </m:rPr>
                      <a:rPr lang="fr-FR" sz="1600">
                        <a:solidFill>
                          <a:schemeClr val="tx2">
                            <a:lumMod val="50000"/>
                            <a:lumOff val="50000"/>
                          </a:schemeClr>
                        </a:solidFill>
                        <a:latin typeface="Cambria Math" panose="02040503050406030204" pitchFamily="18" charset="0"/>
                        <a:ea typeface="Cambria Math" panose="02040503050406030204" pitchFamily="18" charset="0"/>
                      </a:rPr>
                      <m:t>out</m:t>
                    </m:r>
                    <m:r>
                      <a:rPr lang="fr-FR" sz="1600">
                        <a:solidFill>
                          <a:schemeClr val="tx2">
                            <a:lumMod val="50000"/>
                            <a:lumOff val="50000"/>
                          </a:schemeClr>
                        </a:solidFill>
                        <a:latin typeface="Cambria Math" panose="02040503050406030204" pitchFamily="18" charset="0"/>
                        <a:ea typeface="Cambria Math" panose="02040503050406030204" pitchFamily="18" charset="0"/>
                      </a:rPr>
                      <m:t>_</m:t>
                    </m:r>
                    <m:r>
                      <m:rPr>
                        <m:sty m:val="p"/>
                      </m:rPr>
                      <a:rPr lang="fr-FR" sz="1600">
                        <a:solidFill>
                          <a:schemeClr val="tx2">
                            <a:lumMod val="50000"/>
                            <a:lumOff val="50000"/>
                          </a:schemeClr>
                        </a:solidFill>
                        <a:latin typeface="Cambria Math" panose="02040503050406030204" pitchFamily="18" charset="0"/>
                        <a:ea typeface="Cambria Math" panose="02040503050406030204" pitchFamily="18" charset="0"/>
                      </a:rPr>
                      <m:t>o</m:t>
                    </m:r>
                  </m:oMath>
                </a14:m>
                <a:r>
                  <a:rPr lang="fr-FR" sz="1600" dirty="0">
                    <a:solidFill>
                      <a:schemeClr val="tx2">
                        <a:lumMod val="50000"/>
                        <a:lumOff val="50000"/>
                      </a:schemeClr>
                    </a:solidFill>
                    <a:latin typeface="Cambria Math" panose="02040503050406030204" pitchFamily="18" charset="0"/>
                    <a:ea typeface="Cambria Math" panose="02040503050406030204" pitchFamily="18" charset="0"/>
                  </a:rPr>
                  <a:t>) </a:t>
                </a:r>
                <a14:m>
                  <m:oMath xmlns:m="http://schemas.openxmlformats.org/officeDocument/2006/math">
                    <m:r>
                      <a:rPr lang="fr-FR" sz="1600" b="0" i="1" dirty="0" smtClean="0">
                        <a:solidFill>
                          <a:schemeClr val="tx2">
                            <a:lumMod val="50000"/>
                            <a:lumOff val="50000"/>
                          </a:schemeClr>
                        </a:solidFill>
                        <a:latin typeface="Cambria Math" panose="02040503050406030204" pitchFamily="18" charset="0"/>
                        <a:ea typeface="Cambria Math" panose="02040503050406030204" pitchFamily="18" charset="0"/>
                      </a:rPr>
                      <m:t>×</m:t>
                    </m:r>
                    <m:r>
                      <m:rPr>
                        <m:nor/>
                      </m:rPr>
                      <a:rPr lang="fr-FR" sz="1600" dirty="0">
                        <a:solidFill>
                          <a:schemeClr val="tx2">
                            <a:lumMod val="50000"/>
                            <a:lumOff val="50000"/>
                          </a:schemeClr>
                        </a:solidFill>
                        <a:latin typeface="Cambria Math" panose="02040503050406030204" pitchFamily="18" charset="0"/>
                        <a:ea typeface="Cambria Math" panose="02040503050406030204" pitchFamily="18" charset="0"/>
                      </a:rPr>
                      <m:t>out</m:t>
                    </m:r>
                    <m:r>
                      <m:rPr>
                        <m:nor/>
                      </m:rPr>
                      <a:rPr lang="fr-FR" sz="1600" dirty="0">
                        <a:solidFill>
                          <a:schemeClr val="tx2">
                            <a:lumMod val="50000"/>
                            <a:lumOff val="50000"/>
                          </a:schemeClr>
                        </a:solidFill>
                        <a:latin typeface="Cambria Math" panose="02040503050406030204" pitchFamily="18" charset="0"/>
                        <a:ea typeface="Cambria Math" panose="02040503050406030204" pitchFamily="18" charset="0"/>
                      </a:rPr>
                      <m:t>_</m:t>
                    </m:r>
                    <m:r>
                      <m:rPr>
                        <m:nor/>
                      </m:rPr>
                      <a:rPr lang="fr-FR" sz="1600" dirty="0">
                        <a:solidFill>
                          <a:schemeClr val="tx2">
                            <a:lumMod val="50000"/>
                            <a:lumOff val="50000"/>
                          </a:schemeClr>
                        </a:solidFill>
                        <a:latin typeface="Cambria Math" panose="02040503050406030204" pitchFamily="18" charset="0"/>
                        <a:ea typeface="Cambria Math" panose="02040503050406030204" pitchFamily="18" charset="0"/>
                      </a:rPr>
                      <m:t>o</m:t>
                    </m:r>
                    <m:r>
                      <a:rPr lang="fr-FR" sz="1600" i="1" dirty="0">
                        <a:solidFill>
                          <a:schemeClr val="tx2">
                            <a:lumMod val="50000"/>
                            <a:lumOff val="50000"/>
                          </a:schemeClr>
                        </a:solidFill>
                        <a:latin typeface="Cambria Math" panose="02040503050406030204" pitchFamily="18" charset="0"/>
                        <a:ea typeface="Cambria Math" panose="02040503050406030204" pitchFamily="18" charset="0"/>
                      </a:rPr>
                      <m:t> </m:t>
                    </m:r>
                    <m:d>
                      <m:dPr>
                        <m:ctrlPr>
                          <a:rPr lang="fr-FR" sz="1600" i="1">
                            <a:solidFill>
                              <a:schemeClr val="tx2">
                                <a:lumMod val="50000"/>
                                <a:lumOff val="50000"/>
                              </a:schemeClr>
                            </a:solidFill>
                            <a:latin typeface="Cambria Math" panose="02040503050406030204" pitchFamily="18" charset="0"/>
                            <a:ea typeface="Cambria Math" panose="02040503050406030204" pitchFamily="18" charset="0"/>
                          </a:rPr>
                        </m:ctrlPr>
                      </m:dPr>
                      <m:e>
                        <m:r>
                          <a:rPr lang="fr-FR" sz="1600">
                            <a:solidFill>
                              <a:schemeClr val="tx2">
                                <a:lumMod val="50000"/>
                                <a:lumOff val="50000"/>
                              </a:schemeClr>
                            </a:solidFill>
                            <a:latin typeface="Cambria Math" panose="02040503050406030204" pitchFamily="18" charset="0"/>
                            <a:ea typeface="Cambria Math" panose="02040503050406030204" pitchFamily="18" charset="0"/>
                          </a:rPr>
                          <m:t>1−</m:t>
                        </m:r>
                        <m:r>
                          <m:rPr>
                            <m:sty m:val="p"/>
                          </m:rPr>
                          <a:rPr lang="fr-FR" sz="1600" b="0" i="0" smtClean="0">
                            <a:solidFill>
                              <a:schemeClr val="tx2">
                                <a:lumMod val="50000"/>
                                <a:lumOff val="50000"/>
                              </a:schemeClr>
                            </a:solidFill>
                            <a:latin typeface="Cambria Math" panose="02040503050406030204" pitchFamily="18" charset="0"/>
                            <a:ea typeface="Cambria Math" panose="02040503050406030204" pitchFamily="18" charset="0"/>
                          </a:rPr>
                          <m:t>out</m:t>
                        </m:r>
                        <m:r>
                          <a:rPr lang="fr-FR" sz="1600" b="0" i="0" smtClean="0">
                            <a:solidFill>
                              <a:schemeClr val="tx2">
                                <a:lumMod val="50000"/>
                                <a:lumOff val="50000"/>
                              </a:schemeClr>
                            </a:solidFill>
                            <a:latin typeface="Cambria Math" panose="02040503050406030204" pitchFamily="18" charset="0"/>
                            <a:ea typeface="Cambria Math" panose="02040503050406030204" pitchFamily="18" charset="0"/>
                          </a:rPr>
                          <m:t>_</m:t>
                        </m:r>
                        <m:r>
                          <m:rPr>
                            <m:sty m:val="p"/>
                          </m:rPr>
                          <a:rPr lang="fr-FR" sz="1600" b="0" i="0" smtClean="0">
                            <a:solidFill>
                              <a:schemeClr val="tx2">
                                <a:lumMod val="50000"/>
                                <a:lumOff val="50000"/>
                              </a:schemeClr>
                            </a:solidFill>
                            <a:latin typeface="Cambria Math" panose="02040503050406030204" pitchFamily="18" charset="0"/>
                            <a:ea typeface="Cambria Math" panose="02040503050406030204" pitchFamily="18" charset="0"/>
                          </a:rPr>
                          <m:t>o</m:t>
                        </m:r>
                      </m:e>
                    </m:d>
                    <m:r>
                      <a:rPr lang="fr-FR" sz="1600" b="0" i="1" smtClean="0">
                        <a:solidFill>
                          <a:schemeClr val="tx2">
                            <a:lumMod val="50000"/>
                            <a:lumOff val="50000"/>
                          </a:schemeClr>
                        </a:solidFill>
                        <a:latin typeface="Cambria Math" panose="02040503050406030204" pitchFamily="18" charset="0"/>
                        <a:ea typeface="Cambria Math" panose="02040503050406030204" pitchFamily="18" charset="0"/>
                      </a:rPr>
                      <m:t> </m:t>
                    </m:r>
                    <m:r>
                      <a:rPr lang="fr-FR" sz="1600" i="1">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 </m:t>
                    </m:r>
                    <m:r>
                      <m:rPr>
                        <m:sty m:val="p"/>
                      </m:rPr>
                      <a:rPr lang="fr-FR" sz="1600" b="0" i="0" smtClean="0">
                        <a:solidFill>
                          <a:schemeClr val="accent5">
                            <a:lumMod val="60000"/>
                            <a:lumOff val="40000"/>
                          </a:schemeClr>
                        </a:solidFill>
                        <a:latin typeface="Cambria Math" panose="02040503050406030204" pitchFamily="18" charset="0"/>
                        <a:ea typeface="Cambria Math" panose="02040503050406030204" pitchFamily="18" charset="0"/>
                      </a:rPr>
                      <m:t>w</m:t>
                    </m:r>
                    <m:r>
                      <a:rPr lang="fr-FR" sz="1600" b="0" i="0" smtClean="0">
                        <a:solidFill>
                          <a:schemeClr val="accent5">
                            <a:lumMod val="60000"/>
                            <a:lumOff val="40000"/>
                          </a:schemeClr>
                        </a:solidFill>
                        <a:latin typeface="Cambria Math" panose="02040503050406030204" pitchFamily="18" charset="0"/>
                        <a:ea typeface="Cambria Math" panose="02040503050406030204" pitchFamily="18" charset="0"/>
                      </a:rPr>
                      <m:t>3</m:t>
                    </m:r>
                    <m:r>
                      <a:rPr lang="fr-FR" sz="1600" b="0" i="1" smtClean="0">
                        <a:latin typeface="Cambria Math" panose="02040503050406030204" pitchFamily="18" charset="0"/>
                        <a:ea typeface="Cambria Math" panose="02040503050406030204" pitchFamily="18" charset="0"/>
                      </a:rPr>
                      <m:t> </m:t>
                    </m:r>
                    <m:r>
                      <a:rPr lang="fr-FR" sz="1600" i="1">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 </m:t>
                    </m:r>
                    <m:r>
                      <m:rPr>
                        <m:nor/>
                      </m:rPr>
                      <a:rPr lang="fr-FR" sz="1600" dirty="0" smtClean="0">
                        <a:solidFill>
                          <a:schemeClr val="accent3">
                            <a:lumMod val="60000"/>
                            <a:lumOff val="40000"/>
                          </a:schemeClr>
                        </a:solidFill>
                        <a:latin typeface="Cambria Math" panose="02040503050406030204" pitchFamily="18" charset="0"/>
                        <a:ea typeface="Cambria Math" panose="02040503050406030204" pitchFamily="18" charset="0"/>
                      </a:rPr>
                      <m:t>1</m:t>
                    </m:r>
                    <m:r>
                      <m:rPr>
                        <m:nor/>
                      </m:rPr>
                      <a:rPr lang="fr-FR" sz="1600" baseline="-25000" dirty="0" smtClean="0">
                        <a:solidFill>
                          <a:schemeClr val="accent3">
                            <a:lumMod val="60000"/>
                            <a:lumOff val="40000"/>
                          </a:schemeClr>
                        </a:solidFill>
                        <a:latin typeface="Cambria Math" panose="02040503050406030204" pitchFamily="18" charset="0"/>
                        <a:ea typeface="Cambria Math" panose="02040503050406030204" pitchFamily="18" charset="0"/>
                      </a:rPr>
                      <m:t>{</m:t>
                    </m:r>
                    <m:r>
                      <m:rPr>
                        <m:nor/>
                      </m:rPr>
                      <a:rPr lang="fr-FR" sz="1600" baseline="-25000" dirty="0" smtClean="0">
                        <a:solidFill>
                          <a:schemeClr val="accent3">
                            <a:lumMod val="60000"/>
                            <a:lumOff val="40000"/>
                          </a:schemeClr>
                        </a:solidFill>
                        <a:latin typeface="Cambria Math" panose="02040503050406030204" pitchFamily="18" charset="0"/>
                        <a:ea typeface="Cambria Math" panose="02040503050406030204" pitchFamily="18" charset="0"/>
                      </a:rPr>
                      <m:t>net</m:t>
                    </m:r>
                    <m:r>
                      <m:rPr>
                        <m:nor/>
                      </m:rPr>
                      <a:rPr lang="fr-FR" sz="1600" baseline="-25000" dirty="0" smtClean="0">
                        <a:solidFill>
                          <a:schemeClr val="accent3">
                            <a:lumMod val="60000"/>
                            <a:lumOff val="40000"/>
                          </a:schemeClr>
                        </a:solidFill>
                        <a:latin typeface="Cambria Math" panose="02040503050406030204" pitchFamily="18" charset="0"/>
                        <a:ea typeface="Cambria Math" panose="02040503050406030204" pitchFamily="18" charset="0"/>
                      </a:rPr>
                      <m:t>_</m:t>
                    </m:r>
                    <m:r>
                      <m:rPr>
                        <m:nor/>
                      </m:rPr>
                      <a:rPr lang="fr-FR" sz="1600" baseline="-25000" dirty="0" smtClean="0">
                        <a:solidFill>
                          <a:schemeClr val="accent3">
                            <a:lumMod val="60000"/>
                            <a:lumOff val="40000"/>
                          </a:schemeClr>
                        </a:solidFill>
                        <a:latin typeface="Cambria Math" panose="02040503050406030204" pitchFamily="18" charset="0"/>
                        <a:ea typeface="Cambria Math" panose="02040503050406030204" pitchFamily="18" charset="0"/>
                      </a:rPr>
                      <m:t>h</m:t>
                    </m:r>
                    <m:r>
                      <a:rPr lang="fr-FR" sz="1600" i="1" baseline="-25000">
                        <a:solidFill>
                          <a:schemeClr val="accent3">
                            <a:lumMod val="60000"/>
                            <a:lumOff val="40000"/>
                          </a:schemeClr>
                        </a:solidFill>
                        <a:latin typeface="Cambria Math" panose="02040503050406030204" pitchFamily="18" charset="0"/>
                        <a:ea typeface="Cambria Math" panose="02040503050406030204" pitchFamily="18" charset="0"/>
                      </a:rPr>
                      <m:t>≥0</m:t>
                    </m:r>
                    <m:r>
                      <m:rPr>
                        <m:nor/>
                      </m:rPr>
                      <a:rPr lang="fr-FR" sz="1600" baseline="-25000" dirty="0">
                        <a:solidFill>
                          <a:schemeClr val="accent3">
                            <a:lumMod val="60000"/>
                            <a:lumOff val="40000"/>
                          </a:schemeClr>
                        </a:solidFill>
                        <a:latin typeface="Cambria Math" panose="02040503050406030204" pitchFamily="18" charset="0"/>
                        <a:ea typeface="Cambria Math" panose="02040503050406030204" pitchFamily="18" charset="0"/>
                      </a:rPr>
                      <m:t>}</m:t>
                    </m:r>
                    <m:r>
                      <a:rPr lang="fr-FR" sz="1600" b="0" i="1" baseline="-25000" dirty="0" smtClean="0">
                        <a:solidFill>
                          <a:schemeClr val="accent3">
                            <a:lumMod val="60000"/>
                            <a:lumOff val="40000"/>
                          </a:schemeClr>
                        </a:solidFill>
                        <a:latin typeface="Cambria Math" panose="02040503050406030204" pitchFamily="18" charset="0"/>
                        <a:ea typeface="Cambria Math" panose="02040503050406030204" pitchFamily="18" charset="0"/>
                      </a:rPr>
                      <m:t> </m:t>
                    </m:r>
                    <m:r>
                      <a:rPr lang="fr-FR" sz="1600" i="1">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 </m:t>
                    </m:r>
                    <m:r>
                      <a:rPr lang="fr-FR" sz="1600" b="0" i="0" smtClean="0">
                        <a:solidFill>
                          <a:schemeClr val="accent5">
                            <a:lumMod val="60000"/>
                            <a:lumOff val="40000"/>
                          </a:schemeClr>
                        </a:solidFill>
                        <a:latin typeface="Cambria Math" panose="02040503050406030204" pitchFamily="18" charset="0"/>
                        <a:ea typeface="Cambria Math" panose="02040503050406030204" pitchFamily="18" charset="0"/>
                      </a:rPr>
                      <m:t>1</m:t>
                    </m:r>
                  </m:oMath>
                </a14:m>
                <a:endParaRPr lang="fr-FR" sz="1600" dirty="0">
                  <a:latin typeface="Cambria Math" panose="02040503050406030204" pitchFamily="18" charset="0"/>
                  <a:ea typeface="Cambria Math" panose="02040503050406030204" pitchFamily="18" charset="0"/>
                </a:endParaRPr>
              </a:p>
            </p:txBody>
          </p:sp>
        </mc:Choice>
        <mc:Fallback xmlns="">
          <p:sp>
            <p:nvSpPr>
              <p:cNvPr id="24" name="ZoneTexte 23">
                <a:extLst>
                  <a:ext uri="{FF2B5EF4-FFF2-40B4-BE49-F238E27FC236}">
                    <a16:creationId xmlns:a16="http://schemas.microsoft.com/office/drawing/2014/main" id="{7B7A24ED-03CC-C2C7-13FD-4DF8FC5B3B8C}"/>
                  </a:ext>
                </a:extLst>
              </p:cNvPr>
              <p:cNvSpPr txBox="1">
                <a:spLocks noRot="1" noChangeAspect="1" noMove="1" noResize="1" noEditPoints="1" noAdjustHandles="1" noChangeArrowheads="1" noChangeShapeType="1" noTextEdit="1"/>
              </p:cNvSpPr>
              <p:nvPr/>
            </p:nvSpPr>
            <p:spPr>
              <a:xfrm>
                <a:off x="5655034" y="4984801"/>
                <a:ext cx="6168377" cy="1062599"/>
              </a:xfrm>
              <a:prstGeom prst="rect">
                <a:avLst/>
              </a:prstGeom>
              <a:blipFill>
                <a:blip r:embed="rId3"/>
                <a:stretch>
                  <a:fillRect b="-235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7" name="ZoneTexte 36">
                <a:extLst>
                  <a:ext uri="{FF2B5EF4-FFF2-40B4-BE49-F238E27FC236}">
                    <a16:creationId xmlns:a16="http://schemas.microsoft.com/office/drawing/2014/main" id="{73278500-6B02-1B48-E1D9-5EE708EC286A}"/>
                  </a:ext>
                </a:extLst>
              </p:cNvPr>
              <p:cNvSpPr txBox="1"/>
              <p:nvPr/>
            </p:nvSpPr>
            <p:spPr>
              <a:xfrm>
                <a:off x="5655034" y="3082263"/>
                <a:ext cx="6301614" cy="1062599"/>
              </a:xfrm>
              <a:prstGeom prst="rect">
                <a:avLst/>
              </a:prstGeom>
              <a:noFill/>
            </p:spPr>
            <p:txBody>
              <a:bodyPr wrap="square" rtlCol="0">
                <a:spAutoFit/>
              </a:bodyPr>
              <a:lstStyle/>
              <a:p>
                <a14:m>
                  <m:oMath xmlns:m="http://schemas.openxmlformats.org/officeDocument/2006/math">
                    <m:f>
                      <m:fPr>
                        <m:ctrlPr>
                          <a:rPr lang="fr-FR" sz="1600" i="1" smtClean="0">
                            <a:latin typeface="Cambria Math" panose="02040503050406030204" pitchFamily="18" charset="0"/>
                            <a:ea typeface="Cambria Math" panose="02040503050406030204" pitchFamily="18" charset="0"/>
                          </a:rPr>
                        </m:ctrlPr>
                      </m:fPr>
                      <m:num>
                        <m:r>
                          <a:rPr lang="fr-FR" sz="1600" i="0" smtClean="0">
                            <a:latin typeface="Cambria Math" panose="02040503050406030204" pitchFamily="18" charset="0"/>
                            <a:ea typeface="Cambria Math" panose="02040503050406030204" pitchFamily="18" charset="0"/>
                          </a:rPr>
                          <m:t>𝜕</m:t>
                        </m:r>
                        <m:r>
                          <m:rPr>
                            <m:sty m:val="p"/>
                          </m:rPr>
                          <a:rPr lang="fr-FR" sz="1600" b="0" i="0" smtClean="0">
                            <a:latin typeface="Cambria Math" panose="02040503050406030204" pitchFamily="18" charset="0"/>
                            <a:ea typeface="Cambria Math" panose="02040503050406030204" pitchFamily="18" charset="0"/>
                          </a:rPr>
                          <m:t>Loss</m:t>
                        </m:r>
                      </m:num>
                      <m:den>
                        <m:r>
                          <a:rPr lang="fr-FR" sz="1600" i="0" smtClean="0">
                            <a:latin typeface="Cambria Math" panose="02040503050406030204" pitchFamily="18" charset="0"/>
                            <a:ea typeface="Cambria Math" panose="02040503050406030204" pitchFamily="18" charset="0"/>
                          </a:rPr>
                          <m:t>𝜕</m:t>
                        </m:r>
                        <m:r>
                          <m:rPr>
                            <m:sty m:val="p"/>
                          </m:rPr>
                          <a:rPr lang="fr-FR" sz="1600" b="0" i="0" smtClean="0">
                            <a:latin typeface="Cambria Math" panose="02040503050406030204" pitchFamily="18" charset="0"/>
                            <a:ea typeface="Cambria Math" panose="02040503050406030204" pitchFamily="18" charset="0"/>
                          </a:rPr>
                          <m:t>w</m:t>
                        </m:r>
                        <m:r>
                          <a:rPr lang="fr-FR" sz="1600" b="0" i="0" smtClean="0">
                            <a:latin typeface="Cambria Math" panose="02040503050406030204" pitchFamily="18" charset="0"/>
                            <a:ea typeface="Cambria Math" panose="02040503050406030204" pitchFamily="18" charset="0"/>
                          </a:rPr>
                          <m:t>1</m:t>
                        </m:r>
                      </m:den>
                    </m:f>
                    <m:r>
                      <a:rPr lang="fr-FR" sz="1600" b="0" i="0" smtClean="0">
                        <a:latin typeface="Cambria Math" panose="02040503050406030204" pitchFamily="18" charset="0"/>
                        <a:ea typeface="Cambria Math" panose="02040503050406030204" pitchFamily="18" charset="0"/>
                      </a:rPr>
                      <m:t>= </m:t>
                    </m:r>
                    <m:f>
                      <m:fPr>
                        <m:ctrlPr>
                          <a:rPr lang="fr-FR" sz="1600" b="0" i="1" smtClean="0">
                            <a:solidFill>
                              <a:schemeClr val="tx2">
                                <a:lumMod val="50000"/>
                                <a:lumOff val="50000"/>
                              </a:schemeClr>
                            </a:solidFill>
                            <a:latin typeface="Cambria Math" panose="02040503050406030204" pitchFamily="18" charset="0"/>
                            <a:ea typeface="Cambria Math" panose="02040503050406030204" pitchFamily="18" charset="0"/>
                          </a:rPr>
                        </m:ctrlPr>
                      </m:fPr>
                      <m:num>
                        <m:r>
                          <a:rPr lang="fr-FR" sz="1600" b="0" i="0" smtClean="0">
                            <a:solidFill>
                              <a:schemeClr val="tx2">
                                <a:lumMod val="50000"/>
                                <a:lumOff val="50000"/>
                              </a:schemeClr>
                            </a:solidFill>
                            <a:latin typeface="Cambria Math" panose="02040503050406030204" pitchFamily="18" charset="0"/>
                            <a:ea typeface="Cambria Math" panose="02040503050406030204" pitchFamily="18" charset="0"/>
                          </a:rPr>
                          <m:t>𝜕</m:t>
                        </m:r>
                        <m:r>
                          <m:rPr>
                            <m:sty m:val="p"/>
                          </m:rPr>
                          <a:rPr lang="fr-FR" sz="1600" b="0" i="0" smtClean="0">
                            <a:solidFill>
                              <a:schemeClr val="tx2">
                                <a:lumMod val="50000"/>
                                <a:lumOff val="50000"/>
                              </a:schemeClr>
                            </a:solidFill>
                            <a:latin typeface="Cambria Math" panose="02040503050406030204" pitchFamily="18" charset="0"/>
                            <a:ea typeface="Cambria Math" panose="02040503050406030204" pitchFamily="18" charset="0"/>
                          </a:rPr>
                          <m:t>Loss</m:t>
                        </m:r>
                      </m:num>
                      <m:den>
                        <m:r>
                          <a:rPr lang="fr-FR" sz="1600" b="0" i="0" smtClean="0">
                            <a:solidFill>
                              <a:schemeClr val="tx2">
                                <a:lumMod val="50000"/>
                                <a:lumOff val="50000"/>
                              </a:schemeClr>
                            </a:solidFill>
                            <a:latin typeface="Cambria Math" panose="02040503050406030204" pitchFamily="18" charset="0"/>
                            <a:ea typeface="Cambria Math" panose="02040503050406030204" pitchFamily="18" charset="0"/>
                          </a:rPr>
                          <m:t>𝜕</m:t>
                        </m:r>
                        <m:r>
                          <m:rPr>
                            <m:sty m:val="p"/>
                          </m:rPr>
                          <a:rPr lang="fr-FR" sz="1600" b="0" i="0" smtClean="0">
                            <a:solidFill>
                              <a:schemeClr val="tx2">
                                <a:lumMod val="50000"/>
                                <a:lumOff val="50000"/>
                              </a:schemeClr>
                            </a:solidFill>
                            <a:latin typeface="Cambria Math" panose="02040503050406030204" pitchFamily="18" charset="0"/>
                            <a:ea typeface="Cambria Math" panose="02040503050406030204" pitchFamily="18" charset="0"/>
                          </a:rPr>
                          <m:t>net</m:t>
                        </m:r>
                        <m:r>
                          <a:rPr lang="fr-FR" sz="1600" b="0" i="0" smtClean="0">
                            <a:solidFill>
                              <a:schemeClr val="tx2">
                                <a:lumMod val="50000"/>
                                <a:lumOff val="50000"/>
                              </a:schemeClr>
                            </a:solidFill>
                            <a:latin typeface="Cambria Math" panose="02040503050406030204" pitchFamily="18" charset="0"/>
                            <a:ea typeface="Cambria Math" panose="02040503050406030204" pitchFamily="18" charset="0"/>
                          </a:rPr>
                          <m:t>_</m:t>
                        </m:r>
                        <m:r>
                          <m:rPr>
                            <m:sty m:val="p"/>
                          </m:rPr>
                          <a:rPr lang="fr-FR" sz="1600" b="0" i="0" smtClean="0">
                            <a:solidFill>
                              <a:schemeClr val="tx2">
                                <a:lumMod val="50000"/>
                                <a:lumOff val="50000"/>
                              </a:schemeClr>
                            </a:solidFill>
                            <a:latin typeface="Cambria Math" panose="02040503050406030204" pitchFamily="18" charset="0"/>
                            <a:ea typeface="Cambria Math" panose="02040503050406030204" pitchFamily="18" charset="0"/>
                          </a:rPr>
                          <m:t>o</m:t>
                        </m:r>
                      </m:den>
                    </m:f>
                    <m:r>
                      <a:rPr lang="fr-FR" sz="1600" b="0" i="0" smtClean="0">
                        <a:solidFill>
                          <a:schemeClr val="tx2">
                            <a:lumMod val="50000"/>
                            <a:lumOff val="50000"/>
                          </a:schemeClr>
                        </a:solidFill>
                        <a:latin typeface="Cambria Math" panose="02040503050406030204" pitchFamily="18" charset="0"/>
                        <a:ea typeface="Cambria Math" panose="02040503050406030204" pitchFamily="18" charset="0"/>
                      </a:rPr>
                      <m:t> </m:t>
                    </m:r>
                    <m:r>
                      <a:rPr lang="fr-FR" sz="1600" b="0" i="1" smtClean="0">
                        <a:latin typeface="Cambria Math" panose="02040503050406030204" pitchFamily="18" charset="0"/>
                        <a:ea typeface="Cambria Math" panose="02040503050406030204" pitchFamily="18" charset="0"/>
                      </a:rPr>
                      <m:t>×</m:t>
                    </m:r>
                    <m:f>
                      <m:fPr>
                        <m:ctrlPr>
                          <a:rPr lang="fr-FR" sz="1600" b="0" i="1" smtClean="0">
                            <a:solidFill>
                              <a:schemeClr val="accent5">
                                <a:lumMod val="60000"/>
                                <a:lumOff val="40000"/>
                              </a:schemeClr>
                            </a:solidFill>
                            <a:latin typeface="Cambria Math" panose="02040503050406030204" pitchFamily="18" charset="0"/>
                            <a:ea typeface="Cambria Math" panose="02040503050406030204" pitchFamily="18" charset="0"/>
                          </a:rPr>
                        </m:ctrlPr>
                      </m:fPr>
                      <m:num>
                        <m:r>
                          <a:rPr lang="fr-FR" sz="1600">
                            <a:solidFill>
                              <a:schemeClr val="accent5">
                                <a:lumMod val="60000"/>
                                <a:lumOff val="40000"/>
                              </a:schemeClr>
                            </a:solidFill>
                            <a:latin typeface="Cambria Math" panose="02040503050406030204" pitchFamily="18" charset="0"/>
                            <a:ea typeface="Cambria Math" panose="02040503050406030204" pitchFamily="18" charset="0"/>
                          </a:rPr>
                          <m:t>𝜕</m:t>
                        </m:r>
                        <m:r>
                          <m:rPr>
                            <m:sty m:val="p"/>
                          </m:rPr>
                          <a:rPr lang="fr-FR" sz="1600" b="0" i="0" smtClean="0">
                            <a:solidFill>
                              <a:schemeClr val="accent5">
                                <a:lumMod val="60000"/>
                                <a:lumOff val="40000"/>
                              </a:schemeClr>
                            </a:solidFill>
                            <a:latin typeface="Cambria Math" panose="02040503050406030204" pitchFamily="18" charset="0"/>
                            <a:ea typeface="Cambria Math" panose="02040503050406030204" pitchFamily="18" charset="0"/>
                          </a:rPr>
                          <m:t>net</m:t>
                        </m:r>
                        <m:r>
                          <a:rPr lang="fr-FR" sz="1600" b="0" i="0" smtClean="0">
                            <a:solidFill>
                              <a:schemeClr val="accent5">
                                <a:lumMod val="60000"/>
                                <a:lumOff val="40000"/>
                              </a:schemeClr>
                            </a:solidFill>
                            <a:latin typeface="Cambria Math" panose="02040503050406030204" pitchFamily="18" charset="0"/>
                            <a:ea typeface="Cambria Math" panose="02040503050406030204" pitchFamily="18" charset="0"/>
                          </a:rPr>
                          <m:t>_</m:t>
                        </m:r>
                        <m:r>
                          <m:rPr>
                            <m:sty m:val="p"/>
                          </m:rPr>
                          <a:rPr lang="fr-FR" sz="1600" b="0" i="0" smtClean="0">
                            <a:solidFill>
                              <a:schemeClr val="accent5">
                                <a:lumMod val="60000"/>
                                <a:lumOff val="40000"/>
                              </a:schemeClr>
                            </a:solidFill>
                            <a:latin typeface="Cambria Math" panose="02040503050406030204" pitchFamily="18" charset="0"/>
                            <a:ea typeface="Cambria Math" panose="02040503050406030204" pitchFamily="18" charset="0"/>
                          </a:rPr>
                          <m:t>o</m:t>
                        </m:r>
                      </m:num>
                      <m:den>
                        <m:r>
                          <a:rPr lang="fr-FR" sz="1600">
                            <a:solidFill>
                              <a:schemeClr val="accent5">
                                <a:lumMod val="60000"/>
                                <a:lumOff val="40000"/>
                              </a:schemeClr>
                            </a:solidFill>
                            <a:latin typeface="Cambria Math" panose="02040503050406030204" pitchFamily="18" charset="0"/>
                            <a:ea typeface="Cambria Math" panose="02040503050406030204" pitchFamily="18" charset="0"/>
                          </a:rPr>
                          <m:t>𝜕</m:t>
                        </m:r>
                        <m:r>
                          <m:rPr>
                            <m:sty m:val="p"/>
                          </m:rPr>
                          <a:rPr lang="fr-FR" sz="1600" b="0" i="0" smtClean="0">
                            <a:solidFill>
                              <a:schemeClr val="accent5">
                                <a:lumMod val="60000"/>
                                <a:lumOff val="40000"/>
                              </a:schemeClr>
                            </a:solidFill>
                            <a:latin typeface="Cambria Math" panose="02040503050406030204" pitchFamily="18" charset="0"/>
                            <a:ea typeface="Cambria Math" panose="02040503050406030204" pitchFamily="18" charset="0"/>
                          </a:rPr>
                          <m:t>out</m:t>
                        </m:r>
                        <m:r>
                          <a:rPr lang="fr-FR" sz="1600" b="0" i="0" smtClean="0">
                            <a:solidFill>
                              <a:schemeClr val="accent5">
                                <a:lumMod val="60000"/>
                                <a:lumOff val="40000"/>
                              </a:schemeClr>
                            </a:solidFill>
                            <a:latin typeface="Cambria Math" panose="02040503050406030204" pitchFamily="18" charset="0"/>
                            <a:ea typeface="Cambria Math" panose="02040503050406030204" pitchFamily="18" charset="0"/>
                          </a:rPr>
                          <m:t>_</m:t>
                        </m:r>
                        <m:r>
                          <m:rPr>
                            <m:sty m:val="p"/>
                          </m:rPr>
                          <a:rPr lang="fr-FR" sz="1600" b="0" i="0" smtClean="0">
                            <a:solidFill>
                              <a:schemeClr val="accent5">
                                <a:lumMod val="60000"/>
                                <a:lumOff val="40000"/>
                              </a:schemeClr>
                            </a:solidFill>
                            <a:latin typeface="Cambria Math" panose="02040503050406030204" pitchFamily="18" charset="0"/>
                            <a:ea typeface="Cambria Math" panose="02040503050406030204" pitchFamily="18" charset="0"/>
                          </a:rPr>
                          <m:t>h</m:t>
                        </m:r>
                      </m:den>
                    </m:f>
                    <m:r>
                      <a:rPr lang="fr-FR" sz="1600" b="0" i="1" smtClean="0">
                        <a:latin typeface="Cambria Math" panose="02040503050406030204" pitchFamily="18" charset="0"/>
                        <a:ea typeface="Cambria Math" panose="02040503050406030204" pitchFamily="18" charset="0"/>
                      </a:rPr>
                      <m:t>×</m:t>
                    </m:r>
                    <m:f>
                      <m:fPr>
                        <m:ctrlPr>
                          <a:rPr lang="fr-FR" sz="1600" b="0" i="1" smtClean="0">
                            <a:solidFill>
                              <a:schemeClr val="accent3">
                                <a:lumMod val="60000"/>
                                <a:lumOff val="40000"/>
                              </a:schemeClr>
                            </a:solidFill>
                            <a:latin typeface="Cambria Math" panose="02040503050406030204" pitchFamily="18" charset="0"/>
                            <a:ea typeface="Cambria Math" panose="02040503050406030204" pitchFamily="18" charset="0"/>
                          </a:rPr>
                        </m:ctrlPr>
                      </m:fPr>
                      <m:num>
                        <m:r>
                          <a:rPr lang="fr-FR" sz="1600">
                            <a:solidFill>
                              <a:schemeClr val="accent3">
                                <a:lumMod val="60000"/>
                                <a:lumOff val="40000"/>
                              </a:schemeClr>
                            </a:solidFill>
                            <a:latin typeface="Cambria Math" panose="02040503050406030204" pitchFamily="18" charset="0"/>
                            <a:ea typeface="Cambria Math" panose="02040503050406030204" pitchFamily="18" charset="0"/>
                          </a:rPr>
                          <m:t>𝜕</m:t>
                        </m:r>
                        <m:r>
                          <m:rPr>
                            <m:sty m:val="p"/>
                          </m:rPr>
                          <a:rPr lang="fr-FR" sz="1600" b="0" i="0" smtClean="0">
                            <a:solidFill>
                              <a:schemeClr val="accent3">
                                <a:lumMod val="60000"/>
                                <a:lumOff val="40000"/>
                              </a:schemeClr>
                            </a:solidFill>
                            <a:latin typeface="Cambria Math" panose="02040503050406030204" pitchFamily="18" charset="0"/>
                            <a:ea typeface="Cambria Math" panose="02040503050406030204" pitchFamily="18" charset="0"/>
                          </a:rPr>
                          <m:t>out</m:t>
                        </m:r>
                        <m:r>
                          <a:rPr lang="fr-FR" sz="1600" b="0" i="0" smtClean="0">
                            <a:solidFill>
                              <a:schemeClr val="accent3">
                                <a:lumMod val="60000"/>
                                <a:lumOff val="40000"/>
                              </a:schemeClr>
                            </a:solidFill>
                            <a:latin typeface="Cambria Math" panose="02040503050406030204" pitchFamily="18" charset="0"/>
                            <a:ea typeface="Cambria Math" panose="02040503050406030204" pitchFamily="18" charset="0"/>
                          </a:rPr>
                          <m:t>_</m:t>
                        </m:r>
                        <m:r>
                          <m:rPr>
                            <m:sty m:val="p"/>
                          </m:rPr>
                          <a:rPr lang="fr-FR" sz="1600" b="0" i="0" smtClean="0">
                            <a:solidFill>
                              <a:schemeClr val="accent3">
                                <a:lumMod val="60000"/>
                                <a:lumOff val="40000"/>
                              </a:schemeClr>
                            </a:solidFill>
                            <a:latin typeface="Cambria Math" panose="02040503050406030204" pitchFamily="18" charset="0"/>
                            <a:ea typeface="Cambria Math" panose="02040503050406030204" pitchFamily="18" charset="0"/>
                          </a:rPr>
                          <m:t>h</m:t>
                        </m:r>
                      </m:num>
                      <m:den>
                        <m:r>
                          <a:rPr lang="fr-FR" sz="1600">
                            <a:solidFill>
                              <a:schemeClr val="accent3">
                                <a:lumMod val="60000"/>
                                <a:lumOff val="40000"/>
                              </a:schemeClr>
                            </a:solidFill>
                            <a:latin typeface="Cambria Math" panose="02040503050406030204" pitchFamily="18" charset="0"/>
                            <a:ea typeface="Cambria Math" panose="02040503050406030204" pitchFamily="18" charset="0"/>
                          </a:rPr>
                          <m:t>𝜕</m:t>
                        </m:r>
                        <m:r>
                          <m:rPr>
                            <m:sty m:val="p"/>
                          </m:rPr>
                          <a:rPr lang="fr-FR" sz="1600" b="0" i="0" smtClean="0">
                            <a:solidFill>
                              <a:schemeClr val="accent3">
                                <a:lumMod val="60000"/>
                                <a:lumOff val="40000"/>
                              </a:schemeClr>
                            </a:solidFill>
                            <a:latin typeface="Cambria Math" panose="02040503050406030204" pitchFamily="18" charset="0"/>
                            <a:ea typeface="Cambria Math" panose="02040503050406030204" pitchFamily="18" charset="0"/>
                          </a:rPr>
                          <m:t>net</m:t>
                        </m:r>
                        <m:r>
                          <a:rPr lang="fr-FR" sz="1600" b="0" i="0" smtClean="0">
                            <a:solidFill>
                              <a:schemeClr val="accent3">
                                <a:lumMod val="60000"/>
                                <a:lumOff val="40000"/>
                              </a:schemeClr>
                            </a:solidFill>
                            <a:latin typeface="Cambria Math" panose="02040503050406030204" pitchFamily="18" charset="0"/>
                            <a:ea typeface="Cambria Math" panose="02040503050406030204" pitchFamily="18" charset="0"/>
                          </a:rPr>
                          <m:t>_</m:t>
                        </m:r>
                        <m:r>
                          <m:rPr>
                            <m:sty m:val="p"/>
                          </m:rPr>
                          <a:rPr lang="fr-FR" sz="1600" b="0" i="0" smtClean="0">
                            <a:solidFill>
                              <a:schemeClr val="accent3">
                                <a:lumMod val="60000"/>
                                <a:lumOff val="40000"/>
                              </a:schemeClr>
                            </a:solidFill>
                            <a:latin typeface="Cambria Math" panose="02040503050406030204" pitchFamily="18" charset="0"/>
                            <a:ea typeface="Cambria Math" panose="02040503050406030204" pitchFamily="18" charset="0"/>
                          </a:rPr>
                          <m:t>h</m:t>
                        </m:r>
                      </m:den>
                    </m:f>
                  </m:oMath>
                </a14:m>
                <a:r>
                  <a:rPr lang="fr-FR" sz="1600" dirty="0">
                    <a:latin typeface="Cambria Math" panose="02040503050406030204" pitchFamily="18" charset="0"/>
                    <a:ea typeface="Cambria Math" panose="02040503050406030204" pitchFamily="18" charset="0"/>
                  </a:rPr>
                  <a:t> </a:t>
                </a:r>
                <a14:m>
                  <m:oMath xmlns:m="http://schemas.openxmlformats.org/officeDocument/2006/math">
                    <m:r>
                      <a:rPr lang="fr-FR" sz="1600" i="1">
                        <a:latin typeface="Cambria Math" panose="02040503050406030204" pitchFamily="18" charset="0"/>
                        <a:ea typeface="Cambria Math" panose="02040503050406030204" pitchFamily="18" charset="0"/>
                      </a:rPr>
                      <m:t>×</m:t>
                    </m:r>
                    <m:f>
                      <m:fPr>
                        <m:ctrlPr>
                          <a:rPr lang="fr-FR" sz="1600" i="1" smtClean="0">
                            <a:solidFill>
                              <a:schemeClr val="accent2"/>
                            </a:solidFill>
                            <a:latin typeface="Cambria Math" panose="02040503050406030204" pitchFamily="18" charset="0"/>
                            <a:ea typeface="Cambria Math" panose="02040503050406030204" pitchFamily="18" charset="0"/>
                          </a:rPr>
                        </m:ctrlPr>
                      </m:fPr>
                      <m:num>
                        <m:r>
                          <a:rPr lang="fr-FR" sz="1600">
                            <a:solidFill>
                              <a:schemeClr val="accent2"/>
                            </a:solidFill>
                            <a:latin typeface="Cambria Math" panose="02040503050406030204" pitchFamily="18" charset="0"/>
                            <a:ea typeface="Cambria Math" panose="02040503050406030204" pitchFamily="18" charset="0"/>
                          </a:rPr>
                          <m:t>𝜕</m:t>
                        </m:r>
                        <m:r>
                          <m:rPr>
                            <m:sty m:val="p"/>
                          </m:rPr>
                          <a:rPr lang="fr-FR" sz="1600" b="0" i="0" smtClean="0">
                            <a:solidFill>
                              <a:schemeClr val="accent2"/>
                            </a:solidFill>
                            <a:latin typeface="Cambria Math" panose="02040503050406030204" pitchFamily="18" charset="0"/>
                            <a:ea typeface="Cambria Math" panose="02040503050406030204" pitchFamily="18" charset="0"/>
                          </a:rPr>
                          <m:t>ne</m:t>
                        </m:r>
                        <m:r>
                          <m:rPr>
                            <m:sty m:val="p"/>
                          </m:rPr>
                          <a:rPr lang="fr-FR" sz="1600">
                            <a:solidFill>
                              <a:schemeClr val="accent2"/>
                            </a:solidFill>
                            <a:latin typeface="Cambria Math" panose="02040503050406030204" pitchFamily="18" charset="0"/>
                            <a:ea typeface="Cambria Math" panose="02040503050406030204" pitchFamily="18" charset="0"/>
                          </a:rPr>
                          <m:t>t</m:t>
                        </m:r>
                        <m:r>
                          <a:rPr lang="fr-FR" sz="1600">
                            <a:solidFill>
                              <a:schemeClr val="accent2"/>
                            </a:solidFill>
                            <a:latin typeface="Cambria Math" panose="02040503050406030204" pitchFamily="18" charset="0"/>
                            <a:ea typeface="Cambria Math" panose="02040503050406030204" pitchFamily="18" charset="0"/>
                          </a:rPr>
                          <m:t>_</m:t>
                        </m:r>
                        <m:r>
                          <m:rPr>
                            <m:sty m:val="p"/>
                          </m:rPr>
                          <a:rPr lang="fr-FR" sz="1600">
                            <a:solidFill>
                              <a:schemeClr val="accent2"/>
                            </a:solidFill>
                            <a:latin typeface="Cambria Math" panose="02040503050406030204" pitchFamily="18" charset="0"/>
                            <a:ea typeface="Cambria Math" panose="02040503050406030204" pitchFamily="18" charset="0"/>
                          </a:rPr>
                          <m:t>h</m:t>
                        </m:r>
                      </m:num>
                      <m:den>
                        <m:r>
                          <a:rPr lang="fr-FR" sz="1600">
                            <a:solidFill>
                              <a:schemeClr val="accent2"/>
                            </a:solidFill>
                            <a:latin typeface="Cambria Math" panose="02040503050406030204" pitchFamily="18" charset="0"/>
                            <a:ea typeface="Cambria Math" panose="02040503050406030204" pitchFamily="18" charset="0"/>
                          </a:rPr>
                          <m:t>𝜕</m:t>
                        </m:r>
                        <m:r>
                          <m:rPr>
                            <m:sty m:val="p"/>
                          </m:rPr>
                          <a:rPr lang="fr-FR" sz="1600" b="0" i="0" smtClean="0">
                            <a:solidFill>
                              <a:schemeClr val="accent2"/>
                            </a:solidFill>
                            <a:latin typeface="Cambria Math" panose="02040503050406030204" pitchFamily="18" charset="0"/>
                            <a:ea typeface="Cambria Math" panose="02040503050406030204" pitchFamily="18" charset="0"/>
                          </a:rPr>
                          <m:t>w</m:t>
                        </m:r>
                        <m:r>
                          <a:rPr lang="fr-FR" sz="1600" b="0" i="0" smtClean="0">
                            <a:solidFill>
                              <a:schemeClr val="accent2"/>
                            </a:solidFill>
                            <a:latin typeface="Cambria Math" panose="02040503050406030204" pitchFamily="18" charset="0"/>
                            <a:ea typeface="Cambria Math" panose="02040503050406030204" pitchFamily="18" charset="0"/>
                          </a:rPr>
                          <m:t>1</m:t>
                        </m:r>
                      </m:den>
                    </m:f>
                    <m:r>
                      <a:rPr lang="fr-FR" sz="1600" i="1">
                        <a:latin typeface="Cambria Math" panose="02040503050406030204" pitchFamily="18" charset="0"/>
                        <a:ea typeface="Cambria Math" panose="02040503050406030204" pitchFamily="18" charset="0"/>
                      </a:rPr>
                      <m:t> </m:t>
                    </m:r>
                  </m:oMath>
                </a14:m>
                <a:endParaRPr lang="fr-FR" sz="1600" dirty="0">
                  <a:latin typeface="Cambria Math" panose="02040503050406030204" pitchFamily="18" charset="0"/>
                  <a:ea typeface="Cambria Math" panose="02040503050406030204" pitchFamily="18" charset="0"/>
                </a:endParaRPr>
              </a:p>
              <a:p>
                <a:endParaRPr lang="fr-FR" sz="1600" dirty="0">
                  <a:latin typeface="Cambria Math" panose="02040503050406030204" pitchFamily="18" charset="0"/>
                  <a:ea typeface="Cambria Math" panose="02040503050406030204" pitchFamily="18" charset="0"/>
                </a:endParaRPr>
              </a:p>
              <a:p>
                <a14:m>
                  <m:oMath xmlns:m="http://schemas.openxmlformats.org/officeDocument/2006/math">
                    <m:f>
                      <m:fPr>
                        <m:ctrlPr>
                          <a:rPr lang="fr-FR" sz="1600" i="1">
                            <a:solidFill>
                              <a:schemeClr val="tx2">
                                <a:lumMod val="50000"/>
                                <a:lumOff val="50000"/>
                              </a:schemeClr>
                            </a:solidFill>
                            <a:latin typeface="Cambria Math" panose="02040503050406030204" pitchFamily="18" charset="0"/>
                            <a:ea typeface="Cambria Math" panose="02040503050406030204" pitchFamily="18" charset="0"/>
                          </a:rPr>
                        </m:ctrlPr>
                      </m:fPr>
                      <m:num>
                        <m:r>
                          <a:rPr lang="fr-FR" sz="1600">
                            <a:solidFill>
                              <a:schemeClr val="tx2">
                                <a:lumMod val="50000"/>
                                <a:lumOff val="50000"/>
                              </a:schemeClr>
                            </a:solidFill>
                            <a:latin typeface="Cambria Math" panose="02040503050406030204" pitchFamily="18" charset="0"/>
                            <a:ea typeface="Cambria Math" panose="02040503050406030204" pitchFamily="18" charset="0"/>
                          </a:rPr>
                          <m:t>𝜕</m:t>
                        </m:r>
                        <m:r>
                          <m:rPr>
                            <m:sty m:val="p"/>
                          </m:rPr>
                          <a:rPr lang="fr-FR" sz="1600">
                            <a:solidFill>
                              <a:schemeClr val="tx2">
                                <a:lumMod val="50000"/>
                                <a:lumOff val="50000"/>
                              </a:schemeClr>
                            </a:solidFill>
                            <a:latin typeface="Cambria Math" panose="02040503050406030204" pitchFamily="18" charset="0"/>
                            <a:ea typeface="Cambria Math" panose="02040503050406030204" pitchFamily="18" charset="0"/>
                          </a:rPr>
                          <m:t>Loss</m:t>
                        </m:r>
                      </m:num>
                      <m:den>
                        <m:r>
                          <a:rPr lang="fr-FR" sz="1600">
                            <a:solidFill>
                              <a:schemeClr val="tx2">
                                <a:lumMod val="50000"/>
                                <a:lumOff val="50000"/>
                              </a:schemeClr>
                            </a:solidFill>
                            <a:latin typeface="Cambria Math" panose="02040503050406030204" pitchFamily="18" charset="0"/>
                            <a:ea typeface="Cambria Math" panose="02040503050406030204" pitchFamily="18" charset="0"/>
                          </a:rPr>
                          <m:t>𝜕</m:t>
                        </m:r>
                        <m:r>
                          <m:rPr>
                            <m:sty m:val="p"/>
                          </m:rPr>
                          <a:rPr lang="fr-FR" sz="1600">
                            <a:solidFill>
                              <a:schemeClr val="tx2">
                                <a:lumMod val="50000"/>
                                <a:lumOff val="50000"/>
                              </a:schemeClr>
                            </a:solidFill>
                            <a:latin typeface="Cambria Math" panose="02040503050406030204" pitchFamily="18" charset="0"/>
                            <a:ea typeface="Cambria Math" panose="02040503050406030204" pitchFamily="18" charset="0"/>
                          </a:rPr>
                          <m:t>w</m:t>
                        </m:r>
                        <m:r>
                          <a:rPr lang="fr-FR" sz="1600">
                            <a:solidFill>
                              <a:schemeClr val="tx2">
                                <a:lumMod val="50000"/>
                                <a:lumOff val="50000"/>
                              </a:schemeClr>
                            </a:solidFill>
                            <a:latin typeface="Cambria Math" panose="02040503050406030204" pitchFamily="18" charset="0"/>
                            <a:ea typeface="Cambria Math" panose="02040503050406030204" pitchFamily="18" charset="0"/>
                          </a:rPr>
                          <m:t>1</m:t>
                        </m:r>
                      </m:den>
                    </m:f>
                    <m:r>
                      <a:rPr lang="fr-FR" sz="1600">
                        <a:solidFill>
                          <a:schemeClr val="tx2">
                            <a:lumMod val="50000"/>
                            <a:lumOff val="50000"/>
                          </a:schemeClr>
                        </a:solidFill>
                        <a:latin typeface="Cambria Math" panose="02040503050406030204" pitchFamily="18" charset="0"/>
                        <a:ea typeface="Cambria Math" panose="02040503050406030204" pitchFamily="18" charset="0"/>
                      </a:rPr>
                      <m:t>=−2</m:t>
                    </m:r>
                  </m:oMath>
                </a14:m>
                <a:r>
                  <a:rPr lang="fr-FR" sz="1600" dirty="0">
                    <a:solidFill>
                      <a:schemeClr val="tx2">
                        <a:lumMod val="50000"/>
                        <a:lumOff val="50000"/>
                      </a:schemeClr>
                    </a:solidFill>
                    <a:latin typeface="Cambria Math" panose="02040503050406030204" pitchFamily="18" charset="0"/>
                    <a:ea typeface="Cambria Math" panose="02040503050406030204" pitchFamily="18" charset="0"/>
                  </a:rPr>
                  <a:t>(</a:t>
                </a:r>
                <a14:m>
                  <m:oMath xmlns:m="http://schemas.openxmlformats.org/officeDocument/2006/math">
                    <m:r>
                      <m:rPr>
                        <m:sty m:val="p"/>
                      </m:rPr>
                      <a:rPr lang="fr-FR" sz="1600">
                        <a:solidFill>
                          <a:schemeClr val="tx2">
                            <a:lumMod val="50000"/>
                            <a:lumOff val="50000"/>
                          </a:schemeClr>
                        </a:solidFill>
                        <a:latin typeface="Cambria Math" panose="02040503050406030204" pitchFamily="18" charset="0"/>
                        <a:ea typeface="Cambria Math" panose="02040503050406030204" pitchFamily="18" charset="0"/>
                      </a:rPr>
                      <m:t>target</m:t>
                    </m:r>
                    <m:r>
                      <a:rPr lang="fr-FR" sz="1600" b="0" i="0" smtClean="0">
                        <a:solidFill>
                          <a:schemeClr val="tx2">
                            <a:lumMod val="50000"/>
                            <a:lumOff val="50000"/>
                          </a:schemeClr>
                        </a:solidFill>
                        <a:latin typeface="Cambria Math" panose="02040503050406030204" pitchFamily="18" charset="0"/>
                        <a:ea typeface="Cambria Math" panose="02040503050406030204" pitchFamily="18" charset="0"/>
                      </a:rPr>
                      <m:t>−</m:t>
                    </m:r>
                    <m:r>
                      <m:rPr>
                        <m:sty m:val="p"/>
                      </m:rPr>
                      <a:rPr lang="fr-FR" sz="1600">
                        <a:solidFill>
                          <a:schemeClr val="tx2">
                            <a:lumMod val="50000"/>
                            <a:lumOff val="50000"/>
                          </a:schemeClr>
                        </a:solidFill>
                        <a:latin typeface="Cambria Math" panose="02040503050406030204" pitchFamily="18" charset="0"/>
                        <a:ea typeface="Cambria Math" panose="02040503050406030204" pitchFamily="18" charset="0"/>
                      </a:rPr>
                      <m:t>out</m:t>
                    </m:r>
                    <m:r>
                      <a:rPr lang="fr-FR" sz="1600">
                        <a:solidFill>
                          <a:schemeClr val="tx2">
                            <a:lumMod val="50000"/>
                            <a:lumOff val="50000"/>
                          </a:schemeClr>
                        </a:solidFill>
                        <a:latin typeface="Cambria Math" panose="02040503050406030204" pitchFamily="18" charset="0"/>
                        <a:ea typeface="Cambria Math" panose="02040503050406030204" pitchFamily="18" charset="0"/>
                      </a:rPr>
                      <m:t>_</m:t>
                    </m:r>
                    <m:r>
                      <m:rPr>
                        <m:sty m:val="p"/>
                      </m:rPr>
                      <a:rPr lang="fr-FR" sz="1600">
                        <a:solidFill>
                          <a:schemeClr val="tx2">
                            <a:lumMod val="50000"/>
                            <a:lumOff val="50000"/>
                          </a:schemeClr>
                        </a:solidFill>
                        <a:latin typeface="Cambria Math" panose="02040503050406030204" pitchFamily="18" charset="0"/>
                        <a:ea typeface="Cambria Math" panose="02040503050406030204" pitchFamily="18" charset="0"/>
                      </a:rPr>
                      <m:t>o</m:t>
                    </m:r>
                  </m:oMath>
                </a14:m>
                <a:r>
                  <a:rPr lang="fr-FR" sz="1600" dirty="0">
                    <a:solidFill>
                      <a:schemeClr val="tx2">
                        <a:lumMod val="50000"/>
                        <a:lumOff val="50000"/>
                      </a:schemeClr>
                    </a:solidFill>
                    <a:latin typeface="Cambria Math" panose="02040503050406030204" pitchFamily="18" charset="0"/>
                    <a:ea typeface="Cambria Math" panose="02040503050406030204" pitchFamily="18" charset="0"/>
                  </a:rPr>
                  <a:t>)</a:t>
                </a:r>
                <a14:m>
                  <m:oMath xmlns:m="http://schemas.openxmlformats.org/officeDocument/2006/math">
                    <m:r>
                      <a:rPr lang="fr-FR" sz="1600" b="0" i="0" dirty="0" smtClean="0">
                        <a:solidFill>
                          <a:schemeClr val="tx2">
                            <a:lumMod val="50000"/>
                            <a:lumOff val="50000"/>
                          </a:schemeClr>
                        </a:solidFill>
                        <a:latin typeface="Cambria Math" panose="02040503050406030204" pitchFamily="18" charset="0"/>
                        <a:ea typeface="Cambria Math" panose="02040503050406030204" pitchFamily="18" charset="0"/>
                      </a:rPr>
                      <m:t> </m:t>
                    </m:r>
                    <m:r>
                      <a:rPr lang="fr-FR" sz="1600" b="0" i="1" dirty="0" smtClean="0">
                        <a:solidFill>
                          <a:schemeClr val="tx2">
                            <a:lumMod val="50000"/>
                            <a:lumOff val="50000"/>
                          </a:schemeClr>
                        </a:solidFill>
                        <a:latin typeface="Cambria Math" panose="02040503050406030204" pitchFamily="18" charset="0"/>
                        <a:ea typeface="Cambria Math" panose="02040503050406030204" pitchFamily="18" charset="0"/>
                      </a:rPr>
                      <m:t>× </m:t>
                    </m:r>
                    <m:r>
                      <m:rPr>
                        <m:nor/>
                      </m:rPr>
                      <a:rPr lang="fr-FR" sz="1600" dirty="0">
                        <a:solidFill>
                          <a:schemeClr val="tx2">
                            <a:lumMod val="50000"/>
                            <a:lumOff val="50000"/>
                          </a:schemeClr>
                        </a:solidFill>
                        <a:latin typeface="Cambria Math" panose="02040503050406030204" pitchFamily="18" charset="0"/>
                        <a:ea typeface="Cambria Math" panose="02040503050406030204" pitchFamily="18" charset="0"/>
                      </a:rPr>
                      <m:t>out</m:t>
                    </m:r>
                    <m:r>
                      <m:rPr>
                        <m:nor/>
                      </m:rPr>
                      <a:rPr lang="fr-FR" sz="1600" dirty="0">
                        <a:solidFill>
                          <a:schemeClr val="tx2">
                            <a:lumMod val="50000"/>
                            <a:lumOff val="50000"/>
                          </a:schemeClr>
                        </a:solidFill>
                        <a:latin typeface="Cambria Math" panose="02040503050406030204" pitchFamily="18" charset="0"/>
                        <a:ea typeface="Cambria Math" panose="02040503050406030204" pitchFamily="18" charset="0"/>
                      </a:rPr>
                      <m:t>_</m:t>
                    </m:r>
                    <m:r>
                      <m:rPr>
                        <m:nor/>
                      </m:rPr>
                      <a:rPr lang="fr-FR" sz="1600" dirty="0">
                        <a:solidFill>
                          <a:schemeClr val="tx2">
                            <a:lumMod val="50000"/>
                            <a:lumOff val="50000"/>
                          </a:schemeClr>
                        </a:solidFill>
                        <a:latin typeface="Cambria Math" panose="02040503050406030204" pitchFamily="18" charset="0"/>
                        <a:ea typeface="Cambria Math" panose="02040503050406030204" pitchFamily="18" charset="0"/>
                      </a:rPr>
                      <m:t>o</m:t>
                    </m:r>
                    <m:r>
                      <a:rPr lang="fr-FR" sz="1600" i="1" dirty="0">
                        <a:solidFill>
                          <a:schemeClr val="tx2">
                            <a:lumMod val="50000"/>
                            <a:lumOff val="50000"/>
                          </a:schemeClr>
                        </a:solidFill>
                        <a:latin typeface="Cambria Math" panose="02040503050406030204" pitchFamily="18" charset="0"/>
                        <a:ea typeface="Cambria Math" panose="02040503050406030204" pitchFamily="18" charset="0"/>
                      </a:rPr>
                      <m:t> </m:t>
                    </m:r>
                    <m:d>
                      <m:dPr>
                        <m:ctrlPr>
                          <a:rPr lang="fr-FR" sz="1600" i="1">
                            <a:solidFill>
                              <a:schemeClr val="tx2">
                                <a:lumMod val="50000"/>
                                <a:lumOff val="50000"/>
                              </a:schemeClr>
                            </a:solidFill>
                            <a:latin typeface="Cambria Math" panose="02040503050406030204" pitchFamily="18" charset="0"/>
                            <a:ea typeface="Cambria Math" panose="02040503050406030204" pitchFamily="18" charset="0"/>
                          </a:rPr>
                        </m:ctrlPr>
                      </m:dPr>
                      <m:e>
                        <m:r>
                          <a:rPr lang="fr-FR" sz="1600">
                            <a:solidFill>
                              <a:schemeClr val="tx2">
                                <a:lumMod val="50000"/>
                                <a:lumOff val="50000"/>
                              </a:schemeClr>
                            </a:solidFill>
                            <a:latin typeface="Cambria Math" panose="02040503050406030204" pitchFamily="18" charset="0"/>
                            <a:ea typeface="Cambria Math" panose="02040503050406030204" pitchFamily="18" charset="0"/>
                          </a:rPr>
                          <m:t>1−</m:t>
                        </m:r>
                        <m:r>
                          <m:rPr>
                            <m:sty m:val="p"/>
                          </m:rPr>
                          <a:rPr lang="fr-FR" sz="1600" b="0" i="0" smtClean="0">
                            <a:solidFill>
                              <a:schemeClr val="tx2">
                                <a:lumMod val="50000"/>
                                <a:lumOff val="50000"/>
                              </a:schemeClr>
                            </a:solidFill>
                            <a:latin typeface="Cambria Math" panose="02040503050406030204" pitchFamily="18" charset="0"/>
                            <a:ea typeface="Cambria Math" panose="02040503050406030204" pitchFamily="18" charset="0"/>
                          </a:rPr>
                          <m:t>out</m:t>
                        </m:r>
                        <m:r>
                          <a:rPr lang="fr-FR" sz="1600" b="0" i="0" smtClean="0">
                            <a:solidFill>
                              <a:schemeClr val="tx2">
                                <a:lumMod val="50000"/>
                                <a:lumOff val="50000"/>
                              </a:schemeClr>
                            </a:solidFill>
                            <a:latin typeface="Cambria Math" panose="02040503050406030204" pitchFamily="18" charset="0"/>
                            <a:ea typeface="Cambria Math" panose="02040503050406030204" pitchFamily="18" charset="0"/>
                          </a:rPr>
                          <m:t>_</m:t>
                        </m:r>
                        <m:r>
                          <m:rPr>
                            <m:sty m:val="p"/>
                          </m:rPr>
                          <a:rPr lang="fr-FR" sz="1600" b="0" i="0" smtClean="0">
                            <a:solidFill>
                              <a:schemeClr val="tx2">
                                <a:lumMod val="50000"/>
                                <a:lumOff val="50000"/>
                              </a:schemeClr>
                            </a:solidFill>
                            <a:latin typeface="Cambria Math" panose="02040503050406030204" pitchFamily="18" charset="0"/>
                            <a:ea typeface="Cambria Math" panose="02040503050406030204" pitchFamily="18" charset="0"/>
                          </a:rPr>
                          <m:t>o</m:t>
                        </m:r>
                      </m:e>
                    </m:d>
                    <m:r>
                      <a:rPr lang="fr-FR" sz="1600" b="0" i="1" smtClean="0">
                        <a:solidFill>
                          <a:schemeClr val="tx2">
                            <a:lumMod val="50000"/>
                            <a:lumOff val="50000"/>
                          </a:schemeClr>
                        </a:solidFill>
                        <a:latin typeface="Cambria Math" panose="02040503050406030204" pitchFamily="18" charset="0"/>
                        <a:ea typeface="Cambria Math" panose="02040503050406030204" pitchFamily="18" charset="0"/>
                      </a:rPr>
                      <m:t> </m:t>
                    </m:r>
                    <m:r>
                      <a:rPr lang="fr-FR" sz="1600" i="1">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 </m:t>
                    </m:r>
                    <m:r>
                      <m:rPr>
                        <m:sty m:val="p"/>
                      </m:rPr>
                      <a:rPr lang="fr-FR" sz="1600" b="0" i="0" smtClean="0">
                        <a:solidFill>
                          <a:schemeClr val="accent5">
                            <a:lumMod val="60000"/>
                            <a:lumOff val="40000"/>
                          </a:schemeClr>
                        </a:solidFill>
                        <a:latin typeface="Cambria Math" panose="02040503050406030204" pitchFamily="18" charset="0"/>
                        <a:ea typeface="Cambria Math" panose="02040503050406030204" pitchFamily="18" charset="0"/>
                      </a:rPr>
                      <m:t>w</m:t>
                    </m:r>
                    <m:r>
                      <a:rPr lang="fr-FR" sz="1600" b="0" i="0" smtClean="0">
                        <a:solidFill>
                          <a:schemeClr val="accent5">
                            <a:lumMod val="60000"/>
                            <a:lumOff val="40000"/>
                          </a:schemeClr>
                        </a:solidFill>
                        <a:latin typeface="Cambria Math" panose="02040503050406030204" pitchFamily="18" charset="0"/>
                        <a:ea typeface="Cambria Math" panose="02040503050406030204" pitchFamily="18" charset="0"/>
                      </a:rPr>
                      <m:t>3</m:t>
                    </m:r>
                    <m:r>
                      <a:rPr lang="fr-FR" sz="1600" b="0" i="1" smtClean="0">
                        <a:latin typeface="Cambria Math" panose="02040503050406030204" pitchFamily="18" charset="0"/>
                        <a:ea typeface="Cambria Math" panose="02040503050406030204" pitchFamily="18" charset="0"/>
                      </a:rPr>
                      <m:t> </m:t>
                    </m:r>
                    <m:r>
                      <a:rPr lang="fr-FR" sz="1600" i="1">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 </m:t>
                    </m:r>
                    <m:r>
                      <m:rPr>
                        <m:nor/>
                      </m:rPr>
                      <a:rPr lang="fr-FR" sz="1600" dirty="0" smtClean="0">
                        <a:solidFill>
                          <a:schemeClr val="accent3">
                            <a:lumMod val="60000"/>
                            <a:lumOff val="40000"/>
                          </a:schemeClr>
                        </a:solidFill>
                        <a:latin typeface="Cambria Math" panose="02040503050406030204" pitchFamily="18" charset="0"/>
                        <a:ea typeface="Cambria Math" panose="02040503050406030204" pitchFamily="18" charset="0"/>
                      </a:rPr>
                      <m:t>1</m:t>
                    </m:r>
                    <m:r>
                      <m:rPr>
                        <m:nor/>
                      </m:rPr>
                      <a:rPr lang="fr-FR" sz="1600" baseline="-25000" dirty="0" smtClean="0">
                        <a:solidFill>
                          <a:schemeClr val="accent3">
                            <a:lumMod val="60000"/>
                            <a:lumOff val="40000"/>
                          </a:schemeClr>
                        </a:solidFill>
                        <a:latin typeface="Cambria Math" panose="02040503050406030204" pitchFamily="18" charset="0"/>
                        <a:ea typeface="Cambria Math" panose="02040503050406030204" pitchFamily="18" charset="0"/>
                      </a:rPr>
                      <m:t>{</m:t>
                    </m:r>
                    <m:r>
                      <m:rPr>
                        <m:nor/>
                      </m:rPr>
                      <a:rPr lang="fr-FR" sz="1600" baseline="-25000" dirty="0" smtClean="0">
                        <a:solidFill>
                          <a:schemeClr val="accent3">
                            <a:lumMod val="60000"/>
                            <a:lumOff val="40000"/>
                          </a:schemeClr>
                        </a:solidFill>
                        <a:latin typeface="Cambria Math" panose="02040503050406030204" pitchFamily="18" charset="0"/>
                        <a:ea typeface="Cambria Math" panose="02040503050406030204" pitchFamily="18" charset="0"/>
                      </a:rPr>
                      <m:t>net</m:t>
                    </m:r>
                    <m:r>
                      <m:rPr>
                        <m:nor/>
                      </m:rPr>
                      <a:rPr lang="fr-FR" sz="1600" baseline="-25000" dirty="0" smtClean="0">
                        <a:solidFill>
                          <a:schemeClr val="accent3">
                            <a:lumMod val="60000"/>
                            <a:lumOff val="40000"/>
                          </a:schemeClr>
                        </a:solidFill>
                        <a:latin typeface="Cambria Math" panose="02040503050406030204" pitchFamily="18" charset="0"/>
                        <a:ea typeface="Cambria Math" panose="02040503050406030204" pitchFamily="18" charset="0"/>
                      </a:rPr>
                      <m:t>_</m:t>
                    </m:r>
                    <m:r>
                      <m:rPr>
                        <m:nor/>
                      </m:rPr>
                      <a:rPr lang="fr-FR" sz="1600" baseline="-25000" dirty="0" smtClean="0">
                        <a:solidFill>
                          <a:schemeClr val="accent3">
                            <a:lumMod val="60000"/>
                            <a:lumOff val="40000"/>
                          </a:schemeClr>
                        </a:solidFill>
                        <a:latin typeface="Cambria Math" panose="02040503050406030204" pitchFamily="18" charset="0"/>
                        <a:ea typeface="Cambria Math" panose="02040503050406030204" pitchFamily="18" charset="0"/>
                      </a:rPr>
                      <m:t>h</m:t>
                    </m:r>
                    <m:r>
                      <a:rPr lang="fr-FR" sz="1600" i="1" baseline="-25000">
                        <a:solidFill>
                          <a:schemeClr val="accent3">
                            <a:lumMod val="60000"/>
                            <a:lumOff val="40000"/>
                          </a:schemeClr>
                        </a:solidFill>
                        <a:latin typeface="Cambria Math" panose="02040503050406030204" pitchFamily="18" charset="0"/>
                        <a:ea typeface="Cambria Math" panose="02040503050406030204" pitchFamily="18" charset="0"/>
                      </a:rPr>
                      <m:t>≥0</m:t>
                    </m:r>
                    <m:r>
                      <m:rPr>
                        <m:nor/>
                      </m:rPr>
                      <a:rPr lang="fr-FR" sz="1600" baseline="-25000" dirty="0">
                        <a:solidFill>
                          <a:schemeClr val="accent3">
                            <a:lumMod val="60000"/>
                            <a:lumOff val="40000"/>
                          </a:schemeClr>
                        </a:solidFill>
                        <a:latin typeface="Cambria Math" panose="02040503050406030204" pitchFamily="18" charset="0"/>
                        <a:ea typeface="Cambria Math" panose="02040503050406030204" pitchFamily="18" charset="0"/>
                      </a:rPr>
                      <m:t>}</m:t>
                    </m:r>
                    <m:r>
                      <a:rPr lang="fr-FR" sz="1600" b="0" i="1" baseline="-25000" dirty="0" smtClean="0">
                        <a:solidFill>
                          <a:schemeClr val="accent3">
                            <a:lumMod val="60000"/>
                            <a:lumOff val="40000"/>
                          </a:schemeClr>
                        </a:solidFill>
                        <a:latin typeface="Cambria Math" panose="02040503050406030204" pitchFamily="18" charset="0"/>
                        <a:ea typeface="Cambria Math" panose="02040503050406030204" pitchFamily="18" charset="0"/>
                      </a:rPr>
                      <m:t> </m:t>
                    </m:r>
                    <m:r>
                      <a:rPr lang="fr-FR" sz="1600" i="1">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 </m:t>
                    </m:r>
                    <m:r>
                      <m:rPr>
                        <m:sty m:val="p"/>
                      </m:rPr>
                      <a:rPr lang="fr-FR" sz="1600" b="0" i="0" smtClean="0">
                        <a:solidFill>
                          <a:schemeClr val="accent2"/>
                        </a:solidFill>
                        <a:latin typeface="Cambria Math" panose="02040503050406030204" pitchFamily="18" charset="0"/>
                        <a:ea typeface="Cambria Math" panose="02040503050406030204" pitchFamily="18" charset="0"/>
                      </a:rPr>
                      <m:t>i</m:t>
                    </m:r>
                    <m:r>
                      <a:rPr lang="fr-FR" sz="1600" b="0" i="0" baseline="-25000" smtClean="0">
                        <a:solidFill>
                          <a:schemeClr val="accent2"/>
                        </a:solidFill>
                        <a:latin typeface="Cambria Math" panose="02040503050406030204" pitchFamily="18" charset="0"/>
                        <a:ea typeface="Cambria Math" panose="02040503050406030204" pitchFamily="18" charset="0"/>
                      </a:rPr>
                      <m:t>1</m:t>
                    </m:r>
                  </m:oMath>
                </a14:m>
                <a:endParaRPr lang="fr-FR" sz="1600" dirty="0">
                  <a:latin typeface="Cambria Math" panose="02040503050406030204" pitchFamily="18" charset="0"/>
                  <a:ea typeface="Cambria Math" panose="02040503050406030204" pitchFamily="18" charset="0"/>
                </a:endParaRPr>
              </a:p>
            </p:txBody>
          </p:sp>
        </mc:Choice>
        <mc:Fallback xmlns="">
          <p:sp>
            <p:nvSpPr>
              <p:cNvPr id="37" name="ZoneTexte 36">
                <a:extLst>
                  <a:ext uri="{FF2B5EF4-FFF2-40B4-BE49-F238E27FC236}">
                    <a16:creationId xmlns:a16="http://schemas.microsoft.com/office/drawing/2014/main" id="{73278500-6B02-1B48-E1D9-5EE708EC286A}"/>
                  </a:ext>
                </a:extLst>
              </p:cNvPr>
              <p:cNvSpPr txBox="1">
                <a:spLocks noRot="1" noChangeAspect="1" noMove="1" noResize="1" noEditPoints="1" noAdjustHandles="1" noChangeArrowheads="1" noChangeShapeType="1" noTextEdit="1"/>
              </p:cNvSpPr>
              <p:nvPr/>
            </p:nvSpPr>
            <p:spPr>
              <a:xfrm>
                <a:off x="5655034" y="3082263"/>
                <a:ext cx="6301614" cy="1062599"/>
              </a:xfrm>
              <a:prstGeom prst="rect">
                <a:avLst/>
              </a:prstGeom>
              <a:blipFill>
                <a:blip r:embed="rId4"/>
                <a:stretch>
                  <a:fillRect b="-2353"/>
                </a:stretch>
              </a:blipFill>
            </p:spPr>
            <p:txBody>
              <a:bodyPr/>
              <a:lstStyle/>
              <a:p>
                <a:r>
                  <a:rPr lang="en-GB">
                    <a:noFill/>
                  </a:rPr>
                  <a:t> </a:t>
                </a:r>
              </a:p>
            </p:txBody>
          </p:sp>
        </mc:Fallback>
      </mc:AlternateContent>
      <p:sp>
        <p:nvSpPr>
          <p:cNvPr id="2" name="Titre 1">
            <a:extLst>
              <a:ext uri="{FF2B5EF4-FFF2-40B4-BE49-F238E27FC236}">
                <a16:creationId xmlns:a16="http://schemas.microsoft.com/office/drawing/2014/main" id="{1EC40690-0094-61ED-1CC3-A2346784D387}"/>
              </a:ext>
            </a:extLst>
          </p:cNvPr>
          <p:cNvSpPr>
            <a:spLocks noGrp="1"/>
          </p:cNvSpPr>
          <p:nvPr>
            <p:ph type="title"/>
          </p:nvPr>
        </p:nvSpPr>
        <p:spPr/>
        <p:txBody>
          <a:bodyPr/>
          <a:lstStyle/>
          <a:p>
            <a:r>
              <a:rPr lang="fr-FR" dirty="0"/>
              <a:t>Neural Network</a:t>
            </a:r>
          </a:p>
        </p:txBody>
      </p:sp>
      <mc:AlternateContent xmlns:mc="http://schemas.openxmlformats.org/markup-compatibility/2006" xmlns:a14="http://schemas.microsoft.com/office/drawing/2010/main">
        <mc:Choice Requires="a14">
          <p:sp>
            <p:nvSpPr>
              <p:cNvPr id="41" name="ZoneTexte 40">
                <a:extLst>
                  <a:ext uri="{FF2B5EF4-FFF2-40B4-BE49-F238E27FC236}">
                    <a16:creationId xmlns:a16="http://schemas.microsoft.com/office/drawing/2014/main" id="{3E91B6E9-91D6-14C7-9C7C-24D6F6FEC32B}"/>
                  </a:ext>
                </a:extLst>
              </p:cNvPr>
              <p:cNvSpPr txBox="1"/>
              <p:nvPr/>
            </p:nvSpPr>
            <p:spPr>
              <a:xfrm>
                <a:off x="1127053" y="3600596"/>
                <a:ext cx="1573618" cy="1177502"/>
              </a:xfrm>
              <a:prstGeom prst="rect">
                <a:avLst/>
              </a:prstGeom>
              <a:noFill/>
            </p:spPr>
            <p:txBody>
              <a:bodyPr wrap="square" rtlCol="0">
                <a:spAutoFit/>
              </a:bodyPr>
              <a:lstStyle/>
              <a:p>
                <a14:m>
                  <m:oMath xmlns:m="http://schemas.openxmlformats.org/officeDocument/2006/math">
                    <m:f>
                      <m:fPr>
                        <m:ctrlPr>
                          <a:rPr lang="fr-FR" sz="1100" b="0" i="1" smtClean="0">
                            <a:solidFill>
                              <a:schemeClr val="accent3">
                                <a:lumMod val="60000"/>
                                <a:lumOff val="40000"/>
                              </a:schemeClr>
                            </a:solidFill>
                            <a:latin typeface="Cambria Math" panose="02040503050406030204" pitchFamily="18" charset="0"/>
                            <a:ea typeface="Cambria Math" panose="02040503050406030204" pitchFamily="18" charset="0"/>
                          </a:rPr>
                        </m:ctrlPr>
                      </m:fPr>
                      <m:num>
                        <m:r>
                          <a:rPr lang="fr-FR" sz="1100">
                            <a:solidFill>
                              <a:schemeClr val="accent3">
                                <a:lumMod val="60000"/>
                                <a:lumOff val="40000"/>
                              </a:schemeClr>
                            </a:solidFill>
                            <a:latin typeface="Cambria Math" panose="02040503050406030204" pitchFamily="18" charset="0"/>
                            <a:ea typeface="Cambria Math" panose="02040503050406030204" pitchFamily="18" charset="0"/>
                          </a:rPr>
                          <m:t>𝜕</m:t>
                        </m:r>
                        <m:r>
                          <m:rPr>
                            <m:sty m:val="p"/>
                          </m:rPr>
                          <a:rPr lang="fr-FR" sz="1100" b="0" i="0" smtClean="0">
                            <a:solidFill>
                              <a:schemeClr val="accent3">
                                <a:lumMod val="60000"/>
                                <a:lumOff val="40000"/>
                              </a:schemeClr>
                            </a:solidFill>
                            <a:latin typeface="Cambria Math" panose="02040503050406030204" pitchFamily="18" charset="0"/>
                            <a:ea typeface="Cambria Math" panose="02040503050406030204" pitchFamily="18" charset="0"/>
                          </a:rPr>
                          <m:t>out</m:t>
                        </m:r>
                        <m:r>
                          <a:rPr lang="fr-FR" sz="1100" b="0" i="0" smtClean="0">
                            <a:solidFill>
                              <a:schemeClr val="accent3">
                                <a:lumMod val="60000"/>
                                <a:lumOff val="40000"/>
                              </a:schemeClr>
                            </a:solidFill>
                            <a:latin typeface="Cambria Math" panose="02040503050406030204" pitchFamily="18" charset="0"/>
                            <a:ea typeface="Cambria Math" panose="02040503050406030204" pitchFamily="18" charset="0"/>
                          </a:rPr>
                          <m:t>_</m:t>
                        </m:r>
                        <m:r>
                          <m:rPr>
                            <m:sty m:val="p"/>
                          </m:rPr>
                          <a:rPr lang="fr-FR" sz="1100" b="0" i="0" smtClean="0">
                            <a:solidFill>
                              <a:schemeClr val="accent3">
                                <a:lumMod val="60000"/>
                                <a:lumOff val="40000"/>
                              </a:schemeClr>
                            </a:solidFill>
                            <a:latin typeface="Cambria Math" panose="02040503050406030204" pitchFamily="18" charset="0"/>
                            <a:ea typeface="Cambria Math" panose="02040503050406030204" pitchFamily="18" charset="0"/>
                          </a:rPr>
                          <m:t>h</m:t>
                        </m:r>
                      </m:num>
                      <m:den>
                        <m:r>
                          <a:rPr lang="fr-FR" sz="1100">
                            <a:solidFill>
                              <a:schemeClr val="accent3">
                                <a:lumMod val="60000"/>
                                <a:lumOff val="40000"/>
                              </a:schemeClr>
                            </a:solidFill>
                            <a:latin typeface="Cambria Math" panose="02040503050406030204" pitchFamily="18" charset="0"/>
                            <a:ea typeface="Cambria Math" panose="02040503050406030204" pitchFamily="18" charset="0"/>
                          </a:rPr>
                          <m:t>𝜕</m:t>
                        </m:r>
                        <m:r>
                          <m:rPr>
                            <m:sty m:val="p"/>
                          </m:rPr>
                          <a:rPr lang="fr-FR" sz="1100" b="0" i="0" smtClean="0">
                            <a:solidFill>
                              <a:schemeClr val="accent3">
                                <a:lumMod val="60000"/>
                                <a:lumOff val="40000"/>
                              </a:schemeClr>
                            </a:solidFill>
                            <a:latin typeface="Cambria Math" panose="02040503050406030204" pitchFamily="18" charset="0"/>
                            <a:ea typeface="Cambria Math" panose="02040503050406030204" pitchFamily="18" charset="0"/>
                          </a:rPr>
                          <m:t>net</m:t>
                        </m:r>
                        <m:r>
                          <a:rPr lang="fr-FR" sz="1100" b="0" i="0" smtClean="0">
                            <a:solidFill>
                              <a:schemeClr val="accent3">
                                <a:lumMod val="60000"/>
                                <a:lumOff val="40000"/>
                              </a:schemeClr>
                            </a:solidFill>
                            <a:latin typeface="Cambria Math" panose="02040503050406030204" pitchFamily="18" charset="0"/>
                            <a:ea typeface="Cambria Math" panose="02040503050406030204" pitchFamily="18" charset="0"/>
                          </a:rPr>
                          <m:t>_</m:t>
                        </m:r>
                        <m:r>
                          <m:rPr>
                            <m:sty m:val="p"/>
                          </m:rPr>
                          <a:rPr lang="fr-FR" sz="1100" b="0" i="0" smtClean="0">
                            <a:solidFill>
                              <a:schemeClr val="accent3">
                                <a:lumMod val="60000"/>
                                <a:lumOff val="40000"/>
                              </a:schemeClr>
                            </a:solidFill>
                            <a:latin typeface="Cambria Math" panose="02040503050406030204" pitchFamily="18" charset="0"/>
                            <a:ea typeface="Cambria Math" panose="02040503050406030204" pitchFamily="18" charset="0"/>
                          </a:rPr>
                          <m:t>h</m:t>
                        </m:r>
                      </m:den>
                    </m:f>
                  </m:oMath>
                </a14:m>
                <a:r>
                  <a:rPr lang="fr-FR" sz="1100" b="0" dirty="0">
                    <a:solidFill>
                      <a:schemeClr val="accent3">
                        <a:lumMod val="60000"/>
                        <a:lumOff val="40000"/>
                      </a:schemeClr>
                    </a:solidFill>
                    <a:latin typeface="Cambria Math" panose="02040503050406030204" pitchFamily="18" charset="0"/>
                    <a:ea typeface="Cambria Math" panose="02040503050406030204" pitchFamily="18" charset="0"/>
                  </a:rPr>
                  <a:t> = 1</a:t>
                </a:r>
                <a:r>
                  <a:rPr lang="fr-FR" sz="1100" b="0" baseline="-25000" dirty="0">
                    <a:solidFill>
                      <a:schemeClr val="accent3">
                        <a:lumMod val="60000"/>
                        <a:lumOff val="40000"/>
                      </a:schemeClr>
                    </a:solidFill>
                    <a:latin typeface="Cambria Math" panose="02040503050406030204" pitchFamily="18" charset="0"/>
                    <a:ea typeface="Cambria Math" panose="02040503050406030204" pitchFamily="18" charset="0"/>
                  </a:rPr>
                  <a:t>{net_h</a:t>
                </a:r>
                <a14:m>
                  <m:oMath xmlns:m="http://schemas.openxmlformats.org/officeDocument/2006/math">
                    <m:r>
                      <a:rPr lang="fr-FR" sz="1100" b="0" i="1" baseline="-25000" smtClean="0">
                        <a:solidFill>
                          <a:schemeClr val="accent3">
                            <a:lumMod val="60000"/>
                            <a:lumOff val="40000"/>
                          </a:schemeClr>
                        </a:solidFill>
                        <a:latin typeface="Cambria Math" panose="02040503050406030204" pitchFamily="18" charset="0"/>
                        <a:ea typeface="Cambria Math" panose="02040503050406030204" pitchFamily="18" charset="0"/>
                      </a:rPr>
                      <m:t>≥0</m:t>
                    </m:r>
                  </m:oMath>
                </a14:m>
                <a:r>
                  <a:rPr lang="fr-FR" sz="1100" b="0" baseline="-25000" dirty="0">
                    <a:solidFill>
                      <a:schemeClr val="accent3">
                        <a:lumMod val="60000"/>
                        <a:lumOff val="40000"/>
                      </a:schemeClr>
                    </a:solidFill>
                    <a:latin typeface="Cambria Math" panose="02040503050406030204" pitchFamily="18" charset="0"/>
                    <a:ea typeface="Cambria Math" panose="02040503050406030204" pitchFamily="18" charset="0"/>
                  </a:rPr>
                  <a:t>}</a:t>
                </a:r>
              </a:p>
              <a:p>
                <a:endParaRPr lang="fr-FR" sz="1100" b="0" dirty="0">
                  <a:latin typeface="Cambria Math" panose="02040503050406030204" pitchFamily="18" charset="0"/>
                  <a:ea typeface="Cambria Math" panose="02040503050406030204" pitchFamily="18" charset="0"/>
                </a:endParaRPr>
              </a:p>
              <a:p>
                <a14:m>
                  <m:oMath xmlns:m="http://schemas.openxmlformats.org/officeDocument/2006/math">
                    <m:f>
                      <m:fPr>
                        <m:ctrlPr>
                          <a:rPr lang="fr-FR" sz="1100" b="0" i="1" smtClean="0">
                            <a:solidFill>
                              <a:schemeClr val="accent2"/>
                            </a:solidFill>
                            <a:latin typeface="Cambria Math" panose="02040503050406030204" pitchFamily="18" charset="0"/>
                            <a:ea typeface="Cambria Math" panose="02040503050406030204" pitchFamily="18" charset="0"/>
                          </a:rPr>
                        </m:ctrlPr>
                      </m:fPr>
                      <m:num>
                        <m:r>
                          <a:rPr lang="fr-FR" sz="1100">
                            <a:solidFill>
                              <a:schemeClr val="accent2"/>
                            </a:solidFill>
                            <a:latin typeface="Cambria Math" panose="02040503050406030204" pitchFamily="18" charset="0"/>
                            <a:ea typeface="Cambria Math" panose="02040503050406030204" pitchFamily="18" charset="0"/>
                          </a:rPr>
                          <m:t>𝜕</m:t>
                        </m:r>
                        <m:r>
                          <m:rPr>
                            <m:sty m:val="p"/>
                          </m:rPr>
                          <a:rPr lang="fr-FR" sz="1100" b="0" i="0" smtClean="0">
                            <a:solidFill>
                              <a:schemeClr val="accent2"/>
                            </a:solidFill>
                            <a:latin typeface="Cambria Math" panose="02040503050406030204" pitchFamily="18" charset="0"/>
                            <a:ea typeface="Cambria Math" panose="02040503050406030204" pitchFamily="18" charset="0"/>
                          </a:rPr>
                          <m:t>net</m:t>
                        </m:r>
                        <m:r>
                          <a:rPr lang="fr-FR" sz="1100" b="0" i="0" smtClean="0">
                            <a:solidFill>
                              <a:schemeClr val="accent2"/>
                            </a:solidFill>
                            <a:latin typeface="Cambria Math" panose="02040503050406030204" pitchFamily="18" charset="0"/>
                            <a:ea typeface="Cambria Math" panose="02040503050406030204" pitchFamily="18" charset="0"/>
                          </a:rPr>
                          <m:t>_</m:t>
                        </m:r>
                        <m:r>
                          <m:rPr>
                            <m:sty m:val="p"/>
                          </m:rPr>
                          <a:rPr lang="fr-FR" sz="1100" b="0" i="0" smtClean="0">
                            <a:solidFill>
                              <a:schemeClr val="accent2"/>
                            </a:solidFill>
                            <a:latin typeface="Cambria Math" panose="02040503050406030204" pitchFamily="18" charset="0"/>
                            <a:ea typeface="Cambria Math" panose="02040503050406030204" pitchFamily="18" charset="0"/>
                          </a:rPr>
                          <m:t>h</m:t>
                        </m:r>
                      </m:num>
                      <m:den>
                        <m:r>
                          <a:rPr lang="fr-FR" sz="1100">
                            <a:solidFill>
                              <a:schemeClr val="accent2"/>
                            </a:solidFill>
                            <a:latin typeface="Cambria Math" panose="02040503050406030204" pitchFamily="18" charset="0"/>
                            <a:ea typeface="Cambria Math" panose="02040503050406030204" pitchFamily="18" charset="0"/>
                          </a:rPr>
                          <m:t>𝜕</m:t>
                        </m:r>
                        <m:r>
                          <m:rPr>
                            <m:sty m:val="p"/>
                          </m:rPr>
                          <a:rPr lang="fr-FR" sz="1100" b="0" i="0" smtClean="0">
                            <a:solidFill>
                              <a:schemeClr val="accent2"/>
                            </a:solidFill>
                            <a:latin typeface="Cambria Math" panose="02040503050406030204" pitchFamily="18" charset="0"/>
                            <a:ea typeface="Cambria Math" panose="02040503050406030204" pitchFamily="18" charset="0"/>
                          </a:rPr>
                          <m:t>w</m:t>
                        </m:r>
                        <m:r>
                          <a:rPr lang="fr-FR" sz="1100" b="0" i="0" smtClean="0">
                            <a:solidFill>
                              <a:schemeClr val="accent2"/>
                            </a:solidFill>
                            <a:latin typeface="Cambria Math" panose="02040503050406030204" pitchFamily="18" charset="0"/>
                            <a:ea typeface="Cambria Math" panose="02040503050406030204" pitchFamily="18" charset="0"/>
                          </a:rPr>
                          <m:t>1</m:t>
                        </m:r>
                      </m:den>
                    </m:f>
                  </m:oMath>
                </a14:m>
                <a:r>
                  <a:rPr lang="fr-FR" sz="1100" dirty="0">
                    <a:solidFill>
                      <a:schemeClr val="accent2"/>
                    </a:solidFill>
                    <a:latin typeface="Cambria Math" panose="02040503050406030204" pitchFamily="18" charset="0"/>
                    <a:ea typeface="Cambria Math" panose="02040503050406030204" pitchFamily="18" charset="0"/>
                  </a:rPr>
                  <a:t> = i1</a:t>
                </a:r>
              </a:p>
              <a:p>
                <a:endParaRPr lang="fr-FR" sz="1100" dirty="0">
                  <a:latin typeface="Cambria Math" panose="02040503050406030204" pitchFamily="18" charset="0"/>
                  <a:ea typeface="Cambria Math" panose="02040503050406030204" pitchFamily="18" charset="0"/>
                </a:endParaRPr>
              </a:p>
              <a:p>
                <a14:m>
                  <m:oMath xmlns:m="http://schemas.openxmlformats.org/officeDocument/2006/math">
                    <m:f>
                      <m:fPr>
                        <m:ctrlPr>
                          <a:rPr lang="fr-FR" sz="1100" b="0" i="1" smtClean="0">
                            <a:solidFill>
                              <a:schemeClr val="accent5">
                                <a:lumMod val="60000"/>
                                <a:lumOff val="40000"/>
                              </a:schemeClr>
                            </a:solidFill>
                            <a:latin typeface="Cambria Math" panose="02040503050406030204" pitchFamily="18" charset="0"/>
                            <a:ea typeface="Cambria Math" panose="02040503050406030204" pitchFamily="18" charset="0"/>
                          </a:rPr>
                        </m:ctrlPr>
                      </m:fPr>
                      <m:num>
                        <m:r>
                          <a:rPr lang="fr-FR" sz="1100">
                            <a:solidFill>
                              <a:schemeClr val="accent5">
                                <a:lumMod val="60000"/>
                                <a:lumOff val="40000"/>
                              </a:schemeClr>
                            </a:solidFill>
                            <a:latin typeface="Cambria Math" panose="02040503050406030204" pitchFamily="18" charset="0"/>
                            <a:ea typeface="Cambria Math" panose="02040503050406030204" pitchFamily="18" charset="0"/>
                          </a:rPr>
                          <m:t>𝜕</m:t>
                        </m:r>
                        <m:r>
                          <m:rPr>
                            <m:sty m:val="p"/>
                          </m:rPr>
                          <a:rPr lang="fr-FR" sz="1100" b="0" i="0" smtClean="0">
                            <a:solidFill>
                              <a:schemeClr val="accent5">
                                <a:lumMod val="60000"/>
                                <a:lumOff val="40000"/>
                              </a:schemeClr>
                            </a:solidFill>
                            <a:latin typeface="Cambria Math" panose="02040503050406030204" pitchFamily="18" charset="0"/>
                            <a:ea typeface="Cambria Math" panose="02040503050406030204" pitchFamily="18" charset="0"/>
                          </a:rPr>
                          <m:t>net</m:t>
                        </m:r>
                        <m:r>
                          <a:rPr lang="fr-FR" sz="1100" b="0" i="0" smtClean="0">
                            <a:solidFill>
                              <a:schemeClr val="accent5">
                                <a:lumMod val="60000"/>
                                <a:lumOff val="40000"/>
                              </a:schemeClr>
                            </a:solidFill>
                            <a:latin typeface="Cambria Math" panose="02040503050406030204" pitchFamily="18" charset="0"/>
                            <a:ea typeface="Cambria Math" panose="02040503050406030204" pitchFamily="18" charset="0"/>
                          </a:rPr>
                          <m:t>_</m:t>
                        </m:r>
                        <m:r>
                          <a:rPr lang="fr-FR" sz="1100" b="0" i="1" smtClean="0">
                            <a:solidFill>
                              <a:schemeClr val="accent5">
                                <a:lumMod val="60000"/>
                                <a:lumOff val="40000"/>
                              </a:schemeClr>
                            </a:solidFill>
                            <a:latin typeface="Cambria Math" panose="02040503050406030204" pitchFamily="18" charset="0"/>
                            <a:ea typeface="Cambria Math" panose="02040503050406030204" pitchFamily="18" charset="0"/>
                          </a:rPr>
                          <m:t>h</m:t>
                        </m:r>
                      </m:num>
                      <m:den>
                        <m:r>
                          <a:rPr lang="fr-FR" sz="1100">
                            <a:solidFill>
                              <a:schemeClr val="accent5">
                                <a:lumMod val="60000"/>
                                <a:lumOff val="40000"/>
                              </a:schemeClr>
                            </a:solidFill>
                            <a:latin typeface="Cambria Math" panose="02040503050406030204" pitchFamily="18" charset="0"/>
                            <a:ea typeface="Cambria Math" panose="02040503050406030204" pitchFamily="18" charset="0"/>
                          </a:rPr>
                          <m:t>𝜕</m:t>
                        </m:r>
                        <m:r>
                          <a:rPr lang="fr-FR" sz="1100" b="0" i="1" smtClean="0">
                            <a:solidFill>
                              <a:schemeClr val="accent5">
                                <a:lumMod val="60000"/>
                                <a:lumOff val="40000"/>
                              </a:schemeClr>
                            </a:solidFill>
                            <a:latin typeface="Cambria Math" panose="02040503050406030204" pitchFamily="18" charset="0"/>
                            <a:ea typeface="Cambria Math" panose="02040503050406030204" pitchFamily="18" charset="0"/>
                          </a:rPr>
                          <m:t>𝑏</m:t>
                        </m:r>
                        <m:r>
                          <a:rPr lang="fr-FR" sz="1100" b="0" i="1" smtClean="0">
                            <a:solidFill>
                              <a:schemeClr val="accent5">
                                <a:lumMod val="60000"/>
                                <a:lumOff val="40000"/>
                              </a:schemeClr>
                            </a:solidFill>
                            <a:latin typeface="Cambria Math" panose="02040503050406030204" pitchFamily="18" charset="0"/>
                            <a:ea typeface="Cambria Math" panose="02040503050406030204" pitchFamily="18" charset="0"/>
                          </a:rPr>
                          <m:t>1</m:t>
                        </m:r>
                      </m:den>
                    </m:f>
                  </m:oMath>
                </a14:m>
                <a:r>
                  <a:rPr lang="fr-FR" sz="1100" dirty="0">
                    <a:solidFill>
                      <a:schemeClr val="accent5">
                        <a:lumMod val="60000"/>
                        <a:lumOff val="40000"/>
                      </a:schemeClr>
                    </a:solidFill>
                    <a:latin typeface="Cambria Math" panose="02040503050406030204" pitchFamily="18" charset="0"/>
                    <a:ea typeface="Cambria Math" panose="02040503050406030204" pitchFamily="18" charset="0"/>
                  </a:rPr>
                  <a:t> = 1</a:t>
                </a:r>
                <a:endParaRPr lang="fr-FR" sz="1100" dirty="0">
                  <a:latin typeface="Cambria Math" panose="02040503050406030204" pitchFamily="18" charset="0"/>
                  <a:ea typeface="Cambria Math" panose="02040503050406030204" pitchFamily="18" charset="0"/>
                </a:endParaRPr>
              </a:p>
            </p:txBody>
          </p:sp>
        </mc:Choice>
        <mc:Fallback xmlns="">
          <p:sp>
            <p:nvSpPr>
              <p:cNvPr id="41" name="ZoneTexte 40">
                <a:extLst>
                  <a:ext uri="{FF2B5EF4-FFF2-40B4-BE49-F238E27FC236}">
                    <a16:creationId xmlns:a16="http://schemas.microsoft.com/office/drawing/2014/main" id="{3E91B6E9-91D6-14C7-9C7C-24D6F6FEC32B}"/>
                  </a:ext>
                </a:extLst>
              </p:cNvPr>
              <p:cNvSpPr txBox="1">
                <a:spLocks noRot="1" noChangeAspect="1" noMove="1" noResize="1" noEditPoints="1" noAdjustHandles="1" noChangeArrowheads="1" noChangeShapeType="1" noTextEdit="1"/>
              </p:cNvSpPr>
              <p:nvPr/>
            </p:nvSpPr>
            <p:spPr>
              <a:xfrm>
                <a:off x="1127053" y="3600596"/>
                <a:ext cx="1573618" cy="1177502"/>
              </a:xfrm>
              <a:prstGeom prst="rect">
                <a:avLst/>
              </a:prstGeom>
              <a:blipFill>
                <a:blip r:embed="rId5"/>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1B8AD81A-BD79-3047-C950-C8E8C49D63BD}"/>
                  </a:ext>
                </a:extLst>
              </p:cNvPr>
              <p:cNvSpPr txBox="1"/>
              <p:nvPr/>
            </p:nvSpPr>
            <p:spPr>
              <a:xfrm>
                <a:off x="2658139" y="3600596"/>
                <a:ext cx="1270904" cy="3556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fr-FR" sz="900" b="0" i="1" smtClean="0">
                              <a:solidFill>
                                <a:schemeClr val="accent5">
                                  <a:lumMod val="60000"/>
                                  <a:lumOff val="40000"/>
                                </a:schemeClr>
                              </a:solidFill>
                              <a:latin typeface="Cambria Math" panose="02040503050406030204" pitchFamily="18" charset="0"/>
                            </a:rPr>
                          </m:ctrlPr>
                        </m:fPr>
                        <m:num>
                          <m:r>
                            <a:rPr lang="fr-FR" sz="900" b="0" i="0" smtClean="0">
                              <a:solidFill>
                                <a:schemeClr val="accent5">
                                  <a:lumMod val="60000"/>
                                  <a:lumOff val="40000"/>
                                </a:schemeClr>
                              </a:solidFill>
                              <a:latin typeface="Cambria Math" panose="02040503050406030204" pitchFamily="18" charset="0"/>
                            </a:rPr>
                            <m:t>𝜕</m:t>
                          </m:r>
                          <m:r>
                            <m:rPr>
                              <m:sty m:val="p"/>
                            </m:rPr>
                            <a:rPr lang="fr-FR" sz="900" b="0" i="0" smtClean="0">
                              <a:solidFill>
                                <a:schemeClr val="accent5">
                                  <a:lumMod val="60000"/>
                                  <a:lumOff val="40000"/>
                                </a:schemeClr>
                              </a:solidFill>
                              <a:latin typeface="Cambria Math" panose="02040503050406030204" pitchFamily="18" charset="0"/>
                            </a:rPr>
                            <m:t>net</m:t>
                          </m:r>
                          <m:r>
                            <a:rPr lang="fr-FR" sz="900" b="0" i="0" smtClean="0">
                              <a:solidFill>
                                <a:schemeClr val="accent5">
                                  <a:lumMod val="60000"/>
                                  <a:lumOff val="40000"/>
                                </a:schemeClr>
                              </a:solidFill>
                              <a:latin typeface="Cambria Math" panose="02040503050406030204" pitchFamily="18" charset="0"/>
                            </a:rPr>
                            <m:t>_</m:t>
                          </m:r>
                          <m:r>
                            <m:rPr>
                              <m:sty m:val="p"/>
                            </m:rPr>
                            <a:rPr lang="fr-FR" sz="900" b="0" i="0" smtClean="0">
                              <a:solidFill>
                                <a:schemeClr val="accent5">
                                  <a:lumMod val="60000"/>
                                  <a:lumOff val="40000"/>
                                </a:schemeClr>
                              </a:solidFill>
                              <a:latin typeface="Cambria Math" panose="02040503050406030204" pitchFamily="18" charset="0"/>
                            </a:rPr>
                            <m:t>o</m:t>
                          </m:r>
                        </m:num>
                        <m:den>
                          <m:r>
                            <a:rPr lang="fr-FR" sz="900" b="0" i="0" smtClean="0">
                              <a:solidFill>
                                <a:schemeClr val="accent5">
                                  <a:lumMod val="60000"/>
                                  <a:lumOff val="40000"/>
                                </a:schemeClr>
                              </a:solidFill>
                              <a:latin typeface="Cambria Math" panose="02040503050406030204" pitchFamily="18" charset="0"/>
                            </a:rPr>
                            <m:t>𝜕</m:t>
                          </m:r>
                          <m:r>
                            <m:rPr>
                              <m:sty m:val="p"/>
                            </m:rPr>
                            <a:rPr lang="fr-FR" sz="900" b="0" i="0" smtClean="0">
                              <a:solidFill>
                                <a:schemeClr val="accent5">
                                  <a:lumMod val="60000"/>
                                  <a:lumOff val="40000"/>
                                </a:schemeClr>
                              </a:solidFill>
                              <a:latin typeface="Cambria Math" panose="02040503050406030204" pitchFamily="18" charset="0"/>
                            </a:rPr>
                            <m:t>out</m:t>
                          </m:r>
                          <m:r>
                            <a:rPr lang="fr-FR" sz="900" b="0" i="0" smtClean="0">
                              <a:solidFill>
                                <a:schemeClr val="accent5">
                                  <a:lumMod val="60000"/>
                                  <a:lumOff val="40000"/>
                                </a:schemeClr>
                              </a:solidFill>
                              <a:latin typeface="Cambria Math" panose="02040503050406030204" pitchFamily="18" charset="0"/>
                            </a:rPr>
                            <m:t>_</m:t>
                          </m:r>
                          <m:r>
                            <m:rPr>
                              <m:sty m:val="p"/>
                            </m:rPr>
                            <a:rPr lang="fr-FR" sz="900" b="0" i="0" smtClean="0">
                              <a:solidFill>
                                <a:schemeClr val="accent5">
                                  <a:lumMod val="60000"/>
                                  <a:lumOff val="40000"/>
                                </a:schemeClr>
                              </a:solidFill>
                              <a:latin typeface="Cambria Math" panose="02040503050406030204" pitchFamily="18" charset="0"/>
                            </a:rPr>
                            <m:t>h</m:t>
                          </m:r>
                        </m:den>
                      </m:f>
                      <m:r>
                        <a:rPr lang="fr-FR" sz="900" b="0" i="0" smtClean="0">
                          <a:solidFill>
                            <a:schemeClr val="accent5">
                              <a:lumMod val="60000"/>
                              <a:lumOff val="40000"/>
                            </a:schemeClr>
                          </a:solidFill>
                          <a:latin typeface="Cambria Math" panose="02040503050406030204" pitchFamily="18" charset="0"/>
                        </a:rPr>
                        <m:t>=</m:t>
                      </m:r>
                      <m:r>
                        <m:rPr>
                          <m:sty m:val="p"/>
                        </m:rPr>
                        <a:rPr lang="fr-FR" sz="900" b="0" i="0" smtClean="0">
                          <a:solidFill>
                            <a:schemeClr val="accent5">
                              <a:lumMod val="60000"/>
                              <a:lumOff val="40000"/>
                            </a:schemeClr>
                          </a:solidFill>
                          <a:latin typeface="Cambria Math" panose="02040503050406030204" pitchFamily="18" charset="0"/>
                        </a:rPr>
                        <m:t>w</m:t>
                      </m:r>
                      <m:r>
                        <a:rPr lang="fr-FR" sz="900" b="0" i="0" smtClean="0">
                          <a:solidFill>
                            <a:schemeClr val="accent5">
                              <a:lumMod val="60000"/>
                              <a:lumOff val="40000"/>
                            </a:schemeClr>
                          </a:solidFill>
                          <a:latin typeface="Cambria Math" panose="02040503050406030204" pitchFamily="18" charset="0"/>
                        </a:rPr>
                        <m:t>3</m:t>
                      </m:r>
                    </m:oMath>
                  </m:oMathPara>
                </a14:m>
                <a:endParaRPr lang="fr-FR" sz="900" b="0" dirty="0">
                  <a:solidFill>
                    <a:schemeClr val="accent5">
                      <a:lumMod val="60000"/>
                      <a:lumOff val="40000"/>
                    </a:schemeClr>
                  </a:solidFill>
                  <a:latin typeface="Cambria Math" panose="02040503050406030204" pitchFamily="18" charset="0"/>
                </a:endParaRPr>
              </a:p>
            </p:txBody>
          </p:sp>
        </mc:Choice>
        <mc:Fallback xmlns="">
          <p:sp>
            <p:nvSpPr>
              <p:cNvPr id="12" name="ZoneTexte 11">
                <a:extLst>
                  <a:ext uri="{FF2B5EF4-FFF2-40B4-BE49-F238E27FC236}">
                    <a16:creationId xmlns:a16="http://schemas.microsoft.com/office/drawing/2014/main" id="{1B8AD81A-BD79-3047-C950-C8E8C49D63BD}"/>
                  </a:ext>
                </a:extLst>
              </p:cNvPr>
              <p:cNvSpPr txBox="1">
                <a:spLocks noRot="1" noChangeAspect="1" noMove="1" noResize="1" noEditPoints="1" noAdjustHandles="1" noChangeArrowheads="1" noChangeShapeType="1" noTextEdit="1"/>
              </p:cNvSpPr>
              <p:nvPr/>
            </p:nvSpPr>
            <p:spPr>
              <a:xfrm>
                <a:off x="2658139" y="3600596"/>
                <a:ext cx="1270904" cy="355675"/>
              </a:xfrm>
              <a:prstGeom prst="rect">
                <a:avLst/>
              </a:prstGeom>
              <a:blipFill>
                <a:blip r:embed="rId6"/>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5" name="ZoneTexte 44">
                <a:extLst>
                  <a:ext uri="{FF2B5EF4-FFF2-40B4-BE49-F238E27FC236}">
                    <a16:creationId xmlns:a16="http://schemas.microsoft.com/office/drawing/2014/main" id="{C046EA95-21E6-4D80-4E4E-5786CF40B9C6}"/>
                  </a:ext>
                </a:extLst>
              </p:cNvPr>
              <p:cNvSpPr txBox="1"/>
              <p:nvPr/>
            </p:nvSpPr>
            <p:spPr>
              <a:xfrm>
                <a:off x="5669206" y="4276657"/>
                <a:ext cx="6287442" cy="454355"/>
              </a:xfrm>
              <a:prstGeom prst="rect">
                <a:avLst/>
              </a:prstGeom>
              <a:noFill/>
            </p:spPr>
            <p:txBody>
              <a:bodyPr wrap="square" rtlCol="0">
                <a:spAutoFit/>
              </a:bodyPr>
              <a:lstStyle/>
              <a:p>
                <a14:m>
                  <m:oMath xmlns:m="http://schemas.openxmlformats.org/officeDocument/2006/math">
                    <m:f>
                      <m:fPr>
                        <m:ctrlPr>
                          <a:rPr lang="fr-FR" sz="1600" i="1" smtClean="0">
                            <a:latin typeface="Cambria Math" panose="02040503050406030204" pitchFamily="18" charset="0"/>
                            <a:ea typeface="Cambria Math" panose="02040503050406030204" pitchFamily="18" charset="0"/>
                          </a:rPr>
                        </m:ctrlPr>
                      </m:fPr>
                      <m:num>
                        <m:r>
                          <a:rPr lang="fr-FR" sz="1600">
                            <a:latin typeface="Cambria Math" panose="02040503050406030204" pitchFamily="18" charset="0"/>
                            <a:ea typeface="Cambria Math" panose="02040503050406030204" pitchFamily="18" charset="0"/>
                          </a:rPr>
                          <m:t>𝜕</m:t>
                        </m:r>
                        <m:r>
                          <m:rPr>
                            <m:sty m:val="p"/>
                          </m:rPr>
                          <a:rPr lang="fr-FR" sz="1600">
                            <a:latin typeface="Cambria Math" panose="02040503050406030204" pitchFamily="18" charset="0"/>
                            <a:ea typeface="Cambria Math" panose="02040503050406030204" pitchFamily="18" charset="0"/>
                          </a:rPr>
                          <m:t>Loss</m:t>
                        </m:r>
                      </m:num>
                      <m:den>
                        <m:r>
                          <a:rPr lang="fr-FR" sz="1600">
                            <a:latin typeface="Cambria Math" panose="02040503050406030204" pitchFamily="18" charset="0"/>
                            <a:ea typeface="Cambria Math" panose="02040503050406030204" pitchFamily="18" charset="0"/>
                          </a:rPr>
                          <m:t>𝜕</m:t>
                        </m:r>
                        <m:r>
                          <m:rPr>
                            <m:sty m:val="p"/>
                          </m:rPr>
                          <a:rPr lang="fr-FR" sz="1600">
                            <a:latin typeface="Cambria Math" panose="02040503050406030204" pitchFamily="18" charset="0"/>
                            <a:ea typeface="Cambria Math" panose="02040503050406030204" pitchFamily="18" charset="0"/>
                          </a:rPr>
                          <m:t>w</m:t>
                        </m:r>
                        <m:r>
                          <a:rPr lang="fr-FR" sz="1600" b="0" i="1" smtClean="0">
                            <a:latin typeface="Cambria Math" panose="02040503050406030204" pitchFamily="18" charset="0"/>
                            <a:ea typeface="Cambria Math" panose="02040503050406030204" pitchFamily="18" charset="0"/>
                          </a:rPr>
                          <m:t>2</m:t>
                        </m:r>
                      </m:den>
                    </m:f>
                    <m:r>
                      <a:rPr lang="fr-FR" sz="1600">
                        <a:latin typeface="Cambria Math" panose="02040503050406030204" pitchFamily="18" charset="0"/>
                        <a:ea typeface="Cambria Math" panose="02040503050406030204" pitchFamily="18" charset="0"/>
                      </a:rPr>
                      <m:t>= </m:t>
                    </m:r>
                    <m:r>
                      <a:rPr lang="fr-FR" sz="1600">
                        <a:solidFill>
                          <a:schemeClr val="tx2">
                            <a:lumMod val="50000"/>
                            <a:lumOff val="50000"/>
                          </a:schemeClr>
                        </a:solidFill>
                        <a:latin typeface="Cambria Math" panose="02040503050406030204" pitchFamily="18" charset="0"/>
                        <a:ea typeface="Cambria Math" panose="02040503050406030204" pitchFamily="18" charset="0"/>
                      </a:rPr>
                      <m:t>−2</m:t>
                    </m:r>
                  </m:oMath>
                </a14:m>
                <a:r>
                  <a:rPr lang="fr-FR" sz="1600" dirty="0">
                    <a:solidFill>
                      <a:schemeClr val="tx2">
                        <a:lumMod val="50000"/>
                        <a:lumOff val="50000"/>
                      </a:schemeClr>
                    </a:solidFill>
                    <a:latin typeface="Cambria Math" panose="02040503050406030204" pitchFamily="18" charset="0"/>
                    <a:ea typeface="Cambria Math" panose="02040503050406030204" pitchFamily="18" charset="0"/>
                  </a:rPr>
                  <a:t>(</a:t>
                </a:r>
                <a14:m>
                  <m:oMath xmlns:m="http://schemas.openxmlformats.org/officeDocument/2006/math">
                    <m:r>
                      <m:rPr>
                        <m:sty m:val="p"/>
                      </m:rPr>
                      <a:rPr lang="fr-FR" sz="1600">
                        <a:solidFill>
                          <a:schemeClr val="tx2">
                            <a:lumMod val="50000"/>
                            <a:lumOff val="50000"/>
                          </a:schemeClr>
                        </a:solidFill>
                        <a:latin typeface="Cambria Math" panose="02040503050406030204" pitchFamily="18" charset="0"/>
                        <a:ea typeface="Cambria Math" panose="02040503050406030204" pitchFamily="18" charset="0"/>
                      </a:rPr>
                      <m:t>target</m:t>
                    </m:r>
                    <m:r>
                      <a:rPr lang="fr-FR" sz="1600">
                        <a:solidFill>
                          <a:schemeClr val="tx2">
                            <a:lumMod val="50000"/>
                            <a:lumOff val="50000"/>
                          </a:schemeClr>
                        </a:solidFill>
                        <a:latin typeface="Cambria Math" panose="02040503050406030204" pitchFamily="18" charset="0"/>
                        <a:ea typeface="Cambria Math" panose="02040503050406030204" pitchFamily="18" charset="0"/>
                      </a:rPr>
                      <m:t>−</m:t>
                    </m:r>
                    <m:r>
                      <m:rPr>
                        <m:sty m:val="p"/>
                      </m:rPr>
                      <a:rPr lang="fr-FR" sz="1600">
                        <a:solidFill>
                          <a:schemeClr val="tx2">
                            <a:lumMod val="50000"/>
                            <a:lumOff val="50000"/>
                          </a:schemeClr>
                        </a:solidFill>
                        <a:latin typeface="Cambria Math" panose="02040503050406030204" pitchFamily="18" charset="0"/>
                        <a:ea typeface="Cambria Math" panose="02040503050406030204" pitchFamily="18" charset="0"/>
                      </a:rPr>
                      <m:t>out</m:t>
                    </m:r>
                    <m:r>
                      <a:rPr lang="fr-FR" sz="1600">
                        <a:solidFill>
                          <a:schemeClr val="tx2">
                            <a:lumMod val="50000"/>
                            <a:lumOff val="50000"/>
                          </a:schemeClr>
                        </a:solidFill>
                        <a:latin typeface="Cambria Math" panose="02040503050406030204" pitchFamily="18" charset="0"/>
                        <a:ea typeface="Cambria Math" panose="02040503050406030204" pitchFamily="18" charset="0"/>
                      </a:rPr>
                      <m:t>_</m:t>
                    </m:r>
                    <m:r>
                      <m:rPr>
                        <m:sty m:val="p"/>
                      </m:rPr>
                      <a:rPr lang="fr-FR" sz="1600">
                        <a:solidFill>
                          <a:schemeClr val="tx2">
                            <a:lumMod val="50000"/>
                            <a:lumOff val="50000"/>
                          </a:schemeClr>
                        </a:solidFill>
                        <a:latin typeface="Cambria Math" panose="02040503050406030204" pitchFamily="18" charset="0"/>
                        <a:ea typeface="Cambria Math" panose="02040503050406030204" pitchFamily="18" charset="0"/>
                      </a:rPr>
                      <m:t>o</m:t>
                    </m:r>
                  </m:oMath>
                </a14:m>
                <a:r>
                  <a:rPr lang="fr-FR" sz="1600" dirty="0">
                    <a:solidFill>
                      <a:schemeClr val="tx2">
                        <a:lumMod val="50000"/>
                        <a:lumOff val="50000"/>
                      </a:schemeClr>
                    </a:solidFill>
                    <a:latin typeface="Cambria Math" panose="02040503050406030204" pitchFamily="18" charset="0"/>
                    <a:ea typeface="Cambria Math" panose="02040503050406030204" pitchFamily="18" charset="0"/>
                  </a:rPr>
                  <a:t>) </a:t>
                </a:r>
                <a14:m>
                  <m:oMath xmlns:m="http://schemas.openxmlformats.org/officeDocument/2006/math">
                    <m:r>
                      <a:rPr lang="fr-FR" sz="1600" b="0" i="1" dirty="0" smtClean="0">
                        <a:solidFill>
                          <a:schemeClr val="tx2">
                            <a:lumMod val="50000"/>
                            <a:lumOff val="50000"/>
                          </a:schemeClr>
                        </a:solidFill>
                        <a:latin typeface="Cambria Math" panose="02040503050406030204" pitchFamily="18" charset="0"/>
                        <a:ea typeface="Cambria Math" panose="02040503050406030204" pitchFamily="18" charset="0"/>
                      </a:rPr>
                      <m:t>×</m:t>
                    </m:r>
                    <m:r>
                      <m:rPr>
                        <m:nor/>
                      </m:rPr>
                      <a:rPr lang="fr-FR" sz="1600" dirty="0">
                        <a:solidFill>
                          <a:schemeClr val="tx2">
                            <a:lumMod val="50000"/>
                            <a:lumOff val="50000"/>
                          </a:schemeClr>
                        </a:solidFill>
                        <a:latin typeface="Cambria Math" panose="02040503050406030204" pitchFamily="18" charset="0"/>
                        <a:ea typeface="Cambria Math" panose="02040503050406030204" pitchFamily="18" charset="0"/>
                      </a:rPr>
                      <m:t>out</m:t>
                    </m:r>
                    <m:r>
                      <m:rPr>
                        <m:nor/>
                      </m:rPr>
                      <a:rPr lang="fr-FR" sz="1600" dirty="0">
                        <a:solidFill>
                          <a:schemeClr val="tx2">
                            <a:lumMod val="50000"/>
                            <a:lumOff val="50000"/>
                          </a:schemeClr>
                        </a:solidFill>
                        <a:latin typeface="Cambria Math" panose="02040503050406030204" pitchFamily="18" charset="0"/>
                        <a:ea typeface="Cambria Math" panose="02040503050406030204" pitchFamily="18" charset="0"/>
                      </a:rPr>
                      <m:t>_</m:t>
                    </m:r>
                    <m:r>
                      <m:rPr>
                        <m:nor/>
                      </m:rPr>
                      <a:rPr lang="fr-FR" sz="1600" dirty="0">
                        <a:solidFill>
                          <a:schemeClr val="tx2">
                            <a:lumMod val="50000"/>
                            <a:lumOff val="50000"/>
                          </a:schemeClr>
                        </a:solidFill>
                        <a:latin typeface="Cambria Math" panose="02040503050406030204" pitchFamily="18" charset="0"/>
                        <a:ea typeface="Cambria Math" panose="02040503050406030204" pitchFamily="18" charset="0"/>
                      </a:rPr>
                      <m:t>o</m:t>
                    </m:r>
                    <m:r>
                      <a:rPr lang="fr-FR" sz="1600" i="1" dirty="0">
                        <a:solidFill>
                          <a:schemeClr val="tx2">
                            <a:lumMod val="50000"/>
                            <a:lumOff val="50000"/>
                          </a:schemeClr>
                        </a:solidFill>
                        <a:latin typeface="Cambria Math" panose="02040503050406030204" pitchFamily="18" charset="0"/>
                        <a:ea typeface="Cambria Math" panose="02040503050406030204" pitchFamily="18" charset="0"/>
                      </a:rPr>
                      <m:t> </m:t>
                    </m:r>
                    <m:d>
                      <m:dPr>
                        <m:ctrlPr>
                          <a:rPr lang="fr-FR" sz="1600" i="1">
                            <a:solidFill>
                              <a:schemeClr val="tx2">
                                <a:lumMod val="50000"/>
                                <a:lumOff val="50000"/>
                              </a:schemeClr>
                            </a:solidFill>
                            <a:latin typeface="Cambria Math" panose="02040503050406030204" pitchFamily="18" charset="0"/>
                            <a:ea typeface="Cambria Math" panose="02040503050406030204" pitchFamily="18" charset="0"/>
                          </a:rPr>
                        </m:ctrlPr>
                      </m:dPr>
                      <m:e>
                        <m:r>
                          <a:rPr lang="fr-FR" sz="1600">
                            <a:solidFill>
                              <a:schemeClr val="tx2">
                                <a:lumMod val="50000"/>
                                <a:lumOff val="50000"/>
                              </a:schemeClr>
                            </a:solidFill>
                            <a:latin typeface="Cambria Math" panose="02040503050406030204" pitchFamily="18" charset="0"/>
                            <a:ea typeface="Cambria Math" panose="02040503050406030204" pitchFamily="18" charset="0"/>
                          </a:rPr>
                          <m:t>1−</m:t>
                        </m:r>
                        <m:r>
                          <m:rPr>
                            <m:sty m:val="p"/>
                          </m:rPr>
                          <a:rPr lang="fr-FR" sz="1600" b="0" i="0" smtClean="0">
                            <a:solidFill>
                              <a:schemeClr val="tx2">
                                <a:lumMod val="50000"/>
                                <a:lumOff val="50000"/>
                              </a:schemeClr>
                            </a:solidFill>
                            <a:latin typeface="Cambria Math" panose="02040503050406030204" pitchFamily="18" charset="0"/>
                            <a:ea typeface="Cambria Math" panose="02040503050406030204" pitchFamily="18" charset="0"/>
                          </a:rPr>
                          <m:t>out</m:t>
                        </m:r>
                        <m:r>
                          <a:rPr lang="fr-FR" sz="1600" b="0" i="0" smtClean="0">
                            <a:solidFill>
                              <a:schemeClr val="tx2">
                                <a:lumMod val="50000"/>
                                <a:lumOff val="50000"/>
                              </a:schemeClr>
                            </a:solidFill>
                            <a:latin typeface="Cambria Math" panose="02040503050406030204" pitchFamily="18" charset="0"/>
                            <a:ea typeface="Cambria Math" panose="02040503050406030204" pitchFamily="18" charset="0"/>
                          </a:rPr>
                          <m:t>_</m:t>
                        </m:r>
                        <m:r>
                          <m:rPr>
                            <m:sty m:val="p"/>
                          </m:rPr>
                          <a:rPr lang="fr-FR" sz="1600" b="0" i="0" smtClean="0">
                            <a:solidFill>
                              <a:schemeClr val="tx2">
                                <a:lumMod val="50000"/>
                                <a:lumOff val="50000"/>
                              </a:schemeClr>
                            </a:solidFill>
                            <a:latin typeface="Cambria Math" panose="02040503050406030204" pitchFamily="18" charset="0"/>
                            <a:ea typeface="Cambria Math" panose="02040503050406030204" pitchFamily="18" charset="0"/>
                          </a:rPr>
                          <m:t>o</m:t>
                        </m:r>
                      </m:e>
                    </m:d>
                    <m:r>
                      <a:rPr lang="fr-FR" sz="1600" b="0" i="1" smtClean="0">
                        <a:solidFill>
                          <a:schemeClr val="tx2">
                            <a:lumMod val="50000"/>
                            <a:lumOff val="50000"/>
                          </a:schemeClr>
                        </a:solidFill>
                        <a:latin typeface="Cambria Math" panose="02040503050406030204" pitchFamily="18" charset="0"/>
                        <a:ea typeface="Cambria Math" panose="02040503050406030204" pitchFamily="18" charset="0"/>
                      </a:rPr>
                      <m:t> </m:t>
                    </m:r>
                    <m:r>
                      <a:rPr lang="fr-FR" sz="1600" i="1">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 </m:t>
                    </m:r>
                    <m:r>
                      <m:rPr>
                        <m:sty m:val="p"/>
                      </m:rPr>
                      <a:rPr lang="fr-FR" sz="1600" b="0" i="0" smtClean="0">
                        <a:solidFill>
                          <a:schemeClr val="accent5">
                            <a:lumMod val="60000"/>
                            <a:lumOff val="40000"/>
                          </a:schemeClr>
                        </a:solidFill>
                        <a:latin typeface="Cambria Math" panose="02040503050406030204" pitchFamily="18" charset="0"/>
                        <a:ea typeface="Cambria Math" panose="02040503050406030204" pitchFamily="18" charset="0"/>
                      </a:rPr>
                      <m:t>w</m:t>
                    </m:r>
                    <m:r>
                      <a:rPr lang="fr-FR" sz="1600" b="0" i="0" smtClean="0">
                        <a:solidFill>
                          <a:schemeClr val="accent5">
                            <a:lumMod val="60000"/>
                            <a:lumOff val="40000"/>
                          </a:schemeClr>
                        </a:solidFill>
                        <a:latin typeface="Cambria Math" panose="02040503050406030204" pitchFamily="18" charset="0"/>
                        <a:ea typeface="Cambria Math" panose="02040503050406030204" pitchFamily="18" charset="0"/>
                      </a:rPr>
                      <m:t>3</m:t>
                    </m:r>
                    <m:r>
                      <a:rPr lang="fr-FR" sz="1600" b="0" i="1" smtClean="0">
                        <a:latin typeface="Cambria Math" panose="02040503050406030204" pitchFamily="18" charset="0"/>
                        <a:ea typeface="Cambria Math" panose="02040503050406030204" pitchFamily="18" charset="0"/>
                      </a:rPr>
                      <m:t> </m:t>
                    </m:r>
                    <m:r>
                      <a:rPr lang="fr-FR" sz="1600" i="1">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 </m:t>
                    </m:r>
                    <m:r>
                      <m:rPr>
                        <m:nor/>
                      </m:rPr>
                      <a:rPr lang="fr-FR" sz="1600" dirty="0" smtClean="0">
                        <a:solidFill>
                          <a:schemeClr val="accent3">
                            <a:lumMod val="60000"/>
                            <a:lumOff val="40000"/>
                          </a:schemeClr>
                        </a:solidFill>
                        <a:latin typeface="Cambria Math" panose="02040503050406030204" pitchFamily="18" charset="0"/>
                        <a:ea typeface="Cambria Math" panose="02040503050406030204" pitchFamily="18" charset="0"/>
                      </a:rPr>
                      <m:t>1</m:t>
                    </m:r>
                    <m:r>
                      <m:rPr>
                        <m:nor/>
                      </m:rPr>
                      <a:rPr lang="fr-FR" sz="1600" baseline="-25000" dirty="0" smtClean="0">
                        <a:solidFill>
                          <a:schemeClr val="accent3">
                            <a:lumMod val="60000"/>
                            <a:lumOff val="40000"/>
                          </a:schemeClr>
                        </a:solidFill>
                        <a:latin typeface="Cambria Math" panose="02040503050406030204" pitchFamily="18" charset="0"/>
                        <a:ea typeface="Cambria Math" panose="02040503050406030204" pitchFamily="18" charset="0"/>
                      </a:rPr>
                      <m:t>{</m:t>
                    </m:r>
                    <m:r>
                      <m:rPr>
                        <m:nor/>
                      </m:rPr>
                      <a:rPr lang="fr-FR" sz="1600" baseline="-25000" dirty="0" smtClean="0">
                        <a:solidFill>
                          <a:schemeClr val="accent3">
                            <a:lumMod val="60000"/>
                            <a:lumOff val="40000"/>
                          </a:schemeClr>
                        </a:solidFill>
                        <a:latin typeface="Cambria Math" panose="02040503050406030204" pitchFamily="18" charset="0"/>
                        <a:ea typeface="Cambria Math" panose="02040503050406030204" pitchFamily="18" charset="0"/>
                      </a:rPr>
                      <m:t>net</m:t>
                    </m:r>
                    <m:r>
                      <m:rPr>
                        <m:nor/>
                      </m:rPr>
                      <a:rPr lang="fr-FR" sz="1600" baseline="-25000" dirty="0" smtClean="0">
                        <a:solidFill>
                          <a:schemeClr val="accent3">
                            <a:lumMod val="60000"/>
                            <a:lumOff val="40000"/>
                          </a:schemeClr>
                        </a:solidFill>
                        <a:latin typeface="Cambria Math" panose="02040503050406030204" pitchFamily="18" charset="0"/>
                        <a:ea typeface="Cambria Math" panose="02040503050406030204" pitchFamily="18" charset="0"/>
                      </a:rPr>
                      <m:t>_</m:t>
                    </m:r>
                    <m:r>
                      <m:rPr>
                        <m:nor/>
                      </m:rPr>
                      <a:rPr lang="fr-FR" sz="1600" baseline="-25000" dirty="0" smtClean="0">
                        <a:solidFill>
                          <a:schemeClr val="accent3">
                            <a:lumMod val="60000"/>
                            <a:lumOff val="40000"/>
                          </a:schemeClr>
                        </a:solidFill>
                        <a:latin typeface="Cambria Math" panose="02040503050406030204" pitchFamily="18" charset="0"/>
                        <a:ea typeface="Cambria Math" panose="02040503050406030204" pitchFamily="18" charset="0"/>
                      </a:rPr>
                      <m:t>h</m:t>
                    </m:r>
                    <m:r>
                      <a:rPr lang="fr-FR" sz="1600" i="1" baseline="-25000">
                        <a:solidFill>
                          <a:schemeClr val="accent3">
                            <a:lumMod val="60000"/>
                            <a:lumOff val="40000"/>
                          </a:schemeClr>
                        </a:solidFill>
                        <a:latin typeface="Cambria Math" panose="02040503050406030204" pitchFamily="18" charset="0"/>
                        <a:ea typeface="Cambria Math" panose="02040503050406030204" pitchFamily="18" charset="0"/>
                      </a:rPr>
                      <m:t>≥0</m:t>
                    </m:r>
                    <m:r>
                      <m:rPr>
                        <m:nor/>
                      </m:rPr>
                      <a:rPr lang="fr-FR" sz="1600" baseline="-25000" dirty="0">
                        <a:solidFill>
                          <a:schemeClr val="accent3">
                            <a:lumMod val="60000"/>
                            <a:lumOff val="40000"/>
                          </a:schemeClr>
                        </a:solidFill>
                        <a:latin typeface="Cambria Math" panose="02040503050406030204" pitchFamily="18" charset="0"/>
                        <a:ea typeface="Cambria Math" panose="02040503050406030204" pitchFamily="18" charset="0"/>
                      </a:rPr>
                      <m:t>}</m:t>
                    </m:r>
                    <m:r>
                      <a:rPr lang="fr-FR" sz="1600" b="0" i="1" baseline="-25000" dirty="0" smtClean="0">
                        <a:solidFill>
                          <a:schemeClr val="accent3">
                            <a:lumMod val="60000"/>
                            <a:lumOff val="40000"/>
                          </a:schemeClr>
                        </a:solidFill>
                        <a:latin typeface="Cambria Math" panose="02040503050406030204" pitchFamily="18" charset="0"/>
                        <a:ea typeface="Cambria Math" panose="02040503050406030204" pitchFamily="18" charset="0"/>
                      </a:rPr>
                      <m:t> </m:t>
                    </m:r>
                    <m:r>
                      <a:rPr lang="fr-FR" sz="1600" i="1">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 </m:t>
                    </m:r>
                    <m:r>
                      <m:rPr>
                        <m:sty m:val="p"/>
                      </m:rPr>
                      <a:rPr lang="fr-FR" sz="1600" b="0" i="0" smtClean="0">
                        <a:solidFill>
                          <a:schemeClr val="accent2"/>
                        </a:solidFill>
                        <a:latin typeface="Cambria Math" panose="02040503050406030204" pitchFamily="18" charset="0"/>
                        <a:ea typeface="Cambria Math" panose="02040503050406030204" pitchFamily="18" charset="0"/>
                      </a:rPr>
                      <m:t>i</m:t>
                    </m:r>
                    <m:r>
                      <a:rPr lang="fr-FR" sz="1600" b="0" i="0" baseline="-25000" smtClean="0">
                        <a:solidFill>
                          <a:schemeClr val="accent2"/>
                        </a:solidFill>
                        <a:latin typeface="Cambria Math" panose="02040503050406030204" pitchFamily="18" charset="0"/>
                        <a:ea typeface="Cambria Math" panose="02040503050406030204" pitchFamily="18" charset="0"/>
                      </a:rPr>
                      <m:t>2</m:t>
                    </m:r>
                  </m:oMath>
                </a14:m>
                <a:endParaRPr lang="fr-FR" sz="1600" baseline="-25000" dirty="0">
                  <a:latin typeface="Cambria Math" panose="02040503050406030204" pitchFamily="18" charset="0"/>
                  <a:ea typeface="Cambria Math" panose="02040503050406030204" pitchFamily="18" charset="0"/>
                </a:endParaRPr>
              </a:p>
            </p:txBody>
          </p:sp>
        </mc:Choice>
        <mc:Fallback xmlns="">
          <p:sp>
            <p:nvSpPr>
              <p:cNvPr id="45" name="ZoneTexte 44">
                <a:extLst>
                  <a:ext uri="{FF2B5EF4-FFF2-40B4-BE49-F238E27FC236}">
                    <a16:creationId xmlns:a16="http://schemas.microsoft.com/office/drawing/2014/main" id="{C046EA95-21E6-4D80-4E4E-5786CF40B9C6}"/>
                  </a:ext>
                </a:extLst>
              </p:cNvPr>
              <p:cNvSpPr txBox="1">
                <a:spLocks noRot="1" noChangeAspect="1" noMove="1" noResize="1" noEditPoints="1" noAdjustHandles="1" noChangeArrowheads="1" noChangeShapeType="1" noTextEdit="1"/>
              </p:cNvSpPr>
              <p:nvPr/>
            </p:nvSpPr>
            <p:spPr>
              <a:xfrm>
                <a:off x="5669206" y="4276657"/>
                <a:ext cx="6287442" cy="454355"/>
              </a:xfrm>
              <a:prstGeom prst="rect">
                <a:avLst/>
              </a:prstGeom>
              <a:blipFill>
                <a:blip r:embed="rId7"/>
                <a:stretch>
                  <a:fillRect b="-5405"/>
                </a:stretch>
              </a:blipFill>
            </p:spPr>
            <p:txBody>
              <a:bodyPr/>
              <a:lstStyle/>
              <a:p>
                <a:r>
                  <a:rPr lang="en-GB">
                    <a:noFill/>
                  </a:rPr>
                  <a:t> </a:t>
                </a:r>
              </a:p>
            </p:txBody>
          </p:sp>
        </mc:Fallback>
      </mc:AlternateContent>
      <p:sp>
        <p:nvSpPr>
          <p:cNvPr id="46" name="ZoneTexte 45">
            <a:extLst>
              <a:ext uri="{FF2B5EF4-FFF2-40B4-BE49-F238E27FC236}">
                <a16:creationId xmlns:a16="http://schemas.microsoft.com/office/drawing/2014/main" id="{8F72D3ED-8875-96D0-3C9B-1B3FD17982FA}"/>
              </a:ext>
            </a:extLst>
          </p:cNvPr>
          <p:cNvSpPr txBox="1"/>
          <p:nvPr/>
        </p:nvSpPr>
        <p:spPr>
          <a:xfrm>
            <a:off x="7506584" y="2154004"/>
            <a:ext cx="1881963" cy="584775"/>
          </a:xfrm>
          <a:prstGeom prst="rect">
            <a:avLst/>
          </a:prstGeom>
          <a:noFill/>
        </p:spPr>
        <p:txBody>
          <a:bodyPr wrap="square" rtlCol="0">
            <a:spAutoFit/>
          </a:bodyPr>
          <a:lstStyle/>
          <a:p>
            <a:r>
              <a:rPr lang="fr-FR" sz="3200" b="1" dirty="0"/>
              <a:t>Gradient</a:t>
            </a:r>
          </a:p>
        </p:txBody>
      </p:sp>
      <p:sp>
        <p:nvSpPr>
          <p:cNvPr id="47" name="ZoneTexte 46">
            <a:extLst>
              <a:ext uri="{FF2B5EF4-FFF2-40B4-BE49-F238E27FC236}">
                <a16:creationId xmlns:a16="http://schemas.microsoft.com/office/drawing/2014/main" id="{F937689D-EC92-D37A-EDDC-D95DCC188586}"/>
              </a:ext>
            </a:extLst>
          </p:cNvPr>
          <p:cNvSpPr txBox="1"/>
          <p:nvPr/>
        </p:nvSpPr>
        <p:spPr>
          <a:xfrm>
            <a:off x="5655034" y="2665208"/>
            <a:ext cx="1669310" cy="307777"/>
          </a:xfrm>
          <a:prstGeom prst="rect">
            <a:avLst/>
          </a:prstGeom>
          <a:noFill/>
        </p:spPr>
        <p:txBody>
          <a:bodyPr wrap="square" rtlCol="0">
            <a:spAutoFit/>
          </a:bodyPr>
          <a:lstStyle/>
          <a:p>
            <a:r>
              <a:rPr lang="fr-FR" sz="1400" b="1" dirty="0"/>
              <a:t>CHAIN RULE</a:t>
            </a:r>
          </a:p>
        </p:txBody>
      </p:sp>
      <p:sp>
        <p:nvSpPr>
          <p:cNvPr id="49" name="Espace réservé du pied de page 48">
            <a:extLst>
              <a:ext uri="{FF2B5EF4-FFF2-40B4-BE49-F238E27FC236}">
                <a16:creationId xmlns:a16="http://schemas.microsoft.com/office/drawing/2014/main" id="{4555B40C-7E4F-31F0-B191-682CFAE952F7}"/>
              </a:ext>
            </a:extLst>
          </p:cNvPr>
          <p:cNvSpPr>
            <a:spLocks noGrp="1"/>
          </p:cNvSpPr>
          <p:nvPr>
            <p:ph type="ftr" sz="quarter" idx="11"/>
          </p:nvPr>
        </p:nvSpPr>
        <p:spPr/>
        <p:txBody>
          <a:bodyPr/>
          <a:lstStyle/>
          <a:p>
            <a:r>
              <a:rPr lang="fr-FR"/>
              <a:t>Introduction to Neural Networks. Author: David Thébault</a:t>
            </a:r>
          </a:p>
        </p:txBody>
      </p:sp>
      <p:pic>
        <p:nvPicPr>
          <p:cNvPr id="77" name="Image 76">
            <a:extLst>
              <a:ext uri="{FF2B5EF4-FFF2-40B4-BE49-F238E27FC236}">
                <a16:creationId xmlns:a16="http://schemas.microsoft.com/office/drawing/2014/main" id="{829A3961-8D0F-B13F-A964-6FD849FC1C04}"/>
              </a:ext>
            </a:extLst>
          </p:cNvPr>
          <p:cNvPicPr>
            <a:picLocks noChangeAspect="1"/>
          </p:cNvPicPr>
          <p:nvPr/>
        </p:nvPicPr>
        <p:blipFill>
          <a:blip r:embed="rId8"/>
          <a:stretch>
            <a:fillRect/>
          </a:stretch>
        </p:blipFill>
        <p:spPr>
          <a:xfrm>
            <a:off x="325277" y="1511827"/>
            <a:ext cx="5241135" cy="1833713"/>
          </a:xfrm>
          <a:prstGeom prst="rect">
            <a:avLst/>
          </a:prstGeom>
        </p:spPr>
      </p:pic>
    </p:spTree>
    <p:extLst>
      <p:ext uri="{BB962C8B-B14F-4D97-AF65-F5344CB8AC3E}">
        <p14:creationId xmlns:p14="http://schemas.microsoft.com/office/powerpoint/2010/main" val="27970344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4BB32-A7EA-191F-2134-DA9D0E26B10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2FD45B8-1836-6A5D-52F9-752995670863}"/>
              </a:ext>
            </a:extLst>
          </p:cNvPr>
          <p:cNvSpPr>
            <a:spLocks noGrp="1"/>
          </p:cNvSpPr>
          <p:nvPr>
            <p:ph type="ctrTitle"/>
          </p:nvPr>
        </p:nvSpPr>
        <p:spPr/>
        <p:txBody>
          <a:bodyPr/>
          <a:lstStyle/>
          <a:p>
            <a:r>
              <a:rPr lang="en-GB" dirty="0"/>
              <a:t>Neural Networks with multiple layers II</a:t>
            </a:r>
            <a:endParaRPr lang="en-GB" noProof="0" dirty="0"/>
          </a:p>
        </p:txBody>
      </p:sp>
      <p:sp>
        <p:nvSpPr>
          <p:cNvPr id="3" name="Espace réservé du pied de page 2">
            <a:extLst>
              <a:ext uri="{FF2B5EF4-FFF2-40B4-BE49-F238E27FC236}">
                <a16:creationId xmlns:a16="http://schemas.microsoft.com/office/drawing/2014/main" id="{9275CF5A-832B-22EE-13F1-4E8A35667B00}"/>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9755414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C589F-034E-C175-0603-1B7B2F821A86}"/>
            </a:ext>
          </a:extLst>
        </p:cNvPr>
        <p:cNvGrpSpPr/>
        <p:nvPr/>
      </p:nvGrpSpPr>
      <p:grpSpPr>
        <a:xfrm>
          <a:off x="0" y="0"/>
          <a:ext cx="0" cy="0"/>
          <a:chOff x="0" y="0"/>
          <a:chExt cx="0" cy="0"/>
        </a:xfrm>
      </p:grpSpPr>
      <p:sp>
        <p:nvSpPr>
          <p:cNvPr id="71" name="ZoneTexte 70">
            <a:extLst>
              <a:ext uri="{FF2B5EF4-FFF2-40B4-BE49-F238E27FC236}">
                <a16:creationId xmlns:a16="http://schemas.microsoft.com/office/drawing/2014/main" id="{E428F602-C971-0F74-AF32-EA3742E3921F}"/>
              </a:ext>
            </a:extLst>
          </p:cNvPr>
          <p:cNvSpPr txBox="1"/>
          <p:nvPr/>
        </p:nvSpPr>
        <p:spPr>
          <a:xfrm>
            <a:off x="8929917" y="1850065"/>
            <a:ext cx="2659091" cy="2668772"/>
          </a:xfrm>
          <a:prstGeom prst="rect">
            <a:avLst/>
          </a:prstGeom>
          <a:noFill/>
          <a:ln>
            <a:solidFill>
              <a:schemeClr val="tx1"/>
            </a:solidFill>
          </a:ln>
        </p:spPr>
        <p:txBody>
          <a:bodyPr wrap="square" rtlCol="0">
            <a:spAutoFit/>
          </a:bodyPr>
          <a:lstStyle/>
          <a:p>
            <a:endParaRPr lang="fr-FR" dirty="0"/>
          </a:p>
        </p:txBody>
      </p:sp>
      <p:sp>
        <p:nvSpPr>
          <p:cNvPr id="2" name="Titre 1">
            <a:extLst>
              <a:ext uri="{FF2B5EF4-FFF2-40B4-BE49-F238E27FC236}">
                <a16:creationId xmlns:a16="http://schemas.microsoft.com/office/drawing/2014/main" id="{DEB26FA3-5D82-4ACA-84D0-51A617C54350}"/>
              </a:ext>
            </a:extLst>
          </p:cNvPr>
          <p:cNvSpPr>
            <a:spLocks noGrp="1"/>
          </p:cNvSpPr>
          <p:nvPr>
            <p:ph type="title"/>
          </p:nvPr>
        </p:nvSpPr>
        <p:spPr/>
        <p:txBody>
          <a:bodyPr/>
          <a:lstStyle/>
          <a:p>
            <a:r>
              <a:rPr lang="fr-FR" dirty="0"/>
              <a:t>Neural Network</a:t>
            </a:r>
          </a:p>
        </p:txBody>
      </p:sp>
      <mc:AlternateContent xmlns:mc="http://schemas.openxmlformats.org/markup-compatibility/2006" xmlns:a14="http://schemas.microsoft.com/office/drawing/2010/main">
        <mc:Choice Requires="a14">
          <p:sp>
            <p:nvSpPr>
              <p:cNvPr id="40" name="ZoneTexte 39">
                <a:extLst>
                  <a:ext uri="{FF2B5EF4-FFF2-40B4-BE49-F238E27FC236}">
                    <a16:creationId xmlns:a16="http://schemas.microsoft.com/office/drawing/2014/main" id="{CB581595-DD57-DC81-0A19-5C236FDB92D1}"/>
                  </a:ext>
                </a:extLst>
              </p:cNvPr>
              <p:cNvSpPr txBox="1"/>
              <p:nvPr/>
            </p:nvSpPr>
            <p:spPr>
              <a:xfrm>
                <a:off x="3595408" y="5748405"/>
                <a:ext cx="2362022" cy="553998"/>
              </a:xfrm>
              <a:prstGeom prst="rect">
                <a:avLst/>
              </a:prstGeom>
              <a:noFill/>
            </p:spPr>
            <p:txBody>
              <a:bodyPr wrap="square" lIns="0" tIns="0" rIns="0" bIns="0" rtlCol="0">
                <a:spAutoFit/>
              </a:bodyPr>
              <a:lstStyle/>
              <a:p>
                <a:r>
                  <a:rPr lang="fr-FR" sz="1200" dirty="0">
                    <a:latin typeface="Cambria Math" panose="02040503050406030204" pitchFamily="18" charset="0"/>
                  </a:rPr>
                  <a:t>net_h1</a:t>
                </a:r>
                <a:r>
                  <a:rPr lang="fr-FR" sz="1200" b="0" i="1" dirty="0">
                    <a:latin typeface="Cambria Math" panose="02040503050406030204" pitchFamily="18" charset="0"/>
                  </a:rPr>
                  <a:t> = </a:t>
                </a:r>
                <a14:m>
                  <m:oMath xmlns:m="http://schemas.openxmlformats.org/officeDocument/2006/math">
                    <m:r>
                      <a:rPr lang="fr-FR" sz="1200" b="0" i="1" smtClean="0">
                        <a:latin typeface="Cambria Math" panose="02040503050406030204" pitchFamily="18" charset="0"/>
                        <a:ea typeface="Cambria Math" panose="02040503050406030204" pitchFamily="18" charset="0"/>
                      </a:rPr>
                      <m:t>𝑖</m:t>
                    </m:r>
                    <m:r>
                      <a:rPr lang="fr-FR" sz="1200" b="0" i="1" baseline="-25000" smtClean="0">
                        <a:latin typeface="Cambria Math" panose="02040503050406030204" pitchFamily="18" charset="0"/>
                        <a:ea typeface="Cambria Math" panose="02040503050406030204" pitchFamily="18" charset="0"/>
                      </a:rPr>
                      <m:t>1</m:t>
                    </m:r>
                    <m:r>
                      <a:rPr lang="fr-FR" sz="1200" b="0" i="1" smtClean="0">
                        <a:latin typeface="Cambria Math" panose="02040503050406030204" pitchFamily="18" charset="0"/>
                        <a:ea typeface="Cambria Math" panose="02040503050406030204" pitchFamily="18" charset="0"/>
                      </a:rPr>
                      <m:t>×</m:t>
                    </m:r>
                    <m:r>
                      <a:rPr lang="fr-FR" sz="1200" b="0" i="1" smtClean="0">
                        <a:latin typeface="Cambria Math" panose="02040503050406030204" pitchFamily="18" charset="0"/>
                        <a:ea typeface="Cambria Math" panose="02040503050406030204" pitchFamily="18" charset="0"/>
                      </a:rPr>
                      <m:t>𝑤</m:t>
                    </m:r>
                    <m:r>
                      <a:rPr lang="fr-FR" sz="1200" b="0" i="1" baseline="-25000" smtClean="0">
                        <a:latin typeface="Cambria Math" panose="02040503050406030204" pitchFamily="18" charset="0"/>
                        <a:ea typeface="Cambria Math" panose="02040503050406030204" pitchFamily="18" charset="0"/>
                      </a:rPr>
                      <m:t>1</m:t>
                    </m:r>
                    <m:r>
                      <a:rPr lang="fr-FR" sz="1200" b="0" i="1" smtClean="0">
                        <a:latin typeface="Cambria Math" panose="02040503050406030204" pitchFamily="18" charset="0"/>
                        <a:ea typeface="Cambria Math" panose="02040503050406030204" pitchFamily="18" charset="0"/>
                      </a:rPr>
                      <m:t>+</m:t>
                    </m:r>
                    <m:r>
                      <a:rPr lang="fr-FR" sz="1200" b="0" i="1" smtClean="0">
                        <a:latin typeface="Cambria Math" panose="02040503050406030204" pitchFamily="18" charset="0"/>
                        <a:ea typeface="Cambria Math" panose="02040503050406030204" pitchFamily="18" charset="0"/>
                      </a:rPr>
                      <m:t>𝑖</m:t>
                    </m:r>
                    <m:r>
                      <a:rPr lang="fr-FR" sz="1200" b="0" i="1" baseline="-25000" smtClean="0">
                        <a:latin typeface="Cambria Math" panose="02040503050406030204" pitchFamily="18" charset="0"/>
                        <a:ea typeface="Cambria Math" panose="02040503050406030204" pitchFamily="18" charset="0"/>
                      </a:rPr>
                      <m:t>2</m:t>
                    </m:r>
                    <m:r>
                      <a:rPr lang="fr-FR" sz="1200" b="0" i="1" smtClean="0">
                        <a:latin typeface="Cambria Math" panose="02040503050406030204" pitchFamily="18" charset="0"/>
                        <a:ea typeface="Cambria Math" panose="02040503050406030204" pitchFamily="18" charset="0"/>
                      </a:rPr>
                      <m:t>×</m:t>
                    </m:r>
                    <m:r>
                      <a:rPr lang="fr-FR" sz="1200" b="0" i="1" smtClean="0">
                        <a:latin typeface="Cambria Math" panose="02040503050406030204" pitchFamily="18" charset="0"/>
                        <a:ea typeface="Cambria Math" panose="02040503050406030204" pitchFamily="18" charset="0"/>
                      </a:rPr>
                      <m:t>𝑤</m:t>
                    </m:r>
                    <m:r>
                      <a:rPr lang="fr-FR" sz="1200" b="0" i="1" baseline="-25000" smtClean="0">
                        <a:latin typeface="Cambria Math" panose="02040503050406030204" pitchFamily="18" charset="0"/>
                        <a:ea typeface="Cambria Math" panose="02040503050406030204" pitchFamily="18" charset="0"/>
                      </a:rPr>
                      <m:t>2</m:t>
                    </m:r>
                    <m:r>
                      <a:rPr lang="fr-FR" sz="1200" b="0" i="1" smtClean="0">
                        <a:latin typeface="Cambria Math" panose="02040503050406030204" pitchFamily="18" charset="0"/>
                        <a:ea typeface="Cambria Math" panose="02040503050406030204" pitchFamily="18" charset="0"/>
                      </a:rPr>
                      <m:t>+</m:t>
                    </m:r>
                    <m:r>
                      <a:rPr lang="fr-FR" sz="1200" b="0" i="1" smtClean="0">
                        <a:latin typeface="Cambria Math" panose="02040503050406030204" pitchFamily="18" charset="0"/>
                        <a:ea typeface="Cambria Math" panose="02040503050406030204" pitchFamily="18" charset="0"/>
                      </a:rPr>
                      <m:t>𝑏</m:t>
                    </m:r>
                    <m:r>
                      <a:rPr lang="fr-FR" sz="1200" b="0" i="1" baseline="-25000" smtClean="0">
                        <a:latin typeface="Cambria Math" panose="02040503050406030204" pitchFamily="18" charset="0"/>
                        <a:ea typeface="Cambria Math" panose="02040503050406030204" pitchFamily="18" charset="0"/>
                      </a:rPr>
                      <m:t>1</m:t>
                    </m:r>
                  </m:oMath>
                </a14:m>
                <a:endParaRPr lang="fr-FR" sz="1200" b="0" i="1" dirty="0">
                  <a:latin typeface="Cambria Math" panose="02040503050406030204" pitchFamily="18" charset="0"/>
                </a:endParaRPr>
              </a:p>
              <a:p>
                <a:endParaRPr lang="fr-FR" sz="1200" dirty="0">
                  <a:latin typeface="Cambria Math" panose="02040503050406030204" pitchFamily="18" charset="0"/>
                </a:endParaRPr>
              </a:p>
              <a:p>
                <a:r>
                  <a:rPr lang="fr-FR" sz="1200" dirty="0">
                    <a:latin typeface="Cambria Math" panose="02040503050406030204" pitchFamily="18" charset="0"/>
                  </a:rPr>
                  <a:t>out_h1 </a:t>
                </a:r>
                <a14:m>
                  <m:oMath xmlns:m="http://schemas.openxmlformats.org/officeDocument/2006/math">
                    <m:r>
                      <a:rPr lang="fr-FR" sz="1200" b="0" i="1" smtClean="0">
                        <a:latin typeface="Cambria Math" panose="02040503050406030204" pitchFamily="18" charset="0"/>
                      </a:rPr>
                      <m:t>=</m:t>
                    </m:r>
                    <m:r>
                      <a:rPr lang="fr-FR" sz="1200" b="0" i="1" smtClean="0">
                        <a:latin typeface="Cambria Math" panose="02040503050406030204" pitchFamily="18" charset="0"/>
                      </a:rPr>
                      <m:t>𝑅𝑒𝐿𝑢</m:t>
                    </m:r>
                    <m:r>
                      <a:rPr lang="fr-FR" sz="1200" b="0" i="1" smtClean="0">
                        <a:latin typeface="Cambria Math" panose="02040503050406030204" pitchFamily="18" charset="0"/>
                        <a:ea typeface="Cambria Math" panose="02040503050406030204" pitchFamily="18" charset="0"/>
                      </a:rPr>
                      <m:t>(</m:t>
                    </m:r>
                    <m:r>
                      <m:rPr>
                        <m:sty m:val="p"/>
                      </m:rPr>
                      <a:rPr lang="fr-FR" sz="1200" b="0" i="0" smtClean="0">
                        <a:latin typeface="Cambria Math" panose="02040503050406030204" pitchFamily="18" charset="0"/>
                        <a:ea typeface="Cambria Math" panose="02040503050406030204" pitchFamily="18" charset="0"/>
                      </a:rPr>
                      <m:t>net</m:t>
                    </m:r>
                    <m:r>
                      <a:rPr lang="fr-FR" sz="1200" b="0" i="0" smtClean="0">
                        <a:latin typeface="Cambria Math" panose="02040503050406030204" pitchFamily="18" charset="0"/>
                        <a:ea typeface="Cambria Math" panose="02040503050406030204" pitchFamily="18" charset="0"/>
                      </a:rPr>
                      <m:t>_</m:t>
                    </m:r>
                    <m:r>
                      <m:rPr>
                        <m:sty m:val="p"/>
                      </m:rPr>
                      <a:rPr lang="fr-FR" sz="1200" b="0" i="0" smtClean="0">
                        <a:latin typeface="Cambria Math" panose="02040503050406030204" pitchFamily="18" charset="0"/>
                        <a:ea typeface="Cambria Math" panose="02040503050406030204" pitchFamily="18" charset="0"/>
                      </a:rPr>
                      <m:t>h</m:t>
                    </m:r>
                    <m:r>
                      <a:rPr lang="fr-FR" sz="1200" b="0" i="0" smtClean="0">
                        <a:latin typeface="Cambria Math" panose="02040503050406030204" pitchFamily="18" charset="0"/>
                        <a:ea typeface="Cambria Math" panose="02040503050406030204" pitchFamily="18" charset="0"/>
                      </a:rPr>
                      <m:t>1</m:t>
                    </m:r>
                    <m:r>
                      <a:rPr lang="fr-FR" sz="1200" b="0" i="1" smtClean="0">
                        <a:latin typeface="Cambria Math" panose="02040503050406030204" pitchFamily="18" charset="0"/>
                        <a:ea typeface="Cambria Math" panose="02040503050406030204" pitchFamily="18" charset="0"/>
                      </a:rPr>
                      <m:t>)</m:t>
                    </m:r>
                  </m:oMath>
                </a14:m>
                <a:endParaRPr lang="fr-FR" sz="1200" dirty="0"/>
              </a:p>
            </p:txBody>
          </p:sp>
        </mc:Choice>
        <mc:Fallback xmlns="">
          <p:sp>
            <p:nvSpPr>
              <p:cNvPr id="40" name="ZoneTexte 39">
                <a:extLst>
                  <a:ext uri="{FF2B5EF4-FFF2-40B4-BE49-F238E27FC236}">
                    <a16:creationId xmlns:a16="http://schemas.microsoft.com/office/drawing/2014/main" id="{CB581595-DD57-DC81-0A19-5C236FDB92D1}"/>
                  </a:ext>
                </a:extLst>
              </p:cNvPr>
              <p:cNvSpPr txBox="1">
                <a:spLocks noRot="1" noChangeAspect="1" noMove="1" noResize="1" noEditPoints="1" noAdjustHandles="1" noChangeArrowheads="1" noChangeShapeType="1" noTextEdit="1"/>
              </p:cNvSpPr>
              <p:nvPr/>
            </p:nvSpPr>
            <p:spPr>
              <a:xfrm>
                <a:off x="3595408" y="5748405"/>
                <a:ext cx="2362022" cy="553998"/>
              </a:xfrm>
              <a:prstGeom prst="rect">
                <a:avLst/>
              </a:prstGeom>
              <a:blipFill>
                <a:blip r:embed="rId2"/>
                <a:stretch>
                  <a:fillRect l="-3763" t="-8889" b="-15556"/>
                </a:stretch>
              </a:blipFill>
            </p:spPr>
            <p:txBody>
              <a:bodyPr/>
              <a:lstStyle/>
              <a:p>
                <a:r>
                  <a:rPr lang="fr-FR">
                    <a:noFill/>
                  </a:rPr>
                  <a:t> </a:t>
                </a:r>
              </a:p>
            </p:txBody>
          </p:sp>
        </mc:Fallback>
      </mc:AlternateContent>
      <p:cxnSp>
        <p:nvCxnSpPr>
          <p:cNvPr id="17" name="Connecteur droit avec flèche 16">
            <a:extLst>
              <a:ext uri="{FF2B5EF4-FFF2-40B4-BE49-F238E27FC236}">
                <a16:creationId xmlns:a16="http://schemas.microsoft.com/office/drawing/2014/main" id="{BF700F45-541A-F378-941E-2941B6C458C3}"/>
              </a:ext>
            </a:extLst>
          </p:cNvPr>
          <p:cNvCxnSpPr>
            <a:cxnSpLocks/>
          </p:cNvCxnSpPr>
          <p:nvPr/>
        </p:nvCxnSpPr>
        <p:spPr>
          <a:xfrm>
            <a:off x="2653473" y="2484471"/>
            <a:ext cx="115346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549D0334-3E59-8470-A5BE-FA2EB3106A2C}"/>
              </a:ext>
            </a:extLst>
          </p:cNvPr>
          <p:cNvCxnSpPr>
            <a:cxnSpLocks/>
          </p:cNvCxnSpPr>
          <p:nvPr/>
        </p:nvCxnSpPr>
        <p:spPr>
          <a:xfrm>
            <a:off x="2636871" y="3994960"/>
            <a:ext cx="115346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ZoneTexte 20">
            <a:extLst>
              <a:ext uri="{FF2B5EF4-FFF2-40B4-BE49-F238E27FC236}">
                <a16:creationId xmlns:a16="http://schemas.microsoft.com/office/drawing/2014/main" id="{43C7B492-269B-7E38-7301-7FC114F44CB5}"/>
              </a:ext>
            </a:extLst>
          </p:cNvPr>
          <p:cNvSpPr txBox="1"/>
          <p:nvPr/>
        </p:nvSpPr>
        <p:spPr>
          <a:xfrm>
            <a:off x="1881149" y="2215182"/>
            <a:ext cx="738735" cy="670671"/>
          </a:xfrm>
          <a:prstGeom prst="rect">
            <a:avLst/>
          </a:prstGeom>
          <a:noFill/>
        </p:spPr>
        <p:txBody>
          <a:bodyPr wrap="square" rtlCol="0">
            <a:spAutoFit/>
          </a:bodyPr>
          <a:lstStyle/>
          <a:p>
            <a:pPr algn="ctr"/>
            <a:r>
              <a:rPr lang="fr-FR" sz="2800" dirty="0"/>
              <a:t>i</a:t>
            </a:r>
            <a:r>
              <a:rPr lang="fr-FR" sz="2800" baseline="-25000" dirty="0"/>
              <a:t>1</a:t>
            </a:r>
          </a:p>
        </p:txBody>
      </p:sp>
      <p:sp>
        <p:nvSpPr>
          <p:cNvPr id="22" name="ZoneTexte 21">
            <a:extLst>
              <a:ext uri="{FF2B5EF4-FFF2-40B4-BE49-F238E27FC236}">
                <a16:creationId xmlns:a16="http://schemas.microsoft.com/office/drawing/2014/main" id="{28ED9D47-2EB7-90DA-0914-E41D717002BE}"/>
              </a:ext>
            </a:extLst>
          </p:cNvPr>
          <p:cNvSpPr txBox="1"/>
          <p:nvPr/>
        </p:nvSpPr>
        <p:spPr>
          <a:xfrm>
            <a:off x="1930251" y="3733740"/>
            <a:ext cx="738735" cy="670671"/>
          </a:xfrm>
          <a:prstGeom prst="rect">
            <a:avLst/>
          </a:prstGeom>
          <a:noFill/>
        </p:spPr>
        <p:txBody>
          <a:bodyPr wrap="square" rtlCol="0">
            <a:spAutoFit/>
          </a:bodyPr>
          <a:lstStyle/>
          <a:p>
            <a:pPr algn="ctr"/>
            <a:r>
              <a:rPr lang="fr-FR" sz="2800" dirty="0"/>
              <a:t>i</a:t>
            </a:r>
            <a:r>
              <a:rPr lang="fr-FR" sz="2800" baseline="-25000" dirty="0"/>
              <a:t>2</a:t>
            </a:r>
          </a:p>
        </p:txBody>
      </p:sp>
      <p:sp>
        <p:nvSpPr>
          <p:cNvPr id="28" name="ZoneTexte 27">
            <a:extLst>
              <a:ext uri="{FF2B5EF4-FFF2-40B4-BE49-F238E27FC236}">
                <a16:creationId xmlns:a16="http://schemas.microsoft.com/office/drawing/2014/main" id="{0D6C0EF9-9A35-85E2-7756-1EE661E3DCD6}"/>
              </a:ext>
            </a:extLst>
          </p:cNvPr>
          <p:cNvSpPr txBox="1"/>
          <p:nvPr/>
        </p:nvSpPr>
        <p:spPr>
          <a:xfrm>
            <a:off x="3009931" y="2199964"/>
            <a:ext cx="738735" cy="355061"/>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w1</a:t>
            </a:r>
          </a:p>
        </p:txBody>
      </p:sp>
      <p:sp>
        <p:nvSpPr>
          <p:cNvPr id="29" name="ZoneTexte 28">
            <a:extLst>
              <a:ext uri="{FF2B5EF4-FFF2-40B4-BE49-F238E27FC236}">
                <a16:creationId xmlns:a16="http://schemas.microsoft.com/office/drawing/2014/main" id="{6816C605-264E-7BFC-375C-8252FA556A1D}"/>
              </a:ext>
            </a:extLst>
          </p:cNvPr>
          <p:cNvSpPr txBox="1"/>
          <p:nvPr/>
        </p:nvSpPr>
        <p:spPr>
          <a:xfrm>
            <a:off x="3004369" y="2657756"/>
            <a:ext cx="738735" cy="355061"/>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w2</a:t>
            </a:r>
          </a:p>
        </p:txBody>
      </p:sp>
      <p:cxnSp>
        <p:nvCxnSpPr>
          <p:cNvPr id="30" name="Connecteur droit avec flèche 29">
            <a:extLst>
              <a:ext uri="{FF2B5EF4-FFF2-40B4-BE49-F238E27FC236}">
                <a16:creationId xmlns:a16="http://schemas.microsoft.com/office/drawing/2014/main" id="{9CD2A1C3-FE5A-9BE5-40BE-1EF414B839E8}"/>
              </a:ext>
            </a:extLst>
          </p:cNvPr>
          <p:cNvCxnSpPr>
            <a:cxnSpLocks/>
          </p:cNvCxnSpPr>
          <p:nvPr/>
        </p:nvCxnSpPr>
        <p:spPr>
          <a:xfrm>
            <a:off x="5229759" y="2409673"/>
            <a:ext cx="115346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necteur droit avec flèche 31">
            <a:extLst>
              <a:ext uri="{FF2B5EF4-FFF2-40B4-BE49-F238E27FC236}">
                <a16:creationId xmlns:a16="http://schemas.microsoft.com/office/drawing/2014/main" id="{A078C2A4-A5D4-FEFA-0B82-2F298AECCB7E}"/>
              </a:ext>
            </a:extLst>
          </p:cNvPr>
          <p:cNvCxnSpPr>
            <a:cxnSpLocks/>
            <a:stCxn id="36" idx="0"/>
          </p:cNvCxnSpPr>
          <p:nvPr/>
        </p:nvCxnSpPr>
        <p:spPr>
          <a:xfrm flipV="1">
            <a:off x="3044987" y="4123639"/>
            <a:ext cx="805048" cy="553515"/>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6" name="ZoneTexte 35">
            <a:extLst>
              <a:ext uri="{FF2B5EF4-FFF2-40B4-BE49-F238E27FC236}">
                <a16:creationId xmlns:a16="http://schemas.microsoft.com/office/drawing/2014/main" id="{D12100ED-C481-C397-539B-FC2E37AC1E40}"/>
              </a:ext>
            </a:extLst>
          </p:cNvPr>
          <p:cNvSpPr txBox="1"/>
          <p:nvPr/>
        </p:nvSpPr>
        <p:spPr>
          <a:xfrm>
            <a:off x="2675619" y="4677154"/>
            <a:ext cx="738735" cy="276999"/>
          </a:xfrm>
          <a:prstGeom prst="rect">
            <a:avLst/>
          </a:prstGeom>
          <a:noFill/>
        </p:spPr>
        <p:txBody>
          <a:bodyPr wrap="square" rtlCol="0">
            <a:spAutoFit/>
          </a:bodyPr>
          <a:lstStyle/>
          <a:p>
            <a:pPr algn="ctr"/>
            <a:r>
              <a:rPr lang="fr-FR" b="1" baseline="-25000" dirty="0">
                <a:ln>
                  <a:solidFill>
                    <a:schemeClr val="accent2">
                      <a:lumMod val="75000"/>
                    </a:schemeClr>
                  </a:solidFill>
                </a:ln>
                <a:solidFill>
                  <a:schemeClr val="accent2">
                    <a:lumMod val="75000"/>
                  </a:schemeClr>
                </a:solidFill>
                <a:latin typeface="Monaco" pitchFamily="2" charset="77"/>
              </a:rPr>
              <a:t>b1</a:t>
            </a:r>
          </a:p>
        </p:txBody>
      </p:sp>
      <mc:AlternateContent xmlns:mc="http://schemas.openxmlformats.org/markup-compatibility/2006" xmlns:a14="http://schemas.microsoft.com/office/drawing/2010/main">
        <mc:Choice Requires="a14">
          <p:sp>
            <p:nvSpPr>
              <p:cNvPr id="39" name="ZoneTexte 38">
                <a:extLst>
                  <a:ext uri="{FF2B5EF4-FFF2-40B4-BE49-F238E27FC236}">
                    <a16:creationId xmlns:a16="http://schemas.microsoft.com/office/drawing/2014/main" id="{B7562B74-BCE0-A6E6-4C2B-AAEBBB1CBEBB}"/>
                  </a:ext>
                </a:extLst>
              </p:cNvPr>
              <p:cNvSpPr txBox="1"/>
              <p:nvPr/>
            </p:nvSpPr>
            <p:spPr>
              <a:xfrm>
                <a:off x="8904427" y="2123215"/>
                <a:ext cx="2684581" cy="302840"/>
              </a:xfrm>
              <a:prstGeom prst="rect">
                <a:avLst/>
              </a:prstGeom>
              <a:noFill/>
            </p:spPr>
            <p:txBody>
              <a:bodyPr wrap="square" rtlCol="0">
                <a:spAutoFit/>
              </a:bodyPr>
              <a:lstStyle/>
              <a:p>
                <a:pPr algn="ctr"/>
                <a14:m>
                  <m:oMath xmlns:m="http://schemas.openxmlformats.org/officeDocument/2006/math">
                    <m:r>
                      <a:rPr lang="fr-FR" sz="1400" b="0" i="1" noProof="0" smtClean="0">
                        <a:latin typeface="Cambria Math" panose="02040503050406030204" pitchFamily="18" charset="0"/>
                      </a:rPr>
                      <m:t>𝐿𝑜𝑠𝑠</m:t>
                    </m:r>
                    <m:r>
                      <a:rPr lang="fr-FR" sz="1400" b="0" i="1" noProof="0" smtClean="0">
                        <a:latin typeface="Cambria Math" panose="02040503050406030204" pitchFamily="18" charset="0"/>
                      </a:rPr>
                      <m:t>1= (</m:t>
                    </m:r>
                    <m:r>
                      <a:rPr lang="fr-FR" sz="1400" i="1">
                        <a:latin typeface="Cambria Math" panose="02040503050406030204" pitchFamily="18" charset="0"/>
                      </a:rPr>
                      <m:t>𝑡𝑎𝑟𝑔𝑒</m:t>
                    </m:r>
                    <m:sSub>
                      <m:sSubPr>
                        <m:ctrlPr>
                          <a:rPr lang="fr-FR" sz="1400" i="1">
                            <a:latin typeface="Cambria Math" panose="02040503050406030204" pitchFamily="18" charset="0"/>
                          </a:rPr>
                        </m:ctrlPr>
                      </m:sSubPr>
                      <m:e>
                        <m:r>
                          <a:rPr lang="fr-FR" sz="1400" i="1">
                            <a:latin typeface="Cambria Math" panose="02040503050406030204" pitchFamily="18" charset="0"/>
                          </a:rPr>
                          <m:t>𝑡</m:t>
                        </m:r>
                      </m:e>
                      <m:sub>
                        <m:r>
                          <a:rPr lang="fr-FR" sz="1400" i="1">
                            <a:latin typeface="Cambria Math" panose="02040503050406030204" pitchFamily="18" charset="0"/>
                          </a:rPr>
                          <m:t>𝑜</m:t>
                        </m:r>
                        <m:r>
                          <a:rPr lang="fr-FR" sz="1400" i="1">
                            <a:latin typeface="Cambria Math" panose="02040503050406030204" pitchFamily="18" charset="0"/>
                          </a:rPr>
                          <m:t>1</m:t>
                        </m:r>
                      </m:sub>
                    </m:sSub>
                    <m:r>
                      <a:rPr lang="fr-FR" sz="1400" b="0" i="1" smtClean="0">
                        <a:latin typeface="Cambria Math" panose="02040503050406030204" pitchFamily="18" charset="0"/>
                      </a:rPr>
                      <m:t> − </m:t>
                    </m:r>
                    <m:r>
                      <a:rPr lang="fr-FR" sz="1400" b="0" i="1" noProof="0" smtClean="0">
                        <a:latin typeface="Cambria Math" panose="02040503050406030204" pitchFamily="18" charset="0"/>
                      </a:rPr>
                      <m:t>𝑜𝑢</m:t>
                    </m:r>
                    <m:sSub>
                      <m:sSubPr>
                        <m:ctrlPr>
                          <a:rPr lang="fr-FR" sz="1400" b="0" i="1" noProof="0" smtClean="0">
                            <a:latin typeface="Cambria Math" panose="02040503050406030204" pitchFamily="18" charset="0"/>
                          </a:rPr>
                        </m:ctrlPr>
                      </m:sSubPr>
                      <m:e>
                        <m:r>
                          <a:rPr lang="fr-FR" sz="1400" b="0" i="1" noProof="0" smtClean="0">
                            <a:latin typeface="Cambria Math" panose="02040503050406030204" pitchFamily="18" charset="0"/>
                          </a:rPr>
                          <m:t>𝑡</m:t>
                        </m:r>
                      </m:e>
                      <m:sub>
                        <m:r>
                          <a:rPr lang="fr-FR" sz="1400" b="0" i="1" noProof="0" smtClean="0">
                            <a:latin typeface="Cambria Math" panose="02040503050406030204" pitchFamily="18" charset="0"/>
                          </a:rPr>
                          <m:t>𝑜</m:t>
                        </m:r>
                        <m:r>
                          <a:rPr lang="fr-FR" sz="1400" b="0" i="1" noProof="0" smtClean="0">
                            <a:latin typeface="Cambria Math" panose="02040503050406030204" pitchFamily="18" charset="0"/>
                          </a:rPr>
                          <m:t>1</m:t>
                        </m:r>
                      </m:sub>
                    </m:sSub>
                    <m:r>
                      <a:rPr lang="fr-FR" sz="1400" b="0" i="1" noProof="0" smtClean="0">
                        <a:latin typeface="Cambria Math" panose="02040503050406030204" pitchFamily="18" charset="0"/>
                      </a:rPr>
                      <m:t>)</m:t>
                    </m:r>
                  </m:oMath>
                </a14:m>
                <a:r>
                  <a:rPr lang="en-GB" sz="1400" baseline="30000" noProof="0" dirty="0"/>
                  <a:t>2</a:t>
                </a:r>
              </a:p>
            </p:txBody>
          </p:sp>
        </mc:Choice>
        <mc:Fallback xmlns="">
          <p:sp>
            <p:nvSpPr>
              <p:cNvPr id="39" name="ZoneTexte 38">
                <a:extLst>
                  <a:ext uri="{FF2B5EF4-FFF2-40B4-BE49-F238E27FC236}">
                    <a16:creationId xmlns:a16="http://schemas.microsoft.com/office/drawing/2014/main" id="{B7562B74-BCE0-A6E6-4C2B-AAEBBB1CBEBB}"/>
                  </a:ext>
                </a:extLst>
              </p:cNvPr>
              <p:cNvSpPr txBox="1">
                <a:spLocks noRot="1" noChangeAspect="1" noMove="1" noResize="1" noEditPoints="1" noAdjustHandles="1" noChangeArrowheads="1" noChangeShapeType="1" noTextEdit="1"/>
              </p:cNvSpPr>
              <p:nvPr/>
            </p:nvSpPr>
            <p:spPr>
              <a:xfrm>
                <a:off x="8904427" y="2123215"/>
                <a:ext cx="2684581" cy="302840"/>
              </a:xfrm>
              <a:prstGeom prst="rect">
                <a:avLst/>
              </a:prstGeom>
              <a:blipFill>
                <a:blip r:embed="rId3"/>
                <a:stretch>
                  <a:fillRect b="-8000"/>
                </a:stretch>
              </a:blipFill>
            </p:spPr>
            <p:txBody>
              <a:bodyPr/>
              <a:lstStyle/>
              <a:p>
                <a:r>
                  <a:rPr lang="en-GB">
                    <a:noFill/>
                  </a:rPr>
                  <a:t> </a:t>
                </a:r>
              </a:p>
            </p:txBody>
          </p:sp>
        </mc:Fallback>
      </mc:AlternateContent>
      <p:grpSp>
        <p:nvGrpSpPr>
          <p:cNvPr id="7" name="Groupe 6">
            <a:extLst>
              <a:ext uri="{FF2B5EF4-FFF2-40B4-BE49-F238E27FC236}">
                <a16:creationId xmlns:a16="http://schemas.microsoft.com/office/drawing/2014/main" id="{D8E28335-FA9D-4E6B-40F6-F341A39F8C79}"/>
              </a:ext>
            </a:extLst>
          </p:cNvPr>
          <p:cNvGrpSpPr/>
          <p:nvPr/>
        </p:nvGrpSpPr>
        <p:grpSpPr>
          <a:xfrm>
            <a:off x="3817088" y="1740161"/>
            <a:ext cx="1438594" cy="1360703"/>
            <a:chOff x="4929347" y="2220312"/>
            <a:chExt cx="1166653" cy="1061545"/>
          </a:xfrm>
        </p:grpSpPr>
        <p:sp>
          <p:nvSpPr>
            <p:cNvPr id="4" name="Ellipse 3">
              <a:extLst>
                <a:ext uri="{FF2B5EF4-FFF2-40B4-BE49-F238E27FC236}">
                  <a16:creationId xmlns:a16="http://schemas.microsoft.com/office/drawing/2014/main" id="{75DBE1CC-9634-193B-E0BA-C7D9CC84FFFF}"/>
                </a:ext>
              </a:extLst>
            </p:cNvPr>
            <p:cNvSpPr/>
            <p:nvPr/>
          </p:nvSpPr>
          <p:spPr>
            <a:xfrm>
              <a:off x="4992412" y="2220312"/>
              <a:ext cx="1061545" cy="106154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900" dirty="0"/>
            </a:p>
          </p:txBody>
        </p:sp>
        <p:cxnSp>
          <p:nvCxnSpPr>
            <p:cNvPr id="8" name="Connecteur droit 7">
              <a:extLst>
                <a:ext uri="{FF2B5EF4-FFF2-40B4-BE49-F238E27FC236}">
                  <a16:creationId xmlns:a16="http://schemas.microsoft.com/office/drawing/2014/main" id="{7043F796-D55C-FAF8-9551-9A763A284059}"/>
                </a:ext>
              </a:extLst>
            </p:cNvPr>
            <p:cNvCxnSpPr>
              <a:cxnSpLocks/>
              <a:stCxn id="4" idx="0"/>
              <a:endCxn id="4" idx="4"/>
            </p:cNvCxnSpPr>
            <p:nvPr/>
          </p:nvCxnSpPr>
          <p:spPr>
            <a:xfrm>
              <a:off x="5523185" y="2220312"/>
              <a:ext cx="0" cy="1061545"/>
            </a:xfrm>
            <a:prstGeom prst="line">
              <a:avLst/>
            </a:prstGeom>
          </p:spPr>
          <p:style>
            <a:lnRef idx="2">
              <a:schemeClr val="accent1"/>
            </a:lnRef>
            <a:fillRef idx="0">
              <a:schemeClr val="accent1"/>
            </a:fillRef>
            <a:effectRef idx="1">
              <a:schemeClr val="accent1"/>
            </a:effectRef>
            <a:fontRef idx="minor">
              <a:schemeClr val="tx1"/>
            </a:fontRef>
          </p:style>
        </p:cxnSp>
        <p:sp>
          <p:nvSpPr>
            <p:cNvPr id="5" name="ZoneTexte 4">
              <a:extLst>
                <a:ext uri="{FF2B5EF4-FFF2-40B4-BE49-F238E27FC236}">
                  <a16:creationId xmlns:a16="http://schemas.microsoft.com/office/drawing/2014/main" id="{188C7263-FBB7-B581-38AD-2B8045E1E3CE}"/>
                </a:ext>
              </a:extLst>
            </p:cNvPr>
            <p:cNvSpPr txBox="1"/>
            <p:nvPr/>
          </p:nvSpPr>
          <p:spPr>
            <a:xfrm>
              <a:off x="4929347" y="2632604"/>
              <a:ext cx="651638" cy="240111"/>
            </a:xfrm>
            <a:prstGeom prst="rect">
              <a:avLst/>
            </a:prstGeom>
            <a:noFill/>
          </p:spPr>
          <p:txBody>
            <a:bodyPr wrap="square" rtlCol="0">
              <a:spAutoFit/>
            </a:bodyPr>
            <a:lstStyle/>
            <a:p>
              <a:pPr algn="ctr"/>
              <a:r>
                <a:rPr lang="fr-FR" sz="1400" dirty="0"/>
                <a:t>net_h1</a:t>
              </a:r>
            </a:p>
          </p:txBody>
        </p:sp>
        <p:sp>
          <p:nvSpPr>
            <p:cNvPr id="6" name="ZoneTexte 5">
              <a:extLst>
                <a:ext uri="{FF2B5EF4-FFF2-40B4-BE49-F238E27FC236}">
                  <a16:creationId xmlns:a16="http://schemas.microsoft.com/office/drawing/2014/main" id="{7A3592FC-5F9D-B97B-8622-7763A8AEBFF4}"/>
                </a:ext>
              </a:extLst>
            </p:cNvPr>
            <p:cNvSpPr txBox="1"/>
            <p:nvPr/>
          </p:nvSpPr>
          <p:spPr>
            <a:xfrm>
              <a:off x="5444362" y="2632604"/>
              <a:ext cx="651638" cy="240111"/>
            </a:xfrm>
            <a:prstGeom prst="rect">
              <a:avLst/>
            </a:prstGeom>
            <a:noFill/>
          </p:spPr>
          <p:txBody>
            <a:bodyPr wrap="square" rtlCol="0">
              <a:spAutoFit/>
            </a:bodyPr>
            <a:lstStyle/>
            <a:p>
              <a:pPr algn="ctr"/>
              <a:r>
                <a:rPr lang="fr-FR" sz="1400" dirty="0"/>
                <a:t>out_h1</a:t>
              </a:r>
            </a:p>
          </p:txBody>
        </p:sp>
      </p:grpSp>
      <p:grpSp>
        <p:nvGrpSpPr>
          <p:cNvPr id="9" name="Groupe 8">
            <a:extLst>
              <a:ext uri="{FF2B5EF4-FFF2-40B4-BE49-F238E27FC236}">
                <a16:creationId xmlns:a16="http://schemas.microsoft.com/office/drawing/2014/main" id="{D5F8C14C-3489-E7EF-C60C-574205D6CE33}"/>
              </a:ext>
            </a:extLst>
          </p:cNvPr>
          <p:cNvGrpSpPr/>
          <p:nvPr/>
        </p:nvGrpSpPr>
        <p:grpSpPr>
          <a:xfrm>
            <a:off x="6337860" y="1690689"/>
            <a:ext cx="1438594" cy="1360703"/>
            <a:chOff x="4929347" y="2220312"/>
            <a:chExt cx="1166653" cy="1061545"/>
          </a:xfrm>
        </p:grpSpPr>
        <p:sp>
          <p:nvSpPr>
            <p:cNvPr id="10" name="Ellipse 9">
              <a:extLst>
                <a:ext uri="{FF2B5EF4-FFF2-40B4-BE49-F238E27FC236}">
                  <a16:creationId xmlns:a16="http://schemas.microsoft.com/office/drawing/2014/main" id="{EBE9A56C-1C73-E35A-567C-5DE431C4DA57}"/>
                </a:ext>
              </a:extLst>
            </p:cNvPr>
            <p:cNvSpPr/>
            <p:nvPr/>
          </p:nvSpPr>
          <p:spPr>
            <a:xfrm>
              <a:off x="4992412" y="2220312"/>
              <a:ext cx="1061545" cy="106154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900" dirty="0"/>
            </a:p>
          </p:txBody>
        </p:sp>
        <p:cxnSp>
          <p:nvCxnSpPr>
            <p:cNvPr id="11" name="Connecteur droit 10">
              <a:extLst>
                <a:ext uri="{FF2B5EF4-FFF2-40B4-BE49-F238E27FC236}">
                  <a16:creationId xmlns:a16="http://schemas.microsoft.com/office/drawing/2014/main" id="{2E5421B1-4EC9-8A9F-B037-400E2F9B28D6}"/>
                </a:ext>
              </a:extLst>
            </p:cNvPr>
            <p:cNvCxnSpPr>
              <a:cxnSpLocks/>
              <a:stCxn id="10" idx="0"/>
              <a:endCxn id="10" idx="4"/>
            </p:cNvCxnSpPr>
            <p:nvPr/>
          </p:nvCxnSpPr>
          <p:spPr>
            <a:xfrm>
              <a:off x="5523185" y="2220312"/>
              <a:ext cx="0" cy="1061545"/>
            </a:xfrm>
            <a:prstGeom prst="line">
              <a:avLst/>
            </a:prstGeom>
          </p:spPr>
          <p:style>
            <a:lnRef idx="2">
              <a:schemeClr val="accent1"/>
            </a:lnRef>
            <a:fillRef idx="0">
              <a:schemeClr val="accent1"/>
            </a:fillRef>
            <a:effectRef idx="1">
              <a:schemeClr val="accent1"/>
            </a:effectRef>
            <a:fontRef idx="minor">
              <a:schemeClr val="tx1"/>
            </a:fontRef>
          </p:style>
        </p:cxnSp>
        <p:sp>
          <p:nvSpPr>
            <p:cNvPr id="13" name="ZoneTexte 12">
              <a:extLst>
                <a:ext uri="{FF2B5EF4-FFF2-40B4-BE49-F238E27FC236}">
                  <a16:creationId xmlns:a16="http://schemas.microsoft.com/office/drawing/2014/main" id="{8FB63B8A-A198-8239-A609-7834BF2F0057}"/>
                </a:ext>
              </a:extLst>
            </p:cNvPr>
            <p:cNvSpPr txBox="1"/>
            <p:nvPr/>
          </p:nvSpPr>
          <p:spPr>
            <a:xfrm>
              <a:off x="4929347" y="2649195"/>
              <a:ext cx="651638" cy="240111"/>
            </a:xfrm>
            <a:prstGeom prst="rect">
              <a:avLst/>
            </a:prstGeom>
            <a:noFill/>
          </p:spPr>
          <p:txBody>
            <a:bodyPr wrap="square" rtlCol="0">
              <a:spAutoFit/>
            </a:bodyPr>
            <a:lstStyle/>
            <a:p>
              <a:pPr algn="ctr"/>
              <a:r>
                <a:rPr lang="fr-FR" sz="1400" dirty="0"/>
                <a:t>net_o1</a:t>
              </a:r>
            </a:p>
          </p:txBody>
        </p:sp>
        <p:sp>
          <p:nvSpPr>
            <p:cNvPr id="14" name="ZoneTexte 13">
              <a:extLst>
                <a:ext uri="{FF2B5EF4-FFF2-40B4-BE49-F238E27FC236}">
                  <a16:creationId xmlns:a16="http://schemas.microsoft.com/office/drawing/2014/main" id="{701DAF6A-3955-6DBB-C030-686D11A74676}"/>
                </a:ext>
              </a:extLst>
            </p:cNvPr>
            <p:cNvSpPr txBox="1"/>
            <p:nvPr/>
          </p:nvSpPr>
          <p:spPr>
            <a:xfrm>
              <a:off x="5444362" y="2649195"/>
              <a:ext cx="651638" cy="240111"/>
            </a:xfrm>
            <a:prstGeom prst="rect">
              <a:avLst/>
            </a:prstGeom>
            <a:noFill/>
          </p:spPr>
          <p:txBody>
            <a:bodyPr wrap="square" rtlCol="0">
              <a:spAutoFit/>
            </a:bodyPr>
            <a:lstStyle/>
            <a:p>
              <a:pPr algn="ctr"/>
              <a:r>
                <a:rPr lang="fr-FR" sz="1400" dirty="0"/>
                <a:t>out_o1</a:t>
              </a:r>
            </a:p>
          </p:txBody>
        </p:sp>
      </p:grpSp>
      <p:sp>
        <p:nvSpPr>
          <p:cNvPr id="15" name="ZoneTexte 14">
            <a:extLst>
              <a:ext uri="{FF2B5EF4-FFF2-40B4-BE49-F238E27FC236}">
                <a16:creationId xmlns:a16="http://schemas.microsoft.com/office/drawing/2014/main" id="{0FE243F0-D400-DA52-E985-C2A7BEDDEFDA}"/>
              </a:ext>
            </a:extLst>
          </p:cNvPr>
          <p:cNvSpPr txBox="1"/>
          <p:nvPr/>
        </p:nvSpPr>
        <p:spPr>
          <a:xfrm>
            <a:off x="5667176" y="2145208"/>
            <a:ext cx="738735"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w5</a:t>
            </a:r>
          </a:p>
        </p:txBody>
      </p:sp>
      <p:cxnSp>
        <p:nvCxnSpPr>
          <p:cNvPr id="20" name="Connecteur droit avec flèche 19">
            <a:extLst>
              <a:ext uri="{FF2B5EF4-FFF2-40B4-BE49-F238E27FC236}">
                <a16:creationId xmlns:a16="http://schemas.microsoft.com/office/drawing/2014/main" id="{5963D71B-ED02-319D-CC2E-3B2B21592DBE}"/>
              </a:ext>
            </a:extLst>
          </p:cNvPr>
          <p:cNvCxnSpPr>
            <a:cxnSpLocks/>
          </p:cNvCxnSpPr>
          <p:nvPr/>
        </p:nvCxnSpPr>
        <p:spPr>
          <a:xfrm>
            <a:off x="7782281" y="2401892"/>
            <a:ext cx="115346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ZoneTexte 22">
                <a:extLst>
                  <a:ext uri="{FF2B5EF4-FFF2-40B4-BE49-F238E27FC236}">
                    <a16:creationId xmlns:a16="http://schemas.microsoft.com/office/drawing/2014/main" id="{92F58F23-4131-330C-852A-55EB95D54E6E}"/>
                  </a:ext>
                </a:extLst>
              </p:cNvPr>
              <p:cNvSpPr txBox="1"/>
              <p:nvPr/>
            </p:nvSpPr>
            <p:spPr>
              <a:xfrm>
                <a:off x="6415624" y="5748405"/>
                <a:ext cx="2684581" cy="553998"/>
              </a:xfrm>
              <a:prstGeom prst="rect">
                <a:avLst/>
              </a:prstGeom>
              <a:noFill/>
            </p:spPr>
            <p:txBody>
              <a:bodyPr wrap="square" lIns="0" tIns="0" rIns="0" bIns="0" rtlCol="0">
                <a:spAutoFit/>
              </a:bodyPr>
              <a:lstStyle/>
              <a:p>
                <a:r>
                  <a:rPr lang="fr-FR" sz="1200" dirty="0">
                    <a:latin typeface="Cambria Math" panose="02040503050406030204" pitchFamily="18" charset="0"/>
                  </a:rPr>
                  <a:t>net_o1</a:t>
                </a:r>
                <a:r>
                  <a:rPr lang="fr-FR" sz="1200" b="0" i="1" dirty="0">
                    <a:latin typeface="Cambria Math" panose="02040503050406030204" pitchFamily="18" charset="0"/>
                  </a:rPr>
                  <a:t> = </a:t>
                </a:r>
                <a14:m>
                  <m:oMath xmlns:m="http://schemas.openxmlformats.org/officeDocument/2006/math">
                    <m:r>
                      <m:rPr>
                        <m:sty m:val="p"/>
                      </m:rPr>
                      <a:rPr lang="fr-FR" sz="1200" b="0" i="0" smtClean="0">
                        <a:latin typeface="Cambria Math" panose="02040503050406030204" pitchFamily="18" charset="0"/>
                        <a:ea typeface="Cambria Math" panose="02040503050406030204" pitchFamily="18" charset="0"/>
                      </a:rPr>
                      <m:t>out</m:t>
                    </m:r>
                    <m:r>
                      <a:rPr lang="fr-FR" sz="1200" b="0" i="0" smtClean="0">
                        <a:latin typeface="Cambria Math" panose="02040503050406030204" pitchFamily="18" charset="0"/>
                        <a:ea typeface="Cambria Math" panose="02040503050406030204" pitchFamily="18" charset="0"/>
                      </a:rPr>
                      <m:t>_</m:t>
                    </m:r>
                    <m:r>
                      <m:rPr>
                        <m:sty m:val="p"/>
                      </m:rPr>
                      <a:rPr lang="fr-FR" sz="1200" b="0" i="0" smtClean="0">
                        <a:latin typeface="Cambria Math" panose="02040503050406030204" pitchFamily="18" charset="0"/>
                        <a:ea typeface="Cambria Math" panose="02040503050406030204" pitchFamily="18" charset="0"/>
                      </a:rPr>
                      <m:t>h</m:t>
                    </m:r>
                    <m:r>
                      <a:rPr lang="fr-FR" sz="1200" b="0" i="1" smtClean="0">
                        <a:latin typeface="Cambria Math" panose="02040503050406030204" pitchFamily="18" charset="0"/>
                        <a:ea typeface="Cambria Math" panose="02040503050406030204" pitchFamily="18" charset="0"/>
                      </a:rPr>
                      <m:t>1×</m:t>
                    </m:r>
                    <m:r>
                      <a:rPr lang="fr-FR" sz="1200" b="0" i="1" smtClean="0">
                        <a:latin typeface="Cambria Math" panose="02040503050406030204" pitchFamily="18" charset="0"/>
                        <a:ea typeface="Cambria Math" panose="02040503050406030204" pitchFamily="18" charset="0"/>
                      </a:rPr>
                      <m:t>𝑤</m:t>
                    </m:r>
                    <m:r>
                      <a:rPr lang="fr-FR" sz="1200" b="0" i="1" baseline="-25000" smtClean="0">
                        <a:latin typeface="Cambria Math" panose="02040503050406030204" pitchFamily="18" charset="0"/>
                        <a:ea typeface="Cambria Math" panose="02040503050406030204" pitchFamily="18" charset="0"/>
                      </a:rPr>
                      <m:t>5</m:t>
                    </m:r>
                  </m:oMath>
                </a14:m>
                <a:r>
                  <a:rPr lang="fr-FR" sz="1200" b="0" i="1" dirty="0">
                    <a:latin typeface="Cambria Math" panose="02040503050406030204" pitchFamily="18" charset="0"/>
                  </a:rPr>
                  <a:t>  </a:t>
                </a:r>
                <a:r>
                  <a:rPr lang="fr-FR" sz="1200" b="0" dirty="0">
                    <a:latin typeface="Cambria Math" panose="02040503050406030204" pitchFamily="18" charset="0"/>
                  </a:rPr>
                  <a:t>+ </a:t>
                </a:r>
                <a14:m>
                  <m:oMath xmlns:m="http://schemas.openxmlformats.org/officeDocument/2006/math">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h</m:t>
                    </m:r>
                    <m:r>
                      <a:rPr lang="fr-FR" sz="1200" b="0" i="1" smtClean="0">
                        <a:latin typeface="Cambria Math" panose="02040503050406030204" pitchFamily="18" charset="0"/>
                        <a:ea typeface="Cambria Math" panose="02040503050406030204" pitchFamily="18" charset="0"/>
                      </a:rPr>
                      <m:t>2</m:t>
                    </m:r>
                    <m:r>
                      <a:rPr lang="fr-FR" sz="1200" i="1">
                        <a:latin typeface="Cambria Math" panose="02040503050406030204" pitchFamily="18" charset="0"/>
                        <a:ea typeface="Cambria Math" panose="02040503050406030204" pitchFamily="18" charset="0"/>
                      </a:rPr>
                      <m:t>×</m:t>
                    </m:r>
                    <m:r>
                      <a:rPr lang="fr-FR" sz="1200" i="1">
                        <a:latin typeface="Cambria Math" panose="02040503050406030204" pitchFamily="18" charset="0"/>
                        <a:ea typeface="Cambria Math" panose="02040503050406030204" pitchFamily="18" charset="0"/>
                      </a:rPr>
                      <m:t>𝑤</m:t>
                    </m:r>
                    <m:r>
                      <a:rPr lang="fr-FR" sz="1200" b="0" i="1" baseline="-25000" smtClean="0">
                        <a:latin typeface="Cambria Math" panose="02040503050406030204" pitchFamily="18" charset="0"/>
                        <a:ea typeface="Cambria Math" panose="02040503050406030204" pitchFamily="18" charset="0"/>
                      </a:rPr>
                      <m:t>6</m:t>
                    </m:r>
                  </m:oMath>
                </a14:m>
                <a:r>
                  <a:rPr lang="fr-FR" sz="1200" i="1" dirty="0">
                    <a:latin typeface="Cambria Math" panose="02040503050406030204" pitchFamily="18" charset="0"/>
                  </a:rPr>
                  <a:t> </a:t>
                </a:r>
                <a:r>
                  <a:rPr lang="fr-FR" sz="1200" b="0" dirty="0">
                    <a:latin typeface="Cambria Math" panose="02040503050406030204" pitchFamily="18" charset="0"/>
                  </a:rPr>
                  <a:t>+ b</a:t>
                </a:r>
                <a:r>
                  <a:rPr lang="fr-FR" sz="1200" baseline="-25000" dirty="0">
                    <a:latin typeface="Cambria Math" panose="02040503050406030204" pitchFamily="18" charset="0"/>
                  </a:rPr>
                  <a:t>2</a:t>
                </a:r>
                <a:endParaRPr lang="fr-FR" sz="1200" b="0" baseline="-25000" dirty="0">
                  <a:latin typeface="Cambria Math" panose="02040503050406030204" pitchFamily="18" charset="0"/>
                </a:endParaRPr>
              </a:p>
              <a:p>
                <a:endParaRPr lang="fr-FR" sz="1200" dirty="0">
                  <a:latin typeface="Cambria Math" panose="02040503050406030204" pitchFamily="18" charset="0"/>
                </a:endParaRPr>
              </a:p>
              <a:p>
                <a:r>
                  <a:rPr lang="fr-FR" sz="1200" dirty="0">
                    <a:latin typeface="Cambria Math" panose="02040503050406030204" pitchFamily="18" charset="0"/>
                  </a:rPr>
                  <a:t>out_o1 </a:t>
                </a:r>
                <a14:m>
                  <m:oMath xmlns:m="http://schemas.openxmlformats.org/officeDocument/2006/math">
                    <m:r>
                      <a:rPr lang="fr-FR" sz="1200" b="0" i="1" smtClean="0">
                        <a:latin typeface="Cambria Math" panose="02040503050406030204" pitchFamily="18" charset="0"/>
                      </a:rPr>
                      <m:t>=</m:t>
                    </m:r>
                    <m:r>
                      <m:rPr>
                        <m:sty m:val="p"/>
                      </m:rPr>
                      <a:rPr lang="fr-FR" sz="1200" b="0" i="0" smtClean="0">
                        <a:latin typeface="Cambria Math" panose="02040503050406030204" pitchFamily="18" charset="0"/>
                      </a:rPr>
                      <m:t>sigmoid</m:t>
                    </m:r>
                    <m:d>
                      <m:dPr>
                        <m:ctrlPr>
                          <a:rPr lang="fr-FR" sz="1200" b="0" i="1" smtClean="0">
                            <a:latin typeface="Cambria Math" panose="02040503050406030204" pitchFamily="18" charset="0"/>
                            <a:ea typeface="Cambria Math" panose="02040503050406030204" pitchFamily="18" charset="0"/>
                          </a:rPr>
                        </m:ctrlPr>
                      </m:dPr>
                      <m:e>
                        <m:r>
                          <m:rPr>
                            <m:sty m:val="p"/>
                          </m:rPr>
                          <a:rPr lang="fr-FR" sz="1200" b="0" i="0" smtClean="0">
                            <a:latin typeface="Cambria Math" panose="02040503050406030204" pitchFamily="18" charset="0"/>
                            <a:ea typeface="Cambria Math" panose="02040503050406030204" pitchFamily="18" charset="0"/>
                          </a:rPr>
                          <m:t>net</m:t>
                        </m:r>
                        <m:r>
                          <a:rPr lang="fr-FR" sz="1200" b="0" i="0" smtClean="0">
                            <a:latin typeface="Cambria Math" panose="02040503050406030204" pitchFamily="18" charset="0"/>
                            <a:ea typeface="Cambria Math" panose="02040503050406030204" pitchFamily="18" charset="0"/>
                          </a:rPr>
                          <m:t>_</m:t>
                        </m:r>
                        <m:r>
                          <m:rPr>
                            <m:sty m:val="p"/>
                          </m:rPr>
                          <a:rPr lang="fr-FR" sz="1200" b="0" i="0" smtClean="0">
                            <a:latin typeface="Cambria Math" panose="02040503050406030204" pitchFamily="18" charset="0"/>
                            <a:ea typeface="Cambria Math" panose="02040503050406030204" pitchFamily="18" charset="0"/>
                          </a:rPr>
                          <m:t>o</m:t>
                        </m:r>
                        <m:r>
                          <a:rPr lang="fr-FR" sz="1200" b="0" i="0" smtClean="0">
                            <a:latin typeface="Cambria Math" panose="02040503050406030204" pitchFamily="18" charset="0"/>
                            <a:ea typeface="Cambria Math" panose="02040503050406030204" pitchFamily="18" charset="0"/>
                          </a:rPr>
                          <m:t>1</m:t>
                        </m:r>
                      </m:e>
                    </m:d>
                  </m:oMath>
                </a14:m>
                <a:endParaRPr lang="fr-FR" sz="1200" dirty="0"/>
              </a:p>
            </p:txBody>
          </p:sp>
        </mc:Choice>
        <mc:Fallback xmlns="">
          <p:sp>
            <p:nvSpPr>
              <p:cNvPr id="23" name="ZoneTexte 22">
                <a:extLst>
                  <a:ext uri="{FF2B5EF4-FFF2-40B4-BE49-F238E27FC236}">
                    <a16:creationId xmlns:a16="http://schemas.microsoft.com/office/drawing/2014/main" id="{92F58F23-4131-330C-852A-55EB95D54E6E}"/>
                  </a:ext>
                </a:extLst>
              </p:cNvPr>
              <p:cNvSpPr txBox="1">
                <a:spLocks noRot="1" noChangeAspect="1" noMove="1" noResize="1" noEditPoints="1" noAdjustHandles="1" noChangeArrowheads="1" noChangeShapeType="1" noTextEdit="1"/>
              </p:cNvSpPr>
              <p:nvPr/>
            </p:nvSpPr>
            <p:spPr>
              <a:xfrm>
                <a:off x="6415624" y="5748405"/>
                <a:ext cx="2684581" cy="553998"/>
              </a:xfrm>
              <a:prstGeom prst="rect">
                <a:avLst/>
              </a:prstGeom>
              <a:blipFill>
                <a:blip r:embed="rId4"/>
                <a:stretch>
                  <a:fillRect l="-3286" t="-8889" b="-15556"/>
                </a:stretch>
              </a:blipFill>
            </p:spPr>
            <p:txBody>
              <a:bodyPr/>
              <a:lstStyle/>
              <a:p>
                <a:r>
                  <a:rPr lang="fr-FR">
                    <a:noFill/>
                  </a:rPr>
                  <a:t> </a:t>
                </a:r>
              </a:p>
            </p:txBody>
          </p:sp>
        </mc:Fallback>
      </mc:AlternateContent>
      <p:sp>
        <p:nvSpPr>
          <p:cNvPr id="25" name="Parenthèse fermante 24">
            <a:extLst>
              <a:ext uri="{FF2B5EF4-FFF2-40B4-BE49-F238E27FC236}">
                <a16:creationId xmlns:a16="http://schemas.microsoft.com/office/drawing/2014/main" id="{87A49934-8ABC-10C5-BB7D-E59297E57C95}"/>
              </a:ext>
            </a:extLst>
          </p:cNvPr>
          <p:cNvSpPr/>
          <p:nvPr/>
        </p:nvSpPr>
        <p:spPr>
          <a:xfrm rot="5400000">
            <a:off x="4428386" y="4572607"/>
            <a:ext cx="242272" cy="1745500"/>
          </a:xfrm>
          <a:prstGeom prst="rightBracket">
            <a:avLst/>
          </a:prstGeom>
          <a:noFill/>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dirty="0">
              <a:solidFill>
                <a:srgbClr val="C00000"/>
              </a:solidFill>
            </a:endParaRPr>
          </a:p>
        </p:txBody>
      </p:sp>
      <p:sp>
        <p:nvSpPr>
          <p:cNvPr id="27" name="Parenthèse fermante 26">
            <a:extLst>
              <a:ext uri="{FF2B5EF4-FFF2-40B4-BE49-F238E27FC236}">
                <a16:creationId xmlns:a16="http://schemas.microsoft.com/office/drawing/2014/main" id="{1BEDE177-963C-F838-B35D-238EA31163B1}"/>
              </a:ext>
            </a:extLst>
          </p:cNvPr>
          <p:cNvSpPr/>
          <p:nvPr/>
        </p:nvSpPr>
        <p:spPr>
          <a:xfrm rot="5400000">
            <a:off x="7108820" y="4628936"/>
            <a:ext cx="208638" cy="1559445"/>
          </a:xfrm>
          <a:prstGeom prst="rightBracket">
            <a:avLst/>
          </a:prstGeom>
          <a:noFill/>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dirty="0">
              <a:solidFill>
                <a:srgbClr val="C00000"/>
              </a:solidFill>
            </a:endParaRPr>
          </a:p>
        </p:txBody>
      </p:sp>
      <p:sp>
        <p:nvSpPr>
          <p:cNvPr id="31" name="ZoneTexte 30">
            <a:extLst>
              <a:ext uri="{FF2B5EF4-FFF2-40B4-BE49-F238E27FC236}">
                <a16:creationId xmlns:a16="http://schemas.microsoft.com/office/drawing/2014/main" id="{524ABEE1-4652-0937-C78E-7A00E5FECF4E}"/>
              </a:ext>
            </a:extLst>
          </p:cNvPr>
          <p:cNvSpPr txBox="1"/>
          <p:nvPr/>
        </p:nvSpPr>
        <p:spPr>
          <a:xfrm>
            <a:off x="3676774" y="5212845"/>
            <a:ext cx="1845239" cy="276999"/>
          </a:xfrm>
          <a:prstGeom prst="rect">
            <a:avLst/>
          </a:prstGeom>
          <a:noFill/>
        </p:spPr>
        <p:txBody>
          <a:bodyPr wrap="square" rtlCol="0">
            <a:spAutoFit/>
          </a:bodyPr>
          <a:lstStyle/>
          <a:p>
            <a:r>
              <a:rPr lang="en-GB" sz="1200" noProof="0" dirty="0"/>
              <a:t>Hidden layer with 2 units</a:t>
            </a:r>
          </a:p>
        </p:txBody>
      </p:sp>
      <p:sp>
        <p:nvSpPr>
          <p:cNvPr id="33" name="ZoneTexte 32">
            <a:extLst>
              <a:ext uri="{FF2B5EF4-FFF2-40B4-BE49-F238E27FC236}">
                <a16:creationId xmlns:a16="http://schemas.microsoft.com/office/drawing/2014/main" id="{AB6C43CE-5160-00B0-265F-2FB007A7FBCB}"/>
              </a:ext>
            </a:extLst>
          </p:cNvPr>
          <p:cNvSpPr txBox="1"/>
          <p:nvPr/>
        </p:nvSpPr>
        <p:spPr>
          <a:xfrm>
            <a:off x="6691980" y="5176060"/>
            <a:ext cx="1121062" cy="276999"/>
          </a:xfrm>
          <a:prstGeom prst="rect">
            <a:avLst/>
          </a:prstGeom>
          <a:noFill/>
        </p:spPr>
        <p:txBody>
          <a:bodyPr wrap="square" rtlCol="0">
            <a:spAutoFit/>
          </a:bodyPr>
          <a:lstStyle/>
          <a:p>
            <a:r>
              <a:rPr lang="en-GB" sz="1200" noProof="0" dirty="0"/>
              <a:t>Output layer</a:t>
            </a:r>
          </a:p>
        </p:txBody>
      </p:sp>
      <p:sp>
        <p:nvSpPr>
          <p:cNvPr id="34" name="Parenthèse fermante 33">
            <a:extLst>
              <a:ext uri="{FF2B5EF4-FFF2-40B4-BE49-F238E27FC236}">
                <a16:creationId xmlns:a16="http://schemas.microsoft.com/office/drawing/2014/main" id="{E62D093E-7418-1ECA-5810-879D81F52DAA}"/>
              </a:ext>
            </a:extLst>
          </p:cNvPr>
          <p:cNvSpPr/>
          <p:nvPr/>
        </p:nvSpPr>
        <p:spPr>
          <a:xfrm rot="5400000">
            <a:off x="2292774" y="4907096"/>
            <a:ext cx="172989" cy="1038780"/>
          </a:xfrm>
          <a:prstGeom prst="rightBracket">
            <a:avLst/>
          </a:prstGeom>
          <a:noFill/>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dirty="0">
              <a:solidFill>
                <a:srgbClr val="C00000"/>
              </a:solidFill>
            </a:endParaRPr>
          </a:p>
        </p:txBody>
      </p:sp>
      <p:sp>
        <p:nvSpPr>
          <p:cNvPr id="35" name="ZoneTexte 34">
            <a:extLst>
              <a:ext uri="{FF2B5EF4-FFF2-40B4-BE49-F238E27FC236}">
                <a16:creationId xmlns:a16="http://schemas.microsoft.com/office/drawing/2014/main" id="{F7416EC3-5245-A78F-1F6F-A2E1DFE7FC19}"/>
              </a:ext>
            </a:extLst>
          </p:cNvPr>
          <p:cNvSpPr txBox="1"/>
          <p:nvPr/>
        </p:nvSpPr>
        <p:spPr>
          <a:xfrm>
            <a:off x="1818987" y="5228614"/>
            <a:ext cx="1121062" cy="276999"/>
          </a:xfrm>
          <a:prstGeom prst="rect">
            <a:avLst/>
          </a:prstGeom>
          <a:noFill/>
        </p:spPr>
        <p:txBody>
          <a:bodyPr wrap="square" rtlCol="0">
            <a:spAutoFit/>
          </a:bodyPr>
          <a:lstStyle/>
          <a:p>
            <a:pPr algn="ctr"/>
            <a:r>
              <a:rPr lang="en-GB" sz="1200" noProof="0" dirty="0"/>
              <a:t>Input layer</a:t>
            </a:r>
          </a:p>
        </p:txBody>
      </p:sp>
      <p:grpSp>
        <p:nvGrpSpPr>
          <p:cNvPr id="3" name="Groupe 2">
            <a:extLst>
              <a:ext uri="{FF2B5EF4-FFF2-40B4-BE49-F238E27FC236}">
                <a16:creationId xmlns:a16="http://schemas.microsoft.com/office/drawing/2014/main" id="{02BF492F-1179-A60C-C482-B11EF7C427D9}"/>
              </a:ext>
            </a:extLst>
          </p:cNvPr>
          <p:cNvGrpSpPr/>
          <p:nvPr/>
        </p:nvGrpSpPr>
        <p:grpSpPr>
          <a:xfrm>
            <a:off x="3818799" y="3329101"/>
            <a:ext cx="1438594" cy="1360703"/>
            <a:chOff x="4929347" y="2220312"/>
            <a:chExt cx="1166653" cy="1061545"/>
          </a:xfrm>
        </p:grpSpPr>
        <p:sp>
          <p:nvSpPr>
            <p:cNvPr id="12" name="Ellipse 11">
              <a:extLst>
                <a:ext uri="{FF2B5EF4-FFF2-40B4-BE49-F238E27FC236}">
                  <a16:creationId xmlns:a16="http://schemas.microsoft.com/office/drawing/2014/main" id="{C777A0C4-86CF-441E-BFA7-14635C5ACD0D}"/>
                </a:ext>
              </a:extLst>
            </p:cNvPr>
            <p:cNvSpPr/>
            <p:nvPr/>
          </p:nvSpPr>
          <p:spPr>
            <a:xfrm>
              <a:off x="4992412" y="2220312"/>
              <a:ext cx="1061545" cy="106154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900" dirty="0"/>
            </a:p>
          </p:txBody>
        </p:sp>
        <p:cxnSp>
          <p:nvCxnSpPr>
            <p:cNvPr id="24" name="Connecteur droit 23">
              <a:extLst>
                <a:ext uri="{FF2B5EF4-FFF2-40B4-BE49-F238E27FC236}">
                  <a16:creationId xmlns:a16="http://schemas.microsoft.com/office/drawing/2014/main" id="{5CE5C15F-7A4D-2700-EDBE-863D2D49F295}"/>
                </a:ext>
              </a:extLst>
            </p:cNvPr>
            <p:cNvCxnSpPr>
              <a:cxnSpLocks/>
              <a:stCxn id="12" idx="0"/>
              <a:endCxn id="12" idx="4"/>
            </p:cNvCxnSpPr>
            <p:nvPr/>
          </p:nvCxnSpPr>
          <p:spPr>
            <a:xfrm>
              <a:off x="5523185" y="2220312"/>
              <a:ext cx="0" cy="1061545"/>
            </a:xfrm>
            <a:prstGeom prst="line">
              <a:avLst/>
            </a:prstGeom>
          </p:spPr>
          <p:style>
            <a:lnRef idx="2">
              <a:schemeClr val="accent1"/>
            </a:lnRef>
            <a:fillRef idx="0">
              <a:schemeClr val="accent1"/>
            </a:fillRef>
            <a:effectRef idx="1">
              <a:schemeClr val="accent1"/>
            </a:effectRef>
            <a:fontRef idx="minor">
              <a:schemeClr val="tx1"/>
            </a:fontRef>
          </p:style>
        </p:cxnSp>
        <p:sp>
          <p:nvSpPr>
            <p:cNvPr id="26" name="ZoneTexte 25">
              <a:extLst>
                <a:ext uri="{FF2B5EF4-FFF2-40B4-BE49-F238E27FC236}">
                  <a16:creationId xmlns:a16="http://schemas.microsoft.com/office/drawing/2014/main" id="{23E119E4-05AD-4CE1-7A4D-682C406A99C8}"/>
                </a:ext>
              </a:extLst>
            </p:cNvPr>
            <p:cNvSpPr txBox="1"/>
            <p:nvPr/>
          </p:nvSpPr>
          <p:spPr>
            <a:xfrm>
              <a:off x="4929347" y="2632604"/>
              <a:ext cx="651638" cy="240111"/>
            </a:xfrm>
            <a:prstGeom prst="rect">
              <a:avLst/>
            </a:prstGeom>
            <a:noFill/>
          </p:spPr>
          <p:txBody>
            <a:bodyPr wrap="square" rtlCol="0">
              <a:spAutoFit/>
            </a:bodyPr>
            <a:lstStyle/>
            <a:p>
              <a:pPr algn="ctr"/>
              <a:r>
                <a:rPr lang="fr-FR" sz="1400" dirty="0"/>
                <a:t>net_h2</a:t>
              </a:r>
            </a:p>
          </p:txBody>
        </p:sp>
        <p:sp>
          <p:nvSpPr>
            <p:cNvPr id="37" name="ZoneTexte 36">
              <a:extLst>
                <a:ext uri="{FF2B5EF4-FFF2-40B4-BE49-F238E27FC236}">
                  <a16:creationId xmlns:a16="http://schemas.microsoft.com/office/drawing/2014/main" id="{75C534E7-B019-379A-8DC3-95BFC972B84D}"/>
                </a:ext>
              </a:extLst>
            </p:cNvPr>
            <p:cNvSpPr txBox="1"/>
            <p:nvPr/>
          </p:nvSpPr>
          <p:spPr>
            <a:xfrm>
              <a:off x="5444362" y="2632604"/>
              <a:ext cx="651638" cy="240111"/>
            </a:xfrm>
            <a:prstGeom prst="rect">
              <a:avLst/>
            </a:prstGeom>
            <a:noFill/>
          </p:spPr>
          <p:txBody>
            <a:bodyPr wrap="square" rtlCol="0">
              <a:spAutoFit/>
            </a:bodyPr>
            <a:lstStyle/>
            <a:p>
              <a:pPr algn="ctr"/>
              <a:r>
                <a:rPr lang="fr-FR" sz="1400" dirty="0"/>
                <a:t>out_h2</a:t>
              </a:r>
            </a:p>
          </p:txBody>
        </p:sp>
      </p:grpSp>
      <p:grpSp>
        <p:nvGrpSpPr>
          <p:cNvPr id="38" name="Groupe 37">
            <a:extLst>
              <a:ext uri="{FF2B5EF4-FFF2-40B4-BE49-F238E27FC236}">
                <a16:creationId xmlns:a16="http://schemas.microsoft.com/office/drawing/2014/main" id="{83F2F54F-6AC1-4B1F-782B-5C28C50C6320}"/>
              </a:ext>
            </a:extLst>
          </p:cNvPr>
          <p:cNvGrpSpPr/>
          <p:nvPr/>
        </p:nvGrpSpPr>
        <p:grpSpPr>
          <a:xfrm>
            <a:off x="6337860" y="3365028"/>
            <a:ext cx="1438594" cy="1360703"/>
            <a:chOff x="4929347" y="2220312"/>
            <a:chExt cx="1166653" cy="1061545"/>
          </a:xfrm>
        </p:grpSpPr>
        <p:sp>
          <p:nvSpPr>
            <p:cNvPr id="41" name="Ellipse 40">
              <a:extLst>
                <a:ext uri="{FF2B5EF4-FFF2-40B4-BE49-F238E27FC236}">
                  <a16:creationId xmlns:a16="http://schemas.microsoft.com/office/drawing/2014/main" id="{0D45C898-82A3-7F9E-7331-8AAEC386D107}"/>
                </a:ext>
              </a:extLst>
            </p:cNvPr>
            <p:cNvSpPr/>
            <p:nvPr/>
          </p:nvSpPr>
          <p:spPr>
            <a:xfrm>
              <a:off x="4992412" y="2220312"/>
              <a:ext cx="1061545" cy="106154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900" dirty="0"/>
            </a:p>
          </p:txBody>
        </p:sp>
        <p:cxnSp>
          <p:nvCxnSpPr>
            <p:cNvPr id="42" name="Connecteur droit 41">
              <a:extLst>
                <a:ext uri="{FF2B5EF4-FFF2-40B4-BE49-F238E27FC236}">
                  <a16:creationId xmlns:a16="http://schemas.microsoft.com/office/drawing/2014/main" id="{CF3A6CD6-70A9-BFFB-47BC-22927A3C60E0}"/>
                </a:ext>
              </a:extLst>
            </p:cNvPr>
            <p:cNvCxnSpPr>
              <a:cxnSpLocks/>
              <a:stCxn id="41" idx="0"/>
              <a:endCxn id="41" idx="4"/>
            </p:cNvCxnSpPr>
            <p:nvPr/>
          </p:nvCxnSpPr>
          <p:spPr>
            <a:xfrm>
              <a:off x="5523185" y="2220312"/>
              <a:ext cx="0" cy="1061545"/>
            </a:xfrm>
            <a:prstGeom prst="line">
              <a:avLst/>
            </a:prstGeom>
          </p:spPr>
          <p:style>
            <a:lnRef idx="2">
              <a:schemeClr val="accent1"/>
            </a:lnRef>
            <a:fillRef idx="0">
              <a:schemeClr val="accent1"/>
            </a:fillRef>
            <a:effectRef idx="1">
              <a:schemeClr val="accent1"/>
            </a:effectRef>
            <a:fontRef idx="minor">
              <a:schemeClr val="tx1"/>
            </a:fontRef>
          </p:style>
        </p:cxnSp>
        <p:sp>
          <p:nvSpPr>
            <p:cNvPr id="43" name="ZoneTexte 42">
              <a:extLst>
                <a:ext uri="{FF2B5EF4-FFF2-40B4-BE49-F238E27FC236}">
                  <a16:creationId xmlns:a16="http://schemas.microsoft.com/office/drawing/2014/main" id="{A9583AA5-698D-B161-3BC7-C7ACEE4B16FD}"/>
                </a:ext>
              </a:extLst>
            </p:cNvPr>
            <p:cNvSpPr txBox="1"/>
            <p:nvPr/>
          </p:nvSpPr>
          <p:spPr>
            <a:xfrm>
              <a:off x="4929347" y="2624308"/>
              <a:ext cx="651638" cy="240111"/>
            </a:xfrm>
            <a:prstGeom prst="rect">
              <a:avLst/>
            </a:prstGeom>
            <a:noFill/>
          </p:spPr>
          <p:txBody>
            <a:bodyPr wrap="square" rtlCol="0">
              <a:spAutoFit/>
            </a:bodyPr>
            <a:lstStyle/>
            <a:p>
              <a:pPr algn="ctr"/>
              <a:r>
                <a:rPr lang="fr-FR" sz="1400" dirty="0"/>
                <a:t>net_o2</a:t>
              </a:r>
            </a:p>
          </p:txBody>
        </p:sp>
        <p:sp>
          <p:nvSpPr>
            <p:cNvPr id="44" name="ZoneTexte 43">
              <a:extLst>
                <a:ext uri="{FF2B5EF4-FFF2-40B4-BE49-F238E27FC236}">
                  <a16:creationId xmlns:a16="http://schemas.microsoft.com/office/drawing/2014/main" id="{B65384D2-E946-6EBD-FD47-49CBEC6F2C3A}"/>
                </a:ext>
              </a:extLst>
            </p:cNvPr>
            <p:cNvSpPr txBox="1"/>
            <p:nvPr/>
          </p:nvSpPr>
          <p:spPr>
            <a:xfrm>
              <a:off x="5444362" y="2624308"/>
              <a:ext cx="651638" cy="240111"/>
            </a:xfrm>
            <a:prstGeom prst="rect">
              <a:avLst/>
            </a:prstGeom>
            <a:noFill/>
          </p:spPr>
          <p:txBody>
            <a:bodyPr wrap="square" rtlCol="0">
              <a:spAutoFit/>
            </a:bodyPr>
            <a:lstStyle/>
            <a:p>
              <a:pPr algn="ctr"/>
              <a:r>
                <a:rPr lang="fr-FR" sz="1400" dirty="0"/>
                <a:t>out_o2</a:t>
              </a:r>
            </a:p>
          </p:txBody>
        </p:sp>
      </p:grpSp>
      <p:cxnSp>
        <p:nvCxnSpPr>
          <p:cNvPr id="46" name="Connecteur droit avec flèche 45">
            <a:extLst>
              <a:ext uri="{FF2B5EF4-FFF2-40B4-BE49-F238E27FC236}">
                <a16:creationId xmlns:a16="http://schemas.microsoft.com/office/drawing/2014/main" id="{061DF5B0-1080-0748-5956-F3B7133E54D6}"/>
              </a:ext>
            </a:extLst>
          </p:cNvPr>
          <p:cNvCxnSpPr>
            <a:cxnSpLocks/>
            <a:stCxn id="36" idx="0"/>
          </p:cNvCxnSpPr>
          <p:nvPr/>
        </p:nvCxnSpPr>
        <p:spPr>
          <a:xfrm flipV="1">
            <a:off x="3044987" y="2679152"/>
            <a:ext cx="836508" cy="1998002"/>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0" name="Connecteur droit avec flèche 49">
            <a:extLst>
              <a:ext uri="{FF2B5EF4-FFF2-40B4-BE49-F238E27FC236}">
                <a16:creationId xmlns:a16="http://schemas.microsoft.com/office/drawing/2014/main" id="{6D6BB409-EE5B-6A03-631A-E290D952C2A3}"/>
              </a:ext>
            </a:extLst>
          </p:cNvPr>
          <p:cNvCxnSpPr>
            <a:cxnSpLocks/>
          </p:cNvCxnSpPr>
          <p:nvPr/>
        </p:nvCxnSpPr>
        <p:spPr>
          <a:xfrm>
            <a:off x="2653472" y="2525822"/>
            <a:ext cx="1163616" cy="13357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2" name="Connecteur droit avec flèche 51">
            <a:extLst>
              <a:ext uri="{FF2B5EF4-FFF2-40B4-BE49-F238E27FC236}">
                <a16:creationId xmlns:a16="http://schemas.microsoft.com/office/drawing/2014/main" id="{C8FE23C6-35D9-CD0A-14B0-1A3A1E10F293}"/>
              </a:ext>
            </a:extLst>
          </p:cNvPr>
          <p:cNvCxnSpPr>
            <a:cxnSpLocks/>
          </p:cNvCxnSpPr>
          <p:nvPr/>
        </p:nvCxnSpPr>
        <p:spPr>
          <a:xfrm flipV="1">
            <a:off x="2653472" y="2550517"/>
            <a:ext cx="1163616" cy="14061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4" name="ZoneTexte 53">
            <a:extLst>
              <a:ext uri="{FF2B5EF4-FFF2-40B4-BE49-F238E27FC236}">
                <a16:creationId xmlns:a16="http://schemas.microsoft.com/office/drawing/2014/main" id="{42C43761-8E3F-21FF-3B73-840BD48265C7}"/>
              </a:ext>
            </a:extLst>
          </p:cNvPr>
          <p:cNvSpPr txBox="1"/>
          <p:nvPr/>
        </p:nvSpPr>
        <p:spPr>
          <a:xfrm>
            <a:off x="2974360" y="3340450"/>
            <a:ext cx="738735"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w3</a:t>
            </a:r>
          </a:p>
        </p:txBody>
      </p:sp>
      <p:sp>
        <p:nvSpPr>
          <p:cNvPr id="55" name="ZoneTexte 54">
            <a:extLst>
              <a:ext uri="{FF2B5EF4-FFF2-40B4-BE49-F238E27FC236}">
                <a16:creationId xmlns:a16="http://schemas.microsoft.com/office/drawing/2014/main" id="{E4F26805-CE7E-636C-E8CC-CDAB3897985B}"/>
              </a:ext>
            </a:extLst>
          </p:cNvPr>
          <p:cNvSpPr txBox="1"/>
          <p:nvPr/>
        </p:nvSpPr>
        <p:spPr>
          <a:xfrm>
            <a:off x="2970002" y="3717961"/>
            <a:ext cx="738735"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w4</a:t>
            </a:r>
          </a:p>
        </p:txBody>
      </p:sp>
      <p:cxnSp>
        <p:nvCxnSpPr>
          <p:cNvPr id="57" name="Connecteur droit avec flèche 56">
            <a:extLst>
              <a:ext uri="{FF2B5EF4-FFF2-40B4-BE49-F238E27FC236}">
                <a16:creationId xmlns:a16="http://schemas.microsoft.com/office/drawing/2014/main" id="{7E112E7C-B28C-06D3-5BFE-D5947FB78508}"/>
              </a:ext>
            </a:extLst>
          </p:cNvPr>
          <p:cNvCxnSpPr>
            <a:cxnSpLocks/>
          </p:cNvCxnSpPr>
          <p:nvPr/>
        </p:nvCxnSpPr>
        <p:spPr>
          <a:xfrm>
            <a:off x="5254564" y="4029363"/>
            <a:ext cx="115346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8" name="ZoneTexte 57">
            <a:extLst>
              <a:ext uri="{FF2B5EF4-FFF2-40B4-BE49-F238E27FC236}">
                <a16:creationId xmlns:a16="http://schemas.microsoft.com/office/drawing/2014/main" id="{283C1C58-CF20-EDB4-B5B7-4276EF7E9F05}"/>
              </a:ext>
            </a:extLst>
          </p:cNvPr>
          <p:cNvSpPr txBox="1"/>
          <p:nvPr/>
        </p:nvSpPr>
        <p:spPr>
          <a:xfrm>
            <a:off x="5632587" y="3762757"/>
            <a:ext cx="738735"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w8</a:t>
            </a:r>
          </a:p>
        </p:txBody>
      </p:sp>
      <p:cxnSp>
        <p:nvCxnSpPr>
          <p:cNvPr id="59" name="Connecteur droit avec flèche 58">
            <a:extLst>
              <a:ext uri="{FF2B5EF4-FFF2-40B4-BE49-F238E27FC236}">
                <a16:creationId xmlns:a16="http://schemas.microsoft.com/office/drawing/2014/main" id="{79993DA2-2F56-F8FA-1692-DD7FEF4C7350}"/>
              </a:ext>
            </a:extLst>
          </p:cNvPr>
          <p:cNvCxnSpPr>
            <a:cxnSpLocks/>
          </p:cNvCxnSpPr>
          <p:nvPr/>
        </p:nvCxnSpPr>
        <p:spPr>
          <a:xfrm flipV="1">
            <a:off x="5261729" y="2575901"/>
            <a:ext cx="1163616" cy="14061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0" name="Connecteur droit avec flèche 59">
            <a:extLst>
              <a:ext uri="{FF2B5EF4-FFF2-40B4-BE49-F238E27FC236}">
                <a16:creationId xmlns:a16="http://schemas.microsoft.com/office/drawing/2014/main" id="{297CAD7E-AE0C-B80C-0C12-7A01FB48CF3A}"/>
              </a:ext>
            </a:extLst>
          </p:cNvPr>
          <p:cNvCxnSpPr>
            <a:cxnSpLocks/>
          </p:cNvCxnSpPr>
          <p:nvPr/>
        </p:nvCxnSpPr>
        <p:spPr>
          <a:xfrm>
            <a:off x="5251362" y="2508097"/>
            <a:ext cx="1163616" cy="13357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1" name="ZoneTexte 60">
            <a:extLst>
              <a:ext uri="{FF2B5EF4-FFF2-40B4-BE49-F238E27FC236}">
                <a16:creationId xmlns:a16="http://schemas.microsoft.com/office/drawing/2014/main" id="{0DC253B8-9A72-29AA-DC8C-1272618FF8F0}"/>
              </a:ext>
            </a:extLst>
          </p:cNvPr>
          <p:cNvSpPr txBox="1"/>
          <p:nvPr/>
        </p:nvSpPr>
        <p:spPr>
          <a:xfrm>
            <a:off x="5650669" y="2576212"/>
            <a:ext cx="738735"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w6</a:t>
            </a:r>
          </a:p>
        </p:txBody>
      </p:sp>
      <p:sp>
        <p:nvSpPr>
          <p:cNvPr id="62" name="ZoneTexte 61">
            <a:extLst>
              <a:ext uri="{FF2B5EF4-FFF2-40B4-BE49-F238E27FC236}">
                <a16:creationId xmlns:a16="http://schemas.microsoft.com/office/drawing/2014/main" id="{F7DAD223-2D19-9C06-5B11-88AD864BAFBE}"/>
              </a:ext>
            </a:extLst>
          </p:cNvPr>
          <p:cNvSpPr txBox="1"/>
          <p:nvPr/>
        </p:nvSpPr>
        <p:spPr>
          <a:xfrm>
            <a:off x="5625047" y="3365771"/>
            <a:ext cx="738735" cy="276999"/>
          </a:xfrm>
          <a:prstGeom prst="rect">
            <a:avLst/>
          </a:prstGeom>
          <a:noFill/>
        </p:spPr>
        <p:txBody>
          <a:bodyPr wrap="square" rtlCol="0">
            <a:spAutoFit/>
          </a:bodyPr>
          <a:lstStyle/>
          <a:p>
            <a:pPr algn="ctr"/>
            <a:r>
              <a:rPr lang="fr-FR" b="1" baseline="-25000" dirty="0">
                <a:solidFill>
                  <a:schemeClr val="accent1">
                    <a:lumMod val="75000"/>
                  </a:schemeClr>
                </a:solidFill>
                <a:latin typeface="Monaco" pitchFamily="2" charset="77"/>
              </a:rPr>
              <a:t>w7</a:t>
            </a:r>
          </a:p>
        </p:txBody>
      </p:sp>
      <p:cxnSp>
        <p:nvCxnSpPr>
          <p:cNvPr id="63" name="Connecteur droit avec flèche 62">
            <a:extLst>
              <a:ext uri="{FF2B5EF4-FFF2-40B4-BE49-F238E27FC236}">
                <a16:creationId xmlns:a16="http://schemas.microsoft.com/office/drawing/2014/main" id="{0885C8CB-060C-65E5-EA74-D6E321D3DA16}"/>
              </a:ext>
            </a:extLst>
          </p:cNvPr>
          <p:cNvCxnSpPr>
            <a:cxnSpLocks/>
            <a:stCxn id="64" idx="0"/>
          </p:cNvCxnSpPr>
          <p:nvPr/>
        </p:nvCxnSpPr>
        <p:spPr>
          <a:xfrm flipV="1">
            <a:off x="5525925" y="4105914"/>
            <a:ext cx="805048" cy="553515"/>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4" name="ZoneTexte 63">
            <a:extLst>
              <a:ext uri="{FF2B5EF4-FFF2-40B4-BE49-F238E27FC236}">
                <a16:creationId xmlns:a16="http://schemas.microsoft.com/office/drawing/2014/main" id="{39295103-366B-E43D-B366-01238F51A790}"/>
              </a:ext>
            </a:extLst>
          </p:cNvPr>
          <p:cNvSpPr txBox="1"/>
          <p:nvPr/>
        </p:nvSpPr>
        <p:spPr>
          <a:xfrm>
            <a:off x="5156557" y="4659429"/>
            <a:ext cx="738735" cy="276999"/>
          </a:xfrm>
          <a:prstGeom prst="rect">
            <a:avLst/>
          </a:prstGeom>
          <a:noFill/>
        </p:spPr>
        <p:txBody>
          <a:bodyPr wrap="square" rtlCol="0">
            <a:spAutoFit/>
          </a:bodyPr>
          <a:lstStyle/>
          <a:p>
            <a:pPr algn="ctr"/>
            <a:r>
              <a:rPr lang="fr-FR" b="1" baseline="-25000" dirty="0">
                <a:ln>
                  <a:solidFill>
                    <a:schemeClr val="accent2">
                      <a:lumMod val="75000"/>
                    </a:schemeClr>
                  </a:solidFill>
                </a:ln>
                <a:solidFill>
                  <a:schemeClr val="accent2">
                    <a:lumMod val="75000"/>
                  </a:schemeClr>
                </a:solidFill>
                <a:latin typeface="Monaco" pitchFamily="2" charset="77"/>
              </a:rPr>
              <a:t>b2</a:t>
            </a:r>
          </a:p>
        </p:txBody>
      </p:sp>
      <p:cxnSp>
        <p:nvCxnSpPr>
          <p:cNvPr id="65" name="Connecteur droit avec flèche 64">
            <a:extLst>
              <a:ext uri="{FF2B5EF4-FFF2-40B4-BE49-F238E27FC236}">
                <a16:creationId xmlns:a16="http://schemas.microsoft.com/office/drawing/2014/main" id="{A8E91E6A-0EA5-3567-CB9A-160BB81F444E}"/>
              </a:ext>
            </a:extLst>
          </p:cNvPr>
          <p:cNvCxnSpPr>
            <a:cxnSpLocks/>
            <a:stCxn id="64" idx="0"/>
            <a:endCxn id="61" idx="3"/>
          </p:cNvCxnSpPr>
          <p:nvPr/>
        </p:nvCxnSpPr>
        <p:spPr>
          <a:xfrm flipV="1">
            <a:off x="5525925" y="2714712"/>
            <a:ext cx="863479" cy="1944717"/>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8" name="Connecteur droit avec flèche 67">
            <a:extLst>
              <a:ext uri="{FF2B5EF4-FFF2-40B4-BE49-F238E27FC236}">
                <a16:creationId xmlns:a16="http://schemas.microsoft.com/office/drawing/2014/main" id="{65B618BC-7719-926E-C556-313E86B66BCA}"/>
              </a:ext>
            </a:extLst>
          </p:cNvPr>
          <p:cNvCxnSpPr>
            <a:cxnSpLocks/>
          </p:cNvCxnSpPr>
          <p:nvPr/>
        </p:nvCxnSpPr>
        <p:spPr>
          <a:xfrm>
            <a:off x="7776454" y="4015959"/>
            <a:ext cx="115346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9" name="ZoneTexte 68">
                <a:extLst>
                  <a:ext uri="{FF2B5EF4-FFF2-40B4-BE49-F238E27FC236}">
                    <a16:creationId xmlns:a16="http://schemas.microsoft.com/office/drawing/2014/main" id="{BA92E2F0-D79C-A805-A2E4-1DAAEFB00869}"/>
                  </a:ext>
                </a:extLst>
              </p:cNvPr>
              <p:cNvSpPr txBox="1"/>
              <p:nvPr/>
            </p:nvSpPr>
            <p:spPr>
              <a:xfrm>
                <a:off x="8904427" y="3755193"/>
                <a:ext cx="2684581" cy="30284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fr-FR" sz="1400" b="0" i="1" noProof="0" smtClean="0">
                          <a:latin typeface="Cambria Math" panose="02040503050406030204" pitchFamily="18" charset="0"/>
                        </a:rPr>
                        <m:t>𝐿𝑜𝑠𝑠</m:t>
                      </m:r>
                      <m:r>
                        <a:rPr lang="fr-FR" sz="1400" b="0" i="1" noProof="0" smtClean="0">
                          <a:latin typeface="Cambria Math" panose="02040503050406030204" pitchFamily="18" charset="0"/>
                        </a:rPr>
                        <m:t>2= </m:t>
                      </m:r>
                      <m:d>
                        <m:dPr>
                          <m:ctrlPr>
                            <a:rPr lang="fr-FR" sz="1400" b="0" i="1" noProof="0" smtClean="0">
                              <a:latin typeface="Cambria Math" panose="02040503050406030204" pitchFamily="18" charset="0"/>
                            </a:rPr>
                          </m:ctrlPr>
                        </m:dPr>
                        <m:e>
                          <m:r>
                            <a:rPr lang="fr-FR" sz="1400" i="1">
                              <a:latin typeface="Cambria Math" panose="02040503050406030204" pitchFamily="18" charset="0"/>
                            </a:rPr>
                            <m:t>𝑡𝑎𝑟𝑔𝑒</m:t>
                          </m:r>
                          <m:sSub>
                            <m:sSubPr>
                              <m:ctrlPr>
                                <a:rPr lang="fr-FR" sz="1400" i="1">
                                  <a:latin typeface="Cambria Math" panose="02040503050406030204" pitchFamily="18" charset="0"/>
                                </a:rPr>
                              </m:ctrlPr>
                            </m:sSubPr>
                            <m:e>
                              <m:r>
                                <a:rPr lang="fr-FR" sz="1400" i="1">
                                  <a:latin typeface="Cambria Math" panose="02040503050406030204" pitchFamily="18" charset="0"/>
                                </a:rPr>
                                <m:t>𝑡</m:t>
                              </m:r>
                            </m:e>
                            <m:sub>
                              <m:r>
                                <a:rPr lang="fr-FR" sz="1400" i="1">
                                  <a:latin typeface="Cambria Math" panose="02040503050406030204" pitchFamily="18" charset="0"/>
                                </a:rPr>
                                <m:t>𝑜</m:t>
                              </m:r>
                              <m:r>
                                <a:rPr lang="fr-FR" sz="1400" i="1">
                                  <a:latin typeface="Cambria Math" panose="02040503050406030204" pitchFamily="18" charset="0"/>
                                </a:rPr>
                                <m:t>2</m:t>
                              </m:r>
                            </m:sub>
                          </m:sSub>
                          <m:r>
                            <a:rPr lang="fr-FR" sz="1400" b="0" i="1" smtClean="0">
                              <a:latin typeface="Cambria Math" panose="02040503050406030204" pitchFamily="18" charset="0"/>
                            </a:rPr>
                            <m:t> − </m:t>
                          </m:r>
                          <m:r>
                            <a:rPr lang="fr-FR" sz="1400" b="0" i="1" noProof="0" smtClean="0">
                              <a:latin typeface="Cambria Math" panose="02040503050406030204" pitchFamily="18" charset="0"/>
                            </a:rPr>
                            <m:t>𝑜𝑢</m:t>
                          </m:r>
                          <m:sSub>
                            <m:sSubPr>
                              <m:ctrlPr>
                                <a:rPr lang="fr-FR" sz="1400" b="0" i="1" noProof="0" smtClean="0">
                                  <a:latin typeface="Cambria Math" panose="02040503050406030204" pitchFamily="18" charset="0"/>
                                </a:rPr>
                              </m:ctrlPr>
                            </m:sSubPr>
                            <m:e>
                              <m:r>
                                <a:rPr lang="fr-FR" sz="1400" b="0" i="1" noProof="0" smtClean="0">
                                  <a:latin typeface="Cambria Math" panose="02040503050406030204" pitchFamily="18" charset="0"/>
                                </a:rPr>
                                <m:t>𝑡</m:t>
                              </m:r>
                            </m:e>
                            <m:sub>
                              <m:r>
                                <a:rPr lang="fr-FR" sz="1400" b="0" i="1" noProof="0" smtClean="0">
                                  <a:latin typeface="Cambria Math" panose="02040503050406030204" pitchFamily="18" charset="0"/>
                                </a:rPr>
                                <m:t>𝑜</m:t>
                              </m:r>
                              <m:r>
                                <a:rPr lang="fr-FR" sz="1400" b="0" i="1" noProof="0" smtClean="0">
                                  <a:latin typeface="Cambria Math" panose="02040503050406030204" pitchFamily="18" charset="0"/>
                                </a:rPr>
                                <m:t>2</m:t>
                              </m:r>
                            </m:sub>
                          </m:sSub>
                        </m:e>
                      </m:d>
                      <m:r>
                        <a:rPr lang="fr-FR" sz="1400" b="0" i="1" baseline="30000" noProof="0" smtClean="0">
                          <a:latin typeface="Cambria Math" panose="02040503050406030204" pitchFamily="18" charset="0"/>
                        </a:rPr>
                        <m:t>2</m:t>
                      </m:r>
                    </m:oMath>
                  </m:oMathPara>
                </a14:m>
                <a:endParaRPr lang="en-GB" sz="1400" baseline="30000" noProof="0" dirty="0"/>
              </a:p>
            </p:txBody>
          </p:sp>
        </mc:Choice>
        <mc:Fallback xmlns="">
          <p:sp>
            <p:nvSpPr>
              <p:cNvPr id="69" name="ZoneTexte 68">
                <a:extLst>
                  <a:ext uri="{FF2B5EF4-FFF2-40B4-BE49-F238E27FC236}">
                    <a16:creationId xmlns:a16="http://schemas.microsoft.com/office/drawing/2014/main" id="{BA92E2F0-D79C-A805-A2E4-1DAAEFB00869}"/>
                  </a:ext>
                </a:extLst>
              </p:cNvPr>
              <p:cNvSpPr txBox="1">
                <a:spLocks noRot="1" noChangeAspect="1" noMove="1" noResize="1" noEditPoints="1" noAdjustHandles="1" noChangeArrowheads="1" noChangeShapeType="1" noTextEdit="1"/>
              </p:cNvSpPr>
              <p:nvPr/>
            </p:nvSpPr>
            <p:spPr>
              <a:xfrm>
                <a:off x="8904427" y="3755193"/>
                <a:ext cx="2684581" cy="302840"/>
              </a:xfrm>
              <a:prstGeom prst="rect">
                <a:avLst/>
              </a:prstGeom>
              <a:blipFill>
                <a:blip r:embed="rId5"/>
                <a:stretch>
                  <a:fillRect b="-12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0" name="ZoneTexte 69">
                <a:extLst>
                  <a:ext uri="{FF2B5EF4-FFF2-40B4-BE49-F238E27FC236}">
                    <a16:creationId xmlns:a16="http://schemas.microsoft.com/office/drawing/2014/main" id="{D5C54BC0-B8A0-6749-7EAA-3C4E66DAD4BA}"/>
                  </a:ext>
                </a:extLst>
              </p:cNvPr>
              <p:cNvSpPr txBox="1"/>
              <p:nvPr/>
            </p:nvSpPr>
            <p:spPr>
              <a:xfrm>
                <a:off x="9004005" y="5033120"/>
                <a:ext cx="2349795"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1" i="1" smtClean="0">
                          <a:latin typeface="Cambria Math" panose="02040503050406030204" pitchFamily="18" charset="0"/>
                        </a:rPr>
                        <m:t>𝑳𝒐𝒔𝒔</m:t>
                      </m:r>
                      <m:r>
                        <a:rPr lang="fr-FR" sz="1600" b="1" i="1" smtClean="0">
                          <a:latin typeface="Cambria Math" panose="02040503050406030204" pitchFamily="18" charset="0"/>
                        </a:rPr>
                        <m:t>=</m:t>
                      </m:r>
                      <m:r>
                        <a:rPr lang="fr-FR" sz="1600" b="1" i="1" smtClean="0">
                          <a:latin typeface="Cambria Math" panose="02040503050406030204" pitchFamily="18" charset="0"/>
                        </a:rPr>
                        <m:t>𝑳𝒐𝒔𝒔</m:t>
                      </m:r>
                      <m:r>
                        <a:rPr lang="fr-FR" sz="1600" b="1" i="1" smtClean="0">
                          <a:latin typeface="Cambria Math" panose="02040503050406030204" pitchFamily="18" charset="0"/>
                        </a:rPr>
                        <m:t>𝟏</m:t>
                      </m:r>
                      <m:r>
                        <a:rPr lang="fr-FR" sz="1600" b="1" i="1" smtClean="0">
                          <a:latin typeface="Cambria Math" panose="02040503050406030204" pitchFamily="18" charset="0"/>
                        </a:rPr>
                        <m:t>+</m:t>
                      </m:r>
                      <m:r>
                        <a:rPr lang="fr-FR" sz="1600" b="1" i="1" smtClean="0">
                          <a:latin typeface="Cambria Math" panose="02040503050406030204" pitchFamily="18" charset="0"/>
                        </a:rPr>
                        <m:t>𝑳𝒐𝒔𝒔</m:t>
                      </m:r>
                      <m:r>
                        <a:rPr lang="fr-FR" sz="1600" b="1" i="1" smtClean="0">
                          <a:latin typeface="Cambria Math" panose="02040503050406030204" pitchFamily="18" charset="0"/>
                        </a:rPr>
                        <m:t>𝟐</m:t>
                      </m:r>
                    </m:oMath>
                  </m:oMathPara>
                </a14:m>
                <a:endParaRPr lang="fr-FR" sz="1600" b="1" dirty="0"/>
              </a:p>
            </p:txBody>
          </p:sp>
        </mc:Choice>
        <mc:Fallback xmlns="">
          <p:sp>
            <p:nvSpPr>
              <p:cNvPr id="70" name="ZoneTexte 69">
                <a:extLst>
                  <a:ext uri="{FF2B5EF4-FFF2-40B4-BE49-F238E27FC236}">
                    <a16:creationId xmlns:a16="http://schemas.microsoft.com/office/drawing/2014/main" id="{D5C54BC0-B8A0-6749-7EAA-3C4E66DAD4BA}"/>
                  </a:ext>
                </a:extLst>
              </p:cNvPr>
              <p:cNvSpPr txBox="1">
                <a:spLocks noRot="1" noChangeAspect="1" noMove="1" noResize="1" noEditPoints="1" noAdjustHandles="1" noChangeArrowheads="1" noChangeShapeType="1" noTextEdit="1"/>
              </p:cNvSpPr>
              <p:nvPr/>
            </p:nvSpPr>
            <p:spPr>
              <a:xfrm>
                <a:off x="9004005" y="5033120"/>
                <a:ext cx="2349795" cy="338554"/>
              </a:xfrm>
              <a:prstGeom prst="rect">
                <a:avLst/>
              </a:prstGeom>
              <a:blipFill>
                <a:blip r:embed="rId6"/>
                <a:stretch>
                  <a:fillRect/>
                </a:stretch>
              </a:blipFill>
            </p:spPr>
            <p:txBody>
              <a:bodyPr/>
              <a:lstStyle/>
              <a:p>
                <a:r>
                  <a:rPr lang="en-GB">
                    <a:noFill/>
                  </a:rPr>
                  <a:t> </a:t>
                </a:r>
              </a:p>
            </p:txBody>
          </p:sp>
        </mc:Fallback>
      </mc:AlternateContent>
      <p:sp>
        <p:nvSpPr>
          <p:cNvPr id="73" name="ZoneTexte 72">
            <a:extLst>
              <a:ext uri="{FF2B5EF4-FFF2-40B4-BE49-F238E27FC236}">
                <a16:creationId xmlns:a16="http://schemas.microsoft.com/office/drawing/2014/main" id="{ADDDBB2A-BD7A-C570-335F-0297E8AB0664}"/>
              </a:ext>
            </a:extLst>
          </p:cNvPr>
          <p:cNvSpPr txBox="1"/>
          <p:nvPr/>
        </p:nvSpPr>
        <p:spPr>
          <a:xfrm>
            <a:off x="6872060" y="760834"/>
            <a:ext cx="3324563" cy="584775"/>
          </a:xfrm>
          <a:prstGeom prst="rect">
            <a:avLst/>
          </a:prstGeom>
          <a:noFill/>
        </p:spPr>
        <p:txBody>
          <a:bodyPr wrap="square" rtlCol="0">
            <a:spAutoFit/>
          </a:bodyPr>
          <a:lstStyle/>
          <a:p>
            <a:r>
              <a:rPr lang="en-GB" sz="3200" b="1" noProof="0" dirty="0"/>
              <a:t>Layers</a:t>
            </a:r>
          </a:p>
        </p:txBody>
      </p:sp>
      <p:sp>
        <p:nvSpPr>
          <p:cNvPr id="75" name="Espace réservé du pied de page 74">
            <a:extLst>
              <a:ext uri="{FF2B5EF4-FFF2-40B4-BE49-F238E27FC236}">
                <a16:creationId xmlns:a16="http://schemas.microsoft.com/office/drawing/2014/main" id="{E2187245-5F7D-D5A6-BB65-AA3475D79F30}"/>
              </a:ext>
            </a:extLst>
          </p:cNvPr>
          <p:cNvSpPr>
            <a:spLocks noGrp="1"/>
          </p:cNvSpPr>
          <p:nvPr>
            <p:ph type="ftr" sz="quarter" idx="11"/>
          </p:nvPr>
        </p:nvSpPr>
        <p:spPr/>
        <p:txBody>
          <a:bodyPr/>
          <a:lstStyle/>
          <a:p>
            <a:r>
              <a:rPr lang="fr-FR"/>
              <a:t>Introduction to Neural Networks. Author: David Thébault</a:t>
            </a:r>
          </a:p>
        </p:txBody>
      </p:sp>
      <p:sp>
        <p:nvSpPr>
          <p:cNvPr id="16" name="ZoneTexte 15">
            <a:extLst>
              <a:ext uri="{FF2B5EF4-FFF2-40B4-BE49-F238E27FC236}">
                <a16:creationId xmlns:a16="http://schemas.microsoft.com/office/drawing/2014/main" id="{2D6DBEA7-8659-41C1-4A57-1F9866B831F4}"/>
              </a:ext>
            </a:extLst>
          </p:cNvPr>
          <p:cNvSpPr txBox="1"/>
          <p:nvPr/>
        </p:nvSpPr>
        <p:spPr>
          <a:xfrm>
            <a:off x="736772" y="1236280"/>
            <a:ext cx="11124670" cy="954107"/>
          </a:xfrm>
          <a:prstGeom prst="rect">
            <a:avLst/>
          </a:prstGeom>
          <a:noFill/>
        </p:spPr>
        <p:txBody>
          <a:bodyPr wrap="square" rtlCol="0">
            <a:noAutofit/>
          </a:bodyPr>
          <a:lstStyle/>
          <a:p>
            <a:r>
              <a:rPr lang="en-GB" sz="2400" noProof="0" dirty="0"/>
              <a:t>Combining neurons in a neural network. Vertical combination of units gives a layer.</a:t>
            </a:r>
            <a:endParaRPr lang="en-GB" sz="2400" baseline="-25000" noProof="0" dirty="0"/>
          </a:p>
        </p:txBody>
      </p:sp>
    </p:spTree>
    <p:extLst>
      <p:ext uri="{BB962C8B-B14F-4D97-AF65-F5344CB8AC3E}">
        <p14:creationId xmlns:p14="http://schemas.microsoft.com/office/powerpoint/2010/main" val="19462216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6F573-4991-4C6B-42D2-B536EB1DC2E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B9F8E52-2CD3-5201-6AB5-73D5A16B9463}"/>
              </a:ext>
            </a:extLst>
          </p:cNvPr>
          <p:cNvSpPr>
            <a:spLocks noGrp="1"/>
          </p:cNvSpPr>
          <p:nvPr>
            <p:ph type="title"/>
          </p:nvPr>
        </p:nvSpPr>
        <p:spPr/>
        <p:txBody>
          <a:bodyPr/>
          <a:lstStyle/>
          <a:p>
            <a:r>
              <a:rPr lang="fr-FR" dirty="0"/>
              <a:t>Neural Network</a:t>
            </a:r>
          </a:p>
        </p:txBody>
      </p:sp>
      <p:sp>
        <p:nvSpPr>
          <p:cNvPr id="73" name="ZoneTexte 72">
            <a:extLst>
              <a:ext uri="{FF2B5EF4-FFF2-40B4-BE49-F238E27FC236}">
                <a16:creationId xmlns:a16="http://schemas.microsoft.com/office/drawing/2014/main" id="{7B7E1EC0-2897-830F-DDD8-2D2D19C6630F}"/>
              </a:ext>
            </a:extLst>
          </p:cNvPr>
          <p:cNvSpPr txBox="1"/>
          <p:nvPr/>
        </p:nvSpPr>
        <p:spPr>
          <a:xfrm>
            <a:off x="6872060" y="760834"/>
            <a:ext cx="3324563" cy="584775"/>
          </a:xfrm>
          <a:prstGeom prst="rect">
            <a:avLst/>
          </a:prstGeom>
          <a:noFill/>
        </p:spPr>
        <p:txBody>
          <a:bodyPr wrap="square" rtlCol="0">
            <a:spAutoFit/>
          </a:bodyPr>
          <a:lstStyle/>
          <a:p>
            <a:r>
              <a:rPr lang="en-GB" sz="3200" b="1" noProof="0" dirty="0"/>
              <a:t>Layers</a:t>
            </a:r>
          </a:p>
        </p:txBody>
      </p:sp>
      <p:sp>
        <p:nvSpPr>
          <p:cNvPr id="75" name="Espace réservé du pied de page 74">
            <a:extLst>
              <a:ext uri="{FF2B5EF4-FFF2-40B4-BE49-F238E27FC236}">
                <a16:creationId xmlns:a16="http://schemas.microsoft.com/office/drawing/2014/main" id="{ADD20E25-5AAD-16F6-A435-CACB442EBC47}"/>
              </a:ext>
            </a:extLst>
          </p:cNvPr>
          <p:cNvSpPr>
            <a:spLocks noGrp="1"/>
          </p:cNvSpPr>
          <p:nvPr>
            <p:ph type="ftr" sz="quarter" idx="11"/>
          </p:nvPr>
        </p:nvSpPr>
        <p:spPr/>
        <p:txBody>
          <a:bodyPr/>
          <a:lstStyle/>
          <a:p>
            <a:r>
              <a:rPr lang="fr-FR"/>
              <a:t>Introduction to Neural Networks. Author: David Thébault</a:t>
            </a:r>
          </a:p>
        </p:txBody>
      </p:sp>
      <p:sp>
        <p:nvSpPr>
          <p:cNvPr id="16" name="ZoneTexte 15">
            <a:extLst>
              <a:ext uri="{FF2B5EF4-FFF2-40B4-BE49-F238E27FC236}">
                <a16:creationId xmlns:a16="http://schemas.microsoft.com/office/drawing/2014/main" id="{5C18A651-EBB5-5E5D-52CA-A026D217B7FF}"/>
              </a:ext>
            </a:extLst>
          </p:cNvPr>
          <p:cNvSpPr txBox="1"/>
          <p:nvPr/>
        </p:nvSpPr>
        <p:spPr>
          <a:xfrm>
            <a:off x="736772" y="1236280"/>
            <a:ext cx="11124670" cy="527895"/>
          </a:xfrm>
          <a:prstGeom prst="rect">
            <a:avLst/>
          </a:prstGeom>
          <a:noFill/>
        </p:spPr>
        <p:txBody>
          <a:bodyPr wrap="square" rtlCol="0">
            <a:noAutofit/>
          </a:bodyPr>
          <a:lstStyle/>
          <a:p>
            <a:r>
              <a:rPr lang="en-GB" sz="2400" noProof="0" dirty="0"/>
              <a:t>Combining neurons in a neural network. Vertical combination of units gives a layer.</a:t>
            </a:r>
            <a:endParaRPr lang="en-GB" sz="2400" baseline="-25000" noProof="0" dirty="0"/>
          </a:p>
        </p:txBody>
      </p:sp>
      <p:sp>
        <p:nvSpPr>
          <p:cNvPr id="19" name="ZoneTexte 18">
            <a:extLst>
              <a:ext uri="{FF2B5EF4-FFF2-40B4-BE49-F238E27FC236}">
                <a16:creationId xmlns:a16="http://schemas.microsoft.com/office/drawing/2014/main" id="{B21FFB19-AB9D-3EFF-4BD1-31C78EDE7867}"/>
              </a:ext>
            </a:extLst>
          </p:cNvPr>
          <p:cNvSpPr txBox="1"/>
          <p:nvPr/>
        </p:nvSpPr>
        <p:spPr>
          <a:xfrm>
            <a:off x="731042" y="5061935"/>
            <a:ext cx="11124670" cy="1235119"/>
          </a:xfrm>
          <a:prstGeom prst="rect">
            <a:avLst/>
          </a:prstGeom>
          <a:noFill/>
        </p:spPr>
        <p:txBody>
          <a:bodyPr wrap="square" rtlCol="0">
            <a:noAutofit/>
          </a:bodyPr>
          <a:lstStyle/>
          <a:p>
            <a:r>
              <a:rPr lang="en-GB" sz="2400" baseline="-25000" noProof="0" dirty="0">
                <a:latin typeface="Aptos" panose="020B0004020202020204" pitchFamily="34" charset="0"/>
              </a:rPr>
              <a:t>We only have two inputs features so each neuron of the hidden layer will have two weights.</a:t>
            </a:r>
          </a:p>
          <a:p>
            <a:pPr>
              <a:lnSpc>
                <a:spcPts val="1350"/>
              </a:lnSpc>
            </a:pPr>
            <a:r>
              <a:rPr lang="en-GB" sz="2400" baseline="-25000" noProof="0" dirty="0">
                <a:latin typeface="Aptos" panose="020B0004020202020204" pitchFamily="34" charset="0"/>
              </a:rPr>
              <a:t>In this example, the bias is the same for each neuron of the input hidden layer and the same for each neuron of the output hidden layer. Weights have been introduced for the output layer.</a:t>
            </a:r>
          </a:p>
          <a:p>
            <a:pPr>
              <a:lnSpc>
                <a:spcPts val="1350"/>
              </a:lnSpc>
            </a:pPr>
            <a:endParaRPr lang="en-GB" sz="2400" baseline="-25000" dirty="0">
              <a:latin typeface="Aptos" panose="020B0004020202020204" pitchFamily="34" charset="0"/>
            </a:endParaRPr>
          </a:p>
          <a:p>
            <a:pPr>
              <a:lnSpc>
                <a:spcPts val="1350"/>
              </a:lnSpc>
            </a:pPr>
            <a:r>
              <a:rPr lang="en-GB" sz="2400" b="0" dirty="0">
                <a:effectLst/>
                <a:latin typeface="Aptos" panose="020B0004020202020204" pitchFamily="34" charset="0"/>
              </a:rPr>
              <a:t>This is a "two-layer network" because by convention, the Input layer is not counted.</a:t>
            </a:r>
            <a:r>
              <a:rPr lang="en-GB" sz="2400" baseline="-25000" noProof="0" dirty="0">
                <a:latin typeface="Aptos" panose="020B0004020202020204" pitchFamily="34" charset="0"/>
              </a:rPr>
              <a:t> </a:t>
            </a:r>
          </a:p>
        </p:txBody>
      </p:sp>
      <p:pic>
        <p:nvPicPr>
          <p:cNvPr id="27" name="Image 26">
            <a:extLst>
              <a:ext uri="{FF2B5EF4-FFF2-40B4-BE49-F238E27FC236}">
                <a16:creationId xmlns:a16="http://schemas.microsoft.com/office/drawing/2014/main" id="{A5FE0D3A-8597-7F47-65D6-1DD4A4E07283}"/>
              </a:ext>
            </a:extLst>
          </p:cNvPr>
          <p:cNvPicPr>
            <a:picLocks noChangeAspect="1"/>
          </p:cNvPicPr>
          <p:nvPr/>
        </p:nvPicPr>
        <p:blipFill>
          <a:blip r:embed="rId2"/>
          <a:stretch>
            <a:fillRect/>
          </a:stretch>
        </p:blipFill>
        <p:spPr>
          <a:xfrm>
            <a:off x="2209800" y="1881577"/>
            <a:ext cx="7772400" cy="3094846"/>
          </a:xfrm>
          <a:prstGeom prst="rect">
            <a:avLst/>
          </a:prstGeom>
        </p:spPr>
      </p:pic>
    </p:spTree>
    <p:extLst>
      <p:ext uri="{BB962C8B-B14F-4D97-AF65-F5344CB8AC3E}">
        <p14:creationId xmlns:p14="http://schemas.microsoft.com/office/powerpoint/2010/main" val="28767623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4806E-8347-01CD-BA71-5E86E38DD161}"/>
            </a:ext>
          </a:extLst>
        </p:cNvPr>
        <p:cNvGrpSpPr/>
        <p:nvPr/>
      </p:nvGrpSpPr>
      <p:grpSpPr>
        <a:xfrm>
          <a:off x="0" y="0"/>
          <a:ext cx="0" cy="0"/>
          <a:chOff x="0" y="0"/>
          <a:chExt cx="0" cy="0"/>
        </a:xfrm>
      </p:grpSpPr>
      <p:pic>
        <p:nvPicPr>
          <p:cNvPr id="58" name="Image 57">
            <a:extLst>
              <a:ext uri="{FF2B5EF4-FFF2-40B4-BE49-F238E27FC236}">
                <a16:creationId xmlns:a16="http://schemas.microsoft.com/office/drawing/2014/main" id="{AA3E6BDA-F5B8-58F5-EFA8-05FD71C8D404}"/>
              </a:ext>
            </a:extLst>
          </p:cNvPr>
          <p:cNvPicPr>
            <a:picLocks noChangeAspect="1"/>
          </p:cNvPicPr>
          <p:nvPr/>
        </p:nvPicPr>
        <p:blipFill>
          <a:blip r:embed="rId2"/>
          <a:stretch>
            <a:fillRect/>
          </a:stretch>
        </p:blipFill>
        <p:spPr>
          <a:xfrm>
            <a:off x="534064" y="1405136"/>
            <a:ext cx="5734704" cy="2759500"/>
          </a:xfrm>
          <a:prstGeom prst="rect">
            <a:avLst/>
          </a:prstGeom>
        </p:spPr>
      </p:pic>
      <p:sp>
        <p:nvSpPr>
          <p:cNvPr id="2" name="Titre 1">
            <a:extLst>
              <a:ext uri="{FF2B5EF4-FFF2-40B4-BE49-F238E27FC236}">
                <a16:creationId xmlns:a16="http://schemas.microsoft.com/office/drawing/2014/main" id="{288DAD1D-8F28-5421-8D8D-B6A5B126121E}"/>
              </a:ext>
            </a:extLst>
          </p:cNvPr>
          <p:cNvSpPr>
            <a:spLocks noGrp="1"/>
          </p:cNvSpPr>
          <p:nvPr>
            <p:ph type="title"/>
          </p:nvPr>
        </p:nvSpPr>
        <p:spPr/>
        <p:txBody>
          <a:bodyPr/>
          <a:lstStyle/>
          <a:p>
            <a:r>
              <a:rPr lang="fr-FR" dirty="0"/>
              <a:t>Neural Network</a:t>
            </a:r>
          </a:p>
        </p:txBody>
      </p:sp>
      <p:sp>
        <p:nvSpPr>
          <p:cNvPr id="73" name="ZoneTexte 72">
            <a:extLst>
              <a:ext uri="{FF2B5EF4-FFF2-40B4-BE49-F238E27FC236}">
                <a16:creationId xmlns:a16="http://schemas.microsoft.com/office/drawing/2014/main" id="{6CC80EC7-1C9B-52B9-F6BC-69BAEB71AA65}"/>
              </a:ext>
            </a:extLst>
          </p:cNvPr>
          <p:cNvSpPr txBox="1"/>
          <p:nvPr/>
        </p:nvSpPr>
        <p:spPr>
          <a:xfrm>
            <a:off x="6872060" y="760834"/>
            <a:ext cx="3324563" cy="584775"/>
          </a:xfrm>
          <a:prstGeom prst="rect">
            <a:avLst/>
          </a:prstGeom>
          <a:noFill/>
        </p:spPr>
        <p:txBody>
          <a:bodyPr wrap="square" rtlCol="0">
            <a:spAutoFit/>
          </a:bodyPr>
          <a:lstStyle/>
          <a:p>
            <a:r>
              <a:rPr lang="en-GB" sz="3200" b="1" noProof="0" dirty="0"/>
              <a:t>Gradient</a:t>
            </a:r>
          </a:p>
        </p:txBody>
      </p:sp>
      <mc:AlternateContent xmlns:mc="http://schemas.openxmlformats.org/markup-compatibility/2006" xmlns:a14="http://schemas.microsoft.com/office/drawing/2010/main">
        <mc:Choice Requires="a14">
          <p:sp>
            <p:nvSpPr>
              <p:cNvPr id="47" name="ZoneTexte 46">
                <a:extLst>
                  <a:ext uri="{FF2B5EF4-FFF2-40B4-BE49-F238E27FC236}">
                    <a16:creationId xmlns:a16="http://schemas.microsoft.com/office/drawing/2014/main" id="{0EFA3A00-D41B-A285-49C9-ABE9ABD0C414}"/>
                  </a:ext>
                </a:extLst>
              </p:cNvPr>
              <p:cNvSpPr txBox="1"/>
              <p:nvPr/>
            </p:nvSpPr>
            <p:spPr>
              <a:xfrm>
                <a:off x="6323853" y="1773017"/>
                <a:ext cx="5042451" cy="414216"/>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fr-FR" sz="1100" i="1" smtClean="0">
                              <a:latin typeface="Cambria Math" panose="02040503050406030204" pitchFamily="18" charset="0"/>
                            </a:rPr>
                          </m:ctrlPr>
                        </m:fPr>
                        <m:num>
                          <m:r>
                            <a:rPr lang="fr-FR" sz="1100" i="0" smtClean="0">
                              <a:latin typeface="Cambria Math" panose="02040503050406030204" pitchFamily="18" charset="0"/>
                            </a:rPr>
                            <m:t>𝜕</m:t>
                          </m:r>
                          <m:r>
                            <m:rPr>
                              <m:sty m:val="p"/>
                            </m:rPr>
                            <a:rPr lang="fr-FR" sz="1100" b="0" i="0" smtClean="0">
                              <a:latin typeface="Cambria Math" panose="02040503050406030204" pitchFamily="18" charset="0"/>
                            </a:rPr>
                            <m:t>Loss</m:t>
                          </m:r>
                          <m:r>
                            <a:rPr lang="fr-FR" sz="1100" b="0" i="0" smtClean="0">
                              <a:latin typeface="Cambria Math" panose="02040503050406030204" pitchFamily="18" charset="0"/>
                            </a:rPr>
                            <m:t>1</m:t>
                          </m:r>
                        </m:num>
                        <m:den>
                          <m:r>
                            <a:rPr lang="fr-FR" sz="1100" i="0" smtClean="0">
                              <a:latin typeface="Cambria Math" panose="02040503050406030204" pitchFamily="18" charset="0"/>
                            </a:rPr>
                            <m:t>𝜕</m:t>
                          </m:r>
                          <m:r>
                            <m:rPr>
                              <m:sty m:val="p"/>
                            </m:rPr>
                            <a:rPr lang="fr-FR" sz="1100" b="0" i="0" smtClean="0">
                              <a:latin typeface="Cambria Math" panose="02040503050406030204" pitchFamily="18" charset="0"/>
                            </a:rPr>
                            <m:t>w</m:t>
                          </m:r>
                          <m:r>
                            <a:rPr lang="fr-FR" sz="1100" b="0" i="0" smtClean="0">
                              <a:latin typeface="Cambria Math" panose="02040503050406030204" pitchFamily="18" charset="0"/>
                            </a:rPr>
                            <m:t>1</m:t>
                          </m:r>
                        </m:den>
                      </m:f>
                      <m:r>
                        <a:rPr lang="fr-FR" sz="1100" b="0" i="0" smtClean="0">
                          <a:latin typeface="Cambria Math" panose="02040503050406030204" pitchFamily="18" charset="0"/>
                        </a:rPr>
                        <m:t>=</m:t>
                      </m:r>
                      <m:f>
                        <m:fPr>
                          <m:ctrlPr>
                            <a:rPr lang="fr-FR" sz="1100" i="1" smtClean="0">
                              <a:solidFill>
                                <a:schemeClr val="accent2"/>
                              </a:solidFill>
                              <a:latin typeface="Cambria Math" panose="02040503050406030204" pitchFamily="18" charset="0"/>
                            </a:rPr>
                          </m:ctrlPr>
                        </m:fPr>
                        <m:num>
                          <m:r>
                            <a:rPr lang="fr-FR" sz="1100">
                              <a:solidFill>
                                <a:schemeClr val="accent2"/>
                              </a:solidFill>
                              <a:latin typeface="Cambria Math" panose="02040503050406030204" pitchFamily="18" charset="0"/>
                            </a:rPr>
                            <m:t>𝜕</m:t>
                          </m:r>
                          <m:r>
                            <m:rPr>
                              <m:sty m:val="p"/>
                            </m:rPr>
                            <a:rPr lang="fr-FR" sz="1100">
                              <a:solidFill>
                                <a:schemeClr val="accent2"/>
                              </a:solidFill>
                              <a:latin typeface="Cambria Math" panose="02040503050406030204" pitchFamily="18" charset="0"/>
                            </a:rPr>
                            <m:t>Loss</m:t>
                          </m:r>
                          <m:r>
                            <a:rPr lang="fr-FR" sz="1100">
                              <a:solidFill>
                                <a:schemeClr val="accent2"/>
                              </a:solidFill>
                              <a:latin typeface="Cambria Math" panose="02040503050406030204" pitchFamily="18" charset="0"/>
                            </a:rPr>
                            <m:t>1</m:t>
                          </m:r>
                        </m:num>
                        <m:den>
                          <m:r>
                            <a:rPr lang="fr-FR" sz="1100">
                              <a:solidFill>
                                <a:schemeClr val="accent2"/>
                              </a:solidFill>
                              <a:latin typeface="Cambria Math" panose="02040503050406030204" pitchFamily="18" charset="0"/>
                            </a:rPr>
                            <m:t>𝜕</m:t>
                          </m:r>
                          <m:r>
                            <m:rPr>
                              <m:sty m:val="p"/>
                            </m:rPr>
                            <a:rPr lang="fr-FR" sz="1100" b="0" i="0" smtClean="0">
                              <a:solidFill>
                                <a:schemeClr val="accent2"/>
                              </a:solidFill>
                              <a:latin typeface="Cambria Math" panose="02040503050406030204" pitchFamily="18" charset="0"/>
                            </a:rPr>
                            <m:t>ou</m:t>
                          </m:r>
                          <m:r>
                            <m:rPr>
                              <m:sty m:val="p"/>
                            </m:rPr>
                            <a:rPr lang="fr-FR" sz="1100">
                              <a:solidFill>
                                <a:schemeClr val="accent2"/>
                              </a:solidFill>
                              <a:latin typeface="Cambria Math" panose="02040503050406030204" pitchFamily="18" charset="0"/>
                            </a:rPr>
                            <m:t>t</m:t>
                          </m:r>
                          <m:r>
                            <a:rPr lang="fr-FR" sz="1100">
                              <a:solidFill>
                                <a:schemeClr val="accent2"/>
                              </a:solidFill>
                              <a:latin typeface="Cambria Math" panose="02040503050406030204" pitchFamily="18" charset="0"/>
                            </a:rPr>
                            <m:t>_</m:t>
                          </m:r>
                          <m:r>
                            <m:rPr>
                              <m:sty m:val="p"/>
                            </m:rPr>
                            <a:rPr lang="fr-FR" sz="1100">
                              <a:solidFill>
                                <a:schemeClr val="accent2"/>
                              </a:solidFill>
                              <a:latin typeface="Cambria Math" panose="02040503050406030204" pitchFamily="18" charset="0"/>
                            </a:rPr>
                            <m:t>o</m:t>
                          </m:r>
                          <m:r>
                            <a:rPr lang="fr-FR" sz="1100">
                              <a:solidFill>
                                <a:schemeClr val="accent2"/>
                              </a:solidFill>
                              <a:latin typeface="Cambria Math" panose="02040503050406030204" pitchFamily="18" charset="0"/>
                            </a:rPr>
                            <m:t>1</m:t>
                          </m:r>
                        </m:den>
                      </m:f>
                      <m:r>
                        <a:rPr lang="fr-FR" sz="1100">
                          <a:latin typeface="Cambria Math" panose="02040503050406030204" pitchFamily="18" charset="0"/>
                        </a:rPr>
                        <m:t> </m:t>
                      </m:r>
                      <m:r>
                        <a:rPr lang="fr-FR" sz="1100" i="1">
                          <a:latin typeface="Cambria Math" panose="02040503050406030204" pitchFamily="18" charset="0"/>
                          <a:ea typeface="Cambria Math" panose="02040503050406030204" pitchFamily="18" charset="0"/>
                        </a:rPr>
                        <m:t>×</m:t>
                      </m:r>
                      <m:f>
                        <m:fPr>
                          <m:ctrlPr>
                            <a:rPr lang="fr-FR" sz="1100" b="0" i="1" smtClean="0">
                              <a:solidFill>
                                <a:schemeClr val="accent2"/>
                              </a:solidFill>
                              <a:latin typeface="Cambria Math" panose="02040503050406030204" pitchFamily="18" charset="0"/>
                            </a:rPr>
                          </m:ctrlPr>
                        </m:fPr>
                        <m:num>
                          <m:r>
                            <a:rPr lang="fr-FR" sz="1100" b="0" i="0" smtClean="0">
                              <a:solidFill>
                                <a:schemeClr val="accent2"/>
                              </a:solidFill>
                              <a:latin typeface="Cambria Math" panose="02040503050406030204" pitchFamily="18" charset="0"/>
                            </a:rPr>
                            <m:t>𝜕</m:t>
                          </m:r>
                          <m:r>
                            <m:rPr>
                              <m:sty m:val="p"/>
                            </m:rPr>
                            <a:rPr lang="fr-FR" sz="1100" b="0" i="0" smtClean="0">
                              <a:solidFill>
                                <a:schemeClr val="accent2"/>
                              </a:solidFill>
                              <a:latin typeface="Cambria Math" panose="02040503050406030204" pitchFamily="18" charset="0"/>
                            </a:rPr>
                            <m:t>out</m:t>
                          </m:r>
                          <m:r>
                            <a:rPr lang="fr-FR" sz="1100" b="0" i="0" smtClean="0">
                              <a:solidFill>
                                <a:schemeClr val="accent2"/>
                              </a:solidFill>
                              <a:latin typeface="Cambria Math" panose="02040503050406030204" pitchFamily="18" charset="0"/>
                            </a:rPr>
                            <m:t>_</m:t>
                          </m:r>
                          <m:r>
                            <m:rPr>
                              <m:sty m:val="p"/>
                            </m:rPr>
                            <a:rPr lang="fr-FR" sz="1100" b="0" i="0" smtClean="0">
                              <a:solidFill>
                                <a:schemeClr val="accent2"/>
                              </a:solidFill>
                              <a:latin typeface="Cambria Math" panose="02040503050406030204" pitchFamily="18" charset="0"/>
                            </a:rPr>
                            <m:t>o</m:t>
                          </m:r>
                          <m:r>
                            <a:rPr lang="fr-FR" sz="1100" b="0" i="0" smtClean="0">
                              <a:solidFill>
                                <a:schemeClr val="accent2"/>
                              </a:solidFill>
                              <a:latin typeface="Cambria Math" panose="02040503050406030204" pitchFamily="18" charset="0"/>
                            </a:rPr>
                            <m:t>1</m:t>
                          </m:r>
                        </m:num>
                        <m:den>
                          <m:r>
                            <a:rPr lang="fr-FR" sz="1100" b="0" i="0" smtClean="0">
                              <a:solidFill>
                                <a:schemeClr val="accent2"/>
                              </a:solidFill>
                              <a:latin typeface="Cambria Math" panose="02040503050406030204" pitchFamily="18" charset="0"/>
                            </a:rPr>
                            <m:t>𝜕</m:t>
                          </m:r>
                          <m:r>
                            <m:rPr>
                              <m:sty m:val="p"/>
                            </m:rPr>
                            <a:rPr lang="fr-FR" sz="1100" b="0" i="0" smtClean="0">
                              <a:solidFill>
                                <a:schemeClr val="accent2"/>
                              </a:solidFill>
                              <a:latin typeface="Cambria Math" panose="02040503050406030204" pitchFamily="18" charset="0"/>
                            </a:rPr>
                            <m:t>net</m:t>
                          </m:r>
                          <m:r>
                            <a:rPr lang="fr-FR" sz="1100" b="0" i="0" smtClean="0">
                              <a:solidFill>
                                <a:schemeClr val="accent2"/>
                              </a:solidFill>
                              <a:latin typeface="Cambria Math" panose="02040503050406030204" pitchFamily="18" charset="0"/>
                            </a:rPr>
                            <m:t>_</m:t>
                          </m:r>
                          <m:r>
                            <m:rPr>
                              <m:sty m:val="p"/>
                            </m:rPr>
                            <a:rPr lang="fr-FR" sz="1100" b="0" i="0" smtClean="0">
                              <a:solidFill>
                                <a:schemeClr val="accent2"/>
                              </a:solidFill>
                              <a:latin typeface="Cambria Math" panose="02040503050406030204" pitchFamily="18" charset="0"/>
                            </a:rPr>
                            <m:t>o</m:t>
                          </m:r>
                          <m:r>
                            <a:rPr lang="fr-FR" sz="1100" b="0" i="0" smtClean="0">
                              <a:solidFill>
                                <a:schemeClr val="accent2"/>
                              </a:solidFill>
                              <a:latin typeface="Cambria Math" panose="02040503050406030204" pitchFamily="18" charset="0"/>
                            </a:rPr>
                            <m:t>1</m:t>
                          </m:r>
                        </m:den>
                      </m:f>
                      <m:r>
                        <a:rPr lang="fr-FR" sz="1100" b="0" i="0" smtClean="0">
                          <a:solidFill>
                            <a:schemeClr val="tx1"/>
                          </a:solidFill>
                          <a:latin typeface="Cambria Math" panose="02040503050406030204" pitchFamily="18" charset="0"/>
                        </a:rPr>
                        <m:t> </m:t>
                      </m:r>
                      <m:r>
                        <a:rPr lang="fr-FR" sz="1100" b="0" i="1" smtClean="0">
                          <a:solidFill>
                            <a:schemeClr val="tx1"/>
                          </a:solidFill>
                          <a:latin typeface="Cambria Math" panose="02040503050406030204" pitchFamily="18" charset="0"/>
                          <a:ea typeface="Cambria Math" panose="02040503050406030204" pitchFamily="18" charset="0"/>
                        </a:rPr>
                        <m:t>×</m:t>
                      </m:r>
                      <m:f>
                        <m:fPr>
                          <m:ctrlPr>
                            <a:rPr lang="fr-FR" sz="1100" i="1">
                              <a:solidFill>
                                <a:schemeClr val="tx1"/>
                              </a:solidFill>
                              <a:latin typeface="Cambria Math" panose="02040503050406030204" pitchFamily="18" charset="0"/>
                            </a:rPr>
                          </m:ctrlPr>
                        </m:fPr>
                        <m:num>
                          <m:r>
                            <a:rPr lang="fr-FR" sz="1100">
                              <a:solidFill>
                                <a:schemeClr val="tx1"/>
                              </a:solidFill>
                              <a:latin typeface="Cambria Math" panose="02040503050406030204" pitchFamily="18" charset="0"/>
                            </a:rPr>
                            <m:t>𝜕</m:t>
                          </m:r>
                          <m:r>
                            <m:rPr>
                              <m:sty m:val="p"/>
                            </m:rPr>
                            <a:rPr lang="fr-FR" sz="1100" b="0" i="0" smtClean="0">
                              <a:solidFill>
                                <a:schemeClr val="tx1"/>
                              </a:solidFill>
                              <a:latin typeface="Cambria Math" panose="02040503050406030204" pitchFamily="18" charset="0"/>
                            </a:rPr>
                            <m:t>net</m:t>
                          </m:r>
                          <m:r>
                            <a:rPr lang="fr-FR" sz="1100" b="0" i="0" smtClean="0">
                              <a:solidFill>
                                <a:schemeClr val="tx1"/>
                              </a:solidFill>
                              <a:latin typeface="Cambria Math" panose="02040503050406030204" pitchFamily="18" charset="0"/>
                            </a:rPr>
                            <m:t>_</m:t>
                          </m:r>
                          <m:r>
                            <m:rPr>
                              <m:sty m:val="p"/>
                            </m:rPr>
                            <a:rPr lang="fr-FR" sz="1100" b="0" i="0" smtClean="0">
                              <a:solidFill>
                                <a:schemeClr val="tx1"/>
                              </a:solidFill>
                              <a:latin typeface="Cambria Math" panose="02040503050406030204" pitchFamily="18" charset="0"/>
                            </a:rPr>
                            <m:t>o</m:t>
                          </m:r>
                          <m:r>
                            <a:rPr lang="fr-FR" sz="1100" b="0" i="0" smtClean="0">
                              <a:solidFill>
                                <a:schemeClr val="tx1"/>
                              </a:solidFill>
                              <a:latin typeface="Cambria Math" panose="02040503050406030204" pitchFamily="18" charset="0"/>
                            </a:rPr>
                            <m:t>1</m:t>
                          </m:r>
                        </m:num>
                        <m:den>
                          <m:r>
                            <a:rPr lang="fr-FR" sz="1100">
                              <a:solidFill>
                                <a:schemeClr val="tx1"/>
                              </a:solidFill>
                              <a:latin typeface="Cambria Math" panose="02040503050406030204" pitchFamily="18" charset="0"/>
                            </a:rPr>
                            <m:t>𝜕</m:t>
                          </m:r>
                          <m:r>
                            <m:rPr>
                              <m:sty m:val="p"/>
                            </m:rPr>
                            <a:rPr lang="fr-FR" sz="1100" b="0" i="0" smtClean="0">
                              <a:solidFill>
                                <a:schemeClr val="tx1"/>
                              </a:solidFill>
                              <a:latin typeface="Cambria Math" panose="02040503050406030204" pitchFamily="18" charset="0"/>
                            </a:rPr>
                            <m:t>ou</m:t>
                          </m:r>
                          <m:r>
                            <m:rPr>
                              <m:sty m:val="p"/>
                            </m:rPr>
                            <a:rPr lang="fr-FR" sz="1100">
                              <a:solidFill>
                                <a:schemeClr val="tx1"/>
                              </a:solidFill>
                              <a:latin typeface="Cambria Math" panose="02040503050406030204" pitchFamily="18" charset="0"/>
                            </a:rPr>
                            <m:t>t</m:t>
                          </m:r>
                          <m:r>
                            <a:rPr lang="fr-FR" sz="1100">
                              <a:solidFill>
                                <a:schemeClr val="tx1"/>
                              </a:solidFill>
                              <a:latin typeface="Cambria Math" panose="02040503050406030204" pitchFamily="18" charset="0"/>
                            </a:rPr>
                            <m:t>_</m:t>
                          </m:r>
                          <m:r>
                            <m:rPr>
                              <m:sty m:val="p"/>
                            </m:rPr>
                            <a:rPr lang="fr-FR" sz="1100" b="0" i="0" smtClean="0">
                              <a:solidFill>
                                <a:schemeClr val="tx1"/>
                              </a:solidFill>
                              <a:latin typeface="Cambria Math" panose="02040503050406030204" pitchFamily="18" charset="0"/>
                            </a:rPr>
                            <m:t>h</m:t>
                          </m:r>
                          <m:r>
                            <a:rPr lang="fr-FR" sz="1100">
                              <a:solidFill>
                                <a:schemeClr val="tx1"/>
                              </a:solidFill>
                              <a:latin typeface="Cambria Math" panose="02040503050406030204" pitchFamily="18" charset="0"/>
                            </a:rPr>
                            <m:t>1</m:t>
                          </m:r>
                        </m:den>
                      </m:f>
                      <m:r>
                        <a:rPr lang="fr-FR" sz="1100">
                          <a:solidFill>
                            <a:schemeClr val="tx1"/>
                          </a:solidFill>
                          <a:latin typeface="Cambria Math" panose="02040503050406030204" pitchFamily="18" charset="0"/>
                        </a:rPr>
                        <m:t> </m:t>
                      </m:r>
                      <m:r>
                        <a:rPr lang="fr-FR" sz="1100" i="1">
                          <a:solidFill>
                            <a:schemeClr val="tx1"/>
                          </a:solidFill>
                          <a:latin typeface="Cambria Math" panose="02040503050406030204" pitchFamily="18" charset="0"/>
                          <a:ea typeface="Cambria Math" panose="02040503050406030204" pitchFamily="18" charset="0"/>
                        </a:rPr>
                        <m:t>×</m:t>
                      </m:r>
                      <m:f>
                        <m:fPr>
                          <m:ctrlPr>
                            <a:rPr lang="fr-FR" sz="1100" b="0" i="1" smtClean="0">
                              <a:solidFill>
                                <a:schemeClr val="tx1"/>
                              </a:solidFill>
                              <a:latin typeface="Cambria Math" panose="02040503050406030204" pitchFamily="18" charset="0"/>
                            </a:rPr>
                          </m:ctrlPr>
                        </m:fPr>
                        <m:num>
                          <m:r>
                            <a:rPr lang="fr-FR" sz="1100">
                              <a:solidFill>
                                <a:schemeClr val="tx1"/>
                              </a:solidFill>
                              <a:latin typeface="Cambria Math" panose="02040503050406030204" pitchFamily="18" charset="0"/>
                            </a:rPr>
                            <m:t>𝜕</m:t>
                          </m:r>
                          <m:r>
                            <m:rPr>
                              <m:sty m:val="p"/>
                            </m:rPr>
                            <a:rPr lang="fr-FR" sz="1100" b="0" i="0" smtClean="0">
                              <a:solidFill>
                                <a:schemeClr val="tx1"/>
                              </a:solidFill>
                              <a:latin typeface="Cambria Math" panose="02040503050406030204" pitchFamily="18" charset="0"/>
                            </a:rPr>
                            <m:t>out</m:t>
                          </m:r>
                          <m:r>
                            <a:rPr lang="fr-FR" sz="1100" b="0" i="0" smtClean="0">
                              <a:solidFill>
                                <a:schemeClr val="tx1"/>
                              </a:solidFill>
                              <a:latin typeface="Cambria Math" panose="02040503050406030204" pitchFamily="18" charset="0"/>
                            </a:rPr>
                            <m:t>_</m:t>
                          </m:r>
                          <m:r>
                            <m:rPr>
                              <m:sty m:val="p"/>
                            </m:rPr>
                            <a:rPr lang="fr-FR" sz="1100" b="0" i="0" smtClean="0">
                              <a:solidFill>
                                <a:schemeClr val="tx1"/>
                              </a:solidFill>
                              <a:latin typeface="Cambria Math" panose="02040503050406030204" pitchFamily="18" charset="0"/>
                            </a:rPr>
                            <m:t>h</m:t>
                          </m:r>
                          <m:r>
                            <a:rPr lang="fr-FR" sz="1100" b="0" i="0" smtClean="0">
                              <a:solidFill>
                                <a:schemeClr val="tx1"/>
                              </a:solidFill>
                              <a:latin typeface="Cambria Math" panose="02040503050406030204" pitchFamily="18" charset="0"/>
                            </a:rPr>
                            <m:t>1</m:t>
                          </m:r>
                        </m:num>
                        <m:den>
                          <m:r>
                            <a:rPr lang="fr-FR" sz="1100">
                              <a:solidFill>
                                <a:schemeClr val="tx1"/>
                              </a:solidFill>
                              <a:latin typeface="Cambria Math" panose="02040503050406030204" pitchFamily="18" charset="0"/>
                            </a:rPr>
                            <m:t>𝜕</m:t>
                          </m:r>
                          <m:r>
                            <m:rPr>
                              <m:sty m:val="p"/>
                            </m:rPr>
                            <a:rPr lang="fr-FR" sz="1100" b="0" i="0" smtClean="0">
                              <a:solidFill>
                                <a:schemeClr val="tx1"/>
                              </a:solidFill>
                              <a:latin typeface="Cambria Math" panose="02040503050406030204" pitchFamily="18" charset="0"/>
                            </a:rPr>
                            <m:t>net</m:t>
                          </m:r>
                          <m:r>
                            <a:rPr lang="fr-FR" sz="1100" b="0" i="0" smtClean="0">
                              <a:solidFill>
                                <a:schemeClr val="tx1"/>
                              </a:solidFill>
                              <a:latin typeface="Cambria Math" panose="02040503050406030204" pitchFamily="18" charset="0"/>
                            </a:rPr>
                            <m:t>_</m:t>
                          </m:r>
                          <m:r>
                            <m:rPr>
                              <m:sty m:val="p"/>
                            </m:rPr>
                            <a:rPr lang="fr-FR" sz="1100" b="0" i="0" smtClean="0">
                              <a:solidFill>
                                <a:schemeClr val="tx1"/>
                              </a:solidFill>
                              <a:latin typeface="Cambria Math" panose="02040503050406030204" pitchFamily="18" charset="0"/>
                            </a:rPr>
                            <m:t>h</m:t>
                          </m:r>
                          <m:r>
                            <a:rPr lang="fr-FR" sz="1100" b="0" i="0" smtClean="0">
                              <a:solidFill>
                                <a:schemeClr val="tx1"/>
                              </a:solidFill>
                              <a:latin typeface="Cambria Math" panose="02040503050406030204" pitchFamily="18" charset="0"/>
                            </a:rPr>
                            <m:t>1</m:t>
                          </m:r>
                        </m:den>
                      </m:f>
                      <m:r>
                        <a:rPr lang="fr-FR" sz="1100" i="1">
                          <a:solidFill>
                            <a:schemeClr val="tx1"/>
                          </a:solidFill>
                          <a:latin typeface="Cambria Math" panose="02040503050406030204" pitchFamily="18" charset="0"/>
                          <a:ea typeface="Cambria Math" panose="02040503050406030204" pitchFamily="18" charset="0"/>
                        </a:rPr>
                        <m:t>×</m:t>
                      </m:r>
                      <m:f>
                        <m:fPr>
                          <m:ctrlPr>
                            <a:rPr lang="fr-FR" sz="1100" i="1">
                              <a:solidFill>
                                <a:schemeClr val="tx1"/>
                              </a:solidFill>
                              <a:latin typeface="Cambria Math" panose="02040503050406030204" pitchFamily="18" charset="0"/>
                            </a:rPr>
                          </m:ctrlPr>
                        </m:fPr>
                        <m:num>
                          <m:r>
                            <a:rPr lang="fr-FR" sz="1100">
                              <a:solidFill>
                                <a:schemeClr val="tx1"/>
                              </a:solidFill>
                              <a:latin typeface="Cambria Math" panose="02040503050406030204" pitchFamily="18" charset="0"/>
                            </a:rPr>
                            <m:t>𝜕</m:t>
                          </m:r>
                          <m:r>
                            <m:rPr>
                              <m:sty m:val="p"/>
                            </m:rPr>
                            <a:rPr lang="fr-FR" sz="1100" b="0" i="0" smtClean="0">
                              <a:solidFill>
                                <a:schemeClr val="tx1"/>
                              </a:solidFill>
                              <a:latin typeface="Cambria Math" panose="02040503050406030204" pitchFamily="18" charset="0"/>
                            </a:rPr>
                            <m:t>ne</m:t>
                          </m:r>
                          <m:r>
                            <m:rPr>
                              <m:sty m:val="p"/>
                            </m:rPr>
                            <a:rPr lang="fr-FR" sz="1100">
                              <a:solidFill>
                                <a:schemeClr val="tx1"/>
                              </a:solidFill>
                              <a:latin typeface="Cambria Math" panose="02040503050406030204" pitchFamily="18" charset="0"/>
                            </a:rPr>
                            <m:t>t</m:t>
                          </m:r>
                          <m:r>
                            <a:rPr lang="fr-FR" sz="1100">
                              <a:solidFill>
                                <a:schemeClr val="tx1"/>
                              </a:solidFill>
                              <a:latin typeface="Cambria Math" panose="02040503050406030204" pitchFamily="18" charset="0"/>
                            </a:rPr>
                            <m:t>_</m:t>
                          </m:r>
                          <m:r>
                            <m:rPr>
                              <m:sty m:val="p"/>
                            </m:rPr>
                            <a:rPr lang="fr-FR" sz="1100">
                              <a:solidFill>
                                <a:schemeClr val="tx1"/>
                              </a:solidFill>
                              <a:latin typeface="Cambria Math" panose="02040503050406030204" pitchFamily="18" charset="0"/>
                            </a:rPr>
                            <m:t>h</m:t>
                          </m:r>
                          <m:r>
                            <a:rPr lang="fr-FR" sz="1100">
                              <a:solidFill>
                                <a:schemeClr val="tx1"/>
                              </a:solidFill>
                              <a:latin typeface="Cambria Math" panose="02040503050406030204" pitchFamily="18" charset="0"/>
                            </a:rPr>
                            <m:t>1</m:t>
                          </m:r>
                        </m:num>
                        <m:den>
                          <m:r>
                            <a:rPr lang="fr-FR" sz="1100">
                              <a:solidFill>
                                <a:schemeClr val="tx1"/>
                              </a:solidFill>
                              <a:latin typeface="Cambria Math" panose="02040503050406030204" pitchFamily="18" charset="0"/>
                            </a:rPr>
                            <m:t>𝜕</m:t>
                          </m:r>
                          <m:r>
                            <m:rPr>
                              <m:sty m:val="p"/>
                            </m:rPr>
                            <a:rPr lang="fr-FR" sz="1100" b="0" i="0" smtClean="0">
                              <a:solidFill>
                                <a:schemeClr val="tx1"/>
                              </a:solidFill>
                              <a:latin typeface="Cambria Math" panose="02040503050406030204" pitchFamily="18" charset="0"/>
                            </a:rPr>
                            <m:t>w</m:t>
                          </m:r>
                          <m:r>
                            <a:rPr lang="fr-FR" sz="1100">
                              <a:solidFill>
                                <a:schemeClr val="tx1"/>
                              </a:solidFill>
                              <a:latin typeface="Cambria Math" panose="02040503050406030204" pitchFamily="18" charset="0"/>
                            </a:rPr>
                            <m:t>1</m:t>
                          </m:r>
                        </m:den>
                      </m:f>
                    </m:oMath>
                  </m:oMathPara>
                </a14:m>
                <a:endParaRPr lang="fr-FR" sz="1100" dirty="0">
                  <a:solidFill>
                    <a:schemeClr val="accent3">
                      <a:lumMod val="60000"/>
                      <a:lumOff val="40000"/>
                    </a:schemeClr>
                  </a:solidFill>
                </a:endParaRPr>
              </a:p>
            </p:txBody>
          </p:sp>
        </mc:Choice>
        <mc:Fallback xmlns="">
          <p:sp>
            <p:nvSpPr>
              <p:cNvPr id="47" name="ZoneTexte 46">
                <a:extLst>
                  <a:ext uri="{FF2B5EF4-FFF2-40B4-BE49-F238E27FC236}">
                    <a16:creationId xmlns:a16="http://schemas.microsoft.com/office/drawing/2014/main" id="{0EFA3A00-D41B-A285-49C9-ABE9ABD0C414}"/>
                  </a:ext>
                </a:extLst>
              </p:cNvPr>
              <p:cNvSpPr txBox="1">
                <a:spLocks noRot="1" noChangeAspect="1" noMove="1" noResize="1" noEditPoints="1" noAdjustHandles="1" noChangeArrowheads="1" noChangeShapeType="1" noTextEdit="1"/>
              </p:cNvSpPr>
              <p:nvPr/>
            </p:nvSpPr>
            <p:spPr>
              <a:xfrm>
                <a:off x="6323853" y="1773017"/>
                <a:ext cx="5042451" cy="414216"/>
              </a:xfrm>
              <a:prstGeom prst="rect">
                <a:avLst/>
              </a:prstGeom>
              <a:blipFill>
                <a:blip r:embed="rId3"/>
                <a:stretch>
                  <a:fillRect/>
                </a:stretch>
              </a:blipFill>
            </p:spPr>
            <p:txBody>
              <a:bodyPr/>
              <a:lstStyle/>
              <a:p>
                <a:r>
                  <a:rPr lang="en-GB">
                    <a:noFill/>
                  </a:rPr>
                  <a:t> </a:t>
                </a:r>
              </a:p>
            </p:txBody>
          </p:sp>
        </mc:Fallback>
      </mc:AlternateContent>
      <p:sp>
        <p:nvSpPr>
          <p:cNvPr id="72" name="ZoneTexte 71">
            <a:extLst>
              <a:ext uri="{FF2B5EF4-FFF2-40B4-BE49-F238E27FC236}">
                <a16:creationId xmlns:a16="http://schemas.microsoft.com/office/drawing/2014/main" id="{22EE883F-5551-DBC8-FC47-9FFE5E147629}"/>
              </a:ext>
            </a:extLst>
          </p:cNvPr>
          <p:cNvSpPr txBox="1"/>
          <p:nvPr/>
        </p:nvSpPr>
        <p:spPr>
          <a:xfrm>
            <a:off x="6528460" y="1334708"/>
            <a:ext cx="3157800" cy="307777"/>
          </a:xfrm>
          <a:prstGeom prst="rect">
            <a:avLst/>
          </a:prstGeom>
          <a:noFill/>
        </p:spPr>
        <p:txBody>
          <a:bodyPr wrap="square" rtlCol="0">
            <a:spAutoFit/>
          </a:bodyPr>
          <a:lstStyle/>
          <a:p>
            <a:r>
              <a:rPr lang="fr-FR" sz="1400" b="1" dirty="0">
                <a:solidFill>
                  <a:srgbClr val="FF0000"/>
                </a:solidFill>
              </a:rPr>
              <a:t>BACKPROPAGATION</a:t>
            </a:r>
            <a:r>
              <a:rPr lang="fr-FR" sz="1400" b="1" dirty="0"/>
              <a:t> + CHAIN RULE</a:t>
            </a:r>
          </a:p>
        </p:txBody>
      </p:sp>
      <p:sp>
        <p:nvSpPr>
          <p:cNvPr id="79" name="Flèche vers la gauche 78">
            <a:extLst>
              <a:ext uri="{FF2B5EF4-FFF2-40B4-BE49-F238E27FC236}">
                <a16:creationId xmlns:a16="http://schemas.microsoft.com/office/drawing/2014/main" id="{294175F2-82B5-CFC8-21E0-5A6B5AE45EFA}"/>
              </a:ext>
            </a:extLst>
          </p:cNvPr>
          <p:cNvSpPr/>
          <p:nvPr/>
        </p:nvSpPr>
        <p:spPr>
          <a:xfrm>
            <a:off x="1254640" y="1723608"/>
            <a:ext cx="3443359" cy="272899"/>
          </a:xfrm>
          <a:prstGeom prst="leftArrow">
            <a:avLst/>
          </a:prstGeom>
          <a:solidFill>
            <a:srgbClr val="FF00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mc:AlternateContent xmlns:mc="http://schemas.openxmlformats.org/markup-compatibility/2006" xmlns:a14="http://schemas.microsoft.com/office/drawing/2010/main">
        <mc:Choice Requires="a14">
          <p:sp>
            <p:nvSpPr>
              <p:cNvPr id="80" name="ZoneTexte 79">
                <a:extLst>
                  <a:ext uri="{FF2B5EF4-FFF2-40B4-BE49-F238E27FC236}">
                    <a16:creationId xmlns:a16="http://schemas.microsoft.com/office/drawing/2014/main" id="{EAB901A7-56FA-3A21-F1A6-2C87BDF341AB}"/>
                  </a:ext>
                </a:extLst>
              </p:cNvPr>
              <p:cNvSpPr txBox="1"/>
              <p:nvPr/>
            </p:nvSpPr>
            <p:spPr>
              <a:xfrm>
                <a:off x="4051002" y="1404654"/>
                <a:ext cx="642969" cy="414216"/>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f>
                        <m:fPr>
                          <m:ctrlPr>
                            <a:rPr lang="fr-FR" sz="1050" i="1" smtClean="0">
                              <a:solidFill>
                                <a:srgbClr val="FF0000"/>
                              </a:solidFill>
                              <a:latin typeface="Cambria Math" panose="02040503050406030204" pitchFamily="18" charset="0"/>
                            </a:rPr>
                          </m:ctrlPr>
                        </m:fPr>
                        <m:num>
                          <m:r>
                            <a:rPr lang="fr-FR" sz="1050" i="0" smtClean="0">
                              <a:solidFill>
                                <a:srgbClr val="FF0000"/>
                              </a:solidFill>
                              <a:latin typeface="Cambria Math" panose="02040503050406030204" pitchFamily="18" charset="0"/>
                            </a:rPr>
                            <m:t>𝜕</m:t>
                          </m:r>
                          <m:r>
                            <m:rPr>
                              <m:sty m:val="p"/>
                            </m:rPr>
                            <a:rPr lang="fr-FR" sz="1050" b="0" i="0" smtClean="0">
                              <a:solidFill>
                                <a:srgbClr val="FF0000"/>
                              </a:solidFill>
                              <a:latin typeface="Cambria Math" panose="02040503050406030204" pitchFamily="18" charset="0"/>
                            </a:rPr>
                            <m:t>Loss</m:t>
                          </m:r>
                          <m:r>
                            <a:rPr lang="fr-FR" sz="1050" b="0" i="0" smtClean="0">
                              <a:solidFill>
                                <a:srgbClr val="FF0000"/>
                              </a:solidFill>
                              <a:latin typeface="Cambria Math" panose="02040503050406030204" pitchFamily="18" charset="0"/>
                            </a:rPr>
                            <m:t>1</m:t>
                          </m:r>
                        </m:num>
                        <m:den>
                          <m:r>
                            <a:rPr lang="fr-FR" sz="1050" i="0" smtClean="0">
                              <a:solidFill>
                                <a:srgbClr val="FF0000"/>
                              </a:solidFill>
                              <a:latin typeface="Cambria Math" panose="02040503050406030204" pitchFamily="18" charset="0"/>
                            </a:rPr>
                            <m:t>𝜕</m:t>
                          </m:r>
                          <m:r>
                            <m:rPr>
                              <m:sty m:val="p"/>
                            </m:rPr>
                            <a:rPr lang="fr-FR" sz="1050" b="0" i="0" smtClean="0">
                              <a:solidFill>
                                <a:srgbClr val="FF0000"/>
                              </a:solidFill>
                              <a:latin typeface="Cambria Math" panose="02040503050406030204" pitchFamily="18" charset="0"/>
                            </a:rPr>
                            <m:t>w</m:t>
                          </m:r>
                          <m:r>
                            <a:rPr lang="fr-FR" sz="1050" b="0" i="0" smtClean="0">
                              <a:solidFill>
                                <a:srgbClr val="FF0000"/>
                              </a:solidFill>
                              <a:latin typeface="Cambria Math" panose="02040503050406030204" pitchFamily="18" charset="0"/>
                            </a:rPr>
                            <m:t>1</m:t>
                          </m:r>
                        </m:den>
                      </m:f>
                    </m:oMath>
                  </m:oMathPara>
                </a14:m>
                <a:endParaRPr lang="fr-FR" sz="1050" b="1" dirty="0">
                  <a:solidFill>
                    <a:srgbClr val="FF0000"/>
                  </a:solidFill>
                </a:endParaRPr>
              </a:p>
            </p:txBody>
          </p:sp>
        </mc:Choice>
        <mc:Fallback xmlns="">
          <p:sp>
            <p:nvSpPr>
              <p:cNvPr id="80" name="ZoneTexte 79">
                <a:extLst>
                  <a:ext uri="{FF2B5EF4-FFF2-40B4-BE49-F238E27FC236}">
                    <a16:creationId xmlns:a16="http://schemas.microsoft.com/office/drawing/2014/main" id="{EAB901A7-56FA-3A21-F1A6-2C87BDF341AB}"/>
                  </a:ext>
                </a:extLst>
              </p:cNvPr>
              <p:cNvSpPr txBox="1">
                <a:spLocks noRot="1" noChangeAspect="1" noMove="1" noResize="1" noEditPoints="1" noAdjustHandles="1" noChangeArrowheads="1" noChangeShapeType="1" noTextEdit="1"/>
              </p:cNvSpPr>
              <p:nvPr/>
            </p:nvSpPr>
            <p:spPr>
              <a:xfrm>
                <a:off x="4051002" y="1404654"/>
                <a:ext cx="642969" cy="414216"/>
              </a:xfrm>
              <a:prstGeom prst="rect">
                <a:avLst/>
              </a:prstGeom>
              <a:blipFill>
                <a:blip r:embed="rId4"/>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81" name="ZoneTexte 80">
                <a:extLst>
                  <a:ext uri="{FF2B5EF4-FFF2-40B4-BE49-F238E27FC236}">
                    <a16:creationId xmlns:a16="http://schemas.microsoft.com/office/drawing/2014/main" id="{EFE90DAD-5A1C-C390-935F-A756C479DCF3}"/>
                  </a:ext>
                </a:extLst>
              </p:cNvPr>
              <p:cNvSpPr txBox="1"/>
              <p:nvPr/>
            </p:nvSpPr>
            <p:spPr>
              <a:xfrm>
                <a:off x="6323853" y="2366027"/>
                <a:ext cx="5537608" cy="414216"/>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fr-FR" sz="1100" i="1" smtClean="0">
                              <a:latin typeface="Cambria Math" panose="02040503050406030204" pitchFamily="18" charset="0"/>
                            </a:rPr>
                          </m:ctrlPr>
                        </m:fPr>
                        <m:num>
                          <m:r>
                            <a:rPr lang="fr-FR" sz="1100" i="0" smtClean="0">
                              <a:latin typeface="Cambria Math" panose="02040503050406030204" pitchFamily="18" charset="0"/>
                            </a:rPr>
                            <m:t>𝜕</m:t>
                          </m:r>
                          <m:r>
                            <m:rPr>
                              <m:sty m:val="p"/>
                            </m:rPr>
                            <a:rPr lang="fr-FR" sz="1100" b="0" i="0" smtClean="0">
                              <a:latin typeface="Cambria Math" panose="02040503050406030204" pitchFamily="18" charset="0"/>
                            </a:rPr>
                            <m:t>Loss</m:t>
                          </m:r>
                          <m:r>
                            <a:rPr lang="fr-FR" sz="1100" b="0" i="0" smtClean="0">
                              <a:latin typeface="Cambria Math" panose="02040503050406030204" pitchFamily="18" charset="0"/>
                            </a:rPr>
                            <m:t>1</m:t>
                          </m:r>
                        </m:num>
                        <m:den>
                          <m:r>
                            <a:rPr lang="fr-FR" sz="1100" i="0" smtClean="0">
                              <a:latin typeface="Cambria Math" panose="02040503050406030204" pitchFamily="18" charset="0"/>
                            </a:rPr>
                            <m:t>𝜕</m:t>
                          </m:r>
                          <m:r>
                            <m:rPr>
                              <m:sty m:val="p"/>
                            </m:rPr>
                            <a:rPr lang="fr-FR" sz="1100" b="0" i="0" smtClean="0">
                              <a:latin typeface="Cambria Math" panose="02040503050406030204" pitchFamily="18" charset="0"/>
                            </a:rPr>
                            <m:t>w</m:t>
                          </m:r>
                          <m:r>
                            <a:rPr lang="fr-FR" sz="1100" b="0" i="0" smtClean="0">
                              <a:latin typeface="Cambria Math" panose="02040503050406030204" pitchFamily="18" charset="0"/>
                            </a:rPr>
                            <m:t>1</m:t>
                          </m:r>
                        </m:den>
                      </m:f>
                      <m:r>
                        <a:rPr lang="fr-FR" sz="1100" b="0" i="0" smtClean="0">
                          <a:solidFill>
                            <a:schemeClr val="tx1"/>
                          </a:solidFill>
                          <a:latin typeface="Cambria Math" panose="02040503050406030204" pitchFamily="18" charset="0"/>
                        </a:rPr>
                        <m:t>=</m:t>
                      </m:r>
                      <m:r>
                        <m:rPr>
                          <m:nor/>
                        </m:rPr>
                        <a:rPr lang="fr-FR" sz="1100" b="0" i="0" smtClean="0">
                          <a:solidFill>
                            <a:schemeClr val="accent2"/>
                          </a:solidFill>
                          <a:latin typeface="Cambria Math" panose="02040503050406030204" pitchFamily="18" charset="0"/>
                        </a:rPr>
                        <m:t>−2</m:t>
                      </m:r>
                      <m:r>
                        <m:rPr>
                          <m:nor/>
                        </m:rPr>
                        <a:rPr lang="fr-FR" sz="1100" dirty="0" smtClean="0">
                          <a:solidFill>
                            <a:schemeClr val="accent2"/>
                          </a:solidFill>
                          <a:latin typeface="Cambria Math" panose="02040503050406030204" pitchFamily="18" charset="0"/>
                          <a:ea typeface="Cambria Math" panose="02040503050406030204" pitchFamily="18" charset="0"/>
                        </a:rPr>
                        <m:t>(</m:t>
                      </m:r>
                      <m:sSub>
                        <m:sSubPr>
                          <m:ctrlPr>
                            <a:rPr lang="fr-FR" sz="1100" i="1" dirty="0">
                              <a:solidFill>
                                <a:schemeClr val="accent2"/>
                              </a:solidFill>
                              <a:latin typeface="Cambria Math" panose="02040503050406030204" pitchFamily="18" charset="0"/>
                              <a:ea typeface="Cambria Math" panose="02040503050406030204" pitchFamily="18" charset="0"/>
                            </a:rPr>
                          </m:ctrlPr>
                        </m:sSubPr>
                        <m:e>
                          <m:r>
                            <m:rPr>
                              <m:sty m:val="p"/>
                            </m:rPr>
                            <a:rPr lang="fr-FR" sz="1100">
                              <a:solidFill>
                                <a:schemeClr val="accent2"/>
                              </a:solidFill>
                              <a:latin typeface="Cambria Math" panose="02040503050406030204" pitchFamily="18" charset="0"/>
                              <a:ea typeface="Cambria Math" panose="02040503050406030204" pitchFamily="18" charset="0"/>
                            </a:rPr>
                            <m:t>target</m:t>
                          </m:r>
                        </m:e>
                        <m:sub>
                          <m:r>
                            <m:rPr>
                              <m:sty m:val="p"/>
                            </m:rPr>
                            <a:rPr lang="fr-FR" sz="1100">
                              <a:solidFill>
                                <a:schemeClr val="accent2"/>
                              </a:solidFill>
                              <a:latin typeface="Cambria Math" panose="02040503050406030204" pitchFamily="18" charset="0"/>
                              <a:ea typeface="Cambria Math" panose="02040503050406030204" pitchFamily="18" charset="0"/>
                            </a:rPr>
                            <m:t>o</m:t>
                          </m:r>
                          <m:r>
                            <a:rPr lang="fr-FR" sz="1100">
                              <a:solidFill>
                                <a:schemeClr val="accent2"/>
                              </a:solidFill>
                              <a:latin typeface="Cambria Math" panose="02040503050406030204" pitchFamily="18" charset="0"/>
                              <a:ea typeface="Cambria Math" panose="02040503050406030204" pitchFamily="18" charset="0"/>
                            </a:rPr>
                            <m:t>1</m:t>
                          </m:r>
                        </m:sub>
                      </m:sSub>
                      <m:r>
                        <a:rPr lang="fr-FR" sz="1100" b="0" i="1" smtClean="0">
                          <a:solidFill>
                            <a:schemeClr val="accent2"/>
                          </a:solidFill>
                          <a:latin typeface="Cambria Math" panose="02040503050406030204" pitchFamily="18" charset="0"/>
                          <a:ea typeface="Cambria Math" panose="02040503050406030204" pitchFamily="18" charset="0"/>
                        </a:rPr>
                        <m:t>− </m:t>
                      </m:r>
                      <m:r>
                        <m:rPr>
                          <m:sty m:val="p"/>
                        </m:rPr>
                        <a:rPr lang="fr-FR" sz="1100">
                          <a:solidFill>
                            <a:schemeClr val="accent2"/>
                          </a:solidFill>
                          <a:latin typeface="Cambria Math" panose="02040503050406030204" pitchFamily="18" charset="0"/>
                          <a:ea typeface="Cambria Math" panose="02040503050406030204" pitchFamily="18" charset="0"/>
                        </a:rPr>
                        <m:t>out</m:t>
                      </m:r>
                      <m:r>
                        <a:rPr lang="fr-FR" sz="1100">
                          <a:solidFill>
                            <a:schemeClr val="accent2"/>
                          </a:solidFill>
                          <a:latin typeface="Cambria Math" panose="02040503050406030204" pitchFamily="18" charset="0"/>
                          <a:ea typeface="Cambria Math" panose="02040503050406030204" pitchFamily="18" charset="0"/>
                        </a:rPr>
                        <m:t>_</m:t>
                      </m:r>
                      <m:r>
                        <m:rPr>
                          <m:sty m:val="p"/>
                        </m:rPr>
                        <a:rPr lang="fr-FR" sz="1100">
                          <a:solidFill>
                            <a:schemeClr val="accent2"/>
                          </a:solidFill>
                          <a:latin typeface="Cambria Math" panose="02040503050406030204" pitchFamily="18" charset="0"/>
                          <a:ea typeface="Cambria Math" panose="02040503050406030204" pitchFamily="18" charset="0"/>
                        </a:rPr>
                        <m:t>o</m:t>
                      </m:r>
                      <m:r>
                        <a:rPr lang="fr-FR" sz="1100">
                          <a:solidFill>
                            <a:schemeClr val="accent2"/>
                          </a:solidFill>
                          <a:latin typeface="Cambria Math" panose="02040503050406030204" pitchFamily="18" charset="0"/>
                          <a:ea typeface="Cambria Math" panose="02040503050406030204" pitchFamily="18" charset="0"/>
                        </a:rPr>
                        <m:t>1</m:t>
                      </m:r>
                      <m:r>
                        <m:rPr>
                          <m:nor/>
                        </m:rPr>
                        <a:rPr lang="fr-FR" sz="1100" dirty="0" smtClean="0">
                          <a:solidFill>
                            <a:schemeClr val="accent2"/>
                          </a:solidFill>
                          <a:latin typeface="Cambria Math" panose="02040503050406030204" pitchFamily="18" charset="0"/>
                          <a:ea typeface="Cambria Math" panose="02040503050406030204" pitchFamily="18" charset="0"/>
                        </a:rPr>
                        <m:t>)</m:t>
                      </m:r>
                      <m:r>
                        <a:rPr lang="fr-FR" sz="1100" i="1" smtClean="0">
                          <a:latin typeface="Cambria Math" panose="02040503050406030204" pitchFamily="18" charset="0"/>
                          <a:ea typeface="Cambria Math" panose="02040503050406030204" pitchFamily="18" charset="0"/>
                        </a:rPr>
                        <m:t>×</m:t>
                      </m:r>
                      <m:r>
                        <m:rPr>
                          <m:sty m:val="p"/>
                        </m:rPr>
                        <a:rPr lang="fr-FR" sz="1100" smtClean="0">
                          <a:solidFill>
                            <a:schemeClr val="accent2"/>
                          </a:solidFill>
                          <a:latin typeface="Cambria Math" panose="02040503050406030204" pitchFamily="18" charset="0"/>
                          <a:ea typeface="Cambria Math" panose="02040503050406030204" pitchFamily="18" charset="0"/>
                        </a:rPr>
                        <m:t>out</m:t>
                      </m:r>
                      <m:r>
                        <a:rPr lang="fr-FR" sz="1100" smtClean="0">
                          <a:solidFill>
                            <a:schemeClr val="accent2"/>
                          </a:solidFill>
                          <a:latin typeface="Cambria Math" panose="02040503050406030204" pitchFamily="18" charset="0"/>
                          <a:ea typeface="Cambria Math" panose="02040503050406030204" pitchFamily="18" charset="0"/>
                        </a:rPr>
                        <m:t>_</m:t>
                      </m:r>
                      <m:r>
                        <m:rPr>
                          <m:sty m:val="p"/>
                        </m:rPr>
                        <a:rPr lang="fr-FR" sz="1100" smtClean="0">
                          <a:solidFill>
                            <a:schemeClr val="accent2"/>
                          </a:solidFill>
                          <a:latin typeface="Cambria Math" panose="02040503050406030204" pitchFamily="18" charset="0"/>
                          <a:ea typeface="Cambria Math" panose="02040503050406030204" pitchFamily="18" charset="0"/>
                        </a:rPr>
                        <m:t>o</m:t>
                      </m:r>
                      <m:r>
                        <a:rPr lang="fr-FR" sz="1100" smtClean="0">
                          <a:solidFill>
                            <a:schemeClr val="accent2"/>
                          </a:solidFill>
                          <a:latin typeface="Cambria Math" panose="02040503050406030204" pitchFamily="18" charset="0"/>
                          <a:ea typeface="Cambria Math" panose="02040503050406030204" pitchFamily="18" charset="0"/>
                        </a:rPr>
                        <m:t>1(1−</m:t>
                      </m:r>
                      <m:r>
                        <m:rPr>
                          <m:sty m:val="p"/>
                        </m:rPr>
                        <a:rPr lang="fr-FR" sz="1100" smtClean="0">
                          <a:solidFill>
                            <a:schemeClr val="accent2"/>
                          </a:solidFill>
                          <a:latin typeface="Cambria Math" panose="02040503050406030204" pitchFamily="18" charset="0"/>
                          <a:ea typeface="Cambria Math" panose="02040503050406030204" pitchFamily="18" charset="0"/>
                        </a:rPr>
                        <m:t>out</m:t>
                      </m:r>
                      <m:r>
                        <a:rPr lang="fr-FR" sz="1100" smtClean="0">
                          <a:solidFill>
                            <a:schemeClr val="accent2"/>
                          </a:solidFill>
                          <a:latin typeface="Cambria Math" panose="02040503050406030204" pitchFamily="18" charset="0"/>
                          <a:ea typeface="Cambria Math" panose="02040503050406030204" pitchFamily="18" charset="0"/>
                        </a:rPr>
                        <m:t>_</m:t>
                      </m:r>
                      <m:r>
                        <m:rPr>
                          <m:sty m:val="p"/>
                        </m:rPr>
                        <a:rPr lang="fr-FR" sz="1100" smtClean="0">
                          <a:solidFill>
                            <a:schemeClr val="accent2"/>
                          </a:solidFill>
                          <a:latin typeface="Cambria Math" panose="02040503050406030204" pitchFamily="18" charset="0"/>
                          <a:ea typeface="Cambria Math" panose="02040503050406030204" pitchFamily="18" charset="0"/>
                        </a:rPr>
                        <m:t>o</m:t>
                      </m:r>
                      <m:r>
                        <a:rPr lang="fr-FR" sz="1100" smtClean="0">
                          <a:solidFill>
                            <a:schemeClr val="accent2"/>
                          </a:solidFill>
                          <a:latin typeface="Cambria Math" panose="02040503050406030204" pitchFamily="18" charset="0"/>
                          <a:ea typeface="Cambria Math" panose="02040503050406030204" pitchFamily="18" charset="0"/>
                        </a:rPr>
                        <m:t>1</m:t>
                      </m:r>
                      <m:r>
                        <a:rPr lang="fr-FR" sz="1100" i="1">
                          <a:solidFill>
                            <a:schemeClr val="accent2"/>
                          </a:solidFill>
                          <a:latin typeface="Cambria Math" panose="02040503050406030204" pitchFamily="18" charset="0"/>
                          <a:ea typeface="Cambria Math" panose="02040503050406030204" pitchFamily="18" charset="0"/>
                        </a:rPr>
                        <m:t>)</m:t>
                      </m:r>
                      <m:r>
                        <a:rPr lang="fr-FR" sz="1100" b="0" i="1" smtClean="0">
                          <a:solidFill>
                            <a:schemeClr val="tx1"/>
                          </a:solidFill>
                          <a:latin typeface="Cambria Math" panose="02040503050406030204" pitchFamily="18" charset="0"/>
                          <a:ea typeface="Cambria Math" panose="02040503050406030204" pitchFamily="18" charset="0"/>
                        </a:rPr>
                        <m:t>×</m:t>
                      </m:r>
                      <m:f>
                        <m:fPr>
                          <m:ctrlPr>
                            <a:rPr lang="fr-FR" sz="1100" i="1">
                              <a:solidFill>
                                <a:schemeClr val="tx1"/>
                              </a:solidFill>
                              <a:latin typeface="Cambria Math" panose="02040503050406030204" pitchFamily="18" charset="0"/>
                            </a:rPr>
                          </m:ctrlPr>
                        </m:fPr>
                        <m:num>
                          <m:r>
                            <a:rPr lang="fr-FR" sz="1100">
                              <a:solidFill>
                                <a:schemeClr val="tx1"/>
                              </a:solidFill>
                              <a:latin typeface="Cambria Math" panose="02040503050406030204" pitchFamily="18" charset="0"/>
                            </a:rPr>
                            <m:t>𝜕</m:t>
                          </m:r>
                          <m:r>
                            <m:rPr>
                              <m:sty m:val="p"/>
                            </m:rPr>
                            <a:rPr lang="fr-FR" sz="1100" b="0" i="0" smtClean="0">
                              <a:solidFill>
                                <a:schemeClr val="tx1"/>
                              </a:solidFill>
                              <a:latin typeface="Cambria Math" panose="02040503050406030204" pitchFamily="18" charset="0"/>
                            </a:rPr>
                            <m:t>net</m:t>
                          </m:r>
                          <m:r>
                            <a:rPr lang="fr-FR" sz="1100" b="0" i="0" smtClean="0">
                              <a:solidFill>
                                <a:schemeClr val="tx1"/>
                              </a:solidFill>
                              <a:latin typeface="Cambria Math" panose="02040503050406030204" pitchFamily="18" charset="0"/>
                            </a:rPr>
                            <m:t>_</m:t>
                          </m:r>
                          <m:r>
                            <m:rPr>
                              <m:sty m:val="p"/>
                            </m:rPr>
                            <a:rPr lang="fr-FR" sz="1100" b="0" i="0" smtClean="0">
                              <a:solidFill>
                                <a:schemeClr val="tx1"/>
                              </a:solidFill>
                              <a:latin typeface="Cambria Math" panose="02040503050406030204" pitchFamily="18" charset="0"/>
                            </a:rPr>
                            <m:t>o</m:t>
                          </m:r>
                          <m:r>
                            <a:rPr lang="fr-FR" sz="1100">
                              <a:solidFill>
                                <a:schemeClr val="tx1"/>
                              </a:solidFill>
                              <a:latin typeface="Cambria Math" panose="02040503050406030204" pitchFamily="18" charset="0"/>
                            </a:rPr>
                            <m:t>1</m:t>
                          </m:r>
                        </m:num>
                        <m:den>
                          <m:r>
                            <a:rPr lang="fr-FR" sz="1100">
                              <a:solidFill>
                                <a:schemeClr val="tx1"/>
                              </a:solidFill>
                              <a:latin typeface="Cambria Math" panose="02040503050406030204" pitchFamily="18" charset="0"/>
                            </a:rPr>
                            <m:t>𝜕</m:t>
                          </m:r>
                          <m:r>
                            <m:rPr>
                              <m:sty m:val="p"/>
                            </m:rPr>
                            <a:rPr lang="fr-FR" sz="1100" b="0" i="0" smtClean="0">
                              <a:solidFill>
                                <a:schemeClr val="tx1"/>
                              </a:solidFill>
                              <a:latin typeface="Cambria Math" panose="02040503050406030204" pitchFamily="18" charset="0"/>
                            </a:rPr>
                            <m:t>ou</m:t>
                          </m:r>
                          <m:r>
                            <m:rPr>
                              <m:sty m:val="p"/>
                            </m:rPr>
                            <a:rPr lang="fr-FR" sz="1100">
                              <a:solidFill>
                                <a:schemeClr val="tx1"/>
                              </a:solidFill>
                              <a:latin typeface="Cambria Math" panose="02040503050406030204" pitchFamily="18" charset="0"/>
                            </a:rPr>
                            <m:t>t</m:t>
                          </m:r>
                          <m:r>
                            <a:rPr lang="fr-FR" sz="1100">
                              <a:solidFill>
                                <a:schemeClr val="tx1"/>
                              </a:solidFill>
                              <a:latin typeface="Cambria Math" panose="02040503050406030204" pitchFamily="18" charset="0"/>
                            </a:rPr>
                            <m:t>_</m:t>
                          </m:r>
                          <m:r>
                            <m:rPr>
                              <m:sty m:val="p"/>
                            </m:rPr>
                            <a:rPr lang="fr-FR" sz="1100" b="0" i="0" smtClean="0">
                              <a:solidFill>
                                <a:schemeClr val="tx1"/>
                              </a:solidFill>
                              <a:latin typeface="Cambria Math" panose="02040503050406030204" pitchFamily="18" charset="0"/>
                            </a:rPr>
                            <m:t>h</m:t>
                          </m:r>
                          <m:r>
                            <a:rPr lang="fr-FR" sz="1100">
                              <a:solidFill>
                                <a:schemeClr val="tx1"/>
                              </a:solidFill>
                              <a:latin typeface="Cambria Math" panose="02040503050406030204" pitchFamily="18" charset="0"/>
                            </a:rPr>
                            <m:t>1</m:t>
                          </m:r>
                        </m:den>
                      </m:f>
                      <m:r>
                        <a:rPr lang="fr-FR" sz="1100">
                          <a:solidFill>
                            <a:schemeClr val="tx1"/>
                          </a:solidFill>
                          <a:latin typeface="Cambria Math" panose="02040503050406030204" pitchFamily="18" charset="0"/>
                        </a:rPr>
                        <m:t> </m:t>
                      </m:r>
                      <m:r>
                        <a:rPr lang="fr-FR" sz="1100" i="1">
                          <a:solidFill>
                            <a:schemeClr val="tx1"/>
                          </a:solidFill>
                          <a:latin typeface="Cambria Math" panose="02040503050406030204" pitchFamily="18" charset="0"/>
                          <a:ea typeface="Cambria Math" panose="02040503050406030204" pitchFamily="18" charset="0"/>
                        </a:rPr>
                        <m:t>×</m:t>
                      </m:r>
                      <m:f>
                        <m:fPr>
                          <m:ctrlPr>
                            <a:rPr lang="fr-FR" sz="1100" b="0" i="1" smtClean="0">
                              <a:solidFill>
                                <a:schemeClr val="tx1"/>
                              </a:solidFill>
                              <a:latin typeface="Cambria Math" panose="02040503050406030204" pitchFamily="18" charset="0"/>
                            </a:rPr>
                          </m:ctrlPr>
                        </m:fPr>
                        <m:num>
                          <m:r>
                            <a:rPr lang="fr-FR" sz="1100">
                              <a:solidFill>
                                <a:schemeClr val="tx1"/>
                              </a:solidFill>
                              <a:latin typeface="Cambria Math" panose="02040503050406030204" pitchFamily="18" charset="0"/>
                            </a:rPr>
                            <m:t>𝜕</m:t>
                          </m:r>
                          <m:r>
                            <m:rPr>
                              <m:sty m:val="p"/>
                            </m:rPr>
                            <a:rPr lang="fr-FR" sz="1100" b="0" i="0" smtClean="0">
                              <a:solidFill>
                                <a:schemeClr val="tx1"/>
                              </a:solidFill>
                              <a:latin typeface="Cambria Math" panose="02040503050406030204" pitchFamily="18" charset="0"/>
                            </a:rPr>
                            <m:t>out</m:t>
                          </m:r>
                          <m:r>
                            <a:rPr lang="fr-FR" sz="1100" b="0" i="0" smtClean="0">
                              <a:solidFill>
                                <a:schemeClr val="tx1"/>
                              </a:solidFill>
                              <a:latin typeface="Cambria Math" panose="02040503050406030204" pitchFamily="18" charset="0"/>
                            </a:rPr>
                            <m:t>_</m:t>
                          </m:r>
                          <m:r>
                            <m:rPr>
                              <m:sty m:val="p"/>
                            </m:rPr>
                            <a:rPr lang="fr-FR" sz="1100" b="0" i="0" smtClean="0">
                              <a:solidFill>
                                <a:schemeClr val="tx1"/>
                              </a:solidFill>
                              <a:latin typeface="Cambria Math" panose="02040503050406030204" pitchFamily="18" charset="0"/>
                            </a:rPr>
                            <m:t>h</m:t>
                          </m:r>
                          <m:r>
                            <a:rPr lang="fr-FR" sz="1100" b="0" i="0" smtClean="0">
                              <a:solidFill>
                                <a:schemeClr val="tx1"/>
                              </a:solidFill>
                              <a:latin typeface="Cambria Math" panose="02040503050406030204" pitchFamily="18" charset="0"/>
                            </a:rPr>
                            <m:t>1</m:t>
                          </m:r>
                        </m:num>
                        <m:den>
                          <m:r>
                            <a:rPr lang="fr-FR" sz="1100">
                              <a:solidFill>
                                <a:schemeClr val="tx1"/>
                              </a:solidFill>
                              <a:latin typeface="Cambria Math" panose="02040503050406030204" pitchFamily="18" charset="0"/>
                            </a:rPr>
                            <m:t>𝜕</m:t>
                          </m:r>
                          <m:r>
                            <m:rPr>
                              <m:sty m:val="p"/>
                            </m:rPr>
                            <a:rPr lang="fr-FR" sz="1100" b="0" i="0" smtClean="0">
                              <a:solidFill>
                                <a:schemeClr val="tx1"/>
                              </a:solidFill>
                              <a:latin typeface="Cambria Math" panose="02040503050406030204" pitchFamily="18" charset="0"/>
                            </a:rPr>
                            <m:t>net</m:t>
                          </m:r>
                          <m:r>
                            <a:rPr lang="fr-FR" sz="1100" b="0" i="0" smtClean="0">
                              <a:solidFill>
                                <a:schemeClr val="tx1"/>
                              </a:solidFill>
                              <a:latin typeface="Cambria Math" panose="02040503050406030204" pitchFamily="18" charset="0"/>
                            </a:rPr>
                            <m:t>_</m:t>
                          </m:r>
                          <m:r>
                            <m:rPr>
                              <m:sty m:val="p"/>
                            </m:rPr>
                            <a:rPr lang="fr-FR" sz="1100" b="0" i="0" smtClean="0">
                              <a:solidFill>
                                <a:schemeClr val="tx1"/>
                              </a:solidFill>
                              <a:latin typeface="Cambria Math" panose="02040503050406030204" pitchFamily="18" charset="0"/>
                            </a:rPr>
                            <m:t>h</m:t>
                          </m:r>
                          <m:r>
                            <a:rPr lang="fr-FR" sz="1100" b="0" i="0" smtClean="0">
                              <a:solidFill>
                                <a:schemeClr val="tx1"/>
                              </a:solidFill>
                              <a:latin typeface="Cambria Math" panose="02040503050406030204" pitchFamily="18" charset="0"/>
                            </a:rPr>
                            <m:t>1</m:t>
                          </m:r>
                        </m:den>
                      </m:f>
                      <m:r>
                        <a:rPr lang="fr-FR" sz="1100" i="1">
                          <a:solidFill>
                            <a:schemeClr val="tx1"/>
                          </a:solidFill>
                          <a:latin typeface="Cambria Math" panose="02040503050406030204" pitchFamily="18" charset="0"/>
                          <a:ea typeface="Cambria Math" panose="02040503050406030204" pitchFamily="18" charset="0"/>
                        </a:rPr>
                        <m:t>×</m:t>
                      </m:r>
                      <m:f>
                        <m:fPr>
                          <m:ctrlPr>
                            <a:rPr lang="fr-FR" sz="1100" i="1">
                              <a:latin typeface="Cambria Math" panose="02040503050406030204" pitchFamily="18" charset="0"/>
                            </a:rPr>
                          </m:ctrlPr>
                        </m:fPr>
                        <m:num>
                          <m:r>
                            <a:rPr lang="fr-FR" sz="1100">
                              <a:latin typeface="Cambria Math" panose="02040503050406030204" pitchFamily="18" charset="0"/>
                            </a:rPr>
                            <m:t>𝜕</m:t>
                          </m:r>
                          <m:r>
                            <m:rPr>
                              <m:sty m:val="p"/>
                            </m:rPr>
                            <a:rPr lang="fr-FR" sz="1100">
                              <a:latin typeface="Cambria Math" panose="02040503050406030204" pitchFamily="18" charset="0"/>
                            </a:rPr>
                            <m:t>net</m:t>
                          </m:r>
                          <m:r>
                            <a:rPr lang="fr-FR" sz="1100">
                              <a:latin typeface="Cambria Math" panose="02040503050406030204" pitchFamily="18" charset="0"/>
                            </a:rPr>
                            <m:t>_</m:t>
                          </m:r>
                          <m:r>
                            <m:rPr>
                              <m:sty m:val="p"/>
                            </m:rPr>
                            <a:rPr lang="fr-FR" sz="1100">
                              <a:latin typeface="Cambria Math" panose="02040503050406030204" pitchFamily="18" charset="0"/>
                            </a:rPr>
                            <m:t>h</m:t>
                          </m:r>
                          <m:r>
                            <a:rPr lang="fr-FR" sz="1100">
                              <a:latin typeface="Cambria Math" panose="02040503050406030204" pitchFamily="18" charset="0"/>
                            </a:rPr>
                            <m:t>1</m:t>
                          </m:r>
                        </m:num>
                        <m:den>
                          <m:r>
                            <a:rPr lang="fr-FR" sz="1100">
                              <a:latin typeface="Cambria Math" panose="02040503050406030204" pitchFamily="18" charset="0"/>
                            </a:rPr>
                            <m:t>𝜕</m:t>
                          </m:r>
                          <m:r>
                            <m:rPr>
                              <m:sty m:val="p"/>
                            </m:rPr>
                            <a:rPr lang="fr-FR" sz="1100">
                              <a:latin typeface="Cambria Math" panose="02040503050406030204" pitchFamily="18" charset="0"/>
                            </a:rPr>
                            <m:t>w</m:t>
                          </m:r>
                          <m:r>
                            <a:rPr lang="fr-FR" sz="1100">
                              <a:latin typeface="Cambria Math" panose="02040503050406030204" pitchFamily="18" charset="0"/>
                            </a:rPr>
                            <m:t>1</m:t>
                          </m:r>
                        </m:den>
                      </m:f>
                    </m:oMath>
                  </m:oMathPara>
                </a14:m>
                <a:endParaRPr lang="fr-FR" sz="1100" dirty="0">
                  <a:solidFill>
                    <a:schemeClr val="accent3">
                      <a:lumMod val="60000"/>
                      <a:lumOff val="40000"/>
                    </a:schemeClr>
                  </a:solidFill>
                </a:endParaRPr>
              </a:p>
            </p:txBody>
          </p:sp>
        </mc:Choice>
        <mc:Fallback xmlns="">
          <p:sp>
            <p:nvSpPr>
              <p:cNvPr id="81" name="ZoneTexte 80">
                <a:extLst>
                  <a:ext uri="{FF2B5EF4-FFF2-40B4-BE49-F238E27FC236}">
                    <a16:creationId xmlns:a16="http://schemas.microsoft.com/office/drawing/2014/main" id="{EFE90DAD-5A1C-C390-935F-A756C479DCF3}"/>
                  </a:ext>
                </a:extLst>
              </p:cNvPr>
              <p:cNvSpPr txBox="1">
                <a:spLocks noRot="1" noChangeAspect="1" noMove="1" noResize="1" noEditPoints="1" noAdjustHandles="1" noChangeArrowheads="1" noChangeShapeType="1" noTextEdit="1"/>
              </p:cNvSpPr>
              <p:nvPr/>
            </p:nvSpPr>
            <p:spPr>
              <a:xfrm>
                <a:off x="6323853" y="2366027"/>
                <a:ext cx="5537608" cy="414216"/>
              </a:xfrm>
              <a:prstGeom prst="rect">
                <a:avLst/>
              </a:prstGeom>
              <a:blipFill>
                <a:blip r:embed="rId5"/>
                <a:stretch>
                  <a:fillRect b="-303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4" name="ZoneTexte 83">
                <a:extLst>
                  <a:ext uri="{FF2B5EF4-FFF2-40B4-BE49-F238E27FC236}">
                    <a16:creationId xmlns:a16="http://schemas.microsoft.com/office/drawing/2014/main" id="{7E8D59CE-C73C-3111-845A-1D82FEBFD481}"/>
                  </a:ext>
                </a:extLst>
              </p:cNvPr>
              <p:cNvSpPr txBox="1"/>
              <p:nvPr/>
            </p:nvSpPr>
            <p:spPr>
              <a:xfrm>
                <a:off x="6323853" y="2944992"/>
                <a:ext cx="5864549" cy="44345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fr-FR" sz="1200" i="1" smtClean="0">
                              <a:latin typeface="Cambria Math" panose="02040503050406030204" pitchFamily="18" charset="0"/>
                            </a:rPr>
                          </m:ctrlPr>
                        </m:fPr>
                        <m:num>
                          <m:r>
                            <a:rPr lang="fr-FR" sz="1200" i="0" smtClean="0">
                              <a:latin typeface="Cambria Math" panose="02040503050406030204" pitchFamily="18" charset="0"/>
                            </a:rPr>
                            <m:t>𝜕</m:t>
                          </m:r>
                          <m:r>
                            <m:rPr>
                              <m:sty m:val="p"/>
                            </m:rPr>
                            <a:rPr lang="fr-FR" sz="1200" b="0" i="0" smtClean="0">
                              <a:latin typeface="Cambria Math" panose="02040503050406030204" pitchFamily="18" charset="0"/>
                            </a:rPr>
                            <m:t>Loss</m:t>
                          </m:r>
                          <m:r>
                            <a:rPr lang="fr-FR" sz="1200" b="0" i="0" smtClean="0">
                              <a:latin typeface="Cambria Math" panose="02040503050406030204" pitchFamily="18" charset="0"/>
                            </a:rPr>
                            <m:t>1</m:t>
                          </m:r>
                        </m:num>
                        <m:den>
                          <m:r>
                            <a:rPr lang="fr-FR" sz="1200" i="0" smtClean="0">
                              <a:latin typeface="Cambria Math" panose="02040503050406030204" pitchFamily="18" charset="0"/>
                            </a:rPr>
                            <m:t>𝜕</m:t>
                          </m:r>
                          <m:r>
                            <m:rPr>
                              <m:sty m:val="p"/>
                            </m:rPr>
                            <a:rPr lang="fr-FR" sz="1200" b="0" i="0" smtClean="0">
                              <a:latin typeface="Cambria Math" panose="02040503050406030204" pitchFamily="18" charset="0"/>
                            </a:rPr>
                            <m:t>w</m:t>
                          </m:r>
                          <m:r>
                            <a:rPr lang="fr-FR" sz="1200" b="0" i="0" smtClean="0">
                              <a:latin typeface="Cambria Math" panose="02040503050406030204" pitchFamily="18" charset="0"/>
                            </a:rPr>
                            <m:t>1</m:t>
                          </m:r>
                        </m:den>
                      </m:f>
                      <m:r>
                        <a:rPr lang="fr-FR" sz="1200" b="0" i="0" smtClean="0">
                          <a:solidFill>
                            <a:schemeClr val="tx1"/>
                          </a:solidFill>
                          <a:latin typeface="Cambria Math" panose="02040503050406030204" pitchFamily="18" charset="0"/>
                        </a:rPr>
                        <m:t>=</m:t>
                      </m:r>
                      <m:r>
                        <m:rPr>
                          <m:nor/>
                        </m:rPr>
                        <a:rPr lang="fr-FR" sz="1200" smtClean="0">
                          <a:solidFill>
                            <a:schemeClr val="tx1"/>
                          </a:solidFill>
                          <a:latin typeface="Cambria Math" panose="02040503050406030204" pitchFamily="18" charset="0"/>
                        </a:rPr>
                        <m:t>−2</m:t>
                      </m:r>
                      <m:r>
                        <m:rPr>
                          <m:nor/>
                        </m:rPr>
                        <a:rPr lang="fr-FR" sz="1200" dirty="0" smtClean="0">
                          <a:solidFill>
                            <a:schemeClr val="tx1"/>
                          </a:solidFill>
                          <a:latin typeface="Cambria Math" panose="02040503050406030204" pitchFamily="18" charset="0"/>
                          <a:ea typeface="Cambria Math" panose="02040503050406030204" pitchFamily="18" charset="0"/>
                        </a:rPr>
                        <m:t>(</m:t>
                      </m:r>
                      <m:sSub>
                        <m:sSubPr>
                          <m:ctrlPr>
                            <a:rPr lang="fr-FR" sz="1200" i="1" dirty="0">
                              <a:solidFill>
                                <a:schemeClr val="tx1"/>
                              </a:solidFill>
                              <a:latin typeface="Cambria Math" panose="02040503050406030204" pitchFamily="18" charset="0"/>
                              <a:ea typeface="Cambria Math" panose="02040503050406030204" pitchFamily="18" charset="0"/>
                            </a:rPr>
                          </m:ctrlPr>
                        </m:sSubPr>
                        <m:e>
                          <m:r>
                            <m:rPr>
                              <m:sty m:val="p"/>
                            </m:rPr>
                            <a:rPr lang="fr-FR" sz="1200">
                              <a:solidFill>
                                <a:schemeClr val="tx1"/>
                              </a:solidFill>
                              <a:latin typeface="Cambria Math" panose="02040503050406030204" pitchFamily="18" charset="0"/>
                              <a:ea typeface="Cambria Math" panose="02040503050406030204" pitchFamily="18" charset="0"/>
                            </a:rPr>
                            <m:t>target</m:t>
                          </m:r>
                        </m:e>
                        <m:sub>
                          <m:r>
                            <m:rPr>
                              <m:sty m:val="p"/>
                            </m:rPr>
                            <a:rPr lang="fr-FR" sz="1200">
                              <a:solidFill>
                                <a:schemeClr val="tx1"/>
                              </a:solidFill>
                              <a:latin typeface="Cambria Math" panose="02040503050406030204" pitchFamily="18" charset="0"/>
                              <a:ea typeface="Cambria Math" panose="02040503050406030204" pitchFamily="18" charset="0"/>
                            </a:rPr>
                            <m:t>o</m:t>
                          </m:r>
                          <m:r>
                            <a:rPr lang="fr-FR" sz="1200">
                              <a:solidFill>
                                <a:schemeClr val="tx1"/>
                              </a:solidFill>
                              <a:latin typeface="Cambria Math" panose="02040503050406030204" pitchFamily="18" charset="0"/>
                              <a:ea typeface="Cambria Math" panose="02040503050406030204" pitchFamily="18" charset="0"/>
                            </a:rPr>
                            <m:t>1</m:t>
                          </m:r>
                        </m:sub>
                      </m:sSub>
                      <m:r>
                        <a:rPr lang="fr-FR" sz="1200" i="1">
                          <a:solidFill>
                            <a:schemeClr val="tx1"/>
                          </a:solidFill>
                          <a:latin typeface="Cambria Math" panose="02040503050406030204" pitchFamily="18" charset="0"/>
                          <a:ea typeface="Cambria Math" panose="02040503050406030204" pitchFamily="18" charset="0"/>
                        </a:rPr>
                        <m:t>− </m:t>
                      </m:r>
                      <m:r>
                        <m:rPr>
                          <m:sty m:val="p"/>
                        </m:rPr>
                        <a:rPr lang="fr-FR" sz="1200">
                          <a:solidFill>
                            <a:schemeClr val="tx1"/>
                          </a:solidFill>
                          <a:latin typeface="Cambria Math" panose="02040503050406030204" pitchFamily="18" charset="0"/>
                          <a:ea typeface="Cambria Math" panose="02040503050406030204" pitchFamily="18" charset="0"/>
                        </a:rPr>
                        <m:t>out</m:t>
                      </m:r>
                      <m:r>
                        <a:rPr lang="fr-FR" sz="1200">
                          <a:solidFill>
                            <a:schemeClr val="tx1"/>
                          </a:solidFill>
                          <a:latin typeface="Cambria Math" panose="02040503050406030204" pitchFamily="18" charset="0"/>
                          <a:ea typeface="Cambria Math" panose="02040503050406030204" pitchFamily="18" charset="0"/>
                        </a:rPr>
                        <m:t>_</m:t>
                      </m:r>
                      <m:r>
                        <m:rPr>
                          <m:sty m:val="p"/>
                        </m:rPr>
                        <a:rPr lang="fr-FR" sz="1200">
                          <a:solidFill>
                            <a:schemeClr val="tx1"/>
                          </a:solidFill>
                          <a:latin typeface="Cambria Math" panose="02040503050406030204" pitchFamily="18" charset="0"/>
                          <a:ea typeface="Cambria Math" panose="02040503050406030204" pitchFamily="18" charset="0"/>
                        </a:rPr>
                        <m:t>o</m:t>
                      </m:r>
                      <m:r>
                        <a:rPr lang="fr-FR" sz="1200">
                          <a:solidFill>
                            <a:schemeClr val="tx1"/>
                          </a:solidFill>
                          <a:latin typeface="Cambria Math" panose="02040503050406030204" pitchFamily="18" charset="0"/>
                          <a:ea typeface="Cambria Math" panose="02040503050406030204" pitchFamily="18" charset="0"/>
                        </a:rPr>
                        <m:t>1</m:t>
                      </m:r>
                      <m:r>
                        <m:rPr>
                          <m:nor/>
                        </m:rPr>
                        <a:rPr lang="fr-FR" sz="1200" dirty="0">
                          <a:solidFill>
                            <a:schemeClr val="tx1"/>
                          </a:solidFill>
                          <a:latin typeface="Cambria Math" panose="02040503050406030204" pitchFamily="18" charset="0"/>
                          <a:ea typeface="Cambria Math" panose="02040503050406030204" pitchFamily="18" charset="0"/>
                        </a:rPr>
                        <m:t>)</m:t>
                      </m:r>
                      <m:r>
                        <a:rPr lang="fr-FR" sz="1200" i="1">
                          <a:solidFill>
                            <a:schemeClr val="tx1"/>
                          </a:solidFill>
                          <a:latin typeface="Cambria Math" panose="02040503050406030204" pitchFamily="18" charset="0"/>
                          <a:ea typeface="Cambria Math" panose="02040503050406030204" pitchFamily="18" charset="0"/>
                        </a:rPr>
                        <m:t>×</m:t>
                      </m:r>
                      <m:r>
                        <m:rPr>
                          <m:sty m:val="p"/>
                        </m:rPr>
                        <a:rPr lang="fr-FR" sz="1200" smtClean="0">
                          <a:solidFill>
                            <a:schemeClr val="tx1"/>
                          </a:solidFill>
                          <a:latin typeface="Cambria Math" panose="02040503050406030204" pitchFamily="18" charset="0"/>
                          <a:ea typeface="Cambria Math" panose="02040503050406030204" pitchFamily="18" charset="0"/>
                        </a:rPr>
                        <m:t>out</m:t>
                      </m:r>
                      <m:r>
                        <a:rPr lang="fr-FR" sz="1200" smtClean="0">
                          <a:solidFill>
                            <a:schemeClr val="tx1"/>
                          </a:solidFill>
                          <a:latin typeface="Cambria Math" panose="02040503050406030204" pitchFamily="18" charset="0"/>
                          <a:ea typeface="Cambria Math" panose="02040503050406030204" pitchFamily="18" charset="0"/>
                        </a:rPr>
                        <m:t>_</m:t>
                      </m:r>
                      <m:r>
                        <m:rPr>
                          <m:sty m:val="p"/>
                        </m:rPr>
                        <a:rPr lang="fr-FR" sz="1200" smtClean="0">
                          <a:solidFill>
                            <a:schemeClr val="tx1"/>
                          </a:solidFill>
                          <a:latin typeface="Cambria Math" panose="02040503050406030204" pitchFamily="18" charset="0"/>
                          <a:ea typeface="Cambria Math" panose="02040503050406030204" pitchFamily="18" charset="0"/>
                        </a:rPr>
                        <m:t>o</m:t>
                      </m:r>
                      <m:r>
                        <a:rPr lang="fr-FR" sz="1200" smtClean="0">
                          <a:solidFill>
                            <a:schemeClr val="tx1"/>
                          </a:solidFill>
                          <a:latin typeface="Cambria Math" panose="02040503050406030204" pitchFamily="18" charset="0"/>
                          <a:ea typeface="Cambria Math" panose="02040503050406030204" pitchFamily="18" charset="0"/>
                        </a:rPr>
                        <m:t>1(1−</m:t>
                      </m:r>
                      <m:r>
                        <m:rPr>
                          <m:sty m:val="p"/>
                        </m:rPr>
                        <a:rPr lang="fr-FR" sz="1200" smtClean="0">
                          <a:solidFill>
                            <a:schemeClr val="tx1"/>
                          </a:solidFill>
                          <a:latin typeface="Cambria Math" panose="02040503050406030204" pitchFamily="18" charset="0"/>
                          <a:ea typeface="Cambria Math" panose="02040503050406030204" pitchFamily="18" charset="0"/>
                        </a:rPr>
                        <m:t>out</m:t>
                      </m:r>
                      <m:r>
                        <a:rPr lang="fr-FR" sz="1200" smtClean="0">
                          <a:solidFill>
                            <a:schemeClr val="tx1"/>
                          </a:solidFill>
                          <a:latin typeface="Cambria Math" panose="02040503050406030204" pitchFamily="18" charset="0"/>
                          <a:ea typeface="Cambria Math" panose="02040503050406030204" pitchFamily="18" charset="0"/>
                        </a:rPr>
                        <m:t>_</m:t>
                      </m:r>
                      <m:r>
                        <m:rPr>
                          <m:sty m:val="p"/>
                        </m:rPr>
                        <a:rPr lang="fr-FR" sz="1200" smtClean="0">
                          <a:solidFill>
                            <a:schemeClr val="tx1"/>
                          </a:solidFill>
                          <a:latin typeface="Cambria Math" panose="02040503050406030204" pitchFamily="18" charset="0"/>
                          <a:ea typeface="Cambria Math" panose="02040503050406030204" pitchFamily="18" charset="0"/>
                        </a:rPr>
                        <m:t>o</m:t>
                      </m:r>
                      <m:r>
                        <a:rPr lang="fr-FR" sz="1200" smtClean="0">
                          <a:solidFill>
                            <a:schemeClr val="tx1"/>
                          </a:solidFill>
                          <a:latin typeface="Cambria Math" panose="02040503050406030204" pitchFamily="18" charset="0"/>
                          <a:ea typeface="Cambria Math" panose="02040503050406030204" pitchFamily="18" charset="0"/>
                        </a:rPr>
                        <m:t>1</m:t>
                      </m:r>
                      <m:r>
                        <a:rPr lang="fr-FR" sz="1200" i="1">
                          <a:solidFill>
                            <a:schemeClr val="tx1"/>
                          </a:solidFill>
                          <a:latin typeface="Cambria Math" panose="02040503050406030204" pitchFamily="18" charset="0"/>
                          <a:ea typeface="Cambria Math" panose="02040503050406030204" pitchFamily="18" charset="0"/>
                        </a:rPr>
                        <m:t>)</m:t>
                      </m:r>
                      <m:r>
                        <a:rPr lang="fr-FR" sz="1200" b="0" i="1" smtClean="0">
                          <a:solidFill>
                            <a:schemeClr val="tx1"/>
                          </a:solidFill>
                          <a:latin typeface="Cambria Math" panose="02040503050406030204" pitchFamily="18" charset="0"/>
                          <a:ea typeface="Cambria Math" panose="02040503050406030204" pitchFamily="18" charset="0"/>
                        </a:rPr>
                        <m:t>×</m:t>
                      </m:r>
                      <m:f>
                        <m:fPr>
                          <m:ctrlPr>
                            <a:rPr lang="fr-FR" sz="1200" i="1" smtClean="0">
                              <a:solidFill>
                                <a:schemeClr val="accent2"/>
                              </a:solidFill>
                              <a:latin typeface="Cambria Math" panose="02040503050406030204" pitchFamily="18" charset="0"/>
                            </a:rPr>
                          </m:ctrlPr>
                        </m:fPr>
                        <m:num>
                          <m:r>
                            <a:rPr lang="fr-FR" sz="1200">
                              <a:solidFill>
                                <a:schemeClr val="accent2"/>
                              </a:solidFill>
                              <a:latin typeface="Cambria Math" panose="02040503050406030204" pitchFamily="18" charset="0"/>
                            </a:rPr>
                            <m:t>𝜕</m:t>
                          </m:r>
                          <m:r>
                            <m:rPr>
                              <m:sty m:val="p"/>
                            </m:rPr>
                            <a:rPr lang="fr-FR" sz="1200" b="0" i="0" smtClean="0">
                              <a:solidFill>
                                <a:schemeClr val="accent2"/>
                              </a:solidFill>
                              <a:latin typeface="Cambria Math" panose="02040503050406030204" pitchFamily="18" charset="0"/>
                            </a:rPr>
                            <m:t>net</m:t>
                          </m:r>
                          <m:r>
                            <a:rPr lang="fr-FR" sz="1200" b="0" i="0" smtClean="0">
                              <a:solidFill>
                                <a:schemeClr val="accent2"/>
                              </a:solidFill>
                              <a:latin typeface="Cambria Math" panose="02040503050406030204" pitchFamily="18" charset="0"/>
                            </a:rPr>
                            <m:t>_</m:t>
                          </m:r>
                          <m:r>
                            <m:rPr>
                              <m:sty m:val="p"/>
                            </m:rPr>
                            <a:rPr lang="fr-FR" sz="1200" b="0" i="0" smtClean="0">
                              <a:solidFill>
                                <a:schemeClr val="accent2"/>
                              </a:solidFill>
                              <a:latin typeface="Cambria Math" panose="02040503050406030204" pitchFamily="18" charset="0"/>
                            </a:rPr>
                            <m:t>o</m:t>
                          </m:r>
                          <m:r>
                            <a:rPr lang="fr-FR" sz="1200">
                              <a:solidFill>
                                <a:schemeClr val="accent2"/>
                              </a:solidFill>
                              <a:latin typeface="Cambria Math" panose="02040503050406030204" pitchFamily="18" charset="0"/>
                            </a:rPr>
                            <m:t>1</m:t>
                          </m:r>
                        </m:num>
                        <m:den>
                          <m:r>
                            <a:rPr lang="fr-FR" sz="1200">
                              <a:solidFill>
                                <a:schemeClr val="accent2"/>
                              </a:solidFill>
                              <a:latin typeface="Cambria Math" panose="02040503050406030204" pitchFamily="18" charset="0"/>
                            </a:rPr>
                            <m:t>𝜕</m:t>
                          </m:r>
                          <m:r>
                            <m:rPr>
                              <m:sty m:val="p"/>
                            </m:rPr>
                            <a:rPr lang="fr-FR" sz="1200" b="0" i="0" smtClean="0">
                              <a:solidFill>
                                <a:schemeClr val="accent2"/>
                              </a:solidFill>
                              <a:latin typeface="Cambria Math" panose="02040503050406030204" pitchFamily="18" charset="0"/>
                            </a:rPr>
                            <m:t>ou</m:t>
                          </m:r>
                          <m:r>
                            <m:rPr>
                              <m:sty m:val="p"/>
                            </m:rPr>
                            <a:rPr lang="fr-FR" sz="1200">
                              <a:solidFill>
                                <a:schemeClr val="accent2"/>
                              </a:solidFill>
                              <a:latin typeface="Cambria Math" panose="02040503050406030204" pitchFamily="18" charset="0"/>
                            </a:rPr>
                            <m:t>t</m:t>
                          </m:r>
                          <m:r>
                            <a:rPr lang="fr-FR" sz="1200">
                              <a:solidFill>
                                <a:schemeClr val="accent2"/>
                              </a:solidFill>
                              <a:latin typeface="Cambria Math" panose="02040503050406030204" pitchFamily="18" charset="0"/>
                            </a:rPr>
                            <m:t>_</m:t>
                          </m:r>
                          <m:r>
                            <m:rPr>
                              <m:sty m:val="p"/>
                            </m:rPr>
                            <a:rPr lang="fr-FR" sz="1200" b="0" i="0" smtClean="0">
                              <a:solidFill>
                                <a:schemeClr val="accent2"/>
                              </a:solidFill>
                              <a:latin typeface="Cambria Math" panose="02040503050406030204" pitchFamily="18" charset="0"/>
                            </a:rPr>
                            <m:t>h</m:t>
                          </m:r>
                          <m:r>
                            <a:rPr lang="fr-FR" sz="1200">
                              <a:solidFill>
                                <a:schemeClr val="accent2"/>
                              </a:solidFill>
                              <a:latin typeface="Cambria Math" panose="02040503050406030204" pitchFamily="18" charset="0"/>
                            </a:rPr>
                            <m:t>1</m:t>
                          </m:r>
                        </m:den>
                      </m:f>
                      <m:r>
                        <a:rPr lang="fr-FR" sz="1200">
                          <a:solidFill>
                            <a:schemeClr val="accent2"/>
                          </a:solidFill>
                          <a:latin typeface="Cambria Math" panose="02040503050406030204" pitchFamily="18" charset="0"/>
                        </a:rPr>
                        <m:t> </m:t>
                      </m:r>
                      <m:r>
                        <a:rPr lang="fr-FR" sz="1200" i="1">
                          <a:solidFill>
                            <a:schemeClr val="tx1"/>
                          </a:solidFill>
                          <a:latin typeface="Cambria Math" panose="02040503050406030204" pitchFamily="18" charset="0"/>
                          <a:ea typeface="Cambria Math" panose="02040503050406030204" pitchFamily="18" charset="0"/>
                        </a:rPr>
                        <m:t>×</m:t>
                      </m:r>
                      <m:f>
                        <m:fPr>
                          <m:ctrlPr>
                            <a:rPr lang="fr-FR" sz="1200" b="0" i="1" smtClean="0">
                              <a:solidFill>
                                <a:schemeClr val="tx1"/>
                              </a:solidFill>
                              <a:latin typeface="Cambria Math" panose="02040503050406030204" pitchFamily="18" charset="0"/>
                            </a:rPr>
                          </m:ctrlPr>
                        </m:fPr>
                        <m:num>
                          <m:r>
                            <a:rPr lang="fr-FR" sz="120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out</m:t>
                          </m:r>
                          <m:r>
                            <a:rPr lang="fr-FR" sz="1200" b="0" i="0" smtClean="0">
                              <a:solidFill>
                                <a:schemeClr val="tx1"/>
                              </a:solidFill>
                              <a:latin typeface="Cambria Math" panose="02040503050406030204" pitchFamily="18" charset="0"/>
                            </a:rPr>
                            <m:t>_</m:t>
                          </m:r>
                          <m:r>
                            <m:rPr>
                              <m:sty m:val="p"/>
                            </m:rPr>
                            <a:rPr lang="fr-FR" sz="1200" b="0" i="0" smtClean="0">
                              <a:solidFill>
                                <a:schemeClr val="tx1"/>
                              </a:solidFill>
                              <a:latin typeface="Cambria Math" panose="02040503050406030204" pitchFamily="18" charset="0"/>
                            </a:rPr>
                            <m:t>h</m:t>
                          </m:r>
                          <m:r>
                            <a:rPr lang="fr-FR" sz="1200" b="0" i="0" smtClean="0">
                              <a:solidFill>
                                <a:schemeClr val="tx1"/>
                              </a:solidFill>
                              <a:latin typeface="Cambria Math" panose="02040503050406030204" pitchFamily="18" charset="0"/>
                            </a:rPr>
                            <m:t>1</m:t>
                          </m:r>
                        </m:num>
                        <m:den>
                          <m:r>
                            <a:rPr lang="fr-FR" sz="120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net</m:t>
                          </m:r>
                          <m:r>
                            <a:rPr lang="fr-FR" sz="1200" b="0" i="0" smtClean="0">
                              <a:solidFill>
                                <a:schemeClr val="tx1"/>
                              </a:solidFill>
                              <a:latin typeface="Cambria Math" panose="02040503050406030204" pitchFamily="18" charset="0"/>
                            </a:rPr>
                            <m:t>_</m:t>
                          </m:r>
                          <m:r>
                            <m:rPr>
                              <m:sty m:val="p"/>
                            </m:rPr>
                            <a:rPr lang="fr-FR" sz="1200" b="0" i="0" smtClean="0">
                              <a:solidFill>
                                <a:schemeClr val="tx1"/>
                              </a:solidFill>
                              <a:latin typeface="Cambria Math" panose="02040503050406030204" pitchFamily="18" charset="0"/>
                            </a:rPr>
                            <m:t>h</m:t>
                          </m:r>
                          <m:r>
                            <a:rPr lang="fr-FR" sz="1200" b="0" i="0" smtClean="0">
                              <a:solidFill>
                                <a:schemeClr val="tx1"/>
                              </a:solidFill>
                              <a:latin typeface="Cambria Math" panose="02040503050406030204" pitchFamily="18" charset="0"/>
                            </a:rPr>
                            <m:t>1</m:t>
                          </m:r>
                        </m:den>
                      </m:f>
                      <m:r>
                        <a:rPr lang="fr-FR" sz="1200" i="1">
                          <a:solidFill>
                            <a:schemeClr val="tx1"/>
                          </a:solidFill>
                          <a:latin typeface="Cambria Math" panose="02040503050406030204" pitchFamily="18" charset="0"/>
                          <a:ea typeface="Cambria Math" panose="02040503050406030204" pitchFamily="18" charset="0"/>
                        </a:rPr>
                        <m:t>×</m:t>
                      </m:r>
                      <m:f>
                        <m:fPr>
                          <m:ctrlPr>
                            <a:rPr lang="fr-FR" sz="1200" i="1">
                              <a:latin typeface="Cambria Math" panose="02040503050406030204" pitchFamily="18" charset="0"/>
                            </a:rPr>
                          </m:ctrlPr>
                        </m:fPr>
                        <m:num>
                          <m:r>
                            <a:rPr lang="fr-FR" sz="1200">
                              <a:latin typeface="Cambria Math" panose="02040503050406030204" pitchFamily="18" charset="0"/>
                            </a:rPr>
                            <m:t>𝜕</m:t>
                          </m:r>
                          <m:r>
                            <m:rPr>
                              <m:sty m:val="p"/>
                            </m:rPr>
                            <a:rPr lang="fr-FR" sz="1200">
                              <a:latin typeface="Cambria Math" panose="02040503050406030204" pitchFamily="18" charset="0"/>
                            </a:rPr>
                            <m:t>net</m:t>
                          </m:r>
                          <m:r>
                            <a:rPr lang="fr-FR" sz="1200">
                              <a:latin typeface="Cambria Math" panose="02040503050406030204" pitchFamily="18" charset="0"/>
                            </a:rPr>
                            <m:t>_</m:t>
                          </m:r>
                          <m:r>
                            <m:rPr>
                              <m:sty m:val="p"/>
                            </m:rPr>
                            <a:rPr lang="fr-FR" sz="1200">
                              <a:latin typeface="Cambria Math" panose="02040503050406030204" pitchFamily="18" charset="0"/>
                            </a:rPr>
                            <m:t>h</m:t>
                          </m:r>
                          <m:r>
                            <a:rPr lang="fr-FR" sz="1200">
                              <a:latin typeface="Cambria Math" panose="02040503050406030204" pitchFamily="18" charset="0"/>
                            </a:rPr>
                            <m:t>1</m:t>
                          </m:r>
                        </m:num>
                        <m:den>
                          <m:r>
                            <a:rPr lang="fr-FR" sz="1200">
                              <a:latin typeface="Cambria Math" panose="02040503050406030204" pitchFamily="18" charset="0"/>
                            </a:rPr>
                            <m:t>𝜕</m:t>
                          </m:r>
                          <m:r>
                            <m:rPr>
                              <m:sty m:val="p"/>
                            </m:rPr>
                            <a:rPr lang="fr-FR" sz="1200">
                              <a:latin typeface="Cambria Math" panose="02040503050406030204" pitchFamily="18" charset="0"/>
                            </a:rPr>
                            <m:t>w</m:t>
                          </m:r>
                          <m:r>
                            <a:rPr lang="fr-FR" sz="1200">
                              <a:latin typeface="Cambria Math" panose="02040503050406030204" pitchFamily="18" charset="0"/>
                            </a:rPr>
                            <m:t>1</m:t>
                          </m:r>
                        </m:den>
                      </m:f>
                    </m:oMath>
                  </m:oMathPara>
                </a14:m>
                <a:endParaRPr lang="fr-FR" sz="1200" dirty="0">
                  <a:solidFill>
                    <a:schemeClr val="accent3">
                      <a:lumMod val="60000"/>
                      <a:lumOff val="40000"/>
                    </a:schemeClr>
                  </a:solidFill>
                </a:endParaRPr>
              </a:p>
            </p:txBody>
          </p:sp>
        </mc:Choice>
        <mc:Fallback xmlns="">
          <p:sp>
            <p:nvSpPr>
              <p:cNvPr id="84" name="ZoneTexte 83">
                <a:extLst>
                  <a:ext uri="{FF2B5EF4-FFF2-40B4-BE49-F238E27FC236}">
                    <a16:creationId xmlns:a16="http://schemas.microsoft.com/office/drawing/2014/main" id="{7E8D59CE-C73C-3111-845A-1D82FEBFD481}"/>
                  </a:ext>
                </a:extLst>
              </p:cNvPr>
              <p:cNvSpPr txBox="1">
                <a:spLocks noRot="1" noChangeAspect="1" noMove="1" noResize="1" noEditPoints="1" noAdjustHandles="1" noChangeArrowheads="1" noChangeShapeType="1" noTextEdit="1"/>
              </p:cNvSpPr>
              <p:nvPr/>
            </p:nvSpPr>
            <p:spPr>
              <a:xfrm>
                <a:off x="6323853" y="2944992"/>
                <a:ext cx="5864549" cy="443455"/>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5" name="ZoneTexte 84">
                <a:extLst>
                  <a:ext uri="{FF2B5EF4-FFF2-40B4-BE49-F238E27FC236}">
                    <a16:creationId xmlns:a16="http://schemas.microsoft.com/office/drawing/2014/main" id="{8C3BF1FF-06D8-41C8-3072-97FA1577062A}"/>
                  </a:ext>
                </a:extLst>
              </p:cNvPr>
              <p:cNvSpPr txBox="1"/>
              <p:nvPr/>
            </p:nvSpPr>
            <p:spPr>
              <a:xfrm>
                <a:off x="6323853" y="3471919"/>
                <a:ext cx="5537608" cy="44345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fr-FR" sz="1200" i="1" smtClean="0">
                              <a:latin typeface="Cambria Math" panose="02040503050406030204" pitchFamily="18" charset="0"/>
                            </a:rPr>
                          </m:ctrlPr>
                        </m:fPr>
                        <m:num>
                          <m:r>
                            <a:rPr lang="fr-FR" sz="1200" i="0" smtClean="0">
                              <a:latin typeface="Cambria Math" panose="02040503050406030204" pitchFamily="18" charset="0"/>
                            </a:rPr>
                            <m:t>𝜕</m:t>
                          </m:r>
                          <m:r>
                            <m:rPr>
                              <m:sty m:val="p"/>
                            </m:rPr>
                            <a:rPr lang="fr-FR" sz="1200" b="0" i="0" smtClean="0">
                              <a:latin typeface="Cambria Math" panose="02040503050406030204" pitchFamily="18" charset="0"/>
                            </a:rPr>
                            <m:t>Loss</m:t>
                          </m:r>
                          <m:r>
                            <a:rPr lang="fr-FR" sz="1200" b="0" i="0" smtClean="0">
                              <a:latin typeface="Cambria Math" panose="02040503050406030204" pitchFamily="18" charset="0"/>
                            </a:rPr>
                            <m:t>1</m:t>
                          </m:r>
                        </m:num>
                        <m:den>
                          <m:r>
                            <a:rPr lang="fr-FR" sz="1200" i="0" smtClean="0">
                              <a:latin typeface="Cambria Math" panose="02040503050406030204" pitchFamily="18" charset="0"/>
                            </a:rPr>
                            <m:t>𝜕</m:t>
                          </m:r>
                          <m:r>
                            <m:rPr>
                              <m:sty m:val="p"/>
                            </m:rPr>
                            <a:rPr lang="fr-FR" sz="1200" b="0" i="0" smtClean="0">
                              <a:latin typeface="Cambria Math" panose="02040503050406030204" pitchFamily="18" charset="0"/>
                            </a:rPr>
                            <m:t>w</m:t>
                          </m:r>
                          <m:r>
                            <a:rPr lang="fr-FR" sz="1200" b="0" i="0" smtClean="0">
                              <a:latin typeface="Cambria Math" panose="02040503050406030204" pitchFamily="18" charset="0"/>
                            </a:rPr>
                            <m:t>1</m:t>
                          </m:r>
                        </m:den>
                      </m:f>
                      <m:r>
                        <a:rPr lang="fr-FR" sz="1200" b="0" i="0" smtClean="0">
                          <a:solidFill>
                            <a:schemeClr val="tx1"/>
                          </a:solidFill>
                          <a:latin typeface="Cambria Math" panose="02040503050406030204" pitchFamily="18" charset="0"/>
                        </a:rPr>
                        <m:t>=</m:t>
                      </m:r>
                      <m:r>
                        <m:rPr>
                          <m:nor/>
                        </m:rPr>
                        <a:rPr lang="fr-FR" sz="1200" smtClean="0">
                          <a:solidFill>
                            <a:schemeClr val="tx1"/>
                          </a:solidFill>
                          <a:latin typeface="Cambria Math" panose="02040503050406030204" pitchFamily="18" charset="0"/>
                        </a:rPr>
                        <m:t>−2</m:t>
                      </m:r>
                      <m:r>
                        <m:rPr>
                          <m:nor/>
                        </m:rPr>
                        <a:rPr lang="fr-FR" sz="1200" dirty="0" smtClean="0">
                          <a:solidFill>
                            <a:schemeClr val="tx1"/>
                          </a:solidFill>
                          <a:latin typeface="Cambria Math" panose="02040503050406030204" pitchFamily="18" charset="0"/>
                          <a:ea typeface="Cambria Math" panose="02040503050406030204" pitchFamily="18" charset="0"/>
                        </a:rPr>
                        <m:t>(</m:t>
                      </m:r>
                      <m:sSub>
                        <m:sSubPr>
                          <m:ctrlPr>
                            <a:rPr lang="fr-FR" sz="1200" i="1" dirty="0">
                              <a:solidFill>
                                <a:schemeClr val="tx1"/>
                              </a:solidFill>
                              <a:latin typeface="Cambria Math" panose="02040503050406030204" pitchFamily="18" charset="0"/>
                              <a:ea typeface="Cambria Math" panose="02040503050406030204" pitchFamily="18" charset="0"/>
                            </a:rPr>
                          </m:ctrlPr>
                        </m:sSubPr>
                        <m:e>
                          <m:r>
                            <m:rPr>
                              <m:sty m:val="p"/>
                            </m:rPr>
                            <a:rPr lang="fr-FR" sz="1200">
                              <a:solidFill>
                                <a:schemeClr val="tx1"/>
                              </a:solidFill>
                              <a:latin typeface="Cambria Math" panose="02040503050406030204" pitchFamily="18" charset="0"/>
                              <a:ea typeface="Cambria Math" panose="02040503050406030204" pitchFamily="18" charset="0"/>
                            </a:rPr>
                            <m:t>target</m:t>
                          </m:r>
                        </m:e>
                        <m:sub>
                          <m:r>
                            <m:rPr>
                              <m:sty m:val="p"/>
                            </m:rPr>
                            <a:rPr lang="fr-FR" sz="1200">
                              <a:solidFill>
                                <a:schemeClr val="tx1"/>
                              </a:solidFill>
                              <a:latin typeface="Cambria Math" panose="02040503050406030204" pitchFamily="18" charset="0"/>
                              <a:ea typeface="Cambria Math" panose="02040503050406030204" pitchFamily="18" charset="0"/>
                            </a:rPr>
                            <m:t>o</m:t>
                          </m:r>
                          <m:r>
                            <a:rPr lang="fr-FR" sz="1200">
                              <a:solidFill>
                                <a:schemeClr val="tx1"/>
                              </a:solidFill>
                              <a:latin typeface="Cambria Math" panose="02040503050406030204" pitchFamily="18" charset="0"/>
                              <a:ea typeface="Cambria Math" panose="02040503050406030204" pitchFamily="18" charset="0"/>
                            </a:rPr>
                            <m:t>1</m:t>
                          </m:r>
                        </m:sub>
                      </m:sSub>
                      <m:r>
                        <a:rPr lang="fr-FR" sz="1200" i="1">
                          <a:solidFill>
                            <a:schemeClr val="tx1"/>
                          </a:solidFill>
                          <a:latin typeface="Cambria Math" panose="02040503050406030204" pitchFamily="18" charset="0"/>
                          <a:ea typeface="Cambria Math" panose="02040503050406030204" pitchFamily="18" charset="0"/>
                        </a:rPr>
                        <m:t>− </m:t>
                      </m:r>
                      <m:r>
                        <m:rPr>
                          <m:sty m:val="p"/>
                        </m:rPr>
                        <a:rPr lang="fr-FR" sz="1200">
                          <a:solidFill>
                            <a:schemeClr val="tx1"/>
                          </a:solidFill>
                          <a:latin typeface="Cambria Math" panose="02040503050406030204" pitchFamily="18" charset="0"/>
                          <a:ea typeface="Cambria Math" panose="02040503050406030204" pitchFamily="18" charset="0"/>
                        </a:rPr>
                        <m:t>out</m:t>
                      </m:r>
                      <m:r>
                        <a:rPr lang="fr-FR" sz="1200">
                          <a:solidFill>
                            <a:schemeClr val="tx1"/>
                          </a:solidFill>
                          <a:latin typeface="Cambria Math" panose="02040503050406030204" pitchFamily="18" charset="0"/>
                          <a:ea typeface="Cambria Math" panose="02040503050406030204" pitchFamily="18" charset="0"/>
                        </a:rPr>
                        <m:t>_</m:t>
                      </m:r>
                      <m:r>
                        <m:rPr>
                          <m:sty m:val="p"/>
                        </m:rPr>
                        <a:rPr lang="fr-FR" sz="1200">
                          <a:solidFill>
                            <a:schemeClr val="tx1"/>
                          </a:solidFill>
                          <a:latin typeface="Cambria Math" panose="02040503050406030204" pitchFamily="18" charset="0"/>
                          <a:ea typeface="Cambria Math" panose="02040503050406030204" pitchFamily="18" charset="0"/>
                        </a:rPr>
                        <m:t>o</m:t>
                      </m:r>
                      <m:r>
                        <a:rPr lang="fr-FR" sz="1200">
                          <a:solidFill>
                            <a:schemeClr val="tx1"/>
                          </a:solidFill>
                          <a:latin typeface="Cambria Math" panose="02040503050406030204" pitchFamily="18" charset="0"/>
                          <a:ea typeface="Cambria Math" panose="02040503050406030204" pitchFamily="18" charset="0"/>
                        </a:rPr>
                        <m:t>1</m:t>
                      </m:r>
                      <m:r>
                        <m:rPr>
                          <m:nor/>
                        </m:rPr>
                        <a:rPr lang="fr-FR" sz="1200" dirty="0">
                          <a:solidFill>
                            <a:schemeClr val="tx1"/>
                          </a:solidFill>
                          <a:latin typeface="Cambria Math" panose="02040503050406030204" pitchFamily="18" charset="0"/>
                          <a:ea typeface="Cambria Math" panose="02040503050406030204" pitchFamily="18" charset="0"/>
                        </a:rPr>
                        <m:t>)</m:t>
                      </m:r>
                      <m:r>
                        <a:rPr lang="fr-FR" sz="1200" i="1">
                          <a:solidFill>
                            <a:schemeClr val="tx1"/>
                          </a:solidFill>
                          <a:latin typeface="Cambria Math" panose="02040503050406030204" pitchFamily="18" charset="0"/>
                          <a:ea typeface="Cambria Math" panose="02040503050406030204" pitchFamily="18" charset="0"/>
                        </a:rPr>
                        <m:t>×</m:t>
                      </m:r>
                      <m:r>
                        <m:rPr>
                          <m:sty m:val="p"/>
                        </m:rPr>
                        <a:rPr lang="fr-FR" sz="1200" smtClean="0">
                          <a:solidFill>
                            <a:schemeClr val="tx1"/>
                          </a:solidFill>
                          <a:latin typeface="Cambria Math" panose="02040503050406030204" pitchFamily="18" charset="0"/>
                          <a:ea typeface="Cambria Math" panose="02040503050406030204" pitchFamily="18" charset="0"/>
                        </a:rPr>
                        <m:t>out</m:t>
                      </m:r>
                      <m:r>
                        <a:rPr lang="fr-FR" sz="1200" smtClean="0">
                          <a:solidFill>
                            <a:schemeClr val="tx1"/>
                          </a:solidFill>
                          <a:latin typeface="Cambria Math" panose="02040503050406030204" pitchFamily="18" charset="0"/>
                          <a:ea typeface="Cambria Math" panose="02040503050406030204" pitchFamily="18" charset="0"/>
                        </a:rPr>
                        <m:t>_</m:t>
                      </m:r>
                      <m:r>
                        <m:rPr>
                          <m:sty m:val="p"/>
                        </m:rPr>
                        <a:rPr lang="fr-FR" sz="1200" smtClean="0">
                          <a:solidFill>
                            <a:schemeClr val="tx1"/>
                          </a:solidFill>
                          <a:latin typeface="Cambria Math" panose="02040503050406030204" pitchFamily="18" charset="0"/>
                          <a:ea typeface="Cambria Math" panose="02040503050406030204" pitchFamily="18" charset="0"/>
                        </a:rPr>
                        <m:t>o</m:t>
                      </m:r>
                      <m:r>
                        <a:rPr lang="fr-FR" sz="1200" smtClean="0">
                          <a:solidFill>
                            <a:schemeClr val="tx1"/>
                          </a:solidFill>
                          <a:latin typeface="Cambria Math" panose="02040503050406030204" pitchFamily="18" charset="0"/>
                          <a:ea typeface="Cambria Math" panose="02040503050406030204" pitchFamily="18" charset="0"/>
                        </a:rPr>
                        <m:t>1(1−</m:t>
                      </m:r>
                      <m:r>
                        <m:rPr>
                          <m:sty m:val="p"/>
                        </m:rPr>
                        <a:rPr lang="fr-FR" sz="1200" smtClean="0">
                          <a:solidFill>
                            <a:schemeClr val="tx1"/>
                          </a:solidFill>
                          <a:latin typeface="Cambria Math" panose="02040503050406030204" pitchFamily="18" charset="0"/>
                          <a:ea typeface="Cambria Math" panose="02040503050406030204" pitchFamily="18" charset="0"/>
                        </a:rPr>
                        <m:t>out</m:t>
                      </m:r>
                      <m:r>
                        <a:rPr lang="fr-FR" sz="1200" smtClean="0">
                          <a:solidFill>
                            <a:schemeClr val="tx1"/>
                          </a:solidFill>
                          <a:latin typeface="Cambria Math" panose="02040503050406030204" pitchFamily="18" charset="0"/>
                          <a:ea typeface="Cambria Math" panose="02040503050406030204" pitchFamily="18" charset="0"/>
                        </a:rPr>
                        <m:t>_</m:t>
                      </m:r>
                      <m:r>
                        <m:rPr>
                          <m:sty m:val="p"/>
                        </m:rPr>
                        <a:rPr lang="fr-FR" sz="1200" smtClean="0">
                          <a:solidFill>
                            <a:schemeClr val="tx1"/>
                          </a:solidFill>
                          <a:latin typeface="Cambria Math" panose="02040503050406030204" pitchFamily="18" charset="0"/>
                          <a:ea typeface="Cambria Math" panose="02040503050406030204" pitchFamily="18" charset="0"/>
                        </a:rPr>
                        <m:t>o</m:t>
                      </m:r>
                      <m:r>
                        <a:rPr lang="fr-FR" sz="1200" smtClean="0">
                          <a:solidFill>
                            <a:schemeClr val="tx1"/>
                          </a:solidFill>
                          <a:latin typeface="Cambria Math" panose="02040503050406030204" pitchFamily="18" charset="0"/>
                          <a:ea typeface="Cambria Math" panose="02040503050406030204" pitchFamily="18" charset="0"/>
                        </a:rPr>
                        <m:t>1</m:t>
                      </m:r>
                      <m:r>
                        <a:rPr lang="fr-FR" sz="1200" i="1">
                          <a:solidFill>
                            <a:schemeClr val="tx1"/>
                          </a:solidFill>
                          <a:latin typeface="Cambria Math" panose="02040503050406030204" pitchFamily="18" charset="0"/>
                          <a:ea typeface="Cambria Math" panose="02040503050406030204" pitchFamily="18" charset="0"/>
                        </a:rPr>
                        <m:t>)</m:t>
                      </m:r>
                      <m:r>
                        <a:rPr lang="fr-FR" sz="1200" b="0" i="1" smtClean="0">
                          <a:solidFill>
                            <a:schemeClr val="tx1"/>
                          </a:solidFill>
                          <a:latin typeface="Cambria Math" panose="02040503050406030204" pitchFamily="18" charset="0"/>
                          <a:ea typeface="Cambria Math" panose="02040503050406030204" pitchFamily="18" charset="0"/>
                        </a:rPr>
                        <m:t>×</m:t>
                      </m:r>
                      <m:r>
                        <a:rPr lang="fr-FR" sz="1200" i="1" smtClean="0">
                          <a:solidFill>
                            <a:schemeClr val="accent2"/>
                          </a:solidFill>
                          <a:latin typeface="Cambria Math" panose="02040503050406030204" pitchFamily="18" charset="0"/>
                        </a:rPr>
                        <m:t>𝑤</m:t>
                      </m:r>
                      <m:r>
                        <a:rPr lang="fr-FR" sz="1200" b="0" i="1" smtClean="0">
                          <a:solidFill>
                            <a:schemeClr val="accent2"/>
                          </a:solidFill>
                          <a:latin typeface="Cambria Math" panose="02040503050406030204" pitchFamily="18" charset="0"/>
                        </a:rPr>
                        <m:t>5</m:t>
                      </m:r>
                      <m:r>
                        <a:rPr lang="fr-FR" sz="1200">
                          <a:solidFill>
                            <a:schemeClr val="accent2"/>
                          </a:solidFill>
                          <a:latin typeface="Cambria Math" panose="02040503050406030204" pitchFamily="18" charset="0"/>
                        </a:rPr>
                        <m:t> </m:t>
                      </m:r>
                      <m:r>
                        <a:rPr lang="fr-FR" sz="1200" i="1">
                          <a:solidFill>
                            <a:schemeClr val="tx1"/>
                          </a:solidFill>
                          <a:latin typeface="Cambria Math" panose="02040503050406030204" pitchFamily="18" charset="0"/>
                          <a:ea typeface="Cambria Math" panose="02040503050406030204" pitchFamily="18" charset="0"/>
                        </a:rPr>
                        <m:t>×</m:t>
                      </m:r>
                      <m:f>
                        <m:fPr>
                          <m:ctrlPr>
                            <a:rPr lang="fr-FR" sz="1200" b="0" i="1" smtClean="0">
                              <a:solidFill>
                                <a:schemeClr val="tx1"/>
                              </a:solidFill>
                              <a:latin typeface="Cambria Math" panose="02040503050406030204" pitchFamily="18" charset="0"/>
                            </a:rPr>
                          </m:ctrlPr>
                        </m:fPr>
                        <m:num>
                          <m:r>
                            <a:rPr lang="fr-FR" sz="120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out</m:t>
                          </m:r>
                          <m:r>
                            <a:rPr lang="fr-FR" sz="1200" b="0" i="0" smtClean="0">
                              <a:solidFill>
                                <a:schemeClr val="tx1"/>
                              </a:solidFill>
                              <a:latin typeface="Cambria Math" panose="02040503050406030204" pitchFamily="18" charset="0"/>
                            </a:rPr>
                            <m:t>_</m:t>
                          </m:r>
                          <m:r>
                            <m:rPr>
                              <m:sty m:val="p"/>
                            </m:rPr>
                            <a:rPr lang="fr-FR" sz="1200" b="0" i="0" smtClean="0">
                              <a:solidFill>
                                <a:schemeClr val="tx1"/>
                              </a:solidFill>
                              <a:latin typeface="Cambria Math" panose="02040503050406030204" pitchFamily="18" charset="0"/>
                            </a:rPr>
                            <m:t>h</m:t>
                          </m:r>
                          <m:r>
                            <a:rPr lang="fr-FR" sz="1200" b="0" i="0" smtClean="0">
                              <a:solidFill>
                                <a:schemeClr val="tx1"/>
                              </a:solidFill>
                              <a:latin typeface="Cambria Math" panose="02040503050406030204" pitchFamily="18" charset="0"/>
                            </a:rPr>
                            <m:t>1</m:t>
                          </m:r>
                        </m:num>
                        <m:den>
                          <m:r>
                            <a:rPr lang="fr-FR" sz="120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net</m:t>
                          </m:r>
                          <m:r>
                            <a:rPr lang="fr-FR" sz="1200" b="0" i="0" smtClean="0">
                              <a:solidFill>
                                <a:schemeClr val="tx1"/>
                              </a:solidFill>
                              <a:latin typeface="Cambria Math" panose="02040503050406030204" pitchFamily="18" charset="0"/>
                            </a:rPr>
                            <m:t>_</m:t>
                          </m:r>
                          <m:r>
                            <m:rPr>
                              <m:sty m:val="p"/>
                            </m:rPr>
                            <a:rPr lang="fr-FR" sz="1200" b="0" i="0" smtClean="0">
                              <a:solidFill>
                                <a:schemeClr val="tx1"/>
                              </a:solidFill>
                              <a:latin typeface="Cambria Math" panose="02040503050406030204" pitchFamily="18" charset="0"/>
                            </a:rPr>
                            <m:t>h</m:t>
                          </m:r>
                          <m:r>
                            <a:rPr lang="fr-FR" sz="1200" b="0" i="0" smtClean="0">
                              <a:solidFill>
                                <a:schemeClr val="tx1"/>
                              </a:solidFill>
                              <a:latin typeface="Cambria Math" panose="02040503050406030204" pitchFamily="18" charset="0"/>
                            </a:rPr>
                            <m:t>1</m:t>
                          </m:r>
                        </m:den>
                      </m:f>
                      <m:r>
                        <a:rPr lang="fr-FR" sz="1200" i="1">
                          <a:solidFill>
                            <a:schemeClr val="tx1"/>
                          </a:solidFill>
                          <a:latin typeface="Cambria Math" panose="02040503050406030204" pitchFamily="18" charset="0"/>
                          <a:ea typeface="Cambria Math" panose="02040503050406030204" pitchFamily="18" charset="0"/>
                        </a:rPr>
                        <m:t>×</m:t>
                      </m:r>
                      <m:f>
                        <m:fPr>
                          <m:ctrlPr>
                            <a:rPr lang="fr-FR" sz="1200" i="1">
                              <a:latin typeface="Cambria Math" panose="02040503050406030204" pitchFamily="18" charset="0"/>
                            </a:rPr>
                          </m:ctrlPr>
                        </m:fPr>
                        <m:num>
                          <m:r>
                            <a:rPr lang="fr-FR" sz="1200">
                              <a:latin typeface="Cambria Math" panose="02040503050406030204" pitchFamily="18" charset="0"/>
                            </a:rPr>
                            <m:t>𝜕</m:t>
                          </m:r>
                          <m:r>
                            <m:rPr>
                              <m:sty m:val="p"/>
                            </m:rPr>
                            <a:rPr lang="fr-FR" sz="1200">
                              <a:latin typeface="Cambria Math" panose="02040503050406030204" pitchFamily="18" charset="0"/>
                            </a:rPr>
                            <m:t>net</m:t>
                          </m:r>
                          <m:r>
                            <a:rPr lang="fr-FR" sz="1200">
                              <a:latin typeface="Cambria Math" panose="02040503050406030204" pitchFamily="18" charset="0"/>
                            </a:rPr>
                            <m:t>_</m:t>
                          </m:r>
                          <m:r>
                            <m:rPr>
                              <m:sty m:val="p"/>
                            </m:rPr>
                            <a:rPr lang="fr-FR" sz="1200">
                              <a:latin typeface="Cambria Math" panose="02040503050406030204" pitchFamily="18" charset="0"/>
                            </a:rPr>
                            <m:t>h</m:t>
                          </m:r>
                          <m:r>
                            <a:rPr lang="fr-FR" sz="1200">
                              <a:latin typeface="Cambria Math" panose="02040503050406030204" pitchFamily="18" charset="0"/>
                            </a:rPr>
                            <m:t>1</m:t>
                          </m:r>
                        </m:num>
                        <m:den>
                          <m:r>
                            <a:rPr lang="fr-FR" sz="1200">
                              <a:latin typeface="Cambria Math" panose="02040503050406030204" pitchFamily="18" charset="0"/>
                            </a:rPr>
                            <m:t>𝜕</m:t>
                          </m:r>
                          <m:r>
                            <m:rPr>
                              <m:sty m:val="p"/>
                            </m:rPr>
                            <a:rPr lang="fr-FR" sz="1200">
                              <a:latin typeface="Cambria Math" panose="02040503050406030204" pitchFamily="18" charset="0"/>
                            </a:rPr>
                            <m:t>w</m:t>
                          </m:r>
                          <m:r>
                            <a:rPr lang="fr-FR" sz="1200">
                              <a:latin typeface="Cambria Math" panose="02040503050406030204" pitchFamily="18" charset="0"/>
                            </a:rPr>
                            <m:t>1</m:t>
                          </m:r>
                        </m:den>
                      </m:f>
                    </m:oMath>
                  </m:oMathPara>
                </a14:m>
                <a:endParaRPr lang="fr-FR" sz="1200" dirty="0">
                  <a:solidFill>
                    <a:schemeClr val="accent3">
                      <a:lumMod val="60000"/>
                      <a:lumOff val="40000"/>
                    </a:schemeClr>
                  </a:solidFill>
                </a:endParaRPr>
              </a:p>
            </p:txBody>
          </p:sp>
        </mc:Choice>
        <mc:Fallback xmlns="">
          <p:sp>
            <p:nvSpPr>
              <p:cNvPr id="85" name="ZoneTexte 84">
                <a:extLst>
                  <a:ext uri="{FF2B5EF4-FFF2-40B4-BE49-F238E27FC236}">
                    <a16:creationId xmlns:a16="http://schemas.microsoft.com/office/drawing/2014/main" id="{8C3BF1FF-06D8-41C8-3072-97FA1577062A}"/>
                  </a:ext>
                </a:extLst>
              </p:cNvPr>
              <p:cNvSpPr txBox="1">
                <a:spLocks noRot="1" noChangeAspect="1" noMove="1" noResize="1" noEditPoints="1" noAdjustHandles="1" noChangeArrowheads="1" noChangeShapeType="1" noTextEdit="1"/>
              </p:cNvSpPr>
              <p:nvPr/>
            </p:nvSpPr>
            <p:spPr>
              <a:xfrm>
                <a:off x="6323853" y="3471919"/>
                <a:ext cx="5537608" cy="443455"/>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6" name="ZoneTexte 85">
                <a:extLst>
                  <a:ext uri="{FF2B5EF4-FFF2-40B4-BE49-F238E27FC236}">
                    <a16:creationId xmlns:a16="http://schemas.microsoft.com/office/drawing/2014/main" id="{42678F77-60DA-112E-798F-95396E23ADA7}"/>
                  </a:ext>
                </a:extLst>
              </p:cNvPr>
              <p:cNvSpPr txBox="1"/>
              <p:nvPr/>
            </p:nvSpPr>
            <p:spPr>
              <a:xfrm>
                <a:off x="6323853" y="4030692"/>
                <a:ext cx="5537608" cy="44345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fr-FR" sz="1200" i="1" smtClean="0">
                              <a:latin typeface="Cambria Math" panose="02040503050406030204" pitchFamily="18" charset="0"/>
                            </a:rPr>
                          </m:ctrlPr>
                        </m:fPr>
                        <m:num>
                          <m:r>
                            <a:rPr lang="fr-FR" sz="1200" i="0" smtClean="0">
                              <a:latin typeface="Cambria Math" panose="02040503050406030204" pitchFamily="18" charset="0"/>
                            </a:rPr>
                            <m:t>𝜕</m:t>
                          </m:r>
                          <m:r>
                            <m:rPr>
                              <m:sty m:val="p"/>
                            </m:rPr>
                            <a:rPr lang="fr-FR" sz="1200" b="0" i="0" smtClean="0">
                              <a:latin typeface="Cambria Math" panose="02040503050406030204" pitchFamily="18" charset="0"/>
                            </a:rPr>
                            <m:t>Loss</m:t>
                          </m:r>
                          <m:r>
                            <a:rPr lang="fr-FR" sz="1200" b="0" i="0" smtClean="0">
                              <a:latin typeface="Cambria Math" panose="02040503050406030204" pitchFamily="18" charset="0"/>
                            </a:rPr>
                            <m:t>1</m:t>
                          </m:r>
                        </m:num>
                        <m:den>
                          <m:r>
                            <a:rPr lang="fr-FR" sz="1200" i="0" smtClean="0">
                              <a:latin typeface="Cambria Math" panose="02040503050406030204" pitchFamily="18" charset="0"/>
                            </a:rPr>
                            <m:t>𝜕</m:t>
                          </m:r>
                          <m:r>
                            <m:rPr>
                              <m:sty m:val="p"/>
                            </m:rPr>
                            <a:rPr lang="fr-FR" sz="1200" b="0" i="0" smtClean="0">
                              <a:latin typeface="Cambria Math" panose="02040503050406030204" pitchFamily="18" charset="0"/>
                            </a:rPr>
                            <m:t>w</m:t>
                          </m:r>
                          <m:r>
                            <a:rPr lang="fr-FR" sz="1200" b="0" i="0" smtClean="0">
                              <a:latin typeface="Cambria Math" panose="02040503050406030204" pitchFamily="18" charset="0"/>
                            </a:rPr>
                            <m:t>1</m:t>
                          </m:r>
                        </m:den>
                      </m:f>
                      <m:r>
                        <a:rPr lang="fr-FR" sz="1200" b="0" i="0" smtClean="0">
                          <a:solidFill>
                            <a:schemeClr val="tx1"/>
                          </a:solidFill>
                          <a:latin typeface="Cambria Math" panose="02040503050406030204" pitchFamily="18" charset="0"/>
                        </a:rPr>
                        <m:t>=</m:t>
                      </m:r>
                      <m:r>
                        <m:rPr>
                          <m:nor/>
                        </m:rPr>
                        <a:rPr lang="fr-FR" sz="1200">
                          <a:latin typeface="Cambria Math" panose="02040503050406030204" pitchFamily="18" charset="0"/>
                        </a:rPr>
                        <m:t>−2</m:t>
                      </m:r>
                      <m:r>
                        <m:rPr>
                          <m:nor/>
                        </m:rPr>
                        <a:rPr lang="fr-FR" sz="1200" dirty="0">
                          <a:latin typeface="Cambria Math" panose="02040503050406030204" pitchFamily="18" charset="0"/>
                          <a:ea typeface="Cambria Math" panose="02040503050406030204" pitchFamily="18" charset="0"/>
                        </a:rPr>
                        <m:t>(</m:t>
                      </m:r>
                      <m:sSub>
                        <m:sSubPr>
                          <m:ctrlPr>
                            <a:rPr lang="fr-FR" sz="1200" i="1" dirty="0">
                              <a:latin typeface="Cambria Math" panose="02040503050406030204" pitchFamily="18" charset="0"/>
                              <a:ea typeface="Cambria Math" panose="02040503050406030204" pitchFamily="18" charset="0"/>
                            </a:rPr>
                          </m:ctrlPr>
                        </m:sSubPr>
                        <m:e>
                          <m:r>
                            <m:rPr>
                              <m:sty m:val="p"/>
                            </m:rPr>
                            <a:rPr lang="fr-FR" sz="1200">
                              <a:latin typeface="Cambria Math" panose="02040503050406030204" pitchFamily="18" charset="0"/>
                              <a:ea typeface="Cambria Math" panose="02040503050406030204" pitchFamily="18" charset="0"/>
                            </a:rPr>
                            <m:t>target</m:t>
                          </m:r>
                        </m:e>
                        <m:sub>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m:t>
                          </m:r>
                        </m:sub>
                      </m:sSub>
                      <m:r>
                        <a:rPr lang="fr-FR" sz="1200" i="1">
                          <a:latin typeface="Cambria Math" panose="02040503050406030204" pitchFamily="18" charset="0"/>
                          <a:ea typeface="Cambria Math" panose="02040503050406030204" pitchFamily="18" charset="0"/>
                        </a:rPr>
                        <m:t>− </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m:t>
                      </m:r>
                      <m:r>
                        <m:rPr>
                          <m:nor/>
                        </m:rPr>
                        <a:rPr lang="fr-FR" sz="1200" dirty="0">
                          <a:latin typeface="Cambria Math" panose="02040503050406030204" pitchFamily="18" charset="0"/>
                          <a:ea typeface="Cambria Math" panose="02040503050406030204" pitchFamily="18" charset="0"/>
                        </a:rPr>
                        <m:t>)</m:t>
                      </m:r>
                      <m:r>
                        <a:rPr lang="fr-FR" sz="1200" i="1">
                          <a:solidFill>
                            <a:schemeClr val="tx1"/>
                          </a:solidFill>
                          <a:latin typeface="Cambria Math" panose="02040503050406030204" pitchFamily="18" charset="0"/>
                          <a:ea typeface="Cambria Math" panose="02040503050406030204" pitchFamily="18" charset="0"/>
                        </a:rPr>
                        <m:t>×</m:t>
                      </m:r>
                      <m:r>
                        <m:rPr>
                          <m:sty m:val="p"/>
                        </m:rPr>
                        <a:rPr lang="fr-FR" sz="1200" smtClean="0">
                          <a:solidFill>
                            <a:schemeClr val="tx1"/>
                          </a:solidFill>
                          <a:latin typeface="Cambria Math" panose="02040503050406030204" pitchFamily="18" charset="0"/>
                          <a:ea typeface="Cambria Math" panose="02040503050406030204" pitchFamily="18" charset="0"/>
                        </a:rPr>
                        <m:t>out</m:t>
                      </m:r>
                      <m:r>
                        <a:rPr lang="fr-FR" sz="1200" smtClean="0">
                          <a:solidFill>
                            <a:schemeClr val="tx1"/>
                          </a:solidFill>
                          <a:latin typeface="Cambria Math" panose="02040503050406030204" pitchFamily="18" charset="0"/>
                          <a:ea typeface="Cambria Math" panose="02040503050406030204" pitchFamily="18" charset="0"/>
                        </a:rPr>
                        <m:t>_</m:t>
                      </m:r>
                      <m:r>
                        <m:rPr>
                          <m:sty m:val="p"/>
                        </m:rPr>
                        <a:rPr lang="fr-FR" sz="1200" smtClean="0">
                          <a:solidFill>
                            <a:schemeClr val="tx1"/>
                          </a:solidFill>
                          <a:latin typeface="Cambria Math" panose="02040503050406030204" pitchFamily="18" charset="0"/>
                          <a:ea typeface="Cambria Math" panose="02040503050406030204" pitchFamily="18" charset="0"/>
                        </a:rPr>
                        <m:t>o</m:t>
                      </m:r>
                      <m:r>
                        <a:rPr lang="fr-FR" sz="1200" smtClean="0">
                          <a:solidFill>
                            <a:schemeClr val="tx1"/>
                          </a:solidFill>
                          <a:latin typeface="Cambria Math" panose="02040503050406030204" pitchFamily="18" charset="0"/>
                          <a:ea typeface="Cambria Math" panose="02040503050406030204" pitchFamily="18" charset="0"/>
                        </a:rPr>
                        <m:t>1(1−</m:t>
                      </m:r>
                      <m:r>
                        <m:rPr>
                          <m:sty m:val="p"/>
                        </m:rPr>
                        <a:rPr lang="fr-FR" sz="1200" smtClean="0">
                          <a:solidFill>
                            <a:schemeClr val="tx1"/>
                          </a:solidFill>
                          <a:latin typeface="Cambria Math" panose="02040503050406030204" pitchFamily="18" charset="0"/>
                          <a:ea typeface="Cambria Math" panose="02040503050406030204" pitchFamily="18" charset="0"/>
                        </a:rPr>
                        <m:t>out</m:t>
                      </m:r>
                      <m:r>
                        <a:rPr lang="fr-FR" sz="1200" smtClean="0">
                          <a:solidFill>
                            <a:schemeClr val="tx1"/>
                          </a:solidFill>
                          <a:latin typeface="Cambria Math" panose="02040503050406030204" pitchFamily="18" charset="0"/>
                          <a:ea typeface="Cambria Math" panose="02040503050406030204" pitchFamily="18" charset="0"/>
                        </a:rPr>
                        <m:t>_</m:t>
                      </m:r>
                      <m:r>
                        <m:rPr>
                          <m:sty m:val="p"/>
                        </m:rPr>
                        <a:rPr lang="fr-FR" sz="1200" smtClean="0">
                          <a:solidFill>
                            <a:schemeClr val="tx1"/>
                          </a:solidFill>
                          <a:latin typeface="Cambria Math" panose="02040503050406030204" pitchFamily="18" charset="0"/>
                          <a:ea typeface="Cambria Math" panose="02040503050406030204" pitchFamily="18" charset="0"/>
                        </a:rPr>
                        <m:t>o</m:t>
                      </m:r>
                      <m:r>
                        <a:rPr lang="fr-FR" sz="1200" smtClean="0">
                          <a:solidFill>
                            <a:schemeClr val="tx1"/>
                          </a:solidFill>
                          <a:latin typeface="Cambria Math" panose="02040503050406030204" pitchFamily="18" charset="0"/>
                          <a:ea typeface="Cambria Math" panose="02040503050406030204" pitchFamily="18" charset="0"/>
                        </a:rPr>
                        <m:t>1</m:t>
                      </m:r>
                      <m:r>
                        <a:rPr lang="fr-FR" sz="1200" i="1" smtClean="0">
                          <a:solidFill>
                            <a:schemeClr val="tx1"/>
                          </a:solidFill>
                          <a:latin typeface="Cambria Math" panose="02040503050406030204" pitchFamily="18" charset="0"/>
                          <a:ea typeface="Cambria Math" panose="02040503050406030204" pitchFamily="18" charset="0"/>
                        </a:rPr>
                        <m:t>)</m:t>
                      </m:r>
                      <m:r>
                        <a:rPr lang="fr-FR" sz="1200" b="0" i="1" smtClean="0">
                          <a:solidFill>
                            <a:schemeClr val="tx1"/>
                          </a:solidFill>
                          <a:latin typeface="Cambria Math" panose="02040503050406030204" pitchFamily="18" charset="0"/>
                          <a:ea typeface="Cambria Math" panose="02040503050406030204" pitchFamily="18" charset="0"/>
                        </a:rPr>
                        <m:t>×</m:t>
                      </m:r>
                      <m:r>
                        <a:rPr lang="fr-FR" sz="1200" i="1" smtClean="0">
                          <a:solidFill>
                            <a:schemeClr val="tx1"/>
                          </a:solidFill>
                          <a:latin typeface="Cambria Math" panose="02040503050406030204" pitchFamily="18" charset="0"/>
                        </a:rPr>
                        <m:t>𝑤</m:t>
                      </m:r>
                      <m:r>
                        <a:rPr lang="fr-FR" sz="1200" b="0" i="1" smtClean="0">
                          <a:solidFill>
                            <a:schemeClr val="tx1"/>
                          </a:solidFill>
                          <a:latin typeface="Cambria Math" panose="02040503050406030204" pitchFamily="18" charset="0"/>
                        </a:rPr>
                        <m:t>5</m:t>
                      </m:r>
                      <m:r>
                        <a:rPr lang="fr-FR" sz="1200">
                          <a:solidFill>
                            <a:schemeClr val="tx1"/>
                          </a:solidFill>
                          <a:latin typeface="Cambria Math" panose="02040503050406030204" pitchFamily="18" charset="0"/>
                        </a:rPr>
                        <m:t> </m:t>
                      </m:r>
                      <m:r>
                        <a:rPr lang="fr-FR" sz="1200" i="1">
                          <a:solidFill>
                            <a:schemeClr val="tx1"/>
                          </a:solidFill>
                          <a:latin typeface="Cambria Math" panose="02040503050406030204" pitchFamily="18" charset="0"/>
                          <a:ea typeface="Cambria Math" panose="02040503050406030204" pitchFamily="18" charset="0"/>
                        </a:rPr>
                        <m:t>×</m:t>
                      </m:r>
                      <m:f>
                        <m:fPr>
                          <m:ctrlPr>
                            <a:rPr lang="fr-FR" sz="1200" b="0" i="1" smtClean="0">
                              <a:solidFill>
                                <a:schemeClr val="accent2"/>
                              </a:solidFill>
                              <a:latin typeface="Cambria Math" panose="02040503050406030204" pitchFamily="18" charset="0"/>
                            </a:rPr>
                          </m:ctrlPr>
                        </m:fPr>
                        <m:num>
                          <m:r>
                            <a:rPr lang="fr-FR" sz="1200">
                              <a:solidFill>
                                <a:schemeClr val="accent2"/>
                              </a:solidFill>
                              <a:latin typeface="Cambria Math" panose="02040503050406030204" pitchFamily="18" charset="0"/>
                            </a:rPr>
                            <m:t>𝜕</m:t>
                          </m:r>
                          <m:r>
                            <m:rPr>
                              <m:sty m:val="p"/>
                            </m:rPr>
                            <a:rPr lang="fr-FR" sz="1200" b="0" i="0" smtClean="0">
                              <a:solidFill>
                                <a:schemeClr val="accent2"/>
                              </a:solidFill>
                              <a:latin typeface="Cambria Math" panose="02040503050406030204" pitchFamily="18" charset="0"/>
                            </a:rPr>
                            <m:t>out</m:t>
                          </m:r>
                          <m:r>
                            <a:rPr lang="fr-FR" sz="1200" b="0" i="0" smtClean="0">
                              <a:solidFill>
                                <a:schemeClr val="accent2"/>
                              </a:solidFill>
                              <a:latin typeface="Cambria Math" panose="02040503050406030204" pitchFamily="18" charset="0"/>
                            </a:rPr>
                            <m:t>_</m:t>
                          </m:r>
                          <m:r>
                            <m:rPr>
                              <m:sty m:val="p"/>
                            </m:rPr>
                            <a:rPr lang="fr-FR" sz="1200" b="0" i="0" smtClean="0">
                              <a:solidFill>
                                <a:schemeClr val="accent2"/>
                              </a:solidFill>
                              <a:latin typeface="Cambria Math" panose="02040503050406030204" pitchFamily="18" charset="0"/>
                            </a:rPr>
                            <m:t>h</m:t>
                          </m:r>
                          <m:r>
                            <a:rPr lang="fr-FR" sz="1200" b="0" i="0" smtClean="0">
                              <a:solidFill>
                                <a:schemeClr val="accent2"/>
                              </a:solidFill>
                              <a:latin typeface="Cambria Math" panose="02040503050406030204" pitchFamily="18" charset="0"/>
                            </a:rPr>
                            <m:t>1</m:t>
                          </m:r>
                        </m:num>
                        <m:den>
                          <m:r>
                            <a:rPr lang="fr-FR" sz="1200">
                              <a:solidFill>
                                <a:schemeClr val="accent2"/>
                              </a:solidFill>
                              <a:latin typeface="Cambria Math" panose="02040503050406030204" pitchFamily="18" charset="0"/>
                            </a:rPr>
                            <m:t>𝜕</m:t>
                          </m:r>
                          <m:r>
                            <m:rPr>
                              <m:sty m:val="p"/>
                            </m:rPr>
                            <a:rPr lang="fr-FR" sz="1200" b="0" i="0" smtClean="0">
                              <a:solidFill>
                                <a:schemeClr val="accent2"/>
                              </a:solidFill>
                              <a:latin typeface="Cambria Math" panose="02040503050406030204" pitchFamily="18" charset="0"/>
                            </a:rPr>
                            <m:t>net</m:t>
                          </m:r>
                          <m:r>
                            <a:rPr lang="fr-FR" sz="1200" b="0" i="0" smtClean="0">
                              <a:solidFill>
                                <a:schemeClr val="accent2"/>
                              </a:solidFill>
                              <a:latin typeface="Cambria Math" panose="02040503050406030204" pitchFamily="18" charset="0"/>
                            </a:rPr>
                            <m:t>_</m:t>
                          </m:r>
                          <m:r>
                            <m:rPr>
                              <m:sty m:val="p"/>
                            </m:rPr>
                            <a:rPr lang="fr-FR" sz="1200" b="0" i="0" smtClean="0">
                              <a:solidFill>
                                <a:schemeClr val="accent2"/>
                              </a:solidFill>
                              <a:latin typeface="Cambria Math" panose="02040503050406030204" pitchFamily="18" charset="0"/>
                            </a:rPr>
                            <m:t>h</m:t>
                          </m:r>
                          <m:r>
                            <a:rPr lang="fr-FR" sz="1200" b="0" i="0" smtClean="0">
                              <a:solidFill>
                                <a:schemeClr val="accent2"/>
                              </a:solidFill>
                              <a:latin typeface="Cambria Math" panose="02040503050406030204" pitchFamily="18" charset="0"/>
                            </a:rPr>
                            <m:t>1</m:t>
                          </m:r>
                        </m:den>
                      </m:f>
                      <m:r>
                        <a:rPr lang="fr-FR" sz="1200" i="1">
                          <a:solidFill>
                            <a:schemeClr val="tx1"/>
                          </a:solidFill>
                          <a:latin typeface="Cambria Math" panose="02040503050406030204" pitchFamily="18" charset="0"/>
                          <a:ea typeface="Cambria Math" panose="02040503050406030204" pitchFamily="18" charset="0"/>
                        </a:rPr>
                        <m:t>×</m:t>
                      </m:r>
                      <m:f>
                        <m:fPr>
                          <m:ctrlPr>
                            <a:rPr lang="fr-FR" sz="1200" i="1">
                              <a:latin typeface="Cambria Math" panose="02040503050406030204" pitchFamily="18" charset="0"/>
                            </a:rPr>
                          </m:ctrlPr>
                        </m:fPr>
                        <m:num>
                          <m:r>
                            <a:rPr lang="fr-FR" sz="1200">
                              <a:latin typeface="Cambria Math" panose="02040503050406030204" pitchFamily="18" charset="0"/>
                            </a:rPr>
                            <m:t>𝜕</m:t>
                          </m:r>
                          <m:r>
                            <m:rPr>
                              <m:sty m:val="p"/>
                            </m:rPr>
                            <a:rPr lang="fr-FR" sz="1200">
                              <a:latin typeface="Cambria Math" panose="02040503050406030204" pitchFamily="18" charset="0"/>
                            </a:rPr>
                            <m:t>net</m:t>
                          </m:r>
                          <m:r>
                            <a:rPr lang="fr-FR" sz="1200">
                              <a:latin typeface="Cambria Math" panose="02040503050406030204" pitchFamily="18" charset="0"/>
                            </a:rPr>
                            <m:t>_</m:t>
                          </m:r>
                          <m:r>
                            <m:rPr>
                              <m:sty m:val="p"/>
                            </m:rPr>
                            <a:rPr lang="fr-FR" sz="1200">
                              <a:latin typeface="Cambria Math" panose="02040503050406030204" pitchFamily="18" charset="0"/>
                            </a:rPr>
                            <m:t>h</m:t>
                          </m:r>
                          <m:r>
                            <a:rPr lang="fr-FR" sz="1200">
                              <a:latin typeface="Cambria Math" panose="02040503050406030204" pitchFamily="18" charset="0"/>
                            </a:rPr>
                            <m:t>1</m:t>
                          </m:r>
                        </m:num>
                        <m:den>
                          <m:r>
                            <a:rPr lang="fr-FR" sz="1200">
                              <a:latin typeface="Cambria Math" panose="02040503050406030204" pitchFamily="18" charset="0"/>
                            </a:rPr>
                            <m:t>𝜕</m:t>
                          </m:r>
                          <m:r>
                            <m:rPr>
                              <m:sty m:val="p"/>
                            </m:rPr>
                            <a:rPr lang="fr-FR" sz="1200">
                              <a:latin typeface="Cambria Math" panose="02040503050406030204" pitchFamily="18" charset="0"/>
                            </a:rPr>
                            <m:t>w</m:t>
                          </m:r>
                          <m:r>
                            <a:rPr lang="fr-FR" sz="1200">
                              <a:latin typeface="Cambria Math" panose="02040503050406030204" pitchFamily="18" charset="0"/>
                            </a:rPr>
                            <m:t>1</m:t>
                          </m:r>
                        </m:den>
                      </m:f>
                    </m:oMath>
                  </m:oMathPara>
                </a14:m>
                <a:endParaRPr lang="fr-FR" sz="1200" dirty="0">
                  <a:solidFill>
                    <a:schemeClr val="accent3">
                      <a:lumMod val="60000"/>
                      <a:lumOff val="40000"/>
                    </a:schemeClr>
                  </a:solidFill>
                </a:endParaRPr>
              </a:p>
            </p:txBody>
          </p:sp>
        </mc:Choice>
        <mc:Fallback xmlns="">
          <p:sp>
            <p:nvSpPr>
              <p:cNvPr id="86" name="ZoneTexte 85">
                <a:extLst>
                  <a:ext uri="{FF2B5EF4-FFF2-40B4-BE49-F238E27FC236}">
                    <a16:creationId xmlns:a16="http://schemas.microsoft.com/office/drawing/2014/main" id="{42678F77-60DA-112E-798F-95396E23ADA7}"/>
                  </a:ext>
                </a:extLst>
              </p:cNvPr>
              <p:cNvSpPr txBox="1">
                <a:spLocks noRot="1" noChangeAspect="1" noMove="1" noResize="1" noEditPoints="1" noAdjustHandles="1" noChangeArrowheads="1" noChangeShapeType="1" noTextEdit="1"/>
              </p:cNvSpPr>
              <p:nvPr/>
            </p:nvSpPr>
            <p:spPr>
              <a:xfrm>
                <a:off x="6323853" y="4030692"/>
                <a:ext cx="5537608" cy="443455"/>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7" name="ZoneTexte 86">
                <a:extLst>
                  <a:ext uri="{FF2B5EF4-FFF2-40B4-BE49-F238E27FC236}">
                    <a16:creationId xmlns:a16="http://schemas.microsoft.com/office/drawing/2014/main" id="{A64249F5-F177-9195-BC66-6E8D4B10B6C2}"/>
                  </a:ext>
                </a:extLst>
              </p:cNvPr>
              <p:cNvSpPr txBox="1"/>
              <p:nvPr/>
            </p:nvSpPr>
            <p:spPr>
              <a:xfrm>
                <a:off x="6323853" y="4550018"/>
                <a:ext cx="5537608" cy="363882"/>
              </a:xfrm>
              <a:prstGeom prst="rect">
                <a:avLst/>
              </a:prstGeom>
              <a:noFill/>
            </p:spPr>
            <p:txBody>
              <a:bodyPr wrap="square" rtlCol="0">
                <a:spAutoFit/>
              </a:bodyPr>
              <a:lstStyle/>
              <a:p>
                <a14:m>
                  <m:oMath xmlns:m="http://schemas.openxmlformats.org/officeDocument/2006/math">
                    <m:f>
                      <m:fPr>
                        <m:ctrlPr>
                          <a:rPr lang="fr-FR" sz="1200" i="1" smtClean="0">
                            <a:latin typeface="Cambria Math" panose="02040503050406030204" pitchFamily="18" charset="0"/>
                            <a:ea typeface="Cambria Math" panose="02040503050406030204" pitchFamily="18" charset="0"/>
                          </a:rPr>
                        </m:ctrlPr>
                      </m:fPr>
                      <m:num>
                        <m:r>
                          <a:rPr lang="fr-FR" sz="1200" i="0" smtClean="0">
                            <a:latin typeface="Cambria Math" panose="02040503050406030204" pitchFamily="18" charset="0"/>
                            <a:ea typeface="Cambria Math" panose="02040503050406030204" pitchFamily="18" charset="0"/>
                          </a:rPr>
                          <m:t>𝜕</m:t>
                        </m:r>
                        <m:r>
                          <m:rPr>
                            <m:sty m:val="p"/>
                          </m:rPr>
                          <a:rPr lang="fr-FR" sz="1200" b="0" i="0" smtClean="0">
                            <a:latin typeface="Cambria Math" panose="02040503050406030204" pitchFamily="18" charset="0"/>
                            <a:ea typeface="Cambria Math" panose="02040503050406030204" pitchFamily="18" charset="0"/>
                          </a:rPr>
                          <m:t>Loss</m:t>
                        </m:r>
                        <m:r>
                          <a:rPr lang="fr-FR" sz="1200" b="0" i="0" smtClean="0">
                            <a:latin typeface="Cambria Math" panose="02040503050406030204" pitchFamily="18" charset="0"/>
                            <a:ea typeface="Cambria Math" panose="02040503050406030204" pitchFamily="18" charset="0"/>
                          </a:rPr>
                          <m:t>1</m:t>
                        </m:r>
                      </m:num>
                      <m:den>
                        <m:r>
                          <a:rPr lang="fr-FR" sz="1200" i="0" smtClean="0">
                            <a:latin typeface="Cambria Math" panose="02040503050406030204" pitchFamily="18" charset="0"/>
                            <a:ea typeface="Cambria Math" panose="02040503050406030204" pitchFamily="18" charset="0"/>
                          </a:rPr>
                          <m:t>𝜕</m:t>
                        </m:r>
                        <m:r>
                          <m:rPr>
                            <m:sty m:val="p"/>
                          </m:rPr>
                          <a:rPr lang="fr-FR" sz="1200" b="0" i="0" smtClean="0">
                            <a:latin typeface="Cambria Math" panose="02040503050406030204" pitchFamily="18" charset="0"/>
                            <a:ea typeface="Cambria Math" panose="02040503050406030204" pitchFamily="18" charset="0"/>
                          </a:rPr>
                          <m:t>w</m:t>
                        </m:r>
                        <m:r>
                          <a:rPr lang="fr-FR" sz="1200" b="0" i="0" smtClean="0">
                            <a:latin typeface="Cambria Math" panose="02040503050406030204" pitchFamily="18" charset="0"/>
                            <a:ea typeface="Cambria Math" panose="02040503050406030204" pitchFamily="18" charset="0"/>
                          </a:rPr>
                          <m:t>1</m:t>
                        </m:r>
                      </m:den>
                    </m:f>
                    <m:r>
                      <a:rPr lang="fr-FR" sz="1200" b="0" i="0" smtClean="0">
                        <a:solidFill>
                          <a:schemeClr val="tx1"/>
                        </a:solidFill>
                        <a:latin typeface="Cambria Math" panose="02040503050406030204" pitchFamily="18" charset="0"/>
                        <a:ea typeface="Cambria Math" panose="02040503050406030204" pitchFamily="18" charset="0"/>
                      </a:rPr>
                      <m:t>=</m:t>
                    </m:r>
                    <m:r>
                      <m:rPr>
                        <m:nor/>
                      </m:rPr>
                      <a:rPr lang="fr-FR" sz="1200">
                        <a:latin typeface="Cambria Math" panose="02040503050406030204" pitchFamily="18" charset="0"/>
                      </a:rPr>
                      <m:t>−2</m:t>
                    </m:r>
                    <m:r>
                      <m:rPr>
                        <m:nor/>
                      </m:rPr>
                      <a:rPr lang="fr-FR" sz="1200" dirty="0">
                        <a:latin typeface="Cambria Math" panose="02040503050406030204" pitchFamily="18" charset="0"/>
                        <a:ea typeface="Cambria Math" panose="02040503050406030204" pitchFamily="18" charset="0"/>
                      </a:rPr>
                      <m:t>(</m:t>
                    </m:r>
                    <m:sSub>
                      <m:sSubPr>
                        <m:ctrlPr>
                          <a:rPr lang="fr-FR" sz="1200" i="1" dirty="0">
                            <a:latin typeface="Cambria Math" panose="02040503050406030204" pitchFamily="18" charset="0"/>
                            <a:ea typeface="Cambria Math" panose="02040503050406030204" pitchFamily="18" charset="0"/>
                          </a:rPr>
                        </m:ctrlPr>
                      </m:sSubPr>
                      <m:e>
                        <m:r>
                          <m:rPr>
                            <m:sty m:val="p"/>
                          </m:rPr>
                          <a:rPr lang="fr-FR" sz="1200">
                            <a:latin typeface="Cambria Math" panose="02040503050406030204" pitchFamily="18" charset="0"/>
                            <a:ea typeface="Cambria Math" panose="02040503050406030204" pitchFamily="18" charset="0"/>
                          </a:rPr>
                          <m:t>target</m:t>
                        </m:r>
                      </m:e>
                      <m:sub>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m:t>
                        </m:r>
                      </m:sub>
                    </m:sSub>
                    <m:r>
                      <a:rPr lang="fr-FR" sz="1200" i="1">
                        <a:latin typeface="Cambria Math" panose="02040503050406030204" pitchFamily="18" charset="0"/>
                        <a:ea typeface="Cambria Math" panose="02040503050406030204" pitchFamily="18" charset="0"/>
                      </a:rPr>
                      <m:t>− </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m:t>
                    </m:r>
                    <m:r>
                      <m:rPr>
                        <m:nor/>
                      </m:rPr>
                      <a:rPr lang="fr-FR" sz="1200" dirty="0">
                        <a:latin typeface="Cambria Math" panose="02040503050406030204" pitchFamily="18" charset="0"/>
                        <a:ea typeface="Cambria Math" panose="02040503050406030204" pitchFamily="18" charset="0"/>
                      </a:rPr>
                      <m:t>)</m:t>
                    </m:r>
                    <m:r>
                      <a:rPr lang="fr-FR" sz="1200" i="1">
                        <a:solidFill>
                          <a:schemeClr val="tx1"/>
                        </a:solidFill>
                        <a:latin typeface="Cambria Math" panose="02040503050406030204" pitchFamily="18" charset="0"/>
                        <a:ea typeface="Cambria Math" panose="02040503050406030204" pitchFamily="18" charset="0"/>
                      </a:rPr>
                      <m:t>×</m:t>
                    </m:r>
                    <m:r>
                      <m:rPr>
                        <m:sty m:val="p"/>
                      </m:rPr>
                      <a:rPr lang="fr-FR" sz="1200" smtClean="0">
                        <a:solidFill>
                          <a:schemeClr val="tx1"/>
                        </a:solidFill>
                        <a:latin typeface="Cambria Math" panose="02040503050406030204" pitchFamily="18" charset="0"/>
                        <a:ea typeface="Cambria Math" panose="02040503050406030204" pitchFamily="18" charset="0"/>
                      </a:rPr>
                      <m:t>out</m:t>
                    </m:r>
                    <m:r>
                      <a:rPr lang="fr-FR" sz="1200" smtClean="0">
                        <a:solidFill>
                          <a:schemeClr val="tx1"/>
                        </a:solidFill>
                        <a:latin typeface="Cambria Math" panose="02040503050406030204" pitchFamily="18" charset="0"/>
                        <a:ea typeface="Cambria Math" panose="02040503050406030204" pitchFamily="18" charset="0"/>
                      </a:rPr>
                      <m:t>_</m:t>
                    </m:r>
                    <m:r>
                      <m:rPr>
                        <m:sty m:val="p"/>
                      </m:rPr>
                      <a:rPr lang="fr-FR" sz="1200" smtClean="0">
                        <a:solidFill>
                          <a:schemeClr val="tx1"/>
                        </a:solidFill>
                        <a:latin typeface="Cambria Math" panose="02040503050406030204" pitchFamily="18" charset="0"/>
                        <a:ea typeface="Cambria Math" panose="02040503050406030204" pitchFamily="18" charset="0"/>
                      </a:rPr>
                      <m:t>o</m:t>
                    </m:r>
                    <m:r>
                      <a:rPr lang="fr-FR" sz="1200" smtClean="0">
                        <a:solidFill>
                          <a:schemeClr val="tx1"/>
                        </a:solidFill>
                        <a:latin typeface="Cambria Math" panose="02040503050406030204" pitchFamily="18" charset="0"/>
                        <a:ea typeface="Cambria Math" panose="02040503050406030204" pitchFamily="18" charset="0"/>
                      </a:rPr>
                      <m:t>1(1−</m:t>
                    </m:r>
                    <m:r>
                      <m:rPr>
                        <m:sty m:val="p"/>
                      </m:rPr>
                      <a:rPr lang="fr-FR" sz="1200" smtClean="0">
                        <a:solidFill>
                          <a:schemeClr val="tx1"/>
                        </a:solidFill>
                        <a:latin typeface="Cambria Math" panose="02040503050406030204" pitchFamily="18" charset="0"/>
                        <a:ea typeface="Cambria Math" panose="02040503050406030204" pitchFamily="18" charset="0"/>
                      </a:rPr>
                      <m:t>out</m:t>
                    </m:r>
                    <m:r>
                      <a:rPr lang="fr-FR" sz="1200" smtClean="0">
                        <a:solidFill>
                          <a:schemeClr val="tx1"/>
                        </a:solidFill>
                        <a:latin typeface="Cambria Math" panose="02040503050406030204" pitchFamily="18" charset="0"/>
                        <a:ea typeface="Cambria Math" panose="02040503050406030204" pitchFamily="18" charset="0"/>
                      </a:rPr>
                      <m:t>_</m:t>
                    </m:r>
                    <m:r>
                      <m:rPr>
                        <m:sty m:val="p"/>
                      </m:rPr>
                      <a:rPr lang="fr-FR" sz="1200" smtClean="0">
                        <a:solidFill>
                          <a:schemeClr val="tx1"/>
                        </a:solidFill>
                        <a:latin typeface="Cambria Math" panose="02040503050406030204" pitchFamily="18" charset="0"/>
                        <a:ea typeface="Cambria Math" panose="02040503050406030204" pitchFamily="18" charset="0"/>
                      </a:rPr>
                      <m:t>o</m:t>
                    </m:r>
                    <m:r>
                      <a:rPr lang="fr-FR" sz="1200" smtClean="0">
                        <a:solidFill>
                          <a:schemeClr val="tx1"/>
                        </a:solidFill>
                        <a:latin typeface="Cambria Math" panose="02040503050406030204" pitchFamily="18" charset="0"/>
                        <a:ea typeface="Cambria Math" panose="02040503050406030204" pitchFamily="18" charset="0"/>
                      </a:rPr>
                      <m:t>1</m:t>
                    </m:r>
                    <m:r>
                      <a:rPr lang="fr-FR" sz="1200" i="1" smtClean="0">
                        <a:solidFill>
                          <a:schemeClr val="tx1"/>
                        </a:solidFill>
                        <a:latin typeface="Cambria Math" panose="02040503050406030204" pitchFamily="18" charset="0"/>
                        <a:ea typeface="Cambria Math" panose="02040503050406030204" pitchFamily="18" charset="0"/>
                      </a:rPr>
                      <m:t>)</m:t>
                    </m:r>
                    <m:r>
                      <a:rPr lang="fr-FR" sz="1200" b="0" i="1" smtClean="0">
                        <a:solidFill>
                          <a:schemeClr val="tx1"/>
                        </a:solidFill>
                        <a:latin typeface="Cambria Math" panose="02040503050406030204" pitchFamily="18" charset="0"/>
                        <a:ea typeface="Cambria Math" panose="02040503050406030204" pitchFamily="18" charset="0"/>
                      </a:rPr>
                      <m:t>×</m:t>
                    </m:r>
                    <m:r>
                      <a:rPr lang="fr-FR" sz="1200" i="1" smtClean="0">
                        <a:solidFill>
                          <a:schemeClr val="tx1"/>
                        </a:solidFill>
                        <a:latin typeface="Cambria Math" panose="02040503050406030204" pitchFamily="18" charset="0"/>
                        <a:ea typeface="Cambria Math" panose="02040503050406030204" pitchFamily="18" charset="0"/>
                      </a:rPr>
                      <m:t>𝑤</m:t>
                    </m:r>
                    <m:r>
                      <a:rPr lang="fr-FR" sz="1200" b="0" i="1" smtClean="0">
                        <a:solidFill>
                          <a:schemeClr val="tx1"/>
                        </a:solidFill>
                        <a:latin typeface="Cambria Math" panose="02040503050406030204" pitchFamily="18" charset="0"/>
                        <a:ea typeface="Cambria Math" panose="02040503050406030204" pitchFamily="18" charset="0"/>
                      </a:rPr>
                      <m:t>5</m:t>
                    </m:r>
                    <m:r>
                      <a:rPr lang="fr-FR" sz="1200">
                        <a:solidFill>
                          <a:schemeClr val="tx1"/>
                        </a:solidFill>
                        <a:latin typeface="Cambria Math" panose="02040503050406030204" pitchFamily="18" charset="0"/>
                        <a:ea typeface="Cambria Math" panose="02040503050406030204" pitchFamily="18" charset="0"/>
                      </a:rPr>
                      <m:t> </m:t>
                    </m:r>
                    <m:r>
                      <a:rPr lang="fr-FR" sz="1200" i="1">
                        <a:solidFill>
                          <a:schemeClr val="tx1"/>
                        </a:solidFill>
                        <a:latin typeface="Cambria Math" panose="02040503050406030204" pitchFamily="18" charset="0"/>
                        <a:ea typeface="Cambria Math" panose="02040503050406030204" pitchFamily="18" charset="0"/>
                      </a:rPr>
                      <m:t>×</m:t>
                    </m:r>
                  </m:oMath>
                </a14:m>
                <a:r>
                  <a:rPr lang="fr-FR" sz="1200" dirty="0">
                    <a:solidFill>
                      <a:schemeClr val="accent3">
                        <a:lumMod val="60000"/>
                        <a:lumOff val="40000"/>
                      </a:schemeClr>
                    </a:solidFill>
                    <a:latin typeface="Cambria Math" panose="02040503050406030204" pitchFamily="18" charset="0"/>
                    <a:ea typeface="Cambria Math" panose="02040503050406030204" pitchFamily="18" charset="0"/>
                  </a:rPr>
                  <a:t> </a:t>
                </a:r>
                <a14:m>
                  <m:oMath xmlns:m="http://schemas.openxmlformats.org/officeDocument/2006/math">
                    <m:sSub>
                      <m:sSubPr>
                        <m:ctrlPr>
                          <a:rPr lang="fr-FR" sz="1200" i="1" smtClean="0">
                            <a:solidFill>
                              <a:schemeClr val="accent2"/>
                            </a:solidFill>
                            <a:latin typeface="Cambria Math" panose="02040503050406030204" pitchFamily="18" charset="0"/>
                            <a:ea typeface="Cambria Math" panose="02040503050406030204" pitchFamily="18" charset="0"/>
                          </a:rPr>
                        </m:ctrlPr>
                      </m:sSubPr>
                      <m:e>
                        <m:r>
                          <a:rPr lang="fr-FR" sz="1200" b="0" i="1" smtClean="0">
                            <a:solidFill>
                              <a:schemeClr val="accent2"/>
                            </a:solidFill>
                            <a:latin typeface="Cambria Math" panose="02040503050406030204" pitchFamily="18" charset="0"/>
                            <a:ea typeface="Cambria Math" panose="02040503050406030204" pitchFamily="18" charset="0"/>
                          </a:rPr>
                          <m:t>1</m:t>
                        </m:r>
                      </m:e>
                      <m:sub>
                        <m:r>
                          <a:rPr lang="fr-FR" sz="1200" b="0" i="1" smtClean="0">
                            <a:solidFill>
                              <a:schemeClr val="accent2"/>
                            </a:solidFill>
                            <a:latin typeface="Cambria Math" panose="02040503050406030204" pitchFamily="18" charset="0"/>
                            <a:ea typeface="Cambria Math" panose="02040503050406030204" pitchFamily="18" charset="0"/>
                          </a:rPr>
                          <m:t>{</m:t>
                        </m:r>
                        <m:r>
                          <a:rPr lang="fr-FR" sz="1200" b="0" i="1" smtClean="0">
                            <a:solidFill>
                              <a:schemeClr val="accent2"/>
                            </a:solidFill>
                            <a:latin typeface="Cambria Math" panose="02040503050406030204" pitchFamily="18" charset="0"/>
                            <a:ea typeface="Cambria Math" panose="02040503050406030204" pitchFamily="18" charset="0"/>
                          </a:rPr>
                          <m:t>𝑛𝑒𝑡</m:t>
                        </m:r>
                        <m:r>
                          <a:rPr lang="fr-FR" sz="1200" b="0" i="1" smtClean="0">
                            <a:solidFill>
                              <a:schemeClr val="accent2"/>
                            </a:solidFill>
                            <a:latin typeface="Cambria Math" panose="02040503050406030204" pitchFamily="18" charset="0"/>
                            <a:ea typeface="Cambria Math" panose="02040503050406030204" pitchFamily="18" charset="0"/>
                          </a:rPr>
                          <m:t>_</m:t>
                        </m:r>
                        <m:r>
                          <a:rPr lang="fr-FR" sz="1200" b="0" i="1" smtClean="0">
                            <a:solidFill>
                              <a:schemeClr val="accent2"/>
                            </a:solidFill>
                            <a:latin typeface="Cambria Math" panose="02040503050406030204" pitchFamily="18" charset="0"/>
                            <a:ea typeface="Cambria Math" panose="02040503050406030204" pitchFamily="18" charset="0"/>
                          </a:rPr>
                          <m:t>h</m:t>
                        </m:r>
                        <m:r>
                          <a:rPr lang="fr-FR" sz="1200" b="0" i="1" smtClean="0">
                            <a:solidFill>
                              <a:schemeClr val="accent2"/>
                            </a:solidFill>
                            <a:latin typeface="Cambria Math" panose="02040503050406030204" pitchFamily="18" charset="0"/>
                            <a:ea typeface="Cambria Math" panose="02040503050406030204" pitchFamily="18" charset="0"/>
                          </a:rPr>
                          <m:t>1&gt;0}</m:t>
                        </m:r>
                      </m:sub>
                    </m:sSub>
                    <m:r>
                      <a:rPr lang="fr-FR" sz="1200" i="1">
                        <a:solidFill>
                          <a:schemeClr val="tx1"/>
                        </a:solidFill>
                        <a:latin typeface="Cambria Math" panose="02040503050406030204" pitchFamily="18" charset="0"/>
                        <a:ea typeface="Cambria Math" panose="02040503050406030204" pitchFamily="18" charset="0"/>
                      </a:rPr>
                      <m:t>×</m:t>
                    </m:r>
                    <m:f>
                      <m:fPr>
                        <m:ctrlPr>
                          <a:rPr lang="fr-FR" sz="1200" i="1">
                            <a:latin typeface="Cambria Math" panose="02040503050406030204" pitchFamily="18" charset="0"/>
                          </a:rPr>
                        </m:ctrlPr>
                      </m:fPr>
                      <m:num>
                        <m:r>
                          <a:rPr lang="fr-FR" sz="1200">
                            <a:latin typeface="Cambria Math" panose="02040503050406030204" pitchFamily="18" charset="0"/>
                          </a:rPr>
                          <m:t>𝜕</m:t>
                        </m:r>
                        <m:r>
                          <m:rPr>
                            <m:sty m:val="p"/>
                          </m:rPr>
                          <a:rPr lang="fr-FR" sz="1200">
                            <a:latin typeface="Cambria Math" panose="02040503050406030204" pitchFamily="18" charset="0"/>
                          </a:rPr>
                          <m:t>net</m:t>
                        </m:r>
                        <m:r>
                          <a:rPr lang="fr-FR" sz="1200">
                            <a:latin typeface="Cambria Math" panose="02040503050406030204" pitchFamily="18" charset="0"/>
                          </a:rPr>
                          <m:t>_</m:t>
                        </m:r>
                        <m:r>
                          <m:rPr>
                            <m:sty m:val="p"/>
                          </m:rPr>
                          <a:rPr lang="fr-FR" sz="1200">
                            <a:latin typeface="Cambria Math" panose="02040503050406030204" pitchFamily="18" charset="0"/>
                          </a:rPr>
                          <m:t>h</m:t>
                        </m:r>
                        <m:r>
                          <a:rPr lang="fr-FR" sz="1200">
                            <a:latin typeface="Cambria Math" panose="02040503050406030204" pitchFamily="18" charset="0"/>
                          </a:rPr>
                          <m:t>1</m:t>
                        </m:r>
                      </m:num>
                      <m:den>
                        <m:r>
                          <a:rPr lang="fr-FR" sz="1200">
                            <a:latin typeface="Cambria Math" panose="02040503050406030204" pitchFamily="18" charset="0"/>
                          </a:rPr>
                          <m:t>𝜕</m:t>
                        </m:r>
                        <m:r>
                          <m:rPr>
                            <m:sty m:val="p"/>
                          </m:rPr>
                          <a:rPr lang="fr-FR" sz="1200">
                            <a:latin typeface="Cambria Math" panose="02040503050406030204" pitchFamily="18" charset="0"/>
                          </a:rPr>
                          <m:t>w</m:t>
                        </m:r>
                        <m:r>
                          <a:rPr lang="fr-FR" sz="1200">
                            <a:latin typeface="Cambria Math" panose="02040503050406030204" pitchFamily="18" charset="0"/>
                          </a:rPr>
                          <m:t>1</m:t>
                        </m:r>
                      </m:den>
                    </m:f>
                  </m:oMath>
                </a14:m>
                <a:endParaRPr lang="fr-FR" sz="1200" dirty="0">
                  <a:solidFill>
                    <a:schemeClr val="accent3">
                      <a:lumMod val="60000"/>
                      <a:lumOff val="40000"/>
                    </a:schemeClr>
                  </a:solidFill>
                  <a:latin typeface="Cambria Math" panose="02040503050406030204" pitchFamily="18" charset="0"/>
                  <a:ea typeface="Cambria Math" panose="02040503050406030204" pitchFamily="18" charset="0"/>
                </a:endParaRPr>
              </a:p>
            </p:txBody>
          </p:sp>
        </mc:Choice>
        <mc:Fallback xmlns="">
          <p:sp>
            <p:nvSpPr>
              <p:cNvPr id="87" name="ZoneTexte 86">
                <a:extLst>
                  <a:ext uri="{FF2B5EF4-FFF2-40B4-BE49-F238E27FC236}">
                    <a16:creationId xmlns:a16="http://schemas.microsoft.com/office/drawing/2014/main" id="{A64249F5-F177-9195-BC66-6E8D4B10B6C2}"/>
                  </a:ext>
                </a:extLst>
              </p:cNvPr>
              <p:cNvSpPr txBox="1">
                <a:spLocks noRot="1" noChangeAspect="1" noMove="1" noResize="1" noEditPoints="1" noAdjustHandles="1" noChangeArrowheads="1" noChangeShapeType="1" noTextEdit="1"/>
              </p:cNvSpPr>
              <p:nvPr/>
            </p:nvSpPr>
            <p:spPr>
              <a:xfrm>
                <a:off x="6323853" y="4550018"/>
                <a:ext cx="5537608" cy="363882"/>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8" name="ZoneTexte 87">
                <a:extLst>
                  <a:ext uri="{FF2B5EF4-FFF2-40B4-BE49-F238E27FC236}">
                    <a16:creationId xmlns:a16="http://schemas.microsoft.com/office/drawing/2014/main" id="{A6E263DC-6A21-7213-B535-E721C0567DF5}"/>
                  </a:ext>
                </a:extLst>
              </p:cNvPr>
              <p:cNvSpPr txBox="1"/>
              <p:nvPr/>
            </p:nvSpPr>
            <p:spPr>
              <a:xfrm>
                <a:off x="6323853" y="5068175"/>
                <a:ext cx="5537608" cy="363882"/>
              </a:xfrm>
              <a:prstGeom prst="rect">
                <a:avLst/>
              </a:prstGeom>
              <a:noFill/>
            </p:spPr>
            <p:txBody>
              <a:bodyPr wrap="square" rtlCol="0">
                <a:spAutoFit/>
              </a:bodyPr>
              <a:lstStyle/>
              <a:p>
                <a14:m>
                  <m:oMath xmlns:m="http://schemas.openxmlformats.org/officeDocument/2006/math">
                    <m:f>
                      <m:fPr>
                        <m:ctrlPr>
                          <a:rPr lang="fr-FR" sz="1200" i="1" smtClean="0">
                            <a:solidFill>
                              <a:schemeClr val="tx1"/>
                            </a:solidFill>
                            <a:latin typeface="Cambria Math" panose="02040503050406030204" pitchFamily="18" charset="0"/>
                            <a:ea typeface="Cambria Math" panose="02040503050406030204" pitchFamily="18" charset="0"/>
                          </a:rPr>
                        </m:ctrlPr>
                      </m:fPr>
                      <m:num>
                        <m:r>
                          <a:rPr lang="fr-FR" sz="1200" i="0" smtClean="0">
                            <a:solidFill>
                              <a:schemeClr val="tx1"/>
                            </a:solidFill>
                            <a:latin typeface="Cambria Math" panose="02040503050406030204" pitchFamily="18" charset="0"/>
                            <a:ea typeface="Cambria Math" panose="02040503050406030204" pitchFamily="18" charset="0"/>
                          </a:rPr>
                          <m:t>𝜕</m:t>
                        </m:r>
                        <m:r>
                          <m:rPr>
                            <m:sty m:val="p"/>
                          </m:rPr>
                          <a:rPr lang="fr-FR" sz="1200" b="0" i="0" smtClean="0">
                            <a:solidFill>
                              <a:schemeClr val="tx1"/>
                            </a:solidFill>
                            <a:latin typeface="Cambria Math" panose="02040503050406030204" pitchFamily="18" charset="0"/>
                            <a:ea typeface="Cambria Math" panose="02040503050406030204" pitchFamily="18" charset="0"/>
                          </a:rPr>
                          <m:t>Loss</m:t>
                        </m:r>
                        <m:r>
                          <a:rPr lang="fr-FR" sz="1200" b="0" i="0" smtClean="0">
                            <a:solidFill>
                              <a:schemeClr val="tx1"/>
                            </a:solidFill>
                            <a:latin typeface="Cambria Math" panose="02040503050406030204" pitchFamily="18" charset="0"/>
                            <a:ea typeface="Cambria Math" panose="02040503050406030204" pitchFamily="18" charset="0"/>
                          </a:rPr>
                          <m:t>1</m:t>
                        </m:r>
                      </m:num>
                      <m:den>
                        <m:r>
                          <a:rPr lang="fr-FR" sz="1200" i="0" smtClean="0">
                            <a:solidFill>
                              <a:schemeClr val="tx1"/>
                            </a:solidFill>
                            <a:latin typeface="Cambria Math" panose="02040503050406030204" pitchFamily="18" charset="0"/>
                            <a:ea typeface="Cambria Math" panose="02040503050406030204" pitchFamily="18" charset="0"/>
                          </a:rPr>
                          <m:t>𝜕</m:t>
                        </m:r>
                        <m:r>
                          <m:rPr>
                            <m:sty m:val="p"/>
                          </m:rPr>
                          <a:rPr lang="fr-FR" sz="1200" b="0" i="0" smtClean="0">
                            <a:solidFill>
                              <a:schemeClr val="tx1"/>
                            </a:solidFill>
                            <a:latin typeface="Cambria Math" panose="02040503050406030204" pitchFamily="18" charset="0"/>
                            <a:ea typeface="Cambria Math" panose="02040503050406030204" pitchFamily="18" charset="0"/>
                          </a:rPr>
                          <m:t>w</m:t>
                        </m:r>
                        <m:r>
                          <a:rPr lang="fr-FR" sz="1200" b="0" i="0" smtClean="0">
                            <a:solidFill>
                              <a:schemeClr val="tx1"/>
                            </a:solidFill>
                            <a:latin typeface="Cambria Math" panose="02040503050406030204" pitchFamily="18" charset="0"/>
                            <a:ea typeface="Cambria Math" panose="02040503050406030204" pitchFamily="18" charset="0"/>
                          </a:rPr>
                          <m:t>1</m:t>
                        </m:r>
                      </m:den>
                    </m:f>
                    <m:r>
                      <a:rPr lang="fr-FR" sz="1200" b="0" i="0" smtClean="0">
                        <a:solidFill>
                          <a:schemeClr val="tx1"/>
                        </a:solidFill>
                        <a:latin typeface="Cambria Math" panose="02040503050406030204" pitchFamily="18" charset="0"/>
                        <a:ea typeface="Cambria Math" panose="02040503050406030204" pitchFamily="18" charset="0"/>
                      </a:rPr>
                      <m:t>=</m:t>
                    </m:r>
                    <m:r>
                      <m:rPr>
                        <m:nor/>
                      </m:rPr>
                      <a:rPr lang="fr-FR" sz="1200">
                        <a:latin typeface="Cambria Math" panose="02040503050406030204" pitchFamily="18" charset="0"/>
                      </a:rPr>
                      <m:t>−2</m:t>
                    </m:r>
                    <m:r>
                      <m:rPr>
                        <m:nor/>
                      </m:rPr>
                      <a:rPr lang="fr-FR" sz="1200" dirty="0">
                        <a:latin typeface="Cambria Math" panose="02040503050406030204" pitchFamily="18" charset="0"/>
                        <a:ea typeface="Cambria Math" panose="02040503050406030204" pitchFamily="18" charset="0"/>
                      </a:rPr>
                      <m:t>(</m:t>
                    </m:r>
                    <m:sSub>
                      <m:sSubPr>
                        <m:ctrlPr>
                          <a:rPr lang="fr-FR" sz="1200" i="1" dirty="0">
                            <a:latin typeface="Cambria Math" panose="02040503050406030204" pitchFamily="18" charset="0"/>
                            <a:ea typeface="Cambria Math" panose="02040503050406030204" pitchFamily="18" charset="0"/>
                          </a:rPr>
                        </m:ctrlPr>
                      </m:sSubPr>
                      <m:e>
                        <m:r>
                          <m:rPr>
                            <m:sty m:val="p"/>
                          </m:rPr>
                          <a:rPr lang="fr-FR" sz="1200">
                            <a:latin typeface="Cambria Math" panose="02040503050406030204" pitchFamily="18" charset="0"/>
                            <a:ea typeface="Cambria Math" panose="02040503050406030204" pitchFamily="18" charset="0"/>
                          </a:rPr>
                          <m:t>target</m:t>
                        </m:r>
                      </m:e>
                      <m:sub>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m:t>
                        </m:r>
                      </m:sub>
                    </m:sSub>
                    <m:r>
                      <a:rPr lang="fr-FR" sz="1200" i="1">
                        <a:latin typeface="Cambria Math" panose="02040503050406030204" pitchFamily="18" charset="0"/>
                        <a:ea typeface="Cambria Math" panose="02040503050406030204" pitchFamily="18" charset="0"/>
                      </a:rPr>
                      <m:t>− </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m:t>
                    </m:r>
                    <m:r>
                      <m:rPr>
                        <m:nor/>
                      </m:rPr>
                      <a:rPr lang="fr-FR" sz="1200" dirty="0">
                        <a:latin typeface="Cambria Math" panose="02040503050406030204" pitchFamily="18" charset="0"/>
                        <a:ea typeface="Cambria Math" panose="02040503050406030204" pitchFamily="18" charset="0"/>
                      </a:rPr>
                      <m:t>)</m:t>
                    </m:r>
                    <m:r>
                      <a:rPr lang="fr-FR" sz="1200" i="1">
                        <a:solidFill>
                          <a:schemeClr val="tx1"/>
                        </a:solidFill>
                        <a:latin typeface="Cambria Math" panose="02040503050406030204" pitchFamily="18" charset="0"/>
                        <a:ea typeface="Cambria Math" panose="02040503050406030204" pitchFamily="18" charset="0"/>
                      </a:rPr>
                      <m:t>×</m:t>
                    </m:r>
                    <m:r>
                      <m:rPr>
                        <m:sty m:val="p"/>
                      </m:rPr>
                      <a:rPr lang="fr-FR" sz="1200" smtClean="0">
                        <a:solidFill>
                          <a:schemeClr val="tx1"/>
                        </a:solidFill>
                        <a:latin typeface="Cambria Math" panose="02040503050406030204" pitchFamily="18" charset="0"/>
                        <a:ea typeface="Cambria Math" panose="02040503050406030204" pitchFamily="18" charset="0"/>
                      </a:rPr>
                      <m:t>out</m:t>
                    </m:r>
                    <m:r>
                      <a:rPr lang="fr-FR" sz="1200" smtClean="0">
                        <a:solidFill>
                          <a:schemeClr val="tx1"/>
                        </a:solidFill>
                        <a:latin typeface="Cambria Math" panose="02040503050406030204" pitchFamily="18" charset="0"/>
                        <a:ea typeface="Cambria Math" panose="02040503050406030204" pitchFamily="18" charset="0"/>
                      </a:rPr>
                      <m:t>_</m:t>
                    </m:r>
                    <m:r>
                      <m:rPr>
                        <m:sty m:val="p"/>
                      </m:rPr>
                      <a:rPr lang="fr-FR" sz="1200" smtClean="0">
                        <a:solidFill>
                          <a:schemeClr val="tx1"/>
                        </a:solidFill>
                        <a:latin typeface="Cambria Math" panose="02040503050406030204" pitchFamily="18" charset="0"/>
                        <a:ea typeface="Cambria Math" panose="02040503050406030204" pitchFamily="18" charset="0"/>
                      </a:rPr>
                      <m:t>o</m:t>
                    </m:r>
                    <m:r>
                      <a:rPr lang="fr-FR" sz="1200" smtClean="0">
                        <a:solidFill>
                          <a:schemeClr val="tx1"/>
                        </a:solidFill>
                        <a:latin typeface="Cambria Math" panose="02040503050406030204" pitchFamily="18" charset="0"/>
                        <a:ea typeface="Cambria Math" panose="02040503050406030204" pitchFamily="18" charset="0"/>
                      </a:rPr>
                      <m:t>1(1−</m:t>
                    </m:r>
                    <m:r>
                      <m:rPr>
                        <m:sty m:val="p"/>
                      </m:rPr>
                      <a:rPr lang="fr-FR" sz="1200" smtClean="0">
                        <a:solidFill>
                          <a:schemeClr val="tx1"/>
                        </a:solidFill>
                        <a:latin typeface="Cambria Math" panose="02040503050406030204" pitchFamily="18" charset="0"/>
                        <a:ea typeface="Cambria Math" panose="02040503050406030204" pitchFamily="18" charset="0"/>
                      </a:rPr>
                      <m:t>out</m:t>
                    </m:r>
                    <m:r>
                      <a:rPr lang="fr-FR" sz="1200" smtClean="0">
                        <a:solidFill>
                          <a:schemeClr val="tx1"/>
                        </a:solidFill>
                        <a:latin typeface="Cambria Math" panose="02040503050406030204" pitchFamily="18" charset="0"/>
                        <a:ea typeface="Cambria Math" panose="02040503050406030204" pitchFamily="18" charset="0"/>
                      </a:rPr>
                      <m:t>_</m:t>
                    </m:r>
                    <m:r>
                      <m:rPr>
                        <m:sty m:val="p"/>
                      </m:rPr>
                      <a:rPr lang="fr-FR" sz="1200" smtClean="0">
                        <a:solidFill>
                          <a:schemeClr val="tx1"/>
                        </a:solidFill>
                        <a:latin typeface="Cambria Math" panose="02040503050406030204" pitchFamily="18" charset="0"/>
                        <a:ea typeface="Cambria Math" panose="02040503050406030204" pitchFamily="18" charset="0"/>
                      </a:rPr>
                      <m:t>o</m:t>
                    </m:r>
                    <m:r>
                      <a:rPr lang="fr-FR" sz="1200" smtClean="0">
                        <a:solidFill>
                          <a:schemeClr val="tx1"/>
                        </a:solidFill>
                        <a:latin typeface="Cambria Math" panose="02040503050406030204" pitchFamily="18" charset="0"/>
                        <a:ea typeface="Cambria Math" panose="02040503050406030204" pitchFamily="18" charset="0"/>
                      </a:rPr>
                      <m:t>1</m:t>
                    </m:r>
                    <m:r>
                      <a:rPr lang="fr-FR" sz="1200" i="1" smtClean="0">
                        <a:solidFill>
                          <a:schemeClr val="tx1"/>
                        </a:solidFill>
                        <a:latin typeface="Cambria Math" panose="02040503050406030204" pitchFamily="18" charset="0"/>
                        <a:ea typeface="Cambria Math" panose="02040503050406030204" pitchFamily="18" charset="0"/>
                      </a:rPr>
                      <m:t>)</m:t>
                    </m:r>
                    <m:r>
                      <a:rPr lang="fr-FR" sz="1200" b="0" i="1" smtClean="0">
                        <a:solidFill>
                          <a:schemeClr val="tx1"/>
                        </a:solidFill>
                        <a:latin typeface="Cambria Math" panose="02040503050406030204" pitchFamily="18" charset="0"/>
                        <a:ea typeface="Cambria Math" panose="02040503050406030204" pitchFamily="18" charset="0"/>
                      </a:rPr>
                      <m:t>×</m:t>
                    </m:r>
                    <m:r>
                      <a:rPr lang="fr-FR" sz="1200" i="1" smtClean="0">
                        <a:solidFill>
                          <a:schemeClr val="tx1"/>
                        </a:solidFill>
                        <a:latin typeface="Cambria Math" panose="02040503050406030204" pitchFamily="18" charset="0"/>
                        <a:ea typeface="Cambria Math" panose="02040503050406030204" pitchFamily="18" charset="0"/>
                      </a:rPr>
                      <m:t>𝑤</m:t>
                    </m:r>
                    <m:r>
                      <a:rPr lang="fr-FR" sz="1200" b="0" i="1" smtClean="0">
                        <a:solidFill>
                          <a:schemeClr val="tx1"/>
                        </a:solidFill>
                        <a:latin typeface="Cambria Math" panose="02040503050406030204" pitchFamily="18" charset="0"/>
                        <a:ea typeface="Cambria Math" panose="02040503050406030204" pitchFamily="18" charset="0"/>
                      </a:rPr>
                      <m:t>5</m:t>
                    </m:r>
                    <m:r>
                      <a:rPr lang="fr-FR" sz="1200">
                        <a:solidFill>
                          <a:schemeClr val="tx1"/>
                        </a:solidFill>
                        <a:latin typeface="Cambria Math" panose="02040503050406030204" pitchFamily="18" charset="0"/>
                        <a:ea typeface="Cambria Math" panose="02040503050406030204" pitchFamily="18" charset="0"/>
                      </a:rPr>
                      <m:t> </m:t>
                    </m:r>
                    <m:r>
                      <a:rPr lang="fr-FR" sz="1200" i="1">
                        <a:solidFill>
                          <a:schemeClr val="tx1"/>
                        </a:solidFill>
                        <a:latin typeface="Cambria Math" panose="02040503050406030204" pitchFamily="18" charset="0"/>
                        <a:ea typeface="Cambria Math" panose="02040503050406030204" pitchFamily="18" charset="0"/>
                      </a:rPr>
                      <m:t>×</m:t>
                    </m:r>
                  </m:oMath>
                </a14:m>
                <a:r>
                  <a:rPr lang="fr-FR" sz="1200" dirty="0">
                    <a:solidFill>
                      <a:schemeClr val="tx1"/>
                    </a:solidFill>
                    <a:latin typeface="Cambria Math" panose="02040503050406030204" pitchFamily="18" charset="0"/>
                    <a:ea typeface="Cambria Math" panose="02040503050406030204" pitchFamily="18" charset="0"/>
                  </a:rPr>
                  <a:t> </a:t>
                </a:r>
                <a14:m>
                  <m:oMath xmlns:m="http://schemas.openxmlformats.org/officeDocument/2006/math">
                    <m:sSub>
                      <m:sSubPr>
                        <m:ctrlPr>
                          <a:rPr lang="fr-FR" sz="1200" i="1" smtClean="0">
                            <a:solidFill>
                              <a:schemeClr val="tx1"/>
                            </a:solidFill>
                            <a:latin typeface="Cambria Math" panose="02040503050406030204" pitchFamily="18" charset="0"/>
                            <a:ea typeface="Cambria Math" panose="02040503050406030204" pitchFamily="18" charset="0"/>
                          </a:rPr>
                        </m:ctrlPr>
                      </m:sSubPr>
                      <m:e>
                        <m:r>
                          <a:rPr lang="fr-FR" sz="1200" b="0" i="1" smtClean="0">
                            <a:solidFill>
                              <a:schemeClr val="tx1"/>
                            </a:solidFill>
                            <a:latin typeface="Cambria Math" panose="02040503050406030204" pitchFamily="18" charset="0"/>
                            <a:ea typeface="Cambria Math" panose="02040503050406030204" pitchFamily="18" charset="0"/>
                          </a:rPr>
                          <m:t>1</m:t>
                        </m:r>
                      </m:e>
                      <m:sub>
                        <m:r>
                          <a:rPr lang="fr-FR" sz="1200" b="0" i="1" smtClean="0">
                            <a:solidFill>
                              <a:schemeClr val="tx1"/>
                            </a:solidFill>
                            <a:latin typeface="Cambria Math" panose="02040503050406030204" pitchFamily="18" charset="0"/>
                            <a:ea typeface="Cambria Math" panose="02040503050406030204" pitchFamily="18" charset="0"/>
                          </a:rPr>
                          <m:t>{</m:t>
                        </m:r>
                        <m:r>
                          <a:rPr lang="fr-FR" sz="1200" b="0" i="1" smtClean="0">
                            <a:solidFill>
                              <a:schemeClr val="tx1"/>
                            </a:solidFill>
                            <a:latin typeface="Cambria Math" panose="02040503050406030204" pitchFamily="18" charset="0"/>
                            <a:ea typeface="Cambria Math" panose="02040503050406030204" pitchFamily="18" charset="0"/>
                          </a:rPr>
                          <m:t>𝑛𝑒𝑡</m:t>
                        </m:r>
                        <m:r>
                          <a:rPr lang="fr-FR" sz="1200" b="0" i="1" smtClean="0">
                            <a:solidFill>
                              <a:schemeClr val="tx1"/>
                            </a:solidFill>
                            <a:latin typeface="Cambria Math" panose="02040503050406030204" pitchFamily="18" charset="0"/>
                            <a:ea typeface="Cambria Math" panose="02040503050406030204" pitchFamily="18" charset="0"/>
                          </a:rPr>
                          <m:t>_</m:t>
                        </m:r>
                        <m:r>
                          <a:rPr lang="fr-FR" sz="1200" b="0" i="1" smtClean="0">
                            <a:solidFill>
                              <a:schemeClr val="tx1"/>
                            </a:solidFill>
                            <a:latin typeface="Cambria Math" panose="02040503050406030204" pitchFamily="18" charset="0"/>
                            <a:ea typeface="Cambria Math" panose="02040503050406030204" pitchFamily="18" charset="0"/>
                          </a:rPr>
                          <m:t>h</m:t>
                        </m:r>
                        <m:r>
                          <a:rPr lang="fr-FR" sz="1200" b="0" i="1" smtClean="0">
                            <a:solidFill>
                              <a:schemeClr val="tx1"/>
                            </a:solidFill>
                            <a:latin typeface="Cambria Math" panose="02040503050406030204" pitchFamily="18" charset="0"/>
                            <a:ea typeface="Cambria Math" panose="02040503050406030204" pitchFamily="18" charset="0"/>
                          </a:rPr>
                          <m:t>1&gt;0}</m:t>
                        </m:r>
                      </m:sub>
                    </m:sSub>
                    <m:r>
                      <a:rPr lang="fr-FR" sz="1200" i="1">
                        <a:solidFill>
                          <a:schemeClr val="tx1"/>
                        </a:solidFill>
                        <a:latin typeface="Cambria Math" panose="02040503050406030204" pitchFamily="18" charset="0"/>
                        <a:ea typeface="Cambria Math" panose="02040503050406030204" pitchFamily="18" charset="0"/>
                      </a:rPr>
                      <m:t>×</m:t>
                    </m:r>
                    <m:f>
                      <m:fPr>
                        <m:ctrlPr>
                          <a:rPr lang="fr-FR" sz="1200" i="1" smtClean="0">
                            <a:solidFill>
                              <a:schemeClr val="accent2"/>
                            </a:solidFill>
                            <a:latin typeface="Cambria Math" panose="02040503050406030204" pitchFamily="18" charset="0"/>
                          </a:rPr>
                        </m:ctrlPr>
                      </m:fPr>
                      <m:num>
                        <m:r>
                          <a:rPr lang="fr-FR" sz="1200">
                            <a:solidFill>
                              <a:schemeClr val="accent2"/>
                            </a:solidFill>
                            <a:latin typeface="Cambria Math" panose="02040503050406030204" pitchFamily="18" charset="0"/>
                          </a:rPr>
                          <m:t>𝜕</m:t>
                        </m:r>
                        <m:r>
                          <m:rPr>
                            <m:sty m:val="p"/>
                          </m:rPr>
                          <a:rPr lang="fr-FR" sz="1200">
                            <a:solidFill>
                              <a:schemeClr val="accent2"/>
                            </a:solidFill>
                            <a:latin typeface="Cambria Math" panose="02040503050406030204" pitchFamily="18" charset="0"/>
                          </a:rPr>
                          <m:t>net</m:t>
                        </m:r>
                        <m:r>
                          <a:rPr lang="fr-FR" sz="1200">
                            <a:solidFill>
                              <a:schemeClr val="accent2"/>
                            </a:solidFill>
                            <a:latin typeface="Cambria Math" panose="02040503050406030204" pitchFamily="18" charset="0"/>
                          </a:rPr>
                          <m:t>_</m:t>
                        </m:r>
                        <m:r>
                          <m:rPr>
                            <m:sty m:val="p"/>
                          </m:rPr>
                          <a:rPr lang="fr-FR" sz="1200">
                            <a:solidFill>
                              <a:schemeClr val="accent2"/>
                            </a:solidFill>
                            <a:latin typeface="Cambria Math" panose="02040503050406030204" pitchFamily="18" charset="0"/>
                          </a:rPr>
                          <m:t>h</m:t>
                        </m:r>
                        <m:r>
                          <a:rPr lang="fr-FR" sz="1200">
                            <a:solidFill>
                              <a:schemeClr val="accent2"/>
                            </a:solidFill>
                            <a:latin typeface="Cambria Math" panose="02040503050406030204" pitchFamily="18" charset="0"/>
                          </a:rPr>
                          <m:t>1</m:t>
                        </m:r>
                      </m:num>
                      <m:den>
                        <m:r>
                          <a:rPr lang="fr-FR" sz="1200">
                            <a:solidFill>
                              <a:schemeClr val="accent2"/>
                            </a:solidFill>
                            <a:latin typeface="Cambria Math" panose="02040503050406030204" pitchFamily="18" charset="0"/>
                          </a:rPr>
                          <m:t>𝜕</m:t>
                        </m:r>
                        <m:r>
                          <m:rPr>
                            <m:sty m:val="p"/>
                          </m:rPr>
                          <a:rPr lang="fr-FR" sz="1200">
                            <a:solidFill>
                              <a:schemeClr val="accent2"/>
                            </a:solidFill>
                            <a:latin typeface="Cambria Math" panose="02040503050406030204" pitchFamily="18" charset="0"/>
                          </a:rPr>
                          <m:t>w</m:t>
                        </m:r>
                        <m:r>
                          <a:rPr lang="fr-FR" sz="1200">
                            <a:solidFill>
                              <a:schemeClr val="accent2"/>
                            </a:solidFill>
                            <a:latin typeface="Cambria Math" panose="02040503050406030204" pitchFamily="18" charset="0"/>
                          </a:rPr>
                          <m:t>1</m:t>
                        </m:r>
                      </m:den>
                    </m:f>
                  </m:oMath>
                </a14:m>
                <a:endParaRPr lang="fr-FR" sz="1200" dirty="0">
                  <a:solidFill>
                    <a:schemeClr val="tx1"/>
                  </a:solidFill>
                  <a:latin typeface="Cambria Math" panose="02040503050406030204" pitchFamily="18" charset="0"/>
                  <a:ea typeface="Cambria Math" panose="02040503050406030204" pitchFamily="18" charset="0"/>
                </a:endParaRPr>
              </a:p>
            </p:txBody>
          </p:sp>
        </mc:Choice>
        <mc:Fallback xmlns="">
          <p:sp>
            <p:nvSpPr>
              <p:cNvPr id="88" name="ZoneTexte 87">
                <a:extLst>
                  <a:ext uri="{FF2B5EF4-FFF2-40B4-BE49-F238E27FC236}">
                    <a16:creationId xmlns:a16="http://schemas.microsoft.com/office/drawing/2014/main" id="{A6E263DC-6A21-7213-B535-E721C0567DF5}"/>
                  </a:ext>
                </a:extLst>
              </p:cNvPr>
              <p:cNvSpPr txBox="1">
                <a:spLocks noRot="1" noChangeAspect="1" noMove="1" noResize="1" noEditPoints="1" noAdjustHandles="1" noChangeArrowheads="1" noChangeShapeType="1" noTextEdit="1"/>
              </p:cNvSpPr>
              <p:nvPr/>
            </p:nvSpPr>
            <p:spPr>
              <a:xfrm>
                <a:off x="6323853" y="5068175"/>
                <a:ext cx="5537608" cy="363882"/>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9" name="ZoneTexte 88">
                <a:extLst>
                  <a:ext uri="{FF2B5EF4-FFF2-40B4-BE49-F238E27FC236}">
                    <a16:creationId xmlns:a16="http://schemas.microsoft.com/office/drawing/2014/main" id="{81367251-D32C-6047-8E1E-42679C2E4E72}"/>
                  </a:ext>
                </a:extLst>
              </p:cNvPr>
              <p:cNvSpPr txBox="1"/>
              <p:nvPr/>
            </p:nvSpPr>
            <p:spPr>
              <a:xfrm>
                <a:off x="814754" y="4494132"/>
                <a:ext cx="5053393" cy="363882"/>
              </a:xfrm>
              <a:prstGeom prst="rect">
                <a:avLst/>
              </a:prstGeom>
              <a:noFill/>
              <a:ln>
                <a:solidFill>
                  <a:srgbClr val="FF0000"/>
                </a:solidFill>
              </a:ln>
            </p:spPr>
            <p:txBody>
              <a:bodyPr wrap="square" rtlCol="0">
                <a:spAutoFit/>
              </a:bodyPr>
              <a:lstStyle/>
              <a:p>
                <a14:m>
                  <m:oMath xmlns:m="http://schemas.openxmlformats.org/officeDocument/2006/math">
                    <m:f>
                      <m:fPr>
                        <m:ctrlPr>
                          <a:rPr lang="fr-FR" sz="1200" i="1" smtClean="0">
                            <a:solidFill>
                              <a:schemeClr val="tx1"/>
                            </a:solidFill>
                            <a:latin typeface="Cambria Math" panose="02040503050406030204" pitchFamily="18" charset="0"/>
                            <a:ea typeface="Cambria Math" panose="02040503050406030204" pitchFamily="18" charset="0"/>
                          </a:rPr>
                        </m:ctrlPr>
                      </m:fPr>
                      <m:num>
                        <m:r>
                          <a:rPr lang="fr-FR" sz="1200" i="0" smtClean="0">
                            <a:solidFill>
                              <a:schemeClr val="tx1"/>
                            </a:solidFill>
                            <a:latin typeface="Cambria Math" panose="02040503050406030204" pitchFamily="18" charset="0"/>
                            <a:ea typeface="Cambria Math" panose="02040503050406030204" pitchFamily="18" charset="0"/>
                          </a:rPr>
                          <m:t>𝜕</m:t>
                        </m:r>
                        <m:r>
                          <m:rPr>
                            <m:sty m:val="p"/>
                          </m:rPr>
                          <a:rPr lang="fr-FR" sz="1200" b="0" i="0" smtClean="0">
                            <a:solidFill>
                              <a:schemeClr val="tx1"/>
                            </a:solidFill>
                            <a:latin typeface="Cambria Math" panose="02040503050406030204" pitchFamily="18" charset="0"/>
                            <a:ea typeface="Cambria Math" panose="02040503050406030204" pitchFamily="18" charset="0"/>
                          </a:rPr>
                          <m:t>Loss</m:t>
                        </m:r>
                        <m:r>
                          <a:rPr lang="fr-FR" sz="1200" b="0" i="0" smtClean="0">
                            <a:solidFill>
                              <a:schemeClr val="tx1"/>
                            </a:solidFill>
                            <a:latin typeface="Cambria Math" panose="02040503050406030204" pitchFamily="18" charset="0"/>
                            <a:ea typeface="Cambria Math" panose="02040503050406030204" pitchFamily="18" charset="0"/>
                          </a:rPr>
                          <m:t>1</m:t>
                        </m:r>
                      </m:num>
                      <m:den>
                        <m:r>
                          <a:rPr lang="fr-FR" sz="1200" i="0" smtClean="0">
                            <a:solidFill>
                              <a:schemeClr val="tx1"/>
                            </a:solidFill>
                            <a:latin typeface="Cambria Math" panose="02040503050406030204" pitchFamily="18" charset="0"/>
                            <a:ea typeface="Cambria Math" panose="02040503050406030204" pitchFamily="18" charset="0"/>
                          </a:rPr>
                          <m:t>𝜕</m:t>
                        </m:r>
                        <m:r>
                          <m:rPr>
                            <m:sty m:val="p"/>
                          </m:rPr>
                          <a:rPr lang="fr-FR" sz="1200" b="0" i="0" smtClean="0">
                            <a:solidFill>
                              <a:schemeClr val="tx1"/>
                            </a:solidFill>
                            <a:latin typeface="Cambria Math" panose="02040503050406030204" pitchFamily="18" charset="0"/>
                            <a:ea typeface="Cambria Math" panose="02040503050406030204" pitchFamily="18" charset="0"/>
                          </a:rPr>
                          <m:t>w</m:t>
                        </m:r>
                        <m:r>
                          <a:rPr lang="fr-FR" sz="1200" b="0" i="0" smtClean="0">
                            <a:solidFill>
                              <a:schemeClr val="tx1"/>
                            </a:solidFill>
                            <a:latin typeface="Cambria Math" panose="02040503050406030204" pitchFamily="18" charset="0"/>
                            <a:ea typeface="Cambria Math" panose="02040503050406030204" pitchFamily="18" charset="0"/>
                          </a:rPr>
                          <m:t>1</m:t>
                        </m:r>
                      </m:den>
                    </m:f>
                    <m:r>
                      <a:rPr lang="fr-FR" sz="1200" b="0" i="0" smtClean="0">
                        <a:solidFill>
                          <a:schemeClr val="tx1"/>
                        </a:solidFill>
                        <a:latin typeface="Cambria Math" panose="02040503050406030204" pitchFamily="18" charset="0"/>
                        <a:ea typeface="Cambria Math" panose="02040503050406030204" pitchFamily="18" charset="0"/>
                      </a:rPr>
                      <m:t>=</m:t>
                    </m:r>
                    <m:r>
                      <m:rPr>
                        <m:nor/>
                      </m:rPr>
                      <a:rPr lang="fr-FR" sz="1200">
                        <a:latin typeface="Cambria Math" panose="02040503050406030204" pitchFamily="18" charset="0"/>
                      </a:rPr>
                      <m:t>−2</m:t>
                    </m:r>
                    <m:r>
                      <m:rPr>
                        <m:nor/>
                      </m:rPr>
                      <a:rPr lang="fr-FR" sz="1200" dirty="0">
                        <a:latin typeface="Cambria Math" panose="02040503050406030204" pitchFamily="18" charset="0"/>
                        <a:ea typeface="Cambria Math" panose="02040503050406030204" pitchFamily="18" charset="0"/>
                      </a:rPr>
                      <m:t>(</m:t>
                    </m:r>
                    <m:sSub>
                      <m:sSubPr>
                        <m:ctrlPr>
                          <a:rPr lang="fr-FR" sz="1200" i="1" dirty="0">
                            <a:latin typeface="Cambria Math" panose="02040503050406030204" pitchFamily="18" charset="0"/>
                            <a:ea typeface="Cambria Math" panose="02040503050406030204" pitchFamily="18" charset="0"/>
                          </a:rPr>
                        </m:ctrlPr>
                      </m:sSubPr>
                      <m:e>
                        <m:r>
                          <m:rPr>
                            <m:sty m:val="p"/>
                          </m:rPr>
                          <a:rPr lang="fr-FR" sz="1200">
                            <a:latin typeface="Cambria Math" panose="02040503050406030204" pitchFamily="18" charset="0"/>
                            <a:ea typeface="Cambria Math" panose="02040503050406030204" pitchFamily="18" charset="0"/>
                          </a:rPr>
                          <m:t>target</m:t>
                        </m:r>
                      </m:e>
                      <m:sub>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m:t>
                        </m:r>
                      </m:sub>
                    </m:sSub>
                    <m:r>
                      <a:rPr lang="fr-FR" sz="1200" i="1">
                        <a:latin typeface="Cambria Math" panose="02040503050406030204" pitchFamily="18" charset="0"/>
                        <a:ea typeface="Cambria Math" panose="02040503050406030204" pitchFamily="18" charset="0"/>
                      </a:rPr>
                      <m:t>− </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m:t>
                    </m:r>
                    <m:r>
                      <m:rPr>
                        <m:nor/>
                      </m:rPr>
                      <a:rPr lang="fr-FR" sz="1200" dirty="0">
                        <a:latin typeface="Cambria Math" panose="02040503050406030204" pitchFamily="18" charset="0"/>
                        <a:ea typeface="Cambria Math" panose="02040503050406030204" pitchFamily="18" charset="0"/>
                      </a:rPr>
                      <m:t>)</m:t>
                    </m:r>
                    <m:r>
                      <a:rPr lang="fr-FR" sz="1200" i="1">
                        <a:solidFill>
                          <a:schemeClr val="tx1"/>
                        </a:solidFill>
                        <a:latin typeface="Cambria Math" panose="02040503050406030204" pitchFamily="18" charset="0"/>
                        <a:ea typeface="Cambria Math" panose="02040503050406030204" pitchFamily="18" charset="0"/>
                      </a:rPr>
                      <m:t>×</m:t>
                    </m:r>
                    <m:r>
                      <m:rPr>
                        <m:sty m:val="p"/>
                      </m:rPr>
                      <a:rPr lang="fr-FR" sz="1200" smtClean="0">
                        <a:solidFill>
                          <a:schemeClr val="tx1"/>
                        </a:solidFill>
                        <a:latin typeface="Cambria Math" panose="02040503050406030204" pitchFamily="18" charset="0"/>
                        <a:ea typeface="Cambria Math" panose="02040503050406030204" pitchFamily="18" charset="0"/>
                      </a:rPr>
                      <m:t>out</m:t>
                    </m:r>
                    <m:r>
                      <a:rPr lang="fr-FR" sz="1200" smtClean="0">
                        <a:solidFill>
                          <a:schemeClr val="tx1"/>
                        </a:solidFill>
                        <a:latin typeface="Cambria Math" panose="02040503050406030204" pitchFamily="18" charset="0"/>
                        <a:ea typeface="Cambria Math" panose="02040503050406030204" pitchFamily="18" charset="0"/>
                      </a:rPr>
                      <m:t>_</m:t>
                    </m:r>
                    <m:r>
                      <m:rPr>
                        <m:sty m:val="p"/>
                      </m:rPr>
                      <a:rPr lang="fr-FR" sz="1200" smtClean="0">
                        <a:solidFill>
                          <a:schemeClr val="tx1"/>
                        </a:solidFill>
                        <a:latin typeface="Cambria Math" panose="02040503050406030204" pitchFamily="18" charset="0"/>
                        <a:ea typeface="Cambria Math" panose="02040503050406030204" pitchFamily="18" charset="0"/>
                      </a:rPr>
                      <m:t>o</m:t>
                    </m:r>
                    <m:r>
                      <a:rPr lang="fr-FR" sz="1200" smtClean="0">
                        <a:solidFill>
                          <a:schemeClr val="tx1"/>
                        </a:solidFill>
                        <a:latin typeface="Cambria Math" panose="02040503050406030204" pitchFamily="18" charset="0"/>
                        <a:ea typeface="Cambria Math" panose="02040503050406030204" pitchFamily="18" charset="0"/>
                      </a:rPr>
                      <m:t>1(1−</m:t>
                    </m:r>
                    <m:r>
                      <m:rPr>
                        <m:sty m:val="p"/>
                      </m:rPr>
                      <a:rPr lang="fr-FR" sz="1200" smtClean="0">
                        <a:solidFill>
                          <a:schemeClr val="tx1"/>
                        </a:solidFill>
                        <a:latin typeface="Cambria Math" panose="02040503050406030204" pitchFamily="18" charset="0"/>
                        <a:ea typeface="Cambria Math" panose="02040503050406030204" pitchFamily="18" charset="0"/>
                      </a:rPr>
                      <m:t>out</m:t>
                    </m:r>
                    <m:r>
                      <a:rPr lang="fr-FR" sz="1200" smtClean="0">
                        <a:solidFill>
                          <a:schemeClr val="tx1"/>
                        </a:solidFill>
                        <a:latin typeface="Cambria Math" panose="02040503050406030204" pitchFamily="18" charset="0"/>
                        <a:ea typeface="Cambria Math" panose="02040503050406030204" pitchFamily="18" charset="0"/>
                      </a:rPr>
                      <m:t>_</m:t>
                    </m:r>
                    <m:r>
                      <m:rPr>
                        <m:sty m:val="p"/>
                      </m:rPr>
                      <a:rPr lang="fr-FR" sz="1200" smtClean="0">
                        <a:solidFill>
                          <a:schemeClr val="tx1"/>
                        </a:solidFill>
                        <a:latin typeface="Cambria Math" panose="02040503050406030204" pitchFamily="18" charset="0"/>
                        <a:ea typeface="Cambria Math" panose="02040503050406030204" pitchFamily="18" charset="0"/>
                      </a:rPr>
                      <m:t>o</m:t>
                    </m:r>
                    <m:r>
                      <a:rPr lang="fr-FR" sz="1200" smtClean="0">
                        <a:solidFill>
                          <a:schemeClr val="tx1"/>
                        </a:solidFill>
                        <a:latin typeface="Cambria Math" panose="02040503050406030204" pitchFamily="18" charset="0"/>
                        <a:ea typeface="Cambria Math" panose="02040503050406030204" pitchFamily="18" charset="0"/>
                      </a:rPr>
                      <m:t>1</m:t>
                    </m:r>
                    <m:r>
                      <a:rPr lang="fr-FR" sz="1200" i="1" smtClean="0">
                        <a:solidFill>
                          <a:schemeClr val="tx1"/>
                        </a:solidFill>
                        <a:latin typeface="Cambria Math" panose="02040503050406030204" pitchFamily="18" charset="0"/>
                        <a:ea typeface="Cambria Math" panose="02040503050406030204" pitchFamily="18" charset="0"/>
                      </a:rPr>
                      <m:t>)</m:t>
                    </m:r>
                    <m:r>
                      <a:rPr lang="fr-FR" sz="1200" b="0" i="1" smtClean="0">
                        <a:solidFill>
                          <a:schemeClr val="tx1"/>
                        </a:solidFill>
                        <a:latin typeface="Cambria Math" panose="02040503050406030204" pitchFamily="18" charset="0"/>
                        <a:ea typeface="Cambria Math" panose="02040503050406030204" pitchFamily="18" charset="0"/>
                      </a:rPr>
                      <m:t>×</m:t>
                    </m:r>
                    <m:r>
                      <a:rPr lang="fr-FR" sz="1200" i="1" smtClean="0">
                        <a:solidFill>
                          <a:schemeClr val="tx1"/>
                        </a:solidFill>
                        <a:latin typeface="Cambria Math" panose="02040503050406030204" pitchFamily="18" charset="0"/>
                        <a:ea typeface="Cambria Math" panose="02040503050406030204" pitchFamily="18" charset="0"/>
                      </a:rPr>
                      <m:t>𝑤</m:t>
                    </m:r>
                    <m:r>
                      <a:rPr lang="fr-FR" sz="1200" b="0" i="1" smtClean="0">
                        <a:solidFill>
                          <a:schemeClr val="tx1"/>
                        </a:solidFill>
                        <a:latin typeface="Cambria Math" panose="02040503050406030204" pitchFamily="18" charset="0"/>
                        <a:ea typeface="Cambria Math" panose="02040503050406030204" pitchFamily="18" charset="0"/>
                      </a:rPr>
                      <m:t>5</m:t>
                    </m:r>
                    <m:r>
                      <a:rPr lang="fr-FR" sz="1200">
                        <a:solidFill>
                          <a:schemeClr val="tx1"/>
                        </a:solidFill>
                        <a:latin typeface="Cambria Math" panose="02040503050406030204" pitchFamily="18" charset="0"/>
                        <a:ea typeface="Cambria Math" panose="02040503050406030204" pitchFamily="18" charset="0"/>
                      </a:rPr>
                      <m:t> </m:t>
                    </m:r>
                    <m:r>
                      <a:rPr lang="fr-FR" sz="1200" i="1">
                        <a:solidFill>
                          <a:schemeClr val="tx1"/>
                        </a:solidFill>
                        <a:latin typeface="Cambria Math" panose="02040503050406030204" pitchFamily="18" charset="0"/>
                        <a:ea typeface="Cambria Math" panose="02040503050406030204" pitchFamily="18" charset="0"/>
                      </a:rPr>
                      <m:t>×</m:t>
                    </m:r>
                  </m:oMath>
                </a14:m>
                <a:r>
                  <a:rPr lang="fr-FR" sz="1200" dirty="0">
                    <a:solidFill>
                      <a:schemeClr val="tx1"/>
                    </a:solidFill>
                    <a:latin typeface="Cambria Math" panose="02040503050406030204" pitchFamily="18" charset="0"/>
                    <a:ea typeface="Cambria Math" panose="02040503050406030204" pitchFamily="18" charset="0"/>
                  </a:rPr>
                  <a:t> </a:t>
                </a:r>
                <a14:m>
                  <m:oMath xmlns:m="http://schemas.openxmlformats.org/officeDocument/2006/math">
                    <m:sSub>
                      <m:sSubPr>
                        <m:ctrlPr>
                          <a:rPr lang="fr-FR" sz="1200" i="1" smtClean="0">
                            <a:solidFill>
                              <a:schemeClr val="tx1"/>
                            </a:solidFill>
                            <a:latin typeface="Cambria Math" panose="02040503050406030204" pitchFamily="18" charset="0"/>
                            <a:ea typeface="Cambria Math" panose="02040503050406030204" pitchFamily="18" charset="0"/>
                          </a:rPr>
                        </m:ctrlPr>
                      </m:sSubPr>
                      <m:e>
                        <m:r>
                          <a:rPr lang="fr-FR" sz="1200" b="0" i="1" smtClean="0">
                            <a:solidFill>
                              <a:schemeClr val="tx1"/>
                            </a:solidFill>
                            <a:latin typeface="Cambria Math" panose="02040503050406030204" pitchFamily="18" charset="0"/>
                            <a:ea typeface="Cambria Math" panose="02040503050406030204" pitchFamily="18" charset="0"/>
                          </a:rPr>
                          <m:t>1</m:t>
                        </m:r>
                      </m:e>
                      <m:sub>
                        <m:r>
                          <a:rPr lang="fr-FR" sz="1200" b="0" i="1" smtClean="0">
                            <a:solidFill>
                              <a:schemeClr val="tx1"/>
                            </a:solidFill>
                            <a:latin typeface="Cambria Math" panose="02040503050406030204" pitchFamily="18" charset="0"/>
                            <a:ea typeface="Cambria Math" panose="02040503050406030204" pitchFamily="18" charset="0"/>
                          </a:rPr>
                          <m:t>{</m:t>
                        </m:r>
                        <m:r>
                          <a:rPr lang="fr-FR" sz="1200" b="0" i="1" smtClean="0">
                            <a:solidFill>
                              <a:schemeClr val="tx1"/>
                            </a:solidFill>
                            <a:latin typeface="Cambria Math" panose="02040503050406030204" pitchFamily="18" charset="0"/>
                            <a:ea typeface="Cambria Math" panose="02040503050406030204" pitchFamily="18" charset="0"/>
                          </a:rPr>
                          <m:t>𝑛𝑒𝑡</m:t>
                        </m:r>
                        <m:r>
                          <a:rPr lang="fr-FR" sz="1200" b="0" i="1" smtClean="0">
                            <a:solidFill>
                              <a:schemeClr val="tx1"/>
                            </a:solidFill>
                            <a:latin typeface="Cambria Math" panose="02040503050406030204" pitchFamily="18" charset="0"/>
                            <a:ea typeface="Cambria Math" panose="02040503050406030204" pitchFamily="18" charset="0"/>
                          </a:rPr>
                          <m:t>_</m:t>
                        </m:r>
                        <m:r>
                          <a:rPr lang="fr-FR" sz="1200" b="0" i="1" smtClean="0">
                            <a:solidFill>
                              <a:schemeClr val="tx1"/>
                            </a:solidFill>
                            <a:latin typeface="Cambria Math" panose="02040503050406030204" pitchFamily="18" charset="0"/>
                            <a:ea typeface="Cambria Math" panose="02040503050406030204" pitchFamily="18" charset="0"/>
                          </a:rPr>
                          <m:t>h</m:t>
                        </m:r>
                        <m:r>
                          <a:rPr lang="fr-FR" sz="1200" b="0" i="1" smtClean="0">
                            <a:solidFill>
                              <a:schemeClr val="tx1"/>
                            </a:solidFill>
                            <a:latin typeface="Cambria Math" panose="02040503050406030204" pitchFamily="18" charset="0"/>
                            <a:ea typeface="Cambria Math" panose="02040503050406030204" pitchFamily="18" charset="0"/>
                          </a:rPr>
                          <m:t>1&gt;0}</m:t>
                        </m:r>
                      </m:sub>
                    </m:sSub>
                    <m:r>
                      <a:rPr lang="fr-FR" sz="1200" i="1">
                        <a:solidFill>
                          <a:schemeClr val="tx1"/>
                        </a:solidFill>
                        <a:latin typeface="Cambria Math" panose="02040503050406030204" pitchFamily="18" charset="0"/>
                        <a:ea typeface="Cambria Math" panose="02040503050406030204" pitchFamily="18" charset="0"/>
                      </a:rPr>
                      <m:t>×</m:t>
                    </m:r>
                    <m:r>
                      <m:rPr>
                        <m:sty m:val="p"/>
                      </m:rPr>
                      <a:rPr lang="fr-FR" sz="1200" b="0" i="0" smtClean="0">
                        <a:solidFill>
                          <a:schemeClr val="tx1"/>
                        </a:solidFill>
                        <a:latin typeface="Cambria Math" panose="02040503050406030204" pitchFamily="18" charset="0"/>
                        <a:ea typeface="Cambria Math" panose="02040503050406030204" pitchFamily="18" charset="0"/>
                      </a:rPr>
                      <m:t>i</m:t>
                    </m:r>
                    <m:r>
                      <a:rPr lang="fr-FR" sz="1200" b="0" i="0" smtClean="0">
                        <a:solidFill>
                          <a:schemeClr val="tx1"/>
                        </a:solidFill>
                        <a:latin typeface="Cambria Math" panose="02040503050406030204" pitchFamily="18" charset="0"/>
                        <a:ea typeface="Cambria Math" panose="02040503050406030204" pitchFamily="18" charset="0"/>
                      </a:rPr>
                      <m:t>1</m:t>
                    </m:r>
                  </m:oMath>
                </a14:m>
                <a:endParaRPr lang="fr-FR" sz="1200" dirty="0">
                  <a:solidFill>
                    <a:schemeClr val="tx1"/>
                  </a:solidFill>
                  <a:latin typeface="Cambria Math" panose="02040503050406030204" pitchFamily="18" charset="0"/>
                  <a:ea typeface="Cambria Math" panose="02040503050406030204" pitchFamily="18" charset="0"/>
                </a:endParaRPr>
              </a:p>
            </p:txBody>
          </p:sp>
        </mc:Choice>
        <mc:Fallback xmlns="">
          <p:sp>
            <p:nvSpPr>
              <p:cNvPr id="89" name="ZoneTexte 88">
                <a:extLst>
                  <a:ext uri="{FF2B5EF4-FFF2-40B4-BE49-F238E27FC236}">
                    <a16:creationId xmlns:a16="http://schemas.microsoft.com/office/drawing/2014/main" id="{81367251-D32C-6047-8E1E-42679C2E4E72}"/>
                  </a:ext>
                </a:extLst>
              </p:cNvPr>
              <p:cNvSpPr txBox="1">
                <a:spLocks noRot="1" noChangeAspect="1" noMove="1" noResize="1" noEditPoints="1" noAdjustHandles="1" noChangeArrowheads="1" noChangeShapeType="1" noTextEdit="1"/>
              </p:cNvSpPr>
              <p:nvPr/>
            </p:nvSpPr>
            <p:spPr>
              <a:xfrm>
                <a:off x="814754" y="4494132"/>
                <a:ext cx="5053393" cy="363882"/>
              </a:xfrm>
              <a:prstGeom prst="rect">
                <a:avLst/>
              </a:prstGeom>
              <a:blipFill>
                <a:blip r:embed="rId11"/>
                <a:stretch>
                  <a:fillRect/>
                </a:stretch>
              </a:blipFill>
              <a:ln>
                <a:solidFill>
                  <a:srgbClr val="FF0000"/>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1" name="ZoneTexte 90">
                <a:extLst>
                  <a:ext uri="{FF2B5EF4-FFF2-40B4-BE49-F238E27FC236}">
                    <a16:creationId xmlns:a16="http://schemas.microsoft.com/office/drawing/2014/main" id="{14A39B38-D905-CC68-632A-E12B3EDF792A}"/>
                  </a:ext>
                </a:extLst>
              </p:cNvPr>
              <p:cNvSpPr txBox="1"/>
              <p:nvPr/>
            </p:nvSpPr>
            <p:spPr>
              <a:xfrm>
                <a:off x="801070" y="5211764"/>
                <a:ext cx="5028766" cy="363882"/>
              </a:xfrm>
              <a:prstGeom prst="rect">
                <a:avLst/>
              </a:prstGeom>
              <a:noFill/>
              <a:ln>
                <a:solidFill>
                  <a:srgbClr val="FF0000"/>
                </a:solidFill>
              </a:ln>
            </p:spPr>
            <p:txBody>
              <a:bodyPr wrap="square" rtlCol="0">
                <a:spAutoFit/>
              </a:bodyPr>
              <a:lstStyle/>
              <a:p>
                <a14:m>
                  <m:oMath xmlns:m="http://schemas.openxmlformats.org/officeDocument/2006/math">
                    <m:f>
                      <m:fPr>
                        <m:ctrlPr>
                          <a:rPr lang="fr-FR" sz="1200" i="1" smtClean="0">
                            <a:solidFill>
                              <a:schemeClr val="tx1"/>
                            </a:solidFill>
                            <a:latin typeface="Cambria Math" panose="02040503050406030204" pitchFamily="18" charset="0"/>
                            <a:ea typeface="Cambria Math" panose="02040503050406030204" pitchFamily="18" charset="0"/>
                          </a:rPr>
                        </m:ctrlPr>
                      </m:fPr>
                      <m:num>
                        <m:r>
                          <a:rPr lang="fr-FR" sz="1200" i="0" smtClean="0">
                            <a:solidFill>
                              <a:schemeClr val="tx1"/>
                            </a:solidFill>
                            <a:latin typeface="Cambria Math" panose="02040503050406030204" pitchFamily="18" charset="0"/>
                            <a:ea typeface="Cambria Math" panose="02040503050406030204" pitchFamily="18" charset="0"/>
                          </a:rPr>
                          <m:t>𝜕</m:t>
                        </m:r>
                        <m:r>
                          <m:rPr>
                            <m:sty m:val="p"/>
                          </m:rPr>
                          <a:rPr lang="fr-FR" sz="1200" b="0" i="0" smtClean="0">
                            <a:solidFill>
                              <a:schemeClr val="tx1"/>
                            </a:solidFill>
                            <a:latin typeface="Cambria Math" panose="02040503050406030204" pitchFamily="18" charset="0"/>
                            <a:ea typeface="Cambria Math" panose="02040503050406030204" pitchFamily="18" charset="0"/>
                          </a:rPr>
                          <m:t>Loss</m:t>
                        </m:r>
                        <m:r>
                          <a:rPr lang="fr-FR" sz="1200" b="0" i="0" smtClean="0">
                            <a:solidFill>
                              <a:schemeClr val="tx1"/>
                            </a:solidFill>
                            <a:latin typeface="Cambria Math" panose="02040503050406030204" pitchFamily="18" charset="0"/>
                            <a:ea typeface="Cambria Math" panose="02040503050406030204" pitchFamily="18" charset="0"/>
                          </a:rPr>
                          <m:t>2</m:t>
                        </m:r>
                      </m:num>
                      <m:den>
                        <m:r>
                          <a:rPr lang="fr-FR" sz="1200" i="0" smtClean="0">
                            <a:solidFill>
                              <a:schemeClr val="tx1"/>
                            </a:solidFill>
                            <a:latin typeface="Cambria Math" panose="02040503050406030204" pitchFamily="18" charset="0"/>
                            <a:ea typeface="Cambria Math" panose="02040503050406030204" pitchFamily="18" charset="0"/>
                          </a:rPr>
                          <m:t>𝜕</m:t>
                        </m:r>
                        <m:r>
                          <m:rPr>
                            <m:sty m:val="p"/>
                          </m:rPr>
                          <a:rPr lang="fr-FR" sz="1200" b="0" i="0" smtClean="0">
                            <a:solidFill>
                              <a:schemeClr val="tx1"/>
                            </a:solidFill>
                            <a:latin typeface="Cambria Math" panose="02040503050406030204" pitchFamily="18" charset="0"/>
                            <a:ea typeface="Cambria Math" panose="02040503050406030204" pitchFamily="18" charset="0"/>
                          </a:rPr>
                          <m:t>w</m:t>
                        </m:r>
                        <m:r>
                          <a:rPr lang="fr-FR" sz="1200" b="0" i="0" smtClean="0">
                            <a:solidFill>
                              <a:schemeClr val="tx1"/>
                            </a:solidFill>
                            <a:latin typeface="Cambria Math" panose="02040503050406030204" pitchFamily="18" charset="0"/>
                            <a:ea typeface="Cambria Math" panose="02040503050406030204" pitchFamily="18" charset="0"/>
                          </a:rPr>
                          <m:t>4</m:t>
                        </m:r>
                      </m:den>
                    </m:f>
                    <m:r>
                      <a:rPr lang="fr-FR" sz="1200" b="0" i="0" smtClean="0">
                        <a:solidFill>
                          <a:schemeClr val="tx1"/>
                        </a:solidFill>
                        <a:latin typeface="Cambria Math" panose="02040503050406030204" pitchFamily="18" charset="0"/>
                        <a:ea typeface="Cambria Math" panose="02040503050406030204" pitchFamily="18" charset="0"/>
                      </a:rPr>
                      <m:t>=</m:t>
                    </m:r>
                    <m:r>
                      <m:rPr>
                        <m:nor/>
                      </m:rPr>
                      <a:rPr lang="fr-FR" sz="1200" b="0" i="0" smtClean="0">
                        <a:solidFill>
                          <a:schemeClr val="tx1"/>
                        </a:solidFill>
                        <a:latin typeface="Cambria Math" panose="02040503050406030204" pitchFamily="18" charset="0"/>
                        <a:ea typeface="Cambria Math" panose="02040503050406030204" pitchFamily="18" charset="0"/>
                      </a:rPr>
                      <m:t>−2</m:t>
                    </m:r>
                    <m:r>
                      <m:rPr>
                        <m:nor/>
                      </m:rPr>
                      <a:rPr lang="fr-FR" sz="1200" dirty="0">
                        <a:solidFill>
                          <a:schemeClr val="tx1"/>
                        </a:solidFill>
                        <a:latin typeface="Cambria Math" panose="02040503050406030204" pitchFamily="18" charset="0"/>
                        <a:ea typeface="Cambria Math" panose="02040503050406030204" pitchFamily="18" charset="0"/>
                      </a:rPr>
                      <m:t>(</m:t>
                    </m:r>
                    <m:sSub>
                      <m:sSubPr>
                        <m:ctrlPr>
                          <a:rPr lang="fr-FR" sz="1200" i="1" dirty="0">
                            <a:solidFill>
                              <a:schemeClr val="tx1"/>
                            </a:solidFill>
                            <a:latin typeface="Cambria Math" panose="02040503050406030204" pitchFamily="18" charset="0"/>
                            <a:ea typeface="Cambria Math" panose="02040503050406030204" pitchFamily="18" charset="0"/>
                          </a:rPr>
                        </m:ctrlPr>
                      </m:sSubPr>
                      <m:e>
                        <m:r>
                          <m:rPr>
                            <m:sty m:val="p"/>
                          </m:rPr>
                          <a:rPr lang="fr-FR" sz="1200">
                            <a:latin typeface="Cambria Math" panose="02040503050406030204" pitchFamily="18" charset="0"/>
                            <a:ea typeface="Cambria Math" panose="02040503050406030204" pitchFamily="18" charset="0"/>
                          </a:rPr>
                          <m:t>target</m:t>
                        </m:r>
                      </m:e>
                      <m:sub>
                        <m:r>
                          <m:rPr>
                            <m:sty m:val="p"/>
                          </m:rPr>
                          <a:rPr lang="fr-FR" sz="1200">
                            <a:latin typeface="Cambria Math" panose="02040503050406030204" pitchFamily="18" charset="0"/>
                            <a:ea typeface="Cambria Math" panose="02040503050406030204" pitchFamily="18" charset="0"/>
                          </a:rPr>
                          <m:t>o</m:t>
                        </m:r>
                        <m:r>
                          <m:rPr>
                            <m:nor/>
                          </m:rPr>
                          <a:rPr lang="fr-FR" sz="1200">
                            <a:latin typeface="Cambria Math" panose="02040503050406030204" pitchFamily="18" charset="0"/>
                            <a:ea typeface="Cambria Math" panose="02040503050406030204" pitchFamily="18" charset="0"/>
                          </a:rPr>
                          <m:t>2</m:t>
                        </m:r>
                      </m:sub>
                    </m:sSub>
                    <m:r>
                      <a:rPr lang="fr-FR" sz="1200" b="0" i="1" smtClean="0">
                        <a:latin typeface="Cambria Math" panose="02040503050406030204" pitchFamily="18" charset="0"/>
                        <a:ea typeface="Cambria Math" panose="02040503050406030204" pitchFamily="18" charset="0"/>
                      </a:rPr>
                      <m:t>− </m:t>
                    </m:r>
                    <m:r>
                      <m:rPr>
                        <m:sty m:val="p"/>
                      </m:rPr>
                      <a:rPr lang="fr-FR" sz="1200">
                        <a:solidFill>
                          <a:schemeClr val="tx1"/>
                        </a:solidFill>
                        <a:latin typeface="Cambria Math" panose="02040503050406030204" pitchFamily="18" charset="0"/>
                        <a:ea typeface="Cambria Math" panose="02040503050406030204" pitchFamily="18" charset="0"/>
                      </a:rPr>
                      <m:t>out</m:t>
                    </m:r>
                    <m:r>
                      <a:rPr lang="fr-FR" sz="1200">
                        <a:solidFill>
                          <a:schemeClr val="tx1"/>
                        </a:solidFill>
                        <a:latin typeface="Cambria Math" panose="02040503050406030204" pitchFamily="18" charset="0"/>
                        <a:ea typeface="Cambria Math" panose="02040503050406030204" pitchFamily="18" charset="0"/>
                      </a:rPr>
                      <m:t>_</m:t>
                    </m:r>
                    <m:r>
                      <m:rPr>
                        <m:sty m:val="p"/>
                      </m:rPr>
                      <a:rPr lang="fr-FR" sz="1200">
                        <a:solidFill>
                          <a:schemeClr val="tx1"/>
                        </a:solidFill>
                        <a:latin typeface="Cambria Math" panose="02040503050406030204" pitchFamily="18" charset="0"/>
                        <a:ea typeface="Cambria Math" panose="02040503050406030204" pitchFamily="18" charset="0"/>
                      </a:rPr>
                      <m:t>o</m:t>
                    </m:r>
                    <m:r>
                      <a:rPr lang="fr-FR" sz="1200" b="0" i="0" smtClean="0">
                        <a:solidFill>
                          <a:schemeClr val="tx1"/>
                        </a:solidFill>
                        <a:latin typeface="Cambria Math" panose="02040503050406030204" pitchFamily="18" charset="0"/>
                        <a:ea typeface="Cambria Math" panose="02040503050406030204" pitchFamily="18" charset="0"/>
                      </a:rPr>
                      <m:t>2</m:t>
                    </m:r>
                    <m:r>
                      <a:rPr lang="fr-FR" sz="1200" b="0" i="1" smtClean="0">
                        <a:solidFill>
                          <a:schemeClr val="tx1"/>
                        </a:solidFill>
                        <a:latin typeface="Cambria Math" panose="02040503050406030204" pitchFamily="18" charset="0"/>
                        <a:ea typeface="Cambria Math" panose="02040503050406030204" pitchFamily="18" charset="0"/>
                      </a:rPr>
                      <m:t>)</m:t>
                    </m:r>
                    <m:r>
                      <a:rPr lang="fr-FR" sz="1200" i="1">
                        <a:solidFill>
                          <a:schemeClr val="tx1"/>
                        </a:solidFill>
                        <a:latin typeface="Cambria Math" panose="02040503050406030204" pitchFamily="18" charset="0"/>
                        <a:ea typeface="Cambria Math" panose="02040503050406030204" pitchFamily="18" charset="0"/>
                      </a:rPr>
                      <m:t>×</m:t>
                    </m:r>
                    <m:r>
                      <m:rPr>
                        <m:sty m:val="p"/>
                      </m:rPr>
                      <a:rPr lang="fr-FR" sz="1200" smtClean="0">
                        <a:solidFill>
                          <a:schemeClr val="tx1"/>
                        </a:solidFill>
                        <a:latin typeface="Cambria Math" panose="02040503050406030204" pitchFamily="18" charset="0"/>
                        <a:ea typeface="Cambria Math" panose="02040503050406030204" pitchFamily="18" charset="0"/>
                      </a:rPr>
                      <m:t>out</m:t>
                    </m:r>
                    <m:r>
                      <a:rPr lang="fr-FR" sz="1200" smtClean="0">
                        <a:solidFill>
                          <a:schemeClr val="tx1"/>
                        </a:solidFill>
                        <a:latin typeface="Cambria Math" panose="02040503050406030204" pitchFamily="18" charset="0"/>
                        <a:ea typeface="Cambria Math" panose="02040503050406030204" pitchFamily="18" charset="0"/>
                      </a:rPr>
                      <m:t>_</m:t>
                    </m:r>
                    <m:r>
                      <m:rPr>
                        <m:sty m:val="p"/>
                      </m:rPr>
                      <a:rPr lang="fr-FR" sz="1200" smtClean="0">
                        <a:solidFill>
                          <a:schemeClr val="tx1"/>
                        </a:solidFill>
                        <a:latin typeface="Cambria Math" panose="02040503050406030204" pitchFamily="18" charset="0"/>
                        <a:ea typeface="Cambria Math" panose="02040503050406030204" pitchFamily="18" charset="0"/>
                      </a:rPr>
                      <m:t>o</m:t>
                    </m:r>
                    <m:r>
                      <a:rPr lang="fr-FR" sz="1200" b="0" i="0" smtClean="0">
                        <a:solidFill>
                          <a:schemeClr val="tx1"/>
                        </a:solidFill>
                        <a:latin typeface="Cambria Math" panose="02040503050406030204" pitchFamily="18" charset="0"/>
                        <a:ea typeface="Cambria Math" panose="02040503050406030204" pitchFamily="18" charset="0"/>
                      </a:rPr>
                      <m:t>2</m:t>
                    </m:r>
                    <m:r>
                      <a:rPr lang="fr-FR" sz="1200" smtClean="0">
                        <a:solidFill>
                          <a:schemeClr val="tx1"/>
                        </a:solidFill>
                        <a:latin typeface="Cambria Math" panose="02040503050406030204" pitchFamily="18" charset="0"/>
                        <a:ea typeface="Cambria Math" panose="02040503050406030204" pitchFamily="18" charset="0"/>
                      </a:rPr>
                      <m:t>(1−</m:t>
                    </m:r>
                    <m:r>
                      <m:rPr>
                        <m:sty m:val="p"/>
                      </m:rPr>
                      <a:rPr lang="fr-FR" sz="1200" smtClean="0">
                        <a:solidFill>
                          <a:schemeClr val="tx1"/>
                        </a:solidFill>
                        <a:latin typeface="Cambria Math" panose="02040503050406030204" pitchFamily="18" charset="0"/>
                        <a:ea typeface="Cambria Math" panose="02040503050406030204" pitchFamily="18" charset="0"/>
                      </a:rPr>
                      <m:t>out</m:t>
                    </m:r>
                    <m:r>
                      <a:rPr lang="fr-FR" sz="1200" smtClean="0">
                        <a:solidFill>
                          <a:schemeClr val="tx1"/>
                        </a:solidFill>
                        <a:latin typeface="Cambria Math" panose="02040503050406030204" pitchFamily="18" charset="0"/>
                        <a:ea typeface="Cambria Math" panose="02040503050406030204" pitchFamily="18" charset="0"/>
                      </a:rPr>
                      <m:t>_</m:t>
                    </m:r>
                    <m:r>
                      <m:rPr>
                        <m:sty m:val="p"/>
                      </m:rPr>
                      <a:rPr lang="fr-FR" sz="1200" smtClean="0">
                        <a:solidFill>
                          <a:schemeClr val="tx1"/>
                        </a:solidFill>
                        <a:latin typeface="Cambria Math" panose="02040503050406030204" pitchFamily="18" charset="0"/>
                        <a:ea typeface="Cambria Math" panose="02040503050406030204" pitchFamily="18" charset="0"/>
                      </a:rPr>
                      <m:t>o</m:t>
                    </m:r>
                    <m:r>
                      <a:rPr lang="fr-FR" sz="1200" b="0" i="1" smtClean="0">
                        <a:solidFill>
                          <a:schemeClr val="tx1"/>
                        </a:solidFill>
                        <a:latin typeface="Cambria Math" panose="02040503050406030204" pitchFamily="18" charset="0"/>
                        <a:ea typeface="Cambria Math" panose="02040503050406030204" pitchFamily="18" charset="0"/>
                      </a:rPr>
                      <m:t>2</m:t>
                    </m:r>
                    <m:r>
                      <a:rPr lang="fr-FR" sz="1200" i="1" smtClean="0">
                        <a:solidFill>
                          <a:schemeClr val="tx1"/>
                        </a:solidFill>
                        <a:latin typeface="Cambria Math" panose="02040503050406030204" pitchFamily="18" charset="0"/>
                        <a:ea typeface="Cambria Math" panose="02040503050406030204" pitchFamily="18" charset="0"/>
                      </a:rPr>
                      <m:t>)</m:t>
                    </m:r>
                    <m:r>
                      <a:rPr lang="fr-FR" sz="1200" b="0" i="1" smtClean="0">
                        <a:solidFill>
                          <a:schemeClr val="tx1"/>
                        </a:solidFill>
                        <a:latin typeface="Cambria Math" panose="02040503050406030204" pitchFamily="18" charset="0"/>
                        <a:ea typeface="Cambria Math" panose="02040503050406030204" pitchFamily="18" charset="0"/>
                      </a:rPr>
                      <m:t>×</m:t>
                    </m:r>
                    <m:r>
                      <a:rPr lang="fr-FR" sz="1200" i="1" smtClean="0">
                        <a:solidFill>
                          <a:schemeClr val="tx1"/>
                        </a:solidFill>
                        <a:latin typeface="Cambria Math" panose="02040503050406030204" pitchFamily="18" charset="0"/>
                        <a:ea typeface="Cambria Math" panose="02040503050406030204" pitchFamily="18" charset="0"/>
                      </a:rPr>
                      <m:t>𝑤</m:t>
                    </m:r>
                    <m:r>
                      <a:rPr lang="fr-FR" sz="1200" b="0" i="0" smtClean="0">
                        <a:solidFill>
                          <a:schemeClr val="tx1"/>
                        </a:solidFill>
                        <a:latin typeface="Cambria Math" panose="02040503050406030204" pitchFamily="18" charset="0"/>
                        <a:ea typeface="Cambria Math" panose="02040503050406030204" pitchFamily="18" charset="0"/>
                      </a:rPr>
                      <m:t>8</m:t>
                    </m:r>
                    <m:r>
                      <a:rPr lang="fr-FR" sz="1200">
                        <a:solidFill>
                          <a:schemeClr val="tx1"/>
                        </a:solidFill>
                        <a:latin typeface="Cambria Math" panose="02040503050406030204" pitchFamily="18" charset="0"/>
                        <a:ea typeface="Cambria Math" panose="02040503050406030204" pitchFamily="18" charset="0"/>
                      </a:rPr>
                      <m:t> </m:t>
                    </m:r>
                    <m:r>
                      <a:rPr lang="fr-FR" sz="1200" i="1">
                        <a:solidFill>
                          <a:schemeClr val="tx1"/>
                        </a:solidFill>
                        <a:latin typeface="Cambria Math" panose="02040503050406030204" pitchFamily="18" charset="0"/>
                        <a:ea typeface="Cambria Math" panose="02040503050406030204" pitchFamily="18" charset="0"/>
                      </a:rPr>
                      <m:t>×</m:t>
                    </m:r>
                  </m:oMath>
                </a14:m>
                <a:r>
                  <a:rPr lang="fr-FR" sz="1200" dirty="0">
                    <a:solidFill>
                      <a:schemeClr val="tx1"/>
                    </a:solidFill>
                    <a:latin typeface="Cambria Math" panose="02040503050406030204" pitchFamily="18" charset="0"/>
                    <a:ea typeface="Cambria Math" panose="02040503050406030204" pitchFamily="18" charset="0"/>
                  </a:rPr>
                  <a:t> </a:t>
                </a:r>
                <a14:m>
                  <m:oMath xmlns:m="http://schemas.openxmlformats.org/officeDocument/2006/math">
                    <m:sSub>
                      <m:sSubPr>
                        <m:ctrlPr>
                          <a:rPr lang="fr-FR" sz="1200" i="1" smtClean="0">
                            <a:solidFill>
                              <a:schemeClr val="tx1"/>
                            </a:solidFill>
                            <a:latin typeface="Cambria Math" panose="02040503050406030204" pitchFamily="18" charset="0"/>
                            <a:ea typeface="Cambria Math" panose="02040503050406030204" pitchFamily="18" charset="0"/>
                          </a:rPr>
                        </m:ctrlPr>
                      </m:sSubPr>
                      <m:e>
                        <m:r>
                          <a:rPr lang="fr-FR" sz="1200" b="0" i="1" smtClean="0">
                            <a:solidFill>
                              <a:schemeClr val="tx1"/>
                            </a:solidFill>
                            <a:latin typeface="Cambria Math" panose="02040503050406030204" pitchFamily="18" charset="0"/>
                            <a:ea typeface="Cambria Math" panose="02040503050406030204" pitchFamily="18" charset="0"/>
                          </a:rPr>
                          <m:t>1</m:t>
                        </m:r>
                      </m:e>
                      <m:sub>
                        <m:r>
                          <a:rPr lang="fr-FR" sz="1200" b="0" i="1" smtClean="0">
                            <a:solidFill>
                              <a:schemeClr val="tx1"/>
                            </a:solidFill>
                            <a:latin typeface="Cambria Math" panose="02040503050406030204" pitchFamily="18" charset="0"/>
                            <a:ea typeface="Cambria Math" panose="02040503050406030204" pitchFamily="18" charset="0"/>
                          </a:rPr>
                          <m:t>{</m:t>
                        </m:r>
                        <m:r>
                          <a:rPr lang="fr-FR" sz="1200" b="0" i="1" smtClean="0">
                            <a:solidFill>
                              <a:schemeClr val="tx1"/>
                            </a:solidFill>
                            <a:latin typeface="Cambria Math" panose="02040503050406030204" pitchFamily="18" charset="0"/>
                            <a:ea typeface="Cambria Math" panose="02040503050406030204" pitchFamily="18" charset="0"/>
                          </a:rPr>
                          <m:t>𝑛𝑒𝑡</m:t>
                        </m:r>
                        <m:r>
                          <a:rPr lang="fr-FR" sz="1200" b="0" i="1" smtClean="0">
                            <a:solidFill>
                              <a:schemeClr val="tx1"/>
                            </a:solidFill>
                            <a:latin typeface="Cambria Math" panose="02040503050406030204" pitchFamily="18" charset="0"/>
                            <a:ea typeface="Cambria Math" panose="02040503050406030204" pitchFamily="18" charset="0"/>
                          </a:rPr>
                          <m:t>_</m:t>
                        </m:r>
                        <m:r>
                          <a:rPr lang="fr-FR" sz="1200" b="0" i="1" smtClean="0">
                            <a:solidFill>
                              <a:schemeClr val="tx1"/>
                            </a:solidFill>
                            <a:latin typeface="Cambria Math" panose="02040503050406030204" pitchFamily="18" charset="0"/>
                            <a:ea typeface="Cambria Math" panose="02040503050406030204" pitchFamily="18" charset="0"/>
                          </a:rPr>
                          <m:t>h</m:t>
                        </m:r>
                        <m:r>
                          <a:rPr lang="fr-FR" sz="1200" b="0" i="1" smtClean="0">
                            <a:solidFill>
                              <a:schemeClr val="tx1"/>
                            </a:solidFill>
                            <a:latin typeface="Cambria Math" panose="02040503050406030204" pitchFamily="18" charset="0"/>
                            <a:ea typeface="Cambria Math" panose="02040503050406030204" pitchFamily="18" charset="0"/>
                          </a:rPr>
                          <m:t>2&gt;0}</m:t>
                        </m:r>
                      </m:sub>
                    </m:sSub>
                    <m:r>
                      <a:rPr lang="fr-FR" sz="1200" i="1">
                        <a:solidFill>
                          <a:schemeClr val="tx1"/>
                        </a:solidFill>
                        <a:latin typeface="Cambria Math" panose="02040503050406030204" pitchFamily="18" charset="0"/>
                        <a:ea typeface="Cambria Math" panose="02040503050406030204" pitchFamily="18" charset="0"/>
                      </a:rPr>
                      <m:t>×</m:t>
                    </m:r>
                    <m:r>
                      <m:rPr>
                        <m:sty m:val="p"/>
                      </m:rPr>
                      <a:rPr lang="fr-FR" sz="1200" b="0" i="0" smtClean="0">
                        <a:solidFill>
                          <a:schemeClr val="tx1"/>
                        </a:solidFill>
                        <a:latin typeface="Cambria Math" panose="02040503050406030204" pitchFamily="18" charset="0"/>
                        <a:ea typeface="Cambria Math" panose="02040503050406030204" pitchFamily="18" charset="0"/>
                      </a:rPr>
                      <m:t>i</m:t>
                    </m:r>
                  </m:oMath>
                </a14:m>
                <a:r>
                  <a:rPr lang="fr-FR" sz="1200" dirty="0">
                    <a:solidFill>
                      <a:schemeClr val="tx1"/>
                    </a:solidFill>
                    <a:latin typeface="Cambria Math" panose="02040503050406030204" pitchFamily="18" charset="0"/>
                    <a:ea typeface="Cambria Math" panose="02040503050406030204" pitchFamily="18" charset="0"/>
                  </a:rPr>
                  <a:t>2</a:t>
                </a:r>
              </a:p>
            </p:txBody>
          </p:sp>
        </mc:Choice>
        <mc:Fallback xmlns="">
          <p:sp>
            <p:nvSpPr>
              <p:cNvPr id="91" name="ZoneTexte 90">
                <a:extLst>
                  <a:ext uri="{FF2B5EF4-FFF2-40B4-BE49-F238E27FC236}">
                    <a16:creationId xmlns:a16="http://schemas.microsoft.com/office/drawing/2014/main" id="{14A39B38-D905-CC68-632A-E12B3EDF792A}"/>
                  </a:ext>
                </a:extLst>
              </p:cNvPr>
              <p:cNvSpPr txBox="1">
                <a:spLocks noRot="1" noChangeAspect="1" noMove="1" noResize="1" noEditPoints="1" noAdjustHandles="1" noChangeArrowheads="1" noChangeShapeType="1" noTextEdit="1"/>
              </p:cNvSpPr>
              <p:nvPr/>
            </p:nvSpPr>
            <p:spPr>
              <a:xfrm>
                <a:off x="801070" y="5211764"/>
                <a:ext cx="5028766" cy="363882"/>
              </a:xfrm>
              <a:prstGeom prst="rect">
                <a:avLst/>
              </a:prstGeom>
              <a:blipFill>
                <a:blip r:embed="rId12"/>
                <a:stretch>
                  <a:fillRect/>
                </a:stretch>
              </a:blipFill>
              <a:ln>
                <a:solidFill>
                  <a:srgbClr val="FF0000"/>
                </a:solidFill>
              </a:ln>
            </p:spPr>
            <p:txBody>
              <a:bodyPr/>
              <a:lstStyle/>
              <a:p>
                <a:r>
                  <a:rPr lang="en-GB">
                    <a:noFill/>
                  </a:rPr>
                  <a:t> </a:t>
                </a:r>
              </a:p>
            </p:txBody>
          </p:sp>
        </mc:Fallback>
      </mc:AlternateContent>
      <p:sp>
        <p:nvSpPr>
          <p:cNvPr id="92" name="ZoneTexte 91">
            <a:extLst>
              <a:ext uri="{FF2B5EF4-FFF2-40B4-BE49-F238E27FC236}">
                <a16:creationId xmlns:a16="http://schemas.microsoft.com/office/drawing/2014/main" id="{657AFC82-56DA-170B-B1BF-FA37319D4D5C}"/>
              </a:ext>
            </a:extLst>
          </p:cNvPr>
          <p:cNvSpPr txBox="1"/>
          <p:nvPr/>
        </p:nvSpPr>
        <p:spPr>
          <a:xfrm>
            <a:off x="616464" y="4943199"/>
            <a:ext cx="1227694" cy="261610"/>
          </a:xfrm>
          <a:prstGeom prst="rect">
            <a:avLst/>
          </a:prstGeom>
          <a:noFill/>
        </p:spPr>
        <p:txBody>
          <a:bodyPr wrap="square" rtlCol="0">
            <a:spAutoFit/>
          </a:bodyPr>
          <a:lstStyle/>
          <a:p>
            <a:r>
              <a:rPr lang="en-GB" sz="1100" b="1" noProof="0" dirty="0"/>
              <a:t>Symmetrically</a:t>
            </a:r>
          </a:p>
        </p:txBody>
      </p:sp>
      <p:sp>
        <p:nvSpPr>
          <p:cNvPr id="93" name="Espace réservé du pied de page 92">
            <a:extLst>
              <a:ext uri="{FF2B5EF4-FFF2-40B4-BE49-F238E27FC236}">
                <a16:creationId xmlns:a16="http://schemas.microsoft.com/office/drawing/2014/main" id="{7C1B1CD6-1972-90F2-B71F-99407B95D85B}"/>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5220683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0B762-AD01-075C-850D-20BCB83854F1}"/>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EB2A2BA2-E2F7-37A0-2B88-570B0D2DBC5E}"/>
              </a:ext>
            </a:extLst>
          </p:cNvPr>
          <p:cNvPicPr>
            <a:picLocks noChangeAspect="1"/>
          </p:cNvPicPr>
          <p:nvPr/>
        </p:nvPicPr>
        <p:blipFill>
          <a:blip r:embed="rId2"/>
          <a:stretch>
            <a:fillRect/>
          </a:stretch>
        </p:blipFill>
        <p:spPr>
          <a:xfrm>
            <a:off x="534064" y="1405136"/>
            <a:ext cx="5734704" cy="2759500"/>
          </a:xfrm>
          <a:prstGeom prst="rect">
            <a:avLst/>
          </a:prstGeom>
        </p:spPr>
      </p:pic>
      <p:sp>
        <p:nvSpPr>
          <p:cNvPr id="2" name="Titre 1">
            <a:extLst>
              <a:ext uri="{FF2B5EF4-FFF2-40B4-BE49-F238E27FC236}">
                <a16:creationId xmlns:a16="http://schemas.microsoft.com/office/drawing/2014/main" id="{086844EA-9CF1-F64D-931C-3BB13D6CBEA5}"/>
              </a:ext>
            </a:extLst>
          </p:cNvPr>
          <p:cNvSpPr>
            <a:spLocks noGrp="1"/>
          </p:cNvSpPr>
          <p:nvPr>
            <p:ph type="title"/>
          </p:nvPr>
        </p:nvSpPr>
        <p:spPr/>
        <p:txBody>
          <a:bodyPr/>
          <a:lstStyle/>
          <a:p>
            <a:r>
              <a:rPr lang="fr-FR" dirty="0"/>
              <a:t>Neural Network</a:t>
            </a:r>
          </a:p>
        </p:txBody>
      </p:sp>
      <p:sp>
        <p:nvSpPr>
          <p:cNvPr id="73" name="ZoneTexte 72">
            <a:extLst>
              <a:ext uri="{FF2B5EF4-FFF2-40B4-BE49-F238E27FC236}">
                <a16:creationId xmlns:a16="http://schemas.microsoft.com/office/drawing/2014/main" id="{F8B24DB6-81AB-CEB3-1D32-5D9963A7FB71}"/>
              </a:ext>
            </a:extLst>
          </p:cNvPr>
          <p:cNvSpPr txBox="1"/>
          <p:nvPr/>
        </p:nvSpPr>
        <p:spPr>
          <a:xfrm>
            <a:off x="6872060" y="760834"/>
            <a:ext cx="3324563" cy="584775"/>
          </a:xfrm>
          <a:prstGeom prst="rect">
            <a:avLst/>
          </a:prstGeom>
          <a:noFill/>
        </p:spPr>
        <p:txBody>
          <a:bodyPr wrap="square" rtlCol="0">
            <a:spAutoFit/>
          </a:bodyPr>
          <a:lstStyle/>
          <a:p>
            <a:r>
              <a:rPr lang="en-GB" sz="3200" b="1" noProof="0" dirty="0"/>
              <a:t>Gradient</a:t>
            </a:r>
          </a:p>
        </p:txBody>
      </p:sp>
      <mc:AlternateContent xmlns:mc="http://schemas.openxmlformats.org/markup-compatibility/2006" xmlns:a14="http://schemas.microsoft.com/office/drawing/2010/main">
        <mc:Choice Requires="a14">
          <p:sp>
            <p:nvSpPr>
              <p:cNvPr id="47" name="ZoneTexte 46">
                <a:extLst>
                  <a:ext uri="{FF2B5EF4-FFF2-40B4-BE49-F238E27FC236}">
                    <a16:creationId xmlns:a16="http://schemas.microsoft.com/office/drawing/2014/main" id="{473D7998-80EC-6329-66CC-B20F11DE84BE}"/>
                  </a:ext>
                </a:extLst>
              </p:cNvPr>
              <p:cNvSpPr txBox="1"/>
              <p:nvPr/>
            </p:nvSpPr>
            <p:spPr>
              <a:xfrm>
                <a:off x="6365540" y="1900809"/>
                <a:ext cx="4307282" cy="409086"/>
              </a:xfrm>
              <a:prstGeom prst="rect">
                <a:avLst/>
              </a:prstGeom>
              <a:noFill/>
            </p:spPr>
            <p:txBody>
              <a:bodyPr wrap="square" rtlCol="0">
                <a:spAutoFit/>
              </a:bodyPr>
              <a:lstStyle/>
              <a:p>
                <a14:m>
                  <m:oMath xmlns:m="http://schemas.openxmlformats.org/officeDocument/2006/math">
                    <m:f>
                      <m:fPr>
                        <m:ctrlPr>
                          <a:rPr lang="fr-FR" sz="1400" i="1" smtClean="0">
                            <a:latin typeface="Cambria Math" panose="02040503050406030204" pitchFamily="18" charset="0"/>
                          </a:rPr>
                        </m:ctrlPr>
                      </m:fPr>
                      <m:num>
                        <m:r>
                          <a:rPr lang="fr-FR" sz="1400" i="0" smtClean="0">
                            <a:latin typeface="Cambria Math" panose="02040503050406030204" pitchFamily="18" charset="0"/>
                          </a:rPr>
                          <m:t>𝜕</m:t>
                        </m:r>
                        <m:r>
                          <m:rPr>
                            <m:sty m:val="p"/>
                          </m:rPr>
                          <a:rPr lang="fr-FR" sz="1400" b="0" i="0" smtClean="0">
                            <a:latin typeface="Cambria Math" panose="02040503050406030204" pitchFamily="18" charset="0"/>
                          </a:rPr>
                          <m:t>Loss</m:t>
                        </m:r>
                        <m:r>
                          <a:rPr lang="fr-FR" sz="1400" b="0" i="0" smtClean="0">
                            <a:latin typeface="Cambria Math" panose="02040503050406030204" pitchFamily="18" charset="0"/>
                          </a:rPr>
                          <m:t>1</m:t>
                        </m:r>
                      </m:num>
                      <m:den>
                        <m:r>
                          <a:rPr lang="fr-FR" sz="1400" i="0" smtClean="0">
                            <a:latin typeface="Cambria Math" panose="02040503050406030204" pitchFamily="18" charset="0"/>
                          </a:rPr>
                          <m:t>𝜕</m:t>
                        </m:r>
                        <m:r>
                          <m:rPr>
                            <m:sty m:val="p"/>
                          </m:rPr>
                          <a:rPr lang="fr-FR" sz="1400" b="0" i="0" smtClean="0">
                            <a:latin typeface="Cambria Math" panose="02040503050406030204" pitchFamily="18" charset="0"/>
                          </a:rPr>
                          <m:t>w</m:t>
                        </m:r>
                        <m:r>
                          <a:rPr lang="fr-FR" sz="1400" b="0" i="0" smtClean="0">
                            <a:latin typeface="Cambria Math" panose="02040503050406030204" pitchFamily="18" charset="0"/>
                          </a:rPr>
                          <m:t>2</m:t>
                        </m:r>
                      </m:den>
                    </m:f>
                    <m:r>
                      <a:rPr lang="fr-FR" sz="1400" b="0" i="0" smtClean="0">
                        <a:latin typeface="Cambria Math" panose="02040503050406030204" pitchFamily="18" charset="0"/>
                      </a:rPr>
                      <m:t>= </m:t>
                    </m:r>
                    <m:f>
                      <m:fPr>
                        <m:ctrlPr>
                          <a:rPr lang="fr-FR" sz="1400" i="1" smtClean="0">
                            <a:solidFill>
                              <a:schemeClr val="tx1"/>
                            </a:solidFill>
                            <a:latin typeface="Cambria Math" panose="02040503050406030204" pitchFamily="18" charset="0"/>
                          </a:rPr>
                        </m:ctrlPr>
                      </m:fPr>
                      <m:num>
                        <m:r>
                          <a:rPr lang="fr-FR" sz="1400" b="0" i="0" smtClean="0">
                            <a:solidFill>
                              <a:schemeClr val="tx1"/>
                            </a:solidFill>
                            <a:latin typeface="Cambria Math" panose="02040503050406030204" pitchFamily="18" charset="0"/>
                          </a:rPr>
                          <m:t>𝜕</m:t>
                        </m:r>
                        <m:r>
                          <m:rPr>
                            <m:sty m:val="p"/>
                          </m:rPr>
                          <a:rPr lang="fr-FR" sz="1400" b="0" i="0" smtClean="0">
                            <a:solidFill>
                              <a:schemeClr val="tx1"/>
                            </a:solidFill>
                            <a:latin typeface="Cambria Math" panose="02040503050406030204" pitchFamily="18" charset="0"/>
                          </a:rPr>
                          <m:t>Loss</m:t>
                        </m:r>
                        <m:r>
                          <a:rPr lang="fr-FR" sz="1400" b="0" i="0" smtClean="0">
                            <a:solidFill>
                              <a:schemeClr val="tx1"/>
                            </a:solidFill>
                            <a:latin typeface="Cambria Math" panose="02040503050406030204" pitchFamily="18" charset="0"/>
                          </a:rPr>
                          <m:t>1</m:t>
                        </m:r>
                      </m:num>
                      <m:den>
                        <m:r>
                          <a:rPr lang="fr-FR" sz="1400" b="0" i="0" smtClean="0">
                            <a:solidFill>
                              <a:schemeClr val="tx1"/>
                            </a:solidFill>
                            <a:latin typeface="Cambria Math" panose="02040503050406030204" pitchFamily="18" charset="0"/>
                          </a:rPr>
                          <m:t>𝜕</m:t>
                        </m:r>
                        <m:r>
                          <m:rPr>
                            <m:sty m:val="p"/>
                          </m:rPr>
                          <a:rPr lang="fr-FR" sz="1400" b="0" i="0" smtClean="0">
                            <a:solidFill>
                              <a:schemeClr val="tx1"/>
                            </a:solidFill>
                            <a:latin typeface="Cambria Math" panose="02040503050406030204" pitchFamily="18" charset="0"/>
                          </a:rPr>
                          <m:t>net</m:t>
                        </m:r>
                        <m:r>
                          <a:rPr lang="fr-FR" sz="1400" b="0" i="0" smtClean="0">
                            <a:solidFill>
                              <a:schemeClr val="tx1"/>
                            </a:solidFill>
                            <a:latin typeface="Cambria Math" panose="02040503050406030204" pitchFamily="18" charset="0"/>
                          </a:rPr>
                          <m:t>_</m:t>
                        </m:r>
                        <m:r>
                          <m:rPr>
                            <m:sty m:val="p"/>
                          </m:rPr>
                          <a:rPr lang="fr-FR" sz="1400" b="0" i="0" smtClean="0">
                            <a:solidFill>
                              <a:schemeClr val="tx1"/>
                            </a:solidFill>
                            <a:latin typeface="Cambria Math" panose="02040503050406030204" pitchFamily="18" charset="0"/>
                          </a:rPr>
                          <m:t>h</m:t>
                        </m:r>
                        <m:r>
                          <a:rPr lang="fr-FR" sz="1400" b="0" i="0" smtClean="0">
                            <a:solidFill>
                              <a:schemeClr val="tx1"/>
                            </a:solidFill>
                            <a:latin typeface="Cambria Math" panose="02040503050406030204" pitchFamily="18" charset="0"/>
                          </a:rPr>
                          <m:t>1</m:t>
                        </m:r>
                      </m:den>
                    </m:f>
                    <m:r>
                      <a:rPr lang="fr-FR" sz="1400" b="0" i="0" smtClean="0">
                        <a:solidFill>
                          <a:schemeClr val="tx1"/>
                        </a:solidFill>
                        <a:latin typeface="Cambria Math" panose="02040503050406030204" pitchFamily="18" charset="0"/>
                      </a:rPr>
                      <m:t> </m:t>
                    </m:r>
                    <m:r>
                      <a:rPr lang="fr-FR" sz="1400" b="0" i="1" smtClean="0">
                        <a:latin typeface="Cambria Math" panose="02040503050406030204" pitchFamily="18" charset="0"/>
                        <a:ea typeface="Cambria Math" panose="02040503050406030204" pitchFamily="18" charset="0"/>
                      </a:rPr>
                      <m:t>×</m:t>
                    </m:r>
                    <m:f>
                      <m:fPr>
                        <m:ctrlPr>
                          <a:rPr lang="fr-FR" sz="1400" b="0" i="1" smtClean="0">
                            <a:solidFill>
                              <a:schemeClr val="accent2"/>
                            </a:solidFill>
                            <a:latin typeface="Cambria Math" panose="02040503050406030204" pitchFamily="18" charset="0"/>
                          </a:rPr>
                        </m:ctrlPr>
                      </m:fPr>
                      <m:num>
                        <m:r>
                          <a:rPr lang="fr-FR" sz="1400">
                            <a:solidFill>
                              <a:schemeClr val="accent2"/>
                            </a:solidFill>
                            <a:latin typeface="Cambria Math" panose="02040503050406030204" pitchFamily="18" charset="0"/>
                          </a:rPr>
                          <m:t>𝜕</m:t>
                        </m:r>
                        <m:r>
                          <m:rPr>
                            <m:sty m:val="p"/>
                          </m:rPr>
                          <a:rPr lang="fr-FR" sz="1400" b="0" i="0" smtClean="0">
                            <a:solidFill>
                              <a:schemeClr val="accent2"/>
                            </a:solidFill>
                            <a:latin typeface="Cambria Math" panose="02040503050406030204" pitchFamily="18" charset="0"/>
                          </a:rPr>
                          <m:t>net</m:t>
                        </m:r>
                        <m:r>
                          <a:rPr lang="fr-FR" sz="1400" b="0" i="0" smtClean="0">
                            <a:solidFill>
                              <a:schemeClr val="accent2"/>
                            </a:solidFill>
                            <a:latin typeface="Cambria Math" panose="02040503050406030204" pitchFamily="18" charset="0"/>
                          </a:rPr>
                          <m:t>_</m:t>
                        </m:r>
                        <m:r>
                          <m:rPr>
                            <m:sty m:val="p"/>
                          </m:rPr>
                          <a:rPr lang="fr-FR" sz="1400" b="0" i="0" smtClean="0">
                            <a:solidFill>
                              <a:schemeClr val="accent2"/>
                            </a:solidFill>
                            <a:latin typeface="Cambria Math" panose="02040503050406030204" pitchFamily="18" charset="0"/>
                          </a:rPr>
                          <m:t>h</m:t>
                        </m:r>
                        <m:r>
                          <a:rPr lang="fr-FR" sz="1400" b="0" i="0" smtClean="0">
                            <a:solidFill>
                              <a:schemeClr val="accent2"/>
                            </a:solidFill>
                            <a:latin typeface="Cambria Math" panose="02040503050406030204" pitchFamily="18" charset="0"/>
                          </a:rPr>
                          <m:t>1</m:t>
                        </m:r>
                      </m:num>
                      <m:den>
                        <m:r>
                          <a:rPr lang="fr-FR" sz="1400">
                            <a:solidFill>
                              <a:schemeClr val="accent2"/>
                            </a:solidFill>
                            <a:latin typeface="Cambria Math" panose="02040503050406030204" pitchFamily="18" charset="0"/>
                          </a:rPr>
                          <m:t>𝜕</m:t>
                        </m:r>
                        <m:r>
                          <m:rPr>
                            <m:sty m:val="p"/>
                          </m:rPr>
                          <a:rPr lang="fr-FR" sz="1400" b="0" i="0" smtClean="0">
                            <a:solidFill>
                              <a:schemeClr val="accent2"/>
                            </a:solidFill>
                            <a:latin typeface="Cambria Math" panose="02040503050406030204" pitchFamily="18" charset="0"/>
                          </a:rPr>
                          <m:t>w</m:t>
                        </m:r>
                        <m:r>
                          <a:rPr lang="fr-FR" sz="1400" b="0" i="0" smtClean="0">
                            <a:solidFill>
                              <a:schemeClr val="accent2"/>
                            </a:solidFill>
                            <a:latin typeface="Cambria Math" panose="02040503050406030204" pitchFamily="18" charset="0"/>
                          </a:rPr>
                          <m:t>2</m:t>
                        </m:r>
                      </m:den>
                    </m:f>
                  </m:oMath>
                </a14:m>
                <a:r>
                  <a:rPr lang="fr-FR" sz="1400" dirty="0">
                    <a:solidFill>
                      <a:schemeClr val="accent2"/>
                    </a:solidFill>
                  </a:rPr>
                  <a:t> </a:t>
                </a:r>
                <a:endParaRPr lang="fr-FR" sz="1400" dirty="0">
                  <a:solidFill>
                    <a:schemeClr val="accent3">
                      <a:lumMod val="60000"/>
                      <a:lumOff val="40000"/>
                    </a:schemeClr>
                  </a:solidFill>
                </a:endParaRPr>
              </a:p>
            </p:txBody>
          </p:sp>
        </mc:Choice>
        <mc:Fallback xmlns="">
          <p:sp>
            <p:nvSpPr>
              <p:cNvPr id="47" name="ZoneTexte 46">
                <a:extLst>
                  <a:ext uri="{FF2B5EF4-FFF2-40B4-BE49-F238E27FC236}">
                    <a16:creationId xmlns:a16="http://schemas.microsoft.com/office/drawing/2014/main" id="{473D7998-80EC-6329-66CC-B20F11DE84BE}"/>
                  </a:ext>
                </a:extLst>
              </p:cNvPr>
              <p:cNvSpPr txBox="1">
                <a:spLocks noRot="1" noChangeAspect="1" noMove="1" noResize="1" noEditPoints="1" noAdjustHandles="1" noChangeArrowheads="1" noChangeShapeType="1" noTextEdit="1"/>
              </p:cNvSpPr>
              <p:nvPr/>
            </p:nvSpPr>
            <p:spPr>
              <a:xfrm>
                <a:off x="6365540" y="1900809"/>
                <a:ext cx="4307282" cy="409086"/>
              </a:xfrm>
              <a:prstGeom prst="rect">
                <a:avLst/>
              </a:prstGeom>
              <a:blipFill>
                <a:blip r:embed="rId3"/>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9" name="ZoneTexte 18">
                <a:extLst>
                  <a:ext uri="{FF2B5EF4-FFF2-40B4-BE49-F238E27FC236}">
                    <a16:creationId xmlns:a16="http://schemas.microsoft.com/office/drawing/2014/main" id="{F80CFFF4-D30D-A4A0-4BE7-D2C7828DE598}"/>
                  </a:ext>
                </a:extLst>
              </p:cNvPr>
              <p:cNvSpPr txBox="1"/>
              <p:nvPr/>
            </p:nvSpPr>
            <p:spPr>
              <a:xfrm>
                <a:off x="978171" y="4948838"/>
                <a:ext cx="4752754" cy="414216"/>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fr-FR" sz="1100" i="1" smtClean="0">
                              <a:solidFill>
                                <a:schemeClr val="tx1"/>
                              </a:solidFill>
                              <a:latin typeface="Cambria Math" panose="02040503050406030204" pitchFamily="18" charset="0"/>
                              <a:ea typeface="Cambria Math" panose="02040503050406030204" pitchFamily="18" charset="0"/>
                            </a:rPr>
                          </m:ctrlPr>
                        </m:fPr>
                        <m:num>
                          <m:r>
                            <a:rPr lang="fr-FR" sz="1100" b="0" i="1">
                              <a:solidFill>
                                <a:schemeClr val="tx1"/>
                              </a:solidFill>
                              <a:latin typeface="Cambria Math" panose="02040503050406030204" pitchFamily="18" charset="0"/>
                              <a:ea typeface="Cambria Math" panose="02040503050406030204" pitchFamily="18" charset="0"/>
                            </a:rPr>
                            <m:t>𝜕</m:t>
                          </m:r>
                          <m:r>
                            <a:rPr lang="fr-FR" sz="1100" b="0" i="1">
                              <a:solidFill>
                                <a:schemeClr val="tx1"/>
                              </a:solidFill>
                              <a:latin typeface="Cambria Math" panose="02040503050406030204" pitchFamily="18" charset="0"/>
                              <a:ea typeface="Cambria Math" panose="02040503050406030204" pitchFamily="18" charset="0"/>
                            </a:rPr>
                            <m:t>𝐿𝑜𝑠𝑠</m:t>
                          </m:r>
                          <m:r>
                            <a:rPr lang="fr-FR" sz="1100" b="0" i="1">
                              <a:solidFill>
                                <a:schemeClr val="tx1"/>
                              </a:solidFill>
                              <a:latin typeface="Cambria Math" panose="02040503050406030204" pitchFamily="18" charset="0"/>
                              <a:ea typeface="Cambria Math" panose="02040503050406030204" pitchFamily="18" charset="0"/>
                            </a:rPr>
                            <m:t>1</m:t>
                          </m:r>
                        </m:num>
                        <m:den>
                          <m:r>
                            <a:rPr lang="fr-FR" sz="1100" b="0" i="1">
                              <a:solidFill>
                                <a:schemeClr val="tx1"/>
                              </a:solidFill>
                              <a:latin typeface="Cambria Math" panose="02040503050406030204" pitchFamily="18" charset="0"/>
                              <a:ea typeface="Cambria Math" panose="02040503050406030204" pitchFamily="18" charset="0"/>
                            </a:rPr>
                            <m:t>𝜕</m:t>
                          </m:r>
                          <m:r>
                            <a:rPr lang="fr-FR" sz="1100" b="0" i="1">
                              <a:solidFill>
                                <a:schemeClr val="tx1"/>
                              </a:solidFill>
                              <a:latin typeface="Cambria Math" panose="02040503050406030204" pitchFamily="18" charset="0"/>
                              <a:ea typeface="Cambria Math" panose="02040503050406030204" pitchFamily="18" charset="0"/>
                            </a:rPr>
                            <m:t>𝑛𝑒𝑡</m:t>
                          </m:r>
                          <m:r>
                            <a:rPr lang="fr-FR" sz="1100" b="0">
                              <a:solidFill>
                                <a:schemeClr val="tx1"/>
                              </a:solidFill>
                              <a:latin typeface="Cambria Math" panose="02040503050406030204" pitchFamily="18" charset="0"/>
                              <a:ea typeface="Cambria Math" panose="02040503050406030204" pitchFamily="18" charset="0"/>
                            </a:rPr>
                            <m:t>_</m:t>
                          </m:r>
                          <m:r>
                            <a:rPr lang="fr-FR" sz="1100" b="0" i="1">
                              <a:solidFill>
                                <a:schemeClr val="tx1"/>
                              </a:solidFill>
                              <a:latin typeface="Cambria Math" panose="02040503050406030204" pitchFamily="18" charset="0"/>
                              <a:ea typeface="Cambria Math" panose="02040503050406030204" pitchFamily="18" charset="0"/>
                            </a:rPr>
                            <m:t>h</m:t>
                          </m:r>
                          <m:r>
                            <a:rPr lang="fr-FR" sz="1100" b="0" i="1">
                              <a:solidFill>
                                <a:schemeClr val="tx1"/>
                              </a:solidFill>
                              <a:latin typeface="Cambria Math" panose="02040503050406030204" pitchFamily="18" charset="0"/>
                              <a:ea typeface="Cambria Math" panose="02040503050406030204" pitchFamily="18" charset="0"/>
                            </a:rPr>
                            <m:t>1</m:t>
                          </m:r>
                        </m:den>
                      </m:f>
                      <m:r>
                        <a:rPr lang="fr-FR" sz="1100" b="0">
                          <a:solidFill>
                            <a:schemeClr val="tx1"/>
                          </a:solidFill>
                          <a:latin typeface="Cambria Math" panose="02040503050406030204" pitchFamily="18" charset="0"/>
                        </a:rPr>
                        <m:t>=</m:t>
                      </m:r>
                      <m:r>
                        <m:rPr>
                          <m:nor/>
                        </m:rPr>
                        <a:rPr lang="fr-FR" sz="1100">
                          <a:latin typeface="Cambria Math" panose="02040503050406030204" pitchFamily="18" charset="0"/>
                        </a:rPr>
                        <m:t>−2</m:t>
                      </m:r>
                      <m:r>
                        <m:rPr>
                          <m:nor/>
                        </m:rPr>
                        <a:rPr lang="fr-FR" sz="1100" dirty="0">
                          <a:latin typeface="Cambria Math" panose="02040503050406030204" pitchFamily="18" charset="0"/>
                          <a:ea typeface="Cambria Math" panose="02040503050406030204" pitchFamily="18" charset="0"/>
                        </a:rPr>
                        <m:t>(</m:t>
                      </m:r>
                      <m:sSub>
                        <m:sSubPr>
                          <m:ctrlPr>
                            <a:rPr lang="fr-FR" sz="1100" i="1" dirty="0">
                              <a:latin typeface="Cambria Math" panose="02040503050406030204" pitchFamily="18" charset="0"/>
                              <a:ea typeface="Cambria Math" panose="02040503050406030204" pitchFamily="18" charset="0"/>
                            </a:rPr>
                          </m:ctrlPr>
                        </m:sSubPr>
                        <m:e>
                          <m:r>
                            <m:rPr>
                              <m:sty m:val="p"/>
                            </m:rPr>
                            <a:rPr lang="fr-FR" sz="1100">
                              <a:latin typeface="Cambria Math" panose="02040503050406030204" pitchFamily="18" charset="0"/>
                              <a:ea typeface="Cambria Math" panose="02040503050406030204" pitchFamily="18" charset="0"/>
                            </a:rPr>
                            <m:t>target</m:t>
                          </m:r>
                        </m:e>
                        <m:sub>
                          <m:r>
                            <m:rPr>
                              <m:sty m:val="p"/>
                            </m:rPr>
                            <a:rPr lang="fr-FR" sz="1100">
                              <a:latin typeface="Cambria Math" panose="02040503050406030204" pitchFamily="18" charset="0"/>
                              <a:ea typeface="Cambria Math" panose="02040503050406030204" pitchFamily="18" charset="0"/>
                            </a:rPr>
                            <m:t>o</m:t>
                          </m:r>
                          <m:r>
                            <a:rPr lang="fr-FR" sz="1100">
                              <a:latin typeface="Cambria Math" panose="02040503050406030204" pitchFamily="18" charset="0"/>
                              <a:ea typeface="Cambria Math" panose="02040503050406030204" pitchFamily="18" charset="0"/>
                            </a:rPr>
                            <m:t>1</m:t>
                          </m:r>
                        </m:sub>
                      </m:sSub>
                      <m:r>
                        <a:rPr lang="fr-FR" sz="1100" i="1">
                          <a:latin typeface="Cambria Math" panose="02040503050406030204" pitchFamily="18" charset="0"/>
                          <a:ea typeface="Cambria Math" panose="02040503050406030204" pitchFamily="18" charset="0"/>
                        </a:rPr>
                        <m:t>− </m:t>
                      </m:r>
                      <m:r>
                        <m:rPr>
                          <m:sty m:val="p"/>
                        </m:rPr>
                        <a:rPr lang="fr-FR" sz="1100">
                          <a:latin typeface="Cambria Math" panose="02040503050406030204" pitchFamily="18" charset="0"/>
                          <a:ea typeface="Cambria Math" panose="02040503050406030204" pitchFamily="18" charset="0"/>
                        </a:rPr>
                        <m:t>out</m:t>
                      </m:r>
                      <m:r>
                        <a:rPr lang="fr-FR" sz="1100">
                          <a:latin typeface="Cambria Math" panose="02040503050406030204" pitchFamily="18" charset="0"/>
                          <a:ea typeface="Cambria Math" panose="02040503050406030204" pitchFamily="18" charset="0"/>
                        </a:rPr>
                        <m:t>_</m:t>
                      </m:r>
                      <m:r>
                        <m:rPr>
                          <m:sty m:val="p"/>
                        </m:rPr>
                        <a:rPr lang="fr-FR" sz="1100">
                          <a:latin typeface="Cambria Math" panose="02040503050406030204" pitchFamily="18" charset="0"/>
                          <a:ea typeface="Cambria Math" panose="02040503050406030204" pitchFamily="18" charset="0"/>
                        </a:rPr>
                        <m:t>o</m:t>
                      </m:r>
                      <m:r>
                        <a:rPr lang="fr-FR" sz="1100">
                          <a:latin typeface="Cambria Math" panose="02040503050406030204" pitchFamily="18" charset="0"/>
                          <a:ea typeface="Cambria Math" panose="02040503050406030204" pitchFamily="18" charset="0"/>
                        </a:rPr>
                        <m:t>1</m:t>
                      </m:r>
                      <m:r>
                        <m:rPr>
                          <m:nor/>
                        </m:rPr>
                        <a:rPr lang="fr-FR" sz="1100" dirty="0">
                          <a:latin typeface="Cambria Math" panose="02040503050406030204" pitchFamily="18" charset="0"/>
                          <a:ea typeface="Cambria Math" panose="02040503050406030204" pitchFamily="18" charset="0"/>
                        </a:rPr>
                        <m:t>)</m:t>
                      </m:r>
                      <m:r>
                        <a:rPr lang="fr-FR" sz="1100" b="0" i="1">
                          <a:solidFill>
                            <a:schemeClr val="tx1"/>
                          </a:solidFill>
                          <a:latin typeface="Cambria Math" panose="02040503050406030204" pitchFamily="18" charset="0"/>
                          <a:ea typeface="Cambria Math" panose="02040503050406030204" pitchFamily="18" charset="0"/>
                        </a:rPr>
                        <m:t>×</m:t>
                      </m:r>
                      <m:r>
                        <m:rPr>
                          <m:nor/>
                        </m:rPr>
                        <a:rPr lang="fr-FR" sz="1100">
                          <a:solidFill>
                            <a:schemeClr val="tx1"/>
                          </a:solidFill>
                          <a:latin typeface="Cambria Math" panose="02040503050406030204" pitchFamily="18" charset="0"/>
                          <a:ea typeface="Cambria Math" panose="02040503050406030204" pitchFamily="18" charset="0"/>
                        </a:rPr>
                        <m:t> </m:t>
                      </m:r>
                      <m:r>
                        <m:rPr>
                          <m:sty m:val="p"/>
                        </m:rPr>
                        <a:rPr lang="fr-FR" sz="1100" b="0" i="0" smtClean="0">
                          <a:solidFill>
                            <a:schemeClr val="tx1"/>
                          </a:solidFill>
                          <a:latin typeface="Cambria Math" panose="02040503050406030204" pitchFamily="18" charset="0"/>
                          <a:ea typeface="Cambria Math" panose="02040503050406030204" pitchFamily="18" charset="0"/>
                        </a:rPr>
                        <m:t>out</m:t>
                      </m:r>
                      <m:r>
                        <a:rPr lang="fr-FR" sz="1100" b="0" i="0" smtClean="0">
                          <a:solidFill>
                            <a:schemeClr val="tx1"/>
                          </a:solidFill>
                          <a:latin typeface="Cambria Math" panose="02040503050406030204" pitchFamily="18" charset="0"/>
                          <a:ea typeface="Cambria Math" panose="02040503050406030204" pitchFamily="18" charset="0"/>
                        </a:rPr>
                        <m:t>_</m:t>
                      </m:r>
                      <m:r>
                        <m:rPr>
                          <m:sty m:val="p"/>
                        </m:rPr>
                        <a:rPr lang="fr-FR" sz="1100" b="0" i="0" smtClean="0">
                          <a:solidFill>
                            <a:schemeClr val="tx1"/>
                          </a:solidFill>
                          <a:latin typeface="Cambria Math" panose="02040503050406030204" pitchFamily="18" charset="0"/>
                          <a:ea typeface="Cambria Math" panose="02040503050406030204" pitchFamily="18" charset="0"/>
                        </a:rPr>
                        <m:t>o</m:t>
                      </m:r>
                      <m:r>
                        <a:rPr lang="fr-FR" sz="1100" b="0" i="0" smtClean="0">
                          <a:solidFill>
                            <a:schemeClr val="tx1"/>
                          </a:solidFill>
                          <a:latin typeface="Cambria Math" panose="02040503050406030204" pitchFamily="18" charset="0"/>
                          <a:ea typeface="Cambria Math" panose="02040503050406030204" pitchFamily="18" charset="0"/>
                        </a:rPr>
                        <m:t>1(1−</m:t>
                      </m:r>
                      <m:r>
                        <m:rPr>
                          <m:sty m:val="p"/>
                        </m:rPr>
                        <a:rPr lang="fr-FR" sz="1100" b="0" i="0" smtClean="0">
                          <a:solidFill>
                            <a:schemeClr val="tx1"/>
                          </a:solidFill>
                          <a:latin typeface="Cambria Math" panose="02040503050406030204" pitchFamily="18" charset="0"/>
                          <a:ea typeface="Cambria Math" panose="02040503050406030204" pitchFamily="18" charset="0"/>
                        </a:rPr>
                        <m:t>out</m:t>
                      </m:r>
                      <m:r>
                        <a:rPr lang="fr-FR" sz="1100" b="0" i="0" smtClean="0">
                          <a:solidFill>
                            <a:schemeClr val="tx1"/>
                          </a:solidFill>
                          <a:latin typeface="Cambria Math" panose="02040503050406030204" pitchFamily="18" charset="0"/>
                          <a:ea typeface="Cambria Math" panose="02040503050406030204" pitchFamily="18" charset="0"/>
                        </a:rPr>
                        <m:t>_</m:t>
                      </m:r>
                      <m:r>
                        <m:rPr>
                          <m:sty m:val="p"/>
                        </m:rPr>
                        <a:rPr lang="fr-FR" sz="1100" b="0" i="0" smtClean="0">
                          <a:solidFill>
                            <a:schemeClr val="tx1"/>
                          </a:solidFill>
                          <a:latin typeface="Cambria Math" panose="02040503050406030204" pitchFamily="18" charset="0"/>
                          <a:ea typeface="Cambria Math" panose="02040503050406030204" pitchFamily="18" charset="0"/>
                        </a:rPr>
                        <m:t>o</m:t>
                      </m:r>
                      <m:r>
                        <a:rPr lang="fr-FR" sz="1100" b="0" i="0" smtClean="0">
                          <a:solidFill>
                            <a:schemeClr val="tx1"/>
                          </a:solidFill>
                          <a:latin typeface="Cambria Math" panose="02040503050406030204" pitchFamily="18" charset="0"/>
                          <a:ea typeface="Cambria Math" panose="02040503050406030204" pitchFamily="18" charset="0"/>
                        </a:rPr>
                        <m:t>1</m:t>
                      </m:r>
                      <m:r>
                        <a:rPr lang="fr-FR" sz="1100" b="0" i="1" smtClean="0">
                          <a:solidFill>
                            <a:schemeClr val="tx1"/>
                          </a:solidFill>
                          <a:latin typeface="Cambria Math" panose="02040503050406030204" pitchFamily="18" charset="0"/>
                          <a:ea typeface="Cambria Math" panose="02040503050406030204" pitchFamily="18" charset="0"/>
                        </a:rPr>
                        <m:t>)</m:t>
                      </m:r>
                      <m:r>
                        <a:rPr lang="fr-FR" sz="1100" b="0" i="1">
                          <a:solidFill>
                            <a:schemeClr val="tx1"/>
                          </a:solidFill>
                          <a:latin typeface="Cambria Math" panose="02040503050406030204" pitchFamily="18" charset="0"/>
                          <a:ea typeface="Cambria Math" panose="02040503050406030204" pitchFamily="18" charset="0"/>
                        </a:rPr>
                        <m:t>×</m:t>
                      </m:r>
                      <m:r>
                        <m:rPr>
                          <m:sty m:val="p"/>
                        </m:rPr>
                        <a:rPr lang="fr-FR" sz="1100" b="0" i="0" smtClean="0">
                          <a:solidFill>
                            <a:schemeClr val="tx1"/>
                          </a:solidFill>
                          <a:latin typeface="Cambria Math" panose="02040503050406030204" pitchFamily="18" charset="0"/>
                          <a:ea typeface="Cambria Math" panose="02040503050406030204" pitchFamily="18" charset="0"/>
                        </a:rPr>
                        <m:t>w</m:t>
                      </m:r>
                      <m:r>
                        <a:rPr lang="fr-FR" sz="1100" b="0" i="0" smtClean="0">
                          <a:solidFill>
                            <a:schemeClr val="tx1"/>
                          </a:solidFill>
                          <a:latin typeface="Cambria Math" panose="02040503050406030204" pitchFamily="18" charset="0"/>
                          <a:ea typeface="Cambria Math" panose="02040503050406030204" pitchFamily="18" charset="0"/>
                        </a:rPr>
                        <m:t>5</m:t>
                      </m:r>
                      <m:r>
                        <a:rPr lang="fr-FR" sz="1100" b="0" i="1" smtClean="0">
                          <a:solidFill>
                            <a:schemeClr val="tx1"/>
                          </a:solidFill>
                          <a:latin typeface="Cambria Math" panose="02040503050406030204" pitchFamily="18" charset="0"/>
                          <a:ea typeface="Cambria Math" panose="02040503050406030204" pitchFamily="18" charset="0"/>
                        </a:rPr>
                        <m:t>×1</m:t>
                      </m:r>
                      <m:r>
                        <a:rPr lang="fr-FR" sz="1100" b="0" i="1" baseline="-25000" smtClean="0">
                          <a:solidFill>
                            <a:schemeClr val="tx1"/>
                          </a:solidFill>
                          <a:latin typeface="Cambria Math" panose="02040503050406030204" pitchFamily="18" charset="0"/>
                          <a:ea typeface="Cambria Math" panose="02040503050406030204" pitchFamily="18" charset="0"/>
                        </a:rPr>
                        <m:t>{</m:t>
                      </m:r>
                      <m:r>
                        <a:rPr lang="fr-FR" sz="1100" b="0" i="1" baseline="-25000">
                          <a:solidFill>
                            <a:schemeClr val="tx1"/>
                          </a:solidFill>
                          <a:latin typeface="Cambria Math" panose="02040503050406030204" pitchFamily="18" charset="0"/>
                          <a:ea typeface="Cambria Math" panose="02040503050406030204" pitchFamily="18" charset="0"/>
                        </a:rPr>
                        <m:t>𝑛𝑒𝑡</m:t>
                      </m:r>
                      <m:r>
                        <a:rPr lang="fr-FR" sz="1100" b="0" i="1" baseline="-25000">
                          <a:solidFill>
                            <a:schemeClr val="tx1"/>
                          </a:solidFill>
                          <a:latin typeface="Cambria Math" panose="02040503050406030204" pitchFamily="18" charset="0"/>
                          <a:ea typeface="Cambria Math" panose="02040503050406030204" pitchFamily="18" charset="0"/>
                        </a:rPr>
                        <m:t>_</m:t>
                      </m:r>
                      <m:r>
                        <a:rPr lang="fr-FR" sz="1100" b="0" i="1" baseline="-25000">
                          <a:solidFill>
                            <a:schemeClr val="tx1"/>
                          </a:solidFill>
                          <a:latin typeface="Cambria Math" panose="02040503050406030204" pitchFamily="18" charset="0"/>
                          <a:ea typeface="Cambria Math" panose="02040503050406030204" pitchFamily="18" charset="0"/>
                        </a:rPr>
                        <m:t>h</m:t>
                      </m:r>
                      <m:r>
                        <a:rPr lang="fr-FR" sz="1100" b="0" i="1" baseline="-25000">
                          <a:solidFill>
                            <a:schemeClr val="tx1"/>
                          </a:solidFill>
                          <a:latin typeface="Cambria Math" panose="02040503050406030204" pitchFamily="18" charset="0"/>
                          <a:ea typeface="Cambria Math" panose="02040503050406030204" pitchFamily="18" charset="0"/>
                        </a:rPr>
                        <m:t>1≥0}</m:t>
                      </m:r>
                    </m:oMath>
                  </m:oMathPara>
                </a14:m>
                <a:endParaRPr lang="fr-FR" sz="1100" baseline="-25000" dirty="0">
                  <a:solidFill>
                    <a:schemeClr val="tx1"/>
                  </a:solidFill>
                  <a:latin typeface="Cambria Math" panose="02040503050406030204" pitchFamily="18" charset="0"/>
                  <a:ea typeface="Cambria Math" panose="02040503050406030204" pitchFamily="18" charset="0"/>
                </a:endParaRPr>
              </a:p>
            </p:txBody>
          </p:sp>
        </mc:Choice>
        <mc:Fallback xmlns="">
          <p:sp>
            <p:nvSpPr>
              <p:cNvPr id="19" name="ZoneTexte 18">
                <a:extLst>
                  <a:ext uri="{FF2B5EF4-FFF2-40B4-BE49-F238E27FC236}">
                    <a16:creationId xmlns:a16="http://schemas.microsoft.com/office/drawing/2014/main" id="{F80CFFF4-D30D-A4A0-4BE7-D2C7828DE598}"/>
                  </a:ext>
                </a:extLst>
              </p:cNvPr>
              <p:cNvSpPr txBox="1">
                <a:spLocks noRot="1" noChangeAspect="1" noMove="1" noResize="1" noEditPoints="1" noAdjustHandles="1" noChangeArrowheads="1" noChangeShapeType="1" noTextEdit="1"/>
              </p:cNvSpPr>
              <p:nvPr/>
            </p:nvSpPr>
            <p:spPr>
              <a:xfrm>
                <a:off x="978171" y="4948838"/>
                <a:ext cx="4752754" cy="414216"/>
              </a:xfrm>
              <a:prstGeom prst="rect">
                <a:avLst/>
              </a:prstGeom>
              <a:blipFill>
                <a:blip r:embed="rId4"/>
                <a:stretch>
                  <a:fillRect/>
                </a:stretch>
              </a:blipFill>
            </p:spPr>
            <p:txBody>
              <a:bodyPr/>
              <a:lstStyle/>
              <a:p>
                <a:r>
                  <a:rPr lang="en-GB">
                    <a:noFill/>
                  </a:rPr>
                  <a:t> </a:t>
                </a:r>
              </a:p>
            </p:txBody>
          </p:sp>
        </mc:Fallback>
      </mc:AlternateContent>
      <p:sp>
        <p:nvSpPr>
          <p:cNvPr id="20" name="ZoneTexte 19">
            <a:extLst>
              <a:ext uri="{FF2B5EF4-FFF2-40B4-BE49-F238E27FC236}">
                <a16:creationId xmlns:a16="http://schemas.microsoft.com/office/drawing/2014/main" id="{68FD0AF1-F9AC-09DB-B0CB-D3F300BA0D97}"/>
              </a:ext>
            </a:extLst>
          </p:cNvPr>
          <p:cNvSpPr txBox="1"/>
          <p:nvPr/>
        </p:nvSpPr>
        <p:spPr>
          <a:xfrm>
            <a:off x="818686" y="4560750"/>
            <a:ext cx="2371064" cy="276999"/>
          </a:xfrm>
          <a:prstGeom prst="rect">
            <a:avLst/>
          </a:prstGeom>
          <a:noFill/>
        </p:spPr>
        <p:txBody>
          <a:bodyPr wrap="square" rtlCol="0">
            <a:spAutoFit/>
          </a:bodyPr>
          <a:lstStyle/>
          <a:p>
            <a:r>
              <a:rPr lang="en-GB" sz="1200" b="1" noProof="0" dirty="0"/>
              <a:t>From previously we know that:</a:t>
            </a:r>
          </a:p>
        </p:txBody>
      </p:sp>
      <p:sp>
        <p:nvSpPr>
          <p:cNvPr id="21" name="ZoneTexte 20">
            <a:extLst>
              <a:ext uri="{FF2B5EF4-FFF2-40B4-BE49-F238E27FC236}">
                <a16:creationId xmlns:a16="http://schemas.microsoft.com/office/drawing/2014/main" id="{7D561602-6111-EA72-6C34-16A23F3950F2}"/>
              </a:ext>
            </a:extLst>
          </p:cNvPr>
          <p:cNvSpPr txBox="1"/>
          <p:nvPr/>
        </p:nvSpPr>
        <p:spPr>
          <a:xfrm>
            <a:off x="6528460" y="1334708"/>
            <a:ext cx="3157800" cy="307777"/>
          </a:xfrm>
          <a:prstGeom prst="rect">
            <a:avLst/>
          </a:prstGeom>
          <a:noFill/>
        </p:spPr>
        <p:txBody>
          <a:bodyPr wrap="square" rtlCol="0">
            <a:spAutoFit/>
          </a:bodyPr>
          <a:lstStyle/>
          <a:p>
            <a:r>
              <a:rPr lang="fr-FR" sz="1400" b="1" dirty="0">
                <a:solidFill>
                  <a:srgbClr val="FF0000"/>
                </a:solidFill>
              </a:rPr>
              <a:t>BACKPROPAGATION</a:t>
            </a:r>
            <a:r>
              <a:rPr lang="fr-FR" sz="1400" b="1" dirty="0"/>
              <a:t> + CHAIN RULE</a:t>
            </a:r>
          </a:p>
        </p:txBody>
      </p:sp>
      <p:sp>
        <p:nvSpPr>
          <p:cNvPr id="22" name="Flèche vers la gauche 21">
            <a:extLst>
              <a:ext uri="{FF2B5EF4-FFF2-40B4-BE49-F238E27FC236}">
                <a16:creationId xmlns:a16="http://schemas.microsoft.com/office/drawing/2014/main" id="{F7B2D138-5108-7D19-4180-2D9C8AF59739}"/>
              </a:ext>
            </a:extLst>
          </p:cNvPr>
          <p:cNvSpPr/>
          <p:nvPr/>
        </p:nvSpPr>
        <p:spPr>
          <a:xfrm rot="18488585" flipV="1">
            <a:off x="893644" y="2166790"/>
            <a:ext cx="1250269" cy="274824"/>
          </a:xfrm>
          <a:prstGeom prst="leftArrow">
            <a:avLst>
              <a:gd name="adj1" fmla="val 49587"/>
              <a:gd name="adj2" fmla="val 50000"/>
            </a:avLst>
          </a:prstGeom>
          <a:solidFill>
            <a:srgbClr val="FF00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4" name="Connecteur droit 23">
            <a:extLst>
              <a:ext uri="{FF2B5EF4-FFF2-40B4-BE49-F238E27FC236}">
                <a16:creationId xmlns:a16="http://schemas.microsoft.com/office/drawing/2014/main" id="{5CD5DD92-1271-CD14-F671-9FDA6D489AEB}"/>
              </a:ext>
            </a:extLst>
          </p:cNvPr>
          <p:cNvCxnSpPr>
            <a:cxnSpLocks/>
          </p:cNvCxnSpPr>
          <p:nvPr/>
        </p:nvCxnSpPr>
        <p:spPr>
          <a:xfrm>
            <a:off x="1862348" y="1823186"/>
            <a:ext cx="2688387" cy="0"/>
          </a:xfrm>
          <a:prstGeom prst="line">
            <a:avLst/>
          </a:prstGeom>
          <a:ln w="136525">
            <a:solidFill>
              <a:srgbClr val="FF0000">
                <a:alpha val="50000"/>
              </a:srgbClr>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0" name="ZoneTexte 29">
                <a:extLst>
                  <a:ext uri="{FF2B5EF4-FFF2-40B4-BE49-F238E27FC236}">
                    <a16:creationId xmlns:a16="http://schemas.microsoft.com/office/drawing/2014/main" id="{CF4DD02A-35BF-2DA8-2C01-9C87B4059C99}"/>
                  </a:ext>
                </a:extLst>
              </p:cNvPr>
              <p:cNvSpPr txBox="1"/>
              <p:nvPr/>
            </p:nvSpPr>
            <p:spPr>
              <a:xfrm>
                <a:off x="4051002" y="1383388"/>
                <a:ext cx="642969" cy="414216"/>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f>
                        <m:fPr>
                          <m:ctrlPr>
                            <a:rPr lang="fr-FR" sz="1050" i="1" smtClean="0">
                              <a:solidFill>
                                <a:srgbClr val="FF0000"/>
                              </a:solidFill>
                              <a:latin typeface="Cambria Math" panose="02040503050406030204" pitchFamily="18" charset="0"/>
                            </a:rPr>
                          </m:ctrlPr>
                        </m:fPr>
                        <m:num>
                          <m:r>
                            <a:rPr lang="fr-FR" sz="1050" i="0" smtClean="0">
                              <a:solidFill>
                                <a:srgbClr val="FF0000"/>
                              </a:solidFill>
                              <a:latin typeface="Cambria Math" panose="02040503050406030204" pitchFamily="18" charset="0"/>
                            </a:rPr>
                            <m:t>𝜕</m:t>
                          </m:r>
                          <m:r>
                            <m:rPr>
                              <m:sty m:val="p"/>
                            </m:rPr>
                            <a:rPr lang="fr-FR" sz="1050" b="0" i="0" smtClean="0">
                              <a:solidFill>
                                <a:srgbClr val="FF0000"/>
                              </a:solidFill>
                              <a:latin typeface="Cambria Math" panose="02040503050406030204" pitchFamily="18" charset="0"/>
                            </a:rPr>
                            <m:t>Loss</m:t>
                          </m:r>
                          <m:r>
                            <a:rPr lang="fr-FR" sz="1050" b="0" i="0" smtClean="0">
                              <a:solidFill>
                                <a:srgbClr val="FF0000"/>
                              </a:solidFill>
                              <a:latin typeface="Cambria Math" panose="02040503050406030204" pitchFamily="18" charset="0"/>
                            </a:rPr>
                            <m:t>1</m:t>
                          </m:r>
                        </m:num>
                        <m:den>
                          <m:r>
                            <a:rPr lang="fr-FR" sz="1050" i="0" smtClean="0">
                              <a:solidFill>
                                <a:srgbClr val="FF0000"/>
                              </a:solidFill>
                              <a:latin typeface="Cambria Math" panose="02040503050406030204" pitchFamily="18" charset="0"/>
                            </a:rPr>
                            <m:t>𝜕</m:t>
                          </m:r>
                          <m:r>
                            <m:rPr>
                              <m:sty m:val="p"/>
                            </m:rPr>
                            <a:rPr lang="fr-FR" sz="1050" b="0" i="0" smtClean="0">
                              <a:solidFill>
                                <a:srgbClr val="FF0000"/>
                              </a:solidFill>
                              <a:latin typeface="Cambria Math" panose="02040503050406030204" pitchFamily="18" charset="0"/>
                            </a:rPr>
                            <m:t>w</m:t>
                          </m:r>
                          <m:r>
                            <a:rPr lang="fr-FR" sz="1050" b="0" i="1" smtClean="0">
                              <a:solidFill>
                                <a:srgbClr val="FF0000"/>
                              </a:solidFill>
                              <a:latin typeface="Cambria Math" panose="02040503050406030204" pitchFamily="18" charset="0"/>
                            </a:rPr>
                            <m:t>2</m:t>
                          </m:r>
                        </m:den>
                      </m:f>
                    </m:oMath>
                  </m:oMathPara>
                </a14:m>
                <a:endParaRPr lang="fr-FR" sz="1050" b="1" dirty="0">
                  <a:solidFill>
                    <a:srgbClr val="FF0000"/>
                  </a:solidFill>
                </a:endParaRPr>
              </a:p>
            </p:txBody>
          </p:sp>
        </mc:Choice>
        <mc:Fallback xmlns="">
          <p:sp>
            <p:nvSpPr>
              <p:cNvPr id="30" name="ZoneTexte 29">
                <a:extLst>
                  <a:ext uri="{FF2B5EF4-FFF2-40B4-BE49-F238E27FC236}">
                    <a16:creationId xmlns:a16="http://schemas.microsoft.com/office/drawing/2014/main" id="{CF4DD02A-35BF-2DA8-2C01-9C87B4059C99}"/>
                  </a:ext>
                </a:extLst>
              </p:cNvPr>
              <p:cNvSpPr txBox="1">
                <a:spLocks noRot="1" noChangeAspect="1" noMove="1" noResize="1" noEditPoints="1" noAdjustHandles="1" noChangeArrowheads="1" noChangeShapeType="1" noTextEdit="1"/>
              </p:cNvSpPr>
              <p:nvPr/>
            </p:nvSpPr>
            <p:spPr>
              <a:xfrm>
                <a:off x="4051002" y="1383388"/>
                <a:ext cx="642969" cy="414216"/>
              </a:xfrm>
              <a:prstGeom prst="rect">
                <a:avLst/>
              </a:prstGeom>
              <a:blipFill>
                <a:blip r:embed="rId5"/>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1" name="ZoneTexte 30">
                <a:extLst>
                  <a:ext uri="{FF2B5EF4-FFF2-40B4-BE49-F238E27FC236}">
                    <a16:creationId xmlns:a16="http://schemas.microsoft.com/office/drawing/2014/main" id="{23DC870D-22BE-55E7-E387-6093B406B137}"/>
                  </a:ext>
                </a:extLst>
              </p:cNvPr>
              <p:cNvSpPr txBox="1"/>
              <p:nvPr/>
            </p:nvSpPr>
            <p:spPr>
              <a:xfrm>
                <a:off x="6365540" y="2658994"/>
                <a:ext cx="5254767" cy="443455"/>
              </a:xfrm>
              <a:prstGeom prst="rect">
                <a:avLst/>
              </a:prstGeom>
              <a:noFill/>
              <a:ln>
                <a:solidFill>
                  <a:srgbClr val="FF0000"/>
                </a:solidFill>
              </a:ln>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fr-FR" sz="1200" i="1" smtClean="0">
                              <a:solidFill>
                                <a:schemeClr val="tx1"/>
                              </a:solidFill>
                              <a:latin typeface="Cambria Math" panose="02040503050406030204" pitchFamily="18" charset="0"/>
                              <a:ea typeface="Cambria Math" panose="02040503050406030204" pitchFamily="18" charset="0"/>
                            </a:rPr>
                          </m:ctrlPr>
                        </m:fPr>
                        <m:num>
                          <m:r>
                            <a:rPr lang="fr-FR" sz="1200" b="0" i="1">
                              <a:solidFill>
                                <a:schemeClr val="tx1"/>
                              </a:solidFill>
                              <a:latin typeface="Cambria Math" panose="02040503050406030204" pitchFamily="18" charset="0"/>
                              <a:ea typeface="Cambria Math" panose="02040503050406030204" pitchFamily="18" charset="0"/>
                            </a:rPr>
                            <m:t>𝜕</m:t>
                          </m:r>
                          <m:r>
                            <a:rPr lang="fr-FR" sz="1200" b="0" i="1">
                              <a:solidFill>
                                <a:schemeClr val="tx1"/>
                              </a:solidFill>
                              <a:latin typeface="Cambria Math" panose="02040503050406030204" pitchFamily="18" charset="0"/>
                              <a:ea typeface="Cambria Math" panose="02040503050406030204" pitchFamily="18" charset="0"/>
                            </a:rPr>
                            <m:t>𝐿𝑜𝑠𝑠</m:t>
                          </m:r>
                          <m:r>
                            <a:rPr lang="fr-FR" sz="1200" b="0" i="1">
                              <a:solidFill>
                                <a:schemeClr val="tx1"/>
                              </a:solidFill>
                              <a:latin typeface="Cambria Math" panose="02040503050406030204" pitchFamily="18" charset="0"/>
                              <a:ea typeface="Cambria Math" panose="02040503050406030204" pitchFamily="18" charset="0"/>
                            </a:rPr>
                            <m:t>1</m:t>
                          </m:r>
                        </m:num>
                        <m:den>
                          <m:r>
                            <a:rPr lang="fr-FR" sz="1200" b="0" i="1" smtClean="0">
                              <a:solidFill>
                                <a:schemeClr val="tx1"/>
                              </a:solidFill>
                              <a:latin typeface="Cambria Math" panose="02040503050406030204" pitchFamily="18" charset="0"/>
                              <a:ea typeface="Cambria Math" panose="02040503050406030204" pitchFamily="18" charset="0"/>
                            </a:rPr>
                            <m:t>𝜕</m:t>
                          </m:r>
                          <m:r>
                            <m:rPr>
                              <m:sty m:val="p"/>
                            </m:rPr>
                            <a:rPr lang="fr-FR" sz="1200" b="0" i="0" smtClean="0">
                              <a:solidFill>
                                <a:schemeClr val="tx1"/>
                              </a:solidFill>
                              <a:latin typeface="Cambria Math" panose="02040503050406030204" pitchFamily="18" charset="0"/>
                              <a:ea typeface="Cambria Math" panose="02040503050406030204" pitchFamily="18" charset="0"/>
                            </a:rPr>
                            <m:t>w</m:t>
                          </m:r>
                          <m:r>
                            <a:rPr lang="fr-FR" sz="1200" b="0" i="0" smtClean="0">
                              <a:solidFill>
                                <a:schemeClr val="tx1"/>
                              </a:solidFill>
                              <a:latin typeface="Cambria Math" panose="02040503050406030204" pitchFamily="18" charset="0"/>
                              <a:ea typeface="Cambria Math" panose="02040503050406030204" pitchFamily="18" charset="0"/>
                            </a:rPr>
                            <m:t>2</m:t>
                          </m:r>
                        </m:den>
                      </m:f>
                      <m:r>
                        <a:rPr lang="fr-FR" sz="1200" b="0">
                          <a:solidFill>
                            <a:schemeClr val="tx1"/>
                          </a:solidFill>
                          <a:latin typeface="Cambria Math" panose="02040503050406030204" pitchFamily="18" charset="0"/>
                        </a:rPr>
                        <m:t>=</m:t>
                      </m:r>
                      <m:r>
                        <m:rPr>
                          <m:nor/>
                        </m:rPr>
                        <a:rPr lang="fr-FR" sz="1200">
                          <a:latin typeface="Cambria Math" panose="02040503050406030204" pitchFamily="18" charset="0"/>
                        </a:rPr>
                        <m:t>−2</m:t>
                      </m:r>
                      <m:r>
                        <m:rPr>
                          <m:nor/>
                        </m:rPr>
                        <a:rPr lang="fr-FR" sz="1200" dirty="0">
                          <a:latin typeface="Cambria Math" panose="02040503050406030204" pitchFamily="18" charset="0"/>
                          <a:ea typeface="Cambria Math" panose="02040503050406030204" pitchFamily="18" charset="0"/>
                        </a:rPr>
                        <m:t>(</m:t>
                      </m:r>
                      <m:sSub>
                        <m:sSubPr>
                          <m:ctrlPr>
                            <a:rPr lang="fr-FR" sz="1200" i="1" dirty="0">
                              <a:latin typeface="Cambria Math" panose="02040503050406030204" pitchFamily="18" charset="0"/>
                              <a:ea typeface="Cambria Math" panose="02040503050406030204" pitchFamily="18" charset="0"/>
                            </a:rPr>
                          </m:ctrlPr>
                        </m:sSubPr>
                        <m:e>
                          <m:r>
                            <m:rPr>
                              <m:sty m:val="p"/>
                            </m:rPr>
                            <a:rPr lang="fr-FR" sz="1200">
                              <a:latin typeface="Cambria Math" panose="02040503050406030204" pitchFamily="18" charset="0"/>
                              <a:ea typeface="Cambria Math" panose="02040503050406030204" pitchFamily="18" charset="0"/>
                            </a:rPr>
                            <m:t>target</m:t>
                          </m:r>
                        </m:e>
                        <m:sub>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m:t>
                          </m:r>
                        </m:sub>
                      </m:sSub>
                      <m:r>
                        <a:rPr lang="fr-FR" sz="1200" i="1">
                          <a:latin typeface="Cambria Math" panose="02040503050406030204" pitchFamily="18" charset="0"/>
                          <a:ea typeface="Cambria Math" panose="02040503050406030204" pitchFamily="18" charset="0"/>
                        </a:rPr>
                        <m:t>− </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m:t>
                      </m:r>
                      <m:r>
                        <m:rPr>
                          <m:nor/>
                        </m:rPr>
                        <a:rPr lang="fr-FR" sz="1200" dirty="0">
                          <a:latin typeface="Cambria Math" panose="02040503050406030204" pitchFamily="18" charset="0"/>
                          <a:ea typeface="Cambria Math" panose="02040503050406030204" pitchFamily="18" charset="0"/>
                        </a:rPr>
                        <m:t>)</m:t>
                      </m:r>
                      <m:r>
                        <a:rPr lang="fr-FR" sz="1200" b="0" i="1">
                          <a:solidFill>
                            <a:schemeClr val="tx1"/>
                          </a:solidFill>
                          <a:latin typeface="Cambria Math" panose="02040503050406030204" pitchFamily="18" charset="0"/>
                          <a:ea typeface="Cambria Math" panose="02040503050406030204" pitchFamily="18" charset="0"/>
                        </a:rPr>
                        <m:t>×</m:t>
                      </m:r>
                      <m:r>
                        <m:rPr>
                          <m:nor/>
                        </m:rPr>
                        <a:rPr lang="fr-FR" sz="1200">
                          <a:solidFill>
                            <a:schemeClr val="tx1"/>
                          </a:solidFill>
                          <a:latin typeface="Cambria Math" panose="02040503050406030204" pitchFamily="18" charset="0"/>
                          <a:ea typeface="Cambria Math" panose="02040503050406030204" pitchFamily="18" charset="0"/>
                        </a:rPr>
                        <m:t> </m:t>
                      </m:r>
                      <m:r>
                        <m:rPr>
                          <m:sty m:val="p"/>
                        </m:rPr>
                        <a:rPr lang="fr-FR" sz="1200" b="0" i="0" smtClean="0">
                          <a:solidFill>
                            <a:schemeClr val="tx1"/>
                          </a:solidFill>
                          <a:latin typeface="Cambria Math" panose="02040503050406030204" pitchFamily="18" charset="0"/>
                          <a:ea typeface="Cambria Math" panose="02040503050406030204" pitchFamily="18" charset="0"/>
                        </a:rPr>
                        <m:t>out</m:t>
                      </m:r>
                      <m:r>
                        <a:rPr lang="fr-FR" sz="1200" b="0" i="0" smtClean="0">
                          <a:solidFill>
                            <a:schemeClr val="tx1"/>
                          </a:solidFill>
                          <a:latin typeface="Cambria Math" panose="02040503050406030204" pitchFamily="18" charset="0"/>
                          <a:ea typeface="Cambria Math" panose="02040503050406030204" pitchFamily="18" charset="0"/>
                        </a:rPr>
                        <m:t>_</m:t>
                      </m:r>
                      <m:r>
                        <m:rPr>
                          <m:sty m:val="p"/>
                        </m:rPr>
                        <a:rPr lang="fr-FR" sz="1200" b="0" i="0" smtClean="0">
                          <a:solidFill>
                            <a:schemeClr val="tx1"/>
                          </a:solidFill>
                          <a:latin typeface="Cambria Math" panose="02040503050406030204" pitchFamily="18" charset="0"/>
                          <a:ea typeface="Cambria Math" panose="02040503050406030204" pitchFamily="18" charset="0"/>
                        </a:rPr>
                        <m:t>o</m:t>
                      </m:r>
                      <m:r>
                        <a:rPr lang="fr-FR" sz="1200" b="0" i="0" smtClean="0">
                          <a:solidFill>
                            <a:schemeClr val="tx1"/>
                          </a:solidFill>
                          <a:latin typeface="Cambria Math" panose="02040503050406030204" pitchFamily="18" charset="0"/>
                          <a:ea typeface="Cambria Math" panose="02040503050406030204" pitchFamily="18" charset="0"/>
                        </a:rPr>
                        <m:t>1(1−</m:t>
                      </m:r>
                      <m:r>
                        <m:rPr>
                          <m:sty m:val="p"/>
                        </m:rPr>
                        <a:rPr lang="fr-FR" sz="1200" b="0" i="0" smtClean="0">
                          <a:solidFill>
                            <a:schemeClr val="tx1"/>
                          </a:solidFill>
                          <a:latin typeface="Cambria Math" panose="02040503050406030204" pitchFamily="18" charset="0"/>
                          <a:ea typeface="Cambria Math" panose="02040503050406030204" pitchFamily="18" charset="0"/>
                        </a:rPr>
                        <m:t>out</m:t>
                      </m:r>
                      <m:r>
                        <a:rPr lang="fr-FR" sz="1200" b="0" i="0" smtClean="0">
                          <a:solidFill>
                            <a:schemeClr val="tx1"/>
                          </a:solidFill>
                          <a:latin typeface="Cambria Math" panose="02040503050406030204" pitchFamily="18" charset="0"/>
                          <a:ea typeface="Cambria Math" panose="02040503050406030204" pitchFamily="18" charset="0"/>
                        </a:rPr>
                        <m:t>_</m:t>
                      </m:r>
                      <m:r>
                        <m:rPr>
                          <m:sty m:val="p"/>
                        </m:rPr>
                        <a:rPr lang="fr-FR" sz="1200" b="0" i="0" smtClean="0">
                          <a:solidFill>
                            <a:schemeClr val="tx1"/>
                          </a:solidFill>
                          <a:latin typeface="Cambria Math" panose="02040503050406030204" pitchFamily="18" charset="0"/>
                          <a:ea typeface="Cambria Math" panose="02040503050406030204" pitchFamily="18" charset="0"/>
                        </a:rPr>
                        <m:t>o</m:t>
                      </m:r>
                      <m:r>
                        <a:rPr lang="fr-FR" sz="1200" b="0" i="0" smtClean="0">
                          <a:solidFill>
                            <a:schemeClr val="tx1"/>
                          </a:solidFill>
                          <a:latin typeface="Cambria Math" panose="02040503050406030204" pitchFamily="18" charset="0"/>
                          <a:ea typeface="Cambria Math" panose="02040503050406030204" pitchFamily="18" charset="0"/>
                        </a:rPr>
                        <m:t>1</m:t>
                      </m:r>
                      <m:r>
                        <a:rPr lang="fr-FR" sz="1200" b="0" i="1" smtClean="0">
                          <a:solidFill>
                            <a:schemeClr val="tx1"/>
                          </a:solidFill>
                          <a:latin typeface="Cambria Math" panose="02040503050406030204" pitchFamily="18" charset="0"/>
                          <a:ea typeface="Cambria Math" panose="02040503050406030204" pitchFamily="18" charset="0"/>
                        </a:rPr>
                        <m:t>)</m:t>
                      </m:r>
                      <m:r>
                        <a:rPr lang="fr-FR" sz="1200" b="0" i="1">
                          <a:solidFill>
                            <a:schemeClr val="tx1"/>
                          </a:solidFill>
                          <a:latin typeface="Cambria Math" panose="02040503050406030204" pitchFamily="18" charset="0"/>
                          <a:ea typeface="Cambria Math" panose="02040503050406030204" pitchFamily="18" charset="0"/>
                        </a:rPr>
                        <m:t>×</m:t>
                      </m:r>
                      <m:r>
                        <m:rPr>
                          <m:sty m:val="p"/>
                        </m:rPr>
                        <a:rPr lang="fr-FR" sz="1200" b="0" i="0" smtClean="0">
                          <a:solidFill>
                            <a:schemeClr val="tx1"/>
                          </a:solidFill>
                          <a:latin typeface="Cambria Math" panose="02040503050406030204" pitchFamily="18" charset="0"/>
                          <a:ea typeface="Cambria Math" panose="02040503050406030204" pitchFamily="18" charset="0"/>
                        </a:rPr>
                        <m:t>w</m:t>
                      </m:r>
                      <m:r>
                        <a:rPr lang="fr-FR" sz="1200" b="0" i="0" smtClean="0">
                          <a:solidFill>
                            <a:schemeClr val="tx1"/>
                          </a:solidFill>
                          <a:latin typeface="Cambria Math" panose="02040503050406030204" pitchFamily="18" charset="0"/>
                          <a:ea typeface="Cambria Math" panose="02040503050406030204" pitchFamily="18" charset="0"/>
                        </a:rPr>
                        <m:t>5</m:t>
                      </m:r>
                      <m:r>
                        <a:rPr lang="fr-FR" sz="1200" b="0" i="1" smtClean="0">
                          <a:solidFill>
                            <a:schemeClr val="tx1"/>
                          </a:solidFill>
                          <a:latin typeface="Cambria Math" panose="02040503050406030204" pitchFamily="18" charset="0"/>
                          <a:ea typeface="Cambria Math" panose="02040503050406030204" pitchFamily="18" charset="0"/>
                        </a:rPr>
                        <m:t>×1</m:t>
                      </m:r>
                      <m:r>
                        <a:rPr lang="fr-FR" sz="1200" b="0" i="1" baseline="-25000" smtClean="0">
                          <a:solidFill>
                            <a:schemeClr val="tx1"/>
                          </a:solidFill>
                          <a:latin typeface="Cambria Math" panose="02040503050406030204" pitchFamily="18" charset="0"/>
                          <a:ea typeface="Cambria Math" panose="02040503050406030204" pitchFamily="18" charset="0"/>
                        </a:rPr>
                        <m:t>{</m:t>
                      </m:r>
                      <m:r>
                        <a:rPr lang="fr-FR" sz="1200" b="0" i="1" baseline="-25000">
                          <a:solidFill>
                            <a:schemeClr val="tx1"/>
                          </a:solidFill>
                          <a:latin typeface="Cambria Math" panose="02040503050406030204" pitchFamily="18" charset="0"/>
                          <a:ea typeface="Cambria Math" panose="02040503050406030204" pitchFamily="18" charset="0"/>
                        </a:rPr>
                        <m:t>𝑛𝑒𝑡</m:t>
                      </m:r>
                      <m:r>
                        <a:rPr lang="fr-FR" sz="1200" b="0" i="1" baseline="-25000">
                          <a:solidFill>
                            <a:schemeClr val="tx1"/>
                          </a:solidFill>
                          <a:latin typeface="Cambria Math" panose="02040503050406030204" pitchFamily="18" charset="0"/>
                          <a:ea typeface="Cambria Math" panose="02040503050406030204" pitchFamily="18" charset="0"/>
                        </a:rPr>
                        <m:t>_</m:t>
                      </m:r>
                      <m:r>
                        <a:rPr lang="fr-FR" sz="1200" b="0" i="1" baseline="-25000">
                          <a:solidFill>
                            <a:schemeClr val="tx1"/>
                          </a:solidFill>
                          <a:latin typeface="Cambria Math" panose="02040503050406030204" pitchFamily="18" charset="0"/>
                          <a:ea typeface="Cambria Math" panose="02040503050406030204" pitchFamily="18" charset="0"/>
                        </a:rPr>
                        <m:t>h</m:t>
                      </m:r>
                      <m:r>
                        <a:rPr lang="fr-FR" sz="1200" b="0" i="1" baseline="-25000">
                          <a:solidFill>
                            <a:schemeClr val="tx1"/>
                          </a:solidFill>
                          <a:latin typeface="Cambria Math" panose="02040503050406030204" pitchFamily="18" charset="0"/>
                          <a:ea typeface="Cambria Math" panose="02040503050406030204" pitchFamily="18" charset="0"/>
                        </a:rPr>
                        <m:t>1≥0})×</m:t>
                      </m:r>
                      <m:r>
                        <m:rPr>
                          <m:sty m:val="p"/>
                        </m:rPr>
                        <a:rPr lang="fr-FR" sz="1200" b="0" i="0" smtClean="0">
                          <a:solidFill>
                            <a:schemeClr val="accent2"/>
                          </a:solidFill>
                          <a:latin typeface="Cambria Math" panose="02040503050406030204" pitchFamily="18" charset="0"/>
                          <a:ea typeface="Cambria Math" panose="02040503050406030204" pitchFamily="18" charset="0"/>
                        </a:rPr>
                        <m:t>i</m:t>
                      </m:r>
                      <m:r>
                        <a:rPr lang="fr-FR" sz="1200" b="0" i="0" baseline="-25000" smtClean="0">
                          <a:solidFill>
                            <a:schemeClr val="accent2"/>
                          </a:solidFill>
                          <a:latin typeface="Cambria Math" panose="02040503050406030204" pitchFamily="18" charset="0"/>
                          <a:ea typeface="Cambria Math" panose="02040503050406030204" pitchFamily="18" charset="0"/>
                        </a:rPr>
                        <m:t>2</m:t>
                      </m:r>
                    </m:oMath>
                  </m:oMathPara>
                </a14:m>
                <a:endParaRPr lang="fr-FR" sz="1200" baseline="-25000" dirty="0">
                  <a:solidFill>
                    <a:schemeClr val="tx1"/>
                  </a:solidFill>
                  <a:latin typeface="Cambria Math" panose="02040503050406030204" pitchFamily="18" charset="0"/>
                  <a:ea typeface="Cambria Math" panose="02040503050406030204" pitchFamily="18" charset="0"/>
                </a:endParaRPr>
              </a:p>
            </p:txBody>
          </p:sp>
        </mc:Choice>
        <mc:Fallback xmlns="">
          <p:sp>
            <p:nvSpPr>
              <p:cNvPr id="31" name="ZoneTexte 30">
                <a:extLst>
                  <a:ext uri="{FF2B5EF4-FFF2-40B4-BE49-F238E27FC236}">
                    <a16:creationId xmlns:a16="http://schemas.microsoft.com/office/drawing/2014/main" id="{23DC870D-22BE-55E7-E387-6093B406B137}"/>
                  </a:ext>
                </a:extLst>
              </p:cNvPr>
              <p:cNvSpPr txBox="1">
                <a:spLocks noRot="1" noChangeAspect="1" noMove="1" noResize="1" noEditPoints="1" noAdjustHandles="1" noChangeArrowheads="1" noChangeShapeType="1" noTextEdit="1"/>
              </p:cNvSpPr>
              <p:nvPr/>
            </p:nvSpPr>
            <p:spPr>
              <a:xfrm>
                <a:off x="6365540" y="2658994"/>
                <a:ext cx="5254767" cy="443455"/>
              </a:xfrm>
              <a:prstGeom prst="rect">
                <a:avLst/>
              </a:prstGeom>
              <a:blipFill>
                <a:blip r:embed="rId6"/>
                <a:stretch>
                  <a:fillRect/>
                </a:stretch>
              </a:blipFill>
              <a:ln>
                <a:solidFill>
                  <a:srgbClr val="FF0000"/>
                </a:solidFill>
              </a:ln>
            </p:spPr>
            <p:txBody>
              <a:bodyPr/>
              <a:lstStyle/>
              <a:p>
                <a:r>
                  <a:rPr lang="en-GB">
                    <a:noFill/>
                  </a:rPr>
                  <a:t> </a:t>
                </a:r>
              </a:p>
            </p:txBody>
          </p:sp>
        </mc:Fallback>
      </mc:AlternateContent>
      <p:sp>
        <p:nvSpPr>
          <p:cNvPr id="32" name="ZoneTexte 31">
            <a:extLst>
              <a:ext uri="{FF2B5EF4-FFF2-40B4-BE49-F238E27FC236}">
                <a16:creationId xmlns:a16="http://schemas.microsoft.com/office/drawing/2014/main" id="{4E897041-3C48-6468-F94B-AE0D45A00048}"/>
              </a:ext>
            </a:extLst>
          </p:cNvPr>
          <p:cNvSpPr txBox="1"/>
          <p:nvPr/>
        </p:nvSpPr>
        <p:spPr>
          <a:xfrm>
            <a:off x="6365540" y="3429000"/>
            <a:ext cx="1280857" cy="261610"/>
          </a:xfrm>
          <a:prstGeom prst="rect">
            <a:avLst/>
          </a:prstGeom>
          <a:noFill/>
        </p:spPr>
        <p:txBody>
          <a:bodyPr wrap="square" rtlCol="0">
            <a:spAutoFit/>
          </a:bodyPr>
          <a:lstStyle/>
          <a:p>
            <a:r>
              <a:rPr lang="en-GB" sz="1100" b="1" noProof="0" dirty="0"/>
              <a:t>Symmetrically</a:t>
            </a:r>
          </a:p>
        </p:txBody>
      </p:sp>
      <mc:AlternateContent xmlns:mc="http://schemas.openxmlformats.org/markup-compatibility/2006" xmlns:a14="http://schemas.microsoft.com/office/drawing/2010/main">
        <mc:Choice Requires="a14">
          <p:sp>
            <p:nvSpPr>
              <p:cNvPr id="33" name="ZoneTexte 32">
                <a:extLst>
                  <a:ext uri="{FF2B5EF4-FFF2-40B4-BE49-F238E27FC236}">
                    <a16:creationId xmlns:a16="http://schemas.microsoft.com/office/drawing/2014/main" id="{5E0D4084-CED5-3C75-1DEE-4AC46640CDCB}"/>
                  </a:ext>
                </a:extLst>
              </p:cNvPr>
              <p:cNvSpPr txBox="1"/>
              <p:nvPr/>
            </p:nvSpPr>
            <p:spPr>
              <a:xfrm>
                <a:off x="6395584" y="3648566"/>
                <a:ext cx="5254767" cy="363882"/>
              </a:xfrm>
              <a:prstGeom prst="rect">
                <a:avLst/>
              </a:prstGeom>
              <a:noFill/>
              <a:ln>
                <a:solidFill>
                  <a:srgbClr val="FF0000"/>
                </a:solidFill>
              </a:ln>
            </p:spPr>
            <p:txBody>
              <a:bodyPr wrap="square" rtlCol="0">
                <a:spAutoFit/>
              </a:bodyPr>
              <a:lstStyle/>
              <a:p>
                <a14:m>
                  <m:oMath xmlns:m="http://schemas.openxmlformats.org/officeDocument/2006/math">
                    <m:f>
                      <m:fPr>
                        <m:ctrlPr>
                          <a:rPr lang="fr-FR" sz="1200" i="1" smtClean="0">
                            <a:solidFill>
                              <a:schemeClr val="tx1"/>
                            </a:solidFill>
                            <a:latin typeface="Cambria Math" panose="02040503050406030204" pitchFamily="18" charset="0"/>
                            <a:ea typeface="Cambria Math" panose="02040503050406030204" pitchFamily="18" charset="0"/>
                          </a:rPr>
                        </m:ctrlPr>
                      </m:fPr>
                      <m:num>
                        <m:r>
                          <a:rPr lang="fr-FR" sz="1200" b="0" i="1">
                            <a:solidFill>
                              <a:schemeClr val="tx1"/>
                            </a:solidFill>
                            <a:latin typeface="Cambria Math" panose="02040503050406030204" pitchFamily="18" charset="0"/>
                            <a:ea typeface="Cambria Math" panose="02040503050406030204" pitchFamily="18" charset="0"/>
                          </a:rPr>
                          <m:t>𝜕</m:t>
                        </m:r>
                        <m:r>
                          <a:rPr lang="fr-FR" sz="1200" b="0" i="1">
                            <a:solidFill>
                              <a:schemeClr val="tx1"/>
                            </a:solidFill>
                            <a:latin typeface="Cambria Math" panose="02040503050406030204" pitchFamily="18" charset="0"/>
                            <a:ea typeface="Cambria Math" panose="02040503050406030204" pitchFamily="18" charset="0"/>
                          </a:rPr>
                          <m:t>𝐿𝑜𝑠𝑠</m:t>
                        </m:r>
                        <m:r>
                          <a:rPr lang="fr-FR" sz="1200" b="0" i="1" smtClean="0">
                            <a:solidFill>
                              <a:schemeClr val="tx1"/>
                            </a:solidFill>
                            <a:latin typeface="Cambria Math" panose="02040503050406030204" pitchFamily="18" charset="0"/>
                            <a:ea typeface="Cambria Math" panose="02040503050406030204" pitchFamily="18" charset="0"/>
                          </a:rPr>
                          <m:t>2</m:t>
                        </m:r>
                      </m:num>
                      <m:den>
                        <m:r>
                          <a:rPr lang="fr-FR" sz="1200" b="0" i="1" smtClean="0">
                            <a:solidFill>
                              <a:schemeClr val="tx1"/>
                            </a:solidFill>
                            <a:latin typeface="Cambria Math" panose="02040503050406030204" pitchFamily="18" charset="0"/>
                            <a:ea typeface="Cambria Math" panose="02040503050406030204" pitchFamily="18" charset="0"/>
                          </a:rPr>
                          <m:t>𝜕</m:t>
                        </m:r>
                        <m:r>
                          <m:rPr>
                            <m:sty m:val="p"/>
                          </m:rPr>
                          <a:rPr lang="fr-FR" sz="1200" b="0" i="0" smtClean="0">
                            <a:solidFill>
                              <a:schemeClr val="tx1"/>
                            </a:solidFill>
                            <a:latin typeface="Cambria Math" panose="02040503050406030204" pitchFamily="18" charset="0"/>
                            <a:ea typeface="Cambria Math" panose="02040503050406030204" pitchFamily="18" charset="0"/>
                          </a:rPr>
                          <m:t>w</m:t>
                        </m:r>
                        <m:r>
                          <a:rPr lang="fr-FR" sz="1200" b="0" i="1" smtClean="0">
                            <a:solidFill>
                              <a:schemeClr val="tx1"/>
                            </a:solidFill>
                            <a:latin typeface="Cambria Math" panose="02040503050406030204" pitchFamily="18" charset="0"/>
                            <a:ea typeface="Cambria Math" panose="02040503050406030204" pitchFamily="18" charset="0"/>
                          </a:rPr>
                          <m:t>3</m:t>
                        </m:r>
                      </m:den>
                    </m:f>
                    <m:r>
                      <a:rPr lang="fr-FR" sz="1200" b="0">
                        <a:solidFill>
                          <a:schemeClr val="tx1"/>
                        </a:solidFill>
                        <a:latin typeface="Cambria Math" panose="02040503050406030204" pitchFamily="18" charset="0"/>
                      </a:rPr>
                      <m:t>=</m:t>
                    </m:r>
                    <m:r>
                      <m:rPr>
                        <m:nor/>
                      </m:rPr>
                      <a:rPr lang="fr-FR" sz="1200">
                        <a:latin typeface="Cambria Math" panose="02040503050406030204" pitchFamily="18" charset="0"/>
                        <a:ea typeface="Cambria Math" panose="02040503050406030204" pitchFamily="18" charset="0"/>
                      </a:rPr>
                      <m:t>−2</m:t>
                    </m:r>
                    <m:r>
                      <m:rPr>
                        <m:nor/>
                      </m:rPr>
                      <a:rPr lang="fr-FR" sz="1200" dirty="0">
                        <a:latin typeface="Cambria Math" panose="02040503050406030204" pitchFamily="18" charset="0"/>
                        <a:ea typeface="Cambria Math" panose="02040503050406030204" pitchFamily="18" charset="0"/>
                      </a:rPr>
                      <m:t>(</m:t>
                    </m:r>
                    <m:sSub>
                      <m:sSubPr>
                        <m:ctrlPr>
                          <a:rPr lang="fr-FR" sz="1200" i="1" dirty="0">
                            <a:latin typeface="Cambria Math" panose="02040503050406030204" pitchFamily="18" charset="0"/>
                            <a:ea typeface="Cambria Math" panose="02040503050406030204" pitchFamily="18" charset="0"/>
                          </a:rPr>
                        </m:ctrlPr>
                      </m:sSubPr>
                      <m:e>
                        <m:r>
                          <m:rPr>
                            <m:sty m:val="p"/>
                          </m:rPr>
                          <a:rPr lang="fr-FR" sz="1200">
                            <a:latin typeface="Cambria Math" panose="02040503050406030204" pitchFamily="18" charset="0"/>
                            <a:ea typeface="Cambria Math" panose="02040503050406030204" pitchFamily="18" charset="0"/>
                          </a:rPr>
                          <m:t>target</m:t>
                        </m:r>
                      </m:e>
                      <m:sub>
                        <m:r>
                          <m:rPr>
                            <m:sty m:val="p"/>
                          </m:rPr>
                          <a:rPr lang="fr-FR" sz="1200">
                            <a:latin typeface="Cambria Math" panose="02040503050406030204" pitchFamily="18" charset="0"/>
                            <a:ea typeface="Cambria Math" panose="02040503050406030204" pitchFamily="18" charset="0"/>
                          </a:rPr>
                          <m:t>o</m:t>
                        </m:r>
                        <m:r>
                          <m:rPr>
                            <m:nor/>
                          </m:rPr>
                          <a:rPr lang="fr-FR" sz="1200">
                            <a:latin typeface="Cambria Math" panose="02040503050406030204" pitchFamily="18" charset="0"/>
                            <a:ea typeface="Cambria Math" panose="02040503050406030204" pitchFamily="18" charset="0"/>
                          </a:rPr>
                          <m:t>2</m:t>
                        </m:r>
                      </m:sub>
                    </m:sSub>
                    <m:r>
                      <a:rPr lang="fr-FR" sz="1200" i="1">
                        <a:latin typeface="Cambria Math" panose="02040503050406030204" pitchFamily="18" charset="0"/>
                        <a:ea typeface="Cambria Math" panose="02040503050406030204" pitchFamily="18" charset="0"/>
                      </a:rPr>
                      <m:t>− </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2</m:t>
                    </m:r>
                    <m:r>
                      <a:rPr lang="fr-FR" sz="1200" i="1">
                        <a:latin typeface="Cambria Math" panose="02040503050406030204" pitchFamily="18" charset="0"/>
                        <a:ea typeface="Cambria Math" panose="02040503050406030204" pitchFamily="18" charset="0"/>
                      </a:rPr>
                      <m:t>)</m:t>
                    </m:r>
                    <m:r>
                      <a:rPr lang="fr-FR" sz="1200" b="0" i="1">
                        <a:solidFill>
                          <a:schemeClr val="tx1"/>
                        </a:solidFill>
                        <a:latin typeface="Cambria Math" panose="02040503050406030204" pitchFamily="18" charset="0"/>
                        <a:ea typeface="Cambria Math" panose="02040503050406030204" pitchFamily="18" charset="0"/>
                      </a:rPr>
                      <m:t>×</m:t>
                    </m:r>
                    <m:r>
                      <m:rPr>
                        <m:nor/>
                      </m:rPr>
                      <a:rPr lang="fr-FR" sz="1200">
                        <a:solidFill>
                          <a:schemeClr val="tx1"/>
                        </a:solidFill>
                        <a:latin typeface="Cambria Math" panose="02040503050406030204" pitchFamily="18" charset="0"/>
                        <a:ea typeface="Cambria Math" panose="02040503050406030204" pitchFamily="18" charset="0"/>
                      </a:rPr>
                      <m:t> </m:t>
                    </m:r>
                    <m:r>
                      <m:rPr>
                        <m:sty m:val="p"/>
                      </m:rPr>
                      <a:rPr lang="fr-FR" sz="1200" b="0" i="0" smtClean="0">
                        <a:solidFill>
                          <a:schemeClr val="tx1"/>
                        </a:solidFill>
                        <a:latin typeface="Cambria Math" panose="02040503050406030204" pitchFamily="18" charset="0"/>
                        <a:ea typeface="Cambria Math" panose="02040503050406030204" pitchFamily="18" charset="0"/>
                      </a:rPr>
                      <m:t>out</m:t>
                    </m:r>
                    <m:r>
                      <a:rPr lang="fr-FR" sz="1200" b="0" i="0" smtClean="0">
                        <a:solidFill>
                          <a:schemeClr val="tx1"/>
                        </a:solidFill>
                        <a:latin typeface="Cambria Math" panose="02040503050406030204" pitchFamily="18" charset="0"/>
                        <a:ea typeface="Cambria Math" panose="02040503050406030204" pitchFamily="18" charset="0"/>
                      </a:rPr>
                      <m:t>_</m:t>
                    </m:r>
                    <m:r>
                      <m:rPr>
                        <m:sty m:val="p"/>
                      </m:rPr>
                      <a:rPr lang="fr-FR" sz="1200" b="0" i="0" smtClean="0">
                        <a:solidFill>
                          <a:schemeClr val="tx1"/>
                        </a:solidFill>
                        <a:latin typeface="Cambria Math" panose="02040503050406030204" pitchFamily="18" charset="0"/>
                        <a:ea typeface="Cambria Math" panose="02040503050406030204" pitchFamily="18" charset="0"/>
                      </a:rPr>
                      <m:t>o</m:t>
                    </m:r>
                    <m:r>
                      <a:rPr lang="fr-FR" sz="1200" b="0" i="0" smtClean="0">
                        <a:solidFill>
                          <a:schemeClr val="tx1"/>
                        </a:solidFill>
                        <a:latin typeface="Cambria Math" panose="02040503050406030204" pitchFamily="18" charset="0"/>
                        <a:ea typeface="Cambria Math" panose="02040503050406030204" pitchFamily="18" charset="0"/>
                      </a:rPr>
                      <m:t>2(1−</m:t>
                    </m:r>
                    <m:r>
                      <m:rPr>
                        <m:sty m:val="p"/>
                      </m:rPr>
                      <a:rPr lang="fr-FR" sz="1200" b="0" i="0" smtClean="0">
                        <a:solidFill>
                          <a:schemeClr val="tx1"/>
                        </a:solidFill>
                        <a:latin typeface="Cambria Math" panose="02040503050406030204" pitchFamily="18" charset="0"/>
                        <a:ea typeface="Cambria Math" panose="02040503050406030204" pitchFamily="18" charset="0"/>
                      </a:rPr>
                      <m:t>out</m:t>
                    </m:r>
                    <m:r>
                      <a:rPr lang="fr-FR" sz="1200" b="0" i="0" smtClean="0">
                        <a:solidFill>
                          <a:schemeClr val="tx1"/>
                        </a:solidFill>
                        <a:latin typeface="Cambria Math" panose="02040503050406030204" pitchFamily="18" charset="0"/>
                        <a:ea typeface="Cambria Math" panose="02040503050406030204" pitchFamily="18" charset="0"/>
                      </a:rPr>
                      <m:t>_</m:t>
                    </m:r>
                    <m:r>
                      <m:rPr>
                        <m:sty m:val="p"/>
                      </m:rPr>
                      <a:rPr lang="fr-FR" sz="1200" b="0" i="0" smtClean="0">
                        <a:solidFill>
                          <a:schemeClr val="tx1"/>
                        </a:solidFill>
                        <a:latin typeface="Cambria Math" panose="02040503050406030204" pitchFamily="18" charset="0"/>
                        <a:ea typeface="Cambria Math" panose="02040503050406030204" pitchFamily="18" charset="0"/>
                      </a:rPr>
                      <m:t>o</m:t>
                    </m:r>
                    <m:r>
                      <a:rPr lang="fr-FR" sz="1200" b="0" i="1" smtClean="0">
                        <a:solidFill>
                          <a:schemeClr val="tx1"/>
                        </a:solidFill>
                        <a:latin typeface="Cambria Math" panose="02040503050406030204" pitchFamily="18" charset="0"/>
                        <a:ea typeface="Cambria Math" panose="02040503050406030204" pitchFamily="18" charset="0"/>
                      </a:rPr>
                      <m:t>2)</m:t>
                    </m:r>
                    <m:r>
                      <a:rPr lang="fr-FR" sz="1200" b="0" i="1">
                        <a:solidFill>
                          <a:schemeClr val="tx1"/>
                        </a:solidFill>
                        <a:latin typeface="Cambria Math" panose="02040503050406030204" pitchFamily="18" charset="0"/>
                        <a:ea typeface="Cambria Math" panose="02040503050406030204" pitchFamily="18" charset="0"/>
                      </a:rPr>
                      <m:t>×</m:t>
                    </m:r>
                    <m:r>
                      <m:rPr>
                        <m:sty m:val="p"/>
                      </m:rPr>
                      <a:rPr lang="fr-FR" sz="1200" b="0" i="0" smtClean="0">
                        <a:solidFill>
                          <a:schemeClr val="tx1"/>
                        </a:solidFill>
                        <a:latin typeface="Cambria Math" panose="02040503050406030204" pitchFamily="18" charset="0"/>
                        <a:ea typeface="Cambria Math" panose="02040503050406030204" pitchFamily="18" charset="0"/>
                      </a:rPr>
                      <m:t>w</m:t>
                    </m:r>
                    <m:r>
                      <a:rPr lang="fr-FR" sz="1200" b="0" i="1" smtClean="0">
                        <a:solidFill>
                          <a:schemeClr val="tx1"/>
                        </a:solidFill>
                        <a:latin typeface="Cambria Math" panose="02040503050406030204" pitchFamily="18" charset="0"/>
                        <a:ea typeface="Cambria Math" panose="02040503050406030204" pitchFamily="18" charset="0"/>
                      </a:rPr>
                      <m:t>8×1</m:t>
                    </m:r>
                    <m:r>
                      <a:rPr lang="fr-FR" sz="1200" b="0" i="1" baseline="-25000" smtClean="0">
                        <a:solidFill>
                          <a:schemeClr val="tx1"/>
                        </a:solidFill>
                        <a:latin typeface="Cambria Math" panose="02040503050406030204" pitchFamily="18" charset="0"/>
                        <a:ea typeface="Cambria Math" panose="02040503050406030204" pitchFamily="18" charset="0"/>
                      </a:rPr>
                      <m:t>{</m:t>
                    </m:r>
                    <m:r>
                      <a:rPr lang="fr-FR" sz="1200" b="0" i="1" baseline="-25000">
                        <a:solidFill>
                          <a:schemeClr val="tx1"/>
                        </a:solidFill>
                        <a:latin typeface="Cambria Math" panose="02040503050406030204" pitchFamily="18" charset="0"/>
                        <a:ea typeface="Cambria Math" panose="02040503050406030204" pitchFamily="18" charset="0"/>
                      </a:rPr>
                      <m:t>𝑛𝑒𝑡</m:t>
                    </m:r>
                    <m:r>
                      <a:rPr lang="fr-FR" sz="1200" b="0" i="1" baseline="-25000">
                        <a:solidFill>
                          <a:schemeClr val="tx1"/>
                        </a:solidFill>
                        <a:latin typeface="Cambria Math" panose="02040503050406030204" pitchFamily="18" charset="0"/>
                        <a:ea typeface="Cambria Math" panose="02040503050406030204" pitchFamily="18" charset="0"/>
                      </a:rPr>
                      <m:t>_</m:t>
                    </m:r>
                    <m:r>
                      <a:rPr lang="fr-FR" sz="1200" b="0" i="1" baseline="-25000">
                        <a:solidFill>
                          <a:schemeClr val="tx1"/>
                        </a:solidFill>
                        <a:latin typeface="Cambria Math" panose="02040503050406030204" pitchFamily="18" charset="0"/>
                        <a:ea typeface="Cambria Math" panose="02040503050406030204" pitchFamily="18" charset="0"/>
                      </a:rPr>
                      <m:t>h</m:t>
                    </m:r>
                    <m:r>
                      <a:rPr lang="fr-FR" sz="1200" b="0" i="1" baseline="-25000" smtClean="0">
                        <a:solidFill>
                          <a:schemeClr val="tx1"/>
                        </a:solidFill>
                        <a:latin typeface="Cambria Math" panose="02040503050406030204" pitchFamily="18" charset="0"/>
                        <a:ea typeface="Cambria Math" panose="02040503050406030204" pitchFamily="18" charset="0"/>
                      </a:rPr>
                      <m:t>2</m:t>
                    </m:r>
                    <m:r>
                      <a:rPr lang="fr-FR" sz="1200" b="0" i="1" baseline="-25000">
                        <a:solidFill>
                          <a:schemeClr val="tx1"/>
                        </a:solidFill>
                        <a:latin typeface="Cambria Math" panose="02040503050406030204" pitchFamily="18" charset="0"/>
                        <a:ea typeface="Cambria Math" panose="02040503050406030204" pitchFamily="18" charset="0"/>
                      </a:rPr>
                      <m:t>≥</m:t>
                    </m:r>
                    <m:r>
                      <a:rPr lang="fr-FR" sz="1200" b="0" i="1" baseline="-25000" smtClean="0">
                        <a:solidFill>
                          <a:schemeClr val="tx1"/>
                        </a:solidFill>
                        <a:latin typeface="Cambria Math" panose="02040503050406030204" pitchFamily="18" charset="0"/>
                        <a:ea typeface="Cambria Math" panose="02040503050406030204" pitchFamily="18" charset="0"/>
                      </a:rPr>
                      <m:t>0}</m:t>
                    </m:r>
                    <m:r>
                      <a:rPr lang="fr-FR" sz="1200" i="1">
                        <a:latin typeface="Cambria Math" panose="02040503050406030204" pitchFamily="18" charset="0"/>
                        <a:ea typeface="Cambria Math" panose="02040503050406030204" pitchFamily="18" charset="0"/>
                      </a:rPr>
                      <m:t>)×</m:t>
                    </m:r>
                    <m:r>
                      <m:rPr>
                        <m:sty m:val="p"/>
                      </m:rPr>
                      <a:rPr lang="fr-FR" sz="1200" b="0" i="0" smtClean="0">
                        <a:solidFill>
                          <a:schemeClr val="tx1"/>
                        </a:solidFill>
                        <a:latin typeface="Cambria Math" panose="02040503050406030204" pitchFamily="18" charset="0"/>
                        <a:ea typeface="Cambria Math" panose="02040503050406030204" pitchFamily="18" charset="0"/>
                      </a:rPr>
                      <m:t>i</m:t>
                    </m:r>
                  </m:oMath>
                </a14:m>
                <a:r>
                  <a:rPr lang="fr-FR" sz="1200" baseline="-25000" dirty="0">
                    <a:solidFill>
                      <a:schemeClr val="tx1"/>
                    </a:solidFill>
                    <a:latin typeface="Cambria Math" panose="02040503050406030204" pitchFamily="18" charset="0"/>
                    <a:ea typeface="Cambria Math" panose="02040503050406030204" pitchFamily="18" charset="0"/>
                  </a:rPr>
                  <a:t>1</a:t>
                </a:r>
              </a:p>
            </p:txBody>
          </p:sp>
        </mc:Choice>
        <mc:Fallback xmlns="">
          <p:sp>
            <p:nvSpPr>
              <p:cNvPr id="33" name="ZoneTexte 32">
                <a:extLst>
                  <a:ext uri="{FF2B5EF4-FFF2-40B4-BE49-F238E27FC236}">
                    <a16:creationId xmlns:a16="http://schemas.microsoft.com/office/drawing/2014/main" id="{5E0D4084-CED5-3C75-1DEE-4AC46640CDCB}"/>
                  </a:ext>
                </a:extLst>
              </p:cNvPr>
              <p:cNvSpPr txBox="1">
                <a:spLocks noRot="1" noChangeAspect="1" noMove="1" noResize="1" noEditPoints="1" noAdjustHandles="1" noChangeArrowheads="1" noChangeShapeType="1" noTextEdit="1"/>
              </p:cNvSpPr>
              <p:nvPr/>
            </p:nvSpPr>
            <p:spPr>
              <a:xfrm>
                <a:off x="6395584" y="3648566"/>
                <a:ext cx="5254767" cy="363882"/>
              </a:xfrm>
              <a:prstGeom prst="rect">
                <a:avLst/>
              </a:prstGeom>
              <a:blipFill>
                <a:blip r:embed="rId7"/>
                <a:stretch>
                  <a:fillRect/>
                </a:stretch>
              </a:blipFill>
              <a:ln>
                <a:solidFill>
                  <a:srgbClr val="FF0000"/>
                </a:solidFill>
              </a:ln>
            </p:spPr>
            <p:txBody>
              <a:bodyPr/>
              <a:lstStyle/>
              <a:p>
                <a:r>
                  <a:rPr lang="en-GB">
                    <a:noFill/>
                  </a:rPr>
                  <a:t> </a:t>
                </a:r>
              </a:p>
            </p:txBody>
          </p:sp>
        </mc:Fallback>
      </mc:AlternateContent>
      <p:sp>
        <p:nvSpPr>
          <p:cNvPr id="34" name="Espace réservé du pied de page 33">
            <a:extLst>
              <a:ext uri="{FF2B5EF4-FFF2-40B4-BE49-F238E27FC236}">
                <a16:creationId xmlns:a16="http://schemas.microsoft.com/office/drawing/2014/main" id="{5A20B744-A55E-7719-6126-156874D80B34}"/>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19341529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04153-BCA0-0FF7-DE66-55319C1EC381}"/>
            </a:ext>
          </a:extLst>
        </p:cNvPr>
        <p:cNvGrpSpPr/>
        <p:nvPr/>
      </p:nvGrpSpPr>
      <p:grpSpPr>
        <a:xfrm>
          <a:off x="0" y="0"/>
          <a:ext cx="0" cy="0"/>
          <a:chOff x="0" y="0"/>
          <a:chExt cx="0" cy="0"/>
        </a:xfrm>
      </p:grpSpPr>
      <p:pic>
        <p:nvPicPr>
          <p:cNvPr id="8" name="Image 7">
            <a:extLst>
              <a:ext uri="{FF2B5EF4-FFF2-40B4-BE49-F238E27FC236}">
                <a16:creationId xmlns:a16="http://schemas.microsoft.com/office/drawing/2014/main" id="{218D1833-BEC3-B4A3-EE01-AB5AAE5789A3}"/>
              </a:ext>
            </a:extLst>
          </p:cNvPr>
          <p:cNvPicPr>
            <a:picLocks noChangeAspect="1"/>
          </p:cNvPicPr>
          <p:nvPr/>
        </p:nvPicPr>
        <p:blipFill>
          <a:blip r:embed="rId2"/>
          <a:stretch>
            <a:fillRect/>
          </a:stretch>
        </p:blipFill>
        <p:spPr>
          <a:xfrm>
            <a:off x="611183" y="1339034"/>
            <a:ext cx="5734704" cy="2759500"/>
          </a:xfrm>
          <a:prstGeom prst="rect">
            <a:avLst/>
          </a:prstGeom>
        </p:spPr>
      </p:pic>
      <p:sp>
        <p:nvSpPr>
          <p:cNvPr id="2" name="Titre 1">
            <a:extLst>
              <a:ext uri="{FF2B5EF4-FFF2-40B4-BE49-F238E27FC236}">
                <a16:creationId xmlns:a16="http://schemas.microsoft.com/office/drawing/2014/main" id="{CE4D90B3-92B4-1BA9-29E5-E95C5E3BC3A3}"/>
              </a:ext>
            </a:extLst>
          </p:cNvPr>
          <p:cNvSpPr>
            <a:spLocks noGrp="1"/>
          </p:cNvSpPr>
          <p:nvPr>
            <p:ph type="title"/>
          </p:nvPr>
        </p:nvSpPr>
        <p:spPr/>
        <p:txBody>
          <a:bodyPr/>
          <a:lstStyle/>
          <a:p>
            <a:r>
              <a:rPr lang="fr-FR" dirty="0"/>
              <a:t>Neural Network</a:t>
            </a:r>
          </a:p>
        </p:txBody>
      </p:sp>
      <p:sp>
        <p:nvSpPr>
          <p:cNvPr id="73" name="ZoneTexte 72">
            <a:extLst>
              <a:ext uri="{FF2B5EF4-FFF2-40B4-BE49-F238E27FC236}">
                <a16:creationId xmlns:a16="http://schemas.microsoft.com/office/drawing/2014/main" id="{53F70634-9524-835B-8536-85718D2B386F}"/>
              </a:ext>
            </a:extLst>
          </p:cNvPr>
          <p:cNvSpPr txBox="1"/>
          <p:nvPr/>
        </p:nvSpPr>
        <p:spPr>
          <a:xfrm>
            <a:off x="6872060" y="760834"/>
            <a:ext cx="3324563" cy="584775"/>
          </a:xfrm>
          <a:prstGeom prst="rect">
            <a:avLst/>
          </a:prstGeom>
          <a:noFill/>
        </p:spPr>
        <p:txBody>
          <a:bodyPr wrap="square" rtlCol="0">
            <a:spAutoFit/>
          </a:bodyPr>
          <a:lstStyle/>
          <a:p>
            <a:r>
              <a:rPr lang="en-GB" sz="3200" b="1" noProof="0" dirty="0"/>
              <a:t>Gradient</a:t>
            </a:r>
          </a:p>
        </p:txBody>
      </p:sp>
      <p:sp>
        <p:nvSpPr>
          <p:cNvPr id="21" name="ZoneTexte 20">
            <a:extLst>
              <a:ext uri="{FF2B5EF4-FFF2-40B4-BE49-F238E27FC236}">
                <a16:creationId xmlns:a16="http://schemas.microsoft.com/office/drawing/2014/main" id="{AAEE7BCA-EB74-C4A0-4E8D-3675EA763C89}"/>
              </a:ext>
            </a:extLst>
          </p:cNvPr>
          <p:cNvSpPr txBox="1"/>
          <p:nvPr/>
        </p:nvSpPr>
        <p:spPr>
          <a:xfrm>
            <a:off x="6528460" y="1334708"/>
            <a:ext cx="3157800" cy="307777"/>
          </a:xfrm>
          <a:prstGeom prst="rect">
            <a:avLst/>
          </a:prstGeom>
          <a:noFill/>
        </p:spPr>
        <p:txBody>
          <a:bodyPr wrap="square" rtlCol="0">
            <a:spAutoFit/>
          </a:bodyPr>
          <a:lstStyle/>
          <a:p>
            <a:r>
              <a:rPr lang="fr-FR" sz="1400" b="1" dirty="0">
                <a:solidFill>
                  <a:srgbClr val="FF0000"/>
                </a:solidFill>
              </a:rPr>
              <a:t>BACKPROPAGATION</a:t>
            </a:r>
            <a:r>
              <a:rPr lang="fr-FR" sz="1400" b="1" dirty="0"/>
              <a:t> + CHAIN RULE</a:t>
            </a:r>
          </a:p>
        </p:txBody>
      </p:sp>
      <p:sp>
        <p:nvSpPr>
          <p:cNvPr id="22" name="Flèche vers la gauche 21">
            <a:extLst>
              <a:ext uri="{FF2B5EF4-FFF2-40B4-BE49-F238E27FC236}">
                <a16:creationId xmlns:a16="http://schemas.microsoft.com/office/drawing/2014/main" id="{FA22D04B-E82F-FC6B-28BB-E1321BEA4ADD}"/>
              </a:ext>
            </a:extLst>
          </p:cNvPr>
          <p:cNvSpPr/>
          <p:nvPr/>
        </p:nvSpPr>
        <p:spPr>
          <a:xfrm rot="18488585" flipV="1">
            <a:off x="2329043" y="2166790"/>
            <a:ext cx="1250269" cy="274824"/>
          </a:xfrm>
          <a:prstGeom prst="leftArrow">
            <a:avLst>
              <a:gd name="adj1" fmla="val 49587"/>
              <a:gd name="adj2" fmla="val 50000"/>
            </a:avLst>
          </a:prstGeom>
          <a:solidFill>
            <a:srgbClr val="FF00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4" name="Connecteur droit 23">
            <a:extLst>
              <a:ext uri="{FF2B5EF4-FFF2-40B4-BE49-F238E27FC236}">
                <a16:creationId xmlns:a16="http://schemas.microsoft.com/office/drawing/2014/main" id="{707339DA-9A2F-1E53-FD9D-6BCC719FC83E}"/>
              </a:ext>
            </a:extLst>
          </p:cNvPr>
          <p:cNvCxnSpPr>
            <a:cxnSpLocks/>
          </p:cNvCxnSpPr>
          <p:nvPr/>
        </p:nvCxnSpPr>
        <p:spPr>
          <a:xfrm>
            <a:off x="3338623" y="1823186"/>
            <a:ext cx="1212112" cy="0"/>
          </a:xfrm>
          <a:prstGeom prst="line">
            <a:avLst/>
          </a:prstGeom>
          <a:ln w="136525">
            <a:solidFill>
              <a:srgbClr val="FF0000">
                <a:alpha val="50000"/>
              </a:srgbClr>
            </a:solidFill>
          </a:ln>
        </p:spPr>
        <p:style>
          <a:lnRef idx="2">
            <a:schemeClr val="accent1"/>
          </a:lnRef>
          <a:fillRef idx="0">
            <a:schemeClr val="accent1"/>
          </a:fillRef>
          <a:effectRef idx="1">
            <a:schemeClr val="accent1"/>
          </a:effectRef>
          <a:fontRef idx="minor">
            <a:schemeClr val="tx1"/>
          </a:fontRef>
        </p:style>
      </p:cxnSp>
      <p:sp>
        <p:nvSpPr>
          <p:cNvPr id="4" name="Flèche vers la gauche 3">
            <a:extLst>
              <a:ext uri="{FF2B5EF4-FFF2-40B4-BE49-F238E27FC236}">
                <a16:creationId xmlns:a16="http://schemas.microsoft.com/office/drawing/2014/main" id="{0C7B70F1-166F-CCDD-D44D-B0828B693A36}"/>
              </a:ext>
            </a:extLst>
          </p:cNvPr>
          <p:cNvSpPr/>
          <p:nvPr/>
        </p:nvSpPr>
        <p:spPr>
          <a:xfrm rot="3023640">
            <a:off x="1031880" y="2209391"/>
            <a:ext cx="1168864" cy="319029"/>
          </a:xfrm>
          <a:prstGeom prst="leftArrow">
            <a:avLst/>
          </a:prstGeom>
          <a:solidFill>
            <a:srgbClr val="FF00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3" name="Connecteur droit 2">
            <a:extLst>
              <a:ext uri="{FF2B5EF4-FFF2-40B4-BE49-F238E27FC236}">
                <a16:creationId xmlns:a16="http://schemas.microsoft.com/office/drawing/2014/main" id="{0F8FE6EC-B12E-BF9F-753F-08D6769915F1}"/>
              </a:ext>
            </a:extLst>
          </p:cNvPr>
          <p:cNvCxnSpPr>
            <a:cxnSpLocks/>
          </p:cNvCxnSpPr>
          <p:nvPr/>
        </p:nvCxnSpPr>
        <p:spPr>
          <a:xfrm>
            <a:off x="1853950" y="2743205"/>
            <a:ext cx="792000" cy="0"/>
          </a:xfrm>
          <a:prstGeom prst="line">
            <a:avLst/>
          </a:prstGeom>
          <a:ln w="136525">
            <a:solidFill>
              <a:srgbClr val="FF0000">
                <a:alpha val="50000"/>
              </a:srgbClr>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814688F4-2D63-6F73-77B4-75456515519A}"/>
                  </a:ext>
                </a:extLst>
              </p:cNvPr>
              <p:cNvSpPr txBox="1"/>
              <p:nvPr/>
            </p:nvSpPr>
            <p:spPr>
              <a:xfrm>
                <a:off x="4051002" y="1372755"/>
                <a:ext cx="642969" cy="414216"/>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f>
                        <m:fPr>
                          <m:ctrlPr>
                            <a:rPr lang="fr-FR" sz="1050" i="1" smtClean="0">
                              <a:solidFill>
                                <a:srgbClr val="FF0000"/>
                              </a:solidFill>
                              <a:latin typeface="Cambria Math" panose="02040503050406030204" pitchFamily="18" charset="0"/>
                            </a:rPr>
                          </m:ctrlPr>
                        </m:fPr>
                        <m:num>
                          <m:r>
                            <a:rPr lang="fr-FR" sz="1050" i="0" smtClean="0">
                              <a:solidFill>
                                <a:srgbClr val="FF0000"/>
                              </a:solidFill>
                              <a:latin typeface="Cambria Math" panose="02040503050406030204" pitchFamily="18" charset="0"/>
                            </a:rPr>
                            <m:t>𝜕</m:t>
                          </m:r>
                          <m:r>
                            <m:rPr>
                              <m:sty m:val="p"/>
                            </m:rPr>
                            <a:rPr lang="fr-FR" sz="1050" b="0" i="0" smtClean="0">
                              <a:solidFill>
                                <a:srgbClr val="FF0000"/>
                              </a:solidFill>
                              <a:latin typeface="Cambria Math" panose="02040503050406030204" pitchFamily="18" charset="0"/>
                            </a:rPr>
                            <m:t>Loss</m:t>
                          </m:r>
                          <m:r>
                            <a:rPr lang="fr-FR" sz="1050" b="0" i="0" smtClean="0">
                              <a:solidFill>
                                <a:srgbClr val="FF0000"/>
                              </a:solidFill>
                              <a:latin typeface="Cambria Math" panose="02040503050406030204" pitchFamily="18" charset="0"/>
                            </a:rPr>
                            <m:t>1</m:t>
                          </m:r>
                        </m:num>
                        <m:den>
                          <m:r>
                            <a:rPr lang="fr-FR" sz="1050" i="0" smtClean="0">
                              <a:solidFill>
                                <a:srgbClr val="FF0000"/>
                              </a:solidFill>
                              <a:latin typeface="Cambria Math" panose="02040503050406030204" pitchFamily="18" charset="0"/>
                            </a:rPr>
                            <m:t>𝜕</m:t>
                          </m:r>
                          <m:r>
                            <m:rPr>
                              <m:sty m:val="p"/>
                            </m:rPr>
                            <a:rPr lang="fr-FR" sz="1050" b="0" i="0" smtClean="0">
                              <a:solidFill>
                                <a:srgbClr val="FF0000"/>
                              </a:solidFill>
                              <a:latin typeface="Cambria Math" panose="02040503050406030204" pitchFamily="18" charset="0"/>
                            </a:rPr>
                            <m:t>w</m:t>
                          </m:r>
                          <m:r>
                            <a:rPr lang="fr-FR" sz="1050" b="0" i="1" smtClean="0">
                              <a:solidFill>
                                <a:srgbClr val="FF0000"/>
                              </a:solidFill>
                              <a:latin typeface="Cambria Math" panose="02040503050406030204" pitchFamily="18" charset="0"/>
                            </a:rPr>
                            <m:t>3</m:t>
                          </m:r>
                        </m:den>
                      </m:f>
                    </m:oMath>
                  </m:oMathPara>
                </a14:m>
                <a:endParaRPr lang="fr-FR" sz="1050" b="1" dirty="0">
                  <a:solidFill>
                    <a:srgbClr val="FF0000"/>
                  </a:solidFill>
                </a:endParaRPr>
              </a:p>
            </p:txBody>
          </p:sp>
        </mc:Choice>
        <mc:Fallback xmlns="">
          <p:sp>
            <p:nvSpPr>
              <p:cNvPr id="6" name="ZoneTexte 5">
                <a:extLst>
                  <a:ext uri="{FF2B5EF4-FFF2-40B4-BE49-F238E27FC236}">
                    <a16:creationId xmlns:a16="http://schemas.microsoft.com/office/drawing/2014/main" id="{814688F4-2D63-6F73-77B4-75456515519A}"/>
                  </a:ext>
                </a:extLst>
              </p:cNvPr>
              <p:cNvSpPr txBox="1">
                <a:spLocks noRot="1" noChangeAspect="1" noMove="1" noResize="1" noEditPoints="1" noAdjustHandles="1" noChangeArrowheads="1" noChangeShapeType="1" noTextEdit="1"/>
              </p:cNvSpPr>
              <p:nvPr/>
            </p:nvSpPr>
            <p:spPr>
              <a:xfrm>
                <a:off x="4051002" y="1372755"/>
                <a:ext cx="642969" cy="414216"/>
              </a:xfrm>
              <a:prstGeom prst="rect">
                <a:avLst/>
              </a:prstGeom>
              <a:blipFill>
                <a:blip r:embed="rId3"/>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061788EA-757C-A7BC-2B75-49623EDF3CCC}"/>
                  </a:ext>
                </a:extLst>
              </p:cNvPr>
              <p:cNvSpPr txBox="1"/>
              <p:nvPr/>
            </p:nvSpPr>
            <p:spPr>
              <a:xfrm>
                <a:off x="6365540" y="1900809"/>
                <a:ext cx="4307282" cy="409086"/>
              </a:xfrm>
              <a:prstGeom prst="rect">
                <a:avLst/>
              </a:prstGeom>
              <a:noFill/>
            </p:spPr>
            <p:txBody>
              <a:bodyPr wrap="square" rtlCol="0">
                <a:spAutoFit/>
              </a:bodyPr>
              <a:lstStyle/>
              <a:p>
                <a14:m>
                  <m:oMath xmlns:m="http://schemas.openxmlformats.org/officeDocument/2006/math">
                    <m:f>
                      <m:fPr>
                        <m:ctrlPr>
                          <a:rPr lang="fr-FR" sz="1400" i="1" smtClean="0">
                            <a:latin typeface="Cambria Math" panose="02040503050406030204" pitchFamily="18" charset="0"/>
                          </a:rPr>
                        </m:ctrlPr>
                      </m:fPr>
                      <m:num>
                        <m:r>
                          <a:rPr lang="fr-FR" sz="1400" i="0" smtClean="0">
                            <a:latin typeface="Cambria Math" panose="02040503050406030204" pitchFamily="18" charset="0"/>
                          </a:rPr>
                          <m:t>𝜕</m:t>
                        </m:r>
                        <m:r>
                          <m:rPr>
                            <m:sty m:val="p"/>
                          </m:rPr>
                          <a:rPr lang="fr-FR" sz="1400" b="0" i="0" smtClean="0">
                            <a:latin typeface="Cambria Math" panose="02040503050406030204" pitchFamily="18" charset="0"/>
                          </a:rPr>
                          <m:t>Loss</m:t>
                        </m:r>
                        <m:r>
                          <a:rPr lang="fr-FR" sz="1400" b="0" i="0" smtClean="0">
                            <a:latin typeface="Cambria Math" panose="02040503050406030204" pitchFamily="18" charset="0"/>
                          </a:rPr>
                          <m:t>1</m:t>
                        </m:r>
                      </m:num>
                      <m:den>
                        <m:r>
                          <a:rPr lang="fr-FR" sz="1400" i="0" smtClean="0">
                            <a:latin typeface="Cambria Math" panose="02040503050406030204" pitchFamily="18" charset="0"/>
                          </a:rPr>
                          <m:t>𝜕</m:t>
                        </m:r>
                        <m:r>
                          <m:rPr>
                            <m:sty m:val="p"/>
                          </m:rPr>
                          <a:rPr lang="fr-FR" sz="1400" b="0" i="0" smtClean="0">
                            <a:latin typeface="Cambria Math" panose="02040503050406030204" pitchFamily="18" charset="0"/>
                          </a:rPr>
                          <m:t>w</m:t>
                        </m:r>
                        <m:r>
                          <a:rPr lang="fr-FR" sz="1400" b="0" i="0" smtClean="0">
                            <a:latin typeface="Cambria Math" panose="02040503050406030204" pitchFamily="18" charset="0"/>
                          </a:rPr>
                          <m:t>3</m:t>
                        </m:r>
                      </m:den>
                    </m:f>
                    <m:r>
                      <a:rPr lang="fr-FR" sz="1400" b="0" i="0" smtClean="0">
                        <a:latin typeface="Cambria Math" panose="02040503050406030204" pitchFamily="18" charset="0"/>
                      </a:rPr>
                      <m:t>=</m:t>
                    </m:r>
                    <m:f>
                      <m:fPr>
                        <m:ctrlPr>
                          <a:rPr lang="fr-FR" sz="1400" b="1" i="1">
                            <a:solidFill>
                              <a:schemeClr val="accent2"/>
                            </a:solidFill>
                            <a:latin typeface="Cambria Math" panose="02040503050406030204" pitchFamily="18" charset="0"/>
                          </a:rPr>
                        </m:ctrlPr>
                      </m:fPr>
                      <m:num>
                        <m:r>
                          <a:rPr lang="fr-FR" sz="1400" b="1">
                            <a:solidFill>
                              <a:schemeClr val="accent2"/>
                            </a:solidFill>
                            <a:latin typeface="Cambria Math" panose="02040503050406030204" pitchFamily="18" charset="0"/>
                          </a:rPr>
                          <m:t>𝛛</m:t>
                        </m:r>
                        <m:r>
                          <a:rPr lang="fr-FR" sz="1400" b="1">
                            <a:solidFill>
                              <a:schemeClr val="accent2"/>
                            </a:solidFill>
                            <a:latin typeface="Cambria Math" panose="02040503050406030204" pitchFamily="18" charset="0"/>
                          </a:rPr>
                          <m:t>𝐋𝐨𝐬𝐬𝟏</m:t>
                        </m:r>
                      </m:num>
                      <m:den>
                        <m:r>
                          <a:rPr lang="fr-FR" sz="1400" b="1">
                            <a:solidFill>
                              <a:schemeClr val="accent2"/>
                            </a:solidFill>
                            <a:latin typeface="Cambria Math" panose="02040503050406030204" pitchFamily="18" charset="0"/>
                          </a:rPr>
                          <m:t>𝛛</m:t>
                        </m:r>
                        <m:r>
                          <a:rPr lang="fr-FR" sz="1400" b="1" i="0" smtClean="0">
                            <a:solidFill>
                              <a:schemeClr val="accent2"/>
                            </a:solidFill>
                            <a:latin typeface="Cambria Math" panose="02040503050406030204" pitchFamily="18" charset="0"/>
                          </a:rPr>
                          <m:t>𝐧𝐞</m:t>
                        </m:r>
                        <m:r>
                          <a:rPr lang="fr-FR" sz="1400" b="1">
                            <a:solidFill>
                              <a:schemeClr val="accent2"/>
                            </a:solidFill>
                            <a:latin typeface="Cambria Math" panose="02040503050406030204" pitchFamily="18" charset="0"/>
                          </a:rPr>
                          <m:t>𝐭</m:t>
                        </m:r>
                        <m:r>
                          <a:rPr lang="fr-FR" sz="1400" b="1">
                            <a:solidFill>
                              <a:schemeClr val="accent2"/>
                            </a:solidFill>
                            <a:latin typeface="Cambria Math" panose="02040503050406030204" pitchFamily="18" charset="0"/>
                          </a:rPr>
                          <m:t>_</m:t>
                        </m:r>
                        <m:r>
                          <a:rPr lang="fr-FR" sz="1400" b="1">
                            <a:solidFill>
                              <a:schemeClr val="accent2"/>
                            </a:solidFill>
                            <a:latin typeface="Cambria Math" panose="02040503050406030204" pitchFamily="18" charset="0"/>
                          </a:rPr>
                          <m:t>𝐨𝟏</m:t>
                        </m:r>
                      </m:den>
                    </m:f>
                    <m:r>
                      <a:rPr lang="fr-FR" sz="1400">
                        <a:latin typeface="Cambria Math" panose="02040503050406030204" pitchFamily="18" charset="0"/>
                      </a:rPr>
                      <m:t> </m:t>
                    </m:r>
                    <m:r>
                      <a:rPr lang="fr-FR" sz="1400" b="0" i="1" smtClean="0">
                        <a:latin typeface="Cambria Math" panose="02040503050406030204" pitchFamily="18" charset="0"/>
                        <a:ea typeface="Cambria Math" panose="02040503050406030204" pitchFamily="18" charset="0"/>
                      </a:rPr>
                      <m:t>×</m:t>
                    </m:r>
                    <m:f>
                      <m:fPr>
                        <m:ctrlPr>
                          <a:rPr lang="fr-FR" sz="1400" b="0" i="1" smtClean="0">
                            <a:solidFill>
                              <a:schemeClr val="tx1"/>
                            </a:solidFill>
                            <a:latin typeface="Cambria Math" panose="02040503050406030204" pitchFamily="18" charset="0"/>
                          </a:rPr>
                        </m:ctrlPr>
                      </m:fPr>
                      <m:num>
                        <m:r>
                          <a:rPr lang="fr-FR" sz="1400">
                            <a:solidFill>
                              <a:schemeClr val="tx1"/>
                            </a:solidFill>
                            <a:latin typeface="Cambria Math" panose="02040503050406030204" pitchFamily="18" charset="0"/>
                          </a:rPr>
                          <m:t>𝜕</m:t>
                        </m:r>
                        <m:r>
                          <m:rPr>
                            <m:sty m:val="p"/>
                          </m:rPr>
                          <a:rPr lang="fr-FR" sz="1400" b="0" i="0" smtClean="0">
                            <a:solidFill>
                              <a:schemeClr val="tx1"/>
                            </a:solidFill>
                            <a:latin typeface="Cambria Math" panose="02040503050406030204" pitchFamily="18" charset="0"/>
                          </a:rPr>
                          <m:t>net</m:t>
                        </m:r>
                        <m:r>
                          <a:rPr lang="fr-FR" sz="1400" b="0" i="0" smtClean="0">
                            <a:solidFill>
                              <a:schemeClr val="tx1"/>
                            </a:solidFill>
                            <a:latin typeface="Cambria Math" panose="02040503050406030204" pitchFamily="18" charset="0"/>
                          </a:rPr>
                          <m:t>_</m:t>
                        </m:r>
                        <m:r>
                          <m:rPr>
                            <m:sty m:val="p"/>
                          </m:rPr>
                          <a:rPr lang="fr-FR" sz="1400" b="0" i="0" smtClean="0">
                            <a:solidFill>
                              <a:schemeClr val="tx1"/>
                            </a:solidFill>
                            <a:latin typeface="Cambria Math" panose="02040503050406030204" pitchFamily="18" charset="0"/>
                          </a:rPr>
                          <m:t>o</m:t>
                        </m:r>
                        <m:r>
                          <a:rPr lang="fr-FR" sz="1400" b="0" i="0" smtClean="0">
                            <a:solidFill>
                              <a:schemeClr val="tx1"/>
                            </a:solidFill>
                            <a:latin typeface="Cambria Math" panose="02040503050406030204" pitchFamily="18" charset="0"/>
                          </a:rPr>
                          <m:t>1</m:t>
                        </m:r>
                      </m:num>
                      <m:den>
                        <m:r>
                          <a:rPr lang="fr-FR" sz="1400">
                            <a:solidFill>
                              <a:schemeClr val="tx1"/>
                            </a:solidFill>
                            <a:latin typeface="Cambria Math" panose="02040503050406030204" pitchFamily="18" charset="0"/>
                          </a:rPr>
                          <m:t>𝜕</m:t>
                        </m:r>
                        <m:r>
                          <m:rPr>
                            <m:sty m:val="p"/>
                          </m:rPr>
                          <a:rPr lang="fr-FR" sz="1400" b="0" i="0" smtClean="0">
                            <a:solidFill>
                              <a:schemeClr val="tx1"/>
                            </a:solidFill>
                            <a:latin typeface="Cambria Math" panose="02040503050406030204" pitchFamily="18" charset="0"/>
                          </a:rPr>
                          <m:t>out</m:t>
                        </m:r>
                        <m:r>
                          <a:rPr lang="fr-FR" sz="1400" b="0" i="0" smtClean="0">
                            <a:solidFill>
                              <a:schemeClr val="tx1"/>
                            </a:solidFill>
                            <a:latin typeface="Cambria Math" panose="02040503050406030204" pitchFamily="18" charset="0"/>
                          </a:rPr>
                          <m:t>_</m:t>
                        </m:r>
                        <m:r>
                          <m:rPr>
                            <m:sty m:val="p"/>
                          </m:rPr>
                          <a:rPr lang="fr-FR" sz="1400" b="0" i="0" smtClean="0">
                            <a:solidFill>
                              <a:schemeClr val="tx1"/>
                            </a:solidFill>
                            <a:latin typeface="Cambria Math" panose="02040503050406030204" pitchFamily="18" charset="0"/>
                          </a:rPr>
                          <m:t>h</m:t>
                        </m:r>
                        <m:r>
                          <a:rPr lang="fr-FR" sz="1400" b="0" i="0" smtClean="0">
                            <a:solidFill>
                              <a:schemeClr val="tx1"/>
                            </a:solidFill>
                            <a:latin typeface="Cambria Math" panose="02040503050406030204" pitchFamily="18" charset="0"/>
                          </a:rPr>
                          <m:t>2</m:t>
                        </m:r>
                      </m:den>
                    </m:f>
                    <m:r>
                      <a:rPr lang="fr-FR" sz="1400" i="1">
                        <a:solidFill>
                          <a:schemeClr val="tx1"/>
                        </a:solidFill>
                        <a:latin typeface="Cambria Math" panose="02040503050406030204" pitchFamily="18" charset="0"/>
                        <a:ea typeface="Cambria Math" panose="02040503050406030204" pitchFamily="18" charset="0"/>
                      </a:rPr>
                      <m:t>×</m:t>
                    </m:r>
                    <m:f>
                      <m:fPr>
                        <m:ctrlPr>
                          <a:rPr lang="fr-FR" sz="1400" i="1">
                            <a:solidFill>
                              <a:schemeClr val="tx1"/>
                            </a:solidFill>
                            <a:latin typeface="Cambria Math" panose="02040503050406030204" pitchFamily="18" charset="0"/>
                          </a:rPr>
                        </m:ctrlPr>
                      </m:fPr>
                      <m:num>
                        <m:r>
                          <a:rPr lang="fr-FR" sz="1400">
                            <a:solidFill>
                              <a:schemeClr val="tx1"/>
                            </a:solidFill>
                            <a:latin typeface="Cambria Math" panose="02040503050406030204" pitchFamily="18" charset="0"/>
                          </a:rPr>
                          <m:t>𝜕</m:t>
                        </m:r>
                        <m:r>
                          <m:rPr>
                            <m:sty m:val="p"/>
                          </m:rPr>
                          <a:rPr lang="fr-FR" sz="1400" b="0" i="0" smtClean="0">
                            <a:solidFill>
                              <a:schemeClr val="tx1"/>
                            </a:solidFill>
                            <a:latin typeface="Cambria Math" panose="02040503050406030204" pitchFamily="18" charset="0"/>
                          </a:rPr>
                          <m:t>out</m:t>
                        </m:r>
                        <m:r>
                          <a:rPr lang="fr-FR" sz="1400">
                            <a:solidFill>
                              <a:schemeClr val="tx1"/>
                            </a:solidFill>
                            <a:latin typeface="Cambria Math" panose="02040503050406030204" pitchFamily="18" charset="0"/>
                          </a:rPr>
                          <m:t>_</m:t>
                        </m:r>
                        <m:r>
                          <a:rPr lang="fr-FR" sz="1400" b="0" i="1" smtClean="0">
                            <a:solidFill>
                              <a:schemeClr val="tx1"/>
                            </a:solidFill>
                            <a:latin typeface="Cambria Math" panose="02040503050406030204" pitchFamily="18" charset="0"/>
                          </a:rPr>
                          <m:t>h</m:t>
                        </m:r>
                        <m:r>
                          <a:rPr lang="fr-FR" sz="1400" b="0" i="1" smtClean="0">
                            <a:solidFill>
                              <a:schemeClr val="tx1"/>
                            </a:solidFill>
                            <a:latin typeface="Cambria Math" panose="02040503050406030204" pitchFamily="18" charset="0"/>
                          </a:rPr>
                          <m:t>2</m:t>
                        </m:r>
                      </m:num>
                      <m:den>
                        <m:r>
                          <a:rPr lang="fr-FR" sz="1400">
                            <a:solidFill>
                              <a:schemeClr val="tx1"/>
                            </a:solidFill>
                            <a:latin typeface="Cambria Math" panose="02040503050406030204" pitchFamily="18" charset="0"/>
                          </a:rPr>
                          <m:t>𝜕</m:t>
                        </m:r>
                        <m:r>
                          <m:rPr>
                            <m:sty m:val="p"/>
                          </m:rPr>
                          <a:rPr lang="fr-FR" sz="1400" b="0" i="0" smtClean="0">
                            <a:solidFill>
                              <a:schemeClr val="tx1"/>
                            </a:solidFill>
                            <a:latin typeface="Cambria Math" panose="02040503050406030204" pitchFamily="18" charset="0"/>
                          </a:rPr>
                          <m:t>ne</m:t>
                        </m:r>
                        <m:r>
                          <m:rPr>
                            <m:sty m:val="p"/>
                          </m:rPr>
                          <a:rPr lang="fr-FR" sz="1400">
                            <a:solidFill>
                              <a:schemeClr val="tx1"/>
                            </a:solidFill>
                            <a:latin typeface="Cambria Math" panose="02040503050406030204" pitchFamily="18" charset="0"/>
                          </a:rPr>
                          <m:t>t</m:t>
                        </m:r>
                        <m:r>
                          <a:rPr lang="fr-FR" sz="1400">
                            <a:solidFill>
                              <a:schemeClr val="tx1"/>
                            </a:solidFill>
                            <a:latin typeface="Cambria Math" panose="02040503050406030204" pitchFamily="18" charset="0"/>
                          </a:rPr>
                          <m:t>_</m:t>
                        </m:r>
                        <m:r>
                          <m:rPr>
                            <m:sty m:val="p"/>
                          </m:rPr>
                          <a:rPr lang="fr-FR" sz="1400">
                            <a:solidFill>
                              <a:schemeClr val="tx1"/>
                            </a:solidFill>
                            <a:latin typeface="Cambria Math" panose="02040503050406030204" pitchFamily="18" charset="0"/>
                          </a:rPr>
                          <m:t>h</m:t>
                        </m:r>
                        <m:r>
                          <a:rPr lang="fr-FR" sz="1400">
                            <a:solidFill>
                              <a:schemeClr val="tx1"/>
                            </a:solidFill>
                            <a:latin typeface="Cambria Math" panose="02040503050406030204" pitchFamily="18" charset="0"/>
                          </a:rPr>
                          <m:t>2</m:t>
                        </m:r>
                      </m:den>
                    </m:f>
                  </m:oMath>
                </a14:m>
                <a:r>
                  <a:rPr lang="fr-FR" sz="1400" dirty="0">
                    <a:solidFill>
                      <a:schemeClr val="tx1"/>
                    </a:solidFill>
                    <a:ea typeface="Cambria Math" panose="02040503050406030204" pitchFamily="18" charset="0"/>
                  </a:rPr>
                  <a:t> </a:t>
                </a:r>
                <a14:m>
                  <m:oMath xmlns:m="http://schemas.openxmlformats.org/officeDocument/2006/math">
                    <m:r>
                      <a:rPr lang="fr-FR" sz="1400" i="1">
                        <a:solidFill>
                          <a:schemeClr val="tx1"/>
                        </a:solidFill>
                        <a:latin typeface="Cambria Math" panose="02040503050406030204" pitchFamily="18" charset="0"/>
                        <a:ea typeface="Cambria Math" panose="02040503050406030204" pitchFamily="18" charset="0"/>
                      </a:rPr>
                      <m:t>×</m:t>
                    </m:r>
                    <m:f>
                      <m:fPr>
                        <m:ctrlPr>
                          <a:rPr lang="fr-FR" sz="1400" i="1">
                            <a:solidFill>
                              <a:schemeClr val="tx1"/>
                            </a:solidFill>
                            <a:latin typeface="Cambria Math" panose="02040503050406030204" pitchFamily="18" charset="0"/>
                          </a:rPr>
                        </m:ctrlPr>
                      </m:fPr>
                      <m:num>
                        <m:r>
                          <a:rPr lang="fr-FR" sz="1400">
                            <a:solidFill>
                              <a:schemeClr val="tx1"/>
                            </a:solidFill>
                            <a:latin typeface="Cambria Math" panose="02040503050406030204" pitchFamily="18" charset="0"/>
                          </a:rPr>
                          <m:t>𝜕</m:t>
                        </m:r>
                        <m:r>
                          <m:rPr>
                            <m:sty m:val="p"/>
                          </m:rPr>
                          <a:rPr lang="fr-FR" sz="1400" i="0">
                            <a:solidFill>
                              <a:schemeClr val="tx1"/>
                            </a:solidFill>
                            <a:latin typeface="Cambria Math" panose="02040503050406030204" pitchFamily="18" charset="0"/>
                          </a:rPr>
                          <m:t>net</m:t>
                        </m:r>
                        <m:r>
                          <a:rPr lang="fr-FR" sz="1400" i="0">
                            <a:solidFill>
                              <a:schemeClr val="tx1"/>
                            </a:solidFill>
                            <a:latin typeface="Cambria Math" panose="02040503050406030204" pitchFamily="18" charset="0"/>
                          </a:rPr>
                          <m:t>_</m:t>
                        </m:r>
                        <m:r>
                          <m:rPr>
                            <m:sty m:val="p"/>
                          </m:rPr>
                          <a:rPr lang="fr-FR" sz="1400" b="0" i="0" smtClean="0">
                            <a:solidFill>
                              <a:schemeClr val="tx1"/>
                            </a:solidFill>
                            <a:latin typeface="Cambria Math" panose="02040503050406030204" pitchFamily="18" charset="0"/>
                          </a:rPr>
                          <m:t>h</m:t>
                        </m:r>
                        <m:r>
                          <a:rPr lang="fr-FR" sz="1400" b="0" i="0" smtClean="0">
                            <a:solidFill>
                              <a:schemeClr val="tx1"/>
                            </a:solidFill>
                            <a:latin typeface="Cambria Math" panose="02040503050406030204" pitchFamily="18" charset="0"/>
                          </a:rPr>
                          <m:t>2</m:t>
                        </m:r>
                      </m:num>
                      <m:den>
                        <m:r>
                          <a:rPr lang="fr-FR" sz="1400">
                            <a:solidFill>
                              <a:schemeClr val="tx1"/>
                            </a:solidFill>
                            <a:latin typeface="Cambria Math" panose="02040503050406030204" pitchFamily="18" charset="0"/>
                          </a:rPr>
                          <m:t>𝜕</m:t>
                        </m:r>
                        <m:r>
                          <m:rPr>
                            <m:sty m:val="p"/>
                          </m:rPr>
                          <a:rPr lang="fr-FR" sz="1400" b="0" i="0" smtClean="0">
                            <a:solidFill>
                              <a:schemeClr val="tx1"/>
                            </a:solidFill>
                            <a:latin typeface="Cambria Math" panose="02040503050406030204" pitchFamily="18" charset="0"/>
                          </a:rPr>
                          <m:t>w</m:t>
                        </m:r>
                        <m:r>
                          <a:rPr lang="fr-FR" sz="1400" b="0" i="0" smtClean="0">
                            <a:solidFill>
                              <a:schemeClr val="tx1"/>
                            </a:solidFill>
                            <a:latin typeface="Cambria Math" panose="02040503050406030204" pitchFamily="18" charset="0"/>
                          </a:rPr>
                          <m:t>3</m:t>
                        </m:r>
                      </m:den>
                    </m:f>
                  </m:oMath>
                </a14:m>
                <a:endParaRPr lang="fr-FR" sz="1400" dirty="0">
                  <a:solidFill>
                    <a:schemeClr val="accent3">
                      <a:lumMod val="60000"/>
                      <a:lumOff val="40000"/>
                    </a:schemeClr>
                  </a:solidFill>
                </a:endParaRPr>
              </a:p>
            </p:txBody>
          </p:sp>
        </mc:Choice>
        <mc:Fallback xmlns="">
          <p:sp>
            <p:nvSpPr>
              <p:cNvPr id="7" name="ZoneTexte 6">
                <a:extLst>
                  <a:ext uri="{FF2B5EF4-FFF2-40B4-BE49-F238E27FC236}">
                    <a16:creationId xmlns:a16="http://schemas.microsoft.com/office/drawing/2014/main" id="{061788EA-757C-A7BC-2B75-49623EDF3CCC}"/>
                  </a:ext>
                </a:extLst>
              </p:cNvPr>
              <p:cNvSpPr txBox="1">
                <a:spLocks noRot="1" noChangeAspect="1" noMove="1" noResize="1" noEditPoints="1" noAdjustHandles="1" noChangeArrowheads="1" noChangeShapeType="1" noTextEdit="1"/>
              </p:cNvSpPr>
              <p:nvPr/>
            </p:nvSpPr>
            <p:spPr>
              <a:xfrm>
                <a:off x="6365540" y="1900809"/>
                <a:ext cx="4307282" cy="409086"/>
              </a:xfrm>
              <a:prstGeom prst="rect">
                <a:avLst/>
              </a:prstGeom>
              <a:blipFill>
                <a:blip r:embed="rId4"/>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438C580A-568F-5246-136E-5A50F1BA4FB1}"/>
                  </a:ext>
                </a:extLst>
              </p:cNvPr>
              <p:cNvSpPr txBox="1"/>
              <p:nvPr/>
            </p:nvSpPr>
            <p:spPr>
              <a:xfrm>
                <a:off x="6380699" y="2475005"/>
                <a:ext cx="5527765" cy="363882"/>
              </a:xfrm>
              <a:prstGeom prst="rect">
                <a:avLst/>
              </a:prstGeom>
              <a:noFill/>
            </p:spPr>
            <p:txBody>
              <a:bodyPr wrap="square" rtlCol="0">
                <a:spAutoFit/>
              </a:bodyPr>
              <a:lstStyle/>
              <a:p>
                <a14:m>
                  <m:oMath xmlns:m="http://schemas.openxmlformats.org/officeDocument/2006/math">
                    <m:f>
                      <m:fPr>
                        <m:ctrlPr>
                          <a:rPr lang="fr-FR" sz="1200" i="1" smtClean="0">
                            <a:latin typeface="Cambria Math" panose="02040503050406030204" pitchFamily="18" charset="0"/>
                          </a:rPr>
                        </m:ctrlPr>
                      </m:fPr>
                      <m:num>
                        <m:r>
                          <a:rPr lang="fr-FR" sz="1200" i="0" smtClean="0">
                            <a:latin typeface="Cambria Math" panose="02040503050406030204" pitchFamily="18" charset="0"/>
                          </a:rPr>
                          <m:t>𝜕</m:t>
                        </m:r>
                        <m:r>
                          <m:rPr>
                            <m:sty m:val="p"/>
                          </m:rPr>
                          <a:rPr lang="fr-FR" sz="1200" b="0" i="0" smtClean="0">
                            <a:latin typeface="Cambria Math" panose="02040503050406030204" pitchFamily="18" charset="0"/>
                          </a:rPr>
                          <m:t>Loss</m:t>
                        </m:r>
                        <m:r>
                          <a:rPr lang="fr-FR" sz="1200" b="0" i="0" smtClean="0">
                            <a:latin typeface="Cambria Math" panose="02040503050406030204" pitchFamily="18" charset="0"/>
                          </a:rPr>
                          <m:t>1</m:t>
                        </m:r>
                      </m:num>
                      <m:den>
                        <m:r>
                          <a:rPr lang="fr-FR" sz="1200" i="0" smtClean="0">
                            <a:latin typeface="Cambria Math" panose="02040503050406030204" pitchFamily="18" charset="0"/>
                          </a:rPr>
                          <m:t>𝜕</m:t>
                        </m:r>
                        <m:r>
                          <m:rPr>
                            <m:sty m:val="p"/>
                          </m:rPr>
                          <a:rPr lang="fr-FR" sz="1200" b="0" i="0" smtClean="0">
                            <a:latin typeface="Cambria Math" panose="02040503050406030204" pitchFamily="18" charset="0"/>
                          </a:rPr>
                          <m:t>w</m:t>
                        </m:r>
                        <m:r>
                          <a:rPr lang="fr-FR" sz="1200" b="0" i="0" smtClean="0">
                            <a:latin typeface="Cambria Math" panose="02040503050406030204" pitchFamily="18" charset="0"/>
                          </a:rPr>
                          <m:t>3</m:t>
                        </m:r>
                      </m:den>
                    </m:f>
                    <m:r>
                      <a:rPr lang="fr-FR" sz="1200" b="0" i="0" smtClean="0">
                        <a:latin typeface="Cambria Math" panose="02040503050406030204" pitchFamily="18" charset="0"/>
                      </a:rPr>
                      <m:t>=</m:t>
                    </m:r>
                    <m:r>
                      <m:rPr>
                        <m:nor/>
                      </m:rPr>
                      <a:rPr lang="fr-FR" sz="1200" smtClean="0">
                        <a:solidFill>
                          <a:schemeClr val="accent2"/>
                        </a:solidFill>
                        <a:latin typeface="Cambria Math" panose="02040503050406030204" pitchFamily="18" charset="0"/>
                      </a:rPr>
                      <m:t>−2</m:t>
                    </m:r>
                    <m:r>
                      <m:rPr>
                        <m:nor/>
                      </m:rPr>
                      <a:rPr lang="fr-FR" sz="1200" dirty="0" smtClean="0">
                        <a:solidFill>
                          <a:schemeClr val="accent2"/>
                        </a:solidFill>
                        <a:latin typeface="Cambria Math" panose="02040503050406030204" pitchFamily="18" charset="0"/>
                        <a:ea typeface="Cambria Math" panose="02040503050406030204" pitchFamily="18" charset="0"/>
                      </a:rPr>
                      <m:t>(</m:t>
                    </m:r>
                    <m:sSub>
                      <m:sSubPr>
                        <m:ctrlPr>
                          <a:rPr lang="fr-FR" sz="1200" i="1" dirty="0">
                            <a:solidFill>
                              <a:schemeClr val="accent2"/>
                            </a:solidFill>
                            <a:latin typeface="Cambria Math" panose="02040503050406030204" pitchFamily="18" charset="0"/>
                            <a:ea typeface="Cambria Math" panose="02040503050406030204" pitchFamily="18" charset="0"/>
                          </a:rPr>
                        </m:ctrlPr>
                      </m:sSubPr>
                      <m:e>
                        <m:r>
                          <m:rPr>
                            <m:sty m:val="p"/>
                          </m:rPr>
                          <a:rPr lang="fr-FR" sz="1200">
                            <a:solidFill>
                              <a:schemeClr val="accent2"/>
                            </a:solidFill>
                            <a:latin typeface="Cambria Math" panose="02040503050406030204" pitchFamily="18" charset="0"/>
                            <a:ea typeface="Cambria Math" panose="02040503050406030204" pitchFamily="18" charset="0"/>
                          </a:rPr>
                          <m:t>target</m:t>
                        </m:r>
                      </m:e>
                      <m:sub>
                        <m:r>
                          <m:rPr>
                            <m:sty m:val="p"/>
                          </m:rPr>
                          <a:rPr lang="fr-FR" sz="1200">
                            <a:solidFill>
                              <a:schemeClr val="accent2"/>
                            </a:solidFill>
                            <a:latin typeface="Cambria Math" panose="02040503050406030204" pitchFamily="18" charset="0"/>
                            <a:ea typeface="Cambria Math" panose="02040503050406030204" pitchFamily="18" charset="0"/>
                          </a:rPr>
                          <m:t>o</m:t>
                        </m:r>
                        <m:r>
                          <a:rPr lang="fr-FR" sz="1200">
                            <a:solidFill>
                              <a:schemeClr val="accent2"/>
                            </a:solidFill>
                            <a:latin typeface="Cambria Math" panose="02040503050406030204" pitchFamily="18" charset="0"/>
                            <a:ea typeface="Cambria Math" panose="02040503050406030204" pitchFamily="18" charset="0"/>
                          </a:rPr>
                          <m:t>1</m:t>
                        </m:r>
                      </m:sub>
                    </m:sSub>
                    <m:r>
                      <a:rPr lang="fr-FR" sz="1200" i="1">
                        <a:solidFill>
                          <a:schemeClr val="accent2"/>
                        </a:solidFill>
                        <a:latin typeface="Cambria Math" panose="02040503050406030204" pitchFamily="18" charset="0"/>
                        <a:ea typeface="Cambria Math" panose="02040503050406030204" pitchFamily="18" charset="0"/>
                      </a:rPr>
                      <m:t>− </m:t>
                    </m:r>
                    <m:r>
                      <m:rPr>
                        <m:sty m:val="p"/>
                      </m:rPr>
                      <a:rPr lang="fr-FR" sz="1200">
                        <a:solidFill>
                          <a:schemeClr val="accent2"/>
                        </a:solidFill>
                        <a:latin typeface="Cambria Math" panose="02040503050406030204" pitchFamily="18" charset="0"/>
                        <a:ea typeface="Cambria Math" panose="02040503050406030204" pitchFamily="18" charset="0"/>
                      </a:rPr>
                      <m:t>out</m:t>
                    </m:r>
                    <m:r>
                      <a:rPr lang="fr-FR" sz="1200">
                        <a:solidFill>
                          <a:schemeClr val="accent2"/>
                        </a:solidFill>
                        <a:latin typeface="Cambria Math" panose="02040503050406030204" pitchFamily="18" charset="0"/>
                        <a:ea typeface="Cambria Math" panose="02040503050406030204" pitchFamily="18" charset="0"/>
                      </a:rPr>
                      <m:t>_</m:t>
                    </m:r>
                    <m:r>
                      <m:rPr>
                        <m:sty m:val="p"/>
                      </m:rPr>
                      <a:rPr lang="fr-FR" sz="1200">
                        <a:solidFill>
                          <a:schemeClr val="accent2"/>
                        </a:solidFill>
                        <a:latin typeface="Cambria Math" panose="02040503050406030204" pitchFamily="18" charset="0"/>
                        <a:ea typeface="Cambria Math" panose="02040503050406030204" pitchFamily="18" charset="0"/>
                      </a:rPr>
                      <m:t>o</m:t>
                    </m:r>
                    <m:r>
                      <a:rPr lang="fr-FR" sz="1200">
                        <a:solidFill>
                          <a:schemeClr val="accent2"/>
                        </a:solidFill>
                        <a:latin typeface="Cambria Math" panose="02040503050406030204" pitchFamily="18" charset="0"/>
                        <a:ea typeface="Cambria Math" panose="02040503050406030204" pitchFamily="18" charset="0"/>
                      </a:rPr>
                      <m:t>1</m:t>
                    </m:r>
                    <m:r>
                      <m:rPr>
                        <m:nor/>
                      </m:rPr>
                      <a:rPr lang="fr-FR" sz="1200" dirty="0">
                        <a:solidFill>
                          <a:schemeClr val="accent2"/>
                        </a:solidFill>
                        <a:latin typeface="Cambria Math" panose="02040503050406030204" pitchFamily="18" charset="0"/>
                        <a:ea typeface="Cambria Math" panose="02040503050406030204" pitchFamily="18" charset="0"/>
                      </a:rPr>
                      <m:t>)</m:t>
                    </m:r>
                    <m:r>
                      <a:rPr lang="fr-FR" sz="1200" i="1">
                        <a:solidFill>
                          <a:schemeClr val="accent2"/>
                        </a:solidFill>
                        <a:latin typeface="Cambria Math" panose="02040503050406030204" pitchFamily="18" charset="0"/>
                        <a:ea typeface="Cambria Math" panose="02040503050406030204" pitchFamily="18" charset="0"/>
                      </a:rPr>
                      <m:t>×</m:t>
                    </m:r>
                    <m:r>
                      <m:rPr>
                        <m:nor/>
                      </m:rPr>
                      <a:rPr lang="fr-FR" sz="1200">
                        <a:solidFill>
                          <a:schemeClr val="accent2"/>
                        </a:solidFill>
                        <a:latin typeface="Cambria Math" panose="02040503050406030204" pitchFamily="18" charset="0"/>
                        <a:ea typeface="Cambria Math" panose="02040503050406030204" pitchFamily="18" charset="0"/>
                      </a:rPr>
                      <m:t> </m:t>
                    </m:r>
                    <m:r>
                      <m:rPr>
                        <m:sty m:val="p"/>
                      </m:rPr>
                      <a:rPr lang="fr-FR" sz="1200">
                        <a:solidFill>
                          <a:schemeClr val="accent2"/>
                        </a:solidFill>
                        <a:latin typeface="Cambria Math" panose="02040503050406030204" pitchFamily="18" charset="0"/>
                        <a:ea typeface="Cambria Math" panose="02040503050406030204" pitchFamily="18" charset="0"/>
                      </a:rPr>
                      <m:t>out</m:t>
                    </m:r>
                    <m:r>
                      <a:rPr lang="fr-FR" sz="1200">
                        <a:solidFill>
                          <a:schemeClr val="accent2"/>
                        </a:solidFill>
                        <a:latin typeface="Cambria Math" panose="02040503050406030204" pitchFamily="18" charset="0"/>
                        <a:ea typeface="Cambria Math" panose="02040503050406030204" pitchFamily="18" charset="0"/>
                      </a:rPr>
                      <m:t>_</m:t>
                    </m:r>
                    <m:r>
                      <m:rPr>
                        <m:sty m:val="p"/>
                      </m:rPr>
                      <a:rPr lang="fr-FR" sz="1200">
                        <a:solidFill>
                          <a:schemeClr val="accent2"/>
                        </a:solidFill>
                        <a:latin typeface="Cambria Math" panose="02040503050406030204" pitchFamily="18" charset="0"/>
                        <a:ea typeface="Cambria Math" panose="02040503050406030204" pitchFamily="18" charset="0"/>
                      </a:rPr>
                      <m:t>o</m:t>
                    </m:r>
                    <m:r>
                      <a:rPr lang="fr-FR" sz="1200">
                        <a:solidFill>
                          <a:schemeClr val="accent2"/>
                        </a:solidFill>
                        <a:latin typeface="Cambria Math" panose="02040503050406030204" pitchFamily="18" charset="0"/>
                        <a:ea typeface="Cambria Math" panose="02040503050406030204" pitchFamily="18" charset="0"/>
                      </a:rPr>
                      <m:t>1(1−</m:t>
                    </m:r>
                    <m:r>
                      <m:rPr>
                        <m:sty m:val="p"/>
                      </m:rPr>
                      <a:rPr lang="fr-FR" sz="1200">
                        <a:solidFill>
                          <a:schemeClr val="accent2"/>
                        </a:solidFill>
                        <a:latin typeface="Cambria Math" panose="02040503050406030204" pitchFamily="18" charset="0"/>
                        <a:ea typeface="Cambria Math" panose="02040503050406030204" pitchFamily="18" charset="0"/>
                      </a:rPr>
                      <m:t>out</m:t>
                    </m:r>
                    <m:r>
                      <a:rPr lang="fr-FR" sz="1200">
                        <a:solidFill>
                          <a:schemeClr val="accent2"/>
                        </a:solidFill>
                        <a:latin typeface="Cambria Math" panose="02040503050406030204" pitchFamily="18" charset="0"/>
                        <a:ea typeface="Cambria Math" panose="02040503050406030204" pitchFamily="18" charset="0"/>
                      </a:rPr>
                      <m:t>_</m:t>
                    </m:r>
                    <m:r>
                      <m:rPr>
                        <m:sty m:val="p"/>
                      </m:rPr>
                      <a:rPr lang="fr-FR" sz="1200">
                        <a:solidFill>
                          <a:schemeClr val="accent2"/>
                        </a:solidFill>
                        <a:latin typeface="Cambria Math" panose="02040503050406030204" pitchFamily="18" charset="0"/>
                        <a:ea typeface="Cambria Math" panose="02040503050406030204" pitchFamily="18" charset="0"/>
                      </a:rPr>
                      <m:t>o</m:t>
                    </m:r>
                    <m:r>
                      <a:rPr lang="fr-FR" sz="1200">
                        <a:solidFill>
                          <a:schemeClr val="accent2"/>
                        </a:solidFill>
                        <a:latin typeface="Cambria Math" panose="02040503050406030204" pitchFamily="18" charset="0"/>
                        <a:ea typeface="Cambria Math" panose="02040503050406030204" pitchFamily="18" charset="0"/>
                      </a:rPr>
                      <m:t>1</m:t>
                    </m:r>
                    <m:r>
                      <a:rPr lang="fr-FR" sz="1200" i="1">
                        <a:solidFill>
                          <a:schemeClr val="accent2"/>
                        </a:solidFill>
                        <a:latin typeface="Cambria Math" panose="02040503050406030204" pitchFamily="18" charset="0"/>
                        <a:ea typeface="Cambria Math" panose="02040503050406030204" pitchFamily="18" charset="0"/>
                      </a:rPr>
                      <m:t>)</m:t>
                    </m:r>
                    <m:r>
                      <a:rPr lang="fr-FR" sz="1200" b="0" i="1" smtClean="0">
                        <a:latin typeface="Cambria Math" panose="02040503050406030204" pitchFamily="18" charset="0"/>
                        <a:ea typeface="Cambria Math" panose="02040503050406030204" pitchFamily="18" charset="0"/>
                      </a:rPr>
                      <m:t>×</m:t>
                    </m:r>
                    <m:f>
                      <m:fPr>
                        <m:ctrlPr>
                          <a:rPr lang="fr-FR" sz="1200" b="0" i="1" smtClean="0">
                            <a:solidFill>
                              <a:schemeClr val="tx1"/>
                            </a:solidFill>
                            <a:latin typeface="Cambria Math" panose="02040503050406030204" pitchFamily="18" charset="0"/>
                          </a:rPr>
                        </m:ctrlPr>
                      </m:fPr>
                      <m:num>
                        <m:r>
                          <a:rPr lang="fr-FR" sz="120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net</m:t>
                        </m:r>
                        <m:r>
                          <a:rPr lang="fr-FR" sz="1200" b="0" i="0" smtClean="0">
                            <a:solidFill>
                              <a:schemeClr val="tx1"/>
                            </a:solidFill>
                            <a:latin typeface="Cambria Math" panose="02040503050406030204" pitchFamily="18" charset="0"/>
                          </a:rPr>
                          <m:t>_</m:t>
                        </m:r>
                        <m:r>
                          <m:rPr>
                            <m:sty m:val="p"/>
                          </m:rPr>
                          <a:rPr lang="fr-FR" sz="1200" b="0" i="0" smtClean="0">
                            <a:solidFill>
                              <a:schemeClr val="tx1"/>
                            </a:solidFill>
                            <a:latin typeface="Cambria Math" panose="02040503050406030204" pitchFamily="18" charset="0"/>
                          </a:rPr>
                          <m:t>o</m:t>
                        </m:r>
                        <m:r>
                          <a:rPr lang="fr-FR" sz="1200" b="0" i="0" smtClean="0">
                            <a:solidFill>
                              <a:schemeClr val="tx1"/>
                            </a:solidFill>
                            <a:latin typeface="Cambria Math" panose="02040503050406030204" pitchFamily="18" charset="0"/>
                          </a:rPr>
                          <m:t>1</m:t>
                        </m:r>
                      </m:num>
                      <m:den>
                        <m:r>
                          <a:rPr lang="fr-FR" sz="120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out</m:t>
                        </m:r>
                        <m:r>
                          <a:rPr lang="fr-FR" sz="1200" b="0" i="0" smtClean="0">
                            <a:solidFill>
                              <a:schemeClr val="tx1"/>
                            </a:solidFill>
                            <a:latin typeface="Cambria Math" panose="02040503050406030204" pitchFamily="18" charset="0"/>
                          </a:rPr>
                          <m:t>_</m:t>
                        </m:r>
                        <m:r>
                          <m:rPr>
                            <m:sty m:val="p"/>
                          </m:rPr>
                          <a:rPr lang="fr-FR" sz="1200" b="0" i="0" smtClean="0">
                            <a:solidFill>
                              <a:schemeClr val="tx1"/>
                            </a:solidFill>
                            <a:latin typeface="Cambria Math" panose="02040503050406030204" pitchFamily="18" charset="0"/>
                          </a:rPr>
                          <m:t>h</m:t>
                        </m:r>
                        <m:r>
                          <a:rPr lang="fr-FR" sz="1200" b="0" i="0" smtClean="0">
                            <a:solidFill>
                              <a:schemeClr val="tx1"/>
                            </a:solidFill>
                            <a:latin typeface="Cambria Math" panose="02040503050406030204" pitchFamily="18" charset="0"/>
                          </a:rPr>
                          <m:t>2</m:t>
                        </m:r>
                      </m:den>
                    </m:f>
                    <m:r>
                      <a:rPr lang="fr-FR" sz="1200" i="1">
                        <a:solidFill>
                          <a:schemeClr val="tx1"/>
                        </a:solidFill>
                        <a:latin typeface="Cambria Math" panose="02040503050406030204" pitchFamily="18" charset="0"/>
                        <a:ea typeface="Cambria Math" panose="02040503050406030204" pitchFamily="18" charset="0"/>
                      </a:rPr>
                      <m:t>×</m:t>
                    </m:r>
                    <m:f>
                      <m:fPr>
                        <m:ctrlPr>
                          <a:rPr lang="fr-FR" sz="1200" i="1">
                            <a:solidFill>
                              <a:schemeClr val="tx1"/>
                            </a:solidFill>
                            <a:latin typeface="Cambria Math" panose="02040503050406030204" pitchFamily="18" charset="0"/>
                          </a:rPr>
                        </m:ctrlPr>
                      </m:fPr>
                      <m:num>
                        <m:r>
                          <a:rPr lang="fr-FR" sz="120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out</m:t>
                        </m:r>
                        <m:r>
                          <a:rPr lang="fr-FR" sz="1200">
                            <a:solidFill>
                              <a:schemeClr val="tx1"/>
                            </a:solidFill>
                            <a:latin typeface="Cambria Math" panose="02040503050406030204" pitchFamily="18" charset="0"/>
                          </a:rPr>
                          <m:t>_</m:t>
                        </m:r>
                        <m:r>
                          <a:rPr lang="fr-FR" sz="1200" b="0" i="1" smtClean="0">
                            <a:solidFill>
                              <a:schemeClr val="tx1"/>
                            </a:solidFill>
                            <a:latin typeface="Cambria Math" panose="02040503050406030204" pitchFamily="18" charset="0"/>
                          </a:rPr>
                          <m:t>h</m:t>
                        </m:r>
                        <m:r>
                          <a:rPr lang="fr-FR" sz="1200" b="0" i="1" smtClean="0">
                            <a:solidFill>
                              <a:schemeClr val="tx1"/>
                            </a:solidFill>
                            <a:latin typeface="Cambria Math" panose="02040503050406030204" pitchFamily="18" charset="0"/>
                          </a:rPr>
                          <m:t>2</m:t>
                        </m:r>
                      </m:num>
                      <m:den>
                        <m:r>
                          <a:rPr lang="fr-FR" sz="120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ne</m:t>
                        </m:r>
                        <m:r>
                          <m:rPr>
                            <m:sty m:val="p"/>
                          </m:rPr>
                          <a:rPr lang="fr-FR" sz="1200">
                            <a:solidFill>
                              <a:schemeClr val="tx1"/>
                            </a:solidFill>
                            <a:latin typeface="Cambria Math" panose="02040503050406030204" pitchFamily="18" charset="0"/>
                          </a:rPr>
                          <m:t>t</m:t>
                        </m:r>
                        <m:r>
                          <a:rPr lang="fr-FR" sz="1200">
                            <a:solidFill>
                              <a:schemeClr val="tx1"/>
                            </a:solidFill>
                            <a:latin typeface="Cambria Math" panose="02040503050406030204" pitchFamily="18" charset="0"/>
                          </a:rPr>
                          <m:t>_</m:t>
                        </m:r>
                        <m:r>
                          <m:rPr>
                            <m:sty m:val="p"/>
                          </m:rPr>
                          <a:rPr lang="fr-FR" sz="1200">
                            <a:solidFill>
                              <a:schemeClr val="tx1"/>
                            </a:solidFill>
                            <a:latin typeface="Cambria Math" panose="02040503050406030204" pitchFamily="18" charset="0"/>
                          </a:rPr>
                          <m:t>h</m:t>
                        </m:r>
                        <m:r>
                          <a:rPr lang="fr-FR" sz="1200">
                            <a:solidFill>
                              <a:schemeClr val="tx1"/>
                            </a:solidFill>
                            <a:latin typeface="Cambria Math" panose="02040503050406030204" pitchFamily="18" charset="0"/>
                          </a:rPr>
                          <m:t>2</m:t>
                        </m:r>
                      </m:den>
                    </m:f>
                  </m:oMath>
                </a14:m>
                <a:r>
                  <a:rPr lang="fr-FR" sz="1200" dirty="0">
                    <a:solidFill>
                      <a:schemeClr val="tx1"/>
                    </a:solidFill>
                    <a:ea typeface="Cambria Math" panose="02040503050406030204" pitchFamily="18" charset="0"/>
                  </a:rPr>
                  <a:t> </a:t>
                </a:r>
                <a14:m>
                  <m:oMath xmlns:m="http://schemas.openxmlformats.org/officeDocument/2006/math">
                    <m:r>
                      <a:rPr lang="fr-FR" sz="1200" i="1">
                        <a:solidFill>
                          <a:schemeClr val="tx1"/>
                        </a:solidFill>
                        <a:latin typeface="Cambria Math" panose="02040503050406030204" pitchFamily="18" charset="0"/>
                        <a:ea typeface="Cambria Math" panose="02040503050406030204" pitchFamily="18" charset="0"/>
                      </a:rPr>
                      <m:t>×</m:t>
                    </m:r>
                    <m:f>
                      <m:fPr>
                        <m:ctrlPr>
                          <a:rPr lang="fr-FR" sz="1200" i="1">
                            <a:solidFill>
                              <a:schemeClr val="tx1"/>
                            </a:solidFill>
                            <a:latin typeface="Cambria Math" panose="02040503050406030204" pitchFamily="18" charset="0"/>
                          </a:rPr>
                        </m:ctrlPr>
                      </m:fPr>
                      <m:num>
                        <m:r>
                          <a:rPr lang="fr-FR" sz="1200">
                            <a:solidFill>
                              <a:schemeClr val="tx1"/>
                            </a:solidFill>
                            <a:latin typeface="Cambria Math" panose="02040503050406030204" pitchFamily="18" charset="0"/>
                          </a:rPr>
                          <m:t>𝜕</m:t>
                        </m:r>
                        <m:r>
                          <m:rPr>
                            <m:sty m:val="p"/>
                          </m:rPr>
                          <a:rPr lang="fr-FR" sz="1200" i="0">
                            <a:solidFill>
                              <a:schemeClr val="tx1"/>
                            </a:solidFill>
                            <a:latin typeface="Cambria Math" panose="02040503050406030204" pitchFamily="18" charset="0"/>
                          </a:rPr>
                          <m:t>net</m:t>
                        </m:r>
                        <m:r>
                          <a:rPr lang="fr-FR" sz="1200" i="0">
                            <a:solidFill>
                              <a:schemeClr val="tx1"/>
                            </a:solidFill>
                            <a:latin typeface="Cambria Math" panose="02040503050406030204" pitchFamily="18" charset="0"/>
                          </a:rPr>
                          <m:t>_</m:t>
                        </m:r>
                        <m:r>
                          <m:rPr>
                            <m:sty m:val="p"/>
                          </m:rPr>
                          <a:rPr lang="fr-FR" sz="1200" b="0" i="0" smtClean="0">
                            <a:solidFill>
                              <a:schemeClr val="tx1"/>
                            </a:solidFill>
                            <a:latin typeface="Cambria Math" panose="02040503050406030204" pitchFamily="18" charset="0"/>
                          </a:rPr>
                          <m:t>h</m:t>
                        </m:r>
                        <m:r>
                          <a:rPr lang="fr-FR" sz="1200" b="0" i="0" smtClean="0">
                            <a:solidFill>
                              <a:schemeClr val="tx1"/>
                            </a:solidFill>
                            <a:latin typeface="Cambria Math" panose="02040503050406030204" pitchFamily="18" charset="0"/>
                          </a:rPr>
                          <m:t>2</m:t>
                        </m:r>
                      </m:num>
                      <m:den>
                        <m:r>
                          <a:rPr lang="fr-FR" sz="120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w</m:t>
                        </m:r>
                        <m:r>
                          <a:rPr lang="fr-FR" sz="1200" b="0" i="0" smtClean="0">
                            <a:solidFill>
                              <a:schemeClr val="tx1"/>
                            </a:solidFill>
                            <a:latin typeface="Cambria Math" panose="02040503050406030204" pitchFamily="18" charset="0"/>
                          </a:rPr>
                          <m:t>3</m:t>
                        </m:r>
                      </m:den>
                    </m:f>
                  </m:oMath>
                </a14:m>
                <a:endParaRPr lang="fr-FR" sz="1200" dirty="0">
                  <a:solidFill>
                    <a:schemeClr val="accent3">
                      <a:lumMod val="60000"/>
                      <a:lumOff val="40000"/>
                    </a:schemeClr>
                  </a:solidFill>
                </a:endParaRPr>
              </a:p>
            </p:txBody>
          </p:sp>
        </mc:Choice>
        <mc:Fallback xmlns="">
          <p:sp>
            <p:nvSpPr>
              <p:cNvPr id="10" name="ZoneTexte 9">
                <a:extLst>
                  <a:ext uri="{FF2B5EF4-FFF2-40B4-BE49-F238E27FC236}">
                    <a16:creationId xmlns:a16="http://schemas.microsoft.com/office/drawing/2014/main" id="{438C580A-568F-5246-136E-5A50F1BA4FB1}"/>
                  </a:ext>
                </a:extLst>
              </p:cNvPr>
              <p:cNvSpPr txBox="1">
                <a:spLocks noRot="1" noChangeAspect="1" noMove="1" noResize="1" noEditPoints="1" noAdjustHandles="1" noChangeArrowheads="1" noChangeShapeType="1" noTextEdit="1"/>
              </p:cNvSpPr>
              <p:nvPr/>
            </p:nvSpPr>
            <p:spPr>
              <a:xfrm>
                <a:off x="6380699" y="2475005"/>
                <a:ext cx="5527765" cy="363882"/>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108116AE-1471-9872-2408-07B5EB933BC4}"/>
                  </a:ext>
                </a:extLst>
              </p:cNvPr>
              <p:cNvSpPr txBox="1"/>
              <p:nvPr/>
            </p:nvSpPr>
            <p:spPr>
              <a:xfrm>
                <a:off x="6380699" y="3065118"/>
                <a:ext cx="5527765" cy="363882"/>
              </a:xfrm>
              <a:prstGeom prst="rect">
                <a:avLst/>
              </a:prstGeom>
              <a:noFill/>
            </p:spPr>
            <p:txBody>
              <a:bodyPr wrap="square" rtlCol="0">
                <a:spAutoFit/>
              </a:bodyPr>
              <a:lstStyle/>
              <a:p>
                <a14:m>
                  <m:oMath xmlns:m="http://schemas.openxmlformats.org/officeDocument/2006/math">
                    <m:f>
                      <m:fPr>
                        <m:ctrlPr>
                          <a:rPr lang="fr-FR" sz="1200" i="1" smtClean="0">
                            <a:latin typeface="Cambria Math" panose="02040503050406030204" pitchFamily="18" charset="0"/>
                          </a:rPr>
                        </m:ctrlPr>
                      </m:fPr>
                      <m:num>
                        <m:r>
                          <a:rPr lang="fr-FR" sz="1200" i="0" smtClean="0">
                            <a:latin typeface="Cambria Math" panose="02040503050406030204" pitchFamily="18" charset="0"/>
                          </a:rPr>
                          <m:t>𝜕</m:t>
                        </m:r>
                        <m:r>
                          <m:rPr>
                            <m:sty m:val="p"/>
                          </m:rPr>
                          <a:rPr lang="fr-FR" sz="1200" b="0" i="0" smtClean="0">
                            <a:latin typeface="Cambria Math" panose="02040503050406030204" pitchFamily="18" charset="0"/>
                          </a:rPr>
                          <m:t>Loss</m:t>
                        </m:r>
                        <m:r>
                          <a:rPr lang="fr-FR" sz="1200" b="0" i="0" smtClean="0">
                            <a:latin typeface="Cambria Math" panose="02040503050406030204" pitchFamily="18" charset="0"/>
                          </a:rPr>
                          <m:t>1</m:t>
                        </m:r>
                      </m:num>
                      <m:den>
                        <m:r>
                          <a:rPr lang="fr-FR" sz="1200" i="0" smtClean="0">
                            <a:latin typeface="Cambria Math" panose="02040503050406030204" pitchFamily="18" charset="0"/>
                          </a:rPr>
                          <m:t>𝜕</m:t>
                        </m:r>
                        <m:r>
                          <m:rPr>
                            <m:sty m:val="p"/>
                          </m:rPr>
                          <a:rPr lang="fr-FR" sz="1200" b="0" i="0" smtClean="0">
                            <a:latin typeface="Cambria Math" panose="02040503050406030204" pitchFamily="18" charset="0"/>
                          </a:rPr>
                          <m:t>w</m:t>
                        </m:r>
                        <m:r>
                          <a:rPr lang="fr-FR" sz="1200" b="0" i="0" smtClean="0">
                            <a:latin typeface="Cambria Math" panose="02040503050406030204" pitchFamily="18" charset="0"/>
                          </a:rPr>
                          <m:t>3</m:t>
                        </m:r>
                      </m:den>
                    </m:f>
                    <m:r>
                      <a:rPr lang="fr-FR" sz="1200" b="0" i="0" smtClean="0">
                        <a:solidFill>
                          <a:schemeClr val="tx1"/>
                        </a:solidFill>
                        <a:latin typeface="Cambria Math" panose="02040503050406030204" pitchFamily="18" charset="0"/>
                      </a:rPr>
                      <m:t>=</m:t>
                    </m:r>
                    <m:r>
                      <m:rPr>
                        <m:nor/>
                      </m:rPr>
                      <a:rPr lang="fr-FR" sz="1200">
                        <a:latin typeface="Cambria Math" panose="02040503050406030204" pitchFamily="18" charset="0"/>
                      </a:rPr>
                      <m:t>−2</m:t>
                    </m:r>
                    <m:r>
                      <m:rPr>
                        <m:nor/>
                      </m:rPr>
                      <a:rPr lang="fr-FR" sz="1200" dirty="0">
                        <a:latin typeface="Cambria Math" panose="02040503050406030204" pitchFamily="18" charset="0"/>
                        <a:ea typeface="Cambria Math" panose="02040503050406030204" pitchFamily="18" charset="0"/>
                      </a:rPr>
                      <m:t>(</m:t>
                    </m:r>
                    <m:sSub>
                      <m:sSubPr>
                        <m:ctrlPr>
                          <a:rPr lang="fr-FR" sz="1200" i="1" dirty="0">
                            <a:latin typeface="Cambria Math" panose="02040503050406030204" pitchFamily="18" charset="0"/>
                            <a:ea typeface="Cambria Math" panose="02040503050406030204" pitchFamily="18" charset="0"/>
                          </a:rPr>
                        </m:ctrlPr>
                      </m:sSubPr>
                      <m:e>
                        <m:r>
                          <m:rPr>
                            <m:sty m:val="p"/>
                          </m:rPr>
                          <a:rPr lang="fr-FR" sz="1200">
                            <a:latin typeface="Cambria Math" panose="02040503050406030204" pitchFamily="18" charset="0"/>
                            <a:ea typeface="Cambria Math" panose="02040503050406030204" pitchFamily="18" charset="0"/>
                          </a:rPr>
                          <m:t>target</m:t>
                        </m:r>
                      </m:e>
                      <m:sub>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m:t>
                        </m:r>
                      </m:sub>
                    </m:sSub>
                    <m:r>
                      <a:rPr lang="fr-FR" sz="1200" i="1">
                        <a:latin typeface="Cambria Math" panose="02040503050406030204" pitchFamily="18" charset="0"/>
                        <a:ea typeface="Cambria Math" panose="02040503050406030204" pitchFamily="18" charset="0"/>
                      </a:rPr>
                      <m:t>− </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m:t>
                    </m:r>
                    <m:r>
                      <m:rPr>
                        <m:nor/>
                      </m:rPr>
                      <a:rPr lang="fr-FR" sz="1200" dirty="0">
                        <a:latin typeface="Cambria Math" panose="02040503050406030204" pitchFamily="18" charset="0"/>
                        <a:ea typeface="Cambria Math" panose="02040503050406030204" pitchFamily="18" charset="0"/>
                      </a:rPr>
                      <m:t>)</m:t>
                    </m:r>
                    <m:r>
                      <a:rPr lang="fr-FR" sz="1200" i="1">
                        <a:solidFill>
                          <a:schemeClr val="tx1"/>
                        </a:solidFill>
                        <a:latin typeface="Cambria Math" panose="02040503050406030204" pitchFamily="18" charset="0"/>
                        <a:ea typeface="Cambria Math" panose="02040503050406030204" pitchFamily="18" charset="0"/>
                      </a:rPr>
                      <m:t>×</m:t>
                    </m:r>
                    <m:r>
                      <m:rPr>
                        <m:nor/>
                      </m:rPr>
                      <a:rPr lang="fr-FR" sz="1200">
                        <a:solidFill>
                          <a:schemeClr val="tx1"/>
                        </a:solidFill>
                        <a:latin typeface="Cambria Math" panose="02040503050406030204" pitchFamily="18" charset="0"/>
                        <a:ea typeface="Cambria Math" panose="02040503050406030204" pitchFamily="18" charset="0"/>
                      </a:rPr>
                      <m:t> </m:t>
                    </m:r>
                    <m:r>
                      <m:rPr>
                        <m:sty m:val="p"/>
                      </m:rPr>
                      <a:rPr lang="fr-FR" sz="1200">
                        <a:solidFill>
                          <a:schemeClr val="tx1"/>
                        </a:solidFill>
                        <a:latin typeface="Cambria Math" panose="02040503050406030204" pitchFamily="18" charset="0"/>
                        <a:ea typeface="Cambria Math" panose="02040503050406030204" pitchFamily="18" charset="0"/>
                      </a:rPr>
                      <m:t>out</m:t>
                    </m:r>
                    <m:r>
                      <a:rPr lang="fr-FR" sz="1200">
                        <a:solidFill>
                          <a:schemeClr val="tx1"/>
                        </a:solidFill>
                        <a:latin typeface="Cambria Math" panose="02040503050406030204" pitchFamily="18" charset="0"/>
                        <a:ea typeface="Cambria Math" panose="02040503050406030204" pitchFamily="18" charset="0"/>
                      </a:rPr>
                      <m:t>_</m:t>
                    </m:r>
                    <m:r>
                      <m:rPr>
                        <m:sty m:val="p"/>
                      </m:rPr>
                      <a:rPr lang="fr-FR" sz="1200">
                        <a:solidFill>
                          <a:schemeClr val="tx1"/>
                        </a:solidFill>
                        <a:latin typeface="Cambria Math" panose="02040503050406030204" pitchFamily="18" charset="0"/>
                        <a:ea typeface="Cambria Math" panose="02040503050406030204" pitchFamily="18" charset="0"/>
                      </a:rPr>
                      <m:t>o</m:t>
                    </m:r>
                    <m:r>
                      <a:rPr lang="fr-FR" sz="1200">
                        <a:solidFill>
                          <a:schemeClr val="tx1"/>
                        </a:solidFill>
                        <a:latin typeface="Cambria Math" panose="02040503050406030204" pitchFamily="18" charset="0"/>
                        <a:ea typeface="Cambria Math" panose="02040503050406030204" pitchFamily="18" charset="0"/>
                      </a:rPr>
                      <m:t>1(1−</m:t>
                    </m:r>
                    <m:r>
                      <m:rPr>
                        <m:sty m:val="p"/>
                      </m:rPr>
                      <a:rPr lang="fr-FR" sz="1200">
                        <a:solidFill>
                          <a:schemeClr val="tx1"/>
                        </a:solidFill>
                        <a:latin typeface="Cambria Math" panose="02040503050406030204" pitchFamily="18" charset="0"/>
                        <a:ea typeface="Cambria Math" panose="02040503050406030204" pitchFamily="18" charset="0"/>
                      </a:rPr>
                      <m:t>out</m:t>
                    </m:r>
                    <m:r>
                      <a:rPr lang="fr-FR" sz="1200">
                        <a:solidFill>
                          <a:schemeClr val="tx1"/>
                        </a:solidFill>
                        <a:latin typeface="Cambria Math" panose="02040503050406030204" pitchFamily="18" charset="0"/>
                        <a:ea typeface="Cambria Math" panose="02040503050406030204" pitchFamily="18" charset="0"/>
                      </a:rPr>
                      <m:t>_</m:t>
                    </m:r>
                    <m:r>
                      <m:rPr>
                        <m:sty m:val="p"/>
                      </m:rPr>
                      <a:rPr lang="fr-FR" sz="1200">
                        <a:solidFill>
                          <a:schemeClr val="tx1"/>
                        </a:solidFill>
                        <a:latin typeface="Cambria Math" panose="02040503050406030204" pitchFamily="18" charset="0"/>
                        <a:ea typeface="Cambria Math" panose="02040503050406030204" pitchFamily="18" charset="0"/>
                      </a:rPr>
                      <m:t>o</m:t>
                    </m:r>
                    <m:r>
                      <a:rPr lang="fr-FR" sz="1200">
                        <a:solidFill>
                          <a:schemeClr val="tx1"/>
                        </a:solidFill>
                        <a:latin typeface="Cambria Math" panose="02040503050406030204" pitchFamily="18" charset="0"/>
                        <a:ea typeface="Cambria Math" panose="02040503050406030204" pitchFamily="18" charset="0"/>
                      </a:rPr>
                      <m:t>1</m:t>
                    </m:r>
                    <m:r>
                      <a:rPr lang="fr-FR" sz="1200" i="1">
                        <a:solidFill>
                          <a:schemeClr val="tx1"/>
                        </a:solidFill>
                        <a:latin typeface="Cambria Math" panose="02040503050406030204" pitchFamily="18" charset="0"/>
                        <a:ea typeface="Cambria Math" panose="02040503050406030204" pitchFamily="18" charset="0"/>
                      </a:rPr>
                      <m:t>)</m:t>
                    </m:r>
                    <m:r>
                      <a:rPr lang="fr-FR" sz="1200" b="0" i="1" smtClean="0">
                        <a:solidFill>
                          <a:schemeClr val="tx1"/>
                        </a:solidFill>
                        <a:latin typeface="Cambria Math" panose="02040503050406030204" pitchFamily="18" charset="0"/>
                        <a:ea typeface="Cambria Math" panose="02040503050406030204" pitchFamily="18" charset="0"/>
                      </a:rPr>
                      <m:t>×</m:t>
                    </m:r>
                    <m:r>
                      <m:rPr>
                        <m:sty m:val="p"/>
                      </m:rPr>
                      <a:rPr lang="fr-FR" sz="1200" b="0" i="0" smtClean="0">
                        <a:solidFill>
                          <a:schemeClr val="accent2"/>
                        </a:solidFill>
                        <a:latin typeface="Cambria Math" panose="02040503050406030204" pitchFamily="18" charset="0"/>
                      </a:rPr>
                      <m:t>w</m:t>
                    </m:r>
                    <m:r>
                      <a:rPr lang="fr-FR" sz="1200" b="0" i="0" smtClean="0">
                        <a:solidFill>
                          <a:schemeClr val="accent2"/>
                        </a:solidFill>
                        <a:latin typeface="Cambria Math" panose="02040503050406030204" pitchFamily="18" charset="0"/>
                      </a:rPr>
                      <m:t>6</m:t>
                    </m:r>
                    <m:r>
                      <a:rPr lang="fr-FR" sz="1200" i="1">
                        <a:latin typeface="Cambria Math" panose="02040503050406030204" pitchFamily="18" charset="0"/>
                        <a:ea typeface="Cambria Math" panose="02040503050406030204" pitchFamily="18" charset="0"/>
                      </a:rPr>
                      <m:t>×</m:t>
                    </m:r>
                    <m:f>
                      <m:fPr>
                        <m:ctrlPr>
                          <a:rPr lang="fr-FR" sz="1200" i="1" smtClean="0">
                            <a:solidFill>
                              <a:schemeClr val="tx1"/>
                            </a:solidFill>
                            <a:latin typeface="Cambria Math" panose="02040503050406030204" pitchFamily="18" charset="0"/>
                          </a:rPr>
                        </m:ctrlPr>
                      </m:fPr>
                      <m:num>
                        <m:r>
                          <a:rPr lang="fr-FR" sz="120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out</m:t>
                        </m:r>
                        <m:r>
                          <a:rPr lang="fr-FR" sz="1200">
                            <a:solidFill>
                              <a:schemeClr val="tx1"/>
                            </a:solidFill>
                            <a:latin typeface="Cambria Math" panose="02040503050406030204" pitchFamily="18" charset="0"/>
                          </a:rPr>
                          <m:t>_</m:t>
                        </m:r>
                        <m:r>
                          <a:rPr lang="fr-FR" sz="1200" b="0" i="1" smtClean="0">
                            <a:solidFill>
                              <a:schemeClr val="tx1"/>
                            </a:solidFill>
                            <a:latin typeface="Cambria Math" panose="02040503050406030204" pitchFamily="18" charset="0"/>
                          </a:rPr>
                          <m:t>h</m:t>
                        </m:r>
                        <m:r>
                          <a:rPr lang="fr-FR" sz="1200" b="0" i="1" smtClean="0">
                            <a:solidFill>
                              <a:schemeClr val="tx1"/>
                            </a:solidFill>
                            <a:latin typeface="Cambria Math" panose="02040503050406030204" pitchFamily="18" charset="0"/>
                          </a:rPr>
                          <m:t>2</m:t>
                        </m:r>
                      </m:num>
                      <m:den>
                        <m:r>
                          <a:rPr lang="fr-FR" sz="120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ne</m:t>
                        </m:r>
                        <m:r>
                          <m:rPr>
                            <m:sty m:val="p"/>
                          </m:rPr>
                          <a:rPr lang="fr-FR" sz="1200">
                            <a:solidFill>
                              <a:schemeClr val="tx1"/>
                            </a:solidFill>
                            <a:latin typeface="Cambria Math" panose="02040503050406030204" pitchFamily="18" charset="0"/>
                          </a:rPr>
                          <m:t>t</m:t>
                        </m:r>
                        <m:r>
                          <a:rPr lang="fr-FR" sz="1200">
                            <a:solidFill>
                              <a:schemeClr val="tx1"/>
                            </a:solidFill>
                            <a:latin typeface="Cambria Math" panose="02040503050406030204" pitchFamily="18" charset="0"/>
                          </a:rPr>
                          <m:t>_</m:t>
                        </m:r>
                        <m:r>
                          <m:rPr>
                            <m:sty m:val="p"/>
                          </m:rPr>
                          <a:rPr lang="fr-FR" sz="1200">
                            <a:solidFill>
                              <a:schemeClr val="tx1"/>
                            </a:solidFill>
                            <a:latin typeface="Cambria Math" panose="02040503050406030204" pitchFamily="18" charset="0"/>
                          </a:rPr>
                          <m:t>h</m:t>
                        </m:r>
                        <m:r>
                          <a:rPr lang="fr-FR" sz="1200">
                            <a:solidFill>
                              <a:schemeClr val="tx1"/>
                            </a:solidFill>
                            <a:latin typeface="Cambria Math" panose="02040503050406030204" pitchFamily="18" charset="0"/>
                          </a:rPr>
                          <m:t>2</m:t>
                        </m:r>
                      </m:den>
                    </m:f>
                  </m:oMath>
                </a14:m>
                <a:r>
                  <a:rPr lang="fr-FR" sz="1200" dirty="0">
                    <a:solidFill>
                      <a:schemeClr val="tx1"/>
                    </a:solidFill>
                    <a:ea typeface="Cambria Math" panose="02040503050406030204" pitchFamily="18" charset="0"/>
                  </a:rPr>
                  <a:t> </a:t>
                </a:r>
                <a14:m>
                  <m:oMath xmlns:m="http://schemas.openxmlformats.org/officeDocument/2006/math">
                    <m:r>
                      <a:rPr lang="fr-FR" sz="1200" i="1">
                        <a:solidFill>
                          <a:schemeClr val="tx1"/>
                        </a:solidFill>
                        <a:latin typeface="Cambria Math" panose="02040503050406030204" pitchFamily="18" charset="0"/>
                        <a:ea typeface="Cambria Math" panose="02040503050406030204" pitchFamily="18" charset="0"/>
                      </a:rPr>
                      <m:t>×</m:t>
                    </m:r>
                    <m:f>
                      <m:fPr>
                        <m:ctrlPr>
                          <a:rPr lang="fr-FR" sz="1200" i="1">
                            <a:solidFill>
                              <a:schemeClr val="tx1"/>
                            </a:solidFill>
                            <a:latin typeface="Cambria Math" panose="02040503050406030204" pitchFamily="18" charset="0"/>
                          </a:rPr>
                        </m:ctrlPr>
                      </m:fPr>
                      <m:num>
                        <m:r>
                          <a:rPr lang="fr-FR" sz="1200">
                            <a:solidFill>
                              <a:schemeClr val="tx1"/>
                            </a:solidFill>
                            <a:latin typeface="Cambria Math" panose="02040503050406030204" pitchFamily="18" charset="0"/>
                          </a:rPr>
                          <m:t>𝜕</m:t>
                        </m:r>
                        <m:r>
                          <m:rPr>
                            <m:sty m:val="p"/>
                          </m:rPr>
                          <a:rPr lang="fr-FR" sz="1200" i="0">
                            <a:solidFill>
                              <a:schemeClr val="tx1"/>
                            </a:solidFill>
                            <a:latin typeface="Cambria Math" panose="02040503050406030204" pitchFamily="18" charset="0"/>
                          </a:rPr>
                          <m:t>net</m:t>
                        </m:r>
                        <m:r>
                          <a:rPr lang="fr-FR" sz="1200" i="0">
                            <a:solidFill>
                              <a:schemeClr val="tx1"/>
                            </a:solidFill>
                            <a:latin typeface="Cambria Math" panose="02040503050406030204" pitchFamily="18" charset="0"/>
                          </a:rPr>
                          <m:t>_</m:t>
                        </m:r>
                        <m:r>
                          <m:rPr>
                            <m:sty m:val="p"/>
                          </m:rPr>
                          <a:rPr lang="fr-FR" sz="1200" b="0" i="0" smtClean="0">
                            <a:solidFill>
                              <a:schemeClr val="tx1"/>
                            </a:solidFill>
                            <a:latin typeface="Cambria Math" panose="02040503050406030204" pitchFamily="18" charset="0"/>
                          </a:rPr>
                          <m:t>h</m:t>
                        </m:r>
                        <m:r>
                          <a:rPr lang="fr-FR" sz="1200" b="0" i="0" smtClean="0">
                            <a:solidFill>
                              <a:schemeClr val="tx1"/>
                            </a:solidFill>
                            <a:latin typeface="Cambria Math" panose="02040503050406030204" pitchFamily="18" charset="0"/>
                          </a:rPr>
                          <m:t>2</m:t>
                        </m:r>
                      </m:num>
                      <m:den>
                        <m:r>
                          <a:rPr lang="fr-FR" sz="120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w</m:t>
                        </m:r>
                        <m:r>
                          <a:rPr lang="fr-FR" sz="1200" b="0" i="0" smtClean="0">
                            <a:solidFill>
                              <a:schemeClr val="tx1"/>
                            </a:solidFill>
                            <a:latin typeface="Cambria Math" panose="02040503050406030204" pitchFamily="18" charset="0"/>
                          </a:rPr>
                          <m:t>3</m:t>
                        </m:r>
                      </m:den>
                    </m:f>
                  </m:oMath>
                </a14:m>
                <a:endParaRPr lang="fr-FR" sz="1200" dirty="0">
                  <a:solidFill>
                    <a:schemeClr val="accent3">
                      <a:lumMod val="60000"/>
                      <a:lumOff val="40000"/>
                    </a:schemeClr>
                  </a:solidFill>
                </a:endParaRPr>
              </a:p>
            </p:txBody>
          </p:sp>
        </mc:Choice>
        <mc:Fallback xmlns="">
          <p:sp>
            <p:nvSpPr>
              <p:cNvPr id="12" name="ZoneTexte 11">
                <a:extLst>
                  <a:ext uri="{FF2B5EF4-FFF2-40B4-BE49-F238E27FC236}">
                    <a16:creationId xmlns:a16="http://schemas.microsoft.com/office/drawing/2014/main" id="{108116AE-1471-9872-2408-07B5EB933BC4}"/>
                  </a:ext>
                </a:extLst>
              </p:cNvPr>
              <p:cNvSpPr txBox="1">
                <a:spLocks noRot="1" noChangeAspect="1" noMove="1" noResize="1" noEditPoints="1" noAdjustHandles="1" noChangeArrowheads="1" noChangeShapeType="1" noTextEdit="1"/>
              </p:cNvSpPr>
              <p:nvPr/>
            </p:nvSpPr>
            <p:spPr>
              <a:xfrm>
                <a:off x="6380699" y="3065118"/>
                <a:ext cx="5527765" cy="363882"/>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AEFAA154-FA0F-A572-7B82-63B3B90E5D5B}"/>
                  </a:ext>
                </a:extLst>
              </p:cNvPr>
              <p:cNvSpPr txBox="1"/>
              <p:nvPr/>
            </p:nvSpPr>
            <p:spPr>
              <a:xfrm>
                <a:off x="6380699" y="3623204"/>
                <a:ext cx="5527765" cy="363882"/>
              </a:xfrm>
              <a:prstGeom prst="rect">
                <a:avLst/>
              </a:prstGeom>
              <a:noFill/>
            </p:spPr>
            <p:txBody>
              <a:bodyPr wrap="square" rtlCol="0">
                <a:spAutoFit/>
              </a:bodyPr>
              <a:lstStyle/>
              <a:p>
                <a14:m>
                  <m:oMath xmlns:m="http://schemas.openxmlformats.org/officeDocument/2006/math">
                    <m:f>
                      <m:fPr>
                        <m:ctrlPr>
                          <a:rPr lang="fr-FR" sz="1200" i="1" smtClean="0">
                            <a:latin typeface="Cambria Math" panose="02040503050406030204" pitchFamily="18" charset="0"/>
                          </a:rPr>
                        </m:ctrlPr>
                      </m:fPr>
                      <m:num>
                        <m:r>
                          <a:rPr lang="fr-FR" sz="1200" i="0" smtClean="0">
                            <a:latin typeface="Cambria Math" panose="02040503050406030204" pitchFamily="18" charset="0"/>
                          </a:rPr>
                          <m:t>𝜕</m:t>
                        </m:r>
                        <m:r>
                          <m:rPr>
                            <m:sty m:val="p"/>
                          </m:rPr>
                          <a:rPr lang="fr-FR" sz="1200" b="0" i="0" smtClean="0">
                            <a:latin typeface="Cambria Math" panose="02040503050406030204" pitchFamily="18" charset="0"/>
                          </a:rPr>
                          <m:t>Loss</m:t>
                        </m:r>
                        <m:r>
                          <a:rPr lang="fr-FR" sz="1200" b="0" i="0" smtClean="0">
                            <a:latin typeface="Cambria Math" panose="02040503050406030204" pitchFamily="18" charset="0"/>
                          </a:rPr>
                          <m:t>1</m:t>
                        </m:r>
                      </m:num>
                      <m:den>
                        <m:r>
                          <a:rPr lang="fr-FR" sz="1200" i="0" smtClean="0">
                            <a:latin typeface="Cambria Math" panose="02040503050406030204" pitchFamily="18" charset="0"/>
                          </a:rPr>
                          <m:t>𝜕</m:t>
                        </m:r>
                        <m:r>
                          <m:rPr>
                            <m:sty m:val="p"/>
                          </m:rPr>
                          <a:rPr lang="fr-FR" sz="1200" b="0" i="0" smtClean="0">
                            <a:latin typeface="Cambria Math" panose="02040503050406030204" pitchFamily="18" charset="0"/>
                          </a:rPr>
                          <m:t>w</m:t>
                        </m:r>
                        <m:r>
                          <a:rPr lang="fr-FR" sz="1200" b="0" i="0" smtClean="0">
                            <a:latin typeface="Cambria Math" panose="02040503050406030204" pitchFamily="18" charset="0"/>
                          </a:rPr>
                          <m:t>3</m:t>
                        </m:r>
                      </m:den>
                    </m:f>
                    <m:r>
                      <a:rPr lang="fr-FR" sz="1200" b="0" i="0" smtClean="0">
                        <a:latin typeface="Cambria Math" panose="02040503050406030204" pitchFamily="18" charset="0"/>
                      </a:rPr>
                      <m:t>=</m:t>
                    </m:r>
                    <m:r>
                      <m:rPr>
                        <m:nor/>
                      </m:rPr>
                      <a:rPr lang="fr-FR" sz="1200">
                        <a:latin typeface="Cambria Math" panose="02040503050406030204" pitchFamily="18" charset="0"/>
                      </a:rPr>
                      <m:t>−2</m:t>
                    </m:r>
                    <m:r>
                      <m:rPr>
                        <m:nor/>
                      </m:rPr>
                      <a:rPr lang="fr-FR" sz="1200" dirty="0">
                        <a:latin typeface="Cambria Math" panose="02040503050406030204" pitchFamily="18" charset="0"/>
                        <a:ea typeface="Cambria Math" panose="02040503050406030204" pitchFamily="18" charset="0"/>
                      </a:rPr>
                      <m:t>(</m:t>
                    </m:r>
                    <m:sSub>
                      <m:sSubPr>
                        <m:ctrlPr>
                          <a:rPr lang="fr-FR" sz="1200" i="1" dirty="0">
                            <a:latin typeface="Cambria Math" panose="02040503050406030204" pitchFamily="18" charset="0"/>
                            <a:ea typeface="Cambria Math" panose="02040503050406030204" pitchFamily="18" charset="0"/>
                          </a:rPr>
                        </m:ctrlPr>
                      </m:sSubPr>
                      <m:e>
                        <m:r>
                          <m:rPr>
                            <m:sty m:val="p"/>
                          </m:rPr>
                          <a:rPr lang="fr-FR" sz="1200">
                            <a:latin typeface="Cambria Math" panose="02040503050406030204" pitchFamily="18" charset="0"/>
                            <a:ea typeface="Cambria Math" panose="02040503050406030204" pitchFamily="18" charset="0"/>
                          </a:rPr>
                          <m:t>target</m:t>
                        </m:r>
                      </m:e>
                      <m:sub>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m:t>
                        </m:r>
                      </m:sub>
                    </m:sSub>
                    <m:r>
                      <a:rPr lang="fr-FR" sz="1200" i="1">
                        <a:latin typeface="Cambria Math" panose="02040503050406030204" pitchFamily="18" charset="0"/>
                        <a:ea typeface="Cambria Math" panose="02040503050406030204" pitchFamily="18" charset="0"/>
                      </a:rPr>
                      <m:t>− </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m:t>
                    </m:r>
                    <m:r>
                      <m:rPr>
                        <m:nor/>
                      </m:rPr>
                      <a:rPr lang="fr-FR" sz="1200" dirty="0">
                        <a:latin typeface="Cambria Math" panose="02040503050406030204" pitchFamily="18" charset="0"/>
                        <a:ea typeface="Cambria Math" panose="02040503050406030204" pitchFamily="18" charset="0"/>
                      </a:rPr>
                      <m:t>)</m:t>
                    </m:r>
                    <m:r>
                      <a:rPr lang="fr-FR" sz="1200" i="1">
                        <a:solidFill>
                          <a:schemeClr val="tx1"/>
                        </a:solidFill>
                        <a:latin typeface="Cambria Math" panose="02040503050406030204" pitchFamily="18" charset="0"/>
                        <a:ea typeface="Cambria Math" panose="02040503050406030204" pitchFamily="18" charset="0"/>
                      </a:rPr>
                      <m:t>×</m:t>
                    </m:r>
                    <m:r>
                      <m:rPr>
                        <m:nor/>
                      </m:rPr>
                      <a:rPr lang="fr-FR" sz="1200">
                        <a:solidFill>
                          <a:schemeClr val="tx1"/>
                        </a:solidFill>
                        <a:latin typeface="Cambria Math" panose="02040503050406030204" pitchFamily="18" charset="0"/>
                        <a:ea typeface="Cambria Math" panose="02040503050406030204" pitchFamily="18" charset="0"/>
                      </a:rPr>
                      <m:t> </m:t>
                    </m:r>
                    <m:r>
                      <m:rPr>
                        <m:sty m:val="p"/>
                      </m:rPr>
                      <a:rPr lang="fr-FR" sz="1200">
                        <a:solidFill>
                          <a:schemeClr val="tx1"/>
                        </a:solidFill>
                        <a:latin typeface="Cambria Math" panose="02040503050406030204" pitchFamily="18" charset="0"/>
                        <a:ea typeface="Cambria Math" panose="02040503050406030204" pitchFamily="18" charset="0"/>
                      </a:rPr>
                      <m:t>out</m:t>
                    </m:r>
                    <m:r>
                      <a:rPr lang="fr-FR" sz="1200">
                        <a:solidFill>
                          <a:schemeClr val="tx1"/>
                        </a:solidFill>
                        <a:latin typeface="Cambria Math" panose="02040503050406030204" pitchFamily="18" charset="0"/>
                        <a:ea typeface="Cambria Math" panose="02040503050406030204" pitchFamily="18" charset="0"/>
                      </a:rPr>
                      <m:t>_</m:t>
                    </m:r>
                    <m:r>
                      <m:rPr>
                        <m:sty m:val="p"/>
                      </m:rPr>
                      <a:rPr lang="fr-FR" sz="1200">
                        <a:solidFill>
                          <a:schemeClr val="tx1"/>
                        </a:solidFill>
                        <a:latin typeface="Cambria Math" panose="02040503050406030204" pitchFamily="18" charset="0"/>
                        <a:ea typeface="Cambria Math" panose="02040503050406030204" pitchFamily="18" charset="0"/>
                      </a:rPr>
                      <m:t>o</m:t>
                    </m:r>
                    <m:r>
                      <a:rPr lang="fr-FR" sz="1200">
                        <a:solidFill>
                          <a:schemeClr val="tx1"/>
                        </a:solidFill>
                        <a:latin typeface="Cambria Math" panose="02040503050406030204" pitchFamily="18" charset="0"/>
                        <a:ea typeface="Cambria Math" panose="02040503050406030204" pitchFamily="18" charset="0"/>
                      </a:rPr>
                      <m:t>1(1−</m:t>
                    </m:r>
                    <m:r>
                      <m:rPr>
                        <m:sty m:val="p"/>
                      </m:rPr>
                      <a:rPr lang="fr-FR" sz="1200">
                        <a:solidFill>
                          <a:schemeClr val="tx1"/>
                        </a:solidFill>
                        <a:latin typeface="Cambria Math" panose="02040503050406030204" pitchFamily="18" charset="0"/>
                        <a:ea typeface="Cambria Math" panose="02040503050406030204" pitchFamily="18" charset="0"/>
                      </a:rPr>
                      <m:t>out</m:t>
                    </m:r>
                    <m:r>
                      <a:rPr lang="fr-FR" sz="1200">
                        <a:solidFill>
                          <a:schemeClr val="tx1"/>
                        </a:solidFill>
                        <a:latin typeface="Cambria Math" panose="02040503050406030204" pitchFamily="18" charset="0"/>
                        <a:ea typeface="Cambria Math" panose="02040503050406030204" pitchFamily="18" charset="0"/>
                      </a:rPr>
                      <m:t>_</m:t>
                    </m:r>
                    <m:r>
                      <m:rPr>
                        <m:sty m:val="p"/>
                      </m:rPr>
                      <a:rPr lang="fr-FR" sz="1200">
                        <a:solidFill>
                          <a:schemeClr val="tx1"/>
                        </a:solidFill>
                        <a:latin typeface="Cambria Math" panose="02040503050406030204" pitchFamily="18" charset="0"/>
                        <a:ea typeface="Cambria Math" panose="02040503050406030204" pitchFamily="18" charset="0"/>
                      </a:rPr>
                      <m:t>o</m:t>
                    </m:r>
                    <m:r>
                      <a:rPr lang="fr-FR" sz="1200">
                        <a:solidFill>
                          <a:schemeClr val="tx1"/>
                        </a:solidFill>
                        <a:latin typeface="Cambria Math" panose="02040503050406030204" pitchFamily="18" charset="0"/>
                        <a:ea typeface="Cambria Math" panose="02040503050406030204" pitchFamily="18" charset="0"/>
                      </a:rPr>
                      <m:t>1</m:t>
                    </m:r>
                    <m:r>
                      <a:rPr lang="fr-FR" sz="1200" i="1">
                        <a:solidFill>
                          <a:schemeClr val="tx1"/>
                        </a:solidFill>
                        <a:latin typeface="Cambria Math" panose="02040503050406030204" pitchFamily="18" charset="0"/>
                        <a:ea typeface="Cambria Math" panose="02040503050406030204" pitchFamily="18" charset="0"/>
                      </a:rPr>
                      <m:t>)</m:t>
                    </m:r>
                    <m:r>
                      <a:rPr lang="fr-FR" sz="1200" b="0" i="1" smtClean="0">
                        <a:solidFill>
                          <a:schemeClr val="tx1"/>
                        </a:solidFill>
                        <a:latin typeface="Cambria Math" panose="02040503050406030204" pitchFamily="18" charset="0"/>
                        <a:ea typeface="Cambria Math" panose="02040503050406030204" pitchFamily="18" charset="0"/>
                      </a:rPr>
                      <m:t>×</m:t>
                    </m:r>
                    <m:r>
                      <m:rPr>
                        <m:sty m:val="p"/>
                      </m:rPr>
                      <a:rPr lang="fr-FR" sz="1200" b="0" i="0" smtClean="0">
                        <a:solidFill>
                          <a:schemeClr val="tx1"/>
                        </a:solidFill>
                        <a:latin typeface="Cambria Math" panose="02040503050406030204" pitchFamily="18" charset="0"/>
                      </a:rPr>
                      <m:t>w</m:t>
                    </m:r>
                    <m:r>
                      <a:rPr lang="fr-FR" sz="1200" b="0" i="0" smtClean="0">
                        <a:solidFill>
                          <a:schemeClr val="tx1"/>
                        </a:solidFill>
                        <a:latin typeface="Cambria Math" panose="02040503050406030204" pitchFamily="18" charset="0"/>
                      </a:rPr>
                      <m:t>6</m:t>
                    </m:r>
                    <m:r>
                      <a:rPr lang="fr-FR" sz="1200" i="1">
                        <a:solidFill>
                          <a:schemeClr val="tx1"/>
                        </a:solidFill>
                        <a:latin typeface="Cambria Math" panose="02040503050406030204" pitchFamily="18" charset="0"/>
                        <a:ea typeface="Cambria Math" panose="02040503050406030204" pitchFamily="18" charset="0"/>
                      </a:rPr>
                      <m:t>×</m:t>
                    </m:r>
                    <m:r>
                      <a:rPr lang="fr-FR" sz="1200" i="1" smtClean="0">
                        <a:solidFill>
                          <a:schemeClr val="accent2"/>
                        </a:solidFill>
                        <a:latin typeface="Cambria Math" panose="02040503050406030204" pitchFamily="18" charset="0"/>
                      </a:rPr>
                      <m:t>1</m:t>
                    </m:r>
                    <m:r>
                      <a:rPr lang="fr-FR" sz="1200" b="0" i="1" baseline="-25000" smtClean="0">
                        <a:solidFill>
                          <a:schemeClr val="accent2"/>
                        </a:solidFill>
                        <a:latin typeface="Cambria Math" panose="02040503050406030204" pitchFamily="18" charset="0"/>
                      </a:rPr>
                      <m:t>{</m:t>
                    </m:r>
                    <m:r>
                      <m:rPr>
                        <m:sty m:val="p"/>
                      </m:rPr>
                      <a:rPr lang="fr-FR" sz="1200" b="0" i="0" baseline="-25000" smtClean="0">
                        <a:solidFill>
                          <a:schemeClr val="accent2"/>
                        </a:solidFill>
                        <a:latin typeface="Cambria Math" panose="02040503050406030204" pitchFamily="18" charset="0"/>
                      </a:rPr>
                      <m:t>net</m:t>
                    </m:r>
                    <m:r>
                      <a:rPr lang="fr-FR" sz="1200" b="0" i="0" baseline="-25000" smtClean="0">
                        <a:solidFill>
                          <a:schemeClr val="accent2"/>
                        </a:solidFill>
                        <a:latin typeface="Cambria Math" panose="02040503050406030204" pitchFamily="18" charset="0"/>
                      </a:rPr>
                      <m:t>_</m:t>
                    </m:r>
                    <m:r>
                      <m:rPr>
                        <m:sty m:val="p"/>
                      </m:rPr>
                      <a:rPr lang="fr-FR" sz="1200" b="0" i="0" baseline="-25000" smtClean="0">
                        <a:solidFill>
                          <a:schemeClr val="accent2"/>
                        </a:solidFill>
                        <a:latin typeface="Cambria Math" panose="02040503050406030204" pitchFamily="18" charset="0"/>
                      </a:rPr>
                      <m:t>h</m:t>
                    </m:r>
                    <m:r>
                      <a:rPr lang="fr-FR" sz="1200" b="0" i="0" baseline="-25000" smtClean="0">
                        <a:solidFill>
                          <a:schemeClr val="accent2"/>
                        </a:solidFill>
                        <a:latin typeface="Cambria Math" panose="02040503050406030204" pitchFamily="18" charset="0"/>
                      </a:rPr>
                      <m:t>2</m:t>
                    </m:r>
                  </m:oMath>
                </a14:m>
                <a:r>
                  <a:rPr lang="fr-FR" sz="1200" baseline="-25000" dirty="0">
                    <a:solidFill>
                      <a:schemeClr val="accent2"/>
                    </a:solidFill>
                    <a:ea typeface="Cambria Math" panose="02040503050406030204" pitchFamily="18" charset="0"/>
                  </a:rPr>
                  <a:t> </a:t>
                </a:r>
                <a14:m>
                  <m:oMath xmlns:m="http://schemas.openxmlformats.org/officeDocument/2006/math">
                    <m:r>
                      <a:rPr lang="fr-FR" sz="1200" b="0" i="1" baseline="-25000" smtClean="0">
                        <a:solidFill>
                          <a:schemeClr val="accent2"/>
                        </a:solidFill>
                        <a:latin typeface="Cambria Math" panose="02040503050406030204" pitchFamily="18" charset="0"/>
                        <a:ea typeface="Cambria Math" panose="02040503050406030204" pitchFamily="18" charset="0"/>
                      </a:rPr>
                      <m:t>&gt;0</m:t>
                    </m:r>
                    <m:r>
                      <a:rPr lang="fr-FR" sz="1200" b="0" i="1" baseline="-25000" smtClean="0">
                        <a:solidFill>
                          <a:schemeClr val="accent2"/>
                        </a:solidFill>
                        <a:latin typeface="Cambria Math" panose="02040503050406030204" pitchFamily="18" charset="0"/>
                      </a:rPr>
                      <m:t>}</m:t>
                    </m:r>
                  </m:oMath>
                </a14:m>
                <a:r>
                  <a:rPr lang="fr-FR" sz="1200" dirty="0">
                    <a:solidFill>
                      <a:schemeClr val="tx1"/>
                    </a:solidFill>
                    <a:ea typeface="Cambria Math" panose="02040503050406030204" pitchFamily="18" charset="0"/>
                  </a:rPr>
                  <a:t> </a:t>
                </a:r>
                <a14:m>
                  <m:oMath xmlns:m="http://schemas.openxmlformats.org/officeDocument/2006/math">
                    <m:r>
                      <a:rPr lang="fr-FR" sz="1200" i="1">
                        <a:solidFill>
                          <a:schemeClr val="tx1"/>
                        </a:solidFill>
                        <a:latin typeface="Cambria Math" panose="02040503050406030204" pitchFamily="18" charset="0"/>
                        <a:ea typeface="Cambria Math" panose="02040503050406030204" pitchFamily="18" charset="0"/>
                      </a:rPr>
                      <m:t>×</m:t>
                    </m:r>
                    <m:f>
                      <m:fPr>
                        <m:ctrlPr>
                          <a:rPr lang="fr-FR" sz="1200" i="1">
                            <a:solidFill>
                              <a:schemeClr val="tx1"/>
                            </a:solidFill>
                            <a:latin typeface="Cambria Math" panose="02040503050406030204" pitchFamily="18" charset="0"/>
                          </a:rPr>
                        </m:ctrlPr>
                      </m:fPr>
                      <m:num>
                        <m:r>
                          <a:rPr lang="fr-FR" sz="1200">
                            <a:solidFill>
                              <a:schemeClr val="tx1"/>
                            </a:solidFill>
                            <a:latin typeface="Cambria Math" panose="02040503050406030204" pitchFamily="18" charset="0"/>
                          </a:rPr>
                          <m:t>𝜕</m:t>
                        </m:r>
                        <m:r>
                          <m:rPr>
                            <m:sty m:val="p"/>
                          </m:rPr>
                          <a:rPr lang="fr-FR" sz="1200">
                            <a:solidFill>
                              <a:schemeClr val="tx1"/>
                            </a:solidFill>
                            <a:latin typeface="Cambria Math" panose="02040503050406030204" pitchFamily="18" charset="0"/>
                          </a:rPr>
                          <m:t>net</m:t>
                        </m:r>
                        <m:r>
                          <a:rPr lang="fr-FR" sz="1200">
                            <a:solidFill>
                              <a:schemeClr val="tx1"/>
                            </a:solidFill>
                            <a:latin typeface="Cambria Math" panose="02040503050406030204" pitchFamily="18" charset="0"/>
                          </a:rPr>
                          <m:t>_</m:t>
                        </m:r>
                        <m:r>
                          <m:rPr>
                            <m:sty m:val="p"/>
                          </m:rPr>
                          <a:rPr lang="fr-FR" sz="1200">
                            <a:solidFill>
                              <a:schemeClr val="tx1"/>
                            </a:solidFill>
                            <a:latin typeface="Cambria Math" panose="02040503050406030204" pitchFamily="18" charset="0"/>
                          </a:rPr>
                          <m:t>h</m:t>
                        </m:r>
                        <m:r>
                          <a:rPr lang="fr-FR" sz="1200">
                            <a:solidFill>
                              <a:schemeClr val="tx1"/>
                            </a:solidFill>
                            <a:latin typeface="Cambria Math" panose="02040503050406030204" pitchFamily="18" charset="0"/>
                          </a:rPr>
                          <m:t>2</m:t>
                        </m:r>
                      </m:num>
                      <m:den>
                        <m:r>
                          <a:rPr lang="fr-FR" sz="1200">
                            <a:solidFill>
                              <a:schemeClr val="tx1"/>
                            </a:solidFill>
                            <a:latin typeface="Cambria Math" panose="02040503050406030204" pitchFamily="18" charset="0"/>
                          </a:rPr>
                          <m:t>𝜕</m:t>
                        </m:r>
                        <m:r>
                          <m:rPr>
                            <m:sty m:val="p"/>
                          </m:rPr>
                          <a:rPr lang="fr-FR" sz="1200">
                            <a:solidFill>
                              <a:schemeClr val="tx1"/>
                            </a:solidFill>
                            <a:latin typeface="Cambria Math" panose="02040503050406030204" pitchFamily="18" charset="0"/>
                          </a:rPr>
                          <m:t>w</m:t>
                        </m:r>
                        <m:r>
                          <a:rPr lang="fr-FR" sz="1200">
                            <a:solidFill>
                              <a:schemeClr val="tx1"/>
                            </a:solidFill>
                            <a:latin typeface="Cambria Math" panose="02040503050406030204" pitchFamily="18" charset="0"/>
                          </a:rPr>
                          <m:t>3</m:t>
                        </m:r>
                      </m:den>
                    </m:f>
                  </m:oMath>
                </a14:m>
                <a:endParaRPr lang="fr-FR" sz="1200" dirty="0">
                  <a:solidFill>
                    <a:schemeClr val="tx1"/>
                  </a:solidFill>
                </a:endParaRPr>
              </a:p>
            </p:txBody>
          </p:sp>
        </mc:Choice>
        <mc:Fallback xmlns="">
          <p:sp>
            <p:nvSpPr>
              <p:cNvPr id="13" name="ZoneTexte 12">
                <a:extLst>
                  <a:ext uri="{FF2B5EF4-FFF2-40B4-BE49-F238E27FC236}">
                    <a16:creationId xmlns:a16="http://schemas.microsoft.com/office/drawing/2014/main" id="{AEFAA154-FA0F-A572-7B82-63B3B90E5D5B}"/>
                  </a:ext>
                </a:extLst>
              </p:cNvPr>
              <p:cNvSpPr txBox="1">
                <a:spLocks noRot="1" noChangeAspect="1" noMove="1" noResize="1" noEditPoints="1" noAdjustHandles="1" noChangeArrowheads="1" noChangeShapeType="1" noTextEdit="1"/>
              </p:cNvSpPr>
              <p:nvPr/>
            </p:nvSpPr>
            <p:spPr>
              <a:xfrm>
                <a:off x="6380699" y="3623204"/>
                <a:ext cx="5527765" cy="363882"/>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ZoneTexte 13">
                <a:extLst>
                  <a:ext uri="{FF2B5EF4-FFF2-40B4-BE49-F238E27FC236}">
                    <a16:creationId xmlns:a16="http://schemas.microsoft.com/office/drawing/2014/main" id="{EEA35B95-1ED5-5581-BEDD-20821EE493DF}"/>
                  </a:ext>
                </a:extLst>
              </p:cNvPr>
              <p:cNvSpPr txBox="1"/>
              <p:nvPr/>
            </p:nvSpPr>
            <p:spPr>
              <a:xfrm>
                <a:off x="6380699" y="4196868"/>
                <a:ext cx="5527765" cy="363882"/>
              </a:xfrm>
              <a:prstGeom prst="rect">
                <a:avLst/>
              </a:prstGeom>
              <a:noFill/>
              <a:ln>
                <a:solidFill>
                  <a:srgbClr val="FF0000"/>
                </a:solidFill>
              </a:ln>
            </p:spPr>
            <p:txBody>
              <a:bodyPr wrap="square" rtlCol="0">
                <a:spAutoFit/>
              </a:bodyPr>
              <a:lstStyle/>
              <a:p>
                <a14:m>
                  <m:oMath xmlns:m="http://schemas.openxmlformats.org/officeDocument/2006/math">
                    <m:f>
                      <m:fPr>
                        <m:ctrlPr>
                          <a:rPr lang="fr-FR" sz="1200" i="1" smtClean="0">
                            <a:latin typeface="Cambria Math" panose="02040503050406030204" pitchFamily="18" charset="0"/>
                          </a:rPr>
                        </m:ctrlPr>
                      </m:fPr>
                      <m:num>
                        <m:r>
                          <a:rPr lang="fr-FR" sz="1200" i="0" smtClean="0">
                            <a:latin typeface="Cambria Math" panose="02040503050406030204" pitchFamily="18" charset="0"/>
                          </a:rPr>
                          <m:t>𝜕</m:t>
                        </m:r>
                        <m:r>
                          <m:rPr>
                            <m:sty m:val="p"/>
                          </m:rPr>
                          <a:rPr lang="fr-FR" sz="1200" b="0" i="0" smtClean="0">
                            <a:latin typeface="Cambria Math" panose="02040503050406030204" pitchFamily="18" charset="0"/>
                          </a:rPr>
                          <m:t>Loss</m:t>
                        </m:r>
                        <m:r>
                          <a:rPr lang="fr-FR" sz="1200" b="0" i="0" smtClean="0">
                            <a:latin typeface="Cambria Math" panose="02040503050406030204" pitchFamily="18" charset="0"/>
                          </a:rPr>
                          <m:t>1</m:t>
                        </m:r>
                      </m:num>
                      <m:den>
                        <m:r>
                          <a:rPr lang="fr-FR" sz="1200" i="0" smtClean="0">
                            <a:latin typeface="Cambria Math" panose="02040503050406030204" pitchFamily="18" charset="0"/>
                          </a:rPr>
                          <m:t>𝜕</m:t>
                        </m:r>
                        <m:r>
                          <m:rPr>
                            <m:sty m:val="p"/>
                          </m:rPr>
                          <a:rPr lang="fr-FR" sz="1200" b="0" i="0" smtClean="0">
                            <a:latin typeface="Cambria Math" panose="02040503050406030204" pitchFamily="18" charset="0"/>
                          </a:rPr>
                          <m:t>w</m:t>
                        </m:r>
                        <m:r>
                          <a:rPr lang="fr-FR" sz="1200" b="0" i="0" smtClean="0">
                            <a:latin typeface="Cambria Math" panose="02040503050406030204" pitchFamily="18" charset="0"/>
                          </a:rPr>
                          <m:t>3</m:t>
                        </m:r>
                      </m:den>
                    </m:f>
                    <m:r>
                      <a:rPr lang="fr-FR" sz="1200" b="0" i="0" smtClean="0">
                        <a:latin typeface="Cambria Math" panose="02040503050406030204" pitchFamily="18" charset="0"/>
                      </a:rPr>
                      <m:t>=</m:t>
                    </m:r>
                    <m:r>
                      <m:rPr>
                        <m:nor/>
                      </m:rPr>
                      <a:rPr lang="fr-FR" sz="1200">
                        <a:latin typeface="Cambria Math" panose="02040503050406030204" pitchFamily="18" charset="0"/>
                      </a:rPr>
                      <m:t>−2</m:t>
                    </m:r>
                    <m:r>
                      <m:rPr>
                        <m:nor/>
                      </m:rPr>
                      <a:rPr lang="fr-FR" sz="1200" dirty="0">
                        <a:latin typeface="Cambria Math" panose="02040503050406030204" pitchFamily="18" charset="0"/>
                        <a:ea typeface="Cambria Math" panose="02040503050406030204" pitchFamily="18" charset="0"/>
                      </a:rPr>
                      <m:t>(</m:t>
                    </m:r>
                    <m:sSub>
                      <m:sSubPr>
                        <m:ctrlPr>
                          <a:rPr lang="fr-FR" sz="1200" i="1" dirty="0">
                            <a:latin typeface="Cambria Math" panose="02040503050406030204" pitchFamily="18" charset="0"/>
                            <a:ea typeface="Cambria Math" panose="02040503050406030204" pitchFamily="18" charset="0"/>
                          </a:rPr>
                        </m:ctrlPr>
                      </m:sSubPr>
                      <m:e>
                        <m:r>
                          <m:rPr>
                            <m:sty m:val="p"/>
                          </m:rPr>
                          <a:rPr lang="fr-FR" sz="1200">
                            <a:latin typeface="Cambria Math" panose="02040503050406030204" pitchFamily="18" charset="0"/>
                            <a:ea typeface="Cambria Math" panose="02040503050406030204" pitchFamily="18" charset="0"/>
                          </a:rPr>
                          <m:t>target</m:t>
                        </m:r>
                      </m:e>
                      <m:sub>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m:t>
                        </m:r>
                      </m:sub>
                    </m:sSub>
                    <m:r>
                      <a:rPr lang="fr-FR" sz="1200" i="1">
                        <a:latin typeface="Cambria Math" panose="02040503050406030204" pitchFamily="18" charset="0"/>
                        <a:ea typeface="Cambria Math" panose="02040503050406030204" pitchFamily="18" charset="0"/>
                      </a:rPr>
                      <m:t>− </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m:t>
                    </m:r>
                    <m:r>
                      <m:rPr>
                        <m:nor/>
                      </m:rPr>
                      <a:rPr lang="fr-FR" sz="1200" dirty="0">
                        <a:latin typeface="Cambria Math" panose="02040503050406030204" pitchFamily="18" charset="0"/>
                        <a:ea typeface="Cambria Math" panose="02040503050406030204" pitchFamily="18" charset="0"/>
                      </a:rPr>
                      <m:t>)</m:t>
                    </m:r>
                    <m:r>
                      <a:rPr lang="fr-FR" sz="1200" i="1">
                        <a:solidFill>
                          <a:schemeClr val="tx1"/>
                        </a:solidFill>
                        <a:latin typeface="Cambria Math" panose="02040503050406030204" pitchFamily="18" charset="0"/>
                        <a:ea typeface="Cambria Math" panose="02040503050406030204" pitchFamily="18" charset="0"/>
                      </a:rPr>
                      <m:t>×</m:t>
                    </m:r>
                    <m:r>
                      <m:rPr>
                        <m:nor/>
                      </m:rPr>
                      <a:rPr lang="fr-FR" sz="1200">
                        <a:solidFill>
                          <a:schemeClr val="tx1"/>
                        </a:solidFill>
                        <a:latin typeface="Cambria Math" panose="02040503050406030204" pitchFamily="18" charset="0"/>
                        <a:ea typeface="Cambria Math" panose="02040503050406030204" pitchFamily="18" charset="0"/>
                      </a:rPr>
                      <m:t> </m:t>
                    </m:r>
                    <m:r>
                      <m:rPr>
                        <m:sty m:val="p"/>
                      </m:rPr>
                      <a:rPr lang="fr-FR" sz="1200">
                        <a:solidFill>
                          <a:schemeClr val="tx1"/>
                        </a:solidFill>
                        <a:latin typeface="Cambria Math" panose="02040503050406030204" pitchFamily="18" charset="0"/>
                        <a:ea typeface="Cambria Math" panose="02040503050406030204" pitchFamily="18" charset="0"/>
                      </a:rPr>
                      <m:t>out</m:t>
                    </m:r>
                    <m:r>
                      <a:rPr lang="fr-FR" sz="1200">
                        <a:solidFill>
                          <a:schemeClr val="tx1"/>
                        </a:solidFill>
                        <a:latin typeface="Cambria Math" panose="02040503050406030204" pitchFamily="18" charset="0"/>
                        <a:ea typeface="Cambria Math" panose="02040503050406030204" pitchFamily="18" charset="0"/>
                      </a:rPr>
                      <m:t>_</m:t>
                    </m:r>
                    <m:r>
                      <m:rPr>
                        <m:sty m:val="p"/>
                      </m:rPr>
                      <a:rPr lang="fr-FR" sz="1200">
                        <a:solidFill>
                          <a:schemeClr val="tx1"/>
                        </a:solidFill>
                        <a:latin typeface="Cambria Math" panose="02040503050406030204" pitchFamily="18" charset="0"/>
                        <a:ea typeface="Cambria Math" panose="02040503050406030204" pitchFamily="18" charset="0"/>
                      </a:rPr>
                      <m:t>o</m:t>
                    </m:r>
                    <m:r>
                      <a:rPr lang="fr-FR" sz="1200">
                        <a:solidFill>
                          <a:schemeClr val="tx1"/>
                        </a:solidFill>
                        <a:latin typeface="Cambria Math" panose="02040503050406030204" pitchFamily="18" charset="0"/>
                        <a:ea typeface="Cambria Math" panose="02040503050406030204" pitchFamily="18" charset="0"/>
                      </a:rPr>
                      <m:t>1(1−</m:t>
                    </m:r>
                    <m:r>
                      <m:rPr>
                        <m:sty m:val="p"/>
                      </m:rPr>
                      <a:rPr lang="fr-FR" sz="1200">
                        <a:solidFill>
                          <a:schemeClr val="tx1"/>
                        </a:solidFill>
                        <a:latin typeface="Cambria Math" panose="02040503050406030204" pitchFamily="18" charset="0"/>
                        <a:ea typeface="Cambria Math" panose="02040503050406030204" pitchFamily="18" charset="0"/>
                      </a:rPr>
                      <m:t>out</m:t>
                    </m:r>
                    <m:r>
                      <a:rPr lang="fr-FR" sz="1200">
                        <a:solidFill>
                          <a:schemeClr val="tx1"/>
                        </a:solidFill>
                        <a:latin typeface="Cambria Math" panose="02040503050406030204" pitchFamily="18" charset="0"/>
                        <a:ea typeface="Cambria Math" panose="02040503050406030204" pitchFamily="18" charset="0"/>
                      </a:rPr>
                      <m:t>_</m:t>
                    </m:r>
                    <m:r>
                      <m:rPr>
                        <m:sty m:val="p"/>
                      </m:rPr>
                      <a:rPr lang="fr-FR" sz="1200">
                        <a:solidFill>
                          <a:schemeClr val="tx1"/>
                        </a:solidFill>
                        <a:latin typeface="Cambria Math" panose="02040503050406030204" pitchFamily="18" charset="0"/>
                        <a:ea typeface="Cambria Math" panose="02040503050406030204" pitchFamily="18" charset="0"/>
                      </a:rPr>
                      <m:t>o</m:t>
                    </m:r>
                    <m:r>
                      <a:rPr lang="fr-FR" sz="1200">
                        <a:solidFill>
                          <a:schemeClr val="tx1"/>
                        </a:solidFill>
                        <a:latin typeface="Cambria Math" panose="02040503050406030204" pitchFamily="18" charset="0"/>
                        <a:ea typeface="Cambria Math" panose="02040503050406030204" pitchFamily="18" charset="0"/>
                      </a:rPr>
                      <m:t>1</m:t>
                    </m:r>
                    <m:r>
                      <a:rPr lang="fr-FR" sz="1200" i="1">
                        <a:solidFill>
                          <a:schemeClr val="tx1"/>
                        </a:solidFill>
                        <a:latin typeface="Cambria Math" panose="02040503050406030204" pitchFamily="18" charset="0"/>
                        <a:ea typeface="Cambria Math" panose="02040503050406030204" pitchFamily="18" charset="0"/>
                      </a:rPr>
                      <m:t>)</m:t>
                    </m:r>
                    <m:r>
                      <a:rPr lang="fr-FR" sz="1200" b="0" i="1" smtClean="0">
                        <a:solidFill>
                          <a:schemeClr val="tx1"/>
                        </a:solidFill>
                        <a:latin typeface="Cambria Math" panose="02040503050406030204" pitchFamily="18" charset="0"/>
                        <a:ea typeface="Cambria Math" panose="02040503050406030204" pitchFamily="18" charset="0"/>
                      </a:rPr>
                      <m:t>×</m:t>
                    </m:r>
                    <m:r>
                      <m:rPr>
                        <m:sty m:val="p"/>
                      </m:rPr>
                      <a:rPr lang="fr-FR" sz="1200" b="0" i="0" smtClean="0">
                        <a:solidFill>
                          <a:schemeClr val="tx1"/>
                        </a:solidFill>
                        <a:latin typeface="Cambria Math" panose="02040503050406030204" pitchFamily="18" charset="0"/>
                      </a:rPr>
                      <m:t>w</m:t>
                    </m:r>
                    <m:r>
                      <a:rPr lang="fr-FR" sz="1200" b="0" i="0" smtClean="0">
                        <a:solidFill>
                          <a:schemeClr val="tx1"/>
                        </a:solidFill>
                        <a:latin typeface="Cambria Math" panose="02040503050406030204" pitchFamily="18" charset="0"/>
                      </a:rPr>
                      <m:t>6</m:t>
                    </m:r>
                    <m:r>
                      <a:rPr lang="fr-FR" sz="1200" i="1">
                        <a:solidFill>
                          <a:schemeClr val="tx1"/>
                        </a:solidFill>
                        <a:latin typeface="Cambria Math" panose="02040503050406030204" pitchFamily="18" charset="0"/>
                        <a:ea typeface="Cambria Math" panose="02040503050406030204" pitchFamily="18" charset="0"/>
                      </a:rPr>
                      <m:t>×</m:t>
                    </m:r>
                    <m:r>
                      <a:rPr lang="fr-FR" sz="1200" i="1" smtClean="0">
                        <a:solidFill>
                          <a:schemeClr val="tx1"/>
                        </a:solidFill>
                        <a:latin typeface="Cambria Math" panose="02040503050406030204" pitchFamily="18" charset="0"/>
                      </a:rPr>
                      <m:t>1</m:t>
                    </m:r>
                    <m:r>
                      <a:rPr lang="fr-FR" sz="1200" b="0" i="1" baseline="-25000" smtClean="0">
                        <a:solidFill>
                          <a:schemeClr val="tx1"/>
                        </a:solidFill>
                        <a:latin typeface="Cambria Math" panose="02040503050406030204" pitchFamily="18" charset="0"/>
                      </a:rPr>
                      <m:t>{</m:t>
                    </m:r>
                    <m:r>
                      <m:rPr>
                        <m:sty m:val="p"/>
                      </m:rPr>
                      <a:rPr lang="fr-FR" sz="1200" b="0" i="0" baseline="-25000" smtClean="0">
                        <a:solidFill>
                          <a:schemeClr val="tx1"/>
                        </a:solidFill>
                        <a:latin typeface="Cambria Math" panose="02040503050406030204" pitchFamily="18" charset="0"/>
                      </a:rPr>
                      <m:t>net</m:t>
                    </m:r>
                    <m:r>
                      <a:rPr lang="fr-FR" sz="1200" b="0" i="0" baseline="-25000" smtClean="0">
                        <a:solidFill>
                          <a:schemeClr val="tx1"/>
                        </a:solidFill>
                        <a:latin typeface="Cambria Math" panose="02040503050406030204" pitchFamily="18" charset="0"/>
                      </a:rPr>
                      <m:t>_</m:t>
                    </m:r>
                    <m:r>
                      <m:rPr>
                        <m:sty m:val="p"/>
                      </m:rPr>
                      <a:rPr lang="fr-FR" sz="1200" b="0" i="0" baseline="-25000" smtClean="0">
                        <a:solidFill>
                          <a:schemeClr val="tx1"/>
                        </a:solidFill>
                        <a:latin typeface="Cambria Math" panose="02040503050406030204" pitchFamily="18" charset="0"/>
                      </a:rPr>
                      <m:t>h</m:t>
                    </m:r>
                    <m:r>
                      <a:rPr lang="fr-FR" sz="1200" b="0" i="0" baseline="-25000" smtClean="0">
                        <a:solidFill>
                          <a:schemeClr val="tx1"/>
                        </a:solidFill>
                        <a:latin typeface="Cambria Math" panose="02040503050406030204" pitchFamily="18" charset="0"/>
                      </a:rPr>
                      <m:t>2</m:t>
                    </m:r>
                  </m:oMath>
                </a14:m>
                <a:r>
                  <a:rPr lang="fr-FR" sz="1200" baseline="-25000" dirty="0">
                    <a:solidFill>
                      <a:schemeClr val="tx1"/>
                    </a:solidFill>
                    <a:ea typeface="Cambria Math" panose="02040503050406030204" pitchFamily="18" charset="0"/>
                  </a:rPr>
                  <a:t> </a:t>
                </a:r>
                <a14:m>
                  <m:oMath xmlns:m="http://schemas.openxmlformats.org/officeDocument/2006/math">
                    <m:r>
                      <a:rPr lang="fr-FR" sz="1200" b="0" i="1" baseline="-25000" smtClean="0">
                        <a:solidFill>
                          <a:schemeClr val="tx1"/>
                        </a:solidFill>
                        <a:latin typeface="Cambria Math" panose="02040503050406030204" pitchFamily="18" charset="0"/>
                        <a:ea typeface="Cambria Math" panose="02040503050406030204" pitchFamily="18" charset="0"/>
                      </a:rPr>
                      <m:t>&gt;0</m:t>
                    </m:r>
                    <m:r>
                      <a:rPr lang="fr-FR" sz="1200" b="0" i="1" baseline="-25000" smtClean="0">
                        <a:solidFill>
                          <a:schemeClr val="tx1"/>
                        </a:solidFill>
                        <a:latin typeface="Cambria Math" panose="02040503050406030204" pitchFamily="18" charset="0"/>
                      </a:rPr>
                      <m:t>}</m:t>
                    </m:r>
                  </m:oMath>
                </a14:m>
                <a:r>
                  <a:rPr lang="fr-FR" sz="1200" dirty="0">
                    <a:solidFill>
                      <a:schemeClr val="tx1"/>
                    </a:solidFill>
                    <a:ea typeface="Cambria Math" panose="02040503050406030204" pitchFamily="18" charset="0"/>
                  </a:rPr>
                  <a:t> </a:t>
                </a:r>
                <a14:m>
                  <m:oMath xmlns:m="http://schemas.openxmlformats.org/officeDocument/2006/math">
                    <m:r>
                      <a:rPr lang="fr-FR" sz="1200" i="1">
                        <a:solidFill>
                          <a:schemeClr val="tx1"/>
                        </a:solidFill>
                        <a:latin typeface="Cambria Math" panose="02040503050406030204" pitchFamily="18" charset="0"/>
                        <a:ea typeface="Cambria Math" panose="02040503050406030204" pitchFamily="18" charset="0"/>
                      </a:rPr>
                      <m:t>×</m:t>
                    </m:r>
                    <m:r>
                      <a:rPr lang="fr-FR" sz="1200" b="0" i="1" smtClean="0">
                        <a:solidFill>
                          <a:schemeClr val="tx1"/>
                        </a:solidFill>
                        <a:latin typeface="Cambria Math" panose="02040503050406030204" pitchFamily="18" charset="0"/>
                        <a:ea typeface="Cambria Math" panose="02040503050406030204" pitchFamily="18" charset="0"/>
                      </a:rPr>
                      <m:t> </m:t>
                    </m:r>
                    <m:r>
                      <m:rPr>
                        <m:sty m:val="p"/>
                      </m:rPr>
                      <a:rPr lang="fr-FR" sz="1200" b="0" i="0" smtClean="0">
                        <a:solidFill>
                          <a:schemeClr val="accent2"/>
                        </a:solidFill>
                        <a:latin typeface="Cambria Math" panose="02040503050406030204" pitchFamily="18" charset="0"/>
                        <a:ea typeface="Cambria Math" panose="02040503050406030204" pitchFamily="18" charset="0"/>
                      </a:rPr>
                      <m:t>i</m:t>
                    </m:r>
                    <m:r>
                      <a:rPr lang="fr-FR" sz="1200" b="0" i="0" baseline="-25000" smtClean="0">
                        <a:solidFill>
                          <a:schemeClr val="accent2"/>
                        </a:solidFill>
                        <a:latin typeface="Cambria Math" panose="02040503050406030204" pitchFamily="18" charset="0"/>
                        <a:ea typeface="Cambria Math" panose="02040503050406030204" pitchFamily="18" charset="0"/>
                      </a:rPr>
                      <m:t>1</m:t>
                    </m:r>
                  </m:oMath>
                </a14:m>
                <a:endParaRPr lang="fr-FR" sz="1200" baseline="-25000" dirty="0">
                  <a:solidFill>
                    <a:schemeClr val="tx1"/>
                  </a:solidFill>
                </a:endParaRPr>
              </a:p>
            </p:txBody>
          </p:sp>
        </mc:Choice>
        <mc:Fallback xmlns="">
          <p:sp>
            <p:nvSpPr>
              <p:cNvPr id="14" name="ZoneTexte 13">
                <a:extLst>
                  <a:ext uri="{FF2B5EF4-FFF2-40B4-BE49-F238E27FC236}">
                    <a16:creationId xmlns:a16="http://schemas.microsoft.com/office/drawing/2014/main" id="{EEA35B95-1ED5-5581-BEDD-20821EE493DF}"/>
                  </a:ext>
                </a:extLst>
              </p:cNvPr>
              <p:cNvSpPr txBox="1">
                <a:spLocks noRot="1" noChangeAspect="1" noMove="1" noResize="1" noEditPoints="1" noAdjustHandles="1" noChangeArrowheads="1" noChangeShapeType="1" noTextEdit="1"/>
              </p:cNvSpPr>
              <p:nvPr/>
            </p:nvSpPr>
            <p:spPr>
              <a:xfrm>
                <a:off x="6380699" y="4196868"/>
                <a:ext cx="5527765" cy="363882"/>
              </a:xfrm>
              <a:prstGeom prst="rect">
                <a:avLst/>
              </a:prstGeom>
              <a:blipFill>
                <a:blip r:embed="rId8"/>
                <a:stretch>
                  <a:fillRect/>
                </a:stretch>
              </a:blipFill>
              <a:ln>
                <a:solidFill>
                  <a:srgbClr val="FF0000"/>
                </a:solidFill>
              </a:ln>
            </p:spPr>
            <p:txBody>
              <a:bodyPr/>
              <a:lstStyle/>
              <a:p>
                <a:r>
                  <a:rPr lang="en-GB">
                    <a:noFill/>
                  </a:rPr>
                  <a:t> </a:t>
                </a:r>
              </a:p>
            </p:txBody>
          </p:sp>
        </mc:Fallback>
      </mc:AlternateContent>
      <p:sp>
        <p:nvSpPr>
          <p:cNvPr id="16" name="ZoneTexte 15">
            <a:extLst>
              <a:ext uri="{FF2B5EF4-FFF2-40B4-BE49-F238E27FC236}">
                <a16:creationId xmlns:a16="http://schemas.microsoft.com/office/drawing/2014/main" id="{EB046680-0BE4-2FAE-5B22-5DA4873680AE}"/>
              </a:ext>
            </a:extLst>
          </p:cNvPr>
          <p:cNvSpPr txBox="1"/>
          <p:nvPr/>
        </p:nvSpPr>
        <p:spPr>
          <a:xfrm>
            <a:off x="6231631" y="4864395"/>
            <a:ext cx="1280857" cy="261610"/>
          </a:xfrm>
          <a:prstGeom prst="rect">
            <a:avLst/>
          </a:prstGeom>
          <a:noFill/>
        </p:spPr>
        <p:txBody>
          <a:bodyPr wrap="square" rtlCol="0">
            <a:spAutoFit/>
          </a:bodyPr>
          <a:lstStyle/>
          <a:p>
            <a:r>
              <a:rPr lang="en-GB" sz="1100" b="1" noProof="0" dirty="0"/>
              <a:t>Symmetrically</a:t>
            </a:r>
          </a:p>
        </p:txBody>
      </p:sp>
      <mc:AlternateContent xmlns:mc="http://schemas.openxmlformats.org/markup-compatibility/2006" xmlns:a14="http://schemas.microsoft.com/office/drawing/2010/main">
        <mc:Choice Requires="a14">
          <p:sp>
            <p:nvSpPr>
              <p:cNvPr id="17" name="ZoneTexte 16">
                <a:extLst>
                  <a:ext uri="{FF2B5EF4-FFF2-40B4-BE49-F238E27FC236}">
                    <a16:creationId xmlns:a16="http://schemas.microsoft.com/office/drawing/2014/main" id="{90F0EFFD-ACAE-4CB7-0840-9B8CCEE90AF6}"/>
                  </a:ext>
                </a:extLst>
              </p:cNvPr>
              <p:cNvSpPr txBox="1"/>
              <p:nvPr/>
            </p:nvSpPr>
            <p:spPr>
              <a:xfrm>
                <a:off x="6380699" y="5113221"/>
                <a:ext cx="5527765" cy="363882"/>
              </a:xfrm>
              <a:prstGeom prst="rect">
                <a:avLst/>
              </a:prstGeom>
              <a:noFill/>
              <a:ln>
                <a:solidFill>
                  <a:srgbClr val="FF0000"/>
                </a:solidFill>
              </a:ln>
            </p:spPr>
            <p:txBody>
              <a:bodyPr wrap="square" rtlCol="0">
                <a:spAutoFit/>
              </a:bodyPr>
              <a:lstStyle/>
              <a:p>
                <a14:m>
                  <m:oMath xmlns:m="http://schemas.openxmlformats.org/officeDocument/2006/math">
                    <m:f>
                      <m:fPr>
                        <m:ctrlPr>
                          <a:rPr lang="fr-FR" sz="1200" i="1" smtClean="0">
                            <a:solidFill>
                              <a:schemeClr val="tx1"/>
                            </a:solidFill>
                            <a:latin typeface="Cambria Math" panose="02040503050406030204" pitchFamily="18" charset="0"/>
                          </a:rPr>
                        </m:ctrlPr>
                      </m:fPr>
                      <m:num>
                        <m:r>
                          <a:rPr lang="fr-FR" sz="1200" i="0" smtClean="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Loss</m:t>
                        </m:r>
                        <m:r>
                          <a:rPr lang="fr-FR" sz="1200" b="0" i="0" smtClean="0">
                            <a:solidFill>
                              <a:schemeClr val="tx1"/>
                            </a:solidFill>
                            <a:latin typeface="Cambria Math" panose="02040503050406030204" pitchFamily="18" charset="0"/>
                          </a:rPr>
                          <m:t>2</m:t>
                        </m:r>
                      </m:num>
                      <m:den>
                        <m:r>
                          <a:rPr lang="fr-FR" sz="1200" i="0" smtClean="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w</m:t>
                        </m:r>
                        <m:r>
                          <a:rPr lang="fr-FR" sz="1200" b="0" i="0" smtClean="0">
                            <a:solidFill>
                              <a:schemeClr val="tx1"/>
                            </a:solidFill>
                            <a:latin typeface="Cambria Math" panose="02040503050406030204" pitchFamily="18" charset="0"/>
                          </a:rPr>
                          <m:t>2</m:t>
                        </m:r>
                      </m:den>
                    </m:f>
                    <m:r>
                      <a:rPr lang="fr-FR" sz="1200" b="0" i="0" smtClean="0">
                        <a:solidFill>
                          <a:schemeClr val="tx1"/>
                        </a:solidFill>
                        <a:latin typeface="Cambria Math" panose="02040503050406030204" pitchFamily="18" charset="0"/>
                      </a:rPr>
                      <m:t>=</m:t>
                    </m:r>
                    <m:r>
                      <m:rPr>
                        <m:nor/>
                      </m:rPr>
                      <a:rPr lang="fr-FR" sz="1200">
                        <a:latin typeface="Cambria Math" panose="02040503050406030204" pitchFamily="18" charset="0"/>
                        <a:ea typeface="Cambria Math" panose="02040503050406030204" pitchFamily="18" charset="0"/>
                      </a:rPr>
                      <m:t>−2</m:t>
                    </m:r>
                    <m:r>
                      <m:rPr>
                        <m:nor/>
                      </m:rPr>
                      <a:rPr lang="fr-FR" sz="1200" dirty="0">
                        <a:latin typeface="Cambria Math" panose="02040503050406030204" pitchFamily="18" charset="0"/>
                        <a:ea typeface="Cambria Math" panose="02040503050406030204" pitchFamily="18" charset="0"/>
                      </a:rPr>
                      <m:t>(</m:t>
                    </m:r>
                    <m:sSub>
                      <m:sSubPr>
                        <m:ctrlPr>
                          <a:rPr lang="fr-FR" sz="1200" i="1" dirty="0">
                            <a:latin typeface="Cambria Math" panose="02040503050406030204" pitchFamily="18" charset="0"/>
                            <a:ea typeface="Cambria Math" panose="02040503050406030204" pitchFamily="18" charset="0"/>
                          </a:rPr>
                        </m:ctrlPr>
                      </m:sSubPr>
                      <m:e>
                        <m:r>
                          <m:rPr>
                            <m:sty m:val="p"/>
                          </m:rPr>
                          <a:rPr lang="fr-FR" sz="1200">
                            <a:latin typeface="Cambria Math" panose="02040503050406030204" pitchFamily="18" charset="0"/>
                            <a:ea typeface="Cambria Math" panose="02040503050406030204" pitchFamily="18" charset="0"/>
                          </a:rPr>
                          <m:t>target</m:t>
                        </m:r>
                      </m:e>
                      <m:sub>
                        <m:r>
                          <m:rPr>
                            <m:sty m:val="p"/>
                          </m:rPr>
                          <a:rPr lang="fr-FR" sz="1200">
                            <a:latin typeface="Cambria Math" panose="02040503050406030204" pitchFamily="18" charset="0"/>
                            <a:ea typeface="Cambria Math" panose="02040503050406030204" pitchFamily="18" charset="0"/>
                          </a:rPr>
                          <m:t>o</m:t>
                        </m:r>
                        <m:r>
                          <m:rPr>
                            <m:nor/>
                          </m:rPr>
                          <a:rPr lang="fr-FR" sz="1200">
                            <a:latin typeface="Cambria Math" panose="02040503050406030204" pitchFamily="18" charset="0"/>
                            <a:ea typeface="Cambria Math" panose="02040503050406030204" pitchFamily="18" charset="0"/>
                          </a:rPr>
                          <m:t>2</m:t>
                        </m:r>
                      </m:sub>
                    </m:sSub>
                    <m:r>
                      <a:rPr lang="fr-FR" sz="1200" i="1">
                        <a:latin typeface="Cambria Math" panose="02040503050406030204" pitchFamily="18" charset="0"/>
                        <a:ea typeface="Cambria Math" panose="02040503050406030204" pitchFamily="18" charset="0"/>
                      </a:rPr>
                      <m:t>− </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2</m:t>
                    </m:r>
                    <m:r>
                      <a:rPr lang="fr-FR" sz="1200" i="1">
                        <a:latin typeface="Cambria Math" panose="02040503050406030204" pitchFamily="18" charset="0"/>
                        <a:ea typeface="Cambria Math" panose="02040503050406030204" pitchFamily="18" charset="0"/>
                      </a:rPr>
                      <m:t>)</m:t>
                    </m:r>
                    <m:r>
                      <a:rPr lang="fr-FR" sz="1200" i="1">
                        <a:solidFill>
                          <a:schemeClr val="tx1"/>
                        </a:solidFill>
                        <a:latin typeface="Cambria Math" panose="02040503050406030204" pitchFamily="18" charset="0"/>
                        <a:ea typeface="Cambria Math" panose="02040503050406030204" pitchFamily="18" charset="0"/>
                      </a:rPr>
                      <m:t>×</m:t>
                    </m:r>
                    <m:r>
                      <m:rPr>
                        <m:nor/>
                      </m:rPr>
                      <a:rPr lang="fr-FR" sz="1200">
                        <a:solidFill>
                          <a:schemeClr val="tx1"/>
                        </a:solidFill>
                        <a:latin typeface="Cambria Math" panose="02040503050406030204" pitchFamily="18" charset="0"/>
                        <a:ea typeface="Cambria Math" panose="02040503050406030204" pitchFamily="18" charset="0"/>
                      </a:rPr>
                      <m:t> </m:t>
                    </m:r>
                    <m:r>
                      <m:rPr>
                        <m:sty m:val="p"/>
                      </m:rPr>
                      <a:rPr lang="fr-FR" sz="1200">
                        <a:solidFill>
                          <a:schemeClr val="tx1"/>
                        </a:solidFill>
                        <a:latin typeface="Cambria Math" panose="02040503050406030204" pitchFamily="18" charset="0"/>
                        <a:ea typeface="Cambria Math" panose="02040503050406030204" pitchFamily="18" charset="0"/>
                      </a:rPr>
                      <m:t>out</m:t>
                    </m:r>
                    <m:r>
                      <a:rPr lang="fr-FR" sz="1200">
                        <a:solidFill>
                          <a:schemeClr val="tx1"/>
                        </a:solidFill>
                        <a:latin typeface="Cambria Math" panose="02040503050406030204" pitchFamily="18" charset="0"/>
                        <a:ea typeface="Cambria Math" panose="02040503050406030204" pitchFamily="18" charset="0"/>
                      </a:rPr>
                      <m:t>_</m:t>
                    </m:r>
                    <m:r>
                      <m:rPr>
                        <m:sty m:val="p"/>
                      </m:rPr>
                      <a:rPr lang="fr-FR" sz="1200">
                        <a:solidFill>
                          <a:schemeClr val="tx1"/>
                        </a:solidFill>
                        <a:latin typeface="Cambria Math" panose="02040503050406030204" pitchFamily="18" charset="0"/>
                        <a:ea typeface="Cambria Math" panose="02040503050406030204" pitchFamily="18" charset="0"/>
                      </a:rPr>
                      <m:t>o</m:t>
                    </m:r>
                    <m:r>
                      <a:rPr lang="fr-FR" sz="1200" b="0" i="0" smtClean="0">
                        <a:solidFill>
                          <a:schemeClr val="tx1"/>
                        </a:solidFill>
                        <a:latin typeface="Cambria Math" panose="02040503050406030204" pitchFamily="18" charset="0"/>
                        <a:ea typeface="Cambria Math" panose="02040503050406030204" pitchFamily="18" charset="0"/>
                      </a:rPr>
                      <m:t>2</m:t>
                    </m:r>
                    <m:r>
                      <a:rPr lang="fr-FR" sz="1200">
                        <a:solidFill>
                          <a:schemeClr val="tx1"/>
                        </a:solidFill>
                        <a:latin typeface="Cambria Math" panose="02040503050406030204" pitchFamily="18" charset="0"/>
                        <a:ea typeface="Cambria Math" panose="02040503050406030204" pitchFamily="18" charset="0"/>
                      </a:rPr>
                      <m:t>(1−</m:t>
                    </m:r>
                    <m:r>
                      <m:rPr>
                        <m:sty m:val="p"/>
                      </m:rPr>
                      <a:rPr lang="fr-FR" sz="1200">
                        <a:solidFill>
                          <a:schemeClr val="tx1"/>
                        </a:solidFill>
                        <a:latin typeface="Cambria Math" panose="02040503050406030204" pitchFamily="18" charset="0"/>
                        <a:ea typeface="Cambria Math" panose="02040503050406030204" pitchFamily="18" charset="0"/>
                      </a:rPr>
                      <m:t>out</m:t>
                    </m:r>
                    <m:r>
                      <a:rPr lang="fr-FR" sz="1200">
                        <a:solidFill>
                          <a:schemeClr val="tx1"/>
                        </a:solidFill>
                        <a:latin typeface="Cambria Math" panose="02040503050406030204" pitchFamily="18" charset="0"/>
                        <a:ea typeface="Cambria Math" panose="02040503050406030204" pitchFamily="18" charset="0"/>
                      </a:rPr>
                      <m:t>_</m:t>
                    </m:r>
                    <m:r>
                      <m:rPr>
                        <m:sty m:val="p"/>
                      </m:rPr>
                      <a:rPr lang="fr-FR" sz="1200">
                        <a:solidFill>
                          <a:schemeClr val="tx1"/>
                        </a:solidFill>
                        <a:latin typeface="Cambria Math" panose="02040503050406030204" pitchFamily="18" charset="0"/>
                        <a:ea typeface="Cambria Math" panose="02040503050406030204" pitchFamily="18" charset="0"/>
                      </a:rPr>
                      <m:t>o</m:t>
                    </m:r>
                    <m:r>
                      <a:rPr lang="fr-FR" sz="1200" b="0" i="1" smtClean="0">
                        <a:solidFill>
                          <a:schemeClr val="tx1"/>
                        </a:solidFill>
                        <a:latin typeface="Cambria Math" panose="02040503050406030204" pitchFamily="18" charset="0"/>
                        <a:ea typeface="Cambria Math" panose="02040503050406030204" pitchFamily="18" charset="0"/>
                      </a:rPr>
                      <m:t>2</m:t>
                    </m:r>
                    <m:r>
                      <a:rPr lang="fr-FR" sz="1200" i="1">
                        <a:solidFill>
                          <a:schemeClr val="tx1"/>
                        </a:solidFill>
                        <a:latin typeface="Cambria Math" panose="02040503050406030204" pitchFamily="18" charset="0"/>
                        <a:ea typeface="Cambria Math" panose="02040503050406030204" pitchFamily="18" charset="0"/>
                      </a:rPr>
                      <m:t>)</m:t>
                    </m:r>
                    <m:r>
                      <a:rPr lang="fr-FR" sz="1200" b="0" i="1" smtClean="0">
                        <a:solidFill>
                          <a:schemeClr val="tx1"/>
                        </a:solidFill>
                        <a:latin typeface="Cambria Math" panose="02040503050406030204" pitchFamily="18" charset="0"/>
                        <a:ea typeface="Cambria Math" panose="02040503050406030204" pitchFamily="18" charset="0"/>
                      </a:rPr>
                      <m:t>×</m:t>
                    </m:r>
                    <m:r>
                      <m:rPr>
                        <m:sty m:val="p"/>
                      </m:rPr>
                      <a:rPr lang="fr-FR" sz="1200" b="0" i="0" smtClean="0">
                        <a:solidFill>
                          <a:schemeClr val="tx1"/>
                        </a:solidFill>
                        <a:latin typeface="Cambria Math" panose="02040503050406030204" pitchFamily="18" charset="0"/>
                      </a:rPr>
                      <m:t>w</m:t>
                    </m:r>
                    <m:r>
                      <a:rPr lang="fr-FR" sz="1200" b="0" i="1" smtClean="0">
                        <a:solidFill>
                          <a:schemeClr val="tx1"/>
                        </a:solidFill>
                        <a:latin typeface="Cambria Math" panose="02040503050406030204" pitchFamily="18" charset="0"/>
                      </a:rPr>
                      <m:t>7</m:t>
                    </m:r>
                    <m:r>
                      <a:rPr lang="fr-FR" sz="1200" i="1">
                        <a:solidFill>
                          <a:schemeClr val="tx1"/>
                        </a:solidFill>
                        <a:latin typeface="Cambria Math" panose="02040503050406030204" pitchFamily="18" charset="0"/>
                        <a:ea typeface="Cambria Math" panose="02040503050406030204" pitchFamily="18" charset="0"/>
                      </a:rPr>
                      <m:t>×</m:t>
                    </m:r>
                    <m:r>
                      <a:rPr lang="fr-FR" sz="1200" i="1" smtClean="0">
                        <a:solidFill>
                          <a:schemeClr val="tx1"/>
                        </a:solidFill>
                        <a:latin typeface="Cambria Math" panose="02040503050406030204" pitchFamily="18" charset="0"/>
                      </a:rPr>
                      <m:t>1</m:t>
                    </m:r>
                    <m:r>
                      <a:rPr lang="fr-FR" sz="1200" b="0" i="1" baseline="-25000" smtClean="0">
                        <a:solidFill>
                          <a:schemeClr val="tx1"/>
                        </a:solidFill>
                        <a:latin typeface="Cambria Math" panose="02040503050406030204" pitchFamily="18" charset="0"/>
                      </a:rPr>
                      <m:t>{</m:t>
                    </m:r>
                    <m:r>
                      <m:rPr>
                        <m:sty m:val="p"/>
                      </m:rPr>
                      <a:rPr lang="fr-FR" sz="1200" b="0" i="0" baseline="-25000" smtClean="0">
                        <a:solidFill>
                          <a:schemeClr val="tx1"/>
                        </a:solidFill>
                        <a:latin typeface="Cambria Math" panose="02040503050406030204" pitchFamily="18" charset="0"/>
                      </a:rPr>
                      <m:t>net</m:t>
                    </m:r>
                    <m:r>
                      <a:rPr lang="fr-FR" sz="1200" b="0" i="0" baseline="-25000" smtClean="0">
                        <a:solidFill>
                          <a:schemeClr val="tx1"/>
                        </a:solidFill>
                        <a:latin typeface="Cambria Math" panose="02040503050406030204" pitchFamily="18" charset="0"/>
                      </a:rPr>
                      <m:t>_</m:t>
                    </m:r>
                    <m:r>
                      <m:rPr>
                        <m:sty m:val="p"/>
                      </m:rPr>
                      <a:rPr lang="fr-FR" sz="1200" b="0" i="0" baseline="-25000" smtClean="0">
                        <a:solidFill>
                          <a:schemeClr val="tx1"/>
                        </a:solidFill>
                        <a:latin typeface="Cambria Math" panose="02040503050406030204" pitchFamily="18" charset="0"/>
                      </a:rPr>
                      <m:t>h</m:t>
                    </m:r>
                  </m:oMath>
                </a14:m>
                <a:r>
                  <a:rPr lang="fr-FR" sz="1200" baseline="-25000" dirty="0">
                    <a:solidFill>
                      <a:schemeClr val="tx1"/>
                    </a:solidFill>
                    <a:ea typeface="Cambria Math" panose="02040503050406030204" pitchFamily="18" charset="0"/>
                  </a:rPr>
                  <a:t>1 </a:t>
                </a:r>
                <a14:m>
                  <m:oMath xmlns:m="http://schemas.openxmlformats.org/officeDocument/2006/math">
                    <m:r>
                      <a:rPr lang="fr-FR" sz="1200" b="0" i="1" baseline="-25000" smtClean="0">
                        <a:solidFill>
                          <a:schemeClr val="tx1"/>
                        </a:solidFill>
                        <a:latin typeface="Cambria Math" panose="02040503050406030204" pitchFamily="18" charset="0"/>
                        <a:ea typeface="Cambria Math" panose="02040503050406030204" pitchFamily="18" charset="0"/>
                      </a:rPr>
                      <m:t>&gt;0</m:t>
                    </m:r>
                    <m:r>
                      <a:rPr lang="fr-FR" sz="1200" b="0" i="1" baseline="-25000" smtClean="0">
                        <a:solidFill>
                          <a:schemeClr val="tx1"/>
                        </a:solidFill>
                        <a:latin typeface="Cambria Math" panose="02040503050406030204" pitchFamily="18" charset="0"/>
                      </a:rPr>
                      <m:t>}</m:t>
                    </m:r>
                  </m:oMath>
                </a14:m>
                <a:r>
                  <a:rPr lang="fr-FR" sz="1200" dirty="0">
                    <a:solidFill>
                      <a:schemeClr val="tx1"/>
                    </a:solidFill>
                    <a:ea typeface="Cambria Math" panose="02040503050406030204" pitchFamily="18" charset="0"/>
                  </a:rPr>
                  <a:t> </a:t>
                </a:r>
                <a14:m>
                  <m:oMath xmlns:m="http://schemas.openxmlformats.org/officeDocument/2006/math">
                    <m:r>
                      <a:rPr lang="fr-FR" sz="1200" i="1">
                        <a:solidFill>
                          <a:schemeClr val="tx1"/>
                        </a:solidFill>
                        <a:latin typeface="Cambria Math" panose="02040503050406030204" pitchFamily="18" charset="0"/>
                        <a:ea typeface="Cambria Math" panose="02040503050406030204" pitchFamily="18" charset="0"/>
                      </a:rPr>
                      <m:t>×</m:t>
                    </m:r>
                    <m:r>
                      <a:rPr lang="fr-FR" sz="1200" b="0" i="1" smtClean="0">
                        <a:solidFill>
                          <a:schemeClr val="tx1"/>
                        </a:solidFill>
                        <a:latin typeface="Cambria Math" panose="02040503050406030204" pitchFamily="18" charset="0"/>
                        <a:ea typeface="Cambria Math" panose="02040503050406030204" pitchFamily="18" charset="0"/>
                      </a:rPr>
                      <m:t> </m:t>
                    </m:r>
                    <m:r>
                      <m:rPr>
                        <m:sty m:val="p"/>
                      </m:rPr>
                      <a:rPr lang="fr-FR" sz="1200" b="0" i="0" smtClean="0">
                        <a:solidFill>
                          <a:schemeClr val="tx1"/>
                        </a:solidFill>
                        <a:latin typeface="Cambria Math" panose="02040503050406030204" pitchFamily="18" charset="0"/>
                        <a:ea typeface="Cambria Math" panose="02040503050406030204" pitchFamily="18" charset="0"/>
                      </a:rPr>
                      <m:t>i</m:t>
                    </m:r>
                    <m:r>
                      <a:rPr lang="fr-FR" sz="1200" b="0" i="0" smtClean="0">
                        <a:solidFill>
                          <a:schemeClr val="tx1"/>
                        </a:solidFill>
                        <a:latin typeface="Cambria Math" panose="02040503050406030204" pitchFamily="18" charset="0"/>
                        <a:ea typeface="Cambria Math" panose="02040503050406030204" pitchFamily="18" charset="0"/>
                      </a:rPr>
                      <m:t>2</m:t>
                    </m:r>
                  </m:oMath>
                </a14:m>
                <a:endParaRPr lang="fr-FR" sz="1200" baseline="-25000" dirty="0">
                  <a:solidFill>
                    <a:schemeClr val="tx1"/>
                  </a:solidFill>
                </a:endParaRPr>
              </a:p>
            </p:txBody>
          </p:sp>
        </mc:Choice>
        <mc:Fallback xmlns="">
          <p:sp>
            <p:nvSpPr>
              <p:cNvPr id="17" name="ZoneTexte 16">
                <a:extLst>
                  <a:ext uri="{FF2B5EF4-FFF2-40B4-BE49-F238E27FC236}">
                    <a16:creationId xmlns:a16="http://schemas.microsoft.com/office/drawing/2014/main" id="{90F0EFFD-ACAE-4CB7-0840-9B8CCEE90AF6}"/>
                  </a:ext>
                </a:extLst>
              </p:cNvPr>
              <p:cNvSpPr txBox="1">
                <a:spLocks noRot="1" noChangeAspect="1" noMove="1" noResize="1" noEditPoints="1" noAdjustHandles="1" noChangeArrowheads="1" noChangeShapeType="1" noTextEdit="1"/>
              </p:cNvSpPr>
              <p:nvPr/>
            </p:nvSpPr>
            <p:spPr>
              <a:xfrm>
                <a:off x="6380699" y="5113221"/>
                <a:ext cx="5527765" cy="363882"/>
              </a:xfrm>
              <a:prstGeom prst="rect">
                <a:avLst/>
              </a:prstGeom>
              <a:blipFill>
                <a:blip r:embed="rId9"/>
                <a:stretch>
                  <a:fillRect/>
                </a:stretch>
              </a:blipFill>
              <a:ln>
                <a:solidFill>
                  <a:srgbClr val="FF0000"/>
                </a:solidFill>
              </a:ln>
            </p:spPr>
            <p:txBody>
              <a:bodyPr/>
              <a:lstStyle/>
              <a:p>
                <a:r>
                  <a:rPr lang="en-GB">
                    <a:noFill/>
                  </a:rPr>
                  <a:t> </a:t>
                </a:r>
              </a:p>
            </p:txBody>
          </p:sp>
        </mc:Fallback>
      </mc:AlternateContent>
      <p:sp>
        <p:nvSpPr>
          <p:cNvPr id="23" name="Espace réservé du pied de page 22">
            <a:extLst>
              <a:ext uri="{FF2B5EF4-FFF2-40B4-BE49-F238E27FC236}">
                <a16:creationId xmlns:a16="http://schemas.microsoft.com/office/drawing/2014/main" id="{77364D9F-400A-6092-36E8-1C44A4BBA2C9}"/>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27921377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8C813-B1CF-17FE-B8E7-34ECBF4155BE}"/>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43591CD5-64FE-49B2-F555-CCAB26FBB72B}"/>
              </a:ext>
            </a:extLst>
          </p:cNvPr>
          <p:cNvPicPr>
            <a:picLocks noChangeAspect="1"/>
          </p:cNvPicPr>
          <p:nvPr/>
        </p:nvPicPr>
        <p:blipFill>
          <a:blip r:embed="rId2"/>
          <a:stretch>
            <a:fillRect/>
          </a:stretch>
        </p:blipFill>
        <p:spPr>
          <a:xfrm>
            <a:off x="534064" y="1405136"/>
            <a:ext cx="5734704" cy="2759500"/>
          </a:xfrm>
          <a:prstGeom prst="rect">
            <a:avLst/>
          </a:prstGeom>
        </p:spPr>
      </p:pic>
      <p:sp>
        <p:nvSpPr>
          <p:cNvPr id="2" name="Titre 1">
            <a:extLst>
              <a:ext uri="{FF2B5EF4-FFF2-40B4-BE49-F238E27FC236}">
                <a16:creationId xmlns:a16="http://schemas.microsoft.com/office/drawing/2014/main" id="{A2AC0B30-477D-475B-98DB-70BFE1812103}"/>
              </a:ext>
            </a:extLst>
          </p:cNvPr>
          <p:cNvSpPr>
            <a:spLocks noGrp="1"/>
          </p:cNvSpPr>
          <p:nvPr>
            <p:ph type="title"/>
          </p:nvPr>
        </p:nvSpPr>
        <p:spPr/>
        <p:txBody>
          <a:bodyPr/>
          <a:lstStyle/>
          <a:p>
            <a:r>
              <a:rPr lang="fr-FR" dirty="0"/>
              <a:t>Neural Network</a:t>
            </a:r>
          </a:p>
        </p:txBody>
      </p:sp>
      <p:sp>
        <p:nvSpPr>
          <p:cNvPr id="73" name="ZoneTexte 72">
            <a:extLst>
              <a:ext uri="{FF2B5EF4-FFF2-40B4-BE49-F238E27FC236}">
                <a16:creationId xmlns:a16="http://schemas.microsoft.com/office/drawing/2014/main" id="{89042AD1-BDD1-4FB5-F5A2-EF27C27E4795}"/>
              </a:ext>
            </a:extLst>
          </p:cNvPr>
          <p:cNvSpPr txBox="1"/>
          <p:nvPr/>
        </p:nvSpPr>
        <p:spPr>
          <a:xfrm>
            <a:off x="6872060" y="760834"/>
            <a:ext cx="3324563" cy="584775"/>
          </a:xfrm>
          <a:prstGeom prst="rect">
            <a:avLst/>
          </a:prstGeom>
          <a:noFill/>
        </p:spPr>
        <p:txBody>
          <a:bodyPr wrap="square" rtlCol="0">
            <a:spAutoFit/>
          </a:bodyPr>
          <a:lstStyle/>
          <a:p>
            <a:r>
              <a:rPr lang="en-GB" sz="3200" b="1" noProof="0" dirty="0"/>
              <a:t>Gradient</a:t>
            </a:r>
          </a:p>
        </p:txBody>
      </p:sp>
      <mc:AlternateContent xmlns:mc="http://schemas.openxmlformats.org/markup-compatibility/2006" xmlns:a14="http://schemas.microsoft.com/office/drawing/2010/main">
        <mc:Choice Requires="a14">
          <p:sp>
            <p:nvSpPr>
              <p:cNvPr id="47" name="ZoneTexte 46">
                <a:extLst>
                  <a:ext uri="{FF2B5EF4-FFF2-40B4-BE49-F238E27FC236}">
                    <a16:creationId xmlns:a16="http://schemas.microsoft.com/office/drawing/2014/main" id="{6C6C2E2B-B54E-51B1-CC5D-9BB2A398A365}"/>
                  </a:ext>
                </a:extLst>
              </p:cNvPr>
              <p:cNvSpPr txBox="1"/>
              <p:nvPr/>
            </p:nvSpPr>
            <p:spPr>
              <a:xfrm>
                <a:off x="6365540" y="1900809"/>
                <a:ext cx="4307282" cy="409086"/>
              </a:xfrm>
              <a:prstGeom prst="rect">
                <a:avLst/>
              </a:prstGeom>
              <a:noFill/>
            </p:spPr>
            <p:txBody>
              <a:bodyPr wrap="square" rtlCol="0">
                <a:spAutoFit/>
              </a:bodyPr>
              <a:lstStyle/>
              <a:p>
                <a14:m>
                  <m:oMath xmlns:m="http://schemas.openxmlformats.org/officeDocument/2006/math">
                    <m:f>
                      <m:fPr>
                        <m:ctrlPr>
                          <a:rPr lang="fr-FR" sz="1400" i="1" smtClean="0">
                            <a:latin typeface="Cambria Math" panose="02040503050406030204" pitchFamily="18" charset="0"/>
                          </a:rPr>
                        </m:ctrlPr>
                      </m:fPr>
                      <m:num>
                        <m:r>
                          <a:rPr lang="fr-FR" sz="1400" b="0" i="0" smtClean="0">
                            <a:latin typeface="Cambria Math" panose="02040503050406030204" pitchFamily="18" charset="0"/>
                          </a:rPr>
                          <m:t>𝜕</m:t>
                        </m:r>
                        <m:r>
                          <m:rPr>
                            <m:sty m:val="p"/>
                          </m:rPr>
                          <a:rPr lang="fr-FR" sz="1400" b="0" i="0" smtClean="0">
                            <a:latin typeface="Cambria Math" panose="02040503050406030204" pitchFamily="18" charset="0"/>
                          </a:rPr>
                          <m:t>Loss</m:t>
                        </m:r>
                        <m:r>
                          <a:rPr lang="fr-FR" sz="1400" b="0" i="0" smtClean="0">
                            <a:latin typeface="Cambria Math" panose="02040503050406030204" pitchFamily="18" charset="0"/>
                          </a:rPr>
                          <m:t>1</m:t>
                        </m:r>
                      </m:num>
                      <m:den>
                        <m:r>
                          <a:rPr lang="fr-FR" sz="1400" b="0" i="0" smtClean="0">
                            <a:latin typeface="Cambria Math" panose="02040503050406030204" pitchFamily="18" charset="0"/>
                          </a:rPr>
                          <m:t>𝜕</m:t>
                        </m:r>
                        <m:r>
                          <m:rPr>
                            <m:sty m:val="p"/>
                          </m:rPr>
                          <a:rPr lang="fr-FR" sz="1400" b="0" i="0" smtClean="0">
                            <a:latin typeface="Cambria Math" panose="02040503050406030204" pitchFamily="18" charset="0"/>
                          </a:rPr>
                          <m:t>w</m:t>
                        </m:r>
                        <m:r>
                          <a:rPr lang="fr-FR" sz="1400" b="0" i="0" smtClean="0">
                            <a:latin typeface="Cambria Math" panose="02040503050406030204" pitchFamily="18" charset="0"/>
                          </a:rPr>
                          <m:t>4</m:t>
                        </m:r>
                      </m:den>
                    </m:f>
                    <m:r>
                      <a:rPr lang="fr-FR" sz="1400" b="0" i="0" smtClean="0">
                        <a:latin typeface="Cambria Math" panose="02040503050406030204" pitchFamily="18" charset="0"/>
                      </a:rPr>
                      <m:t>= </m:t>
                    </m:r>
                    <m:f>
                      <m:fPr>
                        <m:ctrlPr>
                          <a:rPr lang="fr-FR" sz="1400" i="1" smtClean="0">
                            <a:solidFill>
                              <a:schemeClr val="accent2"/>
                            </a:solidFill>
                            <a:latin typeface="Cambria Math" panose="02040503050406030204" pitchFamily="18" charset="0"/>
                          </a:rPr>
                        </m:ctrlPr>
                      </m:fPr>
                      <m:num>
                        <m:r>
                          <a:rPr lang="fr-FR" sz="1400" b="0" i="0" smtClean="0">
                            <a:solidFill>
                              <a:schemeClr val="accent2"/>
                            </a:solidFill>
                            <a:latin typeface="Cambria Math" panose="02040503050406030204" pitchFamily="18" charset="0"/>
                          </a:rPr>
                          <m:t>𝜕</m:t>
                        </m:r>
                        <m:r>
                          <m:rPr>
                            <m:sty m:val="p"/>
                          </m:rPr>
                          <a:rPr lang="fr-FR" sz="1400" b="0" i="0" smtClean="0">
                            <a:solidFill>
                              <a:schemeClr val="accent2"/>
                            </a:solidFill>
                            <a:latin typeface="Cambria Math" panose="02040503050406030204" pitchFamily="18" charset="0"/>
                          </a:rPr>
                          <m:t>Loss</m:t>
                        </m:r>
                        <m:r>
                          <a:rPr lang="fr-FR" sz="1400" b="0" i="0" smtClean="0">
                            <a:solidFill>
                              <a:schemeClr val="accent2"/>
                            </a:solidFill>
                            <a:latin typeface="Cambria Math" panose="02040503050406030204" pitchFamily="18" charset="0"/>
                          </a:rPr>
                          <m:t>1</m:t>
                        </m:r>
                      </m:num>
                      <m:den>
                        <m:r>
                          <a:rPr lang="fr-FR" sz="1400" b="0" i="0" smtClean="0">
                            <a:solidFill>
                              <a:schemeClr val="accent2"/>
                            </a:solidFill>
                            <a:latin typeface="Cambria Math" panose="02040503050406030204" pitchFamily="18" charset="0"/>
                          </a:rPr>
                          <m:t>𝜕</m:t>
                        </m:r>
                        <m:r>
                          <m:rPr>
                            <m:sty m:val="p"/>
                          </m:rPr>
                          <a:rPr lang="fr-FR" sz="1400" b="0" i="0" smtClean="0">
                            <a:solidFill>
                              <a:schemeClr val="accent2"/>
                            </a:solidFill>
                            <a:latin typeface="Cambria Math" panose="02040503050406030204" pitchFamily="18" charset="0"/>
                          </a:rPr>
                          <m:t>net</m:t>
                        </m:r>
                        <m:r>
                          <a:rPr lang="fr-FR" sz="1400" b="0" i="0" smtClean="0">
                            <a:solidFill>
                              <a:schemeClr val="accent2"/>
                            </a:solidFill>
                            <a:latin typeface="Cambria Math" panose="02040503050406030204" pitchFamily="18" charset="0"/>
                          </a:rPr>
                          <m:t>_</m:t>
                        </m:r>
                        <m:r>
                          <m:rPr>
                            <m:sty m:val="p"/>
                          </m:rPr>
                          <a:rPr lang="fr-FR" sz="1400" b="0" i="0" smtClean="0">
                            <a:solidFill>
                              <a:schemeClr val="accent2"/>
                            </a:solidFill>
                            <a:latin typeface="Cambria Math" panose="02040503050406030204" pitchFamily="18" charset="0"/>
                          </a:rPr>
                          <m:t>o</m:t>
                        </m:r>
                        <m:r>
                          <a:rPr lang="fr-FR" sz="1400" b="0" i="0" smtClean="0">
                            <a:solidFill>
                              <a:schemeClr val="accent2"/>
                            </a:solidFill>
                            <a:latin typeface="Cambria Math" panose="02040503050406030204" pitchFamily="18" charset="0"/>
                          </a:rPr>
                          <m:t>1</m:t>
                        </m:r>
                      </m:den>
                    </m:f>
                    <m:r>
                      <a:rPr lang="fr-FR" sz="1400" b="0" i="0" smtClean="0">
                        <a:solidFill>
                          <a:schemeClr val="accent2"/>
                        </a:solidFill>
                        <a:latin typeface="Cambria Math" panose="02040503050406030204" pitchFamily="18" charset="0"/>
                      </a:rPr>
                      <m:t> </m:t>
                    </m:r>
                    <m:r>
                      <a:rPr lang="fr-FR" sz="1400" b="0" i="1" smtClean="0">
                        <a:solidFill>
                          <a:schemeClr val="accent2"/>
                        </a:solidFill>
                        <a:latin typeface="Cambria Math" panose="02040503050406030204" pitchFamily="18" charset="0"/>
                        <a:ea typeface="Cambria Math" panose="02040503050406030204" pitchFamily="18" charset="0"/>
                      </a:rPr>
                      <m:t>×</m:t>
                    </m:r>
                    <m:f>
                      <m:fPr>
                        <m:ctrlPr>
                          <a:rPr lang="fr-FR" sz="1400" i="1" smtClean="0">
                            <a:solidFill>
                              <a:schemeClr val="accent2"/>
                            </a:solidFill>
                            <a:latin typeface="Cambria Math" panose="02040503050406030204" pitchFamily="18" charset="0"/>
                          </a:rPr>
                        </m:ctrlPr>
                      </m:fPr>
                      <m:num>
                        <m:r>
                          <a:rPr lang="fr-FR" sz="1400" b="0" i="1">
                            <a:solidFill>
                              <a:schemeClr val="accent2"/>
                            </a:solidFill>
                            <a:latin typeface="Cambria Math" panose="02040503050406030204" pitchFamily="18" charset="0"/>
                          </a:rPr>
                          <m:t>𝜕</m:t>
                        </m:r>
                        <m:r>
                          <m:rPr>
                            <m:sty m:val="p"/>
                          </m:rPr>
                          <a:rPr lang="fr-FR" sz="1400" b="0" i="0" smtClean="0">
                            <a:solidFill>
                              <a:schemeClr val="accent2"/>
                            </a:solidFill>
                            <a:latin typeface="Cambria Math" panose="02040503050406030204" pitchFamily="18" charset="0"/>
                          </a:rPr>
                          <m:t>net</m:t>
                        </m:r>
                        <m:r>
                          <a:rPr lang="fr-FR" sz="1400" b="0" i="0" smtClean="0">
                            <a:solidFill>
                              <a:schemeClr val="accent2"/>
                            </a:solidFill>
                            <a:latin typeface="Cambria Math" panose="02040503050406030204" pitchFamily="18" charset="0"/>
                          </a:rPr>
                          <m:t>_</m:t>
                        </m:r>
                        <m:r>
                          <m:rPr>
                            <m:sty m:val="p"/>
                          </m:rPr>
                          <a:rPr lang="fr-FR" sz="1400" b="0" i="0" smtClean="0">
                            <a:solidFill>
                              <a:schemeClr val="accent2"/>
                            </a:solidFill>
                            <a:latin typeface="Cambria Math" panose="02040503050406030204" pitchFamily="18" charset="0"/>
                          </a:rPr>
                          <m:t>o</m:t>
                        </m:r>
                        <m:r>
                          <a:rPr lang="fr-FR" sz="1400" b="0" i="0" smtClean="0">
                            <a:solidFill>
                              <a:schemeClr val="accent2"/>
                            </a:solidFill>
                            <a:latin typeface="Cambria Math" panose="02040503050406030204" pitchFamily="18" charset="0"/>
                          </a:rPr>
                          <m:t>1</m:t>
                        </m:r>
                      </m:num>
                      <m:den>
                        <m:r>
                          <a:rPr lang="fr-FR" sz="1400" b="0" i="1">
                            <a:solidFill>
                              <a:schemeClr val="accent2"/>
                            </a:solidFill>
                            <a:latin typeface="Cambria Math" panose="02040503050406030204" pitchFamily="18" charset="0"/>
                          </a:rPr>
                          <m:t>𝜕</m:t>
                        </m:r>
                        <m:r>
                          <m:rPr>
                            <m:sty m:val="p"/>
                          </m:rPr>
                          <a:rPr lang="fr-FR" sz="1400" b="0" i="0" smtClean="0">
                            <a:solidFill>
                              <a:schemeClr val="accent2"/>
                            </a:solidFill>
                            <a:latin typeface="Cambria Math" panose="02040503050406030204" pitchFamily="18" charset="0"/>
                          </a:rPr>
                          <m:t>out</m:t>
                        </m:r>
                        <m:r>
                          <a:rPr lang="fr-FR" sz="1400" b="0" i="0" smtClean="0">
                            <a:solidFill>
                              <a:schemeClr val="accent2"/>
                            </a:solidFill>
                            <a:latin typeface="Cambria Math" panose="02040503050406030204" pitchFamily="18" charset="0"/>
                          </a:rPr>
                          <m:t>_</m:t>
                        </m:r>
                        <m:r>
                          <m:rPr>
                            <m:sty m:val="p"/>
                          </m:rPr>
                          <a:rPr lang="fr-FR" sz="1400" b="0" i="0" smtClean="0">
                            <a:solidFill>
                              <a:schemeClr val="accent2"/>
                            </a:solidFill>
                            <a:latin typeface="Cambria Math" panose="02040503050406030204" pitchFamily="18" charset="0"/>
                          </a:rPr>
                          <m:t>h</m:t>
                        </m:r>
                        <m:r>
                          <a:rPr lang="fr-FR" sz="1400" b="0" i="0" smtClean="0">
                            <a:solidFill>
                              <a:schemeClr val="accent2"/>
                            </a:solidFill>
                            <a:latin typeface="Cambria Math" panose="02040503050406030204" pitchFamily="18" charset="0"/>
                          </a:rPr>
                          <m:t>2</m:t>
                        </m:r>
                      </m:den>
                    </m:f>
                    <m:r>
                      <a:rPr lang="fr-FR" sz="1400" b="0" i="1">
                        <a:solidFill>
                          <a:schemeClr val="accent2"/>
                        </a:solidFill>
                        <a:latin typeface="Cambria Math" panose="02040503050406030204" pitchFamily="18" charset="0"/>
                        <a:ea typeface="Cambria Math" panose="02040503050406030204" pitchFamily="18" charset="0"/>
                      </a:rPr>
                      <m:t>×</m:t>
                    </m:r>
                    <m:f>
                      <m:fPr>
                        <m:ctrlPr>
                          <a:rPr lang="fr-FR" sz="1400" i="1">
                            <a:solidFill>
                              <a:schemeClr val="accent2"/>
                            </a:solidFill>
                            <a:latin typeface="Cambria Math" panose="02040503050406030204" pitchFamily="18" charset="0"/>
                          </a:rPr>
                        </m:ctrlPr>
                      </m:fPr>
                      <m:num>
                        <m:r>
                          <a:rPr lang="fr-FR" sz="1400" b="0" i="1">
                            <a:solidFill>
                              <a:schemeClr val="accent2"/>
                            </a:solidFill>
                            <a:latin typeface="Cambria Math" panose="02040503050406030204" pitchFamily="18" charset="0"/>
                          </a:rPr>
                          <m:t>𝜕</m:t>
                        </m:r>
                        <m:r>
                          <m:rPr>
                            <m:sty m:val="p"/>
                          </m:rPr>
                          <a:rPr lang="fr-FR" sz="1400" b="0" i="0" smtClean="0">
                            <a:solidFill>
                              <a:schemeClr val="accent2"/>
                            </a:solidFill>
                            <a:latin typeface="Cambria Math" panose="02040503050406030204" pitchFamily="18" charset="0"/>
                          </a:rPr>
                          <m:t>ou</m:t>
                        </m:r>
                        <m:r>
                          <m:rPr>
                            <m:sty m:val="p"/>
                          </m:rPr>
                          <a:rPr lang="fr-FR" sz="1400" b="0" i="0">
                            <a:solidFill>
                              <a:schemeClr val="accent2"/>
                            </a:solidFill>
                            <a:latin typeface="Cambria Math" panose="02040503050406030204" pitchFamily="18" charset="0"/>
                          </a:rPr>
                          <m:t>t</m:t>
                        </m:r>
                        <m:r>
                          <a:rPr lang="fr-FR" sz="1400" b="0" i="0">
                            <a:solidFill>
                              <a:schemeClr val="accent2"/>
                            </a:solidFill>
                            <a:latin typeface="Cambria Math" panose="02040503050406030204" pitchFamily="18" charset="0"/>
                          </a:rPr>
                          <m:t>_</m:t>
                        </m:r>
                        <m:r>
                          <m:rPr>
                            <m:sty m:val="p"/>
                          </m:rPr>
                          <a:rPr lang="fr-FR" sz="1400" b="0" i="0" smtClean="0">
                            <a:solidFill>
                              <a:schemeClr val="accent2"/>
                            </a:solidFill>
                            <a:latin typeface="Cambria Math" panose="02040503050406030204" pitchFamily="18" charset="0"/>
                          </a:rPr>
                          <m:t>h</m:t>
                        </m:r>
                        <m:r>
                          <a:rPr lang="fr-FR" sz="1400" b="0" i="0" smtClean="0">
                            <a:solidFill>
                              <a:schemeClr val="accent2"/>
                            </a:solidFill>
                            <a:latin typeface="Cambria Math" panose="02040503050406030204" pitchFamily="18" charset="0"/>
                          </a:rPr>
                          <m:t>2</m:t>
                        </m:r>
                      </m:num>
                      <m:den>
                        <m:r>
                          <a:rPr lang="fr-FR" sz="1400" b="0" i="1">
                            <a:solidFill>
                              <a:schemeClr val="accent2"/>
                            </a:solidFill>
                            <a:latin typeface="Cambria Math" panose="02040503050406030204" pitchFamily="18" charset="0"/>
                          </a:rPr>
                          <m:t>𝜕</m:t>
                        </m:r>
                        <m:r>
                          <m:rPr>
                            <m:sty m:val="p"/>
                          </m:rPr>
                          <a:rPr lang="fr-FR" sz="1400" b="0" i="0" smtClean="0">
                            <a:solidFill>
                              <a:schemeClr val="accent2"/>
                            </a:solidFill>
                            <a:latin typeface="Cambria Math" panose="02040503050406030204" pitchFamily="18" charset="0"/>
                          </a:rPr>
                          <m:t>ne</m:t>
                        </m:r>
                        <m:r>
                          <m:rPr>
                            <m:sty m:val="p"/>
                          </m:rPr>
                          <a:rPr lang="fr-FR" sz="1400" b="0" i="0">
                            <a:solidFill>
                              <a:schemeClr val="accent2"/>
                            </a:solidFill>
                            <a:latin typeface="Cambria Math" panose="02040503050406030204" pitchFamily="18" charset="0"/>
                          </a:rPr>
                          <m:t>t</m:t>
                        </m:r>
                        <m:r>
                          <a:rPr lang="fr-FR" sz="1400" b="0" i="0">
                            <a:solidFill>
                              <a:schemeClr val="accent2"/>
                            </a:solidFill>
                            <a:latin typeface="Cambria Math" panose="02040503050406030204" pitchFamily="18" charset="0"/>
                          </a:rPr>
                          <m:t>_</m:t>
                        </m:r>
                        <m:r>
                          <m:rPr>
                            <m:sty m:val="p"/>
                          </m:rPr>
                          <a:rPr lang="fr-FR" sz="1400" b="0" i="0">
                            <a:solidFill>
                              <a:schemeClr val="accent2"/>
                            </a:solidFill>
                            <a:latin typeface="Cambria Math" panose="02040503050406030204" pitchFamily="18" charset="0"/>
                          </a:rPr>
                          <m:t>h</m:t>
                        </m:r>
                        <m:r>
                          <a:rPr lang="fr-FR" sz="1400" b="0" i="0">
                            <a:solidFill>
                              <a:schemeClr val="accent2"/>
                            </a:solidFill>
                            <a:latin typeface="Cambria Math" panose="02040503050406030204" pitchFamily="18" charset="0"/>
                          </a:rPr>
                          <m:t>2</m:t>
                        </m:r>
                      </m:den>
                    </m:f>
                  </m:oMath>
                </a14:m>
                <a:r>
                  <a:rPr lang="fr-FR" sz="1400" dirty="0">
                    <a:solidFill>
                      <a:schemeClr val="tx1"/>
                    </a:solidFill>
                    <a:ea typeface="Cambria Math" panose="02040503050406030204" pitchFamily="18" charset="0"/>
                  </a:rPr>
                  <a:t> </a:t>
                </a:r>
                <a14:m>
                  <m:oMath xmlns:m="http://schemas.openxmlformats.org/officeDocument/2006/math">
                    <m:r>
                      <a:rPr lang="fr-FR" sz="1400" b="0" i="1">
                        <a:solidFill>
                          <a:schemeClr val="tx1"/>
                        </a:solidFill>
                        <a:latin typeface="Cambria Math" panose="02040503050406030204" pitchFamily="18" charset="0"/>
                        <a:ea typeface="Cambria Math" panose="02040503050406030204" pitchFamily="18" charset="0"/>
                      </a:rPr>
                      <m:t>×</m:t>
                    </m:r>
                    <m:f>
                      <m:fPr>
                        <m:ctrlPr>
                          <a:rPr lang="fr-FR" sz="1400" i="1">
                            <a:solidFill>
                              <a:schemeClr val="tx1"/>
                            </a:solidFill>
                            <a:latin typeface="Cambria Math" panose="02040503050406030204" pitchFamily="18" charset="0"/>
                          </a:rPr>
                        </m:ctrlPr>
                      </m:fPr>
                      <m:num>
                        <m:r>
                          <a:rPr lang="fr-FR" sz="1400" b="0" i="1">
                            <a:solidFill>
                              <a:schemeClr val="tx1"/>
                            </a:solidFill>
                            <a:latin typeface="Cambria Math" panose="02040503050406030204" pitchFamily="18" charset="0"/>
                          </a:rPr>
                          <m:t>𝜕</m:t>
                        </m:r>
                        <m:r>
                          <m:rPr>
                            <m:sty m:val="p"/>
                          </m:rPr>
                          <a:rPr lang="fr-FR" sz="1400" b="0" i="0">
                            <a:solidFill>
                              <a:schemeClr val="tx1"/>
                            </a:solidFill>
                            <a:latin typeface="Cambria Math" panose="02040503050406030204" pitchFamily="18" charset="0"/>
                          </a:rPr>
                          <m:t>net</m:t>
                        </m:r>
                        <m:r>
                          <a:rPr lang="fr-FR" sz="1400" b="0" i="0">
                            <a:solidFill>
                              <a:schemeClr val="tx1"/>
                            </a:solidFill>
                            <a:latin typeface="Cambria Math" panose="02040503050406030204" pitchFamily="18" charset="0"/>
                          </a:rPr>
                          <m:t>_</m:t>
                        </m:r>
                        <m:r>
                          <m:rPr>
                            <m:sty m:val="p"/>
                          </m:rPr>
                          <a:rPr lang="fr-FR" sz="1400" b="0" i="0" smtClean="0">
                            <a:solidFill>
                              <a:schemeClr val="tx1"/>
                            </a:solidFill>
                            <a:latin typeface="Cambria Math" panose="02040503050406030204" pitchFamily="18" charset="0"/>
                          </a:rPr>
                          <m:t>h</m:t>
                        </m:r>
                        <m:r>
                          <a:rPr lang="fr-FR" sz="1400" b="0" i="0" smtClean="0">
                            <a:solidFill>
                              <a:schemeClr val="tx1"/>
                            </a:solidFill>
                            <a:latin typeface="Cambria Math" panose="02040503050406030204" pitchFamily="18" charset="0"/>
                          </a:rPr>
                          <m:t>2</m:t>
                        </m:r>
                      </m:num>
                      <m:den>
                        <m:r>
                          <a:rPr lang="fr-FR" sz="1400" b="0" i="1">
                            <a:solidFill>
                              <a:schemeClr val="tx1"/>
                            </a:solidFill>
                            <a:latin typeface="Cambria Math" panose="02040503050406030204" pitchFamily="18" charset="0"/>
                          </a:rPr>
                          <m:t>𝜕</m:t>
                        </m:r>
                        <m:r>
                          <m:rPr>
                            <m:sty m:val="p"/>
                          </m:rPr>
                          <a:rPr lang="fr-FR" sz="1400" b="0" i="0" smtClean="0">
                            <a:solidFill>
                              <a:schemeClr val="tx1"/>
                            </a:solidFill>
                            <a:latin typeface="Cambria Math" panose="02040503050406030204" pitchFamily="18" charset="0"/>
                          </a:rPr>
                          <m:t>w</m:t>
                        </m:r>
                        <m:r>
                          <a:rPr lang="fr-FR" sz="1400" b="0" i="0" smtClean="0">
                            <a:solidFill>
                              <a:schemeClr val="tx1"/>
                            </a:solidFill>
                            <a:latin typeface="Cambria Math" panose="02040503050406030204" pitchFamily="18" charset="0"/>
                          </a:rPr>
                          <m:t>4</m:t>
                        </m:r>
                      </m:den>
                    </m:f>
                  </m:oMath>
                </a14:m>
                <a:endParaRPr lang="fr-FR" sz="1400" dirty="0">
                  <a:solidFill>
                    <a:schemeClr val="accent3">
                      <a:lumMod val="60000"/>
                      <a:lumOff val="40000"/>
                    </a:schemeClr>
                  </a:solidFill>
                </a:endParaRPr>
              </a:p>
            </p:txBody>
          </p:sp>
        </mc:Choice>
        <mc:Fallback xmlns="">
          <p:sp>
            <p:nvSpPr>
              <p:cNvPr id="47" name="ZoneTexte 46">
                <a:extLst>
                  <a:ext uri="{FF2B5EF4-FFF2-40B4-BE49-F238E27FC236}">
                    <a16:creationId xmlns:a16="http://schemas.microsoft.com/office/drawing/2014/main" id="{6C6C2E2B-B54E-51B1-CC5D-9BB2A398A365}"/>
                  </a:ext>
                </a:extLst>
              </p:cNvPr>
              <p:cNvSpPr txBox="1">
                <a:spLocks noRot="1" noChangeAspect="1" noMove="1" noResize="1" noEditPoints="1" noAdjustHandles="1" noChangeArrowheads="1" noChangeShapeType="1" noTextEdit="1"/>
              </p:cNvSpPr>
              <p:nvPr/>
            </p:nvSpPr>
            <p:spPr>
              <a:xfrm>
                <a:off x="6365540" y="1900809"/>
                <a:ext cx="4307282" cy="409086"/>
              </a:xfrm>
              <a:prstGeom prst="rect">
                <a:avLst/>
              </a:prstGeom>
              <a:blipFill>
                <a:blip r:embed="rId3"/>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7" name="ZoneTexte 66">
                <a:extLst>
                  <a:ext uri="{FF2B5EF4-FFF2-40B4-BE49-F238E27FC236}">
                    <a16:creationId xmlns:a16="http://schemas.microsoft.com/office/drawing/2014/main" id="{A01A5FB4-CD84-4ABC-8111-C8F45F26EF95}"/>
                  </a:ext>
                </a:extLst>
              </p:cNvPr>
              <p:cNvSpPr txBox="1"/>
              <p:nvPr/>
            </p:nvSpPr>
            <p:spPr>
              <a:xfrm>
                <a:off x="6365540" y="2667630"/>
                <a:ext cx="5659883" cy="443455"/>
              </a:xfrm>
              <a:prstGeom prst="rect">
                <a:avLst/>
              </a:prstGeom>
              <a:noFill/>
              <a:ln>
                <a:solidFill>
                  <a:srgbClr val="FF0000"/>
                </a:solidFill>
              </a:ln>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fr-FR" sz="1200" i="1" smtClean="0">
                              <a:solidFill>
                                <a:schemeClr val="tx1"/>
                              </a:solidFill>
                              <a:latin typeface="Cambria Math" panose="02040503050406030204" pitchFamily="18" charset="0"/>
                            </a:rPr>
                          </m:ctrlPr>
                        </m:fPr>
                        <m:num>
                          <m:r>
                            <a:rPr lang="fr-FR" sz="1200" i="0" smtClean="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Loss</m:t>
                          </m:r>
                          <m:r>
                            <a:rPr lang="fr-FR" sz="1200" b="0" i="0" smtClean="0">
                              <a:solidFill>
                                <a:schemeClr val="tx1"/>
                              </a:solidFill>
                              <a:latin typeface="Cambria Math" panose="02040503050406030204" pitchFamily="18" charset="0"/>
                            </a:rPr>
                            <m:t>1</m:t>
                          </m:r>
                        </m:num>
                        <m:den>
                          <m:r>
                            <a:rPr lang="fr-FR" sz="1200" i="0" smtClean="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w</m:t>
                          </m:r>
                          <m:r>
                            <a:rPr lang="fr-FR" sz="1200" b="0" i="0" smtClean="0">
                              <a:solidFill>
                                <a:schemeClr val="tx1"/>
                              </a:solidFill>
                              <a:latin typeface="Cambria Math" panose="02040503050406030204" pitchFamily="18" charset="0"/>
                            </a:rPr>
                            <m:t>4</m:t>
                          </m:r>
                        </m:den>
                      </m:f>
                      <m:r>
                        <a:rPr lang="fr-FR" sz="1200" b="0" i="0" smtClean="0">
                          <a:solidFill>
                            <a:schemeClr val="tx1"/>
                          </a:solidFill>
                          <a:latin typeface="Cambria Math" panose="02040503050406030204" pitchFamily="18" charset="0"/>
                        </a:rPr>
                        <m:t>=</m:t>
                      </m:r>
                      <m:r>
                        <m:rPr>
                          <m:nor/>
                        </m:rPr>
                        <a:rPr lang="fr-FR" sz="1200">
                          <a:solidFill>
                            <a:schemeClr val="accent2"/>
                          </a:solidFill>
                          <a:latin typeface="Cambria Math" panose="02040503050406030204" pitchFamily="18" charset="0"/>
                        </a:rPr>
                        <m:t>−2</m:t>
                      </m:r>
                      <m:r>
                        <m:rPr>
                          <m:nor/>
                        </m:rPr>
                        <a:rPr lang="fr-FR" sz="1200" dirty="0">
                          <a:solidFill>
                            <a:schemeClr val="accent2"/>
                          </a:solidFill>
                          <a:latin typeface="Cambria Math" panose="02040503050406030204" pitchFamily="18" charset="0"/>
                          <a:ea typeface="Cambria Math" panose="02040503050406030204" pitchFamily="18" charset="0"/>
                        </a:rPr>
                        <m:t>(</m:t>
                      </m:r>
                      <m:sSub>
                        <m:sSubPr>
                          <m:ctrlPr>
                            <a:rPr lang="fr-FR" sz="1200" i="1" dirty="0">
                              <a:solidFill>
                                <a:schemeClr val="accent2"/>
                              </a:solidFill>
                              <a:latin typeface="Cambria Math" panose="02040503050406030204" pitchFamily="18" charset="0"/>
                              <a:ea typeface="Cambria Math" panose="02040503050406030204" pitchFamily="18" charset="0"/>
                            </a:rPr>
                          </m:ctrlPr>
                        </m:sSubPr>
                        <m:e>
                          <m:r>
                            <m:rPr>
                              <m:sty m:val="p"/>
                            </m:rPr>
                            <a:rPr lang="fr-FR" sz="1200">
                              <a:solidFill>
                                <a:schemeClr val="accent2"/>
                              </a:solidFill>
                              <a:latin typeface="Cambria Math" panose="02040503050406030204" pitchFamily="18" charset="0"/>
                              <a:ea typeface="Cambria Math" panose="02040503050406030204" pitchFamily="18" charset="0"/>
                            </a:rPr>
                            <m:t>target</m:t>
                          </m:r>
                        </m:e>
                        <m:sub>
                          <m:r>
                            <m:rPr>
                              <m:sty m:val="p"/>
                            </m:rPr>
                            <a:rPr lang="fr-FR" sz="1200">
                              <a:solidFill>
                                <a:schemeClr val="accent2"/>
                              </a:solidFill>
                              <a:latin typeface="Cambria Math" panose="02040503050406030204" pitchFamily="18" charset="0"/>
                              <a:ea typeface="Cambria Math" panose="02040503050406030204" pitchFamily="18" charset="0"/>
                            </a:rPr>
                            <m:t>o</m:t>
                          </m:r>
                          <m:r>
                            <a:rPr lang="fr-FR" sz="1200">
                              <a:solidFill>
                                <a:schemeClr val="accent2"/>
                              </a:solidFill>
                              <a:latin typeface="Cambria Math" panose="02040503050406030204" pitchFamily="18" charset="0"/>
                              <a:ea typeface="Cambria Math" panose="02040503050406030204" pitchFamily="18" charset="0"/>
                            </a:rPr>
                            <m:t>1</m:t>
                          </m:r>
                        </m:sub>
                      </m:sSub>
                      <m:r>
                        <a:rPr lang="fr-FR" sz="1200" i="1">
                          <a:solidFill>
                            <a:schemeClr val="accent2"/>
                          </a:solidFill>
                          <a:latin typeface="Cambria Math" panose="02040503050406030204" pitchFamily="18" charset="0"/>
                          <a:ea typeface="Cambria Math" panose="02040503050406030204" pitchFamily="18" charset="0"/>
                        </a:rPr>
                        <m:t>− </m:t>
                      </m:r>
                      <m:r>
                        <m:rPr>
                          <m:sty m:val="p"/>
                        </m:rPr>
                        <a:rPr lang="fr-FR" sz="1200">
                          <a:solidFill>
                            <a:schemeClr val="accent2"/>
                          </a:solidFill>
                          <a:latin typeface="Cambria Math" panose="02040503050406030204" pitchFamily="18" charset="0"/>
                          <a:ea typeface="Cambria Math" panose="02040503050406030204" pitchFamily="18" charset="0"/>
                        </a:rPr>
                        <m:t>out</m:t>
                      </m:r>
                      <m:r>
                        <a:rPr lang="fr-FR" sz="1200">
                          <a:solidFill>
                            <a:schemeClr val="accent2"/>
                          </a:solidFill>
                          <a:latin typeface="Cambria Math" panose="02040503050406030204" pitchFamily="18" charset="0"/>
                          <a:ea typeface="Cambria Math" panose="02040503050406030204" pitchFamily="18" charset="0"/>
                        </a:rPr>
                        <m:t>_</m:t>
                      </m:r>
                      <m:r>
                        <m:rPr>
                          <m:sty m:val="p"/>
                        </m:rPr>
                        <a:rPr lang="fr-FR" sz="1200">
                          <a:solidFill>
                            <a:schemeClr val="accent2"/>
                          </a:solidFill>
                          <a:latin typeface="Cambria Math" panose="02040503050406030204" pitchFamily="18" charset="0"/>
                          <a:ea typeface="Cambria Math" panose="02040503050406030204" pitchFamily="18" charset="0"/>
                        </a:rPr>
                        <m:t>o</m:t>
                      </m:r>
                      <m:r>
                        <a:rPr lang="fr-FR" sz="1200">
                          <a:solidFill>
                            <a:schemeClr val="accent2"/>
                          </a:solidFill>
                          <a:latin typeface="Cambria Math" panose="02040503050406030204" pitchFamily="18" charset="0"/>
                          <a:ea typeface="Cambria Math" panose="02040503050406030204" pitchFamily="18" charset="0"/>
                        </a:rPr>
                        <m:t>1</m:t>
                      </m:r>
                      <m:r>
                        <m:rPr>
                          <m:nor/>
                        </m:rPr>
                        <a:rPr lang="fr-FR" sz="1200" dirty="0">
                          <a:solidFill>
                            <a:schemeClr val="accent2"/>
                          </a:solidFill>
                          <a:latin typeface="Cambria Math" panose="02040503050406030204" pitchFamily="18" charset="0"/>
                          <a:ea typeface="Cambria Math" panose="02040503050406030204" pitchFamily="18" charset="0"/>
                        </a:rPr>
                        <m:t>)</m:t>
                      </m:r>
                      <m:r>
                        <a:rPr lang="fr-FR" sz="1200" i="1">
                          <a:solidFill>
                            <a:schemeClr val="accent2"/>
                          </a:solidFill>
                          <a:latin typeface="Cambria Math" panose="02040503050406030204" pitchFamily="18" charset="0"/>
                          <a:ea typeface="Cambria Math" panose="02040503050406030204" pitchFamily="18" charset="0"/>
                        </a:rPr>
                        <m:t>×</m:t>
                      </m:r>
                      <m:r>
                        <m:rPr>
                          <m:nor/>
                        </m:rPr>
                        <a:rPr lang="fr-FR" sz="1200">
                          <a:solidFill>
                            <a:schemeClr val="accent2"/>
                          </a:solidFill>
                          <a:latin typeface="Cambria Math" panose="02040503050406030204" pitchFamily="18" charset="0"/>
                          <a:ea typeface="Cambria Math" panose="02040503050406030204" pitchFamily="18" charset="0"/>
                        </a:rPr>
                        <m:t> </m:t>
                      </m:r>
                      <m:r>
                        <m:rPr>
                          <m:sty m:val="p"/>
                        </m:rPr>
                        <a:rPr lang="fr-FR" sz="1200">
                          <a:solidFill>
                            <a:schemeClr val="accent2"/>
                          </a:solidFill>
                          <a:latin typeface="Cambria Math" panose="02040503050406030204" pitchFamily="18" charset="0"/>
                          <a:ea typeface="Cambria Math" panose="02040503050406030204" pitchFamily="18" charset="0"/>
                        </a:rPr>
                        <m:t>out</m:t>
                      </m:r>
                      <m:r>
                        <a:rPr lang="fr-FR" sz="1200">
                          <a:solidFill>
                            <a:schemeClr val="accent2"/>
                          </a:solidFill>
                          <a:latin typeface="Cambria Math" panose="02040503050406030204" pitchFamily="18" charset="0"/>
                          <a:ea typeface="Cambria Math" panose="02040503050406030204" pitchFamily="18" charset="0"/>
                        </a:rPr>
                        <m:t>_</m:t>
                      </m:r>
                      <m:r>
                        <m:rPr>
                          <m:sty m:val="p"/>
                        </m:rPr>
                        <a:rPr lang="fr-FR" sz="1200">
                          <a:solidFill>
                            <a:schemeClr val="accent2"/>
                          </a:solidFill>
                          <a:latin typeface="Cambria Math" panose="02040503050406030204" pitchFamily="18" charset="0"/>
                          <a:ea typeface="Cambria Math" panose="02040503050406030204" pitchFamily="18" charset="0"/>
                        </a:rPr>
                        <m:t>o</m:t>
                      </m:r>
                      <m:r>
                        <a:rPr lang="fr-FR" sz="1200">
                          <a:solidFill>
                            <a:schemeClr val="accent2"/>
                          </a:solidFill>
                          <a:latin typeface="Cambria Math" panose="02040503050406030204" pitchFamily="18" charset="0"/>
                          <a:ea typeface="Cambria Math" panose="02040503050406030204" pitchFamily="18" charset="0"/>
                        </a:rPr>
                        <m:t>1(1−</m:t>
                      </m:r>
                      <m:r>
                        <m:rPr>
                          <m:sty m:val="p"/>
                        </m:rPr>
                        <a:rPr lang="fr-FR" sz="1200">
                          <a:solidFill>
                            <a:schemeClr val="accent2"/>
                          </a:solidFill>
                          <a:latin typeface="Cambria Math" panose="02040503050406030204" pitchFamily="18" charset="0"/>
                          <a:ea typeface="Cambria Math" panose="02040503050406030204" pitchFamily="18" charset="0"/>
                        </a:rPr>
                        <m:t>out</m:t>
                      </m:r>
                      <m:r>
                        <a:rPr lang="fr-FR" sz="1200">
                          <a:solidFill>
                            <a:schemeClr val="accent2"/>
                          </a:solidFill>
                          <a:latin typeface="Cambria Math" panose="02040503050406030204" pitchFamily="18" charset="0"/>
                          <a:ea typeface="Cambria Math" panose="02040503050406030204" pitchFamily="18" charset="0"/>
                        </a:rPr>
                        <m:t>_</m:t>
                      </m:r>
                      <m:r>
                        <m:rPr>
                          <m:sty m:val="p"/>
                        </m:rPr>
                        <a:rPr lang="fr-FR" sz="1200">
                          <a:solidFill>
                            <a:schemeClr val="accent2"/>
                          </a:solidFill>
                          <a:latin typeface="Cambria Math" panose="02040503050406030204" pitchFamily="18" charset="0"/>
                          <a:ea typeface="Cambria Math" panose="02040503050406030204" pitchFamily="18" charset="0"/>
                        </a:rPr>
                        <m:t>o</m:t>
                      </m:r>
                      <m:r>
                        <a:rPr lang="fr-FR" sz="1200">
                          <a:solidFill>
                            <a:schemeClr val="accent2"/>
                          </a:solidFill>
                          <a:latin typeface="Cambria Math" panose="02040503050406030204" pitchFamily="18" charset="0"/>
                          <a:ea typeface="Cambria Math" panose="02040503050406030204" pitchFamily="18" charset="0"/>
                        </a:rPr>
                        <m:t>1</m:t>
                      </m:r>
                      <m:r>
                        <a:rPr lang="fr-FR" sz="1200" i="1">
                          <a:solidFill>
                            <a:schemeClr val="accent2"/>
                          </a:solidFill>
                          <a:latin typeface="Cambria Math" panose="02040503050406030204" pitchFamily="18" charset="0"/>
                          <a:ea typeface="Cambria Math" panose="02040503050406030204" pitchFamily="18" charset="0"/>
                        </a:rPr>
                        <m:t>)×</m:t>
                      </m:r>
                      <m:r>
                        <m:rPr>
                          <m:sty m:val="p"/>
                        </m:rPr>
                        <a:rPr lang="fr-FR" sz="1200">
                          <a:solidFill>
                            <a:schemeClr val="accent2"/>
                          </a:solidFill>
                          <a:latin typeface="Cambria Math" panose="02040503050406030204" pitchFamily="18" charset="0"/>
                        </a:rPr>
                        <m:t>w</m:t>
                      </m:r>
                      <m:r>
                        <a:rPr lang="fr-FR" sz="1200">
                          <a:solidFill>
                            <a:schemeClr val="accent2"/>
                          </a:solidFill>
                          <a:latin typeface="Cambria Math" panose="02040503050406030204" pitchFamily="18" charset="0"/>
                        </a:rPr>
                        <m:t>6</m:t>
                      </m:r>
                      <m:r>
                        <a:rPr lang="fr-FR" sz="1200" i="1">
                          <a:solidFill>
                            <a:schemeClr val="accent2"/>
                          </a:solidFill>
                          <a:latin typeface="Cambria Math" panose="02040503050406030204" pitchFamily="18" charset="0"/>
                          <a:ea typeface="Cambria Math" panose="02040503050406030204" pitchFamily="18" charset="0"/>
                        </a:rPr>
                        <m:t>×</m:t>
                      </m:r>
                      <m:r>
                        <a:rPr lang="fr-FR" sz="1200" i="1">
                          <a:solidFill>
                            <a:schemeClr val="accent2"/>
                          </a:solidFill>
                          <a:latin typeface="Cambria Math" panose="02040503050406030204" pitchFamily="18" charset="0"/>
                        </a:rPr>
                        <m:t>1</m:t>
                      </m:r>
                      <m:r>
                        <a:rPr lang="fr-FR" sz="1200" i="1" baseline="-25000">
                          <a:solidFill>
                            <a:schemeClr val="accent2"/>
                          </a:solidFill>
                          <a:latin typeface="Cambria Math" panose="02040503050406030204" pitchFamily="18" charset="0"/>
                        </a:rPr>
                        <m:t>{</m:t>
                      </m:r>
                      <m:r>
                        <m:rPr>
                          <m:sty m:val="p"/>
                        </m:rPr>
                        <a:rPr lang="fr-FR" sz="1200" baseline="-25000">
                          <a:solidFill>
                            <a:schemeClr val="accent2"/>
                          </a:solidFill>
                          <a:latin typeface="Cambria Math" panose="02040503050406030204" pitchFamily="18" charset="0"/>
                        </a:rPr>
                        <m:t>net</m:t>
                      </m:r>
                      <m:r>
                        <a:rPr lang="fr-FR" sz="1200" baseline="-25000">
                          <a:solidFill>
                            <a:schemeClr val="accent2"/>
                          </a:solidFill>
                          <a:latin typeface="Cambria Math" panose="02040503050406030204" pitchFamily="18" charset="0"/>
                        </a:rPr>
                        <m:t>_</m:t>
                      </m:r>
                      <m:r>
                        <m:rPr>
                          <m:sty m:val="p"/>
                        </m:rPr>
                        <a:rPr lang="fr-FR" sz="1200" baseline="-25000">
                          <a:solidFill>
                            <a:schemeClr val="accent2"/>
                          </a:solidFill>
                          <a:latin typeface="Cambria Math" panose="02040503050406030204" pitchFamily="18" charset="0"/>
                        </a:rPr>
                        <m:t>h</m:t>
                      </m:r>
                      <m:r>
                        <a:rPr lang="fr-FR" sz="1200" baseline="-25000">
                          <a:solidFill>
                            <a:schemeClr val="accent2"/>
                          </a:solidFill>
                          <a:latin typeface="Cambria Math" panose="02040503050406030204" pitchFamily="18" charset="0"/>
                        </a:rPr>
                        <m:t>2</m:t>
                      </m:r>
                      <m:r>
                        <m:rPr>
                          <m:nor/>
                        </m:rPr>
                        <a:rPr lang="fr-FR" sz="1200" baseline="-25000" dirty="0">
                          <a:solidFill>
                            <a:schemeClr val="accent2"/>
                          </a:solidFill>
                          <a:ea typeface="Cambria Math" panose="02040503050406030204" pitchFamily="18" charset="0"/>
                        </a:rPr>
                        <m:t> </m:t>
                      </m:r>
                      <m:r>
                        <a:rPr lang="fr-FR" sz="1200" i="1" baseline="-25000">
                          <a:solidFill>
                            <a:schemeClr val="accent2"/>
                          </a:solidFill>
                          <a:latin typeface="Cambria Math" panose="02040503050406030204" pitchFamily="18" charset="0"/>
                          <a:ea typeface="Cambria Math" panose="02040503050406030204" pitchFamily="18" charset="0"/>
                        </a:rPr>
                        <m:t>&gt;0</m:t>
                      </m:r>
                      <m:r>
                        <a:rPr lang="fr-FR" sz="1200" i="1" baseline="-25000">
                          <a:solidFill>
                            <a:schemeClr val="accent2"/>
                          </a:solidFill>
                          <a:latin typeface="Cambria Math" panose="02040503050406030204" pitchFamily="18" charset="0"/>
                        </a:rPr>
                        <m:t>}</m:t>
                      </m:r>
                      <m:r>
                        <m:rPr>
                          <m:nor/>
                        </m:rPr>
                        <a:rPr lang="fr-FR" sz="1200" dirty="0">
                          <a:ea typeface="Cambria Math" panose="02040503050406030204" pitchFamily="18" charset="0"/>
                        </a:rPr>
                        <m:t> </m:t>
                      </m:r>
                      <m:r>
                        <a:rPr lang="fr-FR" sz="1200" i="1">
                          <a:latin typeface="Cambria Math" panose="02040503050406030204" pitchFamily="18" charset="0"/>
                          <a:ea typeface="Cambria Math" panose="02040503050406030204" pitchFamily="18" charset="0"/>
                        </a:rPr>
                        <m:t>×</m:t>
                      </m:r>
                      <m:r>
                        <m:rPr>
                          <m:sty m:val="p"/>
                        </m:rPr>
                        <a:rPr lang="fr-FR" sz="1200" b="0" i="0" smtClean="0">
                          <a:latin typeface="Cambria Math" panose="02040503050406030204" pitchFamily="18" charset="0"/>
                          <a:ea typeface="Cambria Math" panose="02040503050406030204" pitchFamily="18" charset="0"/>
                        </a:rPr>
                        <m:t>i</m:t>
                      </m:r>
                      <m:r>
                        <a:rPr lang="fr-FR" sz="1200" b="0" i="0" baseline="-25000" smtClean="0">
                          <a:latin typeface="Cambria Math" panose="02040503050406030204" pitchFamily="18" charset="0"/>
                          <a:ea typeface="Cambria Math" panose="02040503050406030204" pitchFamily="18" charset="0"/>
                        </a:rPr>
                        <m:t>2</m:t>
                      </m:r>
                    </m:oMath>
                  </m:oMathPara>
                </a14:m>
                <a:endParaRPr lang="fr-FR" sz="1200" baseline="-25000" dirty="0">
                  <a:solidFill>
                    <a:schemeClr val="tx1"/>
                  </a:solidFill>
                </a:endParaRPr>
              </a:p>
            </p:txBody>
          </p:sp>
        </mc:Choice>
        <mc:Fallback xmlns="">
          <p:sp>
            <p:nvSpPr>
              <p:cNvPr id="67" name="ZoneTexte 66">
                <a:extLst>
                  <a:ext uri="{FF2B5EF4-FFF2-40B4-BE49-F238E27FC236}">
                    <a16:creationId xmlns:a16="http://schemas.microsoft.com/office/drawing/2014/main" id="{A01A5FB4-CD84-4ABC-8111-C8F45F26EF95}"/>
                  </a:ext>
                </a:extLst>
              </p:cNvPr>
              <p:cNvSpPr txBox="1">
                <a:spLocks noRot="1" noChangeAspect="1" noMove="1" noResize="1" noEditPoints="1" noAdjustHandles="1" noChangeArrowheads="1" noChangeShapeType="1" noTextEdit="1"/>
              </p:cNvSpPr>
              <p:nvPr/>
            </p:nvSpPr>
            <p:spPr>
              <a:xfrm>
                <a:off x="6365540" y="2667630"/>
                <a:ext cx="5659883" cy="443455"/>
              </a:xfrm>
              <a:prstGeom prst="rect">
                <a:avLst/>
              </a:prstGeom>
              <a:blipFill>
                <a:blip r:embed="rId4"/>
                <a:stretch>
                  <a:fillRect/>
                </a:stretch>
              </a:blipFill>
              <a:ln>
                <a:solidFill>
                  <a:srgbClr val="FF0000"/>
                </a:solidFill>
              </a:ln>
            </p:spPr>
            <p:txBody>
              <a:bodyPr/>
              <a:lstStyle/>
              <a:p>
                <a:r>
                  <a:rPr lang="en-GB">
                    <a:noFill/>
                  </a:rPr>
                  <a:t> </a:t>
                </a:r>
              </a:p>
            </p:txBody>
          </p:sp>
        </mc:Fallback>
      </mc:AlternateContent>
      <p:sp>
        <p:nvSpPr>
          <p:cNvPr id="21" name="ZoneTexte 20">
            <a:extLst>
              <a:ext uri="{FF2B5EF4-FFF2-40B4-BE49-F238E27FC236}">
                <a16:creationId xmlns:a16="http://schemas.microsoft.com/office/drawing/2014/main" id="{C0E3D98B-A1DB-654C-0C9A-314554E1E609}"/>
              </a:ext>
            </a:extLst>
          </p:cNvPr>
          <p:cNvSpPr txBox="1"/>
          <p:nvPr/>
        </p:nvSpPr>
        <p:spPr>
          <a:xfrm>
            <a:off x="6528460" y="1334708"/>
            <a:ext cx="3157800" cy="307777"/>
          </a:xfrm>
          <a:prstGeom prst="rect">
            <a:avLst/>
          </a:prstGeom>
          <a:noFill/>
        </p:spPr>
        <p:txBody>
          <a:bodyPr wrap="square" rtlCol="0">
            <a:spAutoFit/>
          </a:bodyPr>
          <a:lstStyle/>
          <a:p>
            <a:r>
              <a:rPr lang="fr-FR" sz="1400" b="1" dirty="0">
                <a:solidFill>
                  <a:srgbClr val="FF0000"/>
                </a:solidFill>
              </a:rPr>
              <a:t>BACKPROPAGATION</a:t>
            </a:r>
            <a:r>
              <a:rPr lang="fr-FR" sz="1400" b="1" dirty="0"/>
              <a:t> + CHAIN RULE</a:t>
            </a:r>
          </a:p>
        </p:txBody>
      </p:sp>
      <p:sp>
        <p:nvSpPr>
          <p:cNvPr id="22" name="Flèche vers la gauche 21">
            <a:extLst>
              <a:ext uri="{FF2B5EF4-FFF2-40B4-BE49-F238E27FC236}">
                <a16:creationId xmlns:a16="http://schemas.microsoft.com/office/drawing/2014/main" id="{119CA1CE-B9C0-4CF5-E173-451BC4E7AAD7}"/>
              </a:ext>
            </a:extLst>
          </p:cNvPr>
          <p:cNvSpPr/>
          <p:nvPr/>
        </p:nvSpPr>
        <p:spPr>
          <a:xfrm rot="18488585" flipV="1">
            <a:off x="2329043" y="2166790"/>
            <a:ext cx="1250269" cy="274824"/>
          </a:xfrm>
          <a:prstGeom prst="leftArrow">
            <a:avLst>
              <a:gd name="adj1" fmla="val 49587"/>
              <a:gd name="adj2" fmla="val 50000"/>
            </a:avLst>
          </a:prstGeom>
          <a:solidFill>
            <a:srgbClr val="FF00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4" name="Connecteur droit 23">
            <a:extLst>
              <a:ext uri="{FF2B5EF4-FFF2-40B4-BE49-F238E27FC236}">
                <a16:creationId xmlns:a16="http://schemas.microsoft.com/office/drawing/2014/main" id="{7D006D73-1720-60EE-3410-3C9A6DA035A7}"/>
              </a:ext>
            </a:extLst>
          </p:cNvPr>
          <p:cNvCxnSpPr>
            <a:cxnSpLocks/>
          </p:cNvCxnSpPr>
          <p:nvPr/>
        </p:nvCxnSpPr>
        <p:spPr>
          <a:xfrm>
            <a:off x="3338623" y="1823186"/>
            <a:ext cx="1212112" cy="0"/>
          </a:xfrm>
          <a:prstGeom prst="line">
            <a:avLst/>
          </a:prstGeom>
          <a:ln w="136525">
            <a:solidFill>
              <a:srgbClr val="FF0000">
                <a:alpha val="50000"/>
              </a:srgbClr>
            </a:solidFill>
          </a:ln>
        </p:spPr>
        <p:style>
          <a:lnRef idx="2">
            <a:schemeClr val="accent1"/>
          </a:lnRef>
          <a:fillRef idx="0">
            <a:schemeClr val="accent1"/>
          </a:fillRef>
          <a:effectRef idx="1">
            <a:schemeClr val="accent1"/>
          </a:effectRef>
          <a:fontRef idx="minor">
            <a:schemeClr val="tx1"/>
          </a:fontRef>
        </p:style>
      </p:cxnSp>
      <p:sp>
        <p:nvSpPr>
          <p:cNvPr id="4" name="Flèche vers la gauche 3">
            <a:extLst>
              <a:ext uri="{FF2B5EF4-FFF2-40B4-BE49-F238E27FC236}">
                <a16:creationId xmlns:a16="http://schemas.microsoft.com/office/drawing/2014/main" id="{A47D0D7B-1DCE-F91F-F242-DB4E60AFD03C}"/>
              </a:ext>
            </a:extLst>
          </p:cNvPr>
          <p:cNvSpPr/>
          <p:nvPr/>
        </p:nvSpPr>
        <p:spPr>
          <a:xfrm>
            <a:off x="1169577" y="2627381"/>
            <a:ext cx="1488564" cy="209134"/>
          </a:xfrm>
          <a:prstGeom prst="leftArrow">
            <a:avLst/>
          </a:prstGeom>
          <a:solidFill>
            <a:srgbClr val="FF00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62DCA61B-41DD-C5C8-D3D5-A4840C20C5CA}"/>
                  </a:ext>
                </a:extLst>
              </p:cNvPr>
              <p:cNvSpPr txBox="1"/>
              <p:nvPr/>
            </p:nvSpPr>
            <p:spPr>
              <a:xfrm>
                <a:off x="4051002" y="1372755"/>
                <a:ext cx="642969" cy="414216"/>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f>
                        <m:fPr>
                          <m:ctrlPr>
                            <a:rPr lang="fr-FR" sz="1050" i="1" smtClean="0">
                              <a:solidFill>
                                <a:srgbClr val="FF0000"/>
                              </a:solidFill>
                              <a:latin typeface="Cambria Math" panose="02040503050406030204" pitchFamily="18" charset="0"/>
                            </a:rPr>
                          </m:ctrlPr>
                        </m:fPr>
                        <m:num>
                          <m:r>
                            <a:rPr lang="fr-FR" sz="1050" i="0" smtClean="0">
                              <a:solidFill>
                                <a:srgbClr val="FF0000"/>
                              </a:solidFill>
                              <a:latin typeface="Cambria Math" panose="02040503050406030204" pitchFamily="18" charset="0"/>
                            </a:rPr>
                            <m:t>𝜕</m:t>
                          </m:r>
                          <m:r>
                            <m:rPr>
                              <m:sty m:val="p"/>
                            </m:rPr>
                            <a:rPr lang="fr-FR" sz="1050" b="0" i="0" smtClean="0">
                              <a:solidFill>
                                <a:srgbClr val="FF0000"/>
                              </a:solidFill>
                              <a:latin typeface="Cambria Math" panose="02040503050406030204" pitchFamily="18" charset="0"/>
                            </a:rPr>
                            <m:t>Loss</m:t>
                          </m:r>
                          <m:r>
                            <a:rPr lang="fr-FR" sz="1050" b="0" i="0" smtClean="0">
                              <a:solidFill>
                                <a:srgbClr val="FF0000"/>
                              </a:solidFill>
                              <a:latin typeface="Cambria Math" panose="02040503050406030204" pitchFamily="18" charset="0"/>
                            </a:rPr>
                            <m:t>1</m:t>
                          </m:r>
                        </m:num>
                        <m:den>
                          <m:r>
                            <a:rPr lang="fr-FR" sz="1050" i="0" smtClean="0">
                              <a:solidFill>
                                <a:srgbClr val="FF0000"/>
                              </a:solidFill>
                              <a:latin typeface="Cambria Math" panose="02040503050406030204" pitchFamily="18" charset="0"/>
                            </a:rPr>
                            <m:t>𝜕</m:t>
                          </m:r>
                          <m:r>
                            <m:rPr>
                              <m:sty m:val="p"/>
                            </m:rPr>
                            <a:rPr lang="fr-FR" sz="1050" b="0" i="0" smtClean="0">
                              <a:solidFill>
                                <a:srgbClr val="FF0000"/>
                              </a:solidFill>
                              <a:latin typeface="Cambria Math" panose="02040503050406030204" pitchFamily="18" charset="0"/>
                            </a:rPr>
                            <m:t>w</m:t>
                          </m:r>
                          <m:r>
                            <a:rPr lang="fr-FR" sz="1050" b="0" i="1" smtClean="0">
                              <a:solidFill>
                                <a:srgbClr val="FF0000"/>
                              </a:solidFill>
                              <a:latin typeface="Cambria Math" panose="02040503050406030204" pitchFamily="18" charset="0"/>
                            </a:rPr>
                            <m:t>4</m:t>
                          </m:r>
                        </m:den>
                      </m:f>
                    </m:oMath>
                  </m:oMathPara>
                </a14:m>
                <a:endParaRPr lang="fr-FR" sz="1050" b="1" dirty="0">
                  <a:solidFill>
                    <a:srgbClr val="FF0000"/>
                  </a:solidFill>
                </a:endParaRPr>
              </a:p>
            </p:txBody>
          </p:sp>
        </mc:Choice>
        <mc:Fallback xmlns="">
          <p:sp>
            <p:nvSpPr>
              <p:cNvPr id="6" name="ZoneTexte 5">
                <a:extLst>
                  <a:ext uri="{FF2B5EF4-FFF2-40B4-BE49-F238E27FC236}">
                    <a16:creationId xmlns:a16="http://schemas.microsoft.com/office/drawing/2014/main" id="{62DCA61B-41DD-C5C8-D3D5-A4840C20C5CA}"/>
                  </a:ext>
                </a:extLst>
              </p:cNvPr>
              <p:cNvSpPr txBox="1">
                <a:spLocks noRot="1" noChangeAspect="1" noMove="1" noResize="1" noEditPoints="1" noAdjustHandles="1" noChangeArrowheads="1" noChangeShapeType="1" noTextEdit="1"/>
              </p:cNvSpPr>
              <p:nvPr/>
            </p:nvSpPr>
            <p:spPr>
              <a:xfrm>
                <a:off x="4051002" y="1372755"/>
                <a:ext cx="642969" cy="414216"/>
              </a:xfrm>
              <a:prstGeom prst="rect">
                <a:avLst/>
              </a:prstGeom>
              <a:blipFill>
                <a:blip r:embed="rId5"/>
                <a:stretch>
                  <a:fillRect/>
                </a:stretch>
              </a:blipFill>
            </p:spPr>
            <p:txBody>
              <a:bodyPr/>
              <a:lstStyle/>
              <a:p>
                <a:r>
                  <a:rPr lang="fr-FR">
                    <a:noFill/>
                  </a:rPr>
                  <a:t> </a:t>
                </a:r>
              </a:p>
            </p:txBody>
          </p:sp>
        </mc:Fallback>
      </mc:AlternateContent>
      <p:sp>
        <p:nvSpPr>
          <p:cNvPr id="7" name="ZoneTexte 6">
            <a:extLst>
              <a:ext uri="{FF2B5EF4-FFF2-40B4-BE49-F238E27FC236}">
                <a16:creationId xmlns:a16="http://schemas.microsoft.com/office/drawing/2014/main" id="{E348035B-111F-6438-96F7-1412D0CDF941}"/>
              </a:ext>
            </a:extLst>
          </p:cNvPr>
          <p:cNvSpPr txBox="1"/>
          <p:nvPr/>
        </p:nvSpPr>
        <p:spPr>
          <a:xfrm>
            <a:off x="6231631" y="3429000"/>
            <a:ext cx="1280857" cy="261610"/>
          </a:xfrm>
          <a:prstGeom prst="rect">
            <a:avLst/>
          </a:prstGeom>
          <a:noFill/>
        </p:spPr>
        <p:txBody>
          <a:bodyPr wrap="square" rtlCol="0">
            <a:spAutoFit/>
          </a:bodyPr>
          <a:lstStyle/>
          <a:p>
            <a:r>
              <a:rPr lang="en-GB" sz="1100" b="1" noProof="0" dirty="0"/>
              <a:t>Symmetrically</a:t>
            </a:r>
          </a:p>
        </p:txBody>
      </p:sp>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F2D7D6F6-9B48-2C0E-8898-4676482950E0}"/>
                  </a:ext>
                </a:extLst>
              </p:cNvPr>
              <p:cNvSpPr txBox="1"/>
              <p:nvPr/>
            </p:nvSpPr>
            <p:spPr>
              <a:xfrm>
                <a:off x="6365540" y="3690610"/>
                <a:ext cx="5659883" cy="363561"/>
              </a:xfrm>
              <a:prstGeom prst="rect">
                <a:avLst/>
              </a:prstGeom>
              <a:noFill/>
              <a:ln>
                <a:solidFill>
                  <a:srgbClr val="FF0000"/>
                </a:solidFill>
              </a:ln>
            </p:spPr>
            <p:txBody>
              <a:bodyPr wrap="square" rtlCol="0">
                <a:spAutoFit/>
              </a:bodyPr>
              <a:lstStyle/>
              <a:p>
                <a14:m>
                  <m:oMath xmlns:m="http://schemas.openxmlformats.org/officeDocument/2006/math">
                    <m:f>
                      <m:fPr>
                        <m:ctrlPr>
                          <a:rPr lang="fr-FR" sz="1200" i="1" smtClean="0">
                            <a:solidFill>
                              <a:schemeClr val="tx1"/>
                            </a:solidFill>
                            <a:latin typeface="Cambria Math" panose="02040503050406030204" pitchFamily="18" charset="0"/>
                          </a:rPr>
                        </m:ctrlPr>
                      </m:fPr>
                      <m:num>
                        <m:r>
                          <a:rPr lang="fr-FR" sz="1200" i="0" smtClean="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Loss</m:t>
                        </m:r>
                        <m:r>
                          <a:rPr lang="fr-FR" sz="1200" b="0" i="0" smtClean="0">
                            <a:solidFill>
                              <a:schemeClr val="tx1"/>
                            </a:solidFill>
                            <a:latin typeface="Cambria Math" panose="02040503050406030204" pitchFamily="18" charset="0"/>
                          </a:rPr>
                          <m:t>2</m:t>
                        </m:r>
                      </m:num>
                      <m:den>
                        <m:r>
                          <a:rPr lang="fr-FR" sz="1200" i="0" smtClean="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w</m:t>
                        </m:r>
                        <m:r>
                          <a:rPr lang="fr-FR" sz="1200" b="0" i="0" smtClean="0">
                            <a:solidFill>
                              <a:schemeClr val="tx1"/>
                            </a:solidFill>
                            <a:latin typeface="Cambria Math" panose="02040503050406030204" pitchFamily="18" charset="0"/>
                          </a:rPr>
                          <m:t>1</m:t>
                        </m:r>
                      </m:den>
                    </m:f>
                    <m:r>
                      <a:rPr lang="fr-FR" sz="1200" b="0" i="0" smtClean="0">
                        <a:solidFill>
                          <a:schemeClr val="tx1"/>
                        </a:solidFill>
                        <a:latin typeface="Cambria Math" panose="02040503050406030204" pitchFamily="18" charset="0"/>
                      </a:rPr>
                      <m:t>=</m:t>
                    </m:r>
                    <m:r>
                      <m:rPr>
                        <m:nor/>
                      </m:rPr>
                      <a:rPr lang="fr-FR" sz="1200">
                        <a:latin typeface="Cambria Math" panose="02040503050406030204" pitchFamily="18" charset="0"/>
                        <a:ea typeface="Cambria Math" panose="02040503050406030204" pitchFamily="18" charset="0"/>
                      </a:rPr>
                      <m:t>−2</m:t>
                    </m:r>
                    <m:r>
                      <m:rPr>
                        <m:nor/>
                      </m:rPr>
                      <a:rPr lang="fr-FR" sz="1200" dirty="0">
                        <a:latin typeface="Cambria Math" panose="02040503050406030204" pitchFamily="18" charset="0"/>
                        <a:ea typeface="Cambria Math" panose="02040503050406030204" pitchFamily="18" charset="0"/>
                      </a:rPr>
                      <m:t>(</m:t>
                    </m:r>
                    <m:sSub>
                      <m:sSubPr>
                        <m:ctrlPr>
                          <a:rPr lang="fr-FR" sz="1200" i="1" dirty="0">
                            <a:latin typeface="Cambria Math" panose="02040503050406030204" pitchFamily="18" charset="0"/>
                            <a:ea typeface="Cambria Math" panose="02040503050406030204" pitchFamily="18" charset="0"/>
                          </a:rPr>
                        </m:ctrlPr>
                      </m:sSubPr>
                      <m:e>
                        <m:r>
                          <m:rPr>
                            <m:sty m:val="p"/>
                          </m:rPr>
                          <a:rPr lang="fr-FR" sz="1200">
                            <a:latin typeface="Cambria Math" panose="02040503050406030204" pitchFamily="18" charset="0"/>
                            <a:ea typeface="Cambria Math" panose="02040503050406030204" pitchFamily="18" charset="0"/>
                          </a:rPr>
                          <m:t>target</m:t>
                        </m:r>
                      </m:e>
                      <m:sub>
                        <m:r>
                          <m:rPr>
                            <m:sty m:val="p"/>
                          </m:rPr>
                          <a:rPr lang="fr-FR" sz="1200">
                            <a:latin typeface="Cambria Math" panose="02040503050406030204" pitchFamily="18" charset="0"/>
                            <a:ea typeface="Cambria Math" panose="02040503050406030204" pitchFamily="18" charset="0"/>
                          </a:rPr>
                          <m:t>o</m:t>
                        </m:r>
                        <m:r>
                          <m:rPr>
                            <m:nor/>
                          </m:rPr>
                          <a:rPr lang="fr-FR" sz="1200">
                            <a:latin typeface="Cambria Math" panose="02040503050406030204" pitchFamily="18" charset="0"/>
                            <a:ea typeface="Cambria Math" panose="02040503050406030204" pitchFamily="18" charset="0"/>
                          </a:rPr>
                          <m:t>2</m:t>
                        </m:r>
                      </m:sub>
                    </m:sSub>
                    <m:r>
                      <a:rPr lang="fr-FR" sz="1200" i="1">
                        <a:latin typeface="Cambria Math" panose="02040503050406030204" pitchFamily="18" charset="0"/>
                        <a:ea typeface="Cambria Math" panose="02040503050406030204" pitchFamily="18" charset="0"/>
                      </a:rPr>
                      <m:t>− </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2</m:t>
                    </m:r>
                    <m:r>
                      <a:rPr lang="fr-FR" sz="1200" i="1">
                        <a:latin typeface="Cambria Math" panose="02040503050406030204" pitchFamily="18" charset="0"/>
                        <a:ea typeface="Cambria Math" panose="02040503050406030204" pitchFamily="18" charset="0"/>
                      </a:rPr>
                      <m:t>)</m:t>
                    </m:r>
                    <m:r>
                      <a:rPr lang="fr-FR" sz="1200" i="1">
                        <a:solidFill>
                          <a:schemeClr val="tx1"/>
                        </a:solidFill>
                        <a:latin typeface="Cambria Math" panose="02040503050406030204" pitchFamily="18" charset="0"/>
                        <a:ea typeface="Cambria Math" panose="02040503050406030204" pitchFamily="18" charset="0"/>
                      </a:rPr>
                      <m:t>×</m:t>
                    </m:r>
                    <m:r>
                      <m:rPr>
                        <m:nor/>
                      </m:rPr>
                      <a:rPr lang="fr-FR" sz="1200">
                        <a:solidFill>
                          <a:schemeClr val="tx1"/>
                        </a:solidFill>
                        <a:latin typeface="Cambria Math" panose="02040503050406030204" pitchFamily="18" charset="0"/>
                        <a:ea typeface="Cambria Math" panose="02040503050406030204" pitchFamily="18" charset="0"/>
                      </a:rPr>
                      <m:t> </m:t>
                    </m:r>
                    <m:r>
                      <m:rPr>
                        <m:sty m:val="p"/>
                      </m:rPr>
                      <a:rPr lang="fr-FR" sz="1200">
                        <a:solidFill>
                          <a:schemeClr val="tx1"/>
                        </a:solidFill>
                        <a:latin typeface="Cambria Math" panose="02040503050406030204" pitchFamily="18" charset="0"/>
                        <a:ea typeface="Cambria Math" panose="02040503050406030204" pitchFamily="18" charset="0"/>
                      </a:rPr>
                      <m:t>out</m:t>
                    </m:r>
                    <m:r>
                      <a:rPr lang="fr-FR" sz="1200">
                        <a:solidFill>
                          <a:schemeClr val="tx1"/>
                        </a:solidFill>
                        <a:latin typeface="Cambria Math" panose="02040503050406030204" pitchFamily="18" charset="0"/>
                        <a:ea typeface="Cambria Math" panose="02040503050406030204" pitchFamily="18" charset="0"/>
                      </a:rPr>
                      <m:t>_</m:t>
                    </m:r>
                    <m:r>
                      <m:rPr>
                        <m:sty m:val="p"/>
                      </m:rPr>
                      <a:rPr lang="fr-FR" sz="1200">
                        <a:solidFill>
                          <a:schemeClr val="tx1"/>
                        </a:solidFill>
                        <a:latin typeface="Cambria Math" panose="02040503050406030204" pitchFamily="18" charset="0"/>
                        <a:ea typeface="Cambria Math" panose="02040503050406030204" pitchFamily="18" charset="0"/>
                      </a:rPr>
                      <m:t>o</m:t>
                    </m:r>
                    <m:r>
                      <a:rPr lang="fr-FR" sz="1200" b="0" i="0" smtClean="0">
                        <a:solidFill>
                          <a:schemeClr val="tx1"/>
                        </a:solidFill>
                        <a:latin typeface="Cambria Math" panose="02040503050406030204" pitchFamily="18" charset="0"/>
                        <a:ea typeface="Cambria Math" panose="02040503050406030204" pitchFamily="18" charset="0"/>
                      </a:rPr>
                      <m:t>2</m:t>
                    </m:r>
                    <m:r>
                      <a:rPr lang="fr-FR" sz="1200">
                        <a:solidFill>
                          <a:schemeClr val="tx1"/>
                        </a:solidFill>
                        <a:latin typeface="Cambria Math" panose="02040503050406030204" pitchFamily="18" charset="0"/>
                        <a:ea typeface="Cambria Math" panose="02040503050406030204" pitchFamily="18" charset="0"/>
                      </a:rPr>
                      <m:t>(1−</m:t>
                    </m:r>
                    <m:r>
                      <m:rPr>
                        <m:sty m:val="p"/>
                      </m:rPr>
                      <a:rPr lang="fr-FR" sz="1200">
                        <a:solidFill>
                          <a:schemeClr val="tx1"/>
                        </a:solidFill>
                        <a:latin typeface="Cambria Math" panose="02040503050406030204" pitchFamily="18" charset="0"/>
                        <a:ea typeface="Cambria Math" panose="02040503050406030204" pitchFamily="18" charset="0"/>
                      </a:rPr>
                      <m:t>out</m:t>
                    </m:r>
                    <m:r>
                      <a:rPr lang="fr-FR" sz="1200">
                        <a:solidFill>
                          <a:schemeClr val="tx1"/>
                        </a:solidFill>
                        <a:latin typeface="Cambria Math" panose="02040503050406030204" pitchFamily="18" charset="0"/>
                        <a:ea typeface="Cambria Math" panose="02040503050406030204" pitchFamily="18" charset="0"/>
                      </a:rPr>
                      <m:t>_</m:t>
                    </m:r>
                    <m:r>
                      <m:rPr>
                        <m:sty m:val="p"/>
                      </m:rPr>
                      <a:rPr lang="fr-FR" sz="1200">
                        <a:solidFill>
                          <a:schemeClr val="tx1"/>
                        </a:solidFill>
                        <a:latin typeface="Cambria Math" panose="02040503050406030204" pitchFamily="18" charset="0"/>
                        <a:ea typeface="Cambria Math" panose="02040503050406030204" pitchFamily="18" charset="0"/>
                      </a:rPr>
                      <m:t>o</m:t>
                    </m:r>
                    <m:r>
                      <a:rPr lang="fr-FR" sz="1200" b="0" i="1" smtClean="0">
                        <a:solidFill>
                          <a:schemeClr val="tx1"/>
                        </a:solidFill>
                        <a:latin typeface="Cambria Math" panose="02040503050406030204" pitchFamily="18" charset="0"/>
                        <a:ea typeface="Cambria Math" panose="02040503050406030204" pitchFamily="18" charset="0"/>
                      </a:rPr>
                      <m:t>2</m:t>
                    </m:r>
                    <m:r>
                      <a:rPr lang="fr-FR" sz="1200" i="1">
                        <a:solidFill>
                          <a:schemeClr val="tx1"/>
                        </a:solidFill>
                        <a:latin typeface="Cambria Math" panose="02040503050406030204" pitchFamily="18" charset="0"/>
                        <a:ea typeface="Cambria Math" panose="02040503050406030204" pitchFamily="18" charset="0"/>
                      </a:rPr>
                      <m:t>)×</m:t>
                    </m:r>
                    <m:r>
                      <m:rPr>
                        <m:sty m:val="p"/>
                      </m:rPr>
                      <a:rPr lang="fr-FR" sz="1200">
                        <a:solidFill>
                          <a:schemeClr val="tx1"/>
                        </a:solidFill>
                        <a:latin typeface="Cambria Math" panose="02040503050406030204" pitchFamily="18" charset="0"/>
                      </a:rPr>
                      <m:t>w</m:t>
                    </m:r>
                    <m:r>
                      <a:rPr lang="fr-FR" sz="1200" b="0" i="1" smtClean="0">
                        <a:solidFill>
                          <a:schemeClr val="tx1"/>
                        </a:solidFill>
                        <a:latin typeface="Cambria Math" panose="02040503050406030204" pitchFamily="18" charset="0"/>
                      </a:rPr>
                      <m:t>7</m:t>
                    </m:r>
                    <m:r>
                      <a:rPr lang="fr-FR" sz="1200" i="1">
                        <a:solidFill>
                          <a:schemeClr val="tx1"/>
                        </a:solidFill>
                        <a:latin typeface="Cambria Math" panose="02040503050406030204" pitchFamily="18" charset="0"/>
                        <a:ea typeface="Cambria Math" panose="02040503050406030204" pitchFamily="18" charset="0"/>
                      </a:rPr>
                      <m:t>×</m:t>
                    </m:r>
                    <m:r>
                      <a:rPr lang="fr-FR" sz="1200" i="1">
                        <a:solidFill>
                          <a:schemeClr val="tx1"/>
                        </a:solidFill>
                        <a:latin typeface="Cambria Math" panose="02040503050406030204" pitchFamily="18" charset="0"/>
                      </a:rPr>
                      <m:t>1</m:t>
                    </m:r>
                    <m:r>
                      <a:rPr lang="fr-FR" sz="1200" i="1" baseline="-25000">
                        <a:solidFill>
                          <a:schemeClr val="tx1"/>
                        </a:solidFill>
                        <a:latin typeface="Cambria Math" panose="02040503050406030204" pitchFamily="18" charset="0"/>
                      </a:rPr>
                      <m:t>{</m:t>
                    </m:r>
                    <m:r>
                      <m:rPr>
                        <m:sty m:val="p"/>
                      </m:rPr>
                      <a:rPr lang="fr-FR" sz="1200" baseline="-25000">
                        <a:solidFill>
                          <a:schemeClr val="tx1"/>
                        </a:solidFill>
                        <a:latin typeface="Cambria Math" panose="02040503050406030204" pitchFamily="18" charset="0"/>
                      </a:rPr>
                      <m:t>net</m:t>
                    </m:r>
                    <m:r>
                      <a:rPr lang="fr-FR" sz="1200" baseline="-25000">
                        <a:solidFill>
                          <a:schemeClr val="tx1"/>
                        </a:solidFill>
                        <a:latin typeface="Cambria Math" panose="02040503050406030204" pitchFamily="18" charset="0"/>
                      </a:rPr>
                      <m:t>_</m:t>
                    </m:r>
                    <m:r>
                      <m:rPr>
                        <m:sty m:val="p"/>
                      </m:rPr>
                      <a:rPr lang="fr-FR" sz="1200" baseline="-25000">
                        <a:solidFill>
                          <a:schemeClr val="tx1"/>
                        </a:solidFill>
                        <a:latin typeface="Cambria Math" panose="02040503050406030204" pitchFamily="18" charset="0"/>
                      </a:rPr>
                      <m:t>h</m:t>
                    </m:r>
                    <m:r>
                      <m:rPr>
                        <m:nor/>
                      </m:rPr>
                      <a:rPr lang="fr-FR" sz="1200" b="0" i="0" baseline="-25000" smtClean="0">
                        <a:solidFill>
                          <a:schemeClr val="tx1"/>
                        </a:solidFill>
                        <a:latin typeface="Cambria Math" panose="02040503050406030204" pitchFamily="18" charset="0"/>
                      </a:rPr>
                      <m:t>1</m:t>
                    </m:r>
                    <m:r>
                      <m:rPr>
                        <m:nor/>
                      </m:rPr>
                      <a:rPr lang="fr-FR" sz="1200" baseline="-25000" dirty="0">
                        <a:solidFill>
                          <a:schemeClr val="tx1"/>
                        </a:solidFill>
                        <a:ea typeface="Cambria Math" panose="02040503050406030204" pitchFamily="18" charset="0"/>
                      </a:rPr>
                      <m:t> </m:t>
                    </m:r>
                    <m:r>
                      <a:rPr lang="fr-FR" sz="1200" i="1" baseline="-25000">
                        <a:solidFill>
                          <a:schemeClr val="tx1"/>
                        </a:solidFill>
                        <a:latin typeface="Cambria Math" panose="02040503050406030204" pitchFamily="18" charset="0"/>
                        <a:ea typeface="Cambria Math" panose="02040503050406030204" pitchFamily="18" charset="0"/>
                      </a:rPr>
                      <m:t>&gt;0</m:t>
                    </m:r>
                    <m:r>
                      <a:rPr lang="fr-FR" sz="1200" i="1" baseline="-25000">
                        <a:solidFill>
                          <a:schemeClr val="tx1"/>
                        </a:solidFill>
                        <a:latin typeface="Cambria Math" panose="02040503050406030204" pitchFamily="18" charset="0"/>
                      </a:rPr>
                      <m:t>}</m:t>
                    </m:r>
                    <m:r>
                      <m:rPr>
                        <m:nor/>
                      </m:rPr>
                      <a:rPr lang="fr-FR" sz="1200" dirty="0">
                        <a:solidFill>
                          <a:schemeClr val="tx1"/>
                        </a:solidFill>
                        <a:ea typeface="Cambria Math" panose="02040503050406030204" pitchFamily="18" charset="0"/>
                      </a:rPr>
                      <m:t> </m:t>
                    </m:r>
                    <m:r>
                      <a:rPr lang="fr-FR" sz="1200" i="1">
                        <a:solidFill>
                          <a:schemeClr val="tx1"/>
                        </a:solidFill>
                        <a:latin typeface="Cambria Math" panose="02040503050406030204" pitchFamily="18" charset="0"/>
                        <a:ea typeface="Cambria Math" panose="02040503050406030204" pitchFamily="18" charset="0"/>
                      </a:rPr>
                      <m:t>×</m:t>
                    </m:r>
                    <m:r>
                      <m:rPr>
                        <m:sty m:val="p"/>
                      </m:rPr>
                      <a:rPr lang="fr-FR" sz="1200" b="0" i="0" smtClean="0">
                        <a:solidFill>
                          <a:schemeClr val="tx1"/>
                        </a:solidFill>
                        <a:latin typeface="Cambria Math" panose="02040503050406030204" pitchFamily="18" charset="0"/>
                        <a:ea typeface="Cambria Math" panose="02040503050406030204" pitchFamily="18" charset="0"/>
                      </a:rPr>
                      <m:t>i</m:t>
                    </m:r>
                  </m:oMath>
                </a14:m>
                <a:r>
                  <a:rPr lang="fr-FR" sz="1200" baseline="-25000" dirty="0">
                    <a:solidFill>
                      <a:schemeClr val="tx1"/>
                    </a:solidFill>
                  </a:rPr>
                  <a:t>1</a:t>
                </a:r>
              </a:p>
            </p:txBody>
          </p:sp>
        </mc:Choice>
        <mc:Fallback xmlns="">
          <p:sp>
            <p:nvSpPr>
              <p:cNvPr id="10" name="ZoneTexte 9">
                <a:extLst>
                  <a:ext uri="{FF2B5EF4-FFF2-40B4-BE49-F238E27FC236}">
                    <a16:creationId xmlns:a16="http://schemas.microsoft.com/office/drawing/2014/main" id="{F2D7D6F6-9B48-2C0E-8898-4676482950E0}"/>
                  </a:ext>
                </a:extLst>
              </p:cNvPr>
              <p:cNvSpPr txBox="1">
                <a:spLocks noRot="1" noChangeAspect="1" noMove="1" noResize="1" noEditPoints="1" noAdjustHandles="1" noChangeArrowheads="1" noChangeShapeType="1" noTextEdit="1"/>
              </p:cNvSpPr>
              <p:nvPr/>
            </p:nvSpPr>
            <p:spPr>
              <a:xfrm>
                <a:off x="6365540" y="3690610"/>
                <a:ext cx="5659883" cy="363561"/>
              </a:xfrm>
              <a:prstGeom prst="rect">
                <a:avLst/>
              </a:prstGeom>
              <a:blipFill>
                <a:blip r:embed="rId6"/>
                <a:stretch>
                  <a:fillRect/>
                </a:stretch>
              </a:blipFill>
              <a:ln>
                <a:solidFill>
                  <a:srgbClr val="FF0000"/>
                </a:solidFill>
              </a:ln>
            </p:spPr>
            <p:txBody>
              <a:bodyPr/>
              <a:lstStyle/>
              <a:p>
                <a:r>
                  <a:rPr lang="en-GB">
                    <a:noFill/>
                  </a:rPr>
                  <a:t> </a:t>
                </a:r>
              </a:p>
            </p:txBody>
          </p:sp>
        </mc:Fallback>
      </mc:AlternateContent>
      <p:sp>
        <p:nvSpPr>
          <p:cNvPr id="12" name="Espace réservé du pied de page 11">
            <a:extLst>
              <a:ext uri="{FF2B5EF4-FFF2-40B4-BE49-F238E27FC236}">
                <a16:creationId xmlns:a16="http://schemas.microsoft.com/office/drawing/2014/main" id="{1B894BFA-33E4-F8F5-5727-9B0487733D05}"/>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25181358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D0E81-E146-C5CA-89E8-0E6C5E5C97C7}"/>
            </a:ext>
          </a:extLst>
        </p:cNvPr>
        <p:cNvGrpSpPr/>
        <p:nvPr/>
      </p:nvGrpSpPr>
      <p:grpSpPr>
        <a:xfrm>
          <a:off x="0" y="0"/>
          <a:ext cx="0" cy="0"/>
          <a:chOff x="0" y="0"/>
          <a:chExt cx="0" cy="0"/>
        </a:xfrm>
      </p:grpSpPr>
      <p:pic>
        <p:nvPicPr>
          <p:cNvPr id="9" name="Image 8">
            <a:extLst>
              <a:ext uri="{FF2B5EF4-FFF2-40B4-BE49-F238E27FC236}">
                <a16:creationId xmlns:a16="http://schemas.microsoft.com/office/drawing/2014/main" id="{7A9F4C53-2694-8606-37DD-AA87D816692E}"/>
              </a:ext>
            </a:extLst>
          </p:cNvPr>
          <p:cNvPicPr>
            <a:picLocks noChangeAspect="1"/>
          </p:cNvPicPr>
          <p:nvPr/>
        </p:nvPicPr>
        <p:blipFill>
          <a:blip r:embed="rId2"/>
          <a:stretch>
            <a:fillRect/>
          </a:stretch>
        </p:blipFill>
        <p:spPr>
          <a:xfrm>
            <a:off x="622200" y="1405136"/>
            <a:ext cx="5734704" cy="2759500"/>
          </a:xfrm>
          <a:prstGeom prst="rect">
            <a:avLst/>
          </a:prstGeom>
        </p:spPr>
      </p:pic>
      <p:sp>
        <p:nvSpPr>
          <p:cNvPr id="2" name="Titre 1">
            <a:extLst>
              <a:ext uri="{FF2B5EF4-FFF2-40B4-BE49-F238E27FC236}">
                <a16:creationId xmlns:a16="http://schemas.microsoft.com/office/drawing/2014/main" id="{DC19381D-C924-0917-6498-6B93ECE04BB3}"/>
              </a:ext>
            </a:extLst>
          </p:cNvPr>
          <p:cNvSpPr>
            <a:spLocks noGrp="1"/>
          </p:cNvSpPr>
          <p:nvPr>
            <p:ph type="title"/>
          </p:nvPr>
        </p:nvSpPr>
        <p:spPr/>
        <p:txBody>
          <a:bodyPr/>
          <a:lstStyle/>
          <a:p>
            <a:r>
              <a:rPr lang="fr-FR" dirty="0"/>
              <a:t>Neural Network</a:t>
            </a:r>
          </a:p>
        </p:txBody>
      </p:sp>
      <p:sp>
        <p:nvSpPr>
          <p:cNvPr id="73" name="ZoneTexte 72">
            <a:extLst>
              <a:ext uri="{FF2B5EF4-FFF2-40B4-BE49-F238E27FC236}">
                <a16:creationId xmlns:a16="http://schemas.microsoft.com/office/drawing/2014/main" id="{AFA8BF57-5AEE-4A1B-7454-5B93A3DBF4A9}"/>
              </a:ext>
            </a:extLst>
          </p:cNvPr>
          <p:cNvSpPr txBox="1"/>
          <p:nvPr/>
        </p:nvSpPr>
        <p:spPr>
          <a:xfrm>
            <a:off x="6872060" y="760834"/>
            <a:ext cx="3324563" cy="584775"/>
          </a:xfrm>
          <a:prstGeom prst="rect">
            <a:avLst/>
          </a:prstGeom>
          <a:noFill/>
        </p:spPr>
        <p:txBody>
          <a:bodyPr wrap="square" rtlCol="0">
            <a:spAutoFit/>
          </a:bodyPr>
          <a:lstStyle/>
          <a:p>
            <a:r>
              <a:rPr lang="en-GB" sz="3200" b="1" noProof="0" dirty="0"/>
              <a:t>Gradient</a:t>
            </a:r>
          </a:p>
        </p:txBody>
      </p:sp>
      <mc:AlternateContent xmlns:mc="http://schemas.openxmlformats.org/markup-compatibility/2006" xmlns:a14="http://schemas.microsoft.com/office/drawing/2010/main">
        <mc:Choice Requires="a14">
          <p:sp>
            <p:nvSpPr>
              <p:cNvPr id="47" name="ZoneTexte 46">
                <a:extLst>
                  <a:ext uri="{FF2B5EF4-FFF2-40B4-BE49-F238E27FC236}">
                    <a16:creationId xmlns:a16="http://schemas.microsoft.com/office/drawing/2014/main" id="{337D4153-617B-EAF9-DC44-0ACD0CE5750C}"/>
                  </a:ext>
                </a:extLst>
              </p:cNvPr>
              <p:cNvSpPr txBox="1"/>
              <p:nvPr/>
            </p:nvSpPr>
            <p:spPr>
              <a:xfrm>
                <a:off x="6365540" y="1900809"/>
                <a:ext cx="4307282" cy="44345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fr-FR" sz="1200" i="1" smtClean="0">
                              <a:solidFill>
                                <a:schemeClr val="tx1"/>
                              </a:solidFill>
                              <a:latin typeface="Cambria Math" panose="02040503050406030204" pitchFamily="18" charset="0"/>
                            </a:rPr>
                          </m:ctrlPr>
                        </m:fPr>
                        <m:num>
                          <m:r>
                            <a:rPr lang="fr-FR" sz="1200" b="0" i="0" smtClean="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Loss</m:t>
                          </m:r>
                          <m:r>
                            <a:rPr lang="fr-FR" sz="1200" b="0" i="0" smtClean="0">
                              <a:solidFill>
                                <a:schemeClr val="tx1"/>
                              </a:solidFill>
                              <a:latin typeface="Cambria Math" panose="02040503050406030204" pitchFamily="18" charset="0"/>
                            </a:rPr>
                            <m:t>1</m:t>
                          </m:r>
                        </m:num>
                        <m:den>
                          <m:r>
                            <a:rPr lang="fr-FR" sz="1200" b="0" i="0" smtClean="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b</m:t>
                          </m:r>
                          <m:r>
                            <a:rPr lang="fr-FR" sz="1200" b="0" i="0" smtClean="0">
                              <a:solidFill>
                                <a:schemeClr val="tx1"/>
                              </a:solidFill>
                              <a:latin typeface="Cambria Math" panose="02040503050406030204" pitchFamily="18" charset="0"/>
                            </a:rPr>
                            <m:t>1</m:t>
                          </m:r>
                        </m:den>
                      </m:f>
                      <m:r>
                        <a:rPr lang="fr-FR" sz="1200" b="0" i="0" smtClean="0">
                          <a:solidFill>
                            <a:schemeClr val="tx1"/>
                          </a:solidFill>
                          <a:latin typeface="Cambria Math" panose="02040503050406030204" pitchFamily="18" charset="0"/>
                        </a:rPr>
                        <m:t>= </m:t>
                      </m:r>
                      <m:f>
                        <m:fPr>
                          <m:ctrlPr>
                            <a:rPr lang="fr-FR" sz="1200" i="1" smtClean="0">
                              <a:solidFill>
                                <a:schemeClr val="tx1"/>
                              </a:solidFill>
                              <a:latin typeface="Cambria Math" panose="02040503050406030204" pitchFamily="18" charset="0"/>
                            </a:rPr>
                          </m:ctrlPr>
                        </m:fPr>
                        <m:num>
                          <m:r>
                            <a:rPr lang="fr-FR" sz="1200" b="0" i="0" smtClean="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Loss</m:t>
                          </m:r>
                          <m:r>
                            <a:rPr lang="fr-FR" sz="1200" b="0" i="0" smtClean="0">
                              <a:solidFill>
                                <a:schemeClr val="tx1"/>
                              </a:solidFill>
                              <a:latin typeface="Cambria Math" panose="02040503050406030204" pitchFamily="18" charset="0"/>
                            </a:rPr>
                            <m:t>1</m:t>
                          </m:r>
                        </m:num>
                        <m:den>
                          <m:r>
                            <a:rPr lang="fr-FR" sz="1200" b="0" i="0" smtClean="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net</m:t>
                          </m:r>
                          <m:r>
                            <a:rPr lang="fr-FR" sz="1200" b="0" i="0" smtClean="0">
                              <a:solidFill>
                                <a:schemeClr val="tx1"/>
                              </a:solidFill>
                              <a:latin typeface="Cambria Math" panose="02040503050406030204" pitchFamily="18" charset="0"/>
                            </a:rPr>
                            <m:t>_</m:t>
                          </m:r>
                          <m:r>
                            <m:rPr>
                              <m:sty m:val="p"/>
                            </m:rPr>
                            <a:rPr lang="fr-FR" sz="1200" b="0" i="0" smtClean="0">
                              <a:solidFill>
                                <a:schemeClr val="tx1"/>
                              </a:solidFill>
                              <a:latin typeface="Cambria Math" panose="02040503050406030204" pitchFamily="18" charset="0"/>
                            </a:rPr>
                            <m:t>h</m:t>
                          </m:r>
                          <m:r>
                            <a:rPr lang="fr-FR" sz="1200" b="0" i="0" smtClean="0">
                              <a:solidFill>
                                <a:schemeClr val="tx1"/>
                              </a:solidFill>
                              <a:latin typeface="Cambria Math" panose="02040503050406030204" pitchFamily="18" charset="0"/>
                            </a:rPr>
                            <m:t>1</m:t>
                          </m:r>
                        </m:den>
                      </m:f>
                      <m:r>
                        <a:rPr lang="fr-FR" sz="1200" b="0" i="0" smtClean="0">
                          <a:solidFill>
                            <a:schemeClr val="tx1"/>
                          </a:solidFill>
                          <a:latin typeface="Cambria Math" panose="02040503050406030204" pitchFamily="18" charset="0"/>
                        </a:rPr>
                        <m:t> </m:t>
                      </m:r>
                      <m:r>
                        <a:rPr lang="fr-FR" sz="1200" b="0" i="1" smtClean="0">
                          <a:solidFill>
                            <a:schemeClr val="tx1"/>
                          </a:solidFill>
                          <a:latin typeface="Cambria Math" panose="02040503050406030204" pitchFamily="18" charset="0"/>
                          <a:ea typeface="Cambria Math" panose="02040503050406030204" pitchFamily="18" charset="0"/>
                        </a:rPr>
                        <m:t>×</m:t>
                      </m:r>
                      <m:f>
                        <m:fPr>
                          <m:ctrlPr>
                            <a:rPr lang="fr-FR" sz="1200" i="1" smtClean="0">
                              <a:solidFill>
                                <a:schemeClr val="tx1"/>
                              </a:solidFill>
                              <a:latin typeface="Cambria Math" panose="02040503050406030204" pitchFamily="18" charset="0"/>
                            </a:rPr>
                          </m:ctrlPr>
                        </m:fPr>
                        <m:num>
                          <m:r>
                            <a:rPr lang="fr-FR" sz="1200" b="0" i="1">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net</m:t>
                          </m:r>
                          <m:r>
                            <a:rPr lang="fr-FR" sz="1200" b="0" i="0" smtClean="0">
                              <a:solidFill>
                                <a:schemeClr val="tx1"/>
                              </a:solidFill>
                              <a:latin typeface="Cambria Math" panose="02040503050406030204" pitchFamily="18" charset="0"/>
                            </a:rPr>
                            <m:t>_</m:t>
                          </m:r>
                          <m:r>
                            <m:rPr>
                              <m:sty m:val="p"/>
                            </m:rPr>
                            <a:rPr lang="fr-FR" sz="1200" b="0" i="0" smtClean="0">
                              <a:solidFill>
                                <a:schemeClr val="tx1"/>
                              </a:solidFill>
                              <a:latin typeface="Cambria Math" panose="02040503050406030204" pitchFamily="18" charset="0"/>
                            </a:rPr>
                            <m:t>h</m:t>
                          </m:r>
                          <m:r>
                            <a:rPr lang="fr-FR" sz="1200" b="0" i="0" smtClean="0">
                              <a:solidFill>
                                <a:schemeClr val="tx1"/>
                              </a:solidFill>
                              <a:latin typeface="Cambria Math" panose="02040503050406030204" pitchFamily="18" charset="0"/>
                            </a:rPr>
                            <m:t>1</m:t>
                          </m:r>
                        </m:num>
                        <m:den>
                          <m:r>
                            <a:rPr lang="fr-FR" sz="1200" b="0" i="1">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b</m:t>
                          </m:r>
                          <m:r>
                            <a:rPr lang="fr-FR" sz="1200" b="0" i="0" smtClean="0">
                              <a:solidFill>
                                <a:schemeClr val="tx1"/>
                              </a:solidFill>
                              <a:latin typeface="Cambria Math" panose="02040503050406030204" pitchFamily="18" charset="0"/>
                            </a:rPr>
                            <m:t>1</m:t>
                          </m:r>
                        </m:den>
                      </m:f>
                      <m:r>
                        <a:rPr lang="fr-FR" sz="1200" b="0" i="0" smtClean="0">
                          <a:solidFill>
                            <a:srgbClr val="FF0000"/>
                          </a:solidFill>
                          <a:latin typeface="Cambria Math" panose="02040503050406030204" pitchFamily="18" charset="0"/>
                        </a:rPr>
                        <m:t>+</m:t>
                      </m:r>
                      <m:f>
                        <m:fPr>
                          <m:ctrlPr>
                            <a:rPr lang="fr-FR" sz="1200" i="1">
                              <a:solidFill>
                                <a:schemeClr val="tx1"/>
                              </a:solidFill>
                              <a:latin typeface="Cambria Math" panose="02040503050406030204" pitchFamily="18" charset="0"/>
                            </a:rPr>
                          </m:ctrlPr>
                        </m:fPr>
                        <m:num>
                          <m:r>
                            <a:rPr lang="fr-FR" sz="1200" b="0" i="1">
                              <a:solidFill>
                                <a:schemeClr val="tx1"/>
                              </a:solidFill>
                              <a:latin typeface="Cambria Math" panose="02040503050406030204" pitchFamily="18" charset="0"/>
                            </a:rPr>
                            <m:t>𝜕</m:t>
                          </m:r>
                          <m:r>
                            <m:rPr>
                              <m:sty m:val="p"/>
                            </m:rPr>
                            <a:rPr lang="fr-FR" sz="1200" b="0" i="1">
                              <a:solidFill>
                                <a:schemeClr val="tx1"/>
                              </a:solidFill>
                              <a:latin typeface="Cambria Math" panose="02040503050406030204" pitchFamily="18" charset="0"/>
                            </a:rPr>
                            <m:t>Loss</m:t>
                          </m:r>
                          <m:r>
                            <a:rPr lang="fr-FR" sz="1200" b="0" i="1">
                              <a:solidFill>
                                <a:schemeClr val="tx1"/>
                              </a:solidFill>
                              <a:latin typeface="Cambria Math" panose="02040503050406030204" pitchFamily="18" charset="0"/>
                            </a:rPr>
                            <m:t>1</m:t>
                          </m:r>
                        </m:num>
                        <m:den>
                          <m:r>
                            <a:rPr lang="fr-FR" sz="1200" b="0" i="1">
                              <a:solidFill>
                                <a:schemeClr val="tx1"/>
                              </a:solidFill>
                              <a:latin typeface="Cambria Math" panose="02040503050406030204" pitchFamily="18" charset="0"/>
                            </a:rPr>
                            <m:t>𝜕</m:t>
                          </m:r>
                          <m:r>
                            <m:rPr>
                              <m:sty m:val="p"/>
                            </m:rPr>
                            <a:rPr lang="fr-FR" sz="1200" b="0" i="0">
                              <a:solidFill>
                                <a:schemeClr val="tx1"/>
                              </a:solidFill>
                              <a:latin typeface="Cambria Math" panose="02040503050406030204" pitchFamily="18" charset="0"/>
                            </a:rPr>
                            <m:t>net</m:t>
                          </m:r>
                          <m:r>
                            <a:rPr lang="fr-FR" sz="1200" b="0">
                              <a:solidFill>
                                <a:schemeClr val="tx1"/>
                              </a:solidFill>
                              <a:latin typeface="Cambria Math" panose="02040503050406030204" pitchFamily="18" charset="0"/>
                            </a:rPr>
                            <m:t>_</m:t>
                          </m:r>
                          <m:r>
                            <m:rPr>
                              <m:sty m:val="p"/>
                            </m:rPr>
                            <a:rPr lang="fr-FR" sz="1200" b="0" i="1">
                              <a:solidFill>
                                <a:schemeClr val="tx1"/>
                              </a:solidFill>
                              <a:latin typeface="Cambria Math" panose="02040503050406030204" pitchFamily="18" charset="0"/>
                            </a:rPr>
                            <m:t>h</m:t>
                          </m:r>
                          <m:r>
                            <a:rPr lang="fr-FR" sz="1200" b="0" i="1" smtClean="0">
                              <a:solidFill>
                                <a:schemeClr val="tx1"/>
                              </a:solidFill>
                              <a:latin typeface="Cambria Math" panose="02040503050406030204" pitchFamily="18" charset="0"/>
                            </a:rPr>
                            <m:t>2</m:t>
                          </m:r>
                        </m:den>
                      </m:f>
                      <m:r>
                        <a:rPr lang="fr-FR" sz="1200" b="0">
                          <a:solidFill>
                            <a:schemeClr val="tx1"/>
                          </a:solidFill>
                          <a:latin typeface="Cambria Math" panose="02040503050406030204" pitchFamily="18" charset="0"/>
                        </a:rPr>
                        <m:t> </m:t>
                      </m:r>
                      <m:r>
                        <a:rPr lang="fr-FR" sz="1200" b="0" i="1">
                          <a:solidFill>
                            <a:schemeClr val="tx1"/>
                          </a:solidFill>
                          <a:latin typeface="Cambria Math" panose="02040503050406030204" pitchFamily="18" charset="0"/>
                          <a:ea typeface="Cambria Math" panose="02040503050406030204" pitchFamily="18" charset="0"/>
                        </a:rPr>
                        <m:t>×</m:t>
                      </m:r>
                      <m:f>
                        <m:fPr>
                          <m:ctrlPr>
                            <a:rPr lang="fr-FR" sz="1200" i="1">
                              <a:solidFill>
                                <a:schemeClr val="tx1"/>
                              </a:solidFill>
                              <a:latin typeface="Cambria Math" panose="02040503050406030204" pitchFamily="18" charset="0"/>
                            </a:rPr>
                          </m:ctrlPr>
                        </m:fPr>
                        <m:num>
                          <m:r>
                            <a:rPr lang="fr-FR" sz="1200" b="0" i="1">
                              <a:solidFill>
                                <a:schemeClr val="tx1"/>
                              </a:solidFill>
                              <a:latin typeface="Cambria Math" panose="02040503050406030204" pitchFamily="18" charset="0"/>
                            </a:rPr>
                            <m:t>𝜕</m:t>
                          </m:r>
                          <m:r>
                            <m:rPr>
                              <m:sty m:val="p"/>
                            </m:rPr>
                            <a:rPr lang="fr-FR" sz="1200" b="0" i="0">
                              <a:solidFill>
                                <a:schemeClr val="tx1"/>
                              </a:solidFill>
                              <a:latin typeface="Cambria Math" panose="02040503050406030204" pitchFamily="18" charset="0"/>
                            </a:rPr>
                            <m:t>net</m:t>
                          </m:r>
                          <m:r>
                            <a:rPr lang="fr-FR" sz="1200" b="0" i="0">
                              <a:solidFill>
                                <a:schemeClr val="tx1"/>
                              </a:solidFill>
                              <a:latin typeface="Cambria Math" panose="02040503050406030204" pitchFamily="18" charset="0"/>
                            </a:rPr>
                            <m:t>_</m:t>
                          </m:r>
                          <m:r>
                            <m:rPr>
                              <m:sty m:val="p"/>
                            </m:rPr>
                            <a:rPr lang="fr-FR" sz="1200" b="0" i="0">
                              <a:solidFill>
                                <a:schemeClr val="tx1"/>
                              </a:solidFill>
                              <a:latin typeface="Cambria Math" panose="02040503050406030204" pitchFamily="18" charset="0"/>
                            </a:rPr>
                            <m:t>h</m:t>
                          </m:r>
                          <m:r>
                            <a:rPr lang="fr-FR" sz="1200" b="0" i="0" smtClean="0">
                              <a:solidFill>
                                <a:schemeClr val="tx1"/>
                              </a:solidFill>
                              <a:latin typeface="Cambria Math" panose="02040503050406030204" pitchFamily="18" charset="0"/>
                            </a:rPr>
                            <m:t>2</m:t>
                          </m:r>
                        </m:num>
                        <m:den>
                          <m:r>
                            <a:rPr lang="fr-FR" sz="1200" b="0" i="1">
                              <a:solidFill>
                                <a:schemeClr val="tx1"/>
                              </a:solidFill>
                              <a:latin typeface="Cambria Math" panose="02040503050406030204" pitchFamily="18" charset="0"/>
                            </a:rPr>
                            <m:t>𝜕</m:t>
                          </m:r>
                          <m:r>
                            <m:rPr>
                              <m:sty m:val="p"/>
                            </m:rPr>
                            <a:rPr lang="fr-FR" sz="1200" b="0" i="0">
                              <a:solidFill>
                                <a:schemeClr val="tx1"/>
                              </a:solidFill>
                              <a:latin typeface="Cambria Math" panose="02040503050406030204" pitchFamily="18" charset="0"/>
                            </a:rPr>
                            <m:t>b</m:t>
                          </m:r>
                          <m:r>
                            <a:rPr lang="fr-FR" sz="1200" b="0" i="0">
                              <a:solidFill>
                                <a:schemeClr val="tx1"/>
                              </a:solidFill>
                              <a:latin typeface="Cambria Math" panose="02040503050406030204" pitchFamily="18" charset="0"/>
                            </a:rPr>
                            <m:t>1</m:t>
                          </m:r>
                        </m:den>
                      </m:f>
                    </m:oMath>
                  </m:oMathPara>
                </a14:m>
                <a:endParaRPr lang="fr-FR" sz="1200" dirty="0">
                  <a:solidFill>
                    <a:schemeClr val="tx1"/>
                  </a:solidFill>
                </a:endParaRPr>
              </a:p>
            </p:txBody>
          </p:sp>
        </mc:Choice>
        <mc:Fallback xmlns="">
          <p:sp>
            <p:nvSpPr>
              <p:cNvPr id="47" name="ZoneTexte 46">
                <a:extLst>
                  <a:ext uri="{FF2B5EF4-FFF2-40B4-BE49-F238E27FC236}">
                    <a16:creationId xmlns:a16="http://schemas.microsoft.com/office/drawing/2014/main" id="{337D4153-617B-EAF9-DC44-0ACD0CE5750C}"/>
                  </a:ext>
                </a:extLst>
              </p:cNvPr>
              <p:cNvSpPr txBox="1">
                <a:spLocks noRot="1" noChangeAspect="1" noMove="1" noResize="1" noEditPoints="1" noAdjustHandles="1" noChangeArrowheads="1" noChangeShapeType="1" noTextEdit="1"/>
              </p:cNvSpPr>
              <p:nvPr/>
            </p:nvSpPr>
            <p:spPr>
              <a:xfrm>
                <a:off x="6365540" y="1900809"/>
                <a:ext cx="4307282" cy="443455"/>
              </a:xfrm>
              <a:prstGeom prst="rect">
                <a:avLst/>
              </a:prstGeom>
              <a:blipFill>
                <a:blip r:embed="rId3"/>
                <a:stretch>
                  <a:fillRect/>
                </a:stretch>
              </a:blipFill>
            </p:spPr>
            <p:txBody>
              <a:bodyPr/>
              <a:lstStyle/>
              <a:p>
                <a:r>
                  <a:rPr lang="fr-FR">
                    <a:noFill/>
                  </a:rPr>
                  <a:t> </a:t>
                </a:r>
              </a:p>
            </p:txBody>
          </p:sp>
        </mc:Fallback>
      </mc:AlternateContent>
      <p:sp>
        <p:nvSpPr>
          <p:cNvPr id="21" name="ZoneTexte 20">
            <a:extLst>
              <a:ext uri="{FF2B5EF4-FFF2-40B4-BE49-F238E27FC236}">
                <a16:creationId xmlns:a16="http://schemas.microsoft.com/office/drawing/2014/main" id="{90A3C3E7-154F-F5FE-181B-3C1EEA20F61B}"/>
              </a:ext>
            </a:extLst>
          </p:cNvPr>
          <p:cNvSpPr txBox="1"/>
          <p:nvPr/>
        </p:nvSpPr>
        <p:spPr>
          <a:xfrm>
            <a:off x="6528460" y="1334708"/>
            <a:ext cx="3157800" cy="307777"/>
          </a:xfrm>
          <a:prstGeom prst="rect">
            <a:avLst/>
          </a:prstGeom>
          <a:noFill/>
        </p:spPr>
        <p:txBody>
          <a:bodyPr wrap="square" rtlCol="0">
            <a:spAutoFit/>
          </a:bodyPr>
          <a:lstStyle/>
          <a:p>
            <a:r>
              <a:rPr lang="fr-FR" sz="1400" b="1" dirty="0">
                <a:solidFill>
                  <a:srgbClr val="FF0000"/>
                </a:solidFill>
              </a:rPr>
              <a:t>BACKPROPAGATION</a:t>
            </a:r>
            <a:r>
              <a:rPr lang="fr-FR" sz="1400" b="1" dirty="0"/>
              <a:t> + CHAIN RULE</a:t>
            </a:r>
          </a:p>
        </p:txBody>
      </p:sp>
      <p:sp>
        <p:nvSpPr>
          <p:cNvPr id="22" name="Flèche vers la gauche 21">
            <a:extLst>
              <a:ext uri="{FF2B5EF4-FFF2-40B4-BE49-F238E27FC236}">
                <a16:creationId xmlns:a16="http://schemas.microsoft.com/office/drawing/2014/main" id="{F8E7A804-8D09-AB86-27E9-E763B5049A5D}"/>
              </a:ext>
            </a:extLst>
          </p:cNvPr>
          <p:cNvSpPr/>
          <p:nvPr/>
        </p:nvSpPr>
        <p:spPr>
          <a:xfrm rot="18488585" flipV="1">
            <a:off x="2329043" y="2166790"/>
            <a:ext cx="1250269" cy="274824"/>
          </a:xfrm>
          <a:prstGeom prst="leftArrow">
            <a:avLst>
              <a:gd name="adj1" fmla="val 49587"/>
              <a:gd name="adj2" fmla="val 50000"/>
            </a:avLst>
          </a:prstGeom>
          <a:solidFill>
            <a:srgbClr val="FF00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4" name="Connecteur droit 23">
            <a:extLst>
              <a:ext uri="{FF2B5EF4-FFF2-40B4-BE49-F238E27FC236}">
                <a16:creationId xmlns:a16="http://schemas.microsoft.com/office/drawing/2014/main" id="{683063B0-82BA-F3DE-E39A-B943E7F05F76}"/>
              </a:ext>
            </a:extLst>
          </p:cNvPr>
          <p:cNvCxnSpPr>
            <a:cxnSpLocks/>
          </p:cNvCxnSpPr>
          <p:nvPr/>
        </p:nvCxnSpPr>
        <p:spPr>
          <a:xfrm>
            <a:off x="1967009" y="1855085"/>
            <a:ext cx="2664000" cy="0"/>
          </a:xfrm>
          <a:prstGeom prst="line">
            <a:avLst/>
          </a:prstGeom>
          <a:ln w="136525">
            <a:solidFill>
              <a:srgbClr val="FF0000">
                <a:alpha val="50000"/>
              </a:srgbClr>
            </a:solidFill>
          </a:ln>
        </p:spPr>
        <p:style>
          <a:lnRef idx="2">
            <a:schemeClr val="accent1"/>
          </a:lnRef>
          <a:fillRef idx="0">
            <a:schemeClr val="accent1"/>
          </a:fillRef>
          <a:effectRef idx="1">
            <a:schemeClr val="accent1"/>
          </a:effectRef>
          <a:fontRef idx="minor">
            <a:schemeClr val="tx1"/>
          </a:fontRef>
        </p:style>
      </p:cxnSp>
      <p:sp>
        <p:nvSpPr>
          <p:cNvPr id="4" name="Flèche vers la gauche 3">
            <a:extLst>
              <a:ext uri="{FF2B5EF4-FFF2-40B4-BE49-F238E27FC236}">
                <a16:creationId xmlns:a16="http://schemas.microsoft.com/office/drawing/2014/main" id="{EAF9D25A-1AED-690C-8962-43FD421195BD}"/>
              </a:ext>
            </a:extLst>
          </p:cNvPr>
          <p:cNvSpPr/>
          <p:nvPr/>
        </p:nvSpPr>
        <p:spPr>
          <a:xfrm rot="19343959">
            <a:off x="1513631" y="2724486"/>
            <a:ext cx="432000" cy="288000"/>
          </a:xfrm>
          <a:prstGeom prst="leftArrow">
            <a:avLst/>
          </a:prstGeom>
          <a:solidFill>
            <a:srgbClr val="FF00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3" name="Connecteur droit 2">
            <a:extLst>
              <a:ext uri="{FF2B5EF4-FFF2-40B4-BE49-F238E27FC236}">
                <a16:creationId xmlns:a16="http://schemas.microsoft.com/office/drawing/2014/main" id="{AB36BF09-D1F5-1C65-3B0A-AAA23F109AEF}"/>
              </a:ext>
            </a:extLst>
          </p:cNvPr>
          <p:cNvCxnSpPr>
            <a:cxnSpLocks/>
          </p:cNvCxnSpPr>
          <p:nvPr/>
        </p:nvCxnSpPr>
        <p:spPr>
          <a:xfrm>
            <a:off x="1853950" y="2743205"/>
            <a:ext cx="792000" cy="0"/>
          </a:xfrm>
          <a:prstGeom prst="line">
            <a:avLst/>
          </a:prstGeom>
          <a:ln w="136525">
            <a:solidFill>
              <a:srgbClr val="FF0000">
                <a:alpha val="50000"/>
              </a:srgbClr>
            </a:solidFill>
          </a:ln>
        </p:spPr>
        <p:style>
          <a:lnRef idx="2">
            <a:schemeClr val="accent1"/>
          </a:lnRef>
          <a:fillRef idx="0">
            <a:schemeClr val="accent1"/>
          </a:fillRef>
          <a:effectRef idx="1">
            <a:schemeClr val="accent1"/>
          </a:effectRef>
          <a:fontRef idx="minor">
            <a:schemeClr val="tx1"/>
          </a:fontRef>
        </p:style>
      </p:cxnSp>
      <p:sp>
        <p:nvSpPr>
          <p:cNvPr id="5" name="Flèche vers la gauche 4">
            <a:extLst>
              <a:ext uri="{FF2B5EF4-FFF2-40B4-BE49-F238E27FC236}">
                <a16:creationId xmlns:a16="http://schemas.microsoft.com/office/drawing/2014/main" id="{D4B55806-E775-D2E1-D07C-43DE99046002}"/>
              </a:ext>
            </a:extLst>
          </p:cNvPr>
          <p:cNvSpPr/>
          <p:nvPr/>
        </p:nvSpPr>
        <p:spPr>
          <a:xfrm rot="17815094" flipV="1">
            <a:off x="1114269" y="2268779"/>
            <a:ext cx="1260000" cy="274824"/>
          </a:xfrm>
          <a:prstGeom prst="leftArrow">
            <a:avLst>
              <a:gd name="adj1" fmla="val 49587"/>
              <a:gd name="adj2" fmla="val 50000"/>
            </a:avLst>
          </a:prstGeom>
          <a:solidFill>
            <a:srgbClr val="FF00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5049E3D0-4E04-9C84-EF69-FA8BED4867B9}"/>
                  </a:ext>
                </a:extLst>
              </p:cNvPr>
              <p:cNvSpPr txBox="1"/>
              <p:nvPr/>
            </p:nvSpPr>
            <p:spPr>
              <a:xfrm>
                <a:off x="4051002" y="1372755"/>
                <a:ext cx="642969" cy="414216"/>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f>
                        <m:fPr>
                          <m:ctrlPr>
                            <a:rPr lang="fr-FR" sz="1050" i="1" smtClean="0">
                              <a:solidFill>
                                <a:srgbClr val="FF0000"/>
                              </a:solidFill>
                              <a:latin typeface="Cambria Math" panose="02040503050406030204" pitchFamily="18" charset="0"/>
                            </a:rPr>
                          </m:ctrlPr>
                        </m:fPr>
                        <m:num>
                          <m:r>
                            <a:rPr lang="fr-FR" sz="1050" i="0" smtClean="0">
                              <a:solidFill>
                                <a:srgbClr val="FF0000"/>
                              </a:solidFill>
                              <a:latin typeface="Cambria Math" panose="02040503050406030204" pitchFamily="18" charset="0"/>
                            </a:rPr>
                            <m:t>𝜕</m:t>
                          </m:r>
                          <m:r>
                            <m:rPr>
                              <m:sty m:val="p"/>
                            </m:rPr>
                            <a:rPr lang="fr-FR" sz="1050" b="0" i="0" smtClean="0">
                              <a:solidFill>
                                <a:srgbClr val="FF0000"/>
                              </a:solidFill>
                              <a:latin typeface="Cambria Math" panose="02040503050406030204" pitchFamily="18" charset="0"/>
                            </a:rPr>
                            <m:t>Loss</m:t>
                          </m:r>
                          <m:r>
                            <a:rPr lang="fr-FR" sz="1050" b="0" i="0" smtClean="0">
                              <a:solidFill>
                                <a:srgbClr val="FF0000"/>
                              </a:solidFill>
                              <a:latin typeface="Cambria Math" panose="02040503050406030204" pitchFamily="18" charset="0"/>
                            </a:rPr>
                            <m:t>1</m:t>
                          </m:r>
                        </m:num>
                        <m:den>
                          <m:r>
                            <a:rPr lang="fr-FR" sz="1050" i="0" smtClean="0">
                              <a:solidFill>
                                <a:srgbClr val="FF0000"/>
                              </a:solidFill>
                              <a:latin typeface="Cambria Math" panose="02040503050406030204" pitchFamily="18" charset="0"/>
                            </a:rPr>
                            <m:t>𝜕</m:t>
                          </m:r>
                          <m:r>
                            <a:rPr lang="fr-FR" sz="1050" b="0" i="1" smtClean="0">
                              <a:solidFill>
                                <a:srgbClr val="FF0000"/>
                              </a:solidFill>
                              <a:latin typeface="Cambria Math" panose="02040503050406030204" pitchFamily="18" charset="0"/>
                            </a:rPr>
                            <m:t>𝑏</m:t>
                          </m:r>
                          <m:r>
                            <a:rPr lang="fr-FR" sz="1050" b="0" i="1" smtClean="0">
                              <a:solidFill>
                                <a:srgbClr val="FF0000"/>
                              </a:solidFill>
                              <a:latin typeface="Cambria Math" panose="02040503050406030204" pitchFamily="18" charset="0"/>
                            </a:rPr>
                            <m:t>1</m:t>
                          </m:r>
                        </m:den>
                      </m:f>
                    </m:oMath>
                  </m:oMathPara>
                </a14:m>
                <a:endParaRPr lang="fr-FR" sz="1050" b="1" dirty="0">
                  <a:solidFill>
                    <a:srgbClr val="FF0000"/>
                  </a:solidFill>
                </a:endParaRPr>
              </a:p>
            </p:txBody>
          </p:sp>
        </mc:Choice>
        <mc:Fallback xmlns="">
          <p:sp>
            <p:nvSpPr>
              <p:cNvPr id="6" name="ZoneTexte 5">
                <a:extLst>
                  <a:ext uri="{FF2B5EF4-FFF2-40B4-BE49-F238E27FC236}">
                    <a16:creationId xmlns:a16="http://schemas.microsoft.com/office/drawing/2014/main" id="{5049E3D0-4E04-9C84-EF69-FA8BED4867B9}"/>
                  </a:ext>
                </a:extLst>
              </p:cNvPr>
              <p:cNvSpPr txBox="1">
                <a:spLocks noRot="1" noChangeAspect="1" noMove="1" noResize="1" noEditPoints="1" noAdjustHandles="1" noChangeArrowheads="1" noChangeShapeType="1" noTextEdit="1"/>
              </p:cNvSpPr>
              <p:nvPr/>
            </p:nvSpPr>
            <p:spPr>
              <a:xfrm>
                <a:off x="4051002" y="1372755"/>
                <a:ext cx="642969" cy="414216"/>
              </a:xfrm>
              <a:prstGeom prst="rect">
                <a:avLst/>
              </a:prstGeom>
              <a:blipFill>
                <a:blip r:embed="rId4"/>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4" name="ZoneTexte 13">
                <a:extLst>
                  <a:ext uri="{FF2B5EF4-FFF2-40B4-BE49-F238E27FC236}">
                    <a16:creationId xmlns:a16="http://schemas.microsoft.com/office/drawing/2014/main" id="{537FA842-7216-1993-8611-10CB86A65F32}"/>
                  </a:ext>
                </a:extLst>
              </p:cNvPr>
              <p:cNvSpPr txBox="1"/>
              <p:nvPr/>
            </p:nvSpPr>
            <p:spPr>
              <a:xfrm>
                <a:off x="6405566" y="2501551"/>
                <a:ext cx="5369463" cy="733214"/>
              </a:xfrm>
              <a:prstGeom prst="rect">
                <a:avLst/>
              </a:prstGeom>
              <a:noFill/>
            </p:spPr>
            <p:txBody>
              <a:bodyPr wrap="square">
                <a:spAutoFit/>
              </a:bodyPr>
              <a:lstStyle/>
              <a:p>
                <a14:m>
                  <m:oMath xmlns:m="http://schemas.openxmlformats.org/officeDocument/2006/math">
                    <m:f>
                      <m:fPr>
                        <m:ctrlPr>
                          <a:rPr lang="fr-FR" sz="1200" i="1" smtClean="0">
                            <a:latin typeface="Cambria Math" panose="02040503050406030204" pitchFamily="18" charset="0"/>
                          </a:rPr>
                        </m:ctrlPr>
                      </m:fPr>
                      <m:num>
                        <m:r>
                          <a:rPr lang="fr-FR" sz="1200">
                            <a:latin typeface="Cambria Math" panose="02040503050406030204" pitchFamily="18" charset="0"/>
                          </a:rPr>
                          <m:t>𝜕</m:t>
                        </m:r>
                        <m:r>
                          <m:rPr>
                            <m:sty m:val="p"/>
                          </m:rPr>
                          <a:rPr lang="fr-FR" sz="1200">
                            <a:latin typeface="Cambria Math" panose="02040503050406030204" pitchFamily="18" charset="0"/>
                          </a:rPr>
                          <m:t>Loss</m:t>
                        </m:r>
                        <m:r>
                          <a:rPr lang="fr-FR" sz="1200">
                            <a:latin typeface="Cambria Math" panose="02040503050406030204" pitchFamily="18" charset="0"/>
                          </a:rPr>
                          <m:t>1</m:t>
                        </m:r>
                      </m:num>
                      <m:den>
                        <m:r>
                          <a:rPr lang="fr-FR" sz="1200">
                            <a:latin typeface="Cambria Math" panose="02040503050406030204" pitchFamily="18" charset="0"/>
                          </a:rPr>
                          <m:t>𝜕</m:t>
                        </m:r>
                        <m:r>
                          <m:rPr>
                            <m:sty m:val="p"/>
                          </m:rPr>
                          <a:rPr lang="fr-FR" sz="1200">
                            <a:latin typeface="Cambria Math" panose="02040503050406030204" pitchFamily="18" charset="0"/>
                          </a:rPr>
                          <m:t>b</m:t>
                        </m:r>
                        <m:r>
                          <a:rPr lang="fr-FR" sz="1200">
                            <a:latin typeface="Cambria Math" panose="02040503050406030204" pitchFamily="18" charset="0"/>
                          </a:rPr>
                          <m:t>1</m:t>
                        </m:r>
                      </m:den>
                    </m:f>
                    <m:r>
                      <a:rPr lang="fr-FR" sz="1200">
                        <a:latin typeface="Cambria Math" panose="02040503050406030204" pitchFamily="18" charset="0"/>
                      </a:rPr>
                      <m:t>=</m:t>
                    </m:r>
                    <m:r>
                      <m:rPr>
                        <m:nor/>
                      </m:rPr>
                      <a:rPr lang="fr-FR" sz="1200">
                        <a:latin typeface="Cambria Math" panose="02040503050406030204" pitchFamily="18" charset="0"/>
                      </a:rPr>
                      <m:t>−2</m:t>
                    </m:r>
                    <m:r>
                      <m:rPr>
                        <m:nor/>
                      </m:rPr>
                      <a:rPr lang="fr-FR" sz="1200" dirty="0">
                        <a:latin typeface="Cambria Math" panose="02040503050406030204" pitchFamily="18" charset="0"/>
                        <a:ea typeface="Cambria Math" panose="02040503050406030204" pitchFamily="18" charset="0"/>
                      </a:rPr>
                      <m:t>(</m:t>
                    </m:r>
                    <m:sSub>
                      <m:sSubPr>
                        <m:ctrlPr>
                          <a:rPr lang="fr-FR" sz="1200" i="1" dirty="0">
                            <a:latin typeface="Cambria Math" panose="02040503050406030204" pitchFamily="18" charset="0"/>
                            <a:ea typeface="Cambria Math" panose="02040503050406030204" pitchFamily="18" charset="0"/>
                          </a:rPr>
                        </m:ctrlPr>
                      </m:sSubPr>
                      <m:e>
                        <m:r>
                          <m:rPr>
                            <m:sty m:val="p"/>
                          </m:rPr>
                          <a:rPr lang="fr-FR" sz="1200">
                            <a:latin typeface="Cambria Math" panose="02040503050406030204" pitchFamily="18" charset="0"/>
                            <a:ea typeface="Cambria Math" panose="02040503050406030204" pitchFamily="18" charset="0"/>
                          </a:rPr>
                          <m:t>target</m:t>
                        </m:r>
                      </m:e>
                      <m:sub>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m:t>
                        </m:r>
                      </m:sub>
                    </m:sSub>
                    <m:r>
                      <a:rPr lang="fr-FR" sz="1200" i="1">
                        <a:latin typeface="Cambria Math" panose="02040503050406030204" pitchFamily="18" charset="0"/>
                        <a:ea typeface="Cambria Math" panose="02040503050406030204" pitchFamily="18" charset="0"/>
                      </a:rPr>
                      <m:t>− </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m:t>
                    </m:r>
                    <m:r>
                      <m:rPr>
                        <m:nor/>
                      </m:rPr>
                      <a:rPr lang="fr-FR" sz="1200" dirty="0">
                        <a:latin typeface="Cambria Math" panose="02040503050406030204" pitchFamily="18" charset="0"/>
                        <a:ea typeface="Cambria Math" panose="02040503050406030204" pitchFamily="18" charset="0"/>
                      </a:rPr>
                      <m:t>)</m:t>
                    </m:r>
                    <m:r>
                      <a:rPr lang="fr-FR" sz="1200" b="0" i="1">
                        <a:solidFill>
                          <a:schemeClr val="tx1"/>
                        </a:solidFill>
                        <a:latin typeface="Cambria Math" panose="02040503050406030204" pitchFamily="18" charset="0"/>
                        <a:ea typeface="Cambria Math" panose="02040503050406030204" pitchFamily="18" charset="0"/>
                      </a:rPr>
                      <m:t>×</m:t>
                    </m:r>
                    <m:r>
                      <m:rPr>
                        <m:nor/>
                      </m:rPr>
                      <a:rPr lang="fr-FR" sz="1200">
                        <a:solidFill>
                          <a:schemeClr val="tx1"/>
                        </a:solidFill>
                        <a:latin typeface="Cambria Math" panose="02040503050406030204" pitchFamily="18" charset="0"/>
                        <a:ea typeface="Cambria Math" panose="02040503050406030204" pitchFamily="18" charset="0"/>
                      </a:rPr>
                      <m:t> </m:t>
                    </m:r>
                    <m:r>
                      <m:rPr>
                        <m:sty m:val="p"/>
                      </m:rPr>
                      <a:rPr lang="fr-FR" sz="1200" b="0" i="0" smtClean="0">
                        <a:solidFill>
                          <a:schemeClr val="tx1"/>
                        </a:solidFill>
                        <a:latin typeface="Cambria Math" panose="02040503050406030204" pitchFamily="18" charset="0"/>
                        <a:ea typeface="Cambria Math" panose="02040503050406030204" pitchFamily="18" charset="0"/>
                      </a:rPr>
                      <m:t>out</m:t>
                    </m:r>
                    <m:r>
                      <a:rPr lang="fr-FR" sz="1200" b="0" i="0" smtClean="0">
                        <a:solidFill>
                          <a:schemeClr val="tx1"/>
                        </a:solidFill>
                        <a:latin typeface="Cambria Math" panose="02040503050406030204" pitchFamily="18" charset="0"/>
                        <a:ea typeface="Cambria Math" panose="02040503050406030204" pitchFamily="18" charset="0"/>
                      </a:rPr>
                      <m:t>_</m:t>
                    </m:r>
                    <m:r>
                      <m:rPr>
                        <m:sty m:val="p"/>
                      </m:rPr>
                      <a:rPr lang="fr-FR" sz="1200" b="0" i="0" smtClean="0">
                        <a:solidFill>
                          <a:schemeClr val="tx1"/>
                        </a:solidFill>
                        <a:latin typeface="Cambria Math" panose="02040503050406030204" pitchFamily="18" charset="0"/>
                        <a:ea typeface="Cambria Math" panose="02040503050406030204" pitchFamily="18" charset="0"/>
                      </a:rPr>
                      <m:t>o</m:t>
                    </m:r>
                    <m:r>
                      <a:rPr lang="fr-FR" sz="1200" b="0" i="0" smtClean="0">
                        <a:solidFill>
                          <a:schemeClr val="tx1"/>
                        </a:solidFill>
                        <a:latin typeface="Cambria Math" panose="02040503050406030204" pitchFamily="18" charset="0"/>
                        <a:ea typeface="Cambria Math" panose="02040503050406030204" pitchFamily="18" charset="0"/>
                      </a:rPr>
                      <m:t>1(1−</m:t>
                    </m:r>
                    <m:r>
                      <m:rPr>
                        <m:sty m:val="p"/>
                      </m:rPr>
                      <a:rPr lang="fr-FR" sz="1200" b="0" i="0" smtClean="0">
                        <a:solidFill>
                          <a:schemeClr val="tx1"/>
                        </a:solidFill>
                        <a:latin typeface="Cambria Math" panose="02040503050406030204" pitchFamily="18" charset="0"/>
                        <a:ea typeface="Cambria Math" panose="02040503050406030204" pitchFamily="18" charset="0"/>
                      </a:rPr>
                      <m:t>out</m:t>
                    </m:r>
                    <m:r>
                      <a:rPr lang="fr-FR" sz="1200" b="0" i="0" smtClean="0">
                        <a:solidFill>
                          <a:schemeClr val="tx1"/>
                        </a:solidFill>
                        <a:latin typeface="Cambria Math" panose="02040503050406030204" pitchFamily="18" charset="0"/>
                        <a:ea typeface="Cambria Math" panose="02040503050406030204" pitchFamily="18" charset="0"/>
                      </a:rPr>
                      <m:t>_</m:t>
                    </m:r>
                    <m:r>
                      <m:rPr>
                        <m:sty m:val="p"/>
                      </m:rPr>
                      <a:rPr lang="fr-FR" sz="1200" b="0" i="0" smtClean="0">
                        <a:solidFill>
                          <a:schemeClr val="tx1"/>
                        </a:solidFill>
                        <a:latin typeface="Cambria Math" panose="02040503050406030204" pitchFamily="18" charset="0"/>
                        <a:ea typeface="Cambria Math" panose="02040503050406030204" pitchFamily="18" charset="0"/>
                      </a:rPr>
                      <m:t>o</m:t>
                    </m:r>
                    <m:r>
                      <a:rPr lang="fr-FR" sz="1200" b="0" i="0" smtClean="0">
                        <a:solidFill>
                          <a:schemeClr val="tx1"/>
                        </a:solidFill>
                        <a:latin typeface="Cambria Math" panose="02040503050406030204" pitchFamily="18" charset="0"/>
                        <a:ea typeface="Cambria Math" panose="02040503050406030204" pitchFamily="18" charset="0"/>
                      </a:rPr>
                      <m:t>1</m:t>
                    </m:r>
                    <m:r>
                      <a:rPr lang="fr-FR" sz="1200" b="0" i="1" smtClean="0">
                        <a:solidFill>
                          <a:schemeClr val="tx1"/>
                        </a:solidFill>
                        <a:latin typeface="Cambria Math" panose="02040503050406030204" pitchFamily="18" charset="0"/>
                        <a:ea typeface="Cambria Math" panose="02040503050406030204" pitchFamily="18" charset="0"/>
                      </a:rPr>
                      <m:t>)</m:t>
                    </m:r>
                    <m:r>
                      <a:rPr lang="fr-FR" sz="1200" b="0" i="1">
                        <a:solidFill>
                          <a:schemeClr val="tx1"/>
                        </a:solidFill>
                        <a:latin typeface="Cambria Math" panose="02040503050406030204" pitchFamily="18" charset="0"/>
                        <a:ea typeface="Cambria Math" panose="02040503050406030204" pitchFamily="18" charset="0"/>
                      </a:rPr>
                      <m:t>×</m:t>
                    </m:r>
                    <m:r>
                      <m:rPr>
                        <m:sty m:val="p"/>
                      </m:rPr>
                      <a:rPr lang="fr-FR" sz="1200" b="0" i="0" smtClean="0">
                        <a:solidFill>
                          <a:schemeClr val="tx1"/>
                        </a:solidFill>
                        <a:latin typeface="Cambria Math" panose="02040503050406030204" pitchFamily="18" charset="0"/>
                        <a:ea typeface="Cambria Math" panose="02040503050406030204" pitchFamily="18" charset="0"/>
                      </a:rPr>
                      <m:t>w</m:t>
                    </m:r>
                    <m:r>
                      <a:rPr lang="fr-FR" sz="1200" b="0" i="0" smtClean="0">
                        <a:solidFill>
                          <a:schemeClr val="tx1"/>
                        </a:solidFill>
                        <a:latin typeface="Cambria Math" panose="02040503050406030204" pitchFamily="18" charset="0"/>
                        <a:ea typeface="Cambria Math" panose="02040503050406030204" pitchFamily="18" charset="0"/>
                      </a:rPr>
                      <m:t>5</m:t>
                    </m:r>
                    <m:r>
                      <a:rPr lang="fr-FR" sz="1200" b="0" i="1" smtClean="0">
                        <a:solidFill>
                          <a:schemeClr val="tx1"/>
                        </a:solidFill>
                        <a:latin typeface="Cambria Math" panose="02040503050406030204" pitchFamily="18" charset="0"/>
                        <a:ea typeface="Cambria Math" panose="02040503050406030204" pitchFamily="18" charset="0"/>
                      </a:rPr>
                      <m:t>×1</m:t>
                    </m:r>
                    <m:r>
                      <a:rPr lang="fr-FR" sz="1200" b="0" i="1" baseline="-25000" smtClean="0">
                        <a:solidFill>
                          <a:schemeClr val="tx1"/>
                        </a:solidFill>
                        <a:latin typeface="Cambria Math" panose="02040503050406030204" pitchFamily="18" charset="0"/>
                        <a:ea typeface="Cambria Math" panose="02040503050406030204" pitchFamily="18" charset="0"/>
                      </a:rPr>
                      <m:t>{</m:t>
                    </m:r>
                    <m:r>
                      <a:rPr lang="fr-FR" sz="1200" b="0" i="1" baseline="-25000">
                        <a:solidFill>
                          <a:schemeClr val="tx1"/>
                        </a:solidFill>
                        <a:latin typeface="Cambria Math" panose="02040503050406030204" pitchFamily="18" charset="0"/>
                        <a:ea typeface="Cambria Math" panose="02040503050406030204" pitchFamily="18" charset="0"/>
                      </a:rPr>
                      <m:t>𝑛𝑒𝑡</m:t>
                    </m:r>
                    <m:r>
                      <a:rPr lang="fr-FR" sz="1200" b="0" i="1" baseline="-25000">
                        <a:solidFill>
                          <a:schemeClr val="tx1"/>
                        </a:solidFill>
                        <a:latin typeface="Cambria Math" panose="02040503050406030204" pitchFamily="18" charset="0"/>
                        <a:ea typeface="Cambria Math" panose="02040503050406030204" pitchFamily="18" charset="0"/>
                      </a:rPr>
                      <m:t>_</m:t>
                    </m:r>
                    <m:r>
                      <a:rPr lang="fr-FR" sz="1200" b="0" i="1" baseline="-25000">
                        <a:solidFill>
                          <a:schemeClr val="tx1"/>
                        </a:solidFill>
                        <a:latin typeface="Cambria Math" panose="02040503050406030204" pitchFamily="18" charset="0"/>
                        <a:ea typeface="Cambria Math" panose="02040503050406030204" pitchFamily="18" charset="0"/>
                      </a:rPr>
                      <m:t>h</m:t>
                    </m:r>
                    <m:r>
                      <a:rPr lang="fr-FR" sz="1200" b="0" i="1" baseline="-25000">
                        <a:solidFill>
                          <a:schemeClr val="tx1"/>
                        </a:solidFill>
                        <a:latin typeface="Cambria Math" panose="02040503050406030204" pitchFamily="18" charset="0"/>
                        <a:ea typeface="Cambria Math" panose="02040503050406030204" pitchFamily="18" charset="0"/>
                      </a:rPr>
                      <m:t>1≥0})× </m:t>
                    </m:r>
                  </m:oMath>
                </a14:m>
                <a:r>
                  <a:rPr lang="fr-FR" sz="1200" dirty="0"/>
                  <a:t>1</a:t>
                </a:r>
              </a:p>
              <a:p>
                <a:endParaRPr lang="fr-FR" sz="1200" dirty="0"/>
              </a:p>
              <a:p>
                <a:r>
                  <a:rPr lang="fr-FR" sz="1200" dirty="0"/>
                  <a:t> </a:t>
                </a:r>
                <a14:m>
                  <m:oMath xmlns:m="http://schemas.openxmlformats.org/officeDocument/2006/math">
                    <m:r>
                      <a:rPr lang="fr-FR" sz="1200" b="0" i="0" smtClean="0">
                        <a:solidFill>
                          <a:schemeClr val="tx1"/>
                        </a:solidFill>
                        <a:latin typeface="Cambria Math" panose="02040503050406030204" pitchFamily="18" charset="0"/>
                      </a:rPr>
                      <m:t>            </m:t>
                    </m:r>
                    <m:r>
                      <a:rPr lang="fr-FR" sz="1200" b="0" i="0" smtClean="0">
                        <a:solidFill>
                          <a:srgbClr val="FF0000"/>
                        </a:solidFill>
                        <a:latin typeface="Cambria Math" panose="02040503050406030204" pitchFamily="18" charset="0"/>
                      </a:rPr>
                      <m:t>+</m:t>
                    </m:r>
                    <m:r>
                      <m:rPr>
                        <m:nor/>
                      </m:rPr>
                      <a:rPr lang="fr-FR" sz="1200">
                        <a:latin typeface="Cambria Math" panose="02040503050406030204" pitchFamily="18" charset="0"/>
                      </a:rPr>
                      <m:t>−2</m:t>
                    </m:r>
                    <m:r>
                      <m:rPr>
                        <m:nor/>
                      </m:rPr>
                      <a:rPr lang="fr-FR" sz="1200" dirty="0">
                        <a:latin typeface="Cambria Math" panose="02040503050406030204" pitchFamily="18" charset="0"/>
                        <a:ea typeface="Cambria Math" panose="02040503050406030204" pitchFamily="18" charset="0"/>
                      </a:rPr>
                      <m:t>(</m:t>
                    </m:r>
                    <m:sSub>
                      <m:sSubPr>
                        <m:ctrlPr>
                          <a:rPr lang="fr-FR" sz="1200" i="1" dirty="0">
                            <a:latin typeface="Cambria Math" panose="02040503050406030204" pitchFamily="18" charset="0"/>
                            <a:ea typeface="Cambria Math" panose="02040503050406030204" pitchFamily="18" charset="0"/>
                          </a:rPr>
                        </m:ctrlPr>
                      </m:sSubPr>
                      <m:e>
                        <m:r>
                          <m:rPr>
                            <m:sty m:val="p"/>
                          </m:rPr>
                          <a:rPr lang="fr-FR" sz="1200">
                            <a:latin typeface="Cambria Math" panose="02040503050406030204" pitchFamily="18" charset="0"/>
                            <a:ea typeface="Cambria Math" panose="02040503050406030204" pitchFamily="18" charset="0"/>
                          </a:rPr>
                          <m:t>target</m:t>
                        </m:r>
                      </m:e>
                      <m:sub>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m:t>
                        </m:r>
                      </m:sub>
                    </m:sSub>
                    <m:r>
                      <a:rPr lang="fr-FR" sz="1200" i="1">
                        <a:latin typeface="Cambria Math" panose="02040503050406030204" pitchFamily="18" charset="0"/>
                        <a:ea typeface="Cambria Math" panose="02040503050406030204" pitchFamily="18" charset="0"/>
                      </a:rPr>
                      <m:t>− </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m:t>
                    </m:r>
                    <m:r>
                      <m:rPr>
                        <m:nor/>
                      </m:rPr>
                      <a:rPr lang="fr-FR" sz="1200" dirty="0">
                        <a:latin typeface="Cambria Math" panose="02040503050406030204" pitchFamily="18" charset="0"/>
                        <a:ea typeface="Cambria Math" panose="02040503050406030204" pitchFamily="18" charset="0"/>
                      </a:rPr>
                      <m:t>)</m:t>
                    </m:r>
                    <m:r>
                      <a:rPr lang="fr-FR" sz="1200" i="1">
                        <a:latin typeface="Cambria Math" panose="02040503050406030204" pitchFamily="18" charset="0"/>
                        <a:ea typeface="Cambria Math" panose="02040503050406030204" pitchFamily="18" charset="0"/>
                      </a:rPr>
                      <m:t>×</m:t>
                    </m:r>
                    <m:r>
                      <m:rPr>
                        <m:nor/>
                      </m:rPr>
                      <a:rPr lang="fr-FR" sz="1200">
                        <a:latin typeface="Cambria Math" panose="02040503050406030204" pitchFamily="18" charset="0"/>
                        <a:ea typeface="Cambria Math" panose="02040503050406030204" pitchFamily="18" charset="0"/>
                      </a:rPr>
                      <m:t> </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1(1−</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m:t>
                    </m:r>
                    <m:r>
                      <a:rPr lang="fr-FR" sz="1200" i="1">
                        <a:latin typeface="Cambria Math" panose="02040503050406030204" pitchFamily="18" charset="0"/>
                        <a:ea typeface="Cambria Math" panose="02040503050406030204" pitchFamily="18" charset="0"/>
                      </a:rPr>
                      <m:t>)×</m:t>
                    </m:r>
                    <m:r>
                      <m:rPr>
                        <m:sty m:val="p"/>
                      </m:rPr>
                      <a:rPr lang="fr-FR" sz="1200">
                        <a:latin typeface="Cambria Math" panose="02040503050406030204" pitchFamily="18" charset="0"/>
                      </a:rPr>
                      <m:t>w</m:t>
                    </m:r>
                    <m:r>
                      <a:rPr lang="fr-FR" sz="1200">
                        <a:latin typeface="Cambria Math" panose="02040503050406030204" pitchFamily="18" charset="0"/>
                      </a:rPr>
                      <m:t>6</m:t>
                    </m:r>
                    <m:r>
                      <a:rPr lang="fr-FR" sz="1200" i="1">
                        <a:latin typeface="Cambria Math" panose="02040503050406030204" pitchFamily="18" charset="0"/>
                        <a:ea typeface="Cambria Math" panose="02040503050406030204" pitchFamily="18" charset="0"/>
                      </a:rPr>
                      <m:t>×</m:t>
                    </m:r>
                    <m:r>
                      <a:rPr lang="fr-FR" sz="1200" i="1">
                        <a:solidFill>
                          <a:schemeClr val="accent2"/>
                        </a:solidFill>
                        <a:latin typeface="Cambria Math" panose="02040503050406030204" pitchFamily="18" charset="0"/>
                      </a:rPr>
                      <m:t>1</m:t>
                    </m:r>
                    <m:r>
                      <a:rPr lang="fr-FR" sz="1200" i="1" baseline="-25000">
                        <a:solidFill>
                          <a:schemeClr val="accent2"/>
                        </a:solidFill>
                        <a:latin typeface="Cambria Math" panose="02040503050406030204" pitchFamily="18" charset="0"/>
                      </a:rPr>
                      <m:t>{</m:t>
                    </m:r>
                    <m:r>
                      <m:rPr>
                        <m:sty m:val="p"/>
                      </m:rPr>
                      <a:rPr lang="fr-FR" sz="1200" baseline="-25000">
                        <a:solidFill>
                          <a:schemeClr val="accent2"/>
                        </a:solidFill>
                        <a:latin typeface="Cambria Math" panose="02040503050406030204" pitchFamily="18" charset="0"/>
                      </a:rPr>
                      <m:t>net</m:t>
                    </m:r>
                    <m:r>
                      <a:rPr lang="fr-FR" sz="1200" baseline="-25000">
                        <a:solidFill>
                          <a:schemeClr val="accent2"/>
                        </a:solidFill>
                        <a:latin typeface="Cambria Math" panose="02040503050406030204" pitchFamily="18" charset="0"/>
                      </a:rPr>
                      <m:t>_</m:t>
                    </m:r>
                    <m:r>
                      <m:rPr>
                        <m:sty m:val="p"/>
                      </m:rPr>
                      <a:rPr lang="fr-FR" sz="1200" baseline="-25000">
                        <a:solidFill>
                          <a:schemeClr val="accent2"/>
                        </a:solidFill>
                        <a:latin typeface="Cambria Math" panose="02040503050406030204" pitchFamily="18" charset="0"/>
                      </a:rPr>
                      <m:t>h</m:t>
                    </m:r>
                    <m:r>
                      <a:rPr lang="fr-FR" sz="1200" baseline="-25000">
                        <a:solidFill>
                          <a:schemeClr val="accent2"/>
                        </a:solidFill>
                        <a:latin typeface="Cambria Math" panose="02040503050406030204" pitchFamily="18" charset="0"/>
                      </a:rPr>
                      <m:t>2</m:t>
                    </m:r>
                  </m:oMath>
                </a14:m>
                <a:r>
                  <a:rPr lang="fr-FR" sz="1200" baseline="-25000" dirty="0">
                    <a:solidFill>
                      <a:schemeClr val="accent2"/>
                    </a:solidFill>
                    <a:ea typeface="Cambria Math" panose="02040503050406030204" pitchFamily="18" charset="0"/>
                  </a:rPr>
                  <a:t> </a:t>
                </a:r>
                <a14:m>
                  <m:oMath xmlns:m="http://schemas.openxmlformats.org/officeDocument/2006/math">
                    <m:r>
                      <a:rPr lang="fr-FR" sz="1200" i="1" baseline="-25000">
                        <a:solidFill>
                          <a:schemeClr val="accent2"/>
                        </a:solidFill>
                        <a:latin typeface="Cambria Math" panose="02040503050406030204" pitchFamily="18" charset="0"/>
                        <a:ea typeface="Cambria Math" panose="02040503050406030204" pitchFamily="18" charset="0"/>
                      </a:rPr>
                      <m:t>&gt;0</m:t>
                    </m:r>
                    <m:r>
                      <a:rPr lang="fr-FR" sz="1200" i="1" baseline="-25000">
                        <a:solidFill>
                          <a:schemeClr val="accent2"/>
                        </a:solidFill>
                        <a:latin typeface="Cambria Math" panose="02040503050406030204" pitchFamily="18" charset="0"/>
                      </a:rPr>
                      <m:t>}</m:t>
                    </m:r>
                  </m:oMath>
                </a14:m>
                <a:r>
                  <a:rPr lang="fr-FR" sz="1200" dirty="0">
                    <a:ea typeface="Cambria Math" panose="02040503050406030204" pitchFamily="18" charset="0"/>
                  </a:rPr>
                  <a:t> </a:t>
                </a:r>
                <a14:m>
                  <m:oMath xmlns:m="http://schemas.openxmlformats.org/officeDocument/2006/math">
                    <m:r>
                      <a:rPr lang="fr-FR" sz="1200" i="1">
                        <a:latin typeface="Cambria Math" panose="02040503050406030204" pitchFamily="18" charset="0"/>
                        <a:ea typeface="Cambria Math" panose="02040503050406030204" pitchFamily="18" charset="0"/>
                      </a:rPr>
                      <m:t>×</m:t>
                    </m:r>
                  </m:oMath>
                </a14:m>
                <a:r>
                  <a:rPr lang="fr-FR" sz="1200" dirty="0"/>
                  <a:t> 1</a:t>
                </a:r>
              </a:p>
            </p:txBody>
          </p:sp>
        </mc:Choice>
        <mc:Fallback xmlns="">
          <p:sp>
            <p:nvSpPr>
              <p:cNvPr id="14" name="ZoneTexte 13">
                <a:extLst>
                  <a:ext uri="{FF2B5EF4-FFF2-40B4-BE49-F238E27FC236}">
                    <a16:creationId xmlns:a16="http://schemas.microsoft.com/office/drawing/2014/main" id="{537FA842-7216-1993-8611-10CB86A65F32}"/>
                  </a:ext>
                </a:extLst>
              </p:cNvPr>
              <p:cNvSpPr txBox="1">
                <a:spLocks noRot="1" noChangeAspect="1" noMove="1" noResize="1" noEditPoints="1" noAdjustHandles="1" noChangeArrowheads="1" noChangeShapeType="1" noTextEdit="1"/>
              </p:cNvSpPr>
              <p:nvPr/>
            </p:nvSpPr>
            <p:spPr>
              <a:xfrm>
                <a:off x="6405566" y="2501551"/>
                <a:ext cx="5369463" cy="733214"/>
              </a:xfrm>
              <a:prstGeom prst="rect">
                <a:avLst/>
              </a:prstGeom>
              <a:blipFill>
                <a:blip r:embed="rId5"/>
                <a:stretch>
                  <a:fillRect b="-508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ZoneTexte 15">
                <a:extLst>
                  <a:ext uri="{FF2B5EF4-FFF2-40B4-BE49-F238E27FC236}">
                    <a16:creationId xmlns:a16="http://schemas.microsoft.com/office/drawing/2014/main" id="{DE8099DE-F6C2-E112-F79C-D79D81729903}"/>
                  </a:ext>
                </a:extLst>
              </p:cNvPr>
              <p:cNvSpPr txBox="1"/>
              <p:nvPr/>
            </p:nvSpPr>
            <p:spPr>
              <a:xfrm>
                <a:off x="4372486" y="4489805"/>
                <a:ext cx="7647317" cy="409086"/>
              </a:xfrm>
              <a:prstGeom prst="rect">
                <a:avLst/>
              </a:prstGeom>
              <a:noFill/>
              <a:ln>
                <a:solidFill>
                  <a:srgbClr val="FF0000"/>
                </a:solidFill>
              </a:ln>
            </p:spPr>
            <p:txBody>
              <a:bodyPr wrap="square">
                <a:spAutoFit/>
              </a:bodyPr>
              <a:lstStyle/>
              <a:p>
                <a:pPr algn="ctr"/>
                <a14:m>
                  <m:oMath xmlns:m="http://schemas.openxmlformats.org/officeDocument/2006/math">
                    <m:f>
                      <m:fPr>
                        <m:ctrlPr>
                          <a:rPr lang="fr-FR" sz="1400" i="1" smtClean="0">
                            <a:latin typeface="Cambria Math" panose="02040503050406030204" pitchFamily="18" charset="0"/>
                          </a:rPr>
                        </m:ctrlPr>
                      </m:fPr>
                      <m:num>
                        <m:r>
                          <a:rPr lang="fr-FR" sz="1400">
                            <a:latin typeface="Cambria Math" panose="02040503050406030204" pitchFamily="18" charset="0"/>
                          </a:rPr>
                          <m:t>𝜕</m:t>
                        </m:r>
                        <m:r>
                          <m:rPr>
                            <m:sty m:val="p"/>
                          </m:rPr>
                          <a:rPr lang="fr-FR" sz="1400">
                            <a:latin typeface="Cambria Math" panose="02040503050406030204" pitchFamily="18" charset="0"/>
                          </a:rPr>
                          <m:t>Loss</m:t>
                        </m:r>
                        <m:r>
                          <a:rPr lang="fr-FR" sz="1400">
                            <a:latin typeface="Cambria Math" panose="02040503050406030204" pitchFamily="18" charset="0"/>
                          </a:rPr>
                          <m:t>1</m:t>
                        </m:r>
                      </m:num>
                      <m:den>
                        <m:r>
                          <a:rPr lang="fr-FR" sz="1400">
                            <a:latin typeface="Cambria Math" panose="02040503050406030204" pitchFamily="18" charset="0"/>
                          </a:rPr>
                          <m:t>𝜕</m:t>
                        </m:r>
                        <m:r>
                          <m:rPr>
                            <m:sty m:val="p"/>
                          </m:rPr>
                          <a:rPr lang="fr-FR" sz="1400">
                            <a:latin typeface="Cambria Math" panose="02040503050406030204" pitchFamily="18" charset="0"/>
                          </a:rPr>
                          <m:t>b</m:t>
                        </m:r>
                        <m:r>
                          <a:rPr lang="fr-FR" sz="1400">
                            <a:latin typeface="Cambria Math" panose="02040503050406030204" pitchFamily="18" charset="0"/>
                          </a:rPr>
                          <m:t>1</m:t>
                        </m:r>
                      </m:den>
                    </m:f>
                    <m:r>
                      <a:rPr lang="fr-FR" sz="1400">
                        <a:latin typeface="Cambria Math" panose="02040503050406030204" pitchFamily="18" charset="0"/>
                      </a:rPr>
                      <m:t>=</m:t>
                    </m:r>
                    <m:r>
                      <m:rPr>
                        <m:nor/>
                      </m:rPr>
                      <a:rPr lang="fr-FR" sz="1400">
                        <a:latin typeface="Cambria Math" panose="02040503050406030204" pitchFamily="18" charset="0"/>
                      </a:rPr>
                      <m:t>−2</m:t>
                    </m:r>
                    <m:r>
                      <m:rPr>
                        <m:nor/>
                      </m:rPr>
                      <a:rPr lang="fr-FR" sz="1400" dirty="0">
                        <a:latin typeface="Cambria Math" panose="02040503050406030204" pitchFamily="18" charset="0"/>
                        <a:ea typeface="Cambria Math" panose="02040503050406030204" pitchFamily="18" charset="0"/>
                      </a:rPr>
                      <m:t>(</m:t>
                    </m:r>
                    <m:sSub>
                      <m:sSubPr>
                        <m:ctrlPr>
                          <a:rPr lang="fr-FR" sz="1400" i="1" dirty="0">
                            <a:latin typeface="Cambria Math" panose="02040503050406030204" pitchFamily="18" charset="0"/>
                            <a:ea typeface="Cambria Math" panose="02040503050406030204" pitchFamily="18" charset="0"/>
                          </a:rPr>
                        </m:ctrlPr>
                      </m:sSubPr>
                      <m:e>
                        <m:r>
                          <m:rPr>
                            <m:sty m:val="p"/>
                          </m:rPr>
                          <a:rPr lang="fr-FR" sz="1400">
                            <a:latin typeface="Cambria Math" panose="02040503050406030204" pitchFamily="18" charset="0"/>
                            <a:ea typeface="Cambria Math" panose="02040503050406030204" pitchFamily="18" charset="0"/>
                          </a:rPr>
                          <m:t>target</m:t>
                        </m:r>
                      </m:e>
                      <m:sub>
                        <m:r>
                          <m:rPr>
                            <m:sty m:val="p"/>
                          </m:rPr>
                          <a:rPr lang="fr-FR" sz="1400">
                            <a:latin typeface="Cambria Math" panose="02040503050406030204" pitchFamily="18" charset="0"/>
                            <a:ea typeface="Cambria Math" panose="02040503050406030204" pitchFamily="18" charset="0"/>
                          </a:rPr>
                          <m:t>o</m:t>
                        </m:r>
                        <m:r>
                          <a:rPr lang="fr-FR" sz="1400">
                            <a:latin typeface="Cambria Math" panose="02040503050406030204" pitchFamily="18" charset="0"/>
                            <a:ea typeface="Cambria Math" panose="02040503050406030204" pitchFamily="18" charset="0"/>
                          </a:rPr>
                          <m:t>1</m:t>
                        </m:r>
                      </m:sub>
                    </m:sSub>
                    <m:r>
                      <a:rPr lang="fr-FR" sz="1400" i="1">
                        <a:latin typeface="Cambria Math" panose="02040503050406030204" pitchFamily="18" charset="0"/>
                        <a:ea typeface="Cambria Math" panose="02040503050406030204" pitchFamily="18" charset="0"/>
                      </a:rPr>
                      <m:t>− </m:t>
                    </m:r>
                    <m:r>
                      <m:rPr>
                        <m:sty m:val="p"/>
                      </m:rPr>
                      <a:rPr lang="fr-FR" sz="1400">
                        <a:latin typeface="Cambria Math" panose="02040503050406030204" pitchFamily="18" charset="0"/>
                        <a:ea typeface="Cambria Math" panose="02040503050406030204" pitchFamily="18" charset="0"/>
                      </a:rPr>
                      <m:t>out</m:t>
                    </m:r>
                    <m:r>
                      <a:rPr lang="fr-FR" sz="1400">
                        <a:latin typeface="Cambria Math" panose="02040503050406030204" pitchFamily="18" charset="0"/>
                        <a:ea typeface="Cambria Math" panose="02040503050406030204" pitchFamily="18" charset="0"/>
                      </a:rPr>
                      <m:t>_</m:t>
                    </m:r>
                    <m:r>
                      <m:rPr>
                        <m:sty m:val="p"/>
                      </m:rPr>
                      <a:rPr lang="fr-FR" sz="1400">
                        <a:latin typeface="Cambria Math" panose="02040503050406030204" pitchFamily="18" charset="0"/>
                        <a:ea typeface="Cambria Math" panose="02040503050406030204" pitchFamily="18" charset="0"/>
                      </a:rPr>
                      <m:t>o</m:t>
                    </m:r>
                    <m:r>
                      <a:rPr lang="fr-FR" sz="1400">
                        <a:latin typeface="Cambria Math" panose="02040503050406030204" pitchFamily="18" charset="0"/>
                        <a:ea typeface="Cambria Math" panose="02040503050406030204" pitchFamily="18" charset="0"/>
                      </a:rPr>
                      <m:t>1</m:t>
                    </m:r>
                    <m:r>
                      <m:rPr>
                        <m:nor/>
                      </m:rPr>
                      <a:rPr lang="fr-FR" sz="1400" dirty="0">
                        <a:latin typeface="Cambria Math" panose="02040503050406030204" pitchFamily="18" charset="0"/>
                        <a:ea typeface="Cambria Math" panose="02040503050406030204" pitchFamily="18" charset="0"/>
                      </a:rPr>
                      <m:t>)</m:t>
                    </m:r>
                    <m:r>
                      <a:rPr lang="fr-FR" sz="1400" b="0" i="1">
                        <a:solidFill>
                          <a:schemeClr val="tx1"/>
                        </a:solidFill>
                        <a:latin typeface="Cambria Math" panose="02040503050406030204" pitchFamily="18" charset="0"/>
                        <a:ea typeface="Cambria Math" panose="02040503050406030204" pitchFamily="18" charset="0"/>
                      </a:rPr>
                      <m:t>×</m:t>
                    </m:r>
                    <m:r>
                      <m:rPr>
                        <m:nor/>
                      </m:rPr>
                      <a:rPr lang="fr-FR" sz="1400">
                        <a:solidFill>
                          <a:schemeClr val="tx1"/>
                        </a:solidFill>
                        <a:latin typeface="Cambria Math" panose="02040503050406030204" pitchFamily="18" charset="0"/>
                        <a:ea typeface="Cambria Math" panose="02040503050406030204" pitchFamily="18" charset="0"/>
                      </a:rPr>
                      <m:t> </m:t>
                    </m:r>
                    <m:r>
                      <m:rPr>
                        <m:sty m:val="p"/>
                      </m:rPr>
                      <a:rPr lang="fr-FR" sz="1400" b="0" i="0" smtClean="0">
                        <a:solidFill>
                          <a:schemeClr val="tx1"/>
                        </a:solidFill>
                        <a:latin typeface="Cambria Math" panose="02040503050406030204" pitchFamily="18" charset="0"/>
                        <a:ea typeface="Cambria Math" panose="02040503050406030204" pitchFamily="18" charset="0"/>
                      </a:rPr>
                      <m:t>out</m:t>
                    </m:r>
                    <m:r>
                      <a:rPr lang="fr-FR" sz="1400" b="0" i="0" smtClean="0">
                        <a:solidFill>
                          <a:schemeClr val="tx1"/>
                        </a:solidFill>
                        <a:latin typeface="Cambria Math" panose="02040503050406030204" pitchFamily="18" charset="0"/>
                        <a:ea typeface="Cambria Math" panose="02040503050406030204" pitchFamily="18" charset="0"/>
                      </a:rPr>
                      <m:t>_</m:t>
                    </m:r>
                    <m:r>
                      <m:rPr>
                        <m:sty m:val="p"/>
                      </m:rPr>
                      <a:rPr lang="fr-FR" sz="1400" b="0" i="0" smtClean="0">
                        <a:solidFill>
                          <a:schemeClr val="tx1"/>
                        </a:solidFill>
                        <a:latin typeface="Cambria Math" panose="02040503050406030204" pitchFamily="18" charset="0"/>
                        <a:ea typeface="Cambria Math" panose="02040503050406030204" pitchFamily="18" charset="0"/>
                      </a:rPr>
                      <m:t>o</m:t>
                    </m:r>
                    <m:r>
                      <a:rPr lang="fr-FR" sz="1400" b="0" i="0" smtClean="0">
                        <a:solidFill>
                          <a:schemeClr val="tx1"/>
                        </a:solidFill>
                        <a:latin typeface="Cambria Math" panose="02040503050406030204" pitchFamily="18" charset="0"/>
                        <a:ea typeface="Cambria Math" panose="02040503050406030204" pitchFamily="18" charset="0"/>
                      </a:rPr>
                      <m:t>1(1−</m:t>
                    </m:r>
                    <m:r>
                      <m:rPr>
                        <m:sty m:val="p"/>
                      </m:rPr>
                      <a:rPr lang="fr-FR" sz="1400" b="0" i="0" smtClean="0">
                        <a:solidFill>
                          <a:schemeClr val="tx1"/>
                        </a:solidFill>
                        <a:latin typeface="Cambria Math" panose="02040503050406030204" pitchFamily="18" charset="0"/>
                        <a:ea typeface="Cambria Math" panose="02040503050406030204" pitchFamily="18" charset="0"/>
                      </a:rPr>
                      <m:t>out</m:t>
                    </m:r>
                    <m:r>
                      <a:rPr lang="fr-FR" sz="1400" b="0" i="0" smtClean="0">
                        <a:solidFill>
                          <a:schemeClr val="tx1"/>
                        </a:solidFill>
                        <a:latin typeface="Cambria Math" panose="02040503050406030204" pitchFamily="18" charset="0"/>
                        <a:ea typeface="Cambria Math" panose="02040503050406030204" pitchFamily="18" charset="0"/>
                      </a:rPr>
                      <m:t>_</m:t>
                    </m:r>
                    <m:r>
                      <m:rPr>
                        <m:sty m:val="p"/>
                      </m:rPr>
                      <a:rPr lang="fr-FR" sz="1400" b="0" i="0" smtClean="0">
                        <a:solidFill>
                          <a:schemeClr val="tx1"/>
                        </a:solidFill>
                        <a:latin typeface="Cambria Math" panose="02040503050406030204" pitchFamily="18" charset="0"/>
                        <a:ea typeface="Cambria Math" panose="02040503050406030204" pitchFamily="18" charset="0"/>
                      </a:rPr>
                      <m:t>o</m:t>
                    </m:r>
                    <m:r>
                      <a:rPr lang="fr-FR" sz="1400" b="0" i="0" smtClean="0">
                        <a:solidFill>
                          <a:schemeClr val="tx1"/>
                        </a:solidFill>
                        <a:latin typeface="Cambria Math" panose="02040503050406030204" pitchFamily="18" charset="0"/>
                        <a:ea typeface="Cambria Math" panose="02040503050406030204" pitchFamily="18" charset="0"/>
                      </a:rPr>
                      <m:t>1</m:t>
                    </m:r>
                    <m:r>
                      <a:rPr lang="fr-FR" sz="1400" b="0" i="1" smtClean="0">
                        <a:solidFill>
                          <a:schemeClr val="tx1"/>
                        </a:solidFill>
                        <a:latin typeface="Cambria Math" panose="02040503050406030204" pitchFamily="18" charset="0"/>
                        <a:ea typeface="Cambria Math" panose="02040503050406030204" pitchFamily="18" charset="0"/>
                      </a:rPr>
                      <m:t>)</m:t>
                    </m:r>
                    <m:r>
                      <a:rPr lang="fr-FR" sz="1400" i="1">
                        <a:latin typeface="Cambria Math" panose="02040503050406030204" pitchFamily="18" charset="0"/>
                        <a:ea typeface="Cambria Math" panose="02040503050406030204" pitchFamily="18" charset="0"/>
                      </a:rPr>
                      <m:t>×</m:t>
                    </m:r>
                    <m:r>
                      <a:rPr lang="fr-FR" sz="1400" b="0" i="0" smtClean="0">
                        <a:latin typeface="Cambria Math" panose="02040503050406030204" pitchFamily="18" charset="0"/>
                        <a:ea typeface="Cambria Math" panose="02040503050406030204" pitchFamily="18" charset="0"/>
                      </a:rPr>
                      <m:t>(</m:t>
                    </m:r>
                    <m:r>
                      <m:rPr>
                        <m:sty m:val="p"/>
                      </m:rPr>
                      <a:rPr lang="fr-FR" sz="1400" b="0" i="0" smtClean="0">
                        <a:solidFill>
                          <a:schemeClr val="tx1"/>
                        </a:solidFill>
                        <a:latin typeface="Cambria Math" panose="02040503050406030204" pitchFamily="18" charset="0"/>
                        <a:ea typeface="Cambria Math" panose="02040503050406030204" pitchFamily="18" charset="0"/>
                      </a:rPr>
                      <m:t>w</m:t>
                    </m:r>
                    <m:r>
                      <a:rPr lang="fr-FR" sz="1400" b="0" i="0" smtClean="0">
                        <a:solidFill>
                          <a:schemeClr val="tx1"/>
                        </a:solidFill>
                        <a:latin typeface="Cambria Math" panose="02040503050406030204" pitchFamily="18" charset="0"/>
                        <a:ea typeface="Cambria Math" panose="02040503050406030204" pitchFamily="18" charset="0"/>
                      </a:rPr>
                      <m:t>5</m:t>
                    </m:r>
                    <m:r>
                      <a:rPr lang="fr-FR" sz="1400" b="0" i="1" smtClean="0">
                        <a:solidFill>
                          <a:schemeClr val="tx1"/>
                        </a:solidFill>
                        <a:latin typeface="Cambria Math" panose="02040503050406030204" pitchFamily="18" charset="0"/>
                        <a:ea typeface="Cambria Math" panose="02040503050406030204" pitchFamily="18" charset="0"/>
                      </a:rPr>
                      <m:t>×1</m:t>
                    </m:r>
                    <m:r>
                      <a:rPr lang="fr-FR" sz="1400" b="0" i="1" baseline="-25000" smtClean="0">
                        <a:solidFill>
                          <a:schemeClr val="tx1"/>
                        </a:solidFill>
                        <a:latin typeface="Cambria Math" panose="02040503050406030204" pitchFamily="18" charset="0"/>
                        <a:ea typeface="Cambria Math" panose="02040503050406030204" pitchFamily="18" charset="0"/>
                      </a:rPr>
                      <m:t>{</m:t>
                    </m:r>
                    <m:r>
                      <a:rPr lang="fr-FR" sz="1400" b="0" i="1" baseline="-25000">
                        <a:solidFill>
                          <a:schemeClr val="tx1"/>
                        </a:solidFill>
                        <a:latin typeface="Cambria Math" panose="02040503050406030204" pitchFamily="18" charset="0"/>
                        <a:ea typeface="Cambria Math" panose="02040503050406030204" pitchFamily="18" charset="0"/>
                      </a:rPr>
                      <m:t>𝑛𝑒𝑡</m:t>
                    </m:r>
                    <m:r>
                      <a:rPr lang="fr-FR" sz="1400" b="0" i="1" baseline="-25000">
                        <a:solidFill>
                          <a:schemeClr val="tx1"/>
                        </a:solidFill>
                        <a:latin typeface="Cambria Math" panose="02040503050406030204" pitchFamily="18" charset="0"/>
                        <a:ea typeface="Cambria Math" panose="02040503050406030204" pitchFamily="18" charset="0"/>
                      </a:rPr>
                      <m:t>_</m:t>
                    </m:r>
                    <m:r>
                      <a:rPr lang="fr-FR" sz="1400" b="0" i="1" baseline="-25000">
                        <a:solidFill>
                          <a:schemeClr val="tx1"/>
                        </a:solidFill>
                        <a:latin typeface="Cambria Math" panose="02040503050406030204" pitchFamily="18" charset="0"/>
                        <a:ea typeface="Cambria Math" panose="02040503050406030204" pitchFamily="18" charset="0"/>
                      </a:rPr>
                      <m:t>h</m:t>
                    </m:r>
                    <m:r>
                      <a:rPr lang="fr-FR" sz="1400" b="0" i="1" baseline="-25000">
                        <a:solidFill>
                          <a:schemeClr val="tx1"/>
                        </a:solidFill>
                        <a:latin typeface="Cambria Math" panose="02040503050406030204" pitchFamily="18" charset="0"/>
                        <a:ea typeface="Cambria Math" panose="02040503050406030204" pitchFamily="18" charset="0"/>
                      </a:rPr>
                      <m:t>1≥0})</m:t>
                    </m:r>
                    <m:r>
                      <a:rPr lang="fr-FR" sz="1400" b="0" i="0" smtClean="0">
                        <a:solidFill>
                          <a:schemeClr val="tx1"/>
                        </a:solidFill>
                        <a:latin typeface="Cambria Math" panose="02040503050406030204" pitchFamily="18" charset="0"/>
                      </a:rPr>
                      <m:t> </m:t>
                    </m:r>
                    <m:r>
                      <a:rPr lang="fr-FR" sz="1400" b="0" i="0" smtClean="0">
                        <a:solidFill>
                          <a:srgbClr val="FF0000"/>
                        </a:solidFill>
                        <a:latin typeface="Cambria Math" panose="02040503050406030204" pitchFamily="18" charset="0"/>
                      </a:rPr>
                      <m:t>+</m:t>
                    </m:r>
                    <m:r>
                      <m:rPr>
                        <m:sty m:val="p"/>
                      </m:rPr>
                      <a:rPr lang="fr-FR" sz="1400" smtClean="0">
                        <a:solidFill>
                          <a:schemeClr val="tx1"/>
                        </a:solidFill>
                        <a:latin typeface="Cambria Math" panose="02040503050406030204" pitchFamily="18" charset="0"/>
                      </a:rPr>
                      <m:t>w</m:t>
                    </m:r>
                    <m:r>
                      <a:rPr lang="fr-FR" sz="1400" smtClean="0">
                        <a:solidFill>
                          <a:schemeClr val="tx1"/>
                        </a:solidFill>
                        <a:latin typeface="Cambria Math" panose="02040503050406030204" pitchFamily="18" charset="0"/>
                      </a:rPr>
                      <m:t>6</m:t>
                    </m:r>
                    <m:r>
                      <a:rPr lang="fr-FR" sz="1400" i="1">
                        <a:solidFill>
                          <a:schemeClr val="tx1"/>
                        </a:solidFill>
                        <a:latin typeface="Cambria Math" panose="02040503050406030204" pitchFamily="18" charset="0"/>
                        <a:ea typeface="Cambria Math" panose="02040503050406030204" pitchFamily="18" charset="0"/>
                      </a:rPr>
                      <m:t>×</m:t>
                    </m:r>
                    <m:r>
                      <a:rPr lang="fr-FR" sz="1400" i="1">
                        <a:solidFill>
                          <a:schemeClr val="tx1"/>
                        </a:solidFill>
                        <a:latin typeface="Cambria Math" panose="02040503050406030204" pitchFamily="18" charset="0"/>
                      </a:rPr>
                      <m:t>1</m:t>
                    </m:r>
                    <m:r>
                      <a:rPr lang="fr-FR" sz="1400" i="1" baseline="-25000">
                        <a:solidFill>
                          <a:schemeClr val="tx1"/>
                        </a:solidFill>
                        <a:latin typeface="Cambria Math" panose="02040503050406030204" pitchFamily="18" charset="0"/>
                      </a:rPr>
                      <m:t>{</m:t>
                    </m:r>
                    <m:r>
                      <m:rPr>
                        <m:sty m:val="p"/>
                      </m:rPr>
                      <a:rPr lang="fr-FR" sz="1400" baseline="-25000">
                        <a:solidFill>
                          <a:schemeClr val="tx1"/>
                        </a:solidFill>
                        <a:latin typeface="Cambria Math" panose="02040503050406030204" pitchFamily="18" charset="0"/>
                      </a:rPr>
                      <m:t>net</m:t>
                    </m:r>
                    <m:r>
                      <a:rPr lang="fr-FR" sz="1400" baseline="-25000">
                        <a:solidFill>
                          <a:schemeClr val="tx1"/>
                        </a:solidFill>
                        <a:latin typeface="Cambria Math" panose="02040503050406030204" pitchFamily="18" charset="0"/>
                      </a:rPr>
                      <m:t>_</m:t>
                    </m:r>
                    <m:r>
                      <m:rPr>
                        <m:sty m:val="p"/>
                      </m:rPr>
                      <a:rPr lang="fr-FR" sz="1400" baseline="-25000">
                        <a:solidFill>
                          <a:schemeClr val="tx1"/>
                        </a:solidFill>
                        <a:latin typeface="Cambria Math" panose="02040503050406030204" pitchFamily="18" charset="0"/>
                      </a:rPr>
                      <m:t>h</m:t>
                    </m:r>
                    <m:r>
                      <a:rPr lang="fr-FR" sz="1400" baseline="-25000">
                        <a:solidFill>
                          <a:schemeClr val="tx1"/>
                        </a:solidFill>
                        <a:latin typeface="Cambria Math" panose="02040503050406030204" pitchFamily="18" charset="0"/>
                      </a:rPr>
                      <m:t>2</m:t>
                    </m:r>
                  </m:oMath>
                </a14:m>
                <a:r>
                  <a:rPr lang="fr-FR" sz="1400" baseline="-25000" dirty="0">
                    <a:solidFill>
                      <a:schemeClr val="tx1"/>
                    </a:solidFill>
                    <a:ea typeface="Cambria Math" panose="02040503050406030204" pitchFamily="18" charset="0"/>
                  </a:rPr>
                  <a:t> </a:t>
                </a:r>
                <a14:m>
                  <m:oMath xmlns:m="http://schemas.openxmlformats.org/officeDocument/2006/math">
                    <m:r>
                      <a:rPr lang="fr-FR" sz="1400" i="1" baseline="-25000">
                        <a:solidFill>
                          <a:schemeClr val="tx1"/>
                        </a:solidFill>
                        <a:latin typeface="Cambria Math" panose="02040503050406030204" pitchFamily="18" charset="0"/>
                        <a:ea typeface="Cambria Math" panose="02040503050406030204" pitchFamily="18" charset="0"/>
                      </a:rPr>
                      <m:t>&gt;0</m:t>
                    </m:r>
                    <m:r>
                      <a:rPr lang="fr-FR" sz="1400" i="1" baseline="-25000">
                        <a:solidFill>
                          <a:schemeClr val="tx1"/>
                        </a:solidFill>
                        <a:latin typeface="Cambria Math" panose="02040503050406030204" pitchFamily="18" charset="0"/>
                      </a:rPr>
                      <m:t>}</m:t>
                    </m:r>
                  </m:oMath>
                </a14:m>
                <a:r>
                  <a:rPr lang="fr-FR" sz="1400" dirty="0">
                    <a:solidFill>
                      <a:schemeClr val="tx1"/>
                    </a:solidFill>
                    <a:ea typeface="Cambria Math" panose="02040503050406030204" pitchFamily="18" charset="0"/>
                  </a:rPr>
                  <a:t> </a:t>
                </a:r>
                <a14:m>
                  <m:oMath xmlns:m="http://schemas.openxmlformats.org/officeDocument/2006/math">
                    <m:r>
                      <a:rPr lang="fr-FR" sz="1400" b="0" i="1" dirty="0" smtClean="0">
                        <a:solidFill>
                          <a:schemeClr val="tx1"/>
                        </a:solidFill>
                        <a:latin typeface="Cambria Math" panose="02040503050406030204" pitchFamily="18" charset="0"/>
                        <a:ea typeface="Cambria Math" panose="02040503050406030204" pitchFamily="18" charset="0"/>
                      </a:rPr>
                      <m:t>)</m:t>
                    </m:r>
                  </m:oMath>
                </a14:m>
                <a:endParaRPr lang="fr-FR" sz="1400" dirty="0"/>
              </a:p>
            </p:txBody>
          </p:sp>
        </mc:Choice>
        <mc:Fallback xmlns="">
          <p:sp>
            <p:nvSpPr>
              <p:cNvPr id="16" name="ZoneTexte 15">
                <a:extLst>
                  <a:ext uri="{FF2B5EF4-FFF2-40B4-BE49-F238E27FC236}">
                    <a16:creationId xmlns:a16="http://schemas.microsoft.com/office/drawing/2014/main" id="{DE8099DE-F6C2-E112-F79C-D79D81729903}"/>
                  </a:ext>
                </a:extLst>
              </p:cNvPr>
              <p:cNvSpPr txBox="1">
                <a:spLocks noRot="1" noChangeAspect="1" noMove="1" noResize="1" noEditPoints="1" noAdjustHandles="1" noChangeArrowheads="1" noChangeShapeType="1" noTextEdit="1"/>
              </p:cNvSpPr>
              <p:nvPr/>
            </p:nvSpPr>
            <p:spPr>
              <a:xfrm>
                <a:off x="4372486" y="4489805"/>
                <a:ext cx="7647317" cy="409086"/>
              </a:xfrm>
              <a:prstGeom prst="rect">
                <a:avLst/>
              </a:prstGeom>
              <a:blipFill>
                <a:blip r:embed="rId6"/>
                <a:stretch>
                  <a:fillRect b="-2941"/>
                </a:stretch>
              </a:blipFill>
              <a:ln>
                <a:solidFill>
                  <a:srgbClr val="FF0000"/>
                </a:solidFill>
              </a:ln>
            </p:spPr>
            <p:txBody>
              <a:bodyPr/>
              <a:lstStyle/>
              <a:p>
                <a:r>
                  <a:rPr lang="en-GB">
                    <a:noFill/>
                  </a:rPr>
                  <a:t> </a:t>
                </a:r>
              </a:p>
            </p:txBody>
          </p:sp>
        </mc:Fallback>
      </mc:AlternateContent>
      <p:sp>
        <p:nvSpPr>
          <p:cNvPr id="23" name="ZoneTexte 22">
            <a:extLst>
              <a:ext uri="{FF2B5EF4-FFF2-40B4-BE49-F238E27FC236}">
                <a16:creationId xmlns:a16="http://schemas.microsoft.com/office/drawing/2014/main" id="{EA5DF9E7-E9A4-0767-1A05-34181AB2F4BB}"/>
              </a:ext>
            </a:extLst>
          </p:cNvPr>
          <p:cNvSpPr txBox="1"/>
          <p:nvPr/>
        </p:nvSpPr>
        <p:spPr>
          <a:xfrm>
            <a:off x="4372486" y="5223635"/>
            <a:ext cx="1280857" cy="261610"/>
          </a:xfrm>
          <a:prstGeom prst="rect">
            <a:avLst/>
          </a:prstGeom>
          <a:noFill/>
        </p:spPr>
        <p:txBody>
          <a:bodyPr wrap="square" rtlCol="0">
            <a:spAutoFit/>
          </a:bodyPr>
          <a:lstStyle/>
          <a:p>
            <a:r>
              <a:rPr lang="en-GB" sz="1100" b="1" noProof="0" dirty="0"/>
              <a:t>Symmetrically</a:t>
            </a:r>
          </a:p>
        </p:txBody>
      </p:sp>
      <mc:AlternateContent xmlns:mc="http://schemas.openxmlformats.org/markup-compatibility/2006" xmlns:a14="http://schemas.microsoft.com/office/drawing/2010/main">
        <mc:Choice Requires="a14">
          <p:sp>
            <p:nvSpPr>
              <p:cNvPr id="25" name="ZoneTexte 24">
                <a:extLst>
                  <a:ext uri="{FF2B5EF4-FFF2-40B4-BE49-F238E27FC236}">
                    <a16:creationId xmlns:a16="http://schemas.microsoft.com/office/drawing/2014/main" id="{E51A969A-6113-B483-CB13-72CE2DEE7ACB}"/>
                  </a:ext>
                </a:extLst>
              </p:cNvPr>
              <p:cNvSpPr txBox="1"/>
              <p:nvPr/>
            </p:nvSpPr>
            <p:spPr>
              <a:xfrm>
                <a:off x="4358676" y="5485245"/>
                <a:ext cx="7647317" cy="409086"/>
              </a:xfrm>
              <a:prstGeom prst="rect">
                <a:avLst/>
              </a:prstGeom>
              <a:noFill/>
              <a:ln>
                <a:solidFill>
                  <a:srgbClr val="FF0000"/>
                </a:solidFill>
              </a:ln>
            </p:spPr>
            <p:txBody>
              <a:bodyPr wrap="square">
                <a:spAutoFit/>
              </a:bodyPr>
              <a:lstStyle/>
              <a:p>
                <a:pPr algn="ctr"/>
                <a14:m>
                  <m:oMath xmlns:m="http://schemas.openxmlformats.org/officeDocument/2006/math">
                    <m:f>
                      <m:fPr>
                        <m:ctrlPr>
                          <a:rPr lang="fr-FR" sz="1400" i="1" smtClean="0">
                            <a:latin typeface="Cambria Math" panose="02040503050406030204" pitchFamily="18" charset="0"/>
                          </a:rPr>
                        </m:ctrlPr>
                      </m:fPr>
                      <m:num>
                        <m:r>
                          <a:rPr lang="fr-FR" sz="1400">
                            <a:latin typeface="Cambria Math" panose="02040503050406030204" pitchFamily="18" charset="0"/>
                          </a:rPr>
                          <m:t>𝜕</m:t>
                        </m:r>
                        <m:r>
                          <m:rPr>
                            <m:sty m:val="p"/>
                          </m:rPr>
                          <a:rPr lang="fr-FR" sz="1400">
                            <a:latin typeface="Cambria Math" panose="02040503050406030204" pitchFamily="18" charset="0"/>
                          </a:rPr>
                          <m:t>Loss</m:t>
                        </m:r>
                        <m:r>
                          <a:rPr lang="fr-FR" sz="1400" b="0" i="1" smtClean="0">
                            <a:latin typeface="Cambria Math" panose="02040503050406030204" pitchFamily="18" charset="0"/>
                          </a:rPr>
                          <m:t>2</m:t>
                        </m:r>
                      </m:num>
                      <m:den>
                        <m:r>
                          <a:rPr lang="fr-FR" sz="1400">
                            <a:latin typeface="Cambria Math" panose="02040503050406030204" pitchFamily="18" charset="0"/>
                          </a:rPr>
                          <m:t>𝜕</m:t>
                        </m:r>
                        <m:r>
                          <m:rPr>
                            <m:sty m:val="p"/>
                          </m:rPr>
                          <a:rPr lang="fr-FR" sz="1400">
                            <a:latin typeface="Cambria Math" panose="02040503050406030204" pitchFamily="18" charset="0"/>
                          </a:rPr>
                          <m:t>b</m:t>
                        </m:r>
                        <m:r>
                          <a:rPr lang="fr-FR" sz="1400">
                            <a:latin typeface="Cambria Math" panose="02040503050406030204" pitchFamily="18" charset="0"/>
                          </a:rPr>
                          <m:t>1</m:t>
                        </m:r>
                      </m:den>
                    </m:f>
                    <m:r>
                      <a:rPr lang="fr-FR" sz="1400">
                        <a:latin typeface="Cambria Math" panose="02040503050406030204" pitchFamily="18" charset="0"/>
                      </a:rPr>
                      <m:t>=</m:t>
                    </m:r>
                    <m:r>
                      <m:rPr>
                        <m:nor/>
                      </m:rPr>
                      <a:rPr lang="fr-FR" sz="1400">
                        <a:latin typeface="Cambria Math" panose="02040503050406030204" pitchFamily="18" charset="0"/>
                        <a:ea typeface="Cambria Math" panose="02040503050406030204" pitchFamily="18" charset="0"/>
                      </a:rPr>
                      <m:t>−2</m:t>
                    </m:r>
                    <m:r>
                      <m:rPr>
                        <m:nor/>
                      </m:rPr>
                      <a:rPr lang="fr-FR" sz="1400" dirty="0">
                        <a:latin typeface="Cambria Math" panose="02040503050406030204" pitchFamily="18" charset="0"/>
                        <a:ea typeface="Cambria Math" panose="02040503050406030204" pitchFamily="18" charset="0"/>
                      </a:rPr>
                      <m:t>(</m:t>
                    </m:r>
                    <m:sSub>
                      <m:sSubPr>
                        <m:ctrlPr>
                          <a:rPr lang="fr-FR" sz="1400" i="1" dirty="0">
                            <a:latin typeface="Cambria Math" panose="02040503050406030204" pitchFamily="18" charset="0"/>
                            <a:ea typeface="Cambria Math" panose="02040503050406030204" pitchFamily="18" charset="0"/>
                          </a:rPr>
                        </m:ctrlPr>
                      </m:sSubPr>
                      <m:e>
                        <m:r>
                          <m:rPr>
                            <m:sty m:val="p"/>
                          </m:rPr>
                          <a:rPr lang="fr-FR" sz="1400">
                            <a:latin typeface="Cambria Math" panose="02040503050406030204" pitchFamily="18" charset="0"/>
                            <a:ea typeface="Cambria Math" panose="02040503050406030204" pitchFamily="18" charset="0"/>
                          </a:rPr>
                          <m:t>target</m:t>
                        </m:r>
                      </m:e>
                      <m:sub>
                        <m:r>
                          <m:rPr>
                            <m:sty m:val="p"/>
                          </m:rPr>
                          <a:rPr lang="fr-FR" sz="1400">
                            <a:latin typeface="Cambria Math" panose="02040503050406030204" pitchFamily="18" charset="0"/>
                            <a:ea typeface="Cambria Math" panose="02040503050406030204" pitchFamily="18" charset="0"/>
                          </a:rPr>
                          <m:t>o</m:t>
                        </m:r>
                        <m:r>
                          <m:rPr>
                            <m:nor/>
                          </m:rPr>
                          <a:rPr lang="fr-FR" sz="1400">
                            <a:latin typeface="Cambria Math" panose="02040503050406030204" pitchFamily="18" charset="0"/>
                            <a:ea typeface="Cambria Math" panose="02040503050406030204" pitchFamily="18" charset="0"/>
                          </a:rPr>
                          <m:t>2</m:t>
                        </m:r>
                      </m:sub>
                    </m:sSub>
                    <m:r>
                      <a:rPr lang="fr-FR" sz="1400" i="1">
                        <a:latin typeface="Cambria Math" panose="02040503050406030204" pitchFamily="18" charset="0"/>
                        <a:ea typeface="Cambria Math" panose="02040503050406030204" pitchFamily="18" charset="0"/>
                      </a:rPr>
                      <m:t>− </m:t>
                    </m:r>
                    <m:r>
                      <m:rPr>
                        <m:sty m:val="p"/>
                      </m:rPr>
                      <a:rPr lang="fr-FR" sz="1400">
                        <a:latin typeface="Cambria Math" panose="02040503050406030204" pitchFamily="18" charset="0"/>
                        <a:ea typeface="Cambria Math" panose="02040503050406030204" pitchFamily="18" charset="0"/>
                      </a:rPr>
                      <m:t>out</m:t>
                    </m:r>
                    <m:r>
                      <a:rPr lang="fr-FR" sz="1400">
                        <a:latin typeface="Cambria Math" panose="02040503050406030204" pitchFamily="18" charset="0"/>
                        <a:ea typeface="Cambria Math" panose="02040503050406030204" pitchFamily="18" charset="0"/>
                      </a:rPr>
                      <m:t>_</m:t>
                    </m:r>
                    <m:r>
                      <m:rPr>
                        <m:sty m:val="p"/>
                      </m:rPr>
                      <a:rPr lang="fr-FR" sz="1400">
                        <a:latin typeface="Cambria Math" panose="02040503050406030204" pitchFamily="18" charset="0"/>
                        <a:ea typeface="Cambria Math" panose="02040503050406030204" pitchFamily="18" charset="0"/>
                      </a:rPr>
                      <m:t>o</m:t>
                    </m:r>
                    <m:r>
                      <a:rPr lang="fr-FR" sz="1400">
                        <a:latin typeface="Cambria Math" panose="02040503050406030204" pitchFamily="18" charset="0"/>
                        <a:ea typeface="Cambria Math" panose="02040503050406030204" pitchFamily="18" charset="0"/>
                      </a:rPr>
                      <m:t>2</m:t>
                    </m:r>
                    <m:r>
                      <a:rPr lang="fr-FR" sz="1400" i="1">
                        <a:latin typeface="Cambria Math" panose="02040503050406030204" pitchFamily="18" charset="0"/>
                        <a:ea typeface="Cambria Math" panose="02040503050406030204" pitchFamily="18" charset="0"/>
                      </a:rPr>
                      <m:t>)</m:t>
                    </m:r>
                    <m:r>
                      <a:rPr lang="fr-FR" sz="1400" b="0" i="1">
                        <a:solidFill>
                          <a:schemeClr val="tx1"/>
                        </a:solidFill>
                        <a:latin typeface="Cambria Math" panose="02040503050406030204" pitchFamily="18" charset="0"/>
                        <a:ea typeface="Cambria Math" panose="02040503050406030204" pitchFamily="18" charset="0"/>
                      </a:rPr>
                      <m:t>×</m:t>
                    </m:r>
                    <m:r>
                      <m:rPr>
                        <m:nor/>
                      </m:rPr>
                      <a:rPr lang="fr-FR" sz="1400">
                        <a:solidFill>
                          <a:schemeClr val="tx1"/>
                        </a:solidFill>
                        <a:latin typeface="Cambria Math" panose="02040503050406030204" pitchFamily="18" charset="0"/>
                        <a:ea typeface="Cambria Math" panose="02040503050406030204" pitchFamily="18" charset="0"/>
                      </a:rPr>
                      <m:t> </m:t>
                    </m:r>
                    <m:r>
                      <m:rPr>
                        <m:sty m:val="p"/>
                      </m:rPr>
                      <a:rPr lang="fr-FR" sz="1400" b="0" i="0" smtClean="0">
                        <a:solidFill>
                          <a:schemeClr val="tx1"/>
                        </a:solidFill>
                        <a:latin typeface="Cambria Math" panose="02040503050406030204" pitchFamily="18" charset="0"/>
                        <a:ea typeface="Cambria Math" panose="02040503050406030204" pitchFamily="18" charset="0"/>
                      </a:rPr>
                      <m:t>out</m:t>
                    </m:r>
                    <m:r>
                      <a:rPr lang="fr-FR" sz="1400" b="0" i="0" smtClean="0">
                        <a:solidFill>
                          <a:schemeClr val="tx1"/>
                        </a:solidFill>
                        <a:latin typeface="Cambria Math" panose="02040503050406030204" pitchFamily="18" charset="0"/>
                        <a:ea typeface="Cambria Math" panose="02040503050406030204" pitchFamily="18" charset="0"/>
                      </a:rPr>
                      <m:t>_</m:t>
                    </m:r>
                    <m:r>
                      <m:rPr>
                        <m:sty m:val="p"/>
                      </m:rPr>
                      <a:rPr lang="fr-FR" sz="1400" b="0" i="0" smtClean="0">
                        <a:solidFill>
                          <a:schemeClr val="tx1"/>
                        </a:solidFill>
                        <a:latin typeface="Cambria Math" panose="02040503050406030204" pitchFamily="18" charset="0"/>
                        <a:ea typeface="Cambria Math" panose="02040503050406030204" pitchFamily="18" charset="0"/>
                      </a:rPr>
                      <m:t>o</m:t>
                    </m:r>
                    <m:r>
                      <a:rPr lang="fr-FR" sz="1400" b="0" i="0" smtClean="0">
                        <a:solidFill>
                          <a:schemeClr val="tx1"/>
                        </a:solidFill>
                        <a:latin typeface="Cambria Math" panose="02040503050406030204" pitchFamily="18" charset="0"/>
                        <a:ea typeface="Cambria Math" panose="02040503050406030204" pitchFamily="18" charset="0"/>
                      </a:rPr>
                      <m:t>2(1−</m:t>
                    </m:r>
                    <m:r>
                      <m:rPr>
                        <m:sty m:val="p"/>
                      </m:rPr>
                      <a:rPr lang="fr-FR" sz="1400" b="0" i="0" smtClean="0">
                        <a:solidFill>
                          <a:schemeClr val="tx1"/>
                        </a:solidFill>
                        <a:latin typeface="Cambria Math" panose="02040503050406030204" pitchFamily="18" charset="0"/>
                        <a:ea typeface="Cambria Math" panose="02040503050406030204" pitchFamily="18" charset="0"/>
                      </a:rPr>
                      <m:t>out</m:t>
                    </m:r>
                    <m:r>
                      <a:rPr lang="fr-FR" sz="1400" b="0" i="0" smtClean="0">
                        <a:solidFill>
                          <a:schemeClr val="tx1"/>
                        </a:solidFill>
                        <a:latin typeface="Cambria Math" panose="02040503050406030204" pitchFamily="18" charset="0"/>
                        <a:ea typeface="Cambria Math" panose="02040503050406030204" pitchFamily="18" charset="0"/>
                      </a:rPr>
                      <m:t>_</m:t>
                    </m:r>
                    <m:r>
                      <m:rPr>
                        <m:sty m:val="p"/>
                      </m:rPr>
                      <a:rPr lang="fr-FR" sz="1400" b="0" i="0" smtClean="0">
                        <a:solidFill>
                          <a:schemeClr val="tx1"/>
                        </a:solidFill>
                        <a:latin typeface="Cambria Math" panose="02040503050406030204" pitchFamily="18" charset="0"/>
                        <a:ea typeface="Cambria Math" panose="02040503050406030204" pitchFamily="18" charset="0"/>
                      </a:rPr>
                      <m:t>o</m:t>
                    </m:r>
                    <m:r>
                      <a:rPr lang="fr-FR" sz="1400" b="0" i="1" smtClean="0">
                        <a:solidFill>
                          <a:schemeClr val="tx1"/>
                        </a:solidFill>
                        <a:latin typeface="Cambria Math" panose="02040503050406030204" pitchFamily="18" charset="0"/>
                        <a:ea typeface="Cambria Math" panose="02040503050406030204" pitchFamily="18" charset="0"/>
                      </a:rPr>
                      <m:t>2)</m:t>
                    </m:r>
                    <m:r>
                      <a:rPr lang="fr-FR" sz="1400" i="1">
                        <a:latin typeface="Cambria Math" panose="02040503050406030204" pitchFamily="18" charset="0"/>
                        <a:ea typeface="Cambria Math" panose="02040503050406030204" pitchFamily="18" charset="0"/>
                      </a:rPr>
                      <m:t>×</m:t>
                    </m:r>
                    <m:r>
                      <a:rPr lang="fr-FR" sz="1400" b="0" i="0" smtClean="0">
                        <a:latin typeface="Cambria Math" panose="02040503050406030204" pitchFamily="18" charset="0"/>
                        <a:ea typeface="Cambria Math" panose="02040503050406030204" pitchFamily="18" charset="0"/>
                      </a:rPr>
                      <m:t>(</m:t>
                    </m:r>
                    <m:r>
                      <m:rPr>
                        <m:sty m:val="p"/>
                      </m:rPr>
                      <a:rPr lang="fr-FR" sz="1400" b="0" i="0" smtClean="0">
                        <a:solidFill>
                          <a:schemeClr val="tx1"/>
                        </a:solidFill>
                        <a:latin typeface="Cambria Math" panose="02040503050406030204" pitchFamily="18" charset="0"/>
                        <a:ea typeface="Cambria Math" panose="02040503050406030204" pitchFamily="18" charset="0"/>
                      </a:rPr>
                      <m:t>w</m:t>
                    </m:r>
                    <m:r>
                      <a:rPr lang="fr-FR" sz="1400" b="0" i="1" smtClean="0">
                        <a:solidFill>
                          <a:schemeClr val="tx1"/>
                        </a:solidFill>
                        <a:latin typeface="Cambria Math" panose="02040503050406030204" pitchFamily="18" charset="0"/>
                        <a:ea typeface="Cambria Math" panose="02040503050406030204" pitchFamily="18" charset="0"/>
                      </a:rPr>
                      <m:t>8×1</m:t>
                    </m:r>
                    <m:r>
                      <a:rPr lang="fr-FR" sz="1400" b="0" i="1" baseline="-25000" smtClean="0">
                        <a:solidFill>
                          <a:schemeClr val="tx1"/>
                        </a:solidFill>
                        <a:latin typeface="Cambria Math" panose="02040503050406030204" pitchFamily="18" charset="0"/>
                        <a:ea typeface="Cambria Math" panose="02040503050406030204" pitchFamily="18" charset="0"/>
                      </a:rPr>
                      <m:t>{</m:t>
                    </m:r>
                    <m:r>
                      <a:rPr lang="fr-FR" sz="1400" b="0" i="1" baseline="-25000">
                        <a:solidFill>
                          <a:schemeClr val="tx1"/>
                        </a:solidFill>
                        <a:latin typeface="Cambria Math" panose="02040503050406030204" pitchFamily="18" charset="0"/>
                        <a:ea typeface="Cambria Math" panose="02040503050406030204" pitchFamily="18" charset="0"/>
                      </a:rPr>
                      <m:t>𝑛𝑒𝑡</m:t>
                    </m:r>
                    <m:r>
                      <a:rPr lang="fr-FR" sz="1400" b="0" i="1" baseline="-25000">
                        <a:solidFill>
                          <a:schemeClr val="tx1"/>
                        </a:solidFill>
                        <a:latin typeface="Cambria Math" panose="02040503050406030204" pitchFamily="18" charset="0"/>
                        <a:ea typeface="Cambria Math" panose="02040503050406030204" pitchFamily="18" charset="0"/>
                      </a:rPr>
                      <m:t>_</m:t>
                    </m:r>
                    <m:r>
                      <a:rPr lang="fr-FR" sz="1400" b="0" i="1" baseline="-25000">
                        <a:solidFill>
                          <a:schemeClr val="tx1"/>
                        </a:solidFill>
                        <a:latin typeface="Cambria Math" panose="02040503050406030204" pitchFamily="18" charset="0"/>
                        <a:ea typeface="Cambria Math" panose="02040503050406030204" pitchFamily="18" charset="0"/>
                      </a:rPr>
                      <m:t>h</m:t>
                    </m:r>
                    <m:r>
                      <a:rPr lang="fr-FR" sz="1400" b="0" i="1" baseline="-25000" smtClean="0">
                        <a:solidFill>
                          <a:schemeClr val="tx1"/>
                        </a:solidFill>
                        <a:latin typeface="Cambria Math" panose="02040503050406030204" pitchFamily="18" charset="0"/>
                        <a:ea typeface="Cambria Math" panose="02040503050406030204" pitchFamily="18" charset="0"/>
                      </a:rPr>
                      <m:t>2</m:t>
                    </m:r>
                    <m:r>
                      <a:rPr lang="fr-FR" sz="1400" b="0" i="1" baseline="-25000">
                        <a:solidFill>
                          <a:schemeClr val="tx1"/>
                        </a:solidFill>
                        <a:latin typeface="Cambria Math" panose="02040503050406030204" pitchFamily="18" charset="0"/>
                        <a:ea typeface="Cambria Math" panose="02040503050406030204" pitchFamily="18" charset="0"/>
                      </a:rPr>
                      <m:t>≥0})</m:t>
                    </m:r>
                    <m:r>
                      <a:rPr lang="fr-FR" sz="1400" b="0" i="0" smtClean="0">
                        <a:solidFill>
                          <a:schemeClr val="tx1"/>
                        </a:solidFill>
                        <a:latin typeface="Cambria Math" panose="02040503050406030204" pitchFamily="18" charset="0"/>
                      </a:rPr>
                      <m:t> </m:t>
                    </m:r>
                    <m:r>
                      <a:rPr lang="fr-FR" sz="1400" b="0" i="0" smtClean="0">
                        <a:solidFill>
                          <a:srgbClr val="FF0000"/>
                        </a:solidFill>
                        <a:latin typeface="Cambria Math" panose="02040503050406030204" pitchFamily="18" charset="0"/>
                      </a:rPr>
                      <m:t>+</m:t>
                    </m:r>
                    <m:r>
                      <m:rPr>
                        <m:sty m:val="p"/>
                      </m:rPr>
                      <a:rPr lang="fr-FR" sz="1400" smtClean="0">
                        <a:solidFill>
                          <a:schemeClr val="tx1"/>
                        </a:solidFill>
                        <a:latin typeface="Cambria Math" panose="02040503050406030204" pitchFamily="18" charset="0"/>
                      </a:rPr>
                      <m:t>w</m:t>
                    </m:r>
                    <m:r>
                      <a:rPr lang="fr-FR" sz="1400" b="0" i="1" smtClean="0">
                        <a:solidFill>
                          <a:schemeClr val="tx1"/>
                        </a:solidFill>
                        <a:latin typeface="Cambria Math" panose="02040503050406030204" pitchFamily="18" charset="0"/>
                      </a:rPr>
                      <m:t>7</m:t>
                    </m:r>
                    <m:r>
                      <a:rPr lang="fr-FR" sz="1400" i="1">
                        <a:solidFill>
                          <a:schemeClr val="tx1"/>
                        </a:solidFill>
                        <a:latin typeface="Cambria Math" panose="02040503050406030204" pitchFamily="18" charset="0"/>
                        <a:ea typeface="Cambria Math" panose="02040503050406030204" pitchFamily="18" charset="0"/>
                      </a:rPr>
                      <m:t>×</m:t>
                    </m:r>
                    <m:r>
                      <a:rPr lang="fr-FR" sz="1400" i="1">
                        <a:solidFill>
                          <a:schemeClr val="tx1"/>
                        </a:solidFill>
                        <a:latin typeface="Cambria Math" panose="02040503050406030204" pitchFamily="18" charset="0"/>
                      </a:rPr>
                      <m:t>1</m:t>
                    </m:r>
                    <m:r>
                      <a:rPr lang="fr-FR" sz="1400" i="1" baseline="-25000">
                        <a:solidFill>
                          <a:schemeClr val="tx1"/>
                        </a:solidFill>
                        <a:latin typeface="Cambria Math" panose="02040503050406030204" pitchFamily="18" charset="0"/>
                      </a:rPr>
                      <m:t>{</m:t>
                    </m:r>
                    <m:r>
                      <m:rPr>
                        <m:sty m:val="p"/>
                      </m:rPr>
                      <a:rPr lang="fr-FR" sz="1400" baseline="-25000">
                        <a:solidFill>
                          <a:schemeClr val="tx1"/>
                        </a:solidFill>
                        <a:latin typeface="Cambria Math" panose="02040503050406030204" pitchFamily="18" charset="0"/>
                      </a:rPr>
                      <m:t>net</m:t>
                    </m:r>
                    <m:r>
                      <a:rPr lang="fr-FR" sz="1400" baseline="-25000">
                        <a:solidFill>
                          <a:schemeClr val="tx1"/>
                        </a:solidFill>
                        <a:latin typeface="Cambria Math" panose="02040503050406030204" pitchFamily="18" charset="0"/>
                      </a:rPr>
                      <m:t>_</m:t>
                    </m:r>
                    <m:r>
                      <m:rPr>
                        <m:sty m:val="p"/>
                      </m:rPr>
                      <a:rPr lang="fr-FR" sz="1400" baseline="-25000">
                        <a:solidFill>
                          <a:schemeClr val="tx1"/>
                        </a:solidFill>
                        <a:latin typeface="Cambria Math" panose="02040503050406030204" pitchFamily="18" charset="0"/>
                      </a:rPr>
                      <m:t>h</m:t>
                    </m:r>
                  </m:oMath>
                </a14:m>
                <a:r>
                  <a:rPr lang="fr-FR" sz="1400" baseline="-25000" dirty="0">
                    <a:solidFill>
                      <a:schemeClr val="tx1"/>
                    </a:solidFill>
                    <a:ea typeface="Cambria Math" panose="02040503050406030204" pitchFamily="18" charset="0"/>
                  </a:rPr>
                  <a:t>1 </a:t>
                </a:r>
                <a14:m>
                  <m:oMath xmlns:m="http://schemas.openxmlformats.org/officeDocument/2006/math">
                    <m:r>
                      <a:rPr lang="fr-FR" sz="1400" i="1" baseline="-25000">
                        <a:solidFill>
                          <a:schemeClr val="tx1"/>
                        </a:solidFill>
                        <a:latin typeface="Cambria Math" panose="02040503050406030204" pitchFamily="18" charset="0"/>
                        <a:ea typeface="Cambria Math" panose="02040503050406030204" pitchFamily="18" charset="0"/>
                      </a:rPr>
                      <m:t>&gt;0</m:t>
                    </m:r>
                    <m:r>
                      <a:rPr lang="fr-FR" sz="1400" i="1" baseline="-25000">
                        <a:solidFill>
                          <a:schemeClr val="tx1"/>
                        </a:solidFill>
                        <a:latin typeface="Cambria Math" panose="02040503050406030204" pitchFamily="18" charset="0"/>
                      </a:rPr>
                      <m:t>}</m:t>
                    </m:r>
                  </m:oMath>
                </a14:m>
                <a:r>
                  <a:rPr lang="fr-FR" sz="1400" dirty="0">
                    <a:solidFill>
                      <a:schemeClr val="tx1"/>
                    </a:solidFill>
                    <a:ea typeface="Cambria Math" panose="02040503050406030204" pitchFamily="18" charset="0"/>
                  </a:rPr>
                  <a:t> </a:t>
                </a:r>
                <a14:m>
                  <m:oMath xmlns:m="http://schemas.openxmlformats.org/officeDocument/2006/math">
                    <m:r>
                      <a:rPr lang="fr-FR" sz="1400" b="0" i="1" dirty="0" smtClean="0">
                        <a:solidFill>
                          <a:schemeClr val="tx1"/>
                        </a:solidFill>
                        <a:latin typeface="Cambria Math" panose="02040503050406030204" pitchFamily="18" charset="0"/>
                        <a:ea typeface="Cambria Math" panose="02040503050406030204" pitchFamily="18" charset="0"/>
                      </a:rPr>
                      <m:t>)</m:t>
                    </m:r>
                  </m:oMath>
                </a14:m>
                <a:endParaRPr lang="fr-FR" sz="1400" dirty="0"/>
              </a:p>
            </p:txBody>
          </p:sp>
        </mc:Choice>
        <mc:Fallback xmlns="">
          <p:sp>
            <p:nvSpPr>
              <p:cNvPr id="25" name="ZoneTexte 24">
                <a:extLst>
                  <a:ext uri="{FF2B5EF4-FFF2-40B4-BE49-F238E27FC236}">
                    <a16:creationId xmlns:a16="http://schemas.microsoft.com/office/drawing/2014/main" id="{E51A969A-6113-B483-CB13-72CE2DEE7ACB}"/>
                  </a:ext>
                </a:extLst>
              </p:cNvPr>
              <p:cNvSpPr txBox="1">
                <a:spLocks noRot="1" noChangeAspect="1" noMove="1" noResize="1" noEditPoints="1" noAdjustHandles="1" noChangeArrowheads="1" noChangeShapeType="1" noTextEdit="1"/>
              </p:cNvSpPr>
              <p:nvPr/>
            </p:nvSpPr>
            <p:spPr>
              <a:xfrm>
                <a:off x="4358676" y="5485245"/>
                <a:ext cx="7647317" cy="409086"/>
              </a:xfrm>
              <a:prstGeom prst="rect">
                <a:avLst/>
              </a:prstGeom>
              <a:blipFill>
                <a:blip r:embed="rId7"/>
                <a:stretch>
                  <a:fillRect b="-5882"/>
                </a:stretch>
              </a:blipFill>
              <a:ln>
                <a:solidFill>
                  <a:srgbClr val="FF0000"/>
                </a:solidFill>
              </a:ln>
            </p:spPr>
            <p:txBody>
              <a:bodyPr/>
              <a:lstStyle/>
              <a:p>
                <a:r>
                  <a:rPr lang="en-GB">
                    <a:noFill/>
                  </a:rPr>
                  <a:t> </a:t>
                </a:r>
              </a:p>
            </p:txBody>
          </p:sp>
        </mc:Fallback>
      </mc:AlternateContent>
      <p:sp>
        <p:nvSpPr>
          <p:cNvPr id="26" name="Espace réservé du pied de page 25">
            <a:extLst>
              <a:ext uri="{FF2B5EF4-FFF2-40B4-BE49-F238E27FC236}">
                <a16:creationId xmlns:a16="http://schemas.microsoft.com/office/drawing/2014/main" id="{0F487220-02CD-DFFE-4DC9-99D7CA2D8EF3}"/>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35932628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03584-E404-D54E-6545-B534F167102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C864346-B027-7900-C004-66D00B7AAFA0}"/>
              </a:ext>
            </a:extLst>
          </p:cNvPr>
          <p:cNvSpPr>
            <a:spLocks noGrp="1"/>
          </p:cNvSpPr>
          <p:nvPr>
            <p:ph type="title"/>
          </p:nvPr>
        </p:nvSpPr>
        <p:spPr/>
        <p:txBody>
          <a:bodyPr/>
          <a:lstStyle/>
          <a:p>
            <a:r>
              <a:rPr lang="fr-FR" dirty="0"/>
              <a:t>Neural Network</a:t>
            </a:r>
          </a:p>
        </p:txBody>
      </p:sp>
      <p:sp>
        <p:nvSpPr>
          <p:cNvPr id="73" name="ZoneTexte 72">
            <a:extLst>
              <a:ext uri="{FF2B5EF4-FFF2-40B4-BE49-F238E27FC236}">
                <a16:creationId xmlns:a16="http://schemas.microsoft.com/office/drawing/2014/main" id="{B726DB85-6203-5AE0-A484-82C17F7C81B1}"/>
              </a:ext>
            </a:extLst>
          </p:cNvPr>
          <p:cNvSpPr txBox="1"/>
          <p:nvPr/>
        </p:nvSpPr>
        <p:spPr>
          <a:xfrm>
            <a:off x="6872060" y="760834"/>
            <a:ext cx="3324563" cy="584775"/>
          </a:xfrm>
          <a:prstGeom prst="rect">
            <a:avLst/>
          </a:prstGeom>
          <a:noFill/>
        </p:spPr>
        <p:txBody>
          <a:bodyPr wrap="square" rtlCol="0">
            <a:spAutoFit/>
          </a:bodyPr>
          <a:lstStyle/>
          <a:p>
            <a:r>
              <a:rPr lang="en-GB" sz="3200" b="1" noProof="0" dirty="0"/>
              <a:t>Gradient</a:t>
            </a:r>
          </a:p>
        </p:txBody>
      </p:sp>
      <mc:AlternateContent xmlns:mc="http://schemas.openxmlformats.org/markup-compatibility/2006" xmlns:a14="http://schemas.microsoft.com/office/drawing/2010/main">
        <mc:Choice Requires="a14">
          <p:sp>
            <p:nvSpPr>
              <p:cNvPr id="47" name="ZoneTexte 46">
                <a:extLst>
                  <a:ext uri="{FF2B5EF4-FFF2-40B4-BE49-F238E27FC236}">
                    <a16:creationId xmlns:a16="http://schemas.microsoft.com/office/drawing/2014/main" id="{DB9F1FAA-11A9-FCBF-C97B-5C4C315CEBFE}"/>
                  </a:ext>
                </a:extLst>
              </p:cNvPr>
              <p:cNvSpPr txBox="1"/>
              <p:nvPr/>
            </p:nvSpPr>
            <p:spPr>
              <a:xfrm>
                <a:off x="6528460" y="1752699"/>
                <a:ext cx="3105918" cy="414216"/>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fr-FR" sz="1100" i="1" smtClean="0">
                              <a:latin typeface="Cambria Math" panose="02040503050406030204" pitchFamily="18" charset="0"/>
                            </a:rPr>
                          </m:ctrlPr>
                        </m:fPr>
                        <m:num>
                          <m:r>
                            <a:rPr lang="fr-FR" sz="1100" i="0" smtClean="0">
                              <a:latin typeface="Cambria Math" panose="02040503050406030204" pitchFamily="18" charset="0"/>
                            </a:rPr>
                            <m:t>𝜕</m:t>
                          </m:r>
                          <m:r>
                            <m:rPr>
                              <m:sty m:val="p"/>
                            </m:rPr>
                            <a:rPr lang="fr-FR" sz="1100" b="0" i="0" smtClean="0">
                              <a:latin typeface="Cambria Math" panose="02040503050406030204" pitchFamily="18" charset="0"/>
                            </a:rPr>
                            <m:t>Loss</m:t>
                          </m:r>
                          <m:r>
                            <a:rPr lang="fr-FR" sz="1100" b="0" i="0" smtClean="0">
                              <a:latin typeface="Cambria Math" panose="02040503050406030204" pitchFamily="18" charset="0"/>
                            </a:rPr>
                            <m:t>1</m:t>
                          </m:r>
                        </m:num>
                        <m:den>
                          <m:r>
                            <a:rPr lang="fr-FR" sz="1100" i="0" smtClean="0">
                              <a:latin typeface="Cambria Math" panose="02040503050406030204" pitchFamily="18" charset="0"/>
                            </a:rPr>
                            <m:t>𝜕</m:t>
                          </m:r>
                          <m:r>
                            <m:rPr>
                              <m:sty m:val="p"/>
                            </m:rPr>
                            <a:rPr lang="fr-FR" sz="1100" b="0" i="0" smtClean="0">
                              <a:latin typeface="Cambria Math" panose="02040503050406030204" pitchFamily="18" charset="0"/>
                            </a:rPr>
                            <m:t>w</m:t>
                          </m:r>
                          <m:r>
                            <a:rPr lang="fr-FR" sz="1100" b="0" i="0" smtClean="0">
                              <a:latin typeface="Cambria Math" panose="02040503050406030204" pitchFamily="18" charset="0"/>
                            </a:rPr>
                            <m:t>5</m:t>
                          </m:r>
                        </m:den>
                      </m:f>
                      <m:r>
                        <a:rPr lang="fr-FR" sz="1100" b="0" i="0" smtClean="0">
                          <a:latin typeface="Cambria Math" panose="02040503050406030204" pitchFamily="18" charset="0"/>
                        </a:rPr>
                        <m:t>=</m:t>
                      </m:r>
                      <m:f>
                        <m:fPr>
                          <m:ctrlPr>
                            <a:rPr lang="fr-FR" sz="1100" i="1" smtClean="0">
                              <a:solidFill>
                                <a:schemeClr val="accent2"/>
                              </a:solidFill>
                              <a:latin typeface="Cambria Math" panose="02040503050406030204" pitchFamily="18" charset="0"/>
                            </a:rPr>
                          </m:ctrlPr>
                        </m:fPr>
                        <m:num>
                          <m:r>
                            <a:rPr lang="fr-FR" sz="1100">
                              <a:solidFill>
                                <a:schemeClr val="accent2"/>
                              </a:solidFill>
                              <a:latin typeface="Cambria Math" panose="02040503050406030204" pitchFamily="18" charset="0"/>
                            </a:rPr>
                            <m:t>𝜕</m:t>
                          </m:r>
                          <m:r>
                            <m:rPr>
                              <m:sty m:val="p"/>
                            </m:rPr>
                            <a:rPr lang="fr-FR" sz="1100">
                              <a:solidFill>
                                <a:schemeClr val="accent2"/>
                              </a:solidFill>
                              <a:latin typeface="Cambria Math" panose="02040503050406030204" pitchFamily="18" charset="0"/>
                            </a:rPr>
                            <m:t>Loss</m:t>
                          </m:r>
                          <m:r>
                            <a:rPr lang="fr-FR" sz="1100">
                              <a:solidFill>
                                <a:schemeClr val="accent2"/>
                              </a:solidFill>
                              <a:latin typeface="Cambria Math" panose="02040503050406030204" pitchFamily="18" charset="0"/>
                            </a:rPr>
                            <m:t>1</m:t>
                          </m:r>
                        </m:num>
                        <m:den>
                          <m:r>
                            <a:rPr lang="fr-FR" sz="1100">
                              <a:solidFill>
                                <a:schemeClr val="accent2"/>
                              </a:solidFill>
                              <a:latin typeface="Cambria Math" panose="02040503050406030204" pitchFamily="18" charset="0"/>
                            </a:rPr>
                            <m:t>𝜕</m:t>
                          </m:r>
                          <m:r>
                            <m:rPr>
                              <m:sty m:val="p"/>
                            </m:rPr>
                            <a:rPr lang="fr-FR" sz="1100" b="0" i="0" smtClean="0">
                              <a:solidFill>
                                <a:schemeClr val="accent2"/>
                              </a:solidFill>
                              <a:latin typeface="Cambria Math" panose="02040503050406030204" pitchFamily="18" charset="0"/>
                            </a:rPr>
                            <m:t>ou</m:t>
                          </m:r>
                          <m:r>
                            <m:rPr>
                              <m:sty m:val="p"/>
                            </m:rPr>
                            <a:rPr lang="fr-FR" sz="1100">
                              <a:solidFill>
                                <a:schemeClr val="accent2"/>
                              </a:solidFill>
                              <a:latin typeface="Cambria Math" panose="02040503050406030204" pitchFamily="18" charset="0"/>
                            </a:rPr>
                            <m:t>t</m:t>
                          </m:r>
                          <m:r>
                            <a:rPr lang="fr-FR" sz="1100">
                              <a:solidFill>
                                <a:schemeClr val="accent2"/>
                              </a:solidFill>
                              <a:latin typeface="Cambria Math" panose="02040503050406030204" pitchFamily="18" charset="0"/>
                            </a:rPr>
                            <m:t>_</m:t>
                          </m:r>
                          <m:r>
                            <m:rPr>
                              <m:sty m:val="p"/>
                            </m:rPr>
                            <a:rPr lang="fr-FR" sz="1100">
                              <a:solidFill>
                                <a:schemeClr val="accent2"/>
                              </a:solidFill>
                              <a:latin typeface="Cambria Math" panose="02040503050406030204" pitchFamily="18" charset="0"/>
                            </a:rPr>
                            <m:t>o</m:t>
                          </m:r>
                          <m:r>
                            <a:rPr lang="fr-FR" sz="1100">
                              <a:solidFill>
                                <a:schemeClr val="accent2"/>
                              </a:solidFill>
                              <a:latin typeface="Cambria Math" panose="02040503050406030204" pitchFamily="18" charset="0"/>
                            </a:rPr>
                            <m:t>1</m:t>
                          </m:r>
                        </m:den>
                      </m:f>
                      <m:r>
                        <a:rPr lang="fr-FR" sz="1100">
                          <a:latin typeface="Cambria Math" panose="02040503050406030204" pitchFamily="18" charset="0"/>
                        </a:rPr>
                        <m:t> </m:t>
                      </m:r>
                      <m:r>
                        <a:rPr lang="fr-FR" sz="1100" i="1">
                          <a:latin typeface="Cambria Math" panose="02040503050406030204" pitchFamily="18" charset="0"/>
                          <a:ea typeface="Cambria Math" panose="02040503050406030204" pitchFamily="18" charset="0"/>
                        </a:rPr>
                        <m:t>×</m:t>
                      </m:r>
                      <m:f>
                        <m:fPr>
                          <m:ctrlPr>
                            <a:rPr lang="fr-FR" sz="1100" b="0" i="1" smtClean="0">
                              <a:solidFill>
                                <a:schemeClr val="accent2"/>
                              </a:solidFill>
                              <a:latin typeface="Cambria Math" panose="02040503050406030204" pitchFamily="18" charset="0"/>
                            </a:rPr>
                          </m:ctrlPr>
                        </m:fPr>
                        <m:num>
                          <m:r>
                            <a:rPr lang="fr-FR" sz="1100" b="0" i="0" smtClean="0">
                              <a:solidFill>
                                <a:schemeClr val="accent2"/>
                              </a:solidFill>
                              <a:latin typeface="Cambria Math" panose="02040503050406030204" pitchFamily="18" charset="0"/>
                            </a:rPr>
                            <m:t>𝜕</m:t>
                          </m:r>
                          <m:r>
                            <m:rPr>
                              <m:sty m:val="p"/>
                            </m:rPr>
                            <a:rPr lang="fr-FR" sz="1100" b="0" i="0" smtClean="0">
                              <a:solidFill>
                                <a:schemeClr val="accent2"/>
                              </a:solidFill>
                              <a:latin typeface="Cambria Math" panose="02040503050406030204" pitchFamily="18" charset="0"/>
                            </a:rPr>
                            <m:t>out</m:t>
                          </m:r>
                          <m:r>
                            <a:rPr lang="fr-FR" sz="1100" b="0" i="0" smtClean="0">
                              <a:solidFill>
                                <a:schemeClr val="accent2"/>
                              </a:solidFill>
                              <a:latin typeface="Cambria Math" panose="02040503050406030204" pitchFamily="18" charset="0"/>
                            </a:rPr>
                            <m:t>_</m:t>
                          </m:r>
                          <m:r>
                            <m:rPr>
                              <m:sty m:val="p"/>
                            </m:rPr>
                            <a:rPr lang="fr-FR" sz="1100" b="0" i="0" smtClean="0">
                              <a:solidFill>
                                <a:schemeClr val="accent2"/>
                              </a:solidFill>
                              <a:latin typeface="Cambria Math" panose="02040503050406030204" pitchFamily="18" charset="0"/>
                            </a:rPr>
                            <m:t>o</m:t>
                          </m:r>
                          <m:r>
                            <a:rPr lang="fr-FR" sz="1100" b="0" i="0" smtClean="0">
                              <a:solidFill>
                                <a:schemeClr val="accent2"/>
                              </a:solidFill>
                              <a:latin typeface="Cambria Math" panose="02040503050406030204" pitchFamily="18" charset="0"/>
                            </a:rPr>
                            <m:t>1</m:t>
                          </m:r>
                        </m:num>
                        <m:den>
                          <m:r>
                            <a:rPr lang="fr-FR" sz="1100" b="0" i="0" smtClean="0">
                              <a:solidFill>
                                <a:schemeClr val="accent2"/>
                              </a:solidFill>
                              <a:latin typeface="Cambria Math" panose="02040503050406030204" pitchFamily="18" charset="0"/>
                            </a:rPr>
                            <m:t>𝜕</m:t>
                          </m:r>
                          <m:r>
                            <m:rPr>
                              <m:sty m:val="p"/>
                            </m:rPr>
                            <a:rPr lang="fr-FR" sz="1100" b="0" i="0" smtClean="0">
                              <a:solidFill>
                                <a:schemeClr val="accent2"/>
                              </a:solidFill>
                              <a:latin typeface="Cambria Math" panose="02040503050406030204" pitchFamily="18" charset="0"/>
                            </a:rPr>
                            <m:t>net</m:t>
                          </m:r>
                          <m:r>
                            <a:rPr lang="fr-FR" sz="1100" b="0" i="0" smtClean="0">
                              <a:solidFill>
                                <a:schemeClr val="accent2"/>
                              </a:solidFill>
                              <a:latin typeface="Cambria Math" panose="02040503050406030204" pitchFamily="18" charset="0"/>
                            </a:rPr>
                            <m:t>_</m:t>
                          </m:r>
                          <m:r>
                            <m:rPr>
                              <m:sty m:val="p"/>
                            </m:rPr>
                            <a:rPr lang="fr-FR" sz="1100" b="0" i="0" smtClean="0">
                              <a:solidFill>
                                <a:schemeClr val="accent2"/>
                              </a:solidFill>
                              <a:latin typeface="Cambria Math" panose="02040503050406030204" pitchFamily="18" charset="0"/>
                            </a:rPr>
                            <m:t>o</m:t>
                          </m:r>
                          <m:r>
                            <a:rPr lang="fr-FR" sz="1100" b="0" i="0" smtClean="0">
                              <a:solidFill>
                                <a:schemeClr val="accent2"/>
                              </a:solidFill>
                              <a:latin typeface="Cambria Math" panose="02040503050406030204" pitchFamily="18" charset="0"/>
                            </a:rPr>
                            <m:t>1</m:t>
                          </m:r>
                        </m:den>
                      </m:f>
                      <m:r>
                        <a:rPr lang="fr-FR" sz="1100" b="0" i="0" smtClean="0">
                          <a:solidFill>
                            <a:schemeClr val="tx1"/>
                          </a:solidFill>
                          <a:latin typeface="Cambria Math" panose="02040503050406030204" pitchFamily="18" charset="0"/>
                        </a:rPr>
                        <m:t> </m:t>
                      </m:r>
                      <m:r>
                        <a:rPr lang="fr-FR" sz="1100" b="0" i="1" smtClean="0">
                          <a:solidFill>
                            <a:schemeClr val="tx1"/>
                          </a:solidFill>
                          <a:latin typeface="Cambria Math" panose="02040503050406030204" pitchFamily="18" charset="0"/>
                          <a:ea typeface="Cambria Math" panose="02040503050406030204" pitchFamily="18" charset="0"/>
                        </a:rPr>
                        <m:t>×</m:t>
                      </m:r>
                      <m:f>
                        <m:fPr>
                          <m:ctrlPr>
                            <a:rPr lang="fr-FR" sz="1100" i="1">
                              <a:solidFill>
                                <a:schemeClr val="tx1"/>
                              </a:solidFill>
                              <a:latin typeface="Cambria Math" panose="02040503050406030204" pitchFamily="18" charset="0"/>
                            </a:rPr>
                          </m:ctrlPr>
                        </m:fPr>
                        <m:num>
                          <m:r>
                            <a:rPr lang="fr-FR" sz="1100">
                              <a:solidFill>
                                <a:schemeClr val="tx1"/>
                              </a:solidFill>
                              <a:latin typeface="Cambria Math" panose="02040503050406030204" pitchFamily="18" charset="0"/>
                            </a:rPr>
                            <m:t>𝜕</m:t>
                          </m:r>
                          <m:r>
                            <m:rPr>
                              <m:sty m:val="p"/>
                            </m:rPr>
                            <a:rPr lang="fr-FR" sz="1100" b="0" i="0" smtClean="0">
                              <a:solidFill>
                                <a:schemeClr val="tx1"/>
                              </a:solidFill>
                              <a:latin typeface="Cambria Math" panose="02040503050406030204" pitchFamily="18" charset="0"/>
                            </a:rPr>
                            <m:t>net</m:t>
                          </m:r>
                          <m:r>
                            <a:rPr lang="fr-FR" sz="1100" b="0" i="0" smtClean="0">
                              <a:solidFill>
                                <a:schemeClr val="tx1"/>
                              </a:solidFill>
                              <a:latin typeface="Cambria Math" panose="02040503050406030204" pitchFamily="18" charset="0"/>
                            </a:rPr>
                            <m:t>_</m:t>
                          </m:r>
                          <m:r>
                            <m:rPr>
                              <m:sty m:val="p"/>
                            </m:rPr>
                            <a:rPr lang="fr-FR" sz="1100" b="0" i="0" smtClean="0">
                              <a:solidFill>
                                <a:schemeClr val="tx1"/>
                              </a:solidFill>
                              <a:latin typeface="Cambria Math" panose="02040503050406030204" pitchFamily="18" charset="0"/>
                            </a:rPr>
                            <m:t>o</m:t>
                          </m:r>
                          <m:r>
                            <a:rPr lang="fr-FR" sz="1100" b="0" i="0" smtClean="0">
                              <a:solidFill>
                                <a:schemeClr val="tx1"/>
                              </a:solidFill>
                              <a:latin typeface="Cambria Math" panose="02040503050406030204" pitchFamily="18" charset="0"/>
                            </a:rPr>
                            <m:t>1</m:t>
                          </m:r>
                        </m:num>
                        <m:den>
                          <m:r>
                            <a:rPr lang="fr-FR" sz="1100">
                              <a:solidFill>
                                <a:schemeClr val="tx1"/>
                              </a:solidFill>
                              <a:latin typeface="Cambria Math" panose="02040503050406030204" pitchFamily="18" charset="0"/>
                            </a:rPr>
                            <m:t>𝜕</m:t>
                          </m:r>
                          <m:r>
                            <m:rPr>
                              <m:sty m:val="p"/>
                            </m:rPr>
                            <a:rPr lang="fr-FR" sz="1100" b="0" i="0" smtClean="0">
                              <a:solidFill>
                                <a:schemeClr val="tx1"/>
                              </a:solidFill>
                              <a:latin typeface="Cambria Math" panose="02040503050406030204" pitchFamily="18" charset="0"/>
                            </a:rPr>
                            <m:t>w</m:t>
                          </m:r>
                          <m:r>
                            <a:rPr lang="fr-FR" sz="1100" b="0" i="0" smtClean="0">
                              <a:solidFill>
                                <a:schemeClr val="tx1"/>
                              </a:solidFill>
                              <a:latin typeface="Cambria Math" panose="02040503050406030204" pitchFamily="18" charset="0"/>
                            </a:rPr>
                            <m:t>5</m:t>
                          </m:r>
                        </m:den>
                      </m:f>
                    </m:oMath>
                  </m:oMathPara>
                </a14:m>
                <a:endParaRPr lang="fr-FR" sz="1100" dirty="0">
                  <a:solidFill>
                    <a:schemeClr val="accent3">
                      <a:lumMod val="60000"/>
                      <a:lumOff val="40000"/>
                    </a:schemeClr>
                  </a:solidFill>
                </a:endParaRPr>
              </a:p>
            </p:txBody>
          </p:sp>
        </mc:Choice>
        <mc:Fallback xmlns="">
          <p:sp>
            <p:nvSpPr>
              <p:cNvPr id="47" name="ZoneTexte 46">
                <a:extLst>
                  <a:ext uri="{FF2B5EF4-FFF2-40B4-BE49-F238E27FC236}">
                    <a16:creationId xmlns:a16="http://schemas.microsoft.com/office/drawing/2014/main" id="{DB9F1FAA-11A9-FCBF-C97B-5C4C315CEBFE}"/>
                  </a:ext>
                </a:extLst>
              </p:cNvPr>
              <p:cNvSpPr txBox="1">
                <a:spLocks noRot="1" noChangeAspect="1" noMove="1" noResize="1" noEditPoints="1" noAdjustHandles="1" noChangeArrowheads="1" noChangeShapeType="1" noTextEdit="1"/>
              </p:cNvSpPr>
              <p:nvPr/>
            </p:nvSpPr>
            <p:spPr>
              <a:xfrm>
                <a:off x="6528460" y="1752699"/>
                <a:ext cx="3105918" cy="414216"/>
              </a:xfrm>
              <a:prstGeom prst="rect">
                <a:avLst/>
              </a:prstGeom>
              <a:blipFill>
                <a:blip r:embed="rId3"/>
                <a:stretch>
                  <a:fillRect b="-3030"/>
                </a:stretch>
              </a:blipFill>
            </p:spPr>
            <p:txBody>
              <a:bodyPr/>
              <a:lstStyle/>
              <a:p>
                <a:r>
                  <a:rPr lang="fr-FR">
                    <a:noFill/>
                  </a:rPr>
                  <a:t> </a:t>
                </a:r>
              </a:p>
            </p:txBody>
          </p:sp>
        </mc:Fallback>
      </mc:AlternateContent>
      <p:sp>
        <p:nvSpPr>
          <p:cNvPr id="72" name="ZoneTexte 71">
            <a:extLst>
              <a:ext uri="{FF2B5EF4-FFF2-40B4-BE49-F238E27FC236}">
                <a16:creationId xmlns:a16="http://schemas.microsoft.com/office/drawing/2014/main" id="{7F45CB98-B8D2-F709-DF48-94C01F23FBFA}"/>
              </a:ext>
            </a:extLst>
          </p:cNvPr>
          <p:cNvSpPr txBox="1"/>
          <p:nvPr/>
        </p:nvSpPr>
        <p:spPr>
          <a:xfrm>
            <a:off x="6528460" y="1334708"/>
            <a:ext cx="3157800" cy="307777"/>
          </a:xfrm>
          <a:prstGeom prst="rect">
            <a:avLst/>
          </a:prstGeom>
          <a:noFill/>
        </p:spPr>
        <p:txBody>
          <a:bodyPr wrap="square" rtlCol="0">
            <a:spAutoFit/>
          </a:bodyPr>
          <a:lstStyle/>
          <a:p>
            <a:r>
              <a:rPr lang="fr-FR" sz="1400" b="1" dirty="0">
                <a:solidFill>
                  <a:srgbClr val="FF0000"/>
                </a:solidFill>
              </a:rPr>
              <a:t>BACKPROPAGATION</a:t>
            </a:r>
            <a:r>
              <a:rPr lang="fr-FR" sz="1400" b="1" dirty="0"/>
              <a:t> + CHAIN RULE</a:t>
            </a:r>
          </a:p>
        </p:txBody>
      </p:sp>
      <p:sp>
        <p:nvSpPr>
          <p:cNvPr id="79" name="Flèche vers la gauche 78">
            <a:extLst>
              <a:ext uri="{FF2B5EF4-FFF2-40B4-BE49-F238E27FC236}">
                <a16:creationId xmlns:a16="http://schemas.microsoft.com/office/drawing/2014/main" id="{70DC9EC4-0ACF-09E0-23AB-B358F9AFFC38}"/>
              </a:ext>
            </a:extLst>
          </p:cNvPr>
          <p:cNvSpPr/>
          <p:nvPr/>
        </p:nvSpPr>
        <p:spPr>
          <a:xfrm>
            <a:off x="2913324" y="1723608"/>
            <a:ext cx="1800000" cy="272899"/>
          </a:xfrm>
          <a:prstGeom prst="leftArrow">
            <a:avLst/>
          </a:prstGeom>
          <a:solidFill>
            <a:srgbClr val="FF00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mc:AlternateContent xmlns:mc="http://schemas.openxmlformats.org/markup-compatibility/2006" xmlns:a14="http://schemas.microsoft.com/office/drawing/2010/main">
        <mc:Choice Requires="a14">
          <p:sp>
            <p:nvSpPr>
              <p:cNvPr id="80" name="ZoneTexte 79">
                <a:extLst>
                  <a:ext uri="{FF2B5EF4-FFF2-40B4-BE49-F238E27FC236}">
                    <a16:creationId xmlns:a16="http://schemas.microsoft.com/office/drawing/2014/main" id="{47BD1866-11B4-6E5E-5D33-58E72EB7BF7C}"/>
                  </a:ext>
                </a:extLst>
              </p:cNvPr>
              <p:cNvSpPr txBox="1"/>
              <p:nvPr/>
            </p:nvSpPr>
            <p:spPr>
              <a:xfrm>
                <a:off x="4051002" y="1404654"/>
                <a:ext cx="642969" cy="414216"/>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f>
                        <m:fPr>
                          <m:ctrlPr>
                            <a:rPr lang="fr-FR" sz="1050" i="1" smtClean="0">
                              <a:solidFill>
                                <a:srgbClr val="FF0000"/>
                              </a:solidFill>
                              <a:latin typeface="Cambria Math" panose="02040503050406030204" pitchFamily="18" charset="0"/>
                            </a:rPr>
                          </m:ctrlPr>
                        </m:fPr>
                        <m:num>
                          <m:r>
                            <a:rPr lang="fr-FR" sz="1050" i="0" smtClean="0">
                              <a:solidFill>
                                <a:srgbClr val="FF0000"/>
                              </a:solidFill>
                              <a:latin typeface="Cambria Math" panose="02040503050406030204" pitchFamily="18" charset="0"/>
                            </a:rPr>
                            <m:t>𝜕</m:t>
                          </m:r>
                          <m:r>
                            <m:rPr>
                              <m:sty m:val="p"/>
                            </m:rPr>
                            <a:rPr lang="fr-FR" sz="1050" b="0" i="0" smtClean="0">
                              <a:solidFill>
                                <a:srgbClr val="FF0000"/>
                              </a:solidFill>
                              <a:latin typeface="Cambria Math" panose="02040503050406030204" pitchFamily="18" charset="0"/>
                            </a:rPr>
                            <m:t>Loss</m:t>
                          </m:r>
                          <m:r>
                            <a:rPr lang="fr-FR" sz="1050" b="0" i="0" smtClean="0">
                              <a:solidFill>
                                <a:srgbClr val="FF0000"/>
                              </a:solidFill>
                              <a:latin typeface="Cambria Math" panose="02040503050406030204" pitchFamily="18" charset="0"/>
                            </a:rPr>
                            <m:t>1</m:t>
                          </m:r>
                        </m:num>
                        <m:den>
                          <m:r>
                            <a:rPr lang="fr-FR" sz="1050" i="0" smtClean="0">
                              <a:solidFill>
                                <a:srgbClr val="FF0000"/>
                              </a:solidFill>
                              <a:latin typeface="Cambria Math" panose="02040503050406030204" pitchFamily="18" charset="0"/>
                            </a:rPr>
                            <m:t>𝜕</m:t>
                          </m:r>
                          <m:r>
                            <m:rPr>
                              <m:sty m:val="p"/>
                            </m:rPr>
                            <a:rPr lang="fr-FR" sz="1050" b="0" i="0" smtClean="0">
                              <a:solidFill>
                                <a:srgbClr val="FF0000"/>
                              </a:solidFill>
                              <a:latin typeface="Cambria Math" panose="02040503050406030204" pitchFamily="18" charset="0"/>
                            </a:rPr>
                            <m:t>w</m:t>
                          </m:r>
                          <m:r>
                            <a:rPr lang="fr-FR" sz="1050" b="0" i="0" smtClean="0">
                              <a:solidFill>
                                <a:srgbClr val="FF0000"/>
                              </a:solidFill>
                              <a:latin typeface="Cambria Math" panose="02040503050406030204" pitchFamily="18" charset="0"/>
                            </a:rPr>
                            <m:t>1</m:t>
                          </m:r>
                        </m:den>
                      </m:f>
                    </m:oMath>
                  </m:oMathPara>
                </a14:m>
                <a:endParaRPr lang="fr-FR" sz="1050" b="1" dirty="0">
                  <a:solidFill>
                    <a:srgbClr val="FF0000"/>
                  </a:solidFill>
                </a:endParaRPr>
              </a:p>
            </p:txBody>
          </p:sp>
        </mc:Choice>
        <mc:Fallback xmlns="">
          <p:sp>
            <p:nvSpPr>
              <p:cNvPr id="80" name="ZoneTexte 79">
                <a:extLst>
                  <a:ext uri="{FF2B5EF4-FFF2-40B4-BE49-F238E27FC236}">
                    <a16:creationId xmlns:a16="http://schemas.microsoft.com/office/drawing/2014/main" id="{47BD1866-11B4-6E5E-5D33-58E72EB7BF7C}"/>
                  </a:ext>
                </a:extLst>
              </p:cNvPr>
              <p:cNvSpPr txBox="1">
                <a:spLocks noRot="1" noChangeAspect="1" noMove="1" noResize="1" noEditPoints="1" noAdjustHandles="1" noChangeArrowheads="1" noChangeShapeType="1" noTextEdit="1"/>
              </p:cNvSpPr>
              <p:nvPr/>
            </p:nvSpPr>
            <p:spPr>
              <a:xfrm>
                <a:off x="4051002" y="1404654"/>
                <a:ext cx="642969" cy="414216"/>
              </a:xfrm>
              <a:prstGeom prst="rect">
                <a:avLst/>
              </a:prstGeom>
              <a:blipFill>
                <a:blip r:embed="rId4"/>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81" name="ZoneTexte 80">
                <a:extLst>
                  <a:ext uri="{FF2B5EF4-FFF2-40B4-BE49-F238E27FC236}">
                    <a16:creationId xmlns:a16="http://schemas.microsoft.com/office/drawing/2014/main" id="{7504D805-2BC7-202A-2AC6-2691DE003698}"/>
                  </a:ext>
                </a:extLst>
              </p:cNvPr>
              <p:cNvSpPr txBox="1"/>
              <p:nvPr/>
            </p:nvSpPr>
            <p:spPr>
              <a:xfrm>
                <a:off x="6528460" y="2319059"/>
                <a:ext cx="4112845" cy="414216"/>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fr-FR" sz="1100" i="1" smtClean="0">
                              <a:latin typeface="Cambria Math" panose="02040503050406030204" pitchFamily="18" charset="0"/>
                            </a:rPr>
                          </m:ctrlPr>
                        </m:fPr>
                        <m:num>
                          <m:r>
                            <a:rPr lang="fr-FR" sz="1100" i="0" smtClean="0">
                              <a:latin typeface="Cambria Math" panose="02040503050406030204" pitchFamily="18" charset="0"/>
                            </a:rPr>
                            <m:t>𝜕</m:t>
                          </m:r>
                          <m:r>
                            <m:rPr>
                              <m:sty m:val="p"/>
                            </m:rPr>
                            <a:rPr lang="fr-FR" sz="1100" b="0" i="0" smtClean="0">
                              <a:latin typeface="Cambria Math" panose="02040503050406030204" pitchFamily="18" charset="0"/>
                            </a:rPr>
                            <m:t>Loss</m:t>
                          </m:r>
                          <m:r>
                            <a:rPr lang="fr-FR" sz="1100" b="0" i="0" smtClean="0">
                              <a:latin typeface="Cambria Math" panose="02040503050406030204" pitchFamily="18" charset="0"/>
                            </a:rPr>
                            <m:t>1</m:t>
                          </m:r>
                        </m:num>
                        <m:den>
                          <m:r>
                            <a:rPr lang="fr-FR" sz="1100" i="0" smtClean="0">
                              <a:latin typeface="Cambria Math" panose="02040503050406030204" pitchFamily="18" charset="0"/>
                            </a:rPr>
                            <m:t>𝜕</m:t>
                          </m:r>
                          <m:r>
                            <m:rPr>
                              <m:sty m:val="p"/>
                            </m:rPr>
                            <a:rPr lang="fr-FR" sz="1100" b="0" i="0" smtClean="0">
                              <a:latin typeface="Cambria Math" panose="02040503050406030204" pitchFamily="18" charset="0"/>
                            </a:rPr>
                            <m:t>w</m:t>
                          </m:r>
                          <m:r>
                            <a:rPr lang="fr-FR" sz="1100" b="0" i="0" smtClean="0">
                              <a:latin typeface="Cambria Math" panose="02040503050406030204" pitchFamily="18" charset="0"/>
                            </a:rPr>
                            <m:t>5</m:t>
                          </m:r>
                        </m:den>
                      </m:f>
                      <m:r>
                        <a:rPr lang="fr-FR" sz="1100" b="0" i="0" smtClean="0">
                          <a:solidFill>
                            <a:schemeClr val="tx1"/>
                          </a:solidFill>
                          <a:latin typeface="Cambria Math" panose="02040503050406030204" pitchFamily="18" charset="0"/>
                        </a:rPr>
                        <m:t>=</m:t>
                      </m:r>
                      <m:r>
                        <m:rPr>
                          <m:nor/>
                        </m:rPr>
                        <a:rPr lang="fr-FR" sz="1100" smtClean="0">
                          <a:solidFill>
                            <a:schemeClr val="accent2"/>
                          </a:solidFill>
                          <a:latin typeface="Cambria Math" panose="02040503050406030204" pitchFamily="18" charset="0"/>
                        </a:rPr>
                        <m:t>−2</m:t>
                      </m:r>
                      <m:r>
                        <m:rPr>
                          <m:nor/>
                        </m:rPr>
                        <a:rPr lang="fr-FR" sz="1100" dirty="0" smtClean="0">
                          <a:solidFill>
                            <a:schemeClr val="accent2"/>
                          </a:solidFill>
                          <a:latin typeface="Cambria Math" panose="02040503050406030204" pitchFamily="18" charset="0"/>
                          <a:ea typeface="Cambria Math" panose="02040503050406030204" pitchFamily="18" charset="0"/>
                        </a:rPr>
                        <m:t>(</m:t>
                      </m:r>
                      <m:sSub>
                        <m:sSubPr>
                          <m:ctrlPr>
                            <a:rPr lang="fr-FR" sz="1100" i="1" dirty="0">
                              <a:solidFill>
                                <a:schemeClr val="accent2"/>
                              </a:solidFill>
                              <a:latin typeface="Cambria Math" panose="02040503050406030204" pitchFamily="18" charset="0"/>
                              <a:ea typeface="Cambria Math" panose="02040503050406030204" pitchFamily="18" charset="0"/>
                            </a:rPr>
                          </m:ctrlPr>
                        </m:sSubPr>
                        <m:e>
                          <m:r>
                            <m:rPr>
                              <m:sty m:val="p"/>
                            </m:rPr>
                            <a:rPr lang="fr-FR" sz="1100">
                              <a:solidFill>
                                <a:schemeClr val="accent2"/>
                              </a:solidFill>
                              <a:latin typeface="Cambria Math" panose="02040503050406030204" pitchFamily="18" charset="0"/>
                              <a:ea typeface="Cambria Math" panose="02040503050406030204" pitchFamily="18" charset="0"/>
                            </a:rPr>
                            <m:t>target</m:t>
                          </m:r>
                        </m:e>
                        <m:sub>
                          <m:r>
                            <m:rPr>
                              <m:sty m:val="p"/>
                            </m:rPr>
                            <a:rPr lang="fr-FR" sz="1100">
                              <a:solidFill>
                                <a:schemeClr val="accent2"/>
                              </a:solidFill>
                              <a:latin typeface="Cambria Math" panose="02040503050406030204" pitchFamily="18" charset="0"/>
                              <a:ea typeface="Cambria Math" panose="02040503050406030204" pitchFamily="18" charset="0"/>
                            </a:rPr>
                            <m:t>o</m:t>
                          </m:r>
                          <m:r>
                            <a:rPr lang="fr-FR" sz="1100">
                              <a:solidFill>
                                <a:schemeClr val="accent2"/>
                              </a:solidFill>
                              <a:latin typeface="Cambria Math" panose="02040503050406030204" pitchFamily="18" charset="0"/>
                              <a:ea typeface="Cambria Math" panose="02040503050406030204" pitchFamily="18" charset="0"/>
                            </a:rPr>
                            <m:t>1</m:t>
                          </m:r>
                        </m:sub>
                      </m:sSub>
                      <m:r>
                        <a:rPr lang="fr-FR" sz="1100" i="1">
                          <a:solidFill>
                            <a:schemeClr val="accent2"/>
                          </a:solidFill>
                          <a:latin typeface="Cambria Math" panose="02040503050406030204" pitchFamily="18" charset="0"/>
                          <a:ea typeface="Cambria Math" panose="02040503050406030204" pitchFamily="18" charset="0"/>
                        </a:rPr>
                        <m:t>− </m:t>
                      </m:r>
                      <m:r>
                        <m:rPr>
                          <m:sty m:val="p"/>
                        </m:rPr>
                        <a:rPr lang="fr-FR" sz="1100">
                          <a:solidFill>
                            <a:schemeClr val="accent2"/>
                          </a:solidFill>
                          <a:latin typeface="Cambria Math" panose="02040503050406030204" pitchFamily="18" charset="0"/>
                          <a:ea typeface="Cambria Math" panose="02040503050406030204" pitchFamily="18" charset="0"/>
                        </a:rPr>
                        <m:t>out</m:t>
                      </m:r>
                      <m:r>
                        <a:rPr lang="fr-FR" sz="1100">
                          <a:solidFill>
                            <a:schemeClr val="accent2"/>
                          </a:solidFill>
                          <a:latin typeface="Cambria Math" panose="02040503050406030204" pitchFamily="18" charset="0"/>
                          <a:ea typeface="Cambria Math" panose="02040503050406030204" pitchFamily="18" charset="0"/>
                        </a:rPr>
                        <m:t>_</m:t>
                      </m:r>
                      <m:r>
                        <m:rPr>
                          <m:sty m:val="p"/>
                        </m:rPr>
                        <a:rPr lang="fr-FR" sz="1100">
                          <a:solidFill>
                            <a:schemeClr val="accent2"/>
                          </a:solidFill>
                          <a:latin typeface="Cambria Math" panose="02040503050406030204" pitchFamily="18" charset="0"/>
                          <a:ea typeface="Cambria Math" panose="02040503050406030204" pitchFamily="18" charset="0"/>
                        </a:rPr>
                        <m:t>o</m:t>
                      </m:r>
                      <m:r>
                        <a:rPr lang="fr-FR" sz="1100">
                          <a:solidFill>
                            <a:schemeClr val="accent2"/>
                          </a:solidFill>
                          <a:latin typeface="Cambria Math" panose="02040503050406030204" pitchFamily="18" charset="0"/>
                          <a:ea typeface="Cambria Math" panose="02040503050406030204" pitchFamily="18" charset="0"/>
                        </a:rPr>
                        <m:t>1</m:t>
                      </m:r>
                      <m:r>
                        <m:rPr>
                          <m:nor/>
                        </m:rPr>
                        <a:rPr lang="fr-FR" sz="1100" dirty="0">
                          <a:solidFill>
                            <a:schemeClr val="accent2"/>
                          </a:solidFill>
                          <a:latin typeface="Cambria Math" panose="02040503050406030204" pitchFamily="18" charset="0"/>
                          <a:ea typeface="Cambria Math" panose="02040503050406030204" pitchFamily="18" charset="0"/>
                        </a:rPr>
                        <m:t>)</m:t>
                      </m:r>
                      <m:r>
                        <a:rPr lang="fr-FR" sz="1100" i="1">
                          <a:latin typeface="Cambria Math" panose="02040503050406030204" pitchFamily="18" charset="0"/>
                          <a:ea typeface="Cambria Math" panose="02040503050406030204" pitchFamily="18" charset="0"/>
                        </a:rPr>
                        <m:t>×</m:t>
                      </m:r>
                      <m:r>
                        <m:rPr>
                          <m:sty m:val="p"/>
                        </m:rPr>
                        <a:rPr lang="fr-FR" sz="1100" smtClean="0">
                          <a:solidFill>
                            <a:schemeClr val="accent2"/>
                          </a:solidFill>
                          <a:latin typeface="Cambria Math" panose="02040503050406030204" pitchFamily="18" charset="0"/>
                          <a:ea typeface="Cambria Math" panose="02040503050406030204" pitchFamily="18" charset="0"/>
                        </a:rPr>
                        <m:t>out</m:t>
                      </m:r>
                      <m:r>
                        <a:rPr lang="fr-FR" sz="1100" smtClean="0">
                          <a:solidFill>
                            <a:schemeClr val="accent2"/>
                          </a:solidFill>
                          <a:latin typeface="Cambria Math" panose="02040503050406030204" pitchFamily="18" charset="0"/>
                          <a:ea typeface="Cambria Math" panose="02040503050406030204" pitchFamily="18" charset="0"/>
                        </a:rPr>
                        <m:t>_</m:t>
                      </m:r>
                      <m:r>
                        <m:rPr>
                          <m:sty m:val="p"/>
                        </m:rPr>
                        <a:rPr lang="fr-FR" sz="1100" smtClean="0">
                          <a:solidFill>
                            <a:schemeClr val="accent2"/>
                          </a:solidFill>
                          <a:latin typeface="Cambria Math" panose="02040503050406030204" pitchFamily="18" charset="0"/>
                          <a:ea typeface="Cambria Math" panose="02040503050406030204" pitchFamily="18" charset="0"/>
                        </a:rPr>
                        <m:t>o</m:t>
                      </m:r>
                      <m:r>
                        <a:rPr lang="fr-FR" sz="1100" smtClean="0">
                          <a:solidFill>
                            <a:schemeClr val="accent2"/>
                          </a:solidFill>
                          <a:latin typeface="Cambria Math" panose="02040503050406030204" pitchFamily="18" charset="0"/>
                          <a:ea typeface="Cambria Math" panose="02040503050406030204" pitchFamily="18" charset="0"/>
                        </a:rPr>
                        <m:t>1(1−</m:t>
                      </m:r>
                      <m:r>
                        <m:rPr>
                          <m:sty m:val="p"/>
                        </m:rPr>
                        <a:rPr lang="fr-FR" sz="1100" smtClean="0">
                          <a:solidFill>
                            <a:schemeClr val="accent2"/>
                          </a:solidFill>
                          <a:latin typeface="Cambria Math" panose="02040503050406030204" pitchFamily="18" charset="0"/>
                          <a:ea typeface="Cambria Math" panose="02040503050406030204" pitchFamily="18" charset="0"/>
                        </a:rPr>
                        <m:t>out</m:t>
                      </m:r>
                      <m:r>
                        <a:rPr lang="fr-FR" sz="1100" smtClean="0">
                          <a:solidFill>
                            <a:schemeClr val="accent2"/>
                          </a:solidFill>
                          <a:latin typeface="Cambria Math" panose="02040503050406030204" pitchFamily="18" charset="0"/>
                          <a:ea typeface="Cambria Math" panose="02040503050406030204" pitchFamily="18" charset="0"/>
                        </a:rPr>
                        <m:t>_</m:t>
                      </m:r>
                      <m:r>
                        <m:rPr>
                          <m:sty m:val="p"/>
                        </m:rPr>
                        <a:rPr lang="fr-FR" sz="1100" smtClean="0">
                          <a:solidFill>
                            <a:schemeClr val="accent2"/>
                          </a:solidFill>
                          <a:latin typeface="Cambria Math" panose="02040503050406030204" pitchFamily="18" charset="0"/>
                          <a:ea typeface="Cambria Math" panose="02040503050406030204" pitchFamily="18" charset="0"/>
                        </a:rPr>
                        <m:t>o</m:t>
                      </m:r>
                      <m:r>
                        <a:rPr lang="fr-FR" sz="1100" smtClean="0">
                          <a:solidFill>
                            <a:schemeClr val="accent2"/>
                          </a:solidFill>
                          <a:latin typeface="Cambria Math" panose="02040503050406030204" pitchFamily="18" charset="0"/>
                          <a:ea typeface="Cambria Math" panose="02040503050406030204" pitchFamily="18" charset="0"/>
                        </a:rPr>
                        <m:t>1</m:t>
                      </m:r>
                      <m:r>
                        <a:rPr lang="fr-FR" sz="1100" i="1">
                          <a:solidFill>
                            <a:schemeClr val="accent2"/>
                          </a:solidFill>
                          <a:latin typeface="Cambria Math" panose="02040503050406030204" pitchFamily="18" charset="0"/>
                          <a:ea typeface="Cambria Math" panose="02040503050406030204" pitchFamily="18" charset="0"/>
                        </a:rPr>
                        <m:t>)</m:t>
                      </m:r>
                      <m:r>
                        <a:rPr lang="fr-FR" sz="1100" b="0" i="1" smtClean="0">
                          <a:solidFill>
                            <a:schemeClr val="tx1"/>
                          </a:solidFill>
                          <a:latin typeface="Cambria Math" panose="02040503050406030204" pitchFamily="18" charset="0"/>
                          <a:ea typeface="Cambria Math" panose="02040503050406030204" pitchFamily="18" charset="0"/>
                        </a:rPr>
                        <m:t>×</m:t>
                      </m:r>
                      <m:r>
                        <m:rPr>
                          <m:sty m:val="p"/>
                        </m:rPr>
                        <a:rPr lang="fr-FR" sz="1100" i="0" smtClean="0">
                          <a:solidFill>
                            <a:schemeClr val="tx1"/>
                          </a:solidFill>
                          <a:latin typeface="Cambria Math" panose="02040503050406030204" pitchFamily="18" charset="0"/>
                        </a:rPr>
                        <m:t>o</m:t>
                      </m:r>
                      <m:r>
                        <m:rPr>
                          <m:sty m:val="p"/>
                        </m:rPr>
                        <a:rPr lang="fr-FR" sz="1100" b="0" i="0" smtClean="0">
                          <a:solidFill>
                            <a:schemeClr val="tx1"/>
                          </a:solidFill>
                          <a:latin typeface="Cambria Math" panose="02040503050406030204" pitchFamily="18" charset="0"/>
                        </a:rPr>
                        <m:t>ut</m:t>
                      </m:r>
                      <m:r>
                        <a:rPr lang="fr-FR" sz="1100" b="0" i="0" smtClean="0">
                          <a:solidFill>
                            <a:schemeClr val="tx1"/>
                          </a:solidFill>
                          <a:latin typeface="Cambria Math" panose="02040503050406030204" pitchFamily="18" charset="0"/>
                        </a:rPr>
                        <m:t>_</m:t>
                      </m:r>
                      <m:r>
                        <m:rPr>
                          <m:sty m:val="p"/>
                        </m:rPr>
                        <a:rPr lang="fr-FR" sz="1100" b="0" i="0" smtClean="0">
                          <a:solidFill>
                            <a:schemeClr val="tx1"/>
                          </a:solidFill>
                          <a:latin typeface="Cambria Math" panose="02040503050406030204" pitchFamily="18" charset="0"/>
                        </a:rPr>
                        <m:t>h</m:t>
                      </m:r>
                      <m:r>
                        <a:rPr lang="fr-FR" sz="1100" b="0" i="0" smtClean="0">
                          <a:solidFill>
                            <a:schemeClr val="tx1"/>
                          </a:solidFill>
                          <a:latin typeface="Cambria Math" panose="02040503050406030204" pitchFamily="18" charset="0"/>
                        </a:rPr>
                        <m:t>1</m:t>
                      </m:r>
                    </m:oMath>
                  </m:oMathPara>
                </a14:m>
                <a:endParaRPr lang="fr-FR" sz="1100" dirty="0">
                  <a:solidFill>
                    <a:schemeClr val="accent3">
                      <a:lumMod val="60000"/>
                      <a:lumOff val="40000"/>
                    </a:schemeClr>
                  </a:solidFill>
                </a:endParaRPr>
              </a:p>
            </p:txBody>
          </p:sp>
        </mc:Choice>
        <mc:Fallback xmlns="">
          <p:sp>
            <p:nvSpPr>
              <p:cNvPr id="81" name="ZoneTexte 80">
                <a:extLst>
                  <a:ext uri="{FF2B5EF4-FFF2-40B4-BE49-F238E27FC236}">
                    <a16:creationId xmlns:a16="http://schemas.microsoft.com/office/drawing/2014/main" id="{7504D805-2BC7-202A-2AC6-2691DE003698}"/>
                  </a:ext>
                </a:extLst>
              </p:cNvPr>
              <p:cNvSpPr txBox="1">
                <a:spLocks noRot="1" noChangeAspect="1" noMove="1" noResize="1" noEditPoints="1" noAdjustHandles="1" noChangeArrowheads="1" noChangeShapeType="1" noTextEdit="1"/>
              </p:cNvSpPr>
              <p:nvPr/>
            </p:nvSpPr>
            <p:spPr>
              <a:xfrm>
                <a:off x="6528460" y="2319059"/>
                <a:ext cx="4112845" cy="414216"/>
              </a:xfrm>
              <a:prstGeom prst="rect">
                <a:avLst/>
              </a:prstGeom>
              <a:blipFill>
                <a:blip r:embed="rId5"/>
                <a:stretch>
                  <a:fillRect b="-2941"/>
                </a:stretch>
              </a:blipFill>
            </p:spPr>
            <p:txBody>
              <a:bodyPr/>
              <a:lstStyle/>
              <a:p>
                <a:r>
                  <a:rPr lang="en-GB">
                    <a:noFill/>
                  </a:rPr>
                  <a:t> </a:t>
                </a:r>
              </a:p>
            </p:txBody>
          </p:sp>
        </mc:Fallback>
      </mc:AlternateContent>
      <p:sp>
        <p:nvSpPr>
          <p:cNvPr id="92" name="ZoneTexte 91">
            <a:extLst>
              <a:ext uri="{FF2B5EF4-FFF2-40B4-BE49-F238E27FC236}">
                <a16:creationId xmlns:a16="http://schemas.microsoft.com/office/drawing/2014/main" id="{F75419FC-B837-091E-5ECE-834D9914ADB5}"/>
              </a:ext>
            </a:extLst>
          </p:cNvPr>
          <p:cNvSpPr txBox="1"/>
          <p:nvPr/>
        </p:nvSpPr>
        <p:spPr>
          <a:xfrm>
            <a:off x="6528460" y="3404988"/>
            <a:ext cx="1227694" cy="261610"/>
          </a:xfrm>
          <a:prstGeom prst="rect">
            <a:avLst/>
          </a:prstGeom>
          <a:noFill/>
        </p:spPr>
        <p:txBody>
          <a:bodyPr wrap="square" rtlCol="0">
            <a:spAutoFit/>
          </a:bodyPr>
          <a:lstStyle/>
          <a:p>
            <a:r>
              <a:rPr lang="en-GB" sz="1100" b="1" noProof="0" dirty="0"/>
              <a:t>Symmetrically</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ABD239F1-369F-4228-6CA9-9E7DFA660D59}"/>
                  </a:ext>
                </a:extLst>
              </p:cNvPr>
              <p:cNvSpPr txBox="1"/>
              <p:nvPr/>
            </p:nvSpPr>
            <p:spPr>
              <a:xfrm>
                <a:off x="6528460" y="2885419"/>
                <a:ext cx="4112845" cy="414216"/>
              </a:xfrm>
              <a:prstGeom prst="rect">
                <a:avLst/>
              </a:prstGeom>
              <a:noFill/>
              <a:ln>
                <a:solidFill>
                  <a:srgbClr val="FF0000"/>
                </a:solidFill>
              </a:ln>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fr-FR" sz="1100" i="1" smtClean="0">
                              <a:solidFill>
                                <a:schemeClr val="tx1"/>
                              </a:solidFill>
                              <a:latin typeface="Cambria Math" panose="02040503050406030204" pitchFamily="18" charset="0"/>
                            </a:rPr>
                          </m:ctrlPr>
                        </m:fPr>
                        <m:num>
                          <m:r>
                            <a:rPr lang="fr-FR" sz="1100" i="0" smtClean="0">
                              <a:solidFill>
                                <a:schemeClr val="tx1"/>
                              </a:solidFill>
                              <a:latin typeface="Cambria Math" panose="02040503050406030204" pitchFamily="18" charset="0"/>
                            </a:rPr>
                            <m:t>𝜕</m:t>
                          </m:r>
                          <m:r>
                            <m:rPr>
                              <m:sty m:val="p"/>
                            </m:rPr>
                            <a:rPr lang="fr-FR" sz="1100" b="0" i="0" smtClean="0">
                              <a:solidFill>
                                <a:schemeClr val="tx1"/>
                              </a:solidFill>
                              <a:latin typeface="Cambria Math" panose="02040503050406030204" pitchFamily="18" charset="0"/>
                            </a:rPr>
                            <m:t>Loss</m:t>
                          </m:r>
                          <m:r>
                            <a:rPr lang="fr-FR" sz="1100" b="0" i="0" smtClean="0">
                              <a:solidFill>
                                <a:schemeClr val="tx1"/>
                              </a:solidFill>
                              <a:latin typeface="Cambria Math" panose="02040503050406030204" pitchFamily="18" charset="0"/>
                            </a:rPr>
                            <m:t>1</m:t>
                          </m:r>
                        </m:num>
                        <m:den>
                          <m:r>
                            <a:rPr lang="fr-FR" sz="1100" i="0" smtClean="0">
                              <a:solidFill>
                                <a:schemeClr val="tx1"/>
                              </a:solidFill>
                              <a:latin typeface="Cambria Math" panose="02040503050406030204" pitchFamily="18" charset="0"/>
                            </a:rPr>
                            <m:t>𝜕</m:t>
                          </m:r>
                          <m:r>
                            <m:rPr>
                              <m:sty m:val="p"/>
                            </m:rPr>
                            <a:rPr lang="fr-FR" sz="1100" b="0" i="0" smtClean="0">
                              <a:solidFill>
                                <a:schemeClr val="tx1"/>
                              </a:solidFill>
                              <a:latin typeface="Cambria Math" panose="02040503050406030204" pitchFamily="18" charset="0"/>
                            </a:rPr>
                            <m:t>w</m:t>
                          </m:r>
                          <m:r>
                            <a:rPr lang="fr-FR" sz="1100" b="0" i="0" smtClean="0">
                              <a:solidFill>
                                <a:schemeClr val="tx1"/>
                              </a:solidFill>
                              <a:latin typeface="Cambria Math" panose="02040503050406030204" pitchFamily="18" charset="0"/>
                            </a:rPr>
                            <m:t>5</m:t>
                          </m:r>
                        </m:den>
                      </m:f>
                      <m:r>
                        <a:rPr lang="fr-FR" sz="1100" b="0" i="0" smtClean="0">
                          <a:solidFill>
                            <a:schemeClr val="tx1"/>
                          </a:solidFill>
                          <a:latin typeface="Cambria Math" panose="02040503050406030204" pitchFamily="18" charset="0"/>
                        </a:rPr>
                        <m:t>=</m:t>
                      </m:r>
                      <m:r>
                        <m:rPr>
                          <m:nor/>
                        </m:rPr>
                        <a:rPr lang="fr-FR" sz="1100">
                          <a:latin typeface="Cambria Math" panose="02040503050406030204" pitchFamily="18" charset="0"/>
                        </a:rPr>
                        <m:t>−2</m:t>
                      </m:r>
                      <m:r>
                        <m:rPr>
                          <m:nor/>
                        </m:rPr>
                        <a:rPr lang="fr-FR" sz="1100" dirty="0">
                          <a:latin typeface="Cambria Math" panose="02040503050406030204" pitchFamily="18" charset="0"/>
                          <a:ea typeface="Cambria Math" panose="02040503050406030204" pitchFamily="18" charset="0"/>
                        </a:rPr>
                        <m:t>(</m:t>
                      </m:r>
                      <m:sSub>
                        <m:sSubPr>
                          <m:ctrlPr>
                            <a:rPr lang="fr-FR" sz="1100" i="1" dirty="0">
                              <a:latin typeface="Cambria Math" panose="02040503050406030204" pitchFamily="18" charset="0"/>
                              <a:ea typeface="Cambria Math" panose="02040503050406030204" pitchFamily="18" charset="0"/>
                            </a:rPr>
                          </m:ctrlPr>
                        </m:sSubPr>
                        <m:e>
                          <m:r>
                            <m:rPr>
                              <m:sty m:val="p"/>
                            </m:rPr>
                            <a:rPr lang="fr-FR" sz="1100">
                              <a:latin typeface="Cambria Math" panose="02040503050406030204" pitchFamily="18" charset="0"/>
                              <a:ea typeface="Cambria Math" panose="02040503050406030204" pitchFamily="18" charset="0"/>
                            </a:rPr>
                            <m:t>target</m:t>
                          </m:r>
                        </m:e>
                        <m:sub>
                          <m:r>
                            <m:rPr>
                              <m:sty m:val="p"/>
                            </m:rPr>
                            <a:rPr lang="fr-FR" sz="1100">
                              <a:latin typeface="Cambria Math" panose="02040503050406030204" pitchFamily="18" charset="0"/>
                              <a:ea typeface="Cambria Math" panose="02040503050406030204" pitchFamily="18" charset="0"/>
                            </a:rPr>
                            <m:t>o</m:t>
                          </m:r>
                          <m:r>
                            <a:rPr lang="fr-FR" sz="1100">
                              <a:latin typeface="Cambria Math" panose="02040503050406030204" pitchFamily="18" charset="0"/>
                              <a:ea typeface="Cambria Math" panose="02040503050406030204" pitchFamily="18" charset="0"/>
                            </a:rPr>
                            <m:t>1</m:t>
                          </m:r>
                        </m:sub>
                      </m:sSub>
                      <m:r>
                        <a:rPr lang="fr-FR" sz="1100" i="1">
                          <a:latin typeface="Cambria Math" panose="02040503050406030204" pitchFamily="18" charset="0"/>
                          <a:ea typeface="Cambria Math" panose="02040503050406030204" pitchFamily="18" charset="0"/>
                        </a:rPr>
                        <m:t>− </m:t>
                      </m:r>
                      <m:r>
                        <m:rPr>
                          <m:sty m:val="p"/>
                        </m:rPr>
                        <a:rPr lang="fr-FR" sz="1100">
                          <a:latin typeface="Cambria Math" panose="02040503050406030204" pitchFamily="18" charset="0"/>
                          <a:ea typeface="Cambria Math" panose="02040503050406030204" pitchFamily="18" charset="0"/>
                        </a:rPr>
                        <m:t>out</m:t>
                      </m:r>
                      <m:r>
                        <a:rPr lang="fr-FR" sz="1100">
                          <a:latin typeface="Cambria Math" panose="02040503050406030204" pitchFamily="18" charset="0"/>
                          <a:ea typeface="Cambria Math" panose="02040503050406030204" pitchFamily="18" charset="0"/>
                        </a:rPr>
                        <m:t>_</m:t>
                      </m:r>
                      <m:r>
                        <m:rPr>
                          <m:sty m:val="p"/>
                        </m:rPr>
                        <a:rPr lang="fr-FR" sz="1100">
                          <a:latin typeface="Cambria Math" panose="02040503050406030204" pitchFamily="18" charset="0"/>
                          <a:ea typeface="Cambria Math" panose="02040503050406030204" pitchFamily="18" charset="0"/>
                        </a:rPr>
                        <m:t>o</m:t>
                      </m:r>
                      <m:r>
                        <a:rPr lang="fr-FR" sz="1100">
                          <a:latin typeface="Cambria Math" panose="02040503050406030204" pitchFamily="18" charset="0"/>
                          <a:ea typeface="Cambria Math" panose="02040503050406030204" pitchFamily="18" charset="0"/>
                        </a:rPr>
                        <m:t>1</m:t>
                      </m:r>
                      <m:r>
                        <m:rPr>
                          <m:nor/>
                        </m:rPr>
                        <a:rPr lang="fr-FR" sz="1100" dirty="0">
                          <a:latin typeface="Cambria Math" panose="02040503050406030204" pitchFamily="18" charset="0"/>
                          <a:ea typeface="Cambria Math" panose="02040503050406030204" pitchFamily="18" charset="0"/>
                        </a:rPr>
                        <m:t>)</m:t>
                      </m:r>
                      <m:r>
                        <a:rPr lang="fr-FR" sz="1100" i="1">
                          <a:solidFill>
                            <a:schemeClr val="tx1"/>
                          </a:solidFill>
                          <a:latin typeface="Cambria Math" panose="02040503050406030204" pitchFamily="18" charset="0"/>
                          <a:ea typeface="Cambria Math" panose="02040503050406030204" pitchFamily="18" charset="0"/>
                        </a:rPr>
                        <m:t>×</m:t>
                      </m:r>
                      <m:r>
                        <m:rPr>
                          <m:sty m:val="p"/>
                        </m:rPr>
                        <a:rPr lang="fr-FR" sz="1100" smtClean="0">
                          <a:solidFill>
                            <a:schemeClr val="tx1"/>
                          </a:solidFill>
                          <a:latin typeface="Cambria Math" panose="02040503050406030204" pitchFamily="18" charset="0"/>
                          <a:ea typeface="Cambria Math" panose="02040503050406030204" pitchFamily="18" charset="0"/>
                        </a:rPr>
                        <m:t>out</m:t>
                      </m:r>
                      <m:r>
                        <a:rPr lang="fr-FR" sz="1100" smtClean="0">
                          <a:solidFill>
                            <a:schemeClr val="tx1"/>
                          </a:solidFill>
                          <a:latin typeface="Cambria Math" panose="02040503050406030204" pitchFamily="18" charset="0"/>
                          <a:ea typeface="Cambria Math" panose="02040503050406030204" pitchFamily="18" charset="0"/>
                        </a:rPr>
                        <m:t>_</m:t>
                      </m:r>
                      <m:r>
                        <m:rPr>
                          <m:sty m:val="p"/>
                        </m:rPr>
                        <a:rPr lang="fr-FR" sz="1100" smtClean="0">
                          <a:solidFill>
                            <a:schemeClr val="tx1"/>
                          </a:solidFill>
                          <a:latin typeface="Cambria Math" panose="02040503050406030204" pitchFamily="18" charset="0"/>
                          <a:ea typeface="Cambria Math" panose="02040503050406030204" pitchFamily="18" charset="0"/>
                        </a:rPr>
                        <m:t>o</m:t>
                      </m:r>
                      <m:r>
                        <a:rPr lang="fr-FR" sz="1100" smtClean="0">
                          <a:solidFill>
                            <a:schemeClr val="tx1"/>
                          </a:solidFill>
                          <a:latin typeface="Cambria Math" panose="02040503050406030204" pitchFamily="18" charset="0"/>
                          <a:ea typeface="Cambria Math" panose="02040503050406030204" pitchFamily="18" charset="0"/>
                        </a:rPr>
                        <m:t>1(1−</m:t>
                      </m:r>
                      <m:r>
                        <m:rPr>
                          <m:sty m:val="p"/>
                        </m:rPr>
                        <a:rPr lang="fr-FR" sz="1100" smtClean="0">
                          <a:solidFill>
                            <a:schemeClr val="tx1"/>
                          </a:solidFill>
                          <a:latin typeface="Cambria Math" panose="02040503050406030204" pitchFamily="18" charset="0"/>
                          <a:ea typeface="Cambria Math" panose="02040503050406030204" pitchFamily="18" charset="0"/>
                        </a:rPr>
                        <m:t>out</m:t>
                      </m:r>
                      <m:r>
                        <a:rPr lang="fr-FR" sz="1100" smtClean="0">
                          <a:solidFill>
                            <a:schemeClr val="tx1"/>
                          </a:solidFill>
                          <a:latin typeface="Cambria Math" panose="02040503050406030204" pitchFamily="18" charset="0"/>
                          <a:ea typeface="Cambria Math" panose="02040503050406030204" pitchFamily="18" charset="0"/>
                        </a:rPr>
                        <m:t>_</m:t>
                      </m:r>
                      <m:r>
                        <m:rPr>
                          <m:sty m:val="p"/>
                        </m:rPr>
                        <a:rPr lang="fr-FR" sz="1100" smtClean="0">
                          <a:solidFill>
                            <a:schemeClr val="tx1"/>
                          </a:solidFill>
                          <a:latin typeface="Cambria Math" panose="02040503050406030204" pitchFamily="18" charset="0"/>
                          <a:ea typeface="Cambria Math" panose="02040503050406030204" pitchFamily="18" charset="0"/>
                        </a:rPr>
                        <m:t>o</m:t>
                      </m:r>
                      <m:r>
                        <a:rPr lang="fr-FR" sz="1100" smtClean="0">
                          <a:solidFill>
                            <a:schemeClr val="tx1"/>
                          </a:solidFill>
                          <a:latin typeface="Cambria Math" panose="02040503050406030204" pitchFamily="18" charset="0"/>
                          <a:ea typeface="Cambria Math" panose="02040503050406030204" pitchFamily="18" charset="0"/>
                        </a:rPr>
                        <m:t>1</m:t>
                      </m:r>
                      <m:r>
                        <a:rPr lang="fr-FR" sz="1100" i="1">
                          <a:solidFill>
                            <a:schemeClr val="tx1"/>
                          </a:solidFill>
                          <a:latin typeface="Cambria Math" panose="02040503050406030204" pitchFamily="18" charset="0"/>
                          <a:ea typeface="Cambria Math" panose="02040503050406030204" pitchFamily="18" charset="0"/>
                        </a:rPr>
                        <m:t>)</m:t>
                      </m:r>
                      <m:r>
                        <a:rPr lang="fr-FR" sz="1100" b="0" i="1" smtClean="0">
                          <a:solidFill>
                            <a:schemeClr val="tx1"/>
                          </a:solidFill>
                          <a:latin typeface="Cambria Math" panose="02040503050406030204" pitchFamily="18" charset="0"/>
                          <a:ea typeface="Cambria Math" panose="02040503050406030204" pitchFamily="18" charset="0"/>
                        </a:rPr>
                        <m:t>×</m:t>
                      </m:r>
                      <m:r>
                        <m:rPr>
                          <m:sty m:val="p"/>
                        </m:rPr>
                        <a:rPr lang="fr-FR" sz="1100" i="0" smtClean="0">
                          <a:solidFill>
                            <a:schemeClr val="tx1"/>
                          </a:solidFill>
                          <a:latin typeface="Cambria Math" panose="02040503050406030204" pitchFamily="18" charset="0"/>
                        </a:rPr>
                        <m:t>o</m:t>
                      </m:r>
                      <m:r>
                        <m:rPr>
                          <m:sty m:val="p"/>
                        </m:rPr>
                        <a:rPr lang="fr-FR" sz="1100" b="0" i="0" smtClean="0">
                          <a:solidFill>
                            <a:schemeClr val="tx1"/>
                          </a:solidFill>
                          <a:latin typeface="Cambria Math" panose="02040503050406030204" pitchFamily="18" charset="0"/>
                        </a:rPr>
                        <m:t>ut</m:t>
                      </m:r>
                      <m:r>
                        <a:rPr lang="fr-FR" sz="1100" b="0" i="0" smtClean="0">
                          <a:solidFill>
                            <a:schemeClr val="tx1"/>
                          </a:solidFill>
                          <a:latin typeface="Cambria Math" panose="02040503050406030204" pitchFamily="18" charset="0"/>
                        </a:rPr>
                        <m:t>_</m:t>
                      </m:r>
                      <m:r>
                        <m:rPr>
                          <m:sty m:val="p"/>
                        </m:rPr>
                        <a:rPr lang="fr-FR" sz="1100" b="0" i="0" smtClean="0">
                          <a:solidFill>
                            <a:schemeClr val="tx1"/>
                          </a:solidFill>
                          <a:latin typeface="Cambria Math" panose="02040503050406030204" pitchFamily="18" charset="0"/>
                        </a:rPr>
                        <m:t>h</m:t>
                      </m:r>
                      <m:r>
                        <a:rPr lang="fr-FR" sz="1100" b="0" i="0" smtClean="0">
                          <a:solidFill>
                            <a:schemeClr val="tx1"/>
                          </a:solidFill>
                          <a:latin typeface="Cambria Math" panose="02040503050406030204" pitchFamily="18" charset="0"/>
                        </a:rPr>
                        <m:t>1</m:t>
                      </m:r>
                    </m:oMath>
                  </m:oMathPara>
                </a14:m>
                <a:endParaRPr lang="fr-FR" sz="1100" dirty="0">
                  <a:solidFill>
                    <a:schemeClr val="tx1"/>
                  </a:solidFill>
                </a:endParaRPr>
              </a:p>
            </p:txBody>
          </p:sp>
        </mc:Choice>
        <mc:Fallback xmlns="">
          <p:sp>
            <p:nvSpPr>
              <p:cNvPr id="3" name="ZoneTexte 2">
                <a:extLst>
                  <a:ext uri="{FF2B5EF4-FFF2-40B4-BE49-F238E27FC236}">
                    <a16:creationId xmlns:a16="http://schemas.microsoft.com/office/drawing/2014/main" id="{ABD239F1-369F-4228-6CA9-9E7DFA660D59}"/>
                  </a:ext>
                </a:extLst>
              </p:cNvPr>
              <p:cNvSpPr txBox="1">
                <a:spLocks noRot="1" noChangeAspect="1" noMove="1" noResize="1" noEditPoints="1" noAdjustHandles="1" noChangeArrowheads="1" noChangeShapeType="1" noTextEdit="1"/>
              </p:cNvSpPr>
              <p:nvPr/>
            </p:nvSpPr>
            <p:spPr>
              <a:xfrm>
                <a:off x="6528460" y="2885419"/>
                <a:ext cx="4112845" cy="414216"/>
              </a:xfrm>
              <a:prstGeom prst="rect">
                <a:avLst/>
              </a:prstGeom>
              <a:blipFill>
                <a:blip r:embed="rId6"/>
                <a:stretch>
                  <a:fillRect/>
                </a:stretch>
              </a:blipFill>
              <a:ln>
                <a:solidFill>
                  <a:srgbClr val="FF0000"/>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ZoneTexte 3">
                <a:extLst>
                  <a:ext uri="{FF2B5EF4-FFF2-40B4-BE49-F238E27FC236}">
                    <a16:creationId xmlns:a16="http://schemas.microsoft.com/office/drawing/2014/main" id="{5DEEEA49-3E90-97D8-3429-8D27DD5FFB9E}"/>
                  </a:ext>
                </a:extLst>
              </p:cNvPr>
              <p:cNvSpPr txBox="1"/>
              <p:nvPr/>
            </p:nvSpPr>
            <p:spPr>
              <a:xfrm>
                <a:off x="6548343" y="3655899"/>
                <a:ext cx="4314288" cy="364139"/>
              </a:xfrm>
              <a:prstGeom prst="rect">
                <a:avLst/>
              </a:prstGeom>
              <a:noFill/>
              <a:ln>
                <a:solidFill>
                  <a:srgbClr val="FF0000"/>
                </a:solidFill>
              </a:ln>
            </p:spPr>
            <p:txBody>
              <a:bodyPr wrap="square" rtlCol="0">
                <a:spAutoFit/>
              </a:bodyPr>
              <a:lstStyle/>
              <a:p>
                <a14:m>
                  <m:oMath xmlns:m="http://schemas.openxmlformats.org/officeDocument/2006/math">
                    <m:f>
                      <m:fPr>
                        <m:ctrlPr>
                          <a:rPr lang="fr-FR" sz="1200" i="1" smtClean="0">
                            <a:solidFill>
                              <a:schemeClr val="tx1"/>
                            </a:solidFill>
                            <a:latin typeface="Cambria Math" panose="02040503050406030204" pitchFamily="18" charset="0"/>
                          </a:rPr>
                        </m:ctrlPr>
                      </m:fPr>
                      <m:num>
                        <m:r>
                          <a:rPr lang="fr-FR" sz="1200" i="0" smtClean="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Loss</m:t>
                        </m:r>
                        <m:r>
                          <a:rPr lang="fr-FR" sz="1200" b="0" i="0" smtClean="0">
                            <a:solidFill>
                              <a:schemeClr val="tx1"/>
                            </a:solidFill>
                            <a:latin typeface="Cambria Math" panose="02040503050406030204" pitchFamily="18" charset="0"/>
                          </a:rPr>
                          <m:t>2</m:t>
                        </m:r>
                      </m:num>
                      <m:den>
                        <m:r>
                          <a:rPr lang="fr-FR" sz="1200" i="0" smtClean="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w</m:t>
                        </m:r>
                        <m:r>
                          <a:rPr lang="fr-FR" sz="1200" b="0" i="0" smtClean="0">
                            <a:solidFill>
                              <a:schemeClr val="tx1"/>
                            </a:solidFill>
                            <a:latin typeface="Cambria Math" panose="02040503050406030204" pitchFamily="18" charset="0"/>
                          </a:rPr>
                          <m:t>8</m:t>
                        </m:r>
                      </m:den>
                    </m:f>
                    <m:r>
                      <a:rPr lang="fr-FR" sz="1200" b="0" i="0" smtClean="0">
                        <a:solidFill>
                          <a:schemeClr val="tx1"/>
                        </a:solidFill>
                        <a:latin typeface="Cambria Math" panose="02040503050406030204" pitchFamily="18" charset="0"/>
                      </a:rPr>
                      <m:t>=</m:t>
                    </m:r>
                    <m:r>
                      <m:rPr>
                        <m:nor/>
                      </m:rPr>
                      <a:rPr lang="fr-FR" sz="1200">
                        <a:latin typeface="Cambria Math" panose="02040503050406030204" pitchFamily="18" charset="0"/>
                        <a:ea typeface="Cambria Math" panose="02040503050406030204" pitchFamily="18" charset="0"/>
                      </a:rPr>
                      <m:t>−2</m:t>
                    </m:r>
                    <m:r>
                      <m:rPr>
                        <m:nor/>
                      </m:rPr>
                      <a:rPr lang="fr-FR" sz="1200" dirty="0">
                        <a:latin typeface="Cambria Math" panose="02040503050406030204" pitchFamily="18" charset="0"/>
                        <a:ea typeface="Cambria Math" panose="02040503050406030204" pitchFamily="18" charset="0"/>
                      </a:rPr>
                      <m:t>(</m:t>
                    </m:r>
                    <m:sSub>
                      <m:sSubPr>
                        <m:ctrlPr>
                          <a:rPr lang="fr-FR" sz="1200" i="1" dirty="0">
                            <a:latin typeface="Cambria Math" panose="02040503050406030204" pitchFamily="18" charset="0"/>
                            <a:ea typeface="Cambria Math" panose="02040503050406030204" pitchFamily="18" charset="0"/>
                          </a:rPr>
                        </m:ctrlPr>
                      </m:sSubPr>
                      <m:e>
                        <m:r>
                          <m:rPr>
                            <m:sty m:val="p"/>
                          </m:rPr>
                          <a:rPr lang="fr-FR" sz="1200">
                            <a:latin typeface="Cambria Math" panose="02040503050406030204" pitchFamily="18" charset="0"/>
                            <a:ea typeface="Cambria Math" panose="02040503050406030204" pitchFamily="18" charset="0"/>
                          </a:rPr>
                          <m:t>target</m:t>
                        </m:r>
                      </m:e>
                      <m:sub>
                        <m:r>
                          <m:rPr>
                            <m:sty m:val="p"/>
                          </m:rPr>
                          <a:rPr lang="fr-FR" sz="1200">
                            <a:latin typeface="Cambria Math" panose="02040503050406030204" pitchFamily="18" charset="0"/>
                            <a:ea typeface="Cambria Math" panose="02040503050406030204" pitchFamily="18" charset="0"/>
                          </a:rPr>
                          <m:t>o</m:t>
                        </m:r>
                        <m:r>
                          <m:rPr>
                            <m:nor/>
                          </m:rPr>
                          <a:rPr lang="fr-FR" sz="1200">
                            <a:latin typeface="Cambria Math" panose="02040503050406030204" pitchFamily="18" charset="0"/>
                            <a:ea typeface="Cambria Math" panose="02040503050406030204" pitchFamily="18" charset="0"/>
                          </a:rPr>
                          <m:t>2</m:t>
                        </m:r>
                      </m:sub>
                    </m:sSub>
                    <m:r>
                      <a:rPr lang="fr-FR" sz="1200" i="1">
                        <a:latin typeface="Cambria Math" panose="02040503050406030204" pitchFamily="18" charset="0"/>
                        <a:ea typeface="Cambria Math" panose="02040503050406030204" pitchFamily="18" charset="0"/>
                      </a:rPr>
                      <m:t>− </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2</m:t>
                    </m:r>
                    <m:r>
                      <a:rPr lang="fr-FR" sz="1200" i="1">
                        <a:latin typeface="Cambria Math" panose="02040503050406030204" pitchFamily="18" charset="0"/>
                        <a:ea typeface="Cambria Math" panose="02040503050406030204" pitchFamily="18" charset="0"/>
                      </a:rPr>
                      <m:t>)</m:t>
                    </m:r>
                    <m:r>
                      <a:rPr lang="fr-FR" sz="1200" i="1">
                        <a:solidFill>
                          <a:schemeClr val="tx1"/>
                        </a:solidFill>
                        <a:latin typeface="Cambria Math" panose="02040503050406030204" pitchFamily="18" charset="0"/>
                        <a:ea typeface="Cambria Math" panose="02040503050406030204" pitchFamily="18" charset="0"/>
                      </a:rPr>
                      <m:t>×</m:t>
                    </m:r>
                    <m:r>
                      <m:rPr>
                        <m:sty m:val="p"/>
                      </m:rPr>
                      <a:rPr lang="fr-FR" sz="1200" smtClean="0">
                        <a:solidFill>
                          <a:schemeClr val="tx1"/>
                        </a:solidFill>
                        <a:latin typeface="Cambria Math" panose="02040503050406030204" pitchFamily="18" charset="0"/>
                        <a:ea typeface="Cambria Math" panose="02040503050406030204" pitchFamily="18" charset="0"/>
                      </a:rPr>
                      <m:t>out</m:t>
                    </m:r>
                    <m:r>
                      <a:rPr lang="fr-FR" sz="1200" smtClean="0">
                        <a:solidFill>
                          <a:schemeClr val="tx1"/>
                        </a:solidFill>
                        <a:latin typeface="Cambria Math" panose="02040503050406030204" pitchFamily="18" charset="0"/>
                        <a:ea typeface="Cambria Math" panose="02040503050406030204" pitchFamily="18" charset="0"/>
                      </a:rPr>
                      <m:t>_</m:t>
                    </m:r>
                    <m:r>
                      <m:rPr>
                        <m:sty m:val="p"/>
                      </m:rPr>
                      <a:rPr lang="fr-FR" sz="1200" smtClean="0">
                        <a:solidFill>
                          <a:schemeClr val="tx1"/>
                        </a:solidFill>
                        <a:latin typeface="Cambria Math" panose="02040503050406030204" pitchFamily="18" charset="0"/>
                        <a:ea typeface="Cambria Math" panose="02040503050406030204" pitchFamily="18" charset="0"/>
                      </a:rPr>
                      <m:t>o</m:t>
                    </m:r>
                    <m:r>
                      <a:rPr lang="fr-FR" sz="1200" b="0" i="0" smtClean="0">
                        <a:solidFill>
                          <a:schemeClr val="tx1"/>
                        </a:solidFill>
                        <a:latin typeface="Cambria Math" panose="02040503050406030204" pitchFamily="18" charset="0"/>
                        <a:ea typeface="Cambria Math" panose="02040503050406030204" pitchFamily="18" charset="0"/>
                      </a:rPr>
                      <m:t>2</m:t>
                    </m:r>
                    <m:r>
                      <a:rPr lang="fr-FR" sz="1200" smtClean="0">
                        <a:solidFill>
                          <a:schemeClr val="tx1"/>
                        </a:solidFill>
                        <a:latin typeface="Cambria Math" panose="02040503050406030204" pitchFamily="18" charset="0"/>
                        <a:ea typeface="Cambria Math" panose="02040503050406030204" pitchFamily="18" charset="0"/>
                      </a:rPr>
                      <m:t>(1−</m:t>
                    </m:r>
                    <m:r>
                      <m:rPr>
                        <m:sty m:val="p"/>
                      </m:rPr>
                      <a:rPr lang="fr-FR" sz="1200" smtClean="0">
                        <a:solidFill>
                          <a:schemeClr val="tx1"/>
                        </a:solidFill>
                        <a:latin typeface="Cambria Math" panose="02040503050406030204" pitchFamily="18" charset="0"/>
                        <a:ea typeface="Cambria Math" panose="02040503050406030204" pitchFamily="18" charset="0"/>
                      </a:rPr>
                      <m:t>out</m:t>
                    </m:r>
                    <m:r>
                      <a:rPr lang="fr-FR" sz="1200" smtClean="0">
                        <a:solidFill>
                          <a:schemeClr val="tx1"/>
                        </a:solidFill>
                        <a:latin typeface="Cambria Math" panose="02040503050406030204" pitchFamily="18" charset="0"/>
                        <a:ea typeface="Cambria Math" panose="02040503050406030204" pitchFamily="18" charset="0"/>
                      </a:rPr>
                      <m:t>_</m:t>
                    </m:r>
                    <m:r>
                      <m:rPr>
                        <m:sty m:val="p"/>
                      </m:rPr>
                      <a:rPr lang="fr-FR" sz="1200" smtClean="0">
                        <a:solidFill>
                          <a:schemeClr val="tx1"/>
                        </a:solidFill>
                        <a:latin typeface="Cambria Math" panose="02040503050406030204" pitchFamily="18" charset="0"/>
                        <a:ea typeface="Cambria Math" panose="02040503050406030204" pitchFamily="18" charset="0"/>
                      </a:rPr>
                      <m:t>o</m:t>
                    </m:r>
                    <m:r>
                      <a:rPr lang="fr-FR" sz="1200" b="0" i="1" smtClean="0">
                        <a:solidFill>
                          <a:schemeClr val="tx1"/>
                        </a:solidFill>
                        <a:latin typeface="Cambria Math" panose="02040503050406030204" pitchFamily="18" charset="0"/>
                        <a:ea typeface="Cambria Math" panose="02040503050406030204" pitchFamily="18" charset="0"/>
                      </a:rPr>
                      <m:t>2</m:t>
                    </m:r>
                    <m:r>
                      <a:rPr lang="fr-FR" sz="1200" i="1">
                        <a:solidFill>
                          <a:schemeClr val="tx1"/>
                        </a:solidFill>
                        <a:latin typeface="Cambria Math" panose="02040503050406030204" pitchFamily="18" charset="0"/>
                        <a:ea typeface="Cambria Math" panose="02040503050406030204" pitchFamily="18" charset="0"/>
                      </a:rPr>
                      <m:t>)</m:t>
                    </m:r>
                    <m:r>
                      <a:rPr lang="fr-FR" sz="1200" b="0" i="1" smtClean="0">
                        <a:solidFill>
                          <a:schemeClr val="tx1"/>
                        </a:solidFill>
                        <a:latin typeface="Cambria Math" panose="02040503050406030204" pitchFamily="18" charset="0"/>
                        <a:ea typeface="Cambria Math" panose="02040503050406030204" pitchFamily="18" charset="0"/>
                      </a:rPr>
                      <m:t>×</m:t>
                    </m:r>
                    <m:r>
                      <m:rPr>
                        <m:sty m:val="p"/>
                      </m:rPr>
                      <a:rPr lang="fr-FR" sz="1200" i="0" smtClean="0">
                        <a:solidFill>
                          <a:schemeClr val="tx1"/>
                        </a:solidFill>
                        <a:latin typeface="Cambria Math" panose="02040503050406030204" pitchFamily="18" charset="0"/>
                      </a:rPr>
                      <m:t>o</m:t>
                    </m:r>
                    <m:r>
                      <m:rPr>
                        <m:sty m:val="p"/>
                      </m:rPr>
                      <a:rPr lang="fr-FR" sz="1200" b="0" i="0" smtClean="0">
                        <a:solidFill>
                          <a:schemeClr val="tx1"/>
                        </a:solidFill>
                        <a:latin typeface="Cambria Math" panose="02040503050406030204" pitchFamily="18" charset="0"/>
                      </a:rPr>
                      <m:t>ut</m:t>
                    </m:r>
                    <m:r>
                      <a:rPr lang="fr-FR" sz="1200" b="0" i="0" smtClean="0">
                        <a:solidFill>
                          <a:schemeClr val="tx1"/>
                        </a:solidFill>
                        <a:latin typeface="Cambria Math" panose="02040503050406030204" pitchFamily="18" charset="0"/>
                      </a:rPr>
                      <m:t>_</m:t>
                    </m:r>
                    <m:r>
                      <m:rPr>
                        <m:sty m:val="p"/>
                      </m:rPr>
                      <a:rPr lang="fr-FR" sz="1200" b="0" i="0" smtClean="0">
                        <a:solidFill>
                          <a:schemeClr val="tx1"/>
                        </a:solidFill>
                        <a:latin typeface="Cambria Math" panose="02040503050406030204" pitchFamily="18" charset="0"/>
                      </a:rPr>
                      <m:t>h</m:t>
                    </m:r>
                  </m:oMath>
                </a14:m>
                <a:r>
                  <a:rPr lang="fr-FR" sz="1200" dirty="0">
                    <a:solidFill>
                      <a:schemeClr val="tx1"/>
                    </a:solidFill>
                  </a:rPr>
                  <a:t>2</a:t>
                </a:r>
                <a:endParaRPr lang="fr-FR" sz="1100" dirty="0">
                  <a:solidFill>
                    <a:schemeClr val="tx1"/>
                  </a:solidFill>
                </a:endParaRPr>
              </a:p>
            </p:txBody>
          </p:sp>
        </mc:Choice>
        <mc:Fallback xmlns="">
          <p:sp>
            <p:nvSpPr>
              <p:cNvPr id="4" name="ZoneTexte 3">
                <a:extLst>
                  <a:ext uri="{FF2B5EF4-FFF2-40B4-BE49-F238E27FC236}">
                    <a16:creationId xmlns:a16="http://schemas.microsoft.com/office/drawing/2014/main" id="{5DEEEA49-3E90-97D8-3429-8D27DD5FFB9E}"/>
                  </a:ext>
                </a:extLst>
              </p:cNvPr>
              <p:cNvSpPr txBox="1">
                <a:spLocks noRot="1" noChangeAspect="1" noMove="1" noResize="1" noEditPoints="1" noAdjustHandles="1" noChangeArrowheads="1" noChangeShapeType="1" noTextEdit="1"/>
              </p:cNvSpPr>
              <p:nvPr/>
            </p:nvSpPr>
            <p:spPr>
              <a:xfrm>
                <a:off x="6548343" y="3655899"/>
                <a:ext cx="4314288" cy="364139"/>
              </a:xfrm>
              <a:prstGeom prst="rect">
                <a:avLst/>
              </a:prstGeom>
              <a:blipFill>
                <a:blip r:embed="rId7"/>
                <a:stretch>
                  <a:fillRect/>
                </a:stretch>
              </a:blipFill>
              <a:ln>
                <a:solidFill>
                  <a:srgbClr val="FF0000"/>
                </a:solidFill>
              </a:ln>
            </p:spPr>
            <p:txBody>
              <a:bodyPr/>
              <a:lstStyle/>
              <a:p>
                <a:r>
                  <a:rPr lang="en-GB">
                    <a:noFill/>
                  </a:rPr>
                  <a:t> </a:t>
                </a:r>
              </a:p>
            </p:txBody>
          </p:sp>
        </mc:Fallback>
      </mc:AlternateContent>
      <p:sp>
        <p:nvSpPr>
          <p:cNvPr id="5" name="Espace réservé du pied de page 4">
            <a:extLst>
              <a:ext uri="{FF2B5EF4-FFF2-40B4-BE49-F238E27FC236}">
                <a16:creationId xmlns:a16="http://schemas.microsoft.com/office/drawing/2014/main" id="{969481E9-65BD-74C7-6B3B-2D1745E4B18D}"/>
              </a:ext>
            </a:extLst>
          </p:cNvPr>
          <p:cNvSpPr>
            <a:spLocks noGrp="1"/>
          </p:cNvSpPr>
          <p:nvPr>
            <p:ph type="ftr" sz="quarter" idx="11"/>
          </p:nvPr>
        </p:nvSpPr>
        <p:spPr/>
        <p:txBody>
          <a:bodyPr/>
          <a:lstStyle/>
          <a:p>
            <a:r>
              <a:rPr lang="fr-FR"/>
              <a:t>Introduction to Neural Networks. Author: David Thébault</a:t>
            </a:r>
          </a:p>
        </p:txBody>
      </p:sp>
      <p:pic>
        <p:nvPicPr>
          <p:cNvPr id="7" name="Image 6">
            <a:extLst>
              <a:ext uri="{FF2B5EF4-FFF2-40B4-BE49-F238E27FC236}">
                <a16:creationId xmlns:a16="http://schemas.microsoft.com/office/drawing/2014/main" id="{96DB9D84-D3C8-A62D-5EF0-9D29CBA904A5}"/>
              </a:ext>
            </a:extLst>
          </p:cNvPr>
          <p:cNvPicPr>
            <a:picLocks noChangeAspect="1"/>
          </p:cNvPicPr>
          <p:nvPr/>
        </p:nvPicPr>
        <p:blipFill>
          <a:blip r:embed="rId8"/>
          <a:stretch>
            <a:fillRect/>
          </a:stretch>
        </p:blipFill>
        <p:spPr>
          <a:xfrm>
            <a:off x="534064" y="1405136"/>
            <a:ext cx="5734704" cy="2759500"/>
          </a:xfrm>
          <a:prstGeom prst="rect">
            <a:avLst/>
          </a:prstGeom>
        </p:spPr>
      </p:pic>
    </p:spTree>
    <p:extLst>
      <p:ext uri="{BB962C8B-B14F-4D97-AF65-F5344CB8AC3E}">
        <p14:creationId xmlns:p14="http://schemas.microsoft.com/office/powerpoint/2010/main" val="38252490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43659-026E-895B-B023-D6AC4BAEBC02}"/>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AEA2799C-823F-D6CF-AEB1-5AF262598CCB}"/>
              </a:ext>
            </a:extLst>
          </p:cNvPr>
          <p:cNvPicPr>
            <a:picLocks noChangeAspect="1"/>
          </p:cNvPicPr>
          <p:nvPr/>
        </p:nvPicPr>
        <p:blipFill>
          <a:blip r:embed="rId2"/>
          <a:stretch>
            <a:fillRect/>
          </a:stretch>
        </p:blipFill>
        <p:spPr>
          <a:xfrm>
            <a:off x="534064" y="1405136"/>
            <a:ext cx="5734704" cy="2759500"/>
          </a:xfrm>
          <a:prstGeom prst="rect">
            <a:avLst/>
          </a:prstGeom>
        </p:spPr>
      </p:pic>
      <p:sp>
        <p:nvSpPr>
          <p:cNvPr id="2" name="Titre 1">
            <a:extLst>
              <a:ext uri="{FF2B5EF4-FFF2-40B4-BE49-F238E27FC236}">
                <a16:creationId xmlns:a16="http://schemas.microsoft.com/office/drawing/2014/main" id="{69673101-AA6D-A82D-2665-B38A86AF4EF7}"/>
              </a:ext>
            </a:extLst>
          </p:cNvPr>
          <p:cNvSpPr>
            <a:spLocks noGrp="1"/>
          </p:cNvSpPr>
          <p:nvPr>
            <p:ph type="title"/>
          </p:nvPr>
        </p:nvSpPr>
        <p:spPr/>
        <p:txBody>
          <a:bodyPr/>
          <a:lstStyle/>
          <a:p>
            <a:r>
              <a:rPr lang="fr-FR" dirty="0"/>
              <a:t>Neural Network</a:t>
            </a:r>
          </a:p>
        </p:txBody>
      </p:sp>
      <p:sp>
        <p:nvSpPr>
          <p:cNvPr id="73" name="ZoneTexte 72">
            <a:extLst>
              <a:ext uri="{FF2B5EF4-FFF2-40B4-BE49-F238E27FC236}">
                <a16:creationId xmlns:a16="http://schemas.microsoft.com/office/drawing/2014/main" id="{CE1C5B7D-7F95-6BCD-7BAE-5F022C7D8F30}"/>
              </a:ext>
            </a:extLst>
          </p:cNvPr>
          <p:cNvSpPr txBox="1"/>
          <p:nvPr/>
        </p:nvSpPr>
        <p:spPr>
          <a:xfrm>
            <a:off x="6872060" y="760834"/>
            <a:ext cx="3324563" cy="584775"/>
          </a:xfrm>
          <a:prstGeom prst="rect">
            <a:avLst/>
          </a:prstGeom>
          <a:noFill/>
        </p:spPr>
        <p:txBody>
          <a:bodyPr wrap="square" rtlCol="0">
            <a:spAutoFit/>
          </a:bodyPr>
          <a:lstStyle/>
          <a:p>
            <a:r>
              <a:rPr lang="en-GB" sz="3200" b="1" noProof="0" dirty="0"/>
              <a:t>Gradient</a:t>
            </a:r>
          </a:p>
        </p:txBody>
      </p:sp>
      <mc:AlternateContent xmlns:mc="http://schemas.openxmlformats.org/markup-compatibility/2006" xmlns:a14="http://schemas.microsoft.com/office/drawing/2010/main">
        <mc:Choice Requires="a14">
          <p:sp>
            <p:nvSpPr>
              <p:cNvPr id="47" name="ZoneTexte 46">
                <a:extLst>
                  <a:ext uri="{FF2B5EF4-FFF2-40B4-BE49-F238E27FC236}">
                    <a16:creationId xmlns:a16="http://schemas.microsoft.com/office/drawing/2014/main" id="{45397429-D969-6E07-9E5D-37A808E82335}"/>
                  </a:ext>
                </a:extLst>
              </p:cNvPr>
              <p:cNvSpPr txBox="1"/>
              <p:nvPr/>
            </p:nvSpPr>
            <p:spPr>
              <a:xfrm>
                <a:off x="6365540" y="1900809"/>
                <a:ext cx="5065982" cy="44345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fr-FR" sz="1200" i="1" smtClean="0">
                              <a:solidFill>
                                <a:schemeClr val="tx1"/>
                              </a:solidFill>
                              <a:latin typeface="Cambria Math" panose="02040503050406030204" pitchFamily="18" charset="0"/>
                            </a:rPr>
                          </m:ctrlPr>
                        </m:fPr>
                        <m:num>
                          <m:r>
                            <a:rPr lang="fr-FR" sz="1200" b="0" i="0" smtClean="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Loss</m:t>
                          </m:r>
                          <m:r>
                            <a:rPr lang="fr-FR" sz="1200" b="0" i="0" smtClean="0">
                              <a:solidFill>
                                <a:schemeClr val="tx1"/>
                              </a:solidFill>
                              <a:latin typeface="Cambria Math" panose="02040503050406030204" pitchFamily="18" charset="0"/>
                            </a:rPr>
                            <m:t>1</m:t>
                          </m:r>
                        </m:num>
                        <m:den>
                          <m:r>
                            <a:rPr lang="fr-FR" sz="1200" b="0" i="0" smtClean="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w</m:t>
                          </m:r>
                          <m:r>
                            <a:rPr lang="fr-FR" sz="1200" b="0" i="0" smtClean="0">
                              <a:solidFill>
                                <a:schemeClr val="tx1"/>
                              </a:solidFill>
                              <a:latin typeface="Cambria Math" panose="02040503050406030204" pitchFamily="18" charset="0"/>
                            </a:rPr>
                            <m:t>6</m:t>
                          </m:r>
                        </m:den>
                      </m:f>
                      <m:r>
                        <a:rPr lang="fr-FR" sz="1200" b="0" i="0" smtClean="0">
                          <a:solidFill>
                            <a:schemeClr val="tx1"/>
                          </a:solidFill>
                          <a:latin typeface="Cambria Math" panose="02040503050406030204" pitchFamily="18" charset="0"/>
                        </a:rPr>
                        <m:t>=</m:t>
                      </m:r>
                      <m:f>
                        <m:fPr>
                          <m:ctrlPr>
                            <a:rPr lang="fr-FR" sz="1200" i="1">
                              <a:solidFill>
                                <a:schemeClr val="accent2"/>
                              </a:solidFill>
                              <a:latin typeface="Cambria Math" panose="02040503050406030204" pitchFamily="18" charset="0"/>
                            </a:rPr>
                          </m:ctrlPr>
                        </m:fPr>
                        <m:num>
                          <m:r>
                            <a:rPr lang="fr-FR" sz="1200">
                              <a:solidFill>
                                <a:schemeClr val="accent2"/>
                              </a:solidFill>
                              <a:latin typeface="Cambria Math" panose="02040503050406030204" pitchFamily="18" charset="0"/>
                            </a:rPr>
                            <m:t>𝜕</m:t>
                          </m:r>
                          <m:r>
                            <m:rPr>
                              <m:sty m:val="p"/>
                            </m:rPr>
                            <a:rPr lang="fr-FR" sz="1200">
                              <a:solidFill>
                                <a:schemeClr val="accent2"/>
                              </a:solidFill>
                              <a:latin typeface="Cambria Math" panose="02040503050406030204" pitchFamily="18" charset="0"/>
                            </a:rPr>
                            <m:t>Loss</m:t>
                          </m:r>
                          <m:r>
                            <a:rPr lang="fr-FR" sz="1200">
                              <a:solidFill>
                                <a:schemeClr val="accent2"/>
                              </a:solidFill>
                              <a:latin typeface="Cambria Math" panose="02040503050406030204" pitchFamily="18" charset="0"/>
                            </a:rPr>
                            <m:t>1</m:t>
                          </m:r>
                        </m:num>
                        <m:den>
                          <m:r>
                            <a:rPr lang="fr-FR" sz="1200">
                              <a:solidFill>
                                <a:schemeClr val="accent2"/>
                              </a:solidFill>
                              <a:latin typeface="Cambria Math" panose="02040503050406030204" pitchFamily="18" charset="0"/>
                            </a:rPr>
                            <m:t>𝜕</m:t>
                          </m:r>
                          <m:r>
                            <m:rPr>
                              <m:sty m:val="p"/>
                            </m:rPr>
                            <a:rPr lang="fr-FR" sz="1200">
                              <a:solidFill>
                                <a:schemeClr val="accent2"/>
                              </a:solidFill>
                              <a:latin typeface="Cambria Math" panose="02040503050406030204" pitchFamily="18" charset="0"/>
                            </a:rPr>
                            <m:t>out</m:t>
                          </m:r>
                          <m:r>
                            <a:rPr lang="fr-FR" sz="1200">
                              <a:solidFill>
                                <a:schemeClr val="accent2"/>
                              </a:solidFill>
                              <a:latin typeface="Cambria Math" panose="02040503050406030204" pitchFamily="18" charset="0"/>
                            </a:rPr>
                            <m:t>_</m:t>
                          </m:r>
                          <m:r>
                            <m:rPr>
                              <m:sty m:val="p"/>
                            </m:rPr>
                            <a:rPr lang="fr-FR" sz="1200">
                              <a:solidFill>
                                <a:schemeClr val="accent2"/>
                              </a:solidFill>
                              <a:latin typeface="Cambria Math" panose="02040503050406030204" pitchFamily="18" charset="0"/>
                            </a:rPr>
                            <m:t>o</m:t>
                          </m:r>
                          <m:r>
                            <a:rPr lang="fr-FR" sz="1200">
                              <a:solidFill>
                                <a:schemeClr val="accent2"/>
                              </a:solidFill>
                              <a:latin typeface="Cambria Math" panose="02040503050406030204" pitchFamily="18" charset="0"/>
                            </a:rPr>
                            <m:t>1</m:t>
                          </m:r>
                        </m:den>
                      </m:f>
                      <m:r>
                        <a:rPr lang="fr-FR" sz="1200">
                          <a:latin typeface="Cambria Math" panose="02040503050406030204" pitchFamily="18" charset="0"/>
                        </a:rPr>
                        <m:t> </m:t>
                      </m:r>
                      <m:r>
                        <a:rPr lang="fr-FR" sz="1200" i="1">
                          <a:latin typeface="Cambria Math" panose="02040503050406030204" pitchFamily="18" charset="0"/>
                          <a:ea typeface="Cambria Math" panose="02040503050406030204" pitchFamily="18" charset="0"/>
                        </a:rPr>
                        <m:t>×</m:t>
                      </m:r>
                      <m:f>
                        <m:fPr>
                          <m:ctrlPr>
                            <a:rPr lang="fr-FR" sz="1200" i="1">
                              <a:solidFill>
                                <a:schemeClr val="accent2"/>
                              </a:solidFill>
                              <a:latin typeface="Cambria Math" panose="02040503050406030204" pitchFamily="18" charset="0"/>
                            </a:rPr>
                          </m:ctrlPr>
                        </m:fPr>
                        <m:num>
                          <m:r>
                            <a:rPr lang="fr-FR" sz="1200">
                              <a:solidFill>
                                <a:schemeClr val="accent2"/>
                              </a:solidFill>
                              <a:latin typeface="Cambria Math" panose="02040503050406030204" pitchFamily="18" charset="0"/>
                            </a:rPr>
                            <m:t>𝜕</m:t>
                          </m:r>
                          <m:r>
                            <m:rPr>
                              <m:sty m:val="p"/>
                            </m:rPr>
                            <a:rPr lang="fr-FR" sz="1200">
                              <a:solidFill>
                                <a:schemeClr val="accent2"/>
                              </a:solidFill>
                              <a:latin typeface="Cambria Math" panose="02040503050406030204" pitchFamily="18" charset="0"/>
                            </a:rPr>
                            <m:t>out</m:t>
                          </m:r>
                          <m:r>
                            <a:rPr lang="fr-FR" sz="1200">
                              <a:solidFill>
                                <a:schemeClr val="accent2"/>
                              </a:solidFill>
                              <a:latin typeface="Cambria Math" panose="02040503050406030204" pitchFamily="18" charset="0"/>
                            </a:rPr>
                            <m:t>_</m:t>
                          </m:r>
                          <m:r>
                            <m:rPr>
                              <m:sty m:val="p"/>
                            </m:rPr>
                            <a:rPr lang="fr-FR" sz="1200">
                              <a:solidFill>
                                <a:schemeClr val="accent2"/>
                              </a:solidFill>
                              <a:latin typeface="Cambria Math" panose="02040503050406030204" pitchFamily="18" charset="0"/>
                            </a:rPr>
                            <m:t>o</m:t>
                          </m:r>
                          <m:r>
                            <a:rPr lang="fr-FR" sz="1200">
                              <a:solidFill>
                                <a:schemeClr val="accent2"/>
                              </a:solidFill>
                              <a:latin typeface="Cambria Math" panose="02040503050406030204" pitchFamily="18" charset="0"/>
                            </a:rPr>
                            <m:t>1</m:t>
                          </m:r>
                        </m:num>
                        <m:den>
                          <m:r>
                            <a:rPr lang="fr-FR" sz="1200">
                              <a:solidFill>
                                <a:schemeClr val="accent2"/>
                              </a:solidFill>
                              <a:latin typeface="Cambria Math" panose="02040503050406030204" pitchFamily="18" charset="0"/>
                            </a:rPr>
                            <m:t>𝜕</m:t>
                          </m:r>
                          <m:r>
                            <m:rPr>
                              <m:sty m:val="p"/>
                            </m:rPr>
                            <a:rPr lang="fr-FR" sz="1200">
                              <a:solidFill>
                                <a:schemeClr val="accent2"/>
                              </a:solidFill>
                              <a:latin typeface="Cambria Math" panose="02040503050406030204" pitchFamily="18" charset="0"/>
                            </a:rPr>
                            <m:t>net</m:t>
                          </m:r>
                          <m:r>
                            <a:rPr lang="fr-FR" sz="1200">
                              <a:solidFill>
                                <a:schemeClr val="accent2"/>
                              </a:solidFill>
                              <a:latin typeface="Cambria Math" panose="02040503050406030204" pitchFamily="18" charset="0"/>
                            </a:rPr>
                            <m:t>_</m:t>
                          </m:r>
                          <m:r>
                            <m:rPr>
                              <m:sty m:val="p"/>
                            </m:rPr>
                            <a:rPr lang="fr-FR" sz="1200">
                              <a:solidFill>
                                <a:schemeClr val="accent2"/>
                              </a:solidFill>
                              <a:latin typeface="Cambria Math" panose="02040503050406030204" pitchFamily="18" charset="0"/>
                            </a:rPr>
                            <m:t>o</m:t>
                          </m:r>
                          <m:r>
                            <a:rPr lang="fr-FR" sz="1200">
                              <a:solidFill>
                                <a:schemeClr val="accent2"/>
                              </a:solidFill>
                              <a:latin typeface="Cambria Math" panose="02040503050406030204" pitchFamily="18" charset="0"/>
                            </a:rPr>
                            <m:t>1</m:t>
                          </m:r>
                        </m:den>
                      </m:f>
                      <m:r>
                        <a:rPr lang="fr-FR" sz="1200">
                          <a:latin typeface="Cambria Math" panose="02040503050406030204" pitchFamily="18" charset="0"/>
                        </a:rPr>
                        <m:t> </m:t>
                      </m:r>
                      <m:r>
                        <a:rPr lang="fr-FR" sz="1200" i="1">
                          <a:latin typeface="Cambria Math" panose="02040503050406030204" pitchFamily="18" charset="0"/>
                          <a:ea typeface="Cambria Math" panose="02040503050406030204" pitchFamily="18" charset="0"/>
                        </a:rPr>
                        <m:t>×</m:t>
                      </m:r>
                      <m:f>
                        <m:fPr>
                          <m:ctrlPr>
                            <a:rPr lang="fr-FR" sz="1200" i="1">
                              <a:latin typeface="Cambria Math" panose="02040503050406030204" pitchFamily="18" charset="0"/>
                            </a:rPr>
                          </m:ctrlPr>
                        </m:fPr>
                        <m:num>
                          <m:r>
                            <a:rPr lang="fr-FR" sz="1200">
                              <a:latin typeface="Cambria Math" panose="02040503050406030204" pitchFamily="18" charset="0"/>
                            </a:rPr>
                            <m:t>𝜕</m:t>
                          </m:r>
                          <m:r>
                            <m:rPr>
                              <m:sty m:val="p"/>
                            </m:rPr>
                            <a:rPr lang="fr-FR" sz="1200">
                              <a:latin typeface="Cambria Math" panose="02040503050406030204" pitchFamily="18" charset="0"/>
                            </a:rPr>
                            <m:t>net</m:t>
                          </m:r>
                          <m:r>
                            <a:rPr lang="fr-FR" sz="1200">
                              <a:latin typeface="Cambria Math" panose="02040503050406030204" pitchFamily="18" charset="0"/>
                            </a:rPr>
                            <m:t>_</m:t>
                          </m:r>
                          <m:r>
                            <m:rPr>
                              <m:sty m:val="p"/>
                            </m:rPr>
                            <a:rPr lang="fr-FR" sz="1200">
                              <a:latin typeface="Cambria Math" panose="02040503050406030204" pitchFamily="18" charset="0"/>
                            </a:rPr>
                            <m:t>o</m:t>
                          </m:r>
                          <m:r>
                            <a:rPr lang="fr-FR" sz="1200">
                              <a:latin typeface="Cambria Math" panose="02040503050406030204" pitchFamily="18" charset="0"/>
                            </a:rPr>
                            <m:t>1</m:t>
                          </m:r>
                        </m:num>
                        <m:den>
                          <m:r>
                            <a:rPr lang="fr-FR" sz="1200">
                              <a:latin typeface="Cambria Math" panose="02040503050406030204" pitchFamily="18" charset="0"/>
                            </a:rPr>
                            <m:t>𝜕</m:t>
                          </m:r>
                          <m:r>
                            <m:rPr>
                              <m:sty m:val="p"/>
                            </m:rPr>
                            <a:rPr lang="fr-FR" sz="1200" b="0" i="0" smtClean="0">
                              <a:latin typeface="Cambria Math" panose="02040503050406030204" pitchFamily="18" charset="0"/>
                            </a:rPr>
                            <m:t>w</m:t>
                          </m:r>
                          <m:r>
                            <a:rPr lang="fr-FR" sz="1200" b="0" i="0" smtClean="0">
                              <a:latin typeface="Cambria Math" panose="02040503050406030204" pitchFamily="18" charset="0"/>
                            </a:rPr>
                            <m:t>6</m:t>
                          </m:r>
                        </m:den>
                      </m:f>
                    </m:oMath>
                  </m:oMathPara>
                </a14:m>
                <a:endParaRPr lang="fr-FR" sz="1200" dirty="0">
                  <a:solidFill>
                    <a:schemeClr val="tx1"/>
                  </a:solidFill>
                </a:endParaRPr>
              </a:p>
            </p:txBody>
          </p:sp>
        </mc:Choice>
        <mc:Fallback xmlns="">
          <p:sp>
            <p:nvSpPr>
              <p:cNvPr id="47" name="ZoneTexte 46">
                <a:extLst>
                  <a:ext uri="{FF2B5EF4-FFF2-40B4-BE49-F238E27FC236}">
                    <a16:creationId xmlns:a16="http://schemas.microsoft.com/office/drawing/2014/main" id="{45397429-D969-6E07-9E5D-37A808E82335}"/>
                  </a:ext>
                </a:extLst>
              </p:cNvPr>
              <p:cNvSpPr txBox="1">
                <a:spLocks noRot="1" noChangeAspect="1" noMove="1" noResize="1" noEditPoints="1" noAdjustHandles="1" noChangeArrowheads="1" noChangeShapeType="1" noTextEdit="1"/>
              </p:cNvSpPr>
              <p:nvPr/>
            </p:nvSpPr>
            <p:spPr>
              <a:xfrm>
                <a:off x="6365540" y="1900809"/>
                <a:ext cx="5065982" cy="443455"/>
              </a:xfrm>
              <a:prstGeom prst="rect">
                <a:avLst/>
              </a:prstGeom>
              <a:blipFill>
                <a:blip r:embed="rId3"/>
                <a:stretch>
                  <a:fillRect/>
                </a:stretch>
              </a:blipFill>
            </p:spPr>
            <p:txBody>
              <a:bodyPr/>
              <a:lstStyle/>
              <a:p>
                <a:r>
                  <a:rPr lang="fr-FR">
                    <a:noFill/>
                  </a:rPr>
                  <a:t> </a:t>
                </a:r>
              </a:p>
            </p:txBody>
          </p:sp>
        </mc:Fallback>
      </mc:AlternateContent>
      <p:sp>
        <p:nvSpPr>
          <p:cNvPr id="21" name="ZoneTexte 20">
            <a:extLst>
              <a:ext uri="{FF2B5EF4-FFF2-40B4-BE49-F238E27FC236}">
                <a16:creationId xmlns:a16="http://schemas.microsoft.com/office/drawing/2014/main" id="{C88CFA90-7BB5-DA35-2BE7-3FFD59D09AF9}"/>
              </a:ext>
            </a:extLst>
          </p:cNvPr>
          <p:cNvSpPr txBox="1"/>
          <p:nvPr/>
        </p:nvSpPr>
        <p:spPr>
          <a:xfrm>
            <a:off x="6528460" y="1334708"/>
            <a:ext cx="3157800" cy="307777"/>
          </a:xfrm>
          <a:prstGeom prst="rect">
            <a:avLst/>
          </a:prstGeom>
          <a:noFill/>
        </p:spPr>
        <p:txBody>
          <a:bodyPr wrap="square" rtlCol="0">
            <a:spAutoFit/>
          </a:bodyPr>
          <a:lstStyle/>
          <a:p>
            <a:r>
              <a:rPr lang="fr-FR" sz="1400" b="1" dirty="0">
                <a:solidFill>
                  <a:srgbClr val="FF0000"/>
                </a:solidFill>
              </a:rPr>
              <a:t>BACKPROPAGATION</a:t>
            </a:r>
            <a:r>
              <a:rPr lang="fr-FR" sz="1400" b="1" dirty="0"/>
              <a:t> + CHAIN RULE</a:t>
            </a:r>
          </a:p>
        </p:txBody>
      </p:sp>
      <p:sp>
        <p:nvSpPr>
          <p:cNvPr id="22" name="Flèche vers la gauche 21">
            <a:extLst>
              <a:ext uri="{FF2B5EF4-FFF2-40B4-BE49-F238E27FC236}">
                <a16:creationId xmlns:a16="http://schemas.microsoft.com/office/drawing/2014/main" id="{33B54EF3-8D06-B899-BF51-777C97FCCFF5}"/>
              </a:ext>
            </a:extLst>
          </p:cNvPr>
          <p:cNvSpPr/>
          <p:nvPr/>
        </p:nvSpPr>
        <p:spPr>
          <a:xfrm rot="18488585" flipV="1">
            <a:off x="2329043" y="2166790"/>
            <a:ext cx="1250269" cy="274824"/>
          </a:xfrm>
          <a:prstGeom prst="leftArrow">
            <a:avLst>
              <a:gd name="adj1" fmla="val 49587"/>
              <a:gd name="adj2" fmla="val 50000"/>
            </a:avLst>
          </a:prstGeom>
          <a:solidFill>
            <a:srgbClr val="FF00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4" name="Connecteur droit 23">
            <a:extLst>
              <a:ext uri="{FF2B5EF4-FFF2-40B4-BE49-F238E27FC236}">
                <a16:creationId xmlns:a16="http://schemas.microsoft.com/office/drawing/2014/main" id="{AE7DE361-DE23-B619-D4C9-44DB589959DB}"/>
              </a:ext>
            </a:extLst>
          </p:cNvPr>
          <p:cNvCxnSpPr>
            <a:cxnSpLocks/>
          </p:cNvCxnSpPr>
          <p:nvPr/>
        </p:nvCxnSpPr>
        <p:spPr>
          <a:xfrm>
            <a:off x="3270882" y="1838151"/>
            <a:ext cx="1368000" cy="0"/>
          </a:xfrm>
          <a:prstGeom prst="line">
            <a:avLst/>
          </a:prstGeom>
          <a:ln w="136525">
            <a:solidFill>
              <a:srgbClr val="FF0000">
                <a:alpha val="50000"/>
              </a:srgbClr>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A701E77D-1333-DBD9-1624-0066789A84A9}"/>
                  </a:ext>
                </a:extLst>
              </p:cNvPr>
              <p:cNvSpPr txBox="1"/>
              <p:nvPr/>
            </p:nvSpPr>
            <p:spPr>
              <a:xfrm>
                <a:off x="4051002" y="1372755"/>
                <a:ext cx="642969" cy="414216"/>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f>
                        <m:fPr>
                          <m:ctrlPr>
                            <a:rPr lang="fr-FR" sz="1050" i="1" smtClean="0">
                              <a:solidFill>
                                <a:srgbClr val="FF0000"/>
                              </a:solidFill>
                              <a:latin typeface="Cambria Math" panose="02040503050406030204" pitchFamily="18" charset="0"/>
                            </a:rPr>
                          </m:ctrlPr>
                        </m:fPr>
                        <m:num>
                          <m:r>
                            <a:rPr lang="fr-FR" sz="1050" i="0" smtClean="0">
                              <a:solidFill>
                                <a:srgbClr val="FF0000"/>
                              </a:solidFill>
                              <a:latin typeface="Cambria Math" panose="02040503050406030204" pitchFamily="18" charset="0"/>
                            </a:rPr>
                            <m:t>𝜕</m:t>
                          </m:r>
                          <m:r>
                            <m:rPr>
                              <m:sty m:val="p"/>
                            </m:rPr>
                            <a:rPr lang="fr-FR" sz="1050" b="0" i="0" smtClean="0">
                              <a:solidFill>
                                <a:srgbClr val="FF0000"/>
                              </a:solidFill>
                              <a:latin typeface="Cambria Math" panose="02040503050406030204" pitchFamily="18" charset="0"/>
                            </a:rPr>
                            <m:t>Loss</m:t>
                          </m:r>
                          <m:r>
                            <a:rPr lang="fr-FR" sz="1050" b="0" i="0" smtClean="0">
                              <a:solidFill>
                                <a:srgbClr val="FF0000"/>
                              </a:solidFill>
                              <a:latin typeface="Cambria Math" panose="02040503050406030204" pitchFamily="18" charset="0"/>
                            </a:rPr>
                            <m:t>1</m:t>
                          </m:r>
                        </m:num>
                        <m:den>
                          <m:r>
                            <a:rPr lang="fr-FR" sz="1050" i="0" smtClean="0">
                              <a:solidFill>
                                <a:srgbClr val="FF0000"/>
                              </a:solidFill>
                              <a:latin typeface="Cambria Math" panose="02040503050406030204" pitchFamily="18" charset="0"/>
                            </a:rPr>
                            <m:t>𝜕</m:t>
                          </m:r>
                          <m:r>
                            <a:rPr lang="fr-FR" sz="1050" b="0" i="1" smtClean="0">
                              <a:solidFill>
                                <a:srgbClr val="FF0000"/>
                              </a:solidFill>
                              <a:latin typeface="Cambria Math" panose="02040503050406030204" pitchFamily="18" charset="0"/>
                            </a:rPr>
                            <m:t>𝑏</m:t>
                          </m:r>
                          <m:r>
                            <a:rPr lang="fr-FR" sz="1050" b="0" i="1" smtClean="0">
                              <a:solidFill>
                                <a:srgbClr val="FF0000"/>
                              </a:solidFill>
                              <a:latin typeface="Cambria Math" panose="02040503050406030204" pitchFamily="18" charset="0"/>
                            </a:rPr>
                            <m:t>1</m:t>
                          </m:r>
                        </m:den>
                      </m:f>
                    </m:oMath>
                  </m:oMathPara>
                </a14:m>
                <a:endParaRPr lang="fr-FR" sz="1050" b="1" dirty="0">
                  <a:solidFill>
                    <a:srgbClr val="FF0000"/>
                  </a:solidFill>
                </a:endParaRPr>
              </a:p>
            </p:txBody>
          </p:sp>
        </mc:Choice>
        <mc:Fallback xmlns="">
          <p:sp>
            <p:nvSpPr>
              <p:cNvPr id="6" name="ZoneTexte 5">
                <a:extLst>
                  <a:ext uri="{FF2B5EF4-FFF2-40B4-BE49-F238E27FC236}">
                    <a16:creationId xmlns:a16="http://schemas.microsoft.com/office/drawing/2014/main" id="{A701E77D-1333-DBD9-1624-0066789A84A9}"/>
                  </a:ext>
                </a:extLst>
              </p:cNvPr>
              <p:cNvSpPr txBox="1">
                <a:spLocks noRot="1" noChangeAspect="1" noMove="1" noResize="1" noEditPoints="1" noAdjustHandles="1" noChangeArrowheads="1" noChangeShapeType="1" noTextEdit="1"/>
              </p:cNvSpPr>
              <p:nvPr/>
            </p:nvSpPr>
            <p:spPr>
              <a:xfrm>
                <a:off x="4051002" y="1372755"/>
                <a:ext cx="642969" cy="414216"/>
              </a:xfrm>
              <a:prstGeom prst="rect">
                <a:avLst/>
              </a:prstGeom>
              <a:blipFill>
                <a:blip r:embed="rId4"/>
                <a:stretch>
                  <a:fillRect/>
                </a:stretch>
              </a:blipFill>
            </p:spPr>
            <p:txBody>
              <a:bodyPr/>
              <a:lstStyle/>
              <a:p>
                <a:r>
                  <a:rPr lang="fr-FR">
                    <a:noFill/>
                  </a:rPr>
                  <a:t> </a:t>
                </a:r>
              </a:p>
            </p:txBody>
          </p:sp>
        </mc:Fallback>
      </mc:AlternateContent>
      <p:sp>
        <p:nvSpPr>
          <p:cNvPr id="23" name="ZoneTexte 22">
            <a:extLst>
              <a:ext uri="{FF2B5EF4-FFF2-40B4-BE49-F238E27FC236}">
                <a16:creationId xmlns:a16="http://schemas.microsoft.com/office/drawing/2014/main" id="{27E31D59-EDDB-8058-D887-737F527CB946}"/>
              </a:ext>
            </a:extLst>
          </p:cNvPr>
          <p:cNvSpPr txBox="1"/>
          <p:nvPr/>
        </p:nvSpPr>
        <p:spPr>
          <a:xfrm>
            <a:off x="6365540" y="3731841"/>
            <a:ext cx="1280857" cy="261610"/>
          </a:xfrm>
          <a:prstGeom prst="rect">
            <a:avLst/>
          </a:prstGeom>
          <a:noFill/>
          <a:ln>
            <a:noFill/>
          </a:ln>
        </p:spPr>
        <p:txBody>
          <a:bodyPr wrap="square" rtlCol="0">
            <a:spAutoFit/>
          </a:bodyPr>
          <a:lstStyle>
            <a:defPPr>
              <a:defRPr lang="fr-FR"/>
            </a:defPPr>
            <a:lvl1pPr>
              <a:defRPr sz="1200">
                <a:latin typeface="Cambria Math" panose="02040503050406030204" pitchFamily="18" charset="0"/>
              </a:defRPr>
            </a:lvl1pPr>
          </a:lstStyle>
          <a:p>
            <a:r>
              <a:rPr lang="en-GB"/>
              <a:t>Symmetrically</a:t>
            </a:r>
            <a:endParaRPr lang="en-GB" dirty="0"/>
          </a:p>
        </p:txBody>
      </p:sp>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05D5F887-E25C-B73A-9577-344864DD902C}"/>
                  </a:ext>
                </a:extLst>
              </p:cNvPr>
              <p:cNvSpPr txBox="1"/>
              <p:nvPr/>
            </p:nvSpPr>
            <p:spPr>
              <a:xfrm>
                <a:off x="6365540" y="2541731"/>
                <a:ext cx="5065982" cy="44345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fr-FR" sz="1200" i="1" smtClean="0">
                              <a:solidFill>
                                <a:schemeClr val="tx1"/>
                              </a:solidFill>
                              <a:latin typeface="Cambria Math" panose="02040503050406030204" pitchFamily="18" charset="0"/>
                            </a:rPr>
                          </m:ctrlPr>
                        </m:fPr>
                        <m:num>
                          <m:r>
                            <a:rPr lang="fr-FR" sz="1200" b="0" i="0" smtClean="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Loss</m:t>
                          </m:r>
                          <m:r>
                            <a:rPr lang="fr-FR" sz="1200" b="0" i="0" smtClean="0">
                              <a:solidFill>
                                <a:schemeClr val="tx1"/>
                              </a:solidFill>
                              <a:latin typeface="Cambria Math" panose="02040503050406030204" pitchFamily="18" charset="0"/>
                            </a:rPr>
                            <m:t>1</m:t>
                          </m:r>
                        </m:num>
                        <m:den>
                          <m:r>
                            <a:rPr lang="fr-FR" sz="1200" b="0" i="0" smtClean="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w</m:t>
                          </m:r>
                          <m:r>
                            <a:rPr lang="fr-FR" sz="1200" b="0" i="0" smtClean="0">
                              <a:solidFill>
                                <a:schemeClr val="tx1"/>
                              </a:solidFill>
                              <a:latin typeface="Cambria Math" panose="02040503050406030204" pitchFamily="18" charset="0"/>
                            </a:rPr>
                            <m:t>6</m:t>
                          </m:r>
                        </m:den>
                      </m:f>
                      <m:r>
                        <a:rPr lang="fr-FR" sz="1200" b="0" i="0" smtClean="0">
                          <a:solidFill>
                            <a:schemeClr val="tx1"/>
                          </a:solidFill>
                          <a:latin typeface="Cambria Math" panose="02040503050406030204" pitchFamily="18" charset="0"/>
                        </a:rPr>
                        <m:t>=</m:t>
                      </m:r>
                      <m:r>
                        <m:rPr>
                          <m:nor/>
                        </m:rPr>
                        <a:rPr lang="fr-FR" sz="1200" smtClean="0">
                          <a:solidFill>
                            <a:schemeClr val="accent2"/>
                          </a:solidFill>
                          <a:latin typeface="Cambria Math" panose="02040503050406030204" pitchFamily="18" charset="0"/>
                        </a:rPr>
                        <m:t>−2</m:t>
                      </m:r>
                      <m:r>
                        <m:rPr>
                          <m:nor/>
                        </m:rPr>
                        <a:rPr lang="fr-FR" sz="1200" dirty="0" smtClean="0">
                          <a:solidFill>
                            <a:schemeClr val="accent2"/>
                          </a:solidFill>
                          <a:latin typeface="Cambria Math" panose="02040503050406030204" pitchFamily="18" charset="0"/>
                          <a:ea typeface="Cambria Math" panose="02040503050406030204" pitchFamily="18" charset="0"/>
                        </a:rPr>
                        <m:t>(</m:t>
                      </m:r>
                      <m:sSub>
                        <m:sSubPr>
                          <m:ctrlPr>
                            <a:rPr lang="fr-FR" sz="1200" i="1" dirty="0">
                              <a:solidFill>
                                <a:schemeClr val="accent2"/>
                              </a:solidFill>
                              <a:latin typeface="Cambria Math" panose="02040503050406030204" pitchFamily="18" charset="0"/>
                              <a:ea typeface="Cambria Math" panose="02040503050406030204" pitchFamily="18" charset="0"/>
                            </a:rPr>
                          </m:ctrlPr>
                        </m:sSubPr>
                        <m:e>
                          <m:r>
                            <m:rPr>
                              <m:sty m:val="p"/>
                            </m:rPr>
                            <a:rPr lang="fr-FR" sz="1200">
                              <a:solidFill>
                                <a:schemeClr val="accent2"/>
                              </a:solidFill>
                              <a:latin typeface="Cambria Math" panose="02040503050406030204" pitchFamily="18" charset="0"/>
                              <a:ea typeface="Cambria Math" panose="02040503050406030204" pitchFamily="18" charset="0"/>
                            </a:rPr>
                            <m:t>target</m:t>
                          </m:r>
                        </m:e>
                        <m:sub>
                          <m:r>
                            <m:rPr>
                              <m:sty m:val="p"/>
                            </m:rPr>
                            <a:rPr lang="fr-FR" sz="1200">
                              <a:solidFill>
                                <a:schemeClr val="accent2"/>
                              </a:solidFill>
                              <a:latin typeface="Cambria Math" panose="02040503050406030204" pitchFamily="18" charset="0"/>
                              <a:ea typeface="Cambria Math" panose="02040503050406030204" pitchFamily="18" charset="0"/>
                            </a:rPr>
                            <m:t>o</m:t>
                          </m:r>
                          <m:r>
                            <a:rPr lang="fr-FR" sz="1200">
                              <a:solidFill>
                                <a:schemeClr val="accent2"/>
                              </a:solidFill>
                              <a:latin typeface="Cambria Math" panose="02040503050406030204" pitchFamily="18" charset="0"/>
                              <a:ea typeface="Cambria Math" panose="02040503050406030204" pitchFamily="18" charset="0"/>
                            </a:rPr>
                            <m:t>1</m:t>
                          </m:r>
                        </m:sub>
                      </m:sSub>
                      <m:r>
                        <a:rPr lang="fr-FR" sz="1200" i="1">
                          <a:solidFill>
                            <a:schemeClr val="accent2"/>
                          </a:solidFill>
                          <a:latin typeface="Cambria Math" panose="02040503050406030204" pitchFamily="18" charset="0"/>
                          <a:ea typeface="Cambria Math" panose="02040503050406030204" pitchFamily="18" charset="0"/>
                        </a:rPr>
                        <m:t>− </m:t>
                      </m:r>
                      <m:r>
                        <m:rPr>
                          <m:sty m:val="p"/>
                        </m:rPr>
                        <a:rPr lang="fr-FR" sz="1200">
                          <a:solidFill>
                            <a:schemeClr val="accent2"/>
                          </a:solidFill>
                          <a:latin typeface="Cambria Math" panose="02040503050406030204" pitchFamily="18" charset="0"/>
                          <a:ea typeface="Cambria Math" panose="02040503050406030204" pitchFamily="18" charset="0"/>
                        </a:rPr>
                        <m:t>out</m:t>
                      </m:r>
                      <m:r>
                        <a:rPr lang="fr-FR" sz="1200">
                          <a:solidFill>
                            <a:schemeClr val="accent2"/>
                          </a:solidFill>
                          <a:latin typeface="Cambria Math" panose="02040503050406030204" pitchFamily="18" charset="0"/>
                          <a:ea typeface="Cambria Math" panose="02040503050406030204" pitchFamily="18" charset="0"/>
                        </a:rPr>
                        <m:t>_</m:t>
                      </m:r>
                      <m:r>
                        <m:rPr>
                          <m:sty m:val="p"/>
                        </m:rPr>
                        <a:rPr lang="fr-FR" sz="1200">
                          <a:solidFill>
                            <a:schemeClr val="accent2"/>
                          </a:solidFill>
                          <a:latin typeface="Cambria Math" panose="02040503050406030204" pitchFamily="18" charset="0"/>
                          <a:ea typeface="Cambria Math" panose="02040503050406030204" pitchFamily="18" charset="0"/>
                        </a:rPr>
                        <m:t>o</m:t>
                      </m:r>
                      <m:r>
                        <a:rPr lang="fr-FR" sz="1200">
                          <a:solidFill>
                            <a:schemeClr val="accent2"/>
                          </a:solidFill>
                          <a:latin typeface="Cambria Math" panose="02040503050406030204" pitchFamily="18" charset="0"/>
                          <a:ea typeface="Cambria Math" panose="02040503050406030204" pitchFamily="18" charset="0"/>
                        </a:rPr>
                        <m:t>1</m:t>
                      </m:r>
                      <m:r>
                        <m:rPr>
                          <m:nor/>
                        </m:rPr>
                        <a:rPr lang="fr-FR" sz="1200" dirty="0">
                          <a:solidFill>
                            <a:schemeClr val="accent2"/>
                          </a:solidFill>
                          <a:latin typeface="Cambria Math" panose="02040503050406030204" pitchFamily="18" charset="0"/>
                          <a:ea typeface="Cambria Math" panose="02040503050406030204" pitchFamily="18" charset="0"/>
                        </a:rPr>
                        <m:t>)</m:t>
                      </m:r>
                      <m:r>
                        <a:rPr lang="fr-FR" sz="1200" i="1">
                          <a:latin typeface="Cambria Math" panose="02040503050406030204" pitchFamily="18" charset="0"/>
                          <a:ea typeface="Cambria Math" panose="02040503050406030204" pitchFamily="18" charset="0"/>
                        </a:rPr>
                        <m:t>×</m:t>
                      </m:r>
                      <m:r>
                        <m:rPr>
                          <m:sty m:val="p"/>
                        </m:rPr>
                        <a:rPr lang="fr-FR" sz="1200">
                          <a:solidFill>
                            <a:schemeClr val="accent2"/>
                          </a:solidFill>
                          <a:latin typeface="Cambria Math" panose="02040503050406030204" pitchFamily="18" charset="0"/>
                          <a:ea typeface="Cambria Math" panose="02040503050406030204" pitchFamily="18" charset="0"/>
                        </a:rPr>
                        <m:t>out</m:t>
                      </m:r>
                      <m:r>
                        <a:rPr lang="fr-FR" sz="1200">
                          <a:solidFill>
                            <a:schemeClr val="accent2"/>
                          </a:solidFill>
                          <a:latin typeface="Cambria Math" panose="02040503050406030204" pitchFamily="18" charset="0"/>
                          <a:ea typeface="Cambria Math" panose="02040503050406030204" pitchFamily="18" charset="0"/>
                        </a:rPr>
                        <m:t>_</m:t>
                      </m:r>
                      <m:r>
                        <m:rPr>
                          <m:sty m:val="p"/>
                        </m:rPr>
                        <a:rPr lang="fr-FR" sz="1200">
                          <a:solidFill>
                            <a:schemeClr val="accent2"/>
                          </a:solidFill>
                          <a:latin typeface="Cambria Math" panose="02040503050406030204" pitchFamily="18" charset="0"/>
                          <a:ea typeface="Cambria Math" panose="02040503050406030204" pitchFamily="18" charset="0"/>
                        </a:rPr>
                        <m:t>o</m:t>
                      </m:r>
                      <m:r>
                        <a:rPr lang="fr-FR" sz="1200">
                          <a:solidFill>
                            <a:schemeClr val="accent2"/>
                          </a:solidFill>
                          <a:latin typeface="Cambria Math" panose="02040503050406030204" pitchFamily="18" charset="0"/>
                          <a:ea typeface="Cambria Math" panose="02040503050406030204" pitchFamily="18" charset="0"/>
                        </a:rPr>
                        <m:t>1(1−</m:t>
                      </m:r>
                      <m:r>
                        <m:rPr>
                          <m:sty m:val="p"/>
                        </m:rPr>
                        <a:rPr lang="fr-FR" sz="1200">
                          <a:solidFill>
                            <a:schemeClr val="accent2"/>
                          </a:solidFill>
                          <a:latin typeface="Cambria Math" panose="02040503050406030204" pitchFamily="18" charset="0"/>
                          <a:ea typeface="Cambria Math" panose="02040503050406030204" pitchFamily="18" charset="0"/>
                        </a:rPr>
                        <m:t>out</m:t>
                      </m:r>
                      <m:r>
                        <a:rPr lang="fr-FR" sz="1200">
                          <a:solidFill>
                            <a:schemeClr val="accent2"/>
                          </a:solidFill>
                          <a:latin typeface="Cambria Math" panose="02040503050406030204" pitchFamily="18" charset="0"/>
                          <a:ea typeface="Cambria Math" panose="02040503050406030204" pitchFamily="18" charset="0"/>
                        </a:rPr>
                        <m:t>_</m:t>
                      </m:r>
                      <m:r>
                        <m:rPr>
                          <m:sty m:val="p"/>
                        </m:rPr>
                        <a:rPr lang="fr-FR" sz="1200">
                          <a:solidFill>
                            <a:schemeClr val="accent2"/>
                          </a:solidFill>
                          <a:latin typeface="Cambria Math" panose="02040503050406030204" pitchFamily="18" charset="0"/>
                          <a:ea typeface="Cambria Math" panose="02040503050406030204" pitchFamily="18" charset="0"/>
                        </a:rPr>
                        <m:t>o</m:t>
                      </m:r>
                      <m:r>
                        <a:rPr lang="fr-FR" sz="1200">
                          <a:solidFill>
                            <a:schemeClr val="accent2"/>
                          </a:solidFill>
                          <a:latin typeface="Cambria Math" panose="02040503050406030204" pitchFamily="18" charset="0"/>
                          <a:ea typeface="Cambria Math" panose="02040503050406030204" pitchFamily="18" charset="0"/>
                        </a:rPr>
                        <m:t>1</m:t>
                      </m:r>
                      <m:r>
                        <a:rPr lang="fr-FR" sz="1200" i="1">
                          <a:solidFill>
                            <a:schemeClr val="accent2"/>
                          </a:solidFill>
                          <a:latin typeface="Cambria Math" panose="02040503050406030204" pitchFamily="18" charset="0"/>
                          <a:ea typeface="Cambria Math" panose="02040503050406030204" pitchFamily="18" charset="0"/>
                        </a:rPr>
                        <m:t>)</m:t>
                      </m:r>
                      <m:r>
                        <a:rPr lang="fr-FR" sz="1200" i="1">
                          <a:latin typeface="Cambria Math" panose="02040503050406030204" pitchFamily="18" charset="0"/>
                          <a:ea typeface="Cambria Math" panose="02040503050406030204" pitchFamily="18" charset="0"/>
                        </a:rPr>
                        <m:t>×</m:t>
                      </m:r>
                      <m:r>
                        <m:rPr>
                          <m:sty m:val="p"/>
                        </m:rPr>
                        <a:rPr lang="fr-FR" sz="1200" i="0" smtClean="0">
                          <a:latin typeface="Cambria Math" panose="02040503050406030204" pitchFamily="18" charset="0"/>
                        </a:rPr>
                        <m:t>o</m:t>
                      </m:r>
                      <m:r>
                        <m:rPr>
                          <m:sty m:val="p"/>
                        </m:rPr>
                        <a:rPr lang="fr-FR" sz="1200" b="0" i="0" smtClean="0">
                          <a:latin typeface="Cambria Math" panose="02040503050406030204" pitchFamily="18" charset="0"/>
                        </a:rPr>
                        <m:t>ut</m:t>
                      </m:r>
                      <m:r>
                        <a:rPr lang="fr-FR" sz="1200" b="0" i="0" smtClean="0">
                          <a:latin typeface="Cambria Math" panose="02040503050406030204" pitchFamily="18" charset="0"/>
                        </a:rPr>
                        <m:t>_</m:t>
                      </m:r>
                      <m:r>
                        <m:rPr>
                          <m:sty m:val="p"/>
                        </m:rPr>
                        <a:rPr lang="fr-FR" sz="1200" b="0" i="0" smtClean="0">
                          <a:latin typeface="Cambria Math" panose="02040503050406030204" pitchFamily="18" charset="0"/>
                        </a:rPr>
                        <m:t>h</m:t>
                      </m:r>
                      <m:r>
                        <a:rPr lang="fr-FR" sz="1200" b="0" i="0" smtClean="0">
                          <a:latin typeface="Cambria Math" panose="02040503050406030204" pitchFamily="18" charset="0"/>
                        </a:rPr>
                        <m:t>2</m:t>
                      </m:r>
                    </m:oMath>
                  </m:oMathPara>
                </a14:m>
                <a:endParaRPr lang="fr-FR" sz="1200" dirty="0">
                  <a:solidFill>
                    <a:schemeClr val="tx1"/>
                  </a:solidFill>
                </a:endParaRPr>
              </a:p>
            </p:txBody>
          </p:sp>
        </mc:Choice>
        <mc:Fallback xmlns="">
          <p:sp>
            <p:nvSpPr>
              <p:cNvPr id="7" name="ZoneTexte 6">
                <a:extLst>
                  <a:ext uri="{FF2B5EF4-FFF2-40B4-BE49-F238E27FC236}">
                    <a16:creationId xmlns:a16="http://schemas.microsoft.com/office/drawing/2014/main" id="{05D5F887-E25C-B73A-9577-344864DD902C}"/>
                  </a:ext>
                </a:extLst>
              </p:cNvPr>
              <p:cNvSpPr txBox="1">
                <a:spLocks noRot="1" noChangeAspect="1" noMove="1" noResize="1" noEditPoints="1" noAdjustHandles="1" noChangeArrowheads="1" noChangeShapeType="1" noTextEdit="1"/>
              </p:cNvSpPr>
              <p:nvPr/>
            </p:nvSpPr>
            <p:spPr>
              <a:xfrm>
                <a:off x="6365540" y="2541731"/>
                <a:ext cx="5065982" cy="443455"/>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ZoneTexte 7">
                <a:extLst>
                  <a:ext uri="{FF2B5EF4-FFF2-40B4-BE49-F238E27FC236}">
                    <a16:creationId xmlns:a16="http://schemas.microsoft.com/office/drawing/2014/main" id="{CC6754B6-388C-E599-DCBB-46D2CE785D32}"/>
                  </a:ext>
                </a:extLst>
              </p:cNvPr>
              <p:cNvSpPr txBox="1"/>
              <p:nvPr/>
            </p:nvSpPr>
            <p:spPr>
              <a:xfrm>
                <a:off x="6365540" y="3126014"/>
                <a:ext cx="5065982" cy="443455"/>
              </a:xfrm>
              <a:prstGeom prst="rect">
                <a:avLst/>
              </a:prstGeom>
              <a:noFill/>
              <a:ln>
                <a:solidFill>
                  <a:srgbClr val="FF0000"/>
                </a:solidFill>
              </a:ln>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fr-FR" sz="1200" i="1" smtClean="0">
                              <a:solidFill>
                                <a:schemeClr val="tx1"/>
                              </a:solidFill>
                              <a:latin typeface="Cambria Math" panose="02040503050406030204" pitchFamily="18" charset="0"/>
                            </a:rPr>
                          </m:ctrlPr>
                        </m:fPr>
                        <m:num>
                          <m:r>
                            <a:rPr lang="fr-FR" sz="1200" b="0" i="0" smtClean="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Loss</m:t>
                          </m:r>
                          <m:r>
                            <a:rPr lang="fr-FR" sz="1200" b="0" i="0" smtClean="0">
                              <a:solidFill>
                                <a:schemeClr val="tx1"/>
                              </a:solidFill>
                              <a:latin typeface="Cambria Math" panose="02040503050406030204" pitchFamily="18" charset="0"/>
                            </a:rPr>
                            <m:t>1</m:t>
                          </m:r>
                        </m:num>
                        <m:den>
                          <m:r>
                            <a:rPr lang="fr-FR" sz="1200" b="0" i="0" smtClean="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w</m:t>
                          </m:r>
                          <m:r>
                            <a:rPr lang="fr-FR" sz="1200" b="0" i="0" smtClean="0">
                              <a:solidFill>
                                <a:schemeClr val="tx1"/>
                              </a:solidFill>
                              <a:latin typeface="Cambria Math" panose="02040503050406030204" pitchFamily="18" charset="0"/>
                            </a:rPr>
                            <m:t>6</m:t>
                          </m:r>
                        </m:den>
                      </m:f>
                      <m:r>
                        <a:rPr lang="fr-FR" sz="1200" b="0" i="0" smtClean="0">
                          <a:solidFill>
                            <a:schemeClr val="tx1"/>
                          </a:solidFill>
                          <a:latin typeface="Cambria Math" panose="02040503050406030204" pitchFamily="18" charset="0"/>
                        </a:rPr>
                        <m:t>=</m:t>
                      </m:r>
                      <m:r>
                        <m:rPr>
                          <m:nor/>
                        </m:rPr>
                        <a:rPr lang="fr-FR" sz="1200">
                          <a:latin typeface="Cambria Math" panose="02040503050406030204" pitchFamily="18" charset="0"/>
                        </a:rPr>
                        <m:t>−2</m:t>
                      </m:r>
                      <m:r>
                        <m:rPr>
                          <m:nor/>
                        </m:rPr>
                        <a:rPr lang="fr-FR" sz="1200" dirty="0">
                          <a:latin typeface="Cambria Math" panose="02040503050406030204" pitchFamily="18" charset="0"/>
                          <a:ea typeface="Cambria Math" panose="02040503050406030204" pitchFamily="18" charset="0"/>
                        </a:rPr>
                        <m:t>(</m:t>
                      </m:r>
                      <m:sSub>
                        <m:sSubPr>
                          <m:ctrlPr>
                            <a:rPr lang="fr-FR" sz="1200" i="1" dirty="0">
                              <a:latin typeface="Cambria Math" panose="02040503050406030204" pitchFamily="18" charset="0"/>
                              <a:ea typeface="Cambria Math" panose="02040503050406030204" pitchFamily="18" charset="0"/>
                            </a:rPr>
                          </m:ctrlPr>
                        </m:sSubPr>
                        <m:e>
                          <m:r>
                            <m:rPr>
                              <m:sty m:val="p"/>
                            </m:rPr>
                            <a:rPr lang="fr-FR" sz="1200">
                              <a:latin typeface="Cambria Math" panose="02040503050406030204" pitchFamily="18" charset="0"/>
                              <a:ea typeface="Cambria Math" panose="02040503050406030204" pitchFamily="18" charset="0"/>
                            </a:rPr>
                            <m:t>target</m:t>
                          </m:r>
                        </m:e>
                        <m:sub>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m:t>
                          </m:r>
                        </m:sub>
                      </m:sSub>
                      <m:r>
                        <a:rPr lang="fr-FR" sz="1200" i="1">
                          <a:latin typeface="Cambria Math" panose="02040503050406030204" pitchFamily="18" charset="0"/>
                          <a:ea typeface="Cambria Math" panose="02040503050406030204" pitchFamily="18" charset="0"/>
                        </a:rPr>
                        <m:t>− </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m:t>
                      </m:r>
                      <m:r>
                        <m:rPr>
                          <m:nor/>
                        </m:rPr>
                        <a:rPr lang="fr-FR" sz="1200" dirty="0">
                          <a:latin typeface="Cambria Math" panose="02040503050406030204" pitchFamily="18" charset="0"/>
                          <a:ea typeface="Cambria Math" panose="02040503050406030204" pitchFamily="18" charset="0"/>
                        </a:rPr>
                        <m:t>)</m:t>
                      </m:r>
                      <m:r>
                        <a:rPr lang="fr-FR" sz="1200" i="1">
                          <a:solidFill>
                            <a:schemeClr val="tx1"/>
                          </a:solidFill>
                          <a:latin typeface="Cambria Math" panose="02040503050406030204" pitchFamily="18" charset="0"/>
                          <a:ea typeface="Cambria Math" panose="02040503050406030204" pitchFamily="18" charset="0"/>
                        </a:rPr>
                        <m:t>×</m:t>
                      </m:r>
                      <m:r>
                        <m:rPr>
                          <m:sty m:val="p"/>
                        </m:rPr>
                        <a:rPr lang="fr-FR" sz="1200">
                          <a:solidFill>
                            <a:schemeClr val="tx1"/>
                          </a:solidFill>
                          <a:latin typeface="Cambria Math" panose="02040503050406030204" pitchFamily="18" charset="0"/>
                          <a:ea typeface="Cambria Math" panose="02040503050406030204" pitchFamily="18" charset="0"/>
                        </a:rPr>
                        <m:t>out</m:t>
                      </m:r>
                      <m:r>
                        <a:rPr lang="fr-FR" sz="1200">
                          <a:solidFill>
                            <a:schemeClr val="tx1"/>
                          </a:solidFill>
                          <a:latin typeface="Cambria Math" panose="02040503050406030204" pitchFamily="18" charset="0"/>
                          <a:ea typeface="Cambria Math" panose="02040503050406030204" pitchFamily="18" charset="0"/>
                        </a:rPr>
                        <m:t>_</m:t>
                      </m:r>
                      <m:r>
                        <m:rPr>
                          <m:sty m:val="p"/>
                        </m:rPr>
                        <a:rPr lang="fr-FR" sz="1200">
                          <a:solidFill>
                            <a:schemeClr val="tx1"/>
                          </a:solidFill>
                          <a:latin typeface="Cambria Math" panose="02040503050406030204" pitchFamily="18" charset="0"/>
                          <a:ea typeface="Cambria Math" panose="02040503050406030204" pitchFamily="18" charset="0"/>
                        </a:rPr>
                        <m:t>o</m:t>
                      </m:r>
                      <m:r>
                        <a:rPr lang="fr-FR" sz="1200">
                          <a:solidFill>
                            <a:schemeClr val="tx1"/>
                          </a:solidFill>
                          <a:latin typeface="Cambria Math" panose="02040503050406030204" pitchFamily="18" charset="0"/>
                          <a:ea typeface="Cambria Math" panose="02040503050406030204" pitchFamily="18" charset="0"/>
                        </a:rPr>
                        <m:t>1(1−</m:t>
                      </m:r>
                      <m:r>
                        <m:rPr>
                          <m:sty m:val="p"/>
                        </m:rPr>
                        <a:rPr lang="fr-FR" sz="1200">
                          <a:solidFill>
                            <a:schemeClr val="tx1"/>
                          </a:solidFill>
                          <a:latin typeface="Cambria Math" panose="02040503050406030204" pitchFamily="18" charset="0"/>
                          <a:ea typeface="Cambria Math" panose="02040503050406030204" pitchFamily="18" charset="0"/>
                        </a:rPr>
                        <m:t>out</m:t>
                      </m:r>
                      <m:r>
                        <a:rPr lang="fr-FR" sz="1200">
                          <a:solidFill>
                            <a:schemeClr val="tx1"/>
                          </a:solidFill>
                          <a:latin typeface="Cambria Math" panose="02040503050406030204" pitchFamily="18" charset="0"/>
                          <a:ea typeface="Cambria Math" panose="02040503050406030204" pitchFamily="18" charset="0"/>
                        </a:rPr>
                        <m:t>_</m:t>
                      </m:r>
                      <m:r>
                        <m:rPr>
                          <m:sty m:val="p"/>
                        </m:rPr>
                        <a:rPr lang="fr-FR" sz="1200">
                          <a:solidFill>
                            <a:schemeClr val="tx1"/>
                          </a:solidFill>
                          <a:latin typeface="Cambria Math" panose="02040503050406030204" pitchFamily="18" charset="0"/>
                          <a:ea typeface="Cambria Math" panose="02040503050406030204" pitchFamily="18" charset="0"/>
                        </a:rPr>
                        <m:t>o</m:t>
                      </m:r>
                      <m:r>
                        <a:rPr lang="fr-FR" sz="1200">
                          <a:solidFill>
                            <a:schemeClr val="tx1"/>
                          </a:solidFill>
                          <a:latin typeface="Cambria Math" panose="02040503050406030204" pitchFamily="18" charset="0"/>
                          <a:ea typeface="Cambria Math" panose="02040503050406030204" pitchFamily="18" charset="0"/>
                        </a:rPr>
                        <m:t>1</m:t>
                      </m:r>
                      <m:r>
                        <a:rPr lang="fr-FR" sz="1200" i="1">
                          <a:solidFill>
                            <a:schemeClr val="tx1"/>
                          </a:solidFill>
                          <a:latin typeface="Cambria Math" panose="02040503050406030204" pitchFamily="18" charset="0"/>
                          <a:ea typeface="Cambria Math" panose="02040503050406030204" pitchFamily="18" charset="0"/>
                        </a:rPr>
                        <m:t>)×</m:t>
                      </m:r>
                      <m:r>
                        <m:rPr>
                          <m:sty m:val="p"/>
                        </m:rPr>
                        <a:rPr lang="fr-FR" sz="1200" i="0" smtClean="0">
                          <a:solidFill>
                            <a:schemeClr val="tx1"/>
                          </a:solidFill>
                          <a:latin typeface="Cambria Math" panose="02040503050406030204" pitchFamily="18" charset="0"/>
                        </a:rPr>
                        <m:t>o</m:t>
                      </m:r>
                      <m:r>
                        <m:rPr>
                          <m:sty m:val="p"/>
                        </m:rPr>
                        <a:rPr lang="fr-FR" sz="1200" b="0" i="0" smtClean="0">
                          <a:solidFill>
                            <a:schemeClr val="tx1"/>
                          </a:solidFill>
                          <a:latin typeface="Cambria Math" panose="02040503050406030204" pitchFamily="18" charset="0"/>
                        </a:rPr>
                        <m:t>ut</m:t>
                      </m:r>
                      <m:r>
                        <a:rPr lang="fr-FR" sz="1200" b="0" i="0" smtClean="0">
                          <a:solidFill>
                            <a:schemeClr val="tx1"/>
                          </a:solidFill>
                          <a:latin typeface="Cambria Math" panose="02040503050406030204" pitchFamily="18" charset="0"/>
                        </a:rPr>
                        <m:t>_</m:t>
                      </m:r>
                      <m:r>
                        <m:rPr>
                          <m:sty m:val="p"/>
                        </m:rPr>
                        <a:rPr lang="fr-FR" sz="1200" b="0" i="0" smtClean="0">
                          <a:solidFill>
                            <a:schemeClr val="tx1"/>
                          </a:solidFill>
                          <a:latin typeface="Cambria Math" panose="02040503050406030204" pitchFamily="18" charset="0"/>
                        </a:rPr>
                        <m:t>h</m:t>
                      </m:r>
                      <m:r>
                        <a:rPr lang="fr-FR" sz="1200" b="0" i="0" smtClean="0">
                          <a:solidFill>
                            <a:schemeClr val="tx1"/>
                          </a:solidFill>
                          <a:latin typeface="Cambria Math" panose="02040503050406030204" pitchFamily="18" charset="0"/>
                        </a:rPr>
                        <m:t>2</m:t>
                      </m:r>
                    </m:oMath>
                  </m:oMathPara>
                </a14:m>
                <a:endParaRPr lang="fr-FR" sz="1200" dirty="0">
                  <a:solidFill>
                    <a:schemeClr val="tx1"/>
                  </a:solidFill>
                </a:endParaRPr>
              </a:p>
            </p:txBody>
          </p:sp>
        </mc:Choice>
        <mc:Fallback xmlns="">
          <p:sp>
            <p:nvSpPr>
              <p:cNvPr id="8" name="ZoneTexte 7">
                <a:extLst>
                  <a:ext uri="{FF2B5EF4-FFF2-40B4-BE49-F238E27FC236}">
                    <a16:creationId xmlns:a16="http://schemas.microsoft.com/office/drawing/2014/main" id="{CC6754B6-388C-E599-DCBB-46D2CE785D32}"/>
                  </a:ext>
                </a:extLst>
              </p:cNvPr>
              <p:cNvSpPr txBox="1">
                <a:spLocks noRot="1" noChangeAspect="1" noMove="1" noResize="1" noEditPoints="1" noAdjustHandles="1" noChangeArrowheads="1" noChangeShapeType="1" noTextEdit="1"/>
              </p:cNvSpPr>
              <p:nvPr/>
            </p:nvSpPr>
            <p:spPr>
              <a:xfrm>
                <a:off x="6365540" y="3126014"/>
                <a:ext cx="5065982" cy="443455"/>
              </a:xfrm>
              <a:prstGeom prst="rect">
                <a:avLst/>
              </a:prstGeom>
              <a:blipFill>
                <a:blip r:embed="rId6"/>
                <a:stretch>
                  <a:fillRect/>
                </a:stretch>
              </a:blipFill>
              <a:ln>
                <a:solidFill>
                  <a:srgbClr val="FF0000"/>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ZoneTexte 8">
                <a:extLst>
                  <a:ext uri="{FF2B5EF4-FFF2-40B4-BE49-F238E27FC236}">
                    <a16:creationId xmlns:a16="http://schemas.microsoft.com/office/drawing/2014/main" id="{35C06E6E-7B8F-C958-5F81-D50DEC5FA06A}"/>
                  </a:ext>
                </a:extLst>
              </p:cNvPr>
              <p:cNvSpPr txBox="1"/>
              <p:nvPr/>
            </p:nvSpPr>
            <p:spPr>
              <a:xfrm>
                <a:off x="6365540" y="4070282"/>
                <a:ext cx="5065982" cy="408766"/>
              </a:xfrm>
              <a:prstGeom prst="rect">
                <a:avLst/>
              </a:prstGeom>
              <a:noFill/>
              <a:ln>
                <a:solidFill>
                  <a:srgbClr val="FF0000"/>
                </a:solidFill>
              </a:ln>
            </p:spPr>
            <p:txBody>
              <a:bodyPr wrap="square" rtlCol="0">
                <a:spAutoFit/>
              </a:bodyPr>
              <a:lstStyle>
                <a:defPPr>
                  <a:defRPr lang="fr-FR"/>
                </a:defPPr>
                <a:lvl1pPr>
                  <a:defRPr sz="1200">
                    <a:latin typeface="Cambria Math" panose="02040503050406030204" pitchFamily="18" charset="0"/>
                  </a:defRPr>
                </a:lvl1pPr>
              </a:lstStyle>
              <a:p>
                <a14:m>
                  <m:oMath xmlns:m="http://schemas.openxmlformats.org/officeDocument/2006/math">
                    <m:f>
                      <m:fPr>
                        <m:ctrlPr>
                          <a:rPr lang="fr-FR" sz="1400" i="1">
                            <a:latin typeface="Cambria Math" panose="02040503050406030204" pitchFamily="18" charset="0"/>
                          </a:rPr>
                        </m:ctrlPr>
                      </m:fPr>
                      <m:num>
                        <m:r>
                          <a:rPr lang="fr-FR" sz="1400">
                            <a:latin typeface="Cambria Math" panose="02040503050406030204" pitchFamily="18" charset="0"/>
                          </a:rPr>
                          <m:t>𝜕</m:t>
                        </m:r>
                        <m:r>
                          <m:rPr>
                            <m:sty m:val="p"/>
                          </m:rPr>
                          <a:rPr lang="fr-FR" sz="1400">
                            <a:latin typeface="Cambria Math" panose="02040503050406030204" pitchFamily="18" charset="0"/>
                          </a:rPr>
                          <m:t>Loss</m:t>
                        </m:r>
                        <m:r>
                          <a:rPr lang="fr-FR" sz="1400">
                            <a:latin typeface="Cambria Math" panose="02040503050406030204" pitchFamily="18" charset="0"/>
                          </a:rPr>
                          <m:t>2</m:t>
                        </m:r>
                      </m:num>
                      <m:den>
                        <m:r>
                          <a:rPr lang="fr-FR" sz="1400">
                            <a:latin typeface="Cambria Math" panose="02040503050406030204" pitchFamily="18" charset="0"/>
                          </a:rPr>
                          <m:t>𝜕</m:t>
                        </m:r>
                        <m:r>
                          <m:rPr>
                            <m:sty m:val="p"/>
                          </m:rPr>
                          <a:rPr lang="fr-FR" sz="1400">
                            <a:latin typeface="Cambria Math" panose="02040503050406030204" pitchFamily="18" charset="0"/>
                          </a:rPr>
                          <m:t>w</m:t>
                        </m:r>
                        <m:r>
                          <a:rPr lang="fr-FR" sz="1400">
                            <a:latin typeface="Cambria Math" panose="02040503050406030204" pitchFamily="18" charset="0"/>
                          </a:rPr>
                          <m:t>7</m:t>
                        </m:r>
                      </m:den>
                    </m:f>
                    <m:r>
                      <a:rPr lang="fr-FR" sz="1400">
                        <a:latin typeface="Cambria Math" panose="02040503050406030204" pitchFamily="18" charset="0"/>
                      </a:rPr>
                      <m:t>=</m:t>
                    </m:r>
                    <m:r>
                      <m:rPr>
                        <m:nor/>
                      </m:rPr>
                      <a:rPr lang="fr-FR" sz="1400">
                        <a:ea typeface="Cambria Math" panose="02040503050406030204" pitchFamily="18" charset="0"/>
                      </a:rPr>
                      <m:t>−2</m:t>
                    </m:r>
                    <m:r>
                      <m:rPr>
                        <m:nor/>
                      </m:rPr>
                      <a:rPr lang="fr-FR" sz="1400" dirty="0">
                        <a:ea typeface="Cambria Math" panose="02040503050406030204" pitchFamily="18" charset="0"/>
                      </a:rPr>
                      <m:t>(</m:t>
                    </m:r>
                    <m:sSub>
                      <m:sSubPr>
                        <m:ctrlPr>
                          <a:rPr lang="fr-FR" sz="1400" i="1" dirty="0">
                            <a:latin typeface="Cambria Math" panose="02040503050406030204" pitchFamily="18" charset="0"/>
                            <a:ea typeface="Cambria Math" panose="02040503050406030204" pitchFamily="18" charset="0"/>
                          </a:rPr>
                        </m:ctrlPr>
                      </m:sSubPr>
                      <m:e>
                        <m:r>
                          <m:rPr>
                            <m:sty m:val="p"/>
                          </m:rPr>
                          <a:rPr lang="fr-FR" sz="1400">
                            <a:latin typeface="Cambria Math" panose="02040503050406030204" pitchFamily="18" charset="0"/>
                            <a:ea typeface="Cambria Math" panose="02040503050406030204" pitchFamily="18" charset="0"/>
                          </a:rPr>
                          <m:t>target</m:t>
                        </m:r>
                      </m:e>
                      <m:sub>
                        <m:r>
                          <m:rPr>
                            <m:sty m:val="p"/>
                          </m:rPr>
                          <a:rPr lang="fr-FR" sz="1400">
                            <a:latin typeface="Cambria Math" panose="02040503050406030204" pitchFamily="18" charset="0"/>
                            <a:ea typeface="Cambria Math" panose="02040503050406030204" pitchFamily="18" charset="0"/>
                          </a:rPr>
                          <m:t>o</m:t>
                        </m:r>
                        <m:r>
                          <m:rPr>
                            <m:nor/>
                          </m:rPr>
                          <a:rPr lang="fr-FR" sz="1400">
                            <a:ea typeface="Cambria Math" panose="02040503050406030204" pitchFamily="18" charset="0"/>
                          </a:rPr>
                          <m:t>2</m:t>
                        </m:r>
                      </m:sub>
                    </m:sSub>
                    <m:r>
                      <a:rPr lang="fr-FR" sz="1400" i="1">
                        <a:latin typeface="Cambria Math" panose="02040503050406030204" pitchFamily="18" charset="0"/>
                        <a:ea typeface="Cambria Math" panose="02040503050406030204" pitchFamily="18" charset="0"/>
                      </a:rPr>
                      <m:t>− </m:t>
                    </m:r>
                    <m:r>
                      <m:rPr>
                        <m:sty m:val="p"/>
                      </m:rPr>
                      <a:rPr lang="fr-FR" sz="1400">
                        <a:latin typeface="Cambria Math" panose="02040503050406030204" pitchFamily="18" charset="0"/>
                        <a:ea typeface="Cambria Math" panose="02040503050406030204" pitchFamily="18" charset="0"/>
                      </a:rPr>
                      <m:t>out</m:t>
                    </m:r>
                    <m:r>
                      <a:rPr lang="fr-FR" sz="1400">
                        <a:latin typeface="Cambria Math" panose="02040503050406030204" pitchFamily="18" charset="0"/>
                        <a:ea typeface="Cambria Math" panose="02040503050406030204" pitchFamily="18" charset="0"/>
                      </a:rPr>
                      <m:t>_</m:t>
                    </m:r>
                    <m:r>
                      <m:rPr>
                        <m:sty m:val="p"/>
                      </m:rPr>
                      <a:rPr lang="fr-FR" sz="1400">
                        <a:latin typeface="Cambria Math" panose="02040503050406030204" pitchFamily="18" charset="0"/>
                        <a:ea typeface="Cambria Math" panose="02040503050406030204" pitchFamily="18" charset="0"/>
                      </a:rPr>
                      <m:t>o</m:t>
                    </m:r>
                    <m:r>
                      <a:rPr lang="fr-FR" sz="1400">
                        <a:latin typeface="Cambria Math" panose="02040503050406030204" pitchFamily="18" charset="0"/>
                        <a:ea typeface="Cambria Math" panose="02040503050406030204" pitchFamily="18" charset="0"/>
                      </a:rPr>
                      <m:t>2</m:t>
                    </m:r>
                    <m:r>
                      <a:rPr lang="fr-FR" sz="1400" i="1">
                        <a:latin typeface="Cambria Math" panose="02040503050406030204" pitchFamily="18" charset="0"/>
                        <a:ea typeface="Cambria Math" panose="02040503050406030204" pitchFamily="18" charset="0"/>
                      </a:rPr>
                      <m:t>)</m:t>
                    </m:r>
                    <m:r>
                      <a:rPr lang="fr-FR" sz="1400">
                        <a:latin typeface="Cambria Math" panose="02040503050406030204" pitchFamily="18" charset="0"/>
                      </a:rPr>
                      <m:t>×</m:t>
                    </m:r>
                    <m:r>
                      <m:rPr>
                        <m:sty m:val="p"/>
                      </m:rPr>
                      <a:rPr lang="fr-FR" sz="1400">
                        <a:latin typeface="Cambria Math" panose="02040503050406030204" pitchFamily="18" charset="0"/>
                      </a:rPr>
                      <m:t>out</m:t>
                    </m:r>
                    <m:r>
                      <a:rPr lang="fr-FR" sz="1400">
                        <a:latin typeface="Cambria Math" panose="02040503050406030204" pitchFamily="18" charset="0"/>
                      </a:rPr>
                      <m:t>_</m:t>
                    </m:r>
                    <m:r>
                      <m:rPr>
                        <m:sty m:val="p"/>
                      </m:rPr>
                      <a:rPr lang="fr-FR" sz="1400">
                        <a:latin typeface="Cambria Math" panose="02040503050406030204" pitchFamily="18" charset="0"/>
                      </a:rPr>
                      <m:t>o</m:t>
                    </m:r>
                    <m:r>
                      <a:rPr lang="fr-FR" sz="1400">
                        <a:latin typeface="Cambria Math" panose="02040503050406030204" pitchFamily="18" charset="0"/>
                      </a:rPr>
                      <m:t>2(1−</m:t>
                    </m:r>
                    <m:r>
                      <m:rPr>
                        <m:sty m:val="p"/>
                      </m:rPr>
                      <a:rPr lang="fr-FR" sz="1400">
                        <a:latin typeface="Cambria Math" panose="02040503050406030204" pitchFamily="18" charset="0"/>
                      </a:rPr>
                      <m:t>out</m:t>
                    </m:r>
                    <m:r>
                      <a:rPr lang="fr-FR" sz="1400">
                        <a:latin typeface="Cambria Math" panose="02040503050406030204" pitchFamily="18" charset="0"/>
                      </a:rPr>
                      <m:t>_</m:t>
                    </m:r>
                    <m:r>
                      <m:rPr>
                        <m:sty m:val="p"/>
                      </m:rPr>
                      <a:rPr lang="fr-FR" sz="1400">
                        <a:latin typeface="Cambria Math" panose="02040503050406030204" pitchFamily="18" charset="0"/>
                      </a:rPr>
                      <m:t>o</m:t>
                    </m:r>
                    <m:r>
                      <a:rPr lang="fr-FR" sz="1400">
                        <a:latin typeface="Cambria Math" panose="02040503050406030204" pitchFamily="18" charset="0"/>
                      </a:rPr>
                      <m:t>2)×</m:t>
                    </m:r>
                    <m:r>
                      <m:rPr>
                        <m:sty m:val="p"/>
                      </m:rPr>
                      <a:rPr lang="fr-FR" sz="1400">
                        <a:latin typeface="Cambria Math" panose="02040503050406030204" pitchFamily="18" charset="0"/>
                      </a:rPr>
                      <m:t>out</m:t>
                    </m:r>
                    <m:r>
                      <a:rPr lang="fr-FR" sz="1400">
                        <a:latin typeface="Cambria Math" panose="02040503050406030204" pitchFamily="18" charset="0"/>
                      </a:rPr>
                      <m:t>_</m:t>
                    </m:r>
                    <m:r>
                      <m:rPr>
                        <m:sty m:val="p"/>
                      </m:rPr>
                      <a:rPr lang="fr-FR" sz="1400">
                        <a:latin typeface="Cambria Math" panose="02040503050406030204" pitchFamily="18" charset="0"/>
                      </a:rPr>
                      <m:t>h</m:t>
                    </m:r>
                  </m:oMath>
                </a14:m>
                <a:r>
                  <a:rPr lang="fr-FR" sz="1400" dirty="0"/>
                  <a:t>1</a:t>
                </a:r>
              </a:p>
            </p:txBody>
          </p:sp>
        </mc:Choice>
        <mc:Fallback xmlns="">
          <p:sp>
            <p:nvSpPr>
              <p:cNvPr id="9" name="ZoneTexte 8">
                <a:extLst>
                  <a:ext uri="{FF2B5EF4-FFF2-40B4-BE49-F238E27FC236}">
                    <a16:creationId xmlns:a16="http://schemas.microsoft.com/office/drawing/2014/main" id="{35C06E6E-7B8F-C958-5F81-D50DEC5FA06A}"/>
                  </a:ext>
                </a:extLst>
              </p:cNvPr>
              <p:cNvSpPr txBox="1">
                <a:spLocks noRot="1" noChangeAspect="1" noMove="1" noResize="1" noEditPoints="1" noAdjustHandles="1" noChangeArrowheads="1" noChangeShapeType="1" noTextEdit="1"/>
              </p:cNvSpPr>
              <p:nvPr/>
            </p:nvSpPr>
            <p:spPr>
              <a:xfrm>
                <a:off x="6365540" y="4070282"/>
                <a:ext cx="5065982" cy="408766"/>
              </a:xfrm>
              <a:prstGeom prst="rect">
                <a:avLst/>
              </a:prstGeom>
              <a:blipFill>
                <a:blip r:embed="rId7"/>
                <a:stretch>
                  <a:fillRect b="-2941"/>
                </a:stretch>
              </a:blipFill>
              <a:ln>
                <a:solidFill>
                  <a:srgbClr val="FF0000"/>
                </a:solidFill>
              </a:ln>
            </p:spPr>
            <p:txBody>
              <a:bodyPr/>
              <a:lstStyle/>
              <a:p>
                <a:r>
                  <a:rPr lang="en-GB">
                    <a:noFill/>
                  </a:rPr>
                  <a:t> </a:t>
                </a:r>
              </a:p>
            </p:txBody>
          </p:sp>
        </mc:Fallback>
      </mc:AlternateContent>
      <p:sp>
        <p:nvSpPr>
          <p:cNvPr id="10" name="Espace réservé du pied de page 9">
            <a:extLst>
              <a:ext uri="{FF2B5EF4-FFF2-40B4-BE49-F238E27FC236}">
                <a16:creationId xmlns:a16="http://schemas.microsoft.com/office/drawing/2014/main" id="{943035E0-007E-85B0-9647-01251AA6D4D9}"/>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40120800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FFB38-9174-49E6-496D-7A853A3D3D2F}"/>
            </a:ext>
          </a:extLst>
        </p:cNvPr>
        <p:cNvGrpSpPr/>
        <p:nvPr/>
      </p:nvGrpSpPr>
      <p:grpSpPr>
        <a:xfrm>
          <a:off x="0" y="0"/>
          <a:ext cx="0" cy="0"/>
          <a:chOff x="0" y="0"/>
          <a:chExt cx="0" cy="0"/>
        </a:xfrm>
      </p:grpSpPr>
      <p:pic>
        <p:nvPicPr>
          <p:cNvPr id="10" name="Image 9">
            <a:extLst>
              <a:ext uri="{FF2B5EF4-FFF2-40B4-BE49-F238E27FC236}">
                <a16:creationId xmlns:a16="http://schemas.microsoft.com/office/drawing/2014/main" id="{A9CF8ABD-2FFE-D8AD-D880-4DCDF6BBA1DF}"/>
              </a:ext>
            </a:extLst>
          </p:cNvPr>
          <p:cNvPicPr>
            <a:picLocks noChangeAspect="1"/>
          </p:cNvPicPr>
          <p:nvPr/>
        </p:nvPicPr>
        <p:blipFill>
          <a:blip r:embed="rId2"/>
          <a:stretch>
            <a:fillRect/>
          </a:stretch>
        </p:blipFill>
        <p:spPr>
          <a:xfrm>
            <a:off x="534064" y="1405136"/>
            <a:ext cx="5734704" cy="2759500"/>
          </a:xfrm>
          <a:prstGeom prst="rect">
            <a:avLst/>
          </a:prstGeom>
        </p:spPr>
      </p:pic>
      <p:sp>
        <p:nvSpPr>
          <p:cNvPr id="2" name="Titre 1">
            <a:extLst>
              <a:ext uri="{FF2B5EF4-FFF2-40B4-BE49-F238E27FC236}">
                <a16:creationId xmlns:a16="http://schemas.microsoft.com/office/drawing/2014/main" id="{B520D6AE-31E1-FCF9-4E82-A58600CDB3CF}"/>
              </a:ext>
            </a:extLst>
          </p:cNvPr>
          <p:cNvSpPr>
            <a:spLocks noGrp="1"/>
          </p:cNvSpPr>
          <p:nvPr>
            <p:ph type="title"/>
          </p:nvPr>
        </p:nvSpPr>
        <p:spPr/>
        <p:txBody>
          <a:bodyPr/>
          <a:lstStyle/>
          <a:p>
            <a:r>
              <a:rPr lang="fr-FR" dirty="0"/>
              <a:t>Neural Network</a:t>
            </a:r>
          </a:p>
        </p:txBody>
      </p:sp>
      <p:sp>
        <p:nvSpPr>
          <p:cNvPr id="73" name="ZoneTexte 72">
            <a:extLst>
              <a:ext uri="{FF2B5EF4-FFF2-40B4-BE49-F238E27FC236}">
                <a16:creationId xmlns:a16="http://schemas.microsoft.com/office/drawing/2014/main" id="{9CBB0CF1-8AD2-A966-B928-34C345C6ADCB}"/>
              </a:ext>
            </a:extLst>
          </p:cNvPr>
          <p:cNvSpPr txBox="1"/>
          <p:nvPr/>
        </p:nvSpPr>
        <p:spPr>
          <a:xfrm>
            <a:off x="6872060" y="760834"/>
            <a:ext cx="3324563" cy="584775"/>
          </a:xfrm>
          <a:prstGeom prst="rect">
            <a:avLst/>
          </a:prstGeom>
          <a:noFill/>
        </p:spPr>
        <p:txBody>
          <a:bodyPr wrap="square" rtlCol="0">
            <a:spAutoFit/>
          </a:bodyPr>
          <a:lstStyle/>
          <a:p>
            <a:r>
              <a:rPr lang="en-GB" sz="3200" b="1" noProof="0" dirty="0"/>
              <a:t>Gradient</a:t>
            </a:r>
          </a:p>
        </p:txBody>
      </p:sp>
      <mc:AlternateContent xmlns:mc="http://schemas.openxmlformats.org/markup-compatibility/2006" xmlns:a14="http://schemas.microsoft.com/office/drawing/2010/main">
        <mc:Choice Requires="a14">
          <p:sp>
            <p:nvSpPr>
              <p:cNvPr id="47" name="ZoneTexte 46">
                <a:extLst>
                  <a:ext uri="{FF2B5EF4-FFF2-40B4-BE49-F238E27FC236}">
                    <a16:creationId xmlns:a16="http://schemas.microsoft.com/office/drawing/2014/main" id="{7BA2FEA8-230C-2B4F-1E9E-7CDABE086F3A}"/>
                  </a:ext>
                </a:extLst>
              </p:cNvPr>
              <p:cNvSpPr txBox="1"/>
              <p:nvPr/>
            </p:nvSpPr>
            <p:spPr>
              <a:xfrm>
                <a:off x="6405566" y="1845846"/>
                <a:ext cx="4307282" cy="44345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fr-FR" sz="1200" i="1" smtClean="0">
                              <a:solidFill>
                                <a:schemeClr val="tx1"/>
                              </a:solidFill>
                              <a:latin typeface="Cambria Math" panose="02040503050406030204" pitchFamily="18" charset="0"/>
                            </a:rPr>
                          </m:ctrlPr>
                        </m:fPr>
                        <m:num>
                          <m:r>
                            <a:rPr lang="fr-FR" sz="1200" b="0" i="0" smtClean="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Loss</m:t>
                          </m:r>
                        </m:num>
                        <m:den>
                          <m:r>
                            <a:rPr lang="fr-FR" sz="1200" b="0" i="0" smtClean="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b</m:t>
                          </m:r>
                          <m:r>
                            <a:rPr lang="fr-FR" sz="1200" b="0" i="0" smtClean="0">
                              <a:solidFill>
                                <a:schemeClr val="tx1"/>
                              </a:solidFill>
                              <a:latin typeface="Cambria Math" panose="02040503050406030204" pitchFamily="18" charset="0"/>
                            </a:rPr>
                            <m:t>2</m:t>
                          </m:r>
                        </m:den>
                      </m:f>
                      <m:r>
                        <a:rPr lang="fr-FR" sz="1200" b="0" i="0" smtClean="0">
                          <a:solidFill>
                            <a:schemeClr val="tx1"/>
                          </a:solidFill>
                          <a:latin typeface="Cambria Math" panose="02040503050406030204" pitchFamily="18" charset="0"/>
                        </a:rPr>
                        <m:t>= </m:t>
                      </m:r>
                      <m:f>
                        <m:fPr>
                          <m:ctrlPr>
                            <a:rPr lang="fr-FR" sz="1200" i="1" smtClean="0">
                              <a:solidFill>
                                <a:schemeClr val="tx1"/>
                              </a:solidFill>
                              <a:latin typeface="Cambria Math" panose="02040503050406030204" pitchFamily="18" charset="0"/>
                            </a:rPr>
                          </m:ctrlPr>
                        </m:fPr>
                        <m:num>
                          <m:r>
                            <a:rPr lang="fr-FR" sz="1200" b="0" i="0" smtClean="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Loss</m:t>
                          </m:r>
                          <m:r>
                            <a:rPr lang="fr-FR" sz="1200" b="0" i="0" smtClean="0">
                              <a:solidFill>
                                <a:schemeClr val="tx1"/>
                              </a:solidFill>
                              <a:latin typeface="Cambria Math" panose="02040503050406030204" pitchFamily="18" charset="0"/>
                            </a:rPr>
                            <m:t>1</m:t>
                          </m:r>
                        </m:num>
                        <m:den>
                          <m:r>
                            <a:rPr lang="fr-FR" sz="1200" b="0" i="0" smtClean="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b</m:t>
                          </m:r>
                          <m:r>
                            <a:rPr lang="fr-FR" sz="1200" b="0" i="0" smtClean="0">
                              <a:solidFill>
                                <a:schemeClr val="tx1"/>
                              </a:solidFill>
                              <a:latin typeface="Cambria Math" panose="02040503050406030204" pitchFamily="18" charset="0"/>
                            </a:rPr>
                            <m:t>2</m:t>
                          </m:r>
                        </m:den>
                      </m:f>
                      <m:r>
                        <a:rPr lang="fr-FR" sz="1200" b="0" i="1" smtClean="0">
                          <a:solidFill>
                            <a:srgbClr val="FF0000"/>
                          </a:solidFill>
                          <a:latin typeface="Cambria Math" panose="02040503050406030204" pitchFamily="18" charset="0"/>
                        </a:rPr>
                        <m:t>+</m:t>
                      </m:r>
                      <m:f>
                        <m:fPr>
                          <m:ctrlPr>
                            <a:rPr lang="fr-FR" sz="1200" i="1">
                              <a:latin typeface="Cambria Math" panose="02040503050406030204" pitchFamily="18" charset="0"/>
                            </a:rPr>
                          </m:ctrlPr>
                        </m:fPr>
                        <m:num>
                          <m:r>
                            <a:rPr lang="fr-FR" sz="1200">
                              <a:latin typeface="Cambria Math" panose="02040503050406030204" pitchFamily="18" charset="0"/>
                            </a:rPr>
                            <m:t>𝜕</m:t>
                          </m:r>
                          <m:r>
                            <m:rPr>
                              <m:sty m:val="p"/>
                            </m:rPr>
                            <a:rPr lang="fr-FR" sz="1200">
                              <a:latin typeface="Cambria Math" panose="02040503050406030204" pitchFamily="18" charset="0"/>
                            </a:rPr>
                            <m:t>Loss</m:t>
                          </m:r>
                          <m:r>
                            <a:rPr lang="fr-FR" sz="1200" b="0" i="1" smtClean="0">
                              <a:latin typeface="Cambria Math" panose="02040503050406030204" pitchFamily="18" charset="0"/>
                            </a:rPr>
                            <m:t>2</m:t>
                          </m:r>
                        </m:num>
                        <m:den>
                          <m:r>
                            <a:rPr lang="fr-FR" sz="1200">
                              <a:latin typeface="Cambria Math" panose="02040503050406030204" pitchFamily="18" charset="0"/>
                            </a:rPr>
                            <m:t>𝜕</m:t>
                          </m:r>
                          <m:r>
                            <m:rPr>
                              <m:sty m:val="p"/>
                            </m:rPr>
                            <a:rPr lang="fr-FR" sz="1200">
                              <a:latin typeface="Cambria Math" panose="02040503050406030204" pitchFamily="18" charset="0"/>
                            </a:rPr>
                            <m:t>b</m:t>
                          </m:r>
                          <m:r>
                            <a:rPr lang="fr-FR" sz="1200">
                              <a:latin typeface="Cambria Math" panose="02040503050406030204" pitchFamily="18" charset="0"/>
                            </a:rPr>
                            <m:t>2</m:t>
                          </m:r>
                        </m:den>
                      </m:f>
                    </m:oMath>
                  </m:oMathPara>
                </a14:m>
                <a:endParaRPr lang="fr-FR" sz="1200" dirty="0">
                  <a:solidFill>
                    <a:schemeClr val="tx1"/>
                  </a:solidFill>
                </a:endParaRPr>
              </a:p>
            </p:txBody>
          </p:sp>
        </mc:Choice>
        <mc:Fallback xmlns="">
          <p:sp>
            <p:nvSpPr>
              <p:cNvPr id="47" name="ZoneTexte 46">
                <a:extLst>
                  <a:ext uri="{FF2B5EF4-FFF2-40B4-BE49-F238E27FC236}">
                    <a16:creationId xmlns:a16="http://schemas.microsoft.com/office/drawing/2014/main" id="{7BA2FEA8-230C-2B4F-1E9E-7CDABE086F3A}"/>
                  </a:ext>
                </a:extLst>
              </p:cNvPr>
              <p:cNvSpPr txBox="1">
                <a:spLocks noRot="1" noChangeAspect="1" noMove="1" noResize="1" noEditPoints="1" noAdjustHandles="1" noChangeArrowheads="1" noChangeShapeType="1" noTextEdit="1"/>
              </p:cNvSpPr>
              <p:nvPr/>
            </p:nvSpPr>
            <p:spPr>
              <a:xfrm>
                <a:off x="6405566" y="1845846"/>
                <a:ext cx="4307282" cy="443455"/>
              </a:xfrm>
              <a:prstGeom prst="rect">
                <a:avLst/>
              </a:prstGeom>
              <a:blipFill>
                <a:blip r:embed="rId3"/>
                <a:stretch>
                  <a:fillRect/>
                </a:stretch>
              </a:blipFill>
            </p:spPr>
            <p:txBody>
              <a:bodyPr/>
              <a:lstStyle/>
              <a:p>
                <a:r>
                  <a:rPr lang="fr-FR">
                    <a:noFill/>
                  </a:rPr>
                  <a:t> </a:t>
                </a:r>
              </a:p>
            </p:txBody>
          </p:sp>
        </mc:Fallback>
      </mc:AlternateContent>
      <p:sp>
        <p:nvSpPr>
          <p:cNvPr id="21" name="ZoneTexte 20">
            <a:extLst>
              <a:ext uri="{FF2B5EF4-FFF2-40B4-BE49-F238E27FC236}">
                <a16:creationId xmlns:a16="http://schemas.microsoft.com/office/drawing/2014/main" id="{B56139E6-4176-A203-BBDD-AA82121E6576}"/>
              </a:ext>
            </a:extLst>
          </p:cNvPr>
          <p:cNvSpPr txBox="1"/>
          <p:nvPr/>
        </p:nvSpPr>
        <p:spPr>
          <a:xfrm>
            <a:off x="6528460" y="1334708"/>
            <a:ext cx="3157800" cy="307777"/>
          </a:xfrm>
          <a:prstGeom prst="rect">
            <a:avLst/>
          </a:prstGeom>
          <a:noFill/>
        </p:spPr>
        <p:txBody>
          <a:bodyPr wrap="square" rtlCol="0">
            <a:spAutoFit/>
          </a:bodyPr>
          <a:lstStyle/>
          <a:p>
            <a:r>
              <a:rPr lang="fr-FR" sz="1400" b="1" dirty="0">
                <a:solidFill>
                  <a:srgbClr val="FF0000"/>
                </a:solidFill>
              </a:rPr>
              <a:t>BACKPROPAGATION</a:t>
            </a:r>
            <a:r>
              <a:rPr lang="fr-FR" sz="1400" b="1" dirty="0"/>
              <a:t> + CHAIN RULE</a:t>
            </a:r>
          </a:p>
        </p:txBody>
      </p:sp>
      <p:sp>
        <p:nvSpPr>
          <p:cNvPr id="22" name="Flèche vers la gauche 21">
            <a:extLst>
              <a:ext uri="{FF2B5EF4-FFF2-40B4-BE49-F238E27FC236}">
                <a16:creationId xmlns:a16="http://schemas.microsoft.com/office/drawing/2014/main" id="{D0BEB071-178D-8413-2F0B-06F003F31DCA}"/>
              </a:ext>
            </a:extLst>
          </p:cNvPr>
          <p:cNvSpPr/>
          <p:nvPr/>
        </p:nvSpPr>
        <p:spPr>
          <a:xfrm rot="17513587" flipV="1">
            <a:off x="2476369" y="2271001"/>
            <a:ext cx="1250269" cy="274824"/>
          </a:xfrm>
          <a:prstGeom prst="leftArrow">
            <a:avLst>
              <a:gd name="adj1" fmla="val 49587"/>
              <a:gd name="adj2" fmla="val 50000"/>
            </a:avLst>
          </a:prstGeom>
          <a:solidFill>
            <a:srgbClr val="FF00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4" name="Connecteur droit 23">
            <a:extLst>
              <a:ext uri="{FF2B5EF4-FFF2-40B4-BE49-F238E27FC236}">
                <a16:creationId xmlns:a16="http://schemas.microsoft.com/office/drawing/2014/main" id="{108F380D-3ABD-AD5B-542D-B5D08C49FEC9}"/>
              </a:ext>
            </a:extLst>
          </p:cNvPr>
          <p:cNvCxnSpPr>
            <a:cxnSpLocks/>
          </p:cNvCxnSpPr>
          <p:nvPr/>
        </p:nvCxnSpPr>
        <p:spPr>
          <a:xfrm>
            <a:off x="3279343" y="1863552"/>
            <a:ext cx="1368000" cy="0"/>
          </a:xfrm>
          <a:prstGeom prst="line">
            <a:avLst/>
          </a:prstGeom>
          <a:ln w="136525">
            <a:solidFill>
              <a:srgbClr val="FF0000">
                <a:alpha val="50000"/>
              </a:srgbClr>
            </a:solidFill>
          </a:ln>
        </p:spPr>
        <p:style>
          <a:lnRef idx="2">
            <a:schemeClr val="accent1"/>
          </a:lnRef>
          <a:fillRef idx="0">
            <a:schemeClr val="accent1"/>
          </a:fillRef>
          <a:effectRef idx="1">
            <a:schemeClr val="accent1"/>
          </a:effectRef>
          <a:fontRef idx="minor">
            <a:schemeClr val="tx1"/>
          </a:fontRef>
        </p:style>
      </p:cxnSp>
      <p:sp>
        <p:nvSpPr>
          <p:cNvPr id="4" name="Flèche vers la gauche 3">
            <a:extLst>
              <a:ext uri="{FF2B5EF4-FFF2-40B4-BE49-F238E27FC236}">
                <a16:creationId xmlns:a16="http://schemas.microsoft.com/office/drawing/2014/main" id="{E1A62832-EA53-B7DB-E8C7-818021F52E1E}"/>
              </a:ext>
            </a:extLst>
          </p:cNvPr>
          <p:cNvSpPr/>
          <p:nvPr/>
        </p:nvSpPr>
        <p:spPr>
          <a:xfrm rot="19343959">
            <a:off x="2947367" y="2774627"/>
            <a:ext cx="432000" cy="288000"/>
          </a:xfrm>
          <a:prstGeom prst="leftArrow">
            <a:avLst/>
          </a:prstGeom>
          <a:solidFill>
            <a:srgbClr val="FF00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3" name="Connecteur droit 2">
            <a:extLst>
              <a:ext uri="{FF2B5EF4-FFF2-40B4-BE49-F238E27FC236}">
                <a16:creationId xmlns:a16="http://schemas.microsoft.com/office/drawing/2014/main" id="{4F076D3A-CF9A-A60B-FCA7-C06ED03EB796}"/>
              </a:ext>
            </a:extLst>
          </p:cNvPr>
          <p:cNvCxnSpPr>
            <a:cxnSpLocks/>
          </p:cNvCxnSpPr>
          <p:nvPr/>
        </p:nvCxnSpPr>
        <p:spPr>
          <a:xfrm>
            <a:off x="3292769" y="2794005"/>
            <a:ext cx="1332000" cy="0"/>
          </a:xfrm>
          <a:prstGeom prst="line">
            <a:avLst/>
          </a:prstGeom>
          <a:ln w="136525">
            <a:solidFill>
              <a:srgbClr val="FF0000">
                <a:alpha val="50000"/>
              </a:srgbClr>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92F0A178-BFFC-769D-1365-85E06B722933}"/>
                  </a:ext>
                </a:extLst>
              </p:cNvPr>
              <p:cNvSpPr txBox="1"/>
              <p:nvPr/>
            </p:nvSpPr>
            <p:spPr>
              <a:xfrm>
                <a:off x="4051002" y="1372755"/>
                <a:ext cx="642969" cy="414216"/>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f>
                        <m:fPr>
                          <m:ctrlPr>
                            <a:rPr lang="fr-FR" sz="1050" i="1" smtClean="0">
                              <a:solidFill>
                                <a:srgbClr val="FF0000"/>
                              </a:solidFill>
                              <a:latin typeface="Cambria Math" panose="02040503050406030204" pitchFamily="18" charset="0"/>
                            </a:rPr>
                          </m:ctrlPr>
                        </m:fPr>
                        <m:num>
                          <m:r>
                            <a:rPr lang="fr-FR" sz="1050" i="0" smtClean="0">
                              <a:solidFill>
                                <a:srgbClr val="FF0000"/>
                              </a:solidFill>
                              <a:latin typeface="Cambria Math" panose="02040503050406030204" pitchFamily="18" charset="0"/>
                            </a:rPr>
                            <m:t>𝜕</m:t>
                          </m:r>
                          <m:r>
                            <m:rPr>
                              <m:sty m:val="p"/>
                            </m:rPr>
                            <a:rPr lang="fr-FR" sz="1050" b="0" i="0" smtClean="0">
                              <a:solidFill>
                                <a:srgbClr val="FF0000"/>
                              </a:solidFill>
                              <a:latin typeface="Cambria Math" panose="02040503050406030204" pitchFamily="18" charset="0"/>
                            </a:rPr>
                            <m:t>Loss</m:t>
                          </m:r>
                        </m:num>
                        <m:den>
                          <m:r>
                            <a:rPr lang="fr-FR" sz="1050" i="0" smtClean="0">
                              <a:solidFill>
                                <a:srgbClr val="FF0000"/>
                              </a:solidFill>
                              <a:latin typeface="Cambria Math" panose="02040503050406030204" pitchFamily="18" charset="0"/>
                            </a:rPr>
                            <m:t>𝜕</m:t>
                          </m:r>
                          <m:r>
                            <m:rPr>
                              <m:sty m:val="p"/>
                            </m:rPr>
                            <a:rPr lang="fr-FR" sz="1050" b="0" i="0" smtClean="0">
                              <a:solidFill>
                                <a:srgbClr val="FF0000"/>
                              </a:solidFill>
                              <a:latin typeface="Cambria Math" panose="02040503050406030204" pitchFamily="18" charset="0"/>
                            </a:rPr>
                            <m:t>b</m:t>
                          </m:r>
                          <m:r>
                            <a:rPr lang="fr-FR" sz="1050" b="0" i="0" smtClean="0">
                              <a:solidFill>
                                <a:srgbClr val="FF0000"/>
                              </a:solidFill>
                              <a:latin typeface="Cambria Math" panose="02040503050406030204" pitchFamily="18" charset="0"/>
                            </a:rPr>
                            <m:t>2</m:t>
                          </m:r>
                        </m:den>
                      </m:f>
                    </m:oMath>
                  </m:oMathPara>
                </a14:m>
                <a:endParaRPr lang="fr-FR" sz="1050" b="1" dirty="0">
                  <a:solidFill>
                    <a:srgbClr val="FF0000"/>
                  </a:solidFill>
                </a:endParaRPr>
              </a:p>
            </p:txBody>
          </p:sp>
        </mc:Choice>
        <mc:Fallback xmlns="">
          <p:sp>
            <p:nvSpPr>
              <p:cNvPr id="6" name="ZoneTexte 5">
                <a:extLst>
                  <a:ext uri="{FF2B5EF4-FFF2-40B4-BE49-F238E27FC236}">
                    <a16:creationId xmlns:a16="http://schemas.microsoft.com/office/drawing/2014/main" id="{92F0A178-BFFC-769D-1365-85E06B722933}"/>
                  </a:ext>
                </a:extLst>
              </p:cNvPr>
              <p:cNvSpPr txBox="1">
                <a:spLocks noRot="1" noChangeAspect="1" noMove="1" noResize="1" noEditPoints="1" noAdjustHandles="1" noChangeArrowheads="1" noChangeShapeType="1" noTextEdit="1"/>
              </p:cNvSpPr>
              <p:nvPr/>
            </p:nvSpPr>
            <p:spPr>
              <a:xfrm>
                <a:off x="4051002" y="1372755"/>
                <a:ext cx="642969" cy="414216"/>
              </a:xfrm>
              <a:prstGeom prst="rect">
                <a:avLst/>
              </a:prstGeom>
              <a:blipFill>
                <a:blip r:embed="rId4"/>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4" name="ZoneTexte 13">
                <a:extLst>
                  <a:ext uri="{FF2B5EF4-FFF2-40B4-BE49-F238E27FC236}">
                    <a16:creationId xmlns:a16="http://schemas.microsoft.com/office/drawing/2014/main" id="{8E5978A1-192C-F24C-BCAA-1394696F02DB}"/>
                  </a:ext>
                </a:extLst>
              </p:cNvPr>
              <p:cNvSpPr txBox="1"/>
              <p:nvPr/>
            </p:nvSpPr>
            <p:spPr>
              <a:xfrm>
                <a:off x="6367932" y="3057983"/>
                <a:ext cx="5369463" cy="733214"/>
              </a:xfrm>
              <a:prstGeom prst="rect">
                <a:avLst/>
              </a:prstGeom>
              <a:noFill/>
            </p:spPr>
            <p:txBody>
              <a:bodyPr wrap="square">
                <a:spAutoFit/>
              </a:bodyPr>
              <a:lstStyle/>
              <a:p>
                <a14:m>
                  <m:oMath xmlns:m="http://schemas.openxmlformats.org/officeDocument/2006/math">
                    <m:f>
                      <m:fPr>
                        <m:ctrlPr>
                          <a:rPr lang="fr-FR" sz="1200" i="1" smtClean="0">
                            <a:latin typeface="Cambria Math" panose="02040503050406030204" pitchFamily="18" charset="0"/>
                          </a:rPr>
                        </m:ctrlPr>
                      </m:fPr>
                      <m:num>
                        <m:r>
                          <a:rPr lang="fr-FR" sz="1200">
                            <a:latin typeface="Cambria Math" panose="02040503050406030204" pitchFamily="18" charset="0"/>
                          </a:rPr>
                          <m:t>𝜕</m:t>
                        </m:r>
                        <m:r>
                          <m:rPr>
                            <m:sty m:val="p"/>
                          </m:rPr>
                          <a:rPr lang="fr-FR" sz="1200">
                            <a:latin typeface="Cambria Math" panose="02040503050406030204" pitchFamily="18" charset="0"/>
                          </a:rPr>
                          <m:t>Loss</m:t>
                        </m:r>
                      </m:num>
                      <m:den>
                        <m:r>
                          <a:rPr lang="fr-FR" sz="1200">
                            <a:latin typeface="Cambria Math" panose="02040503050406030204" pitchFamily="18" charset="0"/>
                          </a:rPr>
                          <m:t>𝜕</m:t>
                        </m:r>
                        <m:r>
                          <m:rPr>
                            <m:sty m:val="p"/>
                          </m:rPr>
                          <a:rPr lang="fr-FR" sz="1200">
                            <a:latin typeface="Cambria Math" panose="02040503050406030204" pitchFamily="18" charset="0"/>
                          </a:rPr>
                          <m:t>b</m:t>
                        </m:r>
                        <m:r>
                          <a:rPr lang="fr-FR" sz="1200">
                            <a:latin typeface="Cambria Math" panose="02040503050406030204" pitchFamily="18" charset="0"/>
                          </a:rPr>
                          <m:t>2</m:t>
                        </m:r>
                      </m:den>
                    </m:f>
                    <m:r>
                      <a:rPr lang="fr-FR" sz="1200">
                        <a:latin typeface="Cambria Math" panose="02040503050406030204" pitchFamily="18" charset="0"/>
                      </a:rPr>
                      <m:t>=</m:t>
                    </m:r>
                    <m:r>
                      <m:rPr>
                        <m:nor/>
                      </m:rPr>
                      <a:rPr lang="fr-FR" sz="1200">
                        <a:latin typeface="Cambria Math" panose="02040503050406030204" pitchFamily="18" charset="0"/>
                      </a:rPr>
                      <m:t>−2</m:t>
                    </m:r>
                    <m:r>
                      <m:rPr>
                        <m:nor/>
                      </m:rPr>
                      <a:rPr lang="fr-FR" sz="1200" dirty="0">
                        <a:latin typeface="Cambria Math" panose="02040503050406030204" pitchFamily="18" charset="0"/>
                        <a:ea typeface="Cambria Math" panose="02040503050406030204" pitchFamily="18" charset="0"/>
                      </a:rPr>
                      <m:t>(</m:t>
                    </m:r>
                    <m:sSub>
                      <m:sSubPr>
                        <m:ctrlPr>
                          <a:rPr lang="fr-FR" sz="1200" i="1" dirty="0">
                            <a:latin typeface="Cambria Math" panose="02040503050406030204" pitchFamily="18" charset="0"/>
                            <a:ea typeface="Cambria Math" panose="02040503050406030204" pitchFamily="18" charset="0"/>
                          </a:rPr>
                        </m:ctrlPr>
                      </m:sSubPr>
                      <m:e>
                        <m:r>
                          <m:rPr>
                            <m:sty m:val="p"/>
                          </m:rPr>
                          <a:rPr lang="fr-FR" sz="1200">
                            <a:latin typeface="Cambria Math" panose="02040503050406030204" pitchFamily="18" charset="0"/>
                            <a:ea typeface="Cambria Math" panose="02040503050406030204" pitchFamily="18" charset="0"/>
                          </a:rPr>
                          <m:t>target</m:t>
                        </m:r>
                      </m:e>
                      <m:sub>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m:t>
                        </m:r>
                      </m:sub>
                    </m:sSub>
                    <m:r>
                      <a:rPr lang="fr-FR" sz="1200" i="1">
                        <a:latin typeface="Cambria Math" panose="02040503050406030204" pitchFamily="18" charset="0"/>
                        <a:ea typeface="Cambria Math" panose="02040503050406030204" pitchFamily="18" charset="0"/>
                      </a:rPr>
                      <m:t>− </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m:t>
                    </m:r>
                    <m:r>
                      <m:rPr>
                        <m:nor/>
                      </m:rPr>
                      <a:rPr lang="fr-FR" sz="1200" dirty="0">
                        <a:latin typeface="Cambria Math" panose="02040503050406030204" pitchFamily="18" charset="0"/>
                        <a:ea typeface="Cambria Math" panose="02040503050406030204" pitchFamily="18" charset="0"/>
                      </a:rPr>
                      <m:t>)</m:t>
                    </m:r>
                    <m:r>
                      <a:rPr lang="fr-FR" sz="1200" b="0" i="1">
                        <a:solidFill>
                          <a:schemeClr val="tx1"/>
                        </a:solidFill>
                        <a:latin typeface="Cambria Math" panose="02040503050406030204" pitchFamily="18" charset="0"/>
                        <a:ea typeface="Cambria Math" panose="02040503050406030204" pitchFamily="18" charset="0"/>
                      </a:rPr>
                      <m:t>×</m:t>
                    </m:r>
                    <m:r>
                      <m:rPr>
                        <m:nor/>
                      </m:rPr>
                      <a:rPr lang="fr-FR" sz="1200">
                        <a:solidFill>
                          <a:schemeClr val="tx1"/>
                        </a:solidFill>
                        <a:latin typeface="Cambria Math" panose="02040503050406030204" pitchFamily="18" charset="0"/>
                        <a:ea typeface="Cambria Math" panose="02040503050406030204" pitchFamily="18" charset="0"/>
                      </a:rPr>
                      <m:t> </m:t>
                    </m:r>
                    <m:r>
                      <m:rPr>
                        <m:sty m:val="p"/>
                      </m:rPr>
                      <a:rPr lang="fr-FR" sz="1200" b="0" i="0" smtClean="0">
                        <a:solidFill>
                          <a:schemeClr val="tx1"/>
                        </a:solidFill>
                        <a:latin typeface="Cambria Math" panose="02040503050406030204" pitchFamily="18" charset="0"/>
                        <a:ea typeface="Cambria Math" panose="02040503050406030204" pitchFamily="18" charset="0"/>
                      </a:rPr>
                      <m:t>out</m:t>
                    </m:r>
                    <m:r>
                      <a:rPr lang="fr-FR" sz="1200" b="0" i="0" smtClean="0">
                        <a:solidFill>
                          <a:schemeClr val="tx1"/>
                        </a:solidFill>
                        <a:latin typeface="Cambria Math" panose="02040503050406030204" pitchFamily="18" charset="0"/>
                        <a:ea typeface="Cambria Math" panose="02040503050406030204" pitchFamily="18" charset="0"/>
                      </a:rPr>
                      <m:t>_</m:t>
                    </m:r>
                    <m:r>
                      <m:rPr>
                        <m:sty m:val="p"/>
                      </m:rPr>
                      <a:rPr lang="fr-FR" sz="1200" b="0" i="0" smtClean="0">
                        <a:solidFill>
                          <a:schemeClr val="tx1"/>
                        </a:solidFill>
                        <a:latin typeface="Cambria Math" panose="02040503050406030204" pitchFamily="18" charset="0"/>
                        <a:ea typeface="Cambria Math" panose="02040503050406030204" pitchFamily="18" charset="0"/>
                      </a:rPr>
                      <m:t>o</m:t>
                    </m:r>
                    <m:r>
                      <a:rPr lang="fr-FR" sz="1200" b="0" i="0" smtClean="0">
                        <a:solidFill>
                          <a:schemeClr val="tx1"/>
                        </a:solidFill>
                        <a:latin typeface="Cambria Math" panose="02040503050406030204" pitchFamily="18" charset="0"/>
                        <a:ea typeface="Cambria Math" panose="02040503050406030204" pitchFamily="18" charset="0"/>
                      </a:rPr>
                      <m:t>1(1−</m:t>
                    </m:r>
                    <m:r>
                      <m:rPr>
                        <m:sty m:val="p"/>
                      </m:rPr>
                      <a:rPr lang="fr-FR" sz="1200" b="0" i="0" smtClean="0">
                        <a:solidFill>
                          <a:schemeClr val="tx1"/>
                        </a:solidFill>
                        <a:latin typeface="Cambria Math" panose="02040503050406030204" pitchFamily="18" charset="0"/>
                        <a:ea typeface="Cambria Math" panose="02040503050406030204" pitchFamily="18" charset="0"/>
                      </a:rPr>
                      <m:t>out</m:t>
                    </m:r>
                    <m:r>
                      <a:rPr lang="fr-FR" sz="1200" b="0" i="0" smtClean="0">
                        <a:solidFill>
                          <a:schemeClr val="tx1"/>
                        </a:solidFill>
                        <a:latin typeface="Cambria Math" panose="02040503050406030204" pitchFamily="18" charset="0"/>
                        <a:ea typeface="Cambria Math" panose="02040503050406030204" pitchFamily="18" charset="0"/>
                      </a:rPr>
                      <m:t>_</m:t>
                    </m:r>
                    <m:r>
                      <m:rPr>
                        <m:sty m:val="p"/>
                      </m:rPr>
                      <a:rPr lang="fr-FR" sz="1200" b="0" i="0" smtClean="0">
                        <a:solidFill>
                          <a:schemeClr val="tx1"/>
                        </a:solidFill>
                        <a:latin typeface="Cambria Math" panose="02040503050406030204" pitchFamily="18" charset="0"/>
                        <a:ea typeface="Cambria Math" panose="02040503050406030204" pitchFamily="18" charset="0"/>
                      </a:rPr>
                      <m:t>o</m:t>
                    </m:r>
                    <m:r>
                      <a:rPr lang="fr-FR" sz="1200" b="0" i="0" smtClean="0">
                        <a:solidFill>
                          <a:schemeClr val="tx1"/>
                        </a:solidFill>
                        <a:latin typeface="Cambria Math" panose="02040503050406030204" pitchFamily="18" charset="0"/>
                        <a:ea typeface="Cambria Math" panose="02040503050406030204" pitchFamily="18" charset="0"/>
                      </a:rPr>
                      <m:t>1</m:t>
                    </m:r>
                    <m:r>
                      <a:rPr lang="fr-FR" sz="1200" b="0" i="1" smtClean="0">
                        <a:solidFill>
                          <a:schemeClr val="tx1"/>
                        </a:solidFill>
                        <a:latin typeface="Cambria Math" panose="02040503050406030204" pitchFamily="18" charset="0"/>
                        <a:ea typeface="Cambria Math" panose="02040503050406030204" pitchFamily="18" charset="0"/>
                      </a:rPr>
                      <m:t>)</m:t>
                    </m:r>
                    <m:r>
                      <a:rPr lang="fr-FR" sz="1200" i="1">
                        <a:latin typeface="Cambria Math" panose="02040503050406030204" pitchFamily="18" charset="0"/>
                        <a:ea typeface="Cambria Math" panose="02040503050406030204" pitchFamily="18" charset="0"/>
                      </a:rPr>
                      <m:t>×</m:t>
                    </m:r>
                    <m:r>
                      <a:rPr lang="fr-FR" sz="1200" b="0" i="1" smtClean="0">
                        <a:latin typeface="Cambria Math" panose="02040503050406030204" pitchFamily="18" charset="0"/>
                        <a:ea typeface="Cambria Math" panose="02040503050406030204" pitchFamily="18" charset="0"/>
                      </a:rPr>
                      <m:t> </m:t>
                    </m:r>
                  </m:oMath>
                </a14:m>
                <a:r>
                  <a:rPr lang="fr-FR" sz="1200" dirty="0"/>
                  <a:t>1</a:t>
                </a:r>
              </a:p>
              <a:p>
                <a:endParaRPr lang="fr-FR" sz="1200" dirty="0"/>
              </a:p>
              <a:p>
                <a:r>
                  <a:rPr lang="fr-FR" sz="1200" dirty="0"/>
                  <a:t> </a:t>
                </a:r>
                <a14:m>
                  <m:oMath xmlns:m="http://schemas.openxmlformats.org/officeDocument/2006/math">
                    <m:r>
                      <a:rPr lang="fr-FR" sz="1200" b="0" i="0" smtClean="0">
                        <a:solidFill>
                          <a:schemeClr val="tx1"/>
                        </a:solidFill>
                        <a:latin typeface="Cambria Math" panose="02040503050406030204" pitchFamily="18" charset="0"/>
                      </a:rPr>
                      <m:t>            </m:t>
                    </m:r>
                    <m:r>
                      <a:rPr lang="fr-FR" sz="1200" b="0" i="0" smtClean="0">
                        <a:solidFill>
                          <a:srgbClr val="FF0000"/>
                        </a:solidFill>
                        <a:latin typeface="Cambria Math" panose="02040503050406030204" pitchFamily="18" charset="0"/>
                      </a:rPr>
                      <m:t>+</m:t>
                    </m:r>
                    <m:r>
                      <m:rPr>
                        <m:nor/>
                      </m:rPr>
                      <a:rPr lang="fr-FR" sz="1200">
                        <a:latin typeface="Cambria Math" panose="02040503050406030204" pitchFamily="18" charset="0"/>
                        <a:ea typeface="Cambria Math" panose="02040503050406030204" pitchFamily="18" charset="0"/>
                      </a:rPr>
                      <m:t>−2</m:t>
                    </m:r>
                    <m:r>
                      <m:rPr>
                        <m:nor/>
                      </m:rPr>
                      <a:rPr lang="fr-FR" sz="1200" dirty="0">
                        <a:latin typeface="Cambria Math" panose="02040503050406030204" pitchFamily="18" charset="0"/>
                        <a:ea typeface="Cambria Math" panose="02040503050406030204" pitchFamily="18" charset="0"/>
                      </a:rPr>
                      <m:t>(</m:t>
                    </m:r>
                    <m:sSub>
                      <m:sSubPr>
                        <m:ctrlPr>
                          <a:rPr lang="fr-FR" sz="1200" i="1" dirty="0">
                            <a:latin typeface="Cambria Math" panose="02040503050406030204" pitchFamily="18" charset="0"/>
                            <a:ea typeface="Cambria Math" panose="02040503050406030204" pitchFamily="18" charset="0"/>
                          </a:rPr>
                        </m:ctrlPr>
                      </m:sSubPr>
                      <m:e>
                        <m:r>
                          <m:rPr>
                            <m:sty m:val="p"/>
                          </m:rPr>
                          <a:rPr lang="fr-FR" sz="1200">
                            <a:latin typeface="Cambria Math" panose="02040503050406030204" pitchFamily="18" charset="0"/>
                            <a:ea typeface="Cambria Math" panose="02040503050406030204" pitchFamily="18" charset="0"/>
                          </a:rPr>
                          <m:t>target</m:t>
                        </m:r>
                      </m:e>
                      <m:sub>
                        <m:r>
                          <m:rPr>
                            <m:sty m:val="p"/>
                          </m:rPr>
                          <a:rPr lang="fr-FR" sz="1200">
                            <a:latin typeface="Cambria Math" panose="02040503050406030204" pitchFamily="18" charset="0"/>
                            <a:ea typeface="Cambria Math" panose="02040503050406030204" pitchFamily="18" charset="0"/>
                          </a:rPr>
                          <m:t>o</m:t>
                        </m:r>
                        <m:r>
                          <m:rPr>
                            <m:nor/>
                          </m:rPr>
                          <a:rPr lang="fr-FR" sz="1200">
                            <a:latin typeface="Cambria Math" panose="02040503050406030204" pitchFamily="18" charset="0"/>
                            <a:ea typeface="Cambria Math" panose="02040503050406030204" pitchFamily="18" charset="0"/>
                          </a:rPr>
                          <m:t>2</m:t>
                        </m:r>
                      </m:sub>
                    </m:sSub>
                    <m:r>
                      <a:rPr lang="fr-FR" sz="1200" i="1">
                        <a:latin typeface="Cambria Math" panose="02040503050406030204" pitchFamily="18" charset="0"/>
                        <a:ea typeface="Cambria Math" panose="02040503050406030204" pitchFamily="18" charset="0"/>
                      </a:rPr>
                      <m:t>− </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2</m:t>
                    </m:r>
                    <m:r>
                      <a:rPr lang="fr-FR" sz="1200" i="1">
                        <a:latin typeface="Cambria Math" panose="02040503050406030204" pitchFamily="18" charset="0"/>
                        <a:ea typeface="Cambria Math" panose="02040503050406030204" pitchFamily="18" charset="0"/>
                      </a:rPr>
                      <m:t>)×</m:t>
                    </m:r>
                    <m:r>
                      <m:rPr>
                        <m:nor/>
                      </m:rPr>
                      <a:rPr lang="fr-FR" sz="1200">
                        <a:latin typeface="Cambria Math" panose="02040503050406030204" pitchFamily="18" charset="0"/>
                        <a:ea typeface="Cambria Math" panose="02040503050406030204" pitchFamily="18" charset="0"/>
                      </a:rPr>
                      <m:t> </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b="0" i="0" smtClean="0">
                        <a:latin typeface="Cambria Math" panose="02040503050406030204" pitchFamily="18" charset="0"/>
                        <a:ea typeface="Cambria Math" panose="02040503050406030204" pitchFamily="18" charset="0"/>
                      </a:rPr>
                      <m:t>2</m:t>
                    </m:r>
                    <m:r>
                      <a:rPr lang="fr-FR" sz="1200">
                        <a:latin typeface="Cambria Math" panose="02040503050406030204" pitchFamily="18" charset="0"/>
                        <a:ea typeface="Cambria Math" panose="02040503050406030204" pitchFamily="18" charset="0"/>
                      </a:rPr>
                      <m:t>(1−</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b="0" i="1" smtClean="0">
                        <a:latin typeface="Cambria Math" panose="02040503050406030204" pitchFamily="18" charset="0"/>
                        <a:ea typeface="Cambria Math" panose="02040503050406030204" pitchFamily="18" charset="0"/>
                      </a:rPr>
                      <m:t>2</m:t>
                    </m:r>
                    <m:r>
                      <a:rPr lang="fr-FR" sz="1200" i="1">
                        <a:latin typeface="Cambria Math" panose="02040503050406030204" pitchFamily="18" charset="0"/>
                        <a:ea typeface="Cambria Math" panose="02040503050406030204" pitchFamily="18" charset="0"/>
                      </a:rPr>
                      <m:t>)× </m:t>
                    </m:r>
                  </m:oMath>
                </a14:m>
                <a:r>
                  <a:rPr lang="fr-FR" sz="1200" dirty="0"/>
                  <a:t>1</a:t>
                </a:r>
              </a:p>
            </p:txBody>
          </p:sp>
        </mc:Choice>
        <mc:Fallback xmlns="">
          <p:sp>
            <p:nvSpPr>
              <p:cNvPr id="14" name="ZoneTexte 13">
                <a:extLst>
                  <a:ext uri="{FF2B5EF4-FFF2-40B4-BE49-F238E27FC236}">
                    <a16:creationId xmlns:a16="http://schemas.microsoft.com/office/drawing/2014/main" id="{8E5978A1-192C-F24C-BCAA-1394696F02DB}"/>
                  </a:ext>
                </a:extLst>
              </p:cNvPr>
              <p:cNvSpPr txBox="1">
                <a:spLocks noRot="1" noChangeAspect="1" noMove="1" noResize="1" noEditPoints="1" noAdjustHandles="1" noChangeArrowheads="1" noChangeShapeType="1" noTextEdit="1"/>
              </p:cNvSpPr>
              <p:nvPr/>
            </p:nvSpPr>
            <p:spPr>
              <a:xfrm>
                <a:off x="6367932" y="3057983"/>
                <a:ext cx="5369463" cy="733214"/>
              </a:xfrm>
              <a:prstGeom prst="rect">
                <a:avLst/>
              </a:prstGeom>
              <a:blipFill>
                <a:blip r:embed="rId5"/>
                <a:stretch>
                  <a:fillRect b="-508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D1CDFF41-610E-FA54-5644-0E5A63671CC3}"/>
                  </a:ext>
                </a:extLst>
              </p:cNvPr>
              <p:cNvSpPr txBox="1"/>
              <p:nvPr/>
            </p:nvSpPr>
            <p:spPr>
              <a:xfrm>
                <a:off x="6367932" y="2408413"/>
                <a:ext cx="4307282" cy="44345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fr-FR" sz="1200" i="1" smtClean="0">
                              <a:solidFill>
                                <a:schemeClr val="tx1"/>
                              </a:solidFill>
                              <a:latin typeface="Cambria Math" panose="02040503050406030204" pitchFamily="18" charset="0"/>
                            </a:rPr>
                          </m:ctrlPr>
                        </m:fPr>
                        <m:num>
                          <m:r>
                            <a:rPr lang="fr-FR" sz="1200" b="0" i="0" smtClean="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Loss</m:t>
                          </m:r>
                        </m:num>
                        <m:den>
                          <m:r>
                            <a:rPr lang="fr-FR" sz="1200" b="0" i="0" smtClean="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b</m:t>
                          </m:r>
                          <m:r>
                            <a:rPr lang="fr-FR" sz="1200" b="0" i="0" smtClean="0">
                              <a:solidFill>
                                <a:schemeClr val="tx1"/>
                              </a:solidFill>
                              <a:latin typeface="Cambria Math" panose="02040503050406030204" pitchFamily="18" charset="0"/>
                            </a:rPr>
                            <m:t>2</m:t>
                          </m:r>
                        </m:den>
                      </m:f>
                      <m:r>
                        <a:rPr lang="fr-FR" sz="1200" b="0" i="0" smtClean="0">
                          <a:solidFill>
                            <a:schemeClr val="tx1"/>
                          </a:solidFill>
                          <a:latin typeface="Cambria Math" panose="02040503050406030204" pitchFamily="18" charset="0"/>
                        </a:rPr>
                        <m:t>= </m:t>
                      </m:r>
                      <m:f>
                        <m:fPr>
                          <m:ctrlPr>
                            <a:rPr lang="fr-FR" sz="1200" i="1" smtClean="0">
                              <a:solidFill>
                                <a:schemeClr val="tx1"/>
                              </a:solidFill>
                              <a:latin typeface="Cambria Math" panose="02040503050406030204" pitchFamily="18" charset="0"/>
                            </a:rPr>
                          </m:ctrlPr>
                        </m:fPr>
                        <m:num>
                          <m:r>
                            <a:rPr lang="fr-FR" sz="1200" b="0" i="0" smtClean="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Loss</m:t>
                          </m:r>
                          <m:r>
                            <a:rPr lang="fr-FR" sz="1200" b="0" i="0" smtClean="0">
                              <a:solidFill>
                                <a:schemeClr val="tx1"/>
                              </a:solidFill>
                              <a:latin typeface="Cambria Math" panose="02040503050406030204" pitchFamily="18" charset="0"/>
                            </a:rPr>
                            <m:t>1</m:t>
                          </m:r>
                        </m:num>
                        <m:den>
                          <m:r>
                            <a:rPr lang="fr-FR" sz="1200" b="0" i="0" smtClean="0">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net</m:t>
                          </m:r>
                          <m:r>
                            <a:rPr lang="fr-FR" sz="1200" b="0" i="0" smtClean="0">
                              <a:solidFill>
                                <a:schemeClr val="tx1"/>
                              </a:solidFill>
                              <a:latin typeface="Cambria Math" panose="02040503050406030204" pitchFamily="18" charset="0"/>
                            </a:rPr>
                            <m:t>_</m:t>
                          </m:r>
                          <m:r>
                            <m:rPr>
                              <m:sty m:val="p"/>
                            </m:rPr>
                            <a:rPr lang="fr-FR" sz="1200" b="0" i="0" smtClean="0">
                              <a:solidFill>
                                <a:schemeClr val="tx1"/>
                              </a:solidFill>
                              <a:latin typeface="Cambria Math" panose="02040503050406030204" pitchFamily="18" charset="0"/>
                            </a:rPr>
                            <m:t>o</m:t>
                          </m:r>
                          <m:r>
                            <a:rPr lang="fr-FR" sz="1200" b="0" i="0" smtClean="0">
                              <a:solidFill>
                                <a:schemeClr val="tx1"/>
                              </a:solidFill>
                              <a:latin typeface="Cambria Math" panose="02040503050406030204" pitchFamily="18" charset="0"/>
                            </a:rPr>
                            <m:t>1</m:t>
                          </m:r>
                        </m:den>
                      </m:f>
                      <m:r>
                        <a:rPr lang="fr-FR" sz="1200" b="0" i="0" smtClean="0">
                          <a:solidFill>
                            <a:schemeClr val="tx1"/>
                          </a:solidFill>
                          <a:latin typeface="Cambria Math" panose="02040503050406030204" pitchFamily="18" charset="0"/>
                        </a:rPr>
                        <m:t> </m:t>
                      </m:r>
                      <m:r>
                        <a:rPr lang="fr-FR" sz="1200" b="0" i="1" smtClean="0">
                          <a:solidFill>
                            <a:schemeClr val="tx1"/>
                          </a:solidFill>
                          <a:latin typeface="Cambria Math" panose="02040503050406030204" pitchFamily="18" charset="0"/>
                          <a:ea typeface="Cambria Math" panose="02040503050406030204" pitchFamily="18" charset="0"/>
                        </a:rPr>
                        <m:t>×</m:t>
                      </m:r>
                      <m:f>
                        <m:fPr>
                          <m:ctrlPr>
                            <a:rPr lang="fr-FR" sz="1200" i="1" smtClean="0">
                              <a:solidFill>
                                <a:schemeClr val="tx1"/>
                              </a:solidFill>
                              <a:latin typeface="Cambria Math" panose="02040503050406030204" pitchFamily="18" charset="0"/>
                            </a:rPr>
                          </m:ctrlPr>
                        </m:fPr>
                        <m:num>
                          <m:r>
                            <a:rPr lang="fr-FR" sz="1200" b="0" i="1">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net</m:t>
                          </m:r>
                          <m:r>
                            <a:rPr lang="fr-FR" sz="1200" b="0" i="0" smtClean="0">
                              <a:solidFill>
                                <a:schemeClr val="tx1"/>
                              </a:solidFill>
                              <a:latin typeface="Cambria Math" panose="02040503050406030204" pitchFamily="18" charset="0"/>
                            </a:rPr>
                            <m:t>_</m:t>
                          </m:r>
                          <m:r>
                            <m:rPr>
                              <m:sty m:val="p"/>
                            </m:rPr>
                            <a:rPr lang="fr-FR" sz="1200" b="0" i="0" smtClean="0">
                              <a:solidFill>
                                <a:schemeClr val="tx1"/>
                              </a:solidFill>
                              <a:latin typeface="Cambria Math" panose="02040503050406030204" pitchFamily="18" charset="0"/>
                            </a:rPr>
                            <m:t>o</m:t>
                          </m:r>
                          <m:r>
                            <a:rPr lang="fr-FR" sz="1200" b="0" i="0" smtClean="0">
                              <a:solidFill>
                                <a:schemeClr val="tx1"/>
                              </a:solidFill>
                              <a:latin typeface="Cambria Math" panose="02040503050406030204" pitchFamily="18" charset="0"/>
                            </a:rPr>
                            <m:t>1</m:t>
                          </m:r>
                        </m:num>
                        <m:den>
                          <m:r>
                            <a:rPr lang="fr-FR" sz="1200" b="0" i="1">
                              <a:solidFill>
                                <a:schemeClr val="tx1"/>
                              </a:solidFill>
                              <a:latin typeface="Cambria Math" panose="02040503050406030204" pitchFamily="18" charset="0"/>
                            </a:rPr>
                            <m:t>𝜕</m:t>
                          </m:r>
                          <m:r>
                            <m:rPr>
                              <m:sty m:val="p"/>
                            </m:rPr>
                            <a:rPr lang="fr-FR" sz="1200" b="0" i="0" smtClean="0">
                              <a:solidFill>
                                <a:schemeClr val="tx1"/>
                              </a:solidFill>
                              <a:latin typeface="Cambria Math" panose="02040503050406030204" pitchFamily="18" charset="0"/>
                            </a:rPr>
                            <m:t>b</m:t>
                          </m:r>
                          <m:r>
                            <a:rPr lang="fr-FR" sz="1200" b="0" i="0" smtClean="0">
                              <a:solidFill>
                                <a:schemeClr val="tx1"/>
                              </a:solidFill>
                              <a:latin typeface="Cambria Math" panose="02040503050406030204" pitchFamily="18" charset="0"/>
                            </a:rPr>
                            <m:t>2</m:t>
                          </m:r>
                        </m:den>
                      </m:f>
                      <m:r>
                        <a:rPr lang="fr-FR" sz="1200" b="0" i="0" smtClean="0">
                          <a:solidFill>
                            <a:srgbClr val="FF0000"/>
                          </a:solidFill>
                          <a:latin typeface="Cambria Math" panose="02040503050406030204" pitchFamily="18" charset="0"/>
                        </a:rPr>
                        <m:t>+</m:t>
                      </m:r>
                      <m:f>
                        <m:fPr>
                          <m:ctrlPr>
                            <a:rPr lang="fr-FR" sz="1200" i="1">
                              <a:solidFill>
                                <a:schemeClr val="tx1"/>
                              </a:solidFill>
                              <a:latin typeface="Cambria Math" panose="02040503050406030204" pitchFamily="18" charset="0"/>
                            </a:rPr>
                          </m:ctrlPr>
                        </m:fPr>
                        <m:num>
                          <m:r>
                            <a:rPr lang="fr-FR" sz="1200" b="0" i="1">
                              <a:solidFill>
                                <a:schemeClr val="tx1"/>
                              </a:solidFill>
                              <a:latin typeface="Cambria Math" panose="02040503050406030204" pitchFamily="18" charset="0"/>
                            </a:rPr>
                            <m:t>𝜕</m:t>
                          </m:r>
                          <m:r>
                            <m:rPr>
                              <m:sty m:val="p"/>
                            </m:rPr>
                            <a:rPr lang="fr-FR" sz="1200" b="0" i="1">
                              <a:solidFill>
                                <a:schemeClr val="tx1"/>
                              </a:solidFill>
                              <a:latin typeface="Cambria Math" panose="02040503050406030204" pitchFamily="18" charset="0"/>
                            </a:rPr>
                            <m:t>Loss</m:t>
                          </m:r>
                          <m:r>
                            <a:rPr lang="fr-FR" sz="1200" b="0" i="1" smtClean="0">
                              <a:solidFill>
                                <a:schemeClr val="tx1"/>
                              </a:solidFill>
                              <a:latin typeface="Cambria Math" panose="02040503050406030204" pitchFamily="18" charset="0"/>
                            </a:rPr>
                            <m:t>2</m:t>
                          </m:r>
                        </m:num>
                        <m:den>
                          <m:r>
                            <a:rPr lang="fr-FR" sz="1200" b="0" i="1">
                              <a:solidFill>
                                <a:schemeClr val="tx1"/>
                              </a:solidFill>
                              <a:latin typeface="Cambria Math" panose="02040503050406030204" pitchFamily="18" charset="0"/>
                            </a:rPr>
                            <m:t>𝜕</m:t>
                          </m:r>
                          <m:r>
                            <m:rPr>
                              <m:sty m:val="p"/>
                            </m:rPr>
                            <a:rPr lang="fr-FR" sz="1200" b="0" i="0">
                              <a:solidFill>
                                <a:schemeClr val="tx1"/>
                              </a:solidFill>
                              <a:latin typeface="Cambria Math" panose="02040503050406030204" pitchFamily="18" charset="0"/>
                            </a:rPr>
                            <m:t>net</m:t>
                          </m:r>
                          <m:r>
                            <a:rPr lang="fr-FR" sz="1200" b="0">
                              <a:solidFill>
                                <a:schemeClr val="tx1"/>
                              </a:solidFill>
                              <a:latin typeface="Cambria Math" panose="02040503050406030204" pitchFamily="18" charset="0"/>
                            </a:rPr>
                            <m:t>_</m:t>
                          </m:r>
                          <m:r>
                            <a:rPr lang="fr-FR" sz="1200" b="0" i="1" smtClean="0">
                              <a:solidFill>
                                <a:schemeClr val="tx1"/>
                              </a:solidFill>
                              <a:latin typeface="Cambria Math" panose="02040503050406030204" pitchFamily="18" charset="0"/>
                            </a:rPr>
                            <m:t>𝑜</m:t>
                          </m:r>
                          <m:r>
                            <a:rPr lang="fr-FR" sz="1200" b="0" i="1" smtClean="0">
                              <a:solidFill>
                                <a:schemeClr val="tx1"/>
                              </a:solidFill>
                              <a:latin typeface="Cambria Math" panose="02040503050406030204" pitchFamily="18" charset="0"/>
                            </a:rPr>
                            <m:t>2</m:t>
                          </m:r>
                        </m:den>
                      </m:f>
                      <m:r>
                        <a:rPr lang="fr-FR" sz="1200" b="0">
                          <a:solidFill>
                            <a:schemeClr val="tx1"/>
                          </a:solidFill>
                          <a:latin typeface="Cambria Math" panose="02040503050406030204" pitchFamily="18" charset="0"/>
                        </a:rPr>
                        <m:t> </m:t>
                      </m:r>
                      <m:r>
                        <a:rPr lang="fr-FR" sz="1200" b="0" i="1">
                          <a:solidFill>
                            <a:schemeClr val="tx1"/>
                          </a:solidFill>
                          <a:latin typeface="Cambria Math" panose="02040503050406030204" pitchFamily="18" charset="0"/>
                          <a:ea typeface="Cambria Math" panose="02040503050406030204" pitchFamily="18" charset="0"/>
                        </a:rPr>
                        <m:t>×</m:t>
                      </m:r>
                      <m:f>
                        <m:fPr>
                          <m:ctrlPr>
                            <a:rPr lang="fr-FR" sz="1200" i="1">
                              <a:solidFill>
                                <a:schemeClr val="tx1"/>
                              </a:solidFill>
                              <a:latin typeface="Cambria Math" panose="02040503050406030204" pitchFamily="18" charset="0"/>
                            </a:rPr>
                          </m:ctrlPr>
                        </m:fPr>
                        <m:num>
                          <m:r>
                            <a:rPr lang="fr-FR" sz="1200" b="0" i="1">
                              <a:solidFill>
                                <a:schemeClr val="tx1"/>
                              </a:solidFill>
                              <a:latin typeface="Cambria Math" panose="02040503050406030204" pitchFamily="18" charset="0"/>
                            </a:rPr>
                            <m:t>𝜕</m:t>
                          </m:r>
                          <m:r>
                            <m:rPr>
                              <m:sty m:val="p"/>
                            </m:rPr>
                            <a:rPr lang="fr-FR" sz="1200" b="0" i="0">
                              <a:solidFill>
                                <a:schemeClr val="tx1"/>
                              </a:solidFill>
                              <a:latin typeface="Cambria Math" panose="02040503050406030204" pitchFamily="18" charset="0"/>
                            </a:rPr>
                            <m:t>net</m:t>
                          </m:r>
                          <m:r>
                            <a:rPr lang="fr-FR" sz="1200" b="0" i="0">
                              <a:solidFill>
                                <a:schemeClr val="tx1"/>
                              </a:solidFill>
                              <a:latin typeface="Cambria Math" panose="02040503050406030204" pitchFamily="18" charset="0"/>
                            </a:rPr>
                            <m:t>_</m:t>
                          </m:r>
                          <m:r>
                            <m:rPr>
                              <m:sty m:val="p"/>
                            </m:rPr>
                            <a:rPr lang="fr-FR" sz="1200" b="0" i="0" smtClean="0">
                              <a:solidFill>
                                <a:schemeClr val="tx1"/>
                              </a:solidFill>
                              <a:latin typeface="Cambria Math" panose="02040503050406030204" pitchFamily="18" charset="0"/>
                            </a:rPr>
                            <m:t>o</m:t>
                          </m:r>
                          <m:r>
                            <a:rPr lang="fr-FR" sz="1200" b="0" i="0" smtClean="0">
                              <a:solidFill>
                                <a:schemeClr val="tx1"/>
                              </a:solidFill>
                              <a:latin typeface="Cambria Math" panose="02040503050406030204" pitchFamily="18" charset="0"/>
                            </a:rPr>
                            <m:t>2</m:t>
                          </m:r>
                        </m:num>
                        <m:den>
                          <m:r>
                            <a:rPr lang="fr-FR" sz="1200" b="0" i="1">
                              <a:solidFill>
                                <a:schemeClr val="tx1"/>
                              </a:solidFill>
                              <a:latin typeface="Cambria Math" panose="02040503050406030204" pitchFamily="18" charset="0"/>
                            </a:rPr>
                            <m:t>𝜕</m:t>
                          </m:r>
                          <m:r>
                            <m:rPr>
                              <m:sty m:val="p"/>
                            </m:rPr>
                            <a:rPr lang="fr-FR" sz="1200" b="0" i="0">
                              <a:solidFill>
                                <a:schemeClr val="tx1"/>
                              </a:solidFill>
                              <a:latin typeface="Cambria Math" panose="02040503050406030204" pitchFamily="18" charset="0"/>
                            </a:rPr>
                            <m:t>b</m:t>
                          </m:r>
                          <m:r>
                            <a:rPr lang="fr-FR" sz="1200" b="0" i="1" smtClean="0">
                              <a:solidFill>
                                <a:schemeClr val="tx1"/>
                              </a:solidFill>
                              <a:latin typeface="Cambria Math" panose="02040503050406030204" pitchFamily="18" charset="0"/>
                            </a:rPr>
                            <m:t>2</m:t>
                          </m:r>
                        </m:den>
                      </m:f>
                    </m:oMath>
                  </m:oMathPara>
                </a14:m>
                <a:endParaRPr lang="fr-FR" sz="1200" dirty="0">
                  <a:solidFill>
                    <a:schemeClr val="tx1"/>
                  </a:solidFill>
                </a:endParaRPr>
              </a:p>
            </p:txBody>
          </p:sp>
        </mc:Choice>
        <mc:Fallback xmlns="">
          <p:sp>
            <p:nvSpPr>
              <p:cNvPr id="7" name="ZoneTexte 6">
                <a:extLst>
                  <a:ext uri="{FF2B5EF4-FFF2-40B4-BE49-F238E27FC236}">
                    <a16:creationId xmlns:a16="http://schemas.microsoft.com/office/drawing/2014/main" id="{D1CDFF41-610E-FA54-5644-0E5A63671CC3}"/>
                  </a:ext>
                </a:extLst>
              </p:cNvPr>
              <p:cNvSpPr txBox="1">
                <a:spLocks noRot="1" noChangeAspect="1" noMove="1" noResize="1" noEditPoints="1" noAdjustHandles="1" noChangeArrowheads="1" noChangeShapeType="1" noTextEdit="1"/>
              </p:cNvSpPr>
              <p:nvPr/>
            </p:nvSpPr>
            <p:spPr>
              <a:xfrm>
                <a:off x="6367932" y="2408413"/>
                <a:ext cx="4307282" cy="443455"/>
              </a:xfrm>
              <a:prstGeom prst="rect">
                <a:avLst/>
              </a:prstGeom>
              <a:blipFill>
                <a:blip r:embed="rId6"/>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8" name="ZoneTexte 7">
                <a:extLst>
                  <a:ext uri="{FF2B5EF4-FFF2-40B4-BE49-F238E27FC236}">
                    <a16:creationId xmlns:a16="http://schemas.microsoft.com/office/drawing/2014/main" id="{7DA701DD-1B6D-BEDA-F74B-89D23EBD25F5}"/>
                  </a:ext>
                </a:extLst>
              </p:cNvPr>
              <p:cNvSpPr txBox="1"/>
              <p:nvPr/>
            </p:nvSpPr>
            <p:spPr>
              <a:xfrm>
                <a:off x="6002867" y="4153755"/>
                <a:ext cx="5909733" cy="384977"/>
              </a:xfrm>
              <a:prstGeom prst="rect">
                <a:avLst/>
              </a:prstGeom>
              <a:noFill/>
              <a:ln>
                <a:solidFill>
                  <a:srgbClr val="FF0000"/>
                </a:solidFill>
              </a:ln>
            </p:spPr>
            <p:txBody>
              <a:bodyPr wrap="square">
                <a:spAutoFit/>
              </a:bodyPr>
              <a:lstStyle/>
              <a:p>
                <a:pPr/>
                <a14:m>
                  <m:oMathPara xmlns:m="http://schemas.openxmlformats.org/officeDocument/2006/math">
                    <m:oMathParaPr>
                      <m:jc m:val="centerGroup"/>
                    </m:oMathParaPr>
                    <m:oMath xmlns:m="http://schemas.openxmlformats.org/officeDocument/2006/math">
                      <m:f>
                        <m:fPr>
                          <m:ctrlPr>
                            <a:rPr lang="fr-FR" sz="1000" i="1" smtClean="0">
                              <a:solidFill>
                                <a:schemeClr val="tx1"/>
                              </a:solidFill>
                              <a:latin typeface="Cambria Math" panose="02040503050406030204" pitchFamily="18" charset="0"/>
                            </a:rPr>
                          </m:ctrlPr>
                        </m:fPr>
                        <m:num>
                          <m:r>
                            <a:rPr lang="fr-FR" sz="1000">
                              <a:solidFill>
                                <a:schemeClr val="tx1"/>
                              </a:solidFill>
                              <a:latin typeface="Cambria Math" panose="02040503050406030204" pitchFamily="18" charset="0"/>
                            </a:rPr>
                            <m:t>𝜕</m:t>
                          </m:r>
                          <m:r>
                            <m:rPr>
                              <m:sty m:val="p"/>
                            </m:rPr>
                            <a:rPr lang="fr-FR" sz="1000">
                              <a:solidFill>
                                <a:schemeClr val="tx1"/>
                              </a:solidFill>
                              <a:latin typeface="Cambria Math" panose="02040503050406030204" pitchFamily="18" charset="0"/>
                            </a:rPr>
                            <m:t>Loss</m:t>
                          </m:r>
                        </m:num>
                        <m:den>
                          <m:r>
                            <a:rPr lang="fr-FR" sz="1000">
                              <a:solidFill>
                                <a:schemeClr val="tx1"/>
                              </a:solidFill>
                              <a:latin typeface="Cambria Math" panose="02040503050406030204" pitchFamily="18" charset="0"/>
                            </a:rPr>
                            <m:t>𝜕</m:t>
                          </m:r>
                          <m:r>
                            <m:rPr>
                              <m:sty m:val="p"/>
                            </m:rPr>
                            <a:rPr lang="fr-FR" sz="1000">
                              <a:solidFill>
                                <a:schemeClr val="tx1"/>
                              </a:solidFill>
                              <a:latin typeface="Cambria Math" panose="02040503050406030204" pitchFamily="18" charset="0"/>
                            </a:rPr>
                            <m:t>b</m:t>
                          </m:r>
                          <m:r>
                            <a:rPr lang="fr-FR" sz="1000">
                              <a:solidFill>
                                <a:schemeClr val="tx1"/>
                              </a:solidFill>
                              <a:latin typeface="Cambria Math" panose="02040503050406030204" pitchFamily="18" charset="0"/>
                            </a:rPr>
                            <m:t>2</m:t>
                          </m:r>
                        </m:den>
                      </m:f>
                      <m:r>
                        <a:rPr lang="fr-FR" sz="1000">
                          <a:solidFill>
                            <a:schemeClr val="tx1"/>
                          </a:solidFill>
                          <a:latin typeface="Cambria Math" panose="02040503050406030204" pitchFamily="18" charset="0"/>
                        </a:rPr>
                        <m:t>=</m:t>
                      </m:r>
                      <m:r>
                        <m:rPr>
                          <m:nor/>
                        </m:rPr>
                        <a:rPr lang="fr-FR" sz="1000">
                          <a:latin typeface="Cambria Math" panose="02040503050406030204" pitchFamily="18" charset="0"/>
                        </a:rPr>
                        <m:t>−2</m:t>
                      </m:r>
                      <m:r>
                        <m:rPr>
                          <m:nor/>
                        </m:rPr>
                        <a:rPr lang="fr-FR" sz="1000" dirty="0">
                          <a:latin typeface="Cambria Math" panose="02040503050406030204" pitchFamily="18" charset="0"/>
                          <a:ea typeface="Cambria Math" panose="02040503050406030204" pitchFamily="18" charset="0"/>
                        </a:rPr>
                        <m:t>(</m:t>
                      </m:r>
                      <m:sSub>
                        <m:sSubPr>
                          <m:ctrlPr>
                            <a:rPr lang="fr-FR" sz="1000" i="1" dirty="0">
                              <a:latin typeface="Cambria Math" panose="02040503050406030204" pitchFamily="18" charset="0"/>
                              <a:ea typeface="Cambria Math" panose="02040503050406030204" pitchFamily="18" charset="0"/>
                            </a:rPr>
                          </m:ctrlPr>
                        </m:sSubPr>
                        <m:e>
                          <m:r>
                            <m:rPr>
                              <m:sty m:val="p"/>
                            </m:rPr>
                            <a:rPr lang="fr-FR" sz="1000">
                              <a:latin typeface="Cambria Math" panose="02040503050406030204" pitchFamily="18" charset="0"/>
                              <a:ea typeface="Cambria Math" panose="02040503050406030204" pitchFamily="18" charset="0"/>
                            </a:rPr>
                            <m:t>target</m:t>
                          </m:r>
                        </m:e>
                        <m:sub>
                          <m:r>
                            <m:rPr>
                              <m:sty m:val="p"/>
                            </m:rPr>
                            <a:rPr lang="fr-FR" sz="1000">
                              <a:latin typeface="Cambria Math" panose="02040503050406030204" pitchFamily="18" charset="0"/>
                              <a:ea typeface="Cambria Math" panose="02040503050406030204" pitchFamily="18" charset="0"/>
                            </a:rPr>
                            <m:t>o</m:t>
                          </m:r>
                          <m:r>
                            <a:rPr lang="fr-FR" sz="1000">
                              <a:latin typeface="Cambria Math" panose="02040503050406030204" pitchFamily="18" charset="0"/>
                              <a:ea typeface="Cambria Math" panose="02040503050406030204" pitchFamily="18" charset="0"/>
                            </a:rPr>
                            <m:t>1</m:t>
                          </m:r>
                        </m:sub>
                      </m:sSub>
                      <m:r>
                        <a:rPr lang="fr-FR" sz="1000" i="1">
                          <a:latin typeface="Cambria Math" panose="02040503050406030204" pitchFamily="18" charset="0"/>
                          <a:ea typeface="Cambria Math" panose="02040503050406030204" pitchFamily="18" charset="0"/>
                        </a:rPr>
                        <m:t>− </m:t>
                      </m:r>
                      <m:r>
                        <m:rPr>
                          <m:sty m:val="p"/>
                        </m:rPr>
                        <a:rPr lang="fr-FR" sz="1000">
                          <a:latin typeface="Cambria Math" panose="02040503050406030204" pitchFamily="18" charset="0"/>
                          <a:ea typeface="Cambria Math" panose="02040503050406030204" pitchFamily="18" charset="0"/>
                        </a:rPr>
                        <m:t>out</m:t>
                      </m:r>
                      <m:r>
                        <a:rPr lang="fr-FR" sz="1000">
                          <a:latin typeface="Cambria Math" panose="02040503050406030204" pitchFamily="18" charset="0"/>
                          <a:ea typeface="Cambria Math" panose="02040503050406030204" pitchFamily="18" charset="0"/>
                        </a:rPr>
                        <m:t>_</m:t>
                      </m:r>
                      <m:r>
                        <m:rPr>
                          <m:sty m:val="p"/>
                        </m:rPr>
                        <a:rPr lang="fr-FR" sz="1000">
                          <a:latin typeface="Cambria Math" panose="02040503050406030204" pitchFamily="18" charset="0"/>
                          <a:ea typeface="Cambria Math" panose="02040503050406030204" pitchFamily="18" charset="0"/>
                        </a:rPr>
                        <m:t>o</m:t>
                      </m:r>
                      <m:r>
                        <a:rPr lang="fr-FR" sz="1000">
                          <a:latin typeface="Cambria Math" panose="02040503050406030204" pitchFamily="18" charset="0"/>
                          <a:ea typeface="Cambria Math" panose="02040503050406030204" pitchFamily="18" charset="0"/>
                        </a:rPr>
                        <m:t>1</m:t>
                      </m:r>
                      <m:r>
                        <m:rPr>
                          <m:nor/>
                        </m:rPr>
                        <a:rPr lang="fr-FR" sz="1000" dirty="0">
                          <a:latin typeface="Cambria Math" panose="02040503050406030204" pitchFamily="18" charset="0"/>
                          <a:ea typeface="Cambria Math" panose="02040503050406030204" pitchFamily="18" charset="0"/>
                        </a:rPr>
                        <m:t>)</m:t>
                      </m:r>
                      <m:r>
                        <a:rPr lang="fr-FR" sz="1000" b="0" i="1">
                          <a:solidFill>
                            <a:schemeClr val="tx1"/>
                          </a:solidFill>
                          <a:latin typeface="Cambria Math" panose="02040503050406030204" pitchFamily="18" charset="0"/>
                          <a:ea typeface="Cambria Math" panose="02040503050406030204" pitchFamily="18" charset="0"/>
                        </a:rPr>
                        <m:t>×</m:t>
                      </m:r>
                      <m:r>
                        <m:rPr>
                          <m:nor/>
                        </m:rPr>
                        <a:rPr lang="fr-FR" sz="1000">
                          <a:solidFill>
                            <a:schemeClr val="tx1"/>
                          </a:solidFill>
                          <a:latin typeface="Cambria Math" panose="02040503050406030204" pitchFamily="18" charset="0"/>
                          <a:ea typeface="Cambria Math" panose="02040503050406030204" pitchFamily="18" charset="0"/>
                        </a:rPr>
                        <m:t> </m:t>
                      </m:r>
                      <m:r>
                        <m:rPr>
                          <m:sty m:val="p"/>
                        </m:rPr>
                        <a:rPr lang="fr-FR" sz="1000" b="0" i="0" smtClean="0">
                          <a:solidFill>
                            <a:schemeClr val="tx1"/>
                          </a:solidFill>
                          <a:latin typeface="Cambria Math" panose="02040503050406030204" pitchFamily="18" charset="0"/>
                          <a:ea typeface="Cambria Math" panose="02040503050406030204" pitchFamily="18" charset="0"/>
                        </a:rPr>
                        <m:t>out</m:t>
                      </m:r>
                      <m:r>
                        <a:rPr lang="fr-FR" sz="1000" b="0" i="0" smtClean="0">
                          <a:solidFill>
                            <a:schemeClr val="tx1"/>
                          </a:solidFill>
                          <a:latin typeface="Cambria Math" panose="02040503050406030204" pitchFamily="18" charset="0"/>
                          <a:ea typeface="Cambria Math" panose="02040503050406030204" pitchFamily="18" charset="0"/>
                        </a:rPr>
                        <m:t>_</m:t>
                      </m:r>
                      <m:r>
                        <m:rPr>
                          <m:sty m:val="p"/>
                        </m:rPr>
                        <a:rPr lang="fr-FR" sz="1000" b="0" i="0" smtClean="0">
                          <a:solidFill>
                            <a:schemeClr val="tx1"/>
                          </a:solidFill>
                          <a:latin typeface="Cambria Math" panose="02040503050406030204" pitchFamily="18" charset="0"/>
                          <a:ea typeface="Cambria Math" panose="02040503050406030204" pitchFamily="18" charset="0"/>
                        </a:rPr>
                        <m:t>o</m:t>
                      </m:r>
                      <m:r>
                        <a:rPr lang="fr-FR" sz="1000" b="0" i="0" smtClean="0">
                          <a:solidFill>
                            <a:schemeClr val="tx1"/>
                          </a:solidFill>
                          <a:latin typeface="Cambria Math" panose="02040503050406030204" pitchFamily="18" charset="0"/>
                          <a:ea typeface="Cambria Math" panose="02040503050406030204" pitchFamily="18" charset="0"/>
                        </a:rPr>
                        <m:t>1(1−</m:t>
                      </m:r>
                      <m:r>
                        <m:rPr>
                          <m:sty m:val="p"/>
                        </m:rPr>
                        <a:rPr lang="fr-FR" sz="1000" b="0" i="0" smtClean="0">
                          <a:solidFill>
                            <a:schemeClr val="tx1"/>
                          </a:solidFill>
                          <a:latin typeface="Cambria Math" panose="02040503050406030204" pitchFamily="18" charset="0"/>
                          <a:ea typeface="Cambria Math" panose="02040503050406030204" pitchFamily="18" charset="0"/>
                        </a:rPr>
                        <m:t>out</m:t>
                      </m:r>
                      <m:r>
                        <a:rPr lang="fr-FR" sz="1000" b="0" i="0" smtClean="0">
                          <a:solidFill>
                            <a:schemeClr val="tx1"/>
                          </a:solidFill>
                          <a:latin typeface="Cambria Math" panose="02040503050406030204" pitchFamily="18" charset="0"/>
                          <a:ea typeface="Cambria Math" panose="02040503050406030204" pitchFamily="18" charset="0"/>
                        </a:rPr>
                        <m:t>_</m:t>
                      </m:r>
                      <m:r>
                        <m:rPr>
                          <m:sty m:val="p"/>
                        </m:rPr>
                        <a:rPr lang="fr-FR" sz="1000" b="0" i="0" smtClean="0">
                          <a:solidFill>
                            <a:schemeClr val="tx1"/>
                          </a:solidFill>
                          <a:latin typeface="Cambria Math" panose="02040503050406030204" pitchFamily="18" charset="0"/>
                          <a:ea typeface="Cambria Math" panose="02040503050406030204" pitchFamily="18" charset="0"/>
                        </a:rPr>
                        <m:t>o</m:t>
                      </m:r>
                      <m:r>
                        <a:rPr lang="fr-FR" sz="1000" b="0" i="0" smtClean="0">
                          <a:solidFill>
                            <a:schemeClr val="tx1"/>
                          </a:solidFill>
                          <a:latin typeface="Cambria Math" panose="02040503050406030204" pitchFamily="18" charset="0"/>
                          <a:ea typeface="Cambria Math" panose="02040503050406030204" pitchFamily="18" charset="0"/>
                        </a:rPr>
                        <m:t>1</m:t>
                      </m:r>
                      <m:r>
                        <a:rPr lang="fr-FR" sz="1000" b="0" i="1" smtClean="0">
                          <a:solidFill>
                            <a:schemeClr val="tx1"/>
                          </a:solidFill>
                          <a:latin typeface="Cambria Math" panose="02040503050406030204" pitchFamily="18" charset="0"/>
                          <a:ea typeface="Cambria Math" panose="02040503050406030204" pitchFamily="18" charset="0"/>
                        </a:rPr>
                        <m:t>)</m:t>
                      </m:r>
                      <m:r>
                        <a:rPr lang="fr-FR" sz="1000" b="0" i="0" smtClean="0">
                          <a:solidFill>
                            <a:schemeClr val="tx1"/>
                          </a:solidFill>
                          <a:latin typeface="Cambria Math" panose="02040503050406030204" pitchFamily="18" charset="0"/>
                        </a:rPr>
                        <m:t> +</m:t>
                      </m:r>
                      <m:r>
                        <m:rPr>
                          <m:nor/>
                        </m:rPr>
                        <a:rPr lang="fr-FR" sz="1000">
                          <a:latin typeface="Cambria Math" panose="02040503050406030204" pitchFamily="18" charset="0"/>
                          <a:ea typeface="Cambria Math" panose="02040503050406030204" pitchFamily="18" charset="0"/>
                        </a:rPr>
                        <m:t>−2</m:t>
                      </m:r>
                      <m:r>
                        <m:rPr>
                          <m:nor/>
                        </m:rPr>
                        <a:rPr lang="fr-FR" sz="1000" dirty="0">
                          <a:latin typeface="Cambria Math" panose="02040503050406030204" pitchFamily="18" charset="0"/>
                          <a:ea typeface="Cambria Math" panose="02040503050406030204" pitchFamily="18" charset="0"/>
                        </a:rPr>
                        <m:t>(</m:t>
                      </m:r>
                      <m:sSub>
                        <m:sSubPr>
                          <m:ctrlPr>
                            <a:rPr lang="fr-FR" sz="1000" i="1" dirty="0">
                              <a:latin typeface="Cambria Math" panose="02040503050406030204" pitchFamily="18" charset="0"/>
                              <a:ea typeface="Cambria Math" panose="02040503050406030204" pitchFamily="18" charset="0"/>
                            </a:rPr>
                          </m:ctrlPr>
                        </m:sSubPr>
                        <m:e>
                          <m:r>
                            <m:rPr>
                              <m:sty m:val="p"/>
                            </m:rPr>
                            <a:rPr lang="fr-FR" sz="1000">
                              <a:latin typeface="Cambria Math" panose="02040503050406030204" pitchFamily="18" charset="0"/>
                              <a:ea typeface="Cambria Math" panose="02040503050406030204" pitchFamily="18" charset="0"/>
                            </a:rPr>
                            <m:t>target</m:t>
                          </m:r>
                        </m:e>
                        <m:sub>
                          <m:r>
                            <m:rPr>
                              <m:sty m:val="p"/>
                            </m:rPr>
                            <a:rPr lang="fr-FR" sz="1000">
                              <a:latin typeface="Cambria Math" panose="02040503050406030204" pitchFamily="18" charset="0"/>
                              <a:ea typeface="Cambria Math" panose="02040503050406030204" pitchFamily="18" charset="0"/>
                            </a:rPr>
                            <m:t>o</m:t>
                          </m:r>
                          <m:r>
                            <m:rPr>
                              <m:nor/>
                            </m:rPr>
                            <a:rPr lang="fr-FR" sz="1000">
                              <a:latin typeface="Cambria Math" panose="02040503050406030204" pitchFamily="18" charset="0"/>
                              <a:ea typeface="Cambria Math" panose="02040503050406030204" pitchFamily="18" charset="0"/>
                            </a:rPr>
                            <m:t>2</m:t>
                          </m:r>
                        </m:sub>
                      </m:sSub>
                      <m:r>
                        <a:rPr lang="fr-FR" sz="1000" i="1">
                          <a:latin typeface="Cambria Math" panose="02040503050406030204" pitchFamily="18" charset="0"/>
                          <a:ea typeface="Cambria Math" panose="02040503050406030204" pitchFamily="18" charset="0"/>
                        </a:rPr>
                        <m:t>− </m:t>
                      </m:r>
                      <m:r>
                        <m:rPr>
                          <m:sty m:val="p"/>
                        </m:rPr>
                        <a:rPr lang="fr-FR" sz="1000">
                          <a:latin typeface="Cambria Math" panose="02040503050406030204" pitchFamily="18" charset="0"/>
                          <a:ea typeface="Cambria Math" panose="02040503050406030204" pitchFamily="18" charset="0"/>
                        </a:rPr>
                        <m:t>out</m:t>
                      </m:r>
                      <m:r>
                        <a:rPr lang="fr-FR" sz="1000">
                          <a:latin typeface="Cambria Math" panose="02040503050406030204" pitchFamily="18" charset="0"/>
                          <a:ea typeface="Cambria Math" panose="02040503050406030204" pitchFamily="18" charset="0"/>
                        </a:rPr>
                        <m:t>_</m:t>
                      </m:r>
                      <m:r>
                        <m:rPr>
                          <m:sty m:val="p"/>
                        </m:rPr>
                        <a:rPr lang="fr-FR" sz="1000">
                          <a:latin typeface="Cambria Math" panose="02040503050406030204" pitchFamily="18" charset="0"/>
                          <a:ea typeface="Cambria Math" panose="02040503050406030204" pitchFamily="18" charset="0"/>
                        </a:rPr>
                        <m:t>o</m:t>
                      </m:r>
                      <m:r>
                        <a:rPr lang="fr-FR" sz="1000">
                          <a:latin typeface="Cambria Math" panose="02040503050406030204" pitchFamily="18" charset="0"/>
                          <a:ea typeface="Cambria Math" panose="02040503050406030204" pitchFamily="18" charset="0"/>
                        </a:rPr>
                        <m:t>2</m:t>
                      </m:r>
                      <m:r>
                        <a:rPr lang="fr-FR" sz="1000" i="1">
                          <a:latin typeface="Cambria Math" panose="02040503050406030204" pitchFamily="18" charset="0"/>
                          <a:ea typeface="Cambria Math" panose="02040503050406030204" pitchFamily="18" charset="0"/>
                        </a:rPr>
                        <m:t>)</m:t>
                      </m:r>
                      <m:r>
                        <a:rPr lang="fr-FR" sz="1000" i="1">
                          <a:solidFill>
                            <a:schemeClr val="tx1"/>
                          </a:solidFill>
                          <a:latin typeface="Cambria Math" panose="02040503050406030204" pitchFamily="18" charset="0"/>
                          <a:ea typeface="Cambria Math" panose="02040503050406030204" pitchFamily="18" charset="0"/>
                        </a:rPr>
                        <m:t>×</m:t>
                      </m:r>
                      <m:r>
                        <m:rPr>
                          <m:nor/>
                        </m:rPr>
                        <a:rPr lang="fr-FR" sz="1000">
                          <a:solidFill>
                            <a:schemeClr val="tx1"/>
                          </a:solidFill>
                          <a:latin typeface="Cambria Math" panose="02040503050406030204" pitchFamily="18" charset="0"/>
                          <a:ea typeface="Cambria Math" panose="02040503050406030204" pitchFamily="18" charset="0"/>
                        </a:rPr>
                        <m:t> </m:t>
                      </m:r>
                      <m:r>
                        <m:rPr>
                          <m:sty m:val="p"/>
                        </m:rPr>
                        <a:rPr lang="fr-FR" sz="1000">
                          <a:solidFill>
                            <a:schemeClr val="tx1"/>
                          </a:solidFill>
                          <a:latin typeface="Cambria Math" panose="02040503050406030204" pitchFamily="18" charset="0"/>
                          <a:ea typeface="Cambria Math" panose="02040503050406030204" pitchFamily="18" charset="0"/>
                        </a:rPr>
                        <m:t>out</m:t>
                      </m:r>
                      <m:r>
                        <a:rPr lang="fr-FR" sz="1000">
                          <a:solidFill>
                            <a:schemeClr val="tx1"/>
                          </a:solidFill>
                          <a:latin typeface="Cambria Math" panose="02040503050406030204" pitchFamily="18" charset="0"/>
                          <a:ea typeface="Cambria Math" panose="02040503050406030204" pitchFamily="18" charset="0"/>
                        </a:rPr>
                        <m:t>_</m:t>
                      </m:r>
                      <m:r>
                        <m:rPr>
                          <m:sty m:val="p"/>
                        </m:rPr>
                        <a:rPr lang="fr-FR" sz="1000">
                          <a:solidFill>
                            <a:schemeClr val="tx1"/>
                          </a:solidFill>
                          <a:latin typeface="Cambria Math" panose="02040503050406030204" pitchFamily="18" charset="0"/>
                          <a:ea typeface="Cambria Math" panose="02040503050406030204" pitchFamily="18" charset="0"/>
                        </a:rPr>
                        <m:t>o</m:t>
                      </m:r>
                      <m:r>
                        <a:rPr lang="fr-FR" sz="1000" b="0" i="0" smtClean="0">
                          <a:solidFill>
                            <a:schemeClr val="tx1"/>
                          </a:solidFill>
                          <a:latin typeface="Cambria Math" panose="02040503050406030204" pitchFamily="18" charset="0"/>
                          <a:ea typeface="Cambria Math" panose="02040503050406030204" pitchFamily="18" charset="0"/>
                        </a:rPr>
                        <m:t>2</m:t>
                      </m:r>
                      <m:r>
                        <a:rPr lang="fr-FR" sz="1000">
                          <a:solidFill>
                            <a:schemeClr val="tx1"/>
                          </a:solidFill>
                          <a:latin typeface="Cambria Math" panose="02040503050406030204" pitchFamily="18" charset="0"/>
                          <a:ea typeface="Cambria Math" panose="02040503050406030204" pitchFamily="18" charset="0"/>
                        </a:rPr>
                        <m:t>(1−</m:t>
                      </m:r>
                      <m:r>
                        <m:rPr>
                          <m:sty m:val="p"/>
                        </m:rPr>
                        <a:rPr lang="fr-FR" sz="1000">
                          <a:solidFill>
                            <a:schemeClr val="tx1"/>
                          </a:solidFill>
                          <a:latin typeface="Cambria Math" panose="02040503050406030204" pitchFamily="18" charset="0"/>
                          <a:ea typeface="Cambria Math" panose="02040503050406030204" pitchFamily="18" charset="0"/>
                        </a:rPr>
                        <m:t>out</m:t>
                      </m:r>
                      <m:r>
                        <a:rPr lang="fr-FR" sz="1000">
                          <a:solidFill>
                            <a:schemeClr val="tx1"/>
                          </a:solidFill>
                          <a:latin typeface="Cambria Math" panose="02040503050406030204" pitchFamily="18" charset="0"/>
                          <a:ea typeface="Cambria Math" panose="02040503050406030204" pitchFamily="18" charset="0"/>
                        </a:rPr>
                        <m:t>_</m:t>
                      </m:r>
                      <m:r>
                        <m:rPr>
                          <m:sty m:val="p"/>
                        </m:rPr>
                        <a:rPr lang="fr-FR" sz="1000">
                          <a:solidFill>
                            <a:schemeClr val="tx1"/>
                          </a:solidFill>
                          <a:latin typeface="Cambria Math" panose="02040503050406030204" pitchFamily="18" charset="0"/>
                          <a:ea typeface="Cambria Math" panose="02040503050406030204" pitchFamily="18" charset="0"/>
                        </a:rPr>
                        <m:t>o</m:t>
                      </m:r>
                      <m:r>
                        <a:rPr lang="fr-FR" sz="1000" b="0" i="1" smtClean="0">
                          <a:solidFill>
                            <a:schemeClr val="tx1"/>
                          </a:solidFill>
                          <a:latin typeface="Cambria Math" panose="02040503050406030204" pitchFamily="18" charset="0"/>
                          <a:ea typeface="Cambria Math" panose="02040503050406030204" pitchFamily="18" charset="0"/>
                        </a:rPr>
                        <m:t>2</m:t>
                      </m:r>
                      <m:r>
                        <a:rPr lang="fr-FR" sz="1000" i="1">
                          <a:solidFill>
                            <a:schemeClr val="tx1"/>
                          </a:solidFill>
                          <a:latin typeface="Cambria Math" panose="02040503050406030204" pitchFamily="18" charset="0"/>
                          <a:ea typeface="Cambria Math" panose="02040503050406030204" pitchFamily="18" charset="0"/>
                        </a:rPr>
                        <m:t>)</m:t>
                      </m:r>
                    </m:oMath>
                  </m:oMathPara>
                </a14:m>
                <a:endParaRPr lang="fr-FR" sz="1000" dirty="0">
                  <a:solidFill>
                    <a:schemeClr val="tx1"/>
                  </a:solidFill>
                </a:endParaRPr>
              </a:p>
            </p:txBody>
          </p:sp>
        </mc:Choice>
        <mc:Fallback xmlns="">
          <p:sp>
            <p:nvSpPr>
              <p:cNvPr id="8" name="ZoneTexte 7">
                <a:extLst>
                  <a:ext uri="{FF2B5EF4-FFF2-40B4-BE49-F238E27FC236}">
                    <a16:creationId xmlns:a16="http://schemas.microsoft.com/office/drawing/2014/main" id="{7DA701DD-1B6D-BEDA-F74B-89D23EBD25F5}"/>
                  </a:ext>
                </a:extLst>
              </p:cNvPr>
              <p:cNvSpPr txBox="1">
                <a:spLocks noRot="1" noChangeAspect="1" noMove="1" noResize="1" noEditPoints="1" noAdjustHandles="1" noChangeArrowheads="1" noChangeShapeType="1" noTextEdit="1"/>
              </p:cNvSpPr>
              <p:nvPr/>
            </p:nvSpPr>
            <p:spPr>
              <a:xfrm>
                <a:off x="6002867" y="4153755"/>
                <a:ext cx="5909733" cy="384977"/>
              </a:xfrm>
              <a:prstGeom prst="rect">
                <a:avLst/>
              </a:prstGeom>
              <a:blipFill>
                <a:blip r:embed="rId7"/>
                <a:stretch>
                  <a:fillRect/>
                </a:stretch>
              </a:blipFill>
              <a:ln>
                <a:solidFill>
                  <a:srgbClr val="FF0000"/>
                </a:solidFill>
              </a:ln>
            </p:spPr>
            <p:txBody>
              <a:bodyPr/>
              <a:lstStyle/>
              <a:p>
                <a:r>
                  <a:rPr lang="en-GB">
                    <a:noFill/>
                  </a:rPr>
                  <a:t> </a:t>
                </a:r>
              </a:p>
            </p:txBody>
          </p:sp>
        </mc:Fallback>
      </mc:AlternateContent>
      <p:sp>
        <p:nvSpPr>
          <p:cNvPr id="9" name="Espace réservé du pied de page 8">
            <a:extLst>
              <a:ext uri="{FF2B5EF4-FFF2-40B4-BE49-F238E27FC236}">
                <a16:creationId xmlns:a16="http://schemas.microsoft.com/office/drawing/2014/main" id="{0000EDF2-B5FA-9D4A-8F33-75524C5800A2}"/>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5113751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99133-026F-7194-0AD1-948D782E292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052BFD7-6C3A-88D3-22EA-9325D0F0A83D}"/>
              </a:ext>
            </a:extLst>
          </p:cNvPr>
          <p:cNvSpPr>
            <a:spLocks noGrp="1"/>
          </p:cNvSpPr>
          <p:nvPr>
            <p:ph type="title"/>
          </p:nvPr>
        </p:nvSpPr>
        <p:spPr/>
        <p:txBody>
          <a:bodyPr/>
          <a:lstStyle/>
          <a:p>
            <a:r>
              <a:rPr lang="fr-FR" dirty="0"/>
              <a:t>Neural Network</a:t>
            </a:r>
          </a:p>
        </p:txBody>
      </p:sp>
      <p:sp>
        <p:nvSpPr>
          <p:cNvPr id="73" name="ZoneTexte 72">
            <a:extLst>
              <a:ext uri="{FF2B5EF4-FFF2-40B4-BE49-F238E27FC236}">
                <a16:creationId xmlns:a16="http://schemas.microsoft.com/office/drawing/2014/main" id="{412A5A8A-D6E1-2123-2F63-3167F74A4B45}"/>
              </a:ext>
            </a:extLst>
          </p:cNvPr>
          <p:cNvSpPr txBox="1"/>
          <p:nvPr/>
        </p:nvSpPr>
        <p:spPr>
          <a:xfrm>
            <a:off x="6872060" y="760834"/>
            <a:ext cx="3324563" cy="584775"/>
          </a:xfrm>
          <a:prstGeom prst="rect">
            <a:avLst/>
          </a:prstGeom>
          <a:noFill/>
        </p:spPr>
        <p:txBody>
          <a:bodyPr wrap="square" rtlCol="0">
            <a:spAutoFit/>
          </a:bodyPr>
          <a:lstStyle/>
          <a:p>
            <a:r>
              <a:rPr lang="en-GB" sz="3200" b="1" noProof="0" dirty="0"/>
              <a:t>Gradient</a:t>
            </a:r>
          </a:p>
        </p:txBody>
      </p:sp>
      <p:sp>
        <p:nvSpPr>
          <p:cNvPr id="72" name="ZoneTexte 71">
            <a:extLst>
              <a:ext uri="{FF2B5EF4-FFF2-40B4-BE49-F238E27FC236}">
                <a16:creationId xmlns:a16="http://schemas.microsoft.com/office/drawing/2014/main" id="{E420128B-5EEF-41DB-C542-9861D8C00324}"/>
              </a:ext>
            </a:extLst>
          </p:cNvPr>
          <p:cNvSpPr txBox="1"/>
          <p:nvPr/>
        </p:nvSpPr>
        <p:spPr>
          <a:xfrm>
            <a:off x="6528460" y="1334708"/>
            <a:ext cx="3157800" cy="307777"/>
          </a:xfrm>
          <a:prstGeom prst="rect">
            <a:avLst/>
          </a:prstGeom>
          <a:noFill/>
        </p:spPr>
        <p:txBody>
          <a:bodyPr wrap="square" rtlCol="0">
            <a:spAutoFit/>
          </a:bodyPr>
          <a:lstStyle/>
          <a:p>
            <a:r>
              <a:rPr lang="fr-FR" sz="1400" b="1" dirty="0">
                <a:solidFill>
                  <a:srgbClr val="FF0000"/>
                </a:solidFill>
              </a:rPr>
              <a:t>BACKPROPAGATION</a:t>
            </a:r>
            <a:r>
              <a:rPr lang="fr-FR" sz="1400" b="1" dirty="0"/>
              <a:t> SUMMARY</a:t>
            </a:r>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6EABDD79-B146-B3ED-95CD-2B15E16D84E3}"/>
                  </a:ext>
                </a:extLst>
              </p:cNvPr>
              <p:cNvSpPr txBox="1"/>
              <p:nvPr/>
            </p:nvSpPr>
            <p:spPr>
              <a:xfrm>
                <a:off x="6317686" y="1904456"/>
                <a:ext cx="5728990" cy="363561"/>
              </a:xfrm>
              <a:prstGeom prst="rect">
                <a:avLst/>
              </a:prstGeom>
              <a:noFill/>
              <a:ln>
                <a:solidFill>
                  <a:srgbClr val="FF0000"/>
                </a:solidFill>
              </a:ln>
            </p:spPr>
            <p:txBody>
              <a:bodyPr wrap="square" rtlCol="0">
                <a:spAutoFit/>
              </a:bodyPr>
              <a:lstStyle/>
              <a:p>
                <a14:m>
                  <m:oMath xmlns:m="http://schemas.openxmlformats.org/officeDocument/2006/math">
                    <m:f>
                      <m:fPr>
                        <m:ctrlPr>
                          <a:rPr lang="fr-FR" sz="1200" i="1">
                            <a:latin typeface="Cambria Math" panose="02040503050406030204" pitchFamily="18" charset="0"/>
                            <a:ea typeface="Cambria Math" panose="02040503050406030204" pitchFamily="18" charset="0"/>
                          </a:rPr>
                        </m:ctrlPr>
                      </m:fPr>
                      <m:num>
                        <m:r>
                          <a:rPr lang="fr-FR" sz="1200">
                            <a:latin typeface="Cambria Math" panose="02040503050406030204" pitchFamily="18" charset="0"/>
                            <a:ea typeface="Cambria Math" panose="02040503050406030204" pitchFamily="18" charset="0"/>
                          </a:rPr>
                          <m:t>𝜕</m:t>
                        </m:r>
                        <m:r>
                          <m:rPr>
                            <m:sty m:val="p"/>
                          </m:rPr>
                          <a:rPr lang="fr-FR" sz="1200">
                            <a:latin typeface="Cambria Math" panose="02040503050406030204" pitchFamily="18" charset="0"/>
                            <a:ea typeface="Cambria Math" panose="02040503050406030204" pitchFamily="18" charset="0"/>
                          </a:rPr>
                          <m:t>Loss</m:t>
                        </m:r>
                        <m:r>
                          <a:rPr lang="fr-FR" sz="1200">
                            <a:latin typeface="Cambria Math" panose="02040503050406030204" pitchFamily="18" charset="0"/>
                            <a:ea typeface="Cambria Math" panose="02040503050406030204" pitchFamily="18" charset="0"/>
                          </a:rPr>
                          <m:t>1</m:t>
                        </m:r>
                      </m:num>
                      <m:den>
                        <m:r>
                          <a:rPr lang="fr-FR" sz="1200">
                            <a:latin typeface="Cambria Math" panose="02040503050406030204" pitchFamily="18" charset="0"/>
                            <a:ea typeface="Cambria Math" panose="02040503050406030204" pitchFamily="18" charset="0"/>
                          </a:rPr>
                          <m:t>𝜕</m:t>
                        </m:r>
                        <m:r>
                          <m:rPr>
                            <m:sty m:val="p"/>
                          </m:rPr>
                          <a:rPr lang="fr-FR" sz="1200">
                            <a:latin typeface="Cambria Math" panose="02040503050406030204" pitchFamily="18" charset="0"/>
                            <a:ea typeface="Cambria Math" panose="02040503050406030204" pitchFamily="18" charset="0"/>
                          </a:rPr>
                          <m:t>w</m:t>
                        </m:r>
                        <m:r>
                          <a:rPr lang="fr-FR" sz="1200">
                            <a:latin typeface="Cambria Math" panose="02040503050406030204" pitchFamily="18" charset="0"/>
                            <a:ea typeface="Cambria Math" panose="02040503050406030204" pitchFamily="18" charset="0"/>
                          </a:rPr>
                          <m:t>1</m:t>
                        </m:r>
                      </m:den>
                    </m:f>
                    <m:r>
                      <a:rPr lang="fr-FR" sz="1200">
                        <a:latin typeface="Cambria Math" panose="02040503050406030204" pitchFamily="18" charset="0"/>
                        <a:ea typeface="Cambria Math" panose="02040503050406030204" pitchFamily="18" charset="0"/>
                      </a:rPr>
                      <m:t>=</m:t>
                    </m:r>
                    <m:r>
                      <m:rPr>
                        <m:nor/>
                      </m:rPr>
                      <a:rPr lang="fr-FR" sz="1200">
                        <a:latin typeface="Cambria Math" panose="02040503050406030204" pitchFamily="18" charset="0"/>
                      </a:rPr>
                      <m:t>−2</m:t>
                    </m:r>
                    <m:r>
                      <m:rPr>
                        <m:nor/>
                      </m:rPr>
                      <a:rPr lang="fr-FR" sz="1200" dirty="0">
                        <a:latin typeface="Cambria Math" panose="02040503050406030204" pitchFamily="18" charset="0"/>
                        <a:ea typeface="Cambria Math" panose="02040503050406030204" pitchFamily="18" charset="0"/>
                      </a:rPr>
                      <m:t>(</m:t>
                    </m:r>
                    <m:sSub>
                      <m:sSubPr>
                        <m:ctrlPr>
                          <a:rPr lang="fr-FR" sz="1200" i="1" dirty="0">
                            <a:latin typeface="Cambria Math" panose="02040503050406030204" pitchFamily="18" charset="0"/>
                            <a:ea typeface="Cambria Math" panose="02040503050406030204" pitchFamily="18" charset="0"/>
                          </a:rPr>
                        </m:ctrlPr>
                      </m:sSubPr>
                      <m:e>
                        <m:r>
                          <m:rPr>
                            <m:sty m:val="p"/>
                          </m:rPr>
                          <a:rPr lang="fr-FR" sz="1200">
                            <a:latin typeface="Cambria Math" panose="02040503050406030204" pitchFamily="18" charset="0"/>
                            <a:ea typeface="Cambria Math" panose="02040503050406030204" pitchFamily="18" charset="0"/>
                          </a:rPr>
                          <m:t>target</m:t>
                        </m:r>
                      </m:e>
                      <m:sub>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m:t>
                        </m:r>
                      </m:sub>
                    </m:sSub>
                    <m:r>
                      <a:rPr lang="fr-FR" sz="1200" i="1">
                        <a:latin typeface="Cambria Math" panose="02040503050406030204" pitchFamily="18" charset="0"/>
                        <a:ea typeface="Cambria Math" panose="02040503050406030204" pitchFamily="18" charset="0"/>
                      </a:rPr>
                      <m:t>− </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m:t>
                    </m:r>
                    <m:r>
                      <m:rPr>
                        <m:nor/>
                      </m:rPr>
                      <a:rPr lang="fr-FR" sz="1200" dirty="0">
                        <a:latin typeface="Cambria Math" panose="02040503050406030204" pitchFamily="18" charset="0"/>
                        <a:ea typeface="Cambria Math" panose="02040503050406030204" pitchFamily="18" charset="0"/>
                      </a:rPr>
                      <m:t>)</m:t>
                    </m:r>
                    <m:r>
                      <a:rPr lang="fr-FR" sz="1200" i="1">
                        <a:latin typeface="Cambria Math" panose="02040503050406030204" pitchFamily="18" charset="0"/>
                        <a:ea typeface="Cambria Math" panose="02040503050406030204" pitchFamily="18" charset="0"/>
                      </a:rPr>
                      <m:t>×</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1(1−</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m:t>
                    </m:r>
                    <m:r>
                      <a:rPr lang="fr-FR" sz="1200" i="1">
                        <a:latin typeface="Cambria Math" panose="02040503050406030204" pitchFamily="18" charset="0"/>
                        <a:ea typeface="Cambria Math" panose="02040503050406030204" pitchFamily="18" charset="0"/>
                      </a:rPr>
                      <m:t>)×</m:t>
                    </m:r>
                    <m:r>
                      <a:rPr lang="fr-FR" sz="1200" i="1">
                        <a:latin typeface="Cambria Math" panose="02040503050406030204" pitchFamily="18" charset="0"/>
                        <a:ea typeface="Cambria Math" panose="02040503050406030204" pitchFamily="18" charset="0"/>
                      </a:rPr>
                      <m:t>𝑤</m:t>
                    </m:r>
                    <m:r>
                      <a:rPr lang="fr-FR" sz="1200" i="1">
                        <a:latin typeface="Cambria Math" panose="02040503050406030204" pitchFamily="18" charset="0"/>
                        <a:ea typeface="Cambria Math" panose="02040503050406030204" pitchFamily="18" charset="0"/>
                      </a:rPr>
                      <m:t>5</m:t>
                    </m:r>
                    <m:r>
                      <a:rPr lang="fr-FR" sz="1200">
                        <a:latin typeface="Cambria Math" panose="02040503050406030204" pitchFamily="18" charset="0"/>
                        <a:ea typeface="Cambria Math" panose="02040503050406030204" pitchFamily="18" charset="0"/>
                      </a:rPr>
                      <m:t> </m:t>
                    </m:r>
                    <m:r>
                      <a:rPr lang="fr-FR" sz="1200" i="1">
                        <a:latin typeface="Cambria Math" panose="02040503050406030204" pitchFamily="18" charset="0"/>
                        <a:ea typeface="Cambria Math" panose="02040503050406030204" pitchFamily="18" charset="0"/>
                      </a:rPr>
                      <m:t>×</m:t>
                    </m:r>
                  </m:oMath>
                </a14:m>
                <a:r>
                  <a:rPr lang="fr-FR" sz="1200" dirty="0">
                    <a:latin typeface="Cambria Math" panose="02040503050406030204" pitchFamily="18" charset="0"/>
                    <a:ea typeface="Cambria Math" panose="02040503050406030204" pitchFamily="18" charset="0"/>
                  </a:rPr>
                  <a:t> </a:t>
                </a:r>
                <a14:m>
                  <m:oMath xmlns:m="http://schemas.openxmlformats.org/officeDocument/2006/math">
                    <m:sSub>
                      <m:sSubPr>
                        <m:ctrlPr>
                          <a:rPr lang="fr-FR" sz="1200" i="1">
                            <a:latin typeface="Cambria Math" panose="02040503050406030204" pitchFamily="18" charset="0"/>
                            <a:ea typeface="Cambria Math" panose="02040503050406030204" pitchFamily="18" charset="0"/>
                          </a:rPr>
                        </m:ctrlPr>
                      </m:sSubPr>
                      <m:e>
                        <m:r>
                          <a:rPr lang="fr-FR" sz="1200" i="1">
                            <a:latin typeface="Cambria Math" panose="02040503050406030204" pitchFamily="18" charset="0"/>
                            <a:ea typeface="Cambria Math" panose="02040503050406030204" pitchFamily="18" charset="0"/>
                          </a:rPr>
                          <m:t>1</m:t>
                        </m:r>
                      </m:e>
                      <m:sub>
                        <m:r>
                          <a:rPr lang="fr-FR" sz="1200" i="1">
                            <a:latin typeface="Cambria Math" panose="02040503050406030204" pitchFamily="18" charset="0"/>
                            <a:ea typeface="Cambria Math" panose="02040503050406030204" pitchFamily="18" charset="0"/>
                          </a:rPr>
                          <m:t>{</m:t>
                        </m:r>
                        <m:r>
                          <a:rPr lang="fr-FR" sz="1200" i="1">
                            <a:latin typeface="Cambria Math" panose="02040503050406030204" pitchFamily="18" charset="0"/>
                            <a:ea typeface="Cambria Math" panose="02040503050406030204" pitchFamily="18" charset="0"/>
                          </a:rPr>
                          <m:t>𝑛𝑒𝑡</m:t>
                        </m:r>
                        <m:r>
                          <a:rPr lang="fr-FR" sz="1200" i="1">
                            <a:latin typeface="Cambria Math" panose="02040503050406030204" pitchFamily="18" charset="0"/>
                            <a:ea typeface="Cambria Math" panose="02040503050406030204" pitchFamily="18" charset="0"/>
                          </a:rPr>
                          <m:t>_</m:t>
                        </m:r>
                        <m:r>
                          <a:rPr lang="fr-FR" sz="1200" i="1">
                            <a:latin typeface="Cambria Math" panose="02040503050406030204" pitchFamily="18" charset="0"/>
                            <a:ea typeface="Cambria Math" panose="02040503050406030204" pitchFamily="18" charset="0"/>
                          </a:rPr>
                          <m:t>h</m:t>
                        </m:r>
                        <m:r>
                          <a:rPr lang="fr-FR" sz="1200" i="1">
                            <a:latin typeface="Cambria Math" panose="02040503050406030204" pitchFamily="18" charset="0"/>
                            <a:ea typeface="Cambria Math" panose="02040503050406030204" pitchFamily="18" charset="0"/>
                          </a:rPr>
                          <m:t>1&gt;0}</m:t>
                        </m:r>
                      </m:sub>
                    </m:sSub>
                    <m:r>
                      <a:rPr lang="fr-FR" sz="1200" i="1">
                        <a:latin typeface="Cambria Math" panose="02040503050406030204" pitchFamily="18" charset="0"/>
                        <a:ea typeface="Cambria Math" panose="02040503050406030204" pitchFamily="18" charset="0"/>
                      </a:rPr>
                      <m:t>×</m:t>
                    </m:r>
                    <m:r>
                      <m:rPr>
                        <m:sty m:val="p"/>
                      </m:rPr>
                      <a:rPr lang="fr-FR" sz="1200">
                        <a:latin typeface="Cambria Math" panose="02040503050406030204" pitchFamily="18" charset="0"/>
                        <a:ea typeface="Cambria Math" panose="02040503050406030204" pitchFamily="18" charset="0"/>
                      </a:rPr>
                      <m:t>i</m:t>
                    </m:r>
                    <m:r>
                      <a:rPr lang="fr-FR" sz="1200">
                        <a:latin typeface="Cambria Math" panose="02040503050406030204" pitchFamily="18" charset="0"/>
                        <a:ea typeface="Cambria Math" panose="02040503050406030204" pitchFamily="18" charset="0"/>
                      </a:rPr>
                      <m:t>1</m:t>
                    </m:r>
                  </m:oMath>
                </a14:m>
                <a:endParaRPr lang="fr-FR" sz="1200" dirty="0">
                  <a:latin typeface="Cambria Math" panose="02040503050406030204" pitchFamily="18" charset="0"/>
                  <a:ea typeface="Cambria Math" panose="02040503050406030204" pitchFamily="18" charset="0"/>
                </a:endParaRPr>
              </a:p>
            </p:txBody>
          </p:sp>
        </mc:Choice>
        <mc:Fallback xmlns="">
          <p:sp>
            <p:nvSpPr>
              <p:cNvPr id="5" name="ZoneTexte 4">
                <a:extLst>
                  <a:ext uri="{FF2B5EF4-FFF2-40B4-BE49-F238E27FC236}">
                    <a16:creationId xmlns:a16="http://schemas.microsoft.com/office/drawing/2014/main" id="{6EABDD79-B146-B3ED-95CD-2B15E16D84E3}"/>
                  </a:ext>
                </a:extLst>
              </p:cNvPr>
              <p:cNvSpPr txBox="1">
                <a:spLocks noRot="1" noChangeAspect="1" noMove="1" noResize="1" noEditPoints="1" noAdjustHandles="1" noChangeArrowheads="1" noChangeShapeType="1" noTextEdit="1"/>
              </p:cNvSpPr>
              <p:nvPr/>
            </p:nvSpPr>
            <p:spPr>
              <a:xfrm>
                <a:off x="6317686" y="1904456"/>
                <a:ext cx="5728990" cy="363561"/>
              </a:xfrm>
              <a:prstGeom prst="rect">
                <a:avLst/>
              </a:prstGeom>
              <a:blipFill>
                <a:blip r:embed="rId2"/>
                <a:stretch>
                  <a:fillRect/>
                </a:stretch>
              </a:blipFill>
              <a:ln>
                <a:solidFill>
                  <a:srgbClr val="FF0000"/>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B6F8F697-E210-F224-4DA6-18D7391A781D}"/>
                  </a:ext>
                </a:extLst>
              </p:cNvPr>
              <p:cNvSpPr txBox="1"/>
              <p:nvPr/>
            </p:nvSpPr>
            <p:spPr>
              <a:xfrm>
                <a:off x="6317686" y="5358203"/>
                <a:ext cx="5728994" cy="363561"/>
              </a:xfrm>
              <a:prstGeom prst="rect">
                <a:avLst/>
              </a:prstGeom>
              <a:noFill/>
              <a:ln>
                <a:solidFill>
                  <a:srgbClr val="FF0000"/>
                </a:solidFill>
              </a:ln>
            </p:spPr>
            <p:txBody>
              <a:bodyPr wrap="square" rtlCol="0">
                <a:spAutoFit/>
              </a:bodyPr>
              <a:lstStyle/>
              <a:p>
                <a14:m>
                  <m:oMath xmlns:m="http://schemas.openxmlformats.org/officeDocument/2006/math">
                    <m:f>
                      <m:fPr>
                        <m:ctrlPr>
                          <a:rPr lang="fr-FR" sz="1200" i="1">
                            <a:latin typeface="Cambria Math" panose="02040503050406030204" pitchFamily="18" charset="0"/>
                            <a:ea typeface="Cambria Math" panose="02040503050406030204" pitchFamily="18" charset="0"/>
                          </a:rPr>
                        </m:ctrlPr>
                      </m:fPr>
                      <m:num>
                        <m:r>
                          <a:rPr lang="fr-FR" sz="1200">
                            <a:latin typeface="Cambria Math" panose="02040503050406030204" pitchFamily="18" charset="0"/>
                            <a:ea typeface="Cambria Math" panose="02040503050406030204" pitchFamily="18" charset="0"/>
                          </a:rPr>
                          <m:t>𝜕</m:t>
                        </m:r>
                        <m:r>
                          <m:rPr>
                            <m:sty m:val="p"/>
                          </m:rPr>
                          <a:rPr lang="fr-FR" sz="1200">
                            <a:latin typeface="Cambria Math" panose="02040503050406030204" pitchFamily="18" charset="0"/>
                            <a:ea typeface="Cambria Math" panose="02040503050406030204" pitchFamily="18" charset="0"/>
                          </a:rPr>
                          <m:t>Loss</m:t>
                        </m:r>
                        <m:r>
                          <a:rPr lang="fr-FR" sz="1200">
                            <a:latin typeface="Cambria Math" panose="02040503050406030204" pitchFamily="18" charset="0"/>
                            <a:ea typeface="Cambria Math" panose="02040503050406030204" pitchFamily="18" charset="0"/>
                          </a:rPr>
                          <m:t>2</m:t>
                        </m:r>
                      </m:num>
                      <m:den>
                        <m:r>
                          <a:rPr lang="fr-FR" sz="1200">
                            <a:latin typeface="Cambria Math" panose="02040503050406030204" pitchFamily="18" charset="0"/>
                            <a:ea typeface="Cambria Math" panose="02040503050406030204" pitchFamily="18" charset="0"/>
                          </a:rPr>
                          <m:t>𝜕</m:t>
                        </m:r>
                        <m:r>
                          <m:rPr>
                            <m:sty m:val="p"/>
                          </m:rPr>
                          <a:rPr lang="fr-FR" sz="1200">
                            <a:latin typeface="Cambria Math" panose="02040503050406030204" pitchFamily="18" charset="0"/>
                            <a:ea typeface="Cambria Math" panose="02040503050406030204" pitchFamily="18" charset="0"/>
                          </a:rPr>
                          <m:t>w</m:t>
                        </m:r>
                        <m:r>
                          <a:rPr lang="fr-FR" sz="1200">
                            <a:latin typeface="Cambria Math" panose="02040503050406030204" pitchFamily="18" charset="0"/>
                            <a:ea typeface="Cambria Math" panose="02040503050406030204" pitchFamily="18" charset="0"/>
                          </a:rPr>
                          <m:t>4</m:t>
                        </m:r>
                      </m:den>
                    </m:f>
                    <m:r>
                      <a:rPr lang="fr-FR" sz="1200">
                        <a:latin typeface="Cambria Math" panose="02040503050406030204" pitchFamily="18" charset="0"/>
                        <a:ea typeface="Cambria Math" panose="02040503050406030204" pitchFamily="18" charset="0"/>
                      </a:rPr>
                      <m:t>=</m:t>
                    </m:r>
                    <m:r>
                      <m:rPr>
                        <m:nor/>
                      </m:rPr>
                      <a:rPr lang="fr-FR" sz="1200">
                        <a:latin typeface="Cambria Math" panose="02040503050406030204" pitchFamily="18" charset="0"/>
                        <a:ea typeface="Cambria Math" panose="02040503050406030204" pitchFamily="18" charset="0"/>
                      </a:rPr>
                      <m:t>−2</m:t>
                    </m:r>
                    <m:r>
                      <m:rPr>
                        <m:nor/>
                      </m:rPr>
                      <a:rPr lang="fr-FR" sz="1200" dirty="0">
                        <a:latin typeface="Cambria Math" panose="02040503050406030204" pitchFamily="18" charset="0"/>
                        <a:ea typeface="Cambria Math" panose="02040503050406030204" pitchFamily="18" charset="0"/>
                      </a:rPr>
                      <m:t>(</m:t>
                    </m:r>
                    <m:sSub>
                      <m:sSubPr>
                        <m:ctrlPr>
                          <a:rPr lang="fr-FR" sz="1200" i="1" dirty="0">
                            <a:latin typeface="Cambria Math" panose="02040503050406030204" pitchFamily="18" charset="0"/>
                            <a:ea typeface="Cambria Math" panose="02040503050406030204" pitchFamily="18" charset="0"/>
                          </a:rPr>
                        </m:ctrlPr>
                      </m:sSubPr>
                      <m:e>
                        <m:r>
                          <m:rPr>
                            <m:sty m:val="p"/>
                          </m:rPr>
                          <a:rPr lang="fr-FR" sz="1200">
                            <a:latin typeface="Cambria Math" panose="02040503050406030204" pitchFamily="18" charset="0"/>
                            <a:ea typeface="Cambria Math" panose="02040503050406030204" pitchFamily="18" charset="0"/>
                          </a:rPr>
                          <m:t>target</m:t>
                        </m:r>
                      </m:e>
                      <m:sub>
                        <m:r>
                          <m:rPr>
                            <m:sty m:val="p"/>
                          </m:rPr>
                          <a:rPr lang="fr-FR" sz="1200">
                            <a:latin typeface="Cambria Math" panose="02040503050406030204" pitchFamily="18" charset="0"/>
                            <a:ea typeface="Cambria Math" panose="02040503050406030204" pitchFamily="18" charset="0"/>
                          </a:rPr>
                          <m:t>o</m:t>
                        </m:r>
                        <m:r>
                          <m:rPr>
                            <m:nor/>
                          </m:rPr>
                          <a:rPr lang="fr-FR" sz="1200">
                            <a:latin typeface="Cambria Math" panose="02040503050406030204" pitchFamily="18" charset="0"/>
                            <a:ea typeface="Cambria Math" panose="02040503050406030204" pitchFamily="18" charset="0"/>
                          </a:rPr>
                          <m:t>2</m:t>
                        </m:r>
                      </m:sub>
                    </m:sSub>
                    <m:r>
                      <a:rPr lang="fr-FR" sz="1200" i="1">
                        <a:latin typeface="Cambria Math" panose="02040503050406030204" pitchFamily="18" charset="0"/>
                        <a:ea typeface="Cambria Math" panose="02040503050406030204" pitchFamily="18" charset="0"/>
                      </a:rPr>
                      <m:t>− </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2</m:t>
                    </m:r>
                    <m:r>
                      <a:rPr lang="fr-FR" sz="1200" i="1">
                        <a:latin typeface="Cambria Math" panose="02040503050406030204" pitchFamily="18" charset="0"/>
                        <a:ea typeface="Cambria Math" panose="02040503050406030204" pitchFamily="18" charset="0"/>
                      </a:rPr>
                      <m:t>)×</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2(1−</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i="1">
                        <a:latin typeface="Cambria Math" panose="02040503050406030204" pitchFamily="18" charset="0"/>
                        <a:ea typeface="Cambria Math" panose="02040503050406030204" pitchFamily="18" charset="0"/>
                      </a:rPr>
                      <m:t>2)×</m:t>
                    </m:r>
                    <m:r>
                      <a:rPr lang="fr-FR" sz="1200" i="1">
                        <a:latin typeface="Cambria Math" panose="02040503050406030204" pitchFamily="18" charset="0"/>
                        <a:ea typeface="Cambria Math" panose="02040503050406030204" pitchFamily="18" charset="0"/>
                      </a:rPr>
                      <m:t>𝑤</m:t>
                    </m:r>
                    <m:r>
                      <a:rPr lang="fr-FR" sz="1200">
                        <a:latin typeface="Cambria Math" panose="02040503050406030204" pitchFamily="18" charset="0"/>
                        <a:ea typeface="Cambria Math" panose="02040503050406030204" pitchFamily="18" charset="0"/>
                      </a:rPr>
                      <m:t>8 </m:t>
                    </m:r>
                    <m:r>
                      <a:rPr lang="fr-FR" sz="1200" i="1">
                        <a:latin typeface="Cambria Math" panose="02040503050406030204" pitchFamily="18" charset="0"/>
                        <a:ea typeface="Cambria Math" panose="02040503050406030204" pitchFamily="18" charset="0"/>
                      </a:rPr>
                      <m:t>×</m:t>
                    </m:r>
                  </m:oMath>
                </a14:m>
                <a:r>
                  <a:rPr lang="fr-FR" sz="1200" dirty="0">
                    <a:latin typeface="Cambria Math" panose="02040503050406030204" pitchFamily="18" charset="0"/>
                    <a:ea typeface="Cambria Math" panose="02040503050406030204" pitchFamily="18" charset="0"/>
                  </a:rPr>
                  <a:t> </a:t>
                </a:r>
                <a14:m>
                  <m:oMath xmlns:m="http://schemas.openxmlformats.org/officeDocument/2006/math">
                    <m:sSub>
                      <m:sSubPr>
                        <m:ctrlPr>
                          <a:rPr lang="fr-FR" sz="1200" i="1">
                            <a:latin typeface="Cambria Math" panose="02040503050406030204" pitchFamily="18" charset="0"/>
                            <a:ea typeface="Cambria Math" panose="02040503050406030204" pitchFamily="18" charset="0"/>
                          </a:rPr>
                        </m:ctrlPr>
                      </m:sSubPr>
                      <m:e>
                        <m:r>
                          <a:rPr lang="fr-FR" sz="1200" i="1">
                            <a:latin typeface="Cambria Math" panose="02040503050406030204" pitchFamily="18" charset="0"/>
                            <a:ea typeface="Cambria Math" panose="02040503050406030204" pitchFamily="18" charset="0"/>
                          </a:rPr>
                          <m:t>1</m:t>
                        </m:r>
                      </m:e>
                      <m:sub>
                        <m:r>
                          <a:rPr lang="fr-FR" sz="1200" i="1">
                            <a:latin typeface="Cambria Math" panose="02040503050406030204" pitchFamily="18" charset="0"/>
                            <a:ea typeface="Cambria Math" panose="02040503050406030204" pitchFamily="18" charset="0"/>
                          </a:rPr>
                          <m:t>{</m:t>
                        </m:r>
                        <m:r>
                          <a:rPr lang="fr-FR" sz="1200" i="1">
                            <a:latin typeface="Cambria Math" panose="02040503050406030204" pitchFamily="18" charset="0"/>
                            <a:ea typeface="Cambria Math" panose="02040503050406030204" pitchFamily="18" charset="0"/>
                          </a:rPr>
                          <m:t>𝑛𝑒𝑡</m:t>
                        </m:r>
                        <m:r>
                          <a:rPr lang="fr-FR" sz="1200" i="1">
                            <a:latin typeface="Cambria Math" panose="02040503050406030204" pitchFamily="18" charset="0"/>
                            <a:ea typeface="Cambria Math" panose="02040503050406030204" pitchFamily="18" charset="0"/>
                          </a:rPr>
                          <m:t>_</m:t>
                        </m:r>
                        <m:r>
                          <a:rPr lang="fr-FR" sz="1200" i="1">
                            <a:latin typeface="Cambria Math" panose="02040503050406030204" pitchFamily="18" charset="0"/>
                            <a:ea typeface="Cambria Math" panose="02040503050406030204" pitchFamily="18" charset="0"/>
                          </a:rPr>
                          <m:t>h</m:t>
                        </m:r>
                        <m:r>
                          <a:rPr lang="fr-FR" sz="1200" i="1">
                            <a:latin typeface="Cambria Math" panose="02040503050406030204" pitchFamily="18" charset="0"/>
                            <a:ea typeface="Cambria Math" panose="02040503050406030204" pitchFamily="18" charset="0"/>
                          </a:rPr>
                          <m:t>2&gt;0}</m:t>
                        </m:r>
                      </m:sub>
                    </m:sSub>
                    <m:r>
                      <a:rPr lang="fr-FR" sz="1200" i="1">
                        <a:latin typeface="Cambria Math" panose="02040503050406030204" pitchFamily="18" charset="0"/>
                        <a:ea typeface="Cambria Math" panose="02040503050406030204" pitchFamily="18" charset="0"/>
                      </a:rPr>
                      <m:t>×</m:t>
                    </m:r>
                    <m:r>
                      <m:rPr>
                        <m:sty m:val="p"/>
                      </m:rPr>
                      <a:rPr lang="fr-FR" sz="1200">
                        <a:latin typeface="Cambria Math" panose="02040503050406030204" pitchFamily="18" charset="0"/>
                        <a:ea typeface="Cambria Math" panose="02040503050406030204" pitchFamily="18" charset="0"/>
                      </a:rPr>
                      <m:t>i</m:t>
                    </m:r>
                  </m:oMath>
                </a14:m>
                <a:r>
                  <a:rPr lang="fr-FR" sz="1200" dirty="0">
                    <a:latin typeface="Cambria Math" panose="02040503050406030204" pitchFamily="18" charset="0"/>
                    <a:ea typeface="Cambria Math" panose="02040503050406030204" pitchFamily="18" charset="0"/>
                  </a:rPr>
                  <a:t>2</a:t>
                </a:r>
              </a:p>
            </p:txBody>
          </p:sp>
        </mc:Choice>
        <mc:Fallback xmlns="">
          <p:sp>
            <p:nvSpPr>
              <p:cNvPr id="6" name="ZoneTexte 5">
                <a:extLst>
                  <a:ext uri="{FF2B5EF4-FFF2-40B4-BE49-F238E27FC236}">
                    <a16:creationId xmlns:a16="http://schemas.microsoft.com/office/drawing/2014/main" id="{B6F8F697-E210-F224-4DA6-18D7391A781D}"/>
                  </a:ext>
                </a:extLst>
              </p:cNvPr>
              <p:cNvSpPr txBox="1">
                <a:spLocks noRot="1" noChangeAspect="1" noMove="1" noResize="1" noEditPoints="1" noAdjustHandles="1" noChangeArrowheads="1" noChangeShapeType="1" noTextEdit="1"/>
              </p:cNvSpPr>
              <p:nvPr/>
            </p:nvSpPr>
            <p:spPr>
              <a:xfrm>
                <a:off x="6317686" y="5358203"/>
                <a:ext cx="5728994" cy="363561"/>
              </a:xfrm>
              <a:prstGeom prst="rect">
                <a:avLst/>
              </a:prstGeom>
              <a:blipFill>
                <a:blip r:embed="rId3"/>
                <a:stretch>
                  <a:fillRect/>
                </a:stretch>
              </a:blipFill>
              <a:ln>
                <a:solidFill>
                  <a:srgbClr val="FF0000"/>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31BA64B8-B84A-1B3B-D8B3-40954C1AAEAD}"/>
                  </a:ext>
                </a:extLst>
              </p:cNvPr>
              <p:cNvSpPr txBox="1"/>
              <p:nvPr/>
            </p:nvSpPr>
            <p:spPr>
              <a:xfrm>
                <a:off x="6317688" y="2315192"/>
                <a:ext cx="5728990" cy="399597"/>
              </a:xfrm>
              <a:prstGeom prst="rect">
                <a:avLst/>
              </a:prstGeom>
              <a:noFill/>
              <a:ln>
                <a:solidFill>
                  <a:srgbClr val="FF0000"/>
                </a:solidFill>
              </a:ln>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fr-FR" sz="1050" i="1">
                              <a:latin typeface="Cambria Math" panose="02040503050406030204" pitchFamily="18" charset="0"/>
                              <a:ea typeface="Cambria Math" panose="02040503050406030204" pitchFamily="18" charset="0"/>
                            </a:rPr>
                          </m:ctrlPr>
                        </m:fPr>
                        <m:num>
                          <m:r>
                            <a:rPr lang="fr-FR" sz="1050" i="1">
                              <a:latin typeface="Cambria Math" panose="02040503050406030204" pitchFamily="18" charset="0"/>
                              <a:ea typeface="Cambria Math" panose="02040503050406030204" pitchFamily="18" charset="0"/>
                            </a:rPr>
                            <m:t>𝜕</m:t>
                          </m:r>
                          <m:r>
                            <a:rPr lang="fr-FR" sz="1050" i="1">
                              <a:latin typeface="Cambria Math" panose="02040503050406030204" pitchFamily="18" charset="0"/>
                              <a:ea typeface="Cambria Math" panose="02040503050406030204" pitchFamily="18" charset="0"/>
                            </a:rPr>
                            <m:t>𝐿𝑜𝑠𝑠</m:t>
                          </m:r>
                          <m:r>
                            <a:rPr lang="fr-FR" sz="1050" i="1">
                              <a:latin typeface="Cambria Math" panose="02040503050406030204" pitchFamily="18" charset="0"/>
                              <a:ea typeface="Cambria Math" panose="02040503050406030204" pitchFamily="18" charset="0"/>
                            </a:rPr>
                            <m:t>1</m:t>
                          </m:r>
                        </m:num>
                        <m:den>
                          <m:r>
                            <a:rPr lang="fr-FR" sz="1050" i="1">
                              <a:latin typeface="Cambria Math" panose="02040503050406030204" pitchFamily="18" charset="0"/>
                              <a:ea typeface="Cambria Math" panose="02040503050406030204" pitchFamily="18" charset="0"/>
                            </a:rPr>
                            <m:t>𝜕</m:t>
                          </m:r>
                          <m:r>
                            <m:rPr>
                              <m:sty m:val="p"/>
                            </m:rPr>
                            <a:rPr lang="fr-FR" sz="1050">
                              <a:latin typeface="Cambria Math" panose="02040503050406030204" pitchFamily="18" charset="0"/>
                              <a:ea typeface="Cambria Math" panose="02040503050406030204" pitchFamily="18" charset="0"/>
                            </a:rPr>
                            <m:t>w</m:t>
                          </m:r>
                          <m:r>
                            <a:rPr lang="fr-FR" sz="1050">
                              <a:latin typeface="Cambria Math" panose="02040503050406030204" pitchFamily="18" charset="0"/>
                              <a:ea typeface="Cambria Math" panose="02040503050406030204" pitchFamily="18" charset="0"/>
                            </a:rPr>
                            <m:t>2</m:t>
                          </m:r>
                        </m:den>
                      </m:f>
                      <m:r>
                        <a:rPr lang="fr-FR" sz="1050">
                          <a:latin typeface="Cambria Math" panose="02040503050406030204" pitchFamily="18" charset="0"/>
                        </a:rPr>
                        <m:t>=</m:t>
                      </m:r>
                      <m:r>
                        <m:rPr>
                          <m:nor/>
                        </m:rPr>
                        <a:rPr lang="fr-FR" sz="1050">
                          <a:latin typeface="Cambria Math" panose="02040503050406030204" pitchFamily="18" charset="0"/>
                        </a:rPr>
                        <m:t>−2</m:t>
                      </m:r>
                      <m:r>
                        <m:rPr>
                          <m:nor/>
                        </m:rPr>
                        <a:rPr lang="fr-FR" sz="1050"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m:rPr>
                              <m:sty m:val="p"/>
                            </m:rPr>
                            <a:rPr lang="fr-FR" sz="1050">
                              <a:latin typeface="Cambria Math" panose="02040503050406030204" pitchFamily="18" charset="0"/>
                              <a:ea typeface="Cambria Math" panose="02040503050406030204" pitchFamily="18" charset="0"/>
                            </a:rPr>
                            <m:t>target</m:t>
                          </m:r>
                        </m:e>
                        <m:sub>
                          <m:r>
                            <m:rPr>
                              <m:sty m:val="p"/>
                            </m:rPr>
                            <a:rPr lang="fr-FR" sz="1050">
                              <a:latin typeface="Cambria Math" panose="02040503050406030204" pitchFamily="18" charset="0"/>
                              <a:ea typeface="Cambria Math" panose="02040503050406030204" pitchFamily="18" charset="0"/>
                            </a:rPr>
                            <m:t>o</m:t>
                          </m:r>
                          <m:r>
                            <a:rPr lang="fr-FR" sz="1050">
                              <a:latin typeface="Cambria Math" panose="02040503050406030204" pitchFamily="18" charset="0"/>
                              <a:ea typeface="Cambria Math" panose="02040503050406030204" pitchFamily="18" charset="0"/>
                            </a:rPr>
                            <m:t>1</m:t>
                          </m:r>
                        </m:sub>
                      </m:sSub>
                      <m:r>
                        <a:rPr lang="fr-FR" sz="1050" i="1">
                          <a:latin typeface="Cambria Math" panose="02040503050406030204" pitchFamily="18" charset="0"/>
                          <a:ea typeface="Cambria Math" panose="02040503050406030204" pitchFamily="18" charset="0"/>
                        </a:rPr>
                        <m:t>− </m:t>
                      </m:r>
                      <m:r>
                        <m:rPr>
                          <m:sty m:val="p"/>
                        </m:rPr>
                        <a:rPr lang="fr-FR" sz="1050">
                          <a:latin typeface="Cambria Math" panose="02040503050406030204" pitchFamily="18" charset="0"/>
                          <a:ea typeface="Cambria Math" panose="02040503050406030204" pitchFamily="18" charset="0"/>
                        </a:rPr>
                        <m:t>out</m:t>
                      </m:r>
                      <m:r>
                        <a:rPr lang="fr-FR" sz="1050">
                          <a:latin typeface="Cambria Math" panose="02040503050406030204" pitchFamily="18" charset="0"/>
                          <a:ea typeface="Cambria Math" panose="02040503050406030204" pitchFamily="18" charset="0"/>
                        </a:rPr>
                        <m:t>_</m:t>
                      </m:r>
                      <m:r>
                        <m:rPr>
                          <m:sty m:val="p"/>
                        </m:rPr>
                        <a:rPr lang="fr-FR" sz="1050">
                          <a:latin typeface="Cambria Math" panose="02040503050406030204" pitchFamily="18" charset="0"/>
                          <a:ea typeface="Cambria Math" panose="02040503050406030204" pitchFamily="18" charset="0"/>
                        </a:rPr>
                        <m:t>o</m:t>
                      </m:r>
                      <m:r>
                        <a:rPr lang="fr-FR" sz="1050">
                          <a:latin typeface="Cambria Math" panose="02040503050406030204" pitchFamily="18" charset="0"/>
                          <a:ea typeface="Cambria Math" panose="02040503050406030204" pitchFamily="18" charset="0"/>
                        </a:rPr>
                        <m:t>1</m:t>
                      </m:r>
                      <m:r>
                        <m:rPr>
                          <m:nor/>
                        </m:rPr>
                        <a:rPr lang="fr-FR" sz="1050" dirty="0">
                          <a:latin typeface="Cambria Math" panose="02040503050406030204" pitchFamily="18" charset="0"/>
                          <a:ea typeface="Cambria Math" panose="02040503050406030204" pitchFamily="18" charset="0"/>
                        </a:rPr>
                        <m:t>)</m:t>
                      </m:r>
                      <m:r>
                        <a:rPr lang="fr-FR" sz="1050" i="1">
                          <a:latin typeface="Cambria Math" panose="02040503050406030204" pitchFamily="18" charset="0"/>
                          <a:ea typeface="Cambria Math" panose="02040503050406030204" pitchFamily="18" charset="0"/>
                        </a:rPr>
                        <m:t>×</m:t>
                      </m:r>
                      <m:r>
                        <m:rPr>
                          <m:nor/>
                        </m:rPr>
                        <a:rPr lang="fr-FR" sz="1050">
                          <a:latin typeface="Cambria Math" panose="02040503050406030204" pitchFamily="18" charset="0"/>
                          <a:ea typeface="Cambria Math" panose="02040503050406030204" pitchFamily="18" charset="0"/>
                        </a:rPr>
                        <m:t> </m:t>
                      </m:r>
                      <m:r>
                        <m:rPr>
                          <m:sty m:val="p"/>
                        </m:rPr>
                        <a:rPr lang="fr-FR" sz="1050">
                          <a:latin typeface="Cambria Math" panose="02040503050406030204" pitchFamily="18" charset="0"/>
                          <a:ea typeface="Cambria Math" panose="02040503050406030204" pitchFamily="18" charset="0"/>
                        </a:rPr>
                        <m:t>out</m:t>
                      </m:r>
                      <m:r>
                        <a:rPr lang="fr-FR" sz="1050">
                          <a:latin typeface="Cambria Math" panose="02040503050406030204" pitchFamily="18" charset="0"/>
                          <a:ea typeface="Cambria Math" panose="02040503050406030204" pitchFamily="18" charset="0"/>
                        </a:rPr>
                        <m:t>_</m:t>
                      </m:r>
                      <m:r>
                        <m:rPr>
                          <m:sty m:val="p"/>
                        </m:rPr>
                        <a:rPr lang="fr-FR" sz="1050">
                          <a:latin typeface="Cambria Math" panose="02040503050406030204" pitchFamily="18" charset="0"/>
                          <a:ea typeface="Cambria Math" panose="02040503050406030204" pitchFamily="18" charset="0"/>
                        </a:rPr>
                        <m:t>o</m:t>
                      </m:r>
                      <m:r>
                        <a:rPr lang="fr-FR" sz="1050">
                          <a:latin typeface="Cambria Math" panose="02040503050406030204" pitchFamily="18" charset="0"/>
                          <a:ea typeface="Cambria Math" panose="02040503050406030204" pitchFamily="18" charset="0"/>
                        </a:rPr>
                        <m:t>1(1−</m:t>
                      </m:r>
                      <m:r>
                        <m:rPr>
                          <m:sty m:val="p"/>
                        </m:rPr>
                        <a:rPr lang="fr-FR" sz="1050">
                          <a:latin typeface="Cambria Math" panose="02040503050406030204" pitchFamily="18" charset="0"/>
                          <a:ea typeface="Cambria Math" panose="02040503050406030204" pitchFamily="18" charset="0"/>
                        </a:rPr>
                        <m:t>out</m:t>
                      </m:r>
                      <m:r>
                        <a:rPr lang="fr-FR" sz="1050">
                          <a:latin typeface="Cambria Math" panose="02040503050406030204" pitchFamily="18" charset="0"/>
                          <a:ea typeface="Cambria Math" panose="02040503050406030204" pitchFamily="18" charset="0"/>
                        </a:rPr>
                        <m:t>_</m:t>
                      </m:r>
                      <m:r>
                        <m:rPr>
                          <m:sty m:val="p"/>
                        </m:rPr>
                        <a:rPr lang="fr-FR" sz="1050">
                          <a:latin typeface="Cambria Math" panose="02040503050406030204" pitchFamily="18" charset="0"/>
                          <a:ea typeface="Cambria Math" panose="02040503050406030204" pitchFamily="18" charset="0"/>
                        </a:rPr>
                        <m:t>o</m:t>
                      </m:r>
                      <m:r>
                        <a:rPr lang="fr-FR" sz="1050">
                          <a:latin typeface="Cambria Math" panose="02040503050406030204" pitchFamily="18" charset="0"/>
                          <a:ea typeface="Cambria Math" panose="02040503050406030204" pitchFamily="18" charset="0"/>
                        </a:rPr>
                        <m:t>1</m:t>
                      </m:r>
                      <m:r>
                        <a:rPr lang="fr-FR" sz="1050" i="1">
                          <a:latin typeface="Cambria Math" panose="02040503050406030204" pitchFamily="18" charset="0"/>
                          <a:ea typeface="Cambria Math" panose="02040503050406030204" pitchFamily="18" charset="0"/>
                        </a:rPr>
                        <m:t>)×</m:t>
                      </m:r>
                      <m:r>
                        <m:rPr>
                          <m:sty m:val="p"/>
                        </m:rPr>
                        <a:rPr lang="fr-FR" sz="1050">
                          <a:latin typeface="Cambria Math" panose="02040503050406030204" pitchFamily="18" charset="0"/>
                          <a:ea typeface="Cambria Math" panose="02040503050406030204" pitchFamily="18" charset="0"/>
                        </a:rPr>
                        <m:t>w</m:t>
                      </m:r>
                      <m:r>
                        <a:rPr lang="fr-FR" sz="1050">
                          <a:latin typeface="Cambria Math" panose="02040503050406030204" pitchFamily="18" charset="0"/>
                          <a:ea typeface="Cambria Math" panose="02040503050406030204" pitchFamily="18" charset="0"/>
                        </a:rPr>
                        <m:t>5</m:t>
                      </m:r>
                      <m:r>
                        <a:rPr lang="fr-FR" sz="1050" i="1">
                          <a:latin typeface="Cambria Math" panose="02040503050406030204" pitchFamily="18" charset="0"/>
                          <a:ea typeface="Cambria Math" panose="02040503050406030204" pitchFamily="18" charset="0"/>
                        </a:rPr>
                        <m:t>×1</m:t>
                      </m:r>
                      <m:r>
                        <a:rPr lang="fr-FR" sz="1050" i="1" baseline="-25000">
                          <a:latin typeface="Cambria Math" panose="02040503050406030204" pitchFamily="18" charset="0"/>
                          <a:ea typeface="Cambria Math" panose="02040503050406030204" pitchFamily="18" charset="0"/>
                        </a:rPr>
                        <m:t>{</m:t>
                      </m:r>
                      <m:r>
                        <a:rPr lang="fr-FR" sz="1050" i="1" baseline="-25000">
                          <a:latin typeface="Cambria Math" panose="02040503050406030204" pitchFamily="18" charset="0"/>
                          <a:ea typeface="Cambria Math" panose="02040503050406030204" pitchFamily="18" charset="0"/>
                        </a:rPr>
                        <m:t>𝑛𝑒𝑡</m:t>
                      </m:r>
                      <m:r>
                        <a:rPr lang="fr-FR" sz="1050" i="1" baseline="-25000">
                          <a:latin typeface="Cambria Math" panose="02040503050406030204" pitchFamily="18" charset="0"/>
                          <a:ea typeface="Cambria Math" panose="02040503050406030204" pitchFamily="18" charset="0"/>
                        </a:rPr>
                        <m:t>_</m:t>
                      </m:r>
                      <m:r>
                        <a:rPr lang="fr-FR" sz="1050" i="1" baseline="-25000">
                          <a:latin typeface="Cambria Math" panose="02040503050406030204" pitchFamily="18" charset="0"/>
                          <a:ea typeface="Cambria Math" panose="02040503050406030204" pitchFamily="18" charset="0"/>
                        </a:rPr>
                        <m:t>h</m:t>
                      </m:r>
                      <m:r>
                        <a:rPr lang="fr-FR" sz="1050" i="1" baseline="-25000">
                          <a:latin typeface="Cambria Math" panose="02040503050406030204" pitchFamily="18" charset="0"/>
                          <a:ea typeface="Cambria Math" panose="02040503050406030204" pitchFamily="18" charset="0"/>
                        </a:rPr>
                        <m:t>1≥0})×</m:t>
                      </m:r>
                      <m:r>
                        <m:rPr>
                          <m:sty m:val="p"/>
                        </m:rPr>
                        <a:rPr lang="fr-FR" sz="1050">
                          <a:solidFill>
                            <a:schemeClr val="accent2"/>
                          </a:solidFill>
                          <a:latin typeface="Cambria Math" panose="02040503050406030204" pitchFamily="18" charset="0"/>
                          <a:ea typeface="Cambria Math" panose="02040503050406030204" pitchFamily="18" charset="0"/>
                        </a:rPr>
                        <m:t>i</m:t>
                      </m:r>
                      <m:r>
                        <a:rPr lang="fr-FR" sz="1050" baseline="-25000">
                          <a:solidFill>
                            <a:schemeClr val="accent2"/>
                          </a:solidFill>
                          <a:latin typeface="Cambria Math" panose="02040503050406030204" pitchFamily="18" charset="0"/>
                          <a:ea typeface="Cambria Math" panose="02040503050406030204" pitchFamily="18" charset="0"/>
                        </a:rPr>
                        <m:t>2</m:t>
                      </m:r>
                    </m:oMath>
                  </m:oMathPara>
                </a14:m>
                <a:endParaRPr lang="fr-FR" sz="1050" baseline="-25000" dirty="0">
                  <a:latin typeface="Cambria Math" panose="02040503050406030204" pitchFamily="18" charset="0"/>
                  <a:ea typeface="Cambria Math" panose="02040503050406030204" pitchFamily="18" charset="0"/>
                </a:endParaRPr>
              </a:p>
            </p:txBody>
          </p:sp>
        </mc:Choice>
        <mc:Fallback xmlns="">
          <p:sp>
            <p:nvSpPr>
              <p:cNvPr id="7" name="ZoneTexte 6">
                <a:extLst>
                  <a:ext uri="{FF2B5EF4-FFF2-40B4-BE49-F238E27FC236}">
                    <a16:creationId xmlns:a16="http://schemas.microsoft.com/office/drawing/2014/main" id="{31BA64B8-B84A-1B3B-D8B3-40954C1AAEAD}"/>
                  </a:ext>
                </a:extLst>
              </p:cNvPr>
              <p:cNvSpPr txBox="1">
                <a:spLocks noRot="1" noChangeAspect="1" noMove="1" noResize="1" noEditPoints="1" noAdjustHandles="1" noChangeArrowheads="1" noChangeShapeType="1" noTextEdit="1"/>
              </p:cNvSpPr>
              <p:nvPr/>
            </p:nvSpPr>
            <p:spPr>
              <a:xfrm>
                <a:off x="6317688" y="2315192"/>
                <a:ext cx="5728990" cy="399597"/>
              </a:xfrm>
              <a:prstGeom prst="rect">
                <a:avLst/>
              </a:prstGeom>
              <a:blipFill>
                <a:blip r:embed="rId4"/>
                <a:stretch>
                  <a:fillRect/>
                </a:stretch>
              </a:blipFill>
              <a:ln>
                <a:solidFill>
                  <a:srgbClr val="FF0000"/>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ZoneTexte 7">
                <a:extLst>
                  <a:ext uri="{FF2B5EF4-FFF2-40B4-BE49-F238E27FC236}">
                    <a16:creationId xmlns:a16="http://schemas.microsoft.com/office/drawing/2014/main" id="{A9A35410-A253-F220-F907-E125AB77C6C6}"/>
                  </a:ext>
                </a:extLst>
              </p:cNvPr>
              <p:cNvSpPr txBox="1"/>
              <p:nvPr/>
            </p:nvSpPr>
            <p:spPr>
              <a:xfrm>
                <a:off x="6317687" y="4962494"/>
                <a:ext cx="5728994" cy="363882"/>
              </a:xfrm>
              <a:prstGeom prst="rect">
                <a:avLst/>
              </a:prstGeom>
              <a:noFill/>
              <a:ln>
                <a:solidFill>
                  <a:srgbClr val="FF0000"/>
                </a:solidFill>
              </a:ln>
            </p:spPr>
            <p:txBody>
              <a:bodyPr wrap="square" rtlCol="0">
                <a:spAutoFit/>
              </a:bodyPr>
              <a:lstStyle/>
              <a:p>
                <a14:m>
                  <m:oMath xmlns:m="http://schemas.openxmlformats.org/officeDocument/2006/math">
                    <m:f>
                      <m:fPr>
                        <m:ctrlPr>
                          <a:rPr lang="fr-FR" sz="1200" i="1">
                            <a:latin typeface="Cambria Math" panose="02040503050406030204" pitchFamily="18" charset="0"/>
                            <a:ea typeface="Cambria Math" panose="02040503050406030204" pitchFamily="18" charset="0"/>
                          </a:rPr>
                        </m:ctrlPr>
                      </m:fPr>
                      <m:num>
                        <m:r>
                          <a:rPr lang="fr-FR" sz="1200" i="1">
                            <a:latin typeface="Cambria Math" panose="02040503050406030204" pitchFamily="18" charset="0"/>
                            <a:ea typeface="Cambria Math" panose="02040503050406030204" pitchFamily="18" charset="0"/>
                          </a:rPr>
                          <m:t>𝜕</m:t>
                        </m:r>
                        <m:r>
                          <a:rPr lang="fr-FR" sz="1200" i="1">
                            <a:latin typeface="Cambria Math" panose="02040503050406030204" pitchFamily="18" charset="0"/>
                            <a:ea typeface="Cambria Math" panose="02040503050406030204" pitchFamily="18" charset="0"/>
                          </a:rPr>
                          <m:t>𝐿𝑜𝑠𝑠</m:t>
                        </m:r>
                        <m:r>
                          <a:rPr lang="fr-FR" sz="1200" i="1">
                            <a:latin typeface="Cambria Math" panose="02040503050406030204" pitchFamily="18" charset="0"/>
                            <a:ea typeface="Cambria Math" panose="02040503050406030204" pitchFamily="18" charset="0"/>
                          </a:rPr>
                          <m:t>2</m:t>
                        </m:r>
                      </m:num>
                      <m:den>
                        <m:r>
                          <a:rPr lang="fr-FR" sz="1200" i="1">
                            <a:latin typeface="Cambria Math" panose="02040503050406030204" pitchFamily="18" charset="0"/>
                            <a:ea typeface="Cambria Math" panose="02040503050406030204" pitchFamily="18" charset="0"/>
                          </a:rPr>
                          <m:t>𝜕</m:t>
                        </m:r>
                        <m:r>
                          <m:rPr>
                            <m:sty m:val="p"/>
                          </m:rPr>
                          <a:rPr lang="fr-FR" sz="1200">
                            <a:latin typeface="Cambria Math" panose="02040503050406030204" pitchFamily="18" charset="0"/>
                            <a:ea typeface="Cambria Math" panose="02040503050406030204" pitchFamily="18" charset="0"/>
                          </a:rPr>
                          <m:t>w</m:t>
                        </m:r>
                        <m:r>
                          <a:rPr lang="fr-FR" sz="1200" i="1">
                            <a:latin typeface="Cambria Math" panose="02040503050406030204" pitchFamily="18" charset="0"/>
                            <a:ea typeface="Cambria Math" panose="02040503050406030204" pitchFamily="18" charset="0"/>
                          </a:rPr>
                          <m:t>3</m:t>
                        </m:r>
                      </m:den>
                    </m:f>
                    <m:r>
                      <a:rPr lang="fr-FR" sz="1200">
                        <a:latin typeface="Cambria Math" panose="02040503050406030204" pitchFamily="18" charset="0"/>
                      </a:rPr>
                      <m:t>=</m:t>
                    </m:r>
                    <m:r>
                      <m:rPr>
                        <m:nor/>
                      </m:rPr>
                      <a:rPr lang="fr-FR" sz="1200">
                        <a:latin typeface="Cambria Math" panose="02040503050406030204" pitchFamily="18" charset="0"/>
                        <a:ea typeface="Cambria Math" panose="02040503050406030204" pitchFamily="18" charset="0"/>
                      </a:rPr>
                      <m:t>−2</m:t>
                    </m:r>
                    <m:r>
                      <m:rPr>
                        <m:nor/>
                      </m:rPr>
                      <a:rPr lang="fr-FR" sz="1200" dirty="0">
                        <a:latin typeface="Cambria Math" panose="02040503050406030204" pitchFamily="18" charset="0"/>
                        <a:ea typeface="Cambria Math" panose="02040503050406030204" pitchFamily="18" charset="0"/>
                      </a:rPr>
                      <m:t>(</m:t>
                    </m:r>
                    <m:sSub>
                      <m:sSubPr>
                        <m:ctrlPr>
                          <a:rPr lang="fr-FR" sz="1200" i="1" dirty="0">
                            <a:latin typeface="Cambria Math" panose="02040503050406030204" pitchFamily="18" charset="0"/>
                            <a:ea typeface="Cambria Math" panose="02040503050406030204" pitchFamily="18" charset="0"/>
                          </a:rPr>
                        </m:ctrlPr>
                      </m:sSubPr>
                      <m:e>
                        <m:r>
                          <m:rPr>
                            <m:sty m:val="p"/>
                          </m:rPr>
                          <a:rPr lang="fr-FR" sz="1200">
                            <a:latin typeface="Cambria Math" panose="02040503050406030204" pitchFamily="18" charset="0"/>
                            <a:ea typeface="Cambria Math" panose="02040503050406030204" pitchFamily="18" charset="0"/>
                          </a:rPr>
                          <m:t>target</m:t>
                        </m:r>
                      </m:e>
                      <m:sub>
                        <m:r>
                          <m:rPr>
                            <m:sty m:val="p"/>
                          </m:rPr>
                          <a:rPr lang="fr-FR" sz="1200">
                            <a:latin typeface="Cambria Math" panose="02040503050406030204" pitchFamily="18" charset="0"/>
                            <a:ea typeface="Cambria Math" panose="02040503050406030204" pitchFamily="18" charset="0"/>
                          </a:rPr>
                          <m:t>o</m:t>
                        </m:r>
                        <m:r>
                          <m:rPr>
                            <m:nor/>
                          </m:rPr>
                          <a:rPr lang="fr-FR" sz="1200">
                            <a:latin typeface="Cambria Math" panose="02040503050406030204" pitchFamily="18" charset="0"/>
                            <a:ea typeface="Cambria Math" panose="02040503050406030204" pitchFamily="18" charset="0"/>
                          </a:rPr>
                          <m:t>2</m:t>
                        </m:r>
                      </m:sub>
                    </m:sSub>
                    <m:r>
                      <a:rPr lang="fr-FR" sz="1200" i="1">
                        <a:latin typeface="Cambria Math" panose="02040503050406030204" pitchFamily="18" charset="0"/>
                        <a:ea typeface="Cambria Math" panose="02040503050406030204" pitchFamily="18" charset="0"/>
                      </a:rPr>
                      <m:t>− </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2</m:t>
                    </m:r>
                    <m:r>
                      <a:rPr lang="fr-FR" sz="1200" i="1">
                        <a:latin typeface="Cambria Math" panose="02040503050406030204" pitchFamily="18" charset="0"/>
                        <a:ea typeface="Cambria Math" panose="02040503050406030204" pitchFamily="18" charset="0"/>
                      </a:rPr>
                      <m:t>)×</m:t>
                    </m:r>
                    <m:r>
                      <m:rPr>
                        <m:nor/>
                      </m:rPr>
                      <a:rPr lang="fr-FR" sz="1200">
                        <a:latin typeface="Cambria Math" panose="02040503050406030204" pitchFamily="18" charset="0"/>
                        <a:ea typeface="Cambria Math" panose="02040503050406030204" pitchFamily="18" charset="0"/>
                      </a:rPr>
                      <m:t> </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2(1−</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i="1">
                        <a:latin typeface="Cambria Math" panose="02040503050406030204" pitchFamily="18" charset="0"/>
                        <a:ea typeface="Cambria Math" panose="02040503050406030204" pitchFamily="18" charset="0"/>
                      </a:rPr>
                      <m:t>2)×</m:t>
                    </m:r>
                    <m:r>
                      <m:rPr>
                        <m:sty m:val="p"/>
                      </m:rPr>
                      <a:rPr lang="fr-FR" sz="1200">
                        <a:latin typeface="Cambria Math" panose="02040503050406030204" pitchFamily="18" charset="0"/>
                        <a:ea typeface="Cambria Math" panose="02040503050406030204" pitchFamily="18" charset="0"/>
                      </a:rPr>
                      <m:t>w</m:t>
                    </m:r>
                    <m:r>
                      <a:rPr lang="fr-FR" sz="1200" i="1">
                        <a:latin typeface="Cambria Math" panose="02040503050406030204" pitchFamily="18" charset="0"/>
                        <a:ea typeface="Cambria Math" panose="02040503050406030204" pitchFamily="18" charset="0"/>
                      </a:rPr>
                      <m:t>8×1</m:t>
                    </m:r>
                    <m:r>
                      <a:rPr lang="fr-FR" sz="1200" i="1" baseline="-25000">
                        <a:latin typeface="Cambria Math" panose="02040503050406030204" pitchFamily="18" charset="0"/>
                        <a:ea typeface="Cambria Math" panose="02040503050406030204" pitchFamily="18" charset="0"/>
                      </a:rPr>
                      <m:t>{</m:t>
                    </m:r>
                    <m:r>
                      <a:rPr lang="fr-FR" sz="1200" i="1" baseline="-25000">
                        <a:latin typeface="Cambria Math" panose="02040503050406030204" pitchFamily="18" charset="0"/>
                        <a:ea typeface="Cambria Math" panose="02040503050406030204" pitchFamily="18" charset="0"/>
                      </a:rPr>
                      <m:t>𝑛𝑒𝑡</m:t>
                    </m:r>
                    <m:r>
                      <a:rPr lang="fr-FR" sz="1200" i="1" baseline="-25000">
                        <a:latin typeface="Cambria Math" panose="02040503050406030204" pitchFamily="18" charset="0"/>
                        <a:ea typeface="Cambria Math" panose="02040503050406030204" pitchFamily="18" charset="0"/>
                      </a:rPr>
                      <m:t>_</m:t>
                    </m:r>
                    <m:r>
                      <a:rPr lang="fr-FR" sz="1200" i="1" baseline="-25000">
                        <a:latin typeface="Cambria Math" panose="02040503050406030204" pitchFamily="18" charset="0"/>
                        <a:ea typeface="Cambria Math" panose="02040503050406030204" pitchFamily="18" charset="0"/>
                      </a:rPr>
                      <m:t>h</m:t>
                    </m:r>
                    <m:r>
                      <a:rPr lang="fr-FR" sz="1200" i="1" baseline="-25000">
                        <a:latin typeface="Cambria Math" panose="02040503050406030204" pitchFamily="18" charset="0"/>
                        <a:ea typeface="Cambria Math" panose="02040503050406030204" pitchFamily="18" charset="0"/>
                      </a:rPr>
                      <m:t>2≥0})×</m:t>
                    </m:r>
                    <m:r>
                      <m:rPr>
                        <m:sty m:val="p"/>
                      </m:rPr>
                      <a:rPr lang="fr-FR" sz="1200">
                        <a:latin typeface="Cambria Math" panose="02040503050406030204" pitchFamily="18" charset="0"/>
                        <a:ea typeface="Cambria Math" panose="02040503050406030204" pitchFamily="18" charset="0"/>
                      </a:rPr>
                      <m:t>i</m:t>
                    </m:r>
                  </m:oMath>
                </a14:m>
                <a:r>
                  <a:rPr lang="fr-FR" sz="1200" baseline="-25000" dirty="0">
                    <a:latin typeface="Cambria Math" panose="02040503050406030204" pitchFamily="18" charset="0"/>
                    <a:ea typeface="Cambria Math" panose="02040503050406030204" pitchFamily="18" charset="0"/>
                  </a:rPr>
                  <a:t>1</a:t>
                </a:r>
              </a:p>
            </p:txBody>
          </p:sp>
        </mc:Choice>
        <mc:Fallback xmlns="">
          <p:sp>
            <p:nvSpPr>
              <p:cNvPr id="8" name="ZoneTexte 7">
                <a:extLst>
                  <a:ext uri="{FF2B5EF4-FFF2-40B4-BE49-F238E27FC236}">
                    <a16:creationId xmlns:a16="http://schemas.microsoft.com/office/drawing/2014/main" id="{A9A35410-A253-F220-F907-E125AB77C6C6}"/>
                  </a:ext>
                </a:extLst>
              </p:cNvPr>
              <p:cNvSpPr txBox="1">
                <a:spLocks noRot="1" noChangeAspect="1" noMove="1" noResize="1" noEditPoints="1" noAdjustHandles="1" noChangeArrowheads="1" noChangeShapeType="1" noTextEdit="1"/>
              </p:cNvSpPr>
              <p:nvPr/>
            </p:nvSpPr>
            <p:spPr>
              <a:xfrm>
                <a:off x="6317687" y="4962494"/>
                <a:ext cx="5728994" cy="363882"/>
              </a:xfrm>
              <a:prstGeom prst="rect">
                <a:avLst/>
              </a:prstGeom>
              <a:blipFill>
                <a:blip r:embed="rId5"/>
                <a:stretch>
                  <a:fillRect/>
                </a:stretch>
              </a:blipFill>
              <a:ln>
                <a:solidFill>
                  <a:srgbClr val="FF0000"/>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ZoneTexte 8">
                <a:extLst>
                  <a:ext uri="{FF2B5EF4-FFF2-40B4-BE49-F238E27FC236}">
                    <a16:creationId xmlns:a16="http://schemas.microsoft.com/office/drawing/2014/main" id="{CDA63FC3-181B-8E48-8609-9D084901F271}"/>
                  </a:ext>
                </a:extLst>
              </p:cNvPr>
              <p:cNvSpPr txBox="1"/>
              <p:nvPr/>
            </p:nvSpPr>
            <p:spPr>
              <a:xfrm>
                <a:off x="6317687" y="2778223"/>
                <a:ext cx="5728991" cy="363882"/>
              </a:xfrm>
              <a:prstGeom prst="rect">
                <a:avLst/>
              </a:prstGeom>
              <a:noFill/>
              <a:ln>
                <a:solidFill>
                  <a:srgbClr val="FF0000"/>
                </a:solidFill>
              </a:ln>
            </p:spPr>
            <p:txBody>
              <a:bodyPr wrap="square" rtlCol="0">
                <a:spAutoFit/>
              </a:bodyPr>
              <a:lstStyle/>
              <a:p>
                <a14:m>
                  <m:oMath xmlns:m="http://schemas.openxmlformats.org/officeDocument/2006/math">
                    <m:f>
                      <m:fPr>
                        <m:ctrlPr>
                          <a:rPr lang="fr-FR" sz="1200" i="1">
                            <a:latin typeface="Cambria Math" panose="02040503050406030204" pitchFamily="18" charset="0"/>
                          </a:rPr>
                        </m:ctrlPr>
                      </m:fPr>
                      <m:num>
                        <m:r>
                          <a:rPr lang="fr-FR" sz="1200">
                            <a:latin typeface="Cambria Math" panose="02040503050406030204" pitchFamily="18" charset="0"/>
                          </a:rPr>
                          <m:t>𝜕</m:t>
                        </m:r>
                        <m:r>
                          <m:rPr>
                            <m:sty m:val="p"/>
                          </m:rPr>
                          <a:rPr lang="fr-FR" sz="1200">
                            <a:latin typeface="Cambria Math" panose="02040503050406030204" pitchFamily="18" charset="0"/>
                          </a:rPr>
                          <m:t>Loss</m:t>
                        </m:r>
                        <m:r>
                          <a:rPr lang="fr-FR" sz="1200">
                            <a:latin typeface="Cambria Math" panose="02040503050406030204" pitchFamily="18" charset="0"/>
                          </a:rPr>
                          <m:t>1</m:t>
                        </m:r>
                      </m:num>
                      <m:den>
                        <m:r>
                          <a:rPr lang="fr-FR" sz="1200">
                            <a:latin typeface="Cambria Math" panose="02040503050406030204" pitchFamily="18" charset="0"/>
                          </a:rPr>
                          <m:t>𝜕</m:t>
                        </m:r>
                        <m:r>
                          <m:rPr>
                            <m:sty m:val="p"/>
                          </m:rPr>
                          <a:rPr lang="fr-FR" sz="1200">
                            <a:latin typeface="Cambria Math" panose="02040503050406030204" pitchFamily="18" charset="0"/>
                          </a:rPr>
                          <m:t>w</m:t>
                        </m:r>
                        <m:r>
                          <a:rPr lang="fr-FR" sz="1200">
                            <a:latin typeface="Cambria Math" panose="02040503050406030204" pitchFamily="18" charset="0"/>
                          </a:rPr>
                          <m:t>3</m:t>
                        </m:r>
                      </m:den>
                    </m:f>
                    <m:r>
                      <a:rPr lang="fr-FR" sz="1200">
                        <a:latin typeface="Cambria Math" panose="02040503050406030204" pitchFamily="18" charset="0"/>
                      </a:rPr>
                      <m:t>=</m:t>
                    </m:r>
                    <m:r>
                      <m:rPr>
                        <m:nor/>
                      </m:rPr>
                      <a:rPr lang="fr-FR" sz="1200">
                        <a:latin typeface="Cambria Math" panose="02040503050406030204" pitchFamily="18" charset="0"/>
                      </a:rPr>
                      <m:t>−2</m:t>
                    </m:r>
                    <m:r>
                      <m:rPr>
                        <m:nor/>
                      </m:rPr>
                      <a:rPr lang="fr-FR" sz="1200" dirty="0">
                        <a:latin typeface="Cambria Math" panose="02040503050406030204" pitchFamily="18" charset="0"/>
                        <a:ea typeface="Cambria Math" panose="02040503050406030204" pitchFamily="18" charset="0"/>
                      </a:rPr>
                      <m:t>(</m:t>
                    </m:r>
                    <m:sSub>
                      <m:sSubPr>
                        <m:ctrlPr>
                          <a:rPr lang="fr-FR" sz="1200" i="1" dirty="0">
                            <a:latin typeface="Cambria Math" panose="02040503050406030204" pitchFamily="18" charset="0"/>
                            <a:ea typeface="Cambria Math" panose="02040503050406030204" pitchFamily="18" charset="0"/>
                          </a:rPr>
                        </m:ctrlPr>
                      </m:sSubPr>
                      <m:e>
                        <m:r>
                          <m:rPr>
                            <m:sty m:val="p"/>
                          </m:rPr>
                          <a:rPr lang="fr-FR" sz="1200">
                            <a:latin typeface="Cambria Math" panose="02040503050406030204" pitchFamily="18" charset="0"/>
                            <a:ea typeface="Cambria Math" panose="02040503050406030204" pitchFamily="18" charset="0"/>
                          </a:rPr>
                          <m:t>target</m:t>
                        </m:r>
                      </m:e>
                      <m:sub>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m:t>
                        </m:r>
                      </m:sub>
                    </m:sSub>
                    <m:r>
                      <a:rPr lang="fr-FR" sz="1200" i="1">
                        <a:latin typeface="Cambria Math" panose="02040503050406030204" pitchFamily="18" charset="0"/>
                        <a:ea typeface="Cambria Math" panose="02040503050406030204" pitchFamily="18" charset="0"/>
                      </a:rPr>
                      <m:t>− </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m:t>
                    </m:r>
                    <m:r>
                      <m:rPr>
                        <m:nor/>
                      </m:rPr>
                      <a:rPr lang="fr-FR" sz="1200" dirty="0">
                        <a:latin typeface="Cambria Math" panose="02040503050406030204" pitchFamily="18" charset="0"/>
                        <a:ea typeface="Cambria Math" panose="02040503050406030204" pitchFamily="18" charset="0"/>
                      </a:rPr>
                      <m:t>)</m:t>
                    </m:r>
                    <m:r>
                      <a:rPr lang="fr-FR" sz="1200" i="1">
                        <a:latin typeface="Cambria Math" panose="02040503050406030204" pitchFamily="18" charset="0"/>
                        <a:ea typeface="Cambria Math" panose="02040503050406030204" pitchFamily="18" charset="0"/>
                      </a:rPr>
                      <m:t>×</m:t>
                    </m:r>
                    <m:r>
                      <m:rPr>
                        <m:nor/>
                      </m:rPr>
                      <a:rPr lang="fr-FR" sz="1200">
                        <a:latin typeface="Cambria Math" panose="02040503050406030204" pitchFamily="18" charset="0"/>
                        <a:ea typeface="Cambria Math" panose="02040503050406030204" pitchFamily="18" charset="0"/>
                      </a:rPr>
                      <m:t> </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1(1−</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1</m:t>
                    </m:r>
                    <m:r>
                      <a:rPr lang="fr-FR" sz="1200" i="1">
                        <a:latin typeface="Cambria Math" panose="02040503050406030204" pitchFamily="18" charset="0"/>
                        <a:ea typeface="Cambria Math" panose="02040503050406030204" pitchFamily="18" charset="0"/>
                      </a:rPr>
                      <m:t>)×</m:t>
                    </m:r>
                    <m:r>
                      <m:rPr>
                        <m:sty m:val="p"/>
                      </m:rPr>
                      <a:rPr lang="fr-FR" sz="1200">
                        <a:latin typeface="Cambria Math" panose="02040503050406030204" pitchFamily="18" charset="0"/>
                      </a:rPr>
                      <m:t>w</m:t>
                    </m:r>
                    <m:r>
                      <a:rPr lang="fr-FR" sz="1200">
                        <a:latin typeface="Cambria Math" panose="02040503050406030204" pitchFamily="18" charset="0"/>
                      </a:rPr>
                      <m:t>6</m:t>
                    </m:r>
                    <m:r>
                      <a:rPr lang="fr-FR" sz="1200" i="1">
                        <a:latin typeface="Cambria Math" panose="02040503050406030204" pitchFamily="18" charset="0"/>
                        <a:ea typeface="Cambria Math" panose="02040503050406030204" pitchFamily="18" charset="0"/>
                      </a:rPr>
                      <m:t>×</m:t>
                    </m:r>
                    <m:r>
                      <a:rPr lang="fr-FR" sz="1200" i="1">
                        <a:latin typeface="Cambria Math" panose="02040503050406030204" pitchFamily="18" charset="0"/>
                      </a:rPr>
                      <m:t>1</m:t>
                    </m:r>
                    <m:r>
                      <a:rPr lang="fr-FR" sz="1200" i="1" baseline="-25000">
                        <a:latin typeface="Cambria Math" panose="02040503050406030204" pitchFamily="18" charset="0"/>
                      </a:rPr>
                      <m:t>{</m:t>
                    </m:r>
                    <m:r>
                      <m:rPr>
                        <m:sty m:val="p"/>
                      </m:rPr>
                      <a:rPr lang="fr-FR" sz="1200" baseline="-25000">
                        <a:latin typeface="Cambria Math" panose="02040503050406030204" pitchFamily="18" charset="0"/>
                      </a:rPr>
                      <m:t>net</m:t>
                    </m:r>
                    <m:r>
                      <a:rPr lang="fr-FR" sz="1200" baseline="-25000">
                        <a:latin typeface="Cambria Math" panose="02040503050406030204" pitchFamily="18" charset="0"/>
                      </a:rPr>
                      <m:t>_</m:t>
                    </m:r>
                    <m:r>
                      <m:rPr>
                        <m:sty m:val="p"/>
                      </m:rPr>
                      <a:rPr lang="fr-FR" sz="1200" baseline="-25000">
                        <a:latin typeface="Cambria Math" panose="02040503050406030204" pitchFamily="18" charset="0"/>
                      </a:rPr>
                      <m:t>h</m:t>
                    </m:r>
                    <m:r>
                      <a:rPr lang="fr-FR" sz="1200" baseline="-25000">
                        <a:latin typeface="Cambria Math" panose="02040503050406030204" pitchFamily="18" charset="0"/>
                      </a:rPr>
                      <m:t>2</m:t>
                    </m:r>
                  </m:oMath>
                </a14:m>
                <a:r>
                  <a:rPr lang="fr-FR" sz="1200" baseline="-25000" dirty="0">
                    <a:ea typeface="Cambria Math" panose="02040503050406030204" pitchFamily="18" charset="0"/>
                  </a:rPr>
                  <a:t> </a:t>
                </a:r>
                <a14:m>
                  <m:oMath xmlns:m="http://schemas.openxmlformats.org/officeDocument/2006/math">
                    <m:r>
                      <a:rPr lang="fr-FR" sz="1200" i="1" baseline="-25000">
                        <a:latin typeface="Cambria Math" panose="02040503050406030204" pitchFamily="18" charset="0"/>
                        <a:ea typeface="Cambria Math" panose="02040503050406030204" pitchFamily="18" charset="0"/>
                      </a:rPr>
                      <m:t>&gt;0</m:t>
                    </m:r>
                    <m:r>
                      <a:rPr lang="fr-FR" sz="1200" i="1" baseline="-25000">
                        <a:latin typeface="Cambria Math" panose="02040503050406030204" pitchFamily="18" charset="0"/>
                      </a:rPr>
                      <m:t>}</m:t>
                    </m:r>
                  </m:oMath>
                </a14:m>
                <a:r>
                  <a:rPr lang="fr-FR" sz="1200" dirty="0">
                    <a:ea typeface="Cambria Math" panose="02040503050406030204" pitchFamily="18" charset="0"/>
                  </a:rPr>
                  <a:t> </a:t>
                </a:r>
                <a14:m>
                  <m:oMath xmlns:m="http://schemas.openxmlformats.org/officeDocument/2006/math">
                    <m:r>
                      <a:rPr lang="fr-FR" sz="1200" i="1">
                        <a:latin typeface="Cambria Math" panose="02040503050406030204" pitchFamily="18" charset="0"/>
                        <a:ea typeface="Cambria Math" panose="02040503050406030204" pitchFamily="18" charset="0"/>
                      </a:rPr>
                      <m:t>× </m:t>
                    </m:r>
                    <m:r>
                      <m:rPr>
                        <m:sty m:val="p"/>
                      </m:rPr>
                      <a:rPr lang="fr-FR" sz="1200">
                        <a:solidFill>
                          <a:schemeClr val="accent2"/>
                        </a:solidFill>
                        <a:latin typeface="Cambria Math" panose="02040503050406030204" pitchFamily="18" charset="0"/>
                        <a:ea typeface="Cambria Math" panose="02040503050406030204" pitchFamily="18" charset="0"/>
                      </a:rPr>
                      <m:t>i</m:t>
                    </m:r>
                    <m:r>
                      <a:rPr lang="fr-FR" sz="1200" baseline="-25000">
                        <a:solidFill>
                          <a:schemeClr val="accent2"/>
                        </a:solidFill>
                        <a:latin typeface="Cambria Math" panose="02040503050406030204" pitchFamily="18" charset="0"/>
                        <a:ea typeface="Cambria Math" panose="02040503050406030204" pitchFamily="18" charset="0"/>
                      </a:rPr>
                      <m:t>1</m:t>
                    </m:r>
                  </m:oMath>
                </a14:m>
                <a:endParaRPr lang="fr-FR" sz="1200" baseline="-25000" dirty="0"/>
              </a:p>
            </p:txBody>
          </p:sp>
        </mc:Choice>
        <mc:Fallback xmlns="">
          <p:sp>
            <p:nvSpPr>
              <p:cNvPr id="9" name="ZoneTexte 8">
                <a:extLst>
                  <a:ext uri="{FF2B5EF4-FFF2-40B4-BE49-F238E27FC236}">
                    <a16:creationId xmlns:a16="http://schemas.microsoft.com/office/drawing/2014/main" id="{CDA63FC3-181B-8E48-8609-9D084901F271}"/>
                  </a:ext>
                </a:extLst>
              </p:cNvPr>
              <p:cNvSpPr txBox="1">
                <a:spLocks noRot="1" noChangeAspect="1" noMove="1" noResize="1" noEditPoints="1" noAdjustHandles="1" noChangeArrowheads="1" noChangeShapeType="1" noTextEdit="1"/>
              </p:cNvSpPr>
              <p:nvPr/>
            </p:nvSpPr>
            <p:spPr>
              <a:xfrm>
                <a:off x="6317687" y="2778223"/>
                <a:ext cx="5728991" cy="363882"/>
              </a:xfrm>
              <a:prstGeom prst="rect">
                <a:avLst/>
              </a:prstGeom>
              <a:blipFill>
                <a:blip r:embed="rId6"/>
                <a:stretch>
                  <a:fillRect/>
                </a:stretch>
              </a:blipFill>
              <a:ln>
                <a:solidFill>
                  <a:srgbClr val="FF0000"/>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E0253C51-D0B3-6689-7542-B00DFA88D435}"/>
                  </a:ext>
                </a:extLst>
              </p:cNvPr>
              <p:cNvSpPr txBox="1"/>
              <p:nvPr/>
            </p:nvSpPr>
            <p:spPr>
              <a:xfrm>
                <a:off x="6317687" y="4535178"/>
                <a:ext cx="5728994" cy="363882"/>
              </a:xfrm>
              <a:prstGeom prst="rect">
                <a:avLst/>
              </a:prstGeom>
              <a:noFill/>
              <a:ln>
                <a:solidFill>
                  <a:srgbClr val="FF0000"/>
                </a:solidFill>
              </a:ln>
            </p:spPr>
            <p:txBody>
              <a:bodyPr wrap="square" rtlCol="0">
                <a:spAutoFit/>
              </a:bodyPr>
              <a:lstStyle/>
              <a:p>
                <a14:m>
                  <m:oMath xmlns:m="http://schemas.openxmlformats.org/officeDocument/2006/math">
                    <m:f>
                      <m:fPr>
                        <m:ctrlPr>
                          <a:rPr lang="fr-FR" sz="1200" i="1">
                            <a:latin typeface="Cambria Math" panose="02040503050406030204" pitchFamily="18" charset="0"/>
                          </a:rPr>
                        </m:ctrlPr>
                      </m:fPr>
                      <m:num>
                        <m:r>
                          <a:rPr lang="fr-FR" sz="1200">
                            <a:latin typeface="Cambria Math" panose="02040503050406030204" pitchFamily="18" charset="0"/>
                          </a:rPr>
                          <m:t>𝜕</m:t>
                        </m:r>
                        <m:r>
                          <m:rPr>
                            <m:sty m:val="p"/>
                          </m:rPr>
                          <a:rPr lang="fr-FR" sz="1200">
                            <a:latin typeface="Cambria Math" panose="02040503050406030204" pitchFamily="18" charset="0"/>
                          </a:rPr>
                          <m:t>Loss</m:t>
                        </m:r>
                        <m:r>
                          <a:rPr lang="fr-FR" sz="1200">
                            <a:latin typeface="Cambria Math" panose="02040503050406030204" pitchFamily="18" charset="0"/>
                          </a:rPr>
                          <m:t>2</m:t>
                        </m:r>
                      </m:num>
                      <m:den>
                        <m:r>
                          <a:rPr lang="fr-FR" sz="1200">
                            <a:latin typeface="Cambria Math" panose="02040503050406030204" pitchFamily="18" charset="0"/>
                          </a:rPr>
                          <m:t>𝜕</m:t>
                        </m:r>
                        <m:r>
                          <m:rPr>
                            <m:sty m:val="p"/>
                          </m:rPr>
                          <a:rPr lang="fr-FR" sz="1200">
                            <a:latin typeface="Cambria Math" panose="02040503050406030204" pitchFamily="18" charset="0"/>
                          </a:rPr>
                          <m:t>w</m:t>
                        </m:r>
                        <m:r>
                          <a:rPr lang="fr-FR" sz="1200">
                            <a:latin typeface="Cambria Math" panose="02040503050406030204" pitchFamily="18" charset="0"/>
                          </a:rPr>
                          <m:t>2</m:t>
                        </m:r>
                      </m:den>
                    </m:f>
                    <m:r>
                      <a:rPr lang="fr-FR" sz="1200">
                        <a:latin typeface="Cambria Math" panose="02040503050406030204" pitchFamily="18" charset="0"/>
                      </a:rPr>
                      <m:t>=</m:t>
                    </m:r>
                    <m:r>
                      <m:rPr>
                        <m:nor/>
                      </m:rPr>
                      <a:rPr lang="fr-FR" sz="1200">
                        <a:latin typeface="Cambria Math" panose="02040503050406030204" pitchFamily="18" charset="0"/>
                        <a:ea typeface="Cambria Math" panose="02040503050406030204" pitchFamily="18" charset="0"/>
                      </a:rPr>
                      <m:t>−2</m:t>
                    </m:r>
                    <m:r>
                      <m:rPr>
                        <m:nor/>
                      </m:rPr>
                      <a:rPr lang="fr-FR" sz="1200" dirty="0">
                        <a:latin typeface="Cambria Math" panose="02040503050406030204" pitchFamily="18" charset="0"/>
                        <a:ea typeface="Cambria Math" panose="02040503050406030204" pitchFamily="18" charset="0"/>
                      </a:rPr>
                      <m:t>(</m:t>
                    </m:r>
                    <m:sSub>
                      <m:sSubPr>
                        <m:ctrlPr>
                          <a:rPr lang="fr-FR" sz="1200" i="1" dirty="0">
                            <a:latin typeface="Cambria Math" panose="02040503050406030204" pitchFamily="18" charset="0"/>
                            <a:ea typeface="Cambria Math" panose="02040503050406030204" pitchFamily="18" charset="0"/>
                          </a:rPr>
                        </m:ctrlPr>
                      </m:sSubPr>
                      <m:e>
                        <m:r>
                          <m:rPr>
                            <m:sty m:val="p"/>
                          </m:rPr>
                          <a:rPr lang="fr-FR" sz="1200">
                            <a:latin typeface="Cambria Math" panose="02040503050406030204" pitchFamily="18" charset="0"/>
                            <a:ea typeface="Cambria Math" panose="02040503050406030204" pitchFamily="18" charset="0"/>
                          </a:rPr>
                          <m:t>target</m:t>
                        </m:r>
                      </m:e>
                      <m:sub>
                        <m:r>
                          <m:rPr>
                            <m:sty m:val="p"/>
                          </m:rPr>
                          <a:rPr lang="fr-FR" sz="1200">
                            <a:latin typeface="Cambria Math" panose="02040503050406030204" pitchFamily="18" charset="0"/>
                            <a:ea typeface="Cambria Math" panose="02040503050406030204" pitchFamily="18" charset="0"/>
                          </a:rPr>
                          <m:t>o</m:t>
                        </m:r>
                        <m:r>
                          <m:rPr>
                            <m:nor/>
                          </m:rPr>
                          <a:rPr lang="fr-FR" sz="1200">
                            <a:latin typeface="Cambria Math" panose="02040503050406030204" pitchFamily="18" charset="0"/>
                            <a:ea typeface="Cambria Math" panose="02040503050406030204" pitchFamily="18" charset="0"/>
                          </a:rPr>
                          <m:t>2</m:t>
                        </m:r>
                      </m:sub>
                    </m:sSub>
                    <m:r>
                      <a:rPr lang="fr-FR" sz="1200" i="1">
                        <a:latin typeface="Cambria Math" panose="02040503050406030204" pitchFamily="18" charset="0"/>
                        <a:ea typeface="Cambria Math" panose="02040503050406030204" pitchFamily="18" charset="0"/>
                      </a:rPr>
                      <m:t>− </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2</m:t>
                    </m:r>
                    <m:r>
                      <a:rPr lang="fr-FR" sz="1200" i="1">
                        <a:latin typeface="Cambria Math" panose="02040503050406030204" pitchFamily="18" charset="0"/>
                        <a:ea typeface="Cambria Math" panose="02040503050406030204" pitchFamily="18" charset="0"/>
                      </a:rPr>
                      <m:t>)×</m:t>
                    </m:r>
                    <m:r>
                      <m:rPr>
                        <m:nor/>
                      </m:rPr>
                      <a:rPr lang="fr-FR" sz="1200">
                        <a:latin typeface="Cambria Math" panose="02040503050406030204" pitchFamily="18" charset="0"/>
                        <a:ea typeface="Cambria Math" panose="02040503050406030204" pitchFamily="18" charset="0"/>
                      </a:rPr>
                      <m:t> </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2(1−</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i="1">
                        <a:latin typeface="Cambria Math" panose="02040503050406030204" pitchFamily="18" charset="0"/>
                        <a:ea typeface="Cambria Math" panose="02040503050406030204" pitchFamily="18" charset="0"/>
                      </a:rPr>
                      <m:t>2)×</m:t>
                    </m:r>
                    <m:r>
                      <m:rPr>
                        <m:sty m:val="p"/>
                      </m:rPr>
                      <a:rPr lang="fr-FR" sz="1200">
                        <a:latin typeface="Cambria Math" panose="02040503050406030204" pitchFamily="18" charset="0"/>
                      </a:rPr>
                      <m:t>w</m:t>
                    </m:r>
                    <m:r>
                      <a:rPr lang="fr-FR" sz="1200" i="1">
                        <a:latin typeface="Cambria Math" panose="02040503050406030204" pitchFamily="18" charset="0"/>
                      </a:rPr>
                      <m:t>7</m:t>
                    </m:r>
                    <m:r>
                      <a:rPr lang="fr-FR" sz="1200" i="1">
                        <a:latin typeface="Cambria Math" panose="02040503050406030204" pitchFamily="18" charset="0"/>
                        <a:ea typeface="Cambria Math" panose="02040503050406030204" pitchFamily="18" charset="0"/>
                      </a:rPr>
                      <m:t>×</m:t>
                    </m:r>
                    <m:r>
                      <a:rPr lang="fr-FR" sz="1200" i="1">
                        <a:latin typeface="Cambria Math" panose="02040503050406030204" pitchFamily="18" charset="0"/>
                      </a:rPr>
                      <m:t>1</m:t>
                    </m:r>
                    <m:r>
                      <a:rPr lang="fr-FR" sz="1200" i="1" baseline="-25000">
                        <a:latin typeface="Cambria Math" panose="02040503050406030204" pitchFamily="18" charset="0"/>
                      </a:rPr>
                      <m:t>{</m:t>
                    </m:r>
                    <m:r>
                      <m:rPr>
                        <m:sty m:val="p"/>
                      </m:rPr>
                      <a:rPr lang="fr-FR" sz="1200" baseline="-25000">
                        <a:latin typeface="Cambria Math" panose="02040503050406030204" pitchFamily="18" charset="0"/>
                      </a:rPr>
                      <m:t>net</m:t>
                    </m:r>
                    <m:r>
                      <a:rPr lang="fr-FR" sz="1200" baseline="-25000">
                        <a:latin typeface="Cambria Math" panose="02040503050406030204" pitchFamily="18" charset="0"/>
                      </a:rPr>
                      <m:t>_</m:t>
                    </m:r>
                    <m:r>
                      <m:rPr>
                        <m:sty m:val="p"/>
                      </m:rPr>
                      <a:rPr lang="fr-FR" sz="1200" baseline="-25000">
                        <a:latin typeface="Cambria Math" panose="02040503050406030204" pitchFamily="18" charset="0"/>
                      </a:rPr>
                      <m:t>h</m:t>
                    </m:r>
                  </m:oMath>
                </a14:m>
                <a:r>
                  <a:rPr lang="fr-FR" sz="1200" baseline="-25000" dirty="0">
                    <a:ea typeface="Cambria Math" panose="02040503050406030204" pitchFamily="18" charset="0"/>
                  </a:rPr>
                  <a:t>1 </a:t>
                </a:r>
                <a14:m>
                  <m:oMath xmlns:m="http://schemas.openxmlformats.org/officeDocument/2006/math">
                    <m:r>
                      <a:rPr lang="fr-FR" sz="1200" i="1" baseline="-25000">
                        <a:latin typeface="Cambria Math" panose="02040503050406030204" pitchFamily="18" charset="0"/>
                        <a:ea typeface="Cambria Math" panose="02040503050406030204" pitchFamily="18" charset="0"/>
                      </a:rPr>
                      <m:t>&gt;0</m:t>
                    </m:r>
                    <m:r>
                      <a:rPr lang="fr-FR" sz="1200" i="1" baseline="-25000">
                        <a:latin typeface="Cambria Math" panose="02040503050406030204" pitchFamily="18" charset="0"/>
                      </a:rPr>
                      <m:t>}</m:t>
                    </m:r>
                  </m:oMath>
                </a14:m>
                <a:r>
                  <a:rPr lang="fr-FR" sz="1200" dirty="0">
                    <a:ea typeface="Cambria Math" panose="02040503050406030204" pitchFamily="18" charset="0"/>
                  </a:rPr>
                  <a:t> </a:t>
                </a:r>
                <a14:m>
                  <m:oMath xmlns:m="http://schemas.openxmlformats.org/officeDocument/2006/math">
                    <m:r>
                      <a:rPr lang="fr-FR" sz="1200" i="1">
                        <a:latin typeface="Cambria Math" panose="02040503050406030204" pitchFamily="18" charset="0"/>
                        <a:ea typeface="Cambria Math" panose="02040503050406030204" pitchFamily="18" charset="0"/>
                      </a:rPr>
                      <m:t>× </m:t>
                    </m:r>
                    <m:r>
                      <m:rPr>
                        <m:sty m:val="p"/>
                      </m:rPr>
                      <a:rPr lang="fr-FR" sz="1200">
                        <a:latin typeface="Cambria Math" panose="02040503050406030204" pitchFamily="18" charset="0"/>
                        <a:ea typeface="Cambria Math" panose="02040503050406030204" pitchFamily="18" charset="0"/>
                      </a:rPr>
                      <m:t>i</m:t>
                    </m:r>
                    <m:r>
                      <a:rPr lang="fr-FR" sz="1200">
                        <a:latin typeface="Cambria Math" panose="02040503050406030204" pitchFamily="18" charset="0"/>
                        <a:ea typeface="Cambria Math" panose="02040503050406030204" pitchFamily="18" charset="0"/>
                      </a:rPr>
                      <m:t>2</m:t>
                    </m:r>
                  </m:oMath>
                </a14:m>
                <a:endParaRPr lang="fr-FR" sz="1200" baseline="-25000" dirty="0"/>
              </a:p>
            </p:txBody>
          </p:sp>
        </mc:Choice>
        <mc:Fallback xmlns="">
          <p:sp>
            <p:nvSpPr>
              <p:cNvPr id="10" name="ZoneTexte 9">
                <a:extLst>
                  <a:ext uri="{FF2B5EF4-FFF2-40B4-BE49-F238E27FC236}">
                    <a16:creationId xmlns:a16="http://schemas.microsoft.com/office/drawing/2014/main" id="{E0253C51-D0B3-6689-7542-B00DFA88D435}"/>
                  </a:ext>
                </a:extLst>
              </p:cNvPr>
              <p:cNvSpPr txBox="1">
                <a:spLocks noRot="1" noChangeAspect="1" noMove="1" noResize="1" noEditPoints="1" noAdjustHandles="1" noChangeArrowheads="1" noChangeShapeType="1" noTextEdit="1"/>
              </p:cNvSpPr>
              <p:nvPr/>
            </p:nvSpPr>
            <p:spPr>
              <a:xfrm>
                <a:off x="6317687" y="4535178"/>
                <a:ext cx="5728994" cy="363882"/>
              </a:xfrm>
              <a:prstGeom prst="rect">
                <a:avLst/>
              </a:prstGeom>
              <a:blipFill>
                <a:blip r:embed="rId7"/>
                <a:stretch>
                  <a:fillRect/>
                </a:stretch>
              </a:blipFill>
              <a:ln>
                <a:solidFill>
                  <a:srgbClr val="FF0000"/>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D9E9822E-FFFF-B1EF-A628-377E6F6B4DBD}"/>
                  </a:ext>
                </a:extLst>
              </p:cNvPr>
              <p:cNvSpPr txBox="1"/>
              <p:nvPr/>
            </p:nvSpPr>
            <p:spPr>
              <a:xfrm>
                <a:off x="6317686" y="3207886"/>
                <a:ext cx="5728992" cy="399597"/>
              </a:xfrm>
              <a:prstGeom prst="rect">
                <a:avLst/>
              </a:prstGeom>
              <a:noFill/>
              <a:ln>
                <a:solidFill>
                  <a:srgbClr val="FF0000"/>
                </a:solidFill>
              </a:ln>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fr-FR" sz="1050" i="1" smtClean="0">
                              <a:solidFill>
                                <a:schemeClr val="tx1"/>
                              </a:solidFill>
                              <a:latin typeface="Cambria Math" panose="02040503050406030204" pitchFamily="18" charset="0"/>
                            </a:rPr>
                          </m:ctrlPr>
                        </m:fPr>
                        <m:num>
                          <m:r>
                            <a:rPr lang="fr-FR" sz="1050">
                              <a:solidFill>
                                <a:schemeClr val="tx1"/>
                              </a:solidFill>
                              <a:latin typeface="Cambria Math" panose="02040503050406030204" pitchFamily="18" charset="0"/>
                            </a:rPr>
                            <m:t>𝜕</m:t>
                          </m:r>
                          <m:r>
                            <m:rPr>
                              <m:sty m:val="p"/>
                            </m:rPr>
                            <a:rPr lang="fr-FR" sz="1050">
                              <a:solidFill>
                                <a:schemeClr val="tx1"/>
                              </a:solidFill>
                              <a:latin typeface="Cambria Math" panose="02040503050406030204" pitchFamily="18" charset="0"/>
                            </a:rPr>
                            <m:t>Loss</m:t>
                          </m:r>
                          <m:r>
                            <a:rPr lang="fr-FR" sz="1050">
                              <a:solidFill>
                                <a:schemeClr val="tx1"/>
                              </a:solidFill>
                              <a:latin typeface="Cambria Math" panose="02040503050406030204" pitchFamily="18" charset="0"/>
                            </a:rPr>
                            <m:t>1</m:t>
                          </m:r>
                        </m:num>
                        <m:den>
                          <m:r>
                            <a:rPr lang="fr-FR" sz="1050">
                              <a:solidFill>
                                <a:schemeClr val="tx1"/>
                              </a:solidFill>
                              <a:latin typeface="Cambria Math" panose="02040503050406030204" pitchFamily="18" charset="0"/>
                            </a:rPr>
                            <m:t>𝜕</m:t>
                          </m:r>
                          <m:r>
                            <m:rPr>
                              <m:sty m:val="p"/>
                            </m:rPr>
                            <a:rPr lang="fr-FR" sz="1050">
                              <a:solidFill>
                                <a:schemeClr val="tx1"/>
                              </a:solidFill>
                              <a:latin typeface="Cambria Math" panose="02040503050406030204" pitchFamily="18" charset="0"/>
                            </a:rPr>
                            <m:t>w</m:t>
                          </m:r>
                          <m:r>
                            <a:rPr lang="fr-FR" sz="1050">
                              <a:solidFill>
                                <a:schemeClr val="tx1"/>
                              </a:solidFill>
                              <a:latin typeface="Cambria Math" panose="02040503050406030204" pitchFamily="18" charset="0"/>
                            </a:rPr>
                            <m:t>4</m:t>
                          </m:r>
                        </m:den>
                      </m:f>
                      <m:r>
                        <a:rPr lang="fr-FR" sz="1050">
                          <a:solidFill>
                            <a:schemeClr val="tx1"/>
                          </a:solidFill>
                          <a:latin typeface="Cambria Math" panose="02040503050406030204" pitchFamily="18" charset="0"/>
                        </a:rPr>
                        <m:t>=</m:t>
                      </m:r>
                      <m:r>
                        <m:rPr>
                          <m:nor/>
                        </m:rPr>
                        <a:rPr lang="fr-FR" sz="1050">
                          <a:solidFill>
                            <a:schemeClr val="tx1"/>
                          </a:solidFill>
                          <a:latin typeface="Cambria Math" panose="02040503050406030204" pitchFamily="18" charset="0"/>
                        </a:rPr>
                        <m:t>−2</m:t>
                      </m:r>
                      <m:r>
                        <m:rPr>
                          <m:nor/>
                        </m:rPr>
                        <a:rPr lang="fr-FR" sz="1050" dirty="0">
                          <a:solidFill>
                            <a:schemeClr val="tx1"/>
                          </a:solidFill>
                          <a:latin typeface="Cambria Math" panose="02040503050406030204" pitchFamily="18" charset="0"/>
                          <a:ea typeface="Cambria Math" panose="02040503050406030204" pitchFamily="18" charset="0"/>
                        </a:rPr>
                        <m:t>(</m:t>
                      </m:r>
                      <m:sSub>
                        <m:sSubPr>
                          <m:ctrlPr>
                            <a:rPr lang="fr-FR" sz="1050" i="1" dirty="0">
                              <a:solidFill>
                                <a:schemeClr val="tx1"/>
                              </a:solidFill>
                              <a:latin typeface="Cambria Math" panose="02040503050406030204" pitchFamily="18" charset="0"/>
                              <a:ea typeface="Cambria Math" panose="02040503050406030204" pitchFamily="18" charset="0"/>
                            </a:rPr>
                          </m:ctrlPr>
                        </m:sSubPr>
                        <m:e>
                          <m:r>
                            <m:rPr>
                              <m:sty m:val="p"/>
                            </m:rPr>
                            <a:rPr lang="fr-FR" sz="1050">
                              <a:solidFill>
                                <a:schemeClr val="tx1"/>
                              </a:solidFill>
                              <a:latin typeface="Cambria Math" panose="02040503050406030204" pitchFamily="18" charset="0"/>
                              <a:ea typeface="Cambria Math" panose="02040503050406030204" pitchFamily="18" charset="0"/>
                            </a:rPr>
                            <m:t>target</m:t>
                          </m:r>
                        </m:e>
                        <m:sub>
                          <m:r>
                            <m:rPr>
                              <m:sty m:val="p"/>
                            </m:rPr>
                            <a:rPr lang="fr-FR" sz="1050">
                              <a:solidFill>
                                <a:schemeClr val="tx1"/>
                              </a:solidFill>
                              <a:latin typeface="Cambria Math" panose="02040503050406030204" pitchFamily="18" charset="0"/>
                              <a:ea typeface="Cambria Math" panose="02040503050406030204" pitchFamily="18" charset="0"/>
                            </a:rPr>
                            <m:t>o</m:t>
                          </m:r>
                          <m:r>
                            <a:rPr lang="fr-FR" sz="1050">
                              <a:solidFill>
                                <a:schemeClr val="tx1"/>
                              </a:solidFill>
                              <a:latin typeface="Cambria Math" panose="02040503050406030204" pitchFamily="18" charset="0"/>
                              <a:ea typeface="Cambria Math" panose="02040503050406030204" pitchFamily="18" charset="0"/>
                            </a:rPr>
                            <m:t>1</m:t>
                          </m:r>
                        </m:sub>
                      </m:sSub>
                      <m:r>
                        <a:rPr lang="fr-FR" sz="1050" i="1">
                          <a:solidFill>
                            <a:schemeClr val="tx1"/>
                          </a:solidFill>
                          <a:latin typeface="Cambria Math" panose="02040503050406030204" pitchFamily="18" charset="0"/>
                          <a:ea typeface="Cambria Math" panose="02040503050406030204" pitchFamily="18" charset="0"/>
                        </a:rPr>
                        <m:t>− </m:t>
                      </m:r>
                      <m:r>
                        <m:rPr>
                          <m:sty m:val="p"/>
                        </m:rPr>
                        <a:rPr lang="fr-FR" sz="1050">
                          <a:solidFill>
                            <a:schemeClr val="tx1"/>
                          </a:solidFill>
                          <a:latin typeface="Cambria Math" panose="02040503050406030204" pitchFamily="18" charset="0"/>
                          <a:ea typeface="Cambria Math" panose="02040503050406030204" pitchFamily="18" charset="0"/>
                        </a:rPr>
                        <m:t>out</m:t>
                      </m:r>
                      <m:r>
                        <a:rPr lang="fr-FR" sz="1050">
                          <a:solidFill>
                            <a:schemeClr val="tx1"/>
                          </a:solidFill>
                          <a:latin typeface="Cambria Math" panose="02040503050406030204" pitchFamily="18" charset="0"/>
                          <a:ea typeface="Cambria Math" panose="02040503050406030204" pitchFamily="18" charset="0"/>
                        </a:rPr>
                        <m:t>_</m:t>
                      </m:r>
                      <m:r>
                        <m:rPr>
                          <m:sty m:val="p"/>
                        </m:rPr>
                        <a:rPr lang="fr-FR" sz="1050">
                          <a:solidFill>
                            <a:schemeClr val="tx1"/>
                          </a:solidFill>
                          <a:latin typeface="Cambria Math" panose="02040503050406030204" pitchFamily="18" charset="0"/>
                          <a:ea typeface="Cambria Math" panose="02040503050406030204" pitchFamily="18" charset="0"/>
                        </a:rPr>
                        <m:t>o</m:t>
                      </m:r>
                      <m:r>
                        <a:rPr lang="fr-FR" sz="1050">
                          <a:solidFill>
                            <a:schemeClr val="tx1"/>
                          </a:solidFill>
                          <a:latin typeface="Cambria Math" panose="02040503050406030204" pitchFamily="18" charset="0"/>
                          <a:ea typeface="Cambria Math" panose="02040503050406030204" pitchFamily="18" charset="0"/>
                        </a:rPr>
                        <m:t>1</m:t>
                      </m:r>
                      <m:r>
                        <m:rPr>
                          <m:nor/>
                        </m:rPr>
                        <a:rPr lang="fr-FR" sz="1050" dirty="0">
                          <a:solidFill>
                            <a:schemeClr val="tx1"/>
                          </a:solidFill>
                          <a:latin typeface="Cambria Math" panose="02040503050406030204" pitchFamily="18" charset="0"/>
                          <a:ea typeface="Cambria Math" panose="02040503050406030204" pitchFamily="18" charset="0"/>
                        </a:rPr>
                        <m:t>)</m:t>
                      </m:r>
                      <m:r>
                        <a:rPr lang="fr-FR" sz="1050" i="1">
                          <a:solidFill>
                            <a:schemeClr val="tx1"/>
                          </a:solidFill>
                          <a:latin typeface="Cambria Math" panose="02040503050406030204" pitchFamily="18" charset="0"/>
                          <a:ea typeface="Cambria Math" panose="02040503050406030204" pitchFamily="18" charset="0"/>
                        </a:rPr>
                        <m:t>×</m:t>
                      </m:r>
                      <m:r>
                        <m:rPr>
                          <m:nor/>
                        </m:rPr>
                        <a:rPr lang="fr-FR" sz="1050">
                          <a:solidFill>
                            <a:schemeClr val="tx1"/>
                          </a:solidFill>
                          <a:latin typeface="Cambria Math" panose="02040503050406030204" pitchFamily="18" charset="0"/>
                          <a:ea typeface="Cambria Math" panose="02040503050406030204" pitchFamily="18" charset="0"/>
                        </a:rPr>
                        <m:t> </m:t>
                      </m:r>
                      <m:r>
                        <m:rPr>
                          <m:sty m:val="p"/>
                        </m:rPr>
                        <a:rPr lang="fr-FR" sz="1050">
                          <a:solidFill>
                            <a:schemeClr val="tx1"/>
                          </a:solidFill>
                          <a:latin typeface="Cambria Math" panose="02040503050406030204" pitchFamily="18" charset="0"/>
                          <a:ea typeface="Cambria Math" panose="02040503050406030204" pitchFamily="18" charset="0"/>
                        </a:rPr>
                        <m:t>out</m:t>
                      </m:r>
                      <m:r>
                        <a:rPr lang="fr-FR" sz="1050">
                          <a:solidFill>
                            <a:schemeClr val="tx1"/>
                          </a:solidFill>
                          <a:latin typeface="Cambria Math" panose="02040503050406030204" pitchFamily="18" charset="0"/>
                          <a:ea typeface="Cambria Math" panose="02040503050406030204" pitchFamily="18" charset="0"/>
                        </a:rPr>
                        <m:t>_</m:t>
                      </m:r>
                      <m:r>
                        <m:rPr>
                          <m:sty m:val="p"/>
                        </m:rPr>
                        <a:rPr lang="fr-FR" sz="1050">
                          <a:solidFill>
                            <a:schemeClr val="tx1"/>
                          </a:solidFill>
                          <a:latin typeface="Cambria Math" panose="02040503050406030204" pitchFamily="18" charset="0"/>
                          <a:ea typeface="Cambria Math" panose="02040503050406030204" pitchFamily="18" charset="0"/>
                        </a:rPr>
                        <m:t>o</m:t>
                      </m:r>
                      <m:r>
                        <a:rPr lang="fr-FR" sz="1050">
                          <a:solidFill>
                            <a:schemeClr val="tx1"/>
                          </a:solidFill>
                          <a:latin typeface="Cambria Math" panose="02040503050406030204" pitchFamily="18" charset="0"/>
                          <a:ea typeface="Cambria Math" panose="02040503050406030204" pitchFamily="18" charset="0"/>
                        </a:rPr>
                        <m:t>1(1−</m:t>
                      </m:r>
                      <m:r>
                        <m:rPr>
                          <m:sty m:val="p"/>
                        </m:rPr>
                        <a:rPr lang="fr-FR" sz="1050">
                          <a:solidFill>
                            <a:schemeClr val="tx1"/>
                          </a:solidFill>
                          <a:latin typeface="Cambria Math" panose="02040503050406030204" pitchFamily="18" charset="0"/>
                          <a:ea typeface="Cambria Math" panose="02040503050406030204" pitchFamily="18" charset="0"/>
                        </a:rPr>
                        <m:t>out</m:t>
                      </m:r>
                      <m:r>
                        <a:rPr lang="fr-FR" sz="1050">
                          <a:solidFill>
                            <a:schemeClr val="tx1"/>
                          </a:solidFill>
                          <a:latin typeface="Cambria Math" panose="02040503050406030204" pitchFamily="18" charset="0"/>
                          <a:ea typeface="Cambria Math" panose="02040503050406030204" pitchFamily="18" charset="0"/>
                        </a:rPr>
                        <m:t>_</m:t>
                      </m:r>
                      <m:r>
                        <m:rPr>
                          <m:sty m:val="p"/>
                        </m:rPr>
                        <a:rPr lang="fr-FR" sz="1050">
                          <a:solidFill>
                            <a:schemeClr val="tx1"/>
                          </a:solidFill>
                          <a:latin typeface="Cambria Math" panose="02040503050406030204" pitchFamily="18" charset="0"/>
                          <a:ea typeface="Cambria Math" panose="02040503050406030204" pitchFamily="18" charset="0"/>
                        </a:rPr>
                        <m:t>o</m:t>
                      </m:r>
                      <m:r>
                        <a:rPr lang="fr-FR" sz="1050">
                          <a:solidFill>
                            <a:schemeClr val="tx1"/>
                          </a:solidFill>
                          <a:latin typeface="Cambria Math" panose="02040503050406030204" pitchFamily="18" charset="0"/>
                          <a:ea typeface="Cambria Math" panose="02040503050406030204" pitchFamily="18" charset="0"/>
                        </a:rPr>
                        <m:t>1</m:t>
                      </m:r>
                      <m:r>
                        <a:rPr lang="fr-FR" sz="1050" i="1">
                          <a:solidFill>
                            <a:schemeClr val="tx1"/>
                          </a:solidFill>
                          <a:latin typeface="Cambria Math" panose="02040503050406030204" pitchFamily="18" charset="0"/>
                          <a:ea typeface="Cambria Math" panose="02040503050406030204" pitchFamily="18" charset="0"/>
                        </a:rPr>
                        <m:t>)×</m:t>
                      </m:r>
                      <m:r>
                        <m:rPr>
                          <m:sty m:val="p"/>
                        </m:rPr>
                        <a:rPr lang="fr-FR" sz="1050">
                          <a:solidFill>
                            <a:schemeClr val="tx1"/>
                          </a:solidFill>
                          <a:latin typeface="Cambria Math" panose="02040503050406030204" pitchFamily="18" charset="0"/>
                        </a:rPr>
                        <m:t>w</m:t>
                      </m:r>
                      <m:r>
                        <a:rPr lang="fr-FR" sz="1050">
                          <a:solidFill>
                            <a:schemeClr val="tx1"/>
                          </a:solidFill>
                          <a:latin typeface="Cambria Math" panose="02040503050406030204" pitchFamily="18" charset="0"/>
                        </a:rPr>
                        <m:t>6</m:t>
                      </m:r>
                      <m:r>
                        <a:rPr lang="fr-FR" sz="1050" i="1">
                          <a:solidFill>
                            <a:schemeClr val="tx1"/>
                          </a:solidFill>
                          <a:latin typeface="Cambria Math" panose="02040503050406030204" pitchFamily="18" charset="0"/>
                          <a:ea typeface="Cambria Math" panose="02040503050406030204" pitchFamily="18" charset="0"/>
                        </a:rPr>
                        <m:t>×</m:t>
                      </m:r>
                      <m:r>
                        <a:rPr lang="fr-FR" sz="1050" i="1">
                          <a:solidFill>
                            <a:schemeClr val="tx1"/>
                          </a:solidFill>
                          <a:latin typeface="Cambria Math" panose="02040503050406030204" pitchFamily="18" charset="0"/>
                        </a:rPr>
                        <m:t>1</m:t>
                      </m:r>
                      <m:r>
                        <a:rPr lang="fr-FR" sz="1050" i="1" baseline="-25000">
                          <a:solidFill>
                            <a:schemeClr val="tx1"/>
                          </a:solidFill>
                          <a:latin typeface="Cambria Math" panose="02040503050406030204" pitchFamily="18" charset="0"/>
                        </a:rPr>
                        <m:t>{</m:t>
                      </m:r>
                      <m:r>
                        <m:rPr>
                          <m:sty m:val="p"/>
                        </m:rPr>
                        <a:rPr lang="fr-FR" sz="1050" baseline="-25000">
                          <a:solidFill>
                            <a:schemeClr val="tx1"/>
                          </a:solidFill>
                          <a:latin typeface="Cambria Math" panose="02040503050406030204" pitchFamily="18" charset="0"/>
                        </a:rPr>
                        <m:t>net</m:t>
                      </m:r>
                      <m:r>
                        <a:rPr lang="fr-FR" sz="1050" baseline="-25000">
                          <a:solidFill>
                            <a:schemeClr val="tx1"/>
                          </a:solidFill>
                          <a:latin typeface="Cambria Math" panose="02040503050406030204" pitchFamily="18" charset="0"/>
                        </a:rPr>
                        <m:t>_</m:t>
                      </m:r>
                      <m:r>
                        <m:rPr>
                          <m:sty m:val="p"/>
                        </m:rPr>
                        <a:rPr lang="fr-FR" sz="1050" baseline="-25000">
                          <a:solidFill>
                            <a:schemeClr val="tx1"/>
                          </a:solidFill>
                          <a:latin typeface="Cambria Math" panose="02040503050406030204" pitchFamily="18" charset="0"/>
                        </a:rPr>
                        <m:t>h</m:t>
                      </m:r>
                      <m:r>
                        <a:rPr lang="fr-FR" sz="1050" baseline="-25000">
                          <a:solidFill>
                            <a:schemeClr val="tx1"/>
                          </a:solidFill>
                          <a:latin typeface="Cambria Math" panose="02040503050406030204" pitchFamily="18" charset="0"/>
                        </a:rPr>
                        <m:t>2</m:t>
                      </m:r>
                      <m:r>
                        <m:rPr>
                          <m:nor/>
                        </m:rPr>
                        <a:rPr lang="fr-FR" sz="1050" baseline="-25000" dirty="0">
                          <a:solidFill>
                            <a:schemeClr val="tx1"/>
                          </a:solidFill>
                          <a:ea typeface="Cambria Math" panose="02040503050406030204" pitchFamily="18" charset="0"/>
                        </a:rPr>
                        <m:t> </m:t>
                      </m:r>
                      <m:r>
                        <a:rPr lang="fr-FR" sz="1050" i="1" baseline="-25000">
                          <a:solidFill>
                            <a:schemeClr val="tx1"/>
                          </a:solidFill>
                          <a:latin typeface="Cambria Math" panose="02040503050406030204" pitchFamily="18" charset="0"/>
                          <a:ea typeface="Cambria Math" panose="02040503050406030204" pitchFamily="18" charset="0"/>
                        </a:rPr>
                        <m:t>&gt;0</m:t>
                      </m:r>
                      <m:r>
                        <a:rPr lang="fr-FR" sz="1050" i="1" baseline="-25000">
                          <a:solidFill>
                            <a:schemeClr val="tx1"/>
                          </a:solidFill>
                          <a:latin typeface="Cambria Math" panose="02040503050406030204" pitchFamily="18" charset="0"/>
                        </a:rPr>
                        <m:t>}</m:t>
                      </m:r>
                      <m:r>
                        <m:rPr>
                          <m:nor/>
                        </m:rPr>
                        <a:rPr lang="fr-FR" sz="1050" dirty="0">
                          <a:solidFill>
                            <a:schemeClr val="tx1"/>
                          </a:solidFill>
                          <a:ea typeface="Cambria Math" panose="02040503050406030204" pitchFamily="18" charset="0"/>
                        </a:rPr>
                        <m:t> </m:t>
                      </m:r>
                      <m:r>
                        <a:rPr lang="fr-FR" sz="1050" i="1">
                          <a:solidFill>
                            <a:schemeClr val="tx1"/>
                          </a:solidFill>
                          <a:latin typeface="Cambria Math" panose="02040503050406030204" pitchFamily="18" charset="0"/>
                          <a:ea typeface="Cambria Math" panose="02040503050406030204" pitchFamily="18" charset="0"/>
                        </a:rPr>
                        <m:t>×</m:t>
                      </m:r>
                      <m:r>
                        <m:rPr>
                          <m:sty m:val="p"/>
                        </m:rPr>
                        <a:rPr lang="fr-FR" sz="1050">
                          <a:solidFill>
                            <a:schemeClr val="tx1"/>
                          </a:solidFill>
                          <a:latin typeface="Cambria Math" panose="02040503050406030204" pitchFamily="18" charset="0"/>
                          <a:ea typeface="Cambria Math" panose="02040503050406030204" pitchFamily="18" charset="0"/>
                        </a:rPr>
                        <m:t>i</m:t>
                      </m:r>
                      <m:r>
                        <a:rPr lang="fr-FR" sz="1050" baseline="-25000">
                          <a:solidFill>
                            <a:schemeClr val="tx1"/>
                          </a:solidFill>
                          <a:latin typeface="Cambria Math" panose="02040503050406030204" pitchFamily="18" charset="0"/>
                          <a:ea typeface="Cambria Math" panose="02040503050406030204" pitchFamily="18" charset="0"/>
                        </a:rPr>
                        <m:t>2</m:t>
                      </m:r>
                    </m:oMath>
                  </m:oMathPara>
                </a14:m>
                <a:endParaRPr lang="fr-FR" sz="1050" baseline="-25000" dirty="0">
                  <a:solidFill>
                    <a:schemeClr val="tx1"/>
                  </a:solidFill>
                </a:endParaRPr>
              </a:p>
            </p:txBody>
          </p:sp>
        </mc:Choice>
        <mc:Fallback xmlns="">
          <p:sp>
            <p:nvSpPr>
              <p:cNvPr id="11" name="ZoneTexte 10">
                <a:extLst>
                  <a:ext uri="{FF2B5EF4-FFF2-40B4-BE49-F238E27FC236}">
                    <a16:creationId xmlns:a16="http://schemas.microsoft.com/office/drawing/2014/main" id="{D9E9822E-FFFF-B1EF-A628-377E6F6B4DBD}"/>
                  </a:ext>
                </a:extLst>
              </p:cNvPr>
              <p:cNvSpPr txBox="1">
                <a:spLocks noRot="1" noChangeAspect="1" noMove="1" noResize="1" noEditPoints="1" noAdjustHandles="1" noChangeArrowheads="1" noChangeShapeType="1" noTextEdit="1"/>
              </p:cNvSpPr>
              <p:nvPr/>
            </p:nvSpPr>
            <p:spPr>
              <a:xfrm>
                <a:off x="6317686" y="3207886"/>
                <a:ext cx="5728992" cy="399597"/>
              </a:xfrm>
              <a:prstGeom prst="rect">
                <a:avLst/>
              </a:prstGeom>
              <a:blipFill>
                <a:blip r:embed="rId8"/>
                <a:stretch>
                  <a:fillRect/>
                </a:stretch>
              </a:blipFill>
              <a:ln>
                <a:solidFill>
                  <a:srgbClr val="FF0000"/>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8E77C149-7583-83E0-6646-246A43FD3B20}"/>
                  </a:ext>
                </a:extLst>
              </p:cNvPr>
              <p:cNvSpPr txBox="1"/>
              <p:nvPr/>
            </p:nvSpPr>
            <p:spPr>
              <a:xfrm>
                <a:off x="6317686" y="4108183"/>
                <a:ext cx="5728995" cy="363561"/>
              </a:xfrm>
              <a:prstGeom prst="rect">
                <a:avLst/>
              </a:prstGeom>
              <a:noFill/>
              <a:ln>
                <a:solidFill>
                  <a:srgbClr val="FF0000"/>
                </a:solidFill>
              </a:ln>
            </p:spPr>
            <p:txBody>
              <a:bodyPr wrap="square" rtlCol="0">
                <a:spAutoFit/>
              </a:bodyPr>
              <a:lstStyle/>
              <a:p>
                <a14:m>
                  <m:oMath xmlns:m="http://schemas.openxmlformats.org/officeDocument/2006/math">
                    <m:f>
                      <m:fPr>
                        <m:ctrlPr>
                          <a:rPr lang="fr-FR" sz="1200" i="1">
                            <a:latin typeface="Cambria Math" panose="02040503050406030204" pitchFamily="18" charset="0"/>
                          </a:rPr>
                        </m:ctrlPr>
                      </m:fPr>
                      <m:num>
                        <m:r>
                          <a:rPr lang="fr-FR" sz="1200">
                            <a:latin typeface="Cambria Math" panose="02040503050406030204" pitchFamily="18" charset="0"/>
                          </a:rPr>
                          <m:t>𝜕</m:t>
                        </m:r>
                        <m:r>
                          <m:rPr>
                            <m:sty m:val="p"/>
                          </m:rPr>
                          <a:rPr lang="fr-FR" sz="1200">
                            <a:latin typeface="Cambria Math" panose="02040503050406030204" pitchFamily="18" charset="0"/>
                          </a:rPr>
                          <m:t>Loss</m:t>
                        </m:r>
                        <m:r>
                          <a:rPr lang="fr-FR" sz="1200">
                            <a:latin typeface="Cambria Math" panose="02040503050406030204" pitchFamily="18" charset="0"/>
                          </a:rPr>
                          <m:t>2</m:t>
                        </m:r>
                      </m:num>
                      <m:den>
                        <m:r>
                          <a:rPr lang="fr-FR" sz="1200">
                            <a:latin typeface="Cambria Math" panose="02040503050406030204" pitchFamily="18" charset="0"/>
                          </a:rPr>
                          <m:t>𝜕</m:t>
                        </m:r>
                        <m:r>
                          <m:rPr>
                            <m:sty m:val="p"/>
                          </m:rPr>
                          <a:rPr lang="fr-FR" sz="1200">
                            <a:latin typeface="Cambria Math" panose="02040503050406030204" pitchFamily="18" charset="0"/>
                          </a:rPr>
                          <m:t>w</m:t>
                        </m:r>
                        <m:r>
                          <a:rPr lang="fr-FR" sz="1200">
                            <a:latin typeface="Cambria Math" panose="02040503050406030204" pitchFamily="18" charset="0"/>
                          </a:rPr>
                          <m:t>1</m:t>
                        </m:r>
                      </m:den>
                    </m:f>
                    <m:r>
                      <a:rPr lang="fr-FR" sz="1200">
                        <a:latin typeface="Cambria Math" panose="02040503050406030204" pitchFamily="18" charset="0"/>
                      </a:rPr>
                      <m:t>=</m:t>
                    </m:r>
                    <m:r>
                      <m:rPr>
                        <m:nor/>
                      </m:rPr>
                      <a:rPr lang="fr-FR" sz="1200">
                        <a:latin typeface="Cambria Math" panose="02040503050406030204" pitchFamily="18" charset="0"/>
                        <a:ea typeface="Cambria Math" panose="02040503050406030204" pitchFamily="18" charset="0"/>
                      </a:rPr>
                      <m:t>−2</m:t>
                    </m:r>
                    <m:r>
                      <m:rPr>
                        <m:nor/>
                      </m:rPr>
                      <a:rPr lang="fr-FR" sz="1200" dirty="0">
                        <a:latin typeface="Cambria Math" panose="02040503050406030204" pitchFamily="18" charset="0"/>
                        <a:ea typeface="Cambria Math" panose="02040503050406030204" pitchFamily="18" charset="0"/>
                      </a:rPr>
                      <m:t>(</m:t>
                    </m:r>
                    <m:sSub>
                      <m:sSubPr>
                        <m:ctrlPr>
                          <a:rPr lang="fr-FR" sz="1200" i="1" dirty="0">
                            <a:latin typeface="Cambria Math" panose="02040503050406030204" pitchFamily="18" charset="0"/>
                            <a:ea typeface="Cambria Math" panose="02040503050406030204" pitchFamily="18" charset="0"/>
                          </a:rPr>
                        </m:ctrlPr>
                      </m:sSubPr>
                      <m:e>
                        <m:r>
                          <m:rPr>
                            <m:sty m:val="p"/>
                          </m:rPr>
                          <a:rPr lang="fr-FR" sz="1200">
                            <a:latin typeface="Cambria Math" panose="02040503050406030204" pitchFamily="18" charset="0"/>
                            <a:ea typeface="Cambria Math" panose="02040503050406030204" pitchFamily="18" charset="0"/>
                          </a:rPr>
                          <m:t>target</m:t>
                        </m:r>
                      </m:e>
                      <m:sub>
                        <m:r>
                          <m:rPr>
                            <m:sty m:val="p"/>
                          </m:rPr>
                          <a:rPr lang="fr-FR" sz="1200">
                            <a:latin typeface="Cambria Math" panose="02040503050406030204" pitchFamily="18" charset="0"/>
                            <a:ea typeface="Cambria Math" panose="02040503050406030204" pitchFamily="18" charset="0"/>
                          </a:rPr>
                          <m:t>o</m:t>
                        </m:r>
                        <m:r>
                          <m:rPr>
                            <m:nor/>
                          </m:rPr>
                          <a:rPr lang="fr-FR" sz="1200">
                            <a:latin typeface="Cambria Math" panose="02040503050406030204" pitchFamily="18" charset="0"/>
                            <a:ea typeface="Cambria Math" panose="02040503050406030204" pitchFamily="18" charset="0"/>
                          </a:rPr>
                          <m:t>2</m:t>
                        </m:r>
                      </m:sub>
                    </m:sSub>
                    <m:r>
                      <a:rPr lang="fr-FR" sz="1200" i="1">
                        <a:latin typeface="Cambria Math" panose="02040503050406030204" pitchFamily="18" charset="0"/>
                        <a:ea typeface="Cambria Math" panose="02040503050406030204" pitchFamily="18" charset="0"/>
                      </a:rPr>
                      <m:t>− </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2</m:t>
                    </m:r>
                    <m:r>
                      <a:rPr lang="fr-FR" sz="1200" i="1">
                        <a:latin typeface="Cambria Math" panose="02040503050406030204" pitchFamily="18" charset="0"/>
                        <a:ea typeface="Cambria Math" panose="02040503050406030204" pitchFamily="18" charset="0"/>
                      </a:rPr>
                      <m:t>)×</m:t>
                    </m:r>
                    <m:r>
                      <m:rPr>
                        <m:nor/>
                      </m:rPr>
                      <a:rPr lang="fr-FR" sz="1200">
                        <a:latin typeface="Cambria Math" panose="02040503050406030204" pitchFamily="18" charset="0"/>
                        <a:ea typeface="Cambria Math" panose="02040503050406030204" pitchFamily="18" charset="0"/>
                      </a:rPr>
                      <m:t> </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a:latin typeface="Cambria Math" panose="02040503050406030204" pitchFamily="18" charset="0"/>
                        <a:ea typeface="Cambria Math" panose="02040503050406030204" pitchFamily="18" charset="0"/>
                      </a:rPr>
                      <m:t>2(1−</m:t>
                    </m:r>
                    <m:r>
                      <m:rPr>
                        <m:sty m:val="p"/>
                      </m:rPr>
                      <a:rPr lang="fr-FR" sz="1200">
                        <a:latin typeface="Cambria Math" panose="02040503050406030204" pitchFamily="18" charset="0"/>
                        <a:ea typeface="Cambria Math" panose="02040503050406030204" pitchFamily="18" charset="0"/>
                      </a:rPr>
                      <m:t>out</m:t>
                    </m:r>
                    <m:r>
                      <a:rPr lang="fr-FR" sz="1200">
                        <a:latin typeface="Cambria Math" panose="02040503050406030204" pitchFamily="18" charset="0"/>
                        <a:ea typeface="Cambria Math" panose="02040503050406030204" pitchFamily="18" charset="0"/>
                      </a:rPr>
                      <m:t>_</m:t>
                    </m:r>
                    <m:r>
                      <m:rPr>
                        <m:sty m:val="p"/>
                      </m:rPr>
                      <a:rPr lang="fr-FR" sz="1200">
                        <a:latin typeface="Cambria Math" panose="02040503050406030204" pitchFamily="18" charset="0"/>
                        <a:ea typeface="Cambria Math" panose="02040503050406030204" pitchFamily="18" charset="0"/>
                      </a:rPr>
                      <m:t>o</m:t>
                    </m:r>
                    <m:r>
                      <a:rPr lang="fr-FR" sz="1200" i="1">
                        <a:latin typeface="Cambria Math" panose="02040503050406030204" pitchFamily="18" charset="0"/>
                        <a:ea typeface="Cambria Math" panose="02040503050406030204" pitchFamily="18" charset="0"/>
                      </a:rPr>
                      <m:t>2)×</m:t>
                    </m:r>
                    <m:r>
                      <m:rPr>
                        <m:sty m:val="p"/>
                      </m:rPr>
                      <a:rPr lang="fr-FR" sz="1200">
                        <a:latin typeface="Cambria Math" panose="02040503050406030204" pitchFamily="18" charset="0"/>
                      </a:rPr>
                      <m:t>w</m:t>
                    </m:r>
                    <m:r>
                      <a:rPr lang="fr-FR" sz="1200" i="1">
                        <a:latin typeface="Cambria Math" panose="02040503050406030204" pitchFamily="18" charset="0"/>
                      </a:rPr>
                      <m:t>7</m:t>
                    </m:r>
                    <m:r>
                      <a:rPr lang="fr-FR" sz="1200" i="1">
                        <a:latin typeface="Cambria Math" panose="02040503050406030204" pitchFamily="18" charset="0"/>
                        <a:ea typeface="Cambria Math" panose="02040503050406030204" pitchFamily="18" charset="0"/>
                      </a:rPr>
                      <m:t>×</m:t>
                    </m:r>
                    <m:r>
                      <a:rPr lang="fr-FR" sz="1200" i="1">
                        <a:latin typeface="Cambria Math" panose="02040503050406030204" pitchFamily="18" charset="0"/>
                      </a:rPr>
                      <m:t>1</m:t>
                    </m:r>
                    <m:r>
                      <a:rPr lang="fr-FR" sz="1200" i="1" baseline="-25000">
                        <a:latin typeface="Cambria Math" panose="02040503050406030204" pitchFamily="18" charset="0"/>
                      </a:rPr>
                      <m:t>{</m:t>
                    </m:r>
                    <m:r>
                      <m:rPr>
                        <m:sty m:val="p"/>
                      </m:rPr>
                      <a:rPr lang="fr-FR" sz="1200" baseline="-25000">
                        <a:latin typeface="Cambria Math" panose="02040503050406030204" pitchFamily="18" charset="0"/>
                      </a:rPr>
                      <m:t>net</m:t>
                    </m:r>
                    <m:r>
                      <a:rPr lang="fr-FR" sz="1200" baseline="-25000">
                        <a:latin typeface="Cambria Math" panose="02040503050406030204" pitchFamily="18" charset="0"/>
                      </a:rPr>
                      <m:t>_</m:t>
                    </m:r>
                    <m:r>
                      <m:rPr>
                        <m:sty m:val="p"/>
                      </m:rPr>
                      <a:rPr lang="fr-FR" sz="1200" baseline="-25000">
                        <a:latin typeface="Cambria Math" panose="02040503050406030204" pitchFamily="18" charset="0"/>
                      </a:rPr>
                      <m:t>h</m:t>
                    </m:r>
                    <m:r>
                      <m:rPr>
                        <m:nor/>
                      </m:rPr>
                      <a:rPr lang="fr-FR" sz="1200" baseline="-25000">
                        <a:latin typeface="Cambria Math" panose="02040503050406030204" pitchFamily="18" charset="0"/>
                      </a:rPr>
                      <m:t>1</m:t>
                    </m:r>
                    <m:r>
                      <m:rPr>
                        <m:nor/>
                      </m:rPr>
                      <a:rPr lang="fr-FR" sz="1200" baseline="-25000" dirty="0">
                        <a:ea typeface="Cambria Math" panose="02040503050406030204" pitchFamily="18" charset="0"/>
                      </a:rPr>
                      <m:t> </m:t>
                    </m:r>
                    <m:r>
                      <a:rPr lang="fr-FR" sz="1200" i="1" baseline="-25000">
                        <a:latin typeface="Cambria Math" panose="02040503050406030204" pitchFamily="18" charset="0"/>
                        <a:ea typeface="Cambria Math" panose="02040503050406030204" pitchFamily="18" charset="0"/>
                      </a:rPr>
                      <m:t>&gt;0</m:t>
                    </m:r>
                    <m:r>
                      <a:rPr lang="fr-FR" sz="1200" i="1" baseline="-25000">
                        <a:latin typeface="Cambria Math" panose="02040503050406030204" pitchFamily="18" charset="0"/>
                      </a:rPr>
                      <m:t>}</m:t>
                    </m:r>
                    <m:r>
                      <m:rPr>
                        <m:nor/>
                      </m:rPr>
                      <a:rPr lang="fr-FR" sz="1200" dirty="0">
                        <a:ea typeface="Cambria Math" panose="02040503050406030204" pitchFamily="18" charset="0"/>
                      </a:rPr>
                      <m:t> </m:t>
                    </m:r>
                    <m:r>
                      <a:rPr lang="fr-FR" sz="1200" i="1">
                        <a:latin typeface="Cambria Math" panose="02040503050406030204" pitchFamily="18" charset="0"/>
                        <a:ea typeface="Cambria Math" panose="02040503050406030204" pitchFamily="18" charset="0"/>
                      </a:rPr>
                      <m:t>×</m:t>
                    </m:r>
                    <m:r>
                      <m:rPr>
                        <m:sty m:val="p"/>
                      </m:rPr>
                      <a:rPr lang="fr-FR" sz="1200">
                        <a:latin typeface="Cambria Math" panose="02040503050406030204" pitchFamily="18" charset="0"/>
                        <a:ea typeface="Cambria Math" panose="02040503050406030204" pitchFamily="18" charset="0"/>
                      </a:rPr>
                      <m:t>i</m:t>
                    </m:r>
                  </m:oMath>
                </a14:m>
                <a:r>
                  <a:rPr lang="fr-FR" sz="1200" baseline="-25000" dirty="0"/>
                  <a:t>1</a:t>
                </a:r>
              </a:p>
            </p:txBody>
          </p:sp>
        </mc:Choice>
        <mc:Fallback xmlns="">
          <p:sp>
            <p:nvSpPr>
              <p:cNvPr id="12" name="ZoneTexte 11">
                <a:extLst>
                  <a:ext uri="{FF2B5EF4-FFF2-40B4-BE49-F238E27FC236}">
                    <a16:creationId xmlns:a16="http://schemas.microsoft.com/office/drawing/2014/main" id="{8E77C149-7583-83E0-6646-246A43FD3B20}"/>
                  </a:ext>
                </a:extLst>
              </p:cNvPr>
              <p:cNvSpPr txBox="1">
                <a:spLocks noRot="1" noChangeAspect="1" noMove="1" noResize="1" noEditPoints="1" noAdjustHandles="1" noChangeArrowheads="1" noChangeShapeType="1" noTextEdit="1"/>
              </p:cNvSpPr>
              <p:nvPr/>
            </p:nvSpPr>
            <p:spPr>
              <a:xfrm>
                <a:off x="6317686" y="4108183"/>
                <a:ext cx="5728995" cy="363561"/>
              </a:xfrm>
              <a:prstGeom prst="rect">
                <a:avLst/>
              </a:prstGeom>
              <a:blipFill>
                <a:blip r:embed="rId9"/>
                <a:stretch>
                  <a:fillRect/>
                </a:stretch>
              </a:blipFill>
              <a:ln>
                <a:solidFill>
                  <a:srgbClr val="FF0000"/>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45309FAC-6EC3-98D1-0C19-FAFB298EA210}"/>
                  </a:ext>
                </a:extLst>
              </p:cNvPr>
              <p:cNvSpPr txBox="1"/>
              <p:nvPr/>
            </p:nvSpPr>
            <p:spPr>
              <a:xfrm>
                <a:off x="6317686" y="3671894"/>
                <a:ext cx="5728995" cy="341184"/>
              </a:xfrm>
              <a:prstGeom prst="rect">
                <a:avLst/>
              </a:prstGeom>
              <a:noFill/>
              <a:ln>
                <a:solidFill>
                  <a:srgbClr val="FF0000"/>
                </a:solidFill>
              </a:ln>
            </p:spPr>
            <p:txBody>
              <a:bodyPr wrap="square">
                <a:spAutoFit/>
              </a:bodyPr>
              <a:lstStyle/>
              <a:p>
                <a:pPr algn="ctr"/>
                <a14:m>
                  <m:oMath xmlns:m="http://schemas.openxmlformats.org/officeDocument/2006/math">
                    <m:f>
                      <m:fPr>
                        <m:ctrlPr>
                          <a:rPr lang="fr-FR" sz="1100" i="1">
                            <a:latin typeface="Cambria Math" panose="02040503050406030204" pitchFamily="18" charset="0"/>
                          </a:rPr>
                        </m:ctrlPr>
                      </m:fPr>
                      <m:num>
                        <m:r>
                          <a:rPr lang="fr-FR" sz="1100">
                            <a:latin typeface="Cambria Math" panose="02040503050406030204" pitchFamily="18" charset="0"/>
                          </a:rPr>
                          <m:t>𝜕</m:t>
                        </m:r>
                        <m:r>
                          <m:rPr>
                            <m:sty m:val="p"/>
                          </m:rPr>
                          <a:rPr lang="fr-FR" sz="1100">
                            <a:latin typeface="Cambria Math" panose="02040503050406030204" pitchFamily="18" charset="0"/>
                          </a:rPr>
                          <m:t>Loss</m:t>
                        </m:r>
                        <m:r>
                          <a:rPr lang="fr-FR" sz="1100">
                            <a:latin typeface="Cambria Math" panose="02040503050406030204" pitchFamily="18" charset="0"/>
                          </a:rPr>
                          <m:t>1</m:t>
                        </m:r>
                      </m:num>
                      <m:den>
                        <m:r>
                          <a:rPr lang="fr-FR" sz="1100">
                            <a:latin typeface="Cambria Math" panose="02040503050406030204" pitchFamily="18" charset="0"/>
                          </a:rPr>
                          <m:t>𝜕</m:t>
                        </m:r>
                        <m:r>
                          <m:rPr>
                            <m:sty m:val="p"/>
                          </m:rPr>
                          <a:rPr lang="fr-FR" sz="1100">
                            <a:latin typeface="Cambria Math" panose="02040503050406030204" pitchFamily="18" charset="0"/>
                          </a:rPr>
                          <m:t>b</m:t>
                        </m:r>
                        <m:r>
                          <a:rPr lang="fr-FR" sz="1100">
                            <a:latin typeface="Cambria Math" panose="02040503050406030204" pitchFamily="18" charset="0"/>
                          </a:rPr>
                          <m:t>1</m:t>
                        </m:r>
                      </m:den>
                    </m:f>
                    <m:r>
                      <a:rPr lang="fr-FR" sz="1100">
                        <a:latin typeface="Cambria Math" panose="02040503050406030204" pitchFamily="18" charset="0"/>
                      </a:rPr>
                      <m:t>=</m:t>
                    </m:r>
                    <m:r>
                      <m:rPr>
                        <m:nor/>
                      </m:rPr>
                      <a:rPr lang="fr-FR" sz="1100">
                        <a:latin typeface="Cambria Math" panose="02040503050406030204" pitchFamily="18" charset="0"/>
                      </a:rPr>
                      <m:t>−2</m:t>
                    </m:r>
                    <m:r>
                      <m:rPr>
                        <m:nor/>
                      </m:rPr>
                      <a:rPr lang="fr-FR" sz="1100" dirty="0">
                        <a:latin typeface="Cambria Math" panose="02040503050406030204" pitchFamily="18" charset="0"/>
                        <a:ea typeface="Cambria Math" panose="02040503050406030204" pitchFamily="18" charset="0"/>
                      </a:rPr>
                      <m:t>(</m:t>
                    </m:r>
                    <m:sSub>
                      <m:sSubPr>
                        <m:ctrlPr>
                          <a:rPr lang="fr-FR" sz="1100" i="1" dirty="0">
                            <a:latin typeface="Cambria Math" panose="02040503050406030204" pitchFamily="18" charset="0"/>
                            <a:ea typeface="Cambria Math" panose="02040503050406030204" pitchFamily="18" charset="0"/>
                          </a:rPr>
                        </m:ctrlPr>
                      </m:sSubPr>
                      <m:e>
                        <m:r>
                          <m:rPr>
                            <m:sty m:val="p"/>
                          </m:rPr>
                          <a:rPr lang="fr-FR" sz="1100">
                            <a:latin typeface="Cambria Math" panose="02040503050406030204" pitchFamily="18" charset="0"/>
                            <a:ea typeface="Cambria Math" panose="02040503050406030204" pitchFamily="18" charset="0"/>
                          </a:rPr>
                          <m:t>target</m:t>
                        </m:r>
                      </m:e>
                      <m:sub>
                        <m:r>
                          <m:rPr>
                            <m:sty m:val="p"/>
                          </m:rPr>
                          <a:rPr lang="fr-FR" sz="1100">
                            <a:latin typeface="Cambria Math" panose="02040503050406030204" pitchFamily="18" charset="0"/>
                            <a:ea typeface="Cambria Math" panose="02040503050406030204" pitchFamily="18" charset="0"/>
                          </a:rPr>
                          <m:t>o</m:t>
                        </m:r>
                        <m:r>
                          <a:rPr lang="fr-FR" sz="1100">
                            <a:latin typeface="Cambria Math" panose="02040503050406030204" pitchFamily="18" charset="0"/>
                            <a:ea typeface="Cambria Math" panose="02040503050406030204" pitchFamily="18" charset="0"/>
                          </a:rPr>
                          <m:t>1</m:t>
                        </m:r>
                      </m:sub>
                    </m:sSub>
                    <m:r>
                      <a:rPr lang="fr-FR" sz="1100" i="1">
                        <a:latin typeface="Cambria Math" panose="02040503050406030204" pitchFamily="18" charset="0"/>
                        <a:ea typeface="Cambria Math" panose="02040503050406030204" pitchFamily="18" charset="0"/>
                      </a:rPr>
                      <m:t>− </m:t>
                    </m:r>
                    <m:r>
                      <m:rPr>
                        <m:sty m:val="p"/>
                      </m:rPr>
                      <a:rPr lang="fr-FR" sz="1100">
                        <a:latin typeface="Cambria Math" panose="02040503050406030204" pitchFamily="18" charset="0"/>
                        <a:ea typeface="Cambria Math" panose="02040503050406030204" pitchFamily="18" charset="0"/>
                      </a:rPr>
                      <m:t>out</m:t>
                    </m:r>
                    <m:r>
                      <a:rPr lang="fr-FR" sz="1100">
                        <a:latin typeface="Cambria Math" panose="02040503050406030204" pitchFamily="18" charset="0"/>
                        <a:ea typeface="Cambria Math" panose="02040503050406030204" pitchFamily="18" charset="0"/>
                      </a:rPr>
                      <m:t>_</m:t>
                    </m:r>
                    <m:r>
                      <m:rPr>
                        <m:sty m:val="p"/>
                      </m:rPr>
                      <a:rPr lang="fr-FR" sz="1100">
                        <a:latin typeface="Cambria Math" panose="02040503050406030204" pitchFamily="18" charset="0"/>
                        <a:ea typeface="Cambria Math" panose="02040503050406030204" pitchFamily="18" charset="0"/>
                      </a:rPr>
                      <m:t>o</m:t>
                    </m:r>
                    <m:r>
                      <a:rPr lang="fr-FR" sz="1100">
                        <a:latin typeface="Cambria Math" panose="02040503050406030204" pitchFamily="18" charset="0"/>
                        <a:ea typeface="Cambria Math" panose="02040503050406030204" pitchFamily="18" charset="0"/>
                      </a:rPr>
                      <m:t>1</m:t>
                    </m:r>
                    <m:r>
                      <m:rPr>
                        <m:nor/>
                      </m:rPr>
                      <a:rPr lang="fr-FR" sz="1100" dirty="0">
                        <a:latin typeface="Cambria Math" panose="02040503050406030204" pitchFamily="18" charset="0"/>
                        <a:ea typeface="Cambria Math" panose="02040503050406030204" pitchFamily="18" charset="0"/>
                      </a:rPr>
                      <m:t>)</m:t>
                    </m:r>
                    <m:r>
                      <a:rPr lang="fr-FR" sz="1100" i="1">
                        <a:latin typeface="Cambria Math" panose="02040503050406030204" pitchFamily="18" charset="0"/>
                        <a:ea typeface="Cambria Math" panose="02040503050406030204" pitchFamily="18" charset="0"/>
                      </a:rPr>
                      <m:t>×</m:t>
                    </m:r>
                    <m:r>
                      <m:rPr>
                        <m:nor/>
                      </m:rPr>
                      <a:rPr lang="fr-FR" sz="1100">
                        <a:latin typeface="Cambria Math" panose="02040503050406030204" pitchFamily="18" charset="0"/>
                        <a:ea typeface="Cambria Math" panose="02040503050406030204" pitchFamily="18" charset="0"/>
                      </a:rPr>
                      <m:t> </m:t>
                    </m:r>
                    <m:r>
                      <m:rPr>
                        <m:sty m:val="p"/>
                      </m:rPr>
                      <a:rPr lang="fr-FR" sz="1100">
                        <a:latin typeface="Cambria Math" panose="02040503050406030204" pitchFamily="18" charset="0"/>
                        <a:ea typeface="Cambria Math" panose="02040503050406030204" pitchFamily="18" charset="0"/>
                      </a:rPr>
                      <m:t>out</m:t>
                    </m:r>
                    <m:r>
                      <a:rPr lang="fr-FR" sz="1100">
                        <a:latin typeface="Cambria Math" panose="02040503050406030204" pitchFamily="18" charset="0"/>
                        <a:ea typeface="Cambria Math" panose="02040503050406030204" pitchFamily="18" charset="0"/>
                      </a:rPr>
                      <m:t>_</m:t>
                    </m:r>
                    <m:r>
                      <m:rPr>
                        <m:sty m:val="p"/>
                      </m:rPr>
                      <a:rPr lang="fr-FR" sz="1100">
                        <a:latin typeface="Cambria Math" panose="02040503050406030204" pitchFamily="18" charset="0"/>
                        <a:ea typeface="Cambria Math" panose="02040503050406030204" pitchFamily="18" charset="0"/>
                      </a:rPr>
                      <m:t>o</m:t>
                    </m:r>
                    <m:r>
                      <a:rPr lang="fr-FR" sz="1100">
                        <a:latin typeface="Cambria Math" panose="02040503050406030204" pitchFamily="18" charset="0"/>
                        <a:ea typeface="Cambria Math" panose="02040503050406030204" pitchFamily="18" charset="0"/>
                      </a:rPr>
                      <m:t>1(1−</m:t>
                    </m:r>
                    <m:r>
                      <m:rPr>
                        <m:sty m:val="p"/>
                      </m:rPr>
                      <a:rPr lang="fr-FR" sz="1100">
                        <a:latin typeface="Cambria Math" panose="02040503050406030204" pitchFamily="18" charset="0"/>
                        <a:ea typeface="Cambria Math" panose="02040503050406030204" pitchFamily="18" charset="0"/>
                      </a:rPr>
                      <m:t>out</m:t>
                    </m:r>
                    <m:r>
                      <a:rPr lang="fr-FR" sz="1100">
                        <a:latin typeface="Cambria Math" panose="02040503050406030204" pitchFamily="18" charset="0"/>
                        <a:ea typeface="Cambria Math" panose="02040503050406030204" pitchFamily="18" charset="0"/>
                      </a:rPr>
                      <m:t>_</m:t>
                    </m:r>
                    <m:r>
                      <m:rPr>
                        <m:sty m:val="p"/>
                      </m:rPr>
                      <a:rPr lang="fr-FR" sz="1100">
                        <a:latin typeface="Cambria Math" panose="02040503050406030204" pitchFamily="18" charset="0"/>
                        <a:ea typeface="Cambria Math" panose="02040503050406030204" pitchFamily="18" charset="0"/>
                      </a:rPr>
                      <m:t>o</m:t>
                    </m:r>
                    <m:r>
                      <a:rPr lang="fr-FR" sz="1100">
                        <a:latin typeface="Cambria Math" panose="02040503050406030204" pitchFamily="18" charset="0"/>
                        <a:ea typeface="Cambria Math" panose="02040503050406030204" pitchFamily="18" charset="0"/>
                      </a:rPr>
                      <m:t>1</m:t>
                    </m:r>
                    <m:r>
                      <a:rPr lang="fr-FR" sz="1100" i="1">
                        <a:latin typeface="Cambria Math" panose="02040503050406030204" pitchFamily="18" charset="0"/>
                        <a:ea typeface="Cambria Math" panose="02040503050406030204" pitchFamily="18" charset="0"/>
                      </a:rPr>
                      <m:t>)×</m:t>
                    </m:r>
                    <m:r>
                      <a:rPr lang="fr-FR" sz="1100">
                        <a:latin typeface="Cambria Math" panose="02040503050406030204" pitchFamily="18" charset="0"/>
                        <a:ea typeface="Cambria Math" panose="02040503050406030204" pitchFamily="18" charset="0"/>
                      </a:rPr>
                      <m:t>(</m:t>
                    </m:r>
                    <m:r>
                      <m:rPr>
                        <m:sty m:val="p"/>
                      </m:rPr>
                      <a:rPr lang="fr-FR" sz="1100">
                        <a:latin typeface="Cambria Math" panose="02040503050406030204" pitchFamily="18" charset="0"/>
                        <a:ea typeface="Cambria Math" panose="02040503050406030204" pitchFamily="18" charset="0"/>
                      </a:rPr>
                      <m:t>w</m:t>
                    </m:r>
                    <m:r>
                      <a:rPr lang="fr-FR" sz="1100">
                        <a:latin typeface="Cambria Math" panose="02040503050406030204" pitchFamily="18" charset="0"/>
                        <a:ea typeface="Cambria Math" panose="02040503050406030204" pitchFamily="18" charset="0"/>
                      </a:rPr>
                      <m:t>5</m:t>
                    </m:r>
                    <m:r>
                      <a:rPr lang="fr-FR" sz="1100" i="1">
                        <a:latin typeface="Cambria Math" panose="02040503050406030204" pitchFamily="18" charset="0"/>
                        <a:ea typeface="Cambria Math" panose="02040503050406030204" pitchFamily="18" charset="0"/>
                      </a:rPr>
                      <m:t>×1</m:t>
                    </m:r>
                    <m:r>
                      <a:rPr lang="fr-FR" sz="1100" i="1" baseline="-25000">
                        <a:latin typeface="Cambria Math" panose="02040503050406030204" pitchFamily="18" charset="0"/>
                        <a:ea typeface="Cambria Math" panose="02040503050406030204" pitchFamily="18" charset="0"/>
                      </a:rPr>
                      <m:t>{</m:t>
                    </m:r>
                    <m:r>
                      <a:rPr lang="fr-FR" sz="1100" i="1" baseline="-25000">
                        <a:latin typeface="Cambria Math" panose="02040503050406030204" pitchFamily="18" charset="0"/>
                        <a:ea typeface="Cambria Math" panose="02040503050406030204" pitchFamily="18" charset="0"/>
                      </a:rPr>
                      <m:t>𝑛𝑒𝑡</m:t>
                    </m:r>
                    <m:r>
                      <a:rPr lang="fr-FR" sz="1100" i="1" baseline="-25000">
                        <a:latin typeface="Cambria Math" panose="02040503050406030204" pitchFamily="18" charset="0"/>
                        <a:ea typeface="Cambria Math" panose="02040503050406030204" pitchFamily="18" charset="0"/>
                      </a:rPr>
                      <m:t>_</m:t>
                    </m:r>
                    <m:r>
                      <a:rPr lang="fr-FR" sz="1100" i="1" baseline="-25000">
                        <a:latin typeface="Cambria Math" panose="02040503050406030204" pitchFamily="18" charset="0"/>
                        <a:ea typeface="Cambria Math" panose="02040503050406030204" pitchFamily="18" charset="0"/>
                      </a:rPr>
                      <m:t>h</m:t>
                    </m:r>
                    <m:r>
                      <a:rPr lang="fr-FR" sz="1100" i="1" baseline="-25000">
                        <a:latin typeface="Cambria Math" panose="02040503050406030204" pitchFamily="18" charset="0"/>
                        <a:ea typeface="Cambria Math" panose="02040503050406030204" pitchFamily="18" charset="0"/>
                      </a:rPr>
                      <m:t>1≥0})</m:t>
                    </m:r>
                    <m:r>
                      <a:rPr lang="fr-FR" sz="1100">
                        <a:latin typeface="Cambria Math" panose="02040503050406030204" pitchFamily="18" charset="0"/>
                      </a:rPr>
                      <m:t> </m:t>
                    </m:r>
                    <m:r>
                      <a:rPr lang="fr-FR" sz="1100">
                        <a:solidFill>
                          <a:srgbClr val="FF0000"/>
                        </a:solidFill>
                        <a:latin typeface="Cambria Math" panose="02040503050406030204" pitchFamily="18" charset="0"/>
                      </a:rPr>
                      <m:t>+</m:t>
                    </m:r>
                    <m:r>
                      <m:rPr>
                        <m:sty m:val="p"/>
                      </m:rPr>
                      <a:rPr lang="fr-FR" sz="1100">
                        <a:latin typeface="Cambria Math" panose="02040503050406030204" pitchFamily="18" charset="0"/>
                      </a:rPr>
                      <m:t>w</m:t>
                    </m:r>
                    <m:r>
                      <a:rPr lang="fr-FR" sz="1100">
                        <a:latin typeface="Cambria Math" panose="02040503050406030204" pitchFamily="18" charset="0"/>
                      </a:rPr>
                      <m:t>6</m:t>
                    </m:r>
                    <m:r>
                      <a:rPr lang="fr-FR" sz="1100" i="1">
                        <a:latin typeface="Cambria Math" panose="02040503050406030204" pitchFamily="18" charset="0"/>
                        <a:ea typeface="Cambria Math" panose="02040503050406030204" pitchFamily="18" charset="0"/>
                      </a:rPr>
                      <m:t>×</m:t>
                    </m:r>
                    <m:r>
                      <a:rPr lang="fr-FR" sz="1100" i="1">
                        <a:latin typeface="Cambria Math" panose="02040503050406030204" pitchFamily="18" charset="0"/>
                      </a:rPr>
                      <m:t>1</m:t>
                    </m:r>
                    <m:r>
                      <a:rPr lang="fr-FR" sz="1100" i="1" baseline="-25000">
                        <a:latin typeface="Cambria Math" panose="02040503050406030204" pitchFamily="18" charset="0"/>
                      </a:rPr>
                      <m:t>{</m:t>
                    </m:r>
                    <m:r>
                      <m:rPr>
                        <m:sty m:val="p"/>
                      </m:rPr>
                      <a:rPr lang="fr-FR" sz="1100" baseline="-25000">
                        <a:latin typeface="Cambria Math" panose="02040503050406030204" pitchFamily="18" charset="0"/>
                      </a:rPr>
                      <m:t>net</m:t>
                    </m:r>
                    <m:r>
                      <a:rPr lang="fr-FR" sz="1100" baseline="-25000">
                        <a:latin typeface="Cambria Math" panose="02040503050406030204" pitchFamily="18" charset="0"/>
                      </a:rPr>
                      <m:t>_</m:t>
                    </m:r>
                    <m:r>
                      <m:rPr>
                        <m:sty m:val="p"/>
                      </m:rPr>
                      <a:rPr lang="fr-FR" sz="1100" baseline="-25000">
                        <a:latin typeface="Cambria Math" panose="02040503050406030204" pitchFamily="18" charset="0"/>
                      </a:rPr>
                      <m:t>h</m:t>
                    </m:r>
                    <m:r>
                      <a:rPr lang="fr-FR" sz="1100" baseline="-25000">
                        <a:latin typeface="Cambria Math" panose="02040503050406030204" pitchFamily="18" charset="0"/>
                      </a:rPr>
                      <m:t>2</m:t>
                    </m:r>
                  </m:oMath>
                </a14:m>
                <a:r>
                  <a:rPr lang="fr-FR" sz="1100" baseline="-25000" dirty="0">
                    <a:ea typeface="Cambria Math" panose="02040503050406030204" pitchFamily="18" charset="0"/>
                  </a:rPr>
                  <a:t> </a:t>
                </a:r>
                <a14:m>
                  <m:oMath xmlns:m="http://schemas.openxmlformats.org/officeDocument/2006/math">
                    <m:r>
                      <a:rPr lang="fr-FR" sz="1100" i="1" baseline="-25000">
                        <a:latin typeface="Cambria Math" panose="02040503050406030204" pitchFamily="18" charset="0"/>
                        <a:ea typeface="Cambria Math" panose="02040503050406030204" pitchFamily="18" charset="0"/>
                      </a:rPr>
                      <m:t>&gt;0</m:t>
                    </m:r>
                    <m:r>
                      <a:rPr lang="fr-FR" sz="1100" i="1" baseline="-25000">
                        <a:latin typeface="Cambria Math" panose="02040503050406030204" pitchFamily="18" charset="0"/>
                      </a:rPr>
                      <m:t>}</m:t>
                    </m:r>
                  </m:oMath>
                </a14:m>
                <a:r>
                  <a:rPr lang="fr-FR" sz="1100" dirty="0">
                    <a:ea typeface="Cambria Math" panose="02040503050406030204" pitchFamily="18" charset="0"/>
                  </a:rPr>
                  <a:t> </a:t>
                </a:r>
                <a14:m>
                  <m:oMath xmlns:m="http://schemas.openxmlformats.org/officeDocument/2006/math">
                    <m:r>
                      <a:rPr lang="fr-FR" sz="1100" i="1" dirty="0">
                        <a:latin typeface="Cambria Math" panose="02040503050406030204" pitchFamily="18" charset="0"/>
                        <a:ea typeface="Cambria Math" panose="02040503050406030204" pitchFamily="18" charset="0"/>
                      </a:rPr>
                      <m:t>)</m:t>
                    </m:r>
                  </m:oMath>
                </a14:m>
                <a:endParaRPr lang="fr-FR" sz="1100" dirty="0"/>
              </a:p>
            </p:txBody>
          </p:sp>
        </mc:Choice>
        <mc:Fallback xmlns="">
          <p:sp>
            <p:nvSpPr>
              <p:cNvPr id="13" name="ZoneTexte 12">
                <a:extLst>
                  <a:ext uri="{FF2B5EF4-FFF2-40B4-BE49-F238E27FC236}">
                    <a16:creationId xmlns:a16="http://schemas.microsoft.com/office/drawing/2014/main" id="{45309FAC-6EC3-98D1-0C19-FAFB298EA210}"/>
                  </a:ext>
                </a:extLst>
              </p:cNvPr>
              <p:cNvSpPr txBox="1">
                <a:spLocks noRot="1" noChangeAspect="1" noMove="1" noResize="1" noEditPoints="1" noAdjustHandles="1" noChangeArrowheads="1" noChangeShapeType="1" noTextEdit="1"/>
              </p:cNvSpPr>
              <p:nvPr/>
            </p:nvSpPr>
            <p:spPr>
              <a:xfrm>
                <a:off x="6317686" y="3671894"/>
                <a:ext cx="5728995" cy="341184"/>
              </a:xfrm>
              <a:prstGeom prst="rect">
                <a:avLst/>
              </a:prstGeom>
              <a:blipFill>
                <a:blip r:embed="rId10"/>
                <a:stretch>
                  <a:fillRect/>
                </a:stretch>
              </a:blipFill>
              <a:ln>
                <a:solidFill>
                  <a:srgbClr val="FF0000"/>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ZoneTexte 13">
                <a:extLst>
                  <a:ext uri="{FF2B5EF4-FFF2-40B4-BE49-F238E27FC236}">
                    <a16:creationId xmlns:a16="http://schemas.microsoft.com/office/drawing/2014/main" id="{65BF57D1-83DC-3694-6165-0672C7596913}"/>
                  </a:ext>
                </a:extLst>
              </p:cNvPr>
              <p:cNvSpPr txBox="1"/>
              <p:nvPr/>
            </p:nvSpPr>
            <p:spPr>
              <a:xfrm>
                <a:off x="6317685" y="5776272"/>
                <a:ext cx="5728993" cy="329899"/>
              </a:xfrm>
              <a:prstGeom prst="rect">
                <a:avLst/>
              </a:prstGeom>
              <a:noFill/>
              <a:ln>
                <a:solidFill>
                  <a:srgbClr val="FF0000"/>
                </a:solidFill>
              </a:ln>
            </p:spPr>
            <p:txBody>
              <a:bodyPr wrap="square">
                <a:spAutoFit/>
              </a:bodyPr>
              <a:lstStyle/>
              <a:p>
                <a:pPr algn="ctr"/>
                <a14:m>
                  <m:oMath xmlns:m="http://schemas.openxmlformats.org/officeDocument/2006/math">
                    <m:f>
                      <m:fPr>
                        <m:ctrlPr>
                          <a:rPr lang="fr-FR" sz="1050" i="1">
                            <a:latin typeface="Cambria Math" panose="02040503050406030204" pitchFamily="18" charset="0"/>
                          </a:rPr>
                        </m:ctrlPr>
                      </m:fPr>
                      <m:num>
                        <m:r>
                          <a:rPr lang="fr-FR" sz="1050">
                            <a:latin typeface="Cambria Math" panose="02040503050406030204" pitchFamily="18" charset="0"/>
                          </a:rPr>
                          <m:t>𝜕</m:t>
                        </m:r>
                        <m:r>
                          <m:rPr>
                            <m:sty m:val="p"/>
                          </m:rPr>
                          <a:rPr lang="fr-FR" sz="1050">
                            <a:latin typeface="Cambria Math" panose="02040503050406030204" pitchFamily="18" charset="0"/>
                          </a:rPr>
                          <m:t>Loss</m:t>
                        </m:r>
                        <m:r>
                          <a:rPr lang="fr-FR" sz="1050" i="1">
                            <a:latin typeface="Cambria Math" panose="02040503050406030204" pitchFamily="18" charset="0"/>
                          </a:rPr>
                          <m:t>2</m:t>
                        </m:r>
                      </m:num>
                      <m:den>
                        <m:r>
                          <a:rPr lang="fr-FR" sz="1050">
                            <a:latin typeface="Cambria Math" panose="02040503050406030204" pitchFamily="18" charset="0"/>
                          </a:rPr>
                          <m:t>𝜕</m:t>
                        </m:r>
                        <m:r>
                          <m:rPr>
                            <m:sty m:val="p"/>
                          </m:rPr>
                          <a:rPr lang="fr-FR" sz="1050">
                            <a:latin typeface="Cambria Math" panose="02040503050406030204" pitchFamily="18" charset="0"/>
                          </a:rPr>
                          <m:t>b</m:t>
                        </m:r>
                        <m:r>
                          <a:rPr lang="fr-FR" sz="1050">
                            <a:latin typeface="Cambria Math" panose="02040503050406030204" pitchFamily="18" charset="0"/>
                          </a:rPr>
                          <m:t>1</m:t>
                        </m:r>
                      </m:den>
                    </m:f>
                    <m:r>
                      <a:rPr lang="fr-FR" sz="1050">
                        <a:latin typeface="Cambria Math" panose="02040503050406030204" pitchFamily="18" charset="0"/>
                      </a:rPr>
                      <m:t>=</m:t>
                    </m:r>
                    <m:r>
                      <m:rPr>
                        <m:nor/>
                      </m:rPr>
                      <a:rPr lang="fr-FR" sz="1050">
                        <a:latin typeface="Cambria Math" panose="02040503050406030204" pitchFamily="18" charset="0"/>
                        <a:ea typeface="Cambria Math" panose="02040503050406030204" pitchFamily="18" charset="0"/>
                      </a:rPr>
                      <m:t>−2</m:t>
                    </m:r>
                    <m:r>
                      <m:rPr>
                        <m:nor/>
                      </m:rPr>
                      <a:rPr lang="fr-FR" sz="1050" dirty="0">
                        <a:latin typeface="Cambria Math" panose="02040503050406030204" pitchFamily="18" charset="0"/>
                        <a:ea typeface="Cambria Math" panose="02040503050406030204" pitchFamily="18" charset="0"/>
                      </a:rPr>
                      <m:t>(</m:t>
                    </m:r>
                    <m:sSub>
                      <m:sSubPr>
                        <m:ctrlPr>
                          <a:rPr lang="fr-FR" sz="1050" i="1" dirty="0">
                            <a:latin typeface="Cambria Math" panose="02040503050406030204" pitchFamily="18" charset="0"/>
                            <a:ea typeface="Cambria Math" panose="02040503050406030204" pitchFamily="18" charset="0"/>
                          </a:rPr>
                        </m:ctrlPr>
                      </m:sSubPr>
                      <m:e>
                        <m:r>
                          <m:rPr>
                            <m:sty m:val="p"/>
                          </m:rPr>
                          <a:rPr lang="fr-FR" sz="1050">
                            <a:latin typeface="Cambria Math" panose="02040503050406030204" pitchFamily="18" charset="0"/>
                            <a:ea typeface="Cambria Math" panose="02040503050406030204" pitchFamily="18" charset="0"/>
                          </a:rPr>
                          <m:t>target</m:t>
                        </m:r>
                      </m:e>
                      <m:sub>
                        <m:r>
                          <m:rPr>
                            <m:sty m:val="p"/>
                          </m:rPr>
                          <a:rPr lang="fr-FR" sz="1050">
                            <a:latin typeface="Cambria Math" panose="02040503050406030204" pitchFamily="18" charset="0"/>
                            <a:ea typeface="Cambria Math" panose="02040503050406030204" pitchFamily="18" charset="0"/>
                          </a:rPr>
                          <m:t>o</m:t>
                        </m:r>
                        <m:r>
                          <m:rPr>
                            <m:nor/>
                          </m:rPr>
                          <a:rPr lang="fr-FR" sz="1050">
                            <a:latin typeface="Cambria Math" panose="02040503050406030204" pitchFamily="18" charset="0"/>
                            <a:ea typeface="Cambria Math" panose="02040503050406030204" pitchFamily="18" charset="0"/>
                          </a:rPr>
                          <m:t>2</m:t>
                        </m:r>
                      </m:sub>
                    </m:sSub>
                    <m:r>
                      <a:rPr lang="fr-FR" sz="1050" i="1">
                        <a:latin typeface="Cambria Math" panose="02040503050406030204" pitchFamily="18" charset="0"/>
                        <a:ea typeface="Cambria Math" panose="02040503050406030204" pitchFamily="18" charset="0"/>
                      </a:rPr>
                      <m:t>− </m:t>
                    </m:r>
                    <m:r>
                      <m:rPr>
                        <m:sty m:val="p"/>
                      </m:rPr>
                      <a:rPr lang="fr-FR" sz="1050">
                        <a:latin typeface="Cambria Math" panose="02040503050406030204" pitchFamily="18" charset="0"/>
                        <a:ea typeface="Cambria Math" panose="02040503050406030204" pitchFamily="18" charset="0"/>
                      </a:rPr>
                      <m:t>out</m:t>
                    </m:r>
                    <m:r>
                      <a:rPr lang="fr-FR" sz="1050">
                        <a:latin typeface="Cambria Math" panose="02040503050406030204" pitchFamily="18" charset="0"/>
                        <a:ea typeface="Cambria Math" panose="02040503050406030204" pitchFamily="18" charset="0"/>
                      </a:rPr>
                      <m:t>_</m:t>
                    </m:r>
                    <m:r>
                      <m:rPr>
                        <m:sty m:val="p"/>
                      </m:rPr>
                      <a:rPr lang="fr-FR" sz="1050">
                        <a:latin typeface="Cambria Math" panose="02040503050406030204" pitchFamily="18" charset="0"/>
                        <a:ea typeface="Cambria Math" panose="02040503050406030204" pitchFamily="18" charset="0"/>
                      </a:rPr>
                      <m:t>o</m:t>
                    </m:r>
                    <m:r>
                      <a:rPr lang="fr-FR" sz="1050">
                        <a:latin typeface="Cambria Math" panose="02040503050406030204" pitchFamily="18" charset="0"/>
                        <a:ea typeface="Cambria Math" panose="02040503050406030204" pitchFamily="18" charset="0"/>
                      </a:rPr>
                      <m:t>2</m:t>
                    </m:r>
                    <m:r>
                      <a:rPr lang="fr-FR" sz="1050" i="1">
                        <a:latin typeface="Cambria Math" panose="02040503050406030204" pitchFamily="18" charset="0"/>
                        <a:ea typeface="Cambria Math" panose="02040503050406030204" pitchFamily="18" charset="0"/>
                      </a:rPr>
                      <m:t>)×</m:t>
                    </m:r>
                    <m:r>
                      <m:rPr>
                        <m:nor/>
                      </m:rPr>
                      <a:rPr lang="fr-FR" sz="1050">
                        <a:latin typeface="Cambria Math" panose="02040503050406030204" pitchFamily="18" charset="0"/>
                        <a:ea typeface="Cambria Math" panose="02040503050406030204" pitchFamily="18" charset="0"/>
                      </a:rPr>
                      <m:t> </m:t>
                    </m:r>
                    <m:r>
                      <m:rPr>
                        <m:sty m:val="p"/>
                      </m:rPr>
                      <a:rPr lang="fr-FR" sz="1050">
                        <a:latin typeface="Cambria Math" panose="02040503050406030204" pitchFamily="18" charset="0"/>
                        <a:ea typeface="Cambria Math" panose="02040503050406030204" pitchFamily="18" charset="0"/>
                      </a:rPr>
                      <m:t>out</m:t>
                    </m:r>
                    <m:r>
                      <a:rPr lang="fr-FR" sz="1050">
                        <a:latin typeface="Cambria Math" panose="02040503050406030204" pitchFamily="18" charset="0"/>
                        <a:ea typeface="Cambria Math" panose="02040503050406030204" pitchFamily="18" charset="0"/>
                      </a:rPr>
                      <m:t>_</m:t>
                    </m:r>
                    <m:r>
                      <m:rPr>
                        <m:sty m:val="p"/>
                      </m:rPr>
                      <a:rPr lang="fr-FR" sz="1050">
                        <a:latin typeface="Cambria Math" panose="02040503050406030204" pitchFamily="18" charset="0"/>
                        <a:ea typeface="Cambria Math" panose="02040503050406030204" pitchFamily="18" charset="0"/>
                      </a:rPr>
                      <m:t>o</m:t>
                    </m:r>
                    <m:r>
                      <a:rPr lang="fr-FR" sz="1050">
                        <a:latin typeface="Cambria Math" panose="02040503050406030204" pitchFamily="18" charset="0"/>
                        <a:ea typeface="Cambria Math" panose="02040503050406030204" pitchFamily="18" charset="0"/>
                      </a:rPr>
                      <m:t>2(1−</m:t>
                    </m:r>
                    <m:r>
                      <m:rPr>
                        <m:sty m:val="p"/>
                      </m:rPr>
                      <a:rPr lang="fr-FR" sz="1050">
                        <a:latin typeface="Cambria Math" panose="02040503050406030204" pitchFamily="18" charset="0"/>
                        <a:ea typeface="Cambria Math" panose="02040503050406030204" pitchFamily="18" charset="0"/>
                      </a:rPr>
                      <m:t>out</m:t>
                    </m:r>
                    <m:r>
                      <a:rPr lang="fr-FR" sz="1050">
                        <a:latin typeface="Cambria Math" panose="02040503050406030204" pitchFamily="18" charset="0"/>
                        <a:ea typeface="Cambria Math" panose="02040503050406030204" pitchFamily="18" charset="0"/>
                      </a:rPr>
                      <m:t>_</m:t>
                    </m:r>
                    <m:r>
                      <m:rPr>
                        <m:sty m:val="p"/>
                      </m:rPr>
                      <a:rPr lang="fr-FR" sz="1050">
                        <a:latin typeface="Cambria Math" panose="02040503050406030204" pitchFamily="18" charset="0"/>
                        <a:ea typeface="Cambria Math" panose="02040503050406030204" pitchFamily="18" charset="0"/>
                      </a:rPr>
                      <m:t>o</m:t>
                    </m:r>
                    <m:r>
                      <a:rPr lang="fr-FR" sz="1050" i="1">
                        <a:latin typeface="Cambria Math" panose="02040503050406030204" pitchFamily="18" charset="0"/>
                        <a:ea typeface="Cambria Math" panose="02040503050406030204" pitchFamily="18" charset="0"/>
                      </a:rPr>
                      <m:t>2)×</m:t>
                    </m:r>
                    <m:r>
                      <a:rPr lang="fr-FR" sz="1050">
                        <a:latin typeface="Cambria Math" panose="02040503050406030204" pitchFamily="18" charset="0"/>
                        <a:ea typeface="Cambria Math" panose="02040503050406030204" pitchFamily="18" charset="0"/>
                      </a:rPr>
                      <m:t>(</m:t>
                    </m:r>
                    <m:r>
                      <m:rPr>
                        <m:sty m:val="p"/>
                      </m:rPr>
                      <a:rPr lang="fr-FR" sz="1050">
                        <a:latin typeface="Cambria Math" panose="02040503050406030204" pitchFamily="18" charset="0"/>
                        <a:ea typeface="Cambria Math" panose="02040503050406030204" pitchFamily="18" charset="0"/>
                      </a:rPr>
                      <m:t>w</m:t>
                    </m:r>
                    <m:r>
                      <a:rPr lang="fr-FR" sz="1050" i="1">
                        <a:latin typeface="Cambria Math" panose="02040503050406030204" pitchFamily="18" charset="0"/>
                        <a:ea typeface="Cambria Math" panose="02040503050406030204" pitchFamily="18" charset="0"/>
                      </a:rPr>
                      <m:t>8×1</m:t>
                    </m:r>
                    <m:r>
                      <a:rPr lang="fr-FR" sz="1050" i="1" baseline="-25000">
                        <a:latin typeface="Cambria Math" panose="02040503050406030204" pitchFamily="18" charset="0"/>
                        <a:ea typeface="Cambria Math" panose="02040503050406030204" pitchFamily="18" charset="0"/>
                      </a:rPr>
                      <m:t>{</m:t>
                    </m:r>
                    <m:r>
                      <a:rPr lang="fr-FR" sz="1050" i="1" baseline="-25000">
                        <a:latin typeface="Cambria Math" panose="02040503050406030204" pitchFamily="18" charset="0"/>
                        <a:ea typeface="Cambria Math" panose="02040503050406030204" pitchFamily="18" charset="0"/>
                      </a:rPr>
                      <m:t>𝑛𝑒𝑡</m:t>
                    </m:r>
                    <m:r>
                      <a:rPr lang="fr-FR" sz="1050" i="1" baseline="-25000">
                        <a:latin typeface="Cambria Math" panose="02040503050406030204" pitchFamily="18" charset="0"/>
                        <a:ea typeface="Cambria Math" panose="02040503050406030204" pitchFamily="18" charset="0"/>
                      </a:rPr>
                      <m:t>_</m:t>
                    </m:r>
                    <m:r>
                      <a:rPr lang="fr-FR" sz="1050" i="1" baseline="-25000">
                        <a:latin typeface="Cambria Math" panose="02040503050406030204" pitchFamily="18" charset="0"/>
                        <a:ea typeface="Cambria Math" panose="02040503050406030204" pitchFamily="18" charset="0"/>
                      </a:rPr>
                      <m:t>h</m:t>
                    </m:r>
                    <m:r>
                      <a:rPr lang="fr-FR" sz="1050" i="1" baseline="-25000">
                        <a:latin typeface="Cambria Math" panose="02040503050406030204" pitchFamily="18" charset="0"/>
                        <a:ea typeface="Cambria Math" panose="02040503050406030204" pitchFamily="18" charset="0"/>
                      </a:rPr>
                      <m:t>2≥0})</m:t>
                    </m:r>
                    <m:r>
                      <a:rPr lang="fr-FR" sz="1050">
                        <a:latin typeface="Cambria Math" panose="02040503050406030204" pitchFamily="18" charset="0"/>
                      </a:rPr>
                      <m:t> </m:t>
                    </m:r>
                    <m:r>
                      <a:rPr lang="fr-FR" sz="1050">
                        <a:solidFill>
                          <a:srgbClr val="FF0000"/>
                        </a:solidFill>
                        <a:latin typeface="Cambria Math" panose="02040503050406030204" pitchFamily="18" charset="0"/>
                      </a:rPr>
                      <m:t>+</m:t>
                    </m:r>
                    <m:r>
                      <m:rPr>
                        <m:sty m:val="p"/>
                      </m:rPr>
                      <a:rPr lang="fr-FR" sz="1050">
                        <a:latin typeface="Cambria Math" panose="02040503050406030204" pitchFamily="18" charset="0"/>
                      </a:rPr>
                      <m:t>w</m:t>
                    </m:r>
                    <m:r>
                      <a:rPr lang="fr-FR" sz="1050" i="1">
                        <a:latin typeface="Cambria Math" panose="02040503050406030204" pitchFamily="18" charset="0"/>
                      </a:rPr>
                      <m:t>7</m:t>
                    </m:r>
                    <m:r>
                      <a:rPr lang="fr-FR" sz="1050" i="1">
                        <a:latin typeface="Cambria Math" panose="02040503050406030204" pitchFamily="18" charset="0"/>
                        <a:ea typeface="Cambria Math" panose="02040503050406030204" pitchFamily="18" charset="0"/>
                      </a:rPr>
                      <m:t>×</m:t>
                    </m:r>
                    <m:r>
                      <a:rPr lang="fr-FR" sz="1050" i="1">
                        <a:latin typeface="Cambria Math" panose="02040503050406030204" pitchFamily="18" charset="0"/>
                      </a:rPr>
                      <m:t>1</m:t>
                    </m:r>
                    <m:r>
                      <a:rPr lang="fr-FR" sz="1050" i="1" baseline="-25000">
                        <a:latin typeface="Cambria Math" panose="02040503050406030204" pitchFamily="18" charset="0"/>
                      </a:rPr>
                      <m:t>{</m:t>
                    </m:r>
                    <m:r>
                      <m:rPr>
                        <m:sty m:val="p"/>
                      </m:rPr>
                      <a:rPr lang="fr-FR" sz="1050" baseline="-25000">
                        <a:latin typeface="Cambria Math" panose="02040503050406030204" pitchFamily="18" charset="0"/>
                      </a:rPr>
                      <m:t>net</m:t>
                    </m:r>
                    <m:r>
                      <a:rPr lang="fr-FR" sz="1050" baseline="-25000">
                        <a:latin typeface="Cambria Math" panose="02040503050406030204" pitchFamily="18" charset="0"/>
                      </a:rPr>
                      <m:t>_</m:t>
                    </m:r>
                    <m:r>
                      <m:rPr>
                        <m:sty m:val="p"/>
                      </m:rPr>
                      <a:rPr lang="fr-FR" sz="1050" baseline="-25000">
                        <a:latin typeface="Cambria Math" panose="02040503050406030204" pitchFamily="18" charset="0"/>
                      </a:rPr>
                      <m:t>h</m:t>
                    </m:r>
                  </m:oMath>
                </a14:m>
                <a:r>
                  <a:rPr lang="fr-FR" sz="1050" baseline="-25000" dirty="0">
                    <a:ea typeface="Cambria Math" panose="02040503050406030204" pitchFamily="18" charset="0"/>
                  </a:rPr>
                  <a:t>1 </a:t>
                </a:r>
                <a14:m>
                  <m:oMath xmlns:m="http://schemas.openxmlformats.org/officeDocument/2006/math">
                    <m:r>
                      <a:rPr lang="fr-FR" sz="1050" i="1" baseline="-25000">
                        <a:latin typeface="Cambria Math" panose="02040503050406030204" pitchFamily="18" charset="0"/>
                        <a:ea typeface="Cambria Math" panose="02040503050406030204" pitchFamily="18" charset="0"/>
                      </a:rPr>
                      <m:t>&gt;0</m:t>
                    </m:r>
                    <m:r>
                      <a:rPr lang="fr-FR" sz="1050" i="1" baseline="-25000">
                        <a:latin typeface="Cambria Math" panose="02040503050406030204" pitchFamily="18" charset="0"/>
                      </a:rPr>
                      <m:t>}</m:t>
                    </m:r>
                  </m:oMath>
                </a14:m>
                <a:r>
                  <a:rPr lang="fr-FR" sz="1050" dirty="0">
                    <a:ea typeface="Cambria Math" panose="02040503050406030204" pitchFamily="18" charset="0"/>
                  </a:rPr>
                  <a:t> </a:t>
                </a:r>
                <a14:m>
                  <m:oMath xmlns:m="http://schemas.openxmlformats.org/officeDocument/2006/math">
                    <m:r>
                      <a:rPr lang="fr-FR" sz="1050" i="1" dirty="0">
                        <a:latin typeface="Cambria Math" panose="02040503050406030204" pitchFamily="18" charset="0"/>
                        <a:ea typeface="Cambria Math" panose="02040503050406030204" pitchFamily="18" charset="0"/>
                      </a:rPr>
                      <m:t>)</m:t>
                    </m:r>
                  </m:oMath>
                </a14:m>
                <a:endParaRPr lang="fr-FR" sz="1050" dirty="0"/>
              </a:p>
            </p:txBody>
          </p:sp>
        </mc:Choice>
        <mc:Fallback xmlns="">
          <p:sp>
            <p:nvSpPr>
              <p:cNvPr id="14" name="ZoneTexte 13">
                <a:extLst>
                  <a:ext uri="{FF2B5EF4-FFF2-40B4-BE49-F238E27FC236}">
                    <a16:creationId xmlns:a16="http://schemas.microsoft.com/office/drawing/2014/main" id="{65BF57D1-83DC-3694-6165-0672C7596913}"/>
                  </a:ext>
                </a:extLst>
              </p:cNvPr>
              <p:cNvSpPr txBox="1">
                <a:spLocks noRot="1" noChangeAspect="1" noMove="1" noResize="1" noEditPoints="1" noAdjustHandles="1" noChangeArrowheads="1" noChangeShapeType="1" noTextEdit="1"/>
              </p:cNvSpPr>
              <p:nvPr/>
            </p:nvSpPr>
            <p:spPr>
              <a:xfrm>
                <a:off x="6317685" y="5776272"/>
                <a:ext cx="5728993" cy="329899"/>
              </a:xfrm>
              <a:prstGeom prst="rect">
                <a:avLst/>
              </a:prstGeom>
              <a:blipFill>
                <a:blip r:embed="rId11"/>
                <a:stretch>
                  <a:fillRect/>
                </a:stretch>
              </a:blipFill>
              <a:ln>
                <a:solidFill>
                  <a:srgbClr val="FF0000"/>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ZoneTexte 14">
                <a:extLst>
                  <a:ext uri="{FF2B5EF4-FFF2-40B4-BE49-F238E27FC236}">
                    <a16:creationId xmlns:a16="http://schemas.microsoft.com/office/drawing/2014/main" id="{27A8EEDE-0AB7-C4CA-9C59-1EEEC2189566}"/>
                  </a:ext>
                </a:extLst>
              </p:cNvPr>
              <p:cNvSpPr txBox="1"/>
              <p:nvPr/>
            </p:nvSpPr>
            <p:spPr>
              <a:xfrm>
                <a:off x="379474" y="4138545"/>
                <a:ext cx="5726236" cy="333199"/>
              </a:xfrm>
              <a:prstGeom prst="rect">
                <a:avLst/>
              </a:prstGeom>
              <a:noFill/>
              <a:ln>
                <a:solidFill>
                  <a:srgbClr val="FF0000"/>
                </a:solidFill>
              </a:ln>
            </p:spPr>
            <p:txBody>
              <a:bodyPr wrap="square" rtlCol="0">
                <a:noAutofit/>
              </a:bodyPr>
              <a:lstStyle/>
              <a:p>
                <a:pPr/>
                <a14:m>
                  <m:oMathPara xmlns:m="http://schemas.openxmlformats.org/officeDocument/2006/math">
                    <m:oMathParaPr>
                      <m:jc m:val="left"/>
                    </m:oMathParaPr>
                    <m:oMath xmlns:m="http://schemas.openxmlformats.org/officeDocument/2006/math">
                      <m:f>
                        <m:fPr>
                          <m:ctrlPr>
                            <a:rPr lang="fr-FR" sz="900" i="1">
                              <a:latin typeface="Cambria Math" panose="02040503050406030204" pitchFamily="18" charset="0"/>
                            </a:rPr>
                          </m:ctrlPr>
                        </m:fPr>
                        <m:num>
                          <m:r>
                            <a:rPr lang="fr-FR" sz="900">
                              <a:latin typeface="Cambria Math" panose="02040503050406030204" pitchFamily="18" charset="0"/>
                            </a:rPr>
                            <m:t>𝜕</m:t>
                          </m:r>
                          <m:r>
                            <m:rPr>
                              <m:sty m:val="p"/>
                            </m:rPr>
                            <a:rPr lang="fr-FR" sz="900">
                              <a:latin typeface="Cambria Math" panose="02040503050406030204" pitchFamily="18" charset="0"/>
                            </a:rPr>
                            <m:t>Loss</m:t>
                          </m:r>
                          <m:r>
                            <a:rPr lang="fr-FR" sz="900">
                              <a:latin typeface="Cambria Math" panose="02040503050406030204" pitchFamily="18" charset="0"/>
                            </a:rPr>
                            <m:t>1</m:t>
                          </m:r>
                        </m:num>
                        <m:den>
                          <m:r>
                            <a:rPr lang="fr-FR" sz="900">
                              <a:latin typeface="Cambria Math" panose="02040503050406030204" pitchFamily="18" charset="0"/>
                            </a:rPr>
                            <m:t>𝜕</m:t>
                          </m:r>
                          <m:r>
                            <m:rPr>
                              <m:sty m:val="p"/>
                            </m:rPr>
                            <a:rPr lang="fr-FR" sz="900">
                              <a:latin typeface="Cambria Math" panose="02040503050406030204" pitchFamily="18" charset="0"/>
                            </a:rPr>
                            <m:t>w</m:t>
                          </m:r>
                          <m:r>
                            <a:rPr lang="fr-FR" sz="900">
                              <a:latin typeface="Cambria Math" panose="02040503050406030204" pitchFamily="18" charset="0"/>
                            </a:rPr>
                            <m:t>5</m:t>
                          </m:r>
                        </m:den>
                      </m:f>
                      <m:r>
                        <a:rPr lang="fr-FR" sz="900">
                          <a:latin typeface="Cambria Math" panose="02040503050406030204" pitchFamily="18" charset="0"/>
                        </a:rPr>
                        <m:t>=</m:t>
                      </m:r>
                      <m:r>
                        <m:rPr>
                          <m:nor/>
                        </m:rPr>
                        <a:rPr lang="fr-FR" sz="900">
                          <a:latin typeface="Cambria Math" panose="02040503050406030204" pitchFamily="18" charset="0"/>
                        </a:rPr>
                        <m:t>−2</m:t>
                      </m:r>
                      <m:r>
                        <m:rPr>
                          <m:nor/>
                        </m:rPr>
                        <a:rPr lang="fr-FR" sz="900" dirty="0">
                          <a:latin typeface="Cambria Math" panose="02040503050406030204" pitchFamily="18" charset="0"/>
                          <a:ea typeface="Cambria Math" panose="02040503050406030204" pitchFamily="18" charset="0"/>
                        </a:rPr>
                        <m:t>(</m:t>
                      </m:r>
                      <m:sSub>
                        <m:sSubPr>
                          <m:ctrlPr>
                            <a:rPr lang="fr-FR" sz="900" i="1" dirty="0">
                              <a:latin typeface="Cambria Math" panose="02040503050406030204" pitchFamily="18" charset="0"/>
                              <a:ea typeface="Cambria Math" panose="02040503050406030204" pitchFamily="18" charset="0"/>
                            </a:rPr>
                          </m:ctrlPr>
                        </m:sSubPr>
                        <m:e>
                          <m:r>
                            <m:rPr>
                              <m:sty m:val="p"/>
                            </m:rPr>
                            <a:rPr lang="fr-FR" sz="900">
                              <a:latin typeface="Cambria Math" panose="02040503050406030204" pitchFamily="18" charset="0"/>
                              <a:ea typeface="Cambria Math" panose="02040503050406030204" pitchFamily="18" charset="0"/>
                            </a:rPr>
                            <m:t>target</m:t>
                          </m:r>
                        </m:e>
                        <m:sub>
                          <m:r>
                            <m:rPr>
                              <m:sty m:val="p"/>
                            </m:rPr>
                            <a:rPr lang="fr-FR" sz="900">
                              <a:latin typeface="Cambria Math" panose="02040503050406030204" pitchFamily="18" charset="0"/>
                              <a:ea typeface="Cambria Math" panose="02040503050406030204" pitchFamily="18" charset="0"/>
                            </a:rPr>
                            <m:t>o</m:t>
                          </m:r>
                          <m:r>
                            <a:rPr lang="fr-FR" sz="900">
                              <a:latin typeface="Cambria Math" panose="02040503050406030204" pitchFamily="18" charset="0"/>
                              <a:ea typeface="Cambria Math" panose="02040503050406030204" pitchFamily="18" charset="0"/>
                            </a:rPr>
                            <m:t>1</m:t>
                          </m:r>
                        </m:sub>
                      </m:sSub>
                      <m:r>
                        <a:rPr lang="fr-FR" sz="900" i="1">
                          <a:latin typeface="Cambria Math" panose="02040503050406030204" pitchFamily="18" charset="0"/>
                          <a:ea typeface="Cambria Math" panose="02040503050406030204" pitchFamily="18" charset="0"/>
                        </a:rPr>
                        <m:t>− </m:t>
                      </m:r>
                      <m:r>
                        <m:rPr>
                          <m:sty m:val="p"/>
                        </m:rPr>
                        <a:rPr lang="fr-FR" sz="900">
                          <a:latin typeface="Cambria Math" panose="02040503050406030204" pitchFamily="18" charset="0"/>
                          <a:ea typeface="Cambria Math" panose="02040503050406030204" pitchFamily="18" charset="0"/>
                        </a:rPr>
                        <m:t>out</m:t>
                      </m:r>
                      <m:r>
                        <a:rPr lang="fr-FR" sz="900">
                          <a:latin typeface="Cambria Math" panose="02040503050406030204" pitchFamily="18" charset="0"/>
                          <a:ea typeface="Cambria Math" panose="02040503050406030204" pitchFamily="18" charset="0"/>
                        </a:rPr>
                        <m:t>_</m:t>
                      </m:r>
                      <m:r>
                        <m:rPr>
                          <m:sty m:val="p"/>
                        </m:rPr>
                        <a:rPr lang="fr-FR" sz="900">
                          <a:latin typeface="Cambria Math" panose="02040503050406030204" pitchFamily="18" charset="0"/>
                          <a:ea typeface="Cambria Math" panose="02040503050406030204" pitchFamily="18" charset="0"/>
                        </a:rPr>
                        <m:t>o</m:t>
                      </m:r>
                      <m:r>
                        <a:rPr lang="fr-FR" sz="900">
                          <a:latin typeface="Cambria Math" panose="02040503050406030204" pitchFamily="18" charset="0"/>
                          <a:ea typeface="Cambria Math" panose="02040503050406030204" pitchFamily="18" charset="0"/>
                        </a:rPr>
                        <m:t>1</m:t>
                      </m:r>
                      <m:r>
                        <m:rPr>
                          <m:nor/>
                        </m:rPr>
                        <a:rPr lang="fr-FR" sz="900" dirty="0">
                          <a:latin typeface="Cambria Math" panose="02040503050406030204" pitchFamily="18" charset="0"/>
                          <a:ea typeface="Cambria Math" panose="02040503050406030204" pitchFamily="18" charset="0"/>
                        </a:rPr>
                        <m:t>)</m:t>
                      </m:r>
                      <m:r>
                        <a:rPr lang="fr-FR" sz="900" i="1">
                          <a:latin typeface="Cambria Math" panose="02040503050406030204" pitchFamily="18" charset="0"/>
                          <a:ea typeface="Cambria Math" panose="02040503050406030204" pitchFamily="18" charset="0"/>
                        </a:rPr>
                        <m:t>×</m:t>
                      </m:r>
                      <m:r>
                        <m:rPr>
                          <m:sty m:val="p"/>
                        </m:rPr>
                        <a:rPr lang="fr-FR" sz="900">
                          <a:latin typeface="Cambria Math" panose="02040503050406030204" pitchFamily="18" charset="0"/>
                          <a:ea typeface="Cambria Math" panose="02040503050406030204" pitchFamily="18" charset="0"/>
                        </a:rPr>
                        <m:t>out</m:t>
                      </m:r>
                      <m:r>
                        <a:rPr lang="fr-FR" sz="900">
                          <a:latin typeface="Cambria Math" panose="02040503050406030204" pitchFamily="18" charset="0"/>
                          <a:ea typeface="Cambria Math" panose="02040503050406030204" pitchFamily="18" charset="0"/>
                        </a:rPr>
                        <m:t>_</m:t>
                      </m:r>
                      <m:r>
                        <m:rPr>
                          <m:sty m:val="p"/>
                        </m:rPr>
                        <a:rPr lang="fr-FR" sz="900">
                          <a:latin typeface="Cambria Math" panose="02040503050406030204" pitchFamily="18" charset="0"/>
                          <a:ea typeface="Cambria Math" panose="02040503050406030204" pitchFamily="18" charset="0"/>
                        </a:rPr>
                        <m:t>o</m:t>
                      </m:r>
                      <m:r>
                        <a:rPr lang="fr-FR" sz="900">
                          <a:latin typeface="Cambria Math" panose="02040503050406030204" pitchFamily="18" charset="0"/>
                          <a:ea typeface="Cambria Math" panose="02040503050406030204" pitchFamily="18" charset="0"/>
                        </a:rPr>
                        <m:t>1(1−</m:t>
                      </m:r>
                      <m:r>
                        <m:rPr>
                          <m:sty m:val="p"/>
                        </m:rPr>
                        <a:rPr lang="fr-FR" sz="900">
                          <a:latin typeface="Cambria Math" panose="02040503050406030204" pitchFamily="18" charset="0"/>
                          <a:ea typeface="Cambria Math" panose="02040503050406030204" pitchFamily="18" charset="0"/>
                        </a:rPr>
                        <m:t>out</m:t>
                      </m:r>
                      <m:r>
                        <a:rPr lang="fr-FR" sz="900">
                          <a:latin typeface="Cambria Math" panose="02040503050406030204" pitchFamily="18" charset="0"/>
                          <a:ea typeface="Cambria Math" panose="02040503050406030204" pitchFamily="18" charset="0"/>
                        </a:rPr>
                        <m:t>_</m:t>
                      </m:r>
                      <m:r>
                        <m:rPr>
                          <m:sty m:val="p"/>
                        </m:rPr>
                        <a:rPr lang="fr-FR" sz="900">
                          <a:latin typeface="Cambria Math" panose="02040503050406030204" pitchFamily="18" charset="0"/>
                          <a:ea typeface="Cambria Math" panose="02040503050406030204" pitchFamily="18" charset="0"/>
                        </a:rPr>
                        <m:t>o</m:t>
                      </m:r>
                      <m:r>
                        <a:rPr lang="fr-FR" sz="900">
                          <a:latin typeface="Cambria Math" panose="02040503050406030204" pitchFamily="18" charset="0"/>
                          <a:ea typeface="Cambria Math" panose="02040503050406030204" pitchFamily="18" charset="0"/>
                        </a:rPr>
                        <m:t>1</m:t>
                      </m:r>
                      <m:r>
                        <a:rPr lang="fr-FR" sz="900" i="1">
                          <a:latin typeface="Cambria Math" panose="02040503050406030204" pitchFamily="18" charset="0"/>
                          <a:ea typeface="Cambria Math" panose="02040503050406030204" pitchFamily="18" charset="0"/>
                        </a:rPr>
                        <m:t>)×</m:t>
                      </m:r>
                      <m:r>
                        <m:rPr>
                          <m:sty m:val="p"/>
                        </m:rPr>
                        <a:rPr lang="fr-FR" sz="900">
                          <a:latin typeface="Cambria Math" panose="02040503050406030204" pitchFamily="18" charset="0"/>
                        </a:rPr>
                        <m:t>out</m:t>
                      </m:r>
                      <m:r>
                        <a:rPr lang="fr-FR" sz="900">
                          <a:latin typeface="Cambria Math" panose="02040503050406030204" pitchFamily="18" charset="0"/>
                        </a:rPr>
                        <m:t>_</m:t>
                      </m:r>
                      <m:r>
                        <m:rPr>
                          <m:sty m:val="p"/>
                        </m:rPr>
                        <a:rPr lang="fr-FR" sz="900">
                          <a:latin typeface="Cambria Math" panose="02040503050406030204" pitchFamily="18" charset="0"/>
                        </a:rPr>
                        <m:t>h</m:t>
                      </m:r>
                      <m:r>
                        <a:rPr lang="fr-FR" sz="900">
                          <a:latin typeface="Cambria Math" panose="02040503050406030204" pitchFamily="18" charset="0"/>
                        </a:rPr>
                        <m:t>1</m:t>
                      </m:r>
                    </m:oMath>
                  </m:oMathPara>
                </a14:m>
                <a:endParaRPr lang="fr-FR" sz="900" dirty="0"/>
              </a:p>
            </p:txBody>
          </p:sp>
        </mc:Choice>
        <mc:Fallback xmlns="">
          <p:sp>
            <p:nvSpPr>
              <p:cNvPr id="15" name="ZoneTexte 14">
                <a:extLst>
                  <a:ext uri="{FF2B5EF4-FFF2-40B4-BE49-F238E27FC236}">
                    <a16:creationId xmlns:a16="http://schemas.microsoft.com/office/drawing/2014/main" id="{27A8EEDE-0AB7-C4CA-9C59-1EEEC2189566}"/>
                  </a:ext>
                </a:extLst>
              </p:cNvPr>
              <p:cNvSpPr txBox="1">
                <a:spLocks noRot="1" noChangeAspect="1" noMove="1" noResize="1" noEditPoints="1" noAdjustHandles="1" noChangeArrowheads="1" noChangeShapeType="1" noTextEdit="1"/>
              </p:cNvSpPr>
              <p:nvPr/>
            </p:nvSpPr>
            <p:spPr>
              <a:xfrm>
                <a:off x="379474" y="4138545"/>
                <a:ext cx="5726236" cy="333199"/>
              </a:xfrm>
              <a:prstGeom prst="rect">
                <a:avLst/>
              </a:prstGeom>
              <a:blipFill>
                <a:blip r:embed="rId12"/>
                <a:stretch>
                  <a:fillRect/>
                </a:stretch>
              </a:blipFill>
              <a:ln>
                <a:solidFill>
                  <a:srgbClr val="FF0000"/>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ZoneTexte 15">
                <a:extLst>
                  <a:ext uri="{FF2B5EF4-FFF2-40B4-BE49-F238E27FC236}">
                    <a16:creationId xmlns:a16="http://schemas.microsoft.com/office/drawing/2014/main" id="{F65E906A-D227-3559-9F6F-45D213C444FF}"/>
                  </a:ext>
                </a:extLst>
              </p:cNvPr>
              <p:cNvSpPr txBox="1"/>
              <p:nvPr/>
            </p:nvSpPr>
            <p:spPr>
              <a:xfrm>
                <a:off x="379473" y="4959564"/>
                <a:ext cx="5734704" cy="363882"/>
              </a:xfrm>
              <a:prstGeom prst="rect">
                <a:avLst/>
              </a:prstGeom>
              <a:noFill/>
              <a:ln>
                <a:solidFill>
                  <a:srgbClr val="FF0000"/>
                </a:solidFill>
              </a:ln>
            </p:spPr>
            <p:txBody>
              <a:bodyPr wrap="square" rtlCol="0">
                <a:noAutofit/>
              </a:bodyPr>
              <a:lstStyle/>
              <a:p>
                <a14:m>
                  <m:oMath xmlns:m="http://schemas.openxmlformats.org/officeDocument/2006/math">
                    <m:f>
                      <m:fPr>
                        <m:ctrlPr>
                          <a:rPr lang="fr-FR" sz="1100" i="1">
                            <a:latin typeface="Cambria Math" panose="02040503050406030204" pitchFamily="18" charset="0"/>
                          </a:rPr>
                        </m:ctrlPr>
                      </m:fPr>
                      <m:num>
                        <m:r>
                          <a:rPr lang="fr-FR" sz="1100">
                            <a:latin typeface="Cambria Math" panose="02040503050406030204" pitchFamily="18" charset="0"/>
                          </a:rPr>
                          <m:t>𝜕</m:t>
                        </m:r>
                        <m:r>
                          <m:rPr>
                            <m:sty m:val="p"/>
                          </m:rPr>
                          <a:rPr lang="fr-FR" sz="1100">
                            <a:latin typeface="Cambria Math" panose="02040503050406030204" pitchFamily="18" charset="0"/>
                          </a:rPr>
                          <m:t>Loss</m:t>
                        </m:r>
                        <m:r>
                          <a:rPr lang="fr-FR" sz="1100">
                            <a:latin typeface="Cambria Math" panose="02040503050406030204" pitchFamily="18" charset="0"/>
                          </a:rPr>
                          <m:t>2</m:t>
                        </m:r>
                      </m:num>
                      <m:den>
                        <m:r>
                          <a:rPr lang="fr-FR" sz="1100">
                            <a:latin typeface="Cambria Math" panose="02040503050406030204" pitchFamily="18" charset="0"/>
                          </a:rPr>
                          <m:t>𝜕</m:t>
                        </m:r>
                        <m:r>
                          <m:rPr>
                            <m:sty m:val="p"/>
                          </m:rPr>
                          <a:rPr lang="fr-FR" sz="1100">
                            <a:latin typeface="Cambria Math" panose="02040503050406030204" pitchFamily="18" charset="0"/>
                          </a:rPr>
                          <m:t>w</m:t>
                        </m:r>
                        <m:r>
                          <a:rPr lang="fr-FR" sz="1100">
                            <a:latin typeface="Cambria Math" panose="02040503050406030204" pitchFamily="18" charset="0"/>
                          </a:rPr>
                          <m:t>8</m:t>
                        </m:r>
                      </m:den>
                    </m:f>
                    <m:r>
                      <a:rPr lang="fr-FR" sz="1100">
                        <a:latin typeface="Cambria Math" panose="02040503050406030204" pitchFamily="18" charset="0"/>
                      </a:rPr>
                      <m:t>=</m:t>
                    </m:r>
                    <m:r>
                      <m:rPr>
                        <m:nor/>
                      </m:rPr>
                      <a:rPr lang="fr-FR" sz="1100">
                        <a:latin typeface="Cambria Math" panose="02040503050406030204" pitchFamily="18" charset="0"/>
                        <a:ea typeface="Cambria Math" panose="02040503050406030204" pitchFamily="18" charset="0"/>
                      </a:rPr>
                      <m:t>−2</m:t>
                    </m:r>
                    <m:r>
                      <m:rPr>
                        <m:nor/>
                      </m:rPr>
                      <a:rPr lang="fr-FR" sz="1100" dirty="0">
                        <a:latin typeface="Cambria Math" panose="02040503050406030204" pitchFamily="18" charset="0"/>
                        <a:ea typeface="Cambria Math" panose="02040503050406030204" pitchFamily="18" charset="0"/>
                      </a:rPr>
                      <m:t>(</m:t>
                    </m:r>
                    <m:sSub>
                      <m:sSubPr>
                        <m:ctrlPr>
                          <a:rPr lang="fr-FR" sz="1100" i="1" dirty="0">
                            <a:latin typeface="Cambria Math" panose="02040503050406030204" pitchFamily="18" charset="0"/>
                            <a:ea typeface="Cambria Math" panose="02040503050406030204" pitchFamily="18" charset="0"/>
                          </a:rPr>
                        </m:ctrlPr>
                      </m:sSubPr>
                      <m:e>
                        <m:r>
                          <m:rPr>
                            <m:sty m:val="p"/>
                          </m:rPr>
                          <a:rPr lang="fr-FR" sz="1100">
                            <a:latin typeface="Cambria Math" panose="02040503050406030204" pitchFamily="18" charset="0"/>
                            <a:ea typeface="Cambria Math" panose="02040503050406030204" pitchFamily="18" charset="0"/>
                          </a:rPr>
                          <m:t>target</m:t>
                        </m:r>
                      </m:e>
                      <m:sub>
                        <m:r>
                          <m:rPr>
                            <m:sty m:val="p"/>
                          </m:rPr>
                          <a:rPr lang="fr-FR" sz="1100">
                            <a:latin typeface="Cambria Math" panose="02040503050406030204" pitchFamily="18" charset="0"/>
                            <a:ea typeface="Cambria Math" panose="02040503050406030204" pitchFamily="18" charset="0"/>
                          </a:rPr>
                          <m:t>o</m:t>
                        </m:r>
                        <m:r>
                          <m:rPr>
                            <m:nor/>
                          </m:rPr>
                          <a:rPr lang="fr-FR" sz="1100">
                            <a:latin typeface="Cambria Math" panose="02040503050406030204" pitchFamily="18" charset="0"/>
                            <a:ea typeface="Cambria Math" panose="02040503050406030204" pitchFamily="18" charset="0"/>
                          </a:rPr>
                          <m:t>2</m:t>
                        </m:r>
                      </m:sub>
                    </m:sSub>
                    <m:r>
                      <a:rPr lang="fr-FR" sz="1100" i="1">
                        <a:latin typeface="Cambria Math" panose="02040503050406030204" pitchFamily="18" charset="0"/>
                        <a:ea typeface="Cambria Math" panose="02040503050406030204" pitchFamily="18" charset="0"/>
                      </a:rPr>
                      <m:t>− </m:t>
                    </m:r>
                    <m:r>
                      <m:rPr>
                        <m:sty m:val="p"/>
                      </m:rPr>
                      <a:rPr lang="fr-FR" sz="1100">
                        <a:latin typeface="Cambria Math" panose="02040503050406030204" pitchFamily="18" charset="0"/>
                        <a:ea typeface="Cambria Math" panose="02040503050406030204" pitchFamily="18" charset="0"/>
                      </a:rPr>
                      <m:t>out</m:t>
                    </m:r>
                    <m:r>
                      <a:rPr lang="fr-FR" sz="1100">
                        <a:latin typeface="Cambria Math" panose="02040503050406030204" pitchFamily="18" charset="0"/>
                        <a:ea typeface="Cambria Math" panose="02040503050406030204" pitchFamily="18" charset="0"/>
                      </a:rPr>
                      <m:t>_</m:t>
                    </m:r>
                    <m:r>
                      <m:rPr>
                        <m:sty m:val="p"/>
                      </m:rPr>
                      <a:rPr lang="fr-FR" sz="1100">
                        <a:latin typeface="Cambria Math" panose="02040503050406030204" pitchFamily="18" charset="0"/>
                        <a:ea typeface="Cambria Math" panose="02040503050406030204" pitchFamily="18" charset="0"/>
                      </a:rPr>
                      <m:t>o</m:t>
                    </m:r>
                    <m:r>
                      <a:rPr lang="fr-FR" sz="1100">
                        <a:latin typeface="Cambria Math" panose="02040503050406030204" pitchFamily="18" charset="0"/>
                        <a:ea typeface="Cambria Math" panose="02040503050406030204" pitchFamily="18" charset="0"/>
                      </a:rPr>
                      <m:t>2</m:t>
                    </m:r>
                    <m:r>
                      <a:rPr lang="fr-FR" sz="1100" i="1">
                        <a:latin typeface="Cambria Math" panose="02040503050406030204" pitchFamily="18" charset="0"/>
                        <a:ea typeface="Cambria Math" panose="02040503050406030204" pitchFamily="18" charset="0"/>
                      </a:rPr>
                      <m:t>)×</m:t>
                    </m:r>
                    <m:r>
                      <m:rPr>
                        <m:sty m:val="p"/>
                      </m:rPr>
                      <a:rPr lang="fr-FR" sz="1100">
                        <a:latin typeface="Cambria Math" panose="02040503050406030204" pitchFamily="18" charset="0"/>
                        <a:ea typeface="Cambria Math" panose="02040503050406030204" pitchFamily="18" charset="0"/>
                      </a:rPr>
                      <m:t>out</m:t>
                    </m:r>
                    <m:r>
                      <a:rPr lang="fr-FR" sz="1100">
                        <a:latin typeface="Cambria Math" panose="02040503050406030204" pitchFamily="18" charset="0"/>
                        <a:ea typeface="Cambria Math" panose="02040503050406030204" pitchFamily="18" charset="0"/>
                      </a:rPr>
                      <m:t>_</m:t>
                    </m:r>
                    <m:r>
                      <m:rPr>
                        <m:sty m:val="p"/>
                      </m:rPr>
                      <a:rPr lang="fr-FR" sz="1100">
                        <a:latin typeface="Cambria Math" panose="02040503050406030204" pitchFamily="18" charset="0"/>
                        <a:ea typeface="Cambria Math" panose="02040503050406030204" pitchFamily="18" charset="0"/>
                      </a:rPr>
                      <m:t>o</m:t>
                    </m:r>
                    <m:r>
                      <a:rPr lang="fr-FR" sz="1100">
                        <a:latin typeface="Cambria Math" panose="02040503050406030204" pitchFamily="18" charset="0"/>
                        <a:ea typeface="Cambria Math" panose="02040503050406030204" pitchFamily="18" charset="0"/>
                      </a:rPr>
                      <m:t>2(1−</m:t>
                    </m:r>
                    <m:r>
                      <m:rPr>
                        <m:sty m:val="p"/>
                      </m:rPr>
                      <a:rPr lang="fr-FR" sz="1100">
                        <a:latin typeface="Cambria Math" panose="02040503050406030204" pitchFamily="18" charset="0"/>
                        <a:ea typeface="Cambria Math" panose="02040503050406030204" pitchFamily="18" charset="0"/>
                      </a:rPr>
                      <m:t>out</m:t>
                    </m:r>
                    <m:r>
                      <a:rPr lang="fr-FR" sz="1100">
                        <a:latin typeface="Cambria Math" panose="02040503050406030204" pitchFamily="18" charset="0"/>
                        <a:ea typeface="Cambria Math" panose="02040503050406030204" pitchFamily="18" charset="0"/>
                      </a:rPr>
                      <m:t>_</m:t>
                    </m:r>
                    <m:r>
                      <m:rPr>
                        <m:sty m:val="p"/>
                      </m:rPr>
                      <a:rPr lang="fr-FR" sz="1100">
                        <a:latin typeface="Cambria Math" panose="02040503050406030204" pitchFamily="18" charset="0"/>
                        <a:ea typeface="Cambria Math" panose="02040503050406030204" pitchFamily="18" charset="0"/>
                      </a:rPr>
                      <m:t>o</m:t>
                    </m:r>
                    <m:r>
                      <a:rPr lang="fr-FR" sz="1100" i="1">
                        <a:latin typeface="Cambria Math" panose="02040503050406030204" pitchFamily="18" charset="0"/>
                        <a:ea typeface="Cambria Math" panose="02040503050406030204" pitchFamily="18" charset="0"/>
                      </a:rPr>
                      <m:t>2)×</m:t>
                    </m:r>
                    <m:r>
                      <m:rPr>
                        <m:sty m:val="p"/>
                      </m:rPr>
                      <a:rPr lang="fr-FR" sz="1100">
                        <a:latin typeface="Cambria Math" panose="02040503050406030204" pitchFamily="18" charset="0"/>
                      </a:rPr>
                      <m:t>out</m:t>
                    </m:r>
                    <m:r>
                      <a:rPr lang="fr-FR" sz="1100">
                        <a:latin typeface="Cambria Math" panose="02040503050406030204" pitchFamily="18" charset="0"/>
                      </a:rPr>
                      <m:t>_</m:t>
                    </m:r>
                    <m:r>
                      <m:rPr>
                        <m:sty m:val="p"/>
                      </m:rPr>
                      <a:rPr lang="fr-FR" sz="1100">
                        <a:latin typeface="Cambria Math" panose="02040503050406030204" pitchFamily="18" charset="0"/>
                      </a:rPr>
                      <m:t>h</m:t>
                    </m:r>
                  </m:oMath>
                </a14:m>
                <a:r>
                  <a:rPr lang="fr-FR" sz="1100" dirty="0"/>
                  <a:t>2</a:t>
                </a:r>
                <a:endParaRPr lang="fr-FR" sz="1050" dirty="0"/>
              </a:p>
            </p:txBody>
          </p:sp>
        </mc:Choice>
        <mc:Fallback xmlns="">
          <p:sp>
            <p:nvSpPr>
              <p:cNvPr id="16" name="ZoneTexte 15">
                <a:extLst>
                  <a:ext uri="{FF2B5EF4-FFF2-40B4-BE49-F238E27FC236}">
                    <a16:creationId xmlns:a16="http://schemas.microsoft.com/office/drawing/2014/main" id="{F65E906A-D227-3559-9F6F-45D213C444FF}"/>
                  </a:ext>
                </a:extLst>
              </p:cNvPr>
              <p:cNvSpPr txBox="1">
                <a:spLocks noRot="1" noChangeAspect="1" noMove="1" noResize="1" noEditPoints="1" noAdjustHandles="1" noChangeArrowheads="1" noChangeShapeType="1" noTextEdit="1"/>
              </p:cNvSpPr>
              <p:nvPr/>
            </p:nvSpPr>
            <p:spPr>
              <a:xfrm>
                <a:off x="379473" y="4959564"/>
                <a:ext cx="5734704" cy="363882"/>
              </a:xfrm>
              <a:prstGeom prst="rect">
                <a:avLst/>
              </a:prstGeom>
              <a:blipFill>
                <a:blip r:embed="rId13"/>
                <a:stretch>
                  <a:fillRect/>
                </a:stretch>
              </a:blipFill>
              <a:ln>
                <a:solidFill>
                  <a:srgbClr val="FF0000"/>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ZoneTexte 16">
                <a:extLst>
                  <a:ext uri="{FF2B5EF4-FFF2-40B4-BE49-F238E27FC236}">
                    <a16:creationId xmlns:a16="http://schemas.microsoft.com/office/drawing/2014/main" id="{4E5197B4-28D9-8377-AB66-39B6E972EE12}"/>
                  </a:ext>
                </a:extLst>
              </p:cNvPr>
              <p:cNvSpPr txBox="1"/>
              <p:nvPr/>
            </p:nvSpPr>
            <p:spPr>
              <a:xfrm>
                <a:off x="379473" y="4535179"/>
                <a:ext cx="5726237" cy="363882"/>
              </a:xfrm>
              <a:prstGeom prst="rect">
                <a:avLst/>
              </a:prstGeom>
              <a:noFill/>
              <a:ln>
                <a:solidFill>
                  <a:srgbClr val="FF0000"/>
                </a:solidFill>
              </a:ln>
            </p:spPr>
            <p:txBody>
              <a:bodyPr wrap="square" rtlCol="0">
                <a:noAutofit/>
              </a:bodyPr>
              <a:lstStyle/>
              <a:p>
                <a:pPr/>
                <a14:m>
                  <m:oMathPara xmlns:m="http://schemas.openxmlformats.org/officeDocument/2006/math">
                    <m:oMathParaPr>
                      <m:jc m:val="left"/>
                    </m:oMathParaPr>
                    <m:oMath xmlns:m="http://schemas.openxmlformats.org/officeDocument/2006/math">
                      <m:f>
                        <m:fPr>
                          <m:ctrlPr>
                            <a:rPr lang="fr-FR" sz="900" i="1">
                              <a:latin typeface="Cambria Math" panose="02040503050406030204" pitchFamily="18" charset="0"/>
                            </a:rPr>
                          </m:ctrlPr>
                        </m:fPr>
                        <m:num>
                          <m:r>
                            <a:rPr lang="fr-FR" sz="900">
                              <a:latin typeface="Cambria Math" panose="02040503050406030204" pitchFamily="18" charset="0"/>
                            </a:rPr>
                            <m:t>𝜕</m:t>
                          </m:r>
                          <m:r>
                            <m:rPr>
                              <m:sty m:val="p"/>
                            </m:rPr>
                            <a:rPr lang="fr-FR" sz="900">
                              <a:latin typeface="Cambria Math" panose="02040503050406030204" pitchFamily="18" charset="0"/>
                            </a:rPr>
                            <m:t>Loss</m:t>
                          </m:r>
                          <m:r>
                            <a:rPr lang="fr-FR" sz="900">
                              <a:latin typeface="Cambria Math" panose="02040503050406030204" pitchFamily="18" charset="0"/>
                            </a:rPr>
                            <m:t>1</m:t>
                          </m:r>
                        </m:num>
                        <m:den>
                          <m:r>
                            <a:rPr lang="fr-FR" sz="900">
                              <a:latin typeface="Cambria Math" panose="02040503050406030204" pitchFamily="18" charset="0"/>
                            </a:rPr>
                            <m:t>𝜕</m:t>
                          </m:r>
                          <m:r>
                            <m:rPr>
                              <m:sty m:val="p"/>
                            </m:rPr>
                            <a:rPr lang="fr-FR" sz="900">
                              <a:latin typeface="Cambria Math" panose="02040503050406030204" pitchFamily="18" charset="0"/>
                            </a:rPr>
                            <m:t>w</m:t>
                          </m:r>
                          <m:r>
                            <a:rPr lang="fr-FR" sz="900">
                              <a:latin typeface="Cambria Math" panose="02040503050406030204" pitchFamily="18" charset="0"/>
                            </a:rPr>
                            <m:t>6</m:t>
                          </m:r>
                        </m:den>
                      </m:f>
                      <m:r>
                        <a:rPr lang="fr-FR" sz="900">
                          <a:latin typeface="Cambria Math" panose="02040503050406030204" pitchFamily="18" charset="0"/>
                        </a:rPr>
                        <m:t>=</m:t>
                      </m:r>
                      <m:r>
                        <m:rPr>
                          <m:nor/>
                        </m:rPr>
                        <a:rPr lang="fr-FR" sz="900">
                          <a:latin typeface="Cambria Math" panose="02040503050406030204" pitchFamily="18" charset="0"/>
                        </a:rPr>
                        <m:t>−2</m:t>
                      </m:r>
                      <m:r>
                        <m:rPr>
                          <m:nor/>
                        </m:rPr>
                        <a:rPr lang="fr-FR" sz="900" dirty="0">
                          <a:latin typeface="Cambria Math" panose="02040503050406030204" pitchFamily="18" charset="0"/>
                          <a:ea typeface="Cambria Math" panose="02040503050406030204" pitchFamily="18" charset="0"/>
                        </a:rPr>
                        <m:t>(</m:t>
                      </m:r>
                      <m:sSub>
                        <m:sSubPr>
                          <m:ctrlPr>
                            <a:rPr lang="fr-FR" sz="900" i="1" dirty="0">
                              <a:latin typeface="Cambria Math" panose="02040503050406030204" pitchFamily="18" charset="0"/>
                              <a:ea typeface="Cambria Math" panose="02040503050406030204" pitchFamily="18" charset="0"/>
                            </a:rPr>
                          </m:ctrlPr>
                        </m:sSubPr>
                        <m:e>
                          <m:r>
                            <m:rPr>
                              <m:sty m:val="p"/>
                            </m:rPr>
                            <a:rPr lang="fr-FR" sz="900">
                              <a:latin typeface="Cambria Math" panose="02040503050406030204" pitchFamily="18" charset="0"/>
                              <a:ea typeface="Cambria Math" panose="02040503050406030204" pitchFamily="18" charset="0"/>
                            </a:rPr>
                            <m:t>target</m:t>
                          </m:r>
                        </m:e>
                        <m:sub>
                          <m:r>
                            <m:rPr>
                              <m:sty m:val="p"/>
                            </m:rPr>
                            <a:rPr lang="fr-FR" sz="900">
                              <a:latin typeface="Cambria Math" panose="02040503050406030204" pitchFamily="18" charset="0"/>
                              <a:ea typeface="Cambria Math" panose="02040503050406030204" pitchFamily="18" charset="0"/>
                            </a:rPr>
                            <m:t>o</m:t>
                          </m:r>
                          <m:r>
                            <a:rPr lang="fr-FR" sz="900">
                              <a:latin typeface="Cambria Math" panose="02040503050406030204" pitchFamily="18" charset="0"/>
                              <a:ea typeface="Cambria Math" panose="02040503050406030204" pitchFamily="18" charset="0"/>
                            </a:rPr>
                            <m:t>1</m:t>
                          </m:r>
                        </m:sub>
                      </m:sSub>
                      <m:r>
                        <a:rPr lang="fr-FR" sz="900" i="1">
                          <a:latin typeface="Cambria Math" panose="02040503050406030204" pitchFamily="18" charset="0"/>
                          <a:ea typeface="Cambria Math" panose="02040503050406030204" pitchFamily="18" charset="0"/>
                        </a:rPr>
                        <m:t>− </m:t>
                      </m:r>
                      <m:r>
                        <m:rPr>
                          <m:sty m:val="p"/>
                        </m:rPr>
                        <a:rPr lang="fr-FR" sz="900">
                          <a:latin typeface="Cambria Math" panose="02040503050406030204" pitchFamily="18" charset="0"/>
                          <a:ea typeface="Cambria Math" panose="02040503050406030204" pitchFamily="18" charset="0"/>
                        </a:rPr>
                        <m:t>out</m:t>
                      </m:r>
                      <m:r>
                        <a:rPr lang="fr-FR" sz="900">
                          <a:latin typeface="Cambria Math" panose="02040503050406030204" pitchFamily="18" charset="0"/>
                          <a:ea typeface="Cambria Math" panose="02040503050406030204" pitchFamily="18" charset="0"/>
                        </a:rPr>
                        <m:t>_</m:t>
                      </m:r>
                      <m:r>
                        <m:rPr>
                          <m:sty m:val="p"/>
                        </m:rPr>
                        <a:rPr lang="fr-FR" sz="900">
                          <a:latin typeface="Cambria Math" panose="02040503050406030204" pitchFamily="18" charset="0"/>
                          <a:ea typeface="Cambria Math" panose="02040503050406030204" pitchFamily="18" charset="0"/>
                        </a:rPr>
                        <m:t>o</m:t>
                      </m:r>
                      <m:r>
                        <a:rPr lang="fr-FR" sz="900">
                          <a:latin typeface="Cambria Math" panose="02040503050406030204" pitchFamily="18" charset="0"/>
                          <a:ea typeface="Cambria Math" panose="02040503050406030204" pitchFamily="18" charset="0"/>
                        </a:rPr>
                        <m:t>1</m:t>
                      </m:r>
                      <m:r>
                        <m:rPr>
                          <m:nor/>
                        </m:rPr>
                        <a:rPr lang="fr-FR" sz="900" dirty="0">
                          <a:latin typeface="Cambria Math" panose="02040503050406030204" pitchFamily="18" charset="0"/>
                          <a:ea typeface="Cambria Math" panose="02040503050406030204" pitchFamily="18" charset="0"/>
                        </a:rPr>
                        <m:t>)</m:t>
                      </m:r>
                      <m:r>
                        <a:rPr lang="fr-FR" sz="900" i="1">
                          <a:latin typeface="Cambria Math" panose="02040503050406030204" pitchFamily="18" charset="0"/>
                          <a:ea typeface="Cambria Math" panose="02040503050406030204" pitchFamily="18" charset="0"/>
                        </a:rPr>
                        <m:t>×</m:t>
                      </m:r>
                      <m:r>
                        <m:rPr>
                          <m:sty m:val="p"/>
                        </m:rPr>
                        <a:rPr lang="fr-FR" sz="900">
                          <a:latin typeface="Cambria Math" panose="02040503050406030204" pitchFamily="18" charset="0"/>
                          <a:ea typeface="Cambria Math" panose="02040503050406030204" pitchFamily="18" charset="0"/>
                        </a:rPr>
                        <m:t>out</m:t>
                      </m:r>
                      <m:r>
                        <a:rPr lang="fr-FR" sz="900">
                          <a:latin typeface="Cambria Math" panose="02040503050406030204" pitchFamily="18" charset="0"/>
                          <a:ea typeface="Cambria Math" panose="02040503050406030204" pitchFamily="18" charset="0"/>
                        </a:rPr>
                        <m:t>_</m:t>
                      </m:r>
                      <m:r>
                        <m:rPr>
                          <m:sty m:val="p"/>
                        </m:rPr>
                        <a:rPr lang="fr-FR" sz="900">
                          <a:latin typeface="Cambria Math" panose="02040503050406030204" pitchFamily="18" charset="0"/>
                          <a:ea typeface="Cambria Math" panose="02040503050406030204" pitchFamily="18" charset="0"/>
                        </a:rPr>
                        <m:t>o</m:t>
                      </m:r>
                      <m:r>
                        <a:rPr lang="fr-FR" sz="900">
                          <a:latin typeface="Cambria Math" panose="02040503050406030204" pitchFamily="18" charset="0"/>
                          <a:ea typeface="Cambria Math" panose="02040503050406030204" pitchFamily="18" charset="0"/>
                        </a:rPr>
                        <m:t>1(1−</m:t>
                      </m:r>
                      <m:r>
                        <m:rPr>
                          <m:sty m:val="p"/>
                        </m:rPr>
                        <a:rPr lang="fr-FR" sz="900">
                          <a:latin typeface="Cambria Math" panose="02040503050406030204" pitchFamily="18" charset="0"/>
                          <a:ea typeface="Cambria Math" panose="02040503050406030204" pitchFamily="18" charset="0"/>
                        </a:rPr>
                        <m:t>out</m:t>
                      </m:r>
                      <m:r>
                        <a:rPr lang="fr-FR" sz="900">
                          <a:latin typeface="Cambria Math" panose="02040503050406030204" pitchFamily="18" charset="0"/>
                          <a:ea typeface="Cambria Math" panose="02040503050406030204" pitchFamily="18" charset="0"/>
                        </a:rPr>
                        <m:t>_</m:t>
                      </m:r>
                      <m:r>
                        <m:rPr>
                          <m:sty m:val="p"/>
                        </m:rPr>
                        <a:rPr lang="fr-FR" sz="900">
                          <a:latin typeface="Cambria Math" panose="02040503050406030204" pitchFamily="18" charset="0"/>
                          <a:ea typeface="Cambria Math" panose="02040503050406030204" pitchFamily="18" charset="0"/>
                        </a:rPr>
                        <m:t>o</m:t>
                      </m:r>
                      <m:r>
                        <a:rPr lang="fr-FR" sz="900">
                          <a:latin typeface="Cambria Math" panose="02040503050406030204" pitchFamily="18" charset="0"/>
                          <a:ea typeface="Cambria Math" panose="02040503050406030204" pitchFamily="18" charset="0"/>
                        </a:rPr>
                        <m:t>1</m:t>
                      </m:r>
                      <m:r>
                        <a:rPr lang="fr-FR" sz="900" i="1">
                          <a:latin typeface="Cambria Math" panose="02040503050406030204" pitchFamily="18" charset="0"/>
                          <a:ea typeface="Cambria Math" panose="02040503050406030204" pitchFamily="18" charset="0"/>
                        </a:rPr>
                        <m:t>)×</m:t>
                      </m:r>
                      <m:r>
                        <m:rPr>
                          <m:sty m:val="p"/>
                        </m:rPr>
                        <a:rPr lang="fr-FR" sz="900">
                          <a:latin typeface="Cambria Math" panose="02040503050406030204" pitchFamily="18" charset="0"/>
                        </a:rPr>
                        <m:t>out</m:t>
                      </m:r>
                      <m:r>
                        <a:rPr lang="fr-FR" sz="900">
                          <a:latin typeface="Cambria Math" panose="02040503050406030204" pitchFamily="18" charset="0"/>
                        </a:rPr>
                        <m:t>_</m:t>
                      </m:r>
                      <m:r>
                        <m:rPr>
                          <m:sty m:val="p"/>
                        </m:rPr>
                        <a:rPr lang="fr-FR" sz="900">
                          <a:latin typeface="Cambria Math" panose="02040503050406030204" pitchFamily="18" charset="0"/>
                        </a:rPr>
                        <m:t>h</m:t>
                      </m:r>
                      <m:r>
                        <a:rPr lang="fr-FR" sz="900">
                          <a:latin typeface="Cambria Math" panose="02040503050406030204" pitchFamily="18" charset="0"/>
                        </a:rPr>
                        <m:t>2</m:t>
                      </m:r>
                    </m:oMath>
                  </m:oMathPara>
                </a14:m>
                <a:endParaRPr lang="fr-FR" sz="900" dirty="0"/>
              </a:p>
            </p:txBody>
          </p:sp>
        </mc:Choice>
        <mc:Fallback xmlns="">
          <p:sp>
            <p:nvSpPr>
              <p:cNvPr id="17" name="ZoneTexte 16">
                <a:extLst>
                  <a:ext uri="{FF2B5EF4-FFF2-40B4-BE49-F238E27FC236}">
                    <a16:creationId xmlns:a16="http://schemas.microsoft.com/office/drawing/2014/main" id="{4E5197B4-28D9-8377-AB66-39B6E972EE12}"/>
                  </a:ext>
                </a:extLst>
              </p:cNvPr>
              <p:cNvSpPr txBox="1">
                <a:spLocks noRot="1" noChangeAspect="1" noMove="1" noResize="1" noEditPoints="1" noAdjustHandles="1" noChangeArrowheads="1" noChangeShapeType="1" noTextEdit="1"/>
              </p:cNvSpPr>
              <p:nvPr/>
            </p:nvSpPr>
            <p:spPr>
              <a:xfrm>
                <a:off x="379473" y="4535179"/>
                <a:ext cx="5726237" cy="363882"/>
              </a:xfrm>
              <a:prstGeom prst="rect">
                <a:avLst/>
              </a:prstGeom>
              <a:blipFill>
                <a:blip r:embed="rId14"/>
                <a:stretch>
                  <a:fillRect/>
                </a:stretch>
              </a:blipFill>
              <a:ln>
                <a:solidFill>
                  <a:srgbClr val="FF0000"/>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ZoneTexte 17">
                <a:extLst>
                  <a:ext uri="{FF2B5EF4-FFF2-40B4-BE49-F238E27FC236}">
                    <a16:creationId xmlns:a16="http://schemas.microsoft.com/office/drawing/2014/main" id="{B0084906-6AF6-573A-19ED-145BCD2B2FEF}"/>
                  </a:ext>
                </a:extLst>
              </p:cNvPr>
              <p:cNvSpPr txBox="1"/>
              <p:nvPr/>
            </p:nvSpPr>
            <p:spPr>
              <a:xfrm>
                <a:off x="371007" y="5372757"/>
                <a:ext cx="5734704" cy="349007"/>
              </a:xfrm>
              <a:prstGeom prst="rect">
                <a:avLst/>
              </a:prstGeom>
              <a:noFill/>
              <a:ln>
                <a:solidFill>
                  <a:srgbClr val="FF0000"/>
                </a:solidFill>
              </a:ln>
            </p:spPr>
            <p:txBody>
              <a:bodyPr wrap="square" rtlCol="0">
                <a:noAutofit/>
              </a:bodyPr>
              <a:lstStyle>
                <a:defPPr>
                  <a:defRPr lang="fr-FR"/>
                </a:defPPr>
                <a:lvl1pPr>
                  <a:defRPr sz="1200">
                    <a:latin typeface="Cambria Math" panose="02040503050406030204" pitchFamily="18" charset="0"/>
                  </a:defRPr>
                </a:lvl1pPr>
              </a:lstStyle>
              <a:p>
                <a14:m>
                  <m:oMath xmlns:m="http://schemas.openxmlformats.org/officeDocument/2006/math">
                    <m:f>
                      <m:fPr>
                        <m:ctrlPr>
                          <a:rPr lang="fr-FR" sz="1100" i="1">
                            <a:latin typeface="Cambria Math" panose="02040503050406030204" pitchFamily="18" charset="0"/>
                          </a:rPr>
                        </m:ctrlPr>
                      </m:fPr>
                      <m:num>
                        <m:r>
                          <a:rPr lang="fr-FR" sz="1100">
                            <a:latin typeface="Cambria Math" panose="02040503050406030204" pitchFamily="18" charset="0"/>
                          </a:rPr>
                          <m:t>𝜕</m:t>
                        </m:r>
                        <m:r>
                          <m:rPr>
                            <m:sty m:val="p"/>
                          </m:rPr>
                          <a:rPr lang="fr-FR" sz="1100">
                            <a:latin typeface="Cambria Math" panose="02040503050406030204" pitchFamily="18" charset="0"/>
                          </a:rPr>
                          <m:t>Loss</m:t>
                        </m:r>
                        <m:r>
                          <a:rPr lang="fr-FR" sz="1100">
                            <a:latin typeface="Cambria Math" panose="02040503050406030204" pitchFamily="18" charset="0"/>
                          </a:rPr>
                          <m:t>2</m:t>
                        </m:r>
                      </m:num>
                      <m:den>
                        <m:r>
                          <a:rPr lang="fr-FR" sz="1100">
                            <a:latin typeface="Cambria Math" panose="02040503050406030204" pitchFamily="18" charset="0"/>
                          </a:rPr>
                          <m:t>𝜕</m:t>
                        </m:r>
                        <m:r>
                          <m:rPr>
                            <m:sty m:val="p"/>
                          </m:rPr>
                          <a:rPr lang="fr-FR" sz="1100">
                            <a:latin typeface="Cambria Math" panose="02040503050406030204" pitchFamily="18" charset="0"/>
                          </a:rPr>
                          <m:t>w</m:t>
                        </m:r>
                        <m:r>
                          <a:rPr lang="fr-FR" sz="1100">
                            <a:latin typeface="Cambria Math" panose="02040503050406030204" pitchFamily="18" charset="0"/>
                          </a:rPr>
                          <m:t>7</m:t>
                        </m:r>
                      </m:den>
                    </m:f>
                    <m:r>
                      <a:rPr lang="fr-FR" sz="1100">
                        <a:latin typeface="Cambria Math" panose="02040503050406030204" pitchFamily="18" charset="0"/>
                      </a:rPr>
                      <m:t>=</m:t>
                    </m:r>
                    <m:r>
                      <m:rPr>
                        <m:nor/>
                      </m:rPr>
                      <a:rPr lang="fr-FR" sz="1100">
                        <a:ea typeface="Cambria Math" panose="02040503050406030204" pitchFamily="18" charset="0"/>
                      </a:rPr>
                      <m:t>−2</m:t>
                    </m:r>
                    <m:r>
                      <m:rPr>
                        <m:nor/>
                      </m:rPr>
                      <a:rPr lang="fr-FR" sz="1100" dirty="0">
                        <a:ea typeface="Cambria Math" panose="02040503050406030204" pitchFamily="18" charset="0"/>
                      </a:rPr>
                      <m:t>(</m:t>
                    </m:r>
                    <m:sSub>
                      <m:sSubPr>
                        <m:ctrlPr>
                          <a:rPr lang="fr-FR" sz="1100" i="1" dirty="0">
                            <a:latin typeface="Cambria Math" panose="02040503050406030204" pitchFamily="18" charset="0"/>
                            <a:ea typeface="Cambria Math" panose="02040503050406030204" pitchFamily="18" charset="0"/>
                          </a:rPr>
                        </m:ctrlPr>
                      </m:sSubPr>
                      <m:e>
                        <m:r>
                          <m:rPr>
                            <m:sty m:val="p"/>
                          </m:rPr>
                          <a:rPr lang="fr-FR" sz="1100">
                            <a:latin typeface="Cambria Math" panose="02040503050406030204" pitchFamily="18" charset="0"/>
                            <a:ea typeface="Cambria Math" panose="02040503050406030204" pitchFamily="18" charset="0"/>
                          </a:rPr>
                          <m:t>target</m:t>
                        </m:r>
                      </m:e>
                      <m:sub>
                        <m:r>
                          <m:rPr>
                            <m:sty m:val="p"/>
                          </m:rPr>
                          <a:rPr lang="fr-FR" sz="1100">
                            <a:latin typeface="Cambria Math" panose="02040503050406030204" pitchFamily="18" charset="0"/>
                            <a:ea typeface="Cambria Math" panose="02040503050406030204" pitchFamily="18" charset="0"/>
                          </a:rPr>
                          <m:t>o</m:t>
                        </m:r>
                        <m:r>
                          <m:rPr>
                            <m:nor/>
                          </m:rPr>
                          <a:rPr lang="fr-FR" sz="1100">
                            <a:ea typeface="Cambria Math" panose="02040503050406030204" pitchFamily="18" charset="0"/>
                          </a:rPr>
                          <m:t>2</m:t>
                        </m:r>
                      </m:sub>
                    </m:sSub>
                    <m:r>
                      <a:rPr lang="fr-FR" sz="1100" i="1">
                        <a:latin typeface="Cambria Math" panose="02040503050406030204" pitchFamily="18" charset="0"/>
                        <a:ea typeface="Cambria Math" panose="02040503050406030204" pitchFamily="18" charset="0"/>
                      </a:rPr>
                      <m:t>− </m:t>
                    </m:r>
                    <m:r>
                      <m:rPr>
                        <m:sty m:val="p"/>
                      </m:rPr>
                      <a:rPr lang="fr-FR" sz="1100">
                        <a:latin typeface="Cambria Math" panose="02040503050406030204" pitchFamily="18" charset="0"/>
                        <a:ea typeface="Cambria Math" panose="02040503050406030204" pitchFamily="18" charset="0"/>
                      </a:rPr>
                      <m:t>out</m:t>
                    </m:r>
                    <m:r>
                      <a:rPr lang="fr-FR" sz="1100">
                        <a:latin typeface="Cambria Math" panose="02040503050406030204" pitchFamily="18" charset="0"/>
                        <a:ea typeface="Cambria Math" panose="02040503050406030204" pitchFamily="18" charset="0"/>
                      </a:rPr>
                      <m:t>_</m:t>
                    </m:r>
                    <m:r>
                      <m:rPr>
                        <m:sty m:val="p"/>
                      </m:rPr>
                      <a:rPr lang="fr-FR" sz="1100">
                        <a:latin typeface="Cambria Math" panose="02040503050406030204" pitchFamily="18" charset="0"/>
                        <a:ea typeface="Cambria Math" panose="02040503050406030204" pitchFamily="18" charset="0"/>
                      </a:rPr>
                      <m:t>o</m:t>
                    </m:r>
                    <m:r>
                      <a:rPr lang="fr-FR" sz="1100">
                        <a:latin typeface="Cambria Math" panose="02040503050406030204" pitchFamily="18" charset="0"/>
                        <a:ea typeface="Cambria Math" panose="02040503050406030204" pitchFamily="18" charset="0"/>
                      </a:rPr>
                      <m:t>2</m:t>
                    </m:r>
                    <m:r>
                      <a:rPr lang="fr-FR" sz="1100" i="1">
                        <a:latin typeface="Cambria Math" panose="02040503050406030204" pitchFamily="18" charset="0"/>
                        <a:ea typeface="Cambria Math" panose="02040503050406030204" pitchFamily="18" charset="0"/>
                      </a:rPr>
                      <m:t>)</m:t>
                    </m:r>
                    <m:r>
                      <a:rPr lang="fr-FR" sz="1100">
                        <a:latin typeface="Cambria Math" panose="02040503050406030204" pitchFamily="18" charset="0"/>
                      </a:rPr>
                      <m:t>×</m:t>
                    </m:r>
                    <m:r>
                      <m:rPr>
                        <m:sty m:val="p"/>
                      </m:rPr>
                      <a:rPr lang="fr-FR" sz="1100">
                        <a:latin typeface="Cambria Math" panose="02040503050406030204" pitchFamily="18" charset="0"/>
                      </a:rPr>
                      <m:t>out</m:t>
                    </m:r>
                    <m:r>
                      <a:rPr lang="fr-FR" sz="1100">
                        <a:latin typeface="Cambria Math" panose="02040503050406030204" pitchFamily="18" charset="0"/>
                      </a:rPr>
                      <m:t>_</m:t>
                    </m:r>
                    <m:r>
                      <m:rPr>
                        <m:sty m:val="p"/>
                      </m:rPr>
                      <a:rPr lang="fr-FR" sz="1100">
                        <a:latin typeface="Cambria Math" panose="02040503050406030204" pitchFamily="18" charset="0"/>
                      </a:rPr>
                      <m:t>o</m:t>
                    </m:r>
                    <m:r>
                      <a:rPr lang="fr-FR" sz="1100">
                        <a:latin typeface="Cambria Math" panose="02040503050406030204" pitchFamily="18" charset="0"/>
                      </a:rPr>
                      <m:t>2(1−</m:t>
                    </m:r>
                    <m:r>
                      <m:rPr>
                        <m:sty m:val="p"/>
                      </m:rPr>
                      <a:rPr lang="fr-FR" sz="1100">
                        <a:latin typeface="Cambria Math" panose="02040503050406030204" pitchFamily="18" charset="0"/>
                      </a:rPr>
                      <m:t>out</m:t>
                    </m:r>
                    <m:r>
                      <a:rPr lang="fr-FR" sz="1100">
                        <a:latin typeface="Cambria Math" panose="02040503050406030204" pitchFamily="18" charset="0"/>
                      </a:rPr>
                      <m:t>_</m:t>
                    </m:r>
                    <m:r>
                      <m:rPr>
                        <m:sty m:val="p"/>
                      </m:rPr>
                      <a:rPr lang="fr-FR" sz="1100">
                        <a:latin typeface="Cambria Math" panose="02040503050406030204" pitchFamily="18" charset="0"/>
                      </a:rPr>
                      <m:t>o</m:t>
                    </m:r>
                    <m:r>
                      <a:rPr lang="fr-FR" sz="1100">
                        <a:latin typeface="Cambria Math" panose="02040503050406030204" pitchFamily="18" charset="0"/>
                      </a:rPr>
                      <m:t>2)×</m:t>
                    </m:r>
                    <m:r>
                      <m:rPr>
                        <m:sty m:val="p"/>
                      </m:rPr>
                      <a:rPr lang="fr-FR" sz="1100">
                        <a:latin typeface="Cambria Math" panose="02040503050406030204" pitchFamily="18" charset="0"/>
                      </a:rPr>
                      <m:t>out</m:t>
                    </m:r>
                    <m:r>
                      <a:rPr lang="fr-FR" sz="1100">
                        <a:latin typeface="Cambria Math" panose="02040503050406030204" pitchFamily="18" charset="0"/>
                      </a:rPr>
                      <m:t>_</m:t>
                    </m:r>
                    <m:r>
                      <m:rPr>
                        <m:sty m:val="p"/>
                      </m:rPr>
                      <a:rPr lang="fr-FR" sz="1100">
                        <a:latin typeface="Cambria Math" panose="02040503050406030204" pitchFamily="18" charset="0"/>
                      </a:rPr>
                      <m:t>h</m:t>
                    </m:r>
                  </m:oMath>
                </a14:m>
                <a:r>
                  <a:rPr lang="fr-FR" sz="1100" dirty="0"/>
                  <a:t>1</a:t>
                </a:r>
              </a:p>
            </p:txBody>
          </p:sp>
        </mc:Choice>
        <mc:Fallback xmlns="">
          <p:sp>
            <p:nvSpPr>
              <p:cNvPr id="18" name="ZoneTexte 17">
                <a:extLst>
                  <a:ext uri="{FF2B5EF4-FFF2-40B4-BE49-F238E27FC236}">
                    <a16:creationId xmlns:a16="http://schemas.microsoft.com/office/drawing/2014/main" id="{B0084906-6AF6-573A-19ED-145BCD2B2FEF}"/>
                  </a:ext>
                </a:extLst>
              </p:cNvPr>
              <p:cNvSpPr txBox="1">
                <a:spLocks noRot="1" noChangeAspect="1" noMove="1" noResize="1" noEditPoints="1" noAdjustHandles="1" noChangeArrowheads="1" noChangeShapeType="1" noTextEdit="1"/>
              </p:cNvSpPr>
              <p:nvPr/>
            </p:nvSpPr>
            <p:spPr>
              <a:xfrm>
                <a:off x="371007" y="5372757"/>
                <a:ext cx="5734704" cy="349007"/>
              </a:xfrm>
              <a:prstGeom prst="rect">
                <a:avLst/>
              </a:prstGeom>
              <a:blipFill>
                <a:blip r:embed="rId15"/>
                <a:stretch>
                  <a:fillRect/>
                </a:stretch>
              </a:blipFill>
              <a:ln>
                <a:solidFill>
                  <a:srgbClr val="FF0000"/>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ZoneTexte 18">
                <a:extLst>
                  <a:ext uri="{FF2B5EF4-FFF2-40B4-BE49-F238E27FC236}">
                    <a16:creationId xmlns:a16="http://schemas.microsoft.com/office/drawing/2014/main" id="{321A6DB8-768D-0D3D-A01D-23F266C381F3}"/>
                  </a:ext>
                </a:extLst>
              </p:cNvPr>
              <p:cNvSpPr txBox="1"/>
              <p:nvPr/>
            </p:nvSpPr>
            <p:spPr>
              <a:xfrm>
                <a:off x="372534" y="5793987"/>
                <a:ext cx="5723466" cy="318613"/>
              </a:xfrm>
              <a:prstGeom prst="rect">
                <a:avLst/>
              </a:prstGeom>
              <a:noFill/>
              <a:ln>
                <a:solidFill>
                  <a:srgbClr val="FF0000"/>
                </a:solidFill>
              </a:ln>
            </p:spPr>
            <p:txBody>
              <a:bodyPr wrap="square">
                <a:noAutofit/>
              </a:bodyPr>
              <a:lstStyle/>
              <a:p>
                <a:pPr/>
                <a14:m>
                  <m:oMathPara xmlns:m="http://schemas.openxmlformats.org/officeDocument/2006/math">
                    <m:oMathParaPr>
                      <m:jc m:val="centerGroup"/>
                    </m:oMathParaPr>
                    <m:oMath xmlns:m="http://schemas.openxmlformats.org/officeDocument/2006/math">
                      <m:f>
                        <m:fPr>
                          <m:ctrlPr>
                            <a:rPr lang="fr-FR" sz="1000" i="1">
                              <a:latin typeface="Cambria Math" panose="02040503050406030204" pitchFamily="18" charset="0"/>
                            </a:rPr>
                          </m:ctrlPr>
                        </m:fPr>
                        <m:num>
                          <m:r>
                            <a:rPr lang="fr-FR" sz="1000">
                              <a:latin typeface="Cambria Math" panose="02040503050406030204" pitchFamily="18" charset="0"/>
                            </a:rPr>
                            <m:t>𝜕</m:t>
                          </m:r>
                          <m:r>
                            <m:rPr>
                              <m:sty m:val="p"/>
                            </m:rPr>
                            <a:rPr lang="fr-FR" sz="1000">
                              <a:latin typeface="Cambria Math" panose="02040503050406030204" pitchFamily="18" charset="0"/>
                            </a:rPr>
                            <m:t>Loss</m:t>
                          </m:r>
                        </m:num>
                        <m:den>
                          <m:r>
                            <a:rPr lang="fr-FR" sz="1000">
                              <a:latin typeface="Cambria Math" panose="02040503050406030204" pitchFamily="18" charset="0"/>
                            </a:rPr>
                            <m:t>𝜕</m:t>
                          </m:r>
                          <m:r>
                            <m:rPr>
                              <m:sty m:val="p"/>
                            </m:rPr>
                            <a:rPr lang="fr-FR" sz="1000">
                              <a:latin typeface="Cambria Math" panose="02040503050406030204" pitchFamily="18" charset="0"/>
                            </a:rPr>
                            <m:t>b</m:t>
                          </m:r>
                          <m:r>
                            <a:rPr lang="fr-FR" sz="1000">
                              <a:latin typeface="Cambria Math" panose="02040503050406030204" pitchFamily="18" charset="0"/>
                            </a:rPr>
                            <m:t>2</m:t>
                          </m:r>
                        </m:den>
                      </m:f>
                      <m:r>
                        <a:rPr lang="fr-FR" sz="1000">
                          <a:latin typeface="Cambria Math" panose="02040503050406030204" pitchFamily="18" charset="0"/>
                        </a:rPr>
                        <m:t>=</m:t>
                      </m:r>
                      <m:r>
                        <m:rPr>
                          <m:nor/>
                        </m:rPr>
                        <a:rPr lang="fr-FR" sz="1000">
                          <a:latin typeface="Cambria Math" panose="02040503050406030204" pitchFamily="18" charset="0"/>
                        </a:rPr>
                        <m:t>−2</m:t>
                      </m:r>
                      <m:r>
                        <m:rPr>
                          <m:nor/>
                        </m:rPr>
                        <a:rPr lang="fr-FR" sz="1000" dirty="0">
                          <a:latin typeface="Cambria Math" panose="02040503050406030204" pitchFamily="18" charset="0"/>
                          <a:ea typeface="Cambria Math" panose="02040503050406030204" pitchFamily="18" charset="0"/>
                        </a:rPr>
                        <m:t>(</m:t>
                      </m:r>
                      <m:sSub>
                        <m:sSubPr>
                          <m:ctrlPr>
                            <a:rPr lang="fr-FR" sz="1000" i="1" dirty="0">
                              <a:latin typeface="Cambria Math" panose="02040503050406030204" pitchFamily="18" charset="0"/>
                              <a:ea typeface="Cambria Math" panose="02040503050406030204" pitchFamily="18" charset="0"/>
                            </a:rPr>
                          </m:ctrlPr>
                        </m:sSubPr>
                        <m:e>
                          <m:r>
                            <m:rPr>
                              <m:sty m:val="p"/>
                            </m:rPr>
                            <a:rPr lang="fr-FR" sz="1000">
                              <a:latin typeface="Cambria Math" panose="02040503050406030204" pitchFamily="18" charset="0"/>
                              <a:ea typeface="Cambria Math" panose="02040503050406030204" pitchFamily="18" charset="0"/>
                            </a:rPr>
                            <m:t>target</m:t>
                          </m:r>
                        </m:e>
                        <m:sub>
                          <m:r>
                            <m:rPr>
                              <m:sty m:val="p"/>
                            </m:rPr>
                            <a:rPr lang="fr-FR" sz="1000">
                              <a:latin typeface="Cambria Math" panose="02040503050406030204" pitchFamily="18" charset="0"/>
                              <a:ea typeface="Cambria Math" panose="02040503050406030204" pitchFamily="18" charset="0"/>
                            </a:rPr>
                            <m:t>o</m:t>
                          </m:r>
                          <m:r>
                            <a:rPr lang="fr-FR" sz="1000">
                              <a:latin typeface="Cambria Math" panose="02040503050406030204" pitchFamily="18" charset="0"/>
                              <a:ea typeface="Cambria Math" panose="02040503050406030204" pitchFamily="18" charset="0"/>
                            </a:rPr>
                            <m:t>1</m:t>
                          </m:r>
                        </m:sub>
                      </m:sSub>
                      <m:r>
                        <a:rPr lang="fr-FR" sz="1000" i="1">
                          <a:latin typeface="Cambria Math" panose="02040503050406030204" pitchFamily="18" charset="0"/>
                          <a:ea typeface="Cambria Math" panose="02040503050406030204" pitchFamily="18" charset="0"/>
                        </a:rPr>
                        <m:t>− </m:t>
                      </m:r>
                      <m:r>
                        <m:rPr>
                          <m:sty m:val="p"/>
                        </m:rPr>
                        <a:rPr lang="fr-FR" sz="1000">
                          <a:latin typeface="Cambria Math" panose="02040503050406030204" pitchFamily="18" charset="0"/>
                          <a:ea typeface="Cambria Math" panose="02040503050406030204" pitchFamily="18" charset="0"/>
                        </a:rPr>
                        <m:t>out</m:t>
                      </m:r>
                      <m:r>
                        <a:rPr lang="fr-FR" sz="1000">
                          <a:latin typeface="Cambria Math" panose="02040503050406030204" pitchFamily="18" charset="0"/>
                          <a:ea typeface="Cambria Math" panose="02040503050406030204" pitchFamily="18" charset="0"/>
                        </a:rPr>
                        <m:t>_</m:t>
                      </m:r>
                      <m:r>
                        <m:rPr>
                          <m:sty m:val="p"/>
                        </m:rPr>
                        <a:rPr lang="fr-FR" sz="1000">
                          <a:latin typeface="Cambria Math" panose="02040503050406030204" pitchFamily="18" charset="0"/>
                          <a:ea typeface="Cambria Math" panose="02040503050406030204" pitchFamily="18" charset="0"/>
                        </a:rPr>
                        <m:t>o</m:t>
                      </m:r>
                      <m:r>
                        <a:rPr lang="fr-FR" sz="1000">
                          <a:latin typeface="Cambria Math" panose="02040503050406030204" pitchFamily="18" charset="0"/>
                          <a:ea typeface="Cambria Math" panose="02040503050406030204" pitchFamily="18" charset="0"/>
                        </a:rPr>
                        <m:t>1</m:t>
                      </m:r>
                      <m:r>
                        <m:rPr>
                          <m:nor/>
                        </m:rPr>
                        <a:rPr lang="fr-FR" sz="1000" dirty="0">
                          <a:latin typeface="Cambria Math" panose="02040503050406030204" pitchFamily="18" charset="0"/>
                          <a:ea typeface="Cambria Math" panose="02040503050406030204" pitchFamily="18" charset="0"/>
                        </a:rPr>
                        <m:t>)</m:t>
                      </m:r>
                      <m:r>
                        <a:rPr lang="fr-FR" sz="1000" i="1">
                          <a:latin typeface="Cambria Math" panose="02040503050406030204" pitchFamily="18" charset="0"/>
                          <a:ea typeface="Cambria Math" panose="02040503050406030204" pitchFamily="18" charset="0"/>
                        </a:rPr>
                        <m:t>×</m:t>
                      </m:r>
                      <m:r>
                        <m:rPr>
                          <m:nor/>
                        </m:rPr>
                        <a:rPr lang="fr-FR" sz="1000">
                          <a:latin typeface="Cambria Math" panose="02040503050406030204" pitchFamily="18" charset="0"/>
                          <a:ea typeface="Cambria Math" panose="02040503050406030204" pitchFamily="18" charset="0"/>
                        </a:rPr>
                        <m:t> </m:t>
                      </m:r>
                      <m:r>
                        <m:rPr>
                          <m:sty m:val="p"/>
                        </m:rPr>
                        <a:rPr lang="fr-FR" sz="1000">
                          <a:latin typeface="Cambria Math" panose="02040503050406030204" pitchFamily="18" charset="0"/>
                          <a:ea typeface="Cambria Math" panose="02040503050406030204" pitchFamily="18" charset="0"/>
                        </a:rPr>
                        <m:t>out</m:t>
                      </m:r>
                      <m:r>
                        <a:rPr lang="fr-FR" sz="1000">
                          <a:latin typeface="Cambria Math" panose="02040503050406030204" pitchFamily="18" charset="0"/>
                          <a:ea typeface="Cambria Math" panose="02040503050406030204" pitchFamily="18" charset="0"/>
                        </a:rPr>
                        <m:t>_</m:t>
                      </m:r>
                      <m:r>
                        <m:rPr>
                          <m:sty m:val="p"/>
                        </m:rPr>
                        <a:rPr lang="fr-FR" sz="1000">
                          <a:latin typeface="Cambria Math" panose="02040503050406030204" pitchFamily="18" charset="0"/>
                          <a:ea typeface="Cambria Math" panose="02040503050406030204" pitchFamily="18" charset="0"/>
                        </a:rPr>
                        <m:t>o</m:t>
                      </m:r>
                      <m:r>
                        <a:rPr lang="fr-FR" sz="1000">
                          <a:latin typeface="Cambria Math" panose="02040503050406030204" pitchFamily="18" charset="0"/>
                          <a:ea typeface="Cambria Math" panose="02040503050406030204" pitchFamily="18" charset="0"/>
                        </a:rPr>
                        <m:t>1(1−</m:t>
                      </m:r>
                      <m:r>
                        <m:rPr>
                          <m:sty m:val="p"/>
                        </m:rPr>
                        <a:rPr lang="fr-FR" sz="1000">
                          <a:latin typeface="Cambria Math" panose="02040503050406030204" pitchFamily="18" charset="0"/>
                          <a:ea typeface="Cambria Math" panose="02040503050406030204" pitchFamily="18" charset="0"/>
                        </a:rPr>
                        <m:t>out</m:t>
                      </m:r>
                      <m:r>
                        <a:rPr lang="fr-FR" sz="1000">
                          <a:latin typeface="Cambria Math" panose="02040503050406030204" pitchFamily="18" charset="0"/>
                          <a:ea typeface="Cambria Math" panose="02040503050406030204" pitchFamily="18" charset="0"/>
                        </a:rPr>
                        <m:t>_</m:t>
                      </m:r>
                      <m:r>
                        <m:rPr>
                          <m:sty m:val="p"/>
                        </m:rPr>
                        <a:rPr lang="fr-FR" sz="1000">
                          <a:latin typeface="Cambria Math" panose="02040503050406030204" pitchFamily="18" charset="0"/>
                          <a:ea typeface="Cambria Math" panose="02040503050406030204" pitchFamily="18" charset="0"/>
                        </a:rPr>
                        <m:t>o</m:t>
                      </m:r>
                      <m:r>
                        <a:rPr lang="fr-FR" sz="1000">
                          <a:latin typeface="Cambria Math" panose="02040503050406030204" pitchFamily="18" charset="0"/>
                          <a:ea typeface="Cambria Math" panose="02040503050406030204" pitchFamily="18" charset="0"/>
                        </a:rPr>
                        <m:t>1</m:t>
                      </m:r>
                      <m:r>
                        <a:rPr lang="fr-FR" sz="1000" i="1">
                          <a:latin typeface="Cambria Math" panose="02040503050406030204" pitchFamily="18" charset="0"/>
                          <a:ea typeface="Cambria Math" panose="02040503050406030204" pitchFamily="18" charset="0"/>
                        </a:rPr>
                        <m:t>)</m:t>
                      </m:r>
                      <m:r>
                        <a:rPr lang="fr-FR" sz="1000">
                          <a:latin typeface="Cambria Math" panose="02040503050406030204" pitchFamily="18" charset="0"/>
                        </a:rPr>
                        <m:t> +</m:t>
                      </m:r>
                      <m:r>
                        <m:rPr>
                          <m:nor/>
                        </m:rPr>
                        <a:rPr lang="fr-FR" sz="1000">
                          <a:latin typeface="Cambria Math" panose="02040503050406030204" pitchFamily="18" charset="0"/>
                          <a:ea typeface="Cambria Math" panose="02040503050406030204" pitchFamily="18" charset="0"/>
                        </a:rPr>
                        <m:t>−2</m:t>
                      </m:r>
                      <m:r>
                        <m:rPr>
                          <m:nor/>
                        </m:rPr>
                        <a:rPr lang="fr-FR" sz="1000" dirty="0">
                          <a:latin typeface="Cambria Math" panose="02040503050406030204" pitchFamily="18" charset="0"/>
                          <a:ea typeface="Cambria Math" panose="02040503050406030204" pitchFamily="18" charset="0"/>
                        </a:rPr>
                        <m:t>(</m:t>
                      </m:r>
                      <m:sSub>
                        <m:sSubPr>
                          <m:ctrlPr>
                            <a:rPr lang="fr-FR" sz="1000" i="1" dirty="0">
                              <a:latin typeface="Cambria Math" panose="02040503050406030204" pitchFamily="18" charset="0"/>
                              <a:ea typeface="Cambria Math" panose="02040503050406030204" pitchFamily="18" charset="0"/>
                            </a:rPr>
                          </m:ctrlPr>
                        </m:sSubPr>
                        <m:e>
                          <m:r>
                            <m:rPr>
                              <m:sty m:val="p"/>
                            </m:rPr>
                            <a:rPr lang="fr-FR" sz="1000">
                              <a:latin typeface="Cambria Math" panose="02040503050406030204" pitchFamily="18" charset="0"/>
                              <a:ea typeface="Cambria Math" panose="02040503050406030204" pitchFamily="18" charset="0"/>
                            </a:rPr>
                            <m:t>target</m:t>
                          </m:r>
                        </m:e>
                        <m:sub>
                          <m:r>
                            <m:rPr>
                              <m:sty m:val="p"/>
                            </m:rPr>
                            <a:rPr lang="fr-FR" sz="1000">
                              <a:latin typeface="Cambria Math" panose="02040503050406030204" pitchFamily="18" charset="0"/>
                              <a:ea typeface="Cambria Math" panose="02040503050406030204" pitchFamily="18" charset="0"/>
                            </a:rPr>
                            <m:t>o</m:t>
                          </m:r>
                          <m:r>
                            <m:rPr>
                              <m:nor/>
                            </m:rPr>
                            <a:rPr lang="fr-FR" sz="1000">
                              <a:latin typeface="Cambria Math" panose="02040503050406030204" pitchFamily="18" charset="0"/>
                              <a:ea typeface="Cambria Math" panose="02040503050406030204" pitchFamily="18" charset="0"/>
                            </a:rPr>
                            <m:t>2</m:t>
                          </m:r>
                        </m:sub>
                      </m:sSub>
                      <m:r>
                        <a:rPr lang="fr-FR" sz="1000" i="1">
                          <a:latin typeface="Cambria Math" panose="02040503050406030204" pitchFamily="18" charset="0"/>
                          <a:ea typeface="Cambria Math" panose="02040503050406030204" pitchFamily="18" charset="0"/>
                        </a:rPr>
                        <m:t>− </m:t>
                      </m:r>
                      <m:r>
                        <m:rPr>
                          <m:sty m:val="p"/>
                        </m:rPr>
                        <a:rPr lang="fr-FR" sz="1000">
                          <a:latin typeface="Cambria Math" panose="02040503050406030204" pitchFamily="18" charset="0"/>
                          <a:ea typeface="Cambria Math" panose="02040503050406030204" pitchFamily="18" charset="0"/>
                        </a:rPr>
                        <m:t>out</m:t>
                      </m:r>
                      <m:r>
                        <a:rPr lang="fr-FR" sz="1000">
                          <a:latin typeface="Cambria Math" panose="02040503050406030204" pitchFamily="18" charset="0"/>
                          <a:ea typeface="Cambria Math" panose="02040503050406030204" pitchFamily="18" charset="0"/>
                        </a:rPr>
                        <m:t>_</m:t>
                      </m:r>
                      <m:r>
                        <m:rPr>
                          <m:sty m:val="p"/>
                        </m:rPr>
                        <a:rPr lang="fr-FR" sz="1000">
                          <a:latin typeface="Cambria Math" panose="02040503050406030204" pitchFamily="18" charset="0"/>
                          <a:ea typeface="Cambria Math" panose="02040503050406030204" pitchFamily="18" charset="0"/>
                        </a:rPr>
                        <m:t>o</m:t>
                      </m:r>
                      <m:r>
                        <a:rPr lang="fr-FR" sz="1000">
                          <a:latin typeface="Cambria Math" panose="02040503050406030204" pitchFamily="18" charset="0"/>
                          <a:ea typeface="Cambria Math" panose="02040503050406030204" pitchFamily="18" charset="0"/>
                        </a:rPr>
                        <m:t>2</m:t>
                      </m:r>
                      <m:r>
                        <a:rPr lang="fr-FR" sz="1000" i="1">
                          <a:latin typeface="Cambria Math" panose="02040503050406030204" pitchFamily="18" charset="0"/>
                          <a:ea typeface="Cambria Math" panose="02040503050406030204" pitchFamily="18" charset="0"/>
                        </a:rPr>
                        <m:t>)×</m:t>
                      </m:r>
                      <m:r>
                        <m:rPr>
                          <m:nor/>
                        </m:rPr>
                        <a:rPr lang="fr-FR" sz="1000">
                          <a:latin typeface="Cambria Math" panose="02040503050406030204" pitchFamily="18" charset="0"/>
                          <a:ea typeface="Cambria Math" panose="02040503050406030204" pitchFamily="18" charset="0"/>
                        </a:rPr>
                        <m:t> </m:t>
                      </m:r>
                      <m:r>
                        <m:rPr>
                          <m:sty m:val="p"/>
                        </m:rPr>
                        <a:rPr lang="fr-FR" sz="1000">
                          <a:latin typeface="Cambria Math" panose="02040503050406030204" pitchFamily="18" charset="0"/>
                          <a:ea typeface="Cambria Math" panose="02040503050406030204" pitchFamily="18" charset="0"/>
                        </a:rPr>
                        <m:t>out</m:t>
                      </m:r>
                      <m:r>
                        <a:rPr lang="fr-FR" sz="1000">
                          <a:latin typeface="Cambria Math" panose="02040503050406030204" pitchFamily="18" charset="0"/>
                          <a:ea typeface="Cambria Math" panose="02040503050406030204" pitchFamily="18" charset="0"/>
                        </a:rPr>
                        <m:t>_</m:t>
                      </m:r>
                      <m:r>
                        <m:rPr>
                          <m:sty m:val="p"/>
                        </m:rPr>
                        <a:rPr lang="fr-FR" sz="1000">
                          <a:latin typeface="Cambria Math" panose="02040503050406030204" pitchFamily="18" charset="0"/>
                          <a:ea typeface="Cambria Math" panose="02040503050406030204" pitchFamily="18" charset="0"/>
                        </a:rPr>
                        <m:t>o</m:t>
                      </m:r>
                      <m:r>
                        <a:rPr lang="fr-FR" sz="1000">
                          <a:latin typeface="Cambria Math" panose="02040503050406030204" pitchFamily="18" charset="0"/>
                          <a:ea typeface="Cambria Math" panose="02040503050406030204" pitchFamily="18" charset="0"/>
                        </a:rPr>
                        <m:t>2(1−</m:t>
                      </m:r>
                      <m:r>
                        <m:rPr>
                          <m:sty m:val="p"/>
                        </m:rPr>
                        <a:rPr lang="fr-FR" sz="1000">
                          <a:latin typeface="Cambria Math" panose="02040503050406030204" pitchFamily="18" charset="0"/>
                          <a:ea typeface="Cambria Math" panose="02040503050406030204" pitchFamily="18" charset="0"/>
                        </a:rPr>
                        <m:t>out</m:t>
                      </m:r>
                      <m:r>
                        <a:rPr lang="fr-FR" sz="1000">
                          <a:latin typeface="Cambria Math" panose="02040503050406030204" pitchFamily="18" charset="0"/>
                          <a:ea typeface="Cambria Math" panose="02040503050406030204" pitchFamily="18" charset="0"/>
                        </a:rPr>
                        <m:t>_</m:t>
                      </m:r>
                      <m:r>
                        <m:rPr>
                          <m:sty m:val="p"/>
                        </m:rPr>
                        <a:rPr lang="fr-FR" sz="1000">
                          <a:latin typeface="Cambria Math" panose="02040503050406030204" pitchFamily="18" charset="0"/>
                          <a:ea typeface="Cambria Math" panose="02040503050406030204" pitchFamily="18" charset="0"/>
                        </a:rPr>
                        <m:t>o</m:t>
                      </m:r>
                      <m:r>
                        <a:rPr lang="fr-FR" sz="1000" i="1">
                          <a:latin typeface="Cambria Math" panose="02040503050406030204" pitchFamily="18" charset="0"/>
                          <a:ea typeface="Cambria Math" panose="02040503050406030204" pitchFamily="18" charset="0"/>
                        </a:rPr>
                        <m:t>2)</m:t>
                      </m:r>
                    </m:oMath>
                  </m:oMathPara>
                </a14:m>
                <a:endParaRPr lang="fr-FR" sz="1000" dirty="0"/>
              </a:p>
            </p:txBody>
          </p:sp>
        </mc:Choice>
        <mc:Fallback xmlns="">
          <p:sp>
            <p:nvSpPr>
              <p:cNvPr id="19" name="ZoneTexte 18">
                <a:extLst>
                  <a:ext uri="{FF2B5EF4-FFF2-40B4-BE49-F238E27FC236}">
                    <a16:creationId xmlns:a16="http://schemas.microsoft.com/office/drawing/2014/main" id="{321A6DB8-768D-0D3D-A01D-23F266C381F3}"/>
                  </a:ext>
                </a:extLst>
              </p:cNvPr>
              <p:cNvSpPr txBox="1">
                <a:spLocks noRot="1" noChangeAspect="1" noMove="1" noResize="1" noEditPoints="1" noAdjustHandles="1" noChangeArrowheads="1" noChangeShapeType="1" noTextEdit="1"/>
              </p:cNvSpPr>
              <p:nvPr/>
            </p:nvSpPr>
            <p:spPr>
              <a:xfrm>
                <a:off x="372534" y="5793987"/>
                <a:ext cx="5723466" cy="318613"/>
              </a:xfrm>
              <a:prstGeom prst="rect">
                <a:avLst/>
              </a:prstGeom>
              <a:blipFill>
                <a:blip r:embed="rId16"/>
                <a:stretch>
                  <a:fillRect b="-18519"/>
                </a:stretch>
              </a:blipFill>
              <a:ln>
                <a:solidFill>
                  <a:srgbClr val="FF0000"/>
                </a:solidFill>
              </a:ln>
            </p:spPr>
            <p:txBody>
              <a:bodyPr/>
              <a:lstStyle/>
              <a:p>
                <a:r>
                  <a:rPr lang="en-GB">
                    <a:noFill/>
                  </a:rPr>
                  <a:t> </a:t>
                </a:r>
              </a:p>
            </p:txBody>
          </p:sp>
        </mc:Fallback>
      </mc:AlternateContent>
      <p:sp>
        <p:nvSpPr>
          <p:cNvPr id="20" name="Espace réservé du pied de page 19">
            <a:extLst>
              <a:ext uri="{FF2B5EF4-FFF2-40B4-BE49-F238E27FC236}">
                <a16:creationId xmlns:a16="http://schemas.microsoft.com/office/drawing/2014/main" id="{2947FF6C-1A28-48EB-5AE3-213392374622}"/>
              </a:ext>
            </a:extLst>
          </p:cNvPr>
          <p:cNvSpPr>
            <a:spLocks noGrp="1"/>
          </p:cNvSpPr>
          <p:nvPr>
            <p:ph type="ftr" sz="quarter" idx="11"/>
          </p:nvPr>
        </p:nvSpPr>
        <p:spPr/>
        <p:txBody>
          <a:bodyPr/>
          <a:lstStyle/>
          <a:p>
            <a:r>
              <a:rPr lang="fr-FR"/>
              <a:t>Introduction to Neural Networks. Author: David Thébault</a:t>
            </a:r>
          </a:p>
        </p:txBody>
      </p:sp>
      <p:pic>
        <p:nvPicPr>
          <p:cNvPr id="4" name="Image 3">
            <a:extLst>
              <a:ext uri="{FF2B5EF4-FFF2-40B4-BE49-F238E27FC236}">
                <a16:creationId xmlns:a16="http://schemas.microsoft.com/office/drawing/2014/main" id="{E68CC94B-EACF-3CC8-220F-517FAF5C65D9}"/>
              </a:ext>
            </a:extLst>
          </p:cNvPr>
          <p:cNvPicPr>
            <a:picLocks noChangeAspect="1"/>
          </p:cNvPicPr>
          <p:nvPr/>
        </p:nvPicPr>
        <p:blipFill>
          <a:blip r:embed="rId17"/>
          <a:stretch>
            <a:fillRect/>
          </a:stretch>
        </p:blipFill>
        <p:spPr>
          <a:xfrm>
            <a:off x="534064" y="1405136"/>
            <a:ext cx="5734704" cy="2759500"/>
          </a:xfrm>
          <a:prstGeom prst="rect">
            <a:avLst/>
          </a:prstGeom>
        </p:spPr>
      </p:pic>
    </p:spTree>
    <p:extLst>
      <p:ext uri="{BB962C8B-B14F-4D97-AF65-F5344CB8AC3E}">
        <p14:creationId xmlns:p14="http://schemas.microsoft.com/office/powerpoint/2010/main" val="36782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2FE66-D7F1-E856-13EA-2308B46AE2A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E38D882-0488-600C-9CCB-0C26384E90DA}"/>
              </a:ext>
            </a:extLst>
          </p:cNvPr>
          <p:cNvSpPr>
            <a:spLocks noGrp="1"/>
          </p:cNvSpPr>
          <p:nvPr>
            <p:ph type="title"/>
          </p:nvPr>
        </p:nvSpPr>
        <p:spPr/>
        <p:txBody>
          <a:bodyPr/>
          <a:lstStyle/>
          <a:p>
            <a:r>
              <a:rPr lang="fr-FR" dirty="0"/>
              <a:t>Neural Network</a:t>
            </a:r>
          </a:p>
        </p:txBody>
      </p:sp>
      <p:sp>
        <p:nvSpPr>
          <p:cNvPr id="72" name="ZoneTexte 71">
            <a:extLst>
              <a:ext uri="{FF2B5EF4-FFF2-40B4-BE49-F238E27FC236}">
                <a16:creationId xmlns:a16="http://schemas.microsoft.com/office/drawing/2014/main" id="{1116B503-9FF6-09CD-E0FF-92E9A10C9DA2}"/>
              </a:ext>
            </a:extLst>
          </p:cNvPr>
          <p:cNvSpPr txBox="1"/>
          <p:nvPr/>
        </p:nvSpPr>
        <p:spPr>
          <a:xfrm>
            <a:off x="2250399" y="1497308"/>
            <a:ext cx="3157800" cy="307777"/>
          </a:xfrm>
          <a:prstGeom prst="rect">
            <a:avLst/>
          </a:prstGeom>
          <a:noFill/>
        </p:spPr>
        <p:txBody>
          <a:bodyPr wrap="square" rtlCol="0">
            <a:spAutoFit/>
          </a:bodyPr>
          <a:lstStyle/>
          <a:p>
            <a:r>
              <a:rPr lang="fr-FR" sz="1400" b="1" dirty="0">
                <a:solidFill>
                  <a:srgbClr val="FF0000"/>
                </a:solidFill>
              </a:rPr>
              <a:t>BACKPROPAGATION</a:t>
            </a:r>
            <a:r>
              <a:rPr lang="fr-FR" sz="1400" b="1" dirty="0"/>
              <a:t> SUMMARY</a:t>
            </a:r>
          </a:p>
        </p:txBody>
      </p:sp>
      <p:sp>
        <p:nvSpPr>
          <p:cNvPr id="20" name="Espace réservé du pied de page 19">
            <a:extLst>
              <a:ext uri="{FF2B5EF4-FFF2-40B4-BE49-F238E27FC236}">
                <a16:creationId xmlns:a16="http://schemas.microsoft.com/office/drawing/2014/main" id="{992DFB31-5148-A44C-3D73-BB1CC3A6375D}"/>
              </a:ext>
            </a:extLst>
          </p:cNvPr>
          <p:cNvSpPr>
            <a:spLocks noGrp="1"/>
          </p:cNvSpPr>
          <p:nvPr>
            <p:ph type="ftr" sz="quarter" idx="11"/>
          </p:nvPr>
        </p:nvSpPr>
        <p:spPr/>
        <p:txBody>
          <a:bodyPr/>
          <a:lstStyle/>
          <a:p>
            <a:r>
              <a:rPr lang="fr-FR"/>
              <a:t>Introduction to Neural Networks. Author: David Thébault</a:t>
            </a:r>
          </a:p>
        </p:txBody>
      </p:sp>
      <p:pic>
        <p:nvPicPr>
          <p:cNvPr id="3" name="Image 2">
            <a:extLst>
              <a:ext uri="{FF2B5EF4-FFF2-40B4-BE49-F238E27FC236}">
                <a16:creationId xmlns:a16="http://schemas.microsoft.com/office/drawing/2014/main" id="{8875C5D6-5B7B-9B3B-380A-BBE44455E6A4}"/>
              </a:ext>
            </a:extLst>
          </p:cNvPr>
          <p:cNvPicPr>
            <a:picLocks noChangeAspect="1"/>
          </p:cNvPicPr>
          <p:nvPr/>
        </p:nvPicPr>
        <p:blipFill>
          <a:blip r:embed="rId2"/>
          <a:stretch>
            <a:fillRect/>
          </a:stretch>
        </p:blipFill>
        <p:spPr>
          <a:xfrm>
            <a:off x="845916" y="1919483"/>
            <a:ext cx="5966766" cy="2481293"/>
          </a:xfrm>
          <a:prstGeom prst="rect">
            <a:avLst/>
          </a:prstGeom>
        </p:spPr>
      </p:pic>
      <p:sp>
        <p:nvSpPr>
          <p:cNvPr id="21" name="ZoneTexte 20">
            <a:extLst>
              <a:ext uri="{FF2B5EF4-FFF2-40B4-BE49-F238E27FC236}">
                <a16:creationId xmlns:a16="http://schemas.microsoft.com/office/drawing/2014/main" id="{E38A7EA6-D073-7DAD-47EA-FA783709E552}"/>
              </a:ext>
            </a:extLst>
          </p:cNvPr>
          <p:cNvSpPr txBox="1"/>
          <p:nvPr/>
        </p:nvSpPr>
        <p:spPr>
          <a:xfrm rot="19362725">
            <a:off x="1790459" y="2836964"/>
            <a:ext cx="3206187" cy="646331"/>
          </a:xfrm>
          <a:prstGeom prst="rect">
            <a:avLst/>
          </a:prstGeom>
          <a:solidFill>
            <a:schemeClr val="bg1"/>
          </a:solidFill>
          <a:ln>
            <a:solidFill>
              <a:schemeClr val="bg1">
                <a:lumMod val="50000"/>
              </a:schemeClr>
            </a:solidFill>
          </a:ln>
        </p:spPr>
        <p:txBody>
          <a:bodyPr wrap="square" rtlCol="0">
            <a:spAutoFit/>
          </a:bodyPr>
          <a:lstStyle/>
          <a:p>
            <a:pPr algn="ctr"/>
            <a:r>
              <a:rPr lang="en-GB" b="1" dirty="0">
                <a:solidFill>
                  <a:srgbClr val="FF0000"/>
                </a:solidFill>
              </a:rPr>
              <a:t>Too complicated</a:t>
            </a:r>
          </a:p>
          <a:p>
            <a:pPr algn="ctr"/>
            <a:r>
              <a:rPr lang="en-GB" b="1" dirty="0">
                <a:solidFill>
                  <a:srgbClr val="FF0000"/>
                </a:solidFill>
              </a:rPr>
              <a:t>Too analytic</a:t>
            </a:r>
          </a:p>
        </p:txBody>
      </p:sp>
      <p:sp>
        <p:nvSpPr>
          <p:cNvPr id="22" name="ZoneTexte 21">
            <a:extLst>
              <a:ext uri="{FF2B5EF4-FFF2-40B4-BE49-F238E27FC236}">
                <a16:creationId xmlns:a16="http://schemas.microsoft.com/office/drawing/2014/main" id="{A39B3C9D-D2A7-E4FE-5B0C-5C3EC474FD5F}"/>
              </a:ext>
            </a:extLst>
          </p:cNvPr>
          <p:cNvSpPr txBox="1"/>
          <p:nvPr/>
        </p:nvSpPr>
        <p:spPr>
          <a:xfrm>
            <a:off x="7662441" y="2154007"/>
            <a:ext cx="3367268" cy="2246769"/>
          </a:xfrm>
          <a:prstGeom prst="rect">
            <a:avLst/>
          </a:prstGeom>
          <a:noFill/>
        </p:spPr>
        <p:txBody>
          <a:bodyPr wrap="square" rtlCol="0">
            <a:spAutoFit/>
          </a:bodyPr>
          <a:lstStyle/>
          <a:p>
            <a:r>
              <a:rPr lang="en-GB" sz="2800" b="1" dirty="0"/>
              <a:t>We can find an easy way !</a:t>
            </a:r>
          </a:p>
          <a:p>
            <a:endParaRPr lang="en-GB" sz="2800" b="1" dirty="0"/>
          </a:p>
          <a:p>
            <a:r>
              <a:rPr lang="en-GB" sz="2800" b="1" dirty="0"/>
              <a:t>NumPy matrix is the solution </a:t>
            </a:r>
            <a:r>
              <a:rPr lang="en-GB" sz="2800" b="1" dirty="0">
                <a:sym typeface="Wingdings" pitchFamily="2" charset="2"/>
              </a:rPr>
              <a:t></a:t>
            </a:r>
            <a:endParaRPr lang="en-GB" sz="2800" b="1" dirty="0"/>
          </a:p>
        </p:txBody>
      </p:sp>
    </p:spTree>
    <p:extLst>
      <p:ext uri="{BB962C8B-B14F-4D97-AF65-F5344CB8AC3E}">
        <p14:creationId xmlns:p14="http://schemas.microsoft.com/office/powerpoint/2010/main" val="4154926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ACE17-F8B9-6605-9DD8-AE452896AF7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F12484D-5111-DE42-FD7D-6A9DE90E0559}"/>
              </a:ext>
            </a:extLst>
          </p:cNvPr>
          <p:cNvSpPr>
            <a:spLocks noGrp="1"/>
          </p:cNvSpPr>
          <p:nvPr>
            <p:ph type="title"/>
          </p:nvPr>
        </p:nvSpPr>
        <p:spPr/>
        <p:txBody>
          <a:bodyPr/>
          <a:lstStyle/>
          <a:p>
            <a:r>
              <a:rPr lang="fr-FR" dirty="0"/>
              <a:t>Neural Network</a:t>
            </a:r>
          </a:p>
        </p:txBody>
      </p:sp>
      <p:sp>
        <p:nvSpPr>
          <p:cNvPr id="72" name="ZoneTexte 71">
            <a:extLst>
              <a:ext uri="{FF2B5EF4-FFF2-40B4-BE49-F238E27FC236}">
                <a16:creationId xmlns:a16="http://schemas.microsoft.com/office/drawing/2014/main" id="{F2D662D7-E7D1-8190-C8D1-01C8345F96CC}"/>
              </a:ext>
            </a:extLst>
          </p:cNvPr>
          <p:cNvSpPr txBox="1"/>
          <p:nvPr/>
        </p:nvSpPr>
        <p:spPr>
          <a:xfrm>
            <a:off x="1718343" y="1500565"/>
            <a:ext cx="3157800" cy="307777"/>
          </a:xfrm>
          <a:prstGeom prst="rect">
            <a:avLst/>
          </a:prstGeom>
          <a:noFill/>
        </p:spPr>
        <p:txBody>
          <a:bodyPr wrap="square" rtlCol="0">
            <a:spAutoFit/>
          </a:bodyPr>
          <a:lstStyle/>
          <a:p>
            <a:pPr algn="ctr"/>
            <a:r>
              <a:rPr lang="fr-FR" sz="1400" b="1" dirty="0">
                <a:solidFill>
                  <a:srgbClr val="FF0000"/>
                </a:solidFill>
              </a:rPr>
              <a:t>BACKPROPAGATION</a:t>
            </a:r>
            <a:endParaRPr lang="fr-FR" sz="1400" b="1" dirty="0"/>
          </a:p>
        </p:txBody>
      </p:sp>
      <p:sp>
        <p:nvSpPr>
          <p:cNvPr id="20" name="Espace réservé du pied de page 19">
            <a:extLst>
              <a:ext uri="{FF2B5EF4-FFF2-40B4-BE49-F238E27FC236}">
                <a16:creationId xmlns:a16="http://schemas.microsoft.com/office/drawing/2014/main" id="{27A2FEE6-7054-9B70-7CAE-98019AD87A25}"/>
              </a:ext>
            </a:extLst>
          </p:cNvPr>
          <p:cNvSpPr>
            <a:spLocks noGrp="1"/>
          </p:cNvSpPr>
          <p:nvPr>
            <p:ph type="ftr" sz="quarter" idx="11"/>
          </p:nvPr>
        </p:nvSpPr>
        <p:spPr/>
        <p:txBody>
          <a:bodyPr/>
          <a:lstStyle/>
          <a:p>
            <a:r>
              <a:rPr lang="fr-FR"/>
              <a:t>Introduction to Neural Networks. Author: David Thébault</a:t>
            </a:r>
          </a:p>
        </p:txBody>
      </p:sp>
      <p:pic>
        <p:nvPicPr>
          <p:cNvPr id="4" name="Image 3">
            <a:extLst>
              <a:ext uri="{FF2B5EF4-FFF2-40B4-BE49-F238E27FC236}">
                <a16:creationId xmlns:a16="http://schemas.microsoft.com/office/drawing/2014/main" id="{6957E8CB-500A-09D0-CC9E-C1F5898D3ECC}"/>
              </a:ext>
            </a:extLst>
          </p:cNvPr>
          <p:cNvPicPr>
            <a:picLocks noChangeAspect="1"/>
          </p:cNvPicPr>
          <p:nvPr/>
        </p:nvPicPr>
        <p:blipFill>
          <a:blip r:embed="rId2"/>
          <a:stretch>
            <a:fillRect/>
          </a:stretch>
        </p:blipFill>
        <p:spPr>
          <a:xfrm>
            <a:off x="545638" y="1925996"/>
            <a:ext cx="5734704" cy="2759500"/>
          </a:xfrm>
          <a:prstGeom prst="rect">
            <a:avLst/>
          </a:prstGeom>
        </p:spPr>
      </p:pic>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7DD7D849-0576-B2AC-5AAA-975CEABF3E84}"/>
                  </a:ext>
                </a:extLst>
              </p:cNvPr>
              <p:cNvSpPr txBox="1"/>
              <p:nvPr/>
            </p:nvSpPr>
            <p:spPr>
              <a:xfrm>
                <a:off x="6577318" y="546800"/>
                <a:ext cx="5069044" cy="4999767"/>
              </a:xfrm>
              <a:prstGeom prst="rect">
                <a:avLst/>
              </a:prstGeom>
              <a:noFill/>
            </p:spPr>
            <p:txBody>
              <a:bodyPr wrap="square" rtlCol="0">
                <a:spAutoFit/>
              </a:bodyPr>
              <a:lstStyle/>
              <a:p>
                <a:r>
                  <a:rPr lang="en-GB" b="1" dirty="0">
                    <a:latin typeface="Cambria Math" panose="02040503050406030204" pitchFamily="18" charset="0"/>
                  </a:rPr>
                  <a:t>Matrix Chain rule to update </a:t>
                </a:r>
                <a14:m>
                  <m:oMath xmlns:m="http://schemas.openxmlformats.org/officeDocument/2006/math">
                    <m:r>
                      <a:rPr lang="fr-FR" b="1" i="1" smtClean="0">
                        <a:latin typeface="Cambria Math" panose="02040503050406030204" pitchFamily="18" charset="0"/>
                      </a:rPr>
                      <m:t>𝑾</m:t>
                    </m:r>
                    <m:r>
                      <a:rPr lang="fr-FR" b="1" i="1" smtClean="0">
                        <a:latin typeface="Cambria Math" panose="02040503050406030204" pitchFamily="18" charset="0"/>
                      </a:rPr>
                      <m:t>_</m:t>
                    </m:r>
                    <m:r>
                      <a:rPr lang="fr-FR" b="1" i="1" smtClean="0">
                        <a:latin typeface="Cambria Math" panose="02040503050406030204" pitchFamily="18" charset="0"/>
                      </a:rPr>
                      <m:t>𝒐𝒖𝒕</m:t>
                    </m:r>
                  </m:oMath>
                </a14:m>
                <a:r>
                  <a:rPr lang="en-GB" b="1" dirty="0">
                    <a:latin typeface="Cambria Math" panose="02040503050406030204" pitchFamily="18" charset="0"/>
                  </a:rPr>
                  <a:t>, </a:t>
                </a:r>
                <a:r>
                  <a:rPr lang="en-GB" b="1" i="1" dirty="0">
                    <a:latin typeface="Cambria Math" panose="02040503050406030204" pitchFamily="18" charset="0"/>
                  </a:rPr>
                  <a:t>b</a:t>
                </a:r>
                <a14:m>
                  <m:oMath xmlns:m="http://schemas.openxmlformats.org/officeDocument/2006/math">
                    <m:r>
                      <a:rPr lang="fr-FR" b="1" i="1">
                        <a:latin typeface="Cambria Math" panose="02040503050406030204" pitchFamily="18" charset="0"/>
                      </a:rPr>
                      <m:t>_</m:t>
                    </m:r>
                    <m:r>
                      <a:rPr lang="fr-FR" b="1" i="1">
                        <a:latin typeface="Cambria Math" panose="02040503050406030204" pitchFamily="18" charset="0"/>
                      </a:rPr>
                      <m:t>𝒐𝒖𝒕</m:t>
                    </m:r>
                    <m:r>
                      <a:rPr lang="fr-FR" b="1" i="1">
                        <a:latin typeface="Cambria Math" panose="02040503050406030204" pitchFamily="18" charset="0"/>
                      </a:rPr>
                      <m:t> </m:t>
                    </m:r>
                  </m:oMath>
                </a14:m>
                <a:r>
                  <a:rPr lang="en-GB" b="1" dirty="0">
                    <a:latin typeface="Cambria Math" panose="02040503050406030204" pitchFamily="18" charset="0"/>
                  </a:rPr>
                  <a:t>:</a:t>
                </a:r>
              </a:p>
              <a:p>
                <a:endParaRPr lang="en-GB" b="1" dirty="0">
                  <a:latin typeface="Cambria Math" panose="02040503050406030204" pitchFamily="18" charset="0"/>
                </a:endParaRPr>
              </a:p>
              <a:p>
                <a14:m>
                  <m:oMath xmlns:m="http://schemas.openxmlformats.org/officeDocument/2006/math">
                    <m:f>
                      <m:fPr>
                        <m:ctrlPr>
                          <a:rPr lang="en-GB" b="1" i="1" smtClean="0">
                            <a:latin typeface="Cambria Math" panose="02040503050406030204" pitchFamily="18" charset="0"/>
                          </a:rPr>
                        </m:ctrlPr>
                      </m:fPr>
                      <m:num>
                        <m:r>
                          <a:rPr lang="en-GB" b="1" i="1" smtClean="0">
                            <a:latin typeface="Cambria Math" panose="02040503050406030204" pitchFamily="18" charset="0"/>
                          </a:rPr>
                          <m:t>𝝏</m:t>
                        </m:r>
                        <m:r>
                          <a:rPr lang="fr-FR" b="1" i="1" smtClean="0">
                            <a:latin typeface="Cambria Math" panose="02040503050406030204" pitchFamily="18" charset="0"/>
                          </a:rPr>
                          <m:t>𝑳𝒐𝒔𝒔</m:t>
                        </m:r>
                      </m:num>
                      <m:den>
                        <m:r>
                          <a:rPr lang="en-GB" b="1" i="1" smtClean="0">
                            <a:latin typeface="Cambria Math" panose="02040503050406030204" pitchFamily="18" charset="0"/>
                          </a:rPr>
                          <m:t>𝝏</m:t>
                        </m:r>
                        <m:r>
                          <a:rPr lang="fr-FR" b="1" i="1" smtClean="0">
                            <a:latin typeface="Cambria Math" panose="02040503050406030204" pitchFamily="18" charset="0"/>
                          </a:rPr>
                          <m:t>𝑾</m:t>
                        </m:r>
                        <m:r>
                          <a:rPr lang="fr-FR" b="1" i="1" smtClean="0">
                            <a:latin typeface="Cambria Math" panose="02040503050406030204" pitchFamily="18" charset="0"/>
                          </a:rPr>
                          <m:t>_</m:t>
                        </m:r>
                        <m:r>
                          <a:rPr lang="fr-FR" b="1" i="1" smtClean="0">
                            <a:latin typeface="Cambria Math" panose="02040503050406030204" pitchFamily="18" charset="0"/>
                          </a:rPr>
                          <m:t>𝒐𝒖𝒕</m:t>
                        </m:r>
                      </m:den>
                    </m:f>
                    <m:r>
                      <a:rPr lang="fr-FR" b="1" i="0" smtClean="0">
                        <a:latin typeface="Cambria Math" panose="02040503050406030204" pitchFamily="18" charset="0"/>
                      </a:rPr>
                      <m:t>=</m:t>
                    </m:r>
                  </m:oMath>
                </a14:m>
                <a:r>
                  <a:rPr lang="en-GB" dirty="0"/>
                  <a:t> </a:t>
                </a:r>
                <a14:m>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𝐿𝑜𝑠𝑠</m:t>
                        </m:r>
                      </m:num>
                      <m:den>
                        <m:r>
                          <a:rPr lang="en-GB" i="1">
                            <a:latin typeface="Cambria Math" panose="02040503050406030204" pitchFamily="18" charset="0"/>
                          </a:rPr>
                          <m:t>𝜕</m:t>
                        </m:r>
                        <m:r>
                          <a:rPr lang="en-GB" i="1">
                            <a:latin typeface="Cambria Math" panose="02040503050406030204" pitchFamily="18" charset="0"/>
                          </a:rPr>
                          <m:t>𝑜𝑢𝑡</m:t>
                        </m:r>
                        <m:r>
                          <a:rPr lang="en-GB" i="1">
                            <a:latin typeface="Cambria Math" panose="02040503050406030204" pitchFamily="18" charset="0"/>
                          </a:rPr>
                          <m:t>_</m:t>
                        </m:r>
                        <m:r>
                          <a:rPr lang="en-GB" i="1">
                            <a:latin typeface="Cambria Math" panose="02040503050406030204" pitchFamily="18" charset="0"/>
                          </a:rPr>
                          <m:t>𝑜</m:t>
                        </m:r>
                      </m:den>
                    </m:f>
                    <m:r>
                      <a:rPr lang="fr-FR" b="0" i="1" smtClean="0">
                        <a:latin typeface="Cambria Math" panose="02040503050406030204" pitchFamily="18" charset="0"/>
                      </a:rPr>
                      <m:t>∗</m:t>
                    </m:r>
                  </m:oMath>
                </a14:m>
                <a:r>
                  <a:rPr lang="en-GB" dirty="0"/>
                  <a:t> </a:t>
                </a:r>
                <a14:m>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m:t>
                        </m:r>
                        <m:r>
                          <a:rPr lang="fr-FR" i="1">
                            <a:latin typeface="Cambria Math" panose="02040503050406030204" pitchFamily="18" charset="0"/>
                          </a:rPr>
                          <m:t>𝑜𝑢𝑡</m:t>
                        </m:r>
                        <m:r>
                          <a:rPr lang="fr-FR" i="1">
                            <a:latin typeface="Cambria Math" panose="02040503050406030204" pitchFamily="18" charset="0"/>
                          </a:rPr>
                          <m:t>_</m:t>
                        </m:r>
                        <m:r>
                          <a:rPr lang="fr-FR" i="1">
                            <a:latin typeface="Cambria Math" panose="02040503050406030204" pitchFamily="18" charset="0"/>
                          </a:rPr>
                          <m:t>𝑜</m:t>
                        </m:r>
                      </m:num>
                      <m:den>
                        <m:r>
                          <a:rPr lang="en-GB" i="1">
                            <a:latin typeface="Cambria Math" panose="02040503050406030204" pitchFamily="18" charset="0"/>
                          </a:rPr>
                          <m:t>𝜕</m:t>
                        </m:r>
                        <m:r>
                          <a:rPr lang="fr-FR" i="1">
                            <a:latin typeface="Cambria Math" panose="02040503050406030204" pitchFamily="18" charset="0"/>
                          </a:rPr>
                          <m:t>𝑛𝑒𝑡</m:t>
                        </m:r>
                        <m:r>
                          <a:rPr lang="fr-FR" i="1">
                            <a:latin typeface="Cambria Math" panose="02040503050406030204" pitchFamily="18" charset="0"/>
                          </a:rPr>
                          <m:t>_</m:t>
                        </m:r>
                        <m:r>
                          <a:rPr lang="fr-FR" i="1">
                            <a:latin typeface="Cambria Math" panose="02040503050406030204" pitchFamily="18" charset="0"/>
                          </a:rPr>
                          <m:t>𝑜</m:t>
                        </m:r>
                      </m:den>
                    </m:f>
                    <m:r>
                      <a:rPr lang="fr-FR" b="0" i="1"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fr-FR" b="0" i="1" smtClean="0">
                            <a:latin typeface="Cambria Math" panose="02040503050406030204" pitchFamily="18" charset="0"/>
                          </a:rPr>
                          <m:t>𝑛𝑒</m:t>
                        </m:r>
                        <m:r>
                          <a:rPr lang="fr-FR" i="1">
                            <a:latin typeface="Cambria Math" panose="02040503050406030204" pitchFamily="18" charset="0"/>
                          </a:rPr>
                          <m:t>𝑡</m:t>
                        </m:r>
                        <m:r>
                          <a:rPr lang="fr-FR" i="1">
                            <a:latin typeface="Cambria Math" panose="02040503050406030204" pitchFamily="18" charset="0"/>
                          </a:rPr>
                          <m:t>_</m:t>
                        </m:r>
                        <m:r>
                          <a:rPr lang="fr-FR" i="1">
                            <a:latin typeface="Cambria Math" panose="02040503050406030204" pitchFamily="18" charset="0"/>
                          </a:rPr>
                          <m:t>𝑜</m:t>
                        </m:r>
                      </m:num>
                      <m:den>
                        <m:r>
                          <a:rPr lang="en-GB" i="1">
                            <a:latin typeface="Cambria Math" panose="02040503050406030204" pitchFamily="18" charset="0"/>
                          </a:rPr>
                          <m:t>𝜕</m:t>
                        </m:r>
                        <m:r>
                          <a:rPr lang="fr-FR" b="0" i="1" smtClean="0">
                            <a:latin typeface="Cambria Math" panose="02040503050406030204" pitchFamily="18" charset="0"/>
                          </a:rPr>
                          <m:t>𝑊</m:t>
                        </m:r>
                        <m:r>
                          <a:rPr lang="fr-FR" i="1">
                            <a:latin typeface="Cambria Math" panose="02040503050406030204" pitchFamily="18" charset="0"/>
                          </a:rPr>
                          <m:t>_</m:t>
                        </m:r>
                        <m:r>
                          <a:rPr lang="fr-FR" i="1">
                            <a:latin typeface="Cambria Math" panose="02040503050406030204" pitchFamily="18" charset="0"/>
                          </a:rPr>
                          <m:t>𝑜𝑢𝑡</m:t>
                        </m:r>
                      </m:den>
                    </m:f>
                  </m:oMath>
                </a14:m>
                <a:endParaRPr lang="en-GB" b="1" dirty="0">
                  <a:latin typeface="Cambria Math" panose="02040503050406030204" pitchFamily="18" charset="0"/>
                </a:endParaRPr>
              </a:p>
              <a:p>
                <a:endParaRPr lang="en-GB" i="1" dirty="0">
                  <a:latin typeface="Cambria Math" panose="02040503050406030204" pitchFamily="18" charset="0"/>
                </a:endParaRPr>
              </a:p>
              <a:p>
                <a14:m>
                  <m:oMath xmlns:m="http://schemas.openxmlformats.org/officeDocument/2006/math">
                    <m:f>
                      <m:fPr>
                        <m:ctrlPr>
                          <a:rPr lang="en-GB" b="1" i="1" smtClean="0">
                            <a:latin typeface="Cambria Math" panose="02040503050406030204" pitchFamily="18" charset="0"/>
                          </a:rPr>
                        </m:ctrlPr>
                      </m:fPr>
                      <m:num>
                        <m:r>
                          <a:rPr lang="en-GB" b="1" i="1" smtClean="0">
                            <a:latin typeface="Cambria Math" panose="02040503050406030204" pitchFamily="18" charset="0"/>
                          </a:rPr>
                          <m:t>𝝏</m:t>
                        </m:r>
                        <m:r>
                          <a:rPr lang="fr-FR" b="1" i="1" smtClean="0">
                            <a:latin typeface="Cambria Math" panose="02040503050406030204" pitchFamily="18" charset="0"/>
                          </a:rPr>
                          <m:t>𝑳𝒐𝒔𝒔</m:t>
                        </m:r>
                      </m:num>
                      <m:den>
                        <m:r>
                          <a:rPr lang="en-GB" b="1" i="1" smtClean="0">
                            <a:latin typeface="Cambria Math" panose="02040503050406030204" pitchFamily="18" charset="0"/>
                          </a:rPr>
                          <m:t>𝝏</m:t>
                        </m:r>
                        <m:r>
                          <a:rPr lang="fr-FR" b="1" i="1" smtClean="0">
                            <a:latin typeface="Cambria Math" panose="02040503050406030204" pitchFamily="18" charset="0"/>
                          </a:rPr>
                          <m:t>𝒃</m:t>
                        </m:r>
                        <m:r>
                          <a:rPr lang="fr-FR" b="1" i="1" smtClean="0">
                            <a:latin typeface="Cambria Math" panose="02040503050406030204" pitchFamily="18" charset="0"/>
                          </a:rPr>
                          <m:t>_</m:t>
                        </m:r>
                        <m:r>
                          <a:rPr lang="fr-FR" b="1" i="1" smtClean="0">
                            <a:latin typeface="Cambria Math" panose="02040503050406030204" pitchFamily="18" charset="0"/>
                          </a:rPr>
                          <m:t>𝒐𝒖𝒕</m:t>
                        </m:r>
                      </m:den>
                    </m:f>
                    <m:r>
                      <a:rPr lang="fr-FR" b="1" i="0" smtClean="0">
                        <a:latin typeface="Cambria Math" panose="02040503050406030204" pitchFamily="18" charset="0"/>
                      </a:rPr>
                      <m:t>=</m:t>
                    </m:r>
                  </m:oMath>
                </a14:m>
                <a:r>
                  <a:rPr lang="en-GB" dirty="0"/>
                  <a:t> </a:t>
                </a:r>
                <a14:m>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𝐿𝑜𝑠𝑠</m:t>
                        </m:r>
                      </m:num>
                      <m:den>
                        <m:r>
                          <a:rPr lang="en-GB" i="1">
                            <a:latin typeface="Cambria Math" panose="02040503050406030204" pitchFamily="18" charset="0"/>
                          </a:rPr>
                          <m:t>𝜕</m:t>
                        </m:r>
                        <m:r>
                          <a:rPr lang="en-GB" i="1">
                            <a:latin typeface="Cambria Math" panose="02040503050406030204" pitchFamily="18" charset="0"/>
                          </a:rPr>
                          <m:t>𝑜𝑢𝑡</m:t>
                        </m:r>
                        <m:r>
                          <a:rPr lang="en-GB" i="1">
                            <a:latin typeface="Cambria Math" panose="02040503050406030204" pitchFamily="18" charset="0"/>
                          </a:rPr>
                          <m:t>_</m:t>
                        </m:r>
                        <m:r>
                          <a:rPr lang="en-GB" i="1">
                            <a:latin typeface="Cambria Math" panose="02040503050406030204" pitchFamily="18" charset="0"/>
                          </a:rPr>
                          <m:t>𝑜</m:t>
                        </m:r>
                      </m:den>
                    </m:f>
                    <m:r>
                      <a:rPr lang="fr-FR" b="0" i="1" smtClean="0">
                        <a:latin typeface="Cambria Math" panose="02040503050406030204" pitchFamily="18" charset="0"/>
                      </a:rPr>
                      <m:t>∗</m:t>
                    </m:r>
                  </m:oMath>
                </a14:m>
                <a:r>
                  <a:rPr lang="en-GB" dirty="0"/>
                  <a:t> </a:t>
                </a:r>
                <a14:m>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m:t>
                        </m:r>
                        <m:r>
                          <a:rPr lang="fr-FR" i="1">
                            <a:latin typeface="Cambria Math" panose="02040503050406030204" pitchFamily="18" charset="0"/>
                          </a:rPr>
                          <m:t>𝑜𝑢𝑡</m:t>
                        </m:r>
                        <m:r>
                          <a:rPr lang="fr-FR" i="1">
                            <a:latin typeface="Cambria Math" panose="02040503050406030204" pitchFamily="18" charset="0"/>
                          </a:rPr>
                          <m:t>_</m:t>
                        </m:r>
                        <m:r>
                          <a:rPr lang="fr-FR" i="1">
                            <a:latin typeface="Cambria Math" panose="02040503050406030204" pitchFamily="18" charset="0"/>
                          </a:rPr>
                          <m:t>𝑜</m:t>
                        </m:r>
                      </m:num>
                      <m:den>
                        <m:r>
                          <a:rPr lang="en-GB" i="1">
                            <a:latin typeface="Cambria Math" panose="02040503050406030204" pitchFamily="18" charset="0"/>
                          </a:rPr>
                          <m:t>𝜕</m:t>
                        </m:r>
                        <m:r>
                          <a:rPr lang="fr-FR" i="1">
                            <a:latin typeface="Cambria Math" panose="02040503050406030204" pitchFamily="18" charset="0"/>
                          </a:rPr>
                          <m:t>𝑛𝑒𝑡</m:t>
                        </m:r>
                        <m:r>
                          <a:rPr lang="fr-FR" i="1">
                            <a:latin typeface="Cambria Math" panose="02040503050406030204" pitchFamily="18" charset="0"/>
                          </a:rPr>
                          <m:t>_</m:t>
                        </m:r>
                        <m:r>
                          <a:rPr lang="fr-FR" i="1">
                            <a:latin typeface="Cambria Math" panose="02040503050406030204" pitchFamily="18" charset="0"/>
                          </a:rPr>
                          <m:t>𝑜</m:t>
                        </m:r>
                      </m:den>
                    </m:f>
                    <m:r>
                      <a:rPr lang="fr-FR" b="0" i="1"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fr-FR" b="0" i="1" smtClean="0">
                            <a:latin typeface="Cambria Math" panose="02040503050406030204" pitchFamily="18" charset="0"/>
                          </a:rPr>
                          <m:t>𝑛𝑒</m:t>
                        </m:r>
                        <m:r>
                          <a:rPr lang="fr-FR" i="1">
                            <a:latin typeface="Cambria Math" panose="02040503050406030204" pitchFamily="18" charset="0"/>
                          </a:rPr>
                          <m:t>𝑡</m:t>
                        </m:r>
                        <m:r>
                          <a:rPr lang="fr-FR" i="1">
                            <a:latin typeface="Cambria Math" panose="02040503050406030204" pitchFamily="18" charset="0"/>
                          </a:rPr>
                          <m:t>_</m:t>
                        </m:r>
                        <m:r>
                          <a:rPr lang="fr-FR" i="1">
                            <a:latin typeface="Cambria Math" panose="02040503050406030204" pitchFamily="18" charset="0"/>
                          </a:rPr>
                          <m:t>𝑜</m:t>
                        </m:r>
                      </m:num>
                      <m:den>
                        <m:r>
                          <a:rPr lang="en-GB" i="1">
                            <a:latin typeface="Cambria Math" panose="02040503050406030204" pitchFamily="18" charset="0"/>
                          </a:rPr>
                          <m:t>𝜕</m:t>
                        </m:r>
                        <m:r>
                          <a:rPr lang="fr-FR" b="0" i="1" smtClean="0">
                            <a:latin typeface="Cambria Math" panose="02040503050406030204" pitchFamily="18" charset="0"/>
                          </a:rPr>
                          <m:t>𝑏</m:t>
                        </m:r>
                        <m:r>
                          <a:rPr lang="fr-FR" i="1">
                            <a:latin typeface="Cambria Math" panose="02040503050406030204" pitchFamily="18" charset="0"/>
                          </a:rPr>
                          <m:t>_</m:t>
                        </m:r>
                        <m:r>
                          <a:rPr lang="fr-FR" i="1">
                            <a:latin typeface="Cambria Math" panose="02040503050406030204" pitchFamily="18" charset="0"/>
                          </a:rPr>
                          <m:t>𝑜𝑢𝑡</m:t>
                        </m:r>
                      </m:den>
                    </m:f>
                  </m:oMath>
                </a14:m>
                <a:endParaRPr lang="en-GB" b="1" dirty="0">
                  <a:latin typeface="Cambria Math" panose="02040503050406030204" pitchFamily="18" charset="0"/>
                </a:endParaRPr>
              </a:p>
              <a:p>
                <a:endParaRPr lang="en-GB"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f>
                        <m:fPr>
                          <m:ctrlPr>
                            <a:rPr lang="en-GB" sz="1100" i="1" smtClean="0">
                              <a:latin typeface="Cambria Math" panose="02040503050406030204" pitchFamily="18" charset="0"/>
                            </a:rPr>
                          </m:ctrlPr>
                        </m:fPr>
                        <m:num>
                          <m:r>
                            <a:rPr lang="en-GB" sz="1100" i="1" smtClean="0">
                              <a:latin typeface="Cambria Math" panose="02040503050406030204" pitchFamily="18" charset="0"/>
                            </a:rPr>
                            <m:t>𝜕</m:t>
                          </m:r>
                          <m:r>
                            <a:rPr lang="en-GB" sz="1100" b="0" i="1" smtClean="0">
                              <a:latin typeface="Cambria Math" panose="02040503050406030204" pitchFamily="18" charset="0"/>
                            </a:rPr>
                            <m:t>𝐿𝑜𝑠𝑠</m:t>
                          </m:r>
                        </m:num>
                        <m:den>
                          <m:r>
                            <a:rPr lang="en-GB" sz="1100" i="1" smtClean="0">
                              <a:latin typeface="Cambria Math" panose="02040503050406030204" pitchFamily="18" charset="0"/>
                            </a:rPr>
                            <m:t>𝜕</m:t>
                          </m:r>
                          <m:r>
                            <a:rPr lang="en-GB" sz="1100" b="0" i="1" smtClean="0">
                              <a:latin typeface="Cambria Math" panose="02040503050406030204" pitchFamily="18" charset="0"/>
                            </a:rPr>
                            <m:t>𝑜𝑢𝑡</m:t>
                          </m:r>
                          <m:r>
                            <a:rPr lang="en-GB" sz="1100" b="0" i="1" smtClean="0">
                              <a:latin typeface="Cambria Math" panose="02040503050406030204" pitchFamily="18" charset="0"/>
                            </a:rPr>
                            <m:t>_</m:t>
                          </m:r>
                          <m:r>
                            <a:rPr lang="en-GB" sz="1100" b="0" i="1" smtClean="0">
                              <a:latin typeface="Cambria Math" panose="02040503050406030204" pitchFamily="18" charset="0"/>
                            </a:rPr>
                            <m:t>𝑜</m:t>
                          </m:r>
                        </m:den>
                      </m:f>
                      <m:r>
                        <a:rPr lang="en-GB" sz="1100" b="0" i="1" smtClean="0">
                          <a:latin typeface="Cambria Math" panose="02040503050406030204" pitchFamily="18" charset="0"/>
                        </a:rPr>
                        <m:t>=</m:t>
                      </m:r>
                      <m:f>
                        <m:fPr>
                          <m:ctrlPr>
                            <a:rPr lang="en-GB" sz="1100" i="1">
                              <a:latin typeface="Cambria Math" panose="02040503050406030204" pitchFamily="18" charset="0"/>
                            </a:rPr>
                          </m:ctrlPr>
                        </m:fPr>
                        <m:num>
                          <m:r>
                            <a:rPr lang="en-GB" sz="1100" i="1">
                              <a:latin typeface="Cambria Math" panose="02040503050406030204" pitchFamily="18" charset="0"/>
                            </a:rPr>
                            <m:t>𝜕</m:t>
                          </m:r>
                          <m:sSup>
                            <m:sSupPr>
                              <m:ctrlPr>
                                <a:rPr lang="fr-FR" sz="1100" i="1">
                                  <a:latin typeface="Cambria Math" panose="02040503050406030204" pitchFamily="18" charset="0"/>
                                </a:rPr>
                              </m:ctrlPr>
                            </m:sSupPr>
                            <m:e>
                              <m:d>
                                <m:dPr>
                                  <m:ctrlPr>
                                    <a:rPr lang="fr-FR" sz="1100" b="0" i="1" smtClean="0">
                                      <a:latin typeface="Cambria Math" panose="02040503050406030204" pitchFamily="18" charset="0"/>
                                    </a:rPr>
                                  </m:ctrlPr>
                                </m:dPr>
                                <m:e>
                                  <m:r>
                                    <a:rPr lang="fr-FR" sz="1100" b="0" i="1" smtClean="0">
                                      <a:latin typeface="Cambria Math" panose="02040503050406030204" pitchFamily="18" charset="0"/>
                                    </a:rPr>
                                    <m:t>𝑡𝑎𝑟𝑔𝑒𝑡</m:t>
                                  </m:r>
                                  <m:r>
                                    <a:rPr lang="fr-FR" sz="1100" b="0" i="1" smtClean="0">
                                      <a:latin typeface="Cambria Math" panose="02040503050406030204" pitchFamily="18" charset="0"/>
                                    </a:rPr>
                                    <m:t> −</m:t>
                                  </m:r>
                                  <m:r>
                                    <a:rPr lang="fr-FR" sz="1100" b="0" i="1" smtClean="0">
                                      <a:latin typeface="Cambria Math" panose="02040503050406030204" pitchFamily="18" charset="0"/>
                                    </a:rPr>
                                    <m:t>𝑜𝑢𝑡</m:t>
                                  </m:r>
                                  <m:r>
                                    <a:rPr lang="fr-FR" sz="1100" b="0" i="1" smtClean="0">
                                      <a:latin typeface="Cambria Math" panose="02040503050406030204" pitchFamily="18" charset="0"/>
                                    </a:rPr>
                                    <m:t>_</m:t>
                                  </m:r>
                                  <m:r>
                                    <a:rPr lang="fr-FR" sz="1100" b="0" i="1" smtClean="0">
                                      <a:latin typeface="Cambria Math" panose="02040503050406030204" pitchFamily="18" charset="0"/>
                                    </a:rPr>
                                    <m:t>𝑜</m:t>
                                  </m:r>
                                </m:e>
                              </m:d>
                            </m:e>
                            <m:sup>
                              <m:r>
                                <a:rPr lang="fr-FR" sz="1100" b="0" i="1" smtClean="0">
                                  <a:latin typeface="Cambria Math" panose="02040503050406030204" pitchFamily="18" charset="0"/>
                                </a:rPr>
                                <m:t>2</m:t>
                              </m:r>
                            </m:sup>
                          </m:sSup>
                        </m:num>
                        <m:den>
                          <m:r>
                            <a:rPr lang="en-GB" sz="1100" i="1">
                              <a:latin typeface="Cambria Math" panose="02040503050406030204" pitchFamily="18" charset="0"/>
                            </a:rPr>
                            <m:t>𝜕</m:t>
                          </m:r>
                          <m:r>
                            <a:rPr lang="en-GB" sz="1100" i="1">
                              <a:latin typeface="Cambria Math" panose="02040503050406030204" pitchFamily="18" charset="0"/>
                            </a:rPr>
                            <m:t>𝑜𝑢𝑡</m:t>
                          </m:r>
                          <m:r>
                            <a:rPr lang="en-GB" sz="1100" i="1">
                              <a:latin typeface="Cambria Math" panose="02040503050406030204" pitchFamily="18" charset="0"/>
                            </a:rPr>
                            <m:t>_</m:t>
                          </m:r>
                          <m:r>
                            <a:rPr lang="en-GB" sz="1100" i="1">
                              <a:latin typeface="Cambria Math" panose="02040503050406030204" pitchFamily="18" charset="0"/>
                            </a:rPr>
                            <m:t>𝑜</m:t>
                          </m:r>
                        </m:den>
                      </m:f>
                      <m:r>
                        <a:rPr lang="en-GB" sz="1100" i="1">
                          <a:latin typeface="Cambria Math" panose="02040503050406030204" pitchFamily="18" charset="0"/>
                        </a:rPr>
                        <m:t>=</m:t>
                      </m:r>
                      <m:r>
                        <a:rPr lang="en-GB" sz="1100" b="0" i="1" smtClean="0">
                          <a:latin typeface="Cambria Math" panose="02040503050406030204" pitchFamily="18" charset="0"/>
                        </a:rPr>
                        <m:t>−2 (</m:t>
                      </m:r>
                      <m:r>
                        <a:rPr lang="en-GB" sz="1100" b="0" i="1" smtClean="0">
                          <a:latin typeface="Cambria Math" panose="02040503050406030204" pitchFamily="18" charset="0"/>
                        </a:rPr>
                        <m:t>𝑡𝑎𝑟𝑔𝑒𝑡</m:t>
                      </m:r>
                      <m:r>
                        <a:rPr lang="en-GB" sz="1100" b="0" i="1" smtClean="0">
                          <a:latin typeface="Cambria Math" panose="02040503050406030204" pitchFamily="18" charset="0"/>
                        </a:rPr>
                        <m:t> −</m:t>
                      </m:r>
                      <m:r>
                        <a:rPr lang="en-GB" sz="1100" b="0" i="1" smtClean="0">
                          <a:latin typeface="Cambria Math" panose="02040503050406030204" pitchFamily="18" charset="0"/>
                        </a:rPr>
                        <m:t>𝑜𝑢𝑡</m:t>
                      </m:r>
                      <m:r>
                        <a:rPr lang="en-GB" sz="1100" b="0" i="1" smtClean="0">
                          <a:latin typeface="Cambria Math" panose="02040503050406030204" pitchFamily="18" charset="0"/>
                        </a:rPr>
                        <m:t>)</m:t>
                      </m:r>
                    </m:oMath>
                  </m:oMathPara>
                </a14:m>
                <a:endParaRPr lang="en-GB" sz="1100" dirty="0"/>
              </a:p>
              <a:p>
                <a:endParaRPr lang="en-GB" sz="1100" dirty="0"/>
              </a:p>
              <a:p>
                <a:pPr/>
                <a14:m>
                  <m:oMathPara xmlns:m="http://schemas.openxmlformats.org/officeDocument/2006/math">
                    <m:oMathParaPr>
                      <m:jc m:val="left"/>
                    </m:oMathParaPr>
                    <m:oMath xmlns:m="http://schemas.openxmlformats.org/officeDocument/2006/math">
                      <m:f>
                        <m:fPr>
                          <m:ctrlPr>
                            <a:rPr lang="en-GB" sz="1100" i="1" smtClean="0">
                              <a:latin typeface="Cambria Math" panose="02040503050406030204" pitchFamily="18" charset="0"/>
                            </a:rPr>
                          </m:ctrlPr>
                        </m:fPr>
                        <m:num>
                          <m:r>
                            <a:rPr lang="en-GB" sz="1100" i="1" smtClean="0">
                              <a:latin typeface="Cambria Math" panose="02040503050406030204" pitchFamily="18" charset="0"/>
                            </a:rPr>
                            <m:t>𝜕</m:t>
                          </m:r>
                          <m:r>
                            <a:rPr lang="fr-FR" sz="1100" b="0" i="1" smtClean="0">
                              <a:latin typeface="Cambria Math" panose="02040503050406030204" pitchFamily="18" charset="0"/>
                            </a:rPr>
                            <m:t>𝑜𝑢𝑡</m:t>
                          </m:r>
                          <m:r>
                            <a:rPr lang="fr-FR" sz="1100" b="0" i="1" smtClean="0">
                              <a:latin typeface="Cambria Math" panose="02040503050406030204" pitchFamily="18" charset="0"/>
                            </a:rPr>
                            <m:t>_</m:t>
                          </m:r>
                          <m:r>
                            <a:rPr lang="fr-FR" sz="1100" b="0" i="1" smtClean="0">
                              <a:latin typeface="Cambria Math" panose="02040503050406030204" pitchFamily="18" charset="0"/>
                            </a:rPr>
                            <m:t>𝑜</m:t>
                          </m:r>
                        </m:num>
                        <m:den>
                          <m:r>
                            <a:rPr lang="en-GB" sz="1100" i="1" smtClean="0">
                              <a:latin typeface="Cambria Math" panose="02040503050406030204" pitchFamily="18" charset="0"/>
                            </a:rPr>
                            <m:t>𝜕</m:t>
                          </m:r>
                          <m:r>
                            <a:rPr lang="fr-FR" sz="1100" b="0" i="1" smtClean="0">
                              <a:latin typeface="Cambria Math" panose="02040503050406030204" pitchFamily="18" charset="0"/>
                            </a:rPr>
                            <m:t>𝑛𝑒𝑡</m:t>
                          </m:r>
                          <m:r>
                            <a:rPr lang="fr-FR" sz="1100" b="0" i="1" smtClean="0">
                              <a:latin typeface="Cambria Math" panose="02040503050406030204" pitchFamily="18" charset="0"/>
                            </a:rPr>
                            <m:t>_</m:t>
                          </m:r>
                          <m:r>
                            <a:rPr lang="fr-FR" sz="1100" b="0" i="1" smtClean="0">
                              <a:latin typeface="Cambria Math" panose="02040503050406030204" pitchFamily="18" charset="0"/>
                            </a:rPr>
                            <m:t>𝑜</m:t>
                          </m:r>
                        </m:den>
                      </m:f>
                      <m:r>
                        <a:rPr lang="fr-FR" sz="1100" b="0" i="1" smtClean="0">
                          <a:latin typeface="Cambria Math" panose="02040503050406030204" pitchFamily="18" charset="0"/>
                        </a:rPr>
                        <m:t>=</m:t>
                      </m:r>
                      <m:f>
                        <m:fPr>
                          <m:ctrlPr>
                            <a:rPr lang="en-GB" sz="1100" i="1">
                              <a:latin typeface="Cambria Math" panose="02040503050406030204" pitchFamily="18" charset="0"/>
                            </a:rPr>
                          </m:ctrlPr>
                        </m:fPr>
                        <m:num>
                          <m:r>
                            <a:rPr lang="en-GB" sz="1100" i="1">
                              <a:latin typeface="Cambria Math" panose="02040503050406030204" pitchFamily="18" charset="0"/>
                            </a:rPr>
                            <m:t>𝜕</m:t>
                          </m:r>
                          <m:d>
                            <m:dPr>
                              <m:ctrlPr>
                                <a:rPr lang="fr-FR" sz="1100" b="0" i="1" smtClean="0">
                                  <a:latin typeface="Cambria Math" panose="02040503050406030204" pitchFamily="18" charset="0"/>
                                </a:rPr>
                              </m:ctrlPr>
                            </m:dPr>
                            <m:e>
                              <m:r>
                                <a:rPr lang="fr-FR" sz="1100" b="0" i="1" smtClean="0">
                                  <a:latin typeface="Cambria Math" panose="02040503050406030204" pitchFamily="18" charset="0"/>
                                </a:rPr>
                                <m:t>𝑠𝑖𝑔𝑚𝑜𝑖𝑑</m:t>
                              </m:r>
                              <m:r>
                                <a:rPr lang="fr-FR" sz="1100" b="0" i="1" smtClean="0">
                                  <a:latin typeface="Cambria Math" panose="02040503050406030204" pitchFamily="18" charset="0"/>
                                </a:rPr>
                                <m:t>(</m:t>
                              </m:r>
                              <m:r>
                                <a:rPr lang="fr-FR" sz="1100" b="0" i="1" smtClean="0">
                                  <a:latin typeface="Cambria Math" panose="02040503050406030204" pitchFamily="18" charset="0"/>
                                </a:rPr>
                                <m:t>𝑛𝑒𝑡</m:t>
                              </m:r>
                              <m:r>
                                <a:rPr lang="fr-FR" sz="1100" b="0" i="1" smtClean="0">
                                  <a:latin typeface="Cambria Math" panose="02040503050406030204" pitchFamily="18" charset="0"/>
                                </a:rPr>
                                <m:t>_</m:t>
                              </m:r>
                              <m:r>
                                <a:rPr lang="fr-FR" sz="1100" b="0" i="1" smtClean="0">
                                  <a:latin typeface="Cambria Math" panose="02040503050406030204" pitchFamily="18" charset="0"/>
                                </a:rPr>
                                <m:t>𝑜</m:t>
                              </m:r>
                              <m:r>
                                <a:rPr lang="fr-FR" sz="1100" b="0" i="1" smtClean="0">
                                  <a:latin typeface="Cambria Math" panose="02040503050406030204" pitchFamily="18" charset="0"/>
                                </a:rPr>
                                <m:t>)</m:t>
                              </m:r>
                            </m:e>
                          </m:d>
                        </m:num>
                        <m:den>
                          <m:r>
                            <a:rPr lang="en-GB" sz="1100" i="1">
                              <a:latin typeface="Cambria Math" panose="02040503050406030204" pitchFamily="18" charset="0"/>
                            </a:rPr>
                            <m:t>𝜕</m:t>
                          </m:r>
                          <m:r>
                            <a:rPr lang="fr-FR" sz="1100" b="0" i="1" smtClean="0">
                              <a:latin typeface="Cambria Math" panose="02040503050406030204" pitchFamily="18" charset="0"/>
                            </a:rPr>
                            <m:t>𝑛𝑒</m:t>
                          </m:r>
                          <m:r>
                            <a:rPr lang="en-GB" sz="1100" i="1">
                              <a:latin typeface="Cambria Math" panose="02040503050406030204" pitchFamily="18" charset="0"/>
                            </a:rPr>
                            <m:t>𝑡</m:t>
                          </m:r>
                          <m:r>
                            <a:rPr lang="en-GB" sz="1100" i="1">
                              <a:latin typeface="Cambria Math" panose="02040503050406030204" pitchFamily="18" charset="0"/>
                            </a:rPr>
                            <m:t>_</m:t>
                          </m:r>
                          <m:r>
                            <a:rPr lang="en-GB" sz="1100" i="1">
                              <a:latin typeface="Cambria Math" panose="02040503050406030204" pitchFamily="18" charset="0"/>
                            </a:rPr>
                            <m:t>𝑜</m:t>
                          </m:r>
                        </m:den>
                      </m:f>
                      <m:r>
                        <a:rPr lang="fr-FR" sz="1100" b="0" i="1" smtClean="0">
                          <a:latin typeface="Cambria Math" panose="02040503050406030204" pitchFamily="18" charset="0"/>
                        </a:rPr>
                        <m:t>=</m:t>
                      </m:r>
                      <m:r>
                        <a:rPr lang="fr-FR" sz="1100" b="0" i="1" smtClean="0">
                          <a:latin typeface="Cambria Math" panose="02040503050406030204" pitchFamily="18" charset="0"/>
                        </a:rPr>
                        <m:t>𝑠𝑖𝑔𝑚𝑜𝑖𝑑</m:t>
                      </m:r>
                      <m:r>
                        <a:rPr lang="fr-FR" sz="1100" b="0" i="1" smtClean="0">
                          <a:latin typeface="Cambria Math" panose="02040503050406030204" pitchFamily="18" charset="0"/>
                        </a:rPr>
                        <m:t>_</m:t>
                      </m:r>
                      <m:r>
                        <a:rPr lang="fr-FR" sz="1100" b="0" i="1" smtClean="0">
                          <a:latin typeface="Cambria Math" panose="02040503050406030204" pitchFamily="18" charset="0"/>
                        </a:rPr>
                        <m:t>𝑑𝑒𝑟𝑖𝑣𝑎𝑡𝑖𝑣𝑒</m:t>
                      </m:r>
                      <m:d>
                        <m:dPr>
                          <m:ctrlPr>
                            <a:rPr lang="fr-FR" sz="1100" b="0" i="1" smtClean="0">
                              <a:latin typeface="Cambria Math" panose="02040503050406030204" pitchFamily="18" charset="0"/>
                            </a:rPr>
                          </m:ctrlPr>
                        </m:dPr>
                        <m:e>
                          <m:r>
                            <a:rPr lang="fr-FR" sz="1100" b="0" i="1" smtClean="0">
                              <a:latin typeface="Cambria Math" panose="02040503050406030204" pitchFamily="18" charset="0"/>
                            </a:rPr>
                            <m:t>𝑛𝑒𝑡</m:t>
                          </m:r>
                          <m:r>
                            <a:rPr lang="fr-FR" sz="1100" b="0" i="1" smtClean="0">
                              <a:latin typeface="Cambria Math" panose="02040503050406030204" pitchFamily="18" charset="0"/>
                            </a:rPr>
                            <m:t>_</m:t>
                          </m:r>
                          <m:r>
                            <a:rPr lang="fr-FR" sz="1100" b="0" i="1" smtClean="0">
                              <a:latin typeface="Cambria Math" panose="02040503050406030204" pitchFamily="18" charset="0"/>
                            </a:rPr>
                            <m:t>𝑜</m:t>
                          </m:r>
                        </m:e>
                      </m:d>
                    </m:oMath>
                  </m:oMathPara>
                </a14:m>
                <a:endParaRPr lang="fr-FR" sz="1100" b="0" dirty="0"/>
              </a:p>
              <a:p>
                <a:endParaRPr lang="en-GB" sz="1100" dirty="0"/>
              </a:p>
              <a:p>
                <a:pPr/>
                <a14:m>
                  <m:oMathPara xmlns:m="http://schemas.openxmlformats.org/officeDocument/2006/math">
                    <m:oMathParaPr>
                      <m:jc m:val="left"/>
                    </m:oMathParaPr>
                    <m:oMath xmlns:m="http://schemas.openxmlformats.org/officeDocument/2006/math">
                      <m:f>
                        <m:fPr>
                          <m:ctrlPr>
                            <a:rPr lang="en-GB" sz="1100" i="1" smtClean="0">
                              <a:latin typeface="Cambria Math" panose="02040503050406030204" pitchFamily="18" charset="0"/>
                            </a:rPr>
                          </m:ctrlPr>
                        </m:fPr>
                        <m:num>
                          <m:r>
                            <a:rPr lang="en-GB" sz="1100" i="1" smtClean="0">
                              <a:latin typeface="Cambria Math" panose="02040503050406030204" pitchFamily="18" charset="0"/>
                            </a:rPr>
                            <m:t>𝜕</m:t>
                          </m:r>
                          <m:r>
                            <a:rPr lang="fr-FR" sz="1100" b="0" i="1" smtClean="0">
                              <a:latin typeface="Cambria Math" panose="02040503050406030204" pitchFamily="18" charset="0"/>
                            </a:rPr>
                            <m:t>𝑛𝑒𝑡</m:t>
                          </m:r>
                          <m:r>
                            <a:rPr lang="fr-FR" sz="1100" b="0" i="1" smtClean="0">
                              <a:latin typeface="Cambria Math" panose="02040503050406030204" pitchFamily="18" charset="0"/>
                            </a:rPr>
                            <m:t>_</m:t>
                          </m:r>
                          <m:r>
                            <a:rPr lang="fr-FR" sz="1100" b="0" i="1" smtClean="0">
                              <a:latin typeface="Cambria Math" panose="02040503050406030204" pitchFamily="18" charset="0"/>
                            </a:rPr>
                            <m:t>𝑜</m:t>
                          </m:r>
                        </m:num>
                        <m:den>
                          <m:r>
                            <a:rPr lang="en-GB" sz="1100" i="1" smtClean="0">
                              <a:latin typeface="Cambria Math" panose="02040503050406030204" pitchFamily="18" charset="0"/>
                            </a:rPr>
                            <m:t>𝜕</m:t>
                          </m:r>
                          <m:r>
                            <a:rPr lang="fr-FR" sz="1100" b="0" i="1" smtClean="0">
                              <a:latin typeface="Cambria Math" panose="02040503050406030204" pitchFamily="18" charset="0"/>
                            </a:rPr>
                            <m:t>𝑊</m:t>
                          </m:r>
                          <m:r>
                            <a:rPr lang="fr-FR" sz="1100" b="0" i="1" smtClean="0">
                              <a:latin typeface="Cambria Math" panose="02040503050406030204" pitchFamily="18" charset="0"/>
                            </a:rPr>
                            <m:t>_</m:t>
                          </m:r>
                          <m:r>
                            <a:rPr lang="fr-FR" sz="1100" b="0" i="1" smtClean="0">
                              <a:latin typeface="Cambria Math" panose="02040503050406030204" pitchFamily="18" charset="0"/>
                            </a:rPr>
                            <m:t>𝑜𝑢𝑡</m:t>
                          </m:r>
                        </m:den>
                      </m:f>
                      <m:r>
                        <a:rPr lang="fr-FR" sz="1100" b="0" i="1" smtClean="0">
                          <a:latin typeface="Cambria Math" panose="02040503050406030204" pitchFamily="18" charset="0"/>
                        </a:rPr>
                        <m:t>=</m:t>
                      </m:r>
                      <m:f>
                        <m:fPr>
                          <m:ctrlPr>
                            <a:rPr lang="en-GB" sz="1100" i="1">
                              <a:latin typeface="Cambria Math" panose="02040503050406030204" pitchFamily="18" charset="0"/>
                            </a:rPr>
                          </m:ctrlPr>
                        </m:fPr>
                        <m:num>
                          <m:r>
                            <a:rPr lang="en-GB" sz="1100" i="1">
                              <a:latin typeface="Cambria Math" panose="02040503050406030204" pitchFamily="18" charset="0"/>
                            </a:rPr>
                            <m:t>𝜕</m:t>
                          </m:r>
                          <m:r>
                            <a:rPr lang="fr-FR" sz="1100" b="0" i="1" smtClean="0">
                              <a:latin typeface="Cambria Math" panose="02040503050406030204" pitchFamily="18" charset="0"/>
                            </a:rPr>
                            <m:t>(</m:t>
                          </m:r>
                          <m:r>
                            <a:rPr lang="fr-FR" sz="1100" b="0" i="1" smtClean="0">
                              <a:latin typeface="Cambria Math" panose="02040503050406030204" pitchFamily="18" charset="0"/>
                            </a:rPr>
                            <m:t>𝑙𝑖𝑛𝑒𝑎𝑟</m:t>
                          </m:r>
                          <m:r>
                            <a:rPr lang="fr-FR" sz="1100" b="0" i="1" smtClean="0">
                              <a:latin typeface="Cambria Math" panose="02040503050406030204" pitchFamily="18" charset="0"/>
                            </a:rPr>
                            <m:t>(</m:t>
                          </m:r>
                          <m:r>
                            <a:rPr lang="fr-FR" sz="1100" b="0" i="1" smtClean="0">
                              <a:latin typeface="Cambria Math" panose="02040503050406030204" pitchFamily="18" charset="0"/>
                            </a:rPr>
                            <m:t>𝑊</m:t>
                          </m:r>
                          <m:r>
                            <a:rPr lang="fr-FR" sz="1100" b="0" i="1" smtClean="0">
                              <a:latin typeface="Cambria Math" panose="02040503050406030204" pitchFamily="18" charset="0"/>
                            </a:rPr>
                            <m:t>_</m:t>
                          </m:r>
                          <m:r>
                            <a:rPr lang="fr-FR" sz="1100" b="0" i="1" smtClean="0">
                              <a:latin typeface="Cambria Math" panose="02040503050406030204" pitchFamily="18" charset="0"/>
                            </a:rPr>
                            <m:t>𝑜𝑢𝑡</m:t>
                          </m:r>
                          <m:r>
                            <a:rPr lang="fr-FR" sz="1100" b="0" i="1" smtClean="0">
                              <a:latin typeface="Cambria Math" panose="02040503050406030204" pitchFamily="18" charset="0"/>
                            </a:rPr>
                            <m:t>.</m:t>
                          </m:r>
                          <m:r>
                            <a:rPr lang="fr-FR" sz="1100" b="0" i="1" smtClean="0">
                              <a:latin typeface="Cambria Math" panose="02040503050406030204" pitchFamily="18" charset="0"/>
                            </a:rPr>
                            <m:t>𝑜𝑢𝑡</m:t>
                          </m:r>
                          <m:r>
                            <a:rPr lang="fr-FR" sz="1100" b="0" i="1" smtClean="0">
                              <a:latin typeface="Cambria Math" panose="02040503050406030204" pitchFamily="18" charset="0"/>
                            </a:rPr>
                            <m:t>_</m:t>
                          </m:r>
                          <m:r>
                            <a:rPr lang="fr-FR" sz="1100" b="0" i="1" smtClean="0">
                              <a:latin typeface="Cambria Math" panose="02040503050406030204" pitchFamily="18" charset="0"/>
                            </a:rPr>
                            <m:t>h</m:t>
                          </m:r>
                          <m:r>
                            <a:rPr lang="fr-FR" sz="1100" b="0" i="1" smtClean="0">
                              <a:latin typeface="Cambria Math" panose="02040503050406030204" pitchFamily="18" charset="0"/>
                            </a:rPr>
                            <m:t>+</m:t>
                          </m:r>
                          <m:r>
                            <a:rPr lang="fr-FR" sz="1100" b="0" i="1" smtClean="0">
                              <a:latin typeface="Cambria Math" panose="02040503050406030204" pitchFamily="18" charset="0"/>
                            </a:rPr>
                            <m:t>𝑏</m:t>
                          </m:r>
                          <m:r>
                            <a:rPr lang="fr-FR" sz="1100" b="0" i="1" smtClean="0">
                              <a:latin typeface="Cambria Math" panose="02040503050406030204" pitchFamily="18" charset="0"/>
                            </a:rPr>
                            <m:t>_</m:t>
                          </m:r>
                          <m:r>
                            <a:rPr lang="fr-FR" sz="1100" b="0" i="1" smtClean="0">
                              <a:latin typeface="Cambria Math" panose="02040503050406030204" pitchFamily="18" charset="0"/>
                            </a:rPr>
                            <m:t>𝑜𝑢𝑡</m:t>
                          </m:r>
                          <m:r>
                            <a:rPr lang="fr-FR" sz="1100" b="0" i="1" smtClean="0">
                              <a:latin typeface="Cambria Math" panose="02040503050406030204" pitchFamily="18" charset="0"/>
                            </a:rPr>
                            <m:t>))</m:t>
                          </m:r>
                        </m:num>
                        <m:den>
                          <m:r>
                            <a:rPr lang="en-GB" sz="1100" i="1">
                              <a:latin typeface="Cambria Math" panose="02040503050406030204" pitchFamily="18" charset="0"/>
                            </a:rPr>
                            <m:t>𝜕</m:t>
                          </m:r>
                          <m:r>
                            <a:rPr lang="fr-FR" sz="1100" i="1">
                              <a:latin typeface="Cambria Math" panose="02040503050406030204" pitchFamily="18" charset="0"/>
                            </a:rPr>
                            <m:t>𝑊</m:t>
                          </m:r>
                          <m:r>
                            <a:rPr lang="fr-FR" sz="1100" i="1">
                              <a:latin typeface="Cambria Math" panose="02040503050406030204" pitchFamily="18" charset="0"/>
                            </a:rPr>
                            <m:t>_</m:t>
                          </m:r>
                          <m:r>
                            <a:rPr lang="fr-FR" sz="1100" i="1">
                              <a:latin typeface="Cambria Math" panose="02040503050406030204" pitchFamily="18" charset="0"/>
                            </a:rPr>
                            <m:t>𝑜𝑢𝑡</m:t>
                          </m:r>
                        </m:den>
                      </m:f>
                      <m:r>
                        <a:rPr lang="fr-FR" sz="1100" b="0" i="1" smtClean="0">
                          <a:latin typeface="Cambria Math" panose="02040503050406030204" pitchFamily="18" charset="0"/>
                        </a:rPr>
                        <m:t>=</m:t>
                      </m:r>
                      <m:r>
                        <a:rPr lang="fr-FR" sz="1100" b="0" i="1" smtClean="0">
                          <a:latin typeface="Cambria Math" panose="02040503050406030204" pitchFamily="18" charset="0"/>
                        </a:rPr>
                        <m:t>𝑜𝑢𝑡</m:t>
                      </m:r>
                      <m:r>
                        <a:rPr lang="fr-FR" sz="1100" b="0" i="1" smtClean="0">
                          <a:latin typeface="Cambria Math" panose="02040503050406030204" pitchFamily="18" charset="0"/>
                        </a:rPr>
                        <m:t>_</m:t>
                      </m:r>
                      <m:r>
                        <a:rPr lang="fr-FR" sz="1100" b="0" i="1" smtClean="0">
                          <a:latin typeface="Cambria Math" panose="02040503050406030204" pitchFamily="18" charset="0"/>
                        </a:rPr>
                        <m:t>h</m:t>
                      </m:r>
                      <m:r>
                        <a:rPr lang="fr-FR" sz="1100" b="0" i="1" smtClean="0">
                          <a:latin typeface="Cambria Math" panose="02040503050406030204" pitchFamily="18" charset="0"/>
                        </a:rPr>
                        <m:t>=</m:t>
                      </m:r>
                      <m:r>
                        <a:rPr lang="fr-FR" sz="1100" b="0" i="1" smtClean="0">
                          <a:latin typeface="Cambria Math" panose="02040503050406030204" pitchFamily="18" charset="0"/>
                        </a:rPr>
                        <m:t>𝑟𝑒𝑙𝑢</m:t>
                      </m:r>
                      <m:r>
                        <a:rPr lang="fr-FR" sz="1100" b="0" i="1" smtClean="0">
                          <a:latin typeface="Cambria Math" panose="02040503050406030204" pitchFamily="18" charset="0"/>
                        </a:rPr>
                        <m:t>(</m:t>
                      </m:r>
                      <m:r>
                        <a:rPr lang="fr-FR" sz="1100" b="0" i="1" smtClean="0">
                          <a:latin typeface="Cambria Math" panose="02040503050406030204" pitchFamily="18" charset="0"/>
                        </a:rPr>
                        <m:t>𝑛𝑒𝑡</m:t>
                      </m:r>
                      <m:r>
                        <a:rPr lang="fr-FR" sz="1100" b="0" i="1" smtClean="0">
                          <a:latin typeface="Cambria Math" panose="02040503050406030204" pitchFamily="18" charset="0"/>
                        </a:rPr>
                        <m:t>_</m:t>
                      </m:r>
                      <m:r>
                        <a:rPr lang="fr-FR" sz="1100" b="0" i="1" smtClean="0">
                          <a:latin typeface="Cambria Math" panose="02040503050406030204" pitchFamily="18" charset="0"/>
                        </a:rPr>
                        <m:t>h</m:t>
                      </m:r>
                      <m:r>
                        <a:rPr lang="fr-FR" sz="1100" b="0" i="1" smtClean="0">
                          <a:latin typeface="Cambria Math" panose="02040503050406030204" pitchFamily="18" charset="0"/>
                        </a:rPr>
                        <m:t>)</m:t>
                      </m:r>
                    </m:oMath>
                  </m:oMathPara>
                </a14:m>
                <a:endParaRPr lang="en-GB" sz="1100" dirty="0"/>
              </a:p>
              <a:p>
                <a:endParaRPr lang="en-GB" sz="11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f>
                        <m:fPr>
                          <m:ctrlPr>
                            <a:rPr lang="en-GB" sz="1100" i="1" smtClean="0">
                              <a:latin typeface="Cambria Math" panose="02040503050406030204" pitchFamily="18" charset="0"/>
                            </a:rPr>
                          </m:ctrlPr>
                        </m:fPr>
                        <m:num>
                          <m:r>
                            <a:rPr lang="en-GB" sz="1100" i="1" smtClean="0">
                              <a:latin typeface="Cambria Math" panose="02040503050406030204" pitchFamily="18" charset="0"/>
                            </a:rPr>
                            <m:t>𝜕</m:t>
                          </m:r>
                          <m:r>
                            <a:rPr lang="fr-FR" sz="1100" b="0" i="1" smtClean="0">
                              <a:latin typeface="Cambria Math" panose="02040503050406030204" pitchFamily="18" charset="0"/>
                            </a:rPr>
                            <m:t>𝑛𝑒𝑡</m:t>
                          </m:r>
                          <m:r>
                            <a:rPr lang="fr-FR" sz="1100" b="0" i="1" smtClean="0">
                              <a:latin typeface="Cambria Math" panose="02040503050406030204" pitchFamily="18" charset="0"/>
                            </a:rPr>
                            <m:t>_</m:t>
                          </m:r>
                          <m:r>
                            <a:rPr lang="fr-FR" sz="1100" b="0" i="1" smtClean="0">
                              <a:latin typeface="Cambria Math" panose="02040503050406030204" pitchFamily="18" charset="0"/>
                            </a:rPr>
                            <m:t>𝑜</m:t>
                          </m:r>
                        </m:num>
                        <m:den>
                          <m:r>
                            <a:rPr lang="en-GB" sz="1100" i="1" smtClean="0">
                              <a:latin typeface="Cambria Math" panose="02040503050406030204" pitchFamily="18" charset="0"/>
                            </a:rPr>
                            <m:t>𝜕</m:t>
                          </m:r>
                          <m:r>
                            <a:rPr lang="fr-FR" sz="1100" b="0" i="1" smtClean="0">
                              <a:latin typeface="Cambria Math" panose="02040503050406030204" pitchFamily="18" charset="0"/>
                            </a:rPr>
                            <m:t>𝑏</m:t>
                          </m:r>
                          <m:r>
                            <a:rPr lang="fr-FR" sz="1100" b="0" i="1" smtClean="0">
                              <a:latin typeface="Cambria Math" panose="02040503050406030204" pitchFamily="18" charset="0"/>
                            </a:rPr>
                            <m:t>_</m:t>
                          </m:r>
                          <m:r>
                            <a:rPr lang="fr-FR" sz="1100" b="0" i="1" smtClean="0">
                              <a:latin typeface="Cambria Math" panose="02040503050406030204" pitchFamily="18" charset="0"/>
                            </a:rPr>
                            <m:t>𝑜𝑢𝑡</m:t>
                          </m:r>
                        </m:den>
                      </m:f>
                      <m:r>
                        <a:rPr lang="fr-FR" sz="1100" b="0" i="1" smtClean="0">
                          <a:latin typeface="Cambria Math" panose="02040503050406030204" pitchFamily="18" charset="0"/>
                        </a:rPr>
                        <m:t>=</m:t>
                      </m:r>
                      <m:f>
                        <m:fPr>
                          <m:ctrlPr>
                            <a:rPr lang="en-GB" sz="1100" i="1">
                              <a:latin typeface="Cambria Math" panose="02040503050406030204" pitchFamily="18" charset="0"/>
                            </a:rPr>
                          </m:ctrlPr>
                        </m:fPr>
                        <m:num>
                          <m:r>
                            <a:rPr lang="en-GB" sz="1100" i="1">
                              <a:latin typeface="Cambria Math" panose="02040503050406030204" pitchFamily="18" charset="0"/>
                            </a:rPr>
                            <m:t>𝜕</m:t>
                          </m:r>
                          <m:r>
                            <a:rPr lang="fr-FR" sz="1100" b="0" i="1" smtClean="0">
                              <a:latin typeface="Cambria Math" panose="02040503050406030204" pitchFamily="18" charset="0"/>
                            </a:rPr>
                            <m:t>(</m:t>
                          </m:r>
                          <m:r>
                            <a:rPr lang="fr-FR" sz="1100" b="0" i="1" smtClean="0">
                              <a:latin typeface="Cambria Math" panose="02040503050406030204" pitchFamily="18" charset="0"/>
                            </a:rPr>
                            <m:t>𝑙𝑖𝑛𝑒𝑎𝑟</m:t>
                          </m:r>
                          <m:r>
                            <a:rPr lang="fr-FR" sz="1100" b="0" i="1" smtClean="0">
                              <a:latin typeface="Cambria Math" panose="02040503050406030204" pitchFamily="18" charset="0"/>
                            </a:rPr>
                            <m:t>(</m:t>
                          </m:r>
                          <m:r>
                            <a:rPr lang="fr-FR" sz="1100" b="0" i="1" smtClean="0">
                              <a:latin typeface="Cambria Math" panose="02040503050406030204" pitchFamily="18" charset="0"/>
                            </a:rPr>
                            <m:t>𝑊</m:t>
                          </m:r>
                          <m:r>
                            <a:rPr lang="fr-FR" sz="1100" b="0" i="1" smtClean="0">
                              <a:latin typeface="Cambria Math" panose="02040503050406030204" pitchFamily="18" charset="0"/>
                            </a:rPr>
                            <m:t>_</m:t>
                          </m:r>
                          <m:r>
                            <a:rPr lang="fr-FR" sz="1100" b="0" i="1" smtClean="0">
                              <a:latin typeface="Cambria Math" panose="02040503050406030204" pitchFamily="18" charset="0"/>
                            </a:rPr>
                            <m:t>𝑜𝑢𝑡</m:t>
                          </m:r>
                          <m:r>
                            <a:rPr lang="fr-FR" sz="1100" b="0" i="1" smtClean="0">
                              <a:latin typeface="Cambria Math" panose="02040503050406030204" pitchFamily="18" charset="0"/>
                            </a:rPr>
                            <m:t>.</m:t>
                          </m:r>
                          <m:r>
                            <a:rPr lang="fr-FR" sz="1100" b="0" i="1" smtClean="0">
                              <a:latin typeface="Cambria Math" panose="02040503050406030204" pitchFamily="18" charset="0"/>
                            </a:rPr>
                            <m:t>𝑜𝑢𝑡</m:t>
                          </m:r>
                          <m:r>
                            <a:rPr lang="fr-FR" sz="1100" b="0" i="1" smtClean="0">
                              <a:latin typeface="Cambria Math" panose="02040503050406030204" pitchFamily="18" charset="0"/>
                            </a:rPr>
                            <m:t>_</m:t>
                          </m:r>
                          <m:r>
                            <a:rPr lang="fr-FR" sz="1100" b="0" i="1" smtClean="0">
                              <a:latin typeface="Cambria Math" panose="02040503050406030204" pitchFamily="18" charset="0"/>
                            </a:rPr>
                            <m:t>h</m:t>
                          </m:r>
                          <m:r>
                            <a:rPr lang="fr-FR" sz="1100" b="0" i="1" smtClean="0">
                              <a:latin typeface="Cambria Math" panose="02040503050406030204" pitchFamily="18" charset="0"/>
                            </a:rPr>
                            <m:t>+</m:t>
                          </m:r>
                          <m:r>
                            <a:rPr lang="fr-FR" sz="1100" b="0" i="1" smtClean="0">
                              <a:latin typeface="Cambria Math" panose="02040503050406030204" pitchFamily="18" charset="0"/>
                            </a:rPr>
                            <m:t>𝑏</m:t>
                          </m:r>
                          <m:r>
                            <a:rPr lang="fr-FR" sz="1100" b="0" i="1" smtClean="0">
                              <a:latin typeface="Cambria Math" panose="02040503050406030204" pitchFamily="18" charset="0"/>
                            </a:rPr>
                            <m:t>_</m:t>
                          </m:r>
                          <m:r>
                            <a:rPr lang="fr-FR" sz="1100" b="0" i="1" smtClean="0">
                              <a:latin typeface="Cambria Math" panose="02040503050406030204" pitchFamily="18" charset="0"/>
                            </a:rPr>
                            <m:t>𝑜𝑢𝑡</m:t>
                          </m:r>
                          <m:r>
                            <a:rPr lang="fr-FR" sz="1100" b="0" i="1" smtClean="0">
                              <a:latin typeface="Cambria Math" panose="02040503050406030204" pitchFamily="18" charset="0"/>
                            </a:rPr>
                            <m:t>))</m:t>
                          </m:r>
                        </m:num>
                        <m:den>
                          <m:r>
                            <a:rPr lang="en-GB" sz="1100" i="1">
                              <a:latin typeface="Cambria Math" panose="02040503050406030204" pitchFamily="18" charset="0"/>
                            </a:rPr>
                            <m:t>𝜕</m:t>
                          </m:r>
                          <m:r>
                            <a:rPr lang="fr-FR" sz="1100" b="0" i="1" smtClean="0">
                              <a:latin typeface="Cambria Math" panose="02040503050406030204" pitchFamily="18" charset="0"/>
                            </a:rPr>
                            <m:t>𝑏</m:t>
                          </m:r>
                          <m:r>
                            <a:rPr lang="fr-FR" sz="1100" i="1">
                              <a:latin typeface="Cambria Math" panose="02040503050406030204" pitchFamily="18" charset="0"/>
                            </a:rPr>
                            <m:t>_</m:t>
                          </m:r>
                          <m:r>
                            <a:rPr lang="fr-FR" sz="1100" i="1">
                              <a:latin typeface="Cambria Math" panose="02040503050406030204" pitchFamily="18" charset="0"/>
                            </a:rPr>
                            <m:t>𝑜𝑢𝑡</m:t>
                          </m:r>
                        </m:den>
                      </m:f>
                      <m:r>
                        <a:rPr lang="fr-FR" sz="1100" b="0" i="1" smtClean="0">
                          <a:latin typeface="Cambria Math" panose="02040503050406030204" pitchFamily="18" charset="0"/>
                        </a:rPr>
                        <m:t>=1</m:t>
                      </m:r>
                    </m:oMath>
                  </m:oMathPara>
                </a14:m>
                <a:endParaRPr lang="en-GB" sz="1100" dirty="0"/>
              </a:p>
              <a:p>
                <a:endParaRPr lang="en-GB"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f>
                        <m:fPr>
                          <m:ctrlPr>
                            <a:rPr lang="en-GB" sz="1200" b="1" i="1" smtClean="0">
                              <a:latin typeface="Cambria Math" panose="02040503050406030204" pitchFamily="18" charset="0"/>
                            </a:rPr>
                          </m:ctrlPr>
                        </m:fPr>
                        <m:num>
                          <m:r>
                            <a:rPr lang="en-GB" sz="1200" b="1" i="1" smtClean="0">
                              <a:latin typeface="Cambria Math" panose="02040503050406030204" pitchFamily="18" charset="0"/>
                            </a:rPr>
                            <m:t>𝝏</m:t>
                          </m:r>
                          <m:r>
                            <a:rPr lang="fr-FR" sz="1200" b="1" i="1" smtClean="0">
                              <a:latin typeface="Cambria Math" panose="02040503050406030204" pitchFamily="18" charset="0"/>
                            </a:rPr>
                            <m:t>𝑳𝒐𝒔𝒔</m:t>
                          </m:r>
                        </m:num>
                        <m:den>
                          <m:r>
                            <a:rPr lang="en-GB" sz="1200" b="1" i="1" smtClean="0">
                              <a:latin typeface="Cambria Math" panose="02040503050406030204" pitchFamily="18" charset="0"/>
                            </a:rPr>
                            <m:t>𝝏</m:t>
                          </m:r>
                          <m:r>
                            <a:rPr lang="fr-FR" sz="1200" b="1" i="1" smtClean="0">
                              <a:latin typeface="Cambria Math" panose="02040503050406030204" pitchFamily="18" charset="0"/>
                            </a:rPr>
                            <m:t>𝑾</m:t>
                          </m:r>
                          <m:r>
                            <a:rPr lang="fr-FR" sz="1200" b="1" i="1" smtClean="0">
                              <a:latin typeface="Cambria Math" panose="02040503050406030204" pitchFamily="18" charset="0"/>
                            </a:rPr>
                            <m:t>_</m:t>
                          </m:r>
                          <m:r>
                            <a:rPr lang="fr-FR" sz="1200" b="1" i="1" smtClean="0">
                              <a:latin typeface="Cambria Math" panose="02040503050406030204" pitchFamily="18" charset="0"/>
                            </a:rPr>
                            <m:t>𝒐𝒖𝒕</m:t>
                          </m:r>
                        </m:den>
                      </m:f>
                      <m:r>
                        <a:rPr lang="fr-FR" sz="1200" b="1" i="0" smtClean="0">
                          <a:latin typeface="Cambria Math" panose="02040503050406030204" pitchFamily="18" charset="0"/>
                        </a:rPr>
                        <m:t>=</m:t>
                      </m:r>
                      <m:r>
                        <a:rPr lang="en-GB" sz="1200" i="1">
                          <a:latin typeface="Cambria Math" panose="02040503050406030204" pitchFamily="18" charset="0"/>
                        </a:rPr>
                        <m:t>−2 (</m:t>
                      </m:r>
                      <m:r>
                        <a:rPr lang="en-GB" sz="1200" i="1">
                          <a:latin typeface="Cambria Math" panose="02040503050406030204" pitchFamily="18" charset="0"/>
                        </a:rPr>
                        <m:t>𝑡𝑎𝑟𝑔𝑒𝑡</m:t>
                      </m:r>
                      <m:r>
                        <a:rPr lang="en-GB" sz="1200" i="1">
                          <a:latin typeface="Cambria Math" panose="02040503050406030204" pitchFamily="18" charset="0"/>
                        </a:rPr>
                        <m:t> −</m:t>
                      </m:r>
                      <m:r>
                        <a:rPr lang="en-GB" sz="1200" i="1">
                          <a:latin typeface="Cambria Math" panose="02040503050406030204" pitchFamily="18" charset="0"/>
                        </a:rPr>
                        <m:t>𝑜𝑢𝑡</m:t>
                      </m:r>
                      <m:r>
                        <a:rPr lang="en-GB" sz="1200" i="1">
                          <a:latin typeface="Cambria Math" panose="02040503050406030204" pitchFamily="18" charset="0"/>
                        </a:rPr>
                        <m:t>)∗</m:t>
                      </m:r>
                      <m:r>
                        <a:rPr lang="fr-FR" sz="1200" i="1">
                          <a:latin typeface="Cambria Math" panose="02040503050406030204" pitchFamily="18" charset="0"/>
                        </a:rPr>
                        <m:t>𝑠𝑖𝑔𝑚𝑜𝑖𝑑</m:t>
                      </m:r>
                      <m:r>
                        <a:rPr lang="fr-FR" sz="1200" i="1">
                          <a:latin typeface="Cambria Math" panose="02040503050406030204" pitchFamily="18" charset="0"/>
                        </a:rPr>
                        <m:t>_</m:t>
                      </m:r>
                      <m:r>
                        <a:rPr lang="fr-FR" sz="1200" i="1">
                          <a:latin typeface="Cambria Math" panose="02040503050406030204" pitchFamily="18" charset="0"/>
                        </a:rPr>
                        <m:t>𝑑𝑒𝑟𝑖𝑣𝑎𝑡𝑖𝑣𝑒</m:t>
                      </m:r>
                      <m:d>
                        <m:dPr>
                          <m:ctrlPr>
                            <a:rPr lang="fr-FR" sz="1200" i="1">
                              <a:latin typeface="Cambria Math" panose="02040503050406030204" pitchFamily="18" charset="0"/>
                            </a:rPr>
                          </m:ctrlPr>
                        </m:dPr>
                        <m:e>
                          <m:r>
                            <a:rPr lang="fr-FR" sz="1200" i="1">
                              <a:latin typeface="Cambria Math" panose="02040503050406030204" pitchFamily="18" charset="0"/>
                            </a:rPr>
                            <m:t>𝑛𝑒𝑡</m:t>
                          </m:r>
                          <m:r>
                            <a:rPr lang="fr-FR" sz="1200" i="1">
                              <a:latin typeface="Cambria Math" panose="02040503050406030204" pitchFamily="18" charset="0"/>
                            </a:rPr>
                            <m:t>_</m:t>
                          </m:r>
                          <m:r>
                            <a:rPr lang="fr-FR" sz="1200" i="1">
                              <a:latin typeface="Cambria Math" panose="02040503050406030204" pitchFamily="18" charset="0"/>
                            </a:rPr>
                            <m:t>𝑜</m:t>
                          </m:r>
                        </m:e>
                      </m:d>
                      <m:r>
                        <a:rPr lang="fr-FR" sz="1200" b="0" i="1" smtClean="0">
                          <a:latin typeface="Cambria Math" panose="02040503050406030204" pitchFamily="18" charset="0"/>
                        </a:rPr>
                        <m:t>∗</m:t>
                      </m:r>
                      <m:r>
                        <a:rPr lang="fr-FR" sz="1200" i="1">
                          <a:latin typeface="Cambria Math" panose="02040503050406030204" pitchFamily="18" charset="0"/>
                        </a:rPr>
                        <m:t>𝑜𝑢𝑡</m:t>
                      </m:r>
                      <m:r>
                        <a:rPr lang="fr-FR" sz="1200" i="1">
                          <a:latin typeface="Cambria Math" panose="02040503050406030204" pitchFamily="18" charset="0"/>
                        </a:rPr>
                        <m:t>_</m:t>
                      </m:r>
                      <m:r>
                        <a:rPr lang="fr-FR" sz="1200" i="1">
                          <a:latin typeface="Cambria Math" panose="02040503050406030204" pitchFamily="18" charset="0"/>
                        </a:rPr>
                        <m:t>h</m:t>
                      </m:r>
                    </m:oMath>
                  </m:oMathPara>
                </a14:m>
                <a:endParaRPr lang="en-GB" sz="1200" b="1" dirty="0">
                  <a:latin typeface="Cambria Math" panose="02040503050406030204" pitchFamily="18" charset="0"/>
                </a:endParaRPr>
              </a:p>
              <a:p>
                <a:endParaRPr lang="en-GB" sz="12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f>
                        <m:fPr>
                          <m:ctrlPr>
                            <a:rPr lang="en-GB" sz="1200" b="1" i="1" smtClean="0">
                              <a:latin typeface="Cambria Math" panose="02040503050406030204" pitchFamily="18" charset="0"/>
                            </a:rPr>
                          </m:ctrlPr>
                        </m:fPr>
                        <m:num>
                          <m:r>
                            <a:rPr lang="en-GB" sz="1200" b="1" i="1" smtClean="0">
                              <a:latin typeface="Cambria Math" panose="02040503050406030204" pitchFamily="18" charset="0"/>
                            </a:rPr>
                            <m:t>𝝏</m:t>
                          </m:r>
                          <m:r>
                            <a:rPr lang="fr-FR" sz="1200" b="1" i="1" smtClean="0">
                              <a:latin typeface="Cambria Math" panose="02040503050406030204" pitchFamily="18" charset="0"/>
                            </a:rPr>
                            <m:t>𝑳𝒐𝒔𝒔</m:t>
                          </m:r>
                        </m:num>
                        <m:den>
                          <m:r>
                            <a:rPr lang="en-GB" sz="1200" b="1" i="1" smtClean="0">
                              <a:latin typeface="Cambria Math" panose="02040503050406030204" pitchFamily="18" charset="0"/>
                            </a:rPr>
                            <m:t>𝝏</m:t>
                          </m:r>
                          <m:r>
                            <a:rPr lang="fr-FR" sz="1200" b="1" i="1" smtClean="0">
                              <a:latin typeface="Cambria Math" panose="02040503050406030204" pitchFamily="18" charset="0"/>
                            </a:rPr>
                            <m:t>𝒃</m:t>
                          </m:r>
                          <m:r>
                            <a:rPr lang="fr-FR" sz="1200" b="1" i="1" smtClean="0">
                              <a:latin typeface="Cambria Math" panose="02040503050406030204" pitchFamily="18" charset="0"/>
                            </a:rPr>
                            <m:t>_</m:t>
                          </m:r>
                          <m:r>
                            <a:rPr lang="fr-FR" sz="1200" b="1" i="1" smtClean="0">
                              <a:latin typeface="Cambria Math" panose="02040503050406030204" pitchFamily="18" charset="0"/>
                            </a:rPr>
                            <m:t>𝒐𝒖𝒕</m:t>
                          </m:r>
                        </m:den>
                      </m:f>
                      <m:r>
                        <a:rPr lang="fr-FR" sz="1200" b="1" i="0" smtClean="0">
                          <a:latin typeface="Cambria Math" panose="02040503050406030204" pitchFamily="18" charset="0"/>
                        </a:rPr>
                        <m:t>=</m:t>
                      </m:r>
                      <m:r>
                        <a:rPr lang="en-GB" sz="1200" i="1">
                          <a:latin typeface="Cambria Math" panose="02040503050406030204" pitchFamily="18" charset="0"/>
                        </a:rPr>
                        <m:t>−2 (</m:t>
                      </m:r>
                      <m:r>
                        <a:rPr lang="en-GB" sz="1200" i="1">
                          <a:latin typeface="Cambria Math" panose="02040503050406030204" pitchFamily="18" charset="0"/>
                        </a:rPr>
                        <m:t>𝑡𝑎𝑟𝑔𝑒𝑡</m:t>
                      </m:r>
                      <m:r>
                        <a:rPr lang="en-GB" sz="1200" i="1">
                          <a:latin typeface="Cambria Math" panose="02040503050406030204" pitchFamily="18" charset="0"/>
                        </a:rPr>
                        <m:t> −</m:t>
                      </m:r>
                      <m:r>
                        <a:rPr lang="en-GB" sz="1200" i="1">
                          <a:latin typeface="Cambria Math" panose="02040503050406030204" pitchFamily="18" charset="0"/>
                        </a:rPr>
                        <m:t>𝑜𝑢𝑡</m:t>
                      </m:r>
                      <m:r>
                        <a:rPr lang="en-GB" sz="1200" i="1">
                          <a:latin typeface="Cambria Math" panose="02040503050406030204" pitchFamily="18" charset="0"/>
                        </a:rPr>
                        <m:t>)∗</m:t>
                      </m:r>
                      <m:r>
                        <a:rPr lang="fr-FR" sz="1200" i="1">
                          <a:latin typeface="Cambria Math" panose="02040503050406030204" pitchFamily="18" charset="0"/>
                        </a:rPr>
                        <m:t>𝑠𝑖𝑔𝑚𝑜𝑖𝑑</m:t>
                      </m:r>
                      <m:r>
                        <a:rPr lang="fr-FR" sz="1200" i="1">
                          <a:latin typeface="Cambria Math" panose="02040503050406030204" pitchFamily="18" charset="0"/>
                        </a:rPr>
                        <m:t>_</m:t>
                      </m:r>
                      <m:r>
                        <a:rPr lang="fr-FR" sz="1200" i="1">
                          <a:latin typeface="Cambria Math" panose="02040503050406030204" pitchFamily="18" charset="0"/>
                        </a:rPr>
                        <m:t>𝑑𝑒𝑟𝑖𝑣𝑎𝑡𝑖𝑣𝑒</m:t>
                      </m:r>
                      <m:d>
                        <m:dPr>
                          <m:ctrlPr>
                            <a:rPr lang="fr-FR" sz="1200" i="1">
                              <a:latin typeface="Cambria Math" panose="02040503050406030204" pitchFamily="18" charset="0"/>
                            </a:rPr>
                          </m:ctrlPr>
                        </m:dPr>
                        <m:e>
                          <m:r>
                            <a:rPr lang="fr-FR" sz="1200" i="1">
                              <a:latin typeface="Cambria Math" panose="02040503050406030204" pitchFamily="18" charset="0"/>
                            </a:rPr>
                            <m:t>𝑛𝑒𝑡</m:t>
                          </m:r>
                          <m:r>
                            <a:rPr lang="fr-FR" sz="1200" i="1">
                              <a:latin typeface="Cambria Math" panose="02040503050406030204" pitchFamily="18" charset="0"/>
                            </a:rPr>
                            <m:t>_</m:t>
                          </m:r>
                          <m:r>
                            <a:rPr lang="fr-FR" sz="1200" i="1">
                              <a:latin typeface="Cambria Math" panose="02040503050406030204" pitchFamily="18" charset="0"/>
                            </a:rPr>
                            <m:t>𝑜</m:t>
                          </m:r>
                        </m:e>
                      </m:d>
                      <m:r>
                        <a:rPr lang="fr-FR" sz="1200" b="0" i="1" smtClean="0">
                          <a:latin typeface="Cambria Math" panose="02040503050406030204" pitchFamily="18" charset="0"/>
                        </a:rPr>
                        <m:t>∗</m:t>
                      </m:r>
                      <m:r>
                        <a:rPr lang="fr-FR" sz="1200" i="1" smtClean="0">
                          <a:latin typeface="Cambria Math" panose="02040503050406030204" pitchFamily="18" charset="0"/>
                        </a:rPr>
                        <m:t>1</m:t>
                      </m:r>
                    </m:oMath>
                  </m:oMathPara>
                </a14:m>
                <a:endParaRPr lang="en-GB" sz="1200" i="1" dirty="0">
                  <a:latin typeface="Cambria Math" panose="02040503050406030204" pitchFamily="18" charset="0"/>
                </a:endParaRPr>
              </a:p>
            </p:txBody>
          </p:sp>
        </mc:Choice>
        <mc:Fallback xmlns="">
          <p:sp>
            <p:nvSpPr>
              <p:cNvPr id="6" name="ZoneTexte 5">
                <a:extLst>
                  <a:ext uri="{FF2B5EF4-FFF2-40B4-BE49-F238E27FC236}">
                    <a16:creationId xmlns:a16="http://schemas.microsoft.com/office/drawing/2014/main" id="{7DD7D849-0576-B2AC-5AAA-975CEABF3E84}"/>
                  </a:ext>
                </a:extLst>
              </p:cNvPr>
              <p:cNvSpPr txBox="1">
                <a:spLocks noRot="1" noChangeAspect="1" noMove="1" noResize="1" noEditPoints="1" noAdjustHandles="1" noChangeArrowheads="1" noChangeShapeType="1" noTextEdit="1"/>
              </p:cNvSpPr>
              <p:nvPr/>
            </p:nvSpPr>
            <p:spPr>
              <a:xfrm>
                <a:off x="6577318" y="546800"/>
                <a:ext cx="5069044" cy="4999767"/>
              </a:xfrm>
              <a:prstGeom prst="rect">
                <a:avLst/>
              </a:prstGeom>
              <a:blipFill>
                <a:blip r:embed="rId3"/>
                <a:stretch>
                  <a:fillRect l="-750" t="-761"/>
                </a:stretch>
              </a:blipFill>
            </p:spPr>
            <p:txBody>
              <a:bodyPr/>
              <a:lstStyle/>
              <a:p>
                <a:r>
                  <a:rPr lang="en-GB">
                    <a:noFill/>
                  </a:rPr>
                  <a:t> </a:t>
                </a:r>
              </a:p>
            </p:txBody>
          </p:sp>
        </mc:Fallback>
      </mc:AlternateContent>
      <p:sp>
        <p:nvSpPr>
          <p:cNvPr id="10" name="Flèche vers le haut 9">
            <a:extLst>
              <a:ext uri="{FF2B5EF4-FFF2-40B4-BE49-F238E27FC236}">
                <a16:creationId xmlns:a16="http://schemas.microsoft.com/office/drawing/2014/main" id="{755044E4-3740-B285-339E-2345690A1D50}"/>
              </a:ext>
            </a:extLst>
          </p:cNvPr>
          <p:cNvSpPr/>
          <p:nvPr/>
        </p:nvSpPr>
        <p:spPr>
          <a:xfrm>
            <a:off x="2801073" y="4109013"/>
            <a:ext cx="347241" cy="787078"/>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lèche vers le haut 10">
            <a:extLst>
              <a:ext uri="{FF2B5EF4-FFF2-40B4-BE49-F238E27FC236}">
                <a16:creationId xmlns:a16="http://schemas.microsoft.com/office/drawing/2014/main" id="{DA300EA1-F1EC-1E78-7A0B-B89D0721BA64}"/>
              </a:ext>
            </a:extLst>
          </p:cNvPr>
          <p:cNvSpPr/>
          <p:nvPr/>
        </p:nvSpPr>
        <p:spPr>
          <a:xfrm>
            <a:off x="1182543" y="4087788"/>
            <a:ext cx="347241" cy="787078"/>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ZoneTexte 13">
            <a:extLst>
              <a:ext uri="{FF2B5EF4-FFF2-40B4-BE49-F238E27FC236}">
                <a16:creationId xmlns:a16="http://schemas.microsoft.com/office/drawing/2014/main" id="{13CE59AB-B324-86D2-575A-698DA1517B16}"/>
              </a:ext>
            </a:extLst>
          </p:cNvPr>
          <p:cNvSpPr txBox="1"/>
          <p:nvPr/>
        </p:nvSpPr>
        <p:spPr>
          <a:xfrm>
            <a:off x="6577318" y="4481327"/>
            <a:ext cx="4776482" cy="1065240"/>
          </a:xfrm>
          <a:prstGeom prst="rect">
            <a:avLst/>
          </a:prstGeom>
          <a:noFill/>
          <a:ln>
            <a:solidFill>
              <a:schemeClr val="bg1">
                <a:lumMod val="50000"/>
              </a:schemeClr>
            </a:solidFill>
          </a:ln>
        </p:spPr>
        <p:txBody>
          <a:bodyPr wrap="square" rtlCol="0">
            <a:spAutoFit/>
          </a:bodyPr>
          <a:lstStyle/>
          <a:p>
            <a:endParaRPr lang="en-GB" dirty="0"/>
          </a:p>
        </p:txBody>
      </p:sp>
      <mc:AlternateContent xmlns:mc="http://schemas.openxmlformats.org/markup-compatibility/2006" xmlns:a14="http://schemas.microsoft.com/office/drawing/2010/main">
        <mc:Choice Requires="a14">
          <p:sp>
            <p:nvSpPr>
              <p:cNvPr id="15" name="ZoneTexte 14">
                <a:extLst>
                  <a:ext uri="{FF2B5EF4-FFF2-40B4-BE49-F238E27FC236}">
                    <a16:creationId xmlns:a16="http://schemas.microsoft.com/office/drawing/2014/main" id="{C1C38733-2C0A-6DB6-79EB-C332A177D578}"/>
                  </a:ext>
                </a:extLst>
              </p:cNvPr>
              <p:cNvSpPr txBox="1"/>
              <p:nvPr/>
            </p:nvSpPr>
            <p:spPr>
              <a:xfrm>
                <a:off x="2597469" y="4958252"/>
                <a:ext cx="1824058" cy="88190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fr-FR" sz="1400" b="0" i="1" smtClean="0">
                          <a:latin typeface="Cambria Math" panose="02040503050406030204" pitchFamily="18" charset="0"/>
                        </a:rPr>
                        <m:t>𝑊</m:t>
                      </m:r>
                      <m:r>
                        <a:rPr lang="fr-FR" sz="1400" b="0" i="1" smtClean="0">
                          <a:latin typeface="Cambria Math" panose="02040503050406030204" pitchFamily="18" charset="0"/>
                        </a:rPr>
                        <m:t>_</m:t>
                      </m:r>
                      <m:r>
                        <a:rPr lang="fr-FR" sz="1400" b="0" i="1" smtClean="0">
                          <a:latin typeface="Cambria Math" panose="02040503050406030204" pitchFamily="18" charset="0"/>
                        </a:rPr>
                        <m:t>𝑜𝑢𝑡</m:t>
                      </m:r>
                      <m:r>
                        <a:rPr lang="fr-FR" sz="1400" i="1">
                          <a:latin typeface="Cambria Math" panose="02040503050406030204" pitchFamily="18" charset="0"/>
                        </a:rPr>
                        <m:t>=</m:t>
                      </m:r>
                      <m:d>
                        <m:dPr>
                          <m:begChr m:val="["/>
                          <m:endChr m:val="]"/>
                          <m:ctrlPr>
                            <a:rPr lang="en-GB" sz="1400" i="1">
                              <a:latin typeface="Cambria Math" panose="02040503050406030204" pitchFamily="18" charset="0"/>
                            </a:rPr>
                          </m:ctrlPr>
                        </m:dPr>
                        <m:e>
                          <m:m>
                            <m:mPr>
                              <m:mcs>
                                <m:mc>
                                  <m:mcPr>
                                    <m:count m:val="2"/>
                                    <m:mcJc m:val="center"/>
                                  </m:mcPr>
                                </m:mc>
                              </m:mcs>
                              <m:ctrlPr>
                                <a:rPr lang="en-GB" sz="1400" i="1">
                                  <a:latin typeface="Cambria Math" panose="02040503050406030204" pitchFamily="18" charset="0"/>
                                </a:rPr>
                              </m:ctrlPr>
                            </m:mPr>
                            <m:mr>
                              <m:e>
                                <m:sSub>
                                  <m:sSubPr>
                                    <m:ctrlPr>
                                      <a:rPr lang="fr-FR" sz="1400" i="1">
                                        <a:latin typeface="Cambria Math" panose="02040503050406030204" pitchFamily="18" charset="0"/>
                                      </a:rPr>
                                    </m:ctrlPr>
                                  </m:sSubPr>
                                  <m:e>
                                    <m:r>
                                      <m:rPr>
                                        <m:brk m:alnAt="7"/>
                                      </m:rPr>
                                      <a:rPr lang="fr-FR" sz="1400" i="1">
                                        <a:latin typeface="Cambria Math" panose="02040503050406030204" pitchFamily="18" charset="0"/>
                                      </a:rPr>
                                      <m:t>𝑤</m:t>
                                    </m:r>
                                  </m:e>
                                  <m:sub>
                                    <m:r>
                                      <m:rPr>
                                        <m:brk m:alnAt="7"/>
                                      </m:rPr>
                                      <a:rPr lang="fr-FR" sz="1400" i="1">
                                        <a:latin typeface="Cambria Math" panose="02040503050406030204" pitchFamily="18" charset="0"/>
                                      </a:rPr>
                                      <m:t>5</m:t>
                                    </m:r>
                                  </m:sub>
                                </m:sSub>
                              </m:e>
                              <m:e>
                                <m:sSub>
                                  <m:sSubPr>
                                    <m:ctrlPr>
                                      <a:rPr lang="fr-FR" sz="1400" i="1">
                                        <a:latin typeface="Cambria Math" panose="02040503050406030204" pitchFamily="18" charset="0"/>
                                      </a:rPr>
                                    </m:ctrlPr>
                                  </m:sSubPr>
                                  <m:e>
                                    <m:r>
                                      <a:rPr lang="fr-FR" sz="1400" i="1">
                                        <a:latin typeface="Cambria Math" panose="02040503050406030204" pitchFamily="18" charset="0"/>
                                      </a:rPr>
                                      <m:t>𝑤</m:t>
                                    </m:r>
                                  </m:e>
                                  <m:sub>
                                    <m:r>
                                      <a:rPr lang="fr-FR" sz="1400" i="1">
                                        <a:latin typeface="Cambria Math" panose="02040503050406030204" pitchFamily="18" charset="0"/>
                                      </a:rPr>
                                      <m:t>6</m:t>
                                    </m:r>
                                  </m:sub>
                                </m:sSub>
                              </m:e>
                            </m:mr>
                            <m:mr>
                              <m:e>
                                <m:sSub>
                                  <m:sSubPr>
                                    <m:ctrlPr>
                                      <a:rPr lang="fr-FR" sz="1400" i="1">
                                        <a:latin typeface="Cambria Math" panose="02040503050406030204" pitchFamily="18" charset="0"/>
                                      </a:rPr>
                                    </m:ctrlPr>
                                  </m:sSubPr>
                                  <m:e>
                                    <m:r>
                                      <a:rPr lang="fr-FR" sz="1400" i="1">
                                        <a:latin typeface="Cambria Math" panose="02040503050406030204" pitchFamily="18" charset="0"/>
                                      </a:rPr>
                                      <m:t>𝑤</m:t>
                                    </m:r>
                                  </m:e>
                                  <m:sub>
                                    <m:r>
                                      <a:rPr lang="fr-FR" sz="1400" i="1">
                                        <a:latin typeface="Cambria Math" panose="02040503050406030204" pitchFamily="18" charset="0"/>
                                      </a:rPr>
                                      <m:t>7</m:t>
                                    </m:r>
                                  </m:sub>
                                </m:sSub>
                              </m:e>
                              <m:e>
                                <m:sSub>
                                  <m:sSubPr>
                                    <m:ctrlPr>
                                      <a:rPr lang="fr-FR" sz="1400" i="1">
                                        <a:latin typeface="Cambria Math" panose="02040503050406030204" pitchFamily="18" charset="0"/>
                                      </a:rPr>
                                    </m:ctrlPr>
                                  </m:sSubPr>
                                  <m:e>
                                    <m:r>
                                      <a:rPr lang="fr-FR" sz="1400" i="1">
                                        <a:latin typeface="Cambria Math" panose="02040503050406030204" pitchFamily="18" charset="0"/>
                                      </a:rPr>
                                      <m:t>𝑤</m:t>
                                    </m:r>
                                  </m:e>
                                  <m:sub>
                                    <m:r>
                                      <a:rPr lang="fr-FR" sz="1400" i="1">
                                        <a:latin typeface="Cambria Math" panose="02040503050406030204" pitchFamily="18" charset="0"/>
                                      </a:rPr>
                                      <m:t>8</m:t>
                                    </m:r>
                                  </m:sub>
                                </m:sSub>
                              </m:e>
                            </m:mr>
                          </m:m>
                        </m:e>
                      </m:d>
                    </m:oMath>
                  </m:oMathPara>
                </a14:m>
                <a:endParaRPr lang="en-GB" sz="1400" dirty="0"/>
              </a:p>
              <a:p>
                <a:endParaRPr lang="en-GB" sz="1400" dirty="0"/>
              </a:p>
              <a:p>
                <a:pPr/>
                <a14:m>
                  <m:oMathPara xmlns:m="http://schemas.openxmlformats.org/officeDocument/2006/math">
                    <m:oMathParaPr>
                      <m:jc m:val="left"/>
                    </m:oMathParaPr>
                    <m:oMath xmlns:m="http://schemas.openxmlformats.org/officeDocument/2006/math">
                      <m:r>
                        <a:rPr lang="fr-FR" sz="1400" b="0" i="1" smtClean="0">
                          <a:latin typeface="Cambria Math" panose="02040503050406030204" pitchFamily="18" charset="0"/>
                        </a:rPr>
                        <m:t>𝑏</m:t>
                      </m:r>
                      <m:r>
                        <a:rPr lang="fr-FR" sz="1400" b="0" i="1" smtClean="0">
                          <a:latin typeface="Cambria Math" panose="02040503050406030204" pitchFamily="18" charset="0"/>
                        </a:rPr>
                        <m:t>_</m:t>
                      </m:r>
                      <m:r>
                        <a:rPr lang="fr-FR" sz="1400" b="0" i="1" smtClean="0">
                          <a:latin typeface="Cambria Math" panose="02040503050406030204" pitchFamily="18" charset="0"/>
                        </a:rPr>
                        <m:t>𝑜𝑢𝑡</m:t>
                      </m:r>
                      <m:r>
                        <a:rPr lang="fr-FR" sz="1400" b="0" i="1" smtClean="0">
                          <a:latin typeface="Cambria Math" panose="02040503050406030204" pitchFamily="18" charset="0"/>
                        </a:rPr>
                        <m:t>=</m:t>
                      </m:r>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m:t>
                          </m:r>
                          <m:r>
                            <a:rPr lang="fr-FR" sz="1400" b="0" i="1" smtClean="0">
                              <a:latin typeface="Cambria Math" panose="02040503050406030204" pitchFamily="18" charset="0"/>
                            </a:rPr>
                            <m:t>𝑏</m:t>
                          </m:r>
                        </m:e>
                        <m:sub>
                          <m:r>
                            <a:rPr lang="fr-FR" sz="1400" b="0" i="1" smtClean="0">
                              <a:latin typeface="Cambria Math" panose="02040503050406030204" pitchFamily="18" charset="0"/>
                            </a:rPr>
                            <m:t>2</m:t>
                          </m:r>
                        </m:sub>
                      </m:sSub>
                      <m:r>
                        <a:rPr lang="fr-FR" sz="1400" b="0" i="1" smtClean="0">
                          <a:latin typeface="Cambria Math" panose="02040503050406030204" pitchFamily="18" charset="0"/>
                        </a:rPr>
                        <m:t>]</m:t>
                      </m:r>
                    </m:oMath>
                  </m:oMathPara>
                </a14:m>
                <a:endParaRPr lang="en-GB" sz="1400" dirty="0"/>
              </a:p>
            </p:txBody>
          </p:sp>
        </mc:Choice>
        <mc:Fallback xmlns="">
          <p:sp>
            <p:nvSpPr>
              <p:cNvPr id="15" name="ZoneTexte 14">
                <a:extLst>
                  <a:ext uri="{FF2B5EF4-FFF2-40B4-BE49-F238E27FC236}">
                    <a16:creationId xmlns:a16="http://schemas.microsoft.com/office/drawing/2014/main" id="{C1C38733-2C0A-6DB6-79EB-C332A177D578}"/>
                  </a:ext>
                </a:extLst>
              </p:cNvPr>
              <p:cNvSpPr txBox="1">
                <a:spLocks noRot="1" noChangeAspect="1" noMove="1" noResize="1" noEditPoints="1" noAdjustHandles="1" noChangeArrowheads="1" noChangeShapeType="1" noTextEdit="1"/>
              </p:cNvSpPr>
              <p:nvPr/>
            </p:nvSpPr>
            <p:spPr>
              <a:xfrm>
                <a:off x="2597469" y="4958252"/>
                <a:ext cx="1824058" cy="881908"/>
              </a:xfrm>
              <a:prstGeom prst="rect">
                <a:avLst/>
              </a:prstGeom>
              <a:blipFill>
                <a:blip r:embed="rId4"/>
                <a:stretch>
                  <a:fillRect b="-28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ZoneTexte 15">
                <a:extLst>
                  <a:ext uri="{FF2B5EF4-FFF2-40B4-BE49-F238E27FC236}">
                    <a16:creationId xmlns:a16="http://schemas.microsoft.com/office/drawing/2014/main" id="{BB34517C-A6DF-50EA-FB41-7CBC8E3AFEEC}"/>
                  </a:ext>
                </a:extLst>
              </p:cNvPr>
              <p:cNvSpPr txBox="1"/>
              <p:nvPr/>
            </p:nvSpPr>
            <p:spPr>
              <a:xfrm>
                <a:off x="736864" y="4958252"/>
                <a:ext cx="1824058" cy="88190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fr-FR" sz="1400" b="0" i="1" smtClean="0">
                          <a:latin typeface="Cambria Math" panose="02040503050406030204" pitchFamily="18" charset="0"/>
                        </a:rPr>
                        <m:t>𝑊</m:t>
                      </m:r>
                      <m:r>
                        <a:rPr lang="fr-FR" sz="1400" b="0" i="1" smtClean="0">
                          <a:latin typeface="Cambria Math" panose="02040503050406030204" pitchFamily="18" charset="0"/>
                        </a:rPr>
                        <m:t>_</m:t>
                      </m:r>
                      <m:r>
                        <a:rPr lang="fr-FR" sz="1400" b="0" i="1" smtClean="0">
                          <a:latin typeface="Cambria Math" panose="02040503050406030204" pitchFamily="18" charset="0"/>
                        </a:rPr>
                        <m:t>𝑖𝑛</m:t>
                      </m:r>
                      <m:r>
                        <a:rPr lang="fr-FR" sz="1400" i="1">
                          <a:latin typeface="Cambria Math" panose="02040503050406030204" pitchFamily="18" charset="0"/>
                        </a:rPr>
                        <m:t>=</m:t>
                      </m:r>
                      <m:d>
                        <m:dPr>
                          <m:begChr m:val="["/>
                          <m:endChr m:val="]"/>
                          <m:ctrlPr>
                            <a:rPr lang="en-GB" sz="1400" i="1">
                              <a:latin typeface="Cambria Math" panose="02040503050406030204" pitchFamily="18" charset="0"/>
                            </a:rPr>
                          </m:ctrlPr>
                        </m:dPr>
                        <m:e>
                          <m:m>
                            <m:mPr>
                              <m:mcs>
                                <m:mc>
                                  <m:mcPr>
                                    <m:count m:val="2"/>
                                    <m:mcJc m:val="center"/>
                                  </m:mcPr>
                                </m:mc>
                              </m:mcs>
                              <m:ctrlPr>
                                <a:rPr lang="en-GB" sz="1400" i="1">
                                  <a:latin typeface="Cambria Math" panose="02040503050406030204" pitchFamily="18" charset="0"/>
                                </a:rPr>
                              </m:ctrlPr>
                            </m:mPr>
                            <m:mr>
                              <m:e>
                                <m:sSub>
                                  <m:sSubPr>
                                    <m:ctrlPr>
                                      <a:rPr lang="fr-FR" sz="1400" i="1">
                                        <a:latin typeface="Cambria Math" panose="02040503050406030204" pitchFamily="18" charset="0"/>
                                      </a:rPr>
                                    </m:ctrlPr>
                                  </m:sSubPr>
                                  <m:e>
                                    <m:r>
                                      <m:rPr>
                                        <m:brk m:alnAt="7"/>
                                      </m:rPr>
                                      <a:rPr lang="fr-FR" sz="1400" i="1">
                                        <a:latin typeface="Cambria Math" panose="02040503050406030204" pitchFamily="18" charset="0"/>
                                      </a:rPr>
                                      <m:t>𝑤</m:t>
                                    </m:r>
                                  </m:e>
                                  <m:sub>
                                    <m:r>
                                      <a:rPr lang="fr-FR" sz="1400" b="0" i="1" smtClean="0">
                                        <a:latin typeface="Cambria Math" panose="02040503050406030204" pitchFamily="18" charset="0"/>
                                      </a:rPr>
                                      <m:t>1</m:t>
                                    </m:r>
                                  </m:sub>
                                </m:sSub>
                              </m:e>
                              <m:e>
                                <m:sSub>
                                  <m:sSubPr>
                                    <m:ctrlPr>
                                      <a:rPr lang="fr-FR" sz="1400" i="1">
                                        <a:latin typeface="Cambria Math" panose="02040503050406030204" pitchFamily="18" charset="0"/>
                                      </a:rPr>
                                    </m:ctrlPr>
                                  </m:sSubPr>
                                  <m:e>
                                    <m:r>
                                      <a:rPr lang="fr-FR" sz="1400" i="1">
                                        <a:latin typeface="Cambria Math" panose="02040503050406030204" pitchFamily="18" charset="0"/>
                                      </a:rPr>
                                      <m:t>𝑤</m:t>
                                    </m:r>
                                  </m:e>
                                  <m:sub>
                                    <m:r>
                                      <a:rPr lang="fr-FR" sz="1400" b="0" i="1" smtClean="0">
                                        <a:latin typeface="Cambria Math" panose="02040503050406030204" pitchFamily="18" charset="0"/>
                                      </a:rPr>
                                      <m:t>2</m:t>
                                    </m:r>
                                  </m:sub>
                                </m:sSub>
                              </m:e>
                            </m:mr>
                            <m:mr>
                              <m:e>
                                <m:sSub>
                                  <m:sSubPr>
                                    <m:ctrlPr>
                                      <a:rPr lang="fr-FR" sz="1400" i="1">
                                        <a:latin typeface="Cambria Math" panose="02040503050406030204" pitchFamily="18" charset="0"/>
                                      </a:rPr>
                                    </m:ctrlPr>
                                  </m:sSubPr>
                                  <m:e>
                                    <m:r>
                                      <a:rPr lang="fr-FR" sz="1400" i="1">
                                        <a:latin typeface="Cambria Math" panose="02040503050406030204" pitchFamily="18" charset="0"/>
                                      </a:rPr>
                                      <m:t>𝑤</m:t>
                                    </m:r>
                                  </m:e>
                                  <m:sub>
                                    <m:r>
                                      <a:rPr lang="fr-FR" sz="1400" b="0" i="1" smtClean="0">
                                        <a:latin typeface="Cambria Math" panose="02040503050406030204" pitchFamily="18" charset="0"/>
                                      </a:rPr>
                                      <m:t>3</m:t>
                                    </m:r>
                                  </m:sub>
                                </m:sSub>
                              </m:e>
                              <m:e>
                                <m:sSub>
                                  <m:sSubPr>
                                    <m:ctrlPr>
                                      <a:rPr lang="fr-FR" sz="1400" i="1">
                                        <a:latin typeface="Cambria Math" panose="02040503050406030204" pitchFamily="18" charset="0"/>
                                      </a:rPr>
                                    </m:ctrlPr>
                                  </m:sSubPr>
                                  <m:e>
                                    <m:r>
                                      <a:rPr lang="fr-FR" sz="1400" i="1">
                                        <a:latin typeface="Cambria Math" panose="02040503050406030204" pitchFamily="18" charset="0"/>
                                      </a:rPr>
                                      <m:t>𝑤</m:t>
                                    </m:r>
                                  </m:e>
                                  <m:sub>
                                    <m:r>
                                      <a:rPr lang="fr-FR" sz="1400" b="0" i="1" smtClean="0">
                                        <a:latin typeface="Cambria Math" panose="02040503050406030204" pitchFamily="18" charset="0"/>
                                      </a:rPr>
                                      <m:t>4</m:t>
                                    </m:r>
                                  </m:sub>
                                </m:sSub>
                              </m:e>
                            </m:mr>
                          </m:m>
                        </m:e>
                      </m:d>
                    </m:oMath>
                  </m:oMathPara>
                </a14:m>
                <a:endParaRPr lang="en-GB" sz="1400" dirty="0"/>
              </a:p>
              <a:p>
                <a:endParaRPr lang="en-GB" sz="1400" dirty="0"/>
              </a:p>
              <a:p>
                <a:pPr/>
                <a14:m>
                  <m:oMathPara xmlns:m="http://schemas.openxmlformats.org/officeDocument/2006/math">
                    <m:oMathParaPr>
                      <m:jc m:val="left"/>
                    </m:oMathParaPr>
                    <m:oMath xmlns:m="http://schemas.openxmlformats.org/officeDocument/2006/math">
                      <m:r>
                        <a:rPr lang="fr-FR" sz="1400" b="0" i="1" smtClean="0">
                          <a:latin typeface="Cambria Math" panose="02040503050406030204" pitchFamily="18" charset="0"/>
                        </a:rPr>
                        <m:t>𝑏</m:t>
                      </m:r>
                      <m:r>
                        <a:rPr lang="fr-FR" sz="1400" b="0" i="1" smtClean="0">
                          <a:latin typeface="Cambria Math" panose="02040503050406030204" pitchFamily="18" charset="0"/>
                        </a:rPr>
                        <m:t>_</m:t>
                      </m:r>
                      <m:r>
                        <a:rPr lang="fr-FR" sz="1400" b="0" i="1" smtClean="0">
                          <a:latin typeface="Cambria Math" panose="02040503050406030204" pitchFamily="18" charset="0"/>
                        </a:rPr>
                        <m:t>𝑖𝑛</m:t>
                      </m:r>
                      <m:r>
                        <a:rPr lang="fr-FR" sz="1400" b="0" i="1" smtClean="0">
                          <a:latin typeface="Cambria Math" panose="02040503050406030204" pitchFamily="18" charset="0"/>
                        </a:rPr>
                        <m:t>=</m:t>
                      </m:r>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m:t>
                          </m:r>
                          <m:r>
                            <a:rPr lang="fr-FR" sz="1400" b="0" i="1" smtClean="0">
                              <a:latin typeface="Cambria Math" panose="02040503050406030204" pitchFamily="18" charset="0"/>
                            </a:rPr>
                            <m:t>𝑏</m:t>
                          </m:r>
                        </m:e>
                        <m:sub>
                          <m:r>
                            <a:rPr lang="fr-FR" sz="1400" b="0" i="1" smtClean="0">
                              <a:latin typeface="Cambria Math" panose="02040503050406030204" pitchFamily="18" charset="0"/>
                            </a:rPr>
                            <m:t>1</m:t>
                          </m:r>
                        </m:sub>
                      </m:sSub>
                      <m:r>
                        <a:rPr lang="fr-FR" sz="1400" b="0" i="1" smtClean="0">
                          <a:latin typeface="Cambria Math" panose="02040503050406030204" pitchFamily="18" charset="0"/>
                        </a:rPr>
                        <m:t>]</m:t>
                      </m:r>
                    </m:oMath>
                  </m:oMathPara>
                </a14:m>
                <a:endParaRPr lang="en-GB" sz="1400" dirty="0"/>
              </a:p>
            </p:txBody>
          </p:sp>
        </mc:Choice>
        <mc:Fallback xmlns="">
          <p:sp>
            <p:nvSpPr>
              <p:cNvPr id="16" name="ZoneTexte 15">
                <a:extLst>
                  <a:ext uri="{FF2B5EF4-FFF2-40B4-BE49-F238E27FC236}">
                    <a16:creationId xmlns:a16="http://schemas.microsoft.com/office/drawing/2014/main" id="{BB34517C-A6DF-50EA-FB41-7CBC8E3AFEEC}"/>
                  </a:ext>
                </a:extLst>
              </p:cNvPr>
              <p:cNvSpPr txBox="1">
                <a:spLocks noRot="1" noChangeAspect="1" noMove="1" noResize="1" noEditPoints="1" noAdjustHandles="1" noChangeArrowheads="1" noChangeShapeType="1" noTextEdit="1"/>
              </p:cNvSpPr>
              <p:nvPr/>
            </p:nvSpPr>
            <p:spPr>
              <a:xfrm>
                <a:off x="736864" y="4958252"/>
                <a:ext cx="1824058" cy="881908"/>
              </a:xfrm>
              <a:prstGeom prst="rect">
                <a:avLst/>
              </a:prstGeom>
              <a:blipFill>
                <a:blip r:embed="rId5"/>
                <a:stretch>
                  <a:fillRect b="-2857"/>
                </a:stretch>
              </a:blipFill>
            </p:spPr>
            <p:txBody>
              <a:bodyPr/>
              <a:lstStyle/>
              <a:p>
                <a:r>
                  <a:rPr lang="en-GB">
                    <a:noFill/>
                  </a:rPr>
                  <a:t> </a:t>
                </a:r>
              </a:p>
            </p:txBody>
          </p:sp>
        </mc:Fallback>
      </mc:AlternateContent>
    </p:spTree>
    <p:extLst>
      <p:ext uri="{BB962C8B-B14F-4D97-AF65-F5344CB8AC3E}">
        <p14:creationId xmlns:p14="http://schemas.microsoft.com/office/powerpoint/2010/main" val="10346285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5EBD3-0ECB-4E3B-C0C0-8909DB7D839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5212FB6-894D-06A7-4869-3C149C658E39}"/>
              </a:ext>
            </a:extLst>
          </p:cNvPr>
          <p:cNvSpPr>
            <a:spLocks noGrp="1"/>
          </p:cNvSpPr>
          <p:nvPr>
            <p:ph type="title"/>
          </p:nvPr>
        </p:nvSpPr>
        <p:spPr/>
        <p:txBody>
          <a:bodyPr/>
          <a:lstStyle/>
          <a:p>
            <a:r>
              <a:rPr lang="fr-FR" dirty="0"/>
              <a:t>Neural Network</a:t>
            </a:r>
          </a:p>
        </p:txBody>
      </p:sp>
      <p:sp>
        <p:nvSpPr>
          <p:cNvPr id="72" name="ZoneTexte 71">
            <a:extLst>
              <a:ext uri="{FF2B5EF4-FFF2-40B4-BE49-F238E27FC236}">
                <a16:creationId xmlns:a16="http://schemas.microsoft.com/office/drawing/2014/main" id="{FBEA30E6-7503-13FD-F900-23A327F9580C}"/>
              </a:ext>
            </a:extLst>
          </p:cNvPr>
          <p:cNvSpPr txBox="1"/>
          <p:nvPr/>
        </p:nvSpPr>
        <p:spPr>
          <a:xfrm>
            <a:off x="1718343" y="1500565"/>
            <a:ext cx="3157800" cy="307777"/>
          </a:xfrm>
          <a:prstGeom prst="rect">
            <a:avLst/>
          </a:prstGeom>
          <a:noFill/>
        </p:spPr>
        <p:txBody>
          <a:bodyPr wrap="square" rtlCol="0">
            <a:spAutoFit/>
          </a:bodyPr>
          <a:lstStyle/>
          <a:p>
            <a:pPr algn="ctr"/>
            <a:r>
              <a:rPr lang="fr-FR" sz="1400" b="1" dirty="0">
                <a:solidFill>
                  <a:srgbClr val="FF0000"/>
                </a:solidFill>
              </a:rPr>
              <a:t>BACKPROPAGATION</a:t>
            </a:r>
            <a:endParaRPr lang="fr-FR" sz="1400" b="1" dirty="0"/>
          </a:p>
        </p:txBody>
      </p:sp>
      <p:sp>
        <p:nvSpPr>
          <p:cNvPr id="20" name="Espace réservé du pied de page 19">
            <a:extLst>
              <a:ext uri="{FF2B5EF4-FFF2-40B4-BE49-F238E27FC236}">
                <a16:creationId xmlns:a16="http://schemas.microsoft.com/office/drawing/2014/main" id="{55FAC4FA-075A-F722-52FC-CCB70A896DD4}"/>
              </a:ext>
            </a:extLst>
          </p:cNvPr>
          <p:cNvSpPr>
            <a:spLocks noGrp="1"/>
          </p:cNvSpPr>
          <p:nvPr>
            <p:ph type="ftr" sz="quarter" idx="11"/>
          </p:nvPr>
        </p:nvSpPr>
        <p:spPr/>
        <p:txBody>
          <a:bodyPr/>
          <a:lstStyle/>
          <a:p>
            <a:r>
              <a:rPr lang="fr-FR"/>
              <a:t>Introduction to Neural Networks. Author: David Thébault</a:t>
            </a:r>
          </a:p>
        </p:txBody>
      </p:sp>
      <p:pic>
        <p:nvPicPr>
          <p:cNvPr id="4" name="Image 3">
            <a:extLst>
              <a:ext uri="{FF2B5EF4-FFF2-40B4-BE49-F238E27FC236}">
                <a16:creationId xmlns:a16="http://schemas.microsoft.com/office/drawing/2014/main" id="{E18C5251-E5E2-F05A-5E64-5357DD7DEB76}"/>
              </a:ext>
            </a:extLst>
          </p:cNvPr>
          <p:cNvPicPr>
            <a:picLocks noChangeAspect="1"/>
          </p:cNvPicPr>
          <p:nvPr/>
        </p:nvPicPr>
        <p:blipFill>
          <a:blip r:embed="rId2"/>
          <a:stretch>
            <a:fillRect/>
          </a:stretch>
        </p:blipFill>
        <p:spPr>
          <a:xfrm>
            <a:off x="545638" y="1925996"/>
            <a:ext cx="4247113" cy="2043681"/>
          </a:xfrm>
          <a:prstGeom prst="rect">
            <a:avLst/>
          </a:prstGeom>
        </p:spPr>
      </p:pic>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3FF40C6C-DE16-0001-07FC-31D5FB21D19F}"/>
                  </a:ext>
                </a:extLst>
              </p:cNvPr>
              <p:cNvSpPr txBox="1"/>
              <p:nvPr/>
            </p:nvSpPr>
            <p:spPr>
              <a:xfrm>
                <a:off x="5162309" y="365125"/>
                <a:ext cx="6828395" cy="5766002"/>
              </a:xfrm>
              <a:prstGeom prst="rect">
                <a:avLst/>
              </a:prstGeom>
              <a:noFill/>
            </p:spPr>
            <p:txBody>
              <a:bodyPr wrap="square" rtlCol="0">
                <a:spAutoFit/>
              </a:bodyPr>
              <a:lstStyle/>
              <a:p>
                <a:r>
                  <a:rPr lang="en-GB" b="1" dirty="0">
                    <a:latin typeface="Cambria Math" panose="02040503050406030204" pitchFamily="18" charset="0"/>
                  </a:rPr>
                  <a:t>Matrix Chain rule to update </a:t>
                </a:r>
                <a14:m>
                  <m:oMath xmlns:m="http://schemas.openxmlformats.org/officeDocument/2006/math">
                    <m:r>
                      <a:rPr lang="fr-FR" b="1" i="1" smtClean="0">
                        <a:latin typeface="Cambria Math" panose="02040503050406030204" pitchFamily="18" charset="0"/>
                      </a:rPr>
                      <m:t>𝑾</m:t>
                    </m:r>
                    <m:r>
                      <a:rPr lang="fr-FR" b="1" i="1" smtClean="0">
                        <a:latin typeface="Cambria Math" panose="02040503050406030204" pitchFamily="18" charset="0"/>
                      </a:rPr>
                      <m:t>_</m:t>
                    </m:r>
                    <m:r>
                      <a:rPr lang="fr-FR" b="1" i="1" smtClean="0">
                        <a:latin typeface="Cambria Math" panose="02040503050406030204" pitchFamily="18" charset="0"/>
                      </a:rPr>
                      <m:t>𝒊𝒏</m:t>
                    </m:r>
                  </m:oMath>
                </a14:m>
                <a:r>
                  <a:rPr lang="en-GB" b="1" dirty="0">
                    <a:latin typeface="Cambria Math" panose="02040503050406030204" pitchFamily="18" charset="0"/>
                  </a:rPr>
                  <a:t>, </a:t>
                </a:r>
                <a:r>
                  <a:rPr lang="en-GB" b="1" i="1" dirty="0">
                    <a:latin typeface="Cambria Math" panose="02040503050406030204" pitchFamily="18" charset="0"/>
                  </a:rPr>
                  <a:t>b</a:t>
                </a:r>
                <a14:m>
                  <m:oMath xmlns:m="http://schemas.openxmlformats.org/officeDocument/2006/math">
                    <m:r>
                      <a:rPr lang="fr-FR" b="1" i="1">
                        <a:latin typeface="Cambria Math" panose="02040503050406030204" pitchFamily="18" charset="0"/>
                      </a:rPr>
                      <m:t>_</m:t>
                    </m:r>
                    <m:r>
                      <a:rPr lang="fr-FR" b="1" i="1" smtClean="0">
                        <a:latin typeface="Cambria Math" panose="02040503050406030204" pitchFamily="18" charset="0"/>
                      </a:rPr>
                      <m:t>𝒊𝒏</m:t>
                    </m:r>
                    <m:r>
                      <a:rPr lang="fr-FR" b="1" i="1">
                        <a:latin typeface="Cambria Math" panose="02040503050406030204" pitchFamily="18" charset="0"/>
                      </a:rPr>
                      <m:t> </m:t>
                    </m:r>
                  </m:oMath>
                </a14:m>
                <a:r>
                  <a:rPr lang="en-GB" b="1" dirty="0">
                    <a:latin typeface="Cambria Math" panose="02040503050406030204" pitchFamily="18" charset="0"/>
                  </a:rPr>
                  <a:t>:</a:t>
                </a:r>
              </a:p>
              <a:p>
                <a:endParaRPr lang="en-GB" b="1" dirty="0">
                  <a:latin typeface="Cambria Math" panose="02040503050406030204" pitchFamily="18" charset="0"/>
                </a:endParaRPr>
              </a:p>
              <a:p>
                <a14:m>
                  <m:oMath xmlns:m="http://schemas.openxmlformats.org/officeDocument/2006/math">
                    <m:f>
                      <m:fPr>
                        <m:ctrlPr>
                          <a:rPr lang="en-GB" b="1" i="1" smtClean="0">
                            <a:latin typeface="Cambria Math" panose="02040503050406030204" pitchFamily="18" charset="0"/>
                          </a:rPr>
                        </m:ctrlPr>
                      </m:fPr>
                      <m:num>
                        <m:r>
                          <a:rPr lang="en-GB" b="1" i="1" smtClean="0">
                            <a:latin typeface="Cambria Math" panose="02040503050406030204" pitchFamily="18" charset="0"/>
                          </a:rPr>
                          <m:t>𝝏</m:t>
                        </m:r>
                        <m:r>
                          <a:rPr lang="fr-FR" b="1" i="1" smtClean="0">
                            <a:latin typeface="Cambria Math" panose="02040503050406030204" pitchFamily="18" charset="0"/>
                          </a:rPr>
                          <m:t>𝑳𝒐𝒔𝒔</m:t>
                        </m:r>
                      </m:num>
                      <m:den>
                        <m:r>
                          <a:rPr lang="en-GB" b="1" i="1" smtClean="0">
                            <a:latin typeface="Cambria Math" panose="02040503050406030204" pitchFamily="18" charset="0"/>
                          </a:rPr>
                          <m:t>𝝏</m:t>
                        </m:r>
                        <m:r>
                          <a:rPr lang="fr-FR" b="1" i="1" smtClean="0">
                            <a:latin typeface="Cambria Math" panose="02040503050406030204" pitchFamily="18" charset="0"/>
                          </a:rPr>
                          <m:t>𝑾</m:t>
                        </m:r>
                        <m:r>
                          <a:rPr lang="fr-FR" b="1" i="1" smtClean="0">
                            <a:latin typeface="Cambria Math" panose="02040503050406030204" pitchFamily="18" charset="0"/>
                          </a:rPr>
                          <m:t>_</m:t>
                        </m:r>
                        <m:r>
                          <a:rPr lang="fr-FR" b="1" i="1" smtClean="0">
                            <a:latin typeface="Cambria Math" panose="02040503050406030204" pitchFamily="18" charset="0"/>
                          </a:rPr>
                          <m:t>𝒊𝒏</m:t>
                        </m:r>
                      </m:den>
                    </m:f>
                    <m:r>
                      <a:rPr lang="fr-FR" b="1" i="0" smtClean="0">
                        <a:latin typeface="Cambria Math" panose="02040503050406030204" pitchFamily="18" charset="0"/>
                      </a:rPr>
                      <m:t>=</m:t>
                    </m:r>
                  </m:oMath>
                </a14:m>
                <a:r>
                  <a:rPr lang="en-GB" dirty="0"/>
                  <a:t> </a:t>
                </a:r>
                <a14:m>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𝐿𝑜𝑠𝑠</m:t>
                        </m:r>
                      </m:num>
                      <m:den>
                        <m:r>
                          <a:rPr lang="en-GB" i="1">
                            <a:latin typeface="Cambria Math" panose="02040503050406030204" pitchFamily="18" charset="0"/>
                          </a:rPr>
                          <m:t>𝜕</m:t>
                        </m:r>
                        <m:r>
                          <a:rPr lang="en-GB" i="1">
                            <a:latin typeface="Cambria Math" panose="02040503050406030204" pitchFamily="18" charset="0"/>
                          </a:rPr>
                          <m:t>𝑜𝑢𝑡</m:t>
                        </m:r>
                        <m:r>
                          <a:rPr lang="en-GB" i="1">
                            <a:latin typeface="Cambria Math" panose="02040503050406030204" pitchFamily="18" charset="0"/>
                          </a:rPr>
                          <m:t>_</m:t>
                        </m:r>
                        <m:r>
                          <a:rPr lang="en-GB" i="1">
                            <a:latin typeface="Cambria Math" panose="02040503050406030204" pitchFamily="18" charset="0"/>
                          </a:rPr>
                          <m:t>𝑜</m:t>
                        </m:r>
                      </m:den>
                    </m:f>
                    <m:r>
                      <a:rPr lang="fr-FR" b="0" i="1" smtClean="0">
                        <a:latin typeface="Cambria Math" panose="02040503050406030204" pitchFamily="18" charset="0"/>
                      </a:rPr>
                      <m:t>∗</m:t>
                    </m:r>
                  </m:oMath>
                </a14:m>
                <a:r>
                  <a:rPr lang="en-GB" dirty="0"/>
                  <a:t> </a:t>
                </a:r>
                <a14:m>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m:t>
                        </m:r>
                        <m:r>
                          <a:rPr lang="fr-FR" i="1">
                            <a:latin typeface="Cambria Math" panose="02040503050406030204" pitchFamily="18" charset="0"/>
                          </a:rPr>
                          <m:t>𝑜𝑢𝑡</m:t>
                        </m:r>
                        <m:r>
                          <a:rPr lang="fr-FR" i="1">
                            <a:latin typeface="Cambria Math" panose="02040503050406030204" pitchFamily="18" charset="0"/>
                          </a:rPr>
                          <m:t>_</m:t>
                        </m:r>
                        <m:r>
                          <a:rPr lang="fr-FR" i="1">
                            <a:latin typeface="Cambria Math" panose="02040503050406030204" pitchFamily="18" charset="0"/>
                          </a:rPr>
                          <m:t>𝑜</m:t>
                        </m:r>
                      </m:num>
                      <m:den>
                        <m:r>
                          <a:rPr lang="en-GB" i="1">
                            <a:latin typeface="Cambria Math" panose="02040503050406030204" pitchFamily="18" charset="0"/>
                          </a:rPr>
                          <m:t>𝜕</m:t>
                        </m:r>
                        <m:r>
                          <a:rPr lang="fr-FR" i="1">
                            <a:latin typeface="Cambria Math" panose="02040503050406030204" pitchFamily="18" charset="0"/>
                          </a:rPr>
                          <m:t>𝑛𝑒𝑡</m:t>
                        </m:r>
                        <m:r>
                          <a:rPr lang="fr-FR" i="1">
                            <a:latin typeface="Cambria Math" panose="02040503050406030204" pitchFamily="18" charset="0"/>
                          </a:rPr>
                          <m:t>_</m:t>
                        </m:r>
                        <m:r>
                          <a:rPr lang="fr-FR" i="1">
                            <a:latin typeface="Cambria Math" panose="02040503050406030204" pitchFamily="18" charset="0"/>
                          </a:rPr>
                          <m:t>𝑜</m:t>
                        </m:r>
                      </m:den>
                    </m:f>
                    <m:r>
                      <a:rPr lang="fr-FR" b="0" i="1"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fr-FR" b="0" i="1" smtClean="0">
                            <a:latin typeface="Cambria Math" panose="02040503050406030204" pitchFamily="18" charset="0"/>
                          </a:rPr>
                          <m:t>𝑛𝑒</m:t>
                        </m:r>
                        <m:r>
                          <a:rPr lang="fr-FR" i="1">
                            <a:latin typeface="Cambria Math" panose="02040503050406030204" pitchFamily="18" charset="0"/>
                          </a:rPr>
                          <m:t>𝑡</m:t>
                        </m:r>
                        <m:r>
                          <a:rPr lang="fr-FR" i="1">
                            <a:latin typeface="Cambria Math" panose="02040503050406030204" pitchFamily="18" charset="0"/>
                          </a:rPr>
                          <m:t>_</m:t>
                        </m:r>
                        <m:r>
                          <a:rPr lang="fr-FR" i="1">
                            <a:latin typeface="Cambria Math" panose="02040503050406030204" pitchFamily="18" charset="0"/>
                          </a:rPr>
                          <m:t>𝑜</m:t>
                        </m:r>
                      </m:num>
                      <m:den>
                        <m:r>
                          <a:rPr lang="en-GB" i="1">
                            <a:latin typeface="Cambria Math" panose="02040503050406030204" pitchFamily="18" charset="0"/>
                          </a:rPr>
                          <m:t>𝜕</m:t>
                        </m:r>
                        <m:r>
                          <a:rPr lang="fr-FR" b="0" i="1" smtClean="0">
                            <a:latin typeface="Cambria Math" panose="02040503050406030204" pitchFamily="18" charset="0"/>
                          </a:rPr>
                          <m:t>𝑜𝑢𝑡</m:t>
                        </m:r>
                        <m:r>
                          <a:rPr lang="fr-FR" i="1">
                            <a:latin typeface="Cambria Math" panose="02040503050406030204" pitchFamily="18" charset="0"/>
                          </a:rPr>
                          <m:t>_</m:t>
                        </m:r>
                        <m:r>
                          <a:rPr lang="fr-FR" b="0" i="1" smtClean="0">
                            <a:latin typeface="Cambria Math" panose="02040503050406030204" pitchFamily="18" charset="0"/>
                          </a:rPr>
                          <m:t>h</m:t>
                        </m:r>
                      </m:den>
                    </m:f>
                    <m:r>
                      <a:rPr lang="fr-FR"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fr-FR" b="0" i="1" smtClean="0">
                            <a:latin typeface="Cambria Math" panose="02040503050406030204" pitchFamily="18" charset="0"/>
                          </a:rPr>
                          <m:t>𝑜𝑢</m:t>
                        </m:r>
                        <m:r>
                          <a:rPr lang="fr-FR" i="1">
                            <a:latin typeface="Cambria Math" panose="02040503050406030204" pitchFamily="18" charset="0"/>
                          </a:rPr>
                          <m:t>𝑡</m:t>
                        </m:r>
                        <m:r>
                          <a:rPr lang="fr-FR" i="1">
                            <a:latin typeface="Cambria Math" panose="02040503050406030204" pitchFamily="18" charset="0"/>
                          </a:rPr>
                          <m:t>_</m:t>
                        </m:r>
                        <m:r>
                          <a:rPr lang="fr-FR" b="0" i="1" smtClean="0">
                            <a:latin typeface="Cambria Math" panose="02040503050406030204" pitchFamily="18" charset="0"/>
                          </a:rPr>
                          <m:t>h</m:t>
                        </m:r>
                      </m:num>
                      <m:den>
                        <m:r>
                          <a:rPr lang="en-GB" i="1">
                            <a:latin typeface="Cambria Math" panose="02040503050406030204" pitchFamily="18" charset="0"/>
                          </a:rPr>
                          <m:t>𝜕</m:t>
                        </m:r>
                        <m:r>
                          <a:rPr lang="fr-FR" b="0" i="1" smtClean="0">
                            <a:latin typeface="Cambria Math" panose="02040503050406030204" pitchFamily="18" charset="0"/>
                          </a:rPr>
                          <m:t>𝑛𝑒</m:t>
                        </m:r>
                        <m:r>
                          <a:rPr lang="fr-FR" i="1">
                            <a:latin typeface="Cambria Math" panose="02040503050406030204" pitchFamily="18" charset="0"/>
                          </a:rPr>
                          <m:t>𝑡</m:t>
                        </m:r>
                        <m:r>
                          <a:rPr lang="fr-FR" i="1">
                            <a:latin typeface="Cambria Math" panose="02040503050406030204" pitchFamily="18" charset="0"/>
                          </a:rPr>
                          <m:t>_</m:t>
                        </m:r>
                        <m:r>
                          <a:rPr lang="fr-FR" i="1">
                            <a:latin typeface="Cambria Math" panose="02040503050406030204" pitchFamily="18" charset="0"/>
                          </a:rPr>
                          <m:t>h</m:t>
                        </m:r>
                      </m:den>
                    </m:f>
                    <m:r>
                      <a:rPr lang="fr-FR"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fr-FR" b="0" i="1" smtClean="0">
                            <a:latin typeface="Cambria Math" panose="02040503050406030204" pitchFamily="18" charset="0"/>
                          </a:rPr>
                          <m:t>𝑛𝑒</m:t>
                        </m:r>
                        <m:r>
                          <a:rPr lang="fr-FR" i="1">
                            <a:latin typeface="Cambria Math" panose="02040503050406030204" pitchFamily="18" charset="0"/>
                          </a:rPr>
                          <m:t>𝑡</m:t>
                        </m:r>
                        <m:r>
                          <a:rPr lang="fr-FR" i="1">
                            <a:latin typeface="Cambria Math" panose="02040503050406030204" pitchFamily="18" charset="0"/>
                          </a:rPr>
                          <m:t>_</m:t>
                        </m:r>
                        <m:r>
                          <a:rPr lang="fr-FR" i="1">
                            <a:latin typeface="Cambria Math" panose="02040503050406030204" pitchFamily="18" charset="0"/>
                          </a:rPr>
                          <m:t>h</m:t>
                        </m:r>
                      </m:num>
                      <m:den>
                        <m:r>
                          <a:rPr lang="en-GB" i="1">
                            <a:latin typeface="Cambria Math" panose="02040503050406030204" pitchFamily="18" charset="0"/>
                          </a:rPr>
                          <m:t>𝜕</m:t>
                        </m:r>
                        <m:r>
                          <a:rPr lang="fr-FR" b="0" i="1" smtClean="0">
                            <a:latin typeface="Cambria Math" panose="02040503050406030204" pitchFamily="18" charset="0"/>
                          </a:rPr>
                          <m:t>𝑊</m:t>
                        </m:r>
                        <m:r>
                          <a:rPr lang="fr-FR" b="0" i="1" smtClean="0">
                            <a:latin typeface="Cambria Math" panose="02040503050406030204" pitchFamily="18" charset="0"/>
                          </a:rPr>
                          <m:t>_</m:t>
                        </m:r>
                        <m:r>
                          <a:rPr lang="fr-FR" b="0" i="1" smtClean="0">
                            <a:latin typeface="Cambria Math" panose="02040503050406030204" pitchFamily="18" charset="0"/>
                          </a:rPr>
                          <m:t>𝑖𝑛</m:t>
                        </m:r>
                      </m:den>
                    </m:f>
                  </m:oMath>
                </a14:m>
                <a:endParaRPr lang="en-GB" b="1" dirty="0">
                  <a:latin typeface="Cambria Math" panose="02040503050406030204" pitchFamily="18" charset="0"/>
                </a:endParaRPr>
              </a:p>
              <a:p>
                <a:endParaRPr lang="en-GB" i="1" dirty="0">
                  <a:latin typeface="Cambria Math" panose="02040503050406030204" pitchFamily="18" charset="0"/>
                </a:endParaRPr>
              </a:p>
              <a:p>
                <a14:m>
                  <m:oMath xmlns:m="http://schemas.openxmlformats.org/officeDocument/2006/math">
                    <m:f>
                      <m:fPr>
                        <m:ctrlPr>
                          <a:rPr lang="en-GB" b="1" i="1">
                            <a:latin typeface="Cambria Math" panose="02040503050406030204" pitchFamily="18" charset="0"/>
                          </a:rPr>
                        </m:ctrlPr>
                      </m:fPr>
                      <m:num>
                        <m:r>
                          <a:rPr lang="en-GB" b="1" i="1">
                            <a:latin typeface="Cambria Math" panose="02040503050406030204" pitchFamily="18" charset="0"/>
                          </a:rPr>
                          <m:t>𝝏</m:t>
                        </m:r>
                        <m:r>
                          <a:rPr lang="fr-FR" b="1" i="1">
                            <a:latin typeface="Cambria Math" panose="02040503050406030204" pitchFamily="18" charset="0"/>
                          </a:rPr>
                          <m:t>𝑳𝒐𝒔𝒔</m:t>
                        </m:r>
                      </m:num>
                      <m:den>
                        <m:r>
                          <a:rPr lang="en-GB" b="1" i="1">
                            <a:latin typeface="Cambria Math" panose="02040503050406030204" pitchFamily="18" charset="0"/>
                          </a:rPr>
                          <m:t>𝝏</m:t>
                        </m:r>
                        <m:r>
                          <a:rPr lang="fr-FR" b="1" i="1" smtClean="0">
                            <a:latin typeface="Cambria Math" panose="02040503050406030204" pitchFamily="18" charset="0"/>
                          </a:rPr>
                          <m:t>𝒃</m:t>
                        </m:r>
                        <m:r>
                          <a:rPr lang="fr-FR" b="1" i="1">
                            <a:latin typeface="Cambria Math" panose="02040503050406030204" pitchFamily="18" charset="0"/>
                          </a:rPr>
                          <m:t>_</m:t>
                        </m:r>
                        <m:r>
                          <a:rPr lang="fr-FR" b="1" i="1">
                            <a:latin typeface="Cambria Math" panose="02040503050406030204" pitchFamily="18" charset="0"/>
                          </a:rPr>
                          <m:t>𝒊𝒏</m:t>
                        </m:r>
                      </m:den>
                    </m:f>
                    <m:r>
                      <a:rPr lang="fr-FR" b="1">
                        <a:latin typeface="Cambria Math" panose="02040503050406030204" pitchFamily="18" charset="0"/>
                      </a:rPr>
                      <m:t>=</m:t>
                    </m:r>
                  </m:oMath>
                </a14:m>
                <a:r>
                  <a:rPr lang="en-GB" dirty="0"/>
                  <a:t> </a:t>
                </a:r>
                <a14:m>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𝐿𝑜𝑠𝑠</m:t>
                        </m:r>
                      </m:num>
                      <m:den>
                        <m:r>
                          <a:rPr lang="en-GB" i="1">
                            <a:latin typeface="Cambria Math" panose="02040503050406030204" pitchFamily="18" charset="0"/>
                          </a:rPr>
                          <m:t>𝜕</m:t>
                        </m:r>
                        <m:r>
                          <a:rPr lang="en-GB" i="1">
                            <a:latin typeface="Cambria Math" panose="02040503050406030204" pitchFamily="18" charset="0"/>
                          </a:rPr>
                          <m:t>𝑜𝑢𝑡</m:t>
                        </m:r>
                        <m:r>
                          <a:rPr lang="en-GB" i="1">
                            <a:latin typeface="Cambria Math" panose="02040503050406030204" pitchFamily="18" charset="0"/>
                          </a:rPr>
                          <m:t>_</m:t>
                        </m:r>
                        <m:r>
                          <a:rPr lang="en-GB" i="1">
                            <a:latin typeface="Cambria Math" panose="02040503050406030204" pitchFamily="18" charset="0"/>
                          </a:rPr>
                          <m:t>𝑜</m:t>
                        </m:r>
                      </m:den>
                    </m:f>
                    <m:r>
                      <a:rPr lang="fr-FR" i="1">
                        <a:latin typeface="Cambria Math" panose="02040503050406030204" pitchFamily="18" charset="0"/>
                      </a:rPr>
                      <m:t>∗</m:t>
                    </m:r>
                  </m:oMath>
                </a14:m>
                <a:r>
                  <a:rPr lang="en-GB" dirty="0"/>
                  <a:t> </a:t>
                </a:r>
                <a14:m>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m:t>
                        </m:r>
                        <m:r>
                          <a:rPr lang="fr-FR" i="1">
                            <a:latin typeface="Cambria Math" panose="02040503050406030204" pitchFamily="18" charset="0"/>
                          </a:rPr>
                          <m:t>𝑜𝑢𝑡</m:t>
                        </m:r>
                        <m:r>
                          <a:rPr lang="fr-FR" i="1">
                            <a:latin typeface="Cambria Math" panose="02040503050406030204" pitchFamily="18" charset="0"/>
                          </a:rPr>
                          <m:t>_</m:t>
                        </m:r>
                        <m:r>
                          <a:rPr lang="fr-FR" i="1">
                            <a:latin typeface="Cambria Math" panose="02040503050406030204" pitchFamily="18" charset="0"/>
                          </a:rPr>
                          <m:t>𝑜</m:t>
                        </m:r>
                      </m:num>
                      <m:den>
                        <m:r>
                          <a:rPr lang="en-GB" i="1">
                            <a:latin typeface="Cambria Math" panose="02040503050406030204" pitchFamily="18" charset="0"/>
                          </a:rPr>
                          <m:t>𝜕</m:t>
                        </m:r>
                        <m:r>
                          <a:rPr lang="fr-FR" i="1">
                            <a:latin typeface="Cambria Math" panose="02040503050406030204" pitchFamily="18" charset="0"/>
                          </a:rPr>
                          <m:t>𝑛𝑒𝑡</m:t>
                        </m:r>
                        <m:r>
                          <a:rPr lang="fr-FR" i="1">
                            <a:latin typeface="Cambria Math" panose="02040503050406030204" pitchFamily="18" charset="0"/>
                          </a:rPr>
                          <m:t>_</m:t>
                        </m:r>
                        <m:r>
                          <a:rPr lang="fr-FR" i="1">
                            <a:latin typeface="Cambria Math" panose="02040503050406030204" pitchFamily="18" charset="0"/>
                          </a:rPr>
                          <m:t>𝑜</m:t>
                        </m:r>
                      </m:den>
                    </m:f>
                    <m:r>
                      <a:rPr lang="fr-FR"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fr-FR" i="1">
                            <a:latin typeface="Cambria Math" panose="02040503050406030204" pitchFamily="18" charset="0"/>
                          </a:rPr>
                          <m:t>𝑛𝑒𝑡</m:t>
                        </m:r>
                        <m:r>
                          <a:rPr lang="fr-FR" i="1">
                            <a:latin typeface="Cambria Math" panose="02040503050406030204" pitchFamily="18" charset="0"/>
                          </a:rPr>
                          <m:t>_</m:t>
                        </m:r>
                        <m:r>
                          <a:rPr lang="fr-FR" i="1">
                            <a:latin typeface="Cambria Math" panose="02040503050406030204" pitchFamily="18" charset="0"/>
                          </a:rPr>
                          <m:t>𝑜</m:t>
                        </m:r>
                      </m:num>
                      <m:den>
                        <m:r>
                          <a:rPr lang="en-GB" i="1">
                            <a:latin typeface="Cambria Math" panose="02040503050406030204" pitchFamily="18" charset="0"/>
                          </a:rPr>
                          <m:t>𝜕</m:t>
                        </m:r>
                        <m:r>
                          <a:rPr lang="fr-FR" i="1">
                            <a:latin typeface="Cambria Math" panose="02040503050406030204" pitchFamily="18" charset="0"/>
                          </a:rPr>
                          <m:t>𝑜𝑢𝑡</m:t>
                        </m:r>
                        <m:r>
                          <a:rPr lang="fr-FR" i="1">
                            <a:latin typeface="Cambria Math" panose="02040503050406030204" pitchFamily="18" charset="0"/>
                          </a:rPr>
                          <m:t>_</m:t>
                        </m:r>
                        <m:r>
                          <a:rPr lang="fr-FR" i="1">
                            <a:latin typeface="Cambria Math" panose="02040503050406030204" pitchFamily="18" charset="0"/>
                          </a:rPr>
                          <m:t>h</m:t>
                        </m:r>
                      </m:den>
                    </m:f>
                    <m:r>
                      <a:rPr lang="fr-FR"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fr-FR" i="1">
                            <a:latin typeface="Cambria Math" panose="02040503050406030204" pitchFamily="18" charset="0"/>
                          </a:rPr>
                          <m:t>𝑜𝑢𝑡</m:t>
                        </m:r>
                        <m:r>
                          <a:rPr lang="fr-FR" i="1">
                            <a:latin typeface="Cambria Math" panose="02040503050406030204" pitchFamily="18" charset="0"/>
                          </a:rPr>
                          <m:t>_</m:t>
                        </m:r>
                        <m:r>
                          <a:rPr lang="fr-FR" i="1">
                            <a:latin typeface="Cambria Math" panose="02040503050406030204" pitchFamily="18" charset="0"/>
                          </a:rPr>
                          <m:t>h</m:t>
                        </m:r>
                      </m:num>
                      <m:den>
                        <m:r>
                          <a:rPr lang="en-GB" i="1">
                            <a:latin typeface="Cambria Math" panose="02040503050406030204" pitchFamily="18" charset="0"/>
                          </a:rPr>
                          <m:t>𝜕</m:t>
                        </m:r>
                        <m:r>
                          <a:rPr lang="fr-FR" i="1">
                            <a:latin typeface="Cambria Math" panose="02040503050406030204" pitchFamily="18" charset="0"/>
                          </a:rPr>
                          <m:t>𝑛𝑒𝑡</m:t>
                        </m:r>
                        <m:r>
                          <a:rPr lang="fr-FR" i="1">
                            <a:latin typeface="Cambria Math" panose="02040503050406030204" pitchFamily="18" charset="0"/>
                          </a:rPr>
                          <m:t>_</m:t>
                        </m:r>
                        <m:r>
                          <a:rPr lang="fr-FR" i="1">
                            <a:latin typeface="Cambria Math" panose="02040503050406030204" pitchFamily="18" charset="0"/>
                          </a:rPr>
                          <m:t>h</m:t>
                        </m:r>
                      </m:den>
                    </m:f>
                    <m:r>
                      <a:rPr lang="fr-FR"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fr-FR" i="1">
                            <a:latin typeface="Cambria Math" panose="02040503050406030204" pitchFamily="18" charset="0"/>
                          </a:rPr>
                          <m:t>𝑛𝑒𝑡</m:t>
                        </m:r>
                        <m:r>
                          <a:rPr lang="fr-FR" i="1">
                            <a:latin typeface="Cambria Math" panose="02040503050406030204" pitchFamily="18" charset="0"/>
                          </a:rPr>
                          <m:t>_</m:t>
                        </m:r>
                        <m:r>
                          <a:rPr lang="fr-FR" i="1">
                            <a:latin typeface="Cambria Math" panose="02040503050406030204" pitchFamily="18" charset="0"/>
                          </a:rPr>
                          <m:t>h</m:t>
                        </m:r>
                      </m:num>
                      <m:den>
                        <m:r>
                          <a:rPr lang="en-GB" i="1">
                            <a:latin typeface="Cambria Math" panose="02040503050406030204" pitchFamily="18" charset="0"/>
                          </a:rPr>
                          <m:t>𝜕</m:t>
                        </m:r>
                        <m:r>
                          <a:rPr lang="fr-FR" b="0" i="1" smtClean="0">
                            <a:latin typeface="Cambria Math" panose="02040503050406030204" pitchFamily="18" charset="0"/>
                          </a:rPr>
                          <m:t>𝑏</m:t>
                        </m:r>
                        <m:r>
                          <a:rPr lang="fr-FR" i="1">
                            <a:latin typeface="Cambria Math" panose="02040503050406030204" pitchFamily="18" charset="0"/>
                          </a:rPr>
                          <m:t>_</m:t>
                        </m:r>
                        <m:r>
                          <a:rPr lang="fr-FR" i="1">
                            <a:latin typeface="Cambria Math" panose="02040503050406030204" pitchFamily="18" charset="0"/>
                          </a:rPr>
                          <m:t>𝑖𝑛</m:t>
                        </m:r>
                      </m:den>
                    </m:f>
                  </m:oMath>
                </a14:m>
                <a:endParaRPr lang="en-GB" b="1" dirty="0">
                  <a:latin typeface="Cambria Math" panose="02040503050406030204" pitchFamily="18" charset="0"/>
                </a:endParaRPr>
              </a:p>
              <a:p>
                <a:endParaRPr lang="en-GB"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f>
                        <m:fPr>
                          <m:ctrlPr>
                            <a:rPr lang="en-GB" sz="1100" i="1">
                              <a:latin typeface="Cambria Math" panose="02040503050406030204" pitchFamily="18" charset="0"/>
                            </a:rPr>
                          </m:ctrlPr>
                        </m:fPr>
                        <m:num>
                          <m:r>
                            <a:rPr lang="en-GB" sz="1100" i="1">
                              <a:latin typeface="Cambria Math" panose="02040503050406030204" pitchFamily="18" charset="0"/>
                            </a:rPr>
                            <m:t>𝜕</m:t>
                          </m:r>
                          <m:r>
                            <a:rPr lang="en-GB" sz="1100" i="1">
                              <a:latin typeface="Cambria Math" panose="02040503050406030204" pitchFamily="18" charset="0"/>
                            </a:rPr>
                            <m:t>𝐿𝑜𝑠𝑠</m:t>
                          </m:r>
                        </m:num>
                        <m:den>
                          <m:r>
                            <a:rPr lang="en-GB" sz="1100" i="1">
                              <a:latin typeface="Cambria Math" panose="02040503050406030204" pitchFamily="18" charset="0"/>
                            </a:rPr>
                            <m:t>𝜕</m:t>
                          </m:r>
                          <m:r>
                            <a:rPr lang="en-GB" sz="1100" i="1">
                              <a:latin typeface="Cambria Math" panose="02040503050406030204" pitchFamily="18" charset="0"/>
                            </a:rPr>
                            <m:t>𝑜𝑢𝑡</m:t>
                          </m:r>
                          <m:r>
                            <a:rPr lang="en-GB" sz="1100" i="1">
                              <a:latin typeface="Cambria Math" panose="02040503050406030204" pitchFamily="18" charset="0"/>
                            </a:rPr>
                            <m:t>_</m:t>
                          </m:r>
                          <m:r>
                            <a:rPr lang="en-GB" sz="1100" i="1">
                              <a:latin typeface="Cambria Math" panose="02040503050406030204" pitchFamily="18" charset="0"/>
                            </a:rPr>
                            <m:t>𝑜</m:t>
                          </m:r>
                        </m:den>
                      </m:f>
                      <m:r>
                        <a:rPr lang="fr-FR" sz="1100" i="1">
                          <a:latin typeface="Cambria Math" panose="02040503050406030204" pitchFamily="18" charset="0"/>
                        </a:rPr>
                        <m:t>∗</m:t>
                      </m:r>
                      <m:r>
                        <m:rPr>
                          <m:nor/>
                        </m:rPr>
                        <a:rPr lang="en-GB" sz="1100" dirty="0"/>
                        <m:t> </m:t>
                      </m:r>
                      <m:f>
                        <m:fPr>
                          <m:ctrlPr>
                            <a:rPr lang="en-GB" sz="1100" i="1">
                              <a:latin typeface="Cambria Math" panose="02040503050406030204" pitchFamily="18" charset="0"/>
                            </a:rPr>
                          </m:ctrlPr>
                        </m:fPr>
                        <m:num>
                          <m:r>
                            <a:rPr lang="en-GB" sz="1100" i="1">
                              <a:latin typeface="Cambria Math" panose="02040503050406030204" pitchFamily="18" charset="0"/>
                            </a:rPr>
                            <m:t>𝜕</m:t>
                          </m:r>
                          <m:r>
                            <a:rPr lang="fr-FR" sz="1100" i="1">
                              <a:latin typeface="Cambria Math" panose="02040503050406030204" pitchFamily="18" charset="0"/>
                            </a:rPr>
                            <m:t>𝑜𝑢</m:t>
                          </m:r>
                          <m:r>
                            <a:rPr lang="fr-FR" sz="1100" b="0" i="1" smtClean="0">
                              <a:latin typeface="Cambria Math" panose="02040503050406030204" pitchFamily="18" charset="0"/>
                            </a:rPr>
                            <m:t>𝑡</m:t>
                          </m:r>
                          <m:r>
                            <a:rPr lang="fr-FR" sz="1100" b="0" i="1" smtClean="0">
                              <a:latin typeface="Cambria Math" panose="02040503050406030204" pitchFamily="18" charset="0"/>
                            </a:rPr>
                            <m:t>_</m:t>
                          </m:r>
                          <m:r>
                            <a:rPr lang="fr-FR" sz="1100" b="0" i="1" smtClean="0">
                              <a:latin typeface="Cambria Math" panose="02040503050406030204" pitchFamily="18" charset="0"/>
                            </a:rPr>
                            <m:t>𝑜</m:t>
                          </m:r>
                        </m:num>
                        <m:den>
                          <m:r>
                            <a:rPr lang="en-GB" sz="1100" i="1">
                              <a:latin typeface="Cambria Math" panose="02040503050406030204" pitchFamily="18" charset="0"/>
                            </a:rPr>
                            <m:t>𝜕</m:t>
                          </m:r>
                          <m:r>
                            <a:rPr lang="fr-FR" sz="1100" i="1">
                              <a:latin typeface="Cambria Math" panose="02040503050406030204" pitchFamily="18" charset="0"/>
                            </a:rPr>
                            <m:t>𝑛𝑒</m:t>
                          </m:r>
                          <m:r>
                            <a:rPr lang="fr-FR" sz="1100" b="0" i="1" smtClean="0">
                              <a:latin typeface="Cambria Math" panose="02040503050406030204" pitchFamily="18" charset="0"/>
                            </a:rPr>
                            <m:t>𝑡</m:t>
                          </m:r>
                          <m:r>
                            <a:rPr lang="fr-FR" sz="1100" b="0" i="1" smtClean="0">
                              <a:latin typeface="Cambria Math" panose="02040503050406030204" pitchFamily="18" charset="0"/>
                            </a:rPr>
                            <m:t>_</m:t>
                          </m:r>
                          <m:r>
                            <a:rPr lang="fr-FR" sz="1100" b="0" i="1" smtClean="0">
                              <a:latin typeface="Cambria Math" panose="02040503050406030204" pitchFamily="18" charset="0"/>
                            </a:rPr>
                            <m:t>𝑜</m:t>
                          </m:r>
                        </m:den>
                      </m:f>
                      <m:r>
                        <a:rPr lang="en-GB" sz="1100" b="0" i="1" smtClean="0">
                          <a:latin typeface="Cambria Math" panose="02040503050406030204" pitchFamily="18" charset="0"/>
                        </a:rPr>
                        <m:t>=−2 </m:t>
                      </m:r>
                      <m:d>
                        <m:dPr>
                          <m:ctrlPr>
                            <a:rPr lang="en-GB" sz="1100" b="0" i="1" smtClean="0">
                              <a:latin typeface="Cambria Math" panose="02040503050406030204" pitchFamily="18" charset="0"/>
                            </a:rPr>
                          </m:ctrlPr>
                        </m:dPr>
                        <m:e>
                          <m:r>
                            <a:rPr lang="en-GB" sz="1100" b="0" i="1" smtClean="0">
                              <a:latin typeface="Cambria Math" panose="02040503050406030204" pitchFamily="18" charset="0"/>
                            </a:rPr>
                            <m:t>𝑡𝑎𝑟𝑔𝑒𝑡</m:t>
                          </m:r>
                          <m:r>
                            <a:rPr lang="en-GB" sz="1100" b="0" i="1" smtClean="0">
                              <a:latin typeface="Cambria Math" panose="02040503050406030204" pitchFamily="18" charset="0"/>
                            </a:rPr>
                            <m:t> −</m:t>
                          </m:r>
                          <m:r>
                            <a:rPr lang="en-GB" sz="1100" b="0" i="1" smtClean="0">
                              <a:latin typeface="Cambria Math" panose="02040503050406030204" pitchFamily="18" charset="0"/>
                            </a:rPr>
                            <m:t>𝑜𝑢𝑡</m:t>
                          </m:r>
                        </m:e>
                      </m:d>
                      <m:r>
                        <a:rPr lang="fr-FR" sz="1100" b="0" i="0" smtClean="0">
                          <a:latin typeface="Cambria Math" panose="02040503050406030204" pitchFamily="18" charset="0"/>
                        </a:rPr>
                        <m:t>∗</m:t>
                      </m:r>
                      <m:r>
                        <a:rPr lang="fr-FR" sz="1100" i="1">
                          <a:latin typeface="Cambria Math" panose="02040503050406030204" pitchFamily="18" charset="0"/>
                        </a:rPr>
                        <m:t>𝑠𝑖𝑔𝑚𝑜𝑖𝑑</m:t>
                      </m:r>
                      <m:r>
                        <a:rPr lang="fr-FR" sz="1100" i="1">
                          <a:latin typeface="Cambria Math" panose="02040503050406030204" pitchFamily="18" charset="0"/>
                        </a:rPr>
                        <m:t>_</m:t>
                      </m:r>
                      <m:r>
                        <a:rPr lang="fr-FR" sz="1100" i="1">
                          <a:latin typeface="Cambria Math" panose="02040503050406030204" pitchFamily="18" charset="0"/>
                        </a:rPr>
                        <m:t>𝑑𝑒𝑟𝑖𝑣𝑎𝑡𝑖𝑣𝑒</m:t>
                      </m:r>
                      <m:d>
                        <m:dPr>
                          <m:ctrlPr>
                            <a:rPr lang="fr-FR" sz="1100" i="1">
                              <a:latin typeface="Cambria Math" panose="02040503050406030204" pitchFamily="18" charset="0"/>
                            </a:rPr>
                          </m:ctrlPr>
                        </m:dPr>
                        <m:e>
                          <m:r>
                            <a:rPr lang="fr-FR" sz="1100" i="1">
                              <a:latin typeface="Cambria Math" panose="02040503050406030204" pitchFamily="18" charset="0"/>
                            </a:rPr>
                            <m:t>𝑛𝑒𝑡</m:t>
                          </m:r>
                          <m:r>
                            <a:rPr lang="fr-FR" sz="1100" i="1">
                              <a:latin typeface="Cambria Math" panose="02040503050406030204" pitchFamily="18" charset="0"/>
                            </a:rPr>
                            <m:t>_</m:t>
                          </m:r>
                          <m:r>
                            <a:rPr lang="fr-FR" sz="1100" i="1">
                              <a:latin typeface="Cambria Math" panose="02040503050406030204" pitchFamily="18" charset="0"/>
                            </a:rPr>
                            <m:t>𝑜</m:t>
                          </m:r>
                        </m:e>
                      </m:d>
                    </m:oMath>
                  </m:oMathPara>
                </a14:m>
                <a:endParaRPr lang="en-GB" sz="1100" dirty="0"/>
              </a:p>
              <a:p>
                <a:endParaRPr lang="en-GB" sz="1100" dirty="0"/>
              </a:p>
              <a:p>
                <a:pPr/>
                <a14:m>
                  <m:oMathPara xmlns:m="http://schemas.openxmlformats.org/officeDocument/2006/math">
                    <m:oMathParaPr>
                      <m:jc m:val="left"/>
                    </m:oMathParaPr>
                    <m:oMath xmlns:m="http://schemas.openxmlformats.org/officeDocument/2006/math">
                      <m:f>
                        <m:fPr>
                          <m:ctrlPr>
                            <a:rPr lang="en-GB" sz="1100" i="1" smtClean="0">
                              <a:latin typeface="Cambria Math" panose="02040503050406030204" pitchFamily="18" charset="0"/>
                            </a:rPr>
                          </m:ctrlPr>
                        </m:fPr>
                        <m:num>
                          <m:r>
                            <a:rPr lang="en-GB" sz="1100" i="1" smtClean="0">
                              <a:latin typeface="Cambria Math" panose="02040503050406030204" pitchFamily="18" charset="0"/>
                            </a:rPr>
                            <m:t>𝜕</m:t>
                          </m:r>
                          <m:r>
                            <a:rPr lang="fr-FR" sz="1100" b="0" i="1" smtClean="0">
                              <a:latin typeface="Cambria Math" panose="02040503050406030204" pitchFamily="18" charset="0"/>
                            </a:rPr>
                            <m:t>𝑛𝑒𝑡</m:t>
                          </m:r>
                          <m:r>
                            <a:rPr lang="fr-FR" sz="1100" b="0" i="1" smtClean="0">
                              <a:latin typeface="Cambria Math" panose="02040503050406030204" pitchFamily="18" charset="0"/>
                            </a:rPr>
                            <m:t>_</m:t>
                          </m:r>
                          <m:r>
                            <a:rPr lang="fr-FR" sz="1100" b="0" i="1" smtClean="0">
                              <a:latin typeface="Cambria Math" panose="02040503050406030204" pitchFamily="18" charset="0"/>
                            </a:rPr>
                            <m:t>𝑜</m:t>
                          </m:r>
                        </m:num>
                        <m:den>
                          <m:r>
                            <a:rPr lang="en-GB" sz="1100" i="1" smtClean="0">
                              <a:latin typeface="Cambria Math" panose="02040503050406030204" pitchFamily="18" charset="0"/>
                            </a:rPr>
                            <m:t>𝜕</m:t>
                          </m:r>
                          <m:r>
                            <a:rPr lang="fr-FR" sz="1100" b="0" i="1" smtClean="0">
                              <a:latin typeface="Cambria Math" panose="02040503050406030204" pitchFamily="18" charset="0"/>
                            </a:rPr>
                            <m:t>𝑜𝑢𝑡</m:t>
                          </m:r>
                          <m:r>
                            <a:rPr lang="fr-FR" sz="1100" b="0" i="1" smtClean="0">
                              <a:latin typeface="Cambria Math" panose="02040503050406030204" pitchFamily="18" charset="0"/>
                            </a:rPr>
                            <m:t>_</m:t>
                          </m:r>
                          <m:r>
                            <a:rPr lang="fr-FR" sz="1100" b="0" i="1" smtClean="0">
                              <a:latin typeface="Cambria Math" panose="02040503050406030204" pitchFamily="18" charset="0"/>
                            </a:rPr>
                            <m:t>h</m:t>
                          </m:r>
                        </m:den>
                      </m:f>
                      <m:r>
                        <a:rPr lang="fr-FR" sz="1100" b="0" i="1" smtClean="0">
                          <a:latin typeface="Cambria Math" panose="02040503050406030204" pitchFamily="18" charset="0"/>
                        </a:rPr>
                        <m:t>=</m:t>
                      </m:r>
                      <m:f>
                        <m:fPr>
                          <m:ctrlPr>
                            <a:rPr lang="en-GB" sz="1100" i="1">
                              <a:latin typeface="Cambria Math" panose="02040503050406030204" pitchFamily="18" charset="0"/>
                            </a:rPr>
                          </m:ctrlPr>
                        </m:fPr>
                        <m:num>
                          <m:r>
                            <a:rPr lang="en-GB" sz="1100" i="1">
                              <a:latin typeface="Cambria Math" panose="02040503050406030204" pitchFamily="18" charset="0"/>
                            </a:rPr>
                            <m:t>𝜕</m:t>
                          </m:r>
                          <m:d>
                            <m:dPr>
                              <m:ctrlPr>
                                <a:rPr lang="fr-FR" sz="1100" b="0" i="1" smtClean="0">
                                  <a:latin typeface="Cambria Math" panose="02040503050406030204" pitchFamily="18" charset="0"/>
                                </a:rPr>
                              </m:ctrlPr>
                            </m:dPr>
                            <m:e>
                              <m:r>
                                <a:rPr lang="fr-FR" sz="1100" i="1">
                                  <a:latin typeface="Cambria Math" panose="02040503050406030204" pitchFamily="18" charset="0"/>
                                </a:rPr>
                                <m:t>𝑙𝑖𝑛𝑒𝑎𝑟</m:t>
                              </m:r>
                              <m:r>
                                <a:rPr lang="fr-FR" sz="1100" i="1">
                                  <a:latin typeface="Cambria Math" panose="02040503050406030204" pitchFamily="18" charset="0"/>
                                </a:rPr>
                                <m:t>(</m:t>
                              </m:r>
                              <m:r>
                                <a:rPr lang="fr-FR" sz="1100" i="1">
                                  <a:latin typeface="Cambria Math" panose="02040503050406030204" pitchFamily="18" charset="0"/>
                                </a:rPr>
                                <m:t>𝑊</m:t>
                              </m:r>
                              <m:r>
                                <a:rPr lang="fr-FR" sz="1100" i="1">
                                  <a:latin typeface="Cambria Math" panose="02040503050406030204" pitchFamily="18" charset="0"/>
                                </a:rPr>
                                <m:t>_</m:t>
                              </m:r>
                              <m:r>
                                <a:rPr lang="fr-FR" sz="1100" i="1">
                                  <a:latin typeface="Cambria Math" panose="02040503050406030204" pitchFamily="18" charset="0"/>
                                </a:rPr>
                                <m:t>𝑜𝑢𝑡</m:t>
                              </m:r>
                              <m:r>
                                <a:rPr lang="fr-FR" sz="1100" i="1">
                                  <a:latin typeface="Cambria Math" panose="02040503050406030204" pitchFamily="18" charset="0"/>
                                </a:rPr>
                                <m:t>.</m:t>
                              </m:r>
                              <m:r>
                                <a:rPr lang="fr-FR" sz="1100" i="1">
                                  <a:latin typeface="Cambria Math" panose="02040503050406030204" pitchFamily="18" charset="0"/>
                                </a:rPr>
                                <m:t>𝑜𝑢𝑡</m:t>
                              </m:r>
                              <m:r>
                                <a:rPr lang="fr-FR" sz="1100" i="1">
                                  <a:latin typeface="Cambria Math" panose="02040503050406030204" pitchFamily="18" charset="0"/>
                                </a:rPr>
                                <m:t>_</m:t>
                              </m:r>
                              <m:r>
                                <a:rPr lang="fr-FR" sz="1100" i="1">
                                  <a:latin typeface="Cambria Math" panose="02040503050406030204" pitchFamily="18" charset="0"/>
                                </a:rPr>
                                <m:t>h</m:t>
                              </m:r>
                              <m:r>
                                <a:rPr lang="fr-FR" sz="1100" i="1">
                                  <a:latin typeface="Cambria Math" panose="02040503050406030204" pitchFamily="18" charset="0"/>
                                </a:rPr>
                                <m:t>+</m:t>
                              </m:r>
                              <m:r>
                                <a:rPr lang="fr-FR" sz="1100" i="1">
                                  <a:latin typeface="Cambria Math" panose="02040503050406030204" pitchFamily="18" charset="0"/>
                                </a:rPr>
                                <m:t>𝑏</m:t>
                              </m:r>
                              <m:r>
                                <a:rPr lang="fr-FR" sz="1100" i="1">
                                  <a:latin typeface="Cambria Math" panose="02040503050406030204" pitchFamily="18" charset="0"/>
                                </a:rPr>
                                <m:t>_</m:t>
                              </m:r>
                              <m:r>
                                <a:rPr lang="fr-FR" sz="1100" i="1">
                                  <a:latin typeface="Cambria Math" panose="02040503050406030204" pitchFamily="18" charset="0"/>
                                </a:rPr>
                                <m:t>𝑜𝑢𝑡</m:t>
                              </m:r>
                              <m:r>
                                <a:rPr lang="fr-FR" sz="1100" i="1">
                                  <a:latin typeface="Cambria Math" panose="02040503050406030204" pitchFamily="18" charset="0"/>
                                </a:rPr>
                                <m:t>)</m:t>
                              </m:r>
                            </m:e>
                          </m:d>
                        </m:num>
                        <m:den>
                          <m:r>
                            <a:rPr lang="en-GB" sz="1100" i="1">
                              <a:latin typeface="Cambria Math" panose="02040503050406030204" pitchFamily="18" charset="0"/>
                            </a:rPr>
                            <m:t>𝜕</m:t>
                          </m:r>
                          <m:r>
                            <a:rPr lang="fr-FR" sz="1100" b="0" i="1" smtClean="0">
                              <a:latin typeface="Cambria Math" panose="02040503050406030204" pitchFamily="18" charset="0"/>
                            </a:rPr>
                            <m:t>𝑜𝑢</m:t>
                          </m:r>
                          <m:r>
                            <a:rPr lang="en-GB" sz="1100" i="1">
                              <a:latin typeface="Cambria Math" panose="02040503050406030204" pitchFamily="18" charset="0"/>
                            </a:rPr>
                            <m:t>𝑡</m:t>
                          </m:r>
                          <m:r>
                            <a:rPr lang="en-GB" sz="1100" i="1">
                              <a:latin typeface="Cambria Math" panose="02040503050406030204" pitchFamily="18" charset="0"/>
                            </a:rPr>
                            <m:t>_</m:t>
                          </m:r>
                          <m:r>
                            <a:rPr lang="fr-FR" sz="1100" b="0" i="1" smtClean="0">
                              <a:latin typeface="Cambria Math" panose="02040503050406030204" pitchFamily="18" charset="0"/>
                            </a:rPr>
                            <m:t>h</m:t>
                          </m:r>
                        </m:den>
                      </m:f>
                      <m:r>
                        <a:rPr lang="fr-FR" sz="1100" b="0" i="1" smtClean="0">
                          <a:latin typeface="Cambria Math" panose="02040503050406030204" pitchFamily="18" charset="0"/>
                        </a:rPr>
                        <m:t>=</m:t>
                      </m:r>
                      <m:r>
                        <a:rPr lang="fr-FR" sz="1100" b="0" i="1" smtClean="0">
                          <a:latin typeface="Cambria Math" panose="02040503050406030204" pitchFamily="18" charset="0"/>
                        </a:rPr>
                        <m:t>𝑊</m:t>
                      </m:r>
                      <m:r>
                        <a:rPr lang="fr-FR" sz="1100" b="0" i="1" smtClean="0">
                          <a:latin typeface="Cambria Math" panose="02040503050406030204" pitchFamily="18" charset="0"/>
                        </a:rPr>
                        <m:t>_</m:t>
                      </m:r>
                      <m:r>
                        <a:rPr lang="fr-FR" sz="1100" b="0" i="1" smtClean="0">
                          <a:latin typeface="Cambria Math" panose="02040503050406030204" pitchFamily="18" charset="0"/>
                        </a:rPr>
                        <m:t>𝑜𝑢𝑡</m:t>
                      </m:r>
                    </m:oMath>
                  </m:oMathPara>
                </a14:m>
                <a:endParaRPr lang="fr-FR" sz="1100" b="0" dirty="0"/>
              </a:p>
              <a:p>
                <a:endParaRPr lang="en-GB" sz="1100" dirty="0"/>
              </a:p>
              <a:p>
                <a:pPr/>
                <a14:m>
                  <m:oMathPara xmlns:m="http://schemas.openxmlformats.org/officeDocument/2006/math">
                    <m:oMathParaPr>
                      <m:jc m:val="left"/>
                    </m:oMathParaPr>
                    <m:oMath xmlns:m="http://schemas.openxmlformats.org/officeDocument/2006/math">
                      <m:f>
                        <m:fPr>
                          <m:ctrlPr>
                            <a:rPr lang="en-GB" sz="1100" i="1" smtClean="0">
                              <a:latin typeface="Cambria Math" panose="02040503050406030204" pitchFamily="18" charset="0"/>
                            </a:rPr>
                          </m:ctrlPr>
                        </m:fPr>
                        <m:num>
                          <m:r>
                            <a:rPr lang="en-GB" sz="1100" i="1" smtClean="0">
                              <a:latin typeface="Cambria Math" panose="02040503050406030204" pitchFamily="18" charset="0"/>
                            </a:rPr>
                            <m:t>𝜕</m:t>
                          </m:r>
                          <m:r>
                            <a:rPr lang="fr-FR" sz="1100" b="0" i="1" smtClean="0">
                              <a:latin typeface="Cambria Math" panose="02040503050406030204" pitchFamily="18" charset="0"/>
                            </a:rPr>
                            <m:t>𝑜𝑢𝑡</m:t>
                          </m:r>
                          <m:r>
                            <a:rPr lang="fr-FR" sz="1100" b="0" i="1" smtClean="0">
                              <a:latin typeface="Cambria Math" panose="02040503050406030204" pitchFamily="18" charset="0"/>
                            </a:rPr>
                            <m:t>_</m:t>
                          </m:r>
                          <m:r>
                            <a:rPr lang="fr-FR" sz="1100" b="0" i="1" smtClean="0">
                              <a:latin typeface="Cambria Math" panose="02040503050406030204" pitchFamily="18" charset="0"/>
                            </a:rPr>
                            <m:t>h</m:t>
                          </m:r>
                        </m:num>
                        <m:den>
                          <m:r>
                            <a:rPr lang="en-GB" sz="1100" i="1" smtClean="0">
                              <a:latin typeface="Cambria Math" panose="02040503050406030204" pitchFamily="18" charset="0"/>
                            </a:rPr>
                            <m:t>𝜕</m:t>
                          </m:r>
                          <m:r>
                            <a:rPr lang="fr-FR" sz="1100" b="0" i="1" smtClean="0">
                              <a:latin typeface="Cambria Math" panose="02040503050406030204" pitchFamily="18" charset="0"/>
                            </a:rPr>
                            <m:t>𝑛𝑒𝑡</m:t>
                          </m:r>
                          <m:r>
                            <a:rPr lang="fr-FR" sz="1100" b="0" i="1" smtClean="0">
                              <a:latin typeface="Cambria Math" panose="02040503050406030204" pitchFamily="18" charset="0"/>
                            </a:rPr>
                            <m:t>_</m:t>
                          </m:r>
                          <m:r>
                            <a:rPr lang="fr-FR" sz="1100" b="0" i="1" smtClean="0">
                              <a:latin typeface="Cambria Math" panose="02040503050406030204" pitchFamily="18" charset="0"/>
                            </a:rPr>
                            <m:t>h</m:t>
                          </m:r>
                        </m:den>
                      </m:f>
                      <m:r>
                        <a:rPr lang="fr-FR" sz="1100" b="0" i="1" smtClean="0">
                          <a:latin typeface="Cambria Math" panose="02040503050406030204" pitchFamily="18" charset="0"/>
                        </a:rPr>
                        <m:t>=</m:t>
                      </m:r>
                      <m:f>
                        <m:fPr>
                          <m:ctrlPr>
                            <a:rPr lang="en-GB" sz="1100" i="1">
                              <a:latin typeface="Cambria Math" panose="02040503050406030204" pitchFamily="18" charset="0"/>
                            </a:rPr>
                          </m:ctrlPr>
                        </m:fPr>
                        <m:num>
                          <m:r>
                            <a:rPr lang="en-GB" sz="1100" i="1">
                              <a:latin typeface="Cambria Math" panose="02040503050406030204" pitchFamily="18" charset="0"/>
                            </a:rPr>
                            <m:t>𝜕</m:t>
                          </m:r>
                          <m:r>
                            <a:rPr lang="fr-FR" sz="1100" b="0" i="1" smtClean="0">
                              <a:latin typeface="Cambria Math" panose="02040503050406030204" pitchFamily="18" charset="0"/>
                            </a:rPr>
                            <m:t>(</m:t>
                          </m:r>
                          <m:r>
                            <a:rPr lang="fr-FR" sz="1100" b="0" i="1" smtClean="0">
                              <a:latin typeface="Cambria Math" panose="02040503050406030204" pitchFamily="18" charset="0"/>
                            </a:rPr>
                            <m:t>𝑟𝑒𝐿𝑈</m:t>
                          </m:r>
                          <m:r>
                            <a:rPr lang="fr-FR" sz="1100" b="0" i="1" smtClean="0">
                              <a:latin typeface="Cambria Math" panose="02040503050406030204" pitchFamily="18" charset="0"/>
                            </a:rPr>
                            <m:t>(</m:t>
                          </m:r>
                          <m:r>
                            <a:rPr lang="fr-FR" sz="1100" b="0" i="1" smtClean="0">
                              <a:latin typeface="Cambria Math" panose="02040503050406030204" pitchFamily="18" charset="0"/>
                            </a:rPr>
                            <m:t>𝑛𝑒𝑡</m:t>
                          </m:r>
                          <m:r>
                            <a:rPr lang="fr-FR" sz="1100" b="0" i="1" smtClean="0">
                              <a:latin typeface="Cambria Math" panose="02040503050406030204" pitchFamily="18" charset="0"/>
                            </a:rPr>
                            <m:t>_</m:t>
                          </m:r>
                          <m:r>
                            <a:rPr lang="fr-FR" sz="1100" b="0" i="1" smtClean="0">
                              <a:latin typeface="Cambria Math" panose="02040503050406030204" pitchFamily="18" charset="0"/>
                            </a:rPr>
                            <m:t>h</m:t>
                          </m:r>
                          <m:r>
                            <a:rPr lang="fr-FR" sz="1100" b="0" i="1" smtClean="0">
                              <a:latin typeface="Cambria Math" panose="02040503050406030204" pitchFamily="18" charset="0"/>
                            </a:rPr>
                            <m:t>))</m:t>
                          </m:r>
                        </m:num>
                        <m:den>
                          <m:r>
                            <a:rPr lang="en-GB" sz="1100" i="1">
                              <a:latin typeface="Cambria Math" panose="02040503050406030204" pitchFamily="18" charset="0"/>
                            </a:rPr>
                            <m:t>𝜕</m:t>
                          </m:r>
                          <m:r>
                            <a:rPr lang="fr-FR" sz="1100" b="0" i="1" smtClean="0">
                              <a:latin typeface="Cambria Math" panose="02040503050406030204" pitchFamily="18" charset="0"/>
                            </a:rPr>
                            <m:t>𝑛𝑒𝑡</m:t>
                          </m:r>
                          <m:r>
                            <a:rPr lang="fr-FR" sz="1100" i="1">
                              <a:latin typeface="Cambria Math" panose="02040503050406030204" pitchFamily="18" charset="0"/>
                            </a:rPr>
                            <m:t>_</m:t>
                          </m:r>
                          <m:r>
                            <a:rPr lang="fr-FR" sz="1100" b="0" i="1" smtClean="0">
                              <a:latin typeface="Cambria Math" panose="02040503050406030204" pitchFamily="18" charset="0"/>
                            </a:rPr>
                            <m:t>h</m:t>
                          </m:r>
                        </m:den>
                      </m:f>
                      <m:r>
                        <a:rPr lang="fr-FR" sz="1100" b="0" i="1" smtClean="0">
                          <a:latin typeface="Cambria Math" panose="02040503050406030204" pitchFamily="18" charset="0"/>
                        </a:rPr>
                        <m:t>=</m:t>
                      </m:r>
                      <m:r>
                        <a:rPr lang="fr-FR" sz="1100" b="0" i="1" smtClean="0">
                          <a:latin typeface="Cambria Math" panose="02040503050406030204" pitchFamily="18" charset="0"/>
                        </a:rPr>
                        <m:t>𝑟𝑒𝐿𝑈</m:t>
                      </m:r>
                      <m:r>
                        <a:rPr lang="fr-FR" sz="1100" b="0" i="1" smtClean="0">
                          <a:latin typeface="Cambria Math" panose="02040503050406030204" pitchFamily="18" charset="0"/>
                        </a:rPr>
                        <m:t>_</m:t>
                      </m:r>
                      <m:r>
                        <a:rPr lang="fr-FR" sz="1100" b="0" i="1" smtClean="0">
                          <a:latin typeface="Cambria Math" panose="02040503050406030204" pitchFamily="18" charset="0"/>
                        </a:rPr>
                        <m:t>𝑑𝑒𝑟𝑖𝑣𝑎𝑡𝑖𝑣𝑒</m:t>
                      </m:r>
                      <m:r>
                        <a:rPr lang="fr-FR" sz="1100" b="0" i="1" smtClean="0">
                          <a:latin typeface="Cambria Math" panose="02040503050406030204" pitchFamily="18" charset="0"/>
                        </a:rPr>
                        <m:t>(</m:t>
                      </m:r>
                      <m:r>
                        <a:rPr lang="fr-FR" sz="1100" b="0" i="1" smtClean="0">
                          <a:latin typeface="Cambria Math" panose="02040503050406030204" pitchFamily="18" charset="0"/>
                        </a:rPr>
                        <m:t>𝑛𝑒𝑡</m:t>
                      </m:r>
                      <m:r>
                        <a:rPr lang="fr-FR" sz="1100" b="0" i="1" smtClean="0">
                          <a:latin typeface="Cambria Math" panose="02040503050406030204" pitchFamily="18" charset="0"/>
                        </a:rPr>
                        <m:t>_</m:t>
                      </m:r>
                      <m:r>
                        <a:rPr lang="fr-FR" sz="1100" b="0" i="1" smtClean="0">
                          <a:latin typeface="Cambria Math" panose="02040503050406030204" pitchFamily="18" charset="0"/>
                        </a:rPr>
                        <m:t>h</m:t>
                      </m:r>
                      <m:r>
                        <a:rPr lang="fr-FR" sz="1100" b="0" i="1" smtClean="0">
                          <a:latin typeface="Cambria Math" panose="02040503050406030204" pitchFamily="18" charset="0"/>
                        </a:rPr>
                        <m:t>)</m:t>
                      </m:r>
                    </m:oMath>
                  </m:oMathPara>
                </a14:m>
                <a:endParaRPr lang="en-GB" sz="1100" dirty="0"/>
              </a:p>
              <a:p>
                <a:endParaRPr lang="en-GB" sz="11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f>
                        <m:fPr>
                          <m:ctrlPr>
                            <a:rPr lang="en-GB" sz="1100" i="1" smtClean="0">
                              <a:latin typeface="Cambria Math" panose="02040503050406030204" pitchFamily="18" charset="0"/>
                            </a:rPr>
                          </m:ctrlPr>
                        </m:fPr>
                        <m:num>
                          <m:r>
                            <a:rPr lang="en-GB" sz="1100" i="1" smtClean="0">
                              <a:latin typeface="Cambria Math" panose="02040503050406030204" pitchFamily="18" charset="0"/>
                            </a:rPr>
                            <m:t>𝜕</m:t>
                          </m:r>
                          <m:r>
                            <a:rPr lang="fr-FR" sz="1100" b="0" i="1" smtClean="0">
                              <a:latin typeface="Cambria Math" panose="02040503050406030204" pitchFamily="18" charset="0"/>
                            </a:rPr>
                            <m:t>𝑛𝑒𝑡</m:t>
                          </m:r>
                          <m:r>
                            <a:rPr lang="fr-FR" sz="1100" b="0" i="1" smtClean="0">
                              <a:latin typeface="Cambria Math" panose="02040503050406030204" pitchFamily="18" charset="0"/>
                            </a:rPr>
                            <m:t>_</m:t>
                          </m:r>
                          <m:r>
                            <a:rPr lang="fr-FR" sz="1100" b="0" i="1" smtClean="0">
                              <a:latin typeface="Cambria Math" panose="02040503050406030204" pitchFamily="18" charset="0"/>
                            </a:rPr>
                            <m:t>h</m:t>
                          </m:r>
                        </m:num>
                        <m:den>
                          <m:r>
                            <a:rPr lang="en-GB" sz="1100" i="1" smtClean="0">
                              <a:latin typeface="Cambria Math" panose="02040503050406030204" pitchFamily="18" charset="0"/>
                            </a:rPr>
                            <m:t>𝜕</m:t>
                          </m:r>
                          <m:r>
                            <a:rPr lang="fr-FR" sz="1100" b="0" i="1" smtClean="0">
                              <a:latin typeface="Cambria Math" panose="02040503050406030204" pitchFamily="18" charset="0"/>
                            </a:rPr>
                            <m:t>𝑊</m:t>
                          </m:r>
                          <m:r>
                            <a:rPr lang="fr-FR" sz="1100" b="0" i="1" smtClean="0">
                              <a:latin typeface="Cambria Math" panose="02040503050406030204" pitchFamily="18" charset="0"/>
                            </a:rPr>
                            <m:t>_</m:t>
                          </m:r>
                          <m:r>
                            <a:rPr lang="fr-FR" sz="1100" b="0" i="1" smtClean="0">
                              <a:latin typeface="Cambria Math" panose="02040503050406030204" pitchFamily="18" charset="0"/>
                            </a:rPr>
                            <m:t>𝑖𝑛</m:t>
                          </m:r>
                        </m:den>
                      </m:f>
                      <m:r>
                        <a:rPr lang="fr-FR" sz="1100" b="0" i="1" smtClean="0">
                          <a:latin typeface="Cambria Math" panose="02040503050406030204" pitchFamily="18" charset="0"/>
                        </a:rPr>
                        <m:t>=</m:t>
                      </m:r>
                      <m:f>
                        <m:fPr>
                          <m:ctrlPr>
                            <a:rPr lang="en-GB" sz="1100" i="1">
                              <a:latin typeface="Cambria Math" panose="02040503050406030204" pitchFamily="18" charset="0"/>
                            </a:rPr>
                          </m:ctrlPr>
                        </m:fPr>
                        <m:num>
                          <m:r>
                            <a:rPr lang="en-GB" sz="1100" i="1">
                              <a:latin typeface="Cambria Math" panose="02040503050406030204" pitchFamily="18" charset="0"/>
                            </a:rPr>
                            <m:t>𝜕</m:t>
                          </m:r>
                          <m:r>
                            <a:rPr lang="fr-FR" sz="1100" b="0" i="1" smtClean="0">
                              <a:latin typeface="Cambria Math" panose="02040503050406030204" pitchFamily="18" charset="0"/>
                            </a:rPr>
                            <m:t>(</m:t>
                          </m:r>
                          <m:r>
                            <a:rPr lang="fr-FR" sz="1100" b="0" i="1" smtClean="0">
                              <a:latin typeface="Cambria Math" panose="02040503050406030204" pitchFamily="18" charset="0"/>
                            </a:rPr>
                            <m:t>𝑙𝑖𝑛𝑒𝑎𝑟</m:t>
                          </m:r>
                          <m:r>
                            <a:rPr lang="fr-FR" sz="1100" b="0" i="1" smtClean="0">
                              <a:latin typeface="Cambria Math" panose="02040503050406030204" pitchFamily="18" charset="0"/>
                            </a:rPr>
                            <m:t>(</m:t>
                          </m:r>
                          <m:r>
                            <a:rPr lang="fr-FR" sz="1100" b="0" i="1" smtClean="0">
                              <a:latin typeface="Cambria Math" panose="02040503050406030204" pitchFamily="18" charset="0"/>
                            </a:rPr>
                            <m:t>𝑊</m:t>
                          </m:r>
                          <m:r>
                            <a:rPr lang="fr-FR" sz="1100" b="0" i="1" smtClean="0">
                              <a:latin typeface="Cambria Math" panose="02040503050406030204" pitchFamily="18" charset="0"/>
                            </a:rPr>
                            <m:t>_</m:t>
                          </m:r>
                          <m:r>
                            <a:rPr lang="fr-FR" sz="1100" b="0" i="1" smtClean="0">
                              <a:latin typeface="Cambria Math" panose="02040503050406030204" pitchFamily="18" charset="0"/>
                            </a:rPr>
                            <m:t>𝑖𝑛</m:t>
                          </m:r>
                          <m:r>
                            <a:rPr lang="fr-FR" sz="1100" b="0" i="1" smtClean="0">
                              <a:latin typeface="Cambria Math" panose="02040503050406030204" pitchFamily="18" charset="0"/>
                            </a:rPr>
                            <m:t>.</m:t>
                          </m:r>
                          <m:r>
                            <a:rPr lang="fr-FR" sz="1100" b="0" i="1" smtClean="0">
                              <a:latin typeface="Cambria Math" panose="02040503050406030204" pitchFamily="18" charset="0"/>
                            </a:rPr>
                            <m:t>𝑋</m:t>
                          </m:r>
                          <m:r>
                            <a:rPr lang="fr-FR" sz="1100" b="0" i="1" smtClean="0">
                              <a:latin typeface="Cambria Math" panose="02040503050406030204" pitchFamily="18" charset="0"/>
                            </a:rPr>
                            <m:t>+</m:t>
                          </m:r>
                          <m:r>
                            <a:rPr lang="fr-FR" sz="1100" b="0" i="1" smtClean="0">
                              <a:latin typeface="Cambria Math" panose="02040503050406030204" pitchFamily="18" charset="0"/>
                            </a:rPr>
                            <m:t>𝑏</m:t>
                          </m:r>
                          <m:r>
                            <a:rPr lang="fr-FR" sz="1100" b="0" i="1" smtClean="0">
                              <a:latin typeface="Cambria Math" panose="02040503050406030204" pitchFamily="18" charset="0"/>
                            </a:rPr>
                            <m:t>_</m:t>
                          </m:r>
                          <m:r>
                            <a:rPr lang="fr-FR" sz="1100" b="0" i="1" smtClean="0">
                              <a:latin typeface="Cambria Math" panose="02040503050406030204" pitchFamily="18" charset="0"/>
                            </a:rPr>
                            <m:t>𝑖𝑛</m:t>
                          </m:r>
                          <m:r>
                            <a:rPr lang="fr-FR" sz="1100" b="0" i="1" smtClean="0">
                              <a:latin typeface="Cambria Math" panose="02040503050406030204" pitchFamily="18" charset="0"/>
                            </a:rPr>
                            <m:t>))</m:t>
                          </m:r>
                        </m:num>
                        <m:den>
                          <m:r>
                            <a:rPr lang="en-GB" sz="1100" i="1">
                              <a:latin typeface="Cambria Math" panose="02040503050406030204" pitchFamily="18" charset="0"/>
                            </a:rPr>
                            <m:t>𝜕</m:t>
                          </m:r>
                          <m:r>
                            <a:rPr lang="fr-FR" sz="1100" i="1">
                              <a:latin typeface="Cambria Math" panose="02040503050406030204" pitchFamily="18" charset="0"/>
                            </a:rPr>
                            <m:t>𝑊</m:t>
                          </m:r>
                          <m:r>
                            <a:rPr lang="fr-FR" sz="1100" i="1">
                              <a:latin typeface="Cambria Math" panose="02040503050406030204" pitchFamily="18" charset="0"/>
                            </a:rPr>
                            <m:t>_</m:t>
                          </m:r>
                          <m:r>
                            <a:rPr lang="fr-FR" sz="1100" i="1">
                              <a:latin typeface="Cambria Math" panose="02040503050406030204" pitchFamily="18" charset="0"/>
                            </a:rPr>
                            <m:t>𝑖𝑛</m:t>
                          </m:r>
                        </m:den>
                      </m:f>
                      <m:r>
                        <a:rPr lang="fr-FR" sz="1100" b="0" i="1" smtClean="0">
                          <a:latin typeface="Cambria Math" panose="02040503050406030204" pitchFamily="18" charset="0"/>
                        </a:rPr>
                        <m:t>=</m:t>
                      </m:r>
                      <m:r>
                        <m:rPr>
                          <m:sty m:val="p"/>
                        </m:rPr>
                        <a:rPr lang="fr-FR" sz="1100" b="0" i="0" smtClean="0">
                          <a:latin typeface="Cambria Math" panose="02040503050406030204" pitchFamily="18" charset="0"/>
                        </a:rPr>
                        <m:t>X</m:t>
                      </m:r>
                    </m:oMath>
                  </m:oMathPara>
                </a14:m>
                <a:endParaRPr lang="en-GB" sz="1100" dirty="0"/>
              </a:p>
              <a:p>
                <a:endParaRPr lang="en-GB"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f>
                        <m:fPr>
                          <m:ctrlPr>
                            <a:rPr lang="en-GB" sz="1100" i="1" smtClean="0">
                              <a:latin typeface="Cambria Math" panose="02040503050406030204" pitchFamily="18" charset="0"/>
                            </a:rPr>
                          </m:ctrlPr>
                        </m:fPr>
                        <m:num>
                          <m:r>
                            <a:rPr lang="en-GB" sz="1100" i="1" smtClean="0">
                              <a:latin typeface="Cambria Math" panose="02040503050406030204" pitchFamily="18" charset="0"/>
                            </a:rPr>
                            <m:t>𝜕</m:t>
                          </m:r>
                          <m:r>
                            <a:rPr lang="fr-FR" sz="1100" b="0" i="1" smtClean="0">
                              <a:latin typeface="Cambria Math" panose="02040503050406030204" pitchFamily="18" charset="0"/>
                            </a:rPr>
                            <m:t>𝑛𝑒𝑡</m:t>
                          </m:r>
                          <m:r>
                            <a:rPr lang="fr-FR" sz="1100" b="0" i="1" smtClean="0">
                              <a:latin typeface="Cambria Math" panose="02040503050406030204" pitchFamily="18" charset="0"/>
                            </a:rPr>
                            <m:t>_</m:t>
                          </m:r>
                          <m:r>
                            <a:rPr lang="fr-FR" sz="1100" b="0" i="1" smtClean="0">
                              <a:latin typeface="Cambria Math" panose="02040503050406030204" pitchFamily="18" charset="0"/>
                            </a:rPr>
                            <m:t>h</m:t>
                          </m:r>
                        </m:num>
                        <m:den>
                          <m:r>
                            <a:rPr lang="en-GB" sz="1100" i="1" smtClean="0">
                              <a:latin typeface="Cambria Math" panose="02040503050406030204" pitchFamily="18" charset="0"/>
                            </a:rPr>
                            <m:t>𝜕</m:t>
                          </m:r>
                          <m:r>
                            <a:rPr lang="fr-FR" sz="1100" b="0" i="1" smtClean="0">
                              <a:latin typeface="Cambria Math" panose="02040503050406030204" pitchFamily="18" charset="0"/>
                            </a:rPr>
                            <m:t>𝑏</m:t>
                          </m:r>
                          <m:r>
                            <a:rPr lang="fr-FR" sz="1100" b="0" i="1" smtClean="0">
                              <a:latin typeface="Cambria Math" panose="02040503050406030204" pitchFamily="18" charset="0"/>
                            </a:rPr>
                            <m:t>_</m:t>
                          </m:r>
                          <m:r>
                            <a:rPr lang="fr-FR" sz="1100" b="0" i="1" smtClean="0">
                              <a:latin typeface="Cambria Math" panose="02040503050406030204" pitchFamily="18" charset="0"/>
                            </a:rPr>
                            <m:t>𝑖𝑛</m:t>
                          </m:r>
                        </m:den>
                      </m:f>
                      <m:r>
                        <a:rPr lang="fr-FR" sz="1100" b="0" i="1" smtClean="0">
                          <a:latin typeface="Cambria Math" panose="02040503050406030204" pitchFamily="18" charset="0"/>
                        </a:rPr>
                        <m:t>=</m:t>
                      </m:r>
                      <m:f>
                        <m:fPr>
                          <m:ctrlPr>
                            <a:rPr lang="en-GB" sz="1100" i="1">
                              <a:latin typeface="Cambria Math" panose="02040503050406030204" pitchFamily="18" charset="0"/>
                            </a:rPr>
                          </m:ctrlPr>
                        </m:fPr>
                        <m:num>
                          <m:r>
                            <a:rPr lang="en-GB" sz="1100" i="1">
                              <a:latin typeface="Cambria Math" panose="02040503050406030204" pitchFamily="18" charset="0"/>
                            </a:rPr>
                            <m:t>𝜕</m:t>
                          </m:r>
                          <m:r>
                            <a:rPr lang="fr-FR" sz="1100" b="0" i="1" smtClean="0">
                              <a:latin typeface="Cambria Math" panose="02040503050406030204" pitchFamily="18" charset="0"/>
                            </a:rPr>
                            <m:t>(</m:t>
                          </m:r>
                          <m:r>
                            <a:rPr lang="fr-FR" sz="1100" b="0" i="1" smtClean="0">
                              <a:latin typeface="Cambria Math" panose="02040503050406030204" pitchFamily="18" charset="0"/>
                            </a:rPr>
                            <m:t>𝑙𝑖𝑛𝑒𝑎𝑟</m:t>
                          </m:r>
                          <m:r>
                            <a:rPr lang="fr-FR" sz="1100" b="0" i="1" smtClean="0">
                              <a:latin typeface="Cambria Math" panose="02040503050406030204" pitchFamily="18" charset="0"/>
                            </a:rPr>
                            <m:t>(</m:t>
                          </m:r>
                          <m:r>
                            <a:rPr lang="fr-FR" sz="1100" b="0" i="1" smtClean="0">
                              <a:latin typeface="Cambria Math" panose="02040503050406030204" pitchFamily="18" charset="0"/>
                            </a:rPr>
                            <m:t>𝑊</m:t>
                          </m:r>
                          <m:r>
                            <a:rPr lang="fr-FR" sz="1100" b="0" i="1" smtClean="0">
                              <a:latin typeface="Cambria Math" panose="02040503050406030204" pitchFamily="18" charset="0"/>
                            </a:rPr>
                            <m:t>_</m:t>
                          </m:r>
                          <m:r>
                            <a:rPr lang="fr-FR" sz="1100" b="0" i="1" smtClean="0">
                              <a:latin typeface="Cambria Math" panose="02040503050406030204" pitchFamily="18" charset="0"/>
                            </a:rPr>
                            <m:t>𝑖𝑛</m:t>
                          </m:r>
                          <m:r>
                            <a:rPr lang="fr-FR" sz="1100" b="0" i="1" smtClean="0">
                              <a:latin typeface="Cambria Math" panose="02040503050406030204" pitchFamily="18" charset="0"/>
                            </a:rPr>
                            <m:t>.</m:t>
                          </m:r>
                          <m:r>
                            <a:rPr lang="fr-FR" sz="1100" b="0" i="1" smtClean="0">
                              <a:latin typeface="Cambria Math" panose="02040503050406030204" pitchFamily="18" charset="0"/>
                            </a:rPr>
                            <m:t>𝑋</m:t>
                          </m:r>
                          <m:r>
                            <a:rPr lang="fr-FR" sz="1100" b="0" i="1" smtClean="0">
                              <a:latin typeface="Cambria Math" panose="02040503050406030204" pitchFamily="18" charset="0"/>
                            </a:rPr>
                            <m:t>+</m:t>
                          </m:r>
                          <m:r>
                            <a:rPr lang="fr-FR" sz="1100" b="0" i="1" smtClean="0">
                              <a:latin typeface="Cambria Math" panose="02040503050406030204" pitchFamily="18" charset="0"/>
                            </a:rPr>
                            <m:t>𝑏</m:t>
                          </m:r>
                          <m:r>
                            <a:rPr lang="fr-FR" sz="1100" b="0" i="1" smtClean="0">
                              <a:latin typeface="Cambria Math" panose="02040503050406030204" pitchFamily="18" charset="0"/>
                            </a:rPr>
                            <m:t>_</m:t>
                          </m:r>
                          <m:r>
                            <a:rPr lang="fr-FR" sz="1100" b="0" i="1" smtClean="0">
                              <a:latin typeface="Cambria Math" panose="02040503050406030204" pitchFamily="18" charset="0"/>
                            </a:rPr>
                            <m:t>𝑖𝑛</m:t>
                          </m:r>
                          <m:r>
                            <a:rPr lang="fr-FR" sz="1100" b="0" i="1" smtClean="0">
                              <a:latin typeface="Cambria Math" panose="02040503050406030204" pitchFamily="18" charset="0"/>
                            </a:rPr>
                            <m:t>))</m:t>
                          </m:r>
                        </m:num>
                        <m:den>
                          <m:r>
                            <a:rPr lang="en-GB" sz="1100" i="1">
                              <a:latin typeface="Cambria Math" panose="02040503050406030204" pitchFamily="18" charset="0"/>
                            </a:rPr>
                            <m:t>𝜕</m:t>
                          </m:r>
                          <m:r>
                            <a:rPr lang="fr-FR" sz="1100" b="0" i="1" smtClean="0">
                              <a:latin typeface="Cambria Math" panose="02040503050406030204" pitchFamily="18" charset="0"/>
                            </a:rPr>
                            <m:t>𝑏</m:t>
                          </m:r>
                          <m:r>
                            <a:rPr lang="fr-FR" sz="1100" i="1">
                              <a:latin typeface="Cambria Math" panose="02040503050406030204" pitchFamily="18" charset="0"/>
                            </a:rPr>
                            <m:t>_</m:t>
                          </m:r>
                          <m:r>
                            <a:rPr lang="fr-FR" sz="1100" i="1">
                              <a:latin typeface="Cambria Math" panose="02040503050406030204" pitchFamily="18" charset="0"/>
                            </a:rPr>
                            <m:t>𝑖𝑛</m:t>
                          </m:r>
                        </m:den>
                      </m:f>
                      <m:r>
                        <a:rPr lang="fr-FR" sz="1100" b="0" i="1" smtClean="0">
                          <a:latin typeface="Cambria Math" panose="02040503050406030204" pitchFamily="18" charset="0"/>
                        </a:rPr>
                        <m:t>=1</m:t>
                      </m:r>
                    </m:oMath>
                  </m:oMathPara>
                </a14:m>
                <a:endParaRPr lang="en-GB" sz="1100" dirty="0"/>
              </a:p>
              <a:p>
                <a:endParaRPr lang="en-GB"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f>
                        <m:fPr>
                          <m:ctrlPr>
                            <a:rPr lang="en-GB" sz="1200" b="1" i="1" smtClean="0">
                              <a:latin typeface="Cambria Math" panose="02040503050406030204" pitchFamily="18" charset="0"/>
                            </a:rPr>
                          </m:ctrlPr>
                        </m:fPr>
                        <m:num>
                          <m:r>
                            <a:rPr lang="en-GB" sz="1200" b="1" i="1" smtClean="0">
                              <a:latin typeface="Cambria Math" panose="02040503050406030204" pitchFamily="18" charset="0"/>
                            </a:rPr>
                            <m:t>𝝏</m:t>
                          </m:r>
                          <m:r>
                            <a:rPr lang="fr-FR" sz="1200" b="1" i="1" smtClean="0">
                              <a:latin typeface="Cambria Math" panose="02040503050406030204" pitchFamily="18" charset="0"/>
                            </a:rPr>
                            <m:t>𝑳𝒐𝒔𝒔</m:t>
                          </m:r>
                        </m:num>
                        <m:den>
                          <m:r>
                            <a:rPr lang="en-GB" sz="1200" b="1" i="1" smtClean="0">
                              <a:latin typeface="Cambria Math" panose="02040503050406030204" pitchFamily="18" charset="0"/>
                            </a:rPr>
                            <m:t>𝝏</m:t>
                          </m:r>
                          <m:r>
                            <a:rPr lang="fr-FR" sz="1200" b="1" i="1" smtClean="0">
                              <a:latin typeface="Cambria Math" panose="02040503050406030204" pitchFamily="18" charset="0"/>
                            </a:rPr>
                            <m:t>𝑾</m:t>
                          </m:r>
                          <m:r>
                            <a:rPr lang="fr-FR" sz="1200" b="1" i="1" smtClean="0">
                              <a:latin typeface="Cambria Math" panose="02040503050406030204" pitchFamily="18" charset="0"/>
                            </a:rPr>
                            <m:t>_</m:t>
                          </m:r>
                          <m:r>
                            <a:rPr lang="fr-FR" sz="1200" b="1" i="1" smtClean="0">
                              <a:latin typeface="Cambria Math" panose="02040503050406030204" pitchFamily="18" charset="0"/>
                            </a:rPr>
                            <m:t>𝒊𝒏</m:t>
                          </m:r>
                        </m:den>
                      </m:f>
                      <m:r>
                        <a:rPr lang="fr-FR" sz="1200" b="1" i="0" smtClean="0">
                          <a:latin typeface="Cambria Math" panose="02040503050406030204" pitchFamily="18" charset="0"/>
                        </a:rPr>
                        <m:t>=</m:t>
                      </m:r>
                      <m:r>
                        <a:rPr lang="en-GB" sz="1200" i="1">
                          <a:latin typeface="Cambria Math" panose="02040503050406030204" pitchFamily="18" charset="0"/>
                        </a:rPr>
                        <m:t>−2 (</m:t>
                      </m:r>
                      <m:r>
                        <a:rPr lang="en-GB" sz="1200" i="1">
                          <a:latin typeface="Cambria Math" panose="02040503050406030204" pitchFamily="18" charset="0"/>
                        </a:rPr>
                        <m:t>𝑡𝑎𝑟𝑔𝑒𝑡</m:t>
                      </m:r>
                      <m:r>
                        <a:rPr lang="en-GB" sz="1200" i="1">
                          <a:latin typeface="Cambria Math" panose="02040503050406030204" pitchFamily="18" charset="0"/>
                        </a:rPr>
                        <m:t> −</m:t>
                      </m:r>
                      <m:r>
                        <a:rPr lang="en-GB" sz="1200" i="1">
                          <a:latin typeface="Cambria Math" panose="02040503050406030204" pitchFamily="18" charset="0"/>
                        </a:rPr>
                        <m:t>𝑜𝑢𝑡</m:t>
                      </m:r>
                      <m:r>
                        <a:rPr lang="en-GB" sz="1200" i="1">
                          <a:latin typeface="Cambria Math" panose="02040503050406030204" pitchFamily="18" charset="0"/>
                        </a:rPr>
                        <m:t>)∗</m:t>
                      </m:r>
                      <m:r>
                        <a:rPr lang="fr-FR" sz="1200" i="1">
                          <a:latin typeface="Cambria Math" panose="02040503050406030204" pitchFamily="18" charset="0"/>
                        </a:rPr>
                        <m:t>𝑠𝑖𝑔𝑚𝑜𝑖𝑑</m:t>
                      </m:r>
                      <m:r>
                        <a:rPr lang="fr-FR" sz="1200" i="1">
                          <a:latin typeface="Cambria Math" panose="02040503050406030204" pitchFamily="18" charset="0"/>
                        </a:rPr>
                        <m:t>_</m:t>
                      </m:r>
                      <m:r>
                        <a:rPr lang="fr-FR" sz="1200" i="1">
                          <a:latin typeface="Cambria Math" panose="02040503050406030204" pitchFamily="18" charset="0"/>
                        </a:rPr>
                        <m:t>𝑑𝑒𝑟𝑖𝑣𝑎𝑡𝑖𝑣𝑒</m:t>
                      </m:r>
                      <m:d>
                        <m:dPr>
                          <m:ctrlPr>
                            <a:rPr lang="fr-FR" sz="1200" i="1">
                              <a:latin typeface="Cambria Math" panose="02040503050406030204" pitchFamily="18" charset="0"/>
                            </a:rPr>
                          </m:ctrlPr>
                        </m:dPr>
                        <m:e>
                          <m:r>
                            <a:rPr lang="fr-FR" sz="1200" i="1">
                              <a:latin typeface="Cambria Math" panose="02040503050406030204" pitchFamily="18" charset="0"/>
                            </a:rPr>
                            <m:t>𝑛𝑒𝑡</m:t>
                          </m:r>
                          <m:r>
                            <a:rPr lang="fr-FR" sz="1200" i="1">
                              <a:latin typeface="Cambria Math" panose="02040503050406030204" pitchFamily="18" charset="0"/>
                            </a:rPr>
                            <m:t>_</m:t>
                          </m:r>
                          <m:r>
                            <a:rPr lang="fr-FR" sz="1200" i="1">
                              <a:latin typeface="Cambria Math" panose="02040503050406030204" pitchFamily="18" charset="0"/>
                            </a:rPr>
                            <m:t>𝑜</m:t>
                          </m:r>
                        </m:e>
                      </m:d>
                      <m:r>
                        <a:rPr lang="fr-FR" sz="1200" b="0" i="1" smtClean="0">
                          <a:latin typeface="Cambria Math" panose="02040503050406030204" pitchFamily="18" charset="0"/>
                        </a:rPr>
                        <m:t>∗</m:t>
                      </m:r>
                      <m:r>
                        <a:rPr lang="fr-FR" sz="1200" i="1">
                          <a:latin typeface="Cambria Math" panose="02040503050406030204" pitchFamily="18" charset="0"/>
                        </a:rPr>
                        <m:t>𝑊</m:t>
                      </m:r>
                      <m:r>
                        <a:rPr lang="fr-FR" sz="1200" i="1">
                          <a:latin typeface="Cambria Math" panose="02040503050406030204" pitchFamily="18" charset="0"/>
                        </a:rPr>
                        <m:t>_</m:t>
                      </m:r>
                      <m:r>
                        <a:rPr lang="fr-FR" sz="1200" i="1">
                          <a:latin typeface="Cambria Math" panose="02040503050406030204" pitchFamily="18" charset="0"/>
                        </a:rPr>
                        <m:t>𝑜𝑢𝑡</m:t>
                      </m:r>
                      <m:r>
                        <a:rPr lang="fr-FR" sz="1200" i="1">
                          <a:latin typeface="Cambria Math" panose="02040503050406030204" pitchFamily="18" charset="0"/>
                        </a:rPr>
                        <m:t>∗</m:t>
                      </m:r>
                      <m:r>
                        <a:rPr lang="fr-FR" sz="1200" i="1">
                          <a:latin typeface="Cambria Math" panose="02040503050406030204" pitchFamily="18" charset="0"/>
                        </a:rPr>
                        <m:t>𝑟𝑒𝐿𝑈</m:t>
                      </m:r>
                      <m:r>
                        <a:rPr lang="fr-FR" sz="1200" i="1">
                          <a:latin typeface="Cambria Math" panose="02040503050406030204" pitchFamily="18" charset="0"/>
                        </a:rPr>
                        <m:t>_</m:t>
                      </m:r>
                      <m:r>
                        <a:rPr lang="fr-FR" sz="1200" i="1">
                          <a:latin typeface="Cambria Math" panose="02040503050406030204" pitchFamily="18" charset="0"/>
                        </a:rPr>
                        <m:t>𝑑𝑒𝑟𝑖𝑣𝑎𝑡𝑖𝑣𝑒</m:t>
                      </m:r>
                      <m:r>
                        <a:rPr lang="fr-FR" sz="1200" i="1">
                          <a:latin typeface="Cambria Math" panose="02040503050406030204" pitchFamily="18" charset="0"/>
                        </a:rPr>
                        <m:t>(</m:t>
                      </m:r>
                      <m:r>
                        <a:rPr lang="fr-FR" sz="1200" i="1">
                          <a:latin typeface="Cambria Math" panose="02040503050406030204" pitchFamily="18" charset="0"/>
                        </a:rPr>
                        <m:t>𝑛𝑒𝑡</m:t>
                      </m:r>
                      <m:r>
                        <a:rPr lang="fr-FR" sz="1200" i="1">
                          <a:latin typeface="Cambria Math" panose="02040503050406030204" pitchFamily="18" charset="0"/>
                        </a:rPr>
                        <m:t>_</m:t>
                      </m:r>
                      <m:r>
                        <a:rPr lang="fr-FR" sz="1200" i="1">
                          <a:latin typeface="Cambria Math" panose="02040503050406030204" pitchFamily="18" charset="0"/>
                        </a:rPr>
                        <m:t>h</m:t>
                      </m:r>
                      <m:r>
                        <a:rPr lang="fr-FR" sz="1200" i="1">
                          <a:latin typeface="Cambria Math" panose="02040503050406030204" pitchFamily="18" charset="0"/>
                        </a:rPr>
                        <m:t>)∗</m:t>
                      </m:r>
                      <m:r>
                        <a:rPr lang="fr-FR" sz="1200" b="0" i="1" smtClean="0">
                          <a:latin typeface="Cambria Math" panose="02040503050406030204" pitchFamily="18" charset="0"/>
                        </a:rPr>
                        <m:t>𝑋</m:t>
                      </m:r>
                    </m:oMath>
                  </m:oMathPara>
                </a14:m>
                <a:endParaRPr lang="en-GB" sz="1200" dirty="0"/>
              </a:p>
              <a:p>
                <a:endParaRPr lang="en-GB" sz="1200" b="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f>
                        <m:fPr>
                          <m:ctrlPr>
                            <a:rPr lang="en-GB" sz="1200" b="1" i="1">
                              <a:latin typeface="Cambria Math" panose="02040503050406030204" pitchFamily="18" charset="0"/>
                            </a:rPr>
                          </m:ctrlPr>
                        </m:fPr>
                        <m:num>
                          <m:r>
                            <a:rPr lang="en-GB" sz="1200" b="1" i="1">
                              <a:latin typeface="Cambria Math" panose="02040503050406030204" pitchFamily="18" charset="0"/>
                            </a:rPr>
                            <m:t>𝝏</m:t>
                          </m:r>
                          <m:r>
                            <a:rPr lang="fr-FR" sz="1200" b="1" i="1">
                              <a:latin typeface="Cambria Math" panose="02040503050406030204" pitchFamily="18" charset="0"/>
                            </a:rPr>
                            <m:t>𝑳𝒐𝒔𝒔</m:t>
                          </m:r>
                        </m:num>
                        <m:den>
                          <m:r>
                            <a:rPr lang="en-GB" sz="1200" b="1" i="1">
                              <a:latin typeface="Cambria Math" panose="02040503050406030204" pitchFamily="18" charset="0"/>
                            </a:rPr>
                            <m:t>𝝏</m:t>
                          </m:r>
                          <m:r>
                            <a:rPr lang="fr-FR" sz="1200" b="1" i="1" smtClean="0">
                              <a:latin typeface="Cambria Math" panose="02040503050406030204" pitchFamily="18" charset="0"/>
                            </a:rPr>
                            <m:t>𝒃</m:t>
                          </m:r>
                          <m:r>
                            <a:rPr lang="fr-FR" sz="1200" b="1" i="1">
                              <a:latin typeface="Cambria Math" panose="02040503050406030204" pitchFamily="18" charset="0"/>
                            </a:rPr>
                            <m:t>_</m:t>
                          </m:r>
                          <m:r>
                            <a:rPr lang="fr-FR" sz="1200" b="1" i="1">
                              <a:latin typeface="Cambria Math" panose="02040503050406030204" pitchFamily="18" charset="0"/>
                            </a:rPr>
                            <m:t>𝒊𝒏</m:t>
                          </m:r>
                        </m:den>
                      </m:f>
                      <m:r>
                        <a:rPr lang="fr-FR" sz="1200" b="1">
                          <a:latin typeface="Cambria Math" panose="02040503050406030204" pitchFamily="18" charset="0"/>
                        </a:rPr>
                        <m:t>=</m:t>
                      </m:r>
                      <m:r>
                        <a:rPr lang="en-GB" sz="1200" i="1">
                          <a:latin typeface="Cambria Math" panose="02040503050406030204" pitchFamily="18" charset="0"/>
                        </a:rPr>
                        <m:t>−2 (</m:t>
                      </m:r>
                      <m:r>
                        <a:rPr lang="en-GB" sz="1200" i="1">
                          <a:latin typeface="Cambria Math" panose="02040503050406030204" pitchFamily="18" charset="0"/>
                        </a:rPr>
                        <m:t>𝑡𝑎𝑟𝑔𝑒𝑡</m:t>
                      </m:r>
                      <m:r>
                        <a:rPr lang="en-GB" sz="1200" i="1">
                          <a:latin typeface="Cambria Math" panose="02040503050406030204" pitchFamily="18" charset="0"/>
                        </a:rPr>
                        <m:t> −</m:t>
                      </m:r>
                      <m:r>
                        <a:rPr lang="en-GB" sz="1200" i="1">
                          <a:latin typeface="Cambria Math" panose="02040503050406030204" pitchFamily="18" charset="0"/>
                        </a:rPr>
                        <m:t>𝑜𝑢𝑡</m:t>
                      </m:r>
                      <m:r>
                        <a:rPr lang="en-GB" sz="1200" i="1">
                          <a:latin typeface="Cambria Math" panose="02040503050406030204" pitchFamily="18" charset="0"/>
                        </a:rPr>
                        <m:t>)∗</m:t>
                      </m:r>
                      <m:r>
                        <a:rPr lang="fr-FR" sz="1200" i="1">
                          <a:latin typeface="Cambria Math" panose="02040503050406030204" pitchFamily="18" charset="0"/>
                        </a:rPr>
                        <m:t>𝑠𝑖𝑔𝑚𝑜𝑖𝑑</m:t>
                      </m:r>
                      <m:r>
                        <a:rPr lang="fr-FR" sz="1200" i="1">
                          <a:latin typeface="Cambria Math" panose="02040503050406030204" pitchFamily="18" charset="0"/>
                        </a:rPr>
                        <m:t>_</m:t>
                      </m:r>
                      <m:r>
                        <a:rPr lang="fr-FR" sz="1200" i="1">
                          <a:latin typeface="Cambria Math" panose="02040503050406030204" pitchFamily="18" charset="0"/>
                        </a:rPr>
                        <m:t>𝑑𝑒𝑟𝑖𝑣𝑎𝑡𝑖𝑣𝑒</m:t>
                      </m:r>
                      <m:d>
                        <m:dPr>
                          <m:ctrlPr>
                            <a:rPr lang="fr-FR" sz="1200" i="1">
                              <a:latin typeface="Cambria Math" panose="02040503050406030204" pitchFamily="18" charset="0"/>
                            </a:rPr>
                          </m:ctrlPr>
                        </m:dPr>
                        <m:e>
                          <m:r>
                            <a:rPr lang="fr-FR" sz="1200" i="1">
                              <a:latin typeface="Cambria Math" panose="02040503050406030204" pitchFamily="18" charset="0"/>
                            </a:rPr>
                            <m:t>𝑛𝑒𝑡</m:t>
                          </m:r>
                          <m:r>
                            <a:rPr lang="fr-FR" sz="1200" i="1">
                              <a:latin typeface="Cambria Math" panose="02040503050406030204" pitchFamily="18" charset="0"/>
                            </a:rPr>
                            <m:t>_</m:t>
                          </m:r>
                          <m:r>
                            <a:rPr lang="fr-FR" sz="1200" i="1">
                              <a:latin typeface="Cambria Math" panose="02040503050406030204" pitchFamily="18" charset="0"/>
                            </a:rPr>
                            <m:t>𝑜</m:t>
                          </m:r>
                        </m:e>
                      </m:d>
                      <m:r>
                        <a:rPr lang="fr-FR" sz="1200" i="1">
                          <a:latin typeface="Cambria Math" panose="02040503050406030204" pitchFamily="18" charset="0"/>
                        </a:rPr>
                        <m:t>∗</m:t>
                      </m:r>
                      <m:r>
                        <a:rPr lang="fr-FR" sz="1200" i="1">
                          <a:latin typeface="Cambria Math" panose="02040503050406030204" pitchFamily="18" charset="0"/>
                        </a:rPr>
                        <m:t>𝑊</m:t>
                      </m:r>
                      <m:r>
                        <a:rPr lang="fr-FR" sz="1200" i="1">
                          <a:latin typeface="Cambria Math" panose="02040503050406030204" pitchFamily="18" charset="0"/>
                        </a:rPr>
                        <m:t>_</m:t>
                      </m:r>
                      <m:r>
                        <a:rPr lang="fr-FR" sz="1200" i="1">
                          <a:latin typeface="Cambria Math" panose="02040503050406030204" pitchFamily="18" charset="0"/>
                        </a:rPr>
                        <m:t>𝑜𝑢𝑡</m:t>
                      </m:r>
                      <m:r>
                        <a:rPr lang="fr-FR" sz="1200" i="1">
                          <a:latin typeface="Cambria Math" panose="02040503050406030204" pitchFamily="18" charset="0"/>
                        </a:rPr>
                        <m:t>∗</m:t>
                      </m:r>
                      <m:r>
                        <a:rPr lang="fr-FR" sz="1200" i="1">
                          <a:latin typeface="Cambria Math" panose="02040503050406030204" pitchFamily="18" charset="0"/>
                        </a:rPr>
                        <m:t>𝑟𝑒𝐿𝑈</m:t>
                      </m:r>
                      <m:r>
                        <a:rPr lang="fr-FR" sz="1200" i="1">
                          <a:latin typeface="Cambria Math" panose="02040503050406030204" pitchFamily="18" charset="0"/>
                        </a:rPr>
                        <m:t>_</m:t>
                      </m:r>
                      <m:r>
                        <a:rPr lang="fr-FR" sz="1200" i="1">
                          <a:latin typeface="Cambria Math" panose="02040503050406030204" pitchFamily="18" charset="0"/>
                        </a:rPr>
                        <m:t>𝑑𝑒𝑟𝑖𝑣𝑎𝑡𝑖𝑣𝑒</m:t>
                      </m:r>
                      <m:r>
                        <a:rPr lang="fr-FR" sz="1200" i="1">
                          <a:latin typeface="Cambria Math" panose="02040503050406030204" pitchFamily="18" charset="0"/>
                        </a:rPr>
                        <m:t>(</m:t>
                      </m:r>
                      <m:r>
                        <a:rPr lang="fr-FR" sz="1200" i="1">
                          <a:latin typeface="Cambria Math" panose="02040503050406030204" pitchFamily="18" charset="0"/>
                        </a:rPr>
                        <m:t>𝑛𝑒𝑡</m:t>
                      </m:r>
                      <m:r>
                        <a:rPr lang="fr-FR" sz="1200" i="1">
                          <a:latin typeface="Cambria Math" panose="02040503050406030204" pitchFamily="18" charset="0"/>
                        </a:rPr>
                        <m:t>_</m:t>
                      </m:r>
                      <m:r>
                        <a:rPr lang="fr-FR" sz="1200" i="1">
                          <a:latin typeface="Cambria Math" panose="02040503050406030204" pitchFamily="18" charset="0"/>
                        </a:rPr>
                        <m:t>h</m:t>
                      </m:r>
                      <m:r>
                        <a:rPr lang="fr-FR" sz="1200" i="1">
                          <a:latin typeface="Cambria Math" panose="02040503050406030204" pitchFamily="18" charset="0"/>
                        </a:rPr>
                        <m:t>)∗1</m:t>
                      </m:r>
                    </m:oMath>
                  </m:oMathPara>
                </a14:m>
                <a:endParaRPr lang="en-GB" sz="1200" dirty="0"/>
              </a:p>
              <a:p>
                <a:endParaRPr lang="en-GB" sz="1200" i="1" dirty="0">
                  <a:latin typeface="Cambria Math" panose="02040503050406030204" pitchFamily="18" charset="0"/>
                </a:endParaRPr>
              </a:p>
            </p:txBody>
          </p:sp>
        </mc:Choice>
        <mc:Fallback xmlns="">
          <p:sp>
            <p:nvSpPr>
              <p:cNvPr id="6" name="ZoneTexte 5">
                <a:extLst>
                  <a:ext uri="{FF2B5EF4-FFF2-40B4-BE49-F238E27FC236}">
                    <a16:creationId xmlns:a16="http://schemas.microsoft.com/office/drawing/2014/main" id="{3FF40C6C-DE16-0001-07FC-31D5FB21D19F}"/>
                  </a:ext>
                </a:extLst>
              </p:cNvPr>
              <p:cNvSpPr txBox="1">
                <a:spLocks noRot="1" noChangeAspect="1" noMove="1" noResize="1" noEditPoints="1" noAdjustHandles="1" noChangeArrowheads="1" noChangeShapeType="1" noTextEdit="1"/>
              </p:cNvSpPr>
              <p:nvPr/>
            </p:nvSpPr>
            <p:spPr>
              <a:xfrm>
                <a:off x="5162309" y="365125"/>
                <a:ext cx="6828395" cy="5766002"/>
              </a:xfrm>
              <a:prstGeom prst="rect">
                <a:avLst/>
              </a:prstGeom>
              <a:blipFill>
                <a:blip r:embed="rId3"/>
                <a:stretch>
                  <a:fillRect l="-742" t="-440"/>
                </a:stretch>
              </a:blipFill>
            </p:spPr>
            <p:txBody>
              <a:bodyPr/>
              <a:lstStyle/>
              <a:p>
                <a:r>
                  <a:rPr lang="en-GB">
                    <a:noFill/>
                  </a:rPr>
                  <a:t> </a:t>
                </a:r>
              </a:p>
            </p:txBody>
          </p:sp>
        </mc:Fallback>
      </mc:AlternateContent>
      <p:sp>
        <p:nvSpPr>
          <p:cNvPr id="10" name="Flèche vers le haut 9">
            <a:extLst>
              <a:ext uri="{FF2B5EF4-FFF2-40B4-BE49-F238E27FC236}">
                <a16:creationId xmlns:a16="http://schemas.microsoft.com/office/drawing/2014/main" id="{B0C72A29-7218-5B72-4168-B52AB0B72D07}"/>
              </a:ext>
            </a:extLst>
          </p:cNvPr>
          <p:cNvSpPr/>
          <p:nvPr/>
        </p:nvSpPr>
        <p:spPr>
          <a:xfrm>
            <a:off x="2801073" y="4109013"/>
            <a:ext cx="347241" cy="787078"/>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lèche vers le haut 10">
            <a:extLst>
              <a:ext uri="{FF2B5EF4-FFF2-40B4-BE49-F238E27FC236}">
                <a16:creationId xmlns:a16="http://schemas.microsoft.com/office/drawing/2014/main" id="{9299F565-4858-A36B-F8D9-91E24672E046}"/>
              </a:ext>
            </a:extLst>
          </p:cNvPr>
          <p:cNvSpPr/>
          <p:nvPr/>
        </p:nvSpPr>
        <p:spPr>
          <a:xfrm>
            <a:off x="1182543" y="4087788"/>
            <a:ext cx="347241" cy="787078"/>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DF63FD55-E6E0-A881-7394-AD36BF3F5AF2}"/>
                  </a:ext>
                </a:extLst>
              </p:cNvPr>
              <p:cNvSpPr txBox="1"/>
              <p:nvPr/>
            </p:nvSpPr>
            <p:spPr>
              <a:xfrm>
                <a:off x="2666919" y="4992977"/>
                <a:ext cx="1824058" cy="88190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fr-FR" sz="1400" b="0" i="1" smtClean="0">
                          <a:latin typeface="Cambria Math" panose="02040503050406030204" pitchFamily="18" charset="0"/>
                        </a:rPr>
                        <m:t>𝑊</m:t>
                      </m:r>
                      <m:r>
                        <a:rPr lang="fr-FR" sz="1400" b="0" i="1" smtClean="0">
                          <a:latin typeface="Cambria Math" panose="02040503050406030204" pitchFamily="18" charset="0"/>
                        </a:rPr>
                        <m:t>_</m:t>
                      </m:r>
                      <m:r>
                        <a:rPr lang="fr-FR" sz="1400" b="0" i="1" smtClean="0">
                          <a:latin typeface="Cambria Math" panose="02040503050406030204" pitchFamily="18" charset="0"/>
                        </a:rPr>
                        <m:t>𝑜𝑢𝑡</m:t>
                      </m:r>
                      <m:r>
                        <a:rPr lang="fr-FR" sz="1400" i="1">
                          <a:latin typeface="Cambria Math" panose="02040503050406030204" pitchFamily="18" charset="0"/>
                        </a:rPr>
                        <m:t>=</m:t>
                      </m:r>
                      <m:d>
                        <m:dPr>
                          <m:begChr m:val="["/>
                          <m:endChr m:val="]"/>
                          <m:ctrlPr>
                            <a:rPr lang="en-GB" sz="1400" i="1">
                              <a:latin typeface="Cambria Math" panose="02040503050406030204" pitchFamily="18" charset="0"/>
                            </a:rPr>
                          </m:ctrlPr>
                        </m:dPr>
                        <m:e>
                          <m:m>
                            <m:mPr>
                              <m:mcs>
                                <m:mc>
                                  <m:mcPr>
                                    <m:count m:val="2"/>
                                    <m:mcJc m:val="center"/>
                                  </m:mcPr>
                                </m:mc>
                              </m:mcs>
                              <m:ctrlPr>
                                <a:rPr lang="en-GB" sz="1400" i="1">
                                  <a:latin typeface="Cambria Math" panose="02040503050406030204" pitchFamily="18" charset="0"/>
                                </a:rPr>
                              </m:ctrlPr>
                            </m:mPr>
                            <m:mr>
                              <m:e>
                                <m:sSub>
                                  <m:sSubPr>
                                    <m:ctrlPr>
                                      <a:rPr lang="fr-FR" sz="1400" i="1">
                                        <a:latin typeface="Cambria Math" panose="02040503050406030204" pitchFamily="18" charset="0"/>
                                      </a:rPr>
                                    </m:ctrlPr>
                                  </m:sSubPr>
                                  <m:e>
                                    <m:r>
                                      <m:rPr>
                                        <m:brk m:alnAt="7"/>
                                      </m:rPr>
                                      <a:rPr lang="fr-FR" sz="1400" i="1">
                                        <a:latin typeface="Cambria Math" panose="02040503050406030204" pitchFamily="18" charset="0"/>
                                      </a:rPr>
                                      <m:t>𝑤</m:t>
                                    </m:r>
                                  </m:e>
                                  <m:sub>
                                    <m:r>
                                      <m:rPr>
                                        <m:brk m:alnAt="7"/>
                                      </m:rPr>
                                      <a:rPr lang="fr-FR" sz="1400" i="1">
                                        <a:latin typeface="Cambria Math" panose="02040503050406030204" pitchFamily="18" charset="0"/>
                                      </a:rPr>
                                      <m:t>5</m:t>
                                    </m:r>
                                  </m:sub>
                                </m:sSub>
                              </m:e>
                              <m:e>
                                <m:sSub>
                                  <m:sSubPr>
                                    <m:ctrlPr>
                                      <a:rPr lang="fr-FR" sz="1400" i="1">
                                        <a:latin typeface="Cambria Math" panose="02040503050406030204" pitchFamily="18" charset="0"/>
                                      </a:rPr>
                                    </m:ctrlPr>
                                  </m:sSubPr>
                                  <m:e>
                                    <m:r>
                                      <a:rPr lang="fr-FR" sz="1400" i="1">
                                        <a:latin typeface="Cambria Math" panose="02040503050406030204" pitchFamily="18" charset="0"/>
                                      </a:rPr>
                                      <m:t>𝑤</m:t>
                                    </m:r>
                                  </m:e>
                                  <m:sub>
                                    <m:r>
                                      <a:rPr lang="fr-FR" sz="1400" i="1">
                                        <a:latin typeface="Cambria Math" panose="02040503050406030204" pitchFamily="18" charset="0"/>
                                      </a:rPr>
                                      <m:t>6</m:t>
                                    </m:r>
                                  </m:sub>
                                </m:sSub>
                              </m:e>
                            </m:mr>
                            <m:mr>
                              <m:e>
                                <m:sSub>
                                  <m:sSubPr>
                                    <m:ctrlPr>
                                      <a:rPr lang="fr-FR" sz="1400" i="1">
                                        <a:latin typeface="Cambria Math" panose="02040503050406030204" pitchFamily="18" charset="0"/>
                                      </a:rPr>
                                    </m:ctrlPr>
                                  </m:sSubPr>
                                  <m:e>
                                    <m:r>
                                      <a:rPr lang="fr-FR" sz="1400" i="1">
                                        <a:latin typeface="Cambria Math" panose="02040503050406030204" pitchFamily="18" charset="0"/>
                                      </a:rPr>
                                      <m:t>𝑤</m:t>
                                    </m:r>
                                  </m:e>
                                  <m:sub>
                                    <m:r>
                                      <a:rPr lang="fr-FR" sz="1400" i="1">
                                        <a:latin typeface="Cambria Math" panose="02040503050406030204" pitchFamily="18" charset="0"/>
                                      </a:rPr>
                                      <m:t>7</m:t>
                                    </m:r>
                                  </m:sub>
                                </m:sSub>
                              </m:e>
                              <m:e>
                                <m:sSub>
                                  <m:sSubPr>
                                    <m:ctrlPr>
                                      <a:rPr lang="fr-FR" sz="1400" i="1">
                                        <a:latin typeface="Cambria Math" panose="02040503050406030204" pitchFamily="18" charset="0"/>
                                      </a:rPr>
                                    </m:ctrlPr>
                                  </m:sSubPr>
                                  <m:e>
                                    <m:r>
                                      <a:rPr lang="fr-FR" sz="1400" i="1">
                                        <a:latin typeface="Cambria Math" panose="02040503050406030204" pitchFamily="18" charset="0"/>
                                      </a:rPr>
                                      <m:t>𝑤</m:t>
                                    </m:r>
                                  </m:e>
                                  <m:sub>
                                    <m:r>
                                      <a:rPr lang="fr-FR" sz="1400" i="1">
                                        <a:latin typeface="Cambria Math" panose="02040503050406030204" pitchFamily="18" charset="0"/>
                                      </a:rPr>
                                      <m:t>8</m:t>
                                    </m:r>
                                  </m:sub>
                                </m:sSub>
                              </m:e>
                            </m:mr>
                          </m:m>
                        </m:e>
                      </m:d>
                    </m:oMath>
                  </m:oMathPara>
                </a14:m>
                <a:endParaRPr lang="en-GB" sz="1400" dirty="0"/>
              </a:p>
              <a:p>
                <a:endParaRPr lang="en-GB" sz="1400" dirty="0"/>
              </a:p>
              <a:p>
                <a:pPr/>
                <a14:m>
                  <m:oMathPara xmlns:m="http://schemas.openxmlformats.org/officeDocument/2006/math">
                    <m:oMathParaPr>
                      <m:jc m:val="left"/>
                    </m:oMathParaPr>
                    <m:oMath xmlns:m="http://schemas.openxmlformats.org/officeDocument/2006/math">
                      <m:r>
                        <a:rPr lang="fr-FR" sz="1400" b="0" i="1" smtClean="0">
                          <a:latin typeface="Cambria Math" panose="02040503050406030204" pitchFamily="18" charset="0"/>
                        </a:rPr>
                        <m:t>𝑏</m:t>
                      </m:r>
                      <m:r>
                        <a:rPr lang="fr-FR" sz="1400" b="0" i="1" smtClean="0">
                          <a:latin typeface="Cambria Math" panose="02040503050406030204" pitchFamily="18" charset="0"/>
                        </a:rPr>
                        <m:t>_</m:t>
                      </m:r>
                      <m:r>
                        <a:rPr lang="fr-FR" sz="1400" b="0" i="1" smtClean="0">
                          <a:latin typeface="Cambria Math" panose="02040503050406030204" pitchFamily="18" charset="0"/>
                        </a:rPr>
                        <m:t>𝑜𝑢𝑡</m:t>
                      </m:r>
                      <m:r>
                        <a:rPr lang="fr-FR" sz="1400" b="0" i="1" smtClean="0">
                          <a:latin typeface="Cambria Math" panose="02040503050406030204" pitchFamily="18" charset="0"/>
                        </a:rPr>
                        <m:t>=</m:t>
                      </m:r>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m:t>
                          </m:r>
                          <m:r>
                            <a:rPr lang="fr-FR" sz="1400" b="0" i="1" smtClean="0">
                              <a:latin typeface="Cambria Math" panose="02040503050406030204" pitchFamily="18" charset="0"/>
                            </a:rPr>
                            <m:t>𝑏</m:t>
                          </m:r>
                        </m:e>
                        <m:sub>
                          <m:r>
                            <a:rPr lang="fr-FR" sz="1400" b="0" i="1" smtClean="0">
                              <a:latin typeface="Cambria Math" panose="02040503050406030204" pitchFamily="18" charset="0"/>
                            </a:rPr>
                            <m:t>2</m:t>
                          </m:r>
                        </m:sub>
                      </m:sSub>
                      <m:r>
                        <a:rPr lang="fr-FR" sz="1400" b="0" i="1" smtClean="0">
                          <a:latin typeface="Cambria Math" panose="02040503050406030204" pitchFamily="18" charset="0"/>
                        </a:rPr>
                        <m:t>]</m:t>
                      </m:r>
                    </m:oMath>
                  </m:oMathPara>
                </a14:m>
                <a:endParaRPr lang="en-GB" sz="1400" dirty="0"/>
              </a:p>
            </p:txBody>
          </p:sp>
        </mc:Choice>
        <mc:Fallback xmlns="">
          <p:sp>
            <p:nvSpPr>
              <p:cNvPr id="13" name="ZoneTexte 12">
                <a:extLst>
                  <a:ext uri="{FF2B5EF4-FFF2-40B4-BE49-F238E27FC236}">
                    <a16:creationId xmlns:a16="http://schemas.microsoft.com/office/drawing/2014/main" id="{DF63FD55-E6E0-A881-7394-AD36BF3F5AF2}"/>
                  </a:ext>
                </a:extLst>
              </p:cNvPr>
              <p:cNvSpPr txBox="1">
                <a:spLocks noRot="1" noChangeAspect="1" noMove="1" noResize="1" noEditPoints="1" noAdjustHandles="1" noChangeArrowheads="1" noChangeShapeType="1" noTextEdit="1"/>
              </p:cNvSpPr>
              <p:nvPr/>
            </p:nvSpPr>
            <p:spPr>
              <a:xfrm>
                <a:off x="2666919" y="4992977"/>
                <a:ext cx="1824058" cy="881908"/>
              </a:xfrm>
              <a:prstGeom prst="rect">
                <a:avLst/>
              </a:prstGeom>
              <a:blipFill>
                <a:blip r:embed="rId4"/>
                <a:stretch>
                  <a:fillRect b="-28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67AD1511-D2D2-1C40-BE90-A2F09BDEF617}"/>
                  </a:ext>
                </a:extLst>
              </p:cNvPr>
              <p:cNvSpPr txBox="1"/>
              <p:nvPr/>
            </p:nvSpPr>
            <p:spPr>
              <a:xfrm>
                <a:off x="806314" y="4992977"/>
                <a:ext cx="1824058" cy="88190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fr-FR" sz="1400" b="0" i="1" smtClean="0">
                          <a:latin typeface="Cambria Math" panose="02040503050406030204" pitchFamily="18" charset="0"/>
                        </a:rPr>
                        <m:t>𝑊</m:t>
                      </m:r>
                      <m:r>
                        <a:rPr lang="fr-FR" sz="1400" b="0" i="1" smtClean="0">
                          <a:latin typeface="Cambria Math" panose="02040503050406030204" pitchFamily="18" charset="0"/>
                        </a:rPr>
                        <m:t>_</m:t>
                      </m:r>
                      <m:r>
                        <a:rPr lang="fr-FR" sz="1400" b="0" i="1" smtClean="0">
                          <a:latin typeface="Cambria Math" panose="02040503050406030204" pitchFamily="18" charset="0"/>
                        </a:rPr>
                        <m:t>𝑖𝑛</m:t>
                      </m:r>
                      <m:r>
                        <a:rPr lang="fr-FR" sz="1400" i="1">
                          <a:latin typeface="Cambria Math" panose="02040503050406030204" pitchFamily="18" charset="0"/>
                        </a:rPr>
                        <m:t>=</m:t>
                      </m:r>
                      <m:d>
                        <m:dPr>
                          <m:begChr m:val="["/>
                          <m:endChr m:val="]"/>
                          <m:ctrlPr>
                            <a:rPr lang="en-GB" sz="1400" i="1">
                              <a:latin typeface="Cambria Math" panose="02040503050406030204" pitchFamily="18" charset="0"/>
                            </a:rPr>
                          </m:ctrlPr>
                        </m:dPr>
                        <m:e>
                          <m:m>
                            <m:mPr>
                              <m:mcs>
                                <m:mc>
                                  <m:mcPr>
                                    <m:count m:val="2"/>
                                    <m:mcJc m:val="center"/>
                                  </m:mcPr>
                                </m:mc>
                              </m:mcs>
                              <m:ctrlPr>
                                <a:rPr lang="en-GB" sz="1400" i="1">
                                  <a:latin typeface="Cambria Math" panose="02040503050406030204" pitchFamily="18" charset="0"/>
                                </a:rPr>
                              </m:ctrlPr>
                            </m:mPr>
                            <m:mr>
                              <m:e>
                                <m:sSub>
                                  <m:sSubPr>
                                    <m:ctrlPr>
                                      <a:rPr lang="fr-FR" sz="1400" i="1">
                                        <a:latin typeface="Cambria Math" panose="02040503050406030204" pitchFamily="18" charset="0"/>
                                      </a:rPr>
                                    </m:ctrlPr>
                                  </m:sSubPr>
                                  <m:e>
                                    <m:r>
                                      <m:rPr>
                                        <m:brk m:alnAt="7"/>
                                      </m:rPr>
                                      <a:rPr lang="fr-FR" sz="1400" i="1">
                                        <a:latin typeface="Cambria Math" panose="02040503050406030204" pitchFamily="18" charset="0"/>
                                      </a:rPr>
                                      <m:t>𝑤</m:t>
                                    </m:r>
                                  </m:e>
                                  <m:sub>
                                    <m:r>
                                      <a:rPr lang="fr-FR" sz="1400" b="0" i="1" smtClean="0">
                                        <a:latin typeface="Cambria Math" panose="02040503050406030204" pitchFamily="18" charset="0"/>
                                      </a:rPr>
                                      <m:t>1</m:t>
                                    </m:r>
                                  </m:sub>
                                </m:sSub>
                              </m:e>
                              <m:e>
                                <m:sSub>
                                  <m:sSubPr>
                                    <m:ctrlPr>
                                      <a:rPr lang="fr-FR" sz="1400" i="1">
                                        <a:latin typeface="Cambria Math" panose="02040503050406030204" pitchFamily="18" charset="0"/>
                                      </a:rPr>
                                    </m:ctrlPr>
                                  </m:sSubPr>
                                  <m:e>
                                    <m:r>
                                      <a:rPr lang="fr-FR" sz="1400" i="1">
                                        <a:latin typeface="Cambria Math" panose="02040503050406030204" pitchFamily="18" charset="0"/>
                                      </a:rPr>
                                      <m:t>𝑤</m:t>
                                    </m:r>
                                  </m:e>
                                  <m:sub>
                                    <m:r>
                                      <a:rPr lang="fr-FR" sz="1400" b="0" i="1" smtClean="0">
                                        <a:latin typeface="Cambria Math" panose="02040503050406030204" pitchFamily="18" charset="0"/>
                                      </a:rPr>
                                      <m:t>2</m:t>
                                    </m:r>
                                  </m:sub>
                                </m:sSub>
                              </m:e>
                            </m:mr>
                            <m:mr>
                              <m:e>
                                <m:sSub>
                                  <m:sSubPr>
                                    <m:ctrlPr>
                                      <a:rPr lang="fr-FR" sz="1400" i="1">
                                        <a:latin typeface="Cambria Math" panose="02040503050406030204" pitchFamily="18" charset="0"/>
                                      </a:rPr>
                                    </m:ctrlPr>
                                  </m:sSubPr>
                                  <m:e>
                                    <m:r>
                                      <a:rPr lang="fr-FR" sz="1400" i="1">
                                        <a:latin typeface="Cambria Math" panose="02040503050406030204" pitchFamily="18" charset="0"/>
                                      </a:rPr>
                                      <m:t>𝑤</m:t>
                                    </m:r>
                                  </m:e>
                                  <m:sub>
                                    <m:r>
                                      <a:rPr lang="fr-FR" sz="1400" b="0" i="1" smtClean="0">
                                        <a:latin typeface="Cambria Math" panose="02040503050406030204" pitchFamily="18" charset="0"/>
                                      </a:rPr>
                                      <m:t>3</m:t>
                                    </m:r>
                                  </m:sub>
                                </m:sSub>
                              </m:e>
                              <m:e>
                                <m:sSub>
                                  <m:sSubPr>
                                    <m:ctrlPr>
                                      <a:rPr lang="fr-FR" sz="1400" i="1">
                                        <a:latin typeface="Cambria Math" panose="02040503050406030204" pitchFamily="18" charset="0"/>
                                      </a:rPr>
                                    </m:ctrlPr>
                                  </m:sSubPr>
                                  <m:e>
                                    <m:r>
                                      <a:rPr lang="fr-FR" sz="1400" i="1">
                                        <a:latin typeface="Cambria Math" panose="02040503050406030204" pitchFamily="18" charset="0"/>
                                      </a:rPr>
                                      <m:t>𝑤</m:t>
                                    </m:r>
                                  </m:e>
                                  <m:sub>
                                    <m:r>
                                      <a:rPr lang="fr-FR" sz="1400" b="0" i="1" smtClean="0">
                                        <a:latin typeface="Cambria Math" panose="02040503050406030204" pitchFamily="18" charset="0"/>
                                      </a:rPr>
                                      <m:t>4</m:t>
                                    </m:r>
                                  </m:sub>
                                </m:sSub>
                              </m:e>
                            </m:mr>
                          </m:m>
                        </m:e>
                      </m:d>
                    </m:oMath>
                  </m:oMathPara>
                </a14:m>
                <a:endParaRPr lang="en-GB" sz="1400" dirty="0"/>
              </a:p>
              <a:p>
                <a:endParaRPr lang="en-GB" sz="1400" dirty="0"/>
              </a:p>
              <a:p>
                <a:pPr/>
                <a14:m>
                  <m:oMathPara xmlns:m="http://schemas.openxmlformats.org/officeDocument/2006/math">
                    <m:oMathParaPr>
                      <m:jc m:val="left"/>
                    </m:oMathParaPr>
                    <m:oMath xmlns:m="http://schemas.openxmlformats.org/officeDocument/2006/math">
                      <m:r>
                        <a:rPr lang="fr-FR" sz="1400" b="0" i="1" smtClean="0">
                          <a:latin typeface="Cambria Math" panose="02040503050406030204" pitchFamily="18" charset="0"/>
                        </a:rPr>
                        <m:t>𝑏</m:t>
                      </m:r>
                      <m:r>
                        <a:rPr lang="fr-FR" sz="1400" b="0" i="1" smtClean="0">
                          <a:latin typeface="Cambria Math" panose="02040503050406030204" pitchFamily="18" charset="0"/>
                        </a:rPr>
                        <m:t>_</m:t>
                      </m:r>
                      <m:r>
                        <a:rPr lang="fr-FR" sz="1400" b="0" i="1" smtClean="0">
                          <a:latin typeface="Cambria Math" panose="02040503050406030204" pitchFamily="18" charset="0"/>
                        </a:rPr>
                        <m:t>𝑖𝑛</m:t>
                      </m:r>
                      <m:r>
                        <a:rPr lang="fr-FR" sz="1400" b="0" i="1" smtClean="0">
                          <a:latin typeface="Cambria Math" panose="02040503050406030204" pitchFamily="18" charset="0"/>
                        </a:rPr>
                        <m:t>=</m:t>
                      </m:r>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m:t>
                          </m:r>
                          <m:r>
                            <a:rPr lang="fr-FR" sz="1400" b="0" i="1" smtClean="0">
                              <a:latin typeface="Cambria Math" panose="02040503050406030204" pitchFamily="18" charset="0"/>
                            </a:rPr>
                            <m:t>𝑏</m:t>
                          </m:r>
                        </m:e>
                        <m:sub>
                          <m:r>
                            <a:rPr lang="fr-FR" sz="1400" b="0" i="1" smtClean="0">
                              <a:latin typeface="Cambria Math" panose="02040503050406030204" pitchFamily="18" charset="0"/>
                            </a:rPr>
                            <m:t>1</m:t>
                          </m:r>
                        </m:sub>
                      </m:sSub>
                      <m:r>
                        <a:rPr lang="fr-FR" sz="1400" b="0" i="1" smtClean="0">
                          <a:latin typeface="Cambria Math" panose="02040503050406030204" pitchFamily="18" charset="0"/>
                        </a:rPr>
                        <m:t>]</m:t>
                      </m:r>
                    </m:oMath>
                  </m:oMathPara>
                </a14:m>
                <a:endParaRPr lang="en-GB" sz="1400" dirty="0"/>
              </a:p>
            </p:txBody>
          </p:sp>
        </mc:Choice>
        <mc:Fallback xmlns="">
          <p:sp>
            <p:nvSpPr>
              <p:cNvPr id="5" name="ZoneTexte 4">
                <a:extLst>
                  <a:ext uri="{FF2B5EF4-FFF2-40B4-BE49-F238E27FC236}">
                    <a16:creationId xmlns:a16="http://schemas.microsoft.com/office/drawing/2014/main" id="{67AD1511-D2D2-1C40-BE90-A2F09BDEF617}"/>
                  </a:ext>
                </a:extLst>
              </p:cNvPr>
              <p:cNvSpPr txBox="1">
                <a:spLocks noRot="1" noChangeAspect="1" noMove="1" noResize="1" noEditPoints="1" noAdjustHandles="1" noChangeArrowheads="1" noChangeShapeType="1" noTextEdit="1"/>
              </p:cNvSpPr>
              <p:nvPr/>
            </p:nvSpPr>
            <p:spPr>
              <a:xfrm>
                <a:off x="806314" y="4992977"/>
                <a:ext cx="1824058" cy="881908"/>
              </a:xfrm>
              <a:prstGeom prst="rect">
                <a:avLst/>
              </a:prstGeom>
              <a:blipFill>
                <a:blip r:embed="rId5"/>
                <a:stretch>
                  <a:fillRect b="-2857"/>
                </a:stretch>
              </a:blipFill>
            </p:spPr>
            <p:txBody>
              <a:bodyPr/>
              <a:lstStyle/>
              <a:p>
                <a:r>
                  <a:rPr lang="en-GB">
                    <a:noFill/>
                  </a:rPr>
                  <a:t> </a:t>
                </a:r>
              </a:p>
            </p:txBody>
          </p:sp>
        </mc:Fallback>
      </mc:AlternateContent>
      <p:sp>
        <p:nvSpPr>
          <p:cNvPr id="7" name="ZoneTexte 6">
            <a:extLst>
              <a:ext uri="{FF2B5EF4-FFF2-40B4-BE49-F238E27FC236}">
                <a16:creationId xmlns:a16="http://schemas.microsoft.com/office/drawing/2014/main" id="{6646A7C0-7C6E-A76C-0FB8-74E72E7A432C}"/>
              </a:ext>
            </a:extLst>
          </p:cNvPr>
          <p:cNvSpPr txBox="1"/>
          <p:nvPr/>
        </p:nvSpPr>
        <p:spPr>
          <a:xfrm>
            <a:off x="5058137" y="4874866"/>
            <a:ext cx="6782764" cy="1143969"/>
          </a:xfrm>
          <a:prstGeom prst="rect">
            <a:avLst/>
          </a:prstGeom>
          <a:noFill/>
          <a:ln>
            <a:solidFill>
              <a:schemeClr val="bg1">
                <a:lumMod val="50000"/>
              </a:schemeClr>
            </a:solidFill>
          </a:ln>
        </p:spPr>
        <p:txBody>
          <a:bodyPr wrap="square" rtlCol="0">
            <a:spAutoFit/>
          </a:bodyPr>
          <a:lstStyle/>
          <a:p>
            <a:endParaRPr lang="en-GB" dirty="0"/>
          </a:p>
        </p:txBody>
      </p:sp>
    </p:spTree>
    <p:extLst>
      <p:ext uri="{BB962C8B-B14F-4D97-AF65-F5344CB8AC3E}">
        <p14:creationId xmlns:p14="http://schemas.microsoft.com/office/powerpoint/2010/main" val="20332379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FA1CE-47F7-79F0-EA11-9D9B566BB01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8D20BBE-8E4B-3000-3AC4-9D01F35078B4}"/>
              </a:ext>
            </a:extLst>
          </p:cNvPr>
          <p:cNvSpPr>
            <a:spLocks noGrp="1"/>
          </p:cNvSpPr>
          <p:nvPr>
            <p:ph type="title"/>
          </p:nvPr>
        </p:nvSpPr>
        <p:spPr/>
        <p:txBody>
          <a:bodyPr/>
          <a:lstStyle/>
          <a:p>
            <a:r>
              <a:rPr lang="fr-FR" dirty="0"/>
              <a:t>Neural Network</a:t>
            </a:r>
          </a:p>
        </p:txBody>
      </p:sp>
      <p:sp>
        <p:nvSpPr>
          <p:cNvPr id="72" name="ZoneTexte 71">
            <a:extLst>
              <a:ext uri="{FF2B5EF4-FFF2-40B4-BE49-F238E27FC236}">
                <a16:creationId xmlns:a16="http://schemas.microsoft.com/office/drawing/2014/main" id="{9FCA2A33-51A8-11DE-3855-BAEF6059398B}"/>
              </a:ext>
            </a:extLst>
          </p:cNvPr>
          <p:cNvSpPr txBox="1"/>
          <p:nvPr/>
        </p:nvSpPr>
        <p:spPr>
          <a:xfrm>
            <a:off x="1718343" y="1500565"/>
            <a:ext cx="3157800" cy="307777"/>
          </a:xfrm>
          <a:prstGeom prst="rect">
            <a:avLst/>
          </a:prstGeom>
          <a:noFill/>
        </p:spPr>
        <p:txBody>
          <a:bodyPr wrap="square" rtlCol="0">
            <a:spAutoFit/>
          </a:bodyPr>
          <a:lstStyle/>
          <a:p>
            <a:pPr algn="ctr"/>
            <a:r>
              <a:rPr lang="fr-FR" sz="1400" b="1" dirty="0">
                <a:solidFill>
                  <a:srgbClr val="FF0000"/>
                </a:solidFill>
              </a:rPr>
              <a:t>BACKPROPAGATION</a:t>
            </a:r>
            <a:endParaRPr lang="fr-FR" sz="1400" b="1" dirty="0"/>
          </a:p>
        </p:txBody>
      </p:sp>
      <p:sp>
        <p:nvSpPr>
          <p:cNvPr id="20" name="Espace réservé du pied de page 19">
            <a:extLst>
              <a:ext uri="{FF2B5EF4-FFF2-40B4-BE49-F238E27FC236}">
                <a16:creationId xmlns:a16="http://schemas.microsoft.com/office/drawing/2014/main" id="{D7B5D09E-54AC-A31B-B67D-BEC5885ECDDC}"/>
              </a:ext>
            </a:extLst>
          </p:cNvPr>
          <p:cNvSpPr>
            <a:spLocks noGrp="1"/>
          </p:cNvSpPr>
          <p:nvPr>
            <p:ph type="ftr" sz="quarter" idx="11"/>
          </p:nvPr>
        </p:nvSpPr>
        <p:spPr/>
        <p:txBody>
          <a:bodyPr/>
          <a:lstStyle/>
          <a:p>
            <a:r>
              <a:rPr lang="fr-FR"/>
              <a:t>Introduction to Neural Networks. Author: David Thébault</a:t>
            </a:r>
          </a:p>
        </p:txBody>
      </p:sp>
      <p:pic>
        <p:nvPicPr>
          <p:cNvPr id="4" name="Image 3">
            <a:extLst>
              <a:ext uri="{FF2B5EF4-FFF2-40B4-BE49-F238E27FC236}">
                <a16:creationId xmlns:a16="http://schemas.microsoft.com/office/drawing/2014/main" id="{2A63A604-E3D8-8569-9DF2-354CC05032C7}"/>
              </a:ext>
            </a:extLst>
          </p:cNvPr>
          <p:cNvPicPr>
            <a:picLocks noChangeAspect="1"/>
          </p:cNvPicPr>
          <p:nvPr/>
        </p:nvPicPr>
        <p:blipFill>
          <a:blip r:embed="rId2"/>
          <a:stretch>
            <a:fillRect/>
          </a:stretch>
        </p:blipFill>
        <p:spPr>
          <a:xfrm>
            <a:off x="545638" y="1925996"/>
            <a:ext cx="4247113" cy="2043681"/>
          </a:xfrm>
          <a:prstGeom prst="rect">
            <a:avLst/>
          </a:prstGeom>
        </p:spPr>
      </p:pic>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471A0EE1-C226-8B1C-F611-F480D68AC408}"/>
                  </a:ext>
                </a:extLst>
              </p:cNvPr>
              <p:cNvSpPr txBox="1"/>
              <p:nvPr/>
            </p:nvSpPr>
            <p:spPr>
              <a:xfrm>
                <a:off x="5151158" y="1929442"/>
                <a:ext cx="6828395" cy="2179571"/>
              </a:xfrm>
              <a:prstGeom prst="rect">
                <a:avLst/>
              </a:prstGeom>
              <a:noFill/>
            </p:spPr>
            <p:txBody>
              <a:bodyPr wrap="square" rtlCol="0">
                <a:spAutoFit/>
              </a:bodyPr>
              <a:lstStyle/>
              <a:p>
                <a:r>
                  <a:rPr lang="en-GB" b="1" dirty="0">
                    <a:latin typeface="Cambria Math" panose="02040503050406030204" pitchFamily="18" charset="0"/>
                  </a:rPr>
                  <a:t>C</a:t>
                </a:r>
                <a14:m>
                  <m:oMath xmlns:m="http://schemas.openxmlformats.org/officeDocument/2006/math">
                    <m:r>
                      <a:rPr lang="fr-FR" b="1" i="0" smtClean="0">
                        <a:latin typeface="Cambria Math" panose="02040503050406030204" pitchFamily="18" charset="0"/>
                      </a:rPr>
                      <m:t>𝐡𝐚𝐢𝐧</m:t>
                    </m:r>
                    <m:r>
                      <a:rPr lang="fr-FR" b="1" i="0" smtClean="0">
                        <a:latin typeface="Cambria Math" panose="02040503050406030204" pitchFamily="18" charset="0"/>
                      </a:rPr>
                      <m:t> </m:t>
                    </m:r>
                    <m:r>
                      <a:rPr lang="fr-FR" b="1" i="0" smtClean="0">
                        <a:latin typeface="Cambria Math" panose="02040503050406030204" pitchFamily="18" charset="0"/>
                      </a:rPr>
                      <m:t>𝐫𝐮𝐥𝐞</m:t>
                    </m:r>
                    <m:r>
                      <a:rPr lang="fr-FR" b="1" i="0" smtClean="0">
                        <a:latin typeface="Cambria Math" panose="02040503050406030204" pitchFamily="18" charset="0"/>
                      </a:rPr>
                      <m:t> </m:t>
                    </m:r>
                    <m:r>
                      <a:rPr lang="fr-FR" b="1" i="0" smtClean="0">
                        <a:latin typeface="Cambria Math" panose="02040503050406030204" pitchFamily="18" charset="0"/>
                      </a:rPr>
                      <m:t>𝐬𝐮𝐦𝐦𝐚𝐫𝐲</m:t>
                    </m:r>
                    <m:r>
                      <a:rPr lang="fr-FR" b="1" i="0" smtClean="0">
                        <a:latin typeface="Cambria Math" panose="02040503050406030204" pitchFamily="18" charset="0"/>
                      </a:rPr>
                      <m:t> </m:t>
                    </m:r>
                    <m:r>
                      <a:rPr lang="fr-FR" b="1" i="1">
                        <a:latin typeface="Cambria Math" panose="02040503050406030204" pitchFamily="18" charset="0"/>
                      </a:rPr>
                      <m:t>𝑾</m:t>
                    </m:r>
                    <m:r>
                      <a:rPr lang="fr-FR" b="1" i="1">
                        <a:latin typeface="Cambria Math" panose="02040503050406030204" pitchFamily="18" charset="0"/>
                      </a:rPr>
                      <m:t>_</m:t>
                    </m:r>
                    <m:r>
                      <a:rPr lang="fr-FR" b="1" i="1" smtClean="0">
                        <a:latin typeface="Cambria Math" panose="02040503050406030204" pitchFamily="18" charset="0"/>
                      </a:rPr>
                      <m:t>𝒐𝒖𝒕</m:t>
                    </m:r>
                    <m:r>
                      <m:rPr>
                        <m:nor/>
                      </m:rPr>
                      <a:rPr lang="en-GB" b="1" dirty="0">
                        <a:latin typeface="Cambria Math" panose="02040503050406030204" pitchFamily="18" charset="0"/>
                      </a:rPr>
                      <m:t>,</m:t>
                    </m:r>
                    <m:r>
                      <m:rPr>
                        <m:nor/>
                      </m:rPr>
                      <a:rPr lang="en-GB" b="1" i="1" dirty="0">
                        <a:latin typeface="Cambria Math" panose="02040503050406030204" pitchFamily="18" charset="0"/>
                      </a:rPr>
                      <m:t>b</m:t>
                    </m:r>
                    <m:r>
                      <a:rPr lang="fr-FR" b="1" i="1">
                        <a:latin typeface="Cambria Math" panose="02040503050406030204" pitchFamily="18" charset="0"/>
                      </a:rPr>
                      <m:t>_</m:t>
                    </m:r>
                    <m:r>
                      <a:rPr lang="fr-FR" b="1" i="1">
                        <a:latin typeface="Cambria Math" panose="02040503050406030204" pitchFamily="18" charset="0"/>
                      </a:rPr>
                      <m:t>𝒐𝒖𝒕</m:t>
                    </m:r>
                    <m:r>
                      <m:rPr>
                        <m:nor/>
                      </m:rPr>
                      <a:rPr lang="fr-FR" b="1" i="0" dirty="0" smtClean="0">
                        <a:latin typeface="Cambria Math" panose="02040503050406030204" pitchFamily="18" charset="0"/>
                      </a:rPr>
                      <m:t>,</m:t>
                    </m:r>
                    <m:r>
                      <m:rPr>
                        <m:nor/>
                      </m:rPr>
                      <a:rPr lang="en-GB" b="1" dirty="0">
                        <a:latin typeface="Cambria Math" panose="02040503050406030204" pitchFamily="18" charset="0"/>
                      </a:rPr>
                      <m:t> </m:t>
                    </m:r>
                    <m:r>
                      <a:rPr lang="fr-FR" b="1" i="1">
                        <a:latin typeface="Cambria Math" panose="02040503050406030204" pitchFamily="18" charset="0"/>
                      </a:rPr>
                      <m:t>𝑾</m:t>
                    </m:r>
                    <m:r>
                      <a:rPr lang="fr-FR" b="1" i="1">
                        <a:latin typeface="Cambria Math" panose="02040503050406030204" pitchFamily="18" charset="0"/>
                      </a:rPr>
                      <m:t>_</m:t>
                    </m:r>
                    <m:r>
                      <a:rPr lang="fr-FR" b="1" i="1">
                        <a:latin typeface="Cambria Math" panose="02040503050406030204" pitchFamily="18" charset="0"/>
                      </a:rPr>
                      <m:t>𝒊𝒏</m:t>
                    </m:r>
                  </m:oMath>
                </a14:m>
                <a:r>
                  <a:rPr lang="en-GB" b="1" dirty="0">
                    <a:latin typeface="Cambria Math" panose="02040503050406030204" pitchFamily="18" charset="0"/>
                  </a:rPr>
                  <a:t>, </a:t>
                </a:r>
                <a:r>
                  <a:rPr lang="en-GB" b="1" i="1" dirty="0">
                    <a:latin typeface="Cambria Math" panose="02040503050406030204" pitchFamily="18" charset="0"/>
                  </a:rPr>
                  <a:t>b</a:t>
                </a:r>
                <a14:m>
                  <m:oMath xmlns:m="http://schemas.openxmlformats.org/officeDocument/2006/math">
                    <m:r>
                      <a:rPr lang="fr-FR" b="1" i="1">
                        <a:latin typeface="Cambria Math" panose="02040503050406030204" pitchFamily="18" charset="0"/>
                      </a:rPr>
                      <m:t>_</m:t>
                    </m:r>
                    <m:r>
                      <a:rPr lang="fr-FR" b="1" i="1" smtClean="0">
                        <a:latin typeface="Cambria Math" panose="02040503050406030204" pitchFamily="18" charset="0"/>
                      </a:rPr>
                      <m:t>𝒊𝒏</m:t>
                    </m:r>
                    <m:r>
                      <a:rPr lang="fr-FR" b="1" i="1">
                        <a:latin typeface="Cambria Math" panose="02040503050406030204" pitchFamily="18" charset="0"/>
                      </a:rPr>
                      <m:t> </m:t>
                    </m:r>
                  </m:oMath>
                </a14:m>
                <a:r>
                  <a:rPr lang="en-GB" b="1" dirty="0">
                    <a:latin typeface="Cambria Math" panose="02040503050406030204" pitchFamily="18" charset="0"/>
                  </a:rPr>
                  <a:t>:</a:t>
                </a:r>
              </a:p>
              <a:p>
                <a:endParaRPr lang="en-GB" b="1" dirty="0">
                  <a:latin typeface="Cambria Math" panose="02040503050406030204" pitchFamily="18" charset="0"/>
                </a:endParaRPr>
              </a:p>
              <a:p>
                <a:r>
                  <a:rPr lang="en-GB" b="1" dirty="0">
                    <a:latin typeface="Cambria Math" panose="02040503050406030204" pitchFamily="18" charset="0"/>
                  </a:rPr>
                  <a:t>GRADIENTS</a:t>
                </a:r>
              </a:p>
              <a:p>
                <a:endParaRPr lang="en-GB" sz="12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f>
                        <m:fPr>
                          <m:ctrlPr>
                            <a:rPr lang="en-GB" sz="1200" b="1" i="1" smtClean="0">
                              <a:latin typeface="Cambria Math" panose="02040503050406030204" pitchFamily="18" charset="0"/>
                            </a:rPr>
                          </m:ctrlPr>
                        </m:fPr>
                        <m:num>
                          <m:r>
                            <a:rPr lang="en-GB" sz="1200" b="1" i="1" smtClean="0">
                              <a:latin typeface="Cambria Math" panose="02040503050406030204" pitchFamily="18" charset="0"/>
                            </a:rPr>
                            <m:t>𝝏</m:t>
                          </m:r>
                          <m:r>
                            <a:rPr lang="fr-FR" sz="1200" b="1" i="1" smtClean="0">
                              <a:latin typeface="Cambria Math" panose="02040503050406030204" pitchFamily="18" charset="0"/>
                            </a:rPr>
                            <m:t>𝑳𝒐𝒔𝒔</m:t>
                          </m:r>
                        </m:num>
                        <m:den>
                          <m:r>
                            <a:rPr lang="en-GB" sz="1200" b="1" i="1" smtClean="0">
                              <a:latin typeface="Cambria Math" panose="02040503050406030204" pitchFamily="18" charset="0"/>
                            </a:rPr>
                            <m:t>𝝏</m:t>
                          </m:r>
                          <m:r>
                            <a:rPr lang="fr-FR" sz="1200" b="1" i="1" smtClean="0">
                              <a:latin typeface="Cambria Math" panose="02040503050406030204" pitchFamily="18" charset="0"/>
                            </a:rPr>
                            <m:t>𝑾</m:t>
                          </m:r>
                          <m:r>
                            <a:rPr lang="fr-FR" sz="1200" b="1" i="1" smtClean="0">
                              <a:latin typeface="Cambria Math" panose="02040503050406030204" pitchFamily="18" charset="0"/>
                            </a:rPr>
                            <m:t>_</m:t>
                          </m:r>
                          <m:r>
                            <a:rPr lang="fr-FR" sz="1200" b="1" i="1" smtClean="0">
                              <a:latin typeface="Cambria Math" panose="02040503050406030204" pitchFamily="18" charset="0"/>
                            </a:rPr>
                            <m:t>𝒊𝒏</m:t>
                          </m:r>
                        </m:den>
                      </m:f>
                      <m:r>
                        <a:rPr lang="fr-FR" sz="1200" b="1" i="0" smtClean="0">
                          <a:latin typeface="Cambria Math" panose="02040503050406030204" pitchFamily="18" charset="0"/>
                        </a:rPr>
                        <m:t>=</m:t>
                      </m:r>
                      <m:r>
                        <a:rPr lang="en-GB" sz="1200" i="1">
                          <a:latin typeface="Cambria Math" panose="02040503050406030204" pitchFamily="18" charset="0"/>
                        </a:rPr>
                        <m:t>−2 (</m:t>
                      </m:r>
                      <m:r>
                        <a:rPr lang="en-GB" sz="1200" i="1">
                          <a:latin typeface="Cambria Math" panose="02040503050406030204" pitchFamily="18" charset="0"/>
                        </a:rPr>
                        <m:t>𝑡𝑎𝑟𝑔𝑒𝑡</m:t>
                      </m:r>
                      <m:r>
                        <a:rPr lang="en-GB" sz="1200" i="1">
                          <a:latin typeface="Cambria Math" panose="02040503050406030204" pitchFamily="18" charset="0"/>
                        </a:rPr>
                        <m:t> −</m:t>
                      </m:r>
                      <m:r>
                        <a:rPr lang="en-GB" sz="1200" i="1">
                          <a:latin typeface="Cambria Math" panose="02040503050406030204" pitchFamily="18" charset="0"/>
                        </a:rPr>
                        <m:t>𝑜𝑢𝑡</m:t>
                      </m:r>
                      <m:r>
                        <a:rPr lang="en-GB" sz="1200" i="1">
                          <a:latin typeface="Cambria Math" panose="02040503050406030204" pitchFamily="18" charset="0"/>
                        </a:rPr>
                        <m:t>)∗</m:t>
                      </m:r>
                      <m:r>
                        <a:rPr lang="fr-FR" sz="1200" i="1">
                          <a:latin typeface="Cambria Math" panose="02040503050406030204" pitchFamily="18" charset="0"/>
                        </a:rPr>
                        <m:t>𝑠𝑖𝑔𝑚𝑜𝑖𝑑</m:t>
                      </m:r>
                      <m:r>
                        <a:rPr lang="fr-FR" sz="1200" i="1">
                          <a:latin typeface="Cambria Math" panose="02040503050406030204" pitchFamily="18" charset="0"/>
                        </a:rPr>
                        <m:t>_</m:t>
                      </m:r>
                      <m:r>
                        <a:rPr lang="fr-FR" sz="1200" i="1">
                          <a:latin typeface="Cambria Math" panose="02040503050406030204" pitchFamily="18" charset="0"/>
                        </a:rPr>
                        <m:t>𝑑𝑒𝑟𝑖𝑣𝑎𝑡𝑖𝑣𝑒</m:t>
                      </m:r>
                      <m:d>
                        <m:dPr>
                          <m:ctrlPr>
                            <a:rPr lang="fr-FR" sz="1200" i="1">
                              <a:latin typeface="Cambria Math" panose="02040503050406030204" pitchFamily="18" charset="0"/>
                            </a:rPr>
                          </m:ctrlPr>
                        </m:dPr>
                        <m:e>
                          <m:r>
                            <a:rPr lang="fr-FR" sz="1200" i="1">
                              <a:latin typeface="Cambria Math" panose="02040503050406030204" pitchFamily="18" charset="0"/>
                            </a:rPr>
                            <m:t>𝑛𝑒𝑡</m:t>
                          </m:r>
                          <m:r>
                            <a:rPr lang="fr-FR" sz="1200" i="1">
                              <a:latin typeface="Cambria Math" panose="02040503050406030204" pitchFamily="18" charset="0"/>
                            </a:rPr>
                            <m:t>_</m:t>
                          </m:r>
                          <m:r>
                            <a:rPr lang="fr-FR" sz="1200" i="1">
                              <a:latin typeface="Cambria Math" panose="02040503050406030204" pitchFamily="18" charset="0"/>
                            </a:rPr>
                            <m:t>𝑜</m:t>
                          </m:r>
                        </m:e>
                      </m:d>
                      <m:r>
                        <a:rPr lang="fr-FR" sz="1200" b="0" i="1" smtClean="0">
                          <a:latin typeface="Cambria Math" panose="02040503050406030204" pitchFamily="18" charset="0"/>
                        </a:rPr>
                        <m:t>∗</m:t>
                      </m:r>
                      <m:r>
                        <a:rPr lang="fr-FR" sz="1200" i="1">
                          <a:latin typeface="Cambria Math" panose="02040503050406030204" pitchFamily="18" charset="0"/>
                        </a:rPr>
                        <m:t>𝑊</m:t>
                      </m:r>
                      <m:r>
                        <a:rPr lang="fr-FR" sz="1200" i="1">
                          <a:latin typeface="Cambria Math" panose="02040503050406030204" pitchFamily="18" charset="0"/>
                        </a:rPr>
                        <m:t>_</m:t>
                      </m:r>
                      <m:r>
                        <a:rPr lang="fr-FR" sz="1200" i="1">
                          <a:latin typeface="Cambria Math" panose="02040503050406030204" pitchFamily="18" charset="0"/>
                        </a:rPr>
                        <m:t>𝑜𝑢𝑡</m:t>
                      </m:r>
                      <m:r>
                        <a:rPr lang="fr-FR" sz="1200" i="1">
                          <a:latin typeface="Cambria Math" panose="02040503050406030204" pitchFamily="18" charset="0"/>
                        </a:rPr>
                        <m:t>∗</m:t>
                      </m:r>
                      <m:r>
                        <a:rPr lang="fr-FR" sz="1200" i="1">
                          <a:latin typeface="Cambria Math" panose="02040503050406030204" pitchFamily="18" charset="0"/>
                        </a:rPr>
                        <m:t>𝑟𝑒𝐿𝑈</m:t>
                      </m:r>
                      <m:r>
                        <a:rPr lang="fr-FR" sz="1200" i="1">
                          <a:latin typeface="Cambria Math" panose="02040503050406030204" pitchFamily="18" charset="0"/>
                        </a:rPr>
                        <m:t>_</m:t>
                      </m:r>
                      <m:r>
                        <a:rPr lang="fr-FR" sz="1200" i="1">
                          <a:latin typeface="Cambria Math" panose="02040503050406030204" pitchFamily="18" charset="0"/>
                        </a:rPr>
                        <m:t>𝑑𝑒𝑟𝑖𝑣𝑎𝑡𝑖𝑣𝑒</m:t>
                      </m:r>
                      <m:r>
                        <a:rPr lang="fr-FR" sz="1200" i="1">
                          <a:latin typeface="Cambria Math" panose="02040503050406030204" pitchFamily="18" charset="0"/>
                        </a:rPr>
                        <m:t>(</m:t>
                      </m:r>
                      <m:r>
                        <a:rPr lang="fr-FR" sz="1200" i="1">
                          <a:latin typeface="Cambria Math" panose="02040503050406030204" pitchFamily="18" charset="0"/>
                        </a:rPr>
                        <m:t>𝑛𝑒𝑡</m:t>
                      </m:r>
                      <m:r>
                        <a:rPr lang="fr-FR" sz="1200" i="1">
                          <a:latin typeface="Cambria Math" panose="02040503050406030204" pitchFamily="18" charset="0"/>
                        </a:rPr>
                        <m:t>_</m:t>
                      </m:r>
                      <m:r>
                        <a:rPr lang="fr-FR" sz="1200" i="1">
                          <a:latin typeface="Cambria Math" panose="02040503050406030204" pitchFamily="18" charset="0"/>
                        </a:rPr>
                        <m:t>h</m:t>
                      </m:r>
                      <m:r>
                        <a:rPr lang="fr-FR" sz="1200" i="1">
                          <a:latin typeface="Cambria Math" panose="02040503050406030204" pitchFamily="18" charset="0"/>
                        </a:rPr>
                        <m:t>)∗</m:t>
                      </m:r>
                      <m:r>
                        <a:rPr lang="fr-FR" sz="1200" b="0" i="1" smtClean="0">
                          <a:latin typeface="Cambria Math" panose="02040503050406030204" pitchFamily="18" charset="0"/>
                        </a:rPr>
                        <m:t>𝑋</m:t>
                      </m:r>
                    </m:oMath>
                  </m:oMathPara>
                </a14:m>
                <a:endParaRPr lang="en-GB" sz="1200" dirty="0"/>
              </a:p>
              <a:p>
                <a:endParaRPr lang="en-GB" sz="1200" b="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f>
                        <m:fPr>
                          <m:ctrlPr>
                            <a:rPr lang="en-GB" sz="1200" b="1" i="1">
                              <a:latin typeface="Cambria Math" panose="02040503050406030204" pitchFamily="18" charset="0"/>
                            </a:rPr>
                          </m:ctrlPr>
                        </m:fPr>
                        <m:num>
                          <m:r>
                            <a:rPr lang="en-GB" sz="1200" b="1" i="1">
                              <a:latin typeface="Cambria Math" panose="02040503050406030204" pitchFamily="18" charset="0"/>
                            </a:rPr>
                            <m:t>𝝏</m:t>
                          </m:r>
                          <m:r>
                            <a:rPr lang="fr-FR" sz="1200" b="1" i="1">
                              <a:latin typeface="Cambria Math" panose="02040503050406030204" pitchFamily="18" charset="0"/>
                            </a:rPr>
                            <m:t>𝑳𝒐𝒔𝒔</m:t>
                          </m:r>
                        </m:num>
                        <m:den>
                          <m:r>
                            <a:rPr lang="en-GB" sz="1200" b="1" i="1">
                              <a:latin typeface="Cambria Math" panose="02040503050406030204" pitchFamily="18" charset="0"/>
                            </a:rPr>
                            <m:t>𝝏</m:t>
                          </m:r>
                          <m:r>
                            <a:rPr lang="fr-FR" sz="1200" b="1" i="1" smtClean="0">
                              <a:latin typeface="Cambria Math" panose="02040503050406030204" pitchFamily="18" charset="0"/>
                            </a:rPr>
                            <m:t>𝒃</m:t>
                          </m:r>
                          <m:r>
                            <a:rPr lang="fr-FR" sz="1200" b="1" i="1">
                              <a:latin typeface="Cambria Math" panose="02040503050406030204" pitchFamily="18" charset="0"/>
                            </a:rPr>
                            <m:t>_</m:t>
                          </m:r>
                          <m:r>
                            <a:rPr lang="fr-FR" sz="1200" b="1" i="1">
                              <a:latin typeface="Cambria Math" panose="02040503050406030204" pitchFamily="18" charset="0"/>
                            </a:rPr>
                            <m:t>𝒊𝒏</m:t>
                          </m:r>
                        </m:den>
                      </m:f>
                      <m:r>
                        <a:rPr lang="fr-FR" sz="1200" b="1">
                          <a:latin typeface="Cambria Math" panose="02040503050406030204" pitchFamily="18" charset="0"/>
                        </a:rPr>
                        <m:t>=</m:t>
                      </m:r>
                      <m:r>
                        <a:rPr lang="en-GB" sz="1200" i="1">
                          <a:latin typeface="Cambria Math" panose="02040503050406030204" pitchFamily="18" charset="0"/>
                        </a:rPr>
                        <m:t>−2 (</m:t>
                      </m:r>
                      <m:r>
                        <a:rPr lang="en-GB" sz="1200" i="1">
                          <a:latin typeface="Cambria Math" panose="02040503050406030204" pitchFamily="18" charset="0"/>
                        </a:rPr>
                        <m:t>𝑡𝑎𝑟𝑔𝑒𝑡</m:t>
                      </m:r>
                      <m:r>
                        <a:rPr lang="en-GB" sz="1200" i="1">
                          <a:latin typeface="Cambria Math" panose="02040503050406030204" pitchFamily="18" charset="0"/>
                        </a:rPr>
                        <m:t> −</m:t>
                      </m:r>
                      <m:r>
                        <a:rPr lang="en-GB" sz="1200" i="1">
                          <a:latin typeface="Cambria Math" panose="02040503050406030204" pitchFamily="18" charset="0"/>
                        </a:rPr>
                        <m:t>𝑜𝑢𝑡</m:t>
                      </m:r>
                      <m:r>
                        <a:rPr lang="en-GB" sz="1200" i="1">
                          <a:latin typeface="Cambria Math" panose="02040503050406030204" pitchFamily="18" charset="0"/>
                        </a:rPr>
                        <m:t>)∗</m:t>
                      </m:r>
                      <m:r>
                        <a:rPr lang="fr-FR" sz="1200" i="1">
                          <a:latin typeface="Cambria Math" panose="02040503050406030204" pitchFamily="18" charset="0"/>
                        </a:rPr>
                        <m:t>𝑠𝑖𝑔𝑚𝑜𝑖𝑑</m:t>
                      </m:r>
                      <m:r>
                        <a:rPr lang="fr-FR" sz="1200" i="1">
                          <a:latin typeface="Cambria Math" panose="02040503050406030204" pitchFamily="18" charset="0"/>
                        </a:rPr>
                        <m:t>_</m:t>
                      </m:r>
                      <m:r>
                        <a:rPr lang="fr-FR" sz="1200" i="1">
                          <a:latin typeface="Cambria Math" panose="02040503050406030204" pitchFamily="18" charset="0"/>
                        </a:rPr>
                        <m:t>𝑑𝑒𝑟𝑖𝑣𝑎𝑡𝑖𝑣𝑒</m:t>
                      </m:r>
                      <m:d>
                        <m:dPr>
                          <m:ctrlPr>
                            <a:rPr lang="fr-FR" sz="1200" i="1">
                              <a:latin typeface="Cambria Math" panose="02040503050406030204" pitchFamily="18" charset="0"/>
                            </a:rPr>
                          </m:ctrlPr>
                        </m:dPr>
                        <m:e>
                          <m:r>
                            <a:rPr lang="fr-FR" sz="1200" i="1">
                              <a:latin typeface="Cambria Math" panose="02040503050406030204" pitchFamily="18" charset="0"/>
                            </a:rPr>
                            <m:t>𝑛𝑒𝑡</m:t>
                          </m:r>
                          <m:r>
                            <a:rPr lang="fr-FR" sz="1200" i="1">
                              <a:latin typeface="Cambria Math" panose="02040503050406030204" pitchFamily="18" charset="0"/>
                            </a:rPr>
                            <m:t>_</m:t>
                          </m:r>
                          <m:r>
                            <a:rPr lang="fr-FR" sz="1200" i="1">
                              <a:latin typeface="Cambria Math" panose="02040503050406030204" pitchFamily="18" charset="0"/>
                            </a:rPr>
                            <m:t>𝑜</m:t>
                          </m:r>
                        </m:e>
                      </m:d>
                      <m:r>
                        <a:rPr lang="fr-FR" sz="1200" i="1">
                          <a:latin typeface="Cambria Math" panose="02040503050406030204" pitchFamily="18" charset="0"/>
                        </a:rPr>
                        <m:t>∗</m:t>
                      </m:r>
                      <m:r>
                        <a:rPr lang="fr-FR" sz="1200" i="1">
                          <a:latin typeface="Cambria Math" panose="02040503050406030204" pitchFamily="18" charset="0"/>
                        </a:rPr>
                        <m:t>𝑊</m:t>
                      </m:r>
                      <m:r>
                        <a:rPr lang="fr-FR" sz="1200" i="1">
                          <a:latin typeface="Cambria Math" panose="02040503050406030204" pitchFamily="18" charset="0"/>
                        </a:rPr>
                        <m:t>_</m:t>
                      </m:r>
                      <m:r>
                        <a:rPr lang="fr-FR" sz="1200" i="1">
                          <a:latin typeface="Cambria Math" panose="02040503050406030204" pitchFamily="18" charset="0"/>
                        </a:rPr>
                        <m:t>𝑜𝑢𝑡</m:t>
                      </m:r>
                      <m:r>
                        <a:rPr lang="fr-FR" sz="1200" i="1">
                          <a:latin typeface="Cambria Math" panose="02040503050406030204" pitchFamily="18" charset="0"/>
                        </a:rPr>
                        <m:t>∗</m:t>
                      </m:r>
                      <m:r>
                        <a:rPr lang="fr-FR" sz="1200" i="1">
                          <a:latin typeface="Cambria Math" panose="02040503050406030204" pitchFamily="18" charset="0"/>
                        </a:rPr>
                        <m:t>𝑟𝑒𝐿𝑈</m:t>
                      </m:r>
                      <m:r>
                        <a:rPr lang="fr-FR" sz="1200" i="1">
                          <a:latin typeface="Cambria Math" panose="02040503050406030204" pitchFamily="18" charset="0"/>
                        </a:rPr>
                        <m:t>_</m:t>
                      </m:r>
                      <m:r>
                        <a:rPr lang="fr-FR" sz="1200" i="1">
                          <a:latin typeface="Cambria Math" panose="02040503050406030204" pitchFamily="18" charset="0"/>
                        </a:rPr>
                        <m:t>𝑑𝑒𝑟𝑖𝑣𝑎𝑡𝑖𝑣𝑒</m:t>
                      </m:r>
                      <m:r>
                        <a:rPr lang="fr-FR" sz="1200" i="1">
                          <a:latin typeface="Cambria Math" panose="02040503050406030204" pitchFamily="18" charset="0"/>
                        </a:rPr>
                        <m:t>(</m:t>
                      </m:r>
                      <m:r>
                        <a:rPr lang="fr-FR" sz="1200" i="1">
                          <a:latin typeface="Cambria Math" panose="02040503050406030204" pitchFamily="18" charset="0"/>
                        </a:rPr>
                        <m:t>𝑛𝑒𝑡</m:t>
                      </m:r>
                      <m:r>
                        <a:rPr lang="fr-FR" sz="1200" i="1">
                          <a:latin typeface="Cambria Math" panose="02040503050406030204" pitchFamily="18" charset="0"/>
                        </a:rPr>
                        <m:t>_</m:t>
                      </m:r>
                      <m:r>
                        <a:rPr lang="fr-FR" sz="1200" i="1">
                          <a:latin typeface="Cambria Math" panose="02040503050406030204" pitchFamily="18" charset="0"/>
                        </a:rPr>
                        <m:t>h</m:t>
                      </m:r>
                      <m:r>
                        <a:rPr lang="fr-FR" sz="1200" i="1">
                          <a:latin typeface="Cambria Math" panose="02040503050406030204" pitchFamily="18" charset="0"/>
                        </a:rPr>
                        <m:t>)∗1</m:t>
                      </m:r>
                    </m:oMath>
                  </m:oMathPara>
                </a14:m>
                <a:endParaRPr lang="en-GB" sz="1200" dirty="0"/>
              </a:p>
              <a:p>
                <a:endParaRPr lang="en-GB" sz="1200" i="1" dirty="0">
                  <a:latin typeface="Cambria Math" panose="02040503050406030204" pitchFamily="18" charset="0"/>
                </a:endParaRPr>
              </a:p>
            </p:txBody>
          </p:sp>
        </mc:Choice>
        <mc:Fallback xmlns="">
          <p:sp>
            <p:nvSpPr>
              <p:cNvPr id="6" name="ZoneTexte 5">
                <a:extLst>
                  <a:ext uri="{FF2B5EF4-FFF2-40B4-BE49-F238E27FC236}">
                    <a16:creationId xmlns:a16="http://schemas.microsoft.com/office/drawing/2014/main" id="{471A0EE1-C226-8B1C-F611-F480D68AC408}"/>
                  </a:ext>
                </a:extLst>
              </p:cNvPr>
              <p:cNvSpPr txBox="1">
                <a:spLocks noRot="1" noChangeAspect="1" noMove="1" noResize="1" noEditPoints="1" noAdjustHandles="1" noChangeArrowheads="1" noChangeShapeType="1" noTextEdit="1"/>
              </p:cNvSpPr>
              <p:nvPr/>
            </p:nvSpPr>
            <p:spPr>
              <a:xfrm>
                <a:off x="5151158" y="1929442"/>
                <a:ext cx="6828395" cy="2179571"/>
              </a:xfrm>
              <a:prstGeom prst="rect">
                <a:avLst/>
              </a:prstGeom>
              <a:blipFill>
                <a:blip r:embed="rId3"/>
                <a:stretch>
                  <a:fillRect l="-742" t="-1744"/>
                </a:stretch>
              </a:blipFill>
            </p:spPr>
            <p:txBody>
              <a:bodyPr/>
              <a:lstStyle/>
              <a:p>
                <a:r>
                  <a:rPr lang="en-GB">
                    <a:noFill/>
                  </a:rPr>
                  <a:t> </a:t>
                </a:r>
              </a:p>
            </p:txBody>
          </p:sp>
        </mc:Fallback>
      </mc:AlternateContent>
      <p:sp>
        <p:nvSpPr>
          <p:cNvPr id="10" name="Flèche vers le haut 9">
            <a:extLst>
              <a:ext uri="{FF2B5EF4-FFF2-40B4-BE49-F238E27FC236}">
                <a16:creationId xmlns:a16="http://schemas.microsoft.com/office/drawing/2014/main" id="{E75D7EB9-A799-7F66-C9D8-72077E66849E}"/>
              </a:ext>
            </a:extLst>
          </p:cNvPr>
          <p:cNvSpPr/>
          <p:nvPr/>
        </p:nvSpPr>
        <p:spPr>
          <a:xfrm>
            <a:off x="2801073" y="4109013"/>
            <a:ext cx="347241" cy="787078"/>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lèche vers le haut 10">
            <a:extLst>
              <a:ext uri="{FF2B5EF4-FFF2-40B4-BE49-F238E27FC236}">
                <a16:creationId xmlns:a16="http://schemas.microsoft.com/office/drawing/2014/main" id="{682AAC17-E9C0-ECAD-81A3-F474157A6769}"/>
              </a:ext>
            </a:extLst>
          </p:cNvPr>
          <p:cNvSpPr/>
          <p:nvPr/>
        </p:nvSpPr>
        <p:spPr>
          <a:xfrm>
            <a:off x="1182543" y="4087788"/>
            <a:ext cx="347241" cy="787078"/>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9A25A163-EA9E-4D37-1D2E-67296FAE0992}"/>
                  </a:ext>
                </a:extLst>
              </p:cNvPr>
              <p:cNvSpPr txBox="1"/>
              <p:nvPr/>
            </p:nvSpPr>
            <p:spPr>
              <a:xfrm>
                <a:off x="2666919" y="4992977"/>
                <a:ext cx="1824058" cy="88190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fr-FR" sz="1400" b="0" i="1" smtClean="0">
                          <a:latin typeface="Cambria Math" panose="02040503050406030204" pitchFamily="18" charset="0"/>
                        </a:rPr>
                        <m:t>𝑊</m:t>
                      </m:r>
                      <m:r>
                        <a:rPr lang="fr-FR" sz="1400" b="0" i="1" smtClean="0">
                          <a:latin typeface="Cambria Math" panose="02040503050406030204" pitchFamily="18" charset="0"/>
                        </a:rPr>
                        <m:t>_</m:t>
                      </m:r>
                      <m:r>
                        <a:rPr lang="fr-FR" sz="1400" b="0" i="1" smtClean="0">
                          <a:latin typeface="Cambria Math" panose="02040503050406030204" pitchFamily="18" charset="0"/>
                        </a:rPr>
                        <m:t>𝑜𝑢𝑡</m:t>
                      </m:r>
                      <m:r>
                        <a:rPr lang="fr-FR" sz="1400" i="1">
                          <a:latin typeface="Cambria Math" panose="02040503050406030204" pitchFamily="18" charset="0"/>
                        </a:rPr>
                        <m:t>=</m:t>
                      </m:r>
                      <m:d>
                        <m:dPr>
                          <m:begChr m:val="["/>
                          <m:endChr m:val="]"/>
                          <m:ctrlPr>
                            <a:rPr lang="en-GB" sz="1400" i="1">
                              <a:latin typeface="Cambria Math" panose="02040503050406030204" pitchFamily="18" charset="0"/>
                            </a:rPr>
                          </m:ctrlPr>
                        </m:dPr>
                        <m:e>
                          <m:m>
                            <m:mPr>
                              <m:mcs>
                                <m:mc>
                                  <m:mcPr>
                                    <m:count m:val="2"/>
                                    <m:mcJc m:val="center"/>
                                  </m:mcPr>
                                </m:mc>
                              </m:mcs>
                              <m:ctrlPr>
                                <a:rPr lang="en-GB" sz="1400" i="1">
                                  <a:latin typeface="Cambria Math" panose="02040503050406030204" pitchFamily="18" charset="0"/>
                                </a:rPr>
                              </m:ctrlPr>
                            </m:mPr>
                            <m:mr>
                              <m:e>
                                <m:sSub>
                                  <m:sSubPr>
                                    <m:ctrlPr>
                                      <a:rPr lang="fr-FR" sz="1400" i="1">
                                        <a:latin typeface="Cambria Math" panose="02040503050406030204" pitchFamily="18" charset="0"/>
                                      </a:rPr>
                                    </m:ctrlPr>
                                  </m:sSubPr>
                                  <m:e>
                                    <m:r>
                                      <m:rPr>
                                        <m:brk m:alnAt="7"/>
                                      </m:rPr>
                                      <a:rPr lang="fr-FR" sz="1400" i="1">
                                        <a:latin typeface="Cambria Math" panose="02040503050406030204" pitchFamily="18" charset="0"/>
                                      </a:rPr>
                                      <m:t>𝑤</m:t>
                                    </m:r>
                                  </m:e>
                                  <m:sub>
                                    <m:r>
                                      <m:rPr>
                                        <m:brk m:alnAt="7"/>
                                      </m:rPr>
                                      <a:rPr lang="fr-FR" sz="1400" i="1">
                                        <a:latin typeface="Cambria Math" panose="02040503050406030204" pitchFamily="18" charset="0"/>
                                      </a:rPr>
                                      <m:t>5</m:t>
                                    </m:r>
                                  </m:sub>
                                </m:sSub>
                              </m:e>
                              <m:e>
                                <m:sSub>
                                  <m:sSubPr>
                                    <m:ctrlPr>
                                      <a:rPr lang="fr-FR" sz="1400" i="1">
                                        <a:latin typeface="Cambria Math" panose="02040503050406030204" pitchFamily="18" charset="0"/>
                                      </a:rPr>
                                    </m:ctrlPr>
                                  </m:sSubPr>
                                  <m:e>
                                    <m:r>
                                      <a:rPr lang="fr-FR" sz="1400" i="1">
                                        <a:latin typeface="Cambria Math" panose="02040503050406030204" pitchFamily="18" charset="0"/>
                                      </a:rPr>
                                      <m:t>𝑤</m:t>
                                    </m:r>
                                  </m:e>
                                  <m:sub>
                                    <m:r>
                                      <a:rPr lang="fr-FR" sz="1400" i="1">
                                        <a:latin typeface="Cambria Math" panose="02040503050406030204" pitchFamily="18" charset="0"/>
                                      </a:rPr>
                                      <m:t>6</m:t>
                                    </m:r>
                                  </m:sub>
                                </m:sSub>
                              </m:e>
                            </m:mr>
                            <m:mr>
                              <m:e>
                                <m:sSub>
                                  <m:sSubPr>
                                    <m:ctrlPr>
                                      <a:rPr lang="fr-FR" sz="1400" i="1">
                                        <a:latin typeface="Cambria Math" panose="02040503050406030204" pitchFamily="18" charset="0"/>
                                      </a:rPr>
                                    </m:ctrlPr>
                                  </m:sSubPr>
                                  <m:e>
                                    <m:r>
                                      <a:rPr lang="fr-FR" sz="1400" i="1">
                                        <a:latin typeface="Cambria Math" panose="02040503050406030204" pitchFamily="18" charset="0"/>
                                      </a:rPr>
                                      <m:t>𝑤</m:t>
                                    </m:r>
                                  </m:e>
                                  <m:sub>
                                    <m:r>
                                      <a:rPr lang="fr-FR" sz="1400" i="1">
                                        <a:latin typeface="Cambria Math" panose="02040503050406030204" pitchFamily="18" charset="0"/>
                                      </a:rPr>
                                      <m:t>7</m:t>
                                    </m:r>
                                  </m:sub>
                                </m:sSub>
                              </m:e>
                              <m:e>
                                <m:sSub>
                                  <m:sSubPr>
                                    <m:ctrlPr>
                                      <a:rPr lang="fr-FR" sz="1400" i="1">
                                        <a:latin typeface="Cambria Math" panose="02040503050406030204" pitchFamily="18" charset="0"/>
                                      </a:rPr>
                                    </m:ctrlPr>
                                  </m:sSubPr>
                                  <m:e>
                                    <m:r>
                                      <a:rPr lang="fr-FR" sz="1400" i="1">
                                        <a:latin typeface="Cambria Math" panose="02040503050406030204" pitchFamily="18" charset="0"/>
                                      </a:rPr>
                                      <m:t>𝑤</m:t>
                                    </m:r>
                                  </m:e>
                                  <m:sub>
                                    <m:r>
                                      <a:rPr lang="fr-FR" sz="1400" i="1">
                                        <a:latin typeface="Cambria Math" panose="02040503050406030204" pitchFamily="18" charset="0"/>
                                      </a:rPr>
                                      <m:t>8</m:t>
                                    </m:r>
                                  </m:sub>
                                </m:sSub>
                              </m:e>
                            </m:mr>
                          </m:m>
                        </m:e>
                      </m:d>
                    </m:oMath>
                  </m:oMathPara>
                </a14:m>
                <a:endParaRPr lang="en-GB" sz="1400" dirty="0"/>
              </a:p>
              <a:p>
                <a:endParaRPr lang="en-GB" sz="1400" dirty="0"/>
              </a:p>
              <a:p>
                <a:pPr/>
                <a14:m>
                  <m:oMathPara xmlns:m="http://schemas.openxmlformats.org/officeDocument/2006/math">
                    <m:oMathParaPr>
                      <m:jc m:val="left"/>
                    </m:oMathParaPr>
                    <m:oMath xmlns:m="http://schemas.openxmlformats.org/officeDocument/2006/math">
                      <m:r>
                        <a:rPr lang="fr-FR" sz="1400" b="0" i="1" smtClean="0">
                          <a:latin typeface="Cambria Math" panose="02040503050406030204" pitchFamily="18" charset="0"/>
                        </a:rPr>
                        <m:t>𝑏</m:t>
                      </m:r>
                      <m:r>
                        <a:rPr lang="fr-FR" sz="1400" b="0" i="1" smtClean="0">
                          <a:latin typeface="Cambria Math" panose="02040503050406030204" pitchFamily="18" charset="0"/>
                        </a:rPr>
                        <m:t>_</m:t>
                      </m:r>
                      <m:r>
                        <a:rPr lang="fr-FR" sz="1400" b="0" i="1" smtClean="0">
                          <a:latin typeface="Cambria Math" panose="02040503050406030204" pitchFamily="18" charset="0"/>
                        </a:rPr>
                        <m:t>𝑜𝑢𝑡</m:t>
                      </m:r>
                      <m:r>
                        <a:rPr lang="fr-FR" sz="1400" b="0" i="1" smtClean="0">
                          <a:latin typeface="Cambria Math" panose="02040503050406030204" pitchFamily="18" charset="0"/>
                        </a:rPr>
                        <m:t>=</m:t>
                      </m:r>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m:t>
                          </m:r>
                          <m:r>
                            <a:rPr lang="fr-FR" sz="1400" b="0" i="1" smtClean="0">
                              <a:latin typeface="Cambria Math" panose="02040503050406030204" pitchFamily="18" charset="0"/>
                            </a:rPr>
                            <m:t>𝑏</m:t>
                          </m:r>
                        </m:e>
                        <m:sub>
                          <m:r>
                            <a:rPr lang="fr-FR" sz="1400" b="0" i="1" smtClean="0">
                              <a:latin typeface="Cambria Math" panose="02040503050406030204" pitchFamily="18" charset="0"/>
                            </a:rPr>
                            <m:t>2</m:t>
                          </m:r>
                        </m:sub>
                      </m:sSub>
                      <m:r>
                        <a:rPr lang="fr-FR" sz="1400" b="0" i="1" smtClean="0">
                          <a:latin typeface="Cambria Math" panose="02040503050406030204" pitchFamily="18" charset="0"/>
                        </a:rPr>
                        <m:t>]</m:t>
                      </m:r>
                    </m:oMath>
                  </m:oMathPara>
                </a14:m>
                <a:endParaRPr lang="en-GB" sz="1400" dirty="0"/>
              </a:p>
            </p:txBody>
          </p:sp>
        </mc:Choice>
        <mc:Fallback xmlns="">
          <p:sp>
            <p:nvSpPr>
              <p:cNvPr id="13" name="ZoneTexte 12">
                <a:extLst>
                  <a:ext uri="{FF2B5EF4-FFF2-40B4-BE49-F238E27FC236}">
                    <a16:creationId xmlns:a16="http://schemas.microsoft.com/office/drawing/2014/main" id="{DF63FD55-E6E0-A881-7394-AD36BF3F5AF2}"/>
                  </a:ext>
                </a:extLst>
              </p:cNvPr>
              <p:cNvSpPr txBox="1">
                <a:spLocks noRot="1" noChangeAspect="1" noMove="1" noResize="1" noEditPoints="1" noAdjustHandles="1" noChangeArrowheads="1" noChangeShapeType="1" noTextEdit="1"/>
              </p:cNvSpPr>
              <p:nvPr/>
            </p:nvSpPr>
            <p:spPr>
              <a:xfrm>
                <a:off x="2666919" y="4992977"/>
                <a:ext cx="1824058" cy="881908"/>
              </a:xfrm>
              <a:prstGeom prst="rect">
                <a:avLst/>
              </a:prstGeom>
              <a:blipFill>
                <a:blip r:embed="rId4"/>
                <a:stretch>
                  <a:fillRect b="-28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1C6A069B-6E34-3BDE-F2E0-3ECB4BA72BEC}"/>
                  </a:ext>
                </a:extLst>
              </p:cNvPr>
              <p:cNvSpPr txBox="1"/>
              <p:nvPr/>
            </p:nvSpPr>
            <p:spPr>
              <a:xfrm>
                <a:off x="806314" y="4992977"/>
                <a:ext cx="1824058" cy="88190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fr-FR" sz="1400" b="0" i="1" smtClean="0">
                          <a:latin typeface="Cambria Math" panose="02040503050406030204" pitchFamily="18" charset="0"/>
                        </a:rPr>
                        <m:t>𝑊</m:t>
                      </m:r>
                      <m:r>
                        <a:rPr lang="fr-FR" sz="1400" b="0" i="1" smtClean="0">
                          <a:latin typeface="Cambria Math" panose="02040503050406030204" pitchFamily="18" charset="0"/>
                        </a:rPr>
                        <m:t>_</m:t>
                      </m:r>
                      <m:r>
                        <a:rPr lang="fr-FR" sz="1400" b="0" i="1" smtClean="0">
                          <a:latin typeface="Cambria Math" panose="02040503050406030204" pitchFamily="18" charset="0"/>
                        </a:rPr>
                        <m:t>𝑖𝑛</m:t>
                      </m:r>
                      <m:r>
                        <a:rPr lang="fr-FR" sz="1400" i="1">
                          <a:latin typeface="Cambria Math" panose="02040503050406030204" pitchFamily="18" charset="0"/>
                        </a:rPr>
                        <m:t>=</m:t>
                      </m:r>
                      <m:d>
                        <m:dPr>
                          <m:begChr m:val="["/>
                          <m:endChr m:val="]"/>
                          <m:ctrlPr>
                            <a:rPr lang="en-GB" sz="1400" i="1">
                              <a:latin typeface="Cambria Math" panose="02040503050406030204" pitchFamily="18" charset="0"/>
                            </a:rPr>
                          </m:ctrlPr>
                        </m:dPr>
                        <m:e>
                          <m:m>
                            <m:mPr>
                              <m:mcs>
                                <m:mc>
                                  <m:mcPr>
                                    <m:count m:val="2"/>
                                    <m:mcJc m:val="center"/>
                                  </m:mcPr>
                                </m:mc>
                              </m:mcs>
                              <m:ctrlPr>
                                <a:rPr lang="en-GB" sz="1400" i="1">
                                  <a:latin typeface="Cambria Math" panose="02040503050406030204" pitchFamily="18" charset="0"/>
                                </a:rPr>
                              </m:ctrlPr>
                            </m:mPr>
                            <m:mr>
                              <m:e>
                                <m:sSub>
                                  <m:sSubPr>
                                    <m:ctrlPr>
                                      <a:rPr lang="fr-FR" sz="1400" i="1">
                                        <a:latin typeface="Cambria Math" panose="02040503050406030204" pitchFamily="18" charset="0"/>
                                      </a:rPr>
                                    </m:ctrlPr>
                                  </m:sSubPr>
                                  <m:e>
                                    <m:r>
                                      <m:rPr>
                                        <m:brk m:alnAt="7"/>
                                      </m:rPr>
                                      <a:rPr lang="fr-FR" sz="1400" i="1">
                                        <a:latin typeface="Cambria Math" panose="02040503050406030204" pitchFamily="18" charset="0"/>
                                      </a:rPr>
                                      <m:t>𝑤</m:t>
                                    </m:r>
                                  </m:e>
                                  <m:sub>
                                    <m:r>
                                      <a:rPr lang="fr-FR" sz="1400" b="0" i="1" smtClean="0">
                                        <a:latin typeface="Cambria Math" panose="02040503050406030204" pitchFamily="18" charset="0"/>
                                      </a:rPr>
                                      <m:t>1</m:t>
                                    </m:r>
                                  </m:sub>
                                </m:sSub>
                              </m:e>
                              <m:e>
                                <m:sSub>
                                  <m:sSubPr>
                                    <m:ctrlPr>
                                      <a:rPr lang="fr-FR" sz="1400" i="1">
                                        <a:latin typeface="Cambria Math" panose="02040503050406030204" pitchFamily="18" charset="0"/>
                                      </a:rPr>
                                    </m:ctrlPr>
                                  </m:sSubPr>
                                  <m:e>
                                    <m:r>
                                      <a:rPr lang="fr-FR" sz="1400" i="1">
                                        <a:latin typeface="Cambria Math" panose="02040503050406030204" pitchFamily="18" charset="0"/>
                                      </a:rPr>
                                      <m:t>𝑤</m:t>
                                    </m:r>
                                  </m:e>
                                  <m:sub>
                                    <m:r>
                                      <a:rPr lang="fr-FR" sz="1400" b="0" i="1" smtClean="0">
                                        <a:latin typeface="Cambria Math" panose="02040503050406030204" pitchFamily="18" charset="0"/>
                                      </a:rPr>
                                      <m:t>2</m:t>
                                    </m:r>
                                  </m:sub>
                                </m:sSub>
                              </m:e>
                            </m:mr>
                            <m:mr>
                              <m:e>
                                <m:sSub>
                                  <m:sSubPr>
                                    <m:ctrlPr>
                                      <a:rPr lang="fr-FR" sz="1400" i="1">
                                        <a:latin typeface="Cambria Math" panose="02040503050406030204" pitchFamily="18" charset="0"/>
                                      </a:rPr>
                                    </m:ctrlPr>
                                  </m:sSubPr>
                                  <m:e>
                                    <m:r>
                                      <a:rPr lang="fr-FR" sz="1400" i="1">
                                        <a:latin typeface="Cambria Math" panose="02040503050406030204" pitchFamily="18" charset="0"/>
                                      </a:rPr>
                                      <m:t>𝑤</m:t>
                                    </m:r>
                                  </m:e>
                                  <m:sub>
                                    <m:r>
                                      <a:rPr lang="fr-FR" sz="1400" b="0" i="1" smtClean="0">
                                        <a:latin typeface="Cambria Math" panose="02040503050406030204" pitchFamily="18" charset="0"/>
                                      </a:rPr>
                                      <m:t>3</m:t>
                                    </m:r>
                                  </m:sub>
                                </m:sSub>
                              </m:e>
                              <m:e>
                                <m:sSub>
                                  <m:sSubPr>
                                    <m:ctrlPr>
                                      <a:rPr lang="fr-FR" sz="1400" i="1">
                                        <a:latin typeface="Cambria Math" panose="02040503050406030204" pitchFamily="18" charset="0"/>
                                      </a:rPr>
                                    </m:ctrlPr>
                                  </m:sSubPr>
                                  <m:e>
                                    <m:r>
                                      <a:rPr lang="fr-FR" sz="1400" i="1">
                                        <a:latin typeface="Cambria Math" panose="02040503050406030204" pitchFamily="18" charset="0"/>
                                      </a:rPr>
                                      <m:t>𝑤</m:t>
                                    </m:r>
                                  </m:e>
                                  <m:sub>
                                    <m:r>
                                      <a:rPr lang="fr-FR" sz="1400" b="0" i="1" smtClean="0">
                                        <a:latin typeface="Cambria Math" panose="02040503050406030204" pitchFamily="18" charset="0"/>
                                      </a:rPr>
                                      <m:t>4</m:t>
                                    </m:r>
                                  </m:sub>
                                </m:sSub>
                              </m:e>
                            </m:mr>
                          </m:m>
                        </m:e>
                      </m:d>
                    </m:oMath>
                  </m:oMathPara>
                </a14:m>
                <a:endParaRPr lang="en-GB" sz="1400" dirty="0"/>
              </a:p>
              <a:p>
                <a:endParaRPr lang="en-GB" sz="1400" dirty="0"/>
              </a:p>
              <a:p>
                <a:pPr/>
                <a14:m>
                  <m:oMathPara xmlns:m="http://schemas.openxmlformats.org/officeDocument/2006/math">
                    <m:oMathParaPr>
                      <m:jc m:val="left"/>
                    </m:oMathParaPr>
                    <m:oMath xmlns:m="http://schemas.openxmlformats.org/officeDocument/2006/math">
                      <m:r>
                        <a:rPr lang="fr-FR" sz="1400" b="0" i="1" smtClean="0">
                          <a:latin typeface="Cambria Math" panose="02040503050406030204" pitchFamily="18" charset="0"/>
                        </a:rPr>
                        <m:t>𝑏</m:t>
                      </m:r>
                      <m:r>
                        <a:rPr lang="fr-FR" sz="1400" b="0" i="1" smtClean="0">
                          <a:latin typeface="Cambria Math" panose="02040503050406030204" pitchFamily="18" charset="0"/>
                        </a:rPr>
                        <m:t>_</m:t>
                      </m:r>
                      <m:r>
                        <a:rPr lang="fr-FR" sz="1400" b="0" i="1" smtClean="0">
                          <a:latin typeface="Cambria Math" panose="02040503050406030204" pitchFamily="18" charset="0"/>
                        </a:rPr>
                        <m:t>𝑖𝑛</m:t>
                      </m:r>
                      <m:r>
                        <a:rPr lang="fr-FR" sz="1400" b="0" i="1" smtClean="0">
                          <a:latin typeface="Cambria Math" panose="02040503050406030204" pitchFamily="18" charset="0"/>
                        </a:rPr>
                        <m:t>=</m:t>
                      </m:r>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m:t>
                          </m:r>
                          <m:r>
                            <a:rPr lang="fr-FR" sz="1400" b="0" i="1" smtClean="0">
                              <a:latin typeface="Cambria Math" panose="02040503050406030204" pitchFamily="18" charset="0"/>
                            </a:rPr>
                            <m:t>𝑏</m:t>
                          </m:r>
                        </m:e>
                        <m:sub>
                          <m:r>
                            <a:rPr lang="fr-FR" sz="1400" b="0" i="1" smtClean="0">
                              <a:latin typeface="Cambria Math" panose="02040503050406030204" pitchFamily="18" charset="0"/>
                            </a:rPr>
                            <m:t>1</m:t>
                          </m:r>
                        </m:sub>
                      </m:sSub>
                      <m:r>
                        <a:rPr lang="fr-FR" sz="1400" b="0" i="1" smtClean="0">
                          <a:latin typeface="Cambria Math" panose="02040503050406030204" pitchFamily="18" charset="0"/>
                        </a:rPr>
                        <m:t>]</m:t>
                      </m:r>
                    </m:oMath>
                  </m:oMathPara>
                </a14:m>
                <a:endParaRPr lang="en-GB" sz="1400" dirty="0"/>
              </a:p>
            </p:txBody>
          </p:sp>
        </mc:Choice>
        <mc:Fallback xmlns="">
          <p:sp>
            <p:nvSpPr>
              <p:cNvPr id="5" name="ZoneTexte 4">
                <a:extLst>
                  <a:ext uri="{FF2B5EF4-FFF2-40B4-BE49-F238E27FC236}">
                    <a16:creationId xmlns:a16="http://schemas.microsoft.com/office/drawing/2014/main" id="{67AD1511-D2D2-1C40-BE90-A2F09BDEF617}"/>
                  </a:ext>
                </a:extLst>
              </p:cNvPr>
              <p:cNvSpPr txBox="1">
                <a:spLocks noRot="1" noChangeAspect="1" noMove="1" noResize="1" noEditPoints="1" noAdjustHandles="1" noChangeArrowheads="1" noChangeShapeType="1" noTextEdit="1"/>
              </p:cNvSpPr>
              <p:nvPr/>
            </p:nvSpPr>
            <p:spPr>
              <a:xfrm>
                <a:off x="806314" y="4992977"/>
                <a:ext cx="1824058" cy="881908"/>
              </a:xfrm>
              <a:prstGeom prst="rect">
                <a:avLst/>
              </a:prstGeom>
              <a:blipFill>
                <a:blip r:embed="rId5"/>
                <a:stretch>
                  <a:fillRect b="-28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ZoneTexte 7">
                <a:extLst>
                  <a:ext uri="{FF2B5EF4-FFF2-40B4-BE49-F238E27FC236}">
                    <a16:creationId xmlns:a16="http://schemas.microsoft.com/office/drawing/2014/main" id="{E46F276A-872F-3AB6-FD64-922F2F89DFC5}"/>
                  </a:ext>
                </a:extLst>
              </p:cNvPr>
              <p:cNvSpPr txBox="1"/>
              <p:nvPr/>
            </p:nvSpPr>
            <p:spPr>
              <a:xfrm>
                <a:off x="5151158" y="4109013"/>
                <a:ext cx="6094140" cy="97924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GB" sz="1200" b="1" i="1" smtClean="0">
                              <a:latin typeface="Cambria Math" panose="02040503050406030204" pitchFamily="18" charset="0"/>
                            </a:rPr>
                          </m:ctrlPr>
                        </m:fPr>
                        <m:num>
                          <m:r>
                            <a:rPr lang="en-GB" sz="1200" b="1" i="1" smtClean="0">
                              <a:latin typeface="Cambria Math" panose="02040503050406030204" pitchFamily="18" charset="0"/>
                            </a:rPr>
                            <m:t>𝝏</m:t>
                          </m:r>
                          <m:r>
                            <a:rPr lang="fr-FR" sz="1200" b="1" i="1" smtClean="0">
                              <a:latin typeface="Cambria Math" panose="02040503050406030204" pitchFamily="18" charset="0"/>
                            </a:rPr>
                            <m:t>𝑳𝒐𝒔𝒔</m:t>
                          </m:r>
                        </m:num>
                        <m:den>
                          <m:r>
                            <a:rPr lang="en-GB" sz="1200" b="1" i="1" smtClean="0">
                              <a:latin typeface="Cambria Math" panose="02040503050406030204" pitchFamily="18" charset="0"/>
                            </a:rPr>
                            <m:t>𝝏</m:t>
                          </m:r>
                          <m:r>
                            <a:rPr lang="fr-FR" sz="1200" b="1" i="1" smtClean="0">
                              <a:latin typeface="Cambria Math" panose="02040503050406030204" pitchFamily="18" charset="0"/>
                            </a:rPr>
                            <m:t>𝑾</m:t>
                          </m:r>
                          <m:r>
                            <a:rPr lang="fr-FR" sz="1200" b="1" i="1" smtClean="0">
                              <a:latin typeface="Cambria Math" panose="02040503050406030204" pitchFamily="18" charset="0"/>
                            </a:rPr>
                            <m:t>_</m:t>
                          </m:r>
                          <m:r>
                            <a:rPr lang="fr-FR" sz="1200" b="1" i="1" smtClean="0">
                              <a:latin typeface="Cambria Math" panose="02040503050406030204" pitchFamily="18" charset="0"/>
                            </a:rPr>
                            <m:t>𝒐𝒖𝒕</m:t>
                          </m:r>
                        </m:den>
                      </m:f>
                      <m:r>
                        <a:rPr lang="fr-FR" sz="1200" b="1" i="0" smtClean="0">
                          <a:latin typeface="Cambria Math" panose="02040503050406030204" pitchFamily="18" charset="0"/>
                        </a:rPr>
                        <m:t>=</m:t>
                      </m:r>
                      <m:r>
                        <a:rPr lang="en-GB" sz="1200" i="1">
                          <a:latin typeface="Cambria Math" panose="02040503050406030204" pitchFamily="18" charset="0"/>
                        </a:rPr>
                        <m:t>−2 (</m:t>
                      </m:r>
                      <m:r>
                        <a:rPr lang="en-GB" sz="1200" i="1">
                          <a:latin typeface="Cambria Math" panose="02040503050406030204" pitchFamily="18" charset="0"/>
                        </a:rPr>
                        <m:t>𝑡𝑎𝑟𝑔𝑒𝑡</m:t>
                      </m:r>
                      <m:r>
                        <a:rPr lang="en-GB" sz="1200" i="1">
                          <a:latin typeface="Cambria Math" panose="02040503050406030204" pitchFamily="18" charset="0"/>
                        </a:rPr>
                        <m:t> −</m:t>
                      </m:r>
                      <m:r>
                        <a:rPr lang="en-GB" sz="1200" i="1">
                          <a:latin typeface="Cambria Math" panose="02040503050406030204" pitchFamily="18" charset="0"/>
                        </a:rPr>
                        <m:t>𝑜𝑢𝑡</m:t>
                      </m:r>
                      <m:r>
                        <a:rPr lang="en-GB" sz="1200" i="1">
                          <a:latin typeface="Cambria Math" panose="02040503050406030204" pitchFamily="18" charset="0"/>
                        </a:rPr>
                        <m:t>)∗</m:t>
                      </m:r>
                      <m:r>
                        <a:rPr lang="fr-FR" sz="1200" i="1">
                          <a:latin typeface="Cambria Math" panose="02040503050406030204" pitchFamily="18" charset="0"/>
                        </a:rPr>
                        <m:t>𝑠𝑖𝑔𝑚𝑜𝑖𝑑</m:t>
                      </m:r>
                      <m:r>
                        <a:rPr lang="fr-FR" sz="1200" i="1">
                          <a:latin typeface="Cambria Math" panose="02040503050406030204" pitchFamily="18" charset="0"/>
                        </a:rPr>
                        <m:t>_</m:t>
                      </m:r>
                      <m:r>
                        <a:rPr lang="fr-FR" sz="1200" i="1">
                          <a:latin typeface="Cambria Math" panose="02040503050406030204" pitchFamily="18" charset="0"/>
                        </a:rPr>
                        <m:t>𝑑𝑒𝑟𝑖𝑣𝑎𝑡𝑖𝑣𝑒</m:t>
                      </m:r>
                      <m:d>
                        <m:dPr>
                          <m:ctrlPr>
                            <a:rPr lang="fr-FR" sz="1200" i="1">
                              <a:latin typeface="Cambria Math" panose="02040503050406030204" pitchFamily="18" charset="0"/>
                            </a:rPr>
                          </m:ctrlPr>
                        </m:dPr>
                        <m:e>
                          <m:r>
                            <a:rPr lang="fr-FR" sz="1200" i="1">
                              <a:latin typeface="Cambria Math" panose="02040503050406030204" pitchFamily="18" charset="0"/>
                            </a:rPr>
                            <m:t>𝑛𝑒𝑡</m:t>
                          </m:r>
                          <m:r>
                            <a:rPr lang="fr-FR" sz="1200" i="1">
                              <a:latin typeface="Cambria Math" panose="02040503050406030204" pitchFamily="18" charset="0"/>
                            </a:rPr>
                            <m:t>_</m:t>
                          </m:r>
                          <m:r>
                            <a:rPr lang="fr-FR" sz="1200" i="1">
                              <a:latin typeface="Cambria Math" panose="02040503050406030204" pitchFamily="18" charset="0"/>
                            </a:rPr>
                            <m:t>𝑜</m:t>
                          </m:r>
                        </m:e>
                      </m:d>
                      <m:r>
                        <a:rPr lang="fr-FR" sz="1200" b="0" i="1" smtClean="0">
                          <a:latin typeface="Cambria Math" panose="02040503050406030204" pitchFamily="18" charset="0"/>
                        </a:rPr>
                        <m:t>∗</m:t>
                      </m:r>
                      <m:r>
                        <a:rPr lang="fr-FR" sz="1200" i="1">
                          <a:latin typeface="Cambria Math" panose="02040503050406030204" pitchFamily="18" charset="0"/>
                        </a:rPr>
                        <m:t>𝑜𝑢𝑡</m:t>
                      </m:r>
                      <m:r>
                        <a:rPr lang="fr-FR" sz="1200" i="1">
                          <a:latin typeface="Cambria Math" panose="02040503050406030204" pitchFamily="18" charset="0"/>
                        </a:rPr>
                        <m:t>_</m:t>
                      </m:r>
                      <m:r>
                        <a:rPr lang="fr-FR" sz="1200" i="1">
                          <a:latin typeface="Cambria Math" panose="02040503050406030204" pitchFamily="18" charset="0"/>
                        </a:rPr>
                        <m:t>h</m:t>
                      </m:r>
                    </m:oMath>
                  </m:oMathPara>
                </a14:m>
                <a:endParaRPr lang="en-GB" sz="1200" b="1" dirty="0">
                  <a:latin typeface="Cambria Math" panose="02040503050406030204" pitchFamily="18" charset="0"/>
                </a:endParaRPr>
              </a:p>
              <a:p>
                <a:endParaRPr lang="en-GB" sz="12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f>
                        <m:fPr>
                          <m:ctrlPr>
                            <a:rPr lang="en-GB" sz="1200" b="1" i="1" smtClean="0">
                              <a:latin typeface="Cambria Math" panose="02040503050406030204" pitchFamily="18" charset="0"/>
                            </a:rPr>
                          </m:ctrlPr>
                        </m:fPr>
                        <m:num>
                          <m:r>
                            <a:rPr lang="en-GB" sz="1200" b="1" i="1" smtClean="0">
                              <a:latin typeface="Cambria Math" panose="02040503050406030204" pitchFamily="18" charset="0"/>
                            </a:rPr>
                            <m:t>𝝏</m:t>
                          </m:r>
                          <m:r>
                            <a:rPr lang="fr-FR" sz="1200" b="1" i="1" smtClean="0">
                              <a:latin typeface="Cambria Math" panose="02040503050406030204" pitchFamily="18" charset="0"/>
                            </a:rPr>
                            <m:t>𝑳𝒐𝒔𝒔</m:t>
                          </m:r>
                        </m:num>
                        <m:den>
                          <m:r>
                            <a:rPr lang="en-GB" sz="1200" b="1" i="1" smtClean="0">
                              <a:latin typeface="Cambria Math" panose="02040503050406030204" pitchFamily="18" charset="0"/>
                            </a:rPr>
                            <m:t>𝝏</m:t>
                          </m:r>
                          <m:r>
                            <a:rPr lang="fr-FR" sz="1200" b="1" i="1" smtClean="0">
                              <a:latin typeface="Cambria Math" panose="02040503050406030204" pitchFamily="18" charset="0"/>
                            </a:rPr>
                            <m:t>𝒃</m:t>
                          </m:r>
                          <m:r>
                            <a:rPr lang="fr-FR" sz="1200" b="1" i="1" smtClean="0">
                              <a:latin typeface="Cambria Math" panose="02040503050406030204" pitchFamily="18" charset="0"/>
                            </a:rPr>
                            <m:t>_</m:t>
                          </m:r>
                          <m:r>
                            <a:rPr lang="fr-FR" sz="1200" b="1" i="1" smtClean="0">
                              <a:latin typeface="Cambria Math" panose="02040503050406030204" pitchFamily="18" charset="0"/>
                            </a:rPr>
                            <m:t>𝒐𝒖𝒕</m:t>
                          </m:r>
                        </m:den>
                      </m:f>
                      <m:r>
                        <a:rPr lang="fr-FR" sz="1200" b="1" i="0" smtClean="0">
                          <a:latin typeface="Cambria Math" panose="02040503050406030204" pitchFamily="18" charset="0"/>
                        </a:rPr>
                        <m:t>=</m:t>
                      </m:r>
                      <m:r>
                        <a:rPr lang="en-GB" sz="1200" i="1">
                          <a:latin typeface="Cambria Math" panose="02040503050406030204" pitchFamily="18" charset="0"/>
                        </a:rPr>
                        <m:t>−2 (</m:t>
                      </m:r>
                      <m:r>
                        <a:rPr lang="en-GB" sz="1200" i="1">
                          <a:latin typeface="Cambria Math" panose="02040503050406030204" pitchFamily="18" charset="0"/>
                        </a:rPr>
                        <m:t>𝑡𝑎𝑟𝑔𝑒𝑡</m:t>
                      </m:r>
                      <m:r>
                        <a:rPr lang="en-GB" sz="1200" i="1">
                          <a:latin typeface="Cambria Math" panose="02040503050406030204" pitchFamily="18" charset="0"/>
                        </a:rPr>
                        <m:t> −</m:t>
                      </m:r>
                      <m:r>
                        <a:rPr lang="en-GB" sz="1200" i="1">
                          <a:latin typeface="Cambria Math" panose="02040503050406030204" pitchFamily="18" charset="0"/>
                        </a:rPr>
                        <m:t>𝑜𝑢𝑡</m:t>
                      </m:r>
                      <m:r>
                        <a:rPr lang="en-GB" sz="1200" i="1">
                          <a:latin typeface="Cambria Math" panose="02040503050406030204" pitchFamily="18" charset="0"/>
                        </a:rPr>
                        <m:t>)∗</m:t>
                      </m:r>
                      <m:r>
                        <a:rPr lang="fr-FR" sz="1200" i="1">
                          <a:latin typeface="Cambria Math" panose="02040503050406030204" pitchFamily="18" charset="0"/>
                        </a:rPr>
                        <m:t>𝑠𝑖𝑔𝑚𝑜𝑖𝑑</m:t>
                      </m:r>
                      <m:r>
                        <a:rPr lang="fr-FR" sz="1200" i="1">
                          <a:latin typeface="Cambria Math" panose="02040503050406030204" pitchFamily="18" charset="0"/>
                        </a:rPr>
                        <m:t>_</m:t>
                      </m:r>
                      <m:r>
                        <a:rPr lang="fr-FR" sz="1200" i="1">
                          <a:latin typeface="Cambria Math" panose="02040503050406030204" pitchFamily="18" charset="0"/>
                        </a:rPr>
                        <m:t>𝑑𝑒𝑟𝑖𝑣𝑎𝑡𝑖𝑣𝑒</m:t>
                      </m:r>
                      <m:d>
                        <m:dPr>
                          <m:ctrlPr>
                            <a:rPr lang="fr-FR" sz="1200" i="1">
                              <a:latin typeface="Cambria Math" panose="02040503050406030204" pitchFamily="18" charset="0"/>
                            </a:rPr>
                          </m:ctrlPr>
                        </m:dPr>
                        <m:e>
                          <m:r>
                            <a:rPr lang="fr-FR" sz="1200" i="1">
                              <a:latin typeface="Cambria Math" panose="02040503050406030204" pitchFamily="18" charset="0"/>
                            </a:rPr>
                            <m:t>𝑛𝑒𝑡</m:t>
                          </m:r>
                          <m:r>
                            <a:rPr lang="fr-FR" sz="1200" i="1">
                              <a:latin typeface="Cambria Math" panose="02040503050406030204" pitchFamily="18" charset="0"/>
                            </a:rPr>
                            <m:t>_</m:t>
                          </m:r>
                          <m:r>
                            <a:rPr lang="fr-FR" sz="1200" i="1">
                              <a:latin typeface="Cambria Math" panose="02040503050406030204" pitchFamily="18" charset="0"/>
                            </a:rPr>
                            <m:t>𝑜</m:t>
                          </m:r>
                        </m:e>
                      </m:d>
                      <m:r>
                        <a:rPr lang="fr-FR" sz="1200" b="0" i="1" smtClean="0">
                          <a:latin typeface="Cambria Math" panose="02040503050406030204" pitchFamily="18" charset="0"/>
                        </a:rPr>
                        <m:t>∗</m:t>
                      </m:r>
                      <m:r>
                        <a:rPr lang="fr-FR" sz="1200" i="1" smtClean="0">
                          <a:latin typeface="Cambria Math" panose="02040503050406030204" pitchFamily="18" charset="0"/>
                        </a:rPr>
                        <m:t>1</m:t>
                      </m:r>
                    </m:oMath>
                  </m:oMathPara>
                </a14:m>
                <a:endParaRPr lang="en-GB" sz="1200" i="1" dirty="0">
                  <a:latin typeface="Cambria Math" panose="02040503050406030204" pitchFamily="18" charset="0"/>
                </a:endParaRPr>
              </a:p>
            </p:txBody>
          </p:sp>
        </mc:Choice>
        <mc:Fallback xmlns="">
          <p:sp>
            <p:nvSpPr>
              <p:cNvPr id="8" name="ZoneTexte 7">
                <a:extLst>
                  <a:ext uri="{FF2B5EF4-FFF2-40B4-BE49-F238E27FC236}">
                    <a16:creationId xmlns:a16="http://schemas.microsoft.com/office/drawing/2014/main" id="{E46F276A-872F-3AB6-FD64-922F2F89DFC5}"/>
                  </a:ext>
                </a:extLst>
              </p:cNvPr>
              <p:cNvSpPr txBox="1">
                <a:spLocks noRot="1" noChangeAspect="1" noMove="1" noResize="1" noEditPoints="1" noAdjustHandles="1" noChangeArrowheads="1" noChangeShapeType="1" noTextEdit="1"/>
              </p:cNvSpPr>
              <p:nvPr/>
            </p:nvSpPr>
            <p:spPr>
              <a:xfrm>
                <a:off x="5151158" y="4109013"/>
                <a:ext cx="6094140" cy="979242"/>
              </a:xfrm>
              <a:prstGeom prst="rect">
                <a:avLst/>
              </a:prstGeom>
              <a:blipFill>
                <a:blip r:embed="rId6"/>
                <a:stretch>
                  <a:fillRect/>
                </a:stretch>
              </a:blipFill>
            </p:spPr>
            <p:txBody>
              <a:bodyPr/>
              <a:lstStyle/>
              <a:p>
                <a:r>
                  <a:rPr lang="en-GB">
                    <a:noFill/>
                  </a:rPr>
                  <a:t> </a:t>
                </a:r>
              </a:p>
            </p:txBody>
          </p:sp>
        </mc:Fallback>
      </mc:AlternateContent>
      <p:sp>
        <p:nvSpPr>
          <p:cNvPr id="9" name="Rectangle 8">
            <a:extLst>
              <a:ext uri="{FF2B5EF4-FFF2-40B4-BE49-F238E27FC236}">
                <a16:creationId xmlns:a16="http://schemas.microsoft.com/office/drawing/2014/main" id="{7722A85E-94B7-9BB9-E8F5-D25AD92706B4}"/>
              </a:ext>
            </a:extLst>
          </p:cNvPr>
          <p:cNvSpPr/>
          <p:nvPr/>
        </p:nvSpPr>
        <p:spPr>
          <a:xfrm>
            <a:off x="5151158" y="1808342"/>
            <a:ext cx="6828395" cy="346618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383715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09CF3-B682-5844-D12D-0E325773E29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55D1239-BEB9-386A-F898-D0BB03CD20D4}"/>
              </a:ext>
            </a:extLst>
          </p:cNvPr>
          <p:cNvSpPr>
            <a:spLocks noGrp="1"/>
          </p:cNvSpPr>
          <p:nvPr>
            <p:ph type="ctrTitle"/>
          </p:nvPr>
        </p:nvSpPr>
        <p:spPr/>
        <p:txBody>
          <a:bodyPr/>
          <a:lstStyle/>
          <a:p>
            <a:r>
              <a:rPr lang="en-GB" dirty="0"/>
              <a:t>Neural Networks with multiple layers III</a:t>
            </a:r>
            <a:endParaRPr lang="en-GB" noProof="0" dirty="0"/>
          </a:p>
        </p:txBody>
      </p:sp>
      <p:sp>
        <p:nvSpPr>
          <p:cNvPr id="3" name="Espace réservé du pied de page 2">
            <a:extLst>
              <a:ext uri="{FF2B5EF4-FFF2-40B4-BE49-F238E27FC236}">
                <a16:creationId xmlns:a16="http://schemas.microsoft.com/office/drawing/2014/main" id="{4FDB9C66-97ED-BA04-1D43-089165F3D2C8}"/>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23241958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CE319-116F-1D86-A7DE-AF902EB3D24C}"/>
            </a:ext>
          </a:extLst>
        </p:cNvPr>
        <p:cNvGrpSpPr/>
        <p:nvPr/>
      </p:nvGrpSpPr>
      <p:grpSpPr>
        <a:xfrm>
          <a:off x="0" y="0"/>
          <a:ext cx="0" cy="0"/>
          <a:chOff x="0" y="0"/>
          <a:chExt cx="0" cy="0"/>
        </a:xfrm>
      </p:grpSpPr>
      <p:sp>
        <p:nvSpPr>
          <p:cNvPr id="16" name="ZoneTexte 15">
            <a:extLst>
              <a:ext uri="{FF2B5EF4-FFF2-40B4-BE49-F238E27FC236}">
                <a16:creationId xmlns:a16="http://schemas.microsoft.com/office/drawing/2014/main" id="{5555F3C5-38FE-9EF2-67E7-A19D009EB64E}"/>
              </a:ext>
            </a:extLst>
          </p:cNvPr>
          <p:cNvSpPr txBox="1"/>
          <p:nvPr/>
        </p:nvSpPr>
        <p:spPr>
          <a:xfrm>
            <a:off x="736772" y="1236280"/>
            <a:ext cx="11124670" cy="954000"/>
          </a:xfrm>
          <a:prstGeom prst="rect">
            <a:avLst/>
          </a:prstGeom>
          <a:noFill/>
        </p:spPr>
        <p:txBody>
          <a:bodyPr wrap="square" rtlCol="0">
            <a:noAutofit/>
          </a:bodyPr>
          <a:lstStyle/>
          <a:p>
            <a:r>
              <a:rPr lang="en-GB" sz="2000" noProof="0" dirty="0"/>
              <a:t>Combining neurons in a neural network. Vertical combination of units gives a layer.</a:t>
            </a:r>
            <a:endParaRPr lang="en-GB" sz="2000" baseline="-25000" noProof="0" dirty="0"/>
          </a:p>
        </p:txBody>
      </p:sp>
      <p:sp>
        <p:nvSpPr>
          <p:cNvPr id="2" name="Titre 1">
            <a:extLst>
              <a:ext uri="{FF2B5EF4-FFF2-40B4-BE49-F238E27FC236}">
                <a16:creationId xmlns:a16="http://schemas.microsoft.com/office/drawing/2014/main" id="{A989092B-C2EA-97DB-DA69-8C609EF27E00}"/>
              </a:ext>
            </a:extLst>
          </p:cNvPr>
          <p:cNvSpPr>
            <a:spLocks noGrp="1"/>
          </p:cNvSpPr>
          <p:nvPr>
            <p:ph type="title"/>
          </p:nvPr>
        </p:nvSpPr>
        <p:spPr/>
        <p:txBody>
          <a:bodyPr/>
          <a:lstStyle/>
          <a:p>
            <a:r>
              <a:rPr lang="fr-FR" dirty="0"/>
              <a:t>Neural Network</a:t>
            </a:r>
          </a:p>
        </p:txBody>
      </p:sp>
      <mc:AlternateContent xmlns:mc="http://schemas.openxmlformats.org/markup-compatibility/2006" xmlns:a14="http://schemas.microsoft.com/office/drawing/2010/main">
        <mc:Choice Requires="a14">
          <p:sp>
            <p:nvSpPr>
              <p:cNvPr id="40" name="ZoneTexte 39">
                <a:extLst>
                  <a:ext uri="{FF2B5EF4-FFF2-40B4-BE49-F238E27FC236}">
                    <a16:creationId xmlns:a16="http://schemas.microsoft.com/office/drawing/2014/main" id="{697CE96D-AA0D-FB1D-9099-B743DC4DB976}"/>
                  </a:ext>
                </a:extLst>
              </p:cNvPr>
              <p:cNvSpPr txBox="1"/>
              <p:nvPr/>
            </p:nvSpPr>
            <p:spPr>
              <a:xfrm>
                <a:off x="2098362" y="4925724"/>
                <a:ext cx="112106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𝑊</m:t>
                      </m:r>
                      <m:r>
                        <a:rPr lang="fr-FR" sz="1600" b="0" i="1" smtClean="0">
                          <a:latin typeface="Cambria Math" panose="02040503050406030204" pitchFamily="18" charset="0"/>
                        </a:rPr>
                        <m:t>_</m:t>
                      </m:r>
                      <m:r>
                        <a:rPr lang="fr-FR" sz="1600" b="0" i="1" smtClean="0">
                          <a:latin typeface="Cambria Math" panose="02040503050406030204" pitchFamily="18" charset="0"/>
                        </a:rPr>
                        <m:t>𝑖𝑛</m:t>
                      </m:r>
                    </m:oMath>
                  </m:oMathPara>
                </a14:m>
                <a:endParaRPr lang="fr-FR" sz="1600" b="0" i="1" dirty="0">
                  <a:latin typeface="Cambria Math" panose="02040503050406030204" pitchFamily="18" charset="0"/>
                </a:endParaRPr>
              </a:p>
            </p:txBody>
          </p:sp>
        </mc:Choice>
        <mc:Fallback xmlns="">
          <p:sp>
            <p:nvSpPr>
              <p:cNvPr id="40" name="ZoneTexte 39">
                <a:extLst>
                  <a:ext uri="{FF2B5EF4-FFF2-40B4-BE49-F238E27FC236}">
                    <a16:creationId xmlns:a16="http://schemas.microsoft.com/office/drawing/2014/main" id="{697CE96D-AA0D-FB1D-9099-B743DC4DB976}"/>
                  </a:ext>
                </a:extLst>
              </p:cNvPr>
              <p:cNvSpPr txBox="1">
                <a:spLocks noRot="1" noChangeAspect="1" noMove="1" noResize="1" noEditPoints="1" noAdjustHandles="1" noChangeArrowheads="1" noChangeShapeType="1" noTextEdit="1"/>
              </p:cNvSpPr>
              <p:nvPr/>
            </p:nvSpPr>
            <p:spPr>
              <a:xfrm>
                <a:off x="2098362" y="4925724"/>
                <a:ext cx="1121062" cy="246221"/>
              </a:xfrm>
              <a:prstGeom prst="rect">
                <a:avLst/>
              </a:prstGeom>
              <a:blipFill>
                <a:blip r:embed="rId2"/>
                <a:stretch>
                  <a:fillRect b="-4762"/>
                </a:stretch>
              </a:blipFill>
            </p:spPr>
            <p:txBody>
              <a:bodyPr/>
              <a:lstStyle/>
              <a:p>
                <a:r>
                  <a:rPr lang="en-GB">
                    <a:noFill/>
                  </a:rPr>
                  <a:t> </a:t>
                </a:r>
              </a:p>
            </p:txBody>
          </p:sp>
        </mc:Fallback>
      </mc:AlternateContent>
      <p:cxnSp>
        <p:nvCxnSpPr>
          <p:cNvPr id="17" name="Connecteur droit avec flèche 16">
            <a:extLst>
              <a:ext uri="{FF2B5EF4-FFF2-40B4-BE49-F238E27FC236}">
                <a16:creationId xmlns:a16="http://schemas.microsoft.com/office/drawing/2014/main" id="{92BAD967-898D-0687-3DD5-6C3BDC2EBA38}"/>
              </a:ext>
            </a:extLst>
          </p:cNvPr>
          <p:cNvCxnSpPr>
            <a:cxnSpLocks/>
            <a:stCxn id="21" idx="3"/>
            <a:endCxn id="53" idx="2"/>
          </p:cNvCxnSpPr>
          <p:nvPr/>
        </p:nvCxnSpPr>
        <p:spPr>
          <a:xfrm flipV="1">
            <a:off x="1723626" y="2220929"/>
            <a:ext cx="2151740" cy="13591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1" name="ZoneTexte 20">
                <a:extLst>
                  <a:ext uri="{FF2B5EF4-FFF2-40B4-BE49-F238E27FC236}">
                    <a16:creationId xmlns:a16="http://schemas.microsoft.com/office/drawing/2014/main" id="{DA98408D-7BCF-0B79-F205-D3A51D312032}"/>
                  </a:ext>
                </a:extLst>
              </p:cNvPr>
              <p:cNvSpPr txBox="1"/>
              <p:nvPr/>
            </p:nvSpPr>
            <p:spPr>
              <a:xfrm>
                <a:off x="967857" y="3196129"/>
                <a:ext cx="755769" cy="767994"/>
              </a:xfrm>
              <a:prstGeom prst="rect">
                <a:avLst/>
              </a:prstGeom>
              <a:noFill/>
            </p:spPr>
            <p:txBody>
              <a:bodyPr wrap="square" lIns="90000" rtlCol="0">
                <a:noAutofit/>
              </a:bodyPr>
              <a:lstStyle/>
              <a:p>
                <a:pPr algn="ctr"/>
                <a14:m>
                  <m:oMath xmlns:m="http://schemas.openxmlformats.org/officeDocument/2006/math">
                    <m:r>
                      <m:rPr>
                        <m:sty m:val="p"/>
                      </m:rPr>
                      <a:rPr lang="fr-FR" sz="2800" i="1" baseline="-25000" smtClean="0">
                        <a:latin typeface="Cambria Math" panose="02040503050406030204" pitchFamily="18" charset="0"/>
                      </a:rPr>
                      <m:t>x</m:t>
                    </m:r>
                    <m:sSub>
                      <m:sSubPr>
                        <m:ctrlPr>
                          <a:rPr lang="fr-FR" sz="2800" i="1" baseline="-25000" smtClean="0">
                            <a:latin typeface="Cambria Math" panose="02040503050406030204" pitchFamily="18" charset="0"/>
                          </a:rPr>
                        </m:ctrlPr>
                      </m:sSubPr>
                      <m:e>
                        <m:r>
                          <a:rPr lang="fr-FR" sz="2800" b="0" i="1" baseline="-25000" smtClean="0">
                            <a:latin typeface="Cambria Math" panose="02040503050406030204" pitchFamily="18" charset="0"/>
                          </a:rPr>
                          <m:t>2</m:t>
                        </m:r>
                      </m:e>
                      <m:sub/>
                    </m:sSub>
                  </m:oMath>
                </a14:m>
                <a:r>
                  <a:rPr lang="fr-FR" sz="2800" baseline="-25000" dirty="0"/>
                  <a:t> </a:t>
                </a:r>
              </a:p>
            </p:txBody>
          </p:sp>
        </mc:Choice>
        <mc:Fallback xmlns="">
          <p:sp>
            <p:nvSpPr>
              <p:cNvPr id="21" name="ZoneTexte 20">
                <a:extLst>
                  <a:ext uri="{FF2B5EF4-FFF2-40B4-BE49-F238E27FC236}">
                    <a16:creationId xmlns:a16="http://schemas.microsoft.com/office/drawing/2014/main" id="{DA98408D-7BCF-0B79-F205-D3A51D312032}"/>
                  </a:ext>
                </a:extLst>
              </p:cNvPr>
              <p:cNvSpPr txBox="1">
                <a:spLocks noRot="1" noChangeAspect="1" noMove="1" noResize="1" noEditPoints="1" noAdjustHandles="1" noChangeArrowheads="1" noChangeShapeType="1" noTextEdit="1"/>
              </p:cNvSpPr>
              <p:nvPr/>
            </p:nvSpPr>
            <p:spPr>
              <a:xfrm>
                <a:off x="967857" y="3196129"/>
                <a:ext cx="755769" cy="767994"/>
              </a:xfrm>
              <a:prstGeom prst="rect">
                <a:avLst/>
              </a:prstGeom>
              <a:blipFill>
                <a:blip r:embed="rId3"/>
                <a:stretch>
                  <a:fillRect/>
                </a:stretch>
              </a:blipFill>
            </p:spPr>
            <p:txBody>
              <a:bodyPr/>
              <a:lstStyle/>
              <a:p>
                <a:r>
                  <a:rPr lang="en-GB">
                    <a:noFill/>
                  </a:rPr>
                  <a:t> </a:t>
                </a:r>
              </a:p>
            </p:txBody>
          </p:sp>
        </mc:Fallback>
      </mc:AlternateContent>
      <p:cxnSp>
        <p:nvCxnSpPr>
          <p:cNvPr id="30" name="Connecteur droit avec flèche 29">
            <a:extLst>
              <a:ext uri="{FF2B5EF4-FFF2-40B4-BE49-F238E27FC236}">
                <a16:creationId xmlns:a16="http://schemas.microsoft.com/office/drawing/2014/main" id="{EC60400A-B022-9B62-145A-E89269B5B07D}"/>
              </a:ext>
            </a:extLst>
          </p:cNvPr>
          <p:cNvCxnSpPr>
            <a:cxnSpLocks/>
            <a:stCxn id="53" idx="6"/>
            <a:endCxn id="85" idx="2"/>
          </p:cNvCxnSpPr>
          <p:nvPr/>
        </p:nvCxnSpPr>
        <p:spPr>
          <a:xfrm>
            <a:off x="4913545" y="2220929"/>
            <a:ext cx="1539618" cy="9516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ZoneTexte 35">
                <a:extLst>
                  <a:ext uri="{FF2B5EF4-FFF2-40B4-BE49-F238E27FC236}">
                    <a16:creationId xmlns:a16="http://schemas.microsoft.com/office/drawing/2014/main" id="{A7936F09-B5D3-2AD7-7E03-04DD918378E5}"/>
                  </a:ext>
                </a:extLst>
              </p:cNvPr>
              <p:cNvSpPr txBox="1"/>
              <p:nvPr/>
            </p:nvSpPr>
            <p:spPr>
              <a:xfrm>
                <a:off x="3452454" y="1656720"/>
                <a:ext cx="432284" cy="510806"/>
              </a:xfrm>
              <a:prstGeom prst="rect">
                <a:avLst/>
              </a:prstGeom>
              <a:noFill/>
            </p:spPr>
            <p:txBody>
              <a:bodyPr wrap="square" rtlCol="0">
                <a:noAutofit/>
              </a:bodyPr>
              <a:lstStyle/>
              <a:p>
                <a:pPr algn="ctr"/>
                <a14:m>
                  <m:oMathPara xmlns:m="http://schemas.openxmlformats.org/officeDocument/2006/math">
                    <m:oMathParaPr>
                      <m:jc m:val="centerGroup"/>
                    </m:oMathParaPr>
                    <m:oMath xmlns:m="http://schemas.openxmlformats.org/officeDocument/2006/math">
                      <m:sSubSup>
                        <m:sSubSupPr>
                          <m:ctrlP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ctrlPr>
                        </m:sSubSupPr>
                        <m:e>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𝒃</m:t>
                          </m:r>
                        </m:e>
                        <m:sub>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𝒉</m:t>
                          </m:r>
                        </m:sub>
                        <m:sup>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𝟏</m:t>
                          </m:r>
                        </m:sup>
                      </m:sSubSup>
                    </m:oMath>
                  </m:oMathPara>
                </a14:m>
                <a:endParaRPr lang="fr-FR" b="1" baseline="-25000" dirty="0">
                  <a:ln>
                    <a:solidFill>
                      <a:schemeClr val="accent2">
                        <a:lumMod val="75000"/>
                      </a:schemeClr>
                    </a:solidFill>
                  </a:ln>
                  <a:solidFill>
                    <a:schemeClr val="accent2">
                      <a:lumMod val="75000"/>
                    </a:schemeClr>
                  </a:solidFill>
                  <a:latin typeface="Monaco" pitchFamily="2" charset="77"/>
                </a:endParaRPr>
              </a:p>
            </p:txBody>
          </p:sp>
        </mc:Choice>
        <mc:Fallback xmlns="">
          <p:sp>
            <p:nvSpPr>
              <p:cNvPr id="36" name="ZoneTexte 35">
                <a:extLst>
                  <a:ext uri="{FF2B5EF4-FFF2-40B4-BE49-F238E27FC236}">
                    <a16:creationId xmlns:a16="http://schemas.microsoft.com/office/drawing/2014/main" id="{A7936F09-B5D3-2AD7-7E03-04DD918378E5}"/>
                  </a:ext>
                </a:extLst>
              </p:cNvPr>
              <p:cNvSpPr txBox="1">
                <a:spLocks noRot="1" noChangeAspect="1" noMove="1" noResize="1" noEditPoints="1" noAdjustHandles="1" noChangeArrowheads="1" noChangeShapeType="1" noTextEdit="1"/>
              </p:cNvSpPr>
              <p:nvPr/>
            </p:nvSpPr>
            <p:spPr>
              <a:xfrm>
                <a:off x="3452454" y="1656720"/>
                <a:ext cx="432284" cy="510806"/>
              </a:xfrm>
              <a:prstGeom prst="rect">
                <a:avLst/>
              </a:prstGeom>
              <a:blipFill>
                <a:blip r:embed="rId4"/>
                <a:stretch>
                  <a:fillRect/>
                </a:stretch>
              </a:blipFill>
            </p:spPr>
            <p:txBody>
              <a:bodyPr/>
              <a:lstStyle/>
              <a:p>
                <a:r>
                  <a:rPr lang="en-GB">
                    <a:noFill/>
                  </a:rPr>
                  <a:t> </a:t>
                </a:r>
              </a:p>
            </p:txBody>
          </p:sp>
        </mc:Fallback>
      </mc:AlternateContent>
      <p:cxnSp>
        <p:nvCxnSpPr>
          <p:cNvPr id="20" name="Connecteur droit avec flèche 19">
            <a:extLst>
              <a:ext uri="{FF2B5EF4-FFF2-40B4-BE49-F238E27FC236}">
                <a16:creationId xmlns:a16="http://schemas.microsoft.com/office/drawing/2014/main" id="{5E8A4AC8-B1F4-5C85-36C9-85FCE5EB0337}"/>
              </a:ext>
            </a:extLst>
          </p:cNvPr>
          <p:cNvCxnSpPr>
            <a:cxnSpLocks/>
          </p:cNvCxnSpPr>
          <p:nvPr/>
        </p:nvCxnSpPr>
        <p:spPr>
          <a:xfrm flipV="1">
            <a:off x="7511917" y="3204386"/>
            <a:ext cx="741790" cy="15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Parenthèse fermante 24">
            <a:extLst>
              <a:ext uri="{FF2B5EF4-FFF2-40B4-BE49-F238E27FC236}">
                <a16:creationId xmlns:a16="http://schemas.microsoft.com/office/drawing/2014/main" id="{B0DD10B2-458F-1CE8-A8B3-9A4C66F2F517}"/>
              </a:ext>
            </a:extLst>
          </p:cNvPr>
          <p:cNvSpPr/>
          <p:nvPr/>
        </p:nvSpPr>
        <p:spPr>
          <a:xfrm rot="5400000">
            <a:off x="4331368" y="5224239"/>
            <a:ext cx="242272" cy="1745500"/>
          </a:xfrm>
          <a:prstGeom prst="rightBracket">
            <a:avLst/>
          </a:prstGeom>
          <a:noFill/>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dirty="0">
              <a:solidFill>
                <a:srgbClr val="C00000"/>
              </a:solidFill>
            </a:endParaRPr>
          </a:p>
        </p:txBody>
      </p:sp>
      <p:sp>
        <p:nvSpPr>
          <p:cNvPr id="27" name="Parenthèse fermante 26">
            <a:extLst>
              <a:ext uri="{FF2B5EF4-FFF2-40B4-BE49-F238E27FC236}">
                <a16:creationId xmlns:a16="http://schemas.microsoft.com/office/drawing/2014/main" id="{FC488B7C-4278-48F9-C2B7-3AD578BDA404}"/>
              </a:ext>
            </a:extLst>
          </p:cNvPr>
          <p:cNvSpPr/>
          <p:nvPr/>
        </p:nvSpPr>
        <p:spPr>
          <a:xfrm rot="5400000">
            <a:off x="6952991" y="4742263"/>
            <a:ext cx="187315" cy="1240448"/>
          </a:xfrm>
          <a:prstGeom prst="rightBracket">
            <a:avLst/>
          </a:prstGeom>
          <a:noFill/>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dirty="0">
              <a:solidFill>
                <a:srgbClr val="C00000"/>
              </a:solidFill>
            </a:endParaRPr>
          </a:p>
        </p:txBody>
      </p:sp>
      <p:sp>
        <p:nvSpPr>
          <p:cNvPr id="31" name="ZoneTexte 30">
            <a:extLst>
              <a:ext uri="{FF2B5EF4-FFF2-40B4-BE49-F238E27FC236}">
                <a16:creationId xmlns:a16="http://schemas.microsoft.com/office/drawing/2014/main" id="{D2DCA05B-F269-6150-B0FD-720900CB95E5}"/>
              </a:ext>
            </a:extLst>
          </p:cNvPr>
          <p:cNvSpPr txBox="1"/>
          <p:nvPr/>
        </p:nvSpPr>
        <p:spPr>
          <a:xfrm>
            <a:off x="3562477" y="5860517"/>
            <a:ext cx="1845239" cy="276999"/>
          </a:xfrm>
          <a:prstGeom prst="rect">
            <a:avLst/>
          </a:prstGeom>
          <a:noFill/>
        </p:spPr>
        <p:txBody>
          <a:bodyPr wrap="square" rtlCol="0">
            <a:spAutoFit/>
          </a:bodyPr>
          <a:lstStyle/>
          <a:p>
            <a:r>
              <a:rPr lang="en-GB" sz="1200" noProof="0" dirty="0"/>
              <a:t>Hidden layer with 4 units</a:t>
            </a:r>
          </a:p>
        </p:txBody>
      </p:sp>
      <p:sp>
        <p:nvSpPr>
          <p:cNvPr id="33" name="ZoneTexte 32">
            <a:extLst>
              <a:ext uri="{FF2B5EF4-FFF2-40B4-BE49-F238E27FC236}">
                <a16:creationId xmlns:a16="http://schemas.microsoft.com/office/drawing/2014/main" id="{C490E5A5-D774-4309-D29F-85C81F5ACA2A}"/>
              </a:ext>
            </a:extLst>
          </p:cNvPr>
          <p:cNvSpPr txBox="1"/>
          <p:nvPr/>
        </p:nvSpPr>
        <p:spPr>
          <a:xfrm>
            <a:off x="6495011" y="5103650"/>
            <a:ext cx="1121062" cy="276999"/>
          </a:xfrm>
          <a:prstGeom prst="rect">
            <a:avLst/>
          </a:prstGeom>
          <a:noFill/>
        </p:spPr>
        <p:txBody>
          <a:bodyPr wrap="square" rtlCol="0">
            <a:spAutoFit/>
          </a:bodyPr>
          <a:lstStyle/>
          <a:p>
            <a:r>
              <a:rPr lang="en-GB" sz="1200" noProof="0" dirty="0"/>
              <a:t>Output layer</a:t>
            </a:r>
          </a:p>
        </p:txBody>
      </p:sp>
      <p:sp>
        <p:nvSpPr>
          <p:cNvPr id="34" name="Parenthèse fermante 33">
            <a:extLst>
              <a:ext uri="{FF2B5EF4-FFF2-40B4-BE49-F238E27FC236}">
                <a16:creationId xmlns:a16="http://schemas.microsoft.com/office/drawing/2014/main" id="{41191570-6380-8350-20D0-6B146616D633}"/>
              </a:ext>
            </a:extLst>
          </p:cNvPr>
          <p:cNvSpPr/>
          <p:nvPr/>
        </p:nvSpPr>
        <p:spPr>
          <a:xfrm rot="5400000">
            <a:off x="1240849" y="4906494"/>
            <a:ext cx="172989" cy="1038780"/>
          </a:xfrm>
          <a:prstGeom prst="rightBracket">
            <a:avLst/>
          </a:prstGeom>
          <a:noFill/>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dirty="0">
              <a:solidFill>
                <a:srgbClr val="C00000"/>
              </a:solidFill>
            </a:endParaRPr>
          </a:p>
        </p:txBody>
      </p:sp>
      <p:sp>
        <p:nvSpPr>
          <p:cNvPr id="35" name="ZoneTexte 34">
            <a:extLst>
              <a:ext uri="{FF2B5EF4-FFF2-40B4-BE49-F238E27FC236}">
                <a16:creationId xmlns:a16="http://schemas.microsoft.com/office/drawing/2014/main" id="{12ECAF08-9B83-EDD2-F3B3-320FDE35FA93}"/>
              </a:ext>
            </a:extLst>
          </p:cNvPr>
          <p:cNvSpPr txBox="1"/>
          <p:nvPr/>
        </p:nvSpPr>
        <p:spPr>
          <a:xfrm>
            <a:off x="793651" y="5164487"/>
            <a:ext cx="1121062" cy="276999"/>
          </a:xfrm>
          <a:prstGeom prst="rect">
            <a:avLst/>
          </a:prstGeom>
          <a:noFill/>
        </p:spPr>
        <p:txBody>
          <a:bodyPr wrap="square" rtlCol="0">
            <a:spAutoFit/>
          </a:bodyPr>
          <a:lstStyle/>
          <a:p>
            <a:pPr algn="ctr"/>
            <a:r>
              <a:rPr lang="en-GB" sz="1200" noProof="0" dirty="0"/>
              <a:t>Input layer</a:t>
            </a:r>
          </a:p>
        </p:txBody>
      </p:sp>
      <p:cxnSp>
        <p:nvCxnSpPr>
          <p:cNvPr id="57" name="Connecteur droit avec flèche 56">
            <a:extLst>
              <a:ext uri="{FF2B5EF4-FFF2-40B4-BE49-F238E27FC236}">
                <a16:creationId xmlns:a16="http://schemas.microsoft.com/office/drawing/2014/main" id="{B1D758CF-A3A4-1F15-B2FE-A94E2126F454}"/>
              </a:ext>
            </a:extLst>
          </p:cNvPr>
          <p:cNvCxnSpPr>
            <a:cxnSpLocks/>
            <a:stCxn id="45" idx="6"/>
            <a:endCxn id="85" idx="2"/>
          </p:cNvCxnSpPr>
          <p:nvPr/>
        </p:nvCxnSpPr>
        <p:spPr>
          <a:xfrm flipV="1">
            <a:off x="4927749" y="3172574"/>
            <a:ext cx="1525414" cy="730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Connecteur droit avec flèche 58">
            <a:extLst>
              <a:ext uri="{FF2B5EF4-FFF2-40B4-BE49-F238E27FC236}">
                <a16:creationId xmlns:a16="http://schemas.microsoft.com/office/drawing/2014/main" id="{4AB240F2-8D22-DD35-5FCD-06D55F18A006}"/>
              </a:ext>
            </a:extLst>
          </p:cNvPr>
          <p:cNvCxnSpPr>
            <a:cxnSpLocks/>
            <a:stCxn id="80" idx="6"/>
            <a:endCxn id="85" idx="2"/>
          </p:cNvCxnSpPr>
          <p:nvPr/>
        </p:nvCxnSpPr>
        <p:spPr>
          <a:xfrm flipV="1">
            <a:off x="4913542" y="3172574"/>
            <a:ext cx="1539621" cy="10803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0" name="Connecteur droit avec flèche 59">
            <a:extLst>
              <a:ext uri="{FF2B5EF4-FFF2-40B4-BE49-F238E27FC236}">
                <a16:creationId xmlns:a16="http://schemas.microsoft.com/office/drawing/2014/main" id="{FD6D2C76-BD3A-241A-FBA6-7BFB7C3C1A67}"/>
              </a:ext>
            </a:extLst>
          </p:cNvPr>
          <p:cNvCxnSpPr>
            <a:cxnSpLocks/>
            <a:stCxn id="53" idx="6"/>
            <a:endCxn id="92" idx="2"/>
          </p:cNvCxnSpPr>
          <p:nvPr/>
        </p:nvCxnSpPr>
        <p:spPr>
          <a:xfrm>
            <a:off x="4913545" y="2220929"/>
            <a:ext cx="1553605" cy="19931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9" name="ZoneTexte 68">
                <a:extLst>
                  <a:ext uri="{FF2B5EF4-FFF2-40B4-BE49-F238E27FC236}">
                    <a16:creationId xmlns:a16="http://schemas.microsoft.com/office/drawing/2014/main" id="{3CD5E297-B5FD-5B2B-3829-E2AA849F0CCD}"/>
                  </a:ext>
                </a:extLst>
              </p:cNvPr>
              <p:cNvSpPr txBox="1"/>
              <p:nvPr/>
            </p:nvSpPr>
            <p:spPr>
              <a:xfrm>
                <a:off x="9085956" y="3402262"/>
                <a:ext cx="627435" cy="51328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acc>
                        <m:accPr>
                          <m:chr m:val="̂"/>
                          <m:ctrlPr>
                            <a:rPr lang="fr-FR" sz="2800" b="0" i="1" noProof="0" smtClean="0">
                              <a:latin typeface="Cambria Math" panose="02040503050406030204" pitchFamily="18" charset="0"/>
                            </a:rPr>
                          </m:ctrlPr>
                        </m:accPr>
                        <m:e>
                          <m:r>
                            <a:rPr lang="fr-FR" sz="2800" b="0" i="1" noProof="0" smtClean="0">
                              <a:latin typeface="Cambria Math" panose="02040503050406030204" pitchFamily="18" charset="0"/>
                            </a:rPr>
                            <m:t>𝑦</m:t>
                          </m:r>
                        </m:e>
                      </m:acc>
                    </m:oMath>
                  </m:oMathPara>
                </a14:m>
                <a:endParaRPr lang="en-GB" sz="2800" baseline="30000" noProof="0" dirty="0"/>
              </a:p>
            </p:txBody>
          </p:sp>
        </mc:Choice>
        <mc:Fallback xmlns="">
          <p:sp>
            <p:nvSpPr>
              <p:cNvPr id="69" name="ZoneTexte 68">
                <a:extLst>
                  <a:ext uri="{FF2B5EF4-FFF2-40B4-BE49-F238E27FC236}">
                    <a16:creationId xmlns:a16="http://schemas.microsoft.com/office/drawing/2014/main" id="{3CD5E297-B5FD-5B2B-3829-E2AA849F0CCD}"/>
                  </a:ext>
                </a:extLst>
              </p:cNvPr>
              <p:cNvSpPr txBox="1">
                <a:spLocks noRot="1" noChangeAspect="1" noMove="1" noResize="1" noEditPoints="1" noAdjustHandles="1" noChangeArrowheads="1" noChangeShapeType="1" noTextEdit="1"/>
              </p:cNvSpPr>
              <p:nvPr/>
            </p:nvSpPr>
            <p:spPr>
              <a:xfrm>
                <a:off x="9085956" y="3402262"/>
                <a:ext cx="627435" cy="513282"/>
              </a:xfrm>
              <a:prstGeom prst="rect">
                <a:avLst/>
              </a:prstGeom>
              <a:blipFill>
                <a:blip r:embed="rId5"/>
                <a:stretch>
                  <a:fillRect t="-2381" b="-14286"/>
                </a:stretch>
              </a:blipFill>
            </p:spPr>
            <p:txBody>
              <a:bodyPr/>
              <a:lstStyle/>
              <a:p>
                <a:r>
                  <a:rPr lang="en-GB">
                    <a:noFill/>
                  </a:rPr>
                  <a:t> </a:t>
                </a:r>
              </a:p>
            </p:txBody>
          </p:sp>
        </mc:Fallback>
      </mc:AlternateContent>
      <p:sp>
        <p:nvSpPr>
          <p:cNvPr id="73" name="ZoneTexte 72">
            <a:extLst>
              <a:ext uri="{FF2B5EF4-FFF2-40B4-BE49-F238E27FC236}">
                <a16:creationId xmlns:a16="http://schemas.microsoft.com/office/drawing/2014/main" id="{9544B6E4-5532-80E6-3F1B-2ECFD3275BB8}"/>
              </a:ext>
            </a:extLst>
          </p:cNvPr>
          <p:cNvSpPr txBox="1"/>
          <p:nvPr/>
        </p:nvSpPr>
        <p:spPr>
          <a:xfrm>
            <a:off x="5118101" y="760834"/>
            <a:ext cx="6543121" cy="584775"/>
          </a:xfrm>
          <a:prstGeom prst="rect">
            <a:avLst/>
          </a:prstGeom>
          <a:noFill/>
        </p:spPr>
        <p:txBody>
          <a:bodyPr wrap="square" rtlCol="0">
            <a:spAutoFit/>
          </a:bodyPr>
          <a:lstStyle/>
          <a:p>
            <a:r>
              <a:rPr lang="en-GB" sz="3200" b="1" noProof="0" dirty="0"/>
              <a:t>Multiclass Classification Network</a:t>
            </a:r>
          </a:p>
        </p:txBody>
      </p:sp>
      <p:sp>
        <p:nvSpPr>
          <p:cNvPr id="75" name="Espace réservé du pied de page 74">
            <a:extLst>
              <a:ext uri="{FF2B5EF4-FFF2-40B4-BE49-F238E27FC236}">
                <a16:creationId xmlns:a16="http://schemas.microsoft.com/office/drawing/2014/main" id="{CD3C2DC1-228C-79C4-1CE8-561EC25CEB02}"/>
              </a:ext>
            </a:extLst>
          </p:cNvPr>
          <p:cNvSpPr>
            <a:spLocks noGrp="1"/>
          </p:cNvSpPr>
          <p:nvPr>
            <p:ph type="ftr" sz="quarter" idx="11"/>
          </p:nvPr>
        </p:nvSpPr>
        <p:spPr/>
        <p:txBody>
          <a:bodyPr/>
          <a:lstStyle/>
          <a:p>
            <a:r>
              <a:rPr lang="fr-FR"/>
              <a:t>Introduction to Neural Networks. Author: David Thébault</a:t>
            </a:r>
          </a:p>
        </p:txBody>
      </p:sp>
      <p:grpSp>
        <p:nvGrpSpPr>
          <p:cNvPr id="19" name="Groupe 18">
            <a:extLst>
              <a:ext uri="{FF2B5EF4-FFF2-40B4-BE49-F238E27FC236}">
                <a16:creationId xmlns:a16="http://schemas.microsoft.com/office/drawing/2014/main" id="{1104319C-D9FD-C1F9-2F3D-10F730952725}"/>
              </a:ext>
            </a:extLst>
          </p:cNvPr>
          <p:cNvGrpSpPr/>
          <p:nvPr/>
        </p:nvGrpSpPr>
        <p:grpSpPr>
          <a:xfrm>
            <a:off x="3889570" y="2777770"/>
            <a:ext cx="1038179" cy="935767"/>
            <a:chOff x="4992412" y="2220312"/>
            <a:chExt cx="1061545" cy="1061545"/>
          </a:xfrm>
        </p:grpSpPr>
        <p:sp>
          <p:nvSpPr>
            <p:cNvPr id="45" name="Ellipse 44">
              <a:extLst>
                <a:ext uri="{FF2B5EF4-FFF2-40B4-BE49-F238E27FC236}">
                  <a16:creationId xmlns:a16="http://schemas.microsoft.com/office/drawing/2014/main" id="{C817883B-368B-ACBD-0E68-38D6C148742C}"/>
                </a:ext>
              </a:extLst>
            </p:cNvPr>
            <p:cNvSpPr/>
            <p:nvPr/>
          </p:nvSpPr>
          <p:spPr>
            <a:xfrm>
              <a:off x="4992412" y="2220312"/>
              <a:ext cx="1061545" cy="106154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900" dirty="0"/>
            </a:p>
          </p:txBody>
        </p:sp>
        <p:cxnSp>
          <p:nvCxnSpPr>
            <p:cNvPr id="47" name="Connecteur droit 46">
              <a:extLst>
                <a:ext uri="{FF2B5EF4-FFF2-40B4-BE49-F238E27FC236}">
                  <a16:creationId xmlns:a16="http://schemas.microsoft.com/office/drawing/2014/main" id="{1B23E963-600B-39E1-3798-B6259018E927}"/>
                </a:ext>
              </a:extLst>
            </p:cNvPr>
            <p:cNvCxnSpPr>
              <a:cxnSpLocks/>
              <a:stCxn id="45" idx="0"/>
              <a:endCxn id="45" idx="4"/>
            </p:cNvCxnSpPr>
            <p:nvPr/>
          </p:nvCxnSpPr>
          <p:spPr>
            <a:xfrm>
              <a:off x="5523185" y="2220312"/>
              <a:ext cx="0" cy="1061545"/>
            </a:xfrm>
            <a:prstGeom prst="line">
              <a:avLst/>
            </a:prstGeom>
          </p:spPr>
          <p:style>
            <a:lnRef idx="2">
              <a:schemeClr val="accent1"/>
            </a:lnRef>
            <a:fillRef idx="0">
              <a:schemeClr val="accent1"/>
            </a:fillRef>
            <a:effectRef idx="1">
              <a:schemeClr val="accent1"/>
            </a:effectRef>
            <a:fontRef idx="minor">
              <a:schemeClr val="tx1"/>
            </a:fontRef>
          </p:style>
        </p:cxnSp>
      </p:grpSp>
      <p:sp>
        <p:nvSpPr>
          <p:cNvPr id="53" name="Ellipse 52">
            <a:extLst>
              <a:ext uri="{FF2B5EF4-FFF2-40B4-BE49-F238E27FC236}">
                <a16:creationId xmlns:a16="http://schemas.microsoft.com/office/drawing/2014/main" id="{12BE1DD3-47EC-422D-8EF8-0093D169B766}"/>
              </a:ext>
            </a:extLst>
          </p:cNvPr>
          <p:cNvSpPr/>
          <p:nvPr/>
        </p:nvSpPr>
        <p:spPr>
          <a:xfrm>
            <a:off x="3875366" y="1753045"/>
            <a:ext cx="1038179" cy="93576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900" dirty="0"/>
          </a:p>
        </p:txBody>
      </p:sp>
      <p:cxnSp>
        <p:nvCxnSpPr>
          <p:cNvPr id="56" name="Connecteur droit 55">
            <a:extLst>
              <a:ext uri="{FF2B5EF4-FFF2-40B4-BE49-F238E27FC236}">
                <a16:creationId xmlns:a16="http://schemas.microsoft.com/office/drawing/2014/main" id="{1E3B7086-640D-484E-A438-A0664CA9F1C4}"/>
              </a:ext>
            </a:extLst>
          </p:cNvPr>
          <p:cNvCxnSpPr>
            <a:cxnSpLocks/>
            <a:stCxn id="53" idx="0"/>
            <a:endCxn id="53" idx="4"/>
          </p:cNvCxnSpPr>
          <p:nvPr/>
        </p:nvCxnSpPr>
        <p:spPr>
          <a:xfrm>
            <a:off x="4394456" y="1753045"/>
            <a:ext cx="0" cy="935768"/>
          </a:xfrm>
          <a:prstGeom prst="line">
            <a:avLst/>
          </a:prstGeom>
        </p:spPr>
        <p:style>
          <a:lnRef idx="2">
            <a:schemeClr val="accent1"/>
          </a:lnRef>
          <a:fillRef idx="0">
            <a:schemeClr val="accent1"/>
          </a:fillRef>
          <a:effectRef idx="1">
            <a:schemeClr val="accent1"/>
          </a:effectRef>
          <a:fontRef idx="minor">
            <a:schemeClr val="tx1"/>
          </a:fontRef>
        </p:style>
      </p:cxnSp>
      <p:sp>
        <p:nvSpPr>
          <p:cNvPr id="66" name="ZoneTexte 65">
            <a:extLst>
              <a:ext uri="{FF2B5EF4-FFF2-40B4-BE49-F238E27FC236}">
                <a16:creationId xmlns:a16="http://schemas.microsoft.com/office/drawing/2014/main" id="{C49F13DF-3B5B-5C73-6936-B408F2EE3D21}"/>
              </a:ext>
            </a:extLst>
          </p:cNvPr>
          <p:cNvSpPr txBox="1"/>
          <p:nvPr/>
        </p:nvSpPr>
        <p:spPr>
          <a:xfrm>
            <a:off x="3867157" y="2104121"/>
            <a:ext cx="637295" cy="246221"/>
          </a:xfrm>
          <a:prstGeom prst="rect">
            <a:avLst/>
          </a:prstGeom>
          <a:noFill/>
        </p:spPr>
        <p:txBody>
          <a:bodyPr wrap="square" rtlCol="0">
            <a:spAutoFit/>
          </a:bodyPr>
          <a:lstStyle/>
          <a:p>
            <a:r>
              <a:rPr lang="fr-FR" sz="1000" dirty="0"/>
              <a:t>net_h1</a:t>
            </a:r>
          </a:p>
        </p:txBody>
      </p:sp>
      <p:sp>
        <p:nvSpPr>
          <p:cNvPr id="67" name="ZoneTexte 66">
            <a:extLst>
              <a:ext uri="{FF2B5EF4-FFF2-40B4-BE49-F238E27FC236}">
                <a16:creationId xmlns:a16="http://schemas.microsoft.com/office/drawing/2014/main" id="{1BE59295-21DE-28C4-B561-25BCA8C24840}"/>
              </a:ext>
            </a:extLst>
          </p:cNvPr>
          <p:cNvSpPr txBox="1"/>
          <p:nvPr/>
        </p:nvSpPr>
        <p:spPr>
          <a:xfrm>
            <a:off x="4291968" y="2103787"/>
            <a:ext cx="637295" cy="246221"/>
          </a:xfrm>
          <a:prstGeom prst="rect">
            <a:avLst/>
          </a:prstGeom>
          <a:noFill/>
        </p:spPr>
        <p:txBody>
          <a:bodyPr wrap="square" rtlCol="0">
            <a:spAutoFit/>
          </a:bodyPr>
          <a:lstStyle/>
          <a:p>
            <a:pPr algn="r"/>
            <a:r>
              <a:rPr lang="fr-FR" sz="1000" dirty="0"/>
              <a:t>out_h1</a:t>
            </a:r>
          </a:p>
        </p:txBody>
      </p:sp>
      <p:grpSp>
        <p:nvGrpSpPr>
          <p:cNvPr id="72" name="Groupe 71">
            <a:extLst>
              <a:ext uri="{FF2B5EF4-FFF2-40B4-BE49-F238E27FC236}">
                <a16:creationId xmlns:a16="http://schemas.microsoft.com/office/drawing/2014/main" id="{1AE8714A-0923-6892-83E0-FD3203BC8656}"/>
              </a:ext>
            </a:extLst>
          </p:cNvPr>
          <p:cNvGrpSpPr/>
          <p:nvPr/>
        </p:nvGrpSpPr>
        <p:grpSpPr>
          <a:xfrm>
            <a:off x="3889570" y="4835170"/>
            <a:ext cx="1038179" cy="935767"/>
            <a:chOff x="4992412" y="2220312"/>
            <a:chExt cx="1061545" cy="1061545"/>
          </a:xfrm>
        </p:grpSpPr>
        <p:sp>
          <p:nvSpPr>
            <p:cNvPr id="74" name="Ellipse 73">
              <a:extLst>
                <a:ext uri="{FF2B5EF4-FFF2-40B4-BE49-F238E27FC236}">
                  <a16:creationId xmlns:a16="http://schemas.microsoft.com/office/drawing/2014/main" id="{8F607BB4-23BE-86FF-2677-8BC73ACD70AF}"/>
                </a:ext>
              </a:extLst>
            </p:cNvPr>
            <p:cNvSpPr/>
            <p:nvPr/>
          </p:nvSpPr>
          <p:spPr>
            <a:xfrm>
              <a:off x="4992412" y="2220312"/>
              <a:ext cx="1061545" cy="106154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900" dirty="0"/>
            </a:p>
          </p:txBody>
        </p:sp>
        <p:cxnSp>
          <p:nvCxnSpPr>
            <p:cNvPr id="76" name="Connecteur droit 75">
              <a:extLst>
                <a:ext uri="{FF2B5EF4-FFF2-40B4-BE49-F238E27FC236}">
                  <a16:creationId xmlns:a16="http://schemas.microsoft.com/office/drawing/2014/main" id="{86742F1A-3D5D-1012-DE86-B8D7B6EEDA97}"/>
                </a:ext>
              </a:extLst>
            </p:cNvPr>
            <p:cNvCxnSpPr>
              <a:cxnSpLocks/>
              <a:stCxn id="74" idx="0"/>
              <a:endCxn id="74" idx="4"/>
            </p:cNvCxnSpPr>
            <p:nvPr/>
          </p:nvCxnSpPr>
          <p:spPr>
            <a:xfrm>
              <a:off x="5523185" y="2220312"/>
              <a:ext cx="0" cy="1061545"/>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79" name="Groupe 78">
            <a:extLst>
              <a:ext uri="{FF2B5EF4-FFF2-40B4-BE49-F238E27FC236}">
                <a16:creationId xmlns:a16="http://schemas.microsoft.com/office/drawing/2014/main" id="{A4B53FE6-29E3-96B8-81BE-66F7F59555B8}"/>
              </a:ext>
            </a:extLst>
          </p:cNvPr>
          <p:cNvGrpSpPr/>
          <p:nvPr/>
        </p:nvGrpSpPr>
        <p:grpSpPr>
          <a:xfrm>
            <a:off x="3875363" y="3785041"/>
            <a:ext cx="1038179" cy="935767"/>
            <a:chOff x="4992412" y="2220312"/>
            <a:chExt cx="1061545" cy="1061545"/>
          </a:xfrm>
        </p:grpSpPr>
        <p:sp>
          <p:nvSpPr>
            <p:cNvPr id="80" name="Ellipse 79">
              <a:extLst>
                <a:ext uri="{FF2B5EF4-FFF2-40B4-BE49-F238E27FC236}">
                  <a16:creationId xmlns:a16="http://schemas.microsoft.com/office/drawing/2014/main" id="{938BA1D2-C83E-15A2-D169-4B0611B2FF40}"/>
                </a:ext>
              </a:extLst>
            </p:cNvPr>
            <p:cNvSpPr/>
            <p:nvPr/>
          </p:nvSpPr>
          <p:spPr>
            <a:xfrm>
              <a:off x="4992412" y="2220312"/>
              <a:ext cx="1061545" cy="106154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900" dirty="0"/>
            </a:p>
          </p:txBody>
        </p:sp>
        <p:cxnSp>
          <p:nvCxnSpPr>
            <p:cNvPr id="81" name="Connecteur droit 80">
              <a:extLst>
                <a:ext uri="{FF2B5EF4-FFF2-40B4-BE49-F238E27FC236}">
                  <a16:creationId xmlns:a16="http://schemas.microsoft.com/office/drawing/2014/main" id="{6D126F24-6489-B175-8CAC-FEB8405253CD}"/>
                </a:ext>
              </a:extLst>
            </p:cNvPr>
            <p:cNvCxnSpPr>
              <a:cxnSpLocks/>
              <a:stCxn id="80" idx="0"/>
              <a:endCxn id="80" idx="4"/>
            </p:cNvCxnSpPr>
            <p:nvPr/>
          </p:nvCxnSpPr>
          <p:spPr>
            <a:xfrm>
              <a:off x="5523185" y="2220312"/>
              <a:ext cx="0" cy="1061545"/>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90" name="Groupe 89">
            <a:extLst>
              <a:ext uri="{FF2B5EF4-FFF2-40B4-BE49-F238E27FC236}">
                <a16:creationId xmlns:a16="http://schemas.microsoft.com/office/drawing/2014/main" id="{616CC326-B291-93AE-54C2-D519F74CFC6D}"/>
              </a:ext>
            </a:extLst>
          </p:cNvPr>
          <p:cNvGrpSpPr/>
          <p:nvPr/>
        </p:nvGrpSpPr>
        <p:grpSpPr>
          <a:xfrm>
            <a:off x="6453163" y="2704690"/>
            <a:ext cx="1038180" cy="935767"/>
            <a:chOff x="6453163" y="2285590"/>
            <a:chExt cx="1038180" cy="935767"/>
          </a:xfrm>
        </p:grpSpPr>
        <p:sp>
          <p:nvSpPr>
            <p:cNvPr id="85" name="Ellipse 84">
              <a:extLst>
                <a:ext uri="{FF2B5EF4-FFF2-40B4-BE49-F238E27FC236}">
                  <a16:creationId xmlns:a16="http://schemas.microsoft.com/office/drawing/2014/main" id="{B5177BAA-7970-AE71-77D4-AF287BB0FF06}"/>
                </a:ext>
              </a:extLst>
            </p:cNvPr>
            <p:cNvSpPr/>
            <p:nvPr/>
          </p:nvSpPr>
          <p:spPr>
            <a:xfrm>
              <a:off x="6453163" y="2285590"/>
              <a:ext cx="1038180" cy="935767"/>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900" dirty="0"/>
            </a:p>
          </p:txBody>
        </p:sp>
        <mc:AlternateContent xmlns:mc="http://schemas.openxmlformats.org/markup-compatibility/2006" xmlns:a14="http://schemas.microsoft.com/office/drawing/2010/main">
          <mc:Choice Requires="a14">
            <p:sp>
              <p:nvSpPr>
                <p:cNvPr id="87" name="ZoneTexte 86">
                  <a:extLst>
                    <a:ext uri="{FF2B5EF4-FFF2-40B4-BE49-F238E27FC236}">
                      <a16:creationId xmlns:a16="http://schemas.microsoft.com/office/drawing/2014/main" id="{956582F0-40C9-A241-DFC2-85810139C02F}"/>
                    </a:ext>
                  </a:extLst>
                </p:cNvPr>
                <p:cNvSpPr txBox="1"/>
                <p:nvPr/>
              </p:nvSpPr>
              <p:spPr>
                <a:xfrm>
                  <a:off x="6658186" y="2496631"/>
                  <a:ext cx="637295" cy="52322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m:rPr>
                            <m:sty m:val="p"/>
                          </m:rPr>
                          <a:rPr lang="el-GR" sz="2800" i="1" dirty="0" smtClean="0">
                            <a:latin typeface="Cambria Math" panose="02040503050406030204" pitchFamily="18" charset="0"/>
                            <a:ea typeface="Cambria Math" panose="02040503050406030204" pitchFamily="18" charset="0"/>
                          </a:rPr>
                          <m:t>Σ</m:t>
                        </m:r>
                      </m:oMath>
                    </m:oMathPara>
                  </a14:m>
                  <a:endParaRPr lang="fr-FR" sz="2800" dirty="0"/>
                </a:p>
              </p:txBody>
            </p:sp>
          </mc:Choice>
          <mc:Fallback xmlns="">
            <p:sp>
              <p:nvSpPr>
                <p:cNvPr id="87" name="ZoneTexte 86">
                  <a:extLst>
                    <a:ext uri="{FF2B5EF4-FFF2-40B4-BE49-F238E27FC236}">
                      <a16:creationId xmlns:a16="http://schemas.microsoft.com/office/drawing/2014/main" id="{956582F0-40C9-A241-DFC2-85810139C02F}"/>
                    </a:ext>
                  </a:extLst>
                </p:cNvPr>
                <p:cNvSpPr txBox="1">
                  <a:spLocks noRot="1" noChangeAspect="1" noMove="1" noResize="1" noEditPoints="1" noAdjustHandles="1" noChangeArrowheads="1" noChangeShapeType="1" noTextEdit="1"/>
                </p:cNvSpPr>
                <p:nvPr/>
              </p:nvSpPr>
              <p:spPr>
                <a:xfrm>
                  <a:off x="6658186" y="2496631"/>
                  <a:ext cx="637295" cy="523220"/>
                </a:xfrm>
                <a:prstGeom prst="rect">
                  <a:avLst/>
                </a:prstGeom>
                <a:blipFill>
                  <a:blip r:embed="rId6"/>
                  <a:stretch>
                    <a:fillRect/>
                  </a:stretch>
                </a:blipFill>
              </p:spPr>
              <p:txBody>
                <a:bodyPr/>
                <a:lstStyle/>
                <a:p>
                  <a:r>
                    <a:rPr lang="en-GB">
                      <a:noFill/>
                    </a:rPr>
                    <a:t> </a:t>
                  </a:r>
                </a:p>
              </p:txBody>
            </p:sp>
          </mc:Fallback>
        </mc:AlternateContent>
      </p:grpSp>
      <p:grpSp>
        <p:nvGrpSpPr>
          <p:cNvPr id="91" name="Groupe 90">
            <a:extLst>
              <a:ext uri="{FF2B5EF4-FFF2-40B4-BE49-F238E27FC236}">
                <a16:creationId xmlns:a16="http://schemas.microsoft.com/office/drawing/2014/main" id="{4CC30BFC-9666-A4CF-5712-6B4F18401D37}"/>
              </a:ext>
            </a:extLst>
          </p:cNvPr>
          <p:cNvGrpSpPr/>
          <p:nvPr/>
        </p:nvGrpSpPr>
        <p:grpSpPr>
          <a:xfrm>
            <a:off x="6467150" y="3746180"/>
            <a:ext cx="1038180" cy="935767"/>
            <a:chOff x="6453163" y="2285590"/>
            <a:chExt cx="1038180" cy="935767"/>
          </a:xfrm>
        </p:grpSpPr>
        <p:sp>
          <p:nvSpPr>
            <p:cNvPr id="92" name="Ellipse 91">
              <a:extLst>
                <a:ext uri="{FF2B5EF4-FFF2-40B4-BE49-F238E27FC236}">
                  <a16:creationId xmlns:a16="http://schemas.microsoft.com/office/drawing/2014/main" id="{55EF3EE4-73DA-FFEA-5CE4-5564B494D606}"/>
                </a:ext>
              </a:extLst>
            </p:cNvPr>
            <p:cNvSpPr/>
            <p:nvPr/>
          </p:nvSpPr>
          <p:spPr>
            <a:xfrm>
              <a:off x="6453163" y="2285590"/>
              <a:ext cx="1038180" cy="935767"/>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900" dirty="0"/>
            </a:p>
          </p:txBody>
        </p:sp>
        <mc:AlternateContent xmlns:mc="http://schemas.openxmlformats.org/markup-compatibility/2006" xmlns:a14="http://schemas.microsoft.com/office/drawing/2010/main">
          <mc:Choice Requires="a14">
            <p:sp>
              <p:nvSpPr>
                <p:cNvPr id="93" name="ZoneTexte 92">
                  <a:extLst>
                    <a:ext uri="{FF2B5EF4-FFF2-40B4-BE49-F238E27FC236}">
                      <a16:creationId xmlns:a16="http://schemas.microsoft.com/office/drawing/2014/main" id="{9048E5EE-60F0-AF2F-B62E-17CA3350D909}"/>
                    </a:ext>
                  </a:extLst>
                </p:cNvPr>
                <p:cNvSpPr txBox="1"/>
                <p:nvPr/>
              </p:nvSpPr>
              <p:spPr>
                <a:xfrm>
                  <a:off x="6658186" y="2496631"/>
                  <a:ext cx="637295" cy="52322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m:rPr>
                            <m:sty m:val="p"/>
                          </m:rPr>
                          <a:rPr lang="el-GR" sz="2800" i="1" dirty="0" smtClean="0">
                            <a:latin typeface="Cambria Math" panose="02040503050406030204" pitchFamily="18" charset="0"/>
                            <a:ea typeface="Cambria Math" panose="02040503050406030204" pitchFamily="18" charset="0"/>
                          </a:rPr>
                          <m:t>Σ</m:t>
                        </m:r>
                      </m:oMath>
                    </m:oMathPara>
                  </a14:m>
                  <a:endParaRPr lang="fr-FR" sz="2800" dirty="0"/>
                </a:p>
              </p:txBody>
            </p:sp>
          </mc:Choice>
          <mc:Fallback xmlns="">
            <p:sp>
              <p:nvSpPr>
                <p:cNvPr id="93" name="ZoneTexte 92">
                  <a:extLst>
                    <a:ext uri="{FF2B5EF4-FFF2-40B4-BE49-F238E27FC236}">
                      <a16:creationId xmlns:a16="http://schemas.microsoft.com/office/drawing/2014/main" id="{9048E5EE-60F0-AF2F-B62E-17CA3350D909}"/>
                    </a:ext>
                  </a:extLst>
                </p:cNvPr>
                <p:cNvSpPr txBox="1">
                  <a:spLocks noRot="1" noChangeAspect="1" noMove="1" noResize="1" noEditPoints="1" noAdjustHandles="1" noChangeArrowheads="1" noChangeShapeType="1" noTextEdit="1"/>
                </p:cNvSpPr>
                <p:nvPr/>
              </p:nvSpPr>
              <p:spPr>
                <a:xfrm>
                  <a:off x="6658186" y="2496631"/>
                  <a:ext cx="637295" cy="523220"/>
                </a:xfrm>
                <a:prstGeom prst="rect">
                  <a:avLst/>
                </a:prstGeom>
                <a:blipFill>
                  <a:blip r:embed="rId7"/>
                  <a:stretch>
                    <a:fillRect/>
                  </a:stretch>
                </a:blipFill>
              </p:spPr>
              <p:txBody>
                <a:bodyPr/>
                <a:lstStyle/>
                <a:p>
                  <a:r>
                    <a:rPr lang="en-GB">
                      <a:noFill/>
                    </a:rPr>
                    <a:t> </a:t>
                  </a:r>
                </a:p>
              </p:txBody>
            </p:sp>
          </mc:Fallback>
        </mc:AlternateContent>
      </p:grpSp>
      <p:cxnSp>
        <p:nvCxnSpPr>
          <p:cNvPr id="104" name="Connecteur droit avec flèche 103">
            <a:extLst>
              <a:ext uri="{FF2B5EF4-FFF2-40B4-BE49-F238E27FC236}">
                <a16:creationId xmlns:a16="http://schemas.microsoft.com/office/drawing/2014/main" id="{9F601433-4579-CD6D-F37D-8A35E9DF1696}"/>
              </a:ext>
            </a:extLst>
          </p:cNvPr>
          <p:cNvCxnSpPr>
            <a:cxnSpLocks/>
            <a:stCxn id="45" idx="6"/>
            <a:endCxn id="92" idx="2"/>
          </p:cNvCxnSpPr>
          <p:nvPr/>
        </p:nvCxnSpPr>
        <p:spPr>
          <a:xfrm>
            <a:off x="4927749" y="3245654"/>
            <a:ext cx="1539401" cy="9684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6" name="Connecteur droit avec flèche 105">
            <a:extLst>
              <a:ext uri="{FF2B5EF4-FFF2-40B4-BE49-F238E27FC236}">
                <a16:creationId xmlns:a16="http://schemas.microsoft.com/office/drawing/2014/main" id="{A8B9D84D-A18E-A870-7C63-7A211893BF33}"/>
              </a:ext>
            </a:extLst>
          </p:cNvPr>
          <p:cNvCxnSpPr>
            <a:cxnSpLocks/>
            <a:stCxn id="74" idx="6"/>
            <a:endCxn id="92" idx="2"/>
          </p:cNvCxnSpPr>
          <p:nvPr/>
        </p:nvCxnSpPr>
        <p:spPr>
          <a:xfrm flipV="1">
            <a:off x="4927749" y="4214064"/>
            <a:ext cx="1539401" cy="10889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6" name="Connecteur droit avec flèche 115">
            <a:extLst>
              <a:ext uri="{FF2B5EF4-FFF2-40B4-BE49-F238E27FC236}">
                <a16:creationId xmlns:a16="http://schemas.microsoft.com/office/drawing/2014/main" id="{82709BC3-1081-53F8-937B-66767475C22A}"/>
              </a:ext>
            </a:extLst>
          </p:cNvPr>
          <p:cNvCxnSpPr>
            <a:cxnSpLocks/>
            <a:stCxn id="80" idx="6"/>
            <a:endCxn id="92" idx="2"/>
          </p:cNvCxnSpPr>
          <p:nvPr/>
        </p:nvCxnSpPr>
        <p:spPr>
          <a:xfrm flipV="1">
            <a:off x="4913542" y="4214064"/>
            <a:ext cx="1553608" cy="388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2" name="Connecteur droit avec flèche 121">
            <a:extLst>
              <a:ext uri="{FF2B5EF4-FFF2-40B4-BE49-F238E27FC236}">
                <a16:creationId xmlns:a16="http://schemas.microsoft.com/office/drawing/2014/main" id="{2CF40B54-80D1-4560-FB92-A97A76892250}"/>
              </a:ext>
            </a:extLst>
          </p:cNvPr>
          <p:cNvCxnSpPr>
            <a:cxnSpLocks/>
            <a:stCxn id="74" idx="6"/>
            <a:endCxn id="85" idx="2"/>
          </p:cNvCxnSpPr>
          <p:nvPr/>
        </p:nvCxnSpPr>
        <p:spPr>
          <a:xfrm flipV="1">
            <a:off x="4927749" y="3172574"/>
            <a:ext cx="1525414" cy="21304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1" name="Connecteur droit avec flèche 130">
            <a:extLst>
              <a:ext uri="{FF2B5EF4-FFF2-40B4-BE49-F238E27FC236}">
                <a16:creationId xmlns:a16="http://schemas.microsoft.com/office/drawing/2014/main" id="{84337BFA-8E06-C9D9-072A-D8EE211B56D7}"/>
              </a:ext>
            </a:extLst>
          </p:cNvPr>
          <p:cNvCxnSpPr>
            <a:cxnSpLocks/>
            <a:stCxn id="21" idx="3"/>
            <a:endCxn id="45" idx="2"/>
          </p:cNvCxnSpPr>
          <p:nvPr/>
        </p:nvCxnSpPr>
        <p:spPr>
          <a:xfrm flipV="1">
            <a:off x="1723626" y="3245654"/>
            <a:ext cx="2165944" cy="3344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7" name="Connecteur droit avec flèche 136">
            <a:extLst>
              <a:ext uri="{FF2B5EF4-FFF2-40B4-BE49-F238E27FC236}">
                <a16:creationId xmlns:a16="http://schemas.microsoft.com/office/drawing/2014/main" id="{A19DE3D8-DE82-A4F1-7AC4-CA0017FD1890}"/>
              </a:ext>
            </a:extLst>
          </p:cNvPr>
          <p:cNvCxnSpPr>
            <a:cxnSpLocks/>
            <a:stCxn id="21" idx="3"/>
            <a:endCxn id="80" idx="2"/>
          </p:cNvCxnSpPr>
          <p:nvPr/>
        </p:nvCxnSpPr>
        <p:spPr>
          <a:xfrm>
            <a:off x="1723626" y="3580126"/>
            <a:ext cx="2151737" cy="6727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5" name="Connecteur droit avec flèche 154">
            <a:extLst>
              <a:ext uri="{FF2B5EF4-FFF2-40B4-BE49-F238E27FC236}">
                <a16:creationId xmlns:a16="http://schemas.microsoft.com/office/drawing/2014/main" id="{632145C0-A060-AAFD-B4FB-3DD62580E1FE}"/>
              </a:ext>
            </a:extLst>
          </p:cNvPr>
          <p:cNvCxnSpPr>
            <a:cxnSpLocks/>
          </p:cNvCxnSpPr>
          <p:nvPr/>
        </p:nvCxnSpPr>
        <p:spPr>
          <a:xfrm flipV="1">
            <a:off x="7516510" y="4233494"/>
            <a:ext cx="741790" cy="15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59" name="ZoneTexte 158">
                <a:extLst>
                  <a:ext uri="{FF2B5EF4-FFF2-40B4-BE49-F238E27FC236}">
                    <a16:creationId xmlns:a16="http://schemas.microsoft.com/office/drawing/2014/main" id="{C804760C-C776-64E9-3AF8-F40857CC8053}"/>
                  </a:ext>
                </a:extLst>
              </p:cNvPr>
              <p:cNvSpPr txBox="1"/>
              <p:nvPr/>
            </p:nvSpPr>
            <p:spPr>
              <a:xfrm>
                <a:off x="3463640" y="3498848"/>
                <a:ext cx="432284" cy="510806"/>
              </a:xfrm>
              <a:prstGeom prst="rect">
                <a:avLst/>
              </a:prstGeom>
              <a:noFill/>
            </p:spPr>
            <p:txBody>
              <a:bodyPr wrap="square" rtlCol="0">
                <a:noAutofit/>
              </a:bodyPr>
              <a:lstStyle/>
              <a:p>
                <a:pPr algn="ctr"/>
                <a14:m>
                  <m:oMathPara xmlns:m="http://schemas.openxmlformats.org/officeDocument/2006/math">
                    <m:oMathParaPr>
                      <m:jc m:val="centerGroup"/>
                    </m:oMathParaPr>
                    <m:oMath xmlns:m="http://schemas.openxmlformats.org/officeDocument/2006/math">
                      <m:sSubSup>
                        <m:sSubSupPr>
                          <m:ctrlP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ctrlPr>
                        </m:sSubSupPr>
                        <m:e>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𝒃</m:t>
                          </m:r>
                        </m:e>
                        <m:sub>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𝒉</m:t>
                          </m:r>
                        </m:sub>
                        <m:sup>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𝟑</m:t>
                          </m:r>
                        </m:sup>
                      </m:sSubSup>
                    </m:oMath>
                  </m:oMathPara>
                </a14:m>
                <a:endParaRPr lang="fr-FR" b="1" baseline="-25000" dirty="0">
                  <a:ln>
                    <a:solidFill>
                      <a:schemeClr val="accent2">
                        <a:lumMod val="75000"/>
                      </a:schemeClr>
                    </a:solidFill>
                  </a:ln>
                  <a:solidFill>
                    <a:schemeClr val="accent2">
                      <a:lumMod val="75000"/>
                    </a:schemeClr>
                  </a:solidFill>
                  <a:latin typeface="Monaco" pitchFamily="2" charset="77"/>
                </a:endParaRPr>
              </a:p>
            </p:txBody>
          </p:sp>
        </mc:Choice>
        <mc:Fallback xmlns="">
          <p:sp>
            <p:nvSpPr>
              <p:cNvPr id="159" name="ZoneTexte 158">
                <a:extLst>
                  <a:ext uri="{FF2B5EF4-FFF2-40B4-BE49-F238E27FC236}">
                    <a16:creationId xmlns:a16="http://schemas.microsoft.com/office/drawing/2014/main" id="{C804760C-C776-64E9-3AF8-F40857CC8053}"/>
                  </a:ext>
                </a:extLst>
              </p:cNvPr>
              <p:cNvSpPr txBox="1">
                <a:spLocks noRot="1" noChangeAspect="1" noMove="1" noResize="1" noEditPoints="1" noAdjustHandles="1" noChangeArrowheads="1" noChangeShapeType="1" noTextEdit="1"/>
              </p:cNvSpPr>
              <p:nvPr/>
            </p:nvSpPr>
            <p:spPr>
              <a:xfrm>
                <a:off x="3463640" y="3498848"/>
                <a:ext cx="432284" cy="510806"/>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0" name="ZoneTexte 159">
                <a:extLst>
                  <a:ext uri="{FF2B5EF4-FFF2-40B4-BE49-F238E27FC236}">
                    <a16:creationId xmlns:a16="http://schemas.microsoft.com/office/drawing/2014/main" id="{B441E3DB-28CE-1D32-426B-D6AD2B543603}"/>
                  </a:ext>
                </a:extLst>
              </p:cNvPr>
              <p:cNvSpPr txBox="1"/>
              <p:nvPr/>
            </p:nvSpPr>
            <p:spPr>
              <a:xfrm>
                <a:off x="3443836" y="2621098"/>
                <a:ext cx="432284" cy="510806"/>
              </a:xfrm>
              <a:prstGeom prst="rect">
                <a:avLst/>
              </a:prstGeom>
              <a:noFill/>
            </p:spPr>
            <p:txBody>
              <a:bodyPr wrap="square" rtlCol="0">
                <a:noAutofit/>
              </a:bodyPr>
              <a:lstStyle/>
              <a:p>
                <a:pPr algn="ctr"/>
                <a14:m>
                  <m:oMathPara xmlns:m="http://schemas.openxmlformats.org/officeDocument/2006/math">
                    <m:oMathParaPr>
                      <m:jc m:val="centerGroup"/>
                    </m:oMathParaPr>
                    <m:oMath xmlns:m="http://schemas.openxmlformats.org/officeDocument/2006/math">
                      <m:sSubSup>
                        <m:sSubSupPr>
                          <m:ctrlP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ctrlPr>
                        </m:sSubSupPr>
                        <m:e>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𝒃</m:t>
                          </m:r>
                        </m:e>
                        <m:sub>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𝒉</m:t>
                          </m:r>
                        </m:sub>
                        <m:sup>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𝟐</m:t>
                          </m:r>
                        </m:sup>
                      </m:sSubSup>
                    </m:oMath>
                  </m:oMathPara>
                </a14:m>
                <a:endParaRPr lang="fr-FR" b="1" baseline="-25000" dirty="0">
                  <a:ln>
                    <a:solidFill>
                      <a:schemeClr val="accent2">
                        <a:lumMod val="75000"/>
                      </a:schemeClr>
                    </a:solidFill>
                  </a:ln>
                  <a:solidFill>
                    <a:schemeClr val="accent2">
                      <a:lumMod val="75000"/>
                    </a:schemeClr>
                  </a:solidFill>
                  <a:latin typeface="Monaco" pitchFamily="2" charset="77"/>
                </a:endParaRPr>
              </a:p>
            </p:txBody>
          </p:sp>
        </mc:Choice>
        <mc:Fallback xmlns="">
          <p:sp>
            <p:nvSpPr>
              <p:cNvPr id="160" name="ZoneTexte 159">
                <a:extLst>
                  <a:ext uri="{FF2B5EF4-FFF2-40B4-BE49-F238E27FC236}">
                    <a16:creationId xmlns:a16="http://schemas.microsoft.com/office/drawing/2014/main" id="{B441E3DB-28CE-1D32-426B-D6AD2B543603}"/>
                  </a:ext>
                </a:extLst>
              </p:cNvPr>
              <p:cNvSpPr txBox="1">
                <a:spLocks noRot="1" noChangeAspect="1" noMove="1" noResize="1" noEditPoints="1" noAdjustHandles="1" noChangeArrowheads="1" noChangeShapeType="1" noTextEdit="1"/>
              </p:cNvSpPr>
              <p:nvPr/>
            </p:nvSpPr>
            <p:spPr>
              <a:xfrm>
                <a:off x="3443836" y="2621098"/>
                <a:ext cx="432284" cy="510806"/>
              </a:xfrm>
              <a:prstGeom prst="rect">
                <a:avLst/>
              </a:prstGeom>
              <a:blipFill>
                <a:blip r:embed="rId9"/>
                <a:stretch>
                  <a:fillRect/>
                </a:stretch>
              </a:blipFill>
            </p:spPr>
            <p:txBody>
              <a:bodyPr/>
              <a:lstStyle/>
              <a:p>
                <a:r>
                  <a:rPr lang="en-GB">
                    <a:noFill/>
                  </a:rPr>
                  <a:t> </a:t>
                </a:r>
              </a:p>
            </p:txBody>
          </p:sp>
        </mc:Fallback>
      </mc:AlternateContent>
      <p:cxnSp>
        <p:nvCxnSpPr>
          <p:cNvPr id="180" name="Connecteur droit avec flèche 179">
            <a:extLst>
              <a:ext uri="{FF2B5EF4-FFF2-40B4-BE49-F238E27FC236}">
                <a16:creationId xmlns:a16="http://schemas.microsoft.com/office/drawing/2014/main" id="{847F6EC9-EAFA-ED90-1D7E-192A22DC4E21}"/>
              </a:ext>
            </a:extLst>
          </p:cNvPr>
          <p:cNvCxnSpPr>
            <a:cxnSpLocks/>
            <a:stCxn id="181" idx="3"/>
            <a:endCxn id="53" idx="2"/>
          </p:cNvCxnSpPr>
          <p:nvPr/>
        </p:nvCxnSpPr>
        <p:spPr>
          <a:xfrm flipV="1">
            <a:off x="1748528" y="2220929"/>
            <a:ext cx="2126838" cy="5321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81" name="ZoneTexte 180">
                <a:extLst>
                  <a:ext uri="{FF2B5EF4-FFF2-40B4-BE49-F238E27FC236}">
                    <a16:creationId xmlns:a16="http://schemas.microsoft.com/office/drawing/2014/main" id="{E3281B4E-13F1-626C-D42A-5311432B53E2}"/>
                  </a:ext>
                </a:extLst>
              </p:cNvPr>
              <p:cNvSpPr txBox="1"/>
              <p:nvPr/>
            </p:nvSpPr>
            <p:spPr>
              <a:xfrm>
                <a:off x="992759" y="2369130"/>
                <a:ext cx="755769" cy="767994"/>
              </a:xfrm>
              <a:prstGeom prst="rect">
                <a:avLst/>
              </a:prstGeom>
              <a:noFill/>
            </p:spPr>
            <p:txBody>
              <a:bodyPr wrap="square" lIns="90000" rtlCol="0">
                <a:noAutofit/>
              </a:bodyPr>
              <a:lstStyle/>
              <a:p>
                <a:pPr algn="ctr"/>
                <a14:m>
                  <m:oMath xmlns:m="http://schemas.openxmlformats.org/officeDocument/2006/math">
                    <m:r>
                      <m:rPr>
                        <m:sty m:val="p"/>
                      </m:rPr>
                      <a:rPr lang="fr-FR" sz="2800" i="1" baseline="-25000" smtClean="0">
                        <a:latin typeface="Cambria Math" panose="02040503050406030204" pitchFamily="18" charset="0"/>
                      </a:rPr>
                      <m:t>x</m:t>
                    </m:r>
                    <m:sSub>
                      <m:sSubPr>
                        <m:ctrlPr>
                          <a:rPr lang="fr-FR" sz="2800" i="1" baseline="-25000" smtClean="0">
                            <a:latin typeface="Cambria Math" panose="02040503050406030204" pitchFamily="18" charset="0"/>
                          </a:rPr>
                        </m:ctrlPr>
                      </m:sSubPr>
                      <m:e>
                        <m:r>
                          <a:rPr lang="fr-FR" sz="2800" b="0" i="1" baseline="-25000" smtClean="0">
                            <a:latin typeface="Cambria Math" panose="02040503050406030204" pitchFamily="18" charset="0"/>
                          </a:rPr>
                          <m:t>1</m:t>
                        </m:r>
                      </m:e>
                      <m:sub/>
                    </m:sSub>
                  </m:oMath>
                </a14:m>
                <a:r>
                  <a:rPr lang="fr-FR" sz="2800" baseline="-25000" dirty="0"/>
                  <a:t> </a:t>
                </a:r>
              </a:p>
            </p:txBody>
          </p:sp>
        </mc:Choice>
        <mc:Fallback xmlns="">
          <p:sp>
            <p:nvSpPr>
              <p:cNvPr id="181" name="ZoneTexte 180">
                <a:extLst>
                  <a:ext uri="{FF2B5EF4-FFF2-40B4-BE49-F238E27FC236}">
                    <a16:creationId xmlns:a16="http://schemas.microsoft.com/office/drawing/2014/main" id="{E3281B4E-13F1-626C-D42A-5311432B53E2}"/>
                  </a:ext>
                </a:extLst>
              </p:cNvPr>
              <p:cNvSpPr txBox="1">
                <a:spLocks noRot="1" noChangeAspect="1" noMove="1" noResize="1" noEditPoints="1" noAdjustHandles="1" noChangeArrowheads="1" noChangeShapeType="1" noTextEdit="1"/>
              </p:cNvSpPr>
              <p:nvPr/>
            </p:nvSpPr>
            <p:spPr>
              <a:xfrm>
                <a:off x="992759" y="2369130"/>
                <a:ext cx="755769" cy="767994"/>
              </a:xfrm>
              <a:prstGeom prst="rect">
                <a:avLst/>
              </a:prstGeom>
              <a:blipFill>
                <a:blip r:embed="rId10"/>
                <a:stretch>
                  <a:fillRect/>
                </a:stretch>
              </a:blipFill>
            </p:spPr>
            <p:txBody>
              <a:bodyPr/>
              <a:lstStyle/>
              <a:p>
                <a:r>
                  <a:rPr lang="en-GB">
                    <a:noFill/>
                  </a:rPr>
                  <a:t> </a:t>
                </a:r>
              </a:p>
            </p:txBody>
          </p:sp>
        </mc:Fallback>
      </mc:AlternateContent>
      <p:cxnSp>
        <p:nvCxnSpPr>
          <p:cNvPr id="182" name="Connecteur droit avec flèche 181">
            <a:extLst>
              <a:ext uri="{FF2B5EF4-FFF2-40B4-BE49-F238E27FC236}">
                <a16:creationId xmlns:a16="http://schemas.microsoft.com/office/drawing/2014/main" id="{293C9518-F5F9-5C8E-E2DF-F86C19F43638}"/>
              </a:ext>
            </a:extLst>
          </p:cNvPr>
          <p:cNvCxnSpPr>
            <a:cxnSpLocks/>
            <a:stCxn id="181" idx="3"/>
            <a:endCxn id="45" idx="2"/>
          </p:cNvCxnSpPr>
          <p:nvPr/>
        </p:nvCxnSpPr>
        <p:spPr>
          <a:xfrm>
            <a:off x="1748528" y="2753127"/>
            <a:ext cx="2141042" cy="4925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3" name="Connecteur droit avec flèche 182">
            <a:extLst>
              <a:ext uri="{FF2B5EF4-FFF2-40B4-BE49-F238E27FC236}">
                <a16:creationId xmlns:a16="http://schemas.microsoft.com/office/drawing/2014/main" id="{0B6A28A4-A3E9-FCE7-C2FB-CAD9A10630BB}"/>
              </a:ext>
            </a:extLst>
          </p:cNvPr>
          <p:cNvCxnSpPr>
            <a:cxnSpLocks/>
            <a:stCxn id="181" idx="3"/>
            <a:endCxn id="80" idx="2"/>
          </p:cNvCxnSpPr>
          <p:nvPr/>
        </p:nvCxnSpPr>
        <p:spPr>
          <a:xfrm>
            <a:off x="1748528" y="2753127"/>
            <a:ext cx="2126835" cy="14997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4" name="Connecteur droit avec flèche 183">
            <a:extLst>
              <a:ext uri="{FF2B5EF4-FFF2-40B4-BE49-F238E27FC236}">
                <a16:creationId xmlns:a16="http://schemas.microsoft.com/office/drawing/2014/main" id="{AE18D302-13D8-A249-F335-1CAC1CFD79FB}"/>
              </a:ext>
            </a:extLst>
          </p:cNvPr>
          <p:cNvCxnSpPr>
            <a:cxnSpLocks/>
            <a:stCxn id="185" idx="3"/>
            <a:endCxn id="53" idx="2"/>
          </p:cNvCxnSpPr>
          <p:nvPr/>
        </p:nvCxnSpPr>
        <p:spPr>
          <a:xfrm flipV="1">
            <a:off x="1735215" y="2220929"/>
            <a:ext cx="2140151" cy="21791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85" name="ZoneTexte 184">
                <a:extLst>
                  <a:ext uri="{FF2B5EF4-FFF2-40B4-BE49-F238E27FC236}">
                    <a16:creationId xmlns:a16="http://schemas.microsoft.com/office/drawing/2014/main" id="{EE012924-E47C-2851-FDAB-6D9A6CF4DC98}"/>
                  </a:ext>
                </a:extLst>
              </p:cNvPr>
              <p:cNvSpPr txBox="1"/>
              <p:nvPr/>
            </p:nvSpPr>
            <p:spPr>
              <a:xfrm>
                <a:off x="979446" y="4064283"/>
                <a:ext cx="755769" cy="671627"/>
              </a:xfrm>
              <a:prstGeom prst="rect">
                <a:avLst/>
              </a:prstGeom>
              <a:noFill/>
            </p:spPr>
            <p:txBody>
              <a:bodyPr wrap="square" lIns="90000" rtlCol="0">
                <a:noAutofit/>
              </a:bodyPr>
              <a:lstStyle/>
              <a:p>
                <a:pPr algn="ctr"/>
                <a14:m>
                  <m:oMath xmlns:m="http://schemas.openxmlformats.org/officeDocument/2006/math">
                    <m:r>
                      <m:rPr>
                        <m:sty m:val="p"/>
                      </m:rPr>
                      <a:rPr lang="fr-FR" sz="2800" i="1" baseline="-25000" smtClean="0">
                        <a:latin typeface="Cambria Math" panose="02040503050406030204" pitchFamily="18" charset="0"/>
                      </a:rPr>
                      <m:t>x</m:t>
                    </m:r>
                    <m:sSub>
                      <m:sSubPr>
                        <m:ctrlPr>
                          <a:rPr lang="fr-FR" sz="2800" i="1" baseline="-25000" smtClean="0">
                            <a:latin typeface="Cambria Math" panose="02040503050406030204" pitchFamily="18" charset="0"/>
                          </a:rPr>
                        </m:ctrlPr>
                      </m:sSubPr>
                      <m:e>
                        <m:r>
                          <a:rPr lang="fr-FR" sz="2800" b="0" i="1" baseline="-25000" smtClean="0">
                            <a:latin typeface="Cambria Math" panose="02040503050406030204" pitchFamily="18" charset="0"/>
                          </a:rPr>
                          <m:t>3</m:t>
                        </m:r>
                      </m:e>
                      <m:sub/>
                    </m:sSub>
                  </m:oMath>
                </a14:m>
                <a:r>
                  <a:rPr lang="fr-FR" sz="2800" baseline="-25000" dirty="0"/>
                  <a:t> </a:t>
                </a:r>
              </a:p>
            </p:txBody>
          </p:sp>
        </mc:Choice>
        <mc:Fallback xmlns="">
          <p:sp>
            <p:nvSpPr>
              <p:cNvPr id="185" name="ZoneTexte 184">
                <a:extLst>
                  <a:ext uri="{FF2B5EF4-FFF2-40B4-BE49-F238E27FC236}">
                    <a16:creationId xmlns:a16="http://schemas.microsoft.com/office/drawing/2014/main" id="{EE012924-E47C-2851-FDAB-6D9A6CF4DC98}"/>
                  </a:ext>
                </a:extLst>
              </p:cNvPr>
              <p:cNvSpPr txBox="1">
                <a:spLocks noRot="1" noChangeAspect="1" noMove="1" noResize="1" noEditPoints="1" noAdjustHandles="1" noChangeArrowheads="1" noChangeShapeType="1" noTextEdit="1"/>
              </p:cNvSpPr>
              <p:nvPr/>
            </p:nvSpPr>
            <p:spPr>
              <a:xfrm>
                <a:off x="979446" y="4064283"/>
                <a:ext cx="755769" cy="671627"/>
              </a:xfrm>
              <a:prstGeom prst="rect">
                <a:avLst/>
              </a:prstGeom>
              <a:blipFill>
                <a:blip r:embed="rId11"/>
                <a:stretch>
                  <a:fillRect/>
                </a:stretch>
              </a:blipFill>
            </p:spPr>
            <p:txBody>
              <a:bodyPr/>
              <a:lstStyle/>
              <a:p>
                <a:r>
                  <a:rPr lang="en-GB">
                    <a:noFill/>
                  </a:rPr>
                  <a:t> </a:t>
                </a:r>
              </a:p>
            </p:txBody>
          </p:sp>
        </mc:Fallback>
      </mc:AlternateContent>
      <p:cxnSp>
        <p:nvCxnSpPr>
          <p:cNvPr id="186" name="Connecteur droit avec flèche 185">
            <a:extLst>
              <a:ext uri="{FF2B5EF4-FFF2-40B4-BE49-F238E27FC236}">
                <a16:creationId xmlns:a16="http://schemas.microsoft.com/office/drawing/2014/main" id="{FF8174B3-3CEC-6F08-1DF7-C61ED65BCE95}"/>
              </a:ext>
            </a:extLst>
          </p:cNvPr>
          <p:cNvCxnSpPr>
            <a:cxnSpLocks/>
            <a:stCxn id="185" idx="3"/>
            <a:endCxn id="45" idx="2"/>
          </p:cNvCxnSpPr>
          <p:nvPr/>
        </p:nvCxnSpPr>
        <p:spPr>
          <a:xfrm flipV="1">
            <a:off x="1735215" y="3245654"/>
            <a:ext cx="2154355" cy="11544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7" name="Connecteur droit avec flèche 186">
            <a:extLst>
              <a:ext uri="{FF2B5EF4-FFF2-40B4-BE49-F238E27FC236}">
                <a16:creationId xmlns:a16="http://schemas.microsoft.com/office/drawing/2014/main" id="{8D4ED0F3-3D00-8BEF-BCF7-1EF7F385DB23}"/>
              </a:ext>
            </a:extLst>
          </p:cNvPr>
          <p:cNvCxnSpPr>
            <a:cxnSpLocks/>
            <a:stCxn id="185" idx="3"/>
            <a:endCxn id="80" idx="2"/>
          </p:cNvCxnSpPr>
          <p:nvPr/>
        </p:nvCxnSpPr>
        <p:spPr>
          <a:xfrm flipV="1">
            <a:off x="1735215" y="4252925"/>
            <a:ext cx="2140148" cy="1471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7" name="Connecteur droit avec flèche 206">
            <a:extLst>
              <a:ext uri="{FF2B5EF4-FFF2-40B4-BE49-F238E27FC236}">
                <a16:creationId xmlns:a16="http://schemas.microsoft.com/office/drawing/2014/main" id="{C381C24A-0082-80C8-CB60-0990F5D55CC1}"/>
              </a:ext>
            </a:extLst>
          </p:cNvPr>
          <p:cNvCxnSpPr>
            <a:cxnSpLocks/>
            <a:stCxn id="181" idx="3"/>
            <a:endCxn id="74" idx="2"/>
          </p:cNvCxnSpPr>
          <p:nvPr/>
        </p:nvCxnSpPr>
        <p:spPr>
          <a:xfrm>
            <a:off x="1748528" y="2753127"/>
            <a:ext cx="2141042" cy="25499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3" name="Connecteur droit avec flèche 212">
            <a:extLst>
              <a:ext uri="{FF2B5EF4-FFF2-40B4-BE49-F238E27FC236}">
                <a16:creationId xmlns:a16="http://schemas.microsoft.com/office/drawing/2014/main" id="{73CA04CD-34EF-13C9-4736-AFED290786A7}"/>
              </a:ext>
            </a:extLst>
          </p:cNvPr>
          <p:cNvCxnSpPr>
            <a:cxnSpLocks/>
            <a:stCxn id="21" idx="3"/>
            <a:endCxn id="74" idx="2"/>
          </p:cNvCxnSpPr>
          <p:nvPr/>
        </p:nvCxnSpPr>
        <p:spPr>
          <a:xfrm>
            <a:off x="1723626" y="3580126"/>
            <a:ext cx="2165944" cy="17229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9" name="Connecteur droit avec flèche 218">
            <a:extLst>
              <a:ext uri="{FF2B5EF4-FFF2-40B4-BE49-F238E27FC236}">
                <a16:creationId xmlns:a16="http://schemas.microsoft.com/office/drawing/2014/main" id="{7A5F4CE0-9CE5-A2A9-A85F-61A8B0389DCC}"/>
              </a:ext>
            </a:extLst>
          </p:cNvPr>
          <p:cNvCxnSpPr>
            <a:cxnSpLocks/>
            <a:stCxn id="185" idx="3"/>
            <a:endCxn id="74" idx="2"/>
          </p:cNvCxnSpPr>
          <p:nvPr/>
        </p:nvCxnSpPr>
        <p:spPr>
          <a:xfrm>
            <a:off x="1735215" y="4400097"/>
            <a:ext cx="2154355" cy="9029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9" name="ZoneTexte 228">
            <a:extLst>
              <a:ext uri="{FF2B5EF4-FFF2-40B4-BE49-F238E27FC236}">
                <a16:creationId xmlns:a16="http://schemas.microsoft.com/office/drawing/2014/main" id="{44E837CA-7229-F4A9-A745-4847265C67FD}"/>
              </a:ext>
            </a:extLst>
          </p:cNvPr>
          <p:cNvSpPr txBox="1"/>
          <p:nvPr/>
        </p:nvSpPr>
        <p:spPr>
          <a:xfrm>
            <a:off x="3867157" y="3145521"/>
            <a:ext cx="637295" cy="246221"/>
          </a:xfrm>
          <a:prstGeom prst="rect">
            <a:avLst/>
          </a:prstGeom>
          <a:noFill/>
        </p:spPr>
        <p:txBody>
          <a:bodyPr wrap="square" rtlCol="0">
            <a:spAutoFit/>
          </a:bodyPr>
          <a:lstStyle/>
          <a:p>
            <a:r>
              <a:rPr lang="fr-FR" sz="1000" dirty="0"/>
              <a:t>net_h1</a:t>
            </a:r>
          </a:p>
        </p:txBody>
      </p:sp>
      <p:sp>
        <p:nvSpPr>
          <p:cNvPr id="231" name="ZoneTexte 230">
            <a:extLst>
              <a:ext uri="{FF2B5EF4-FFF2-40B4-BE49-F238E27FC236}">
                <a16:creationId xmlns:a16="http://schemas.microsoft.com/office/drawing/2014/main" id="{F1B6BA4A-151B-6BA1-6D86-4544D35A4455}"/>
              </a:ext>
            </a:extLst>
          </p:cNvPr>
          <p:cNvSpPr txBox="1"/>
          <p:nvPr/>
        </p:nvSpPr>
        <p:spPr>
          <a:xfrm>
            <a:off x="3879857" y="4123421"/>
            <a:ext cx="637295" cy="246221"/>
          </a:xfrm>
          <a:prstGeom prst="rect">
            <a:avLst/>
          </a:prstGeom>
          <a:noFill/>
        </p:spPr>
        <p:txBody>
          <a:bodyPr wrap="square" rtlCol="0">
            <a:spAutoFit/>
          </a:bodyPr>
          <a:lstStyle/>
          <a:p>
            <a:r>
              <a:rPr lang="fr-FR" sz="1000" dirty="0"/>
              <a:t>net_h1</a:t>
            </a:r>
          </a:p>
        </p:txBody>
      </p:sp>
      <p:sp>
        <p:nvSpPr>
          <p:cNvPr id="232" name="ZoneTexte 231">
            <a:extLst>
              <a:ext uri="{FF2B5EF4-FFF2-40B4-BE49-F238E27FC236}">
                <a16:creationId xmlns:a16="http://schemas.microsoft.com/office/drawing/2014/main" id="{1837D019-F165-B735-1633-AEBAB4F2FD68}"/>
              </a:ext>
            </a:extLst>
          </p:cNvPr>
          <p:cNvSpPr txBox="1"/>
          <p:nvPr/>
        </p:nvSpPr>
        <p:spPr>
          <a:xfrm>
            <a:off x="4304668" y="4123087"/>
            <a:ext cx="637295" cy="246221"/>
          </a:xfrm>
          <a:prstGeom prst="rect">
            <a:avLst/>
          </a:prstGeom>
          <a:noFill/>
        </p:spPr>
        <p:txBody>
          <a:bodyPr wrap="square" rtlCol="0">
            <a:spAutoFit/>
          </a:bodyPr>
          <a:lstStyle/>
          <a:p>
            <a:pPr algn="r"/>
            <a:r>
              <a:rPr lang="fr-FR" sz="1000" dirty="0"/>
              <a:t>out_h1</a:t>
            </a:r>
          </a:p>
        </p:txBody>
      </p:sp>
      <p:sp>
        <p:nvSpPr>
          <p:cNvPr id="233" name="ZoneTexte 232">
            <a:extLst>
              <a:ext uri="{FF2B5EF4-FFF2-40B4-BE49-F238E27FC236}">
                <a16:creationId xmlns:a16="http://schemas.microsoft.com/office/drawing/2014/main" id="{09704188-2BE7-6F01-CD5B-6F2D155244CC}"/>
              </a:ext>
            </a:extLst>
          </p:cNvPr>
          <p:cNvSpPr txBox="1"/>
          <p:nvPr/>
        </p:nvSpPr>
        <p:spPr>
          <a:xfrm>
            <a:off x="3879857" y="5164821"/>
            <a:ext cx="637295" cy="246221"/>
          </a:xfrm>
          <a:prstGeom prst="rect">
            <a:avLst/>
          </a:prstGeom>
          <a:noFill/>
        </p:spPr>
        <p:txBody>
          <a:bodyPr wrap="square" rtlCol="0">
            <a:spAutoFit/>
          </a:bodyPr>
          <a:lstStyle/>
          <a:p>
            <a:r>
              <a:rPr lang="fr-FR" sz="1000" dirty="0"/>
              <a:t>net_h1</a:t>
            </a:r>
          </a:p>
        </p:txBody>
      </p:sp>
      <p:sp>
        <p:nvSpPr>
          <p:cNvPr id="234" name="ZoneTexte 233">
            <a:extLst>
              <a:ext uri="{FF2B5EF4-FFF2-40B4-BE49-F238E27FC236}">
                <a16:creationId xmlns:a16="http://schemas.microsoft.com/office/drawing/2014/main" id="{EB0AEC4B-9024-1CE5-F64D-C31B5A78A0ED}"/>
              </a:ext>
            </a:extLst>
          </p:cNvPr>
          <p:cNvSpPr txBox="1"/>
          <p:nvPr/>
        </p:nvSpPr>
        <p:spPr>
          <a:xfrm>
            <a:off x="4304668" y="5164487"/>
            <a:ext cx="637295" cy="246221"/>
          </a:xfrm>
          <a:prstGeom prst="rect">
            <a:avLst/>
          </a:prstGeom>
          <a:noFill/>
        </p:spPr>
        <p:txBody>
          <a:bodyPr wrap="square" rtlCol="0">
            <a:spAutoFit/>
          </a:bodyPr>
          <a:lstStyle/>
          <a:p>
            <a:pPr algn="r"/>
            <a:r>
              <a:rPr lang="fr-FR" sz="1000" dirty="0"/>
              <a:t>out_h1</a:t>
            </a:r>
          </a:p>
        </p:txBody>
      </p:sp>
      <mc:AlternateContent xmlns:mc="http://schemas.openxmlformats.org/markup-compatibility/2006" xmlns:a14="http://schemas.microsoft.com/office/drawing/2010/main">
        <mc:Choice Requires="a14">
          <p:sp>
            <p:nvSpPr>
              <p:cNvPr id="235" name="ZoneTexte 234">
                <a:extLst>
                  <a:ext uri="{FF2B5EF4-FFF2-40B4-BE49-F238E27FC236}">
                    <a16:creationId xmlns:a16="http://schemas.microsoft.com/office/drawing/2014/main" id="{9FEC52B6-D1AA-E91B-F5DD-5A62B33B927E}"/>
                  </a:ext>
                </a:extLst>
              </p:cNvPr>
              <p:cNvSpPr txBox="1"/>
              <p:nvPr/>
            </p:nvSpPr>
            <p:spPr>
              <a:xfrm>
                <a:off x="3457287" y="4462017"/>
                <a:ext cx="432284" cy="510806"/>
              </a:xfrm>
              <a:prstGeom prst="rect">
                <a:avLst/>
              </a:prstGeom>
              <a:noFill/>
            </p:spPr>
            <p:txBody>
              <a:bodyPr wrap="square" rtlCol="0">
                <a:noAutofit/>
              </a:bodyPr>
              <a:lstStyle/>
              <a:p>
                <a:pPr algn="ctr"/>
                <a14:m>
                  <m:oMathPara xmlns:m="http://schemas.openxmlformats.org/officeDocument/2006/math">
                    <m:oMathParaPr>
                      <m:jc m:val="centerGroup"/>
                    </m:oMathParaPr>
                    <m:oMath xmlns:m="http://schemas.openxmlformats.org/officeDocument/2006/math">
                      <m:sSubSup>
                        <m:sSubSupPr>
                          <m:ctrlP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ctrlPr>
                        </m:sSubSupPr>
                        <m:e>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𝒃</m:t>
                          </m:r>
                        </m:e>
                        <m:sub>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𝒉</m:t>
                          </m:r>
                        </m:sub>
                        <m:sup>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𝟒</m:t>
                          </m:r>
                        </m:sup>
                      </m:sSubSup>
                    </m:oMath>
                  </m:oMathPara>
                </a14:m>
                <a:endParaRPr lang="fr-FR" b="1" baseline="-25000" dirty="0">
                  <a:ln>
                    <a:solidFill>
                      <a:schemeClr val="accent2">
                        <a:lumMod val="75000"/>
                      </a:schemeClr>
                    </a:solidFill>
                  </a:ln>
                  <a:solidFill>
                    <a:schemeClr val="accent2">
                      <a:lumMod val="75000"/>
                    </a:schemeClr>
                  </a:solidFill>
                  <a:latin typeface="Monaco" pitchFamily="2" charset="77"/>
                </a:endParaRPr>
              </a:p>
            </p:txBody>
          </p:sp>
        </mc:Choice>
        <mc:Fallback xmlns="">
          <p:sp>
            <p:nvSpPr>
              <p:cNvPr id="235" name="ZoneTexte 234">
                <a:extLst>
                  <a:ext uri="{FF2B5EF4-FFF2-40B4-BE49-F238E27FC236}">
                    <a16:creationId xmlns:a16="http://schemas.microsoft.com/office/drawing/2014/main" id="{9FEC52B6-D1AA-E91B-F5DD-5A62B33B927E}"/>
                  </a:ext>
                </a:extLst>
              </p:cNvPr>
              <p:cNvSpPr txBox="1">
                <a:spLocks noRot="1" noChangeAspect="1" noMove="1" noResize="1" noEditPoints="1" noAdjustHandles="1" noChangeArrowheads="1" noChangeShapeType="1" noTextEdit="1"/>
              </p:cNvSpPr>
              <p:nvPr/>
            </p:nvSpPr>
            <p:spPr>
              <a:xfrm>
                <a:off x="3457287" y="4462017"/>
                <a:ext cx="432284" cy="510806"/>
              </a:xfrm>
              <a:prstGeom prst="rect">
                <a:avLst/>
              </a:prstGeom>
              <a:blipFill>
                <a:blip r:embed="rId12"/>
                <a:stretch>
                  <a:fillRect/>
                </a:stretch>
              </a:blipFill>
            </p:spPr>
            <p:txBody>
              <a:bodyPr/>
              <a:lstStyle/>
              <a:p>
                <a:r>
                  <a:rPr lang="en-GB">
                    <a:noFill/>
                  </a:rPr>
                  <a:t> </a:t>
                </a:r>
              </a:p>
            </p:txBody>
          </p:sp>
        </mc:Fallback>
      </mc:AlternateContent>
      <p:cxnSp>
        <p:nvCxnSpPr>
          <p:cNvPr id="237" name="Connecteur droit avec flèche 236">
            <a:extLst>
              <a:ext uri="{FF2B5EF4-FFF2-40B4-BE49-F238E27FC236}">
                <a16:creationId xmlns:a16="http://schemas.microsoft.com/office/drawing/2014/main" id="{853CBEB8-F4B6-AE40-385F-5671363834F3}"/>
              </a:ext>
            </a:extLst>
          </p:cNvPr>
          <p:cNvCxnSpPr/>
          <p:nvPr/>
        </p:nvCxnSpPr>
        <p:spPr>
          <a:xfrm>
            <a:off x="3664145" y="4880194"/>
            <a:ext cx="209155" cy="14662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38" name="Connecteur droit avec flèche 237">
            <a:extLst>
              <a:ext uri="{FF2B5EF4-FFF2-40B4-BE49-F238E27FC236}">
                <a16:creationId xmlns:a16="http://schemas.microsoft.com/office/drawing/2014/main" id="{39F9887F-DD2E-8638-E816-680FCBF031C3}"/>
              </a:ext>
            </a:extLst>
          </p:cNvPr>
          <p:cNvCxnSpPr/>
          <p:nvPr/>
        </p:nvCxnSpPr>
        <p:spPr>
          <a:xfrm>
            <a:off x="3640556" y="3911355"/>
            <a:ext cx="209155" cy="14662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39" name="Connecteur droit avec flèche 238">
            <a:extLst>
              <a:ext uri="{FF2B5EF4-FFF2-40B4-BE49-F238E27FC236}">
                <a16:creationId xmlns:a16="http://schemas.microsoft.com/office/drawing/2014/main" id="{FF3F2857-698D-6AF8-3628-658C3D04B9CF}"/>
              </a:ext>
            </a:extLst>
          </p:cNvPr>
          <p:cNvCxnSpPr/>
          <p:nvPr/>
        </p:nvCxnSpPr>
        <p:spPr>
          <a:xfrm>
            <a:off x="3651900" y="3035946"/>
            <a:ext cx="209155" cy="14662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40" name="Connecteur droit avec flèche 239">
            <a:extLst>
              <a:ext uri="{FF2B5EF4-FFF2-40B4-BE49-F238E27FC236}">
                <a16:creationId xmlns:a16="http://schemas.microsoft.com/office/drawing/2014/main" id="{43432B18-708D-022E-F5EA-E6F9ED6A47E7}"/>
              </a:ext>
            </a:extLst>
          </p:cNvPr>
          <p:cNvCxnSpPr/>
          <p:nvPr/>
        </p:nvCxnSpPr>
        <p:spPr>
          <a:xfrm>
            <a:off x="3664145" y="2070169"/>
            <a:ext cx="209155" cy="14662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241" name="ZoneTexte 240">
                <a:extLst>
                  <a:ext uri="{FF2B5EF4-FFF2-40B4-BE49-F238E27FC236}">
                    <a16:creationId xmlns:a16="http://schemas.microsoft.com/office/drawing/2014/main" id="{379B3C47-D7CE-9B67-69DB-50F182B90346}"/>
                  </a:ext>
                </a:extLst>
              </p:cNvPr>
              <p:cNvSpPr txBox="1"/>
              <p:nvPr/>
            </p:nvSpPr>
            <p:spPr>
              <a:xfrm>
                <a:off x="5306478" y="4983747"/>
                <a:ext cx="1121062" cy="246221"/>
              </a:xfrm>
              <a:prstGeom prst="rect">
                <a:avLst/>
              </a:prstGeom>
              <a:noFill/>
            </p:spPr>
            <p:txBody>
              <a:bodyPr wrap="square" lIns="0" tIns="0" rIns="0" bIns="0" rtlCol="0">
                <a:spAutoFit/>
              </a:bodyPr>
              <a:lstStyle/>
              <a:p>
                <a:pPr algn="ctr"/>
                <a14:m>
                  <m:oMath xmlns:m="http://schemas.openxmlformats.org/officeDocument/2006/math">
                    <m:r>
                      <a:rPr lang="fr-FR" sz="1600" b="0" i="1" smtClean="0">
                        <a:latin typeface="Cambria Math" panose="02040503050406030204" pitchFamily="18" charset="0"/>
                      </a:rPr>
                      <m:t>𝑊</m:t>
                    </m:r>
                    <m:r>
                      <a:rPr lang="fr-FR" sz="1600" b="0" i="1" smtClean="0">
                        <a:latin typeface="Cambria Math" panose="02040503050406030204" pitchFamily="18" charset="0"/>
                      </a:rPr>
                      <m:t>_</m:t>
                    </m:r>
                  </m:oMath>
                </a14:m>
                <a:r>
                  <a:rPr lang="fr-FR" sz="1600" b="0" i="1" dirty="0">
                    <a:latin typeface="Cambria Math" panose="02040503050406030204" pitchFamily="18" charset="0"/>
                  </a:rPr>
                  <a:t>out</a:t>
                </a:r>
              </a:p>
            </p:txBody>
          </p:sp>
        </mc:Choice>
        <mc:Fallback xmlns="">
          <p:sp>
            <p:nvSpPr>
              <p:cNvPr id="241" name="ZoneTexte 240">
                <a:extLst>
                  <a:ext uri="{FF2B5EF4-FFF2-40B4-BE49-F238E27FC236}">
                    <a16:creationId xmlns:a16="http://schemas.microsoft.com/office/drawing/2014/main" id="{379B3C47-D7CE-9B67-69DB-50F182B90346}"/>
                  </a:ext>
                </a:extLst>
              </p:cNvPr>
              <p:cNvSpPr txBox="1">
                <a:spLocks noRot="1" noChangeAspect="1" noMove="1" noResize="1" noEditPoints="1" noAdjustHandles="1" noChangeArrowheads="1" noChangeShapeType="1" noTextEdit="1"/>
              </p:cNvSpPr>
              <p:nvPr/>
            </p:nvSpPr>
            <p:spPr>
              <a:xfrm>
                <a:off x="5306478" y="4983747"/>
                <a:ext cx="1121062" cy="246221"/>
              </a:xfrm>
              <a:prstGeom prst="rect">
                <a:avLst/>
              </a:prstGeom>
              <a:blipFill>
                <a:blip r:embed="rId13"/>
                <a:stretch>
                  <a:fillRect t="-25000" b="-4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2" name="ZoneTexte 241">
                <a:extLst>
                  <a:ext uri="{FF2B5EF4-FFF2-40B4-BE49-F238E27FC236}">
                    <a16:creationId xmlns:a16="http://schemas.microsoft.com/office/drawing/2014/main" id="{E944F203-63F9-08D7-717B-A142DE6421C1}"/>
                  </a:ext>
                </a:extLst>
              </p:cNvPr>
              <p:cNvSpPr txBox="1"/>
              <p:nvPr/>
            </p:nvSpPr>
            <p:spPr>
              <a:xfrm>
                <a:off x="6246153" y="2508106"/>
                <a:ext cx="432284" cy="510806"/>
              </a:xfrm>
              <a:prstGeom prst="rect">
                <a:avLst/>
              </a:prstGeom>
              <a:noFill/>
            </p:spPr>
            <p:txBody>
              <a:bodyPr wrap="square" rtlCol="0">
                <a:noAutofit/>
              </a:bodyPr>
              <a:lstStyle/>
              <a:p>
                <a:pPr algn="ctr"/>
                <a14:m>
                  <m:oMathPara xmlns:m="http://schemas.openxmlformats.org/officeDocument/2006/math">
                    <m:oMathParaPr>
                      <m:jc m:val="centerGroup"/>
                    </m:oMathParaPr>
                    <m:oMath xmlns:m="http://schemas.openxmlformats.org/officeDocument/2006/math">
                      <m:sSubSup>
                        <m:sSubSupPr>
                          <m:ctrlP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ctrlPr>
                        </m:sSubSupPr>
                        <m:e>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𝒃</m:t>
                          </m:r>
                        </m:e>
                        <m:sub>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𝒐</m:t>
                          </m:r>
                        </m:sub>
                        <m:sup>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𝟏</m:t>
                          </m:r>
                        </m:sup>
                      </m:sSubSup>
                    </m:oMath>
                  </m:oMathPara>
                </a14:m>
                <a:endParaRPr lang="fr-FR" b="1" baseline="-25000" dirty="0">
                  <a:ln>
                    <a:solidFill>
                      <a:schemeClr val="accent2">
                        <a:lumMod val="75000"/>
                      </a:schemeClr>
                    </a:solidFill>
                  </a:ln>
                  <a:solidFill>
                    <a:schemeClr val="accent2">
                      <a:lumMod val="75000"/>
                    </a:schemeClr>
                  </a:solidFill>
                  <a:latin typeface="Monaco" pitchFamily="2" charset="77"/>
                </a:endParaRPr>
              </a:p>
            </p:txBody>
          </p:sp>
        </mc:Choice>
        <mc:Fallback xmlns="">
          <p:sp>
            <p:nvSpPr>
              <p:cNvPr id="242" name="ZoneTexte 241">
                <a:extLst>
                  <a:ext uri="{FF2B5EF4-FFF2-40B4-BE49-F238E27FC236}">
                    <a16:creationId xmlns:a16="http://schemas.microsoft.com/office/drawing/2014/main" id="{E944F203-63F9-08D7-717B-A142DE6421C1}"/>
                  </a:ext>
                </a:extLst>
              </p:cNvPr>
              <p:cNvSpPr txBox="1">
                <a:spLocks noRot="1" noChangeAspect="1" noMove="1" noResize="1" noEditPoints="1" noAdjustHandles="1" noChangeArrowheads="1" noChangeShapeType="1" noTextEdit="1"/>
              </p:cNvSpPr>
              <p:nvPr/>
            </p:nvSpPr>
            <p:spPr>
              <a:xfrm>
                <a:off x="6246153" y="2508106"/>
                <a:ext cx="432284" cy="510806"/>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3" name="ZoneTexte 242">
                <a:extLst>
                  <a:ext uri="{FF2B5EF4-FFF2-40B4-BE49-F238E27FC236}">
                    <a16:creationId xmlns:a16="http://schemas.microsoft.com/office/drawing/2014/main" id="{ED42903F-F0A0-EFEA-F777-4A393E173738}"/>
                  </a:ext>
                </a:extLst>
              </p:cNvPr>
              <p:cNvSpPr txBox="1"/>
              <p:nvPr/>
            </p:nvSpPr>
            <p:spPr>
              <a:xfrm>
                <a:off x="6283585" y="3509982"/>
                <a:ext cx="432284" cy="510806"/>
              </a:xfrm>
              <a:prstGeom prst="rect">
                <a:avLst/>
              </a:prstGeom>
              <a:noFill/>
            </p:spPr>
            <p:txBody>
              <a:bodyPr wrap="square" rtlCol="0">
                <a:noAutofit/>
              </a:bodyPr>
              <a:lstStyle/>
              <a:p>
                <a:pPr algn="ctr"/>
                <a14:m>
                  <m:oMathPara xmlns:m="http://schemas.openxmlformats.org/officeDocument/2006/math">
                    <m:oMathParaPr>
                      <m:jc m:val="centerGroup"/>
                    </m:oMathParaPr>
                    <m:oMath xmlns:m="http://schemas.openxmlformats.org/officeDocument/2006/math">
                      <m:sSubSup>
                        <m:sSubSupPr>
                          <m:ctrlP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ctrlPr>
                        </m:sSubSupPr>
                        <m:e>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𝒃</m:t>
                          </m:r>
                        </m:e>
                        <m:sub>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𝒐</m:t>
                          </m:r>
                        </m:sub>
                        <m:sup>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𝟐</m:t>
                          </m:r>
                        </m:sup>
                      </m:sSubSup>
                    </m:oMath>
                  </m:oMathPara>
                </a14:m>
                <a:endParaRPr lang="fr-FR" b="1" baseline="-25000" dirty="0">
                  <a:ln>
                    <a:solidFill>
                      <a:schemeClr val="accent2">
                        <a:lumMod val="75000"/>
                      </a:schemeClr>
                    </a:solidFill>
                  </a:ln>
                  <a:solidFill>
                    <a:schemeClr val="accent2">
                      <a:lumMod val="75000"/>
                    </a:schemeClr>
                  </a:solidFill>
                  <a:latin typeface="Monaco" pitchFamily="2" charset="77"/>
                </a:endParaRPr>
              </a:p>
            </p:txBody>
          </p:sp>
        </mc:Choice>
        <mc:Fallback xmlns="">
          <p:sp>
            <p:nvSpPr>
              <p:cNvPr id="243" name="ZoneTexte 242">
                <a:extLst>
                  <a:ext uri="{FF2B5EF4-FFF2-40B4-BE49-F238E27FC236}">
                    <a16:creationId xmlns:a16="http://schemas.microsoft.com/office/drawing/2014/main" id="{ED42903F-F0A0-EFEA-F777-4A393E173738}"/>
                  </a:ext>
                </a:extLst>
              </p:cNvPr>
              <p:cNvSpPr txBox="1">
                <a:spLocks noRot="1" noChangeAspect="1" noMove="1" noResize="1" noEditPoints="1" noAdjustHandles="1" noChangeArrowheads="1" noChangeShapeType="1" noTextEdit="1"/>
              </p:cNvSpPr>
              <p:nvPr/>
            </p:nvSpPr>
            <p:spPr>
              <a:xfrm>
                <a:off x="6283585" y="3509982"/>
                <a:ext cx="432284" cy="510806"/>
              </a:xfrm>
              <a:prstGeom prst="rect">
                <a:avLst/>
              </a:prstGeom>
              <a:blipFill>
                <a:blip r:embed="rId15"/>
                <a:stretch>
                  <a:fillRect/>
                </a:stretch>
              </a:blipFill>
            </p:spPr>
            <p:txBody>
              <a:bodyPr/>
              <a:lstStyle/>
              <a:p>
                <a:r>
                  <a:rPr lang="en-GB">
                    <a:noFill/>
                  </a:rPr>
                  <a:t> </a:t>
                </a:r>
              </a:p>
            </p:txBody>
          </p:sp>
        </mc:Fallback>
      </mc:AlternateContent>
      <p:sp>
        <p:nvSpPr>
          <p:cNvPr id="5" name="ZoneTexte 4">
            <a:extLst>
              <a:ext uri="{FF2B5EF4-FFF2-40B4-BE49-F238E27FC236}">
                <a16:creationId xmlns:a16="http://schemas.microsoft.com/office/drawing/2014/main" id="{65610FED-B37C-407C-386E-96F2CD6A20C8}"/>
              </a:ext>
            </a:extLst>
          </p:cNvPr>
          <p:cNvSpPr txBox="1"/>
          <p:nvPr/>
        </p:nvSpPr>
        <p:spPr>
          <a:xfrm>
            <a:off x="4319422" y="3130641"/>
            <a:ext cx="637295" cy="246221"/>
          </a:xfrm>
          <a:prstGeom prst="rect">
            <a:avLst/>
          </a:prstGeom>
          <a:noFill/>
        </p:spPr>
        <p:txBody>
          <a:bodyPr wrap="square" rtlCol="0">
            <a:spAutoFit/>
          </a:bodyPr>
          <a:lstStyle/>
          <a:p>
            <a:pPr algn="r"/>
            <a:r>
              <a:rPr lang="fr-FR" sz="1000" dirty="0"/>
              <a:t>out_h1</a:t>
            </a:r>
          </a:p>
        </p:txBody>
      </p:sp>
      <p:sp>
        <p:nvSpPr>
          <p:cNvPr id="6" name="Rectangle : coins arrondis 5">
            <a:extLst>
              <a:ext uri="{FF2B5EF4-FFF2-40B4-BE49-F238E27FC236}">
                <a16:creationId xmlns:a16="http://schemas.microsoft.com/office/drawing/2014/main" id="{7616BA68-B728-BE73-AEDA-A4718F058F80}"/>
              </a:ext>
            </a:extLst>
          </p:cNvPr>
          <p:cNvSpPr/>
          <p:nvPr/>
        </p:nvSpPr>
        <p:spPr>
          <a:xfrm>
            <a:off x="8228307" y="2753127"/>
            <a:ext cx="445793" cy="20054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a:t>
            </a:r>
          </a:p>
          <a:p>
            <a:pPr algn="ctr"/>
            <a:r>
              <a:rPr lang="en-GB" dirty="0"/>
              <a:t>O</a:t>
            </a:r>
          </a:p>
          <a:p>
            <a:pPr algn="ctr"/>
            <a:r>
              <a:rPr lang="en-GB" dirty="0"/>
              <a:t>F</a:t>
            </a:r>
          </a:p>
          <a:p>
            <a:pPr algn="ctr"/>
            <a:r>
              <a:rPr lang="en-GB" dirty="0"/>
              <a:t>T</a:t>
            </a:r>
          </a:p>
          <a:p>
            <a:pPr algn="ctr"/>
            <a:r>
              <a:rPr lang="en-GB" dirty="0"/>
              <a:t>M</a:t>
            </a:r>
          </a:p>
          <a:p>
            <a:pPr algn="ctr"/>
            <a:r>
              <a:rPr lang="en-GB" dirty="0"/>
              <a:t>A</a:t>
            </a:r>
          </a:p>
          <a:p>
            <a:pPr algn="ctr"/>
            <a:r>
              <a:rPr lang="en-GB" dirty="0"/>
              <a:t>X</a:t>
            </a:r>
          </a:p>
        </p:txBody>
      </p:sp>
      <p:cxnSp>
        <p:nvCxnSpPr>
          <p:cNvPr id="7" name="Connecteur droit avec flèche 6">
            <a:extLst>
              <a:ext uri="{FF2B5EF4-FFF2-40B4-BE49-F238E27FC236}">
                <a16:creationId xmlns:a16="http://schemas.microsoft.com/office/drawing/2014/main" id="{C1027549-EE9A-03F5-C849-13D26D4ED602}"/>
              </a:ext>
            </a:extLst>
          </p:cNvPr>
          <p:cNvCxnSpPr>
            <a:cxnSpLocks/>
          </p:cNvCxnSpPr>
          <p:nvPr/>
        </p:nvCxnSpPr>
        <p:spPr>
          <a:xfrm flipV="1">
            <a:off x="8674101" y="3668191"/>
            <a:ext cx="360000" cy="15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Connecteur droit avec flèche 7">
            <a:extLst>
              <a:ext uri="{FF2B5EF4-FFF2-40B4-BE49-F238E27FC236}">
                <a16:creationId xmlns:a16="http://schemas.microsoft.com/office/drawing/2014/main" id="{8A5909FD-DE68-F7D7-42F5-7F2F95FB5A85}"/>
              </a:ext>
            </a:extLst>
          </p:cNvPr>
          <p:cNvCxnSpPr>
            <a:cxnSpLocks/>
          </p:cNvCxnSpPr>
          <p:nvPr/>
        </p:nvCxnSpPr>
        <p:spPr>
          <a:xfrm flipV="1">
            <a:off x="9647619" y="3668191"/>
            <a:ext cx="360000" cy="15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 name="Rectangle : coins arrondis 8">
                <a:extLst>
                  <a:ext uri="{FF2B5EF4-FFF2-40B4-BE49-F238E27FC236}">
                    <a16:creationId xmlns:a16="http://schemas.microsoft.com/office/drawing/2014/main" id="{92EF24AB-0E23-1198-D391-399C5A9E41A2}"/>
                  </a:ext>
                </a:extLst>
              </p:cNvPr>
              <p:cNvSpPr/>
              <p:nvPr/>
            </p:nvSpPr>
            <p:spPr>
              <a:xfrm>
                <a:off x="10071909" y="3438951"/>
                <a:ext cx="634191" cy="4775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fr-FR" b="0" i="1" smtClean="0">
                              <a:latin typeface="Cambria Math" panose="02040503050406030204" pitchFamily="18" charset="0"/>
                            </a:rPr>
                            <m:t>𝐿</m:t>
                          </m:r>
                        </m:e>
                        <m:sub>
                          <m:r>
                            <a:rPr lang="fr-FR" b="0" i="1" smtClean="0">
                              <a:latin typeface="Cambria Math" panose="02040503050406030204" pitchFamily="18" charset="0"/>
                            </a:rPr>
                            <m:t>𝐶𝐶𝐸</m:t>
                          </m:r>
                        </m:sub>
                      </m:sSub>
                    </m:oMath>
                  </m:oMathPara>
                </a14:m>
                <a:endParaRPr lang="en-GB" dirty="0"/>
              </a:p>
            </p:txBody>
          </p:sp>
        </mc:Choice>
        <mc:Fallback xmlns="">
          <p:sp>
            <p:nvSpPr>
              <p:cNvPr id="9" name="Rectangle : coins arrondis 8">
                <a:extLst>
                  <a:ext uri="{FF2B5EF4-FFF2-40B4-BE49-F238E27FC236}">
                    <a16:creationId xmlns:a16="http://schemas.microsoft.com/office/drawing/2014/main" id="{92EF24AB-0E23-1198-D391-399C5A9E41A2}"/>
                  </a:ext>
                </a:extLst>
              </p:cNvPr>
              <p:cNvSpPr>
                <a:spLocks noRot="1" noChangeAspect="1" noMove="1" noResize="1" noEditPoints="1" noAdjustHandles="1" noChangeArrowheads="1" noChangeShapeType="1" noTextEdit="1"/>
              </p:cNvSpPr>
              <p:nvPr/>
            </p:nvSpPr>
            <p:spPr>
              <a:xfrm>
                <a:off x="10071909" y="3438951"/>
                <a:ext cx="634191" cy="477574"/>
              </a:xfrm>
              <a:prstGeom prst="roundRect">
                <a:avLst/>
              </a:prstGeom>
              <a:blipFill>
                <a:blip r:embed="rId16"/>
                <a:stretch>
                  <a:fillRect/>
                </a:stretch>
              </a:blipFill>
            </p:spPr>
            <p:txBody>
              <a:bodyPr/>
              <a:lstStyle/>
              <a:p>
                <a:r>
                  <a:rPr lang="en-GB">
                    <a:noFill/>
                  </a:rPr>
                  <a:t> </a:t>
                </a:r>
              </a:p>
            </p:txBody>
          </p:sp>
        </mc:Fallback>
      </mc:AlternateContent>
      <p:cxnSp>
        <p:nvCxnSpPr>
          <p:cNvPr id="10" name="Connecteur droit avec flèche 9">
            <a:extLst>
              <a:ext uri="{FF2B5EF4-FFF2-40B4-BE49-F238E27FC236}">
                <a16:creationId xmlns:a16="http://schemas.microsoft.com/office/drawing/2014/main" id="{400D3CB1-2F6B-A52A-DD9D-3668480E9124}"/>
              </a:ext>
            </a:extLst>
          </p:cNvPr>
          <p:cNvCxnSpPr>
            <a:cxnSpLocks/>
          </p:cNvCxnSpPr>
          <p:nvPr/>
        </p:nvCxnSpPr>
        <p:spPr>
          <a:xfrm flipH="1">
            <a:off x="10756900" y="3683367"/>
            <a:ext cx="28095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C87B1AE8-B038-78B3-108B-CB1D8BEF388F}"/>
                  </a:ext>
                </a:extLst>
              </p:cNvPr>
              <p:cNvSpPr txBox="1"/>
              <p:nvPr/>
            </p:nvSpPr>
            <p:spPr>
              <a:xfrm>
                <a:off x="11033789" y="3402262"/>
                <a:ext cx="627435" cy="693716"/>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fr-FR" sz="4000" b="0" i="1" baseline="30000" noProof="0" smtClean="0">
                          <a:latin typeface="Cambria Math" panose="02040503050406030204" pitchFamily="18" charset="0"/>
                        </a:rPr>
                        <m:t>𝑦</m:t>
                      </m:r>
                    </m:oMath>
                  </m:oMathPara>
                </a14:m>
                <a:endParaRPr lang="en-GB" sz="4000" baseline="30000" noProof="0" dirty="0"/>
              </a:p>
            </p:txBody>
          </p:sp>
        </mc:Choice>
        <mc:Fallback xmlns="">
          <p:sp>
            <p:nvSpPr>
              <p:cNvPr id="12" name="ZoneTexte 11">
                <a:extLst>
                  <a:ext uri="{FF2B5EF4-FFF2-40B4-BE49-F238E27FC236}">
                    <a16:creationId xmlns:a16="http://schemas.microsoft.com/office/drawing/2014/main" id="{C87B1AE8-B038-78B3-108B-CB1D8BEF388F}"/>
                  </a:ext>
                </a:extLst>
              </p:cNvPr>
              <p:cNvSpPr txBox="1">
                <a:spLocks noRot="1" noChangeAspect="1" noMove="1" noResize="1" noEditPoints="1" noAdjustHandles="1" noChangeArrowheads="1" noChangeShapeType="1" noTextEdit="1"/>
              </p:cNvSpPr>
              <p:nvPr/>
            </p:nvSpPr>
            <p:spPr>
              <a:xfrm>
                <a:off x="11033789" y="3402262"/>
                <a:ext cx="627435" cy="693716"/>
              </a:xfrm>
              <a:prstGeom prst="rect">
                <a:avLst/>
              </a:prstGeom>
              <a:blipFill>
                <a:blip r:embed="rId17"/>
                <a:stretch>
                  <a:fillRect/>
                </a:stretch>
              </a:blipFill>
            </p:spPr>
            <p:txBody>
              <a:bodyPr/>
              <a:lstStyle/>
              <a:p>
                <a:r>
                  <a:rPr lang="en-GB">
                    <a:noFill/>
                  </a:rPr>
                  <a:t> </a:t>
                </a:r>
              </a:p>
            </p:txBody>
          </p:sp>
        </mc:Fallback>
      </mc:AlternateContent>
      <p:sp>
        <p:nvSpPr>
          <p:cNvPr id="13" name="ZoneTexte 12">
            <a:extLst>
              <a:ext uri="{FF2B5EF4-FFF2-40B4-BE49-F238E27FC236}">
                <a16:creationId xmlns:a16="http://schemas.microsoft.com/office/drawing/2014/main" id="{E6328BA5-D8F0-1512-8B66-29B23CC7C762}"/>
              </a:ext>
            </a:extLst>
          </p:cNvPr>
          <p:cNvSpPr txBox="1"/>
          <p:nvPr/>
        </p:nvSpPr>
        <p:spPr>
          <a:xfrm>
            <a:off x="7059631" y="5755577"/>
            <a:ext cx="4680083" cy="461665"/>
          </a:xfrm>
          <a:prstGeom prst="rect">
            <a:avLst/>
          </a:prstGeom>
          <a:noFill/>
          <a:ln>
            <a:solidFill>
              <a:schemeClr val="bg1">
                <a:lumMod val="50000"/>
              </a:schemeClr>
            </a:solidFill>
          </a:ln>
        </p:spPr>
        <p:txBody>
          <a:bodyPr wrap="square" rtlCol="0">
            <a:spAutoFit/>
          </a:bodyPr>
          <a:lstStyle/>
          <a:p>
            <a:r>
              <a:rPr lang="en-GB" sz="1200" dirty="0"/>
              <a:t>SOFTMAX is used for more than 2 classes.</a:t>
            </a:r>
          </a:p>
          <a:p>
            <a:r>
              <a:rPr lang="en-GB" sz="1200" dirty="0"/>
              <a:t>But we use it here to get used of it for next NLP usage.</a:t>
            </a:r>
          </a:p>
        </p:txBody>
      </p:sp>
      <p:sp>
        <p:nvSpPr>
          <p:cNvPr id="14" name="ZoneTexte 13">
            <a:extLst>
              <a:ext uri="{FF2B5EF4-FFF2-40B4-BE49-F238E27FC236}">
                <a16:creationId xmlns:a16="http://schemas.microsoft.com/office/drawing/2014/main" id="{C9C47619-A4A2-1057-DFE0-8683C38DBD51}"/>
              </a:ext>
            </a:extLst>
          </p:cNvPr>
          <p:cNvSpPr txBox="1"/>
          <p:nvPr/>
        </p:nvSpPr>
        <p:spPr>
          <a:xfrm>
            <a:off x="7059631" y="278722"/>
            <a:ext cx="4680083" cy="461665"/>
          </a:xfrm>
          <a:prstGeom prst="rect">
            <a:avLst/>
          </a:prstGeom>
          <a:noFill/>
          <a:ln>
            <a:solidFill>
              <a:schemeClr val="bg1">
                <a:lumMod val="50000"/>
              </a:schemeClr>
            </a:solidFill>
          </a:ln>
        </p:spPr>
        <p:txBody>
          <a:bodyPr wrap="square" rtlCol="0">
            <a:spAutoFit/>
          </a:bodyPr>
          <a:lstStyle/>
          <a:p>
            <a:r>
              <a:rPr lang="en-GB" sz="1200" dirty="0"/>
              <a:t>Categorical Cross Entropy is a generalization of Binary Cross Entropy</a:t>
            </a:r>
          </a:p>
          <a:p>
            <a:r>
              <a:rPr lang="en-GB" sz="1200" dirty="0"/>
              <a:t>Softmax is a generalization of the sigmoid function</a:t>
            </a:r>
          </a:p>
        </p:txBody>
      </p:sp>
    </p:spTree>
    <p:extLst>
      <p:ext uri="{BB962C8B-B14F-4D97-AF65-F5344CB8AC3E}">
        <p14:creationId xmlns:p14="http://schemas.microsoft.com/office/powerpoint/2010/main" val="23388966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3CB54-BEAC-C9C6-8D77-9FC95C27B136}"/>
            </a:ext>
          </a:extLst>
        </p:cNvPr>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EAA5E382-39DE-7493-6D3D-F090ED6F0AA5}"/>
              </a:ext>
            </a:extLst>
          </p:cNvPr>
          <p:cNvSpPr>
            <a:spLocks noGrp="1"/>
          </p:cNvSpPr>
          <p:nvPr>
            <p:ph type="ftr" sz="quarter" idx="11"/>
          </p:nvPr>
        </p:nvSpPr>
        <p:spPr/>
        <p:txBody>
          <a:bodyPr/>
          <a:lstStyle/>
          <a:p>
            <a:r>
              <a:rPr lang="en-GB" dirty="0"/>
              <a:t>Loss Functions. Author : David Thébault</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C92E41BC-30D7-FBC8-0DAF-E9E6FF8E52FF}"/>
                  </a:ext>
                </a:extLst>
              </p:cNvPr>
              <p:cNvSpPr txBox="1"/>
              <p:nvPr/>
            </p:nvSpPr>
            <p:spPr>
              <a:xfrm>
                <a:off x="2098362" y="4925724"/>
                <a:ext cx="112106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𝑊</m:t>
                      </m:r>
                      <m:r>
                        <a:rPr lang="fr-FR" sz="1600" b="0" i="1" smtClean="0">
                          <a:latin typeface="Cambria Math" panose="02040503050406030204" pitchFamily="18" charset="0"/>
                        </a:rPr>
                        <m:t>_</m:t>
                      </m:r>
                      <m:r>
                        <a:rPr lang="fr-FR" sz="1600" b="0" i="1" smtClean="0">
                          <a:latin typeface="Cambria Math" panose="02040503050406030204" pitchFamily="18" charset="0"/>
                        </a:rPr>
                        <m:t>𝑖𝑛</m:t>
                      </m:r>
                    </m:oMath>
                  </m:oMathPara>
                </a14:m>
                <a:endParaRPr lang="fr-FR" sz="1600" b="0" i="1" dirty="0">
                  <a:latin typeface="Cambria Math" panose="02040503050406030204" pitchFamily="18" charset="0"/>
                </a:endParaRPr>
              </a:p>
            </p:txBody>
          </p:sp>
        </mc:Choice>
        <mc:Fallback xmlns="">
          <p:sp>
            <p:nvSpPr>
              <p:cNvPr id="3" name="ZoneTexte 2">
                <a:extLst>
                  <a:ext uri="{FF2B5EF4-FFF2-40B4-BE49-F238E27FC236}">
                    <a16:creationId xmlns:a16="http://schemas.microsoft.com/office/drawing/2014/main" id="{C92E41BC-30D7-FBC8-0DAF-E9E6FF8E52FF}"/>
                  </a:ext>
                </a:extLst>
              </p:cNvPr>
              <p:cNvSpPr txBox="1">
                <a:spLocks noRot="1" noChangeAspect="1" noMove="1" noResize="1" noEditPoints="1" noAdjustHandles="1" noChangeArrowheads="1" noChangeShapeType="1" noTextEdit="1"/>
              </p:cNvSpPr>
              <p:nvPr/>
            </p:nvSpPr>
            <p:spPr>
              <a:xfrm>
                <a:off x="2098362" y="4925724"/>
                <a:ext cx="1121062" cy="246221"/>
              </a:xfrm>
              <a:prstGeom prst="rect">
                <a:avLst/>
              </a:prstGeom>
              <a:blipFill>
                <a:blip r:embed="rId2"/>
                <a:stretch>
                  <a:fillRect b="-4762"/>
                </a:stretch>
              </a:blipFill>
            </p:spPr>
            <p:txBody>
              <a:bodyPr/>
              <a:lstStyle/>
              <a:p>
                <a:r>
                  <a:rPr lang="en-GB">
                    <a:noFill/>
                  </a:rPr>
                  <a:t> </a:t>
                </a:r>
              </a:p>
            </p:txBody>
          </p:sp>
        </mc:Fallback>
      </mc:AlternateContent>
      <p:cxnSp>
        <p:nvCxnSpPr>
          <p:cNvPr id="5" name="Connecteur droit avec flèche 4">
            <a:extLst>
              <a:ext uri="{FF2B5EF4-FFF2-40B4-BE49-F238E27FC236}">
                <a16:creationId xmlns:a16="http://schemas.microsoft.com/office/drawing/2014/main" id="{996C9A6D-8957-4A43-8F43-0547916C5B92}"/>
              </a:ext>
            </a:extLst>
          </p:cNvPr>
          <p:cNvCxnSpPr>
            <a:cxnSpLocks/>
            <a:stCxn id="6" idx="3"/>
            <a:endCxn id="23" idx="2"/>
          </p:cNvCxnSpPr>
          <p:nvPr/>
        </p:nvCxnSpPr>
        <p:spPr>
          <a:xfrm flipV="1">
            <a:off x="1723626" y="2220929"/>
            <a:ext cx="2151740" cy="13591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847B3B66-4996-FF63-E901-ADC41ACF8D8E}"/>
                  </a:ext>
                </a:extLst>
              </p:cNvPr>
              <p:cNvSpPr txBox="1"/>
              <p:nvPr/>
            </p:nvSpPr>
            <p:spPr>
              <a:xfrm>
                <a:off x="967857" y="3196129"/>
                <a:ext cx="755769" cy="767994"/>
              </a:xfrm>
              <a:prstGeom prst="rect">
                <a:avLst/>
              </a:prstGeom>
              <a:noFill/>
            </p:spPr>
            <p:txBody>
              <a:bodyPr wrap="square" lIns="90000" rtlCol="0">
                <a:noAutofit/>
              </a:bodyPr>
              <a:lstStyle/>
              <a:p>
                <a:pPr algn="ctr"/>
                <a14:m>
                  <m:oMath xmlns:m="http://schemas.openxmlformats.org/officeDocument/2006/math">
                    <m:r>
                      <m:rPr>
                        <m:sty m:val="p"/>
                      </m:rPr>
                      <a:rPr lang="fr-FR" sz="2800" i="1" baseline="-25000" smtClean="0">
                        <a:latin typeface="Cambria Math" panose="02040503050406030204" pitchFamily="18" charset="0"/>
                      </a:rPr>
                      <m:t>x</m:t>
                    </m:r>
                    <m:sSub>
                      <m:sSubPr>
                        <m:ctrlPr>
                          <a:rPr lang="fr-FR" sz="2800" i="1" baseline="-25000" smtClean="0">
                            <a:latin typeface="Cambria Math" panose="02040503050406030204" pitchFamily="18" charset="0"/>
                          </a:rPr>
                        </m:ctrlPr>
                      </m:sSubPr>
                      <m:e>
                        <m:r>
                          <a:rPr lang="fr-FR" sz="2800" b="0" i="1" baseline="-25000" smtClean="0">
                            <a:latin typeface="Cambria Math" panose="02040503050406030204" pitchFamily="18" charset="0"/>
                          </a:rPr>
                          <m:t>2</m:t>
                        </m:r>
                      </m:e>
                      <m:sub/>
                    </m:sSub>
                  </m:oMath>
                </a14:m>
                <a:r>
                  <a:rPr lang="fr-FR" sz="2800" baseline="-25000" dirty="0"/>
                  <a:t> </a:t>
                </a:r>
              </a:p>
            </p:txBody>
          </p:sp>
        </mc:Choice>
        <mc:Fallback xmlns="">
          <p:sp>
            <p:nvSpPr>
              <p:cNvPr id="6" name="ZoneTexte 5">
                <a:extLst>
                  <a:ext uri="{FF2B5EF4-FFF2-40B4-BE49-F238E27FC236}">
                    <a16:creationId xmlns:a16="http://schemas.microsoft.com/office/drawing/2014/main" id="{847B3B66-4996-FF63-E901-ADC41ACF8D8E}"/>
                  </a:ext>
                </a:extLst>
              </p:cNvPr>
              <p:cNvSpPr txBox="1">
                <a:spLocks noRot="1" noChangeAspect="1" noMove="1" noResize="1" noEditPoints="1" noAdjustHandles="1" noChangeArrowheads="1" noChangeShapeType="1" noTextEdit="1"/>
              </p:cNvSpPr>
              <p:nvPr/>
            </p:nvSpPr>
            <p:spPr>
              <a:xfrm>
                <a:off x="967857" y="3196129"/>
                <a:ext cx="755769" cy="767994"/>
              </a:xfrm>
              <a:prstGeom prst="rect">
                <a:avLst/>
              </a:prstGeom>
              <a:blipFill>
                <a:blip r:embed="rId3"/>
                <a:stretch>
                  <a:fillRect/>
                </a:stretch>
              </a:blipFill>
            </p:spPr>
            <p:txBody>
              <a:bodyPr/>
              <a:lstStyle/>
              <a:p>
                <a:r>
                  <a:rPr lang="en-GB">
                    <a:noFill/>
                  </a:rPr>
                  <a:t> </a:t>
                </a:r>
              </a:p>
            </p:txBody>
          </p:sp>
        </mc:Fallback>
      </mc:AlternateContent>
      <p:cxnSp>
        <p:nvCxnSpPr>
          <p:cNvPr id="8" name="Connecteur droit avec flèche 7">
            <a:extLst>
              <a:ext uri="{FF2B5EF4-FFF2-40B4-BE49-F238E27FC236}">
                <a16:creationId xmlns:a16="http://schemas.microsoft.com/office/drawing/2014/main" id="{C1CD789F-11CE-CA61-6FB7-9A2AEA150EEC}"/>
              </a:ext>
            </a:extLst>
          </p:cNvPr>
          <p:cNvCxnSpPr>
            <a:cxnSpLocks/>
            <a:stCxn id="23" idx="6"/>
            <a:endCxn id="34" idx="2"/>
          </p:cNvCxnSpPr>
          <p:nvPr/>
        </p:nvCxnSpPr>
        <p:spPr>
          <a:xfrm>
            <a:off x="4913545" y="2220929"/>
            <a:ext cx="1539618" cy="9516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Connecteur droit avec flèche 8">
            <a:extLst>
              <a:ext uri="{FF2B5EF4-FFF2-40B4-BE49-F238E27FC236}">
                <a16:creationId xmlns:a16="http://schemas.microsoft.com/office/drawing/2014/main" id="{CE25EFB2-C72B-9E21-9E22-46BF47650B85}"/>
              </a:ext>
            </a:extLst>
          </p:cNvPr>
          <p:cNvCxnSpPr>
            <a:cxnSpLocks/>
          </p:cNvCxnSpPr>
          <p:nvPr/>
        </p:nvCxnSpPr>
        <p:spPr>
          <a:xfrm flipV="1">
            <a:off x="7511917" y="3204386"/>
            <a:ext cx="741790" cy="15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Parenthèse fermante 9">
            <a:extLst>
              <a:ext uri="{FF2B5EF4-FFF2-40B4-BE49-F238E27FC236}">
                <a16:creationId xmlns:a16="http://schemas.microsoft.com/office/drawing/2014/main" id="{219C5EDB-78A1-1729-50F6-6FCE3BCA5DBF}"/>
              </a:ext>
            </a:extLst>
          </p:cNvPr>
          <p:cNvSpPr/>
          <p:nvPr/>
        </p:nvSpPr>
        <p:spPr>
          <a:xfrm rot="5400000">
            <a:off x="4331368" y="5224239"/>
            <a:ext cx="242272" cy="1745500"/>
          </a:xfrm>
          <a:prstGeom prst="rightBracket">
            <a:avLst/>
          </a:prstGeom>
          <a:noFill/>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dirty="0">
              <a:solidFill>
                <a:srgbClr val="C00000"/>
              </a:solidFill>
            </a:endParaRPr>
          </a:p>
        </p:txBody>
      </p:sp>
      <p:sp>
        <p:nvSpPr>
          <p:cNvPr id="11" name="Parenthèse fermante 10">
            <a:extLst>
              <a:ext uri="{FF2B5EF4-FFF2-40B4-BE49-F238E27FC236}">
                <a16:creationId xmlns:a16="http://schemas.microsoft.com/office/drawing/2014/main" id="{960C2264-2118-5FBF-2DD3-8950FE490808}"/>
              </a:ext>
            </a:extLst>
          </p:cNvPr>
          <p:cNvSpPr/>
          <p:nvPr/>
        </p:nvSpPr>
        <p:spPr>
          <a:xfrm rot="5400000">
            <a:off x="6952991" y="4742263"/>
            <a:ext cx="187315" cy="1240448"/>
          </a:xfrm>
          <a:prstGeom prst="rightBracket">
            <a:avLst/>
          </a:prstGeom>
          <a:noFill/>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dirty="0">
              <a:solidFill>
                <a:srgbClr val="C00000"/>
              </a:solidFill>
            </a:endParaRPr>
          </a:p>
        </p:txBody>
      </p:sp>
      <p:sp>
        <p:nvSpPr>
          <p:cNvPr id="13" name="ZoneTexte 12">
            <a:extLst>
              <a:ext uri="{FF2B5EF4-FFF2-40B4-BE49-F238E27FC236}">
                <a16:creationId xmlns:a16="http://schemas.microsoft.com/office/drawing/2014/main" id="{7D9B17C0-2F1D-1B26-7A5F-990C37CC0564}"/>
              </a:ext>
            </a:extLst>
          </p:cNvPr>
          <p:cNvSpPr txBox="1"/>
          <p:nvPr/>
        </p:nvSpPr>
        <p:spPr>
          <a:xfrm>
            <a:off x="3562477" y="5860517"/>
            <a:ext cx="1845239" cy="276999"/>
          </a:xfrm>
          <a:prstGeom prst="rect">
            <a:avLst/>
          </a:prstGeom>
          <a:noFill/>
        </p:spPr>
        <p:txBody>
          <a:bodyPr wrap="square" rtlCol="0">
            <a:spAutoFit/>
          </a:bodyPr>
          <a:lstStyle/>
          <a:p>
            <a:r>
              <a:rPr lang="en-GB" sz="1200" noProof="0" dirty="0"/>
              <a:t>Hidden layer with 4 units</a:t>
            </a:r>
          </a:p>
        </p:txBody>
      </p:sp>
      <p:sp>
        <p:nvSpPr>
          <p:cNvPr id="14" name="ZoneTexte 13">
            <a:extLst>
              <a:ext uri="{FF2B5EF4-FFF2-40B4-BE49-F238E27FC236}">
                <a16:creationId xmlns:a16="http://schemas.microsoft.com/office/drawing/2014/main" id="{963F2328-D4BF-0E98-15B8-B404C2A7893B}"/>
              </a:ext>
            </a:extLst>
          </p:cNvPr>
          <p:cNvSpPr txBox="1"/>
          <p:nvPr/>
        </p:nvSpPr>
        <p:spPr>
          <a:xfrm>
            <a:off x="6495011" y="5103650"/>
            <a:ext cx="1121062" cy="276999"/>
          </a:xfrm>
          <a:prstGeom prst="rect">
            <a:avLst/>
          </a:prstGeom>
          <a:noFill/>
        </p:spPr>
        <p:txBody>
          <a:bodyPr wrap="square" rtlCol="0">
            <a:spAutoFit/>
          </a:bodyPr>
          <a:lstStyle/>
          <a:p>
            <a:r>
              <a:rPr lang="en-GB" sz="1200" noProof="0" dirty="0"/>
              <a:t>Output layer</a:t>
            </a:r>
          </a:p>
        </p:txBody>
      </p:sp>
      <p:sp>
        <p:nvSpPr>
          <p:cNvPr id="15" name="Parenthèse fermante 14">
            <a:extLst>
              <a:ext uri="{FF2B5EF4-FFF2-40B4-BE49-F238E27FC236}">
                <a16:creationId xmlns:a16="http://schemas.microsoft.com/office/drawing/2014/main" id="{C308E966-EB11-D18B-1636-B6A65AC6B58F}"/>
              </a:ext>
            </a:extLst>
          </p:cNvPr>
          <p:cNvSpPr/>
          <p:nvPr/>
        </p:nvSpPr>
        <p:spPr>
          <a:xfrm rot="5400000">
            <a:off x="1240849" y="4906494"/>
            <a:ext cx="172989" cy="1038780"/>
          </a:xfrm>
          <a:prstGeom prst="rightBracket">
            <a:avLst/>
          </a:prstGeom>
          <a:noFill/>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dirty="0">
              <a:solidFill>
                <a:srgbClr val="C00000"/>
              </a:solidFill>
            </a:endParaRPr>
          </a:p>
        </p:txBody>
      </p:sp>
      <p:sp>
        <p:nvSpPr>
          <p:cNvPr id="16" name="ZoneTexte 15">
            <a:extLst>
              <a:ext uri="{FF2B5EF4-FFF2-40B4-BE49-F238E27FC236}">
                <a16:creationId xmlns:a16="http://schemas.microsoft.com/office/drawing/2014/main" id="{EFBA95F9-57FC-86FC-D01F-32A1F2E95E57}"/>
              </a:ext>
            </a:extLst>
          </p:cNvPr>
          <p:cNvSpPr txBox="1"/>
          <p:nvPr/>
        </p:nvSpPr>
        <p:spPr>
          <a:xfrm>
            <a:off x="793651" y="5164487"/>
            <a:ext cx="1121062" cy="276999"/>
          </a:xfrm>
          <a:prstGeom prst="rect">
            <a:avLst/>
          </a:prstGeom>
          <a:noFill/>
        </p:spPr>
        <p:txBody>
          <a:bodyPr wrap="square" rtlCol="0">
            <a:spAutoFit/>
          </a:bodyPr>
          <a:lstStyle/>
          <a:p>
            <a:pPr algn="ctr"/>
            <a:r>
              <a:rPr lang="en-GB" sz="1200" noProof="0" dirty="0"/>
              <a:t>Input layer</a:t>
            </a:r>
          </a:p>
        </p:txBody>
      </p:sp>
      <p:cxnSp>
        <p:nvCxnSpPr>
          <p:cNvPr id="17" name="Connecteur droit avec flèche 16">
            <a:extLst>
              <a:ext uri="{FF2B5EF4-FFF2-40B4-BE49-F238E27FC236}">
                <a16:creationId xmlns:a16="http://schemas.microsoft.com/office/drawing/2014/main" id="{848EA5A4-06B0-4490-08FB-D08D59B5F0C0}"/>
              </a:ext>
            </a:extLst>
          </p:cNvPr>
          <p:cNvCxnSpPr>
            <a:cxnSpLocks/>
            <a:stCxn id="21" idx="6"/>
            <a:endCxn id="34" idx="2"/>
          </p:cNvCxnSpPr>
          <p:nvPr/>
        </p:nvCxnSpPr>
        <p:spPr>
          <a:xfrm flipV="1">
            <a:off x="4927749" y="3172574"/>
            <a:ext cx="1525414" cy="730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F4A4D9DF-84D9-F375-1F65-E3ADDC23FBEE}"/>
              </a:ext>
            </a:extLst>
          </p:cNvPr>
          <p:cNvCxnSpPr>
            <a:cxnSpLocks/>
            <a:stCxn id="31" idx="6"/>
            <a:endCxn id="34" idx="2"/>
          </p:cNvCxnSpPr>
          <p:nvPr/>
        </p:nvCxnSpPr>
        <p:spPr>
          <a:xfrm flipV="1">
            <a:off x="4913542" y="3172574"/>
            <a:ext cx="1539621" cy="10803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Connecteur droit avec flèche 18">
            <a:extLst>
              <a:ext uri="{FF2B5EF4-FFF2-40B4-BE49-F238E27FC236}">
                <a16:creationId xmlns:a16="http://schemas.microsoft.com/office/drawing/2014/main" id="{98451413-3F24-53E9-BE58-D1BF0E9A342D}"/>
              </a:ext>
            </a:extLst>
          </p:cNvPr>
          <p:cNvCxnSpPr>
            <a:cxnSpLocks/>
            <a:stCxn id="23" idx="6"/>
            <a:endCxn id="36" idx="2"/>
          </p:cNvCxnSpPr>
          <p:nvPr/>
        </p:nvCxnSpPr>
        <p:spPr>
          <a:xfrm>
            <a:off x="4913545" y="2220929"/>
            <a:ext cx="1553605" cy="19931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20" name="Groupe 19">
            <a:extLst>
              <a:ext uri="{FF2B5EF4-FFF2-40B4-BE49-F238E27FC236}">
                <a16:creationId xmlns:a16="http://schemas.microsoft.com/office/drawing/2014/main" id="{747EFEC0-447C-6340-22F2-C8E04E452A0A}"/>
              </a:ext>
            </a:extLst>
          </p:cNvPr>
          <p:cNvGrpSpPr/>
          <p:nvPr/>
        </p:nvGrpSpPr>
        <p:grpSpPr>
          <a:xfrm>
            <a:off x="3889570" y="2777770"/>
            <a:ext cx="1038179" cy="935767"/>
            <a:chOff x="4992412" y="2220312"/>
            <a:chExt cx="1061545" cy="1061545"/>
          </a:xfrm>
        </p:grpSpPr>
        <p:sp>
          <p:nvSpPr>
            <p:cNvPr id="21" name="Ellipse 20">
              <a:extLst>
                <a:ext uri="{FF2B5EF4-FFF2-40B4-BE49-F238E27FC236}">
                  <a16:creationId xmlns:a16="http://schemas.microsoft.com/office/drawing/2014/main" id="{5FA3813E-0815-B94D-E14F-4D38084785BC}"/>
                </a:ext>
              </a:extLst>
            </p:cNvPr>
            <p:cNvSpPr/>
            <p:nvPr/>
          </p:nvSpPr>
          <p:spPr>
            <a:xfrm>
              <a:off x="4992412" y="2220312"/>
              <a:ext cx="1061545" cy="106154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900" dirty="0"/>
            </a:p>
          </p:txBody>
        </p:sp>
        <p:cxnSp>
          <p:nvCxnSpPr>
            <p:cNvPr id="22" name="Connecteur droit 21">
              <a:extLst>
                <a:ext uri="{FF2B5EF4-FFF2-40B4-BE49-F238E27FC236}">
                  <a16:creationId xmlns:a16="http://schemas.microsoft.com/office/drawing/2014/main" id="{9411AFE5-7533-8AB1-330D-8BFC7AC2DC3F}"/>
                </a:ext>
              </a:extLst>
            </p:cNvPr>
            <p:cNvCxnSpPr>
              <a:cxnSpLocks/>
              <a:stCxn id="21" idx="0"/>
              <a:endCxn id="21" idx="4"/>
            </p:cNvCxnSpPr>
            <p:nvPr/>
          </p:nvCxnSpPr>
          <p:spPr>
            <a:xfrm>
              <a:off x="5523185" y="2220312"/>
              <a:ext cx="0" cy="1061545"/>
            </a:xfrm>
            <a:prstGeom prst="line">
              <a:avLst/>
            </a:prstGeom>
          </p:spPr>
          <p:style>
            <a:lnRef idx="2">
              <a:schemeClr val="accent1"/>
            </a:lnRef>
            <a:fillRef idx="0">
              <a:schemeClr val="accent1"/>
            </a:fillRef>
            <a:effectRef idx="1">
              <a:schemeClr val="accent1"/>
            </a:effectRef>
            <a:fontRef idx="minor">
              <a:schemeClr val="tx1"/>
            </a:fontRef>
          </p:style>
        </p:cxnSp>
      </p:grpSp>
      <p:sp>
        <p:nvSpPr>
          <p:cNvPr id="23" name="Ellipse 22">
            <a:extLst>
              <a:ext uri="{FF2B5EF4-FFF2-40B4-BE49-F238E27FC236}">
                <a16:creationId xmlns:a16="http://schemas.microsoft.com/office/drawing/2014/main" id="{3D650C9E-F035-0351-2000-9BC6892340AD}"/>
              </a:ext>
            </a:extLst>
          </p:cNvPr>
          <p:cNvSpPr/>
          <p:nvPr/>
        </p:nvSpPr>
        <p:spPr>
          <a:xfrm>
            <a:off x="3875366" y="1753045"/>
            <a:ext cx="1038179" cy="93576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900" dirty="0"/>
          </a:p>
        </p:txBody>
      </p:sp>
      <p:cxnSp>
        <p:nvCxnSpPr>
          <p:cNvPr id="24" name="Connecteur droit 23">
            <a:extLst>
              <a:ext uri="{FF2B5EF4-FFF2-40B4-BE49-F238E27FC236}">
                <a16:creationId xmlns:a16="http://schemas.microsoft.com/office/drawing/2014/main" id="{DC124DB8-D878-07C5-A906-E7B270CCA2A4}"/>
              </a:ext>
            </a:extLst>
          </p:cNvPr>
          <p:cNvCxnSpPr>
            <a:cxnSpLocks/>
            <a:stCxn id="23" idx="0"/>
            <a:endCxn id="23" idx="4"/>
          </p:cNvCxnSpPr>
          <p:nvPr/>
        </p:nvCxnSpPr>
        <p:spPr>
          <a:xfrm>
            <a:off x="4394456" y="1753045"/>
            <a:ext cx="0" cy="935768"/>
          </a:xfrm>
          <a:prstGeom prst="line">
            <a:avLst/>
          </a:prstGeom>
        </p:spPr>
        <p:style>
          <a:lnRef idx="2">
            <a:schemeClr val="accent1"/>
          </a:lnRef>
          <a:fillRef idx="0">
            <a:schemeClr val="accent1"/>
          </a:fillRef>
          <a:effectRef idx="1">
            <a:schemeClr val="accent1"/>
          </a:effectRef>
          <a:fontRef idx="minor">
            <a:schemeClr val="tx1"/>
          </a:fontRef>
        </p:style>
      </p:cxnSp>
      <p:sp>
        <p:nvSpPr>
          <p:cNvPr id="25" name="ZoneTexte 24">
            <a:extLst>
              <a:ext uri="{FF2B5EF4-FFF2-40B4-BE49-F238E27FC236}">
                <a16:creationId xmlns:a16="http://schemas.microsoft.com/office/drawing/2014/main" id="{8C216249-1CF7-5C7E-B203-313248628F8C}"/>
              </a:ext>
            </a:extLst>
          </p:cNvPr>
          <p:cNvSpPr txBox="1"/>
          <p:nvPr/>
        </p:nvSpPr>
        <p:spPr>
          <a:xfrm>
            <a:off x="3867157" y="2104121"/>
            <a:ext cx="637295" cy="246221"/>
          </a:xfrm>
          <a:prstGeom prst="rect">
            <a:avLst/>
          </a:prstGeom>
          <a:noFill/>
        </p:spPr>
        <p:txBody>
          <a:bodyPr wrap="square" rtlCol="0">
            <a:spAutoFit/>
          </a:bodyPr>
          <a:lstStyle/>
          <a:p>
            <a:r>
              <a:rPr lang="fr-FR" sz="1000" dirty="0"/>
              <a:t>net_h1</a:t>
            </a:r>
          </a:p>
        </p:txBody>
      </p:sp>
      <p:sp>
        <p:nvSpPr>
          <p:cNvPr id="26" name="ZoneTexte 25">
            <a:extLst>
              <a:ext uri="{FF2B5EF4-FFF2-40B4-BE49-F238E27FC236}">
                <a16:creationId xmlns:a16="http://schemas.microsoft.com/office/drawing/2014/main" id="{28B54F87-38D2-5FA5-DC6B-82A083D37FEE}"/>
              </a:ext>
            </a:extLst>
          </p:cNvPr>
          <p:cNvSpPr txBox="1"/>
          <p:nvPr/>
        </p:nvSpPr>
        <p:spPr>
          <a:xfrm>
            <a:off x="4291968" y="2103787"/>
            <a:ext cx="637295" cy="246221"/>
          </a:xfrm>
          <a:prstGeom prst="rect">
            <a:avLst/>
          </a:prstGeom>
          <a:noFill/>
        </p:spPr>
        <p:txBody>
          <a:bodyPr wrap="square" rtlCol="0">
            <a:spAutoFit/>
          </a:bodyPr>
          <a:lstStyle/>
          <a:p>
            <a:pPr algn="r"/>
            <a:r>
              <a:rPr lang="fr-FR" sz="1000" dirty="0"/>
              <a:t>out_h1</a:t>
            </a:r>
          </a:p>
        </p:txBody>
      </p:sp>
      <p:grpSp>
        <p:nvGrpSpPr>
          <p:cNvPr id="27" name="Groupe 26">
            <a:extLst>
              <a:ext uri="{FF2B5EF4-FFF2-40B4-BE49-F238E27FC236}">
                <a16:creationId xmlns:a16="http://schemas.microsoft.com/office/drawing/2014/main" id="{68F572D4-1D77-6F6A-C09A-2CEAF3BC0CD5}"/>
              </a:ext>
            </a:extLst>
          </p:cNvPr>
          <p:cNvGrpSpPr/>
          <p:nvPr/>
        </p:nvGrpSpPr>
        <p:grpSpPr>
          <a:xfrm>
            <a:off x="3889570" y="4835170"/>
            <a:ext cx="1038179" cy="935767"/>
            <a:chOff x="4992412" y="2220312"/>
            <a:chExt cx="1061545" cy="1061545"/>
          </a:xfrm>
        </p:grpSpPr>
        <p:sp>
          <p:nvSpPr>
            <p:cNvPr id="28" name="Ellipse 27">
              <a:extLst>
                <a:ext uri="{FF2B5EF4-FFF2-40B4-BE49-F238E27FC236}">
                  <a16:creationId xmlns:a16="http://schemas.microsoft.com/office/drawing/2014/main" id="{637E168A-DC8C-CAC8-378C-FC2BAAF1800B}"/>
                </a:ext>
              </a:extLst>
            </p:cNvPr>
            <p:cNvSpPr/>
            <p:nvPr/>
          </p:nvSpPr>
          <p:spPr>
            <a:xfrm>
              <a:off x="4992412" y="2220312"/>
              <a:ext cx="1061545" cy="106154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900" dirty="0"/>
            </a:p>
          </p:txBody>
        </p:sp>
        <p:cxnSp>
          <p:nvCxnSpPr>
            <p:cNvPr id="29" name="Connecteur droit 28">
              <a:extLst>
                <a:ext uri="{FF2B5EF4-FFF2-40B4-BE49-F238E27FC236}">
                  <a16:creationId xmlns:a16="http://schemas.microsoft.com/office/drawing/2014/main" id="{7B742B96-D44B-9F8A-54F5-D0D470E3BC05}"/>
                </a:ext>
              </a:extLst>
            </p:cNvPr>
            <p:cNvCxnSpPr>
              <a:cxnSpLocks/>
              <a:stCxn id="28" idx="0"/>
              <a:endCxn id="28" idx="4"/>
            </p:cNvCxnSpPr>
            <p:nvPr/>
          </p:nvCxnSpPr>
          <p:spPr>
            <a:xfrm>
              <a:off x="5523185" y="2220312"/>
              <a:ext cx="0" cy="1061545"/>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30" name="Groupe 29">
            <a:extLst>
              <a:ext uri="{FF2B5EF4-FFF2-40B4-BE49-F238E27FC236}">
                <a16:creationId xmlns:a16="http://schemas.microsoft.com/office/drawing/2014/main" id="{4A530E37-0DDF-85AA-722B-4805A2CDC1DD}"/>
              </a:ext>
            </a:extLst>
          </p:cNvPr>
          <p:cNvGrpSpPr/>
          <p:nvPr/>
        </p:nvGrpSpPr>
        <p:grpSpPr>
          <a:xfrm>
            <a:off x="3875363" y="3785041"/>
            <a:ext cx="1038179" cy="935767"/>
            <a:chOff x="4992412" y="2220312"/>
            <a:chExt cx="1061545" cy="1061545"/>
          </a:xfrm>
        </p:grpSpPr>
        <p:sp>
          <p:nvSpPr>
            <p:cNvPr id="31" name="Ellipse 30">
              <a:extLst>
                <a:ext uri="{FF2B5EF4-FFF2-40B4-BE49-F238E27FC236}">
                  <a16:creationId xmlns:a16="http://schemas.microsoft.com/office/drawing/2014/main" id="{2B4AD47E-D584-4514-D986-D45D8AEBB5F2}"/>
                </a:ext>
              </a:extLst>
            </p:cNvPr>
            <p:cNvSpPr/>
            <p:nvPr/>
          </p:nvSpPr>
          <p:spPr>
            <a:xfrm>
              <a:off x="4992412" y="2220312"/>
              <a:ext cx="1061545" cy="106154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900" dirty="0"/>
            </a:p>
          </p:txBody>
        </p:sp>
        <p:cxnSp>
          <p:nvCxnSpPr>
            <p:cNvPr id="32" name="Connecteur droit 31">
              <a:extLst>
                <a:ext uri="{FF2B5EF4-FFF2-40B4-BE49-F238E27FC236}">
                  <a16:creationId xmlns:a16="http://schemas.microsoft.com/office/drawing/2014/main" id="{1648BB74-381E-ABBE-8180-4D3877895F55}"/>
                </a:ext>
              </a:extLst>
            </p:cNvPr>
            <p:cNvCxnSpPr>
              <a:cxnSpLocks/>
              <a:stCxn id="31" idx="0"/>
              <a:endCxn id="31" idx="4"/>
            </p:cNvCxnSpPr>
            <p:nvPr/>
          </p:nvCxnSpPr>
          <p:spPr>
            <a:xfrm>
              <a:off x="5523185" y="2220312"/>
              <a:ext cx="0" cy="1061545"/>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33" name="Groupe 32">
            <a:extLst>
              <a:ext uri="{FF2B5EF4-FFF2-40B4-BE49-F238E27FC236}">
                <a16:creationId xmlns:a16="http://schemas.microsoft.com/office/drawing/2014/main" id="{4FEEC7D7-8836-A672-0BC2-9F61357EB283}"/>
              </a:ext>
            </a:extLst>
          </p:cNvPr>
          <p:cNvGrpSpPr/>
          <p:nvPr/>
        </p:nvGrpSpPr>
        <p:grpSpPr>
          <a:xfrm>
            <a:off x="6453163" y="2704690"/>
            <a:ext cx="1038180" cy="935767"/>
            <a:chOff x="6453163" y="2285590"/>
            <a:chExt cx="1038180" cy="935767"/>
          </a:xfrm>
        </p:grpSpPr>
        <p:sp>
          <p:nvSpPr>
            <p:cNvPr id="34" name="Ellipse 33">
              <a:extLst>
                <a:ext uri="{FF2B5EF4-FFF2-40B4-BE49-F238E27FC236}">
                  <a16:creationId xmlns:a16="http://schemas.microsoft.com/office/drawing/2014/main" id="{FF4E821C-CF15-2726-BD14-57387E4349AE}"/>
                </a:ext>
              </a:extLst>
            </p:cNvPr>
            <p:cNvSpPr/>
            <p:nvPr/>
          </p:nvSpPr>
          <p:spPr>
            <a:xfrm>
              <a:off x="6453163" y="2285590"/>
              <a:ext cx="1038180" cy="935767"/>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900" dirty="0"/>
            </a:p>
          </p:txBody>
        </p:sp>
        <mc:AlternateContent xmlns:mc="http://schemas.openxmlformats.org/markup-compatibility/2006" xmlns:a14="http://schemas.microsoft.com/office/drawing/2010/main">
          <mc:Choice Requires="a14">
            <p:sp>
              <p:nvSpPr>
                <p:cNvPr id="35" name="ZoneTexte 34">
                  <a:extLst>
                    <a:ext uri="{FF2B5EF4-FFF2-40B4-BE49-F238E27FC236}">
                      <a16:creationId xmlns:a16="http://schemas.microsoft.com/office/drawing/2014/main" id="{FAA072C1-1249-DBB8-4BFE-27217311169D}"/>
                    </a:ext>
                  </a:extLst>
                </p:cNvPr>
                <p:cNvSpPr txBox="1"/>
                <p:nvPr/>
              </p:nvSpPr>
              <p:spPr>
                <a:xfrm>
                  <a:off x="6646612" y="2634786"/>
                  <a:ext cx="637295" cy="27699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fr-FR" sz="1200" b="0" i="1" smtClean="0">
                            <a:latin typeface="Cambria Math" panose="02040503050406030204" pitchFamily="18" charset="0"/>
                          </a:rPr>
                          <m:t>𝑜𝑢𝑡</m:t>
                        </m:r>
                        <m:r>
                          <a:rPr lang="fr-FR" sz="1200" b="0" i="1" smtClean="0">
                            <a:latin typeface="Cambria Math" panose="02040503050406030204" pitchFamily="18" charset="0"/>
                          </a:rPr>
                          <m:t>_</m:t>
                        </m:r>
                        <m:r>
                          <a:rPr lang="fr-FR" sz="1200" b="0" i="1" smtClean="0">
                            <a:latin typeface="Cambria Math" panose="02040503050406030204" pitchFamily="18" charset="0"/>
                          </a:rPr>
                          <m:t>𝑜</m:t>
                        </m:r>
                        <m:r>
                          <a:rPr lang="fr-FR" sz="1200" b="0" i="1" smtClean="0">
                            <a:latin typeface="Cambria Math" panose="02040503050406030204" pitchFamily="18" charset="0"/>
                          </a:rPr>
                          <m:t>1</m:t>
                        </m:r>
                      </m:oMath>
                    </m:oMathPara>
                  </a14:m>
                  <a:endParaRPr lang="fr-FR" sz="1200" dirty="0"/>
                </a:p>
              </p:txBody>
            </p:sp>
          </mc:Choice>
          <mc:Fallback xmlns="">
            <p:sp>
              <p:nvSpPr>
                <p:cNvPr id="35" name="ZoneTexte 34">
                  <a:extLst>
                    <a:ext uri="{FF2B5EF4-FFF2-40B4-BE49-F238E27FC236}">
                      <a16:creationId xmlns:a16="http://schemas.microsoft.com/office/drawing/2014/main" id="{FAA072C1-1249-DBB8-4BFE-27217311169D}"/>
                    </a:ext>
                  </a:extLst>
                </p:cNvPr>
                <p:cNvSpPr txBox="1">
                  <a:spLocks noRot="1" noChangeAspect="1" noMove="1" noResize="1" noEditPoints="1" noAdjustHandles="1" noChangeArrowheads="1" noChangeShapeType="1" noTextEdit="1"/>
                </p:cNvSpPr>
                <p:nvPr/>
              </p:nvSpPr>
              <p:spPr>
                <a:xfrm>
                  <a:off x="6646612" y="2634786"/>
                  <a:ext cx="637295" cy="276999"/>
                </a:xfrm>
                <a:prstGeom prst="rect">
                  <a:avLst/>
                </a:prstGeom>
                <a:blipFill>
                  <a:blip r:embed="rId4"/>
                  <a:stretch>
                    <a:fillRect/>
                  </a:stretch>
                </a:blipFill>
              </p:spPr>
              <p:txBody>
                <a:bodyPr/>
                <a:lstStyle/>
                <a:p>
                  <a:r>
                    <a:rPr lang="en-GB">
                      <a:noFill/>
                    </a:rPr>
                    <a:t> </a:t>
                  </a:r>
                </a:p>
              </p:txBody>
            </p:sp>
          </mc:Fallback>
        </mc:AlternateContent>
      </p:grpSp>
      <p:sp>
        <p:nvSpPr>
          <p:cNvPr id="36" name="Ellipse 35">
            <a:extLst>
              <a:ext uri="{FF2B5EF4-FFF2-40B4-BE49-F238E27FC236}">
                <a16:creationId xmlns:a16="http://schemas.microsoft.com/office/drawing/2014/main" id="{528C3631-C006-AD71-1A5F-2A69BAB0ED7F}"/>
              </a:ext>
            </a:extLst>
          </p:cNvPr>
          <p:cNvSpPr/>
          <p:nvPr/>
        </p:nvSpPr>
        <p:spPr>
          <a:xfrm>
            <a:off x="6467150" y="3746180"/>
            <a:ext cx="1038180" cy="935767"/>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900" dirty="0"/>
          </a:p>
        </p:txBody>
      </p:sp>
      <p:cxnSp>
        <p:nvCxnSpPr>
          <p:cNvPr id="37" name="Connecteur droit avec flèche 36">
            <a:extLst>
              <a:ext uri="{FF2B5EF4-FFF2-40B4-BE49-F238E27FC236}">
                <a16:creationId xmlns:a16="http://schemas.microsoft.com/office/drawing/2014/main" id="{1559A759-AF7C-CD8E-E649-BF4D29C840FF}"/>
              </a:ext>
            </a:extLst>
          </p:cNvPr>
          <p:cNvCxnSpPr>
            <a:cxnSpLocks/>
            <a:stCxn id="21" idx="6"/>
            <a:endCxn id="36" idx="2"/>
          </p:cNvCxnSpPr>
          <p:nvPr/>
        </p:nvCxnSpPr>
        <p:spPr>
          <a:xfrm>
            <a:off x="4927749" y="3245654"/>
            <a:ext cx="1539401" cy="9684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Connecteur droit avec flèche 37">
            <a:extLst>
              <a:ext uri="{FF2B5EF4-FFF2-40B4-BE49-F238E27FC236}">
                <a16:creationId xmlns:a16="http://schemas.microsoft.com/office/drawing/2014/main" id="{87F04E5F-2D70-718A-C893-8D03C7B42DA7}"/>
              </a:ext>
            </a:extLst>
          </p:cNvPr>
          <p:cNvCxnSpPr>
            <a:cxnSpLocks/>
            <a:stCxn id="28" idx="6"/>
            <a:endCxn id="36" idx="2"/>
          </p:cNvCxnSpPr>
          <p:nvPr/>
        </p:nvCxnSpPr>
        <p:spPr>
          <a:xfrm flipV="1">
            <a:off x="4927749" y="4214064"/>
            <a:ext cx="1539401" cy="10889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Connecteur droit avec flèche 38">
            <a:extLst>
              <a:ext uri="{FF2B5EF4-FFF2-40B4-BE49-F238E27FC236}">
                <a16:creationId xmlns:a16="http://schemas.microsoft.com/office/drawing/2014/main" id="{9574E402-4E2C-8124-1875-5C5CEB07C275}"/>
              </a:ext>
            </a:extLst>
          </p:cNvPr>
          <p:cNvCxnSpPr>
            <a:cxnSpLocks/>
            <a:stCxn id="31" idx="6"/>
            <a:endCxn id="36" idx="2"/>
          </p:cNvCxnSpPr>
          <p:nvPr/>
        </p:nvCxnSpPr>
        <p:spPr>
          <a:xfrm flipV="1">
            <a:off x="4913542" y="4214064"/>
            <a:ext cx="1553608" cy="388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Connecteur droit avec flèche 39">
            <a:extLst>
              <a:ext uri="{FF2B5EF4-FFF2-40B4-BE49-F238E27FC236}">
                <a16:creationId xmlns:a16="http://schemas.microsoft.com/office/drawing/2014/main" id="{B911BFFB-59B8-66CA-312A-3D07F3D59A62}"/>
              </a:ext>
            </a:extLst>
          </p:cNvPr>
          <p:cNvCxnSpPr>
            <a:cxnSpLocks/>
            <a:stCxn id="28" idx="6"/>
            <a:endCxn id="34" idx="2"/>
          </p:cNvCxnSpPr>
          <p:nvPr/>
        </p:nvCxnSpPr>
        <p:spPr>
          <a:xfrm flipV="1">
            <a:off x="4927749" y="3172574"/>
            <a:ext cx="1525414" cy="21304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Connecteur droit avec flèche 40">
            <a:extLst>
              <a:ext uri="{FF2B5EF4-FFF2-40B4-BE49-F238E27FC236}">
                <a16:creationId xmlns:a16="http://schemas.microsoft.com/office/drawing/2014/main" id="{971B20E8-3938-3A3D-7F29-9C101BDCD457}"/>
              </a:ext>
            </a:extLst>
          </p:cNvPr>
          <p:cNvCxnSpPr>
            <a:cxnSpLocks/>
            <a:stCxn id="6" idx="3"/>
            <a:endCxn id="21" idx="2"/>
          </p:cNvCxnSpPr>
          <p:nvPr/>
        </p:nvCxnSpPr>
        <p:spPr>
          <a:xfrm flipV="1">
            <a:off x="1723626" y="3245654"/>
            <a:ext cx="2165944" cy="3344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Connecteur droit avec flèche 41">
            <a:extLst>
              <a:ext uri="{FF2B5EF4-FFF2-40B4-BE49-F238E27FC236}">
                <a16:creationId xmlns:a16="http://schemas.microsoft.com/office/drawing/2014/main" id="{64BAEB95-B449-D310-B401-235999114A3F}"/>
              </a:ext>
            </a:extLst>
          </p:cNvPr>
          <p:cNvCxnSpPr>
            <a:cxnSpLocks/>
            <a:stCxn id="6" idx="3"/>
            <a:endCxn id="31" idx="2"/>
          </p:cNvCxnSpPr>
          <p:nvPr/>
        </p:nvCxnSpPr>
        <p:spPr>
          <a:xfrm>
            <a:off x="1723626" y="3580126"/>
            <a:ext cx="2151737" cy="6727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 name="Connecteur droit avec flèche 42">
            <a:extLst>
              <a:ext uri="{FF2B5EF4-FFF2-40B4-BE49-F238E27FC236}">
                <a16:creationId xmlns:a16="http://schemas.microsoft.com/office/drawing/2014/main" id="{A4268B91-3ED9-FA28-0F09-D55B160600B6}"/>
              </a:ext>
            </a:extLst>
          </p:cNvPr>
          <p:cNvCxnSpPr>
            <a:cxnSpLocks/>
          </p:cNvCxnSpPr>
          <p:nvPr/>
        </p:nvCxnSpPr>
        <p:spPr>
          <a:xfrm flipV="1">
            <a:off x="7516510" y="4233494"/>
            <a:ext cx="741790" cy="15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4" name="ZoneTexte 43">
                <a:extLst>
                  <a:ext uri="{FF2B5EF4-FFF2-40B4-BE49-F238E27FC236}">
                    <a16:creationId xmlns:a16="http://schemas.microsoft.com/office/drawing/2014/main" id="{43F362EC-3957-E2B8-A1D9-B86155B9DC46}"/>
                  </a:ext>
                </a:extLst>
              </p:cNvPr>
              <p:cNvSpPr txBox="1"/>
              <p:nvPr/>
            </p:nvSpPr>
            <p:spPr>
              <a:xfrm>
                <a:off x="3463640" y="3498848"/>
                <a:ext cx="432284" cy="510806"/>
              </a:xfrm>
              <a:prstGeom prst="rect">
                <a:avLst/>
              </a:prstGeom>
              <a:noFill/>
            </p:spPr>
            <p:txBody>
              <a:bodyPr wrap="square" rtlCol="0">
                <a:noAutofit/>
              </a:bodyPr>
              <a:lstStyle/>
              <a:p>
                <a:pPr algn="ctr"/>
                <a14:m>
                  <m:oMathPara xmlns:m="http://schemas.openxmlformats.org/officeDocument/2006/math">
                    <m:oMathParaPr>
                      <m:jc m:val="centerGroup"/>
                    </m:oMathParaPr>
                    <m:oMath xmlns:m="http://schemas.openxmlformats.org/officeDocument/2006/math">
                      <m:sSubSup>
                        <m:sSubSupPr>
                          <m:ctrlP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ctrlPr>
                        </m:sSubSupPr>
                        <m:e>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𝒃</m:t>
                          </m:r>
                        </m:e>
                        <m:sub>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𝒉</m:t>
                          </m:r>
                        </m:sub>
                        <m:sup>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𝟑</m:t>
                          </m:r>
                        </m:sup>
                      </m:sSubSup>
                    </m:oMath>
                  </m:oMathPara>
                </a14:m>
                <a:endParaRPr lang="fr-FR" b="1" baseline="-25000" dirty="0">
                  <a:ln>
                    <a:solidFill>
                      <a:schemeClr val="accent2">
                        <a:lumMod val="75000"/>
                      </a:schemeClr>
                    </a:solidFill>
                  </a:ln>
                  <a:solidFill>
                    <a:schemeClr val="accent2">
                      <a:lumMod val="75000"/>
                    </a:schemeClr>
                  </a:solidFill>
                  <a:latin typeface="Monaco" pitchFamily="2" charset="77"/>
                </a:endParaRPr>
              </a:p>
            </p:txBody>
          </p:sp>
        </mc:Choice>
        <mc:Fallback xmlns="">
          <p:sp>
            <p:nvSpPr>
              <p:cNvPr id="44" name="ZoneTexte 43">
                <a:extLst>
                  <a:ext uri="{FF2B5EF4-FFF2-40B4-BE49-F238E27FC236}">
                    <a16:creationId xmlns:a16="http://schemas.microsoft.com/office/drawing/2014/main" id="{43F362EC-3957-E2B8-A1D9-B86155B9DC46}"/>
                  </a:ext>
                </a:extLst>
              </p:cNvPr>
              <p:cNvSpPr txBox="1">
                <a:spLocks noRot="1" noChangeAspect="1" noMove="1" noResize="1" noEditPoints="1" noAdjustHandles="1" noChangeArrowheads="1" noChangeShapeType="1" noTextEdit="1"/>
              </p:cNvSpPr>
              <p:nvPr/>
            </p:nvSpPr>
            <p:spPr>
              <a:xfrm>
                <a:off x="3463640" y="3498848"/>
                <a:ext cx="432284" cy="510806"/>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5" name="ZoneTexte 44">
                <a:extLst>
                  <a:ext uri="{FF2B5EF4-FFF2-40B4-BE49-F238E27FC236}">
                    <a16:creationId xmlns:a16="http://schemas.microsoft.com/office/drawing/2014/main" id="{0668698D-6DE7-892D-139E-62F6A3E6EF91}"/>
                  </a:ext>
                </a:extLst>
              </p:cNvPr>
              <p:cNvSpPr txBox="1"/>
              <p:nvPr/>
            </p:nvSpPr>
            <p:spPr>
              <a:xfrm>
                <a:off x="3443836" y="2621098"/>
                <a:ext cx="432284" cy="510806"/>
              </a:xfrm>
              <a:prstGeom prst="rect">
                <a:avLst/>
              </a:prstGeom>
              <a:noFill/>
            </p:spPr>
            <p:txBody>
              <a:bodyPr wrap="square" rtlCol="0">
                <a:noAutofit/>
              </a:bodyPr>
              <a:lstStyle/>
              <a:p>
                <a:pPr algn="ctr"/>
                <a14:m>
                  <m:oMathPara xmlns:m="http://schemas.openxmlformats.org/officeDocument/2006/math">
                    <m:oMathParaPr>
                      <m:jc m:val="centerGroup"/>
                    </m:oMathParaPr>
                    <m:oMath xmlns:m="http://schemas.openxmlformats.org/officeDocument/2006/math">
                      <m:sSubSup>
                        <m:sSubSupPr>
                          <m:ctrlP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ctrlPr>
                        </m:sSubSupPr>
                        <m:e>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𝒃</m:t>
                          </m:r>
                        </m:e>
                        <m:sub>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𝒉</m:t>
                          </m:r>
                        </m:sub>
                        <m:sup>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𝟐</m:t>
                          </m:r>
                        </m:sup>
                      </m:sSubSup>
                    </m:oMath>
                  </m:oMathPara>
                </a14:m>
                <a:endParaRPr lang="fr-FR" b="1" baseline="-25000" dirty="0">
                  <a:ln>
                    <a:solidFill>
                      <a:schemeClr val="accent2">
                        <a:lumMod val="75000"/>
                      </a:schemeClr>
                    </a:solidFill>
                  </a:ln>
                  <a:solidFill>
                    <a:schemeClr val="accent2">
                      <a:lumMod val="75000"/>
                    </a:schemeClr>
                  </a:solidFill>
                  <a:latin typeface="Monaco" pitchFamily="2" charset="77"/>
                </a:endParaRPr>
              </a:p>
            </p:txBody>
          </p:sp>
        </mc:Choice>
        <mc:Fallback xmlns="">
          <p:sp>
            <p:nvSpPr>
              <p:cNvPr id="45" name="ZoneTexte 44">
                <a:extLst>
                  <a:ext uri="{FF2B5EF4-FFF2-40B4-BE49-F238E27FC236}">
                    <a16:creationId xmlns:a16="http://schemas.microsoft.com/office/drawing/2014/main" id="{0668698D-6DE7-892D-139E-62F6A3E6EF91}"/>
                  </a:ext>
                </a:extLst>
              </p:cNvPr>
              <p:cNvSpPr txBox="1">
                <a:spLocks noRot="1" noChangeAspect="1" noMove="1" noResize="1" noEditPoints="1" noAdjustHandles="1" noChangeArrowheads="1" noChangeShapeType="1" noTextEdit="1"/>
              </p:cNvSpPr>
              <p:nvPr/>
            </p:nvSpPr>
            <p:spPr>
              <a:xfrm>
                <a:off x="3443836" y="2621098"/>
                <a:ext cx="432284" cy="510806"/>
              </a:xfrm>
              <a:prstGeom prst="rect">
                <a:avLst/>
              </a:prstGeom>
              <a:blipFill>
                <a:blip r:embed="rId6"/>
                <a:stretch>
                  <a:fillRect/>
                </a:stretch>
              </a:blipFill>
            </p:spPr>
            <p:txBody>
              <a:bodyPr/>
              <a:lstStyle/>
              <a:p>
                <a:r>
                  <a:rPr lang="en-GB">
                    <a:noFill/>
                  </a:rPr>
                  <a:t> </a:t>
                </a:r>
              </a:p>
            </p:txBody>
          </p:sp>
        </mc:Fallback>
      </mc:AlternateContent>
      <p:cxnSp>
        <p:nvCxnSpPr>
          <p:cNvPr id="46" name="Connecteur droit avec flèche 45">
            <a:extLst>
              <a:ext uri="{FF2B5EF4-FFF2-40B4-BE49-F238E27FC236}">
                <a16:creationId xmlns:a16="http://schemas.microsoft.com/office/drawing/2014/main" id="{4E3E59D1-66F4-E481-C614-21FB1E7593C2}"/>
              </a:ext>
            </a:extLst>
          </p:cNvPr>
          <p:cNvCxnSpPr>
            <a:cxnSpLocks/>
            <a:stCxn id="47" idx="3"/>
            <a:endCxn id="23" idx="2"/>
          </p:cNvCxnSpPr>
          <p:nvPr/>
        </p:nvCxnSpPr>
        <p:spPr>
          <a:xfrm flipV="1">
            <a:off x="1748528" y="2220929"/>
            <a:ext cx="2126838" cy="5321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7" name="ZoneTexte 46">
                <a:extLst>
                  <a:ext uri="{FF2B5EF4-FFF2-40B4-BE49-F238E27FC236}">
                    <a16:creationId xmlns:a16="http://schemas.microsoft.com/office/drawing/2014/main" id="{F329DD09-7038-F1CA-013D-7E7C2B6519E9}"/>
                  </a:ext>
                </a:extLst>
              </p:cNvPr>
              <p:cNvSpPr txBox="1"/>
              <p:nvPr/>
            </p:nvSpPr>
            <p:spPr>
              <a:xfrm>
                <a:off x="992759" y="2369130"/>
                <a:ext cx="755769" cy="767994"/>
              </a:xfrm>
              <a:prstGeom prst="rect">
                <a:avLst/>
              </a:prstGeom>
              <a:noFill/>
            </p:spPr>
            <p:txBody>
              <a:bodyPr wrap="square" lIns="90000" rtlCol="0">
                <a:noAutofit/>
              </a:bodyPr>
              <a:lstStyle/>
              <a:p>
                <a:pPr algn="ctr"/>
                <a14:m>
                  <m:oMath xmlns:m="http://schemas.openxmlformats.org/officeDocument/2006/math">
                    <m:r>
                      <m:rPr>
                        <m:sty m:val="p"/>
                      </m:rPr>
                      <a:rPr lang="fr-FR" sz="2800" i="1" baseline="-25000" smtClean="0">
                        <a:latin typeface="Cambria Math" panose="02040503050406030204" pitchFamily="18" charset="0"/>
                      </a:rPr>
                      <m:t>x</m:t>
                    </m:r>
                    <m:sSub>
                      <m:sSubPr>
                        <m:ctrlPr>
                          <a:rPr lang="fr-FR" sz="2800" i="1" baseline="-25000" smtClean="0">
                            <a:latin typeface="Cambria Math" panose="02040503050406030204" pitchFamily="18" charset="0"/>
                          </a:rPr>
                        </m:ctrlPr>
                      </m:sSubPr>
                      <m:e>
                        <m:r>
                          <a:rPr lang="fr-FR" sz="2800" b="0" i="1" baseline="-25000" smtClean="0">
                            <a:latin typeface="Cambria Math" panose="02040503050406030204" pitchFamily="18" charset="0"/>
                          </a:rPr>
                          <m:t>1</m:t>
                        </m:r>
                      </m:e>
                      <m:sub/>
                    </m:sSub>
                  </m:oMath>
                </a14:m>
                <a:r>
                  <a:rPr lang="fr-FR" sz="2800" baseline="-25000" dirty="0"/>
                  <a:t> </a:t>
                </a:r>
              </a:p>
            </p:txBody>
          </p:sp>
        </mc:Choice>
        <mc:Fallback xmlns="">
          <p:sp>
            <p:nvSpPr>
              <p:cNvPr id="47" name="ZoneTexte 46">
                <a:extLst>
                  <a:ext uri="{FF2B5EF4-FFF2-40B4-BE49-F238E27FC236}">
                    <a16:creationId xmlns:a16="http://schemas.microsoft.com/office/drawing/2014/main" id="{F329DD09-7038-F1CA-013D-7E7C2B6519E9}"/>
                  </a:ext>
                </a:extLst>
              </p:cNvPr>
              <p:cNvSpPr txBox="1">
                <a:spLocks noRot="1" noChangeAspect="1" noMove="1" noResize="1" noEditPoints="1" noAdjustHandles="1" noChangeArrowheads="1" noChangeShapeType="1" noTextEdit="1"/>
              </p:cNvSpPr>
              <p:nvPr/>
            </p:nvSpPr>
            <p:spPr>
              <a:xfrm>
                <a:off x="992759" y="2369130"/>
                <a:ext cx="755769" cy="767994"/>
              </a:xfrm>
              <a:prstGeom prst="rect">
                <a:avLst/>
              </a:prstGeom>
              <a:blipFill>
                <a:blip r:embed="rId7"/>
                <a:stretch>
                  <a:fillRect/>
                </a:stretch>
              </a:blipFill>
            </p:spPr>
            <p:txBody>
              <a:bodyPr/>
              <a:lstStyle/>
              <a:p>
                <a:r>
                  <a:rPr lang="en-GB">
                    <a:noFill/>
                  </a:rPr>
                  <a:t> </a:t>
                </a:r>
              </a:p>
            </p:txBody>
          </p:sp>
        </mc:Fallback>
      </mc:AlternateContent>
      <p:cxnSp>
        <p:nvCxnSpPr>
          <p:cNvPr id="48" name="Connecteur droit avec flèche 47">
            <a:extLst>
              <a:ext uri="{FF2B5EF4-FFF2-40B4-BE49-F238E27FC236}">
                <a16:creationId xmlns:a16="http://schemas.microsoft.com/office/drawing/2014/main" id="{4725A485-E93A-FD78-D9E4-E36ECC2F5556}"/>
              </a:ext>
            </a:extLst>
          </p:cNvPr>
          <p:cNvCxnSpPr>
            <a:cxnSpLocks/>
            <a:stCxn id="47" idx="3"/>
            <a:endCxn id="21" idx="2"/>
          </p:cNvCxnSpPr>
          <p:nvPr/>
        </p:nvCxnSpPr>
        <p:spPr>
          <a:xfrm>
            <a:off x="1748528" y="2753127"/>
            <a:ext cx="2141042" cy="4925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Connecteur droit avec flèche 48">
            <a:extLst>
              <a:ext uri="{FF2B5EF4-FFF2-40B4-BE49-F238E27FC236}">
                <a16:creationId xmlns:a16="http://schemas.microsoft.com/office/drawing/2014/main" id="{445BF2B3-EBE9-741A-67EB-4396B4A95924}"/>
              </a:ext>
            </a:extLst>
          </p:cNvPr>
          <p:cNvCxnSpPr>
            <a:cxnSpLocks/>
            <a:stCxn id="47" idx="3"/>
            <a:endCxn id="31" idx="2"/>
          </p:cNvCxnSpPr>
          <p:nvPr/>
        </p:nvCxnSpPr>
        <p:spPr>
          <a:xfrm>
            <a:off x="1748528" y="2753127"/>
            <a:ext cx="2126835" cy="14997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 name="Connecteur droit avec flèche 49">
            <a:extLst>
              <a:ext uri="{FF2B5EF4-FFF2-40B4-BE49-F238E27FC236}">
                <a16:creationId xmlns:a16="http://schemas.microsoft.com/office/drawing/2014/main" id="{3DDDA9E4-C911-AE29-FBB3-2435B2362E5E}"/>
              </a:ext>
            </a:extLst>
          </p:cNvPr>
          <p:cNvCxnSpPr>
            <a:cxnSpLocks/>
            <a:stCxn id="51" idx="3"/>
            <a:endCxn id="23" idx="2"/>
          </p:cNvCxnSpPr>
          <p:nvPr/>
        </p:nvCxnSpPr>
        <p:spPr>
          <a:xfrm flipV="1">
            <a:off x="1735215" y="2220929"/>
            <a:ext cx="2140151" cy="21791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1" name="ZoneTexte 50">
                <a:extLst>
                  <a:ext uri="{FF2B5EF4-FFF2-40B4-BE49-F238E27FC236}">
                    <a16:creationId xmlns:a16="http://schemas.microsoft.com/office/drawing/2014/main" id="{74AAB254-F2E8-71D3-E9AB-19627C5C99EF}"/>
                  </a:ext>
                </a:extLst>
              </p:cNvPr>
              <p:cNvSpPr txBox="1"/>
              <p:nvPr/>
            </p:nvSpPr>
            <p:spPr>
              <a:xfrm>
                <a:off x="979446" y="4064283"/>
                <a:ext cx="755769" cy="671627"/>
              </a:xfrm>
              <a:prstGeom prst="rect">
                <a:avLst/>
              </a:prstGeom>
              <a:noFill/>
            </p:spPr>
            <p:txBody>
              <a:bodyPr wrap="square" lIns="90000" rtlCol="0">
                <a:noAutofit/>
              </a:bodyPr>
              <a:lstStyle/>
              <a:p>
                <a:pPr algn="ctr"/>
                <a14:m>
                  <m:oMath xmlns:m="http://schemas.openxmlformats.org/officeDocument/2006/math">
                    <m:r>
                      <m:rPr>
                        <m:sty m:val="p"/>
                      </m:rPr>
                      <a:rPr lang="fr-FR" sz="2800" i="1" baseline="-25000" smtClean="0">
                        <a:latin typeface="Cambria Math" panose="02040503050406030204" pitchFamily="18" charset="0"/>
                      </a:rPr>
                      <m:t>x</m:t>
                    </m:r>
                    <m:sSub>
                      <m:sSubPr>
                        <m:ctrlPr>
                          <a:rPr lang="fr-FR" sz="2800" i="1" baseline="-25000" smtClean="0">
                            <a:latin typeface="Cambria Math" panose="02040503050406030204" pitchFamily="18" charset="0"/>
                          </a:rPr>
                        </m:ctrlPr>
                      </m:sSubPr>
                      <m:e>
                        <m:r>
                          <a:rPr lang="fr-FR" sz="2800" b="0" i="1" baseline="-25000" smtClean="0">
                            <a:latin typeface="Cambria Math" panose="02040503050406030204" pitchFamily="18" charset="0"/>
                          </a:rPr>
                          <m:t>3</m:t>
                        </m:r>
                      </m:e>
                      <m:sub/>
                    </m:sSub>
                  </m:oMath>
                </a14:m>
                <a:r>
                  <a:rPr lang="fr-FR" sz="2800" baseline="-25000" dirty="0"/>
                  <a:t> </a:t>
                </a:r>
              </a:p>
            </p:txBody>
          </p:sp>
        </mc:Choice>
        <mc:Fallback xmlns="">
          <p:sp>
            <p:nvSpPr>
              <p:cNvPr id="51" name="ZoneTexte 50">
                <a:extLst>
                  <a:ext uri="{FF2B5EF4-FFF2-40B4-BE49-F238E27FC236}">
                    <a16:creationId xmlns:a16="http://schemas.microsoft.com/office/drawing/2014/main" id="{74AAB254-F2E8-71D3-E9AB-19627C5C99EF}"/>
                  </a:ext>
                </a:extLst>
              </p:cNvPr>
              <p:cNvSpPr txBox="1">
                <a:spLocks noRot="1" noChangeAspect="1" noMove="1" noResize="1" noEditPoints="1" noAdjustHandles="1" noChangeArrowheads="1" noChangeShapeType="1" noTextEdit="1"/>
              </p:cNvSpPr>
              <p:nvPr/>
            </p:nvSpPr>
            <p:spPr>
              <a:xfrm>
                <a:off x="979446" y="4064283"/>
                <a:ext cx="755769" cy="671627"/>
              </a:xfrm>
              <a:prstGeom prst="rect">
                <a:avLst/>
              </a:prstGeom>
              <a:blipFill>
                <a:blip r:embed="rId8"/>
                <a:stretch>
                  <a:fillRect/>
                </a:stretch>
              </a:blipFill>
            </p:spPr>
            <p:txBody>
              <a:bodyPr/>
              <a:lstStyle/>
              <a:p>
                <a:r>
                  <a:rPr lang="en-GB">
                    <a:noFill/>
                  </a:rPr>
                  <a:t> </a:t>
                </a:r>
              </a:p>
            </p:txBody>
          </p:sp>
        </mc:Fallback>
      </mc:AlternateContent>
      <p:cxnSp>
        <p:nvCxnSpPr>
          <p:cNvPr id="52" name="Connecteur droit avec flèche 51">
            <a:extLst>
              <a:ext uri="{FF2B5EF4-FFF2-40B4-BE49-F238E27FC236}">
                <a16:creationId xmlns:a16="http://schemas.microsoft.com/office/drawing/2014/main" id="{9E81C437-26CF-15DF-C99E-5775D57D5787}"/>
              </a:ext>
            </a:extLst>
          </p:cNvPr>
          <p:cNvCxnSpPr>
            <a:cxnSpLocks/>
            <a:stCxn id="51" idx="3"/>
            <a:endCxn id="21" idx="2"/>
          </p:cNvCxnSpPr>
          <p:nvPr/>
        </p:nvCxnSpPr>
        <p:spPr>
          <a:xfrm flipV="1">
            <a:off x="1735215" y="3245654"/>
            <a:ext cx="2154355" cy="11544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Connecteur droit avec flèche 52">
            <a:extLst>
              <a:ext uri="{FF2B5EF4-FFF2-40B4-BE49-F238E27FC236}">
                <a16:creationId xmlns:a16="http://schemas.microsoft.com/office/drawing/2014/main" id="{AF7A2676-7E9A-38DA-A2C1-7BF5FCBD201B}"/>
              </a:ext>
            </a:extLst>
          </p:cNvPr>
          <p:cNvCxnSpPr>
            <a:cxnSpLocks/>
            <a:stCxn id="51" idx="3"/>
            <a:endCxn id="31" idx="2"/>
          </p:cNvCxnSpPr>
          <p:nvPr/>
        </p:nvCxnSpPr>
        <p:spPr>
          <a:xfrm flipV="1">
            <a:off x="1735215" y="4252925"/>
            <a:ext cx="2140148" cy="1471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 name="Connecteur droit avec flèche 53">
            <a:extLst>
              <a:ext uri="{FF2B5EF4-FFF2-40B4-BE49-F238E27FC236}">
                <a16:creationId xmlns:a16="http://schemas.microsoft.com/office/drawing/2014/main" id="{6828E736-EE4C-D2E2-0019-CCE5BBAF295C}"/>
              </a:ext>
            </a:extLst>
          </p:cNvPr>
          <p:cNvCxnSpPr>
            <a:cxnSpLocks/>
            <a:stCxn id="47" idx="3"/>
            <a:endCxn id="28" idx="2"/>
          </p:cNvCxnSpPr>
          <p:nvPr/>
        </p:nvCxnSpPr>
        <p:spPr>
          <a:xfrm>
            <a:off x="1748528" y="2753127"/>
            <a:ext cx="2141042" cy="25499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Connecteur droit avec flèche 54">
            <a:extLst>
              <a:ext uri="{FF2B5EF4-FFF2-40B4-BE49-F238E27FC236}">
                <a16:creationId xmlns:a16="http://schemas.microsoft.com/office/drawing/2014/main" id="{9F527050-ADBB-AD7A-3D1B-9F344343579F}"/>
              </a:ext>
            </a:extLst>
          </p:cNvPr>
          <p:cNvCxnSpPr>
            <a:cxnSpLocks/>
            <a:stCxn id="6" idx="3"/>
            <a:endCxn id="28" idx="2"/>
          </p:cNvCxnSpPr>
          <p:nvPr/>
        </p:nvCxnSpPr>
        <p:spPr>
          <a:xfrm>
            <a:off x="1723626" y="3580126"/>
            <a:ext cx="2165944" cy="17229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 name="Connecteur droit avec flèche 55">
            <a:extLst>
              <a:ext uri="{FF2B5EF4-FFF2-40B4-BE49-F238E27FC236}">
                <a16:creationId xmlns:a16="http://schemas.microsoft.com/office/drawing/2014/main" id="{ABEE60FB-BFF3-0933-D7C4-FD02FF022AFD}"/>
              </a:ext>
            </a:extLst>
          </p:cNvPr>
          <p:cNvCxnSpPr>
            <a:cxnSpLocks/>
            <a:stCxn id="51" idx="3"/>
            <a:endCxn id="28" idx="2"/>
          </p:cNvCxnSpPr>
          <p:nvPr/>
        </p:nvCxnSpPr>
        <p:spPr>
          <a:xfrm>
            <a:off x="1735215" y="4400097"/>
            <a:ext cx="2154355" cy="9029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7" name="ZoneTexte 56">
            <a:extLst>
              <a:ext uri="{FF2B5EF4-FFF2-40B4-BE49-F238E27FC236}">
                <a16:creationId xmlns:a16="http://schemas.microsoft.com/office/drawing/2014/main" id="{E8FE2CB1-6801-6C56-1067-5558F5A15457}"/>
              </a:ext>
            </a:extLst>
          </p:cNvPr>
          <p:cNvSpPr txBox="1"/>
          <p:nvPr/>
        </p:nvSpPr>
        <p:spPr>
          <a:xfrm>
            <a:off x="3867157" y="3145521"/>
            <a:ext cx="637295" cy="246221"/>
          </a:xfrm>
          <a:prstGeom prst="rect">
            <a:avLst/>
          </a:prstGeom>
          <a:noFill/>
        </p:spPr>
        <p:txBody>
          <a:bodyPr wrap="square" rtlCol="0">
            <a:spAutoFit/>
          </a:bodyPr>
          <a:lstStyle/>
          <a:p>
            <a:r>
              <a:rPr lang="fr-FR" sz="1000" dirty="0"/>
              <a:t>net_h1</a:t>
            </a:r>
          </a:p>
        </p:txBody>
      </p:sp>
      <p:sp>
        <p:nvSpPr>
          <p:cNvPr id="58" name="ZoneTexte 57">
            <a:extLst>
              <a:ext uri="{FF2B5EF4-FFF2-40B4-BE49-F238E27FC236}">
                <a16:creationId xmlns:a16="http://schemas.microsoft.com/office/drawing/2014/main" id="{75912898-2F79-B2E0-A247-8C646EB59611}"/>
              </a:ext>
            </a:extLst>
          </p:cNvPr>
          <p:cNvSpPr txBox="1"/>
          <p:nvPr/>
        </p:nvSpPr>
        <p:spPr>
          <a:xfrm>
            <a:off x="3879857" y="4123421"/>
            <a:ext cx="637295" cy="246221"/>
          </a:xfrm>
          <a:prstGeom prst="rect">
            <a:avLst/>
          </a:prstGeom>
          <a:noFill/>
        </p:spPr>
        <p:txBody>
          <a:bodyPr wrap="square" rtlCol="0">
            <a:spAutoFit/>
          </a:bodyPr>
          <a:lstStyle/>
          <a:p>
            <a:r>
              <a:rPr lang="fr-FR" sz="1000" dirty="0"/>
              <a:t>net_h1</a:t>
            </a:r>
          </a:p>
        </p:txBody>
      </p:sp>
      <p:sp>
        <p:nvSpPr>
          <p:cNvPr id="59" name="ZoneTexte 58">
            <a:extLst>
              <a:ext uri="{FF2B5EF4-FFF2-40B4-BE49-F238E27FC236}">
                <a16:creationId xmlns:a16="http://schemas.microsoft.com/office/drawing/2014/main" id="{BED17C9A-ECBD-AC40-07D6-3FE8FE1F8DB4}"/>
              </a:ext>
            </a:extLst>
          </p:cNvPr>
          <p:cNvSpPr txBox="1"/>
          <p:nvPr/>
        </p:nvSpPr>
        <p:spPr>
          <a:xfrm>
            <a:off x="4304668" y="4123087"/>
            <a:ext cx="637295" cy="246221"/>
          </a:xfrm>
          <a:prstGeom prst="rect">
            <a:avLst/>
          </a:prstGeom>
          <a:noFill/>
        </p:spPr>
        <p:txBody>
          <a:bodyPr wrap="square" rtlCol="0">
            <a:spAutoFit/>
          </a:bodyPr>
          <a:lstStyle/>
          <a:p>
            <a:pPr algn="r"/>
            <a:r>
              <a:rPr lang="fr-FR" sz="1000" dirty="0"/>
              <a:t>out_h1</a:t>
            </a:r>
          </a:p>
        </p:txBody>
      </p:sp>
      <p:sp>
        <p:nvSpPr>
          <p:cNvPr id="60" name="ZoneTexte 59">
            <a:extLst>
              <a:ext uri="{FF2B5EF4-FFF2-40B4-BE49-F238E27FC236}">
                <a16:creationId xmlns:a16="http://schemas.microsoft.com/office/drawing/2014/main" id="{67D79E85-ECEC-34C4-D683-E1316310CA25}"/>
              </a:ext>
            </a:extLst>
          </p:cNvPr>
          <p:cNvSpPr txBox="1"/>
          <p:nvPr/>
        </p:nvSpPr>
        <p:spPr>
          <a:xfrm>
            <a:off x="3879857" y="5164821"/>
            <a:ext cx="637295" cy="246221"/>
          </a:xfrm>
          <a:prstGeom prst="rect">
            <a:avLst/>
          </a:prstGeom>
          <a:noFill/>
        </p:spPr>
        <p:txBody>
          <a:bodyPr wrap="square" rtlCol="0">
            <a:spAutoFit/>
          </a:bodyPr>
          <a:lstStyle/>
          <a:p>
            <a:r>
              <a:rPr lang="fr-FR" sz="1000" dirty="0"/>
              <a:t>net_h1</a:t>
            </a:r>
          </a:p>
        </p:txBody>
      </p:sp>
      <p:sp>
        <p:nvSpPr>
          <p:cNvPr id="61" name="ZoneTexte 60">
            <a:extLst>
              <a:ext uri="{FF2B5EF4-FFF2-40B4-BE49-F238E27FC236}">
                <a16:creationId xmlns:a16="http://schemas.microsoft.com/office/drawing/2014/main" id="{AC5E3F6F-5F42-CADD-EAE7-9F16FFD689D3}"/>
              </a:ext>
            </a:extLst>
          </p:cNvPr>
          <p:cNvSpPr txBox="1"/>
          <p:nvPr/>
        </p:nvSpPr>
        <p:spPr>
          <a:xfrm>
            <a:off x="4304668" y="5164487"/>
            <a:ext cx="637295" cy="246221"/>
          </a:xfrm>
          <a:prstGeom prst="rect">
            <a:avLst/>
          </a:prstGeom>
          <a:noFill/>
        </p:spPr>
        <p:txBody>
          <a:bodyPr wrap="square" rtlCol="0">
            <a:spAutoFit/>
          </a:bodyPr>
          <a:lstStyle/>
          <a:p>
            <a:pPr algn="r"/>
            <a:r>
              <a:rPr lang="fr-FR" sz="1000" dirty="0"/>
              <a:t>out_h1</a:t>
            </a:r>
          </a:p>
        </p:txBody>
      </p:sp>
      <mc:AlternateContent xmlns:mc="http://schemas.openxmlformats.org/markup-compatibility/2006" xmlns:a14="http://schemas.microsoft.com/office/drawing/2010/main">
        <mc:Choice Requires="a14">
          <p:sp>
            <p:nvSpPr>
              <p:cNvPr id="62" name="ZoneTexte 61">
                <a:extLst>
                  <a:ext uri="{FF2B5EF4-FFF2-40B4-BE49-F238E27FC236}">
                    <a16:creationId xmlns:a16="http://schemas.microsoft.com/office/drawing/2014/main" id="{574847C7-59BD-15BD-1723-7B0649B09191}"/>
                  </a:ext>
                </a:extLst>
              </p:cNvPr>
              <p:cNvSpPr txBox="1"/>
              <p:nvPr/>
            </p:nvSpPr>
            <p:spPr>
              <a:xfrm>
                <a:off x="3457287" y="4462017"/>
                <a:ext cx="432284" cy="510806"/>
              </a:xfrm>
              <a:prstGeom prst="rect">
                <a:avLst/>
              </a:prstGeom>
              <a:noFill/>
            </p:spPr>
            <p:txBody>
              <a:bodyPr wrap="square" rtlCol="0">
                <a:noAutofit/>
              </a:bodyPr>
              <a:lstStyle/>
              <a:p>
                <a:pPr algn="ctr"/>
                <a14:m>
                  <m:oMathPara xmlns:m="http://schemas.openxmlformats.org/officeDocument/2006/math">
                    <m:oMathParaPr>
                      <m:jc m:val="centerGroup"/>
                    </m:oMathParaPr>
                    <m:oMath xmlns:m="http://schemas.openxmlformats.org/officeDocument/2006/math">
                      <m:sSubSup>
                        <m:sSubSupPr>
                          <m:ctrlP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ctrlPr>
                        </m:sSubSupPr>
                        <m:e>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𝒃</m:t>
                          </m:r>
                        </m:e>
                        <m:sub>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𝒉</m:t>
                          </m:r>
                        </m:sub>
                        <m:sup>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𝟒</m:t>
                          </m:r>
                        </m:sup>
                      </m:sSubSup>
                    </m:oMath>
                  </m:oMathPara>
                </a14:m>
                <a:endParaRPr lang="fr-FR" b="1" baseline="-25000" dirty="0">
                  <a:ln>
                    <a:solidFill>
                      <a:schemeClr val="accent2">
                        <a:lumMod val="75000"/>
                      </a:schemeClr>
                    </a:solidFill>
                  </a:ln>
                  <a:solidFill>
                    <a:schemeClr val="accent2">
                      <a:lumMod val="75000"/>
                    </a:schemeClr>
                  </a:solidFill>
                  <a:latin typeface="Monaco" pitchFamily="2" charset="77"/>
                </a:endParaRPr>
              </a:p>
            </p:txBody>
          </p:sp>
        </mc:Choice>
        <mc:Fallback xmlns="">
          <p:sp>
            <p:nvSpPr>
              <p:cNvPr id="62" name="ZoneTexte 61">
                <a:extLst>
                  <a:ext uri="{FF2B5EF4-FFF2-40B4-BE49-F238E27FC236}">
                    <a16:creationId xmlns:a16="http://schemas.microsoft.com/office/drawing/2014/main" id="{574847C7-59BD-15BD-1723-7B0649B09191}"/>
                  </a:ext>
                </a:extLst>
              </p:cNvPr>
              <p:cNvSpPr txBox="1">
                <a:spLocks noRot="1" noChangeAspect="1" noMove="1" noResize="1" noEditPoints="1" noAdjustHandles="1" noChangeArrowheads="1" noChangeShapeType="1" noTextEdit="1"/>
              </p:cNvSpPr>
              <p:nvPr/>
            </p:nvSpPr>
            <p:spPr>
              <a:xfrm>
                <a:off x="3457287" y="4462017"/>
                <a:ext cx="432284" cy="510806"/>
              </a:xfrm>
              <a:prstGeom prst="rect">
                <a:avLst/>
              </a:prstGeom>
              <a:blipFill>
                <a:blip r:embed="rId9"/>
                <a:stretch>
                  <a:fillRect/>
                </a:stretch>
              </a:blipFill>
            </p:spPr>
            <p:txBody>
              <a:bodyPr/>
              <a:lstStyle/>
              <a:p>
                <a:r>
                  <a:rPr lang="en-GB">
                    <a:noFill/>
                  </a:rPr>
                  <a:t> </a:t>
                </a:r>
              </a:p>
            </p:txBody>
          </p:sp>
        </mc:Fallback>
      </mc:AlternateContent>
      <p:cxnSp>
        <p:nvCxnSpPr>
          <p:cNvPr id="63" name="Connecteur droit avec flèche 62">
            <a:extLst>
              <a:ext uri="{FF2B5EF4-FFF2-40B4-BE49-F238E27FC236}">
                <a16:creationId xmlns:a16="http://schemas.microsoft.com/office/drawing/2014/main" id="{5B8314A5-B814-59A1-6E8F-B67E95E2B3E4}"/>
              </a:ext>
            </a:extLst>
          </p:cNvPr>
          <p:cNvCxnSpPr/>
          <p:nvPr/>
        </p:nvCxnSpPr>
        <p:spPr>
          <a:xfrm>
            <a:off x="3664145" y="4880194"/>
            <a:ext cx="209155" cy="14662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64" name="Connecteur droit avec flèche 63">
            <a:extLst>
              <a:ext uri="{FF2B5EF4-FFF2-40B4-BE49-F238E27FC236}">
                <a16:creationId xmlns:a16="http://schemas.microsoft.com/office/drawing/2014/main" id="{D33775E6-B60F-2734-28EB-83E9560E6DE8}"/>
              </a:ext>
            </a:extLst>
          </p:cNvPr>
          <p:cNvCxnSpPr/>
          <p:nvPr/>
        </p:nvCxnSpPr>
        <p:spPr>
          <a:xfrm>
            <a:off x="3640556" y="3911355"/>
            <a:ext cx="209155" cy="14662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65" name="Connecteur droit avec flèche 64">
            <a:extLst>
              <a:ext uri="{FF2B5EF4-FFF2-40B4-BE49-F238E27FC236}">
                <a16:creationId xmlns:a16="http://schemas.microsoft.com/office/drawing/2014/main" id="{EED9BB4A-E20E-2B13-DAB4-A14DF56A6F60}"/>
              </a:ext>
            </a:extLst>
          </p:cNvPr>
          <p:cNvCxnSpPr/>
          <p:nvPr/>
        </p:nvCxnSpPr>
        <p:spPr>
          <a:xfrm>
            <a:off x="3651900" y="3035946"/>
            <a:ext cx="209155" cy="14662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66" name="Connecteur droit avec flèche 65">
            <a:extLst>
              <a:ext uri="{FF2B5EF4-FFF2-40B4-BE49-F238E27FC236}">
                <a16:creationId xmlns:a16="http://schemas.microsoft.com/office/drawing/2014/main" id="{F51BC976-BAF1-1042-9143-73908D3EF25A}"/>
              </a:ext>
            </a:extLst>
          </p:cNvPr>
          <p:cNvCxnSpPr/>
          <p:nvPr/>
        </p:nvCxnSpPr>
        <p:spPr>
          <a:xfrm>
            <a:off x="3664145" y="2070169"/>
            <a:ext cx="209155" cy="14662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67" name="ZoneTexte 66">
                <a:extLst>
                  <a:ext uri="{FF2B5EF4-FFF2-40B4-BE49-F238E27FC236}">
                    <a16:creationId xmlns:a16="http://schemas.microsoft.com/office/drawing/2014/main" id="{1A911B1B-662C-70FE-1371-E56F930C33FE}"/>
                  </a:ext>
                </a:extLst>
              </p:cNvPr>
              <p:cNvSpPr txBox="1"/>
              <p:nvPr/>
            </p:nvSpPr>
            <p:spPr>
              <a:xfrm>
                <a:off x="5306478" y="4983747"/>
                <a:ext cx="1121062" cy="246221"/>
              </a:xfrm>
              <a:prstGeom prst="rect">
                <a:avLst/>
              </a:prstGeom>
              <a:noFill/>
            </p:spPr>
            <p:txBody>
              <a:bodyPr wrap="square" lIns="0" tIns="0" rIns="0" bIns="0" rtlCol="0">
                <a:spAutoFit/>
              </a:bodyPr>
              <a:lstStyle/>
              <a:p>
                <a:pPr algn="ctr"/>
                <a14:m>
                  <m:oMath xmlns:m="http://schemas.openxmlformats.org/officeDocument/2006/math">
                    <m:r>
                      <a:rPr lang="fr-FR" sz="1600" b="0" i="1" smtClean="0">
                        <a:latin typeface="Cambria Math" panose="02040503050406030204" pitchFamily="18" charset="0"/>
                      </a:rPr>
                      <m:t>𝑊</m:t>
                    </m:r>
                    <m:r>
                      <a:rPr lang="fr-FR" sz="1600" b="0" i="1" smtClean="0">
                        <a:latin typeface="Cambria Math" panose="02040503050406030204" pitchFamily="18" charset="0"/>
                      </a:rPr>
                      <m:t>_</m:t>
                    </m:r>
                  </m:oMath>
                </a14:m>
                <a:r>
                  <a:rPr lang="fr-FR" sz="1600" b="0" i="1" dirty="0">
                    <a:latin typeface="Cambria Math" panose="02040503050406030204" pitchFamily="18" charset="0"/>
                  </a:rPr>
                  <a:t>out</a:t>
                </a:r>
              </a:p>
            </p:txBody>
          </p:sp>
        </mc:Choice>
        <mc:Fallback xmlns="">
          <p:sp>
            <p:nvSpPr>
              <p:cNvPr id="67" name="ZoneTexte 66">
                <a:extLst>
                  <a:ext uri="{FF2B5EF4-FFF2-40B4-BE49-F238E27FC236}">
                    <a16:creationId xmlns:a16="http://schemas.microsoft.com/office/drawing/2014/main" id="{1A911B1B-662C-70FE-1371-E56F930C33FE}"/>
                  </a:ext>
                </a:extLst>
              </p:cNvPr>
              <p:cNvSpPr txBox="1">
                <a:spLocks noRot="1" noChangeAspect="1" noMove="1" noResize="1" noEditPoints="1" noAdjustHandles="1" noChangeArrowheads="1" noChangeShapeType="1" noTextEdit="1"/>
              </p:cNvSpPr>
              <p:nvPr/>
            </p:nvSpPr>
            <p:spPr>
              <a:xfrm>
                <a:off x="5306478" y="4983747"/>
                <a:ext cx="1121062" cy="246221"/>
              </a:xfrm>
              <a:prstGeom prst="rect">
                <a:avLst/>
              </a:prstGeom>
              <a:blipFill>
                <a:blip r:embed="rId10"/>
                <a:stretch>
                  <a:fillRect t="-25000" b="-4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8" name="ZoneTexte 67">
                <a:extLst>
                  <a:ext uri="{FF2B5EF4-FFF2-40B4-BE49-F238E27FC236}">
                    <a16:creationId xmlns:a16="http://schemas.microsoft.com/office/drawing/2014/main" id="{D86164D8-4901-654C-716D-AA41ACD97DD7}"/>
                  </a:ext>
                </a:extLst>
              </p:cNvPr>
              <p:cNvSpPr txBox="1"/>
              <p:nvPr/>
            </p:nvSpPr>
            <p:spPr>
              <a:xfrm>
                <a:off x="6246153" y="2508106"/>
                <a:ext cx="432284" cy="510806"/>
              </a:xfrm>
              <a:prstGeom prst="rect">
                <a:avLst/>
              </a:prstGeom>
              <a:noFill/>
            </p:spPr>
            <p:txBody>
              <a:bodyPr wrap="square" rtlCol="0">
                <a:noAutofit/>
              </a:bodyPr>
              <a:lstStyle/>
              <a:p>
                <a:pPr algn="ctr"/>
                <a14:m>
                  <m:oMathPara xmlns:m="http://schemas.openxmlformats.org/officeDocument/2006/math">
                    <m:oMathParaPr>
                      <m:jc m:val="centerGroup"/>
                    </m:oMathParaPr>
                    <m:oMath xmlns:m="http://schemas.openxmlformats.org/officeDocument/2006/math">
                      <m:sSubSup>
                        <m:sSubSupPr>
                          <m:ctrlP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ctrlPr>
                        </m:sSubSupPr>
                        <m:e>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𝒃</m:t>
                          </m:r>
                        </m:e>
                        <m:sub>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𝒐</m:t>
                          </m:r>
                        </m:sub>
                        <m:sup>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𝟏</m:t>
                          </m:r>
                        </m:sup>
                      </m:sSubSup>
                    </m:oMath>
                  </m:oMathPara>
                </a14:m>
                <a:endParaRPr lang="fr-FR" b="1" baseline="-25000" dirty="0">
                  <a:ln>
                    <a:solidFill>
                      <a:schemeClr val="accent2">
                        <a:lumMod val="75000"/>
                      </a:schemeClr>
                    </a:solidFill>
                  </a:ln>
                  <a:solidFill>
                    <a:schemeClr val="accent2">
                      <a:lumMod val="75000"/>
                    </a:schemeClr>
                  </a:solidFill>
                  <a:latin typeface="Monaco" pitchFamily="2" charset="77"/>
                </a:endParaRPr>
              </a:p>
            </p:txBody>
          </p:sp>
        </mc:Choice>
        <mc:Fallback xmlns="">
          <p:sp>
            <p:nvSpPr>
              <p:cNvPr id="68" name="ZoneTexte 67">
                <a:extLst>
                  <a:ext uri="{FF2B5EF4-FFF2-40B4-BE49-F238E27FC236}">
                    <a16:creationId xmlns:a16="http://schemas.microsoft.com/office/drawing/2014/main" id="{D86164D8-4901-654C-716D-AA41ACD97DD7}"/>
                  </a:ext>
                </a:extLst>
              </p:cNvPr>
              <p:cNvSpPr txBox="1">
                <a:spLocks noRot="1" noChangeAspect="1" noMove="1" noResize="1" noEditPoints="1" noAdjustHandles="1" noChangeArrowheads="1" noChangeShapeType="1" noTextEdit="1"/>
              </p:cNvSpPr>
              <p:nvPr/>
            </p:nvSpPr>
            <p:spPr>
              <a:xfrm>
                <a:off x="6246153" y="2508106"/>
                <a:ext cx="432284" cy="510806"/>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9" name="ZoneTexte 68">
                <a:extLst>
                  <a:ext uri="{FF2B5EF4-FFF2-40B4-BE49-F238E27FC236}">
                    <a16:creationId xmlns:a16="http://schemas.microsoft.com/office/drawing/2014/main" id="{2F88E4F2-22CC-AB9B-1317-BF1B1FF2FA0E}"/>
                  </a:ext>
                </a:extLst>
              </p:cNvPr>
              <p:cNvSpPr txBox="1"/>
              <p:nvPr/>
            </p:nvSpPr>
            <p:spPr>
              <a:xfrm>
                <a:off x="6283585" y="3509982"/>
                <a:ext cx="432284" cy="510806"/>
              </a:xfrm>
              <a:prstGeom prst="rect">
                <a:avLst/>
              </a:prstGeom>
              <a:noFill/>
            </p:spPr>
            <p:txBody>
              <a:bodyPr wrap="square" rtlCol="0">
                <a:noAutofit/>
              </a:bodyPr>
              <a:lstStyle/>
              <a:p>
                <a:pPr algn="ctr"/>
                <a14:m>
                  <m:oMathPara xmlns:m="http://schemas.openxmlformats.org/officeDocument/2006/math">
                    <m:oMathParaPr>
                      <m:jc m:val="centerGroup"/>
                    </m:oMathParaPr>
                    <m:oMath xmlns:m="http://schemas.openxmlformats.org/officeDocument/2006/math">
                      <m:sSubSup>
                        <m:sSubSupPr>
                          <m:ctrlP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ctrlPr>
                        </m:sSubSupPr>
                        <m:e>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𝒃</m:t>
                          </m:r>
                        </m:e>
                        <m:sub>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𝒐</m:t>
                          </m:r>
                        </m:sub>
                        <m:sup>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𝟐</m:t>
                          </m:r>
                        </m:sup>
                      </m:sSubSup>
                    </m:oMath>
                  </m:oMathPara>
                </a14:m>
                <a:endParaRPr lang="fr-FR" b="1" baseline="-25000" dirty="0">
                  <a:ln>
                    <a:solidFill>
                      <a:schemeClr val="accent2">
                        <a:lumMod val="75000"/>
                      </a:schemeClr>
                    </a:solidFill>
                  </a:ln>
                  <a:solidFill>
                    <a:schemeClr val="accent2">
                      <a:lumMod val="75000"/>
                    </a:schemeClr>
                  </a:solidFill>
                  <a:latin typeface="Monaco" pitchFamily="2" charset="77"/>
                </a:endParaRPr>
              </a:p>
            </p:txBody>
          </p:sp>
        </mc:Choice>
        <mc:Fallback xmlns="">
          <p:sp>
            <p:nvSpPr>
              <p:cNvPr id="69" name="ZoneTexte 68">
                <a:extLst>
                  <a:ext uri="{FF2B5EF4-FFF2-40B4-BE49-F238E27FC236}">
                    <a16:creationId xmlns:a16="http://schemas.microsoft.com/office/drawing/2014/main" id="{2F88E4F2-22CC-AB9B-1317-BF1B1FF2FA0E}"/>
                  </a:ext>
                </a:extLst>
              </p:cNvPr>
              <p:cNvSpPr txBox="1">
                <a:spLocks noRot="1" noChangeAspect="1" noMove="1" noResize="1" noEditPoints="1" noAdjustHandles="1" noChangeArrowheads="1" noChangeShapeType="1" noTextEdit="1"/>
              </p:cNvSpPr>
              <p:nvPr/>
            </p:nvSpPr>
            <p:spPr>
              <a:xfrm>
                <a:off x="6283585" y="3509982"/>
                <a:ext cx="432284" cy="510806"/>
              </a:xfrm>
              <a:prstGeom prst="rect">
                <a:avLst/>
              </a:prstGeom>
              <a:blipFill>
                <a:blip r:embed="rId12"/>
                <a:stretch>
                  <a:fillRect/>
                </a:stretch>
              </a:blipFill>
            </p:spPr>
            <p:txBody>
              <a:bodyPr/>
              <a:lstStyle/>
              <a:p>
                <a:r>
                  <a:rPr lang="en-GB">
                    <a:noFill/>
                  </a:rPr>
                  <a:t> </a:t>
                </a:r>
              </a:p>
            </p:txBody>
          </p:sp>
        </mc:Fallback>
      </mc:AlternateContent>
      <p:sp>
        <p:nvSpPr>
          <p:cNvPr id="70" name="ZoneTexte 69">
            <a:extLst>
              <a:ext uri="{FF2B5EF4-FFF2-40B4-BE49-F238E27FC236}">
                <a16:creationId xmlns:a16="http://schemas.microsoft.com/office/drawing/2014/main" id="{E792CC9B-0B4D-437C-CF92-F48B8B3467E8}"/>
              </a:ext>
            </a:extLst>
          </p:cNvPr>
          <p:cNvSpPr txBox="1"/>
          <p:nvPr/>
        </p:nvSpPr>
        <p:spPr>
          <a:xfrm>
            <a:off x="4319422" y="3130641"/>
            <a:ext cx="637295" cy="246221"/>
          </a:xfrm>
          <a:prstGeom prst="rect">
            <a:avLst/>
          </a:prstGeom>
          <a:noFill/>
        </p:spPr>
        <p:txBody>
          <a:bodyPr wrap="square" rtlCol="0">
            <a:spAutoFit/>
          </a:bodyPr>
          <a:lstStyle/>
          <a:p>
            <a:pPr algn="r"/>
            <a:r>
              <a:rPr lang="fr-FR" sz="1000" dirty="0"/>
              <a:t>out_h1</a:t>
            </a:r>
          </a:p>
        </p:txBody>
      </p:sp>
      <mc:AlternateContent xmlns:mc="http://schemas.openxmlformats.org/markup-compatibility/2006" xmlns:a14="http://schemas.microsoft.com/office/drawing/2010/main">
        <mc:Choice Requires="a14">
          <p:sp>
            <p:nvSpPr>
              <p:cNvPr id="72" name="ZoneTexte 71">
                <a:extLst>
                  <a:ext uri="{FF2B5EF4-FFF2-40B4-BE49-F238E27FC236}">
                    <a16:creationId xmlns:a16="http://schemas.microsoft.com/office/drawing/2014/main" id="{B96BD1CD-08CE-0F53-FECA-9D924F8E85E8}"/>
                  </a:ext>
                </a:extLst>
              </p:cNvPr>
              <p:cNvSpPr txBox="1"/>
              <p:nvPr/>
            </p:nvSpPr>
            <p:spPr>
              <a:xfrm>
                <a:off x="6669645" y="4059649"/>
                <a:ext cx="637295" cy="27699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fr-FR" sz="1200" b="0" i="1" smtClean="0">
                          <a:latin typeface="Cambria Math" panose="02040503050406030204" pitchFamily="18" charset="0"/>
                        </a:rPr>
                        <m:t>𝑜𝑢𝑡</m:t>
                      </m:r>
                      <m:r>
                        <a:rPr lang="fr-FR" sz="1200" b="0" i="1" smtClean="0">
                          <a:latin typeface="Cambria Math" panose="02040503050406030204" pitchFamily="18" charset="0"/>
                        </a:rPr>
                        <m:t>_</m:t>
                      </m:r>
                      <m:r>
                        <a:rPr lang="fr-FR" sz="1200" b="0" i="1" smtClean="0">
                          <a:latin typeface="Cambria Math" panose="02040503050406030204" pitchFamily="18" charset="0"/>
                        </a:rPr>
                        <m:t>𝑜</m:t>
                      </m:r>
                      <m:r>
                        <a:rPr lang="fr-FR" sz="1200" b="0" i="1" smtClean="0">
                          <a:latin typeface="Cambria Math" panose="02040503050406030204" pitchFamily="18" charset="0"/>
                        </a:rPr>
                        <m:t>2</m:t>
                      </m:r>
                    </m:oMath>
                  </m:oMathPara>
                </a14:m>
                <a:endParaRPr lang="fr-FR" sz="1200" dirty="0"/>
              </a:p>
            </p:txBody>
          </p:sp>
        </mc:Choice>
        <mc:Fallback xmlns="">
          <p:sp>
            <p:nvSpPr>
              <p:cNvPr id="72" name="ZoneTexte 71">
                <a:extLst>
                  <a:ext uri="{FF2B5EF4-FFF2-40B4-BE49-F238E27FC236}">
                    <a16:creationId xmlns:a16="http://schemas.microsoft.com/office/drawing/2014/main" id="{B96BD1CD-08CE-0F53-FECA-9D924F8E85E8}"/>
                  </a:ext>
                </a:extLst>
              </p:cNvPr>
              <p:cNvSpPr txBox="1">
                <a:spLocks noRot="1" noChangeAspect="1" noMove="1" noResize="1" noEditPoints="1" noAdjustHandles="1" noChangeArrowheads="1" noChangeShapeType="1" noTextEdit="1"/>
              </p:cNvSpPr>
              <p:nvPr/>
            </p:nvSpPr>
            <p:spPr>
              <a:xfrm>
                <a:off x="6669645" y="4059649"/>
                <a:ext cx="637295" cy="276999"/>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3" name="ZoneTexte 72">
                <a:extLst>
                  <a:ext uri="{FF2B5EF4-FFF2-40B4-BE49-F238E27FC236}">
                    <a16:creationId xmlns:a16="http://schemas.microsoft.com/office/drawing/2014/main" id="{FA51E3FB-0700-B616-B679-CAAB463C089C}"/>
                  </a:ext>
                </a:extLst>
              </p:cNvPr>
              <p:cNvSpPr txBox="1"/>
              <p:nvPr/>
            </p:nvSpPr>
            <p:spPr>
              <a:xfrm>
                <a:off x="8418494" y="2921007"/>
                <a:ext cx="2891625" cy="56675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acc>
                            <m:accPr>
                              <m:chr m:val="̂"/>
                              <m:ctrlPr>
                                <a:rPr lang="fr-FR" sz="1400" b="0" i="1" smtClean="0">
                                  <a:latin typeface="Cambria Math" panose="02040503050406030204" pitchFamily="18" charset="0"/>
                                </a:rPr>
                              </m:ctrlPr>
                            </m:accPr>
                            <m:e>
                              <m:r>
                                <a:rPr lang="fr-FR" sz="1400" b="0" i="1" smtClean="0">
                                  <a:latin typeface="Cambria Math" panose="02040503050406030204" pitchFamily="18" charset="0"/>
                                </a:rPr>
                                <m:t>𝑦</m:t>
                              </m:r>
                            </m:e>
                          </m:acc>
                        </m:e>
                        <m:sub>
                          <m:r>
                            <a:rPr lang="fr-FR" sz="1400" b="0" i="1" smtClean="0">
                              <a:latin typeface="Cambria Math" panose="02040503050406030204" pitchFamily="18" charset="0"/>
                            </a:rPr>
                            <m:t>1</m:t>
                          </m:r>
                        </m:sub>
                      </m:sSub>
                      <m:r>
                        <a:rPr lang="fr-FR" sz="1400" b="0" i="1" smtClean="0">
                          <a:latin typeface="Cambria Math" panose="02040503050406030204" pitchFamily="18" charset="0"/>
                        </a:rPr>
                        <m:t>=</m:t>
                      </m:r>
                      <m:r>
                        <a:rPr lang="fr-FR" sz="1400" b="0" i="1" smtClean="0">
                          <a:latin typeface="Cambria Math" panose="02040503050406030204" pitchFamily="18" charset="0"/>
                        </a:rPr>
                        <m:t>𝑠𝑜𝑓𝑡𝑚𝑎𝑥</m:t>
                      </m:r>
                      <m:d>
                        <m:dPr>
                          <m:ctrlPr>
                            <a:rPr lang="fr-FR" sz="1400" b="0" i="1" smtClean="0">
                              <a:latin typeface="Cambria Math" panose="02040503050406030204" pitchFamily="18" charset="0"/>
                            </a:rPr>
                          </m:ctrlPr>
                        </m:dPr>
                        <m:e>
                          <m:r>
                            <a:rPr lang="fr-FR" sz="1400" b="0" i="1" smtClean="0">
                              <a:latin typeface="Cambria Math" panose="02040503050406030204" pitchFamily="18" charset="0"/>
                            </a:rPr>
                            <m:t>𝑜𝑢</m:t>
                          </m:r>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𝑡</m:t>
                              </m:r>
                            </m:e>
                            <m:sub>
                              <m:r>
                                <a:rPr lang="fr-FR" sz="1400" b="0" i="1" smtClean="0">
                                  <a:latin typeface="Cambria Math" panose="02040503050406030204" pitchFamily="18" charset="0"/>
                                </a:rPr>
                                <m:t>1</m:t>
                              </m:r>
                            </m:sub>
                          </m:sSub>
                        </m:e>
                      </m:d>
                      <m:r>
                        <a:rPr lang="fr-FR" sz="1400" b="0" i="1" smtClean="0">
                          <a:latin typeface="Cambria Math" panose="02040503050406030204" pitchFamily="18" charset="0"/>
                        </a:rPr>
                        <m:t>= </m:t>
                      </m:r>
                      <m:f>
                        <m:fPr>
                          <m:ctrlPr>
                            <a:rPr lang="fr-FR" sz="1400" b="0" i="1" smtClean="0">
                              <a:latin typeface="Cambria Math" panose="02040503050406030204" pitchFamily="18" charset="0"/>
                            </a:rPr>
                          </m:ctrlPr>
                        </m:fPr>
                        <m:num>
                          <m:sSup>
                            <m:sSupPr>
                              <m:ctrlPr>
                                <a:rPr lang="fr-FR" sz="1400" b="0" i="1" smtClean="0">
                                  <a:latin typeface="Cambria Math" panose="02040503050406030204" pitchFamily="18" charset="0"/>
                                </a:rPr>
                              </m:ctrlPr>
                            </m:sSupPr>
                            <m:e>
                              <m:r>
                                <a:rPr lang="fr-FR" sz="1400" b="0" i="1" smtClean="0">
                                  <a:latin typeface="Cambria Math" panose="02040503050406030204" pitchFamily="18" charset="0"/>
                                </a:rPr>
                                <m:t>𝑒</m:t>
                              </m:r>
                            </m:e>
                            <m:sup>
                              <m:r>
                                <a:rPr lang="fr-FR" sz="1400" b="0" i="1" smtClean="0">
                                  <a:latin typeface="Cambria Math" panose="02040503050406030204" pitchFamily="18" charset="0"/>
                                </a:rPr>
                                <m:t>𝑜𝑢𝑡</m:t>
                              </m:r>
                              <m:r>
                                <a:rPr lang="fr-FR" sz="1400" b="0" i="1" smtClean="0">
                                  <a:latin typeface="Cambria Math" panose="02040503050406030204" pitchFamily="18" charset="0"/>
                                </a:rPr>
                                <m:t>_</m:t>
                              </m:r>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𝑜</m:t>
                                  </m:r>
                                </m:e>
                                <m:sub>
                                  <m:r>
                                    <a:rPr lang="fr-FR" sz="1400" b="0" i="1" smtClean="0">
                                      <a:latin typeface="Cambria Math" panose="02040503050406030204" pitchFamily="18" charset="0"/>
                                    </a:rPr>
                                    <m:t>1</m:t>
                                  </m:r>
                                </m:sub>
                              </m:sSub>
                            </m:sup>
                          </m:sSup>
                        </m:num>
                        <m:den>
                          <m:nary>
                            <m:naryPr>
                              <m:chr m:val="∑"/>
                              <m:limLoc m:val="subSup"/>
                              <m:ctrlPr>
                                <a:rPr lang="fr-FR" sz="1400" b="0" i="1" smtClean="0">
                                  <a:latin typeface="Cambria Math" panose="02040503050406030204" pitchFamily="18" charset="0"/>
                                </a:rPr>
                              </m:ctrlPr>
                            </m:naryPr>
                            <m:sub>
                              <m:r>
                                <m:rPr>
                                  <m:brk m:alnAt="25"/>
                                </m:rPr>
                                <a:rPr lang="fr-FR" sz="1400" b="0" i="1" smtClean="0">
                                  <a:latin typeface="Cambria Math" panose="02040503050406030204" pitchFamily="18" charset="0"/>
                                </a:rPr>
                                <m:t>𝑗</m:t>
                              </m:r>
                              <m:r>
                                <a:rPr lang="fr-FR" sz="1400" b="0" i="1" smtClean="0">
                                  <a:latin typeface="Cambria Math" panose="02040503050406030204" pitchFamily="18" charset="0"/>
                                </a:rPr>
                                <m:t>=1</m:t>
                              </m:r>
                            </m:sub>
                            <m:sup>
                              <m:r>
                                <a:rPr lang="fr-FR" sz="1400" b="0" i="1" smtClean="0">
                                  <a:latin typeface="Cambria Math" panose="02040503050406030204" pitchFamily="18" charset="0"/>
                                </a:rPr>
                                <m:t>𝑗</m:t>
                              </m:r>
                              <m:r>
                                <a:rPr lang="fr-FR" sz="1400" b="0" i="1" smtClean="0">
                                  <a:latin typeface="Cambria Math" panose="02040503050406030204" pitchFamily="18" charset="0"/>
                                </a:rPr>
                                <m:t>=2</m:t>
                              </m:r>
                            </m:sup>
                            <m:e>
                              <m:sSup>
                                <m:sSupPr>
                                  <m:ctrlPr>
                                    <a:rPr lang="fr-FR" sz="1400" b="0" i="1" smtClean="0">
                                      <a:latin typeface="Cambria Math" panose="02040503050406030204" pitchFamily="18" charset="0"/>
                                    </a:rPr>
                                  </m:ctrlPr>
                                </m:sSupPr>
                                <m:e>
                                  <m:r>
                                    <a:rPr lang="fr-FR" sz="1400" b="0" i="1" smtClean="0">
                                      <a:latin typeface="Cambria Math" panose="02040503050406030204" pitchFamily="18" charset="0"/>
                                    </a:rPr>
                                    <m:t>𝑒</m:t>
                                  </m:r>
                                </m:e>
                                <m:sup>
                                  <m:r>
                                    <a:rPr lang="fr-FR" sz="1400" b="0" i="1" smtClean="0">
                                      <a:latin typeface="Cambria Math" panose="02040503050406030204" pitchFamily="18" charset="0"/>
                                    </a:rPr>
                                    <m:t>𝑜𝑢𝑡</m:t>
                                  </m:r>
                                  <m:r>
                                    <a:rPr lang="fr-FR" sz="1400" b="0" i="1" smtClean="0">
                                      <a:latin typeface="Cambria Math" panose="02040503050406030204" pitchFamily="18" charset="0"/>
                                    </a:rPr>
                                    <m:t>_</m:t>
                                  </m:r>
                                  <m:r>
                                    <a:rPr lang="fr-FR" sz="1400" b="0" i="1" smtClean="0">
                                      <a:latin typeface="Cambria Math" panose="02040503050406030204" pitchFamily="18" charset="0"/>
                                    </a:rPr>
                                    <m:t>𝑜𝑗</m:t>
                                  </m:r>
                                </m:sup>
                              </m:sSup>
                            </m:e>
                          </m:nary>
                        </m:den>
                      </m:f>
                    </m:oMath>
                  </m:oMathPara>
                </a14:m>
                <a:endParaRPr lang="en-GB" sz="1400" dirty="0"/>
              </a:p>
            </p:txBody>
          </p:sp>
        </mc:Choice>
        <mc:Fallback xmlns="">
          <p:sp>
            <p:nvSpPr>
              <p:cNvPr id="73" name="ZoneTexte 72">
                <a:extLst>
                  <a:ext uri="{FF2B5EF4-FFF2-40B4-BE49-F238E27FC236}">
                    <a16:creationId xmlns:a16="http://schemas.microsoft.com/office/drawing/2014/main" id="{FA51E3FB-0700-B616-B679-CAAB463C089C}"/>
                  </a:ext>
                </a:extLst>
              </p:cNvPr>
              <p:cNvSpPr txBox="1">
                <a:spLocks noRot="1" noChangeAspect="1" noMove="1" noResize="1" noEditPoints="1" noAdjustHandles="1" noChangeArrowheads="1" noChangeShapeType="1" noTextEdit="1"/>
              </p:cNvSpPr>
              <p:nvPr/>
            </p:nvSpPr>
            <p:spPr>
              <a:xfrm>
                <a:off x="8418494" y="2921007"/>
                <a:ext cx="2891625" cy="566758"/>
              </a:xfrm>
              <a:prstGeom prst="rect">
                <a:avLst/>
              </a:prstGeom>
              <a:blipFill>
                <a:blip r:embed="rId14"/>
                <a:stretch>
                  <a:fillRect t="-13043" b="-8913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5" name="ZoneTexte 74">
                <a:extLst>
                  <a:ext uri="{FF2B5EF4-FFF2-40B4-BE49-F238E27FC236}">
                    <a16:creationId xmlns:a16="http://schemas.microsoft.com/office/drawing/2014/main" id="{DD80E351-BEDF-1337-B90E-2E90F49AE149}"/>
                  </a:ext>
                </a:extLst>
              </p:cNvPr>
              <p:cNvSpPr txBox="1"/>
              <p:nvPr/>
            </p:nvSpPr>
            <p:spPr>
              <a:xfrm>
                <a:off x="8479682" y="3930684"/>
                <a:ext cx="2891625" cy="56675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acc>
                            <m:accPr>
                              <m:chr m:val="̂"/>
                              <m:ctrlPr>
                                <a:rPr lang="fr-FR" sz="1400" b="0" i="1" smtClean="0">
                                  <a:latin typeface="Cambria Math" panose="02040503050406030204" pitchFamily="18" charset="0"/>
                                </a:rPr>
                              </m:ctrlPr>
                            </m:accPr>
                            <m:e>
                              <m:r>
                                <a:rPr lang="fr-FR" sz="1400" b="0" i="1" smtClean="0">
                                  <a:latin typeface="Cambria Math" panose="02040503050406030204" pitchFamily="18" charset="0"/>
                                </a:rPr>
                                <m:t>𝑦</m:t>
                              </m:r>
                            </m:e>
                          </m:acc>
                        </m:e>
                        <m:sub>
                          <m:r>
                            <a:rPr lang="fr-FR" sz="1400" b="0" i="1" smtClean="0">
                              <a:latin typeface="Cambria Math" panose="02040503050406030204" pitchFamily="18" charset="0"/>
                            </a:rPr>
                            <m:t>2</m:t>
                          </m:r>
                        </m:sub>
                      </m:sSub>
                      <m:r>
                        <a:rPr lang="fr-FR" sz="1400" b="0" i="1" smtClean="0">
                          <a:latin typeface="Cambria Math" panose="02040503050406030204" pitchFamily="18" charset="0"/>
                        </a:rPr>
                        <m:t>=</m:t>
                      </m:r>
                      <m:r>
                        <a:rPr lang="fr-FR" sz="1400" b="0" i="1" smtClean="0">
                          <a:latin typeface="Cambria Math" panose="02040503050406030204" pitchFamily="18" charset="0"/>
                        </a:rPr>
                        <m:t>𝑠𝑜𝑓𝑡𝑚𝑎𝑥</m:t>
                      </m:r>
                      <m:d>
                        <m:dPr>
                          <m:ctrlPr>
                            <a:rPr lang="fr-FR" sz="1400" b="0" i="1" smtClean="0">
                              <a:latin typeface="Cambria Math" panose="02040503050406030204" pitchFamily="18" charset="0"/>
                            </a:rPr>
                          </m:ctrlPr>
                        </m:dPr>
                        <m:e>
                          <m:r>
                            <a:rPr lang="fr-FR" sz="1400" b="0" i="1" smtClean="0">
                              <a:latin typeface="Cambria Math" panose="02040503050406030204" pitchFamily="18" charset="0"/>
                            </a:rPr>
                            <m:t>𝑜𝑢</m:t>
                          </m:r>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𝑡</m:t>
                              </m:r>
                            </m:e>
                            <m:sub>
                              <m:r>
                                <a:rPr lang="fr-FR" sz="1400" b="0" i="1" smtClean="0">
                                  <a:latin typeface="Cambria Math" panose="02040503050406030204" pitchFamily="18" charset="0"/>
                                </a:rPr>
                                <m:t>2</m:t>
                              </m:r>
                            </m:sub>
                          </m:sSub>
                        </m:e>
                      </m:d>
                      <m:r>
                        <a:rPr lang="fr-FR" sz="1400" b="0" i="1" smtClean="0">
                          <a:latin typeface="Cambria Math" panose="02040503050406030204" pitchFamily="18" charset="0"/>
                        </a:rPr>
                        <m:t>= </m:t>
                      </m:r>
                      <m:f>
                        <m:fPr>
                          <m:ctrlPr>
                            <a:rPr lang="fr-FR" sz="1400" b="0" i="1" smtClean="0">
                              <a:latin typeface="Cambria Math" panose="02040503050406030204" pitchFamily="18" charset="0"/>
                            </a:rPr>
                          </m:ctrlPr>
                        </m:fPr>
                        <m:num>
                          <m:sSup>
                            <m:sSupPr>
                              <m:ctrlPr>
                                <a:rPr lang="fr-FR" sz="1400" b="0" i="1" smtClean="0">
                                  <a:latin typeface="Cambria Math" panose="02040503050406030204" pitchFamily="18" charset="0"/>
                                </a:rPr>
                              </m:ctrlPr>
                            </m:sSupPr>
                            <m:e>
                              <m:r>
                                <a:rPr lang="fr-FR" sz="1400" b="0" i="1" smtClean="0">
                                  <a:latin typeface="Cambria Math" panose="02040503050406030204" pitchFamily="18" charset="0"/>
                                </a:rPr>
                                <m:t>𝑒</m:t>
                              </m:r>
                            </m:e>
                            <m:sup>
                              <m:r>
                                <a:rPr lang="fr-FR" sz="1400" b="0" i="1" smtClean="0">
                                  <a:latin typeface="Cambria Math" panose="02040503050406030204" pitchFamily="18" charset="0"/>
                                </a:rPr>
                                <m:t>𝑜𝑢𝑡</m:t>
                              </m:r>
                              <m:r>
                                <a:rPr lang="fr-FR" sz="1400" b="0" i="1" smtClean="0">
                                  <a:latin typeface="Cambria Math" panose="02040503050406030204" pitchFamily="18" charset="0"/>
                                </a:rPr>
                                <m:t>_</m:t>
                              </m:r>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𝑜</m:t>
                                  </m:r>
                                </m:e>
                                <m:sub>
                                  <m:r>
                                    <a:rPr lang="fr-FR" sz="1400" b="0" i="1" smtClean="0">
                                      <a:latin typeface="Cambria Math" panose="02040503050406030204" pitchFamily="18" charset="0"/>
                                    </a:rPr>
                                    <m:t>2</m:t>
                                  </m:r>
                                </m:sub>
                              </m:sSub>
                            </m:sup>
                          </m:sSup>
                        </m:num>
                        <m:den>
                          <m:nary>
                            <m:naryPr>
                              <m:chr m:val="∑"/>
                              <m:limLoc m:val="subSup"/>
                              <m:ctrlPr>
                                <a:rPr lang="fr-FR" sz="1400" b="0" i="1" smtClean="0">
                                  <a:latin typeface="Cambria Math" panose="02040503050406030204" pitchFamily="18" charset="0"/>
                                </a:rPr>
                              </m:ctrlPr>
                            </m:naryPr>
                            <m:sub>
                              <m:r>
                                <m:rPr>
                                  <m:brk m:alnAt="25"/>
                                </m:rPr>
                                <a:rPr lang="fr-FR" sz="1400" b="0" i="1" smtClean="0">
                                  <a:latin typeface="Cambria Math" panose="02040503050406030204" pitchFamily="18" charset="0"/>
                                </a:rPr>
                                <m:t>𝑗</m:t>
                              </m:r>
                              <m:r>
                                <a:rPr lang="fr-FR" sz="1400" b="0" i="1" smtClean="0">
                                  <a:latin typeface="Cambria Math" panose="02040503050406030204" pitchFamily="18" charset="0"/>
                                </a:rPr>
                                <m:t>=1</m:t>
                              </m:r>
                            </m:sub>
                            <m:sup>
                              <m:r>
                                <a:rPr lang="fr-FR" sz="1400" b="0" i="1" smtClean="0">
                                  <a:latin typeface="Cambria Math" panose="02040503050406030204" pitchFamily="18" charset="0"/>
                                </a:rPr>
                                <m:t>𝑗</m:t>
                              </m:r>
                              <m:r>
                                <a:rPr lang="fr-FR" sz="1400" b="0" i="1" smtClean="0">
                                  <a:latin typeface="Cambria Math" panose="02040503050406030204" pitchFamily="18" charset="0"/>
                                </a:rPr>
                                <m:t>=2</m:t>
                              </m:r>
                            </m:sup>
                            <m:e>
                              <m:sSup>
                                <m:sSupPr>
                                  <m:ctrlPr>
                                    <a:rPr lang="fr-FR" sz="1400" b="0" i="1" smtClean="0">
                                      <a:latin typeface="Cambria Math" panose="02040503050406030204" pitchFamily="18" charset="0"/>
                                    </a:rPr>
                                  </m:ctrlPr>
                                </m:sSupPr>
                                <m:e>
                                  <m:r>
                                    <a:rPr lang="fr-FR" sz="1400" b="0" i="1" smtClean="0">
                                      <a:latin typeface="Cambria Math" panose="02040503050406030204" pitchFamily="18" charset="0"/>
                                    </a:rPr>
                                    <m:t>𝑒</m:t>
                                  </m:r>
                                </m:e>
                                <m:sup>
                                  <m:r>
                                    <a:rPr lang="fr-FR" sz="1400" b="0" i="1" smtClean="0">
                                      <a:latin typeface="Cambria Math" panose="02040503050406030204" pitchFamily="18" charset="0"/>
                                    </a:rPr>
                                    <m:t>𝑜𝑢𝑡</m:t>
                                  </m:r>
                                  <m:r>
                                    <a:rPr lang="fr-FR" sz="1400" b="0" i="1" smtClean="0">
                                      <a:latin typeface="Cambria Math" panose="02040503050406030204" pitchFamily="18" charset="0"/>
                                    </a:rPr>
                                    <m:t>_</m:t>
                                  </m:r>
                                  <m:r>
                                    <a:rPr lang="fr-FR" sz="1400" b="0" i="1" smtClean="0">
                                      <a:latin typeface="Cambria Math" panose="02040503050406030204" pitchFamily="18" charset="0"/>
                                    </a:rPr>
                                    <m:t>𝑜𝑗</m:t>
                                  </m:r>
                                </m:sup>
                              </m:sSup>
                            </m:e>
                          </m:nary>
                        </m:den>
                      </m:f>
                    </m:oMath>
                  </m:oMathPara>
                </a14:m>
                <a:endParaRPr lang="en-GB" sz="1400" dirty="0"/>
              </a:p>
            </p:txBody>
          </p:sp>
        </mc:Choice>
        <mc:Fallback xmlns="">
          <p:sp>
            <p:nvSpPr>
              <p:cNvPr id="75" name="ZoneTexte 74">
                <a:extLst>
                  <a:ext uri="{FF2B5EF4-FFF2-40B4-BE49-F238E27FC236}">
                    <a16:creationId xmlns:a16="http://schemas.microsoft.com/office/drawing/2014/main" id="{DD80E351-BEDF-1337-B90E-2E90F49AE149}"/>
                  </a:ext>
                </a:extLst>
              </p:cNvPr>
              <p:cNvSpPr txBox="1">
                <a:spLocks noRot="1" noChangeAspect="1" noMove="1" noResize="1" noEditPoints="1" noAdjustHandles="1" noChangeArrowheads="1" noChangeShapeType="1" noTextEdit="1"/>
              </p:cNvSpPr>
              <p:nvPr/>
            </p:nvSpPr>
            <p:spPr>
              <a:xfrm>
                <a:off x="8479682" y="3930684"/>
                <a:ext cx="2891625" cy="566758"/>
              </a:xfrm>
              <a:prstGeom prst="rect">
                <a:avLst/>
              </a:prstGeom>
              <a:blipFill>
                <a:blip r:embed="rId15"/>
                <a:stretch>
                  <a:fillRect l="-437" t="-13043" b="-86957"/>
                </a:stretch>
              </a:blipFill>
            </p:spPr>
            <p:txBody>
              <a:bodyPr/>
              <a:lstStyle/>
              <a:p>
                <a:r>
                  <a:rPr lang="en-GB">
                    <a:noFill/>
                  </a:rPr>
                  <a:t> </a:t>
                </a:r>
              </a:p>
            </p:txBody>
          </p:sp>
        </mc:Fallback>
      </mc:AlternateContent>
      <p:sp>
        <p:nvSpPr>
          <p:cNvPr id="76" name="Rectangle : coins arrondis 75">
            <a:extLst>
              <a:ext uri="{FF2B5EF4-FFF2-40B4-BE49-F238E27FC236}">
                <a16:creationId xmlns:a16="http://schemas.microsoft.com/office/drawing/2014/main" id="{3F1895F3-D80D-1B02-B3E3-7F51AD01A4F2}"/>
              </a:ext>
            </a:extLst>
          </p:cNvPr>
          <p:cNvSpPr/>
          <p:nvPr/>
        </p:nvSpPr>
        <p:spPr>
          <a:xfrm>
            <a:off x="8253707" y="3822875"/>
            <a:ext cx="3269936" cy="859072"/>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Rectangle : coins arrondis 76">
            <a:extLst>
              <a:ext uri="{FF2B5EF4-FFF2-40B4-BE49-F238E27FC236}">
                <a16:creationId xmlns:a16="http://schemas.microsoft.com/office/drawing/2014/main" id="{85CE44AA-FAD8-DDA1-6DE5-E186795A45ED}"/>
              </a:ext>
            </a:extLst>
          </p:cNvPr>
          <p:cNvSpPr/>
          <p:nvPr/>
        </p:nvSpPr>
        <p:spPr>
          <a:xfrm>
            <a:off x="8258792" y="2773926"/>
            <a:ext cx="3269936" cy="859072"/>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78" name="ZoneTexte 77">
                <a:extLst>
                  <a:ext uri="{FF2B5EF4-FFF2-40B4-BE49-F238E27FC236}">
                    <a16:creationId xmlns:a16="http://schemas.microsoft.com/office/drawing/2014/main" id="{9F90BC7A-167E-FCDC-1D5C-C791CC2FF12F}"/>
                  </a:ext>
                </a:extLst>
              </p:cNvPr>
              <p:cNvSpPr txBox="1"/>
              <p:nvPr/>
            </p:nvSpPr>
            <p:spPr>
              <a:xfrm>
                <a:off x="3452454" y="1656720"/>
                <a:ext cx="432284" cy="510806"/>
              </a:xfrm>
              <a:prstGeom prst="rect">
                <a:avLst/>
              </a:prstGeom>
              <a:noFill/>
            </p:spPr>
            <p:txBody>
              <a:bodyPr wrap="square" rtlCol="0">
                <a:noAutofit/>
              </a:bodyPr>
              <a:lstStyle/>
              <a:p>
                <a:pPr algn="ctr"/>
                <a14:m>
                  <m:oMathPara xmlns:m="http://schemas.openxmlformats.org/officeDocument/2006/math">
                    <m:oMathParaPr>
                      <m:jc m:val="centerGroup"/>
                    </m:oMathParaPr>
                    <m:oMath xmlns:m="http://schemas.openxmlformats.org/officeDocument/2006/math">
                      <m:sSubSup>
                        <m:sSubSupPr>
                          <m:ctrlP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ctrlPr>
                        </m:sSubSupPr>
                        <m:e>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𝒃</m:t>
                          </m:r>
                        </m:e>
                        <m:sub>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𝒉</m:t>
                          </m:r>
                        </m:sub>
                        <m:sup>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𝟏</m:t>
                          </m:r>
                        </m:sup>
                      </m:sSubSup>
                    </m:oMath>
                  </m:oMathPara>
                </a14:m>
                <a:endParaRPr lang="fr-FR" b="1" baseline="-25000" dirty="0">
                  <a:ln>
                    <a:solidFill>
                      <a:schemeClr val="accent2">
                        <a:lumMod val="75000"/>
                      </a:schemeClr>
                    </a:solidFill>
                  </a:ln>
                  <a:solidFill>
                    <a:schemeClr val="accent2">
                      <a:lumMod val="75000"/>
                    </a:schemeClr>
                  </a:solidFill>
                  <a:latin typeface="Monaco" pitchFamily="2" charset="77"/>
                </a:endParaRPr>
              </a:p>
            </p:txBody>
          </p:sp>
        </mc:Choice>
        <mc:Fallback xmlns="">
          <p:sp>
            <p:nvSpPr>
              <p:cNvPr id="78" name="ZoneTexte 77">
                <a:extLst>
                  <a:ext uri="{FF2B5EF4-FFF2-40B4-BE49-F238E27FC236}">
                    <a16:creationId xmlns:a16="http://schemas.microsoft.com/office/drawing/2014/main" id="{9F90BC7A-167E-FCDC-1D5C-C791CC2FF12F}"/>
                  </a:ext>
                </a:extLst>
              </p:cNvPr>
              <p:cNvSpPr txBox="1">
                <a:spLocks noRot="1" noChangeAspect="1" noMove="1" noResize="1" noEditPoints="1" noAdjustHandles="1" noChangeArrowheads="1" noChangeShapeType="1" noTextEdit="1"/>
              </p:cNvSpPr>
              <p:nvPr/>
            </p:nvSpPr>
            <p:spPr>
              <a:xfrm>
                <a:off x="3452454" y="1656720"/>
                <a:ext cx="432284" cy="510806"/>
              </a:xfrm>
              <a:prstGeom prst="rect">
                <a:avLst/>
              </a:prstGeom>
              <a:blipFill>
                <a:blip r:embed="rId16"/>
                <a:stretch>
                  <a:fillRect/>
                </a:stretch>
              </a:blipFill>
            </p:spPr>
            <p:txBody>
              <a:bodyPr/>
              <a:lstStyle/>
              <a:p>
                <a:r>
                  <a:rPr lang="en-GB">
                    <a:noFill/>
                  </a:rPr>
                  <a:t> </a:t>
                </a:r>
              </a:p>
            </p:txBody>
          </p:sp>
        </mc:Fallback>
      </mc:AlternateContent>
      <p:sp>
        <p:nvSpPr>
          <p:cNvPr id="71" name="Titre 1">
            <a:extLst>
              <a:ext uri="{FF2B5EF4-FFF2-40B4-BE49-F238E27FC236}">
                <a16:creationId xmlns:a16="http://schemas.microsoft.com/office/drawing/2014/main" id="{965C7AF7-E586-7E28-A66D-0265C35F880B}"/>
              </a:ext>
            </a:extLst>
          </p:cNvPr>
          <p:cNvSpPr>
            <a:spLocks noGrp="1"/>
          </p:cNvSpPr>
          <p:nvPr>
            <p:ph type="title"/>
          </p:nvPr>
        </p:nvSpPr>
        <p:spPr>
          <a:xfrm>
            <a:off x="838200" y="365125"/>
            <a:ext cx="10515600" cy="1325563"/>
          </a:xfrm>
        </p:spPr>
        <p:txBody>
          <a:bodyPr/>
          <a:lstStyle/>
          <a:p>
            <a:r>
              <a:rPr lang="fr-FR" dirty="0"/>
              <a:t>Neural Network</a:t>
            </a:r>
          </a:p>
        </p:txBody>
      </p:sp>
      <p:sp>
        <p:nvSpPr>
          <p:cNvPr id="74" name="ZoneTexte 73">
            <a:extLst>
              <a:ext uri="{FF2B5EF4-FFF2-40B4-BE49-F238E27FC236}">
                <a16:creationId xmlns:a16="http://schemas.microsoft.com/office/drawing/2014/main" id="{EA3BAE58-30A8-677D-3170-408BF43AF97B}"/>
              </a:ext>
            </a:extLst>
          </p:cNvPr>
          <p:cNvSpPr txBox="1"/>
          <p:nvPr/>
        </p:nvSpPr>
        <p:spPr>
          <a:xfrm>
            <a:off x="736772" y="1236280"/>
            <a:ext cx="11124670" cy="954000"/>
          </a:xfrm>
          <a:prstGeom prst="rect">
            <a:avLst/>
          </a:prstGeom>
          <a:noFill/>
        </p:spPr>
        <p:txBody>
          <a:bodyPr wrap="square" rtlCol="0">
            <a:noAutofit/>
          </a:bodyPr>
          <a:lstStyle/>
          <a:p>
            <a:r>
              <a:rPr lang="en-GB" sz="2000" noProof="0" dirty="0"/>
              <a:t>Combining neurons in a neural network. Vertical combination of units gives a layer.</a:t>
            </a:r>
            <a:endParaRPr lang="en-GB" sz="2000" baseline="-25000" noProof="0" dirty="0"/>
          </a:p>
        </p:txBody>
      </p:sp>
      <p:sp>
        <p:nvSpPr>
          <p:cNvPr id="79" name="ZoneTexte 78">
            <a:extLst>
              <a:ext uri="{FF2B5EF4-FFF2-40B4-BE49-F238E27FC236}">
                <a16:creationId xmlns:a16="http://schemas.microsoft.com/office/drawing/2014/main" id="{9DC3F119-7B46-292F-3E3C-3B0DBDAC7C59}"/>
              </a:ext>
            </a:extLst>
          </p:cNvPr>
          <p:cNvSpPr txBox="1"/>
          <p:nvPr/>
        </p:nvSpPr>
        <p:spPr>
          <a:xfrm>
            <a:off x="5118101" y="760834"/>
            <a:ext cx="6543121" cy="584775"/>
          </a:xfrm>
          <a:prstGeom prst="rect">
            <a:avLst/>
          </a:prstGeom>
          <a:noFill/>
        </p:spPr>
        <p:txBody>
          <a:bodyPr wrap="square" rtlCol="0">
            <a:spAutoFit/>
          </a:bodyPr>
          <a:lstStyle/>
          <a:p>
            <a:r>
              <a:rPr lang="en-GB" sz="3200" b="1" noProof="0" dirty="0"/>
              <a:t>Multiclass Classification Network</a:t>
            </a:r>
          </a:p>
        </p:txBody>
      </p:sp>
      <p:sp>
        <p:nvSpPr>
          <p:cNvPr id="80" name="ZoneTexte 79">
            <a:extLst>
              <a:ext uri="{FF2B5EF4-FFF2-40B4-BE49-F238E27FC236}">
                <a16:creationId xmlns:a16="http://schemas.microsoft.com/office/drawing/2014/main" id="{A39B5C61-5C2D-9A76-95A3-CEB26EFC0265}"/>
              </a:ext>
            </a:extLst>
          </p:cNvPr>
          <p:cNvSpPr txBox="1"/>
          <p:nvPr/>
        </p:nvSpPr>
        <p:spPr>
          <a:xfrm>
            <a:off x="7059631" y="278722"/>
            <a:ext cx="4680083" cy="461665"/>
          </a:xfrm>
          <a:prstGeom prst="rect">
            <a:avLst/>
          </a:prstGeom>
          <a:noFill/>
          <a:ln>
            <a:solidFill>
              <a:schemeClr val="bg1">
                <a:lumMod val="50000"/>
              </a:schemeClr>
            </a:solidFill>
          </a:ln>
        </p:spPr>
        <p:txBody>
          <a:bodyPr wrap="square" rtlCol="0">
            <a:spAutoFit/>
          </a:bodyPr>
          <a:lstStyle/>
          <a:p>
            <a:r>
              <a:rPr lang="en-GB" sz="1200" dirty="0"/>
              <a:t>Categorical Cross Entropy is a generalization of Binary Cross Entropy</a:t>
            </a:r>
          </a:p>
          <a:p>
            <a:r>
              <a:rPr lang="en-GB" sz="1200" dirty="0"/>
              <a:t>Softmax is a generalization of the sigmoid function</a:t>
            </a:r>
          </a:p>
        </p:txBody>
      </p:sp>
      <mc:AlternateContent xmlns:mc="http://schemas.openxmlformats.org/markup-compatibility/2006">
        <mc:Choice xmlns:a14="http://schemas.microsoft.com/office/drawing/2010/main" Requires="a14">
          <p:sp>
            <p:nvSpPr>
              <p:cNvPr id="2" name="ZoneTexte 1">
                <a:extLst>
                  <a:ext uri="{FF2B5EF4-FFF2-40B4-BE49-F238E27FC236}">
                    <a16:creationId xmlns:a16="http://schemas.microsoft.com/office/drawing/2014/main" id="{A92F07B2-D86F-16F8-97C8-FC54F8584F51}"/>
                  </a:ext>
                </a:extLst>
              </p:cNvPr>
              <p:cNvSpPr txBox="1"/>
              <p:nvPr/>
            </p:nvSpPr>
            <p:spPr>
              <a:xfrm>
                <a:off x="8632018" y="5815549"/>
                <a:ext cx="2212272" cy="54777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sz="1400" b="0" i="1" smtClean="0">
                          <a:latin typeface="Cambria Math" panose="02040503050406030204" pitchFamily="18" charset="0"/>
                        </a:rPr>
                        <m:t>𝑆𝑜𝑓𝑡𝑚𝑎𝑥</m:t>
                      </m:r>
                      <m:r>
                        <a:rPr lang="fr-FR" sz="1400" b="0" i="1" smtClean="0">
                          <a:latin typeface="Cambria Math" panose="02040503050406030204" pitchFamily="18" charset="0"/>
                        </a:rPr>
                        <m:t>: </m:t>
                      </m:r>
                      <m:r>
                        <a:rPr lang="fr-FR" sz="1400" b="0" i="1" smtClean="0">
                          <a:latin typeface="Cambria Math" panose="02040503050406030204" pitchFamily="18" charset="0"/>
                        </a:rPr>
                        <m:t>𝑆</m:t>
                      </m:r>
                      <m:d>
                        <m:dPr>
                          <m:ctrlPr>
                            <a:rPr lang="fr-FR" sz="1400" b="0" i="1" smtClean="0">
                              <a:latin typeface="Cambria Math" panose="02040503050406030204" pitchFamily="18" charset="0"/>
                            </a:rPr>
                          </m:ctrlPr>
                        </m:dPr>
                        <m:e>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𝑦</m:t>
                              </m:r>
                            </m:e>
                            <m:sub>
                              <m:r>
                                <a:rPr lang="fr-FR" sz="1400" b="0" i="1" smtClean="0">
                                  <a:latin typeface="Cambria Math" panose="02040503050406030204" pitchFamily="18" charset="0"/>
                                </a:rPr>
                                <m:t>𝑗</m:t>
                              </m:r>
                            </m:sub>
                          </m:sSub>
                        </m:e>
                      </m:d>
                      <m:r>
                        <a:rPr lang="fr-FR" sz="1400" b="0" i="1" smtClean="0">
                          <a:latin typeface="Cambria Math" panose="02040503050406030204" pitchFamily="18" charset="0"/>
                        </a:rPr>
                        <m:t>= </m:t>
                      </m:r>
                      <m:f>
                        <m:fPr>
                          <m:ctrlPr>
                            <a:rPr lang="fr-FR" sz="1400" b="0" i="1" smtClean="0">
                              <a:latin typeface="Cambria Math" panose="02040503050406030204" pitchFamily="18" charset="0"/>
                            </a:rPr>
                          </m:ctrlPr>
                        </m:fPr>
                        <m:num>
                          <m:sSup>
                            <m:sSupPr>
                              <m:ctrlPr>
                                <a:rPr lang="fr-FR" sz="1400" b="0" i="1" smtClean="0">
                                  <a:latin typeface="Cambria Math" panose="02040503050406030204" pitchFamily="18" charset="0"/>
                                </a:rPr>
                              </m:ctrlPr>
                            </m:sSupPr>
                            <m:e>
                              <m:r>
                                <a:rPr lang="fr-FR" sz="1400" b="0" i="1" smtClean="0">
                                  <a:latin typeface="Cambria Math" panose="02040503050406030204" pitchFamily="18" charset="0"/>
                                </a:rPr>
                                <m:t>𝑒</m:t>
                              </m:r>
                            </m:e>
                            <m:sup>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𝑦</m:t>
                                  </m:r>
                                </m:e>
                                <m:sub>
                                  <m:r>
                                    <a:rPr lang="fr-FR" sz="1400" b="0" i="1" smtClean="0">
                                      <a:latin typeface="Cambria Math" panose="02040503050406030204" pitchFamily="18" charset="0"/>
                                    </a:rPr>
                                    <m:t>𝑗</m:t>
                                  </m:r>
                                </m:sub>
                              </m:sSub>
                            </m:sup>
                          </m:sSup>
                        </m:num>
                        <m:den>
                          <m:nary>
                            <m:naryPr>
                              <m:chr m:val="∑"/>
                              <m:limLoc m:val="subSup"/>
                              <m:ctrlPr>
                                <a:rPr lang="fr-FR" sz="1400" b="0" i="1" smtClean="0">
                                  <a:latin typeface="Cambria Math" panose="02040503050406030204" pitchFamily="18" charset="0"/>
                                </a:rPr>
                              </m:ctrlPr>
                            </m:naryPr>
                            <m:sub>
                              <m:r>
                                <m:rPr>
                                  <m:brk m:alnAt="25"/>
                                </m:rPr>
                                <a:rPr lang="fr-FR" sz="1400" b="0" i="1" smtClean="0">
                                  <a:latin typeface="Cambria Math" panose="02040503050406030204" pitchFamily="18" charset="0"/>
                                </a:rPr>
                                <m:t>𝑗</m:t>
                              </m:r>
                              <m:r>
                                <a:rPr lang="fr-FR" sz="1400" b="0" i="1" smtClean="0">
                                  <a:latin typeface="Cambria Math" panose="02040503050406030204" pitchFamily="18" charset="0"/>
                                </a:rPr>
                                <m:t>=</m:t>
                              </m:r>
                              <m:r>
                                <a:rPr lang="fr-FR" sz="1400" b="0" i="1" smtClean="0">
                                  <a:latin typeface="Cambria Math" panose="02040503050406030204" pitchFamily="18" charset="0"/>
                                </a:rPr>
                                <m:t>𝑖</m:t>
                              </m:r>
                            </m:sub>
                            <m:sup>
                              <m:r>
                                <a:rPr lang="fr-FR" sz="1400" b="0" i="1" smtClean="0">
                                  <a:latin typeface="Cambria Math" panose="02040503050406030204" pitchFamily="18" charset="0"/>
                                </a:rPr>
                                <m:t>𝑗</m:t>
                              </m:r>
                              <m:r>
                                <a:rPr lang="fr-FR" sz="1400" b="0" i="1" smtClean="0">
                                  <a:latin typeface="Cambria Math" panose="02040503050406030204" pitchFamily="18" charset="0"/>
                                </a:rPr>
                                <m:t>=</m:t>
                              </m:r>
                              <m:r>
                                <a:rPr lang="fr-FR" sz="1400" b="0" i="1" smtClean="0">
                                  <a:latin typeface="Cambria Math" panose="02040503050406030204" pitchFamily="18" charset="0"/>
                                </a:rPr>
                                <m:t>𝑛</m:t>
                              </m:r>
                            </m:sup>
                            <m:e>
                              <m:sSup>
                                <m:sSupPr>
                                  <m:ctrlPr>
                                    <a:rPr lang="fr-FR" sz="1400" b="0" i="1" smtClean="0">
                                      <a:latin typeface="Cambria Math" panose="02040503050406030204" pitchFamily="18" charset="0"/>
                                    </a:rPr>
                                  </m:ctrlPr>
                                </m:sSupPr>
                                <m:e>
                                  <m:r>
                                    <a:rPr lang="fr-FR" sz="1400" b="0" i="1" smtClean="0">
                                      <a:latin typeface="Cambria Math" panose="02040503050406030204" pitchFamily="18" charset="0"/>
                                    </a:rPr>
                                    <m:t>𝑒</m:t>
                                  </m:r>
                                </m:e>
                                <m:sup>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𝑦</m:t>
                                      </m:r>
                                    </m:e>
                                    <m:sub>
                                      <m:r>
                                        <a:rPr lang="fr-FR" sz="1400" b="0" i="1" smtClean="0">
                                          <a:latin typeface="Cambria Math" panose="02040503050406030204" pitchFamily="18" charset="0"/>
                                        </a:rPr>
                                        <m:t>𝑗</m:t>
                                      </m:r>
                                    </m:sub>
                                  </m:sSub>
                                </m:sup>
                              </m:sSup>
                            </m:e>
                          </m:nary>
                        </m:den>
                      </m:f>
                    </m:oMath>
                  </m:oMathPara>
                </a14:m>
                <a:endParaRPr lang="en-GB" sz="1400" dirty="0"/>
              </a:p>
            </p:txBody>
          </p:sp>
        </mc:Choice>
        <mc:Fallback>
          <p:sp>
            <p:nvSpPr>
              <p:cNvPr id="2" name="ZoneTexte 1">
                <a:extLst>
                  <a:ext uri="{FF2B5EF4-FFF2-40B4-BE49-F238E27FC236}">
                    <a16:creationId xmlns:a16="http://schemas.microsoft.com/office/drawing/2014/main" id="{A92F07B2-D86F-16F8-97C8-FC54F8584F51}"/>
                  </a:ext>
                </a:extLst>
              </p:cNvPr>
              <p:cNvSpPr txBox="1">
                <a:spLocks noRot="1" noChangeAspect="1" noMove="1" noResize="1" noEditPoints="1" noAdjustHandles="1" noChangeArrowheads="1" noChangeShapeType="1" noTextEdit="1"/>
              </p:cNvSpPr>
              <p:nvPr/>
            </p:nvSpPr>
            <p:spPr>
              <a:xfrm>
                <a:off x="8632018" y="5815549"/>
                <a:ext cx="2212272" cy="547779"/>
              </a:xfrm>
              <a:prstGeom prst="rect">
                <a:avLst/>
              </a:prstGeom>
              <a:blipFill>
                <a:blip r:embed="rId17"/>
                <a:stretch>
                  <a:fillRect l="-2286" t="-15556" r="-571" b="-88889"/>
                </a:stretch>
              </a:blipFill>
            </p:spPr>
            <p:txBody>
              <a:bodyPr/>
              <a:lstStyle/>
              <a:p>
                <a:r>
                  <a:rPr lang="en-GB">
                    <a:noFill/>
                  </a:rPr>
                  <a:t> </a:t>
                </a:r>
              </a:p>
            </p:txBody>
          </p:sp>
        </mc:Fallback>
      </mc:AlternateContent>
      <p:sp>
        <p:nvSpPr>
          <p:cNvPr id="7" name="Rectangle 6">
            <a:extLst>
              <a:ext uri="{FF2B5EF4-FFF2-40B4-BE49-F238E27FC236}">
                <a16:creationId xmlns:a16="http://schemas.microsoft.com/office/drawing/2014/main" id="{99DE4D50-F784-B58E-7BA5-4FF38657BBDE}"/>
              </a:ext>
            </a:extLst>
          </p:cNvPr>
          <p:cNvSpPr/>
          <p:nvPr/>
        </p:nvSpPr>
        <p:spPr>
          <a:xfrm>
            <a:off x="8366069" y="5713001"/>
            <a:ext cx="2935306" cy="767975"/>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8523478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B7AAE-456C-9ECC-EE4C-450DE8B6E91C}"/>
            </a:ext>
          </a:extLst>
        </p:cNvPr>
        <p:cNvGrpSpPr/>
        <p:nvPr/>
      </p:nvGrpSpPr>
      <p:grpSpPr>
        <a:xfrm>
          <a:off x="0" y="0"/>
          <a:ext cx="0" cy="0"/>
          <a:chOff x="0" y="0"/>
          <a:chExt cx="0" cy="0"/>
        </a:xfrm>
      </p:grpSpPr>
      <p:sp>
        <p:nvSpPr>
          <p:cNvPr id="16" name="ZoneTexte 15">
            <a:extLst>
              <a:ext uri="{FF2B5EF4-FFF2-40B4-BE49-F238E27FC236}">
                <a16:creationId xmlns:a16="http://schemas.microsoft.com/office/drawing/2014/main" id="{7222055E-7F79-BEE7-0E5B-94391B7567D0}"/>
              </a:ext>
            </a:extLst>
          </p:cNvPr>
          <p:cNvSpPr txBox="1"/>
          <p:nvPr/>
        </p:nvSpPr>
        <p:spPr>
          <a:xfrm>
            <a:off x="736772" y="1236280"/>
            <a:ext cx="11124670" cy="954000"/>
          </a:xfrm>
          <a:prstGeom prst="rect">
            <a:avLst/>
          </a:prstGeom>
          <a:noFill/>
        </p:spPr>
        <p:txBody>
          <a:bodyPr wrap="square" rtlCol="0">
            <a:noAutofit/>
          </a:bodyPr>
          <a:lstStyle/>
          <a:p>
            <a:r>
              <a:rPr lang="en-GB" sz="2000" noProof="0" dirty="0"/>
              <a:t>Combining neurons in a neural network. Vertical combination of units gives a layer.</a:t>
            </a:r>
            <a:endParaRPr lang="en-GB" sz="2000" baseline="-25000" noProof="0" dirty="0"/>
          </a:p>
        </p:txBody>
      </p:sp>
      <p:sp>
        <p:nvSpPr>
          <p:cNvPr id="2" name="Titre 1">
            <a:extLst>
              <a:ext uri="{FF2B5EF4-FFF2-40B4-BE49-F238E27FC236}">
                <a16:creationId xmlns:a16="http://schemas.microsoft.com/office/drawing/2014/main" id="{4EBC2B4A-CF7C-1C48-17FC-51235DBFEEA4}"/>
              </a:ext>
            </a:extLst>
          </p:cNvPr>
          <p:cNvSpPr>
            <a:spLocks noGrp="1"/>
          </p:cNvSpPr>
          <p:nvPr>
            <p:ph type="title"/>
          </p:nvPr>
        </p:nvSpPr>
        <p:spPr/>
        <p:txBody>
          <a:bodyPr/>
          <a:lstStyle/>
          <a:p>
            <a:r>
              <a:rPr lang="fr-FR" dirty="0"/>
              <a:t>Neural Network</a:t>
            </a:r>
          </a:p>
        </p:txBody>
      </p:sp>
      <mc:AlternateContent xmlns:mc="http://schemas.openxmlformats.org/markup-compatibility/2006" xmlns:a14="http://schemas.microsoft.com/office/drawing/2010/main">
        <mc:Choice Requires="a14">
          <p:sp>
            <p:nvSpPr>
              <p:cNvPr id="40" name="ZoneTexte 39">
                <a:extLst>
                  <a:ext uri="{FF2B5EF4-FFF2-40B4-BE49-F238E27FC236}">
                    <a16:creationId xmlns:a16="http://schemas.microsoft.com/office/drawing/2014/main" id="{E25CB4C3-BC48-A9D3-3720-3DACBA36D2A9}"/>
                  </a:ext>
                </a:extLst>
              </p:cNvPr>
              <p:cNvSpPr txBox="1"/>
              <p:nvPr/>
            </p:nvSpPr>
            <p:spPr>
              <a:xfrm>
                <a:off x="2098362" y="4925724"/>
                <a:ext cx="112106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𝑊</m:t>
                      </m:r>
                      <m:r>
                        <a:rPr lang="fr-FR" sz="1600" b="0" i="1" smtClean="0">
                          <a:latin typeface="Cambria Math" panose="02040503050406030204" pitchFamily="18" charset="0"/>
                        </a:rPr>
                        <m:t>_</m:t>
                      </m:r>
                      <m:r>
                        <a:rPr lang="fr-FR" sz="1600" b="0" i="1" smtClean="0">
                          <a:latin typeface="Cambria Math" panose="02040503050406030204" pitchFamily="18" charset="0"/>
                        </a:rPr>
                        <m:t>𝑖𝑛</m:t>
                      </m:r>
                    </m:oMath>
                  </m:oMathPara>
                </a14:m>
                <a:endParaRPr lang="fr-FR" sz="1600" b="0" i="1" dirty="0">
                  <a:latin typeface="Cambria Math" panose="02040503050406030204" pitchFamily="18" charset="0"/>
                </a:endParaRPr>
              </a:p>
            </p:txBody>
          </p:sp>
        </mc:Choice>
        <mc:Fallback xmlns="">
          <p:sp>
            <p:nvSpPr>
              <p:cNvPr id="40" name="ZoneTexte 39">
                <a:extLst>
                  <a:ext uri="{FF2B5EF4-FFF2-40B4-BE49-F238E27FC236}">
                    <a16:creationId xmlns:a16="http://schemas.microsoft.com/office/drawing/2014/main" id="{E25CB4C3-BC48-A9D3-3720-3DACBA36D2A9}"/>
                  </a:ext>
                </a:extLst>
              </p:cNvPr>
              <p:cNvSpPr txBox="1">
                <a:spLocks noRot="1" noChangeAspect="1" noMove="1" noResize="1" noEditPoints="1" noAdjustHandles="1" noChangeArrowheads="1" noChangeShapeType="1" noTextEdit="1"/>
              </p:cNvSpPr>
              <p:nvPr/>
            </p:nvSpPr>
            <p:spPr>
              <a:xfrm>
                <a:off x="2098362" y="4925724"/>
                <a:ext cx="1121062" cy="246221"/>
              </a:xfrm>
              <a:prstGeom prst="rect">
                <a:avLst/>
              </a:prstGeom>
              <a:blipFill>
                <a:blip r:embed="rId2"/>
                <a:stretch>
                  <a:fillRect b="-4762"/>
                </a:stretch>
              </a:blipFill>
            </p:spPr>
            <p:txBody>
              <a:bodyPr/>
              <a:lstStyle/>
              <a:p>
                <a:r>
                  <a:rPr lang="en-GB">
                    <a:noFill/>
                  </a:rPr>
                  <a:t> </a:t>
                </a:r>
              </a:p>
            </p:txBody>
          </p:sp>
        </mc:Fallback>
      </mc:AlternateContent>
      <p:cxnSp>
        <p:nvCxnSpPr>
          <p:cNvPr id="17" name="Connecteur droit avec flèche 16">
            <a:extLst>
              <a:ext uri="{FF2B5EF4-FFF2-40B4-BE49-F238E27FC236}">
                <a16:creationId xmlns:a16="http://schemas.microsoft.com/office/drawing/2014/main" id="{B15AC7EF-C0FE-F706-36E6-0B932210A78E}"/>
              </a:ext>
            </a:extLst>
          </p:cNvPr>
          <p:cNvCxnSpPr>
            <a:cxnSpLocks/>
            <a:stCxn id="21" idx="3"/>
            <a:endCxn id="53" idx="2"/>
          </p:cNvCxnSpPr>
          <p:nvPr/>
        </p:nvCxnSpPr>
        <p:spPr>
          <a:xfrm flipV="1">
            <a:off x="1723626" y="2220929"/>
            <a:ext cx="2151740" cy="13591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1" name="ZoneTexte 20">
                <a:extLst>
                  <a:ext uri="{FF2B5EF4-FFF2-40B4-BE49-F238E27FC236}">
                    <a16:creationId xmlns:a16="http://schemas.microsoft.com/office/drawing/2014/main" id="{8EAB09C4-920C-451E-CD78-F2696DB3655C}"/>
                  </a:ext>
                </a:extLst>
              </p:cNvPr>
              <p:cNvSpPr txBox="1"/>
              <p:nvPr/>
            </p:nvSpPr>
            <p:spPr>
              <a:xfrm>
                <a:off x="967857" y="3196129"/>
                <a:ext cx="755769" cy="767994"/>
              </a:xfrm>
              <a:prstGeom prst="rect">
                <a:avLst/>
              </a:prstGeom>
              <a:noFill/>
            </p:spPr>
            <p:txBody>
              <a:bodyPr wrap="square" lIns="90000" rtlCol="0">
                <a:noAutofit/>
              </a:bodyPr>
              <a:lstStyle/>
              <a:p>
                <a:pPr algn="ctr"/>
                <a14:m>
                  <m:oMath xmlns:m="http://schemas.openxmlformats.org/officeDocument/2006/math">
                    <m:r>
                      <m:rPr>
                        <m:sty m:val="p"/>
                      </m:rPr>
                      <a:rPr lang="fr-FR" sz="2800" i="1" baseline="-25000" smtClean="0">
                        <a:latin typeface="Cambria Math" panose="02040503050406030204" pitchFamily="18" charset="0"/>
                      </a:rPr>
                      <m:t>x</m:t>
                    </m:r>
                    <m:sSub>
                      <m:sSubPr>
                        <m:ctrlPr>
                          <a:rPr lang="fr-FR" sz="2800" i="1" baseline="-25000" smtClean="0">
                            <a:latin typeface="Cambria Math" panose="02040503050406030204" pitchFamily="18" charset="0"/>
                          </a:rPr>
                        </m:ctrlPr>
                      </m:sSubPr>
                      <m:e>
                        <m:r>
                          <a:rPr lang="fr-FR" sz="2800" b="0" i="1" baseline="-25000" smtClean="0">
                            <a:latin typeface="Cambria Math" panose="02040503050406030204" pitchFamily="18" charset="0"/>
                          </a:rPr>
                          <m:t>2</m:t>
                        </m:r>
                      </m:e>
                      <m:sub/>
                    </m:sSub>
                  </m:oMath>
                </a14:m>
                <a:r>
                  <a:rPr lang="fr-FR" sz="2800" baseline="-25000" dirty="0"/>
                  <a:t> </a:t>
                </a:r>
              </a:p>
            </p:txBody>
          </p:sp>
        </mc:Choice>
        <mc:Fallback xmlns="">
          <p:sp>
            <p:nvSpPr>
              <p:cNvPr id="21" name="ZoneTexte 20">
                <a:extLst>
                  <a:ext uri="{FF2B5EF4-FFF2-40B4-BE49-F238E27FC236}">
                    <a16:creationId xmlns:a16="http://schemas.microsoft.com/office/drawing/2014/main" id="{8EAB09C4-920C-451E-CD78-F2696DB3655C}"/>
                  </a:ext>
                </a:extLst>
              </p:cNvPr>
              <p:cNvSpPr txBox="1">
                <a:spLocks noRot="1" noChangeAspect="1" noMove="1" noResize="1" noEditPoints="1" noAdjustHandles="1" noChangeArrowheads="1" noChangeShapeType="1" noTextEdit="1"/>
              </p:cNvSpPr>
              <p:nvPr/>
            </p:nvSpPr>
            <p:spPr>
              <a:xfrm>
                <a:off x="967857" y="3196129"/>
                <a:ext cx="755769" cy="767994"/>
              </a:xfrm>
              <a:prstGeom prst="rect">
                <a:avLst/>
              </a:prstGeom>
              <a:blipFill>
                <a:blip r:embed="rId3"/>
                <a:stretch>
                  <a:fillRect/>
                </a:stretch>
              </a:blipFill>
            </p:spPr>
            <p:txBody>
              <a:bodyPr/>
              <a:lstStyle/>
              <a:p>
                <a:r>
                  <a:rPr lang="en-GB">
                    <a:noFill/>
                  </a:rPr>
                  <a:t> </a:t>
                </a:r>
              </a:p>
            </p:txBody>
          </p:sp>
        </mc:Fallback>
      </mc:AlternateContent>
      <p:cxnSp>
        <p:nvCxnSpPr>
          <p:cNvPr id="30" name="Connecteur droit avec flèche 29">
            <a:extLst>
              <a:ext uri="{FF2B5EF4-FFF2-40B4-BE49-F238E27FC236}">
                <a16:creationId xmlns:a16="http://schemas.microsoft.com/office/drawing/2014/main" id="{F20AAAE4-F2B0-D9D4-BBFC-7482D512E5D0}"/>
              </a:ext>
            </a:extLst>
          </p:cNvPr>
          <p:cNvCxnSpPr>
            <a:cxnSpLocks/>
            <a:stCxn id="53" idx="6"/>
            <a:endCxn id="85" idx="2"/>
          </p:cNvCxnSpPr>
          <p:nvPr/>
        </p:nvCxnSpPr>
        <p:spPr>
          <a:xfrm>
            <a:off x="4913545" y="2220929"/>
            <a:ext cx="1539618" cy="9516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ZoneTexte 35">
                <a:extLst>
                  <a:ext uri="{FF2B5EF4-FFF2-40B4-BE49-F238E27FC236}">
                    <a16:creationId xmlns:a16="http://schemas.microsoft.com/office/drawing/2014/main" id="{B387E8E6-F813-5653-0731-7C98E54FE646}"/>
                  </a:ext>
                </a:extLst>
              </p:cNvPr>
              <p:cNvSpPr txBox="1"/>
              <p:nvPr/>
            </p:nvSpPr>
            <p:spPr>
              <a:xfrm>
                <a:off x="3452454" y="1656720"/>
                <a:ext cx="432284" cy="510806"/>
              </a:xfrm>
              <a:prstGeom prst="rect">
                <a:avLst/>
              </a:prstGeom>
              <a:noFill/>
            </p:spPr>
            <p:txBody>
              <a:bodyPr wrap="square" rtlCol="0">
                <a:noAutofit/>
              </a:bodyPr>
              <a:lstStyle/>
              <a:p>
                <a:pPr algn="ctr"/>
                <a14:m>
                  <m:oMathPara xmlns:m="http://schemas.openxmlformats.org/officeDocument/2006/math">
                    <m:oMathParaPr>
                      <m:jc m:val="centerGroup"/>
                    </m:oMathParaPr>
                    <m:oMath xmlns:m="http://schemas.openxmlformats.org/officeDocument/2006/math">
                      <m:sSubSup>
                        <m:sSubSupPr>
                          <m:ctrlP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ctrlPr>
                        </m:sSubSupPr>
                        <m:e>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𝒃</m:t>
                          </m:r>
                        </m:e>
                        <m:sub>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𝒉</m:t>
                          </m:r>
                        </m:sub>
                        <m:sup>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𝟏</m:t>
                          </m:r>
                        </m:sup>
                      </m:sSubSup>
                    </m:oMath>
                  </m:oMathPara>
                </a14:m>
                <a:endParaRPr lang="fr-FR" b="1" baseline="-25000" dirty="0">
                  <a:ln>
                    <a:solidFill>
                      <a:schemeClr val="accent2">
                        <a:lumMod val="75000"/>
                      </a:schemeClr>
                    </a:solidFill>
                  </a:ln>
                  <a:solidFill>
                    <a:schemeClr val="accent2">
                      <a:lumMod val="75000"/>
                    </a:schemeClr>
                  </a:solidFill>
                  <a:latin typeface="Monaco" pitchFamily="2" charset="77"/>
                </a:endParaRPr>
              </a:p>
            </p:txBody>
          </p:sp>
        </mc:Choice>
        <mc:Fallback xmlns="">
          <p:sp>
            <p:nvSpPr>
              <p:cNvPr id="36" name="ZoneTexte 35">
                <a:extLst>
                  <a:ext uri="{FF2B5EF4-FFF2-40B4-BE49-F238E27FC236}">
                    <a16:creationId xmlns:a16="http://schemas.microsoft.com/office/drawing/2014/main" id="{B387E8E6-F813-5653-0731-7C98E54FE646}"/>
                  </a:ext>
                </a:extLst>
              </p:cNvPr>
              <p:cNvSpPr txBox="1">
                <a:spLocks noRot="1" noChangeAspect="1" noMove="1" noResize="1" noEditPoints="1" noAdjustHandles="1" noChangeArrowheads="1" noChangeShapeType="1" noTextEdit="1"/>
              </p:cNvSpPr>
              <p:nvPr/>
            </p:nvSpPr>
            <p:spPr>
              <a:xfrm>
                <a:off x="3452454" y="1656720"/>
                <a:ext cx="432284" cy="510806"/>
              </a:xfrm>
              <a:prstGeom prst="rect">
                <a:avLst/>
              </a:prstGeom>
              <a:blipFill>
                <a:blip r:embed="rId4"/>
                <a:stretch>
                  <a:fillRect/>
                </a:stretch>
              </a:blipFill>
            </p:spPr>
            <p:txBody>
              <a:bodyPr/>
              <a:lstStyle/>
              <a:p>
                <a:r>
                  <a:rPr lang="en-GB">
                    <a:noFill/>
                  </a:rPr>
                  <a:t> </a:t>
                </a:r>
              </a:p>
            </p:txBody>
          </p:sp>
        </mc:Fallback>
      </mc:AlternateContent>
      <p:cxnSp>
        <p:nvCxnSpPr>
          <p:cNvPr id="20" name="Connecteur droit avec flèche 19">
            <a:extLst>
              <a:ext uri="{FF2B5EF4-FFF2-40B4-BE49-F238E27FC236}">
                <a16:creationId xmlns:a16="http://schemas.microsoft.com/office/drawing/2014/main" id="{69584474-CFD1-2621-5138-C346BC3C46F6}"/>
              </a:ext>
            </a:extLst>
          </p:cNvPr>
          <p:cNvCxnSpPr>
            <a:cxnSpLocks/>
          </p:cNvCxnSpPr>
          <p:nvPr/>
        </p:nvCxnSpPr>
        <p:spPr>
          <a:xfrm flipV="1">
            <a:off x="7511917" y="3204386"/>
            <a:ext cx="741790" cy="15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Parenthèse fermante 24">
            <a:extLst>
              <a:ext uri="{FF2B5EF4-FFF2-40B4-BE49-F238E27FC236}">
                <a16:creationId xmlns:a16="http://schemas.microsoft.com/office/drawing/2014/main" id="{FD816CE6-7C2F-9409-F8A8-5F9FAE56F51A}"/>
              </a:ext>
            </a:extLst>
          </p:cNvPr>
          <p:cNvSpPr/>
          <p:nvPr/>
        </p:nvSpPr>
        <p:spPr>
          <a:xfrm rot="5400000">
            <a:off x="4331368" y="5224239"/>
            <a:ext cx="242272" cy="1745500"/>
          </a:xfrm>
          <a:prstGeom prst="rightBracket">
            <a:avLst/>
          </a:prstGeom>
          <a:noFill/>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dirty="0">
              <a:solidFill>
                <a:srgbClr val="C00000"/>
              </a:solidFill>
            </a:endParaRPr>
          </a:p>
        </p:txBody>
      </p:sp>
      <p:sp>
        <p:nvSpPr>
          <p:cNvPr id="27" name="Parenthèse fermante 26">
            <a:extLst>
              <a:ext uri="{FF2B5EF4-FFF2-40B4-BE49-F238E27FC236}">
                <a16:creationId xmlns:a16="http://schemas.microsoft.com/office/drawing/2014/main" id="{075F6615-8D90-CB09-3B11-849A2C6C33CF}"/>
              </a:ext>
            </a:extLst>
          </p:cNvPr>
          <p:cNvSpPr/>
          <p:nvPr/>
        </p:nvSpPr>
        <p:spPr>
          <a:xfrm rot="5400000">
            <a:off x="6952991" y="4742263"/>
            <a:ext cx="187315" cy="1240448"/>
          </a:xfrm>
          <a:prstGeom prst="rightBracket">
            <a:avLst/>
          </a:prstGeom>
          <a:noFill/>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dirty="0">
              <a:solidFill>
                <a:srgbClr val="C00000"/>
              </a:solidFill>
            </a:endParaRPr>
          </a:p>
        </p:txBody>
      </p:sp>
      <p:sp>
        <p:nvSpPr>
          <p:cNvPr id="31" name="ZoneTexte 30">
            <a:extLst>
              <a:ext uri="{FF2B5EF4-FFF2-40B4-BE49-F238E27FC236}">
                <a16:creationId xmlns:a16="http://schemas.microsoft.com/office/drawing/2014/main" id="{AFDD3F39-50E5-DD75-F5CA-88CCB5786D9A}"/>
              </a:ext>
            </a:extLst>
          </p:cNvPr>
          <p:cNvSpPr txBox="1"/>
          <p:nvPr/>
        </p:nvSpPr>
        <p:spPr>
          <a:xfrm>
            <a:off x="3562477" y="5860517"/>
            <a:ext cx="1845239" cy="276999"/>
          </a:xfrm>
          <a:prstGeom prst="rect">
            <a:avLst/>
          </a:prstGeom>
          <a:noFill/>
        </p:spPr>
        <p:txBody>
          <a:bodyPr wrap="square" rtlCol="0">
            <a:spAutoFit/>
          </a:bodyPr>
          <a:lstStyle/>
          <a:p>
            <a:r>
              <a:rPr lang="en-GB" sz="1200" noProof="0" dirty="0"/>
              <a:t>Hidden layer with 4 units</a:t>
            </a:r>
          </a:p>
        </p:txBody>
      </p:sp>
      <p:sp>
        <p:nvSpPr>
          <p:cNvPr id="33" name="ZoneTexte 32">
            <a:extLst>
              <a:ext uri="{FF2B5EF4-FFF2-40B4-BE49-F238E27FC236}">
                <a16:creationId xmlns:a16="http://schemas.microsoft.com/office/drawing/2014/main" id="{F1AE7BDC-8EDC-C79F-DFAD-8700D6026CD3}"/>
              </a:ext>
            </a:extLst>
          </p:cNvPr>
          <p:cNvSpPr txBox="1"/>
          <p:nvPr/>
        </p:nvSpPr>
        <p:spPr>
          <a:xfrm>
            <a:off x="6495011" y="5103650"/>
            <a:ext cx="1121062" cy="276999"/>
          </a:xfrm>
          <a:prstGeom prst="rect">
            <a:avLst/>
          </a:prstGeom>
          <a:noFill/>
        </p:spPr>
        <p:txBody>
          <a:bodyPr wrap="square" rtlCol="0">
            <a:spAutoFit/>
          </a:bodyPr>
          <a:lstStyle/>
          <a:p>
            <a:r>
              <a:rPr lang="en-GB" sz="1200" noProof="0" dirty="0"/>
              <a:t>Output layer</a:t>
            </a:r>
          </a:p>
        </p:txBody>
      </p:sp>
      <p:sp>
        <p:nvSpPr>
          <p:cNvPr id="34" name="Parenthèse fermante 33">
            <a:extLst>
              <a:ext uri="{FF2B5EF4-FFF2-40B4-BE49-F238E27FC236}">
                <a16:creationId xmlns:a16="http://schemas.microsoft.com/office/drawing/2014/main" id="{D9519D31-2682-8272-52B7-A51588B6940B}"/>
              </a:ext>
            </a:extLst>
          </p:cNvPr>
          <p:cNvSpPr/>
          <p:nvPr/>
        </p:nvSpPr>
        <p:spPr>
          <a:xfrm rot="5400000">
            <a:off x="1240849" y="4906494"/>
            <a:ext cx="172989" cy="1038780"/>
          </a:xfrm>
          <a:prstGeom prst="rightBracket">
            <a:avLst/>
          </a:prstGeom>
          <a:noFill/>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dirty="0">
              <a:solidFill>
                <a:srgbClr val="C00000"/>
              </a:solidFill>
            </a:endParaRPr>
          </a:p>
        </p:txBody>
      </p:sp>
      <p:sp>
        <p:nvSpPr>
          <p:cNvPr id="35" name="ZoneTexte 34">
            <a:extLst>
              <a:ext uri="{FF2B5EF4-FFF2-40B4-BE49-F238E27FC236}">
                <a16:creationId xmlns:a16="http://schemas.microsoft.com/office/drawing/2014/main" id="{8D4564C7-038C-2373-8BCE-D30BB40DA2FB}"/>
              </a:ext>
            </a:extLst>
          </p:cNvPr>
          <p:cNvSpPr txBox="1"/>
          <p:nvPr/>
        </p:nvSpPr>
        <p:spPr>
          <a:xfrm>
            <a:off x="793651" y="5164487"/>
            <a:ext cx="1121062" cy="276999"/>
          </a:xfrm>
          <a:prstGeom prst="rect">
            <a:avLst/>
          </a:prstGeom>
          <a:noFill/>
        </p:spPr>
        <p:txBody>
          <a:bodyPr wrap="square" rtlCol="0">
            <a:spAutoFit/>
          </a:bodyPr>
          <a:lstStyle/>
          <a:p>
            <a:pPr algn="ctr"/>
            <a:r>
              <a:rPr lang="en-GB" sz="1200" noProof="0" dirty="0"/>
              <a:t>Input layer</a:t>
            </a:r>
          </a:p>
        </p:txBody>
      </p:sp>
      <p:cxnSp>
        <p:nvCxnSpPr>
          <p:cNvPr id="57" name="Connecteur droit avec flèche 56">
            <a:extLst>
              <a:ext uri="{FF2B5EF4-FFF2-40B4-BE49-F238E27FC236}">
                <a16:creationId xmlns:a16="http://schemas.microsoft.com/office/drawing/2014/main" id="{16436782-D72B-68D0-C87A-F01D0DAD4EEF}"/>
              </a:ext>
            </a:extLst>
          </p:cNvPr>
          <p:cNvCxnSpPr>
            <a:cxnSpLocks/>
            <a:stCxn id="45" idx="6"/>
            <a:endCxn id="85" idx="2"/>
          </p:cNvCxnSpPr>
          <p:nvPr/>
        </p:nvCxnSpPr>
        <p:spPr>
          <a:xfrm flipV="1">
            <a:off x="4927749" y="3172574"/>
            <a:ext cx="1525414" cy="730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Connecteur droit avec flèche 58">
            <a:extLst>
              <a:ext uri="{FF2B5EF4-FFF2-40B4-BE49-F238E27FC236}">
                <a16:creationId xmlns:a16="http://schemas.microsoft.com/office/drawing/2014/main" id="{AF8E852F-5D43-6CB8-0424-C6E8BF1D509D}"/>
              </a:ext>
            </a:extLst>
          </p:cNvPr>
          <p:cNvCxnSpPr>
            <a:cxnSpLocks/>
            <a:stCxn id="80" idx="6"/>
            <a:endCxn id="85" idx="2"/>
          </p:cNvCxnSpPr>
          <p:nvPr/>
        </p:nvCxnSpPr>
        <p:spPr>
          <a:xfrm flipV="1">
            <a:off x="4913542" y="3172574"/>
            <a:ext cx="1539621" cy="10803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0" name="Connecteur droit avec flèche 59">
            <a:extLst>
              <a:ext uri="{FF2B5EF4-FFF2-40B4-BE49-F238E27FC236}">
                <a16:creationId xmlns:a16="http://schemas.microsoft.com/office/drawing/2014/main" id="{74029471-CB90-F7E6-861F-6CF92C46542C}"/>
              </a:ext>
            </a:extLst>
          </p:cNvPr>
          <p:cNvCxnSpPr>
            <a:cxnSpLocks/>
            <a:stCxn id="53" idx="6"/>
            <a:endCxn id="92" idx="2"/>
          </p:cNvCxnSpPr>
          <p:nvPr/>
        </p:nvCxnSpPr>
        <p:spPr>
          <a:xfrm>
            <a:off x="4913545" y="2220929"/>
            <a:ext cx="1553605" cy="19931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3" name="ZoneTexte 72">
            <a:extLst>
              <a:ext uri="{FF2B5EF4-FFF2-40B4-BE49-F238E27FC236}">
                <a16:creationId xmlns:a16="http://schemas.microsoft.com/office/drawing/2014/main" id="{A3C92EAD-45D8-14B1-3521-62202C3D70E5}"/>
              </a:ext>
            </a:extLst>
          </p:cNvPr>
          <p:cNvSpPr txBox="1"/>
          <p:nvPr/>
        </p:nvSpPr>
        <p:spPr>
          <a:xfrm>
            <a:off x="5118101" y="760834"/>
            <a:ext cx="6543121" cy="584775"/>
          </a:xfrm>
          <a:prstGeom prst="rect">
            <a:avLst/>
          </a:prstGeom>
          <a:noFill/>
        </p:spPr>
        <p:txBody>
          <a:bodyPr wrap="square" rtlCol="0">
            <a:spAutoFit/>
          </a:bodyPr>
          <a:lstStyle/>
          <a:p>
            <a:r>
              <a:rPr lang="en-GB" sz="3200" b="1" noProof="0" dirty="0"/>
              <a:t>Multiclass Classification Network</a:t>
            </a:r>
          </a:p>
        </p:txBody>
      </p:sp>
      <p:sp>
        <p:nvSpPr>
          <p:cNvPr id="75" name="Espace réservé du pied de page 74">
            <a:extLst>
              <a:ext uri="{FF2B5EF4-FFF2-40B4-BE49-F238E27FC236}">
                <a16:creationId xmlns:a16="http://schemas.microsoft.com/office/drawing/2014/main" id="{475152C2-0966-A6C3-7D96-ECD11DE3DB6D}"/>
              </a:ext>
            </a:extLst>
          </p:cNvPr>
          <p:cNvSpPr>
            <a:spLocks noGrp="1"/>
          </p:cNvSpPr>
          <p:nvPr>
            <p:ph type="ftr" sz="quarter" idx="11"/>
          </p:nvPr>
        </p:nvSpPr>
        <p:spPr/>
        <p:txBody>
          <a:bodyPr/>
          <a:lstStyle/>
          <a:p>
            <a:r>
              <a:rPr lang="en-GB" dirty="0"/>
              <a:t>Introduction to Neural Networks. Author: David Thébault</a:t>
            </a:r>
          </a:p>
        </p:txBody>
      </p:sp>
      <p:grpSp>
        <p:nvGrpSpPr>
          <p:cNvPr id="19" name="Groupe 18">
            <a:extLst>
              <a:ext uri="{FF2B5EF4-FFF2-40B4-BE49-F238E27FC236}">
                <a16:creationId xmlns:a16="http://schemas.microsoft.com/office/drawing/2014/main" id="{11BD5C32-D0E6-4080-5021-04ECE6DA2DE1}"/>
              </a:ext>
            </a:extLst>
          </p:cNvPr>
          <p:cNvGrpSpPr/>
          <p:nvPr/>
        </p:nvGrpSpPr>
        <p:grpSpPr>
          <a:xfrm>
            <a:off x="3889570" y="2777770"/>
            <a:ext cx="1038179" cy="935767"/>
            <a:chOff x="4992412" y="2220312"/>
            <a:chExt cx="1061545" cy="1061545"/>
          </a:xfrm>
        </p:grpSpPr>
        <p:sp>
          <p:nvSpPr>
            <p:cNvPr id="45" name="Ellipse 44">
              <a:extLst>
                <a:ext uri="{FF2B5EF4-FFF2-40B4-BE49-F238E27FC236}">
                  <a16:creationId xmlns:a16="http://schemas.microsoft.com/office/drawing/2014/main" id="{03500BAB-54FA-BB20-27A6-4551761F60C9}"/>
                </a:ext>
              </a:extLst>
            </p:cNvPr>
            <p:cNvSpPr/>
            <p:nvPr/>
          </p:nvSpPr>
          <p:spPr>
            <a:xfrm>
              <a:off x="4992412" y="2220312"/>
              <a:ext cx="1061545" cy="106154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900" dirty="0"/>
            </a:p>
          </p:txBody>
        </p:sp>
        <p:cxnSp>
          <p:nvCxnSpPr>
            <p:cNvPr id="47" name="Connecteur droit 46">
              <a:extLst>
                <a:ext uri="{FF2B5EF4-FFF2-40B4-BE49-F238E27FC236}">
                  <a16:creationId xmlns:a16="http://schemas.microsoft.com/office/drawing/2014/main" id="{B17814A4-4C8D-D04F-8390-052EE46C18CA}"/>
                </a:ext>
              </a:extLst>
            </p:cNvPr>
            <p:cNvCxnSpPr>
              <a:cxnSpLocks/>
              <a:stCxn id="45" idx="0"/>
              <a:endCxn id="45" idx="4"/>
            </p:cNvCxnSpPr>
            <p:nvPr/>
          </p:nvCxnSpPr>
          <p:spPr>
            <a:xfrm>
              <a:off x="5523185" y="2220312"/>
              <a:ext cx="0" cy="1061545"/>
            </a:xfrm>
            <a:prstGeom prst="line">
              <a:avLst/>
            </a:prstGeom>
          </p:spPr>
          <p:style>
            <a:lnRef idx="2">
              <a:schemeClr val="accent1"/>
            </a:lnRef>
            <a:fillRef idx="0">
              <a:schemeClr val="accent1"/>
            </a:fillRef>
            <a:effectRef idx="1">
              <a:schemeClr val="accent1"/>
            </a:effectRef>
            <a:fontRef idx="minor">
              <a:schemeClr val="tx1"/>
            </a:fontRef>
          </p:style>
        </p:cxnSp>
      </p:grpSp>
      <p:sp>
        <p:nvSpPr>
          <p:cNvPr id="53" name="Ellipse 52">
            <a:extLst>
              <a:ext uri="{FF2B5EF4-FFF2-40B4-BE49-F238E27FC236}">
                <a16:creationId xmlns:a16="http://schemas.microsoft.com/office/drawing/2014/main" id="{3574AA2A-A38F-C09B-D6A9-F3785FAEA198}"/>
              </a:ext>
            </a:extLst>
          </p:cNvPr>
          <p:cNvSpPr/>
          <p:nvPr/>
        </p:nvSpPr>
        <p:spPr>
          <a:xfrm>
            <a:off x="3875366" y="1753045"/>
            <a:ext cx="1038179" cy="93576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900" dirty="0"/>
          </a:p>
        </p:txBody>
      </p:sp>
      <p:cxnSp>
        <p:nvCxnSpPr>
          <p:cNvPr id="56" name="Connecteur droit 55">
            <a:extLst>
              <a:ext uri="{FF2B5EF4-FFF2-40B4-BE49-F238E27FC236}">
                <a16:creationId xmlns:a16="http://schemas.microsoft.com/office/drawing/2014/main" id="{B40A102C-2E6C-618F-B6ED-DD928EDABD56}"/>
              </a:ext>
            </a:extLst>
          </p:cNvPr>
          <p:cNvCxnSpPr>
            <a:cxnSpLocks/>
            <a:stCxn id="53" idx="0"/>
            <a:endCxn id="53" idx="4"/>
          </p:cNvCxnSpPr>
          <p:nvPr/>
        </p:nvCxnSpPr>
        <p:spPr>
          <a:xfrm>
            <a:off x="4394456" y="1753045"/>
            <a:ext cx="0" cy="935768"/>
          </a:xfrm>
          <a:prstGeom prst="line">
            <a:avLst/>
          </a:prstGeom>
        </p:spPr>
        <p:style>
          <a:lnRef idx="2">
            <a:schemeClr val="accent1"/>
          </a:lnRef>
          <a:fillRef idx="0">
            <a:schemeClr val="accent1"/>
          </a:fillRef>
          <a:effectRef idx="1">
            <a:schemeClr val="accent1"/>
          </a:effectRef>
          <a:fontRef idx="minor">
            <a:schemeClr val="tx1"/>
          </a:fontRef>
        </p:style>
      </p:cxnSp>
      <p:sp>
        <p:nvSpPr>
          <p:cNvPr id="66" name="ZoneTexte 65">
            <a:extLst>
              <a:ext uri="{FF2B5EF4-FFF2-40B4-BE49-F238E27FC236}">
                <a16:creationId xmlns:a16="http://schemas.microsoft.com/office/drawing/2014/main" id="{57B8CE32-51A0-DB97-3A6A-84A22257A0F1}"/>
              </a:ext>
            </a:extLst>
          </p:cNvPr>
          <p:cNvSpPr txBox="1"/>
          <p:nvPr/>
        </p:nvSpPr>
        <p:spPr>
          <a:xfrm>
            <a:off x="3867157" y="2104121"/>
            <a:ext cx="637295" cy="246221"/>
          </a:xfrm>
          <a:prstGeom prst="rect">
            <a:avLst/>
          </a:prstGeom>
          <a:noFill/>
        </p:spPr>
        <p:txBody>
          <a:bodyPr wrap="square" rtlCol="0">
            <a:spAutoFit/>
          </a:bodyPr>
          <a:lstStyle/>
          <a:p>
            <a:r>
              <a:rPr lang="fr-FR" sz="1000" dirty="0"/>
              <a:t>net_h1</a:t>
            </a:r>
          </a:p>
        </p:txBody>
      </p:sp>
      <p:sp>
        <p:nvSpPr>
          <p:cNvPr id="67" name="ZoneTexte 66">
            <a:extLst>
              <a:ext uri="{FF2B5EF4-FFF2-40B4-BE49-F238E27FC236}">
                <a16:creationId xmlns:a16="http://schemas.microsoft.com/office/drawing/2014/main" id="{E4A7E3A6-0669-5553-C5B3-D7AFDBC7823A}"/>
              </a:ext>
            </a:extLst>
          </p:cNvPr>
          <p:cNvSpPr txBox="1"/>
          <p:nvPr/>
        </p:nvSpPr>
        <p:spPr>
          <a:xfrm>
            <a:off x="4291968" y="2103787"/>
            <a:ext cx="637295" cy="246221"/>
          </a:xfrm>
          <a:prstGeom prst="rect">
            <a:avLst/>
          </a:prstGeom>
          <a:noFill/>
        </p:spPr>
        <p:txBody>
          <a:bodyPr wrap="square" rtlCol="0">
            <a:spAutoFit/>
          </a:bodyPr>
          <a:lstStyle/>
          <a:p>
            <a:pPr algn="r"/>
            <a:r>
              <a:rPr lang="fr-FR" sz="1000" dirty="0"/>
              <a:t>out_h1</a:t>
            </a:r>
          </a:p>
        </p:txBody>
      </p:sp>
      <p:grpSp>
        <p:nvGrpSpPr>
          <p:cNvPr id="72" name="Groupe 71">
            <a:extLst>
              <a:ext uri="{FF2B5EF4-FFF2-40B4-BE49-F238E27FC236}">
                <a16:creationId xmlns:a16="http://schemas.microsoft.com/office/drawing/2014/main" id="{54AC1D4B-101E-CFB0-C4C8-D1B869F5C3E6}"/>
              </a:ext>
            </a:extLst>
          </p:cNvPr>
          <p:cNvGrpSpPr/>
          <p:nvPr/>
        </p:nvGrpSpPr>
        <p:grpSpPr>
          <a:xfrm>
            <a:off x="3889570" y="4835170"/>
            <a:ext cx="1038179" cy="935767"/>
            <a:chOff x="4992412" y="2220312"/>
            <a:chExt cx="1061545" cy="1061545"/>
          </a:xfrm>
        </p:grpSpPr>
        <p:sp>
          <p:nvSpPr>
            <p:cNvPr id="74" name="Ellipse 73">
              <a:extLst>
                <a:ext uri="{FF2B5EF4-FFF2-40B4-BE49-F238E27FC236}">
                  <a16:creationId xmlns:a16="http://schemas.microsoft.com/office/drawing/2014/main" id="{69B2E5C1-3E22-1F4A-8CFC-4701C8F122C0}"/>
                </a:ext>
              </a:extLst>
            </p:cNvPr>
            <p:cNvSpPr/>
            <p:nvPr/>
          </p:nvSpPr>
          <p:spPr>
            <a:xfrm>
              <a:off x="4992412" y="2220312"/>
              <a:ext cx="1061545" cy="106154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900" dirty="0"/>
            </a:p>
          </p:txBody>
        </p:sp>
        <p:cxnSp>
          <p:nvCxnSpPr>
            <p:cNvPr id="76" name="Connecteur droit 75">
              <a:extLst>
                <a:ext uri="{FF2B5EF4-FFF2-40B4-BE49-F238E27FC236}">
                  <a16:creationId xmlns:a16="http://schemas.microsoft.com/office/drawing/2014/main" id="{AD2EDFFB-B192-F214-463F-424D178AF884}"/>
                </a:ext>
              </a:extLst>
            </p:cNvPr>
            <p:cNvCxnSpPr>
              <a:cxnSpLocks/>
              <a:stCxn id="74" idx="0"/>
              <a:endCxn id="74" idx="4"/>
            </p:cNvCxnSpPr>
            <p:nvPr/>
          </p:nvCxnSpPr>
          <p:spPr>
            <a:xfrm>
              <a:off x="5523185" y="2220312"/>
              <a:ext cx="0" cy="1061545"/>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79" name="Groupe 78">
            <a:extLst>
              <a:ext uri="{FF2B5EF4-FFF2-40B4-BE49-F238E27FC236}">
                <a16:creationId xmlns:a16="http://schemas.microsoft.com/office/drawing/2014/main" id="{B4B1D4A6-61B2-D202-36FF-708071AAD9DE}"/>
              </a:ext>
            </a:extLst>
          </p:cNvPr>
          <p:cNvGrpSpPr/>
          <p:nvPr/>
        </p:nvGrpSpPr>
        <p:grpSpPr>
          <a:xfrm>
            <a:off x="3875363" y="3785041"/>
            <a:ext cx="1038179" cy="935767"/>
            <a:chOff x="4992412" y="2220312"/>
            <a:chExt cx="1061545" cy="1061545"/>
          </a:xfrm>
        </p:grpSpPr>
        <p:sp>
          <p:nvSpPr>
            <p:cNvPr id="80" name="Ellipse 79">
              <a:extLst>
                <a:ext uri="{FF2B5EF4-FFF2-40B4-BE49-F238E27FC236}">
                  <a16:creationId xmlns:a16="http://schemas.microsoft.com/office/drawing/2014/main" id="{6CE3A891-0701-3207-9C39-908401D8A57C}"/>
                </a:ext>
              </a:extLst>
            </p:cNvPr>
            <p:cNvSpPr/>
            <p:nvPr/>
          </p:nvSpPr>
          <p:spPr>
            <a:xfrm>
              <a:off x="4992412" y="2220312"/>
              <a:ext cx="1061545" cy="106154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900" dirty="0"/>
            </a:p>
          </p:txBody>
        </p:sp>
        <p:cxnSp>
          <p:nvCxnSpPr>
            <p:cNvPr id="81" name="Connecteur droit 80">
              <a:extLst>
                <a:ext uri="{FF2B5EF4-FFF2-40B4-BE49-F238E27FC236}">
                  <a16:creationId xmlns:a16="http://schemas.microsoft.com/office/drawing/2014/main" id="{D717E6D4-B605-55DB-2A5D-61A39E4DD646}"/>
                </a:ext>
              </a:extLst>
            </p:cNvPr>
            <p:cNvCxnSpPr>
              <a:cxnSpLocks/>
              <a:stCxn id="80" idx="0"/>
              <a:endCxn id="80" idx="4"/>
            </p:cNvCxnSpPr>
            <p:nvPr/>
          </p:nvCxnSpPr>
          <p:spPr>
            <a:xfrm>
              <a:off x="5523185" y="2220312"/>
              <a:ext cx="0" cy="1061545"/>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90" name="Groupe 89">
            <a:extLst>
              <a:ext uri="{FF2B5EF4-FFF2-40B4-BE49-F238E27FC236}">
                <a16:creationId xmlns:a16="http://schemas.microsoft.com/office/drawing/2014/main" id="{463021F6-C4BE-B98E-23D1-BB10015FFF04}"/>
              </a:ext>
            </a:extLst>
          </p:cNvPr>
          <p:cNvGrpSpPr/>
          <p:nvPr/>
        </p:nvGrpSpPr>
        <p:grpSpPr>
          <a:xfrm>
            <a:off x="6453163" y="2704690"/>
            <a:ext cx="1038180" cy="935767"/>
            <a:chOff x="6453163" y="2285590"/>
            <a:chExt cx="1038180" cy="935767"/>
          </a:xfrm>
        </p:grpSpPr>
        <p:sp>
          <p:nvSpPr>
            <p:cNvPr id="85" name="Ellipse 84">
              <a:extLst>
                <a:ext uri="{FF2B5EF4-FFF2-40B4-BE49-F238E27FC236}">
                  <a16:creationId xmlns:a16="http://schemas.microsoft.com/office/drawing/2014/main" id="{935C8C6A-D9BC-8C96-4F23-9BBC1F544B4C}"/>
                </a:ext>
              </a:extLst>
            </p:cNvPr>
            <p:cNvSpPr/>
            <p:nvPr/>
          </p:nvSpPr>
          <p:spPr>
            <a:xfrm>
              <a:off x="6453163" y="2285590"/>
              <a:ext cx="1038180" cy="935767"/>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900" dirty="0"/>
            </a:p>
          </p:txBody>
        </p:sp>
        <mc:AlternateContent xmlns:mc="http://schemas.openxmlformats.org/markup-compatibility/2006" xmlns:a14="http://schemas.microsoft.com/office/drawing/2010/main">
          <mc:Choice Requires="a14">
            <p:sp>
              <p:nvSpPr>
                <p:cNvPr id="87" name="ZoneTexte 86">
                  <a:extLst>
                    <a:ext uri="{FF2B5EF4-FFF2-40B4-BE49-F238E27FC236}">
                      <a16:creationId xmlns:a16="http://schemas.microsoft.com/office/drawing/2014/main" id="{30AC2092-E0C6-3463-A933-779D3A631BD6}"/>
                    </a:ext>
                  </a:extLst>
                </p:cNvPr>
                <p:cNvSpPr txBox="1"/>
                <p:nvPr/>
              </p:nvSpPr>
              <p:spPr>
                <a:xfrm>
                  <a:off x="6646612" y="2634786"/>
                  <a:ext cx="637295" cy="27699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fr-FR" sz="1200" b="0" i="1" smtClean="0">
                            <a:latin typeface="Cambria Math" panose="02040503050406030204" pitchFamily="18" charset="0"/>
                          </a:rPr>
                          <m:t>𝑜𝑢𝑡</m:t>
                        </m:r>
                        <m:r>
                          <a:rPr lang="fr-FR" sz="1200" b="0" i="1" smtClean="0">
                            <a:latin typeface="Cambria Math" panose="02040503050406030204" pitchFamily="18" charset="0"/>
                          </a:rPr>
                          <m:t>_</m:t>
                        </m:r>
                        <m:r>
                          <a:rPr lang="fr-FR" sz="1200" b="0" i="1" smtClean="0">
                            <a:latin typeface="Cambria Math" panose="02040503050406030204" pitchFamily="18" charset="0"/>
                          </a:rPr>
                          <m:t>𝑜</m:t>
                        </m:r>
                        <m:r>
                          <a:rPr lang="fr-FR" sz="1200" b="0" i="1" smtClean="0">
                            <a:latin typeface="Cambria Math" panose="02040503050406030204" pitchFamily="18" charset="0"/>
                          </a:rPr>
                          <m:t>1</m:t>
                        </m:r>
                      </m:oMath>
                    </m:oMathPara>
                  </a14:m>
                  <a:endParaRPr lang="fr-FR" sz="1200" dirty="0"/>
                </a:p>
              </p:txBody>
            </p:sp>
          </mc:Choice>
          <mc:Fallback xmlns="">
            <p:sp>
              <p:nvSpPr>
                <p:cNvPr id="87" name="ZoneTexte 86">
                  <a:extLst>
                    <a:ext uri="{FF2B5EF4-FFF2-40B4-BE49-F238E27FC236}">
                      <a16:creationId xmlns:a16="http://schemas.microsoft.com/office/drawing/2014/main" id="{30AC2092-E0C6-3463-A933-779D3A631BD6}"/>
                    </a:ext>
                  </a:extLst>
                </p:cNvPr>
                <p:cNvSpPr txBox="1">
                  <a:spLocks noRot="1" noChangeAspect="1" noMove="1" noResize="1" noEditPoints="1" noAdjustHandles="1" noChangeArrowheads="1" noChangeShapeType="1" noTextEdit="1"/>
                </p:cNvSpPr>
                <p:nvPr/>
              </p:nvSpPr>
              <p:spPr>
                <a:xfrm>
                  <a:off x="6646612" y="2634786"/>
                  <a:ext cx="637295" cy="276999"/>
                </a:xfrm>
                <a:prstGeom prst="rect">
                  <a:avLst/>
                </a:prstGeom>
                <a:blipFill>
                  <a:blip r:embed="rId5"/>
                  <a:stretch>
                    <a:fillRect/>
                  </a:stretch>
                </a:blipFill>
              </p:spPr>
              <p:txBody>
                <a:bodyPr/>
                <a:lstStyle/>
                <a:p>
                  <a:r>
                    <a:rPr lang="en-GB">
                      <a:noFill/>
                    </a:rPr>
                    <a:t> </a:t>
                  </a:r>
                </a:p>
              </p:txBody>
            </p:sp>
          </mc:Fallback>
        </mc:AlternateContent>
      </p:grpSp>
      <p:sp>
        <p:nvSpPr>
          <p:cNvPr id="92" name="Ellipse 91">
            <a:extLst>
              <a:ext uri="{FF2B5EF4-FFF2-40B4-BE49-F238E27FC236}">
                <a16:creationId xmlns:a16="http://schemas.microsoft.com/office/drawing/2014/main" id="{CDA2BF4B-9A3D-E8A2-2B74-E271C2A58425}"/>
              </a:ext>
            </a:extLst>
          </p:cNvPr>
          <p:cNvSpPr/>
          <p:nvPr/>
        </p:nvSpPr>
        <p:spPr>
          <a:xfrm>
            <a:off x="6467150" y="3746180"/>
            <a:ext cx="1038180" cy="935767"/>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900" dirty="0"/>
          </a:p>
        </p:txBody>
      </p:sp>
      <p:cxnSp>
        <p:nvCxnSpPr>
          <p:cNvPr id="104" name="Connecteur droit avec flèche 103">
            <a:extLst>
              <a:ext uri="{FF2B5EF4-FFF2-40B4-BE49-F238E27FC236}">
                <a16:creationId xmlns:a16="http://schemas.microsoft.com/office/drawing/2014/main" id="{3BF247CC-B6C1-5060-F2BD-414DD1E153B2}"/>
              </a:ext>
            </a:extLst>
          </p:cNvPr>
          <p:cNvCxnSpPr>
            <a:cxnSpLocks/>
            <a:stCxn id="45" idx="6"/>
            <a:endCxn id="92" idx="2"/>
          </p:cNvCxnSpPr>
          <p:nvPr/>
        </p:nvCxnSpPr>
        <p:spPr>
          <a:xfrm>
            <a:off x="4927749" y="3245654"/>
            <a:ext cx="1539401" cy="9684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6" name="Connecteur droit avec flèche 105">
            <a:extLst>
              <a:ext uri="{FF2B5EF4-FFF2-40B4-BE49-F238E27FC236}">
                <a16:creationId xmlns:a16="http://schemas.microsoft.com/office/drawing/2014/main" id="{3590BEC0-A992-8D82-5253-14D2B5AB7BA6}"/>
              </a:ext>
            </a:extLst>
          </p:cNvPr>
          <p:cNvCxnSpPr>
            <a:cxnSpLocks/>
            <a:stCxn id="74" idx="6"/>
            <a:endCxn id="92" idx="2"/>
          </p:cNvCxnSpPr>
          <p:nvPr/>
        </p:nvCxnSpPr>
        <p:spPr>
          <a:xfrm flipV="1">
            <a:off x="4927749" y="4214064"/>
            <a:ext cx="1539401" cy="10889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6" name="Connecteur droit avec flèche 115">
            <a:extLst>
              <a:ext uri="{FF2B5EF4-FFF2-40B4-BE49-F238E27FC236}">
                <a16:creationId xmlns:a16="http://schemas.microsoft.com/office/drawing/2014/main" id="{D02C1B21-69BE-B597-3ED3-81A9412B4E66}"/>
              </a:ext>
            </a:extLst>
          </p:cNvPr>
          <p:cNvCxnSpPr>
            <a:cxnSpLocks/>
            <a:stCxn id="80" idx="6"/>
            <a:endCxn id="92" idx="2"/>
          </p:cNvCxnSpPr>
          <p:nvPr/>
        </p:nvCxnSpPr>
        <p:spPr>
          <a:xfrm flipV="1">
            <a:off x="4913542" y="4214064"/>
            <a:ext cx="1553608" cy="388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2" name="Connecteur droit avec flèche 121">
            <a:extLst>
              <a:ext uri="{FF2B5EF4-FFF2-40B4-BE49-F238E27FC236}">
                <a16:creationId xmlns:a16="http://schemas.microsoft.com/office/drawing/2014/main" id="{063C8EC5-82AB-A492-2771-6694A8F3A302}"/>
              </a:ext>
            </a:extLst>
          </p:cNvPr>
          <p:cNvCxnSpPr>
            <a:cxnSpLocks/>
            <a:stCxn id="74" idx="6"/>
            <a:endCxn id="85" idx="2"/>
          </p:cNvCxnSpPr>
          <p:nvPr/>
        </p:nvCxnSpPr>
        <p:spPr>
          <a:xfrm flipV="1">
            <a:off x="4927749" y="3172574"/>
            <a:ext cx="1525414" cy="21304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1" name="Connecteur droit avec flèche 130">
            <a:extLst>
              <a:ext uri="{FF2B5EF4-FFF2-40B4-BE49-F238E27FC236}">
                <a16:creationId xmlns:a16="http://schemas.microsoft.com/office/drawing/2014/main" id="{FF0C482D-2F45-C74D-2A7E-C29E90B59F00}"/>
              </a:ext>
            </a:extLst>
          </p:cNvPr>
          <p:cNvCxnSpPr>
            <a:cxnSpLocks/>
            <a:stCxn id="21" idx="3"/>
            <a:endCxn id="45" idx="2"/>
          </p:cNvCxnSpPr>
          <p:nvPr/>
        </p:nvCxnSpPr>
        <p:spPr>
          <a:xfrm flipV="1">
            <a:off x="1723626" y="3245654"/>
            <a:ext cx="2165944" cy="3344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7" name="Connecteur droit avec flèche 136">
            <a:extLst>
              <a:ext uri="{FF2B5EF4-FFF2-40B4-BE49-F238E27FC236}">
                <a16:creationId xmlns:a16="http://schemas.microsoft.com/office/drawing/2014/main" id="{937F0786-7B9B-01C5-4B51-2374F246FA7D}"/>
              </a:ext>
            </a:extLst>
          </p:cNvPr>
          <p:cNvCxnSpPr>
            <a:cxnSpLocks/>
            <a:stCxn id="21" idx="3"/>
            <a:endCxn id="80" idx="2"/>
          </p:cNvCxnSpPr>
          <p:nvPr/>
        </p:nvCxnSpPr>
        <p:spPr>
          <a:xfrm>
            <a:off x="1723626" y="3580126"/>
            <a:ext cx="2151737" cy="6727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5" name="Connecteur droit avec flèche 154">
            <a:extLst>
              <a:ext uri="{FF2B5EF4-FFF2-40B4-BE49-F238E27FC236}">
                <a16:creationId xmlns:a16="http://schemas.microsoft.com/office/drawing/2014/main" id="{E97125CD-65E9-C405-8F17-C3308648D228}"/>
              </a:ext>
            </a:extLst>
          </p:cNvPr>
          <p:cNvCxnSpPr>
            <a:cxnSpLocks/>
          </p:cNvCxnSpPr>
          <p:nvPr/>
        </p:nvCxnSpPr>
        <p:spPr>
          <a:xfrm flipV="1">
            <a:off x="7516510" y="4233494"/>
            <a:ext cx="741790" cy="15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59" name="ZoneTexte 158">
                <a:extLst>
                  <a:ext uri="{FF2B5EF4-FFF2-40B4-BE49-F238E27FC236}">
                    <a16:creationId xmlns:a16="http://schemas.microsoft.com/office/drawing/2014/main" id="{6F8E98BC-3C6A-6BD3-91A3-A73709F9A8C4}"/>
                  </a:ext>
                </a:extLst>
              </p:cNvPr>
              <p:cNvSpPr txBox="1"/>
              <p:nvPr/>
            </p:nvSpPr>
            <p:spPr>
              <a:xfrm>
                <a:off x="3463640" y="3498848"/>
                <a:ext cx="432284" cy="510806"/>
              </a:xfrm>
              <a:prstGeom prst="rect">
                <a:avLst/>
              </a:prstGeom>
              <a:noFill/>
            </p:spPr>
            <p:txBody>
              <a:bodyPr wrap="square" rtlCol="0">
                <a:noAutofit/>
              </a:bodyPr>
              <a:lstStyle/>
              <a:p>
                <a:pPr algn="ctr"/>
                <a14:m>
                  <m:oMathPara xmlns:m="http://schemas.openxmlformats.org/officeDocument/2006/math">
                    <m:oMathParaPr>
                      <m:jc m:val="centerGroup"/>
                    </m:oMathParaPr>
                    <m:oMath xmlns:m="http://schemas.openxmlformats.org/officeDocument/2006/math">
                      <m:sSubSup>
                        <m:sSubSupPr>
                          <m:ctrlP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ctrlPr>
                        </m:sSubSupPr>
                        <m:e>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𝒃</m:t>
                          </m:r>
                        </m:e>
                        <m:sub>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𝒉</m:t>
                          </m:r>
                        </m:sub>
                        <m:sup>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𝟑</m:t>
                          </m:r>
                        </m:sup>
                      </m:sSubSup>
                    </m:oMath>
                  </m:oMathPara>
                </a14:m>
                <a:endParaRPr lang="fr-FR" b="1" baseline="-25000" dirty="0">
                  <a:ln>
                    <a:solidFill>
                      <a:schemeClr val="accent2">
                        <a:lumMod val="75000"/>
                      </a:schemeClr>
                    </a:solidFill>
                  </a:ln>
                  <a:solidFill>
                    <a:schemeClr val="accent2">
                      <a:lumMod val="75000"/>
                    </a:schemeClr>
                  </a:solidFill>
                  <a:latin typeface="Monaco" pitchFamily="2" charset="77"/>
                </a:endParaRPr>
              </a:p>
            </p:txBody>
          </p:sp>
        </mc:Choice>
        <mc:Fallback xmlns="">
          <p:sp>
            <p:nvSpPr>
              <p:cNvPr id="159" name="ZoneTexte 158">
                <a:extLst>
                  <a:ext uri="{FF2B5EF4-FFF2-40B4-BE49-F238E27FC236}">
                    <a16:creationId xmlns:a16="http://schemas.microsoft.com/office/drawing/2014/main" id="{6F8E98BC-3C6A-6BD3-91A3-A73709F9A8C4}"/>
                  </a:ext>
                </a:extLst>
              </p:cNvPr>
              <p:cNvSpPr txBox="1">
                <a:spLocks noRot="1" noChangeAspect="1" noMove="1" noResize="1" noEditPoints="1" noAdjustHandles="1" noChangeArrowheads="1" noChangeShapeType="1" noTextEdit="1"/>
              </p:cNvSpPr>
              <p:nvPr/>
            </p:nvSpPr>
            <p:spPr>
              <a:xfrm>
                <a:off x="3463640" y="3498848"/>
                <a:ext cx="432284" cy="510806"/>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0" name="ZoneTexte 159">
                <a:extLst>
                  <a:ext uri="{FF2B5EF4-FFF2-40B4-BE49-F238E27FC236}">
                    <a16:creationId xmlns:a16="http://schemas.microsoft.com/office/drawing/2014/main" id="{9B8F5D3A-5F85-8A7F-2403-E2623C2BC35D}"/>
                  </a:ext>
                </a:extLst>
              </p:cNvPr>
              <p:cNvSpPr txBox="1"/>
              <p:nvPr/>
            </p:nvSpPr>
            <p:spPr>
              <a:xfrm>
                <a:off x="3443836" y="2621098"/>
                <a:ext cx="432284" cy="510806"/>
              </a:xfrm>
              <a:prstGeom prst="rect">
                <a:avLst/>
              </a:prstGeom>
              <a:noFill/>
            </p:spPr>
            <p:txBody>
              <a:bodyPr wrap="square" rtlCol="0">
                <a:noAutofit/>
              </a:bodyPr>
              <a:lstStyle/>
              <a:p>
                <a:pPr algn="ctr"/>
                <a14:m>
                  <m:oMathPara xmlns:m="http://schemas.openxmlformats.org/officeDocument/2006/math">
                    <m:oMathParaPr>
                      <m:jc m:val="centerGroup"/>
                    </m:oMathParaPr>
                    <m:oMath xmlns:m="http://schemas.openxmlformats.org/officeDocument/2006/math">
                      <m:sSubSup>
                        <m:sSubSupPr>
                          <m:ctrlP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ctrlPr>
                        </m:sSubSupPr>
                        <m:e>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𝒃</m:t>
                          </m:r>
                        </m:e>
                        <m:sub>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𝒉</m:t>
                          </m:r>
                        </m:sub>
                        <m:sup>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𝟐</m:t>
                          </m:r>
                        </m:sup>
                      </m:sSubSup>
                    </m:oMath>
                  </m:oMathPara>
                </a14:m>
                <a:endParaRPr lang="fr-FR" b="1" baseline="-25000" dirty="0">
                  <a:ln>
                    <a:solidFill>
                      <a:schemeClr val="accent2">
                        <a:lumMod val="75000"/>
                      </a:schemeClr>
                    </a:solidFill>
                  </a:ln>
                  <a:solidFill>
                    <a:schemeClr val="accent2">
                      <a:lumMod val="75000"/>
                    </a:schemeClr>
                  </a:solidFill>
                  <a:latin typeface="Monaco" pitchFamily="2" charset="77"/>
                </a:endParaRPr>
              </a:p>
            </p:txBody>
          </p:sp>
        </mc:Choice>
        <mc:Fallback xmlns="">
          <p:sp>
            <p:nvSpPr>
              <p:cNvPr id="160" name="ZoneTexte 159">
                <a:extLst>
                  <a:ext uri="{FF2B5EF4-FFF2-40B4-BE49-F238E27FC236}">
                    <a16:creationId xmlns:a16="http://schemas.microsoft.com/office/drawing/2014/main" id="{9B8F5D3A-5F85-8A7F-2403-E2623C2BC35D}"/>
                  </a:ext>
                </a:extLst>
              </p:cNvPr>
              <p:cNvSpPr txBox="1">
                <a:spLocks noRot="1" noChangeAspect="1" noMove="1" noResize="1" noEditPoints="1" noAdjustHandles="1" noChangeArrowheads="1" noChangeShapeType="1" noTextEdit="1"/>
              </p:cNvSpPr>
              <p:nvPr/>
            </p:nvSpPr>
            <p:spPr>
              <a:xfrm>
                <a:off x="3443836" y="2621098"/>
                <a:ext cx="432284" cy="510806"/>
              </a:xfrm>
              <a:prstGeom prst="rect">
                <a:avLst/>
              </a:prstGeom>
              <a:blipFill>
                <a:blip r:embed="rId7"/>
                <a:stretch>
                  <a:fillRect/>
                </a:stretch>
              </a:blipFill>
            </p:spPr>
            <p:txBody>
              <a:bodyPr/>
              <a:lstStyle/>
              <a:p>
                <a:r>
                  <a:rPr lang="en-GB">
                    <a:noFill/>
                  </a:rPr>
                  <a:t> </a:t>
                </a:r>
              </a:p>
            </p:txBody>
          </p:sp>
        </mc:Fallback>
      </mc:AlternateContent>
      <p:cxnSp>
        <p:nvCxnSpPr>
          <p:cNvPr id="180" name="Connecteur droit avec flèche 179">
            <a:extLst>
              <a:ext uri="{FF2B5EF4-FFF2-40B4-BE49-F238E27FC236}">
                <a16:creationId xmlns:a16="http://schemas.microsoft.com/office/drawing/2014/main" id="{7729513A-7732-53F8-8060-0D2981CBA8E4}"/>
              </a:ext>
            </a:extLst>
          </p:cNvPr>
          <p:cNvCxnSpPr>
            <a:cxnSpLocks/>
            <a:stCxn id="181" idx="3"/>
            <a:endCxn id="53" idx="2"/>
          </p:cNvCxnSpPr>
          <p:nvPr/>
        </p:nvCxnSpPr>
        <p:spPr>
          <a:xfrm flipV="1">
            <a:off x="1748528" y="2220929"/>
            <a:ext cx="2126838" cy="5321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81" name="ZoneTexte 180">
                <a:extLst>
                  <a:ext uri="{FF2B5EF4-FFF2-40B4-BE49-F238E27FC236}">
                    <a16:creationId xmlns:a16="http://schemas.microsoft.com/office/drawing/2014/main" id="{E05EDB5E-FE5F-93D0-E7AC-DF379F49221C}"/>
                  </a:ext>
                </a:extLst>
              </p:cNvPr>
              <p:cNvSpPr txBox="1"/>
              <p:nvPr/>
            </p:nvSpPr>
            <p:spPr>
              <a:xfrm>
                <a:off x="992759" y="2369130"/>
                <a:ext cx="755769" cy="767994"/>
              </a:xfrm>
              <a:prstGeom prst="rect">
                <a:avLst/>
              </a:prstGeom>
              <a:noFill/>
            </p:spPr>
            <p:txBody>
              <a:bodyPr wrap="square" lIns="90000" rtlCol="0">
                <a:noAutofit/>
              </a:bodyPr>
              <a:lstStyle/>
              <a:p>
                <a:pPr algn="ctr"/>
                <a14:m>
                  <m:oMath xmlns:m="http://schemas.openxmlformats.org/officeDocument/2006/math">
                    <m:r>
                      <m:rPr>
                        <m:sty m:val="p"/>
                      </m:rPr>
                      <a:rPr lang="fr-FR" sz="2800" i="1" baseline="-25000" smtClean="0">
                        <a:latin typeface="Cambria Math" panose="02040503050406030204" pitchFamily="18" charset="0"/>
                      </a:rPr>
                      <m:t>x</m:t>
                    </m:r>
                    <m:sSub>
                      <m:sSubPr>
                        <m:ctrlPr>
                          <a:rPr lang="fr-FR" sz="2800" i="1" baseline="-25000" smtClean="0">
                            <a:latin typeface="Cambria Math" panose="02040503050406030204" pitchFamily="18" charset="0"/>
                          </a:rPr>
                        </m:ctrlPr>
                      </m:sSubPr>
                      <m:e>
                        <m:r>
                          <a:rPr lang="fr-FR" sz="2800" b="0" i="1" baseline="-25000" smtClean="0">
                            <a:latin typeface="Cambria Math" panose="02040503050406030204" pitchFamily="18" charset="0"/>
                          </a:rPr>
                          <m:t>1</m:t>
                        </m:r>
                      </m:e>
                      <m:sub/>
                    </m:sSub>
                  </m:oMath>
                </a14:m>
                <a:r>
                  <a:rPr lang="fr-FR" sz="2800" baseline="-25000" dirty="0"/>
                  <a:t> </a:t>
                </a:r>
              </a:p>
            </p:txBody>
          </p:sp>
        </mc:Choice>
        <mc:Fallback xmlns="">
          <p:sp>
            <p:nvSpPr>
              <p:cNvPr id="181" name="ZoneTexte 180">
                <a:extLst>
                  <a:ext uri="{FF2B5EF4-FFF2-40B4-BE49-F238E27FC236}">
                    <a16:creationId xmlns:a16="http://schemas.microsoft.com/office/drawing/2014/main" id="{E05EDB5E-FE5F-93D0-E7AC-DF379F49221C}"/>
                  </a:ext>
                </a:extLst>
              </p:cNvPr>
              <p:cNvSpPr txBox="1">
                <a:spLocks noRot="1" noChangeAspect="1" noMove="1" noResize="1" noEditPoints="1" noAdjustHandles="1" noChangeArrowheads="1" noChangeShapeType="1" noTextEdit="1"/>
              </p:cNvSpPr>
              <p:nvPr/>
            </p:nvSpPr>
            <p:spPr>
              <a:xfrm>
                <a:off x="992759" y="2369130"/>
                <a:ext cx="755769" cy="767994"/>
              </a:xfrm>
              <a:prstGeom prst="rect">
                <a:avLst/>
              </a:prstGeom>
              <a:blipFill>
                <a:blip r:embed="rId8"/>
                <a:stretch>
                  <a:fillRect/>
                </a:stretch>
              </a:blipFill>
            </p:spPr>
            <p:txBody>
              <a:bodyPr/>
              <a:lstStyle/>
              <a:p>
                <a:r>
                  <a:rPr lang="en-GB">
                    <a:noFill/>
                  </a:rPr>
                  <a:t> </a:t>
                </a:r>
              </a:p>
            </p:txBody>
          </p:sp>
        </mc:Fallback>
      </mc:AlternateContent>
      <p:cxnSp>
        <p:nvCxnSpPr>
          <p:cNvPr id="182" name="Connecteur droit avec flèche 181">
            <a:extLst>
              <a:ext uri="{FF2B5EF4-FFF2-40B4-BE49-F238E27FC236}">
                <a16:creationId xmlns:a16="http://schemas.microsoft.com/office/drawing/2014/main" id="{2C548BAD-6DAE-6FDC-A726-BF711A212EAA}"/>
              </a:ext>
            </a:extLst>
          </p:cNvPr>
          <p:cNvCxnSpPr>
            <a:cxnSpLocks/>
            <a:stCxn id="181" idx="3"/>
            <a:endCxn id="45" idx="2"/>
          </p:cNvCxnSpPr>
          <p:nvPr/>
        </p:nvCxnSpPr>
        <p:spPr>
          <a:xfrm>
            <a:off x="1748528" y="2753127"/>
            <a:ext cx="2141042" cy="4925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3" name="Connecteur droit avec flèche 182">
            <a:extLst>
              <a:ext uri="{FF2B5EF4-FFF2-40B4-BE49-F238E27FC236}">
                <a16:creationId xmlns:a16="http://schemas.microsoft.com/office/drawing/2014/main" id="{CB4F5B82-8A7F-3880-A33E-AE542A755203}"/>
              </a:ext>
            </a:extLst>
          </p:cNvPr>
          <p:cNvCxnSpPr>
            <a:cxnSpLocks/>
            <a:stCxn id="181" idx="3"/>
            <a:endCxn id="80" idx="2"/>
          </p:cNvCxnSpPr>
          <p:nvPr/>
        </p:nvCxnSpPr>
        <p:spPr>
          <a:xfrm>
            <a:off x="1748528" y="2753127"/>
            <a:ext cx="2126835" cy="14997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4" name="Connecteur droit avec flèche 183">
            <a:extLst>
              <a:ext uri="{FF2B5EF4-FFF2-40B4-BE49-F238E27FC236}">
                <a16:creationId xmlns:a16="http://schemas.microsoft.com/office/drawing/2014/main" id="{03687949-CF7D-DD44-AE12-86E92D363964}"/>
              </a:ext>
            </a:extLst>
          </p:cNvPr>
          <p:cNvCxnSpPr>
            <a:cxnSpLocks/>
            <a:stCxn id="185" idx="3"/>
            <a:endCxn id="53" idx="2"/>
          </p:cNvCxnSpPr>
          <p:nvPr/>
        </p:nvCxnSpPr>
        <p:spPr>
          <a:xfrm flipV="1">
            <a:off x="1735215" y="2220929"/>
            <a:ext cx="2140151" cy="21791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85" name="ZoneTexte 184">
                <a:extLst>
                  <a:ext uri="{FF2B5EF4-FFF2-40B4-BE49-F238E27FC236}">
                    <a16:creationId xmlns:a16="http://schemas.microsoft.com/office/drawing/2014/main" id="{5F9B92E6-FD26-6105-A7E9-7B216E49BACC}"/>
                  </a:ext>
                </a:extLst>
              </p:cNvPr>
              <p:cNvSpPr txBox="1"/>
              <p:nvPr/>
            </p:nvSpPr>
            <p:spPr>
              <a:xfrm>
                <a:off x="979446" y="4064283"/>
                <a:ext cx="755769" cy="671627"/>
              </a:xfrm>
              <a:prstGeom prst="rect">
                <a:avLst/>
              </a:prstGeom>
              <a:noFill/>
            </p:spPr>
            <p:txBody>
              <a:bodyPr wrap="square" lIns="90000" rtlCol="0">
                <a:noAutofit/>
              </a:bodyPr>
              <a:lstStyle/>
              <a:p>
                <a:pPr algn="ctr"/>
                <a14:m>
                  <m:oMath xmlns:m="http://schemas.openxmlformats.org/officeDocument/2006/math">
                    <m:r>
                      <m:rPr>
                        <m:sty m:val="p"/>
                      </m:rPr>
                      <a:rPr lang="fr-FR" sz="2800" i="1" baseline="-25000" smtClean="0">
                        <a:latin typeface="Cambria Math" panose="02040503050406030204" pitchFamily="18" charset="0"/>
                      </a:rPr>
                      <m:t>x</m:t>
                    </m:r>
                    <m:sSub>
                      <m:sSubPr>
                        <m:ctrlPr>
                          <a:rPr lang="fr-FR" sz="2800" i="1" baseline="-25000" smtClean="0">
                            <a:latin typeface="Cambria Math" panose="02040503050406030204" pitchFamily="18" charset="0"/>
                          </a:rPr>
                        </m:ctrlPr>
                      </m:sSubPr>
                      <m:e>
                        <m:r>
                          <a:rPr lang="fr-FR" sz="2800" b="0" i="1" baseline="-25000" smtClean="0">
                            <a:latin typeface="Cambria Math" panose="02040503050406030204" pitchFamily="18" charset="0"/>
                          </a:rPr>
                          <m:t>3</m:t>
                        </m:r>
                      </m:e>
                      <m:sub/>
                    </m:sSub>
                  </m:oMath>
                </a14:m>
                <a:r>
                  <a:rPr lang="fr-FR" sz="2800" baseline="-25000" dirty="0"/>
                  <a:t> </a:t>
                </a:r>
              </a:p>
            </p:txBody>
          </p:sp>
        </mc:Choice>
        <mc:Fallback xmlns="">
          <p:sp>
            <p:nvSpPr>
              <p:cNvPr id="185" name="ZoneTexte 184">
                <a:extLst>
                  <a:ext uri="{FF2B5EF4-FFF2-40B4-BE49-F238E27FC236}">
                    <a16:creationId xmlns:a16="http://schemas.microsoft.com/office/drawing/2014/main" id="{5F9B92E6-FD26-6105-A7E9-7B216E49BACC}"/>
                  </a:ext>
                </a:extLst>
              </p:cNvPr>
              <p:cNvSpPr txBox="1">
                <a:spLocks noRot="1" noChangeAspect="1" noMove="1" noResize="1" noEditPoints="1" noAdjustHandles="1" noChangeArrowheads="1" noChangeShapeType="1" noTextEdit="1"/>
              </p:cNvSpPr>
              <p:nvPr/>
            </p:nvSpPr>
            <p:spPr>
              <a:xfrm>
                <a:off x="979446" y="4064283"/>
                <a:ext cx="755769" cy="671627"/>
              </a:xfrm>
              <a:prstGeom prst="rect">
                <a:avLst/>
              </a:prstGeom>
              <a:blipFill>
                <a:blip r:embed="rId9"/>
                <a:stretch>
                  <a:fillRect/>
                </a:stretch>
              </a:blipFill>
            </p:spPr>
            <p:txBody>
              <a:bodyPr/>
              <a:lstStyle/>
              <a:p>
                <a:r>
                  <a:rPr lang="en-GB">
                    <a:noFill/>
                  </a:rPr>
                  <a:t> </a:t>
                </a:r>
              </a:p>
            </p:txBody>
          </p:sp>
        </mc:Fallback>
      </mc:AlternateContent>
      <p:cxnSp>
        <p:nvCxnSpPr>
          <p:cNvPr id="186" name="Connecteur droit avec flèche 185">
            <a:extLst>
              <a:ext uri="{FF2B5EF4-FFF2-40B4-BE49-F238E27FC236}">
                <a16:creationId xmlns:a16="http://schemas.microsoft.com/office/drawing/2014/main" id="{C83F07AA-3877-C607-21F6-78F2A0B8F657}"/>
              </a:ext>
            </a:extLst>
          </p:cNvPr>
          <p:cNvCxnSpPr>
            <a:cxnSpLocks/>
            <a:stCxn id="185" idx="3"/>
            <a:endCxn id="45" idx="2"/>
          </p:cNvCxnSpPr>
          <p:nvPr/>
        </p:nvCxnSpPr>
        <p:spPr>
          <a:xfrm flipV="1">
            <a:off x="1735215" y="3245654"/>
            <a:ext cx="2154355" cy="11544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7" name="Connecteur droit avec flèche 186">
            <a:extLst>
              <a:ext uri="{FF2B5EF4-FFF2-40B4-BE49-F238E27FC236}">
                <a16:creationId xmlns:a16="http://schemas.microsoft.com/office/drawing/2014/main" id="{470686BF-9288-3ED0-4756-5842B61ADC25}"/>
              </a:ext>
            </a:extLst>
          </p:cNvPr>
          <p:cNvCxnSpPr>
            <a:cxnSpLocks/>
            <a:stCxn id="185" idx="3"/>
            <a:endCxn id="80" idx="2"/>
          </p:cNvCxnSpPr>
          <p:nvPr/>
        </p:nvCxnSpPr>
        <p:spPr>
          <a:xfrm flipV="1">
            <a:off x="1735215" y="4252925"/>
            <a:ext cx="2140148" cy="1471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7" name="Connecteur droit avec flèche 206">
            <a:extLst>
              <a:ext uri="{FF2B5EF4-FFF2-40B4-BE49-F238E27FC236}">
                <a16:creationId xmlns:a16="http://schemas.microsoft.com/office/drawing/2014/main" id="{321A0607-B924-DB22-6F15-9C6C906EA53D}"/>
              </a:ext>
            </a:extLst>
          </p:cNvPr>
          <p:cNvCxnSpPr>
            <a:cxnSpLocks/>
            <a:stCxn id="181" idx="3"/>
            <a:endCxn id="74" idx="2"/>
          </p:cNvCxnSpPr>
          <p:nvPr/>
        </p:nvCxnSpPr>
        <p:spPr>
          <a:xfrm>
            <a:off x="1748528" y="2753127"/>
            <a:ext cx="2141042" cy="25499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3" name="Connecteur droit avec flèche 212">
            <a:extLst>
              <a:ext uri="{FF2B5EF4-FFF2-40B4-BE49-F238E27FC236}">
                <a16:creationId xmlns:a16="http://schemas.microsoft.com/office/drawing/2014/main" id="{C5008A5A-0842-E3D6-A4C1-BD29F1C35885}"/>
              </a:ext>
            </a:extLst>
          </p:cNvPr>
          <p:cNvCxnSpPr>
            <a:cxnSpLocks/>
            <a:stCxn id="21" idx="3"/>
            <a:endCxn id="74" idx="2"/>
          </p:cNvCxnSpPr>
          <p:nvPr/>
        </p:nvCxnSpPr>
        <p:spPr>
          <a:xfrm>
            <a:off x="1723626" y="3580126"/>
            <a:ext cx="2165944" cy="17229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9" name="Connecteur droit avec flèche 218">
            <a:extLst>
              <a:ext uri="{FF2B5EF4-FFF2-40B4-BE49-F238E27FC236}">
                <a16:creationId xmlns:a16="http://schemas.microsoft.com/office/drawing/2014/main" id="{FE1C7827-79C1-CCDB-C39D-1A9FF76113AF}"/>
              </a:ext>
            </a:extLst>
          </p:cNvPr>
          <p:cNvCxnSpPr>
            <a:cxnSpLocks/>
            <a:stCxn id="185" idx="3"/>
            <a:endCxn id="74" idx="2"/>
          </p:cNvCxnSpPr>
          <p:nvPr/>
        </p:nvCxnSpPr>
        <p:spPr>
          <a:xfrm>
            <a:off x="1735215" y="4400097"/>
            <a:ext cx="2154355" cy="9029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9" name="ZoneTexte 228">
            <a:extLst>
              <a:ext uri="{FF2B5EF4-FFF2-40B4-BE49-F238E27FC236}">
                <a16:creationId xmlns:a16="http://schemas.microsoft.com/office/drawing/2014/main" id="{41C67E94-9DB0-9BA2-C9A5-B831A166BE4A}"/>
              </a:ext>
            </a:extLst>
          </p:cNvPr>
          <p:cNvSpPr txBox="1"/>
          <p:nvPr/>
        </p:nvSpPr>
        <p:spPr>
          <a:xfrm>
            <a:off x="3867157" y="3145521"/>
            <a:ext cx="637295" cy="246221"/>
          </a:xfrm>
          <a:prstGeom prst="rect">
            <a:avLst/>
          </a:prstGeom>
          <a:noFill/>
        </p:spPr>
        <p:txBody>
          <a:bodyPr wrap="square" rtlCol="0">
            <a:spAutoFit/>
          </a:bodyPr>
          <a:lstStyle/>
          <a:p>
            <a:r>
              <a:rPr lang="fr-FR" sz="1000" dirty="0"/>
              <a:t>net_h1</a:t>
            </a:r>
          </a:p>
        </p:txBody>
      </p:sp>
      <p:sp>
        <p:nvSpPr>
          <p:cNvPr id="231" name="ZoneTexte 230">
            <a:extLst>
              <a:ext uri="{FF2B5EF4-FFF2-40B4-BE49-F238E27FC236}">
                <a16:creationId xmlns:a16="http://schemas.microsoft.com/office/drawing/2014/main" id="{AAEC490B-DA1D-E524-8E8D-6AB0B2EEBC8D}"/>
              </a:ext>
            </a:extLst>
          </p:cNvPr>
          <p:cNvSpPr txBox="1"/>
          <p:nvPr/>
        </p:nvSpPr>
        <p:spPr>
          <a:xfrm>
            <a:off x="3879857" y="4123421"/>
            <a:ext cx="637295" cy="246221"/>
          </a:xfrm>
          <a:prstGeom prst="rect">
            <a:avLst/>
          </a:prstGeom>
          <a:noFill/>
        </p:spPr>
        <p:txBody>
          <a:bodyPr wrap="square" rtlCol="0">
            <a:spAutoFit/>
          </a:bodyPr>
          <a:lstStyle/>
          <a:p>
            <a:r>
              <a:rPr lang="fr-FR" sz="1000" dirty="0"/>
              <a:t>net_h1</a:t>
            </a:r>
          </a:p>
        </p:txBody>
      </p:sp>
      <p:sp>
        <p:nvSpPr>
          <p:cNvPr id="232" name="ZoneTexte 231">
            <a:extLst>
              <a:ext uri="{FF2B5EF4-FFF2-40B4-BE49-F238E27FC236}">
                <a16:creationId xmlns:a16="http://schemas.microsoft.com/office/drawing/2014/main" id="{558E8CE0-86C2-01D0-7F06-91CB8FD817A0}"/>
              </a:ext>
            </a:extLst>
          </p:cNvPr>
          <p:cNvSpPr txBox="1"/>
          <p:nvPr/>
        </p:nvSpPr>
        <p:spPr>
          <a:xfrm>
            <a:off x="4304668" y="4123087"/>
            <a:ext cx="637295" cy="246221"/>
          </a:xfrm>
          <a:prstGeom prst="rect">
            <a:avLst/>
          </a:prstGeom>
          <a:noFill/>
        </p:spPr>
        <p:txBody>
          <a:bodyPr wrap="square" rtlCol="0">
            <a:spAutoFit/>
          </a:bodyPr>
          <a:lstStyle/>
          <a:p>
            <a:pPr algn="r"/>
            <a:r>
              <a:rPr lang="fr-FR" sz="1000" dirty="0"/>
              <a:t>out_h1</a:t>
            </a:r>
          </a:p>
        </p:txBody>
      </p:sp>
      <p:sp>
        <p:nvSpPr>
          <p:cNvPr id="233" name="ZoneTexte 232">
            <a:extLst>
              <a:ext uri="{FF2B5EF4-FFF2-40B4-BE49-F238E27FC236}">
                <a16:creationId xmlns:a16="http://schemas.microsoft.com/office/drawing/2014/main" id="{B815D290-0DDE-499A-3444-90E36BFDB073}"/>
              </a:ext>
            </a:extLst>
          </p:cNvPr>
          <p:cNvSpPr txBox="1"/>
          <p:nvPr/>
        </p:nvSpPr>
        <p:spPr>
          <a:xfrm>
            <a:off x="3879857" y="5164821"/>
            <a:ext cx="637295" cy="246221"/>
          </a:xfrm>
          <a:prstGeom prst="rect">
            <a:avLst/>
          </a:prstGeom>
          <a:noFill/>
        </p:spPr>
        <p:txBody>
          <a:bodyPr wrap="square" rtlCol="0">
            <a:spAutoFit/>
          </a:bodyPr>
          <a:lstStyle/>
          <a:p>
            <a:r>
              <a:rPr lang="fr-FR" sz="1000" dirty="0"/>
              <a:t>net_h1</a:t>
            </a:r>
          </a:p>
        </p:txBody>
      </p:sp>
      <p:sp>
        <p:nvSpPr>
          <p:cNvPr id="234" name="ZoneTexte 233">
            <a:extLst>
              <a:ext uri="{FF2B5EF4-FFF2-40B4-BE49-F238E27FC236}">
                <a16:creationId xmlns:a16="http://schemas.microsoft.com/office/drawing/2014/main" id="{291122B9-FBFD-2D41-4EE0-7DB96A380428}"/>
              </a:ext>
            </a:extLst>
          </p:cNvPr>
          <p:cNvSpPr txBox="1"/>
          <p:nvPr/>
        </p:nvSpPr>
        <p:spPr>
          <a:xfrm>
            <a:off x="4304668" y="5164487"/>
            <a:ext cx="637295" cy="246221"/>
          </a:xfrm>
          <a:prstGeom prst="rect">
            <a:avLst/>
          </a:prstGeom>
          <a:noFill/>
        </p:spPr>
        <p:txBody>
          <a:bodyPr wrap="square" rtlCol="0">
            <a:spAutoFit/>
          </a:bodyPr>
          <a:lstStyle/>
          <a:p>
            <a:pPr algn="r"/>
            <a:r>
              <a:rPr lang="fr-FR" sz="1000" dirty="0"/>
              <a:t>out_h1</a:t>
            </a:r>
          </a:p>
        </p:txBody>
      </p:sp>
      <mc:AlternateContent xmlns:mc="http://schemas.openxmlformats.org/markup-compatibility/2006" xmlns:a14="http://schemas.microsoft.com/office/drawing/2010/main">
        <mc:Choice Requires="a14">
          <p:sp>
            <p:nvSpPr>
              <p:cNvPr id="235" name="ZoneTexte 234">
                <a:extLst>
                  <a:ext uri="{FF2B5EF4-FFF2-40B4-BE49-F238E27FC236}">
                    <a16:creationId xmlns:a16="http://schemas.microsoft.com/office/drawing/2014/main" id="{48599273-D78B-BB83-FB9A-646F1612644B}"/>
                  </a:ext>
                </a:extLst>
              </p:cNvPr>
              <p:cNvSpPr txBox="1"/>
              <p:nvPr/>
            </p:nvSpPr>
            <p:spPr>
              <a:xfrm>
                <a:off x="3457287" y="4462017"/>
                <a:ext cx="432284" cy="510806"/>
              </a:xfrm>
              <a:prstGeom prst="rect">
                <a:avLst/>
              </a:prstGeom>
              <a:noFill/>
            </p:spPr>
            <p:txBody>
              <a:bodyPr wrap="square" rtlCol="0">
                <a:noAutofit/>
              </a:bodyPr>
              <a:lstStyle/>
              <a:p>
                <a:pPr algn="ctr"/>
                <a14:m>
                  <m:oMathPara xmlns:m="http://schemas.openxmlformats.org/officeDocument/2006/math">
                    <m:oMathParaPr>
                      <m:jc m:val="centerGroup"/>
                    </m:oMathParaPr>
                    <m:oMath xmlns:m="http://schemas.openxmlformats.org/officeDocument/2006/math">
                      <m:sSubSup>
                        <m:sSubSupPr>
                          <m:ctrlP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ctrlPr>
                        </m:sSubSupPr>
                        <m:e>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𝒃</m:t>
                          </m:r>
                        </m:e>
                        <m:sub>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𝒉</m:t>
                          </m:r>
                        </m:sub>
                        <m:sup>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𝟒</m:t>
                          </m:r>
                        </m:sup>
                      </m:sSubSup>
                    </m:oMath>
                  </m:oMathPara>
                </a14:m>
                <a:endParaRPr lang="fr-FR" b="1" baseline="-25000" dirty="0">
                  <a:ln>
                    <a:solidFill>
                      <a:schemeClr val="accent2">
                        <a:lumMod val="75000"/>
                      </a:schemeClr>
                    </a:solidFill>
                  </a:ln>
                  <a:solidFill>
                    <a:schemeClr val="accent2">
                      <a:lumMod val="75000"/>
                    </a:schemeClr>
                  </a:solidFill>
                  <a:latin typeface="Monaco" pitchFamily="2" charset="77"/>
                </a:endParaRPr>
              </a:p>
            </p:txBody>
          </p:sp>
        </mc:Choice>
        <mc:Fallback xmlns="">
          <p:sp>
            <p:nvSpPr>
              <p:cNvPr id="235" name="ZoneTexte 234">
                <a:extLst>
                  <a:ext uri="{FF2B5EF4-FFF2-40B4-BE49-F238E27FC236}">
                    <a16:creationId xmlns:a16="http://schemas.microsoft.com/office/drawing/2014/main" id="{48599273-D78B-BB83-FB9A-646F1612644B}"/>
                  </a:ext>
                </a:extLst>
              </p:cNvPr>
              <p:cNvSpPr txBox="1">
                <a:spLocks noRot="1" noChangeAspect="1" noMove="1" noResize="1" noEditPoints="1" noAdjustHandles="1" noChangeArrowheads="1" noChangeShapeType="1" noTextEdit="1"/>
              </p:cNvSpPr>
              <p:nvPr/>
            </p:nvSpPr>
            <p:spPr>
              <a:xfrm>
                <a:off x="3457287" y="4462017"/>
                <a:ext cx="432284" cy="510806"/>
              </a:xfrm>
              <a:prstGeom prst="rect">
                <a:avLst/>
              </a:prstGeom>
              <a:blipFill>
                <a:blip r:embed="rId10"/>
                <a:stretch>
                  <a:fillRect/>
                </a:stretch>
              </a:blipFill>
            </p:spPr>
            <p:txBody>
              <a:bodyPr/>
              <a:lstStyle/>
              <a:p>
                <a:r>
                  <a:rPr lang="en-GB">
                    <a:noFill/>
                  </a:rPr>
                  <a:t> </a:t>
                </a:r>
              </a:p>
            </p:txBody>
          </p:sp>
        </mc:Fallback>
      </mc:AlternateContent>
      <p:cxnSp>
        <p:nvCxnSpPr>
          <p:cNvPr id="237" name="Connecteur droit avec flèche 236">
            <a:extLst>
              <a:ext uri="{FF2B5EF4-FFF2-40B4-BE49-F238E27FC236}">
                <a16:creationId xmlns:a16="http://schemas.microsoft.com/office/drawing/2014/main" id="{620A6EBB-372C-5D4A-B5DA-AFA0AB3FBE94}"/>
              </a:ext>
            </a:extLst>
          </p:cNvPr>
          <p:cNvCxnSpPr/>
          <p:nvPr/>
        </p:nvCxnSpPr>
        <p:spPr>
          <a:xfrm>
            <a:off x="3664145" y="4880194"/>
            <a:ext cx="209155" cy="14662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38" name="Connecteur droit avec flèche 237">
            <a:extLst>
              <a:ext uri="{FF2B5EF4-FFF2-40B4-BE49-F238E27FC236}">
                <a16:creationId xmlns:a16="http://schemas.microsoft.com/office/drawing/2014/main" id="{AABA8C7E-0736-6E63-E4BE-E9C883083130}"/>
              </a:ext>
            </a:extLst>
          </p:cNvPr>
          <p:cNvCxnSpPr/>
          <p:nvPr/>
        </p:nvCxnSpPr>
        <p:spPr>
          <a:xfrm>
            <a:off x="3640556" y="3911355"/>
            <a:ext cx="209155" cy="14662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39" name="Connecteur droit avec flèche 238">
            <a:extLst>
              <a:ext uri="{FF2B5EF4-FFF2-40B4-BE49-F238E27FC236}">
                <a16:creationId xmlns:a16="http://schemas.microsoft.com/office/drawing/2014/main" id="{DA61E10D-460E-E66B-EA9A-0B3E8A9599D6}"/>
              </a:ext>
            </a:extLst>
          </p:cNvPr>
          <p:cNvCxnSpPr/>
          <p:nvPr/>
        </p:nvCxnSpPr>
        <p:spPr>
          <a:xfrm>
            <a:off x="3651900" y="3035946"/>
            <a:ext cx="209155" cy="14662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40" name="Connecteur droit avec flèche 239">
            <a:extLst>
              <a:ext uri="{FF2B5EF4-FFF2-40B4-BE49-F238E27FC236}">
                <a16:creationId xmlns:a16="http://schemas.microsoft.com/office/drawing/2014/main" id="{BA8102AA-B93C-4A15-254E-CCE8DBAB576F}"/>
              </a:ext>
            </a:extLst>
          </p:cNvPr>
          <p:cNvCxnSpPr/>
          <p:nvPr/>
        </p:nvCxnSpPr>
        <p:spPr>
          <a:xfrm>
            <a:off x="3664145" y="2070169"/>
            <a:ext cx="209155" cy="14662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241" name="ZoneTexte 240">
                <a:extLst>
                  <a:ext uri="{FF2B5EF4-FFF2-40B4-BE49-F238E27FC236}">
                    <a16:creationId xmlns:a16="http://schemas.microsoft.com/office/drawing/2014/main" id="{B6D98FA8-D69A-F403-6C0B-C5E4E1E10702}"/>
                  </a:ext>
                </a:extLst>
              </p:cNvPr>
              <p:cNvSpPr txBox="1"/>
              <p:nvPr/>
            </p:nvSpPr>
            <p:spPr>
              <a:xfrm>
                <a:off x="5306478" y="4983747"/>
                <a:ext cx="1121062" cy="246221"/>
              </a:xfrm>
              <a:prstGeom prst="rect">
                <a:avLst/>
              </a:prstGeom>
              <a:noFill/>
            </p:spPr>
            <p:txBody>
              <a:bodyPr wrap="square" lIns="0" tIns="0" rIns="0" bIns="0" rtlCol="0">
                <a:spAutoFit/>
              </a:bodyPr>
              <a:lstStyle/>
              <a:p>
                <a:pPr algn="ctr"/>
                <a14:m>
                  <m:oMath xmlns:m="http://schemas.openxmlformats.org/officeDocument/2006/math">
                    <m:r>
                      <a:rPr lang="fr-FR" sz="1600" b="0" i="1" smtClean="0">
                        <a:latin typeface="Cambria Math" panose="02040503050406030204" pitchFamily="18" charset="0"/>
                      </a:rPr>
                      <m:t>𝑊</m:t>
                    </m:r>
                    <m:r>
                      <a:rPr lang="fr-FR" sz="1600" b="0" i="1" smtClean="0">
                        <a:latin typeface="Cambria Math" panose="02040503050406030204" pitchFamily="18" charset="0"/>
                      </a:rPr>
                      <m:t>_</m:t>
                    </m:r>
                  </m:oMath>
                </a14:m>
                <a:r>
                  <a:rPr lang="fr-FR" sz="1600" b="0" i="1" dirty="0">
                    <a:latin typeface="Cambria Math" panose="02040503050406030204" pitchFamily="18" charset="0"/>
                  </a:rPr>
                  <a:t>out</a:t>
                </a:r>
              </a:p>
            </p:txBody>
          </p:sp>
        </mc:Choice>
        <mc:Fallback xmlns="">
          <p:sp>
            <p:nvSpPr>
              <p:cNvPr id="241" name="ZoneTexte 240">
                <a:extLst>
                  <a:ext uri="{FF2B5EF4-FFF2-40B4-BE49-F238E27FC236}">
                    <a16:creationId xmlns:a16="http://schemas.microsoft.com/office/drawing/2014/main" id="{B6D98FA8-D69A-F403-6C0B-C5E4E1E10702}"/>
                  </a:ext>
                </a:extLst>
              </p:cNvPr>
              <p:cNvSpPr txBox="1">
                <a:spLocks noRot="1" noChangeAspect="1" noMove="1" noResize="1" noEditPoints="1" noAdjustHandles="1" noChangeArrowheads="1" noChangeShapeType="1" noTextEdit="1"/>
              </p:cNvSpPr>
              <p:nvPr/>
            </p:nvSpPr>
            <p:spPr>
              <a:xfrm>
                <a:off x="5306478" y="4983747"/>
                <a:ext cx="1121062" cy="246221"/>
              </a:xfrm>
              <a:prstGeom prst="rect">
                <a:avLst/>
              </a:prstGeom>
              <a:blipFill>
                <a:blip r:embed="rId11"/>
                <a:stretch>
                  <a:fillRect t="-25000" b="-4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2" name="ZoneTexte 241">
                <a:extLst>
                  <a:ext uri="{FF2B5EF4-FFF2-40B4-BE49-F238E27FC236}">
                    <a16:creationId xmlns:a16="http://schemas.microsoft.com/office/drawing/2014/main" id="{C06CD03E-CD1C-9181-EA06-1870F5F09A47}"/>
                  </a:ext>
                </a:extLst>
              </p:cNvPr>
              <p:cNvSpPr txBox="1"/>
              <p:nvPr/>
            </p:nvSpPr>
            <p:spPr>
              <a:xfrm>
                <a:off x="6246153" y="2508106"/>
                <a:ext cx="432284" cy="510806"/>
              </a:xfrm>
              <a:prstGeom prst="rect">
                <a:avLst/>
              </a:prstGeom>
              <a:noFill/>
            </p:spPr>
            <p:txBody>
              <a:bodyPr wrap="square" rtlCol="0">
                <a:noAutofit/>
              </a:bodyPr>
              <a:lstStyle/>
              <a:p>
                <a:pPr algn="ctr"/>
                <a14:m>
                  <m:oMathPara xmlns:m="http://schemas.openxmlformats.org/officeDocument/2006/math">
                    <m:oMathParaPr>
                      <m:jc m:val="centerGroup"/>
                    </m:oMathParaPr>
                    <m:oMath xmlns:m="http://schemas.openxmlformats.org/officeDocument/2006/math">
                      <m:sSubSup>
                        <m:sSubSupPr>
                          <m:ctrlP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ctrlPr>
                        </m:sSubSupPr>
                        <m:e>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𝒃</m:t>
                          </m:r>
                        </m:e>
                        <m:sub>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𝒐</m:t>
                          </m:r>
                        </m:sub>
                        <m:sup>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𝟏</m:t>
                          </m:r>
                        </m:sup>
                      </m:sSubSup>
                    </m:oMath>
                  </m:oMathPara>
                </a14:m>
                <a:endParaRPr lang="fr-FR" b="1" baseline="-25000" dirty="0">
                  <a:ln>
                    <a:solidFill>
                      <a:schemeClr val="accent2">
                        <a:lumMod val="75000"/>
                      </a:schemeClr>
                    </a:solidFill>
                  </a:ln>
                  <a:solidFill>
                    <a:schemeClr val="accent2">
                      <a:lumMod val="75000"/>
                    </a:schemeClr>
                  </a:solidFill>
                  <a:latin typeface="Monaco" pitchFamily="2" charset="77"/>
                </a:endParaRPr>
              </a:p>
            </p:txBody>
          </p:sp>
        </mc:Choice>
        <mc:Fallback xmlns="">
          <p:sp>
            <p:nvSpPr>
              <p:cNvPr id="242" name="ZoneTexte 241">
                <a:extLst>
                  <a:ext uri="{FF2B5EF4-FFF2-40B4-BE49-F238E27FC236}">
                    <a16:creationId xmlns:a16="http://schemas.microsoft.com/office/drawing/2014/main" id="{C06CD03E-CD1C-9181-EA06-1870F5F09A47}"/>
                  </a:ext>
                </a:extLst>
              </p:cNvPr>
              <p:cNvSpPr txBox="1">
                <a:spLocks noRot="1" noChangeAspect="1" noMove="1" noResize="1" noEditPoints="1" noAdjustHandles="1" noChangeArrowheads="1" noChangeShapeType="1" noTextEdit="1"/>
              </p:cNvSpPr>
              <p:nvPr/>
            </p:nvSpPr>
            <p:spPr>
              <a:xfrm>
                <a:off x="6246153" y="2508106"/>
                <a:ext cx="432284" cy="510806"/>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3" name="ZoneTexte 242">
                <a:extLst>
                  <a:ext uri="{FF2B5EF4-FFF2-40B4-BE49-F238E27FC236}">
                    <a16:creationId xmlns:a16="http://schemas.microsoft.com/office/drawing/2014/main" id="{45738CE5-F0BB-630D-118C-876B3E7B9010}"/>
                  </a:ext>
                </a:extLst>
              </p:cNvPr>
              <p:cNvSpPr txBox="1"/>
              <p:nvPr/>
            </p:nvSpPr>
            <p:spPr>
              <a:xfrm>
                <a:off x="6283585" y="3509982"/>
                <a:ext cx="432284" cy="510806"/>
              </a:xfrm>
              <a:prstGeom prst="rect">
                <a:avLst/>
              </a:prstGeom>
              <a:noFill/>
            </p:spPr>
            <p:txBody>
              <a:bodyPr wrap="square" rtlCol="0">
                <a:noAutofit/>
              </a:bodyPr>
              <a:lstStyle/>
              <a:p>
                <a:pPr algn="ctr"/>
                <a14:m>
                  <m:oMathPara xmlns:m="http://schemas.openxmlformats.org/officeDocument/2006/math">
                    <m:oMathParaPr>
                      <m:jc m:val="centerGroup"/>
                    </m:oMathParaPr>
                    <m:oMath xmlns:m="http://schemas.openxmlformats.org/officeDocument/2006/math">
                      <m:sSubSup>
                        <m:sSubSupPr>
                          <m:ctrlP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ctrlPr>
                        </m:sSubSupPr>
                        <m:e>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𝒃</m:t>
                          </m:r>
                        </m:e>
                        <m:sub>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𝒐</m:t>
                          </m:r>
                        </m:sub>
                        <m:sup>
                          <m:r>
                            <a:rPr lang="fr-FR" b="1" i="1" baseline="-25000" smtClean="0">
                              <a:ln>
                                <a:solidFill>
                                  <a:schemeClr val="accent2">
                                    <a:lumMod val="75000"/>
                                  </a:schemeClr>
                                </a:solidFill>
                              </a:ln>
                              <a:solidFill>
                                <a:schemeClr val="accent2">
                                  <a:lumMod val="75000"/>
                                </a:schemeClr>
                              </a:solidFill>
                              <a:latin typeface="Cambria Math" panose="02040503050406030204" pitchFamily="18" charset="0"/>
                            </a:rPr>
                            <m:t>𝟐</m:t>
                          </m:r>
                        </m:sup>
                      </m:sSubSup>
                    </m:oMath>
                  </m:oMathPara>
                </a14:m>
                <a:endParaRPr lang="fr-FR" b="1" baseline="-25000" dirty="0">
                  <a:ln>
                    <a:solidFill>
                      <a:schemeClr val="accent2">
                        <a:lumMod val="75000"/>
                      </a:schemeClr>
                    </a:solidFill>
                  </a:ln>
                  <a:solidFill>
                    <a:schemeClr val="accent2">
                      <a:lumMod val="75000"/>
                    </a:schemeClr>
                  </a:solidFill>
                  <a:latin typeface="Monaco" pitchFamily="2" charset="77"/>
                </a:endParaRPr>
              </a:p>
            </p:txBody>
          </p:sp>
        </mc:Choice>
        <mc:Fallback xmlns="">
          <p:sp>
            <p:nvSpPr>
              <p:cNvPr id="243" name="ZoneTexte 242">
                <a:extLst>
                  <a:ext uri="{FF2B5EF4-FFF2-40B4-BE49-F238E27FC236}">
                    <a16:creationId xmlns:a16="http://schemas.microsoft.com/office/drawing/2014/main" id="{45738CE5-F0BB-630D-118C-876B3E7B9010}"/>
                  </a:ext>
                </a:extLst>
              </p:cNvPr>
              <p:cNvSpPr txBox="1">
                <a:spLocks noRot="1" noChangeAspect="1" noMove="1" noResize="1" noEditPoints="1" noAdjustHandles="1" noChangeArrowheads="1" noChangeShapeType="1" noTextEdit="1"/>
              </p:cNvSpPr>
              <p:nvPr/>
            </p:nvSpPr>
            <p:spPr>
              <a:xfrm>
                <a:off x="6283585" y="3509982"/>
                <a:ext cx="432284" cy="510806"/>
              </a:xfrm>
              <a:prstGeom prst="rect">
                <a:avLst/>
              </a:prstGeom>
              <a:blipFill>
                <a:blip r:embed="rId13"/>
                <a:stretch>
                  <a:fillRect/>
                </a:stretch>
              </a:blipFill>
            </p:spPr>
            <p:txBody>
              <a:bodyPr/>
              <a:lstStyle/>
              <a:p>
                <a:r>
                  <a:rPr lang="en-GB">
                    <a:noFill/>
                  </a:rPr>
                  <a:t> </a:t>
                </a:r>
              </a:p>
            </p:txBody>
          </p:sp>
        </mc:Fallback>
      </mc:AlternateContent>
      <p:sp>
        <p:nvSpPr>
          <p:cNvPr id="5" name="ZoneTexte 4">
            <a:extLst>
              <a:ext uri="{FF2B5EF4-FFF2-40B4-BE49-F238E27FC236}">
                <a16:creationId xmlns:a16="http://schemas.microsoft.com/office/drawing/2014/main" id="{BF5C670E-3640-E0C2-0133-B3F22245C75E}"/>
              </a:ext>
            </a:extLst>
          </p:cNvPr>
          <p:cNvSpPr txBox="1"/>
          <p:nvPr/>
        </p:nvSpPr>
        <p:spPr>
          <a:xfrm>
            <a:off x="4319422" y="3130641"/>
            <a:ext cx="637295" cy="246221"/>
          </a:xfrm>
          <a:prstGeom prst="rect">
            <a:avLst/>
          </a:prstGeom>
          <a:noFill/>
        </p:spPr>
        <p:txBody>
          <a:bodyPr wrap="square" rtlCol="0">
            <a:spAutoFit/>
          </a:bodyPr>
          <a:lstStyle/>
          <a:p>
            <a:pPr algn="r"/>
            <a:r>
              <a:rPr lang="fr-FR" sz="1000" dirty="0"/>
              <a:t>out_h1</a:t>
            </a:r>
          </a:p>
        </p:txBody>
      </p:sp>
      <p:sp>
        <p:nvSpPr>
          <p:cNvPr id="6" name="Rectangle : coins arrondis 5">
            <a:extLst>
              <a:ext uri="{FF2B5EF4-FFF2-40B4-BE49-F238E27FC236}">
                <a16:creationId xmlns:a16="http://schemas.microsoft.com/office/drawing/2014/main" id="{27589DC1-DD60-5260-3834-09CDC5263443}"/>
              </a:ext>
            </a:extLst>
          </p:cNvPr>
          <p:cNvSpPr/>
          <p:nvPr/>
        </p:nvSpPr>
        <p:spPr>
          <a:xfrm>
            <a:off x="8228307" y="2753127"/>
            <a:ext cx="445793" cy="20054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a:t>
            </a:r>
          </a:p>
          <a:p>
            <a:pPr algn="ctr"/>
            <a:r>
              <a:rPr lang="en-GB" dirty="0"/>
              <a:t>O</a:t>
            </a:r>
          </a:p>
          <a:p>
            <a:pPr algn="ctr"/>
            <a:r>
              <a:rPr lang="en-GB" dirty="0"/>
              <a:t>F</a:t>
            </a:r>
          </a:p>
          <a:p>
            <a:pPr algn="ctr"/>
            <a:r>
              <a:rPr lang="en-GB" dirty="0"/>
              <a:t>T</a:t>
            </a:r>
          </a:p>
          <a:p>
            <a:pPr algn="ctr"/>
            <a:r>
              <a:rPr lang="en-GB" dirty="0"/>
              <a:t>M</a:t>
            </a:r>
          </a:p>
          <a:p>
            <a:pPr algn="ctr"/>
            <a:r>
              <a:rPr lang="en-GB" dirty="0"/>
              <a:t>A</a:t>
            </a:r>
          </a:p>
          <a:p>
            <a:pPr algn="ctr"/>
            <a:r>
              <a:rPr lang="en-GB" dirty="0"/>
              <a:t>X</a:t>
            </a:r>
          </a:p>
        </p:txBody>
      </p:sp>
      <p:sp>
        <p:nvSpPr>
          <p:cNvPr id="13" name="ZoneTexte 12">
            <a:extLst>
              <a:ext uri="{FF2B5EF4-FFF2-40B4-BE49-F238E27FC236}">
                <a16:creationId xmlns:a16="http://schemas.microsoft.com/office/drawing/2014/main" id="{909CBD05-BC74-CD85-CACF-984070BE269C}"/>
              </a:ext>
            </a:extLst>
          </p:cNvPr>
          <p:cNvSpPr txBox="1"/>
          <p:nvPr/>
        </p:nvSpPr>
        <p:spPr>
          <a:xfrm>
            <a:off x="7059631" y="278722"/>
            <a:ext cx="4680083" cy="461665"/>
          </a:xfrm>
          <a:prstGeom prst="rect">
            <a:avLst/>
          </a:prstGeom>
          <a:noFill/>
          <a:ln>
            <a:solidFill>
              <a:schemeClr val="bg1">
                <a:lumMod val="50000"/>
              </a:schemeClr>
            </a:solidFill>
          </a:ln>
        </p:spPr>
        <p:txBody>
          <a:bodyPr wrap="square" rtlCol="0">
            <a:spAutoFit/>
          </a:bodyPr>
          <a:lstStyle/>
          <a:p>
            <a:r>
              <a:rPr lang="en-GB" sz="1200" dirty="0"/>
              <a:t>Categorical Cross Entropy is a generalization of Binary Cross Entropy</a:t>
            </a:r>
          </a:p>
          <a:p>
            <a:r>
              <a:rPr lang="en-GB" sz="1200" dirty="0"/>
              <a:t>Softmax is a generalization of the sigmoid function</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1E06E1D4-286F-EF14-EA65-72A0870161E6}"/>
                  </a:ext>
                </a:extLst>
              </p:cNvPr>
              <p:cNvSpPr txBox="1"/>
              <p:nvPr/>
            </p:nvSpPr>
            <p:spPr>
              <a:xfrm>
                <a:off x="6669645" y="4059649"/>
                <a:ext cx="637295" cy="27699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fr-FR" sz="1200" b="0" i="1" smtClean="0">
                          <a:latin typeface="Cambria Math" panose="02040503050406030204" pitchFamily="18" charset="0"/>
                        </a:rPr>
                        <m:t>𝑜𝑢𝑡</m:t>
                      </m:r>
                      <m:r>
                        <a:rPr lang="fr-FR" sz="1200" b="0" i="1" smtClean="0">
                          <a:latin typeface="Cambria Math" panose="02040503050406030204" pitchFamily="18" charset="0"/>
                        </a:rPr>
                        <m:t>_</m:t>
                      </m:r>
                      <m:r>
                        <a:rPr lang="fr-FR" sz="1200" b="0" i="1" smtClean="0">
                          <a:latin typeface="Cambria Math" panose="02040503050406030204" pitchFamily="18" charset="0"/>
                        </a:rPr>
                        <m:t>𝑜</m:t>
                      </m:r>
                      <m:r>
                        <a:rPr lang="fr-FR" sz="1200" b="0" i="1" smtClean="0">
                          <a:latin typeface="Cambria Math" panose="02040503050406030204" pitchFamily="18" charset="0"/>
                        </a:rPr>
                        <m:t>2</m:t>
                      </m:r>
                    </m:oMath>
                  </m:oMathPara>
                </a14:m>
                <a:endParaRPr lang="fr-FR" sz="1200" dirty="0"/>
              </a:p>
            </p:txBody>
          </p:sp>
        </mc:Choice>
        <mc:Fallback xmlns="">
          <p:sp>
            <p:nvSpPr>
              <p:cNvPr id="3" name="ZoneTexte 2">
                <a:extLst>
                  <a:ext uri="{FF2B5EF4-FFF2-40B4-BE49-F238E27FC236}">
                    <a16:creationId xmlns:a16="http://schemas.microsoft.com/office/drawing/2014/main" id="{1E06E1D4-286F-EF14-EA65-72A0870161E6}"/>
                  </a:ext>
                </a:extLst>
              </p:cNvPr>
              <p:cNvSpPr txBox="1">
                <a:spLocks noRot="1" noChangeAspect="1" noMove="1" noResize="1" noEditPoints="1" noAdjustHandles="1" noChangeArrowheads="1" noChangeShapeType="1" noTextEdit="1"/>
              </p:cNvSpPr>
              <p:nvPr/>
            </p:nvSpPr>
            <p:spPr>
              <a:xfrm>
                <a:off x="6669645" y="4059649"/>
                <a:ext cx="637295" cy="276999"/>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ZoneTexte 3">
                <a:extLst>
                  <a:ext uri="{FF2B5EF4-FFF2-40B4-BE49-F238E27FC236}">
                    <a16:creationId xmlns:a16="http://schemas.microsoft.com/office/drawing/2014/main" id="{179EA615-F1C8-4A6D-34BE-62F2DC157D72}"/>
                  </a:ext>
                </a:extLst>
              </p:cNvPr>
              <p:cNvSpPr txBox="1"/>
              <p:nvPr/>
            </p:nvSpPr>
            <p:spPr>
              <a:xfrm>
                <a:off x="8969337" y="1906464"/>
                <a:ext cx="2411173" cy="56675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sz="1400" b="0" i="1" smtClean="0">
                          <a:latin typeface="Cambria Math" panose="02040503050406030204" pitchFamily="18" charset="0"/>
                        </a:rPr>
                        <m:t>𝑠𝑜𝑓𝑡𝑚𝑎𝑥</m:t>
                      </m:r>
                      <m:d>
                        <m:dPr>
                          <m:ctrlPr>
                            <a:rPr lang="fr-FR" sz="1400" b="0" i="1" smtClean="0">
                              <a:latin typeface="Cambria Math" panose="02040503050406030204" pitchFamily="18" charset="0"/>
                            </a:rPr>
                          </m:ctrlPr>
                        </m:dPr>
                        <m:e>
                          <m:r>
                            <a:rPr lang="fr-FR" sz="1400" b="0" i="1" smtClean="0">
                              <a:latin typeface="Cambria Math" panose="02040503050406030204" pitchFamily="18" charset="0"/>
                            </a:rPr>
                            <m:t>𝑜𝑢</m:t>
                          </m:r>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𝑡</m:t>
                              </m:r>
                            </m:e>
                            <m:sub>
                              <m:r>
                                <a:rPr lang="fr-FR" sz="1400" b="0" i="1" smtClean="0">
                                  <a:latin typeface="Cambria Math" panose="02040503050406030204" pitchFamily="18" charset="0"/>
                                </a:rPr>
                                <m:t>𝑖</m:t>
                              </m:r>
                            </m:sub>
                          </m:sSub>
                        </m:e>
                      </m:d>
                      <m:r>
                        <a:rPr lang="fr-FR" sz="1400" b="0" i="1" smtClean="0">
                          <a:latin typeface="Cambria Math" panose="02040503050406030204" pitchFamily="18" charset="0"/>
                        </a:rPr>
                        <m:t>= </m:t>
                      </m:r>
                      <m:f>
                        <m:fPr>
                          <m:ctrlPr>
                            <a:rPr lang="fr-FR" sz="1400" b="0" i="1" smtClean="0">
                              <a:latin typeface="Cambria Math" panose="02040503050406030204" pitchFamily="18" charset="0"/>
                            </a:rPr>
                          </m:ctrlPr>
                        </m:fPr>
                        <m:num>
                          <m:sSup>
                            <m:sSupPr>
                              <m:ctrlPr>
                                <a:rPr lang="fr-FR" sz="1400" b="0" i="1" smtClean="0">
                                  <a:latin typeface="Cambria Math" panose="02040503050406030204" pitchFamily="18" charset="0"/>
                                </a:rPr>
                              </m:ctrlPr>
                            </m:sSupPr>
                            <m:e>
                              <m:r>
                                <a:rPr lang="fr-FR" sz="1400" b="0" i="1" smtClean="0">
                                  <a:latin typeface="Cambria Math" panose="02040503050406030204" pitchFamily="18" charset="0"/>
                                </a:rPr>
                                <m:t>𝑒</m:t>
                              </m:r>
                            </m:e>
                            <m:sup>
                              <m:r>
                                <a:rPr lang="fr-FR" sz="1400" b="0" i="1" smtClean="0">
                                  <a:latin typeface="Cambria Math" panose="02040503050406030204" pitchFamily="18" charset="0"/>
                                </a:rPr>
                                <m:t>𝑜𝑢𝑡</m:t>
                              </m:r>
                              <m:r>
                                <a:rPr lang="fr-FR" sz="1400" b="0" i="1" smtClean="0">
                                  <a:latin typeface="Cambria Math" panose="02040503050406030204" pitchFamily="18" charset="0"/>
                                </a:rPr>
                                <m:t>_</m:t>
                              </m:r>
                              <m:r>
                                <a:rPr lang="fr-FR" sz="1400" b="0" i="1" smtClean="0">
                                  <a:latin typeface="Cambria Math" panose="02040503050406030204" pitchFamily="18" charset="0"/>
                                </a:rPr>
                                <m:t>𝑜𝑖</m:t>
                              </m:r>
                            </m:sup>
                          </m:sSup>
                        </m:num>
                        <m:den>
                          <m:nary>
                            <m:naryPr>
                              <m:chr m:val="∑"/>
                              <m:limLoc m:val="subSup"/>
                              <m:ctrlPr>
                                <a:rPr lang="fr-FR" sz="1400" b="0" i="1" smtClean="0">
                                  <a:latin typeface="Cambria Math" panose="02040503050406030204" pitchFamily="18" charset="0"/>
                                </a:rPr>
                              </m:ctrlPr>
                            </m:naryPr>
                            <m:sub>
                              <m:r>
                                <m:rPr>
                                  <m:brk m:alnAt="25"/>
                                </m:rPr>
                                <a:rPr lang="fr-FR" sz="1400" b="0" i="1" smtClean="0">
                                  <a:latin typeface="Cambria Math" panose="02040503050406030204" pitchFamily="18" charset="0"/>
                                </a:rPr>
                                <m:t>𝑗</m:t>
                              </m:r>
                              <m:r>
                                <a:rPr lang="fr-FR" sz="1400" b="0" i="1" smtClean="0">
                                  <a:latin typeface="Cambria Math" panose="02040503050406030204" pitchFamily="18" charset="0"/>
                                </a:rPr>
                                <m:t>=1</m:t>
                              </m:r>
                            </m:sub>
                            <m:sup>
                              <m:r>
                                <a:rPr lang="fr-FR" sz="1400" b="0" i="1" smtClean="0">
                                  <a:latin typeface="Cambria Math" panose="02040503050406030204" pitchFamily="18" charset="0"/>
                                </a:rPr>
                                <m:t>𝑗</m:t>
                              </m:r>
                              <m:r>
                                <a:rPr lang="fr-FR" sz="1400" b="0" i="1" smtClean="0">
                                  <a:latin typeface="Cambria Math" panose="02040503050406030204" pitchFamily="18" charset="0"/>
                                </a:rPr>
                                <m:t>=</m:t>
                              </m:r>
                              <m:r>
                                <a:rPr lang="fr-FR" sz="1400" b="0" i="1" smtClean="0">
                                  <a:latin typeface="Cambria Math" panose="02040503050406030204" pitchFamily="18" charset="0"/>
                                </a:rPr>
                                <m:t>𝑘</m:t>
                              </m:r>
                            </m:sup>
                            <m:e>
                              <m:sSup>
                                <m:sSupPr>
                                  <m:ctrlPr>
                                    <a:rPr lang="fr-FR" sz="1400" b="0" i="1" smtClean="0">
                                      <a:latin typeface="Cambria Math" panose="02040503050406030204" pitchFamily="18" charset="0"/>
                                    </a:rPr>
                                  </m:ctrlPr>
                                </m:sSupPr>
                                <m:e>
                                  <m:r>
                                    <a:rPr lang="fr-FR" sz="1400" b="0" i="1" smtClean="0">
                                      <a:latin typeface="Cambria Math" panose="02040503050406030204" pitchFamily="18" charset="0"/>
                                    </a:rPr>
                                    <m:t>𝑒</m:t>
                                  </m:r>
                                </m:e>
                                <m:sup>
                                  <m:r>
                                    <a:rPr lang="fr-FR" sz="1400" b="0" i="1" smtClean="0">
                                      <a:latin typeface="Cambria Math" panose="02040503050406030204" pitchFamily="18" charset="0"/>
                                    </a:rPr>
                                    <m:t>𝑜𝑢𝑡</m:t>
                                  </m:r>
                                  <m:r>
                                    <a:rPr lang="fr-FR" sz="1400" b="0" i="1" smtClean="0">
                                      <a:latin typeface="Cambria Math" panose="02040503050406030204" pitchFamily="18" charset="0"/>
                                    </a:rPr>
                                    <m:t>_</m:t>
                                  </m:r>
                                  <m:r>
                                    <a:rPr lang="fr-FR" sz="1400" b="0" i="1" smtClean="0">
                                      <a:latin typeface="Cambria Math" panose="02040503050406030204" pitchFamily="18" charset="0"/>
                                    </a:rPr>
                                    <m:t>𝑜𝑗</m:t>
                                  </m:r>
                                </m:sup>
                              </m:sSup>
                            </m:e>
                          </m:nary>
                        </m:den>
                      </m:f>
                    </m:oMath>
                  </m:oMathPara>
                </a14:m>
                <a:endParaRPr lang="en-GB" sz="1400" dirty="0"/>
              </a:p>
            </p:txBody>
          </p:sp>
        </mc:Choice>
        <mc:Fallback xmlns="">
          <p:sp>
            <p:nvSpPr>
              <p:cNvPr id="4" name="ZoneTexte 3">
                <a:extLst>
                  <a:ext uri="{FF2B5EF4-FFF2-40B4-BE49-F238E27FC236}">
                    <a16:creationId xmlns:a16="http://schemas.microsoft.com/office/drawing/2014/main" id="{179EA615-F1C8-4A6D-34BE-62F2DC157D72}"/>
                  </a:ext>
                </a:extLst>
              </p:cNvPr>
              <p:cNvSpPr txBox="1">
                <a:spLocks noRot="1" noChangeAspect="1" noMove="1" noResize="1" noEditPoints="1" noAdjustHandles="1" noChangeArrowheads="1" noChangeShapeType="1" noTextEdit="1"/>
              </p:cNvSpPr>
              <p:nvPr/>
            </p:nvSpPr>
            <p:spPr>
              <a:xfrm>
                <a:off x="8969337" y="1906464"/>
                <a:ext cx="2411173" cy="566758"/>
              </a:xfrm>
              <a:prstGeom prst="rect">
                <a:avLst/>
              </a:prstGeom>
              <a:blipFill>
                <a:blip r:embed="rId15"/>
                <a:stretch>
                  <a:fillRect l="-2618" t="-13333" r="-524" b="-9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Rectangle : coins arrondis 10">
                <a:extLst>
                  <a:ext uri="{FF2B5EF4-FFF2-40B4-BE49-F238E27FC236}">
                    <a16:creationId xmlns:a16="http://schemas.microsoft.com/office/drawing/2014/main" id="{AFE58AFB-9BC7-7323-5083-6B6F068B9C42}"/>
                  </a:ext>
                </a:extLst>
              </p:cNvPr>
              <p:cNvSpPr/>
              <p:nvPr/>
            </p:nvSpPr>
            <p:spPr>
              <a:xfrm>
                <a:off x="8709890" y="3007511"/>
                <a:ext cx="3482110" cy="263799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fr-FR" sz="1400" b="0" i="1" smtClean="0">
                          <a:latin typeface="Cambria Math" panose="02040503050406030204" pitchFamily="18" charset="0"/>
                        </a:rPr>
                        <m:t>𝑜𝑢</m:t>
                      </m:r>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𝑡</m:t>
                          </m:r>
                        </m:e>
                        <m:sub>
                          <m:r>
                            <a:rPr lang="fr-FR" sz="1400" b="0" i="1" smtClean="0">
                              <a:latin typeface="Cambria Math" panose="02040503050406030204" pitchFamily="18" charset="0"/>
                            </a:rPr>
                            <m:t>𝑜</m:t>
                          </m:r>
                          <m:r>
                            <a:rPr lang="fr-FR" sz="1400" b="0" i="1" smtClean="0">
                              <a:latin typeface="Cambria Math" panose="02040503050406030204" pitchFamily="18" charset="0"/>
                            </a:rPr>
                            <m:t>1</m:t>
                          </m:r>
                        </m:sub>
                      </m:sSub>
                      <m:r>
                        <a:rPr lang="fr-FR" sz="1400" b="0" i="1" smtClean="0">
                          <a:latin typeface="Cambria Math" panose="02040503050406030204" pitchFamily="18" charset="0"/>
                        </a:rPr>
                        <m:t>=0.3, </m:t>
                      </m:r>
                      <m:r>
                        <a:rPr lang="fr-FR" sz="1400" b="0" i="1" smtClean="0">
                          <a:latin typeface="Cambria Math" panose="02040503050406030204" pitchFamily="18" charset="0"/>
                        </a:rPr>
                        <m:t>𝑜𝑢</m:t>
                      </m:r>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𝑡</m:t>
                          </m:r>
                        </m:e>
                        <m:sub>
                          <m:r>
                            <a:rPr lang="fr-FR" sz="1400" b="0" i="1" smtClean="0">
                              <a:latin typeface="Cambria Math" panose="02040503050406030204" pitchFamily="18" charset="0"/>
                            </a:rPr>
                            <m:t>𝑜</m:t>
                          </m:r>
                          <m:r>
                            <a:rPr lang="fr-FR" sz="1400" b="0" i="1" smtClean="0">
                              <a:latin typeface="Cambria Math" panose="02040503050406030204" pitchFamily="18" charset="0"/>
                            </a:rPr>
                            <m:t>2</m:t>
                          </m:r>
                        </m:sub>
                      </m:sSub>
                      <m:r>
                        <a:rPr lang="fr-FR" sz="1400" b="0" i="1" smtClean="0">
                          <a:latin typeface="Cambria Math" panose="02040503050406030204" pitchFamily="18" charset="0"/>
                        </a:rPr>
                        <m:t>=1.1, </m:t>
                      </m:r>
                      <m:r>
                        <a:rPr lang="fr-FR" sz="1400" b="0" i="1" smtClean="0">
                          <a:latin typeface="Cambria Math" panose="02040503050406030204" pitchFamily="18" charset="0"/>
                        </a:rPr>
                        <m:t>𝑜𝑢</m:t>
                      </m:r>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𝑡</m:t>
                          </m:r>
                        </m:e>
                        <m:sub>
                          <m:r>
                            <a:rPr lang="fr-FR" sz="1400" b="0" i="1" smtClean="0">
                              <a:latin typeface="Cambria Math" panose="02040503050406030204" pitchFamily="18" charset="0"/>
                            </a:rPr>
                            <m:t>𝑜</m:t>
                          </m:r>
                          <m:r>
                            <a:rPr lang="fr-FR" sz="1400" b="0" i="1" smtClean="0">
                              <a:latin typeface="Cambria Math" panose="02040503050406030204" pitchFamily="18" charset="0"/>
                            </a:rPr>
                            <m:t>3</m:t>
                          </m:r>
                        </m:sub>
                      </m:sSub>
                      <m:r>
                        <a:rPr lang="fr-FR" sz="1400" b="0" i="1" smtClean="0">
                          <a:latin typeface="Cambria Math" panose="02040503050406030204" pitchFamily="18" charset="0"/>
                        </a:rPr>
                        <m:t>=2.0</m:t>
                      </m:r>
                    </m:oMath>
                  </m:oMathPara>
                </a14:m>
                <a:endParaRPr lang="fr-FR" sz="1400" b="0" dirty="0"/>
              </a:p>
              <a:p>
                <a:pPr algn="ctr"/>
                <a:endParaRPr lang="en-GB" sz="1400" dirty="0"/>
              </a:p>
              <a:p>
                <a:pPr algn="ctr"/>
                <a14:m>
                  <m:oMathPara xmlns:m="http://schemas.openxmlformats.org/officeDocument/2006/math">
                    <m:oMathParaPr>
                      <m:jc m:val="centerGroup"/>
                    </m:oMathParaPr>
                    <m:oMath xmlns:m="http://schemas.openxmlformats.org/officeDocument/2006/math">
                      <m:nary>
                        <m:naryPr>
                          <m:chr m:val="∑"/>
                          <m:ctrlPr>
                            <a:rPr lang="en-GB" sz="1400" i="1" smtClean="0">
                              <a:latin typeface="Cambria Math" panose="02040503050406030204" pitchFamily="18" charset="0"/>
                            </a:rPr>
                          </m:ctrlPr>
                        </m:naryPr>
                        <m:sub>
                          <m:r>
                            <m:rPr>
                              <m:brk m:alnAt="23"/>
                            </m:rPr>
                            <a:rPr lang="fr-FR" sz="1400" b="0" i="1" smtClean="0">
                              <a:latin typeface="Cambria Math" panose="02040503050406030204" pitchFamily="18" charset="0"/>
                            </a:rPr>
                            <m:t>𝑗</m:t>
                          </m:r>
                          <m:r>
                            <a:rPr lang="fr-FR" sz="1400" b="0" i="1" smtClean="0">
                              <a:latin typeface="Cambria Math" panose="02040503050406030204" pitchFamily="18" charset="0"/>
                            </a:rPr>
                            <m:t>=1</m:t>
                          </m:r>
                        </m:sub>
                        <m:sup>
                          <m:r>
                            <a:rPr lang="fr-FR" sz="1400" b="0" i="1" smtClean="0">
                              <a:latin typeface="Cambria Math" panose="02040503050406030204" pitchFamily="18" charset="0"/>
                            </a:rPr>
                            <m:t>𝑗</m:t>
                          </m:r>
                          <m:r>
                            <a:rPr lang="fr-FR" sz="1400" b="0" i="1" smtClean="0">
                              <a:latin typeface="Cambria Math" panose="02040503050406030204" pitchFamily="18" charset="0"/>
                            </a:rPr>
                            <m:t>=</m:t>
                          </m:r>
                          <m:r>
                            <a:rPr lang="fr-FR" sz="1400" b="0" i="1" smtClean="0">
                              <a:latin typeface="Cambria Math" panose="02040503050406030204" pitchFamily="18" charset="0"/>
                            </a:rPr>
                            <m:t>𝑘</m:t>
                          </m:r>
                        </m:sup>
                        <m:e>
                          <m:sSup>
                            <m:sSupPr>
                              <m:ctrlPr>
                                <a:rPr lang="en-GB" sz="1400" i="1" smtClean="0">
                                  <a:latin typeface="Cambria Math" panose="02040503050406030204" pitchFamily="18" charset="0"/>
                                </a:rPr>
                              </m:ctrlPr>
                            </m:sSupPr>
                            <m:e>
                              <m:r>
                                <a:rPr lang="fr-FR" sz="1400" b="0" i="1" smtClean="0">
                                  <a:latin typeface="Cambria Math" panose="02040503050406030204" pitchFamily="18" charset="0"/>
                                </a:rPr>
                                <m:t>𝑒</m:t>
                              </m:r>
                            </m:e>
                            <m:sup>
                              <m:r>
                                <a:rPr lang="fr-FR" sz="1400" b="0" i="1" smtClean="0">
                                  <a:latin typeface="Cambria Math" panose="02040503050406030204" pitchFamily="18" charset="0"/>
                                </a:rPr>
                                <m:t>𝑜𝑢</m:t>
                              </m:r>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𝑡</m:t>
                                  </m:r>
                                </m:e>
                                <m:sub>
                                  <m:r>
                                    <a:rPr lang="fr-FR" sz="1400" b="0" i="1" smtClean="0">
                                      <a:latin typeface="Cambria Math" panose="02040503050406030204" pitchFamily="18" charset="0"/>
                                    </a:rPr>
                                    <m:t>𝑜𝑗</m:t>
                                  </m:r>
                                </m:sub>
                              </m:sSub>
                            </m:sup>
                          </m:sSup>
                        </m:e>
                      </m:nary>
                      <m:r>
                        <a:rPr lang="fr-FR" sz="1400" b="0" i="1" smtClean="0">
                          <a:latin typeface="Cambria Math" panose="02040503050406030204" pitchFamily="18" charset="0"/>
                        </a:rPr>
                        <m:t>= </m:t>
                      </m:r>
                      <m:sSup>
                        <m:sSupPr>
                          <m:ctrlPr>
                            <a:rPr lang="fr-FR" sz="1400" b="0" i="1" smtClean="0">
                              <a:latin typeface="Cambria Math" panose="02040503050406030204" pitchFamily="18" charset="0"/>
                            </a:rPr>
                          </m:ctrlPr>
                        </m:sSupPr>
                        <m:e>
                          <m:r>
                            <a:rPr lang="fr-FR" sz="1400" b="0" i="1" smtClean="0">
                              <a:latin typeface="Cambria Math" panose="02040503050406030204" pitchFamily="18" charset="0"/>
                            </a:rPr>
                            <m:t>𝑒</m:t>
                          </m:r>
                        </m:e>
                        <m:sup>
                          <m:r>
                            <a:rPr lang="fr-FR" sz="1400" b="0" i="1" smtClean="0">
                              <a:latin typeface="Cambria Math" panose="02040503050406030204" pitchFamily="18" charset="0"/>
                            </a:rPr>
                            <m:t>0.3</m:t>
                          </m:r>
                        </m:sup>
                      </m:sSup>
                      <m:r>
                        <a:rPr lang="fr-FR" sz="1400" b="0" i="1" smtClean="0">
                          <a:latin typeface="Cambria Math" panose="02040503050406030204" pitchFamily="18" charset="0"/>
                        </a:rPr>
                        <m:t>+</m:t>
                      </m:r>
                      <m:sSup>
                        <m:sSupPr>
                          <m:ctrlPr>
                            <a:rPr lang="fr-FR" sz="1400" b="0" i="1" smtClean="0">
                              <a:latin typeface="Cambria Math" panose="02040503050406030204" pitchFamily="18" charset="0"/>
                            </a:rPr>
                          </m:ctrlPr>
                        </m:sSupPr>
                        <m:e>
                          <m:r>
                            <a:rPr lang="fr-FR" sz="1400" b="0" i="1" smtClean="0">
                              <a:latin typeface="Cambria Math" panose="02040503050406030204" pitchFamily="18" charset="0"/>
                            </a:rPr>
                            <m:t>𝑒</m:t>
                          </m:r>
                        </m:e>
                        <m:sup>
                          <m:r>
                            <a:rPr lang="fr-FR" sz="1400" b="0" i="1" smtClean="0">
                              <a:latin typeface="Cambria Math" panose="02040503050406030204" pitchFamily="18" charset="0"/>
                            </a:rPr>
                            <m:t>1.1</m:t>
                          </m:r>
                        </m:sup>
                      </m:sSup>
                      <m:r>
                        <a:rPr lang="fr-FR" sz="1400" b="0" i="1" smtClean="0">
                          <a:latin typeface="Cambria Math" panose="02040503050406030204" pitchFamily="18" charset="0"/>
                        </a:rPr>
                        <m:t>+</m:t>
                      </m:r>
                      <m:sSup>
                        <m:sSupPr>
                          <m:ctrlPr>
                            <a:rPr lang="fr-FR" sz="1400" b="0" i="1" smtClean="0">
                              <a:latin typeface="Cambria Math" panose="02040503050406030204" pitchFamily="18" charset="0"/>
                            </a:rPr>
                          </m:ctrlPr>
                        </m:sSupPr>
                        <m:e>
                          <m:r>
                            <a:rPr lang="fr-FR" sz="1400" b="0" i="1" smtClean="0">
                              <a:latin typeface="Cambria Math" panose="02040503050406030204" pitchFamily="18" charset="0"/>
                            </a:rPr>
                            <m:t>𝑒</m:t>
                          </m:r>
                        </m:e>
                        <m:sup>
                          <m:r>
                            <a:rPr lang="fr-FR" sz="1400" b="0" i="1" smtClean="0">
                              <a:latin typeface="Cambria Math" panose="02040503050406030204" pitchFamily="18" charset="0"/>
                            </a:rPr>
                            <m:t>2.0</m:t>
                          </m:r>
                        </m:sup>
                      </m:sSup>
                      <m:r>
                        <a:rPr lang="fr-FR" sz="1400" b="0" i="1" smtClean="0">
                          <a:latin typeface="Cambria Math" panose="02040503050406030204" pitchFamily="18" charset="0"/>
                        </a:rPr>
                        <m:t>=11.74</m:t>
                      </m:r>
                    </m:oMath>
                  </m:oMathPara>
                </a14:m>
                <a:endParaRPr lang="fr-FR" sz="1400" b="0" dirty="0"/>
              </a:p>
              <a:p>
                <a:pPr algn="ctr"/>
                <a:endParaRPr lang="en-GB" sz="1400" dirty="0"/>
              </a:p>
              <a:p>
                <a:pPr algn="ctr"/>
                <a14:m>
                  <m:oMathPara xmlns:m="http://schemas.openxmlformats.org/officeDocument/2006/math">
                    <m:oMathParaPr>
                      <m:jc m:val="centerGroup"/>
                    </m:oMathParaPr>
                    <m:oMath xmlns:m="http://schemas.openxmlformats.org/officeDocument/2006/math">
                      <m:acc>
                        <m:accPr>
                          <m:chr m:val="̂"/>
                          <m:ctrlPr>
                            <a:rPr lang="fr-FR" sz="1400" b="0" i="1" smtClean="0">
                              <a:latin typeface="Cambria Math" panose="02040503050406030204" pitchFamily="18" charset="0"/>
                            </a:rPr>
                          </m:ctrlPr>
                        </m:accPr>
                        <m:e>
                          <m:r>
                            <a:rPr lang="fr-FR" sz="1400" b="0" i="1" smtClean="0">
                              <a:latin typeface="Cambria Math" panose="02040503050406030204" pitchFamily="18" charset="0"/>
                            </a:rPr>
                            <m:t>𝑦</m:t>
                          </m:r>
                        </m:e>
                      </m:acc>
                      <m:r>
                        <a:rPr lang="fr-FR" sz="1400" b="0" i="1" smtClean="0">
                          <a:latin typeface="Cambria Math" panose="02040503050406030204" pitchFamily="18" charset="0"/>
                        </a:rPr>
                        <m:t>=</m:t>
                      </m:r>
                      <m:d>
                        <m:dPr>
                          <m:begChr m:val="["/>
                          <m:endChr m:val="]"/>
                          <m:ctrlPr>
                            <a:rPr lang="fr-FR" sz="1400" b="0" i="1" smtClean="0">
                              <a:latin typeface="Cambria Math" panose="02040503050406030204" pitchFamily="18" charset="0"/>
                            </a:rPr>
                          </m:ctrlPr>
                        </m:dPr>
                        <m:e>
                          <m:f>
                            <m:fPr>
                              <m:ctrlPr>
                                <a:rPr lang="fr-FR" sz="1400" b="0" i="1" smtClean="0">
                                  <a:latin typeface="Cambria Math" panose="02040503050406030204" pitchFamily="18" charset="0"/>
                                </a:rPr>
                              </m:ctrlPr>
                            </m:fPr>
                            <m:num>
                              <m:sSup>
                                <m:sSupPr>
                                  <m:ctrlPr>
                                    <a:rPr lang="fr-FR" sz="1400" b="0" i="1" smtClean="0">
                                      <a:latin typeface="Cambria Math" panose="02040503050406030204" pitchFamily="18" charset="0"/>
                                    </a:rPr>
                                  </m:ctrlPr>
                                </m:sSupPr>
                                <m:e>
                                  <m:r>
                                    <a:rPr lang="fr-FR" sz="1400" b="0" i="1" smtClean="0">
                                      <a:latin typeface="Cambria Math" panose="02040503050406030204" pitchFamily="18" charset="0"/>
                                    </a:rPr>
                                    <m:t>𝑒</m:t>
                                  </m:r>
                                </m:e>
                                <m:sup>
                                  <m:r>
                                    <a:rPr lang="fr-FR" sz="1400" b="0" i="1" smtClean="0">
                                      <a:latin typeface="Cambria Math" panose="02040503050406030204" pitchFamily="18" charset="0"/>
                                    </a:rPr>
                                    <m:t>0.3</m:t>
                                  </m:r>
                                </m:sup>
                              </m:sSup>
                            </m:num>
                            <m:den>
                              <m:r>
                                <a:rPr lang="fr-FR" sz="1400" b="0" i="1" smtClean="0">
                                  <a:latin typeface="Cambria Math" panose="02040503050406030204" pitchFamily="18" charset="0"/>
                                </a:rPr>
                                <m:t>11.74</m:t>
                              </m:r>
                            </m:den>
                          </m:f>
                          <m:r>
                            <a:rPr lang="fr-FR" sz="1400" b="0" i="1" smtClean="0">
                              <a:latin typeface="Cambria Math" panose="02040503050406030204" pitchFamily="18" charset="0"/>
                            </a:rPr>
                            <m:t>+</m:t>
                          </m:r>
                          <m:f>
                            <m:fPr>
                              <m:ctrlPr>
                                <a:rPr lang="fr-FR" sz="1400" i="1">
                                  <a:latin typeface="Cambria Math" panose="02040503050406030204" pitchFamily="18" charset="0"/>
                                </a:rPr>
                              </m:ctrlPr>
                            </m:fPr>
                            <m:num>
                              <m:sSup>
                                <m:sSupPr>
                                  <m:ctrlPr>
                                    <a:rPr lang="fr-FR" sz="1400" i="1">
                                      <a:latin typeface="Cambria Math" panose="02040503050406030204" pitchFamily="18" charset="0"/>
                                    </a:rPr>
                                  </m:ctrlPr>
                                </m:sSupPr>
                                <m:e>
                                  <m:r>
                                    <a:rPr lang="fr-FR" sz="1400" i="1">
                                      <a:latin typeface="Cambria Math" panose="02040503050406030204" pitchFamily="18" charset="0"/>
                                    </a:rPr>
                                    <m:t>𝑒</m:t>
                                  </m:r>
                                </m:e>
                                <m:sup>
                                  <m:r>
                                    <a:rPr lang="fr-FR" sz="1400" b="0" i="1" smtClean="0">
                                      <a:latin typeface="Cambria Math" panose="02040503050406030204" pitchFamily="18" charset="0"/>
                                    </a:rPr>
                                    <m:t>1.1</m:t>
                                  </m:r>
                                </m:sup>
                              </m:sSup>
                            </m:num>
                            <m:den>
                              <m:r>
                                <a:rPr lang="fr-FR" sz="1400" i="1">
                                  <a:latin typeface="Cambria Math" panose="02040503050406030204" pitchFamily="18" charset="0"/>
                                </a:rPr>
                                <m:t>11.74</m:t>
                              </m:r>
                            </m:den>
                          </m:f>
                          <m:r>
                            <a:rPr lang="fr-FR" sz="1400" b="0" i="1" smtClean="0">
                              <a:latin typeface="Cambria Math" panose="02040503050406030204" pitchFamily="18" charset="0"/>
                            </a:rPr>
                            <m:t>+</m:t>
                          </m:r>
                          <m:f>
                            <m:fPr>
                              <m:ctrlPr>
                                <a:rPr lang="fr-FR" sz="1400" i="1">
                                  <a:latin typeface="Cambria Math" panose="02040503050406030204" pitchFamily="18" charset="0"/>
                                </a:rPr>
                              </m:ctrlPr>
                            </m:fPr>
                            <m:num>
                              <m:sSup>
                                <m:sSupPr>
                                  <m:ctrlPr>
                                    <a:rPr lang="fr-FR" sz="1400" i="1">
                                      <a:latin typeface="Cambria Math" panose="02040503050406030204" pitchFamily="18" charset="0"/>
                                    </a:rPr>
                                  </m:ctrlPr>
                                </m:sSupPr>
                                <m:e>
                                  <m:r>
                                    <a:rPr lang="fr-FR" sz="1400" i="1">
                                      <a:latin typeface="Cambria Math" panose="02040503050406030204" pitchFamily="18" charset="0"/>
                                    </a:rPr>
                                    <m:t>𝑒</m:t>
                                  </m:r>
                                </m:e>
                                <m:sup>
                                  <m:r>
                                    <a:rPr lang="fr-FR" sz="1400" b="0" i="1" smtClean="0">
                                      <a:latin typeface="Cambria Math" panose="02040503050406030204" pitchFamily="18" charset="0"/>
                                    </a:rPr>
                                    <m:t>2.0</m:t>
                                  </m:r>
                                </m:sup>
                              </m:sSup>
                            </m:num>
                            <m:den>
                              <m:r>
                                <a:rPr lang="fr-FR" sz="1400" i="1">
                                  <a:latin typeface="Cambria Math" panose="02040503050406030204" pitchFamily="18" charset="0"/>
                                </a:rPr>
                                <m:t>11.74</m:t>
                              </m:r>
                            </m:den>
                          </m:f>
                        </m:e>
                      </m:d>
                    </m:oMath>
                  </m:oMathPara>
                </a14:m>
                <a:endParaRPr lang="fr-FR" sz="1400" b="0" dirty="0"/>
              </a:p>
              <a:p>
                <a:pPr algn="ctr"/>
                <a:endParaRPr lang="en-GB" sz="1400" dirty="0"/>
              </a:p>
              <a:p>
                <a:pPr algn="ctr"/>
                <a14:m>
                  <m:oMath xmlns:m="http://schemas.openxmlformats.org/officeDocument/2006/math">
                    <m:acc>
                      <m:accPr>
                        <m:chr m:val="̂"/>
                        <m:ctrlPr>
                          <a:rPr lang="fr-FR" sz="1400" b="0" i="1" smtClean="0">
                            <a:latin typeface="Cambria Math" panose="02040503050406030204" pitchFamily="18" charset="0"/>
                          </a:rPr>
                        </m:ctrlPr>
                      </m:accPr>
                      <m:e>
                        <m:r>
                          <a:rPr lang="fr-FR" sz="1400" b="0" i="1" smtClean="0">
                            <a:latin typeface="Cambria Math" panose="02040503050406030204" pitchFamily="18" charset="0"/>
                          </a:rPr>
                          <m:t>𝑦</m:t>
                        </m:r>
                      </m:e>
                    </m:acc>
                    <m:r>
                      <a:rPr lang="fr-FR" sz="1400" b="0" i="1" smtClean="0">
                        <a:latin typeface="Cambria Math" panose="02040503050406030204" pitchFamily="18" charset="0"/>
                      </a:rPr>
                      <m:t>=</m:t>
                    </m:r>
                    <m:r>
                      <a:rPr lang="fr-FR" sz="1400" b="0" i="0" smtClean="0">
                        <a:latin typeface="Cambria Math" panose="02040503050406030204" pitchFamily="18" charset="0"/>
                      </a:rPr>
                      <m:t>[0.11</m:t>
                    </m:r>
                    <m:r>
                      <a:rPr lang="fr-FR" sz="1400" b="0" i="1" smtClean="0">
                        <a:latin typeface="Cambria Math" panose="02040503050406030204" pitchFamily="18" charset="0"/>
                      </a:rPr>
                      <m:t>   0.26   0.63</m:t>
                    </m:r>
                    <m:r>
                      <a:rPr lang="fr-FR" sz="1400" b="0" i="0" smtClean="0">
                        <a:latin typeface="Cambria Math" panose="02040503050406030204" pitchFamily="18" charset="0"/>
                      </a:rPr>
                      <m:t>]</m:t>
                    </m:r>
                  </m:oMath>
                </a14:m>
                <a:r>
                  <a:rPr lang="en-GB" sz="1400" dirty="0"/>
                  <a:t> </a:t>
                </a:r>
              </a:p>
            </p:txBody>
          </p:sp>
        </mc:Choice>
        <mc:Fallback xmlns="">
          <p:sp>
            <p:nvSpPr>
              <p:cNvPr id="11" name="Rectangle : coins arrondis 10">
                <a:extLst>
                  <a:ext uri="{FF2B5EF4-FFF2-40B4-BE49-F238E27FC236}">
                    <a16:creationId xmlns:a16="http://schemas.microsoft.com/office/drawing/2014/main" id="{AFE58AFB-9BC7-7323-5083-6B6F068B9C42}"/>
                  </a:ext>
                </a:extLst>
              </p:cNvPr>
              <p:cNvSpPr>
                <a:spLocks noRot="1" noChangeAspect="1" noMove="1" noResize="1" noEditPoints="1" noAdjustHandles="1" noChangeArrowheads="1" noChangeShapeType="1" noTextEdit="1"/>
              </p:cNvSpPr>
              <p:nvPr/>
            </p:nvSpPr>
            <p:spPr>
              <a:xfrm>
                <a:off x="8709890" y="3007511"/>
                <a:ext cx="3482110" cy="2637999"/>
              </a:xfrm>
              <a:prstGeom prst="roundRect">
                <a:avLst/>
              </a:prstGeom>
              <a:blipFill>
                <a:blip r:embed="rId16"/>
                <a:stretch>
                  <a:fillRect l="-11957" t="-1429"/>
                </a:stretch>
              </a:blipFill>
            </p:spPr>
            <p:txBody>
              <a:bodyPr/>
              <a:lstStyle/>
              <a:p>
                <a:r>
                  <a:rPr lang="en-GB">
                    <a:noFill/>
                  </a:rPr>
                  <a:t> </a:t>
                </a:r>
              </a:p>
            </p:txBody>
          </p:sp>
        </mc:Fallback>
      </mc:AlternateContent>
      <p:sp>
        <p:nvSpPr>
          <p:cNvPr id="14" name="ZoneTexte 13">
            <a:extLst>
              <a:ext uri="{FF2B5EF4-FFF2-40B4-BE49-F238E27FC236}">
                <a16:creationId xmlns:a16="http://schemas.microsoft.com/office/drawing/2014/main" id="{0FAA1C55-BF91-E831-55A5-5A9B49105887}"/>
              </a:ext>
            </a:extLst>
          </p:cNvPr>
          <p:cNvSpPr txBox="1"/>
          <p:nvPr/>
        </p:nvSpPr>
        <p:spPr>
          <a:xfrm>
            <a:off x="8153400" y="6376276"/>
            <a:ext cx="3290593" cy="307777"/>
          </a:xfrm>
          <a:prstGeom prst="rect">
            <a:avLst/>
          </a:prstGeom>
          <a:noFill/>
        </p:spPr>
        <p:txBody>
          <a:bodyPr wrap="square" rtlCol="0">
            <a:spAutoFit/>
          </a:bodyPr>
          <a:lstStyle/>
          <a:p>
            <a:r>
              <a:rPr lang="en-GB" sz="1400" dirty="0">
                <a:solidFill>
                  <a:schemeClr val="tx1">
                    <a:lumMod val="65000"/>
                    <a:lumOff val="35000"/>
                  </a:schemeClr>
                </a:solidFill>
              </a:rPr>
              <a:t>Source: NLPDemystified.org</a:t>
            </a:r>
          </a:p>
        </p:txBody>
      </p:sp>
    </p:spTree>
    <p:extLst>
      <p:ext uri="{BB962C8B-B14F-4D97-AF65-F5344CB8AC3E}">
        <p14:creationId xmlns:p14="http://schemas.microsoft.com/office/powerpoint/2010/main" val="32461776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239EC-E7F9-86DF-0CF4-C2E21CBB42C8}"/>
            </a:ext>
          </a:extLst>
        </p:cNvPr>
        <p:cNvGrpSpPr/>
        <p:nvPr/>
      </p:nvGrpSpPr>
      <p:grpSpPr>
        <a:xfrm>
          <a:off x="0" y="0"/>
          <a:ext cx="0" cy="0"/>
          <a:chOff x="0" y="0"/>
          <a:chExt cx="0" cy="0"/>
        </a:xfrm>
      </p:grpSpPr>
      <p:sp>
        <p:nvSpPr>
          <p:cNvPr id="16" name="ZoneTexte 15">
            <a:extLst>
              <a:ext uri="{FF2B5EF4-FFF2-40B4-BE49-F238E27FC236}">
                <a16:creationId xmlns:a16="http://schemas.microsoft.com/office/drawing/2014/main" id="{56DEACF7-28F8-8D81-4CD5-C84347C4755A}"/>
              </a:ext>
            </a:extLst>
          </p:cNvPr>
          <p:cNvSpPr txBox="1"/>
          <p:nvPr/>
        </p:nvSpPr>
        <p:spPr>
          <a:xfrm>
            <a:off x="533665" y="1448152"/>
            <a:ext cx="11124670" cy="4729623"/>
          </a:xfrm>
          <a:prstGeom prst="rect">
            <a:avLst/>
          </a:prstGeom>
          <a:noFill/>
        </p:spPr>
        <p:txBody>
          <a:bodyPr wrap="square" rtlCol="0">
            <a:noAutofit/>
          </a:bodyPr>
          <a:lstStyle/>
          <a:p>
            <a:r>
              <a:rPr lang="en-GB" sz="1400" noProof="0" dirty="0"/>
              <a:t>A deep learning model is a directed acyclic graph of layers.</a:t>
            </a:r>
          </a:p>
          <a:p>
            <a:endParaRPr lang="en-GB" sz="1400" dirty="0"/>
          </a:p>
          <a:p>
            <a:r>
              <a:rPr lang="en-GB" sz="1400" noProof="0" dirty="0"/>
              <a:t>The most common instance is a linear pile of layers which to a single input, associate a unique output.</a:t>
            </a:r>
          </a:p>
          <a:p>
            <a:endParaRPr lang="en-GB" sz="1400" dirty="0"/>
          </a:p>
          <a:p>
            <a:r>
              <a:rPr lang="en-GB" sz="1400" noProof="0" dirty="0"/>
              <a:t>But there is a variety of networks topology such as:</a:t>
            </a:r>
          </a:p>
          <a:p>
            <a:pPr marL="342900" indent="-342900">
              <a:buFontTx/>
              <a:buChar char="-"/>
            </a:pPr>
            <a:r>
              <a:rPr lang="en-GB" sz="1400" dirty="0"/>
              <a:t>Two-branches networks;</a:t>
            </a:r>
          </a:p>
          <a:p>
            <a:pPr marL="342900" indent="-342900">
              <a:buFontTx/>
              <a:buChar char="-"/>
            </a:pPr>
            <a:r>
              <a:rPr lang="en-GB" sz="1400" noProof="0" dirty="0"/>
              <a:t>Multi</a:t>
            </a:r>
            <a:r>
              <a:rPr lang="en-GB" sz="1400" dirty="0"/>
              <a:t>head networks;</a:t>
            </a:r>
          </a:p>
          <a:p>
            <a:pPr marL="342900" indent="-342900">
              <a:buFontTx/>
              <a:buChar char="-"/>
            </a:pPr>
            <a:r>
              <a:rPr lang="en-GB" sz="1400" noProof="0" dirty="0"/>
              <a:t>Inception </a:t>
            </a:r>
            <a:r>
              <a:rPr lang="en-GB" sz="1400" dirty="0"/>
              <a:t>blocks.</a:t>
            </a:r>
          </a:p>
          <a:p>
            <a:pPr marL="342900" indent="-342900">
              <a:buFontTx/>
              <a:buChar char="-"/>
            </a:pPr>
            <a:endParaRPr lang="en-GB" sz="1400" noProof="0" dirty="0"/>
          </a:p>
          <a:p>
            <a:r>
              <a:rPr lang="en-GB" sz="1400" dirty="0"/>
              <a:t>The network topology defines the space hypothesis (i.e. the space of possibilities).</a:t>
            </a:r>
          </a:p>
          <a:p>
            <a:r>
              <a:rPr lang="en-GB" sz="1400" dirty="0"/>
              <a:t>“The machine learning is the search for useful representations of certain input data within a predefined space of possibilities, relying on a feedback signal.</a:t>
            </a:r>
          </a:p>
          <a:p>
            <a:endParaRPr lang="en-GB" sz="1400" dirty="0"/>
          </a:p>
          <a:p>
            <a:r>
              <a:rPr lang="en-GB" sz="1400" noProof="0" dirty="0"/>
              <a:t>Choosing a </a:t>
            </a:r>
            <a:r>
              <a:rPr lang="en-GB" sz="1400" dirty="0"/>
              <a:t>network </a:t>
            </a:r>
            <a:r>
              <a:rPr lang="en-GB" sz="1400" noProof="0" dirty="0"/>
              <a:t>topology</a:t>
            </a:r>
            <a:r>
              <a:rPr lang="en-GB" sz="1400" dirty="0"/>
              <a:t> restricts the space of possibilities to a series of specific operations.</a:t>
            </a:r>
          </a:p>
          <a:p>
            <a:r>
              <a:rPr lang="en-GB" sz="1400" dirty="0"/>
              <a:t>The objective is to research the good set of values for the weight's tensors manipulated for these operations.</a:t>
            </a:r>
          </a:p>
          <a:p>
            <a:endParaRPr lang="en-GB" sz="1400" dirty="0"/>
          </a:p>
          <a:p>
            <a:r>
              <a:rPr lang="en-GB" sz="1400" dirty="0"/>
              <a:t>Choose the good architecture of a network is more an art than a science.</a:t>
            </a:r>
          </a:p>
          <a:p>
            <a:endParaRPr lang="en-GB" sz="1400" dirty="0"/>
          </a:p>
          <a:p>
            <a:r>
              <a:rPr lang="en-GB" sz="1400" dirty="0"/>
              <a:t>Once the architecture is determined you must choose the loss function (to minimize; represents the measure of success of the task to accomplish) and the optimizer (how the network will be updated). </a:t>
            </a:r>
            <a:endParaRPr lang="en-GB" sz="1400" noProof="0" dirty="0"/>
          </a:p>
        </p:txBody>
      </p:sp>
      <p:sp>
        <p:nvSpPr>
          <p:cNvPr id="2" name="Titre 1">
            <a:extLst>
              <a:ext uri="{FF2B5EF4-FFF2-40B4-BE49-F238E27FC236}">
                <a16:creationId xmlns:a16="http://schemas.microsoft.com/office/drawing/2014/main" id="{E6A80FE0-89E6-14B1-A9CE-BE8518DEC66E}"/>
              </a:ext>
            </a:extLst>
          </p:cNvPr>
          <p:cNvSpPr>
            <a:spLocks noGrp="1"/>
          </p:cNvSpPr>
          <p:nvPr>
            <p:ph type="title"/>
          </p:nvPr>
        </p:nvSpPr>
        <p:spPr/>
        <p:txBody>
          <a:bodyPr/>
          <a:lstStyle/>
          <a:p>
            <a:r>
              <a:rPr lang="fr-FR" dirty="0"/>
              <a:t>Neural Network</a:t>
            </a:r>
          </a:p>
        </p:txBody>
      </p:sp>
      <p:sp>
        <p:nvSpPr>
          <p:cNvPr id="75" name="Espace réservé du pied de page 74">
            <a:extLst>
              <a:ext uri="{FF2B5EF4-FFF2-40B4-BE49-F238E27FC236}">
                <a16:creationId xmlns:a16="http://schemas.microsoft.com/office/drawing/2014/main" id="{E76A961F-6BF8-4293-F358-D625892789EA}"/>
              </a:ext>
            </a:extLst>
          </p:cNvPr>
          <p:cNvSpPr>
            <a:spLocks noGrp="1"/>
          </p:cNvSpPr>
          <p:nvPr>
            <p:ph type="ftr" sz="quarter" idx="11"/>
          </p:nvPr>
        </p:nvSpPr>
        <p:spPr/>
        <p:txBody>
          <a:bodyPr/>
          <a:lstStyle/>
          <a:p>
            <a:r>
              <a:rPr lang="en-GB" dirty="0"/>
              <a:t>Introduction to Neural Networks. Author: David Thébault</a:t>
            </a:r>
          </a:p>
        </p:txBody>
      </p:sp>
      <p:sp>
        <p:nvSpPr>
          <p:cNvPr id="14" name="ZoneTexte 13">
            <a:extLst>
              <a:ext uri="{FF2B5EF4-FFF2-40B4-BE49-F238E27FC236}">
                <a16:creationId xmlns:a16="http://schemas.microsoft.com/office/drawing/2014/main" id="{1573E24E-932D-9D13-3ACA-81538C2B568B}"/>
              </a:ext>
            </a:extLst>
          </p:cNvPr>
          <p:cNvSpPr txBox="1"/>
          <p:nvPr/>
        </p:nvSpPr>
        <p:spPr>
          <a:xfrm>
            <a:off x="8153400" y="6376276"/>
            <a:ext cx="3290593" cy="307777"/>
          </a:xfrm>
          <a:prstGeom prst="rect">
            <a:avLst/>
          </a:prstGeom>
          <a:noFill/>
        </p:spPr>
        <p:txBody>
          <a:bodyPr wrap="square" rtlCol="0">
            <a:spAutoFit/>
          </a:bodyPr>
          <a:lstStyle/>
          <a:p>
            <a:r>
              <a:rPr lang="en-GB" sz="1400" dirty="0">
                <a:solidFill>
                  <a:schemeClr val="tx1">
                    <a:lumMod val="65000"/>
                    <a:lumOff val="35000"/>
                  </a:schemeClr>
                </a:solidFill>
              </a:rPr>
              <a:t>Source: NLPDemystified.org</a:t>
            </a:r>
          </a:p>
        </p:txBody>
      </p:sp>
    </p:spTree>
    <p:extLst>
      <p:ext uri="{BB962C8B-B14F-4D97-AF65-F5344CB8AC3E}">
        <p14:creationId xmlns:p14="http://schemas.microsoft.com/office/powerpoint/2010/main" val="874210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66232-2202-0405-A7D3-92AD2CEBA26C}"/>
            </a:ext>
          </a:extLst>
        </p:cNvPr>
        <p:cNvGrpSpPr/>
        <p:nvPr/>
      </p:nvGrpSpPr>
      <p:grpSpPr>
        <a:xfrm>
          <a:off x="0" y="0"/>
          <a:ext cx="0" cy="0"/>
          <a:chOff x="0" y="0"/>
          <a:chExt cx="0" cy="0"/>
        </a:xfrm>
      </p:grpSpPr>
      <p:sp>
        <p:nvSpPr>
          <p:cNvPr id="16" name="ZoneTexte 15">
            <a:extLst>
              <a:ext uri="{FF2B5EF4-FFF2-40B4-BE49-F238E27FC236}">
                <a16:creationId xmlns:a16="http://schemas.microsoft.com/office/drawing/2014/main" id="{953F5B14-502F-91A4-EDC4-F5698A3CEEEB}"/>
              </a:ext>
            </a:extLst>
          </p:cNvPr>
          <p:cNvSpPr txBox="1"/>
          <p:nvPr/>
        </p:nvSpPr>
        <p:spPr>
          <a:xfrm>
            <a:off x="533665" y="1463095"/>
            <a:ext cx="11124670" cy="1794781"/>
          </a:xfrm>
          <a:prstGeom prst="rect">
            <a:avLst/>
          </a:prstGeom>
          <a:noFill/>
        </p:spPr>
        <p:txBody>
          <a:bodyPr wrap="square" rtlCol="0">
            <a:noAutofit/>
          </a:bodyPr>
          <a:lstStyle/>
          <a:p>
            <a:r>
              <a:rPr lang="en-GB" sz="2800" b="1" noProof="0" dirty="0"/>
              <a:t>Keras library</a:t>
            </a:r>
            <a:r>
              <a:rPr lang="en-GB" sz="2000" b="1" noProof="0" dirty="0">
                <a:solidFill>
                  <a:schemeClr val="tx2">
                    <a:lumMod val="75000"/>
                    <a:lumOff val="25000"/>
                  </a:schemeClr>
                </a:solidFill>
              </a:rPr>
              <a:t> (</a:t>
            </a:r>
            <a:r>
              <a:rPr lang="en-GB" sz="2000" b="1" noProof="0" dirty="0">
                <a:solidFill>
                  <a:schemeClr val="tx2">
                    <a:lumMod val="75000"/>
                    <a:lumOff val="25000"/>
                  </a:schemeClr>
                </a:solidFill>
                <a:hlinkClick r:id="rId2"/>
              </a:rPr>
              <a:t>https://keras.io</a:t>
            </a:r>
            <a:r>
              <a:rPr lang="en-GB" sz="2000" b="1" noProof="0" dirty="0">
                <a:solidFill>
                  <a:schemeClr val="tx2">
                    <a:lumMod val="75000"/>
                    <a:lumOff val="25000"/>
                  </a:schemeClr>
                </a:solidFill>
              </a:rPr>
              <a:t>)</a:t>
            </a:r>
            <a:endParaRPr lang="en-GB" sz="2800" b="1" noProof="0" dirty="0"/>
          </a:p>
          <a:p>
            <a:endParaRPr lang="en-GB" sz="1400" dirty="0"/>
          </a:p>
          <a:p>
            <a:pPr marL="285750" indent="-285750">
              <a:buFontTx/>
              <a:buChar char="-"/>
            </a:pPr>
            <a:r>
              <a:rPr lang="en-GB" sz="1200" noProof="0" dirty="0"/>
              <a:t>Keras is a model-level library </a:t>
            </a:r>
            <a:r>
              <a:rPr lang="en-GB" sz="1200" dirty="0"/>
              <a:t>providing construction blocks of high level for deep learning models.</a:t>
            </a:r>
          </a:p>
          <a:p>
            <a:pPr marL="285750" indent="-285750">
              <a:buFontTx/>
              <a:buChar char="-"/>
            </a:pPr>
            <a:r>
              <a:rPr lang="en-GB" sz="1200" dirty="0"/>
              <a:t>Keras does not manage low level operations such as tensors transformation.</a:t>
            </a:r>
          </a:p>
          <a:p>
            <a:pPr marL="285750" indent="-285750">
              <a:buFontTx/>
              <a:buChar char="-"/>
            </a:pPr>
            <a:r>
              <a:rPr lang="en-GB" sz="1200" dirty="0"/>
              <a:t>Keras relies on specialized and optimized libraries which are used as </a:t>
            </a:r>
            <a:r>
              <a:rPr lang="en-GB" sz="1200" b="1" dirty="0"/>
              <a:t>backend engines</a:t>
            </a:r>
            <a:r>
              <a:rPr lang="en-GB" sz="1200" dirty="0"/>
              <a:t>. Keras codes can be run on all these backend engines as it is.</a:t>
            </a:r>
          </a:p>
          <a:p>
            <a:pPr marL="285750" indent="-285750">
              <a:buFontTx/>
              <a:buChar char="-"/>
            </a:pPr>
            <a:r>
              <a:rPr lang="en-GB" sz="1200" b="0" i="0" u="none" strike="noStrike" dirty="0">
                <a:solidFill>
                  <a:srgbClr val="18181B"/>
                </a:solidFill>
                <a:effectLst/>
                <a:latin typeface="ui-sans-serif"/>
              </a:rPr>
              <a:t>Keras is distributed under the permissive MIT software license, which means it can be used freely in commercial projects.</a:t>
            </a:r>
          </a:p>
          <a:p>
            <a:pPr marL="285750" indent="-285750">
              <a:buFontTx/>
              <a:buChar char="-"/>
            </a:pPr>
            <a:r>
              <a:rPr lang="en-GB" sz="1200" b="0" i="0" u="none" strike="noStrike" dirty="0">
                <a:solidFill>
                  <a:srgbClr val="18181B"/>
                </a:solidFill>
                <a:effectLst/>
                <a:latin typeface="ui-sans-serif"/>
              </a:rPr>
              <a:t>Keras is compatible with all versions of Python.</a:t>
            </a:r>
          </a:p>
          <a:p>
            <a:pPr marL="285750" indent="-285750">
              <a:buFontTx/>
              <a:buChar char="-"/>
            </a:pPr>
            <a:r>
              <a:rPr lang="en-GB" sz="1200" dirty="0">
                <a:solidFill>
                  <a:srgbClr val="18181B"/>
                </a:solidFill>
                <a:latin typeface="ui-sans-serif"/>
              </a:rPr>
              <a:t>Keras works with </a:t>
            </a:r>
            <a:r>
              <a:rPr lang="en-GB" sz="1200" dirty="0"/>
              <a:t>central unit of treatment (CPU) or on a graphic processor unit (GPU).</a:t>
            </a:r>
          </a:p>
          <a:p>
            <a:endParaRPr lang="en-GB" sz="1400" noProof="0" dirty="0"/>
          </a:p>
          <a:p>
            <a:endParaRPr lang="en-GB" sz="1400" dirty="0"/>
          </a:p>
          <a:p>
            <a:endParaRPr lang="en-GB" sz="1400" noProof="0" dirty="0"/>
          </a:p>
        </p:txBody>
      </p:sp>
      <p:sp>
        <p:nvSpPr>
          <p:cNvPr id="2" name="Titre 1">
            <a:extLst>
              <a:ext uri="{FF2B5EF4-FFF2-40B4-BE49-F238E27FC236}">
                <a16:creationId xmlns:a16="http://schemas.microsoft.com/office/drawing/2014/main" id="{2C52C45A-179E-3587-9B57-49D9C055B449}"/>
              </a:ext>
            </a:extLst>
          </p:cNvPr>
          <p:cNvSpPr>
            <a:spLocks noGrp="1"/>
          </p:cNvSpPr>
          <p:nvPr>
            <p:ph type="title"/>
          </p:nvPr>
        </p:nvSpPr>
        <p:spPr/>
        <p:txBody>
          <a:bodyPr/>
          <a:lstStyle/>
          <a:p>
            <a:r>
              <a:rPr lang="fr-FR" dirty="0"/>
              <a:t>Neural Network</a:t>
            </a:r>
          </a:p>
        </p:txBody>
      </p:sp>
      <p:sp>
        <p:nvSpPr>
          <p:cNvPr id="75" name="Espace réservé du pied de page 74">
            <a:extLst>
              <a:ext uri="{FF2B5EF4-FFF2-40B4-BE49-F238E27FC236}">
                <a16:creationId xmlns:a16="http://schemas.microsoft.com/office/drawing/2014/main" id="{9C5BD541-FD83-F908-2D45-F5B642BAA2AA}"/>
              </a:ext>
            </a:extLst>
          </p:cNvPr>
          <p:cNvSpPr>
            <a:spLocks noGrp="1"/>
          </p:cNvSpPr>
          <p:nvPr>
            <p:ph type="ftr" sz="quarter" idx="11"/>
          </p:nvPr>
        </p:nvSpPr>
        <p:spPr/>
        <p:txBody>
          <a:bodyPr/>
          <a:lstStyle/>
          <a:p>
            <a:r>
              <a:rPr lang="en-GB" dirty="0"/>
              <a:t>Introduction to Neural Networks. Author: David Thébault</a:t>
            </a:r>
          </a:p>
        </p:txBody>
      </p:sp>
      <p:sp>
        <p:nvSpPr>
          <p:cNvPr id="14" name="ZoneTexte 13">
            <a:extLst>
              <a:ext uri="{FF2B5EF4-FFF2-40B4-BE49-F238E27FC236}">
                <a16:creationId xmlns:a16="http://schemas.microsoft.com/office/drawing/2014/main" id="{D1096550-5445-5324-2BD9-F27D97857082}"/>
              </a:ext>
            </a:extLst>
          </p:cNvPr>
          <p:cNvSpPr txBox="1"/>
          <p:nvPr/>
        </p:nvSpPr>
        <p:spPr>
          <a:xfrm>
            <a:off x="8153400" y="6376276"/>
            <a:ext cx="3290593" cy="307777"/>
          </a:xfrm>
          <a:prstGeom prst="rect">
            <a:avLst/>
          </a:prstGeom>
          <a:noFill/>
        </p:spPr>
        <p:txBody>
          <a:bodyPr wrap="square" rtlCol="0">
            <a:spAutoFit/>
          </a:bodyPr>
          <a:lstStyle/>
          <a:p>
            <a:r>
              <a:rPr lang="en-GB" sz="1400" dirty="0">
                <a:solidFill>
                  <a:schemeClr val="tx1">
                    <a:lumMod val="65000"/>
                    <a:lumOff val="35000"/>
                  </a:schemeClr>
                </a:solidFill>
              </a:rPr>
              <a:t>Source: NLPDemystified.org</a:t>
            </a:r>
          </a:p>
        </p:txBody>
      </p:sp>
      <p:sp>
        <p:nvSpPr>
          <p:cNvPr id="12" name="ZoneTexte 11">
            <a:extLst>
              <a:ext uri="{FF2B5EF4-FFF2-40B4-BE49-F238E27FC236}">
                <a16:creationId xmlns:a16="http://schemas.microsoft.com/office/drawing/2014/main" id="{E606B73D-F03E-6211-49CE-9A7DC9926837}"/>
              </a:ext>
            </a:extLst>
          </p:cNvPr>
          <p:cNvSpPr txBox="1"/>
          <p:nvPr/>
        </p:nvSpPr>
        <p:spPr>
          <a:xfrm>
            <a:off x="4474479" y="3675731"/>
            <a:ext cx="6969514" cy="1088942"/>
          </a:xfrm>
          <a:prstGeom prst="rect">
            <a:avLst/>
          </a:prstGeom>
          <a:noFill/>
        </p:spPr>
        <p:txBody>
          <a:bodyPr wrap="square" lIns="90000" rtlCol="0">
            <a:noAutofit/>
          </a:bodyPr>
          <a:lstStyle/>
          <a:p>
            <a:r>
              <a:rPr lang="en-GB" sz="1100" b="1" dirty="0"/>
              <a:t>Backend engines:</a:t>
            </a:r>
          </a:p>
          <a:p>
            <a:pPr marL="171450" indent="-171450">
              <a:buFontTx/>
              <a:buChar char="-"/>
            </a:pPr>
            <a:r>
              <a:rPr lang="en-GB" sz="1100" dirty="0"/>
              <a:t>TensorFlow from google </a:t>
            </a:r>
            <a:r>
              <a:rPr lang="en-GB" sz="1100" dirty="0">
                <a:solidFill>
                  <a:srgbClr val="467886"/>
                </a:solidFill>
                <a:hlinkClick r:id="rId3">
                  <a:extLst>
                    <a:ext uri="{A12FA001-AC4F-418D-AE19-62706E023703}">
                      <ahyp:hlinkClr xmlns:ahyp="http://schemas.microsoft.com/office/drawing/2018/hyperlinkcolor" val="tx"/>
                    </a:ext>
                  </a:extLst>
                </a:hlinkClick>
              </a:rPr>
              <a:t>www.tensorflo</a:t>
            </a:r>
            <a:r>
              <a:rPr lang="en-GB" sz="1100" dirty="0">
                <a:solidFill>
                  <a:schemeClr val="accent1"/>
                </a:solidFill>
                <a:hlinkClick r:id="rId3">
                  <a:extLst>
                    <a:ext uri="{A12FA001-AC4F-418D-AE19-62706E023703}">
                      <ahyp:hlinkClr xmlns:ahyp="http://schemas.microsoft.com/office/drawing/2018/hyperlinkcolor" val="tx"/>
                    </a:ext>
                  </a:extLst>
                </a:hlinkClick>
              </a:rPr>
              <a:t>w.org</a:t>
            </a:r>
            <a:r>
              <a:rPr lang="en-GB" sz="1100" dirty="0">
                <a:solidFill>
                  <a:schemeClr val="accent1"/>
                </a:solidFill>
              </a:rPr>
              <a:t> </a:t>
            </a:r>
            <a:r>
              <a:rPr lang="en-GB" sz="1100" dirty="0"/>
              <a:t>(recommended with Keras)</a:t>
            </a:r>
          </a:p>
          <a:p>
            <a:pPr marL="171450" indent="-171450">
              <a:buFontTx/>
              <a:buChar char="-"/>
            </a:pPr>
            <a:r>
              <a:rPr lang="en-GB" sz="1100" dirty="0"/>
              <a:t>CNTK: Microsoft </a:t>
            </a:r>
            <a:r>
              <a:rPr lang="en-GB" sz="1100" b="1" dirty="0"/>
              <a:t>C</a:t>
            </a:r>
            <a:r>
              <a:rPr lang="en-GB" sz="1100" dirty="0"/>
              <a:t>og</a:t>
            </a:r>
            <a:r>
              <a:rPr lang="en-GB" sz="1100" b="1" dirty="0"/>
              <a:t>n</a:t>
            </a:r>
            <a:r>
              <a:rPr lang="en-GB" sz="1100" dirty="0"/>
              <a:t>itive </a:t>
            </a:r>
            <a:r>
              <a:rPr lang="en-GB" sz="1100" b="1" dirty="0"/>
              <a:t>T</a:t>
            </a:r>
            <a:r>
              <a:rPr lang="en-GB" sz="1100" dirty="0"/>
              <a:t>ool</a:t>
            </a:r>
            <a:r>
              <a:rPr lang="en-GB" sz="1100" b="1" dirty="0"/>
              <a:t>k</a:t>
            </a:r>
            <a:r>
              <a:rPr lang="en-GB" sz="1100" dirty="0"/>
              <a:t>it. </a:t>
            </a:r>
            <a:r>
              <a:rPr lang="en-GB" sz="1100" dirty="0">
                <a:solidFill>
                  <a:schemeClr val="accent1"/>
                </a:solidFill>
                <a:hlinkClick r:id="rId4">
                  <a:extLst>
                    <a:ext uri="{A12FA001-AC4F-418D-AE19-62706E023703}">
                      <ahyp:hlinkClr xmlns:ahyp="http://schemas.microsoft.com/office/drawing/2018/hyperlinkcolor" val="tx"/>
                    </a:ext>
                  </a:extLst>
                </a:hlinkClick>
              </a:rPr>
              <a:t>https://github.com/Microsoft/CNTK</a:t>
            </a:r>
            <a:endParaRPr lang="en-GB" sz="1100" dirty="0">
              <a:solidFill>
                <a:schemeClr val="accent1"/>
              </a:solidFill>
            </a:endParaRPr>
          </a:p>
          <a:p>
            <a:pPr marL="171450" indent="-171450">
              <a:buFontTx/>
              <a:buChar char="-"/>
            </a:pPr>
            <a:r>
              <a:rPr lang="en-GB" sz="1100" dirty="0"/>
              <a:t>Theano is developed by the MILA laboratory of Montreal University </a:t>
            </a:r>
            <a:r>
              <a:rPr lang="en-GB" sz="1100" dirty="0">
                <a:solidFill>
                  <a:schemeClr val="accent1"/>
                </a:solidFill>
                <a:hlinkClick r:id="rId5">
                  <a:extLst>
                    <a:ext uri="{A12FA001-AC4F-418D-AE19-62706E023703}">
                      <ahyp:hlinkClr xmlns:ahyp="http://schemas.microsoft.com/office/drawing/2018/hyperlinkcolor" val="tx"/>
                    </a:ext>
                  </a:extLst>
                </a:hlinkClick>
              </a:rPr>
              <a:t>http://deeplearning.net/software/theano</a:t>
            </a:r>
            <a:endParaRPr lang="en-GB" sz="1100" dirty="0">
              <a:solidFill>
                <a:schemeClr val="accent1"/>
              </a:solidFill>
            </a:endParaRPr>
          </a:p>
          <a:p>
            <a:pPr marL="171450" indent="-171450">
              <a:buFontTx/>
              <a:buChar char="-"/>
            </a:pPr>
            <a:r>
              <a:rPr lang="en-GB" sz="1100" dirty="0"/>
              <a:t>Pytorch </a:t>
            </a:r>
          </a:p>
        </p:txBody>
      </p:sp>
      <p:grpSp>
        <p:nvGrpSpPr>
          <p:cNvPr id="21" name="Groupe 20">
            <a:extLst>
              <a:ext uri="{FF2B5EF4-FFF2-40B4-BE49-F238E27FC236}">
                <a16:creationId xmlns:a16="http://schemas.microsoft.com/office/drawing/2014/main" id="{0B0E3288-57B8-E6F8-912F-8020A516FA73}"/>
              </a:ext>
            </a:extLst>
          </p:cNvPr>
          <p:cNvGrpSpPr/>
          <p:nvPr/>
        </p:nvGrpSpPr>
        <p:grpSpPr>
          <a:xfrm>
            <a:off x="733708" y="3329171"/>
            <a:ext cx="3526055" cy="2764677"/>
            <a:chOff x="733708" y="3574494"/>
            <a:chExt cx="3526055" cy="2764677"/>
          </a:xfrm>
        </p:grpSpPr>
        <p:sp>
          <p:nvSpPr>
            <p:cNvPr id="3" name="Rectangle : coins arrondis 2">
              <a:extLst>
                <a:ext uri="{FF2B5EF4-FFF2-40B4-BE49-F238E27FC236}">
                  <a16:creationId xmlns:a16="http://schemas.microsoft.com/office/drawing/2014/main" id="{35C18234-6207-4299-FC7F-BE7CF980A15E}"/>
                </a:ext>
              </a:extLst>
            </p:cNvPr>
            <p:cNvSpPr/>
            <p:nvPr/>
          </p:nvSpPr>
          <p:spPr>
            <a:xfrm>
              <a:off x="838200" y="3574494"/>
              <a:ext cx="3200400" cy="60873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Keras</a:t>
              </a:r>
              <a:endParaRPr lang="en-GB" sz="1400" dirty="0"/>
            </a:p>
          </p:txBody>
        </p:sp>
        <p:sp>
          <p:nvSpPr>
            <p:cNvPr id="4" name="Rectangle : coins arrondis 3">
              <a:extLst>
                <a:ext uri="{FF2B5EF4-FFF2-40B4-BE49-F238E27FC236}">
                  <a16:creationId xmlns:a16="http://schemas.microsoft.com/office/drawing/2014/main" id="{147032C3-8FB9-2F8C-7974-EC5D1B003556}"/>
                </a:ext>
              </a:extLst>
            </p:cNvPr>
            <p:cNvSpPr/>
            <p:nvPr/>
          </p:nvSpPr>
          <p:spPr>
            <a:xfrm>
              <a:off x="838200" y="4254526"/>
              <a:ext cx="3200400" cy="53830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t>TensorFlow, CNTK, Theano…</a:t>
              </a:r>
            </a:p>
          </p:txBody>
        </p:sp>
        <p:sp>
          <p:nvSpPr>
            <p:cNvPr id="5" name="Rectangle : coins arrondis 4">
              <a:extLst>
                <a:ext uri="{FF2B5EF4-FFF2-40B4-BE49-F238E27FC236}">
                  <a16:creationId xmlns:a16="http://schemas.microsoft.com/office/drawing/2014/main" id="{A0616CAF-C94E-2CB6-A1C2-1C353C622F96}"/>
                </a:ext>
              </a:extLst>
            </p:cNvPr>
            <p:cNvSpPr/>
            <p:nvPr/>
          </p:nvSpPr>
          <p:spPr>
            <a:xfrm>
              <a:off x="838200" y="4859220"/>
              <a:ext cx="1565570" cy="53830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t>CUDA / CuDNN</a:t>
              </a:r>
            </a:p>
          </p:txBody>
        </p:sp>
        <p:sp>
          <p:nvSpPr>
            <p:cNvPr id="6" name="Rectangle : coins arrondis 5">
              <a:extLst>
                <a:ext uri="{FF2B5EF4-FFF2-40B4-BE49-F238E27FC236}">
                  <a16:creationId xmlns:a16="http://schemas.microsoft.com/office/drawing/2014/main" id="{7A6CFE1E-3476-0FA3-25A6-F3BF6953DA6B}"/>
                </a:ext>
              </a:extLst>
            </p:cNvPr>
            <p:cNvSpPr/>
            <p:nvPr/>
          </p:nvSpPr>
          <p:spPr>
            <a:xfrm>
              <a:off x="2452255" y="4863264"/>
              <a:ext cx="1565570" cy="53830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t>BLAS / Eigen</a:t>
              </a:r>
            </a:p>
          </p:txBody>
        </p:sp>
        <p:sp>
          <p:nvSpPr>
            <p:cNvPr id="7" name="Rectangle : coins arrondis 6">
              <a:extLst>
                <a:ext uri="{FF2B5EF4-FFF2-40B4-BE49-F238E27FC236}">
                  <a16:creationId xmlns:a16="http://schemas.microsoft.com/office/drawing/2014/main" id="{42CFD409-5BE4-2BF7-7110-1D3299AAB3AD}"/>
                </a:ext>
              </a:extLst>
            </p:cNvPr>
            <p:cNvSpPr/>
            <p:nvPr/>
          </p:nvSpPr>
          <p:spPr>
            <a:xfrm>
              <a:off x="852050" y="5468823"/>
              <a:ext cx="1551720" cy="53830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t>GPU</a:t>
              </a:r>
            </a:p>
          </p:txBody>
        </p:sp>
        <p:sp>
          <p:nvSpPr>
            <p:cNvPr id="8" name="Rectangle : coins arrondis 7">
              <a:extLst>
                <a:ext uri="{FF2B5EF4-FFF2-40B4-BE49-F238E27FC236}">
                  <a16:creationId xmlns:a16="http://schemas.microsoft.com/office/drawing/2014/main" id="{6FDC51C8-CD3D-A93F-98DF-D1730BE5F864}"/>
                </a:ext>
              </a:extLst>
            </p:cNvPr>
            <p:cNvSpPr/>
            <p:nvPr/>
          </p:nvSpPr>
          <p:spPr>
            <a:xfrm>
              <a:off x="2452245" y="5472867"/>
              <a:ext cx="1551720" cy="53830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t>CPU</a:t>
              </a:r>
            </a:p>
          </p:txBody>
        </p:sp>
        <p:sp>
          <p:nvSpPr>
            <p:cNvPr id="15" name="ZoneTexte 14">
              <a:extLst>
                <a:ext uri="{FF2B5EF4-FFF2-40B4-BE49-F238E27FC236}">
                  <a16:creationId xmlns:a16="http://schemas.microsoft.com/office/drawing/2014/main" id="{000992A5-9A1C-068D-C3CF-6A09229DC381}"/>
                </a:ext>
              </a:extLst>
            </p:cNvPr>
            <p:cNvSpPr txBox="1"/>
            <p:nvPr/>
          </p:nvSpPr>
          <p:spPr>
            <a:xfrm>
              <a:off x="733708" y="6077561"/>
              <a:ext cx="3526055" cy="261610"/>
            </a:xfrm>
            <a:prstGeom prst="rect">
              <a:avLst/>
            </a:prstGeom>
            <a:noFill/>
          </p:spPr>
          <p:txBody>
            <a:bodyPr wrap="square">
              <a:spAutoFit/>
            </a:bodyPr>
            <a:lstStyle/>
            <a:p>
              <a:r>
                <a:rPr lang="en-GB" sz="1100" b="1" i="0" u="none" strike="noStrike" dirty="0">
                  <a:solidFill>
                    <a:srgbClr val="18181B"/>
                  </a:solidFill>
                  <a:effectLst/>
                  <a:latin typeface="ui-sans-serif"/>
                </a:rPr>
                <a:t>Fig. The software and hardware stack for deep learning</a:t>
              </a:r>
              <a:endParaRPr lang="en-GB" sz="1100" b="1" dirty="0"/>
            </a:p>
          </p:txBody>
        </p:sp>
      </p:grpSp>
      <p:sp>
        <p:nvSpPr>
          <p:cNvPr id="22" name="ZoneTexte 21">
            <a:extLst>
              <a:ext uri="{FF2B5EF4-FFF2-40B4-BE49-F238E27FC236}">
                <a16:creationId xmlns:a16="http://schemas.microsoft.com/office/drawing/2014/main" id="{37273D6D-D7D8-EC75-151B-57344F9F3B65}"/>
              </a:ext>
            </a:extLst>
          </p:cNvPr>
          <p:cNvSpPr txBox="1"/>
          <p:nvPr/>
        </p:nvSpPr>
        <p:spPr>
          <a:xfrm>
            <a:off x="4474479" y="4784599"/>
            <a:ext cx="7183856" cy="610305"/>
          </a:xfrm>
          <a:prstGeom prst="rect">
            <a:avLst/>
          </a:prstGeom>
          <a:noFill/>
        </p:spPr>
        <p:txBody>
          <a:bodyPr wrap="square" lIns="90000" rtlCol="0">
            <a:noAutofit/>
          </a:bodyPr>
          <a:lstStyle/>
          <a:p>
            <a:r>
              <a:rPr lang="en-GB" sz="1100" dirty="0"/>
              <a:t>When TensorFlow is run on a CPU</a:t>
            </a:r>
            <a:r>
              <a:rPr lang="en-GB" sz="1100" b="0" i="0" u="none" strike="noStrike" dirty="0">
                <a:solidFill>
                  <a:srgbClr val="18181B"/>
                </a:solidFill>
                <a:effectLst/>
                <a:latin typeface="ui-sans-serif"/>
              </a:rPr>
              <a:t>, it equips itself with a specialized low-level library for tensor operations called </a:t>
            </a:r>
            <a:r>
              <a:rPr lang="en-GB" sz="1100" b="1" i="0" u="none" strike="noStrike" dirty="0">
                <a:solidFill>
                  <a:srgbClr val="18181B"/>
                </a:solidFill>
                <a:effectLst/>
                <a:latin typeface="ui-sans-serif"/>
              </a:rPr>
              <a:t>Eigen</a:t>
            </a:r>
            <a:r>
              <a:rPr lang="en-GB" sz="1100" b="0" i="0" u="none" strike="noStrike" dirty="0">
                <a:solidFill>
                  <a:srgbClr val="18181B"/>
                </a:solidFill>
                <a:effectLst/>
                <a:latin typeface="ui-sans-serif"/>
              </a:rPr>
              <a:t>.</a:t>
            </a:r>
          </a:p>
          <a:p>
            <a:r>
              <a:rPr lang="en-GB" sz="1100" b="0" i="0" u="none" strike="noStrike" dirty="0">
                <a:solidFill>
                  <a:srgbClr val="18181B"/>
                </a:solidFill>
                <a:effectLst/>
                <a:latin typeface="ui-sans-serif"/>
              </a:rPr>
              <a:t>On a GPU, TensorFlow integrates a well-optimized library of operations for deep learning called the NVIDIA CUDA Deep Neural Network (CuDNN) library.</a:t>
            </a:r>
            <a:endParaRPr lang="en-GB" sz="1100" dirty="0"/>
          </a:p>
        </p:txBody>
      </p:sp>
    </p:spTree>
    <p:extLst>
      <p:ext uri="{BB962C8B-B14F-4D97-AF65-F5344CB8AC3E}">
        <p14:creationId xmlns:p14="http://schemas.microsoft.com/office/powerpoint/2010/main" val="20501355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5ACE8-9BF5-F099-2B4C-A9C1ACE1AC0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0EFBC9A-79A5-74CB-A272-AD3BC101E90D}"/>
              </a:ext>
            </a:extLst>
          </p:cNvPr>
          <p:cNvSpPr>
            <a:spLocks noGrp="1"/>
          </p:cNvSpPr>
          <p:nvPr>
            <p:ph type="title"/>
          </p:nvPr>
        </p:nvSpPr>
        <p:spPr/>
        <p:txBody>
          <a:bodyPr/>
          <a:lstStyle/>
          <a:p>
            <a:r>
              <a:rPr lang="en-GB" dirty="0"/>
              <a:t>Pytorch tutorial</a:t>
            </a:r>
            <a:br>
              <a:rPr lang="en-GB" dirty="0"/>
            </a:br>
            <a:r>
              <a:rPr lang="en-GB" sz="2800" b="1" dirty="0"/>
              <a:t>Create tensors</a:t>
            </a:r>
            <a:endParaRPr lang="en-GB" dirty="0"/>
          </a:p>
        </p:txBody>
      </p:sp>
      <p:sp>
        <p:nvSpPr>
          <p:cNvPr id="4" name="Espace réservé du pied de page 3">
            <a:extLst>
              <a:ext uri="{FF2B5EF4-FFF2-40B4-BE49-F238E27FC236}">
                <a16:creationId xmlns:a16="http://schemas.microsoft.com/office/drawing/2014/main" id="{0B8600E7-03CC-F5DD-3504-ABDAD3B914FF}"/>
              </a:ext>
            </a:extLst>
          </p:cNvPr>
          <p:cNvSpPr>
            <a:spLocks noGrp="1"/>
          </p:cNvSpPr>
          <p:nvPr>
            <p:ph type="ftr" sz="quarter" idx="11"/>
          </p:nvPr>
        </p:nvSpPr>
        <p:spPr/>
        <p:txBody>
          <a:bodyPr/>
          <a:lstStyle/>
          <a:p>
            <a:r>
              <a:rPr lang="fr-FR"/>
              <a:t>Introduction to Neural Networks. Author: David Thébault</a:t>
            </a:r>
          </a:p>
        </p:txBody>
      </p:sp>
      <p:sp>
        <p:nvSpPr>
          <p:cNvPr id="6" name="ZoneTexte 5">
            <a:extLst>
              <a:ext uri="{FF2B5EF4-FFF2-40B4-BE49-F238E27FC236}">
                <a16:creationId xmlns:a16="http://schemas.microsoft.com/office/drawing/2014/main" id="{990D8D90-78F8-2194-CAEF-E32CFF611F14}"/>
              </a:ext>
            </a:extLst>
          </p:cNvPr>
          <p:cNvSpPr txBox="1"/>
          <p:nvPr/>
        </p:nvSpPr>
        <p:spPr>
          <a:xfrm>
            <a:off x="838200" y="1585813"/>
            <a:ext cx="9740900" cy="3416320"/>
          </a:xfrm>
          <a:prstGeom prst="rect">
            <a:avLst/>
          </a:prstGeom>
          <a:noFill/>
        </p:spPr>
        <p:txBody>
          <a:bodyPr wrap="square">
            <a:spAutoFit/>
          </a:bodyPr>
          <a:lstStyle/>
          <a:p>
            <a:r>
              <a:rPr lang="fr-FR" sz="2400" dirty="0">
                <a:solidFill>
                  <a:srgbClr val="0033B3"/>
                </a:solidFill>
                <a:effectLst/>
              </a:rPr>
              <a:t>import </a:t>
            </a:r>
            <a:r>
              <a:rPr lang="fr-FR" sz="2400" dirty="0" err="1">
                <a:solidFill>
                  <a:srgbClr val="080808"/>
                </a:solidFill>
                <a:effectLst/>
              </a:rPr>
              <a:t>torch</a:t>
            </a:r>
            <a:br>
              <a:rPr lang="fr-FR" sz="2400" dirty="0">
                <a:solidFill>
                  <a:srgbClr val="080808"/>
                </a:solidFill>
                <a:effectLst/>
              </a:rPr>
            </a:br>
            <a:br>
              <a:rPr lang="fr-FR" sz="2400" dirty="0">
                <a:solidFill>
                  <a:srgbClr val="080808"/>
                </a:solidFill>
                <a:effectLst/>
              </a:rPr>
            </a:br>
            <a:r>
              <a:rPr lang="fr-FR" sz="2400" dirty="0">
                <a:solidFill>
                  <a:srgbClr val="080808"/>
                </a:solidFill>
                <a:effectLst/>
              </a:rPr>
              <a:t>x = </a:t>
            </a:r>
            <a:r>
              <a:rPr lang="fr-FR" sz="2400" dirty="0" err="1">
                <a:solidFill>
                  <a:srgbClr val="080808"/>
                </a:solidFill>
                <a:effectLst/>
              </a:rPr>
              <a:t>torch.rand</a:t>
            </a:r>
            <a:r>
              <a:rPr lang="fr-FR" sz="2400" dirty="0">
                <a:solidFill>
                  <a:srgbClr val="080808"/>
                </a:solidFill>
                <a:effectLst/>
              </a:rPr>
              <a:t>(</a:t>
            </a:r>
            <a:r>
              <a:rPr lang="fr-FR" sz="2400" dirty="0">
                <a:solidFill>
                  <a:srgbClr val="1750EB"/>
                </a:solidFill>
                <a:effectLst/>
              </a:rPr>
              <a:t>4</a:t>
            </a:r>
            <a:r>
              <a:rPr lang="fr-FR" sz="2400" dirty="0">
                <a:solidFill>
                  <a:srgbClr val="080808"/>
                </a:solidFill>
                <a:effectLst/>
              </a:rPr>
              <a:t>,</a:t>
            </a:r>
            <a:r>
              <a:rPr lang="fr-FR" sz="2400" dirty="0">
                <a:solidFill>
                  <a:srgbClr val="1750EB"/>
                </a:solidFill>
                <a:effectLst/>
              </a:rPr>
              <a:t>3</a:t>
            </a:r>
            <a:r>
              <a:rPr lang="fr-FR" sz="2400" dirty="0">
                <a:solidFill>
                  <a:srgbClr val="080808"/>
                </a:solidFill>
                <a:effectLst/>
              </a:rPr>
              <a:t>)</a:t>
            </a:r>
            <a:br>
              <a:rPr lang="fr-FR" sz="2400" dirty="0">
                <a:solidFill>
                  <a:srgbClr val="080808"/>
                </a:solidFill>
                <a:effectLst/>
              </a:rPr>
            </a:br>
            <a:r>
              <a:rPr lang="fr-FR" sz="2400" dirty="0">
                <a:solidFill>
                  <a:srgbClr val="000080"/>
                </a:solidFill>
                <a:effectLst/>
              </a:rPr>
              <a:t>print</a:t>
            </a:r>
            <a:r>
              <a:rPr lang="fr-FR" sz="2400" dirty="0">
                <a:solidFill>
                  <a:srgbClr val="080808"/>
                </a:solidFill>
                <a:effectLst/>
              </a:rPr>
              <a:t>(x)</a:t>
            </a:r>
          </a:p>
          <a:p>
            <a:endParaRPr lang="fr-FR" sz="2400" dirty="0">
              <a:solidFill>
                <a:srgbClr val="080808"/>
              </a:solidFill>
            </a:endParaRPr>
          </a:p>
          <a:p>
            <a:r>
              <a:rPr lang="fr-FR" sz="2400" dirty="0" err="1">
                <a:solidFill>
                  <a:schemeClr val="bg1">
                    <a:lumMod val="50000"/>
                  </a:schemeClr>
                </a:solidFill>
                <a:effectLst/>
              </a:rPr>
              <a:t>tensor</a:t>
            </a:r>
            <a:r>
              <a:rPr lang="fr-FR" sz="2400" dirty="0">
                <a:solidFill>
                  <a:schemeClr val="bg1">
                    <a:lumMod val="50000"/>
                  </a:schemeClr>
                </a:solidFill>
                <a:effectLst/>
              </a:rPr>
              <a:t>([[0.1955, 0.9651, 0.2215],</a:t>
            </a:r>
          </a:p>
          <a:p>
            <a:r>
              <a:rPr lang="fr-FR" sz="2400" dirty="0">
                <a:solidFill>
                  <a:schemeClr val="bg1">
                    <a:lumMod val="50000"/>
                  </a:schemeClr>
                </a:solidFill>
                <a:effectLst/>
              </a:rPr>
              <a:t>                 [0.0145, 0.3625, 0.3286],</a:t>
            </a:r>
          </a:p>
          <a:p>
            <a:r>
              <a:rPr lang="fr-FR" sz="2400" dirty="0">
                <a:solidFill>
                  <a:schemeClr val="bg1">
                    <a:lumMod val="50000"/>
                  </a:schemeClr>
                </a:solidFill>
                <a:effectLst/>
              </a:rPr>
              <a:t>                 [0.4321, 0.9224, 0.1897],</a:t>
            </a:r>
          </a:p>
          <a:p>
            <a:r>
              <a:rPr lang="fr-FR" sz="2400" dirty="0">
                <a:solidFill>
                  <a:schemeClr val="bg1">
                    <a:lumMod val="50000"/>
                  </a:schemeClr>
                </a:solidFill>
                <a:effectLst/>
              </a:rPr>
              <a:t>                 [0.6365, 0.4051, 0.7484]])</a:t>
            </a:r>
          </a:p>
        </p:txBody>
      </p:sp>
    </p:spTree>
    <p:extLst>
      <p:ext uri="{BB962C8B-B14F-4D97-AF65-F5344CB8AC3E}">
        <p14:creationId xmlns:p14="http://schemas.microsoft.com/office/powerpoint/2010/main" val="40154820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719BF-58B2-DBB3-F561-C0E27561C9C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34FCD1E-9631-0AE2-D9BB-24F3AD0FBE12}"/>
              </a:ext>
            </a:extLst>
          </p:cNvPr>
          <p:cNvSpPr>
            <a:spLocks noGrp="1"/>
          </p:cNvSpPr>
          <p:nvPr>
            <p:ph type="title"/>
          </p:nvPr>
        </p:nvSpPr>
        <p:spPr/>
        <p:txBody>
          <a:bodyPr/>
          <a:lstStyle/>
          <a:p>
            <a:r>
              <a:rPr lang="en-GB" dirty="0"/>
              <a:t>Pytorch tutorial</a:t>
            </a:r>
            <a:br>
              <a:rPr lang="en-GB" dirty="0"/>
            </a:br>
            <a:r>
              <a:rPr lang="en-GB" sz="2800" b="1" dirty="0"/>
              <a:t>Create tensors</a:t>
            </a:r>
            <a:endParaRPr lang="en-GB" dirty="0"/>
          </a:p>
        </p:txBody>
      </p:sp>
      <p:sp>
        <p:nvSpPr>
          <p:cNvPr id="4" name="Espace réservé du pied de page 3">
            <a:extLst>
              <a:ext uri="{FF2B5EF4-FFF2-40B4-BE49-F238E27FC236}">
                <a16:creationId xmlns:a16="http://schemas.microsoft.com/office/drawing/2014/main" id="{85AB972B-5926-ACED-1BA1-748E53F31F4D}"/>
              </a:ext>
            </a:extLst>
          </p:cNvPr>
          <p:cNvSpPr>
            <a:spLocks noGrp="1"/>
          </p:cNvSpPr>
          <p:nvPr>
            <p:ph type="ftr" sz="quarter" idx="11"/>
          </p:nvPr>
        </p:nvSpPr>
        <p:spPr/>
        <p:txBody>
          <a:bodyPr/>
          <a:lstStyle/>
          <a:p>
            <a:r>
              <a:rPr lang="fr-FR"/>
              <a:t>Introduction to Neural Networks. Author: David Thébault</a:t>
            </a:r>
          </a:p>
        </p:txBody>
      </p:sp>
      <p:sp>
        <p:nvSpPr>
          <p:cNvPr id="6" name="ZoneTexte 5">
            <a:extLst>
              <a:ext uri="{FF2B5EF4-FFF2-40B4-BE49-F238E27FC236}">
                <a16:creationId xmlns:a16="http://schemas.microsoft.com/office/drawing/2014/main" id="{4F258629-D739-E3FC-2139-4638F95468CE}"/>
              </a:ext>
            </a:extLst>
          </p:cNvPr>
          <p:cNvSpPr txBox="1"/>
          <p:nvPr/>
        </p:nvSpPr>
        <p:spPr>
          <a:xfrm>
            <a:off x="838200" y="1585813"/>
            <a:ext cx="9740900" cy="2677656"/>
          </a:xfrm>
          <a:prstGeom prst="rect">
            <a:avLst/>
          </a:prstGeom>
          <a:noFill/>
        </p:spPr>
        <p:txBody>
          <a:bodyPr wrap="square">
            <a:spAutoFit/>
          </a:bodyPr>
          <a:lstStyle/>
          <a:p>
            <a:r>
              <a:rPr lang="fr-FR" sz="2400" dirty="0">
                <a:solidFill>
                  <a:srgbClr val="0033B3"/>
                </a:solidFill>
                <a:effectLst/>
              </a:rPr>
              <a:t>import </a:t>
            </a:r>
            <a:r>
              <a:rPr lang="fr-FR" sz="2400" dirty="0" err="1">
                <a:solidFill>
                  <a:srgbClr val="080808"/>
                </a:solidFill>
                <a:effectLst/>
              </a:rPr>
              <a:t>torch</a:t>
            </a:r>
            <a:br>
              <a:rPr lang="fr-FR" sz="2400" dirty="0">
                <a:solidFill>
                  <a:srgbClr val="080808"/>
                </a:solidFill>
                <a:effectLst/>
              </a:rPr>
            </a:br>
            <a:br>
              <a:rPr lang="fr-FR" sz="2400" dirty="0">
                <a:solidFill>
                  <a:srgbClr val="080808"/>
                </a:solidFill>
                <a:effectLst/>
              </a:rPr>
            </a:br>
            <a:r>
              <a:rPr lang="fr-FR" sz="2400" i="1" dirty="0">
                <a:solidFill>
                  <a:srgbClr val="8C8C8C"/>
                </a:solidFill>
                <a:effectLst/>
              </a:rPr>
              <a:t># </a:t>
            </a:r>
            <a:r>
              <a:rPr lang="fr-FR" sz="2400" i="1" dirty="0" err="1">
                <a:solidFill>
                  <a:srgbClr val="8C8C8C"/>
                </a:solidFill>
                <a:effectLst/>
              </a:rPr>
              <a:t>reshape</a:t>
            </a:r>
            <a:r>
              <a:rPr lang="fr-FR" sz="2400" i="1" dirty="0">
                <a:solidFill>
                  <a:srgbClr val="8C8C8C"/>
                </a:solidFill>
                <a:effectLst/>
              </a:rPr>
              <a:t> </a:t>
            </a:r>
            <a:r>
              <a:rPr lang="fr-FR" sz="2400" i="1" dirty="0" err="1">
                <a:solidFill>
                  <a:srgbClr val="8C8C8C"/>
                </a:solidFill>
                <a:effectLst/>
              </a:rPr>
              <a:t>with</a:t>
            </a:r>
            <a:r>
              <a:rPr lang="fr-FR" sz="2400" i="1" dirty="0">
                <a:solidFill>
                  <a:srgbClr val="8C8C8C"/>
                </a:solidFill>
                <a:effectLst/>
              </a:rPr>
              <a:t> </a:t>
            </a:r>
            <a:r>
              <a:rPr lang="fr-FR" sz="2400" i="1" dirty="0" err="1">
                <a:solidFill>
                  <a:srgbClr val="8C8C8C"/>
                </a:solidFill>
                <a:effectLst/>
              </a:rPr>
              <a:t>view</a:t>
            </a:r>
            <a:r>
              <a:rPr lang="fr-FR" sz="2400" i="1" dirty="0">
                <a:solidFill>
                  <a:srgbClr val="8C8C8C"/>
                </a:solidFill>
                <a:effectLst/>
              </a:rPr>
              <a:t>:</a:t>
            </a:r>
            <a:br>
              <a:rPr lang="fr-FR" sz="2400" i="1" dirty="0">
                <a:solidFill>
                  <a:srgbClr val="8C8C8C"/>
                </a:solidFill>
                <a:effectLst/>
              </a:rPr>
            </a:br>
            <a:r>
              <a:rPr lang="fr-FR" sz="2400" dirty="0">
                <a:solidFill>
                  <a:srgbClr val="000080"/>
                </a:solidFill>
                <a:effectLst/>
              </a:rPr>
              <a:t>print</a:t>
            </a:r>
            <a:r>
              <a:rPr lang="fr-FR" sz="2400" dirty="0">
                <a:solidFill>
                  <a:srgbClr val="080808"/>
                </a:solidFill>
                <a:effectLst/>
              </a:rPr>
              <a:t>(</a:t>
            </a:r>
            <a:r>
              <a:rPr lang="fr-FR" sz="2400" dirty="0" err="1">
                <a:solidFill>
                  <a:srgbClr val="080808"/>
                </a:solidFill>
                <a:effectLst/>
              </a:rPr>
              <a:t>x.view</a:t>
            </a:r>
            <a:r>
              <a:rPr lang="fr-FR" sz="2400" dirty="0">
                <a:solidFill>
                  <a:srgbClr val="080808"/>
                </a:solidFill>
                <a:effectLst/>
              </a:rPr>
              <a:t>(</a:t>
            </a:r>
            <a:r>
              <a:rPr lang="fr-FR" sz="2400" dirty="0">
                <a:solidFill>
                  <a:srgbClr val="1750EB"/>
                </a:solidFill>
                <a:effectLst/>
              </a:rPr>
              <a:t>2</a:t>
            </a:r>
            <a:r>
              <a:rPr lang="fr-FR" sz="2400" dirty="0">
                <a:solidFill>
                  <a:srgbClr val="080808"/>
                </a:solidFill>
                <a:effectLst/>
              </a:rPr>
              <a:t>,</a:t>
            </a:r>
            <a:r>
              <a:rPr lang="fr-FR" sz="2400" dirty="0">
                <a:solidFill>
                  <a:srgbClr val="1750EB"/>
                </a:solidFill>
                <a:effectLst/>
              </a:rPr>
              <a:t>6</a:t>
            </a:r>
            <a:r>
              <a:rPr lang="fr-FR" sz="2400" dirty="0">
                <a:solidFill>
                  <a:srgbClr val="080808"/>
                </a:solidFill>
                <a:effectLst/>
              </a:rPr>
              <a:t>))</a:t>
            </a:r>
          </a:p>
          <a:p>
            <a:endParaRPr lang="fr-FR" sz="2400" dirty="0">
              <a:solidFill>
                <a:srgbClr val="080808"/>
              </a:solidFill>
            </a:endParaRPr>
          </a:p>
          <a:p>
            <a:r>
              <a:rPr lang="fr-FR" sz="2400" dirty="0" err="1">
                <a:solidFill>
                  <a:schemeClr val="bg1">
                    <a:lumMod val="50000"/>
                  </a:schemeClr>
                </a:solidFill>
                <a:effectLst/>
              </a:rPr>
              <a:t>tensor</a:t>
            </a:r>
            <a:r>
              <a:rPr lang="fr-FR" sz="2400" dirty="0">
                <a:solidFill>
                  <a:schemeClr val="bg1">
                    <a:lumMod val="50000"/>
                  </a:schemeClr>
                </a:solidFill>
                <a:effectLst/>
              </a:rPr>
              <a:t>([[0.1955, 0.9651, 0.2215, 0.0145, 0.3625, 0.3286],</a:t>
            </a:r>
          </a:p>
          <a:p>
            <a:r>
              <a:rPr lang="fr-FR" sz="2400" dirty="0">
                <a:solidFill>
                  <a:schemeClr val="bg1">
                    <a:lumMod val="50000"/>
                  </a:schemeClr>
                </a:solidFill>
                <a:effectLst/>
              </a:rPr>
              <a:t>                 [0.4321, 0.9224, 0.1897, 0.6365, 0.4051, 0.7484]])</a:t>
            </a:r>
          </a:p>
        </p:txBody>
      </p:sp>
    </p:spTree>
    <p:extLst>
      <p:ext uri="{BB962C8B-B14F-4D97-AF65-F5344CB8AC3E}">
        <p14:creationId xmlns:p14="http://schemas.microsoft.com/office/powerpoint/2010/main" val="14479202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08197-702D-B710-E0FA-A8D3CEAF2EB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4F0595D-8F84-35BF-D5CE-9C0C93068A7D}"/>
              </a:ext>
            </a:extLst>
          </p:cNvPr>
          <p:cNvSpPr>
            <a:spLocks noGrp="1"/>
          </p:cNvSpPr>
          <p:nvPr>
            <p:ph type="title"/>
          </p:nvPr>
        </p:nvSpPr>
        <p:spPr/>
        <p:txBody>
          <a:bodyPr/>
          <a:lstStyle/>
          <a:p>
            <a:r>
              <a:rPr lang="en-GB" dirty="0"/>
              <a:t>Pytorch tutorial</a:t>
            </a:r>
            <a:br>
              <a:rPr lang="en-GB" dirty="0"/>
            </a:br>
            <a:r>
              <a:rPr lang="en-GB" sz="2800" b="1" dirty="0"/>
              <a:t>Create tensors</a:t>
            </a:r>
            <a:endParaRPr lang="en-GB" dirty="0"/>
          </a:p>
        </p:txBody>
      </p:sp>
      <p:sp>
        <p:nvSpPr>
          <p:cNvPr id="4" name="Espace réservé du pied de page 3">
            <a:extLst>
              <a:ext uri="{FF2B5EF4-FFF2-40B4-BE49-F238E27FC236}">
                <a16:creationId xmlns:a16="http://schemas.microsoft.com/office/drawing/2014/main" id="{FC241D9B-14E9-AB98-7232-363CEB0B4F68}"/>
              </a:ext>
            </a:extLst>
          </p:cNvPr>
          <p:cNvSpPr>
            <a:spLocks noGrp="1"/>
          </p:cNvSpPr>
          <p:nvPr>
            <p:ph type="ftr" sz="quarter" idx="11"/>
          </p:nvPr>
        </p:nvSpPr>
        <p:spPr/>
        <p:txBody>
          <a:bodyPr/>
          <a:lstStyle/>
          <a:p>
            <a:r>
              <a:rPr lang="fr-FR"/>
              <a:t>Introduction to Neural Networks. Author: David Thébault</a:t>
            </a:r>
          </a:p>
        </p:txBody>
      </p:sp>
      <p:sp>
        <p:nvSpPr>
          <p:cNvPr id="6" name="ZoneTexte 5">
            <a:extLst>
              <a:ext uri="{FF2B5EF4-FFF2-40B4-BE49-F238E27FC236}">
                <a16:creationId xmlns:a16="http://schemas.microsoft.com/office/drawing/2014/main" id="{E9C76C5C-755D-40D6-F52A-CB4483130553}"/>
              </a:ext>
            </a:extLst>
          </p:cNvPr>
          <p:cNvSpPr txBox="1"/>
          <p:nvPr/>
        </p:nvSpPr>
        <p:spPr>
          <a:xfrm>
            <a:off x="838200" y="1585813"/>
            <a:ext cx="9740900" cy="4893647"/>
          </a:xfrm>
          <a:prstGeom prst="rect">
            <a:avLst/>
          </a:prstGeom>
          <a:noFill/>
        </p:spPr>
        <p:txBody>
          <a:bodyPr wrap="square">
            <a:spAutoFit/>
          </a:bodyPr>
          <a:lstStyle/>
          <a:p>
            <a:r>
              <a:rPr lang="fr-FR" sz="2400" dirty="0">
                <a:solidFill>
                  <a:srgbClr val="0033B3"/>
                </a:solidFill>
                <a:effectLst/>
              </a:rPr>
              <a:t>import </a:t>
            </a:r>
            <a:r>
              <a:rPr lang="fr-FR" sz="2400" dirty="0" err="1">
                <a:solidFill>
                  <a:srgbClr val="080808"/>
                </a:solidFill>
                <a:effectLst/>
              </a:rPr>
              <a:t>torch</a:t>
            </a:r>
            <a:br>
              <a:rPr lang="fr-FR" sz="2400" dirty="0">
                <a:solidFill>
                  <a:srgbClr val="080808"/>
                </a:solidFill>
                <a:effectLst/>
              </a:rPr>
            </a:br>
            <a:br>
              <a:rPr lang="fr-FR" sz="2400" dirty="0">
                <a:solidFill>
                  <a:srgbClr val="080808"/>
                </a:solidFill>
                <a:effectLst/>
              </a:rPr>
            </a:br>
            <a:r>
              <a:rPr lang="fr-FR" sz="2400" i="1" dirty="0">
                <a:solidFill>
                  <a:srgbClr val="8C8C8C"/>
                </a:solidFill>
                <a:effectLst/>
              </a:rPr>
              <a:t># </a:t>
            </a:r>
            <a:r>
              <a:rPr lang="fr-FR" sz="2400" i="1" dirty="0" err="1">
                <a:solidFill>
                  <a:srgbClr val="8C8C8C"/>
                </a:solidFill>
                <a:effectLst/>
              </a:rPr>
              <a:t>reshape</a:t>
            </a:r>
            <a:r>
              <a:rPr lang="fr-FR" sz="2400" i="1" dirty="0">
                <a:solidFill>
                  <a:srgbClr val="8C8C8C"/>
                </a:solidFill>
                <a:effectLst/>
              </a:rPr>
              <a:t> </a:t>
            </a:r>
            <a:r>
              <a:rPr lang="fr-FR" sz="2400" i="1" dirty="0" err="1">
                <a:solidFill>
                  <a:srgbClr val="8C8C8C"/>
                </a:solidFill>
                <a:effectLst/>
              </a:rPr>
              <a:t>with</a:t>
            </a:r>
            <a:r>
              <a:rPr lang="fr-FR" sz="2400" i="1" dirty="0">
                <a:solidFill>
                  <a:srgbClr val="8C8C8C"/>
                </a:solidFill>
                <a:effectLst/>
              </a:rPr>
              <a:t> </a:t>
            </a:r>
            <a:r>
              <a:rPr lang="fr-FR" sz="2400" i="1" dirty="0" err="1">
                <a:solidFill>
                  <a:srgbClr val="8C8C8C"/>
                </a:solidFill>
                <a:effectLst/>
              </a:rPr>
              <a:t>view</a:t>
            </a:r>
            <a:r>
              <a:rPr lang="fr-FR" sz="2400" i="1" dirty="0">
                <a:solidFill>
                  <a:srgbClr val="8C8C8C"/>
                </a:solidFill>
                <a:effectLst/>
              </a:rPr>
              <a:t>:</a:t>
            </a:r>
            <a:br>
              <a:rPr lang="fr-FR" sz="2400" i="1" dirty="0">
                <a:solidFill>
                  <a:srgbClr val="8C8C8C"/>
                </a:solidFill>
                <a:effectLst/>
              </a:rPr>
            </a:br>
            <a:r>
              <a:rPr lang="fr-FR" sz="2400" i="1" dirty="0">
                <a:solidFill>
                  <a:srgbClr val="8C8C8C"/>
                </a:solidFill>
                <a:effectLst/>
              </a:rPr>
              <a:t># -1 </a:t>
            </a:r>
            <a:r>
              <a:rPr lang="fr-FR" sz="2400" i="1" dirty="0" err="1">
                <a:solidFill>
                  <a:srgbClr val="8C8C8C"/>
                </a:solidFill>
                <a:effectLst/>
              </a:rPr>
              <a:t>detect</a:t>
            </a:r>
            <a:r>
              <a:rPr lang="fr-FR" sz="2400" i="1" dirty="0">
                <a:solidFill>
                  <a:srgbClr val="8C8C8C"/>
                </a:solidFill>
                <a:effectLst/>
              </a:rPr>
              <a:t> the correct dimension</a:t>
            </a:r>
            <a:br>
              <a:rPr lang="fr-FR" sz="2400" i="1" dirty="0">
                <a:solidFill>
                  <a:srgbClr val="8C8C8C"/>
                </a:solidFill>
                <a:effectLst/>
              </a:rPr>
            </a:br>
            <a:r>
              <a:rPr lang="fr-FR" sz="2400" dirty="0">
                <a:solidFill>
                  <a:srgbClr val="000080"/>
                </a:solidFill>
                <a:effectLst/>
              </a:rPr>
              <a:t>print</a:t>
            </a:r>
            <a:r>
              <a:rPr lang="fr-FR" sz="2400" dirty="0">
                <a:solidFill>
                  <a:srgbClr val="080808"/>
                </a:solidFill>
                <a:effectLst/>
              </a:rPr>
              <a:t>(</a:t>
            </a:r>
            <a:r>
              <a:rPr lang="fr-FR" sz="2400" dirty="0" err="1">
                <a:solidFill>
                  <a:srgbClr val="080808"/>
                </a:solidFill>
                <a:effectLst/>
              </a:rPr>
              <a:t>x.view</a:t>
            </a:r>
            <a:r>
              <a:rPr lang="fr-FR" sz="2400" dirty="0">
                <a:solidFill>
                  <a:srgbClr val="080808"/>
                </a:solidFill>
                <a:effectLst/>
              </a:rPr>
              <a:t>(</a:t>
            </a:r>
            <a:r>
              <a:rPr lang="fr-FR" sz="2400" dirty="0">
                <a:solidFill>
                  <a:srgbClr val="1750EB"/>
                </a:solidFill>
                <a:effectLst/>
              </a:rPr>
              <a:t>3</a:t>
            </a:r>
            <a:r>
              <a:rPr lang="fr-FR" sz="2400" dirty="0">
                <a:solidFill>
                  <a:srgbClr val="080808"/>
                </a:solidFill>
                <a:effectLst/>
              </a:rPr>
              <a:t>,-</a:t>
            </a:r>
            <a:r>
              <a:rPr lang="fr-FR" sz="2400" dirty="0">
                <a:solidFill>
                  <a:srgbClr val="1750EB"/>
                </a:solidFill>
                <a:effectLst/>
              </a:rPr>
              <a:t>1</a:t>
            </a:r>
            <a:r>
              <a:rPr lang="fr-FR" sz="2400" dirty="0">
                <a:solidFill>
                  <a:srgbClr val="080808"/>
                </a:solidFill>
                <a:effectLst/>
              </a:rPr>
              <a:t>))</a:t>
            </a:r>
          </a:p>
          <a:p>
            <a:endParaRPr lang="fr-FR" sz="2400" dirty="0">
              <a:solidFill>
                <a:srgbClr val="080808"/>
              </a:solidFill>
            </a:endParaRPr>
          </a:p>
          <a:p>
            <a:r>
              <a:rPr lang="fr-FR" sz="2400" dirty="0" err="1">
                <a:solidFill>
                  <a:schemeClr val="bg1">
                    <a:lumMod val="50000"/>
                  </a:schemeClr>
                </a:solidFill>
                <a:effectLst/>
              </a:rPr>
              <a:t>tensor</a:t>
            </a:r>
            <a:r>
              <a:rPr lang="fr-FR" sz="2400" dirty="0">
                <a:solidFill>
                  <a:schemeClr val="bg1">
                    <a:lumMod val="50000"/>
                  </a:schemeClr>
                </a:solidFill>
                <a:effectLst/>
              </a:rPr>
              <a:t>([[0.1955, 0.9651, 0.2215, 0.0145],</a:t>
            </a:r>
          </a:p>
          <a:p>
            <a:r>
              <a:rPr lang="fr-FR" sz="2400" dirty="0">
                <a:solidFill>
                  <a:schemeClr val="bg1">
                    <a:lumMod val="50000"/>
                  </a:schemeClr>
                </a:solidFill>
                <a:effectLst/>
              </a:rPr>
              <a:t>                 [0.3625, 0.3286, 0.4321, 0.9224],</a:t>
            </a:r>
          </a:p>
          <a:p>
            <a:r>
              <a:rPr lang="fr-FR" sz="2400" dirty="0">
                <a:solidFill>
                  <a:schemeClr val="bg1">
                    <a:lumMod val="50000"/>
                  </a:schemeClr>
                </a:solidFill>
                <a:effectLst/>
              </a:rPr>
              <a:t>                 [0.1897, 0.6365, 0.4051, 0.7484]])</a:t>
            </a:r>
          </a:p>
          <a:p>
            <a:endParaRPr lang="fr-FR" sz="2400" dirty="0">
              <a:solidFill>
                <a:schemeClr val="bg1">
                  <a:lumMod val="50000"/>
                </a:schemeClr>
              </a:solidFill>
            </a:endParaRPr>
          </a:p>
          <a:p>
            <a:r>
              <a:rPr lang="fr-FR" sz="2400" dirty="0">
                <a:solidFill>
                  <a:srgbClr val="000080"/>
                </a:solidFill>
                <a:effectLst/>
              </a:rPr>
              <a:t>print</a:t>
            </a:r>
            <a:r>
              <a:rPr lang="fr-FR" sz="2400" dirty="0">
                <a:solidFill>
                  <a:srgbClr val="080808"/>
                </a:solidFill>
                <a:effectLst/>
              </a:rPr>
              <a:t>(</a:t>
            </a:r>
            <a:r>
              <a:rPr lang="fr-FR" sz="2400" dirty="0" err="1">
                <a:solidFill>
                  <a:srgbClr val="080808"/>
                </a:solidFill>
                <a:effectLst/>
              </a:rPr>
              <a:t>x.size</a:t>
            </a:r>
            <a:r>
              <a:rPr lang="fr-FR" sz="2400" dirty="0">
                <a:solidFill>
                  <a:srgbClr val="080808"/>
                </a:solidFill>
                <a:effectLst/>
              </a:rPr>
              <a:t>())</a:t>
            </a:r>
          </a:p>
          <a:p>
            <a:endParaRPr lang="fr-FR" sz="2400" dirty="0">
              <a:solidFill>
                <a:schemeClr val="bg1">
                  <a:lumMod val="50000"/>
                </a:schemeClr>
              </a:solidFill>
              <a:effectLst/>
            </a:endParaRPr>
          </a:p>
          <a:p>
            <a:r>
              <a:rPr lang="fr-FR" sz="2400" dirty="0" err="1">
                <a:solidFill>
                  <a:schemeClr val="bg1">
                    <a:lumMod val="50000"/>
                  </a:schemeClr>
                </a:solidFill>
                <a:effectLst/>
              </a:rPr>
              <a:t>torch.Size</a:t>
            </a:r>
            <a:r>
              <a:rPr lang="fr-FR" sz="2400" dirty="0">
                <a:solidFill>
                  <a:schemeClr val="bg1">
                    <a:lumMod val="50000"/>
                  </a:schemeClr>
                </a:solidFill>
                <a:effectLst/>
              </a:rPr>
              <a:t>([4, 3])</a:t>
            </a:r>
          </a:p>
        </p:txBody>
      </p:sp>
    </p:spTree>
    <p:extLst>
      <p:ext uri="{BB962C8B-B14F-4D97-AF65-F5344CB8AC3E}">
        <p14:creationId xmlns:p14="http://schemas.microsoft.com/office/powerpoint/2010/main" val="21065943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B0502-6DBA-6E2A-9762-A62BBA6BE6C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889806B-DC1D-58C3-C8A7-D7DF09210C3D}"/>
              </a:ext>
            </a:extLst>
          </p:cNvPr>
          <p:cNvSpPr>
            <a:spLocks noGrp="1"/>
          </p:cNvSpPr>
          <p:nvPr>
            <p:ph type="title"/>
          </p:nvPr>
        </p:nvSpPr>
        <p:spPr/>
        <p:txBody>
          <a:bodyPr/>
          <a:lstStyle/>
          <a:p>
            <a:r>
              <a:rPr lang="en-GB" dirty="0"/>
              <a:t>Pytorch tutorial</a:t>
            </a:r>
            <a:br>
              <a:rPr lang="en-GB" dirty="0"/>
            </a:br>
            <a:r>
              <a:rPr lang="en-GB" sz="2800" b="1" dirty="0"/>
              <a:t>Create tensors</a:t>
            </a:r>
            <a:endParaRPr lang="en-GB" dirty="0"/>
          </a:p>
        </p:txBody>
      </p:sp>
      <p:sp>
        <p:nvSpPr>
          <p:cNvPr id="4" name="Espace réservé du pied de page 3">
            <a:extLst>
              <a:ext uri="{FF2B5EF4-FFF2-40B4-BE49-F238E27FC236}">
                <a16:creationId xmlns:a16="http://schemas.microsoft.com/office/drawing/2014/main" id="{22FFAA5D-12C9-EA84-6C10-D3E2748CBCF1}"/>
              </a:ext>
            </a:extLst>
          </p:cNvPr>
          <p:cNvSpPr>
            <a:spLocks noGrp="1"/>
          </p:cNvSpPr>
          <p:nvPr>
            <p:ph type="ftr" sz="quarter" idx="11"/>
          </p:nvPr>
        </p:nvSpPr>
        <p:spPr/>
        <p:txBody>
          <a:bodyPr/>
          <a:lstStyle/>
          <a:p>
            <a:r>
              <a:rPr lang="fr-FR"/>
              <a:t>Introduction to Neural Networks. Author: David Thébault</a:t>
            </a:r>
          </a:p>
        </p:txBody>
      </p:sp>
      <p:sp>
        <p:nvSpPr>
          <p:cNvPr id="6" name="ZoneTexte 5">
            <a:extLst>
              <a:ext uri="{FF2B5EF4-FFF2-40B4-BE49-F238E27FC236}">
                <a16:creationId xmlns:a16="http://schemas.microsoft.com/office/drawing/2014/main" id="{5AA82332-4180-8514-B109-D54CD8C2B71A}"/>
              </a:ext>
            </a:extLst>
          </p:cNvPr>
          <p:cNvSpPr txBox="1"/>
          <p:nvPr/>
        </p:nvSpPr>
        <p:spPr>
          <a:xfrm>
            <a:off x="838200" y="1585813"/>
            <a:ext cx="9740900" cy="4893647"/>
          </a:xfrm>
          <a:prstGeom prst="rect">
            <a:avLst/>
          </a:prstGeom>
          <a:noFill/>
        </p:spPr>
        <p:txBody>
          <a:bodyPr wrap="square">
            <a:spAutoFit/>
          </a:bodyPr>
          <a:lstStyle/>
          <a:p>
            <a:r>
              <a:rPr lang="fr-FR" sz="2400" dirty="0">
                <a:solidFill>
                  <a:srgbClr val="0033B3"/>
                </a:solidFill>
                <a:effectLst/>
              </a:rPr>
              <a:t>import </a:t>
            </a:r>
            <a:r>
              <a:rPr lang="fr-FR" sz="2400" dirty="0" err="1">
                <a:solidFill>
                  <a:srgbClr val="080808"/>
                </a:solidFill>
                <a:effectLst/>
              </a:rPr>
              <a:t>torch</a:t>
            </a:r>
            <a:br>
              <a:rPr lang="fr-FR" sz="2400" dirty="0">
                <a:solidFill>
                  <a:srgbClr val="080808"/>
                </a:solidFill>
                <a:effectLst/>
              </a:rPr>
            </a:br>
            <a:br>
              <a:rPr lang="fr-FR" sz="2400" dirty="0">
                <a:solidFill>
                  <a:srgbClr val="080808"/>
                </a:solidFill>
                <a:effectLst/>
              </a:rPr>
            </a:br>
            <a:r>
              <a:rPr lang="fr-FR" sz="2400" i="1" dirty="0">
                <a:solidFill>
                  <a:srgbClr val="8C8C8C"/>
                </a:solidFill>
                <a:effectLst/>
              </a:rPr>
              <a:t># </a:t>
            </a:r>
            <a:r>
              <a:rPr lang="fr-FR" sz="2400" i="1" dirty="0" err="1">
                <a:solidFill>
                  <a:srgbClr val="8C8C8C"/>
                </a:solidFill>
                <a:effectLst/>
              </a:rPr>
              <a:t>reshape</a:t>
            </a:r>
            <a:r>
              <a:rPr lang="fr-FR" sz="2400" i="1" dirty="0">
                <a:solidFill>
                  <a:srgbClr val="8C8C8C"/>
                </a:solidFill>
                <a:effectLst/>
              </a:rPr>
              <a:t> </a:t>
            </a:r>
            <a:r>
              <a:rPr lang="fr-FR" sz="2400" i="1" dirty="0" err="1">
                <a:solidFill>
                  <a:srgbClr val="8C8C8C"/>
                </a:solidFill>
                <a:effectLst/>
              </a:rPr>
              <a:t>with</a:t>
            </a:r>
            <a:r>
              <a:rPr lang="fr-FR" sz="2400" i="1" dirty="0">
                <a:solidFill>
                  <a:srgbClr val="8C8C8C"/>
                </a:solidFill>
                <a:effectLst/>
              </a:rPr>
              <a:t> </a:t>
            </a:r>
            <a:r>
              <a:rPr lang="fr-FR" sz="2400" i="1" dirty="0" err="1">
                <a:solidFill>
                  <a:srgbClr val="8C8C8C"/>
                </a:solidFill>
                <a:effectLst/>
              </a:rPr>
              <a:t>view</a:t>
            </a:r>
            <a:r>
              <a:rPr lang="fr-FR" sz="2400" i="1" dirty="0">
                <a:solidFill>
                  <a:srgbClr val="8C8C8C"/>
                </a:solidFill>
                <a:effectLst/>
              </a:rPr>
              <a:t>:</a:t>
            </a:r>
            <a:br>
              <a:rPr lang="fr-FR" sz="2400" i="1" dirty="0">
                <a:solidFill>
                  <a:srgbClr val="8C8C8C"/>
                </a:solidFill>
                <a:effectLst/>
              </a:rPr>
            </a:br>
            <a:r>
              <a:rPr lang="fr-FR" sz="2400" i="1" dirty="0">
                <a:solidFill>
                  <a:srgbClr val="8C8C8C"/>
                </a:solidFill>
                <a:effectLst/>
              </a:rPr>
              <a:t># -1 </a:t>
            </a:r>
            <a:r>
              <a:rPr lang="fr-FR" sz="2400" i="1" dirty="0" err="1">
                <a:solidFill>
                  <a:srgbClr val="8C8C8C"/>
                </a:solidFill>
                <a:effectLst/>
              </a:rPr>
              <a:t>detect</a:t>
            </a:r>
            <a:r>
              <a:rPr lang="fr-FR" sz="2400" i="1" dirty="0">
                <a:solidFill>
                  <a:srgbClr val="8C8C8C"/>
                </a:solidFill>
                <a:effectLst/>
              </a:rPr>
              <a:t> the correct dimension</a:t>
            </a:r>
            <a:br>
              <a:rPr lang="fr-FR" sz="2400" i="1" dirty="0">
                <a:solidFill>
                  <a:srgbClr val="8C8C8C"/>
                </a:solidFill>
                <a:effectLst/>
              </a:rPr>
            </a:br>
            <a:r>
              <a:rPr lang="fr-FR" sz="2400" dirty="0">
                <a:solidFill>
                  <a:srgbClr val="000080"/>
                </a:solidFill>
                <a:effectLst/>
              </a:rPr>
              <a:t>print</a:t>
            </a:r>
            <a:r>
              <a:rPr lang="fr-FR" sz="2400" dirty="0">
                <a:solidFill>
                  <a:srgbClr val="080808"/>
                </a:solidFill>
                <a:effectLst/>
              </a:rPr>
              <a:t>(</a:t>
            </a:r>
            <a:r>
              <a:rPr lang="fr-FR" sz="2400" dirty="0" err="1">
                <a:solidFill>
                  <a:srgbClr val="080808"/>
                </a:solidFill>
                <a:effectLst/>
              </a:rPr>
              <a:t>x.view</a:t>
            </a:r>
            <a:r>
              <a:rPr lang="fr-FR" sz="2400" dirty="0">
                <a:solidFill>
                  <a:srgbClr val="080808"/>
                </a:solidFill>
                <a:effectLst/>
              </a:rPr>
              <a:t>(</a:t>
            </a:r>
            <a:r>
              <a:rPr lang="fr-FR" sz="2400" dirty="0">
                <a:solidFill>
                  <a:srgbClr val="1750EB"/>
                </a:solidFill>
                <a:effectLst/>
              </a:rPr>
              <a:t>3</a:t>
            </a:r>
            <a:r>
              <a:rPr lang="fr-FR" sz="2400" dirty="0">
                <a:solidFill>
                  <a:srgbClr val="080808"/>
                </a:solidFill>
                <a:effectLst/>
              </a:rPr>
              <a:t>,-</a:t>
            </a:r>
            <a:r>
              <a:rPr lang="fr-FR" sz="2400" dirty="0">
                <a:solidFill>
                  <a:srgbClr val="1750EB"/>
                </a:solidFill>
                <a:effectLst/>
              </a:rPr>
              <a:t>1</a:t>
            </a:r>
            <a:r>
              <a:rPr lang="fr-FR" sz="2400" dirty="0">
                <a:solidFill>
                  <a:srgbClr val="080808"/>
                </a:solidFill>
                <a:effectLst/>
              </a:rPr>
              <a:t>))</a:t>
            </a:r>
          </a:p>
          <a:p>
            <a:endParaRPr lang="fr-FR" sz="2400" dirty="0">
              <a:solidFill>
                <a:srgbClr val="080808"/>
              </a:solidFill>
            </a:endParaRPr>
          </a:p>
          <a:p>
            <a:r>
              <a:rPr lang="fr-FR" sz="2400" dirty="0" err="1">
                <a:solidFill>
                  <a:schemeClr val="bg1">
                    <a:lumMod val="50000"/>
                  </a:schemeClr>
                </a:solidFill>
                <a:effectLst/>
              </a:rPr>
              <a:t>tensor</a:t>
            </a:r>
            <a:r>
              <a:rPr lang="fr-FR" sz="2400" dirty="0">
                <a:solidFill>
                  <a:schemeClr val="bg1">
                    <a:lumMod val="50000"/>
                  </a:schemeClr>
                </a:solidFill>
                <a:effectLst/>
              </a:rPr>
              <a:t>([[0.1955, 0.9651, 0.2215, 0.0145],</a:t>
            </a:r>
          </a:p>
          <a:p>
            <a:r>
              <a:rPr lang="fr-FR" sz="2400" dirty="0">
                <a:solidFill>
                  <a:schemeClr val="bg1">
                    <a:lumMod val="50000"/>
                  </a:schemeClr>
                </a:solidFill>
                <a:effectLst/>
              </a:rPr>
              <a:t>                 [0.3625, 0.3286, 0.4321, 0.9224],</a:t>
            </a:r>
          </a:p>
          <a:p>
            <a:r>
              <a:rPr lang="fr-FR" sz="2400" dirty="0">
                <a:solidFill>
                  <a:schemeClr val="bg1">
                    <a:lumMod val="50000"/>
                  </a:schemeClr>
                </a:solidFill>
                <a:effectLst/>
              </a:rPr>
              <a:t>                 [0.1897, 0.6365, 0.4051, 0.7484]])</a:t>
            </a:r>
          </a:p>
          <a:p>
            <a:endParaRPr lang="fr-FR" sz="2400" dirty="0">
              <a:solidFill>
                <a:schemeClr val="bg1">
                  <a:lumMod val="50000"/>
                </a:schemeClr>
              </a:solidFill>
            </a:endParaRPr>
          </a:p>
          <a:p>
            <a:r>
              <a:rPr lang="fr-FR" sz="2400" dirty="0">
                <a:solidFill>
                  <a:srgbClr val="000080"/>
                </a:solidFill>
                <a:effectLst/>
              </a:rPr>
              <a:t>print</a:t>
            </a:r>
            <a:r>
              <a:rPr lang="fr-FR" sz="2400" dirty="0">
                <a:solidFill>
                  <a:srgbClr val="080808"/>
                </a:solidFill>
                <a:effectLst/>
              </a:rPr>
              <a:t>(</a:t>
            </a:r>
            <a:r>
              <a:rPr lang="fr-FR" sz="2400" dirty="0" err="1">
                <a:solidFill>
                  <a:srgbClr val="080808"/>
                </a:solidFill>
                <a:effectLst/>
              </a:rPr>
              <a:t>x.size</a:t>
            </a:r>
            <a:r>
              <a:rPr lang="fr-FR" sz="2400" dirty="0">
                <a:solidFill>
                  <a:srgbClr val="080808"/>
                </a:solidFill>
                <a:effectLst/>
              </a:rPr>
              <a:t>())</a:t>
            </a:r>
          </a:p>
          <a:p>
            <a:endParaRPr lang="fr-FR" sz="2400" dirty="0">
              <a:solidFill>
                <a:schemeClr val="bg1">
                  <a:lumMod val="50000"/>
                </a:schemeClr>
              </a:solidFill>
              <a:effectLst/>
            </a:endParaRPr>
          </a:p>
          <a:p>
            <a:r>
              <a:rPr lang="fr-FR" sz="2400" dirty="0" err="1">
                <a:solidFill>
                  <a:schemeClr val="bg1">
                    <a:lumMod val="50000"/>
                  </a:schemeClr>
                </a:solidFill>
                <a:effectLst/>
              </a:rPr>
              <a:t>torch.Size</a:t>
            </a:r>
            <a:r>
              <a:rPr lang="fr-FR" sz="2400" dirty="0">
                <a:solidFill>
                  <a:schemeClr val="bg1">
                    <a:lumMod val="50000"/>
                  </a:schemeClr>
                </a:solidFill>
                <a:effectLst/>
              </a:rPr>
              <a:t>([4, 3])</a:t>
            </a:r>
          </a:p>
        </p:txBody>
      </p:sp>
    </p:spTree>
    <p:extLst>
      <p:ext uri="{BB962C8B-B14F-4D97-AF65-F5344CB8AC3E}">
        <p14:creationId xmlns:p14="http://schemas.microsoft.com/office/powerpoint/2010/main" val="6618277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983F9-53C2-812C-2B47-34AC099139D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504D74C-7EA7-9E1C-1163-B980AC295DAB}"/>
              </a:ext>
            </a:extLst>
          </p:cNvPr>
          <p:cNvSpPr>
            <a:spLocks noGrp="1"/>
          </p:cNvSpPr>
          <p:nvPr>
            <p:ph type="title"/>
          </p:nvPr>
        </p:nvSpPr>
        <p:spPr/>
        <p:txBody>
          <a:bodyPr/>
          <a:lstStyle/>
          <a:p>
            <a:r>
              <a:rPr lang="en-GB" dirty="0"/>
              <a:t>Pytorch tutorial</a:t>
            </a:r>
            <a:br>
              <a:rPr lang="en-GB" dirty="0"/>
            </a:br>
            <a:r>
              <a:rPr lang="en-GB" sz="2800" b="1" dirty="0"/>
              <a:t>Conversion type</a:t>
            </a:r>
            <a:endParaRPr lang="en-GB" dirty="0"/>
          </a:p>
        </p:txBody>
      </p:sp>
      <p:sp>
        <p:nvSpPr>
          <p:cNvPr id="4" name="Espace réservé du pied de page 3">
            <a:extLst>
              <a:ext uri="{FF2B5EF4-FFF2-40B4-BE49-F238E27FC236}">
                <a16:creationId xmlns:a16="http://schemas.microsoft.com/office/drawing/2014/main" id="{B956DB6A-9F52-D484-1341-34807B19220E}"/>
              </a:ext>
            </a:extLst>
          </p:cNvPr>
          <p:cNvSpPr>
            <a:spLocks noGrp="1"/>
          </p:cNvSpPr>
          <p:nvPr>
            <p:ph type="ftr" sz="quarter" idx="11"/>
          </p:nvPr>
        </p:nvSpPr>
        <p:spPr/>
        <p:txBody>
          <a:bodyPr/>
          <a:lstStyle/>
          <a:p>
            <a:r>
              <a:rPr lang="fr-FR"/>
              <a:t>Introduction to Neural Networks. Author: David Thébault</a:t>
            </a:r>
          </a:p>
        </p:txBody>
      </p:sp>
      <p:sp>
        <p:nvSpPr>
          <p:cNvPr id="6" name="ZoneTexte 5">
            <a:extLst>
              <a:ext uri="{FF2B5EF4-FFF2-40B4-BE49-F238E27FC236}">
                <a16:creationId xmlns:a16="http://schemas.microsoft.com/office/drawing/2014/main" id="{CC904395-79AD-1B70-9E06-B6C535576A05}"/>
              </a:ext>
            </a:extLst>
          </p:cNvPr>
          <p:cNvSpPr txBox="1"/>
          <p:nvPr/>
        </p:nvSpPr>
        <p:spPr>
          <a:xfrm>
            <a:off x="838200" y="1585813"/>
            <a:ext cx="9740900" cy="3416320"/>
          </a:xfrm>
          <a:prstGeom prst="rect">
            <a:avLst/>
          </a:prstGeom>
          <a:noFill/>
        </p:spPr>
        <p:txBody>
          <a:bodyPr wrap="square">
            <a:spAutoFit/>
          </a:bodyPr>
          <a:lstStyle/>
          <a:p>
            <a:r>
              <a:rPr lang="fr-FR" sz="2400" dirty="0">
                <a:solidFill>
                  <a:srgbClr val="0033B3"/>
                </a:solidFill>
                <a:effectLst/>
              </a:rPr>
              <a:t>import </a:t>
            </a:r>
            <a:r>
              <a:rPr lang="fr-FR" sz="2400" dirty="0" err="1">
                <a:solidFill>
                  <a:srgbClr val="080808"/>
                </a:solidFill>
                <a:effectLst/>
              </a:rPr>
              <a:t>torch</a:t>
            </a:r>
            <a:br>
              <a:rPr lang="fr-FR" sz="2400" dirty="0">
                <a:solidFill>
                  <a:srgbClr val="080808"/>
                </a:solidFill>
                <a:effectLst/>
              </a:rPr>
            </a:br>
            <a:br>
              <a:rPr lang="fr-FR" sz="2400" dirty="0">
                <a:solidFill>
                  <a:srgbClr val="080808"/>
                </a:solidFill>
                <a:effectLst/>
              </a:rPr>
            </a:br>
            <a:r>
              <a:rPr lang="fr-FR" sz="2400" dirty="0">
                <a:solidFill>
                  <a:srgbClr val="080808"/>
                </a:solidFill>
                <a:effectLst/>
              </a:rPr>
              <a:t>a = </a:t>
            </a:r>
            <a:r>
              <a:rPr lang="fr-FR" sz="2400" dirty="0" err="1">
                <a:solidFill>
                  <a:srgbClr val="080808"/>
                </a:solidFill>
                <a:effectLst/>
              </a:rPr>
              <a:t>torch.ones</a:t>
            </a:r>
            <a:r>
              <a:rPr lang="fr-FR" sz="2400" dirty="0">
                <a:solidFill>
                  <a:srgbClr val="080808"/>
                </a:solidFill>
                <a:effectLst/>
              </a:rPr>
              <a:t>(</a:t>
            </a:r>
            <a:r>
              <a:rPr lang="fr-FR" sz="2400" dirty="0">
                <a:solidFill>
                  <a:srgbClr val="1750EB"/>
                </a:solidFill>
                <a:effectLst/>
              </a:rPr>
              <a:t>5</a:t>
            </a:r>
            <a:r>
              <a:rPr lang="fr-FR" sz="2400" dirty="0">
                <a:solidFill>
                  <a:srgbClr val="080808"/>
                </a:solidFill>
                <a:effectLst/>
              </a:rPr>
              <a:t>)</a:t>
            </a:r>
            <a:br>
              <a:rPr lang="fr-FR" sz="2400" dirty="0">
                <a:solidFill>
                  <a:srgbClr val="080808"/>
                </a:solidFill>
                <a:effectLst/>
              </a:rPr>
            </a:br>
            <a:endParaRPr lang="fr-FR" sz="2400" dirty="0">
              <a:solidFill>
                <a:srgbClr val="080808"/>
              </a:solidFill>
              <a:effectLst/>
            </a:endParaRPr>
          </a:p>
          <a:p>
            <a:r>
              <a:rPr lang="fr-FR" sz="2400" dirty="0">
                <a:solidFill>
                  <a:srgbClr val="000080"/>
                </a:solidFill>
                <a:effectLst/>
              </a:rPr>
              <a:t>print</a:t>
            </a:r>
            <a:r>
              <a:rPr lang="fr-FR" sz="2400" dirty="0">
                <a:solidFill>
                  <a:srgbClr val="080808"/>
                </a:solidFill>
                <a:effectLst/>
              </a:rPr>
              <a:t>(</a:t>
            </a:r>
            <a:r>
              <a:rPr lang="fr-FR" sz="2400" dirty="0" err="1">
                <a:solidFill>
                  <a:srgbClr val="067D17"/>
                </a:solidFill>
                <a:effectLst/>
              </a:rPr>
              <a:t>f"conversion</a:t>
            </a:r>
            <a:r>
              <a:rPr lang="fr-FR" sz="2400" dirty="0">
                <a:solidFill>
                  <a:srgbClr val="067D17"/>
                </a:solidFill>
                <a:effectLst/>
              </a:rPr>
              <a:t> </a:t>
            </a:r>
            <a:r>
              <a:rPr lang="fr-FR" sz="2400" dirty="0" err="1">
                <a:solidFill>
                  <a:srgbClr val="067D17"/>
                </a:solidFill>
                <a:effectLst/>
              </a:rPr>
              <a:t>torch</a:t>
            </a:r>
            <a:r>
              <a:rPr lang="fr-FR" sz="2400" dirty="0">
                <a:solidFill>
                  <a:srgbClr val="067D17"/>
                </a:solidFill>
                <a:effectLst/>
              </a:rPr>
              <a:t> to numpy </a:t>
            </a:r>
            <a:r>
              <a:rPr lang="fr-FR" sz="2400" dirty="0">
                <a:solidFill>
                  <a:srgbClr val="0037A6"/>
                </a:solidFill>
                <a:effectLst/>
              </a:rPr>
              <a:t>{</a:t>
            </a:r>
            <a:r>
              <a:rPr lang="fr-FR" sz="2400" dirty="0">
                <a:solidFill>
                  <a:srgbClr val="000080"/>
                </a:solidFill>
                <a:effectLst/>
              </a:rPr>
              <a:t>type</a:t>
            </a:r>
            <a:r>
              <a:rPr lang="fr-FR" sz="2400" dirty="0">
                <a:solidFill>
                  <a:srgbClr val="080808"/>
                </a:solidFill>
                <a:effectLst/>
              </a:rPr>
              <a:t>(</a:t>
            </a:r>
            <a:r>
              <a:rPr lang="fr-FR" sz="2400" dirty="0" err="1">
                <a:solidFill>
                  <a:srgbClr val="080808"/>
                </a:solidFill>
                <a:effectLst/>
              </a:rPr>
              <a:t>a.numpy</a:t>
            </a:r>
            <a:r>
              <a:rPr lang="fr-FR" sz="2400" dirty="0">
                <a:solidFill>
                  <a:srgbClr val="080808"/>
                </a:solidFill>
                <a:effectLst/>
              </a:rPr>
              <a:t>())</a:t>
            </a:r>
            <a:r>
              <a:rPr lang="fr-FR" sz="2400" dirty="0">
                <a:solidFill>
                  <a:srgbClr val="0037A6"/>
                </a:solidFill>
                <a:effectLst/>
              </a:rPr>
              <a:t>}</a:t>
            </a:r>
            <a:r>
              <a:rPr lang="fr-FR" sz="2400" dirty="0">
                <a:solidFill>
                  <a:srgbClr val="067D17"/>
                </a:solidFill>
                <a:effectLst/>
              </a:rPr>
              <a:t>"</a:t>
            </a:r>
            <a:r>
              <a:rPr lang="fr-FR" sz="2400" dirty="0">
                <a:solidFill>
                  <a:srgbClr val="080808"/>
                </a:solidFill>
                <a:effectLst/>
              </a:rPr>
              <a:t>)</a:t>
            </a:r>
            <a:br>
              <a:rPr lang="fr-FR" sz="2400" dirty="0">
                <a:solidFill>
                  <a:srgbClr val="080808"/>
                </a:solidFill>
                <a:effectLst/>
              </a:rPr>
            </a:br>
            <a:r>
              <a:rPr lang="fr-FR" sz="2400" dirty="0">
                <a:solidFill>
                  <a:srgbClr val="000080"/>
                </a:solidFill>
                <a:effectLst/>
              </a:rPr>
              <a:t>print</a:t>
            </a:r>
            <a:r>
              <a:rPr lang="fr-FR" sz="2400" dirty="0">
                <a:solidFill>
                  <a:srgbClr val="080808"/>
                </a:solidFill>
                <a:effectLst/>
              </a:rPr>
              <a:t>(</a:t>
            </a:r>
            <a:r>
              <a:rPr lang="fr-FR" sz="2400" dirty="0" err="1">
                <a:solidFill>
                  <a:srgbClr val="067D17"/>
                </a:solidFill>
                <a:effectLst/>
              </a:rPr>
              <a:t>f"conversion</a:t>
            </a:r>
            <a:r>
              <a:rPr lang="fr-FR" sz="2400" dirty="0">
                <a:solidFill>
                  <a:srgbClr val="067D17"/>
                </a:solidFill>
                <a:effectLst/>
              </a:rPr>
              <a:t> numpy to </a:t>
            </a:r>
            <a:r>
              <a:rPr lang="fr-FR" sz="2400" dirty="0" err="1">
                <a:solidFill>
                  <a:srgbClr val="067D17"/>
                </a:solidFill>
                <a:effectLst/>
              </a:rPr>
              <a:t>torch</a:t>
            </a:r>
            <a:r>
              <a:rPr lang="fr-FR" sz="2400" dirty="0">
                <a:solidFill>
                  <a:srgbClr val="067D17"/>
                </a:solidFill>
                <a:effectLst/>
              </a:rPr>
              <a:t> </a:t>
            </a:r>
            <a:r>
              <a:rPr lang="fr-FR" sz="2400" dirty="0">
                <a:solidFill>
                  <a:srgbClr val="0037A6"/>
                </a:solidFill>
                <a:effectLst/>
              </a:rPr>
              <a:t>{</a:t>
            </a:r>
            <a:r>
              <a:rPr lang="fr-FR" sz="2400" dirty="0">
                <a:solidFill>
                  <a:srgbClr val="000080"/>
                </a:solidFill>
                <a:effectLst/>
              </a:rPr>
              <a:t>type</a:t>
            </a:r>
            <a:r>
              <a:rPr lang="fr-FR" sz="2400" dirty="0">
                <a:solidFill>
                  <a:srgbClr val="080808"/>
                </a:solidFill>
                <a:effectLst/>
              </a:rPr>
              <a:t>(</a:t>
            </a:r>
            <a:r>
              <a:rPr lang="fr-FR" sz="2400" dirty="0" err="1">
                <a:solidFill>
                  <a:srgbClr val="080808"/>
                </a:solidFill>
                <a:effectLst/>
              </a:rPr>
              <a:t>torch.from_numpy</a:t>
            </a:r>
            <a:r>
              <a:rPr lang="fr-FR" sz="2400" dirty="0">
                <a:solidFill>
                  <a:srgbClr val="080808"/>
                </a:solidFill>
                <a:effectLst/>
              </a:rPr>
              <a:t>(</a:t>
            </a:r>
            <a:r>
              <a:rPr lang="fr-FR" sz="2400" dirty="0" err="1">
                <a:solidFill>
                  <a:srgbClr val="080808"/>
                </a:solidFill>
                <a:effectLst/>
              </a:rPr>
              <a:t>a.numpy</a:t>
            </a:r>
            <a:r>
              <a:rPr lang="fr-FR" sz="2400" dirty="0">
                <a:solidFill>
                  <a:srgbClr val="080808"/>
                </a:solidFill>
                <a:effectLst/>
              </a:rPr>
              <a:t>()))</a:t>
            </a:r>
            <a:r>
              <a:rPr lang="fr-FR" sz="2400" dirty="0">
                <a:solidFill>
                  <a:srgbClr val="0037A6"/>
                </a:solidFill>
                <a:effectLst/>
              </a:rPr>
              <a:t>}</a:t>
            </a:r>
            <a:r>
              <a:rPr lang="fr-FR" sz="2400" dirty="0">
                <a:solidFill>
                  <a:srgbClr val="067D17"/>
                </a:solidFill>
                <a:effectLst/>
              </a:rPr>
              <a:t>"</a:t>
            </a:r>
            <a:r>
              <a:rPr lang="fr-FR" sz="2400" dirty="0">
                <a:solidFill>
                  <a:srgbClr val="080808"/>
                </a:solidFill>
                <a:effectLst/>
              </a:rPr>
              <a:t>)</a:t>
            </a:r>
          </a:p>
          <a:p>
            <a:endParaRPr lang="fr-FR" sz="2400" dirty="0">
              <a:solidFill>
                <a:srgbClr val="080808"/>
              </a:solidFill>
            </a:endParaRPr>
          </a:p>
          <a:p>
            <a:r>
              <a:rPr lang="fr-FR" sz="2400" dirty="0">
                <a:solidFill>
                  <a:schemeClr val="bg1">
                    <a:lumMod val="50000"/>
                  </a:schemeClr>
                </a:solidFill>
                <a:effectLst/>
              </a:rPr>
              <a:t>conversion </a:t>
            </a:r>
            <a:r>
              <a:rPr lang="fr-FR" sz="2400" dirty="0" err="1">
                <a:solidFill>
                  <a:schemeClr val="bg1">
                    <a:lumMod val="50000"/>
                  </a:schemeClr>
                </a:solidFill>
                <a:effectLst/>
              </a:rPr>
              <a:t>torch</a:t>
            </a:r>
            <a:r>
              <a:rPr lang="fr-FR" sz="2400" dirty="0">
                <a:solidFill>
                  <a:schemeClr val="bg1">
                    <a:lumMod val="50000"/>
                  </a:schemeClr>
                </a:solidFill>
                <a:effectLst/>
              </a:rPr>
              <a:t> to numpy &lt;class '</a:t>
            </a:r>
            <a:r>
              <a:rPr lang="fr-FR" sz="2400" dirty="0" err="1">
                <a:solidFill>
                  <a:schemeClr val="bg1">
                    <a:lumMod val="50000"/>
                  </a:schemeClr>
                </a:solidFill>
                <a:effectLst/>
              </a:rPr>
              <a:t>numpy.ndarray</a:t>
            </a:r>
            <a:r>
              <a:rPr lang="fr-FR" sz="2400" dirty="0">
                <a:solidFill>
                  <a:schemeClr val="bg1">
                    <a:lumMod val="50000"/>
                  </a:schemeClr>
                </a:solidFill>
                <a:effectLst/>
              </a:rPr>
              <a:t>'&gt;</a:t>
            </a:r>
          </a:p>
          <a:p>
            <a:r>
              <a:rPr lang="fr-FR" sz="2400" dirty="0">
                <a:solidFill>
                  <a:schemeClr val="bg1">
                    <a:lumMod val="50000"/>
                  </a:schemeClr>
                </a:solidFill>
                <a:effectLst/>
              </a:rPr>
              <a:t>conversion numpy to </a:t>
            </a:r>
            <a:r>
              <a:rPr lang="fr-FR" sz="2400" dirty="0" err="1">
                <a:solidFill>
                  <a:schemeClr val="bg1">
                    <a:lumMod val="50000"/>
                  </a:schemeClr>
                </a:solidFill>
                <a:effectLst/>
              </a:rPr>
              <a:t>torch</a:t>
            </a:r>
            <a:r>
              <a:rPr lang="fr-FR" sz="2400" dirty="0">
                <a:solidFill>
                  <a:schemeClr val="bg1">
                    <a:lumMod val="50000"/>
                  </a:schemeClr>
                </a:solidFill>
                <a:effectLst/>
              </a:rPr>
              <a:t> &lt;class '</a:t>
            </a:r>
            <a:r>
              <a:rPr lang="fr-FR" sz="2400" dirty="0" err="1">
                <a:solidFill>
                  <a:schemeClr val="bg1">
                    <a:lumMod val="50000"/>
                  </a:schemeClr>
                </a:solidFill>
                <a:effectLst/>
              </a:rPr>
              <a:t>torch.Tensor</a:t>
            </a:r>
            <a:r>
              <a:rPr lang="fr-FR" sz="2400" dirty="0">
                <a:solidFill>
                  <a:schemeClr val="bg1">
                    <a:lumMod val="50000"/>
                  </a:schemeClr>
                </a:solidFill>
                <a:effectLst/>
              </a:rPr>
              <a:t>'&gt;</a:t>
            </a:r>
          </a:p>
        </p:txBody>
      </p:sp>
    </p:spTree>
    <p:extLst>
      <p:ext uri="{BB962C8B-B14F-4D97-AF65-F5344CB8AC3E}">
        <p14:creationId xmlns:p14="http://schemas.microsoft.com/office/powerpoint/2010/main" val="3886034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7BC8F8-93D6-8630-BCC8-93935C38D485}"/>
              </a:ext>
            </a:extLst>
          </p:cNvPr>
          <p:cNvSpPr>
            <a:spLocks noGrp="1"/>
          </p:cNvSpPr>
          <p:nvPr>
            <p:ph type="title"/>
          </p:nvPr>
        </p:nvSpPr>
        <p:spPr/>
        <p:txBody>
          <a:bodyPr/>
          <a:lstStyle/>
          <a:p>
            <a:r>
              <a:rPr lang="en-GB" dirty="0"/>
              <a:t>Pytorch tutorial</a:t>
            </a:r>
            <a:br>
              <a:rPr lang="en-GB" dirty="0"/>
            </a:br>
            <a:r>
              <a:rPr lang="en-GB" sz="2800" b="1" dirty="0"/>
              <a:t>Work with GPU </a:t>
            </a:r>
            <a:r>
              <a:rPr lang="en-GB" sz="2800" b="1" dirty="0" err="1"/>
              <a:t>cuda</a:t>
            </a:r>
            <a:endParaRPr lang="en-GB" dirty="0"/>
          </a:p>
        </p:txBody>
      </p:sp>
      <p:sp>
        <p:nvSpPr>
          <p:cNvPr id="4" name="Espace réservé du pied de page 3">
            <a:extLst>
              <a:ext uri="{FF2B5EF4-FFF2-40B4-BE49-F238E27FC236}">
                <a16:creationId xmlns:a16="http://schemas.microsoft.com/office/drawing/2014/main" id="{CD53CED3-1901-2BDC-AFF5-63A87840D3AD}"/>
              </a:ext>
            </a:extLst>
          </p:cNvPr>
          <p:cNvSpPr>
            <a:spLocks noGrp="1"/>
          </p:cNvSpPr>
          <p:nvPr>
            <p:ph type="ftr" sz="quarter" idx="11"/>
          </p:nvPr>
        </p:nvSpPr>
        <p:spPr/>
        <p:txBody>
          <a:bodyPr/>
          <a:lstStyle/>
          <a:p>
            <a:r>
              <a:rPr lang="fr-FR"/>
              <a:t>Introduction to Neural Networks. Author: David Thébault</a:t>
            </a:r>
          </a:p>
        </p:txBody>
      </p:sp>
      <p:sp>
        <p:nvSpPr>
          <p:cNvPr id="6" name="ZoneTexte 5">
            <a:extLst>
              <a:ext uri="{FF2B5EF4-FFF2-40B4-BE49-F238E27FC236}">
                <a16:creationId xmlns:a16="http://schemas.microsoft.com/office/drawing/2014/main" id="{503EC3D6-A1AD-B433-EC52-C59FCEF2244A}"/>
              </a:ext>
            </a:extLst>
          </p:cNvPr>
          <p:cNvSpPr txBox="1"/>
          <p:nvPr/>
        </p:nvSpPr>
        <p:spPr>
          <a:xfrm>
            <a:off x="977900" y="1690688"/>
            <a:ext cx="10972800" cy="2985433"/>
          </a:xfrm>
          <a:prstGeom prst="rect">
            <a:avLst/>
          </a:prstGeom>
          <a:noFill/>
        </p:spPr>
        <p:txBody>
          <a:bodyPr wrap="square">
            <a:spAutoFit/>
          </a:bodyPr>
          <a:lstStyle/>
          <a:p>
            <a:r>
              <a:rPr lang="fr-FR" sz="2400" dirty="0">
                <a:solidFill>
                  <a:srgbClr val="000080"/>
                </a:solidFill>
                <a:effectLst/>
              </a:rPr>
              <a:t>print</a:t>
            </a:r>
            <a:r>
              <a:rPr lang="fr-FR" sz="2400" dirty="0">
                <a:solidFill>
                  <a:srgbClr val="080808"/>
                </a:solidFill>
                <a:effectLst/>
              </a:rPr>
              <a:t>(</a:t>
            </a:r>
            <a:r>
              <a:rPr lang="fr-FR" sz="2400" dirty="0" err="1">
                <a:solidFill>
                  <a:srgbClr val="080808"/>
                </a:solidFill>
                <a:effectLst/>
              </a:rPr>
              <a:t>torch.cuda.is_available</a:t>
            </a:r>
            <a:r>
              <a:rPr lang="fr-FR" sz="2400" dirty="0">
                <a:solidFill>
                  <a:srgbClr val="080808"/>
                </a:solidFill>
                <a:effectLst/>
              </a:rPr>
              <a:t>())</a:t>
            </a:r>
            <a:br>
              <a:rPr lang="fr-FR" sz="2400" dirty="0">
                <a:solidFill>
                  <a:srgbClr val="080808"/>
                </a:solidFill>
                <a:effectLst/>
              </a:rPr>
            </a:br>
            <a:r>
              <a:rPr lang="fr-FR" sz="2400" dirty="0">
                <a:solidFill>
                  <a:schemeClr val="bg1">
                    <a:lumMod val="50000"/>
                  </a:schemeClr>
                </a:solidFill>
                <a:effectLst/>
              </a:rPr>
              <a:t>False</a:t>
            </a:r>
          </a:p>
          <a:p>
            <a:endParaRPr lang="fr-FR" sz="2400" i="1" dirty="0">
              <a:solidFill>
                <a:srgbClr val="8C8C8C"/>
              </a:solidFill>
              <a:effectLst/>
            </a:endParaRPr>
          </a:p>
          <a:p>
            <a:r>
              <a:rPr lang="fr-FR" sz="2000" i="1" dirty="0">
                <a:solidFill>
                  <a:srgbClr val="8C8C8C"/>
                </a:solidFill>
                <a:effectLst/>
              </a:rPr>
              <a:t># on Windows if "</a:t>
            </a:r>
            <a:r>
              <a:rPr lang="fr-FR" sz="2000" i="1" dirty="0" err="1">
                <a:solidFill>
                  <a:srgbClr val="8C8C8C"/>
                </a:solidFill>
                <a:effectLst/>
              </a:rPr>
              <a:t>cuda</a:t>
            </a:r>
            <a:r>
              <a:rPr lang="fr-FR" sz="2000" i="1" dirty="0">
                <a:solidFill>
                  <a:srgbClr val="8C8C8C"/>
                </a:solidFill>
                <a:effectLst/>
              </a:rPr>
              <a:t>" </a:t>
            </a:r>
            <a:r>
              <a:rPr lang="fr-FR" sz="2000" i="1" dirty="0" err="1">
                <a:solidFill>
                  <a:srgbClr val="8C8C8C"/>
                </a:solidFill>
                <a:effectLst/>
              </a:rPr>
              <a:t>is</a:t>
            </a:r>
            <a:r>
              <a:rPr lang="fr-FR" sz="2000" i="1" dirty="0">
                <a:solidFill>
                  <a:srgbClr val="8C8C8C"/>
                </a:solidFill>
                <a:effectLst/>
              </a:rPr>
              <a:t> </a:t>
            </a:r>
            <a:r>
              <a:rPr lang="fr-FR" sz="2000" i="1" dirty="0" err="1">
                <a:solidFill>
                  <a:srgbClr val="8C8C8C"/>
                </a:solidFill>
                <a:effectLst/>
              </a:rPr>
              <a:t>available</a:t>
            </a:r>
            <a:r>
              <a:rPr lang="fr-FR" sz="2000" i="1" dirty="0">
                <a:solidFill>
                  <a:srgbClr val="8C8C8C"/>
                </a:solidFill>
                <a:effectLst/>
              </a:rPr>
              <a:t>, </a:t>
            </a:r>
            <a:r>
              <a:rPr lang="fr-FR" sz="2000" i="1" dirty="0" err="1">
                <a:solidFill>
                  <a:srgbClr val="8C8C8C"/>
                </a:solidFill>
                <a:effectLst/>
              </a:rPr>
              <a:t>specify</a:t>
            </a:r>
            <a:r>
              <a:rPr lang="fr-FR" sz="2000" i="1" dirty="0">
                <a:solidFill>
                  <a:srgbClr val="8C8C8C"/>
                </a:solidFill>
                <a:effectLst/>
              </a:rPr>
              <a:t> </a:t>
            </a:r>
            <a:r>
              <a:rPr lang="fr-FR" sz="2000" i="1" dirty="0" err="1">
                <a:solidFill>
                  <a:srgbClr val="8C8C8C"/>
                </a:solidFill>
                <a:effectLst/>
              </a:rPr>
              <a:t>your</a:t>
            </a:r>
            <a:r>
              <a:rPr lang="fr-FR" sz="2000" i="1" dirty="0">
                <a:solidFill>
                  <a:srgbClr val="8C8C8C"/>
                </a:solidFill>
                <a:effectLst/>
              </a:rPr>
              <a:t> </a:t>
            </a:r>
            <a:r>
              <a:rPr lang="fr-FR" sz="2000" i="1" dirty="0" err="1">
                <a:solidFill>
                  <a:srgbClr val="8C8C8C"/>
                </a:solidFill>
                <a:effectLst/>
              </a:rPr>
              <a:t>cuda</a:t>
            </a:r>
            <a:r>
              <a:rPr lang="fr-FR" sz="2000" i="1" dirty="0">
                <a:solidFill>
                  <a:srgbClr val="8C8C8C"/>
                </a:solidFill>
                <a:effectLst/>
              </a:rPr>
              <a:t> </a:t>
            </a:r>
            <a:r>
              <a:rPr lang="fr-FR" sz="2000" i="1" dirty="0" err="1">
                <a:solidFill>
                  <a:srgbClr val="8C8C8C"/>
                </a:solidFill>
                <a:effectLst/>
              </a:rPr>
              <a:t>device</a:t>
            </a:r>
            <a:r>
              <a:rPr lang="fr-FR" sz="2000" i="1" dirty="0">
                <a:solidFill>
                  <a:srgbClr val="8C8C8C"/>
                </a:solidFill>
                <a:effectLst/>
              </a:rPr>
              <a:t> and </a:t>
            </a:r>
            <a:r>
              <a:rPr lang="fr-FR" sz="2000" i="1" dirty="0" err="1">
                <a:solidFill>
                  <a:srgbClr val="8C8C8C"/>
                </a:solidFill>
                <a:effectLst/>
              </a:rPr>
              <a:t>create</a:t>
            </a:r>
            <a:r>
              <a:rPr lang="fr-FR" sz="2000" i="1" dirty="0">
                <a:solidFill>
                  <a:srgbClr val="8C8C8C"/>
                </a:solidFill>
                <a:effectLst/>
              </a:rPr>
              <a:t> </a:t>
            </a:r>
            <a:r>
              <a:rPr lang="fr-FR" sz="2000" i="1" dirty="0" err="1">
                <a:solidFill>
                  <a:srgbClr val="8C8C8C"/>
                </a:solidFill>
                <a:effectLst/>
              </a:rPr>
              <a:t>then</a:t>
            </a:r>
            <a:r>
              <a:rPr lang="fr-FR" sz="2000" i="1" dirty="0">
                <a:solidFill>
                  <a:srgbClr val="8C8C8C"/>
                </a:solidFill>
                <a:effectLst/>
              </a:rPr>
              <a:t> a </a:t>
            </a:r>
            <a:r>
              <a:rPr lang="fr-FR" sz="2000" i="1" dirty="0" err="1">
                <a:solidFill>
                  <a:srgbClr val="8C8C8C"/>
                </a:solidFill>
                <a:effectLst/>
              </a:rPr>
              <a:t>tensor</a:t>
            </a:r>
            <a:r>
              <a:rPr lang="fr-FR" sz="2000" i="1" dirty="0">
                <a:solidFill>
                  <a:srgbClr val="8C8C8C"/>
                </a:solidFill>
                <a:effectLst/>
              </a:rPr>
              <a:t> on GPU:</a:t>
            </a:r>
            <a:br>
              <a:rPr lang="fr-FR" sz="2400" i="1" dirty="0">
                <a:solidFill>
                  <a:srgbClr val="8C8C8C"/>
                </a:solidFill>
                <a:effectLst/>
              </a:rPr>
            </a:br>
            <a:endParaRPr lang="fr-FR" sz="2400" i="1" dirty="0">
              <a:solidFill>
                <a:srgbClr val="8C8C8C"/>
              </a:solidFill>
              <a:effectLst/>
            </a:endParaRPr>
          </a:p>
          <a:p>
            <a:r>
              <a:rPr lang="fr-FR" sz="2400" dirty="0">
                <a:solidFill>
                  <a:srgbClr val="0033B3"/>
                </a:solidFill>
                <a:effectLst/>
              </a:rPr>
              <a:t>if </a:t>
            </a:r>
            <a:r>
              <a:rPr lang="fr-FR" sz="2400" dirty="0" err="1">
                <a:solidFill>
                  <a:srgbClr val="080808"/>
                </a:solidFill>
                <a:effectLst/>
              </a:rPr>
              <a:t>torch.cuda.is_available</a:t>
            </a:r>
            <a:r>
              <a:rPr lang="fr-FR" sz="2400" dirty="0">
                <a:solidFill>
                  <a:srgbClr val="080808"/>
                </a:solidFill>
                <a:effectLst/>
              </a:rPr>
              <a:t>():</a:t>
            </a:r>
            <a:br>
              <a:rPr lang="fr-FR" sz="2400" dirty="0">
                <a:solidFill>
                  <a:srgbClr val="080808"/>
                </a:solidFill>
                <a:effectLst/>
              </a:rPr>
            </a:br>
            <a:r>
              <a:rPr lang="fr-FR" sz="2400" dirty="0">
                <a:solidFill>
                  <a:srgbClr val="080808"/>
                </a:solidFill>
                <a:effectLst/>
              </a:rPr>
              <a:t>     </a:t>
            </a:r>
            <a:r>
              <a:rPr lang="fr-FR" sz="2400" dirty="0" err="1">
                <a:solidFill>
                  <a:srgbClr val="080808"/>
                </a:solidFill>
                <a:effectLst/>
              </a:rPr>
              <a:t>device</a:t>
            </a:r>
            <a:r>
              <a:rPr lang="fr-FR" sz="2400" dirty="0">
                <a:solidFill>
                  <a:srgbClr val="080808"/>
                </a:solidFill>
                <a:effectLst/>
              </a:rPr>
              <a:t> = </a:t>
            </a:r>
            <a:r>
              <a:rPr lang="fr-FR" sz="2400" dirty="0" err="1">
                <a:solidFill>
                  <a:srgbClr val="080808"/>
                </a:solidFill>
                <a:effectLst/>
              </a:rPr>
              <a:t>torch.device</a:t>
            </a:r>
            <a:r>
              <a:rPr lang="fr-FR" sz="2400" dirty="0">
                <a:solidFill>
                  <a:srgbClr val="080808"/>
                </a:solidFill>
                <a:effectLst/>
              </a:rPr>
              <a:t>(</a:t>
            </a:r>
            <a:r>
              <a:rPr lang="fr-FR" sz="2400" dirty="0">
                <a:solidFill>
                  <a:srgbClr val="067D17"/>
                </a:solidFill>
                <a:effectLst/>
              </a:rPr>
              <a:t>"</a:t>
            </a:r>
            <a:r>
              <a:rPr lang="fr-FR" sz="2400" dirty="0" err="1">
                <a:solidFill>
                  <a:srgbClr val="067D17"/>
                </a:solidFill>
                <a:effectLst/>
              </a:rPr>
              <a:t>cuda</a:t>
            </a:r>
            <a:r>
              <a:rPr lang="fr-FR" sz="2400" dirty="0">
                <a:solidFill>
                  <a:srgbClr val="067D17"/>
                </a:solidFill>
                <a:effectLst/>
              </a:rPr>
              <a:t>"</a:t>
            </a:r>
            <a:r>
              <a:rPr lang="fr-FR" sz="2400" dirty="0">
                <a:solidFill>
                  <a:srgbClr val="080808"/>
                </a:solidFill>
                <a:effectLst/>
              </a:rPr>
              <a:t>)</a:t>
            </a:r>
            <a:br>
              <a:rPr lang="fr-FR" sz="2400" dirty="0">
                <a:solidFill>
                  <a:srgbClr val="080808"/>
                </a:solidFill>
                <a:effectLst/>
              </a:rPr>
            </a:br>
            <a:r>
              <a:rPr lang="fr-FR" sz="2400" dirty="0">
                <a:solidFill>
                  <a:srgbClr val="080808"/>
                </a:solidFill>
                <a:effectLst/>
              </a:rPr>
              <a:t>     x = </a:t>
            </a:r>
            <a:r>
              <a:rPr lang="fr-FR" sz="2400" dirty="0" err="1">
                <a:solidFill>
                  <a:srgbClr val="080808"/>
                </a:solidFill>
                <a:effectLst/>
              </a:rPr>
              <a:t>torch.rand</a:t>
            </a:r>
            <a:r>
              <a:rPr lang="fr-FR" sz="2400" dirty="0">
                <a:solidFill>
                  <a:srgbClr val="080808"/>
                </a:solidFill>
                <a:effectLst/>
              </a:rPr>
              <a:t>(</a:t>
            </a:r>
            <a:r>
              <a:rPr lang="fr-FR" sz="2400" dirty="0">
                <a:solidFill>
                  <a:srgbClr val="1750EB"/>
                </a:solidFill>
                <a:effectLst/>
              </a:rPr>
              <a:t>1</a:t>
            </a:r>
            <a:r>
              <a:rPr lang="fr-FR" sz="2400" dirty="0">
                <a:solidFill>
                  <a:srgbClr val="080808"/>
                </a:solidFill>
                <a:effectLst/>
              </a:rPr>
              <a:t>,</a:t>
            </a:r>
            <a:r>
              <a:rPr lang="fr-FR" sz="2400" dirty="0">
                <a:solidFill>
                  <a:srgbClr val="1750EB"/>
                </a:solidFill>
                <a:effectLst/>
              </a:rPr>
              <a:t>1</a:t>
            </a:r>
            <a:r>
              <a:rPr lang="fr-FR" sz="2400" dirty="0">
                <a:solidFill>
                  <a:srgbClr val="080808"/>
                </a:solidFill>
                <a:effectLst/>
              </a:rPr>
              <a:t>)</a:t>
            </a:r>
          </a:p>
        </p:txBody>
      </p:sp>
    </p:spTree>
    <p:extLst>
      <p:ext uri="{BB962C8B-B14F-4D97-AF65-F5344CB8AC3E}">
        <p14:creationId xmlns:p14="http://schemas.microsoft.com/office/powerpoint/2010/main" val="42067393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B0137-D0FD-5F8E-354A-E2324693622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0101076-7186-5CF4-22BD-6BD615A512A1}"/>
              </a:ext>
            </a:extLst>
          </p:cNvPr>
          <p:cNvSpPr>
            <a:spLocks noGrp="1"/>
          </p:cNvSpPr>
          <p:nvPr>
            <p:ph type="title"/>
          </p:nvPr>
        </p:nvSpPr>
        <p:spPr/>
        <p:txBody>
          <a:bodyPr/>
          <a:lstStyle/>
          <a:p>
            <a:r>
              <a:rPr lang="en-GB" dirty="0"/>
              <a:t>Pytorch tutorial</a:t>
            </a:r>
            <a:br>
              <a:rPr lang="en-GB" dirty="0"/>
            </a:br>
            <a:r>
              <a:rPr lang="en-GB" sz="2800" b="1" dirty="0"/>
              <a:t>Neural Network</a:t>
            </a:r>
            <a:endParaRPr lang="en-GB" dirty="0"/>
          </a:p>
        </p:txBody>
      </p:sp>
      <p:sp>
        <p:nvSpPr>
          <p:cNvPr id="4" name="Espace réservé du pied de page 3">
            <a:extLst>
              <a:ext uri="{FF2B5EF4-FFF2-40B4-BE49-F238E27FC236}">
                <a16:creationId xmlns:a16="http://schemas.microsoft.com/office/drawing/2014/main" id="{42456665-1705-1173-B2F4-3A86DE7CE675}"/>
              </a:ext>
            </a:extLst>
          </p:cNvPr>
          <p:cNvSpPr>
            <a:spLocks noGrp="1"/>
          </p:cNvSpPr>
          <p:nvPr>
            <p:ph type="ftr" sz="quarter" idx="11"/>
          </p:nvPr>
        </p:nvSpPr>
        <p:spPr/>
        <p:txBody>
          <a:bodyPr/>
          <a:lstStyle/>
          <a:p>
            <a:r>
              <a:rPr lang="fr-FR"/>
              <a:t>Introduction to Neural Networks. Author: David Thébault</a:t>
            </a:r>
          </a:p>
        </p:txBody>
      </p:sp>
      <p:sp>
        <p:nvSpPr>
          <p:cNvPr id="6" name="ZoneTexte 5">
            <a:extLst>
              <a:ext uri="{FF2B5EF4-FFF2-40B4-BE49-F238E27FC236}">
                <a16:creationId xmlns:a16="http://schemas.microsoft.com/office/drawing/2014/main" id="{E71EDE83-2E3D-D78E-EC62-3A7A357C9A96}"/>
              </a:ext>
            </a:extLst>
          </p:cNvPr>
          <p:cNvSpPr txBox="1"/>
          <p:nvPr/>
        </p:nvSpPr>
        <p:spPr>
          <a:xfrm>
            <a:off x="977900" y="1690688"/>
            <a:ext cx="10972800" cy="3046988"/>
          </a:xfrm>
          <a:prstGeom prst="rect">
            <a:avLst/>
          </a:prstGeom>
          <a:noFill/>
        </p:spPr>
        <p:txBody>
          <a:bodyPr wrap="square">
            <a:spAutoFit/>
          </a:bodyPr>
          <a:lstStyle/>
          <a:p>
            <a:r>
              <a:rPr lang="fr-FR" sz="2400" dirty="0">
                <a:solidFill>
                  <a:srgbClr val="0033B3"/>
                </a:solidFill>
                <a:effectLst/>
              </a:rPr>
              <a:t>import </a:t>
            </a:r>
            <a:r>
              <a:rPr lang="fr-FR" sz="2400" dirty="0" err="1">
                <a:solidFill>
                  <a:srgbClr val="080808"/>
                </a:solidFill>
                <a:effectLst/>
              </a:rPr>
              <a:t>torch</a:t>
            </a:r>
            <a:endParaRPr lang="fr-FR" sz="2400" dirty="0">
              <a:solidFill>
                <a:srgbClr val="080808"/>
              </a:solidFill>
              <a:effectLst/>
            </a:endParaRPr>
          </a:p>
          <a:p>
            <a:br>
              <a:rPr lang="fr-FR" sz="2400" dirty="0">
                <a:solidFill>
                  <a:srgbClr val="080808"/>
                </a:solidFill>
                <a:effectLst/>
              </a:rPr>
            </a:br>
            <a:r>
              <a:rPr lang="fr-FR" sz="2400" i="1" dirty="0">
                <a:solidFill>
                  <a:srgbClr val="8C8C8C"/>
                </a:solidFill>
                <a:effectLst/>
              </a:rPr>
              <a:t># if </a:t>
            </a:r>
            <a:r>
              <a:rPr lang="fr-FR" sz="2400" i="1" dirty="0" err="1">
                <a:solidFill>
                  <a:srgbClr val="8C8C8C"/>
                </a:solidFill>
                <a:effectLst/>
              </a:rPr>
              <a:t>we</a:t>
            </a:r>
            <a:r>
              <a:rPr lang="fr-FR" sz="2400" i="1" dirty="0">
                <a:solidFill>
                  <a:srgbClr val="8C8C8C"/>
                </a:solidFill>
                <a:effectLst/>
              </a:rPr>
              <a:t> </a:t>
            </a:r>
            <a:r>
              <a:rPr lang="fr-FR" sz="2400" i="1" dirty="0" err="1">
                <a:solidFill>
                  <a:srgbClr val="8C8C8C"/>
                </a:solidFill>
                <a:effectLst/>
              </a:rPr>
              <a:t>need</a:t>
            </a:r>
            <a:r>
              <a:rPr lang="fr-FR" sz="2400" i="1" dirty="0">
                <a:solidFill>
                  <a:srgbClr val="8C8C8C"/>
                </a:solidFill>
                <a:effectLst/>
              </a:rPr>
              <a:t> </a:t>
            </a:r>
            <a:r>
              <a:rPr lang="fr-FR" sz="2400" i="1" dirty="0" err="1">
                <a:solidFill>
                  <a:srgbClr val="8C8C8C"/>
                </a:solidFill>
                <a:effectLst/>
              </a:rPr>
              <a:t>tracking</a:t>
            </a:r>
            <a:r>
              <a:rPr lang="fr-FR" sz="2400" i="1" dirty="0">
                <a:solidFill>
                  <a:srgbClr val="8C8C8C"/>
                </a:solidFill>
                <a:effectLst/>
              </a:rPr>
              <a:t> the gradients </a:t>
            </a:r>
            <a:r>
              <a:rPr lang="fr-FR" sz="2400" i="1" dirty="0" err="1">
                <a:solidFill>
                  <a:srgbClr val="8C8C8C"/>
                </a:solidFill>
                <a:effectLst/>
              </a:rPr>
              <a:t>add</a:t>
            </a:r>
            <a:r>
              <a:rPr lang="fr-FR" sz="2400" i="1" dirty="0">
                <a:solidFill>
                  <a:srgbClr val="8C8C8C"/>
                </a:solidFill>
                <a:effectLst/>
              </a:rPr>
              <a:t> </a:t>
            </a:r>
            <a:r>
              <a:rPr lang="fr-FR" sz="2400" i="1" dirty="0" err="1">
                <a:solidFill>
                  <a:srgbClr val="8C8C8C"/>
                </a:solidFill>
                <a:effectLst/>
              </a:rPr>
              <a:t>requires_grad</a:t>
            </a:r>
            <a:br>
              <a:rPr lang="fr-FR" sz="2400" i="1" dirty="0">
                <a:solidFill>
                  <a:srgbClr val="8C8C8C"/>
                </a:solidFill>
                <a:effectLst/>
              </a:rPr>
            </a:br>
            <a:br>
              <a:rPr lang="fr-FR" sz="2400" i="1" dirty="0">
                <a:solidFill>
                  <a:srgbClr val="8C8C8C"/>
                </a:solidFill>
                <a:effectLst/>
              </a:rPr>
            </a:br>
            <a:r>
              <a:rPr lang="fr-FR" sz="2400" dirty="0">
                <a:solidFill>
                  <a:srgbClr val="080808"/>
                </a:solidFill>
                <a:effectLst/>
              </a:rPr>
              <a:t>x = </a:t>
            </a:r>
            <a:r>
              <a:rPr lang="fr-FR" sz="2400" dirty="0" err="1">
                <a:solidFill>
                  <a:srgbClr val="080808"/>
                </a:solidFill>
                <a:effectLst/>
              </a:rPr>
              <a:t>torch.ones</a:t>
            </a:r>
            <a:r>
              <a:rPr lang="fr-FR" sz="2400" dirty="0">
                <a:solidFill>
                  <a:srgbClr val="080808"/>
                </a:solidFill>
                <a:effectLst/>
              </a:rPr>
              <a:t>(</a:t>
            </a:r>
            <a:r>
              <a:rPr lang="fr-FR" sz="2400" dirty="0">
                <a:solidFill>
                  <a:srgbClr val="1750EB"/>
                </a:solidFill>
                <a:effectLst/>
              </a:rPr>
              <a:t>5</a:t>
            </a:r>
            <a:r>
              <a:rPr lang="fr-FR" sz="2400" dirty="0">
                <a:solidFill>
                  <a:srgbClr val="080808"/>
                </a:solidFill>
                <a:effectLst/>
              </a:rPr>
              <a:t>, </a:t>
            </a:r>
            <a:r>
              <a:rPr lang="fr-FR" sz="2400" dirty="0" err="1">
                <a:solidFill>
                  <a:srgbClr val="660099"/>
                </a:solidFill>
                <a:effectLst/>
              </a:rPr>
              <a:t>requires_grad</a:t>
            </a:r>
            <a:r>
              <a:rPr lang="fr-FR" sz="2400" dirty="0">
                <a:solidFill>
                  <a:srgbClr val="080808"/>
                </a:solidFill>
                <a:effectLst/>
              </a:rPr>
              <a:t>=</a:t>
            </a:r>
            <a:r>
              <a:rPr lang="fr-FR" sz="2400" dirty="0" err="1">
                <a:solidFill>
                  <a:srgbClr val="0033B3"/>
                </a:solidFill>
                <a:effectLst/>
              </a:rPr>
              <a:t>True</a:t>
            </a:r>
            <a:r>
              <a:rPr lang="fr-FR" sz="2400" dirty="0">
                <a:solidFill>
                  <a:srgbClr val="080808"/>
                </a:solidFill>
                <a:effectLst/>
              </a:rPr>
              <a:t>)</a:t>
            </a:r>
            <a:br>
              <a:rPr lang="fr-FR" sz="2400" dirty="0">
                <a:solidFill>
                  <a:srgbClr val="080808"/>
                </a:solidFill>
                <a:effectLst/>
              </a:rPr>
            </a:br>
            <a:endParaRPr lang="fr-FR" sz="2400" i="1" dirty="0">
              <a:solidFill>
                <a:srgbClr val="8C8C8C"/>
              </a:solidFill>
              <a:effectLst/>
            </a:endParaRPr>
          </a:p>
          <a:p>
            <a:r>
              <a:rPr lang="fr-FR" sz="2400" dirty="0">
                <a:solidFill>
                  <a:srgbClr val="000080"/>
                </a:solidFill>
                <a:effectLst/>
              </a:rPr>
              <a:t>print</a:t>
            </a:r>
            <a:r>
              <a:rPr lang="fr-FR" sz="2400" dirty="0">
                <a:solidFill>
                  <a:srgbClr val="080808"/>
                </a:solidFill>
                <a:effectLst/>
              </a:rPr>
              <a:t>(x)</a:t>
            </a:r>
            <a:br>
              <a:rPr lang="fr-FR" sz="2400" dirty="0">
                <a:solidFill>
                  <a:srgbClr val="080808"/>
                </a:solidFill>
                <a:effectLst/>
              </a:rPr>
            </a:br>
            <a:r>
              <a:rPr lang="fr-FR" sz="2400" i="1" dirty="0">
                <a:solidFill>
                  <a:srgbClr val="8C8C8C"/>
                </a:solidFill>
                <a:effectLst/>
              </a:rPr>
              <a:t># </a:t>
            </a:r>
            <a:r>
              <a:rPr lang="fr-FR" sz="2400" i="1" dirty="0" err="1">
                <a:solidFill>
                  <a:srgbClr val="8C8C8C"/>
                </a:solidFill>
                <a:effectLst/>
              </a:rPr>
              <a:t>tensor</a:t>
            </a:r>
            <a:r>
              <a:rPr lang="fr-FR" sz="2400" i="1" dirty="0">
                <a:solidFill>
                  <a:srgbClr val="8C8C8C"/>
                </a:solidFill>
                <a:effectLst/>
              </a:rPr>
              <a:t>([1., 1., 1., 1., 1.], </a:t>
            </a:r>
            <a:r>
              <a:rPr lang="fr-FR" sz="2400" i="1" dirty="0" err="1">
                <a:solidFill>
                  <a:srgbClr val="8C8C8C"/>
                </a:solidFill>
                <a:effectLst/>
              </a:rPr>
              <a:t>requires_grad</a:t>
            </a:r>
            <a:r>
              <a:rPr lang="fr-FR" sz="2400" i="1" dirty="0">
                <a:solidFill>
                  <a:srgbClr val="8C8C8C"/>
                </a:solidFill>
                <a:effectLst/>
              </a:rPr>
              <a:t>=</a:t>
            </a:r>
            <a:r>
              <a:rPr lang="fr-FR" sz="2400" i="1" dirty="0" err="1">
                <a:solidFill>
                  <a:srgbClr val="8C8C8C"/>
                </a:solidFill>
                <a:effectLst/>
              </a:rPr>
              <a:t>True</a:t>
            </a:r>
            <a:r>
              <a:rPr lang="fr-FR" sz="2400" i="1" dirty="0">
                <a:solidFill>
                  <a:srgbClr val="8C8C8C"/>
                </a:solidFill>
                <a:effectLst/>
              </a:rPr>
              <a:t>)</a:t>
            </a:r>
            <a:endParaRPr lang="fr-FR" sz="2400" dirty="0">
              <a:solidFill>
                <a:srgbClr val="080808"/>
              </a:solidFill>
              <a:effectLst/>
            </a:endParaRPr>
          </a:p>
        </p:txBody>
      </p:sp>
    </p:spTree>
    <p:extLst>
      <p:ext uri="{BB962C8B-B14F-4D97-AF65-F5344CB8AC3E}">
        <p14:creationId xmlns:p14="http://schemas.microsoft.com/office/powerpoint/2010/main" val="7223115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22EDB-CA6E-C773-32BA-8E0455DC086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6B4B3D2-9DBE-5EEC-DFCD-034B44B025B4}"/>
              </a:ext>
            </a:extLst>
          </p:cNvPr>
          <p:cNvSpPr>
            <a:spLocks noGrp="1"/>
          </p:cNvSpPr>
          <p:nvPr>
            <p:ph type="title"/>
          </p:nvPr>
        </p:nvSpPr>
        <p:spPr/>
        <p:txBody>
          <a:bodyPr/>
          <a:lstStyle/>
          <a:p>
            <a:r>
              <a:rPr lang="en-GB" dirty="0"/>
              <a:t>Pytorch tutorial</a:t>
            </a:r>
            <a:br>
              <a:rPr lang="en-GB" dirty="0"/>
            </a:br>
            <a:r>
              <a:rPr lang="en-GB" sz="2800" b="1" dirty="0"/>
              <a:t>Neural Network – Forward pass</a:t>
            </a:r>
            <a:endParaRPr lang="en-GB" dirty="0"/>
          </a:p>
        </p:txBody>
      </p:sp>
      <p:sp>
        <p:nvSpPr>
          <p:cNvPr id="4" name="Espace réservé du pied de page 3">
            <a:extLst>
              <a:ext uri="{FF2B5EF4-FFF2-40B4-BE49-F238E27FC236}">
                <a16:creationId xmlns:a16="http://schemas.microsoft.com/office/drawing/2014/main" id="{53214BD7-EF39-B972-0F6E-95936FDB1BDC}"/>
              </a:ext>
            </a:extLst>
          </p:cNvPr>
          <p:cNvSpPr>
            <a:spLocks noGrp="1"/>
          </p:cNvSpPr>
          <p:nvPr>
            <p:ph type="ftr" sz="quarter" idx="11"/>
          </p:nvPr>
        </p:nvSpPr>
        <p:spPr/>
        <p:txBody>
          <a:bodyPr/>
          <a:lstStyle/>
          <a:p>
            <a:r>
              <a:rPr lang="fr-FR"/>
              <a:t>Introduction to Neural Networks. Author: David Thébault</a:t>
            </a:r>
          </a:p>
        </p:txBody>
      </p:sp>
      <p:sp>
        <p:nvSpPr>
          <p:cNvPr id="6" name="ZoneTexte 5">
            <a:extLst>
              <a:ext uri="{FF2B5EF4-FFF2-40B4-BE49-F238E27FC236}">
                <a16:creationId xmlns:a16="http://schemas.microsoft.com/office/drawing/2014/main" id="{10A46404-50B4-A384-F593-069A3E9CA1BB}"/>
              </a:ext>
            </a:extLst>
          </p:cNvPr>
          <p:cNvSpPr txBox="1"/>
          <p:nvPr/>
        </p:nvSpPr>
        <p:spPr>
          <a:xfrm>
            <a:off x="977900" y="1690688"/>
            <a:ext cx="10972800" cy="3416320"/>
          </a:xfrm>
          <a:prstGeom prst="rect">
            <a:avLst/>
          </a:prstGeom>
          <a:noFill/>
        </p:spPr>
        <p:txBody>
          <a:bodyPr wrap="square">
            <a:spAutoFit/>
          </a:bodyPr>
          <a:lstStyle/>
          <a:p>
            <a:r>
              <a:rPr lang="fr-FR" sz="2400" dirty="0">
                <a:solidFill>
                  <a:srgbClr val="0033B3"/>
                </a:solidFill>
                <a:effectLst/>
              </a:rPr>
              <a:t>import </a:t>
            </a:r>
            <a:r>
              <a:rPr lang="fr-FR" sz="2400" dirty="0" err="1">
                <a:solidFill>
                  <a:srgbClr val="080808"/>
                </a:solidFill>
                <a:effectLst/>
              </a:rPr>
              <a:t>torch</a:t>
            </a:r>
            <a:endParaRPr lang="fr-FR" sz="2400" dirty="0">
              <a:solidFill>
                <a:srgbClr val="080808"/>
              </a:solidFill>
              <a:effectLst/>
            </a:endParaRPr>
          </a:p>
          <a:p>
            <a:br>
              <a:rPr lang="fr-FR" sz="2400" dirty="0">
                <a:solidFill>
                  <a:srgbClr val="080808"/>
                </a:solidFill>
                <a:effectLst/>
              </a:rPr>
            </a:br>
            <a:r>
              <a:rPr lang="fr-FR" sz="2400" dirty="0">
                <a:solidFill>
                  <a:srgbClr val="080808"/>
                </a:solidFill>
                <a:effectLst/>
              </a:rPr>
              <a:t>x = </a:t>
            </a:r>
            <a:r>
              <a:rPr lang="fr-FR" sz="2400" dirty="0" err="1">
                <a:solidFill>
                  <a:srgbClr val="080808"/>
                </a:solidFill>
                <a:effectLst/>
              </a:rPr>
              <a:t>torch.ones</a:t>
            </a:r>
            <a:r>
              <a:rPr lang="fr-FR" sz="2400" dirty="0">
                <a:solidFill>
                  <a:srgbClr val="080808"/>
                </a:solidFill>
                <a:effectLst/>
              </a:rPr>
              <a:t>(</a:t>
            </a:r>
            <a:r>
              <a:rPr lang="fr-FR" sz="2400" dirty="0">
                <a:solidFill>
                  <a:srgbClr val="1750EB"/>
                </a:solidFill>
                <a:effectLst/>
              </a:rPr>
              <a:t>5</a:t>
            </a:r>
            <a:r>
              <a:rPr lang="fr-FR" sz="2400" dirty="0">
                <a:solidFill>
                  <a:srgbClr val="080808"/>
                </a:solidFill>
                <a:effectLst/>
              </a:rPr>
              <a:t>, </a:t>
            </a:r>
            <a:r>
              <a:rPr lang="fr-FR" sz="2400" dirty="0" err="1">
                <a:solidFill>
                  <a:srgbClr val="660099"/>
                </a:solidFill>
                <a:effectLst/>
              </a:rPr>
              <a:t>requires_grad</a:t>
            </a:r>
            <a:r>
              <a:rPr lang="fr-FR" sz="2400" dirty="0">
                <a:solidFill>
                  <a:srgbClr val="080808"/>
                </a:solidFill>
                <a:effectLst/>
              </a:rPr>
              <a:t>=</a:t>
            </a:r>
            <a:r>
              <a:rPr lang="fr-FR" sz="2400" dirty="0" err="1">
                <a:solidFill>
                  <a:srgbClr val="0033B3"/>
                </a:solidFill>
                <a:effectLst/>
              </a:rPr>
              <a:t>True</a:t>
            </a:r>
            <a:r>
              <a:rPr lang="fr-FR" sz="2400" dirty="0">
                <a:solidFill>
                  <a:srgbClr val="080808"/>
                </a:solidFill>
                <a:effectLst/>
              </a:rPr>
              <a:t>)</a:t>
            </a:r>
          </a:p>
          <a:p>
            <a:br>
              <a:rPr lang="fr-FR" sz="2400" dirty="0">
                <a:solidFill>
                  <a:srgbClr val="080808"/>
                </a:solidFill>
                <a:effectLst/>
              </a:rPr>
            </a:br>
            <a:r>
              <a:rPr lang="fr-FR" sz="2400" i="1" dirty="0">
                <a:solidFill>
                  <a:srgbClr val="8C8C8C"/>
                </a:solidFill>
                <a:effectLst/>
              </a:rPr>
              <a:t># </a:t>
            </a:r>
            <a:r>
              <a:rPr lang="fr-FR" sz="2400" i="1" dirty="0" err="1">
                <a:solidFill>
                  <a:srgbClr val="8C8C8C"/>
                </a:solidFill>
                <a:effectLst/>
              </a:rPr>
              <a:t>Forward</a:t>
            </a:r>
            <a:r>
              <a:rPr lang="fr-FR" sz="2400" i="1" dirty="0">
                <a:solidFill>
                  <a:srgbClr val="8C8C8C"/>
                </a:solidFill>
                <a:effectLst/>
              </a:rPr>
              <a:t> </a:t>
            </a:r>
            <a:r>
              <a:rPr lang="fr-FR" sz="2400" i="1" dirty="0" err="1">
                <a:solidFill>
                  <a:srgbClr val="8C8C8C"/>
                </a:solidFill>
                <a:effectLst/>
              </a:rPr>
              <a:t>pass</a:t>
            </a:r>
            <a:r>
              <a:rPr lang="fr-FR" sz="2400" i="1" dirty="0">
                <a:solidFill>
                  <a:srgbClr val="8C8C8C"/>
                </a:solidFill>
                <a:effectLst/>
              </a:rPr>
              <a:t>:</a:t>
            </a:r>
            <a:br>
              <a:rPr lang="fr-FR" sz="2400" i="1" dirty="0">
                <a:solidFill>
                  <a:srgbClr val="8C8C8C"/>
                </a:solidFill>
                <a:effectLst/>
              </a:rPr>
            </a:br>
            <a:r>
              <a:rPr lang="fr-FR" sz="2400" dirty="0">
                <a:solidFill>
                  <a:srgbClr val="080808"/>
                </a:solidFill>
                <a:effectLst/>
              </a:rPr>
              <a:t>y = x + </a:t>
            </a:r>
            <a:r>
              <a:rPr lang="fr-FR" sz="2400" dirty="0">
                <a:solidFill>
                  <a:srgbClr val="1750EB"/>
                </a:solidFill>
                <a:effectLst/>
              </a:rPr>
              <a:t>2</a:t>
            </a:r>
            <a:endParaRPr lang="fr-FR" sz="2400" dirty="0">
              <a:solidFill>
                <a:srgbClr val="080808"/>
              </a:solidFill>
              <a:effectLst/>
            </a:endParaRPr>
          </a:p>
          <a:p>
            <a:endParaRPr lang="fr-FR" sz="2400" dirty="0">
              <a:solidFill>
                <a:srgbClr val="000080"/>
              </a:solidFill>
              <a:effectLst/>
            </a:endParaRPr>
          </a:p>
          <a:p>
            <a:r>
              <a:rPr lang="fr-FR" sz="2400" dirty="0">
                <a:solidFill>
                  <a:srgbClr val="000080"/>
                </a:solidFill>
                <a:effectLst/>
              </a:rPr>
              <a:t>print</a:t>
            </a:r>
            <a:r>
              <a:rPr lang="fr-FR" sz="2400" dirty="0">
                <a:solidFill>
                  <a:srgbClr val="080808"/>
                </a:solidFill>
                <a:effectLst/>
              </a:rPr>
              <a:t>(y)</a:t>
            </a:r>
          </a:p>
          <a:p>
            <a:r>
              <a:rPr lang="fr-FR" sz="2400" i="1" dirty="0" err="1">
                <a:solidFill>
                  <a:srgbClr val="8C8C8C"/>
                </a:solidFill>
                <a:effectLst/>
              </a:rPr>
              <a:t>tensor</a:t>
            </a:r>
            <a:r>
              <a:rPr lang="fr-FR" sz="2400" i="1" dirty="0">
                <a:solidFill>
                  <a:srgbClr val="8C8C8C"/>
                </a:solidFill>
                <a:effectLst/>
              </a:rPr>
              <a:t>([3., 3., 3., 3., 3.], </a:t>
            </a:r>
            <a:r>
              <a:rPr lang="fr-FR" sz="2400" i="1" dirty="0" err="1">
                <a:solidFill>
                  <a:srgbClr val="8C8C8C"/>
                </a:solidFill>
                <a:effectLst/>
              </a:rPr>
              <a:t>grad_fn</a:t>
            </a:r>
            <a:r>
              <a:rPr lang="fr-FR" sz="2400" i="1" dirty="0">
                <a:solidFill>
                  <a:srgbClr val="8C8C8C"/>
                </a:solidFill>
                <a:effectLst/>
              </a:rPr>
              <a:t>=&lt;AddBackward0&gt;)</a:t>
            </a:r>
            <a:endParaRPr lang="fr-FR" sz="2400" dirty="0">
              <a:solidFill>
                <a:srgbClr val="080808"/>
              </a:solidFill>
              <a:effectLst/>
            </a:endParaRPr>
          </a:p>
        </p:txBody>
      </p:sp>
    </p:spTree>
    <p:extLst>
      <p:ext uri="{BB962C8B-B14F-4D97-AF65-F5344CB8AC3E}">
        <p14:creationId xmlns:p14="http://schemas.microsoft.com/office/powerpoint/2010/main" val="19375002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ACA0C-F2F4-1AE9-04A2-43965C3BC10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2DC392C-E5FA-2479-90F4-E90C919E9C76}"/>
              </a:ext>
            </a:extLst>
          </p:cNvPr>
          <p:cNvSpPr>
            <a:spLocks noGrp="1"/>
          </p:cNvSpPr>
          <p:nvPr>
            <p:ph type="title"/>
          </p:nvPr>
        </p:nvSpPr>
        <p:spPr/>
        <p:txBody>
          <a:bodyPr/>
          <a:lstStyle/>
          <a:p>
            <a:r>
              <a:rPr lang="en-GB" dirty="0"/>
              <a:t>Pytorch tutorial</a:t>
            </a:r>
            <a:br>
              <a:rPr lang="en-GB" dirty="0"/>
            </a:br>
            <a:r>
              <a:rPr lang="en-GB" sz="2800" b="1" dirty="0"/>
              <a:t>Neural Network – Forward pass</a:t>
            </a:r>
            <a:endParaRPr lang="en-GB" dirty="0"/>
          </a:p>
        </p:txBody>
      </p:sp>
      <p:sp>
        <p:nvSpPr>
          <p:cNvPr id="4" name="Espace réservé du pied de page 3">
            <a:extLst>
              <a:ext uri="{FF2B5EF4-FFF2-40B4-BE49-F238E27FC236}">
                <a16:creationId xmlns:a16="http://schemas.microsoft.com/office/drawing/2014/main" id="{E0429F61-DE64-CE66-09E2-A85581DEF5E1}"/>
              </a:ext>
            </a:extLst>
          </p:cNvPr>
          <p:cNvSpPr>
            <a:spLocks noGrp="1"/>
          </p:cNvSpPr>
          <p:nvPr>
            <p:ph type="ftr" sz="quarter" idx="11"/>
          </p:nvPr>
        </p:nvSpPr>
        <p:spPr/>
        <p:txBody>
          <a:bodyPr/>
          <a:lstStyle/>
          <a:p>
            <a:r>
              <a:rPr lang="fr-FR"/>
              <a:t>Introduction to Neural Networks. Author: David Thébault</a:t>
            </a:r>
          </a:p>
        </p:txBody>
      </p:sp>
      <p:sp>
        <p:nvSpPr>
          <p:cNvPr id="6" name="ZoneTexte 5">
            <a:extLst>
              <a:ext uri="{FF2B5EF4-FFF2-40B4-BE49-F238E27FC236}">
                <a16:creationId xmlns:a16="http://schemas.microsoft.com/office/drawing/2014/main" id="{BB0818F4-3434-92D0-59D2-E9FF64375778}"/>
              </a:ext>
            </a:extLst>
          </p:cNvPr>
          <p:cNvSpPr txBox="1"/>
          <p:nvPr/>
        </p:nvSpPr>
        <p:spPr>
          <a:xfrm>
            <a:off x="977900" y="1690688"/>
            <a:ext cx="10972800" cy="4154984"/>
          </a:xfrm>
          <a:prstGeom prst="rect">
            <a:avLst/>
          </a:prstGeom>
          <a:noFill/>
        </p:spPr>
        <p:txBody>
          <a:bodyPr wrap="square">
            <a:spAutoFit/>
          </a:bodyPr>
          <a:lstStyle/>
          <a:p>
            <a:r>
              <a:rPr lang="fr-FR" sz="2400" dirty="0">
                <a:solidFill>
                  <a:srgbClr val="0033B3"/>
                </a:solidFill>
                <a:effectLst/>
              </a:rPr>
              <a:t>import </a:t>
            </a:r>
            <a:r>
              <a:rPr lang="fr-FR" sz="2400" dirty="0" err="1">
                <a:solidFill>
                  <a:srgbClr val="080808"/>
                </a:solidFill>
                <a:effectLst/>
              </a:rPr>
              <a:t>torch</a:t>
            </a:r>
            <a:endParaRPr lang="fr-FR" sz="2400" dirty="0">
              <a:solidFill>
                <a:srgbClr val="080808"/>
              </a:solidFill>
              <a:effectLst/>
            </a:endParaRPr>
          </a:p>
          <a:p>
            <a:br>
              <a:rPr lang="fr-FR" sz="2400" dirty="0">
                <a:solidFill>
                  <a:srgbClr val="080808"/>
                </a:solidFill>
                <a:effectLst/>
              </a:rPr>
            </a:br>
            <a:r>
              <a:rPr lang="fr-FR" sz="2400" dirty="0">
                <a:solidFill>
                  <a:srgbClr val="080808"/>
                </a:solidFill>
                <a:effectLst/>
              </a:rPr>
              <a:t>z = </a:t>
            </a:r>
            <a:r>
              <a:rPr lang="fr-FR" sz="2400" dirty="0">
                <a:solidFill>
                  <a:srgbClr val="1750EB"/>
                </a:solidFill>
                <a:effectLst/>
              </a:rPr>
              <a:t>2</a:t>
            </a:r>
            <a:r>
              <a:rPr lang="fr-FR" sz="2400" dirty="0">
                <a:solidFill>
                  <a:srgbClr val="080808"/>
                </a:solidFill>
                <a:effectLst/>
              </a:rPr>
              <a:t>*y**</a:t>
            </a:r>
            <a:r>
              <a:rPr lang="fr-FR" sz="2400" dirty="0">
                <a:solidFill>
                  <a:srgbClr val="1750EB"/>
                </a:solidFill>
                <a:effectLst/>
              </a:rPr>
              <a:t>2</a:t>
            </a:r>
            <a:endParaRPr lang="fr-FR" sz="2400" dirty="0">
              <a:solidFill>
                <a:srgbClr val="080808"/>
              </a:solidFill>
              <a:effectLst/>
            </a:endParaRPr>
          </a:p>
          <a:p>
            <a:r>
              <a:rPr lang="fr-FR" sz="2400" dirty="0">
                <a:solidFill>
                  <a:srgbClr val="000080"/>
                </a:solidFill>
                <a:effectLst/>
              </a:rPr>
              <a:t>print</a:t>
            </a:r>
            <a:r>
              <a:rPr lang="fr-FR" sz="2400" dirty="0">
                <a:solidFill>
                  <a:srgbClr val="080808"/>
                </a:solidFill>
                <a:effectLst/>
              </a:rPr>
              <a:t>(z)</a:t>
            </a:r>
            <a:br>
              <a:rPr lang="fr-FR" sz="2400" dirty="0">
                <a:solidFill>
                  <a:srgbClr val="080808"/>
                </a:solidFill>
                <a:effectLst/>
              </a:rPr>
            </a:br>
            <a:r>
              <a:rPr lang="fr-FR" sz="2400" i="1" dirty="0">
                <a:solidFill>
                  <a:srgbClr val="8C8C8C"/>
                </a:solidFill>
                <a:effectLst/>
              </a:rPr>
              <a:t># </a:t>
            </a:r>
            <a:r>
              <a:rPr lang="fr-FR" sz="2400" i="1" dirty="0" err="1">
                <a:solidFill>
                  <a:srgbClr val="8C8C8C"/>
                </a:solidFill>
                <a:effectLst/>
              </a:rPr>
              <a:t>tensor</a:t>
            </a:r>
            <a:r>
              <a:rPr lang="fr-FR" sz="2400" i="1" dirty="0">
                <a:solidFill>
                  <a:srgbClr val="8C8C8C"/>
                </a:solidFill>
                <a:effectLst/>
              </a:rPr>
              <a:t>([18., 18., 18., 18., 18.], </a:t>
            </a:r>
            <a:r>
              <a:rPr lang="fr-FR" sz="2400" i="1" dirty="0" err="1">
                <a:solidFill>
                  <a:srgbClr val="8C8C8C"/>
                </a:solidFill>
                <a:effectLst/>
              </a:rPr>
              <a:t>grad_fn</a:t>
            </a:r>
            <a:r>
              <a:rPr lang="fr-FR" sz="2400" i="1" dirty="0">
                <a:solidFill>
                  <a:srgbClr val="8C8C8C"/>
                </a:solidFill>
                <a:effectLst/>
              </a:rPr>
              <a:t>=&lt;MulBackward0&gt;)</a:t>
            </a:r>
            <a:endParaRPr lang="fr-FR" sz="2400" dirty="0">
              <a:solidFill>
                <a:srgbClr val="080808"/>
              </a:solidFill>
              <a:effectLst/>
            </a:endParaRPr>
          </a:p>
          <a:p>
            <a:endParaRPr lang="fr-FR" sz="2400" dirty="0">
              <a:solidFill>
                <a:srgbClr val="000080"/>
              </a:solidFill>
              <a:effectLst/>
            </a:endParaRPr>
          </a:p>
          <a:p>
            <a:r>
              <a:rPr lang="fr-FR" sz="2400" i="1" dirty="0">
                <a:solidFill>
                  <a:srgbClr val="8C8C8C"/>
                </a:solidFill>
                <a:effectLst/>
              </a:rPr>
              <a:t># The </a:t>
            </a:r>
            <a:r>
              <a:rPr lang="fr-FR" sz="2400" i="1" dirty="0" err="1">
                <a:solidFill>
                  <a:srgbClr val="8C8C8C"/>
                </a:solidFill>
                <a:effectLst/>
              </a:rPr>
              <a:t>we</a:t>
            </a:r>
            <a:r>
              <a:rPr lang="fr-FR" sz="2400" i="1" dirty="0">
                <a:solidFill>
                  <a:srgbClr val="8C8C8C"/>
                </a:solidFill>
                <a:effectLst/>
              </a:rPr>
              <a:t> </a:t>
            </a:r>
            <a:r>
              <a:rPr lang="fr-FR" sz="2400" i="1" dirty="0" err="1">
                <a:solidFill>
                  <a:srgbClr val="8C8C8C"/>
                </a:solidFill>
                <a:effectLst/>
              </a:rPr>
              <a:t>consider</a:t>
            </a:r>
            <a:r>
              <a:rPr lang="fr-FR" sz="2400" i="1" dirty="0">
                <a:solidFill>
                  <a:srgbClr val="8C8C8C"/>
                </a:solidFill>
                <a:effectLst/>
              </a:rPr>
              <a:t> the </a:t>
            </a:r>
            <a:r>
              <a:rPr lang="fr-FR" sz="2400" i="1" dirty="0" err="1">
                <a:solidFill>
                  <a:srgbClr val="8C8C8C"/>
                </a:solidFill>
                <a:effectLst/>
              </a:rPr>
              <a:t>mean</a:t>
            </a:r>
            <a:r>
              <a:rPr lang="fr-FR" sz="2400" i="1" dirty="0">
                <a:solidFill>
                  <a:srgbClr val="8C8C8C"/>
                </a:solidFill>
                <a:effectLst/>
              </a:rPr>
              <a:t> (</a:t>
            </a:r>
            <a:r>
              <a:rPr lang="fr-FR" sz="2400" i="1" dirty="0" err="1">
                <a:solidFill>
                  <a:srgbClr val="8C8C8C"/>
                </a:solidFill>
                <a:effectLst/>
              </a:rPr>
              <a:t>could</a:t>
            </a:r>
            <a:r>
              <a:rPr lang="fr-FR" sz="2400" i="1" dirty="0">
                <a:solidFill>
                  <a:srgbClr val="8C8C8C"/>
                </a:solidFill>
                <a:effectLst/>
              </a:rPr>
              <a:t> </a:t>
            </a:r>
            <a:r>
              <a:rPr lang="fr-FR" sz="2400" i="1" dirty="0" err="1">
                <a:solidFill>
                  <a:srgbClr val="8C8C8C"/>
                </a:solidFill>
                <a:effectLst/>
              </a:rPr>
              <a:t>be</a:t>
            </a:r>
            <a:r>
              <a:rPr lang="fr-FR" sz="2400" i="1" dirty="0">
                <a:solidFill>
                  <a:srgbClr val="8C8C8C"/>
                </a:solidFill>
                <a:effectLst/>
              </a:rPr>
              <a:t> the </a:t>
            </a:r>
            <a:r>
              <a:rPr lang="fr-FR" sz="2400" i="1" dirty="0" err="1">
                <a:solidFill>
                  <a:srgbClr val="8C8C8C"/>
                </a:solidFill>
                <a:effectLst/>
              </a:rPr>
              <a:t>loss</a:t>
            </a:r>
            <a:r>
              <a:rPr lang="fr-FR" sz="2400" i="1" dirty="0">
                <a:solidFill>
                  <a:srgbClr val="8C8C8C"/>
                </a:solidFill>
                <a:effectLst/>
              </a:rPr>
              <a:t> in a NN)</a:t>
            </a:r>
            <a:br>
              <a:rPr lang="fr-FR" sz="2400" i="1" dirty="0">
                <a:solidFill>
                  <a:srgbClr val="8C8C8C"/>
                </a:solidFill>
                <a:effectLst/>
              </a:rPr>
            </a:br>
            <a:r>
              <a:rPr lang="fr-FR" sz="2400" dirty="0">
                <a:solidFill>
                  <a:srgbClr val="080808"/>
                </a:solidFill>
                <a:effectLst/>
              </a:rPr>
              <a:t>z = </a:t>
            </a:r>
            <a:r>
              <a:rPr lang="fr-FR" sz="2400" dirty="0" err="1">
                <a:solidFill>
                  <a:srgbClr val="080808"/>
                </a:solidFill>
                <a:effectLst/>
              </a:rPr>
              <a:t>z.mean</a:t>
            </a:r>
            <a:r>
              <a:rPr lang="fr-FR" sz="2400" dirty="0">
                <a:solidFill>
                  <a:srgbClr val="080808"/>
                </a:solidFill>
                <a:effectLst/>
              </a:rPr>
              <a:t>()</a:t>
            </a:r>
          </a:p>
          <a:p>
            <a:endParaRPr lang="fr-FR" sz="2400" dirty="0">
              <a:solidFill>
                <a:srgbClr val="080808"/>
              </a:solidFill>
            </a:endParaRPr>
          </a:p>
          <a:p>
            <a:r>
              <a:rPr lang="fr-FR" sz="2400" dirty="0">
                <a:solidFill>
                  <a:srgbClr val="000080"/>
                </a:solidFill>
                <a:effectLst/>
              </a:rPr>
              <a:t>print</a:t>
            </a:r>
            <a:r>
              <a:rPr lang="fr-FR" sz="2400" dirty="0">
                <a:solidFill>
                  <a:srgbClr val="080808"/>
                </a:solidFill>
                <a:effectLst/>
              </a:rPr>
              <a:t>(z)</a:t>
            </a:r>
            <a:br>
              <a:rPr lang="fr-FR" sz="2400" dirty="0">
                <a:solidFill>
                  <a:srgbClr val="080808"/>
                </a:solidFill>
                <a:effectLst/>
              </a:rPr>
            </a:br>
            <a:r>
              <a:rPr lang="fr-FR" sz="2400" i="1" dirty="0">
                <a:solidFill>
                  <a:srgbClr val="8C8C8C"/>
                </a:solidFill>
                <a:effectLst/>
              </a:rPr>
              <a:t># </a:t>
            </a:r>
            <a:r>
              <a:rPr lang="fr-FR" sz="2400" i="1" dirty="0" err="1">
                <a:solidFill>
                  <a:srgbClr val="8C8C8C"/>
                </a:solidFill>
                <a:effectLst/>
              </a:rPr>
              <a:t>tensor</a:t>
            </a:r>
            <a:r>
              <a:rPr lang="fr-FR" sz="2400" i="1" dirty="0">
                <a:solidFill>
                  <a:srgbClr val="8C8C8C"/>
                </a:solidFill>
                <a:effectLst/>
              </a:rPr>
              <a:t>(18., </a:t>
            </a:r>
            <a:r>
              <a:rPr lang="fr-FR" sz="2400" i="1" dirty="0" err="1">
                <a:solidFill>
                  <a:srgbClr val="8C8C8C"/>
                </a:solidFill>
                <a:effectLst/>
              </a:rPr>
              <a:t>grad_fn</a:t>
            </a:r>
            <a:r>
              <a:rPr lang="fr-FR" sz="2400" i="1" dirty="0">
                <a:solidFill>
                  <a:srgbClr val="8C8C8C"/>
                </a:solidFill>
                <a:effectLst/>
              </a:rPr>
              <a:t>=&lt;MeanBackward0&gt;)</a:t>
            </a:r>
            <a:endParaRPr lang="fr-FR" sz="2400" dirty="0">
              <a:solidFill>
                <a:srgbClr val="080808"/>
              </a:solidFill>
              <a:effectLst/>
            </a:endParaRPr>
          </a:p>
        </p:txBody>
      </p:sp>
    </p:spTree>
    <p:extLst>
      <p:ext uri="{BB962C8B-B14F-4D97-AF65-F5344CB8AC3E}">
        <p14:creationId xmlns:p14="http://schemas.microsoft.com/office/powerpoint/2010/main" val="269939929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B88DC-2C2E-B757-EB9F-36D8BCDA7DC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94E2E2C-69E7-5DA4-9D0C-DD3E61BAF731}"/>
              </a:ext>
            </a:extLst>
          </p:cNvPr>
          <p:cNvSpPr>
            <a:spLocks noGrp="1"/>
          </p:cNvSpPr>
          <p:nvPr>
            <p:ph type="title"/>
          </p:nvPr>
        </p:nvSpPr>
        <p:spPr/>
        <p:txBody>
          <a:bodyPr/>
          <a:lstStyle/>
          <a:p>
            <a:r>
              <a:rPr lang="en-GB" dirty="0"/>
              <a:t>Pytorch tutorial</a:t>
            </a:r>
            <a:br>
              <a:rPr lang="en-GB" dirty="0"/>
            </a:br>
            <a:r>
              <a:rPr lang="en-GB" sz="2800" b="1" dirty="0"/>
              <a:t>Neural Network – Backward pass</a:t>
            </a:r>
            <a:endParaRPr lang="en-GB" dirty="0"/>
          </a:p>
        </p:txBody>
      </p:sp>
      <p:sp>
        <p:nvSpPr>
          <p:cNvPr id="4" name="Espace réservé du pied de page 3">
            <a:extLst>
              <a:ext uri="{FF2B5EF4-FFF2-40B4-BE49-F238E27FC236}">
                <a16:creationId xmlns:a16="http://schemas.microsoft.com/office/drawing/2014/main" id="{455A466F-5524-32B4-2A76-053284645567}"/>
              </a:ext>
            </a:extLst>
          </p:cNvPr>
          <p:cNvSpPr>
            <a:spLocks noGrp="1"/>
          </p:cNvSpPr>
          <p:nvPr>
            <p:ph type="ftr" sz="quarter" idx="11"/>
          </p:nvPr>
        </p:nvSpPr>
        <p:spPr/>
        <p:txBody>
          <a:bodyPr/>
          <a:lstStyle/>
          <a:p>
            <a:r>
              <a:rPr lang="fr-FR"/>
              <a:t>Introduction to Neural Networks. Author: David Thébault</a:t>
            </a:r>
          </a:p>
        </p:txBody>
      </p:sp>
      <p:sp>
        <p:nvSpPr>
          <p:cNvPr id="6" name="ZoneTexte 5">
            <a:extLst>
              <a:ext uri="{FF2B5EF4-FFF2-40B4-BE49-F238E27FC236}">
                <a16:creationId xmlns:a16="http://schemas.microsoft.com/office/drawing/2014/main" id="{C6BE46DF-BD05-2ACC-959C-2D387C3E95B9}"/>
              </a:ext>
            </a:extLst>
          </p:cNvPr>
          <p:cNvSpPr txBox="1"/>
          <p:nvPr/>
        </p:nvSpPr>
        <p:spPr>
          <a:xfrm>
            <a:off x="977900" y="1690688"/>
            <a:ext cx="11099800" cy="4154984"/>
          </a:xfrm>
          <a:prstGeom prst="rect">
            <a:avLst/>
          </a:prstGeom>
          <a:noFill/>
        </p:spPr>
        <p:txBody>
          <a:bodyPr wrap="square">
            <a:spAutoFit/>
          </a:bodyPr>
          <a:lstStyle/>
          <a:p>
            <a:r>
              <a:rPr lang="fr-FR" sz="2400" dirty="0">
                <a:solidFill>
                  <a:srgbClr val="0033B3"/>
                </a:solidFill>
                <a:effectLst/>
              </a:rPr>
              <a:t>import </a:t>
            </a:r>
            <a:r>
              <a:rPr lang="fr-FR" sz="2400" dirty="0" err="1">
                <a:solidFill>
                  <a:srgbClr val="080808"/>
                </a:solidFill>
                <a:effectLst/>
              </a:rPr>
              <a:t>torch</a:t>
            </a:r>
            <a:endParaRPr lang="fr-FR" sz="2400" dirty="0">
              <a:solidFill>
                <a:srgbClr val="080808"/>
              </a:solidFill>
              <a:effectLst/>
            </a:endParaRPr>
          </a:p>
          <a:p>
            <a:endParaRPr lang="fr-FR" sz="2400" dirty="0">
              <a:solidFill>
                <a:srgbClr val="080808"/>
              </a:solidFill>
              <a:effectLst/>
            </a:endParaRPr>
          </a:p>
          <a:p>
            <a:r>
              <a:rPr lang="fr-FR" sz="2400" i="1" dirty="0">
                <a:solidFill>
                  <a:srgbClr val="8C8C8C"/>
                </a:solidFill>
                <a:effectLst/>
              </a:rPr>
              <a:t># The </a:t>
            </a:r>
            <a:r>
              <a:rPr lang="fr-FR" sz="2400" i="1" dirty="0" err="1">
                <a:solidFill>
                  <a:srgbClr val="8C8C8C"/>
                </a:solidFill>
                <a:effectLst/>
              </a:rPr>
              <a:t>next</a:t>
            </a:r>
            <a:r>
              <a:rPr lang="fr-FR" sz="2400" i="1" dirty="0">
                <a:solidFill>
                  <a:srgbClr val="8C8C8C"/>
                </a:solidFill>
                <a:effectLst/>
              </a:rPr>
              <a:t> command </a:t>
            </a:r>
            <a:r>
              <a:rPr lang="fr-FR" sz="2400" i="1" dirty="0" err="1">
                <a:solidFill>
                  <a:srgbClr val="8C8C8C"/>
                </a:solidFill>
                <a:effectLst/>
              </a:rPr>
              <a:t>works</a:t>
            </a:r>
            <a:r>
              <a:rPr lang="fr-FR" sz="2400" i="1" dirty="0">
                <a:solidFill>
                  <a:srgbClr val="8C8C8C"/>
                </a:solidFill>
                <a:effectLst/>
              </a:rPr>
              <a:t> </a:t>
            </a:r>
            <a:r>
              <a:rPr lang="fr-FR" sz="2400" i="1" dirty="0" err="1">
                <a:solidFill>
                  <a:srgbClr val="8C8C8C"/>
                </a:solidFill>
                <a:effectLst/>
              </a:rPr>
              <a:t>when</a:t>
            </a:r>
            <a:r>
              <a:rPr lang="fr-FR" sz="2400" i="1" dirty="0">
                <a:solidFill>
                  <a:srgbClr val="8C8C8C"/>
                </a:solidFill>
                <a:effectLst/>
              </a:rPr>
              <a:t> z </a:t>
            </a:r>
            <a:r>
              <a:rPr lang="fr-FR" sz="2400" i="1" dirty="0" err="1">
                <a:solidFill>
                  <a:srgbClr val="8C8C8C"/>
                </a:solidFill>
                <a:effectLst/>
              </a:rPr>
              <a:t>is</a:t>
            </a:r>
            <a:r>
              <a:rPr lang="fr-FR" sz="2400" i="1" dirty="0">
                <a:solidFill>
                  <a:srgbClr val="8C8C8C"/>
                </a:solidFill>
                <a:effectLst/>
              </a:rPr>
              <a:t> a </a:t>
            </a:r>
            <a:r>
              <a:rPr lang="fr-FR" sz="2400" i="1" dirty="0" err="1">
                <a:solidFill>
                  <a:srgbClr val="8C8C8C"/>
                </a:solidFill>
                <a:effectLst/>
              </a:rPr>
              <a:t>scalar</a:t>
            </a:r>
            <a:r>
              <a:rPr lang="fr-FR" sz="2400" i="1" dirty="0">
                <a:solidFill>
                  <a:srgbClr val="8C8C8C"/>
                </a:solidFill>
                <a:effectLst/>
              </a:rPr>
              <a:t> and </a:t>
            </a:r>
            <a:r>
              <a:rPr lang="fr-FR" sz="2400" i="1" dirty="0" err="1">
                <a:solidFill>
                  <a:srgbClr val="8C8C8C"/>
                </a:solidFill>
                <a:effectLst/>
              </a:rPr>
              <a:t>does</a:t>
            </a:r>
            <a:r>
              <a:rPr lang="fr-FR" sz="2400" i="1" dirty="0">
                <a:solidFill>
                  <a:srgbClr val="8C8C8C"/>
                </a:solidFill>
                <a:effectLst/>
              </a:rPr>
              <a:t>: </a:t>
            </a:r>
            <a:r>
              <a:rPr lang="fr-FR" sz="2400" i="1" dirty="0" err="1">
                <a:solidFill>
                  <a:srgbClr val="8C8C8C"/>
                </a:solidFill>
                <a:effectLst/>
              </a:rPr>
              <a:t>backward</a:t>
            </a:r>
            <a:r>
              <a:rPr lang="fr-FR" sz="2400" i="1" dirty="0">
                <a:solidFill>
                  <a:srgbClr val="8C8C8C"/>
                </a:solidFill>
                <a:effectLst/>
              </a:rPr>
              <a:t> propagation  i.e.</a:t>
            </a:r>
          </a:p>
          <a:p>
            <a:r>
              <a:rPr lang="fr-FR" sz="2400" i="1" dirty="0">
                <a:solidFill>
                  <a:srgbClr val="8C8C8C"/>
                </a:solidFill>
              </a:rPr>
              <a:t># - </a:t>
            </a:r>
            <a:r>
              <a:rPr lang="fr-FR" sz="2400" i="1" dirty="0">
                <a:solidFill>
                  <a:srgbClr val="8C8C8C"/>
                </a:solidFill>
                <a:effectLst/>
              </a:rPr>
              <a:t>gradients computations for </a:t>
            </a:r>
            <a:r>
              <a:rPr lang="fr-FR" sz="2400" i="1" dirty="0" err="1">
                <a:solidFill>
                  <a:srgbClr val="8C8C8C"/>
                </a:solidFill>
                <a:effectLst/>
              </a:rPr>
              <a:t>tensors</a:t>
            </a:r>
            <a:r>
              <a:rPr lang="fr-FR" sz="2400" i="1" dirty="0">
                <a:solidFill>
                  <a:srgbClr val="8C8C8C"/>
                </a:solidFill>
                <a:effectLst/>
              </a:rPr>
              <a:t> </a:t>
            </a:r>
            <a:r>
              <a:rPr lang="fr-FR" sz="2400" i="1" dirty="0" err="1">
                <a:solidFill>
                  <a:srgbClr val="8C8C8C"/>
                </a:solidFill>
                <a:effectLst/>
              </a:rPr>
              <a:t>with</a:t>
            </a:r>
            <a:r>
              <a:rPr lang="fr-FR" sz="2400" i="1" dirty="0">
                <a:solidFill>
                  <a:srgbClr val="8C8C8C"/>
                </a:solidFill>
                <a:effectLst/>
              </a:rPr>
              <a:t> </a:t>
            </a:r>
            <a:r>
              <a:rPr lang="fr-FR" sz="2400" i="1" dirty="0" err="1">
                <a:solidFill>
                  <a:srgbClr val="8C8C8C"/>
                </a:solidFill>
                <a:effectLst/>
              </a:rPr>
              <a:t>requires_grad</a:t>
            </a:r>
            <a:r>
              <a:rPr lang="fr-FR" sz="2400" i="1" dirty="0">
                <a:solidFill>
                  <a:srgbClr val="8C8C8C"/>
                </a:solidFill>
                <a:effectLst/>
              </a:rPr>
              <a:t>=</a:t>
            </a:r>
            <a:r>
              <a:rPr lang="fr-FR" sz="2400" i="1" dirty="0" err="1">
                <a:solidFill>
                  <a:srgbClr val="8C8C8C"/>
                </a:solidFill>
                <a:effectLst/>
              </a:rPr>
              <a:t>True</a:t>
            </a:r>
            <a:r>
              <a:rPr lang="fr-FR" sz="2400" i="1" dirty="0">
                <a:solidFill>
                  <a:srgbClr val="8C8C8C"/>
                </a:solidFill>
                <a:effectLst/>
              </a:rPr>
              <a:t>, </a:t>
            </a:r>
          </a:p>
          <a:p>
            <a:r>
              <a:rPr lang="fr-FR" sz="2400" i="1" dirty="0">
                <a:solidFill>
                  <a:srgbClr val="8C8C8C"/>
                </a:solidFill>
              </a:rPr>
              <a:t># - u</a:t>
            </a:r>
            <a:r>
              <a:rPr lang="fr-FR" sz="2400" i="1" dirty="0">
                <a:solidFill>
                  <a:srgbClr val="8C8C8C"/>
                </a:solidFill>
                <a:effectLst/>
              </a:rPr>
              <a:t>se </a:t>
            </a:r>
            <a:r>
              <a:rPr lang="fr-FR" sz="2400" i="1" dirty="0" err="1">
                <a:solidFill>
                  <a:srgbClr val="8C8C8C"/>
                </a:solidFill>
                <a:effectLst/>
              </a:rPr>
              <a:t>chain</a:t>
            </a:r>
            <a:r>
              <a:rPr lang="fr-FR" sz="2400" i="1" dirty="0">
                <a:solidFill>
                  <a:srgbClr val="8C8C8C"/>
                </a:solidFill>
                <a:effectLst/>
              </a:rPr>
              <a:t> </a:t>
            </a:r>
            <a:r>
              <a:rPr lang="fr-FR" sz="2400" i="1" dirty="0" err="1">
                <a:solidFill>
                  <a:srgbClr val="8C8C8C"/>
                </a:solidFill>
                <a:effectLst/>
              </a:rPr>
              <a:t>rule</a:t>
            </a:r>
            <a:r>
              <a:rPr lang="fr-FR" sz="2400" i="1" dirty="0">
                <a:solidFill>
                  <a:srgbClr val="8C8C8C"/>
                </a:solidFill>
                <a:effectLst/>
              </a:rPr>
              <a:t> and </a:t>
            </a:r>
            <a:r>
              <a:rPr lang="fr-FR" sz="2400" i="1" dirty="0" err="1">
                <a:solidFill>
                  <a:srgbClr val="8C8C8C"/>
                </a:solidFill>
                <a:effectLst/>
              </a:rPr>
              <a:t>element</a:t>
            </a:r>
            <a:r>
              <a:rPr lang="fr-FR" sz="2400" i="1" dirty="0" err="1">
                <a:solidFill>
                  <a:srgbClr val="8C8C8C"/>
                </a:solidFill>
              </a:rPr>
              <a:t>-wise</a:t>
            </a:r>
            <a:r>
              <a:rPr lang="fr-FR" sz="2400" i="1" dirty="0">
                <a:solidFill>
                  <a:srgbClr val="8C8C8C"/>
                </a:solidFill>
              </a:rPr>
              <a:t> </a:t>
            </a:r>
            <a:r>
              <a:rPr lang="fr-FR" sz="2400" i="1" dirty="0" err="1">
                <a:solidFill>
                  <a:srgbClr val="8C8C8C"/>
                </a:solidFill>
              </a:rPr>
              <a:t>differentiation</a:t>
            </a:r>
            <a:r>
              <a:rPr lang="fr-FR" sz="2400" i="1" dirty="0">
                <a:solidFill>
                  <a:srgbClr val="8C8C8C"/>
                </a:solidFill>
                <a:effectLst/>
              </a:rPr>
              <a:t>, </a:t>
            </a:r>
          </a:p>
          <a:p>
            <a:r>
              <a:rPr lang="fr-FR" sz="2400" i="1" dirty="0">
                <a:solidFill>
                  <a:srgbClr val="8C8C8C"/>
                </a:solidFill>
              </a:rPr>
              <a:t># - </a:t>
            </a:r>
            <a:r>
              <a:rPr lang="fr-FR" sz="2400" i="1" dirty="0">
                <a:solidFill>
                  <a:srgbClr val="8C8C8C"/>
                </a:solidFill>
                <a:effectLst/>
              </a:rPr>
              <a:t>store the gradients in </a:t>
            </a:r>
            <a:r>
              <a:rPr lang="fr-FR" sz="2400" i="1" dirty="0" err="1">
                <a:solidFill>
                  <a:srgbClr val="8C8C8C"/>
                </a:solidFill>
                <a:effectLst/>
              </a:rPr>
              <a:t>x.grad</a:t>
            </a:r>
            <a:r>
              <a:rPr lang="fr-FR" sz="2400" i="1" dirty="0">
                <a:solidFill>
                  <a:srgbClr val="8C8C8C"/>
                </a:solidFill>
                <a:effectLst/>
              </a:rPr>
              <a:t>.</a:t>
            </a:r>
            <a:br>
              <a:rPr lang="fr-FR" sz="2400" dirty="0">
                <a:solidFill>
                  <a:srgbClr val="080808"/>
                </a:solidFill>
                <a:effectLst/>
              </a:rPr>
            </a:br>
            <a:r>
              <a:rPr lang="fr-FR" sz="2400" dirty="0" err="1">
                <a:solidFill>
                  <a:srgbClr val="080808"/>
                </a:solidFill>
                <a:effectLst/>
              </a:rPr>
              <a:t>z.backward</a:t>
            </a:r>
            <a:r>
              <a:rPr lang="fr-FR" sz="2400" dirty="0">
                <a:solidFill>
                  <a:srgbClr val="080808"/>
                </a:solidFill>
                <a:effectLst/>
              </a:rPr>
              <a:t>()</a:t>
            </a:r>
            <a:endParaRPr lang="fr-FR" sz="2400" i="1" dirty="0">
              <a:solidFill>
                <a:srgbClr val="8C8C8C"/>
              </a:solidFill>
              <a:effectLst/>
            </a:endParaRPr>
          </a:p>
          <a:p>
            <a:endParaRPr lang="fr-FR" sz="2400" i="1" dirty="0">
              <a:solidFill>
                <a:srgbClr val="8C8C8C"/>
              </a:solidFill>
              <a:effectLst/>
            </a:endParaRPr>
          </a:p>
          <a:p>
            <a:r>
              <a:rPr lang="fr-FR" sz="2400" i="1" dirty="0">
                <a:solidFill>
                  <a:srgbClr val="8C8C8C"/>
                </a:solidFill>
                <a:effectLst/>
              </a:rPr>
              <a:t># gradients are </a:t>
            </a:r>
            <a:r>
              <a:rPr lang="fr-FR" sz="2400" i="1" dirty="0" err="1">
                <a:solidFill>
                  <a:srgbClr val="8C8C8C"/>
                </a:solidFill>
                <a:effectLst/>
              </a:rPr>
              <a:t>stored</a:t>
            </a:r>
            <a:r>
              <a:rPr lang="fr-FR" sz="2400" i="1" dirty="0">
                <a:solidFill>
                  <a:srgbClr val="8C8C8C"/>
                </a:solidFill>
                <a:effectLst/>
              </a:rPr>
              <a:t> in </a:t>
            </a:r>
            <a:r>
              <a:rPr lang="fr-FR" sz="2400" i="1" dirty="0" err="1">
                <a:solidFill>
                  <a:srgbClr val="8C8C8C"/>
                </a:solidFill>
                <a:effectLst/>
              </a:rPr>
              <a:t>x.grad</a:t>
            </a:r>
            <a:r>
              <a:rPr lang="fr-FR" sz="2400" i="1" dirty="0">
                <a:solidFill>
                  <a:srgbClr val="8C8C8C"/>
                </a:solidFill>
                <a:effectLst/>
              </a:rPr>
              <a:t> (dz/dx)</a:t>
            </a:r>
            <a:br>
              <a:rPr lang="fr-FR" sz="2400" dirty="0">
                <a:solidFill>
                  <a:srgbClr val="080808"/>
                </a:solidFill>
                <a:effectLst/>
              </a:rPr>
            </a:br>
            <a:r>
              <a:rPr lang="fr-FR" sz="2400" dirty="0">
                <a:solidFill>
                  <a:srgbClr val="000080"/>
                </a:solidFill>
                <a:effectLst/>
              </a:rPr>
              <a:t>print</a:t>
            </a:r>
            <a:r>
              <a:rPr lang="fr-FR" sz="2400" dirty="0">
                <a:solidFill>
                  <a:srgbClr val="080808"/>
                </a:solidFill>
                <a:effectLst/>
              </a:rPr>
              <a:t>(</a:t>
            </a:r>
            <a:r>
              <a:rPr lang="fr-FR" sz="2400" dirty="0" err="1">
                <a:solidFill>
                  <a:srgbClr val="067D17"/>
                </a:solidFill>
                <a:effectLst/>
              </a:rPr>
              <a:t>f"x.grad</a:t>
            </a:r>
            <a:r>
              <a:rPr lang="fr-FR" sz="2400" dirty="0">
                <a:solidFill>
                  <a:srgbClr val="067D17"/>
                </a:solidFill>
                <a:effectLst/>
              </a:rPr>
              <a:t>: </a:t>
            </a:r>
            <a:r>
              <a:rPr lang="fr-FR" sz="2400" dirty="0">
                <a:solidFill>
                  <a:srgbClr val="0037A6"/>
                </a:solidFill>
                <a:effectLst/>
              </a:rPr>
              <a:t>{</a:t>
            </a:r>
            <a:r>
              <a:rPr lang="fr-FR" sz="2400" dirty="0" err="1">
                <a:solidFill>
                  <a:srgbClr val="080808"/>
                </a:solidFill>
                <a:effectLst/>
              </a:rPr>
              <a:t>x.grad</a:t>
            </a:r>
            <a:r>
              <a:rPr lang="fr-FR" sz="2400" dirty="0">
                <a:solidFill>
                  <a:srgbClr val="0037A6"/>
                </a:solidFill>
                <a:effectLst/>
              </a:rPr>
              <a:t>}</a:t>
            </a:r>
            <a:r>
              <a:rPr lang="fr-FR" sz="2400" dirty="0">
                <a:solidFill>
                  <a:srgbClr val="067D17"/>
                </a:solidFill>
                <a:effectLst/>
              </a:rPr>
              <a:t>"</a:t>
            </a:r>
            <a:r>
              <a:rPr lang="fr-FR" sz="2400" dirty="0">
                <a:solidFill>
                  <a:srgbClr val="080808"/>
                </a:solidFill>
                <a:effectLst/>
              </a:rPr>
              <a:t>)</a:t>
            </a:r>
            <a:br>
              <a:rPr lang="fr-FR" sz="2400" dirty="0">
                <a:solidFill>
                  <a:srgbClr val="080808"/>
                </a:solidFill>
                <a:effectLst/>
              </a:rPr>
            </a:br>
            <a:r>
              <a:rPr lang="fr-FR" sz="2400" i="1" dirty="0">
                <a:solidFill>
                  <a:srgbClr val="8C8C8C"/>
                </a:solidFill>
                <a:effectLst/>
              </a:rPr>
              <a:t># </a:t>
            </a:r>
            <a:r>
              <a:rPr lang="fr-FR" sz="2400" i="1" dirty="0" err="1">
                <a:solidFill>
                  <a:srgbClr val="8C8C8C"/>
                </a:solidFill>
                <a:effectLst/>
              </a:rPr>
              <a:t>tensor</a:t>
            </a:r>
            <a:r>
              <a:rPr lang="fr-FR" sz="2400" i="1" dirty="0">
                <a:solidFill>
                  <a:srgbClr val="8C8C8C"/>
                </a:solidFill>
                <a:effectLst/>
              </a:rPr>
              <a:t>([2.4000, 2.4000, 2.4000, 2.4000, 2.4000])</a:t>
            </a:r>
            <a:endParaRPr lang="fr-FR" sz="2400" dirty="0">
              <a:solidFill>
                <a:srgbClr val="080808"/>
              </a:solidFill>
              <a:effectLst/>
            </a:endParaRPr>
          </a:p>
        </p:txBody>
      </p:sp>
    </p:spTree>
    <p:extLst>
      <p:ext uri="{BB962C8B-B14F-4D97-AF65-F5344CB8AC3E}">
        <p14:creationId xmlns:p14="http://schemas.microsoft.com/office/powerpoint/2010/main" val="2354534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7DAD6E-C6D3-0C30-0BE6-EDAC0A553650}"/>
              </a:ext>
            </a:extLst>
          </p:cNvPr>
          <p:cNvSpPr>
            <a:spLocks noGrp="1"/>
          </p:cNvSpPr>
          <p:nvPr>
            <p:ph type="title"/>
          </p:nvPr>
        </p:nvSpPr>
        <p:spPr/>
        <p:txBody>
          <a:bodyPr/>
          <a:lstStyle/>
          <a:p>
            <a:r>
              <a:rPr lang="en-GB" dirty="0"/>
              <a:t>Pytorch tutorial</a:t>
            </a:r>
            <a:br>
              <a:rPr lang="en-GB" dirty="0"/>
            </a:br>
            <a:r>
              <a:rPr lang="en-GB" sz="2800" b="1" dirty="0"/>
              <a:t>Neural Network – Backward pass</a:t>
            </a:r>
            <a:endParaRPr lang="en-GB" sz="2800" dirty="0"/>
          </a:p>
        </p:txBody>
      </p:sp>
      <p:sp>
        <p:nvSpPr>
          <p:cNvPr id="4" name="Espace réservé du pied de page 3">
            <a:extLst>
              <a:ext uri="{FF2B5EF4-FFF2-40B4-BE49-F238E27FC236}">
                <a16:creationId xmlns:a16="http://schemas.microsoft.com/office/drawing/2014/main" id="{0D3B8E18-B718-59BF-3876-B1CAAE3F58A6}"/>
              </a:ext>
            </a:extLst>
          </p:cNvPr>
          <p:cNvSpPr>
            <a:spLocks noGrp="1"/>
          </p:cNvSpPr>
          <p:nvPr>
            <p:ph type="ftr" sz="quarter" idx="11"/>
          </p:nvPr>
        </p:nvSpPr>
        <p:spPr/>
        <p:txBody>
          <a:bodyPr/>
          <a:lstStyle/>
          <a:p>
            <a:r>
              <a:rPr lang="fr-FR"/>
              <a:t>Introduction to Neural Networks. Author: David Thébault</a:t>
            </a:r>
          </a:p>
        </p:txBody>
      </p:sp>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01F90F18-F0EC-98E2-7A69-0D2E3EE9CFA8}"/>
                  </a:ext>
                </a:extLst>
              </p:cNvPr>
              <p:cNvSpPr txBox="1"/>
              <p:nvPr/>
            </p:nvSpPr>
            <p:spPr>
              <a:xfrm>
                <a:off x="977900" y="1690688"/>
                <a:ext cx="8178800" cy="4665662"/>
              </a:xfrm>
              <a:prstGeom prst="rect">
                <a:avLst/>
              </a:prstGeom>
              <a:noFill/>
            </p:spPr>
            <p:txBody>
              <a:bodyPr wrap="square" lIns="0" tIns="0" rIns="0" bIns="0" rtlCol="0">
                <a:noAutofit/>
              </a:bodyPr>
              <a:lstStyle/>
              <a:p>
                <a:r>
                  <a:rPr lang="en-GB" sz="1600" noProof="1">
                    <a:latin typeface="Cambria Math" panose="02040503050406030204" pitchFamily="18" charset="0"/>
                  </a:rPr>
                  <a:t>Mathematical formula with element-wise (_i) Pytorch derivative approach to demonstrate</a:t>
                </a:r>
              </a:p>
              <a:p>
                <a:endParaRPr lang="en-GB" sz="1600" noProof="1">
                  <a:latin typeface="Cambria Math" panose="02040503050406030204" pitchFamily="18" charset="0"/>
                </a:endParaRPr>
              </a:p>
              <a:p>
                <a:pPr/>
                <a14:m>
                  <m:oMathPara xmlns:m="http://schemas.openxmlformats.org/officeDocument/2006/math">
                    <m:oMathParaPr>
                      <m:jc m:val="center"/>
                    </m:oMathParaPr>
                    <m:oMath xmlns:m="http://schemas.openxmlformats.org/officeDocument/2006/math">
                      <m:f>
                        <m:fPr>
                          <m:ctrlPr>
                            <a:rPr lang="en-GB" sz="1600" i="1" smtClean="0">
                              <a:latin typeface="Cambria Math" panose="02040503050406030204" pitchFamily="18" charset="0"/>
                            </a:rPr>
                          </m:ctrlPr>
                        </m:fPr>
                        <m:num>
                          <m:r>
                            <a:rPr lang="en-GB" sz="1600" i="1" smtClean="0">
                              <a:latin typeface="Cambria Math" panose="02040503050406030204" pitchFamily="18" charset="0"/>
                            </a:rPr>
                            <m:t>𝑑</m:t>
                          </m:r>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𝑧</m:t>
                              </m:r>
                            </m:e>
                            <m:sub>
                              <m:r>
                                <a:rPr lang="en-GB" sz="1600" b="0" i="1" smtClean="0">
                                  <a:latin typeface="Cambria Math" panose="02040503050406030204" pitchFamily="18" charset="0"/>
                                </a:rPr>
                                <m:t>𝑚𝑒𝑎𝑛</m:t>
                              </m:r>
                            </m:sub>
                          </m:sSub>
                        </m:num>
                        <m:den>
                          <m:r>
                            <a:rPr lang="en-GB" sz="1600" i="1" smtClean="0">
                              <a:latin typeface="Cambria Math" panose="02040503050406030204" pitchFamily="18" charset="0"/>
                            </a:rPr>
                            <m:t>𝑑</m:t>
                          </m:r>
                          <m:r>
                            <a:rPr lang="en-GB" sz="1600" b="0" i="1" smtClean="0">
                              <a:latin typeface="Cambria Math" panose="02040503050406030204" pitchFamily="18" charset="0"/>
                            </a:rPr>
                            <m:t>𝑥</m:t>
                          </m:r>
                        </m:den>
                      </m:f>
                      <m:r>
                        <a:rPr lang="en-GB" sz="1600" b="0" i="1" smtClean="0">
                          <a:latin typeface="Cambria Math" panose="02040503050406030204" pitchFamily="18" charset="0"/>
                        </a:rPr>
                        <m:t>=(</m:t>
                      </m:r>
                      <m:r>
                        <a:rPr lang="en-GB" sz="1600" b="0" i="1" smtClean="0">
                          <a:latin typeface="Cambria Math" panose="02040503050406030204" pitchFamily="18" charset="0"/>
                          <a:ea typeface="Cambria Math" panose="02040503050406030204" pitchFamily="18" charset="0"/>
                        </a:rPr>
                        <m:t>2.4, 2.4, 2.4, 2.4, 2.4) </m:t>
                      </m:r>
                    </m:oMath>
                  </m:oMathPara>
                </a14:m>
                <a:endParaRPr lang="en-GB" sz="1600" noProof="1">
                  <a:latin typeface="Cambria Math" panose="02040503050406030204" pitchFamily="18" charset="0"/>
                </a:endParaRPr>
              </a:p>
              <a:p>
                <a:endParaRPr lang="en-GB" sz="1600" noProof="1">
                  <a:latin typeface="Cambria Math" panose="02040503050406030204" pitchFamily="18" charset="0"/>
                </a:endParaRPr>
              </a:p>
              <a:p>
                <a:r>
                  <a:rPr lang="en-GB" sz="1600" noProof="1">
                    <a:latin typeface="Cambria Math" panose="02040503050406030204" pitchFamily="18" charset="0"/>
                  </a:rPr>
                  <a:t>with </a:t>
                </a:r>
                <a:r>
                  <a:rPr lang="en-GB" sz="1600" noProof="1"/>
                  <a:t>the </a:t>
                </a:r>
                <a:r>
                  <a:rPr lang="en-GB" sz="1600" dirty="0"/>
                  <a:t>chain rule</a:t>
                </a:r>
                <a:r>
                  <a:rPr lang="en-GB" sz="1600" noProof="1">
                    <a:latin typeface="Cambria Math" panose="02040503050406030204" pitchFamily="18" charset="0"/>
                  </a:rPr>
                  <a:t>:</a:t>
                </a:r>
              </a:p>
              <a:p>
                <a:endParaRPr lang="en-GB" sz="14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f>
                        <m:fPr>
                          <m:ctrlPr>
                            <a:rPr lang="en-GB" sz="1400" i="1" smtClean="0">
                              <a:latin typeface="Cambria Math" panose="02040503050406030204" pitchFamily="18" charset="0"/>
                            </a:rPr>
                          </m:ctrlPr>
                        </m:fPr>
                        <m:num>
                          <m:r>
                            <a:rPr lang="en-GB" sz="1400" i="1" smtClean="0">
                              <a:latin typeface="Cambria Math" panose="02040503050406030204" pitchFamily="18" charset="0"/>
                            </a:rPr>
                            <m:t>𝑑</m:t>
                          </m:r>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𝑧</m:t>
                              </m:r>
                            </m:e>
                            <m:sub>
                              <m:r>
                                <a:rPr lang="en-GB" sz="1400" b="0" i="1" smtClean="0">
                                  <a:latin typeface="Cambria Math" panose="02040503050406030204" pitchFamily="18" charset="0"/>
                                </a:rPr>
                                <m:t>𝑚𝑒𝑎𝑛</m:t>
                              </m:r>
                            </m:sub>
                          </m:sSub>
                        </m:num>
                        <m:den>
                          <m:r>
                            <a:rPr lang="en-GB" sz="1400" i="1" smtClean="0">
                              <a:latin typeface="Cambria Math" panose="02040503050406030204" pitchFamily="18" charset="0"/>
                            </a:rPr>
                            <m:t>𝑑</m:t>
                          </m:r>
                          <m:sSub>
                            <m:sSubPr>
                              <m:ctrlPr>
                                <a:rPr lang="en-GB" sz="1400" b="0" i="1" smtClean="0">
                                  <a:latin typeface="Cambria Math" panose="02040503050406030204" pitchFamily="18" charset="0"/>
                                </a:rPr>
                              </m:ctrlPr>
                            </m:sSubPr>
                            <m:e>
                              <m:r>
                                <a:rPr lang="en-GB" sz="1400" i="1" smtClean="0">
                                  <a:latin typeface="Cambria Math" panose="02040503050406030204" pitchFamily="18" charset="0"/>
                                </a:rPr>
                                <m:t>𝑥</m:t>
                              </m:r>
                            </m:e>
                            <m:sub>
                              <m:r>
                                <a:rPr lang="en-GB" sz="1400" b="0" i="1" smtClean="0">
                                  <a:latin typeface="Cambria Math" panose="02040503050406030204" pitchFamily="18" charset="0"/>
                                </a:rPr>
                                <m:t>𝑖</m:t>
                              </m:r>
                            </m:sub>
                          </m:sSub>
                        </m:den>
                      </m:f>
                      <m:r>
                        <a:rPr lang="en-GB" sz="1400" b="0" i="1" smtClean="0">
                          <a:latin typeface="Cambria Math" panose="02040503050406030204" pitchFamily="18" charset="0"/>
                        </a:rPr>
                        <m:t>=</m:t>
                      </m:r>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𝑑</m:t>
                          </m:r>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𝑧</m:t>
                              </m:r>
                            </m:e>
                            <m:sub>
                              <m:r>
                                <a:rPr lang="en-GB" sz="1400" b="0" i="1" smtClean="0">
                                  <a:latin typeface="Cambria Math" panose="02040503050406030204" pitchFamily="18" charset="0"/>
                                </a:rPr>
                                <m:t>𝑚𝑒𝑎𝑛</m:t>
                              </m:r>
                            </m:sub>
                          </m:sSub>
                        </m:num>
                        <m:den>
                          <m:r>
                            <a:rPr lang="en-GB" sz="1400" b="0" i="1" smtClean="0">
                              <a:latin typeface="Cambria Math" panose="02040503050406030204" pitchFamily="18" charset="0"/>
                            </a:rPr>
                            <m:t>𝑑</m:t>
                          </m:r>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𝑧</m:t>
                              </m:r>
                            </m:e>
                            <m:sub>
                              <m:r>
                                <a:rPr lang="en-GB" sz="1400" b="0" i="1" smtClean="0">
                                  <a:latin typeface="Cambria Math" panose="02040503050406030204" pitchFamily="18" charset="0"/>
                                </a:rPr>
                                <m:t>𝑖</m:t>
                              </m:r>
                            </m:sub>
                          </m:sSub>
                        </m:den>
                      </m:f>
                      <m:r>
                        <a:rPr lang="en-GB" sz="1400" b="0" i="1" smtClean="0">
                          <a:latin typeface="Cambria Math" panose="02040503050406030204" pitchFamily="18" charset="0"/>
                          <a:ea typeface="Cambria Math" panose="02040503050406030204" pitchFamily="18" charset="0"/>
                        </a:rPr>
                        <m:t>×</m:t>
                      </m:r>
                      <m:f>
                        <m:fPr>
                          <m:ctrlPr>
                            <a:rPr lang="en-GB" sz="1400" i="1" smtClean="0">
                              <a:latin typeface="Cambria Math" panose="02040503050406030204" pitchFamily="18" charset="0"/>
                            </a:rPr>
                          </m:ctrlPr>
                        </m:fPr>
                        <m:num>
                          <m:r>
                            <a:rPr lang="en-GB" sz="1400" i="1" smtClean="0">
                              <a:latin typeface="Cambria Math" panose="02040503050406030204" pitchFamily="18" charset="0"/>
                            </a:rPr>
                            <m:t>𝑑</m:t>
                          </m:r>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𝑧</m:t>
                              </m:r>
                            </m:e>
                            <m:sub>
                              <m:r>
                                <a:rPr lang="en-GB" sz="1400" b="0" i="1" smtClean="0">
                                  <a:latin typeface="Cambria Math" panose="02040503050406030204" pitchFamily="18" charset="0"/>
                                </a:rPr>
                                <m:t>𝑖</m:t>
                              </m:r>
                            </m:sub>
                          </m:sSub>
                        </m:num>
                        <m:den>
                          <m:r>
                            <a:rPr lang="en-GB" sz="1400" i="1" smtClean="0">
                              <a:latin typeface="Cambria Math" panose="02040503050406030204" pitchFamily="18" charset="0"/>
                            </a:rPr>
                            <m:t>𝑑</m:t>
                          </m:r>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𝑦</m:t>
                              </m:r>
                            </m:e>
                            <m:sub>
                              <m:r>
                                <a:rPr lang="en-GB" sz="1400" b="0" i="1" smtClean="0">
                                  <a:latin typeface="Cambria Math" panose="02040503050406030204" pitchFamily="18" charset="0"/>
                                </a:rPr>
                                <m:t>𝑖</m:t>
                              </m:r>
                            </m:sub>
                          </m:sSub>
                        </m:den>
                      </m:f>
                      <m:r>
                        <a:rPr lang="en-GB" sz="1400" i="1" smtClean="0">
                          <a:latin typeface="Cambria Math" panose="02040503050406030204" pitchFamily="18" charset="0"/>
                          <a:ea typeface="Cambria Math" panose="02040503050406030204" pitchFamily="18" charset="0"/>
                        </a:rPr>
                        <m:t>×</m:t>
                      </m:r>
                      <m:f>
                        <m:fPr>
                          <m:ctrlPr>
                            <a:rPr lang="en-GB" sz="1400" i="1" smtClean="0">
                              <a:latin typeface="Cambria Math" panose="02040503050406030204" pitchFamily="18" charset="0"/>
                            </a:rPr>
                          </m:ctrlPr>
                        </m:fPr>
                        <m:num>
                          <m:r>
                            <a:rPr lang="en-GB" sz="1400" i="1" smtClean="0">
                              <a:latin typeface="Cambria Math" panose="02040503050406030204" pitchFamily="18" charset="0"/>
                            </a:rPr>
                            <m:t>𝑑</m:t>
                          </m:r>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𝑦</m:t>
                              </m:r>
                            </m:e>
                            <m:sub>
                              <m:r>
                                <a:rPr lang="en-GB" sz="1400" b="0" i="1" smtClean="0">
                                  <a:latin typeface="Cambria Math" panose="02040503050406030204" pitchFamily="18" charset="0"/>
                                </a:rPr>
                                <m:t>𝑖</m:t>
                              </m:r>
                            </m:sub>
                          </m:sSub>
                        </m:num>
                        <m:den>
                          <m:r>
                            <a:rPr lang="en-GB" sz="1400" i="1" smtClean="0">
                              <a:latin typeface="Cambria Math" panose="02040503050406030204" pitchFamily="18" charset="0"/>
                            </a:rPr>
                            <m:t>𝑑</m:t>
                          </m:r>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𝑥</m:t>
                              </m:r>
                            </m:e>
                            <m:sub>
                              <m:r>
                                <a:rPr lang="en-GB" sz="1400" b="0" i="1" smtClean="0">
                                  <a:latin typeface="Cambria Math" panose="02040503050406030204" pitchFamily="18" charset="0"/>
                                </a:rPr>
                                <m:t>𝑖</m:t>
                              </m:r>
                            </m:sub>
                          </m:sSub>
                        </m:den>
                      </m:f>
                    </m:oMath>
                  </m:oMathPara>
                </a14:m>
                <a:endParaRPr lang="en-GB" sz="1400" dirty="0"/>
              </a:p>
              <a:p>
                <a:pPr/>
                <a14:m>
                  <m:oMathPara xmlns:m="http://schemas.openxmlformats.org/officeDocument/2006/math">
                    <m:oMathParaPr>
                      <m:jc m:val="left"/>
                    </m:oMathParaPr>
                    <m:oMath xmlns:m="http://schemas.openxmlformats.org/officeDocument/2006/math">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𝑑</m:t>
                          </m:r>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𝑧</m:t>
                              </m:r>
                            </m:e>
                            <m:sub>
                              <m:r>
                                <a:rPr lang="en-GB" sz="1400" b="0" i="1" smtClean="0">
                                  <a:latin typeface="Cambria Math" panose="02040503050406030204" pitchFamily="18" charset="0"/>
                                </a:rPr>
                                <m:t>𝑚𝑒𝑎𝑛</m:t>
                              </m:r>
                            </m:sub>
                          </m:sSub>
                        </m:num>
                        <m:den>
                          <m:r>
                            <a:rPr lang="en-GB" sz="1400" b="0" i="1" smtClean="0">
                              <a:latin typeface="Cambria Math" panose="02040503050406030204" pitchFamily="18" charset="0"/>
                            </a:rPr>
                            <m:t>𝑑</m:t>
                          </m:r>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𝑧</m:t>
                              </m:r>
                            </m:e>
                            <m:sub>
                              <m:r>
                                <a:rPr lang="en-GB" sz="1400" b="0" i="1" smtClean="0">
                                  <a:latin typeface="Cambria Math" panose="02040503050406030204" pitchFamily="18" charset="0"/>
                                </a:rPr>
                                <m:t>𝑖</m:t>
                              </m:r>
                            </m:sub>
                          </m:sSub>
                        </m:den>
                      </m:f>
                      <m:r>
                        <a:rPr lang="en-GB" sz="1400" b="0" i="1" smtClean="0">
                          <a:latin typeface="Cambria Math" panose="02040503050406030204" pitchFamily="18" charset="0"/>
                        </a:rPr>
                        <m:t>=</m:t>
                      </m:r>
                      <m:f>
                        <m:fPr>
                          <m:ctrlPr>
                            <a:rPr lang="en-GB" sz="1400" i="1" smtClean="0">
                              <a:latin typeface="Cambria Math" panose="02040503050406030204" pitchFamily="18" charset="0"/>
                            </a:rPr>
                          </m:ctrlPr>
                        </m:fPr>
                        <m:num>
                          <m:r>
                            <a:rPr lang="en-GB" sz="1400" i="1" smtClean="0">
                              <a:latin typeface="Cambria Math" panose="02040503050406030204" pitchFamily="18" charset="0"/>
                            </a:rPr>
                            <m:t>𝑑</m:t>
                          </m:r>
                          <m:r>
                            <a:rPr lang="en-GB" sz="1400" b="0" i="1" smtClean="0">
                              <a:latin typeface="Cambria Math" panose="02040503050406030204" pitchFamily="18" charset="0"/>
                            </a:rPr>
                            <m:t>(</m:t>
                          </m:r>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1</m:t>
                              </m:r>
                            </m:num>
                            <m:den>
                              <m:r>
                                <a:rPr lang="en-GB" sz="1400" b="0" i="1" smtClean="0">
                                  <a:latin typeface="Cambria Math" panose="02040503050406030204" pitchFamily="18" charset="0"/>
                                </a:rPr>
                                <m:t>5</m:t>
                              </m:r>
                            </m:den>
                          </m:f>
                          <m:nary>
                            <m:naryPr>
                              <m:chr m:val="∑"/>
                              <m:subHide m:val="on"/>
                              <m:supHide m:val="on"/>
                              <m:ctrlPr>
                                <a:rPr lang="en-GB" sz="1400" b="0" i="1" smtClean="0">
                                  <a:latin typeface="Cambria Math" panose="02040503050406030204" pitchFamily="18" charset="0"/>
                                </a:rPr>
                              </m:ctrlPr>
                            </m:naryPr>
                            <m:sub/>
                            <m:sup/>
                            <m:e>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𝑧</m:t>
                                  </m:r>
                                </m:e>
                                <m:sub>
                                  <m:r>
                                    <a:rPr lang="en-GB" sz="1400" b="0" i="1" smtClean="0">
                                      <a:latin typeface="Cambria Math" panose="02040503050406030204" pitchFamily="18" charset="0"/>
                                    </a:rPr>
                                    <m:t>𝑖</m:t>
                                  </m:r>
                                </m:sub>
                              </m:sSub>
                            </m:e>
                          </m:nary>
                          <m:r>
                            <a:rPr lang="en-GB" sz="1400" b="0" i="1" smtClean="0">
                              <a:latin typeface="Cambria Math" panose="02040503050406030204" pitchFamily="18" charset="0"/>
                            </a:rPr>
                            <m:t>)</m:t>
                          </m:r>
                        </m:num>
                        <m:den>
                          <m:r>
                            <a:rPr lang="en-GB" sz="1400" i="1" smtClean="0">
                              <a:latin typeface="Cambria Math" panose="02040503050406030204" pitchFamily="18" charset="0"/>
                            </a:rPr>
                            <m:t>𝑑</m:t>
                          </m:r>
                          <m:sSub>
                            <m:sSubPr>
                              <m:ctrlPr>
                                <a:rPr lang="en-GB" sz="1400" b="0" i="1" smtClean="0">
                                  <a:latin typeface="Cambria Math" panose="02040503050406030204" pitchFamily="18" charset="0"/>
                                </a:rPr>
                              </m:ctrlPr>
                            </m:sSubPr>
                            <m:e>
                              <m:r>
                                <a:rPr lang="en-GB" sz="1400" i="1" smtClean="0">
                                  <a:latin typeface="Cambria Math" panose="02040503050406030204" pitchFamily="18" charset="0"/>
                                </a:rPr>
                                <m:t>𝑧</m:t>
                              </m:r>
                            </m:e>
                            <m:sub>
                              <m:r>
                                <a:rPr lang="en-GB" sz="1400" b="0" i="1" smtClean="0">
                                  <a:latin typeface="Cambria Math" panose="02040503050406030204" pitchFamily="18" charset="0"/>
                                </a:rPr>
                                <m:t>𝑖</m:t>
                              </m:r>
                            </m:sub>
                          </m:sSub>
                        </m:den>
                      </m:f>
                      <m:r>
                        <a:rPr lang="en-GB" sz="1400" b="0" i="1" smtClean="0">
                          <a:latin typeface="Cambria Math" panose="02040503050406030204" pitchFamily="18" charset="0"/>
                        </a:rPr>
                        <m:t>=</m:t>
                      </m:r>
                      <m:f>
                        <m:fPr>
                          <m:ctrlPr>
                            <a:rPr lang="en-GB" sz="1400" i="1" smtClean="0">
                              <a:latin typeface="Cambria Math" panose="02040503050406030204" pitchFamily="18" charset="0"/>
                            </a:rPr>
                          </m:ctrlPr>
                        </m:fPr>
                        <m:num>
                          <m:r>
                            <a:rPr lang="en-GB" sz="1400" i="1" smtClean="0">
                              <a:latin typeface="Cambria Math" panose="02040503050406030204" pitchFamily="18" charset="0"/>
                            </a:rPr>
                            <m:t>1</m:t>
                          </m:r>
                        </m:num>
                        <m:den>
                          <m:r>
                            <a:rPr lang="en-GB" sz="1400" i="1" smtClean="0">
                              <a:latin typeface="Cambria Math" panose="02040503050406030204" pitchFamily="18" charset="0"/>
                            </a:rPr>
                            <m:t>5</m:t>
                          </m:r>
                        </m:den>
                      </m:f>
                      <m:r>
                        <a:rPr lang="en-GB" sz="1400" i="1" smtClean="0">
                          <a:latin typeface="Cambria Math" panose="02040503050406030204" pitchFamily="18" charset="0"/>
                          <a:ea typeface="Cambria Math" panose="02040503050406030204" pitchFamily="18" charset="0"/>
                        </a:rPr>
                        <m:t>×</m:t>
                      </m:r>
                      <m:sSub>
                        <m:sSubPr>
                          <m:ctrlPr>
                            <a:rPr lang="en-GB" sz="1400" b="0" i="1" smtClean="0">
                              <a:latin typeface="Cambria Math" panose="02040503050406030204" pitchFamily="18" charset="0"/>
                              <a:ea typeface="Cambria Math" panose="02040503050406030204" pitchFamily="18" charset="0"/>
                            </a:rPr>
                          </m:ctrlPr>
                        </m:sSubPr>
                        <m:e>
                          <m:r>
                            <a:rPr lang="en-GB" sz="1400" b="0" i="1" smtClean="0">
                              <a:latin typeface="Cambria Math" panose="02040503050406030204" pitchFamily="18" charset="0"/>
                              <a:ea typeface="Cambria Math" panose="02040503050406030204" pitchFamily="18" charset="0"/>
                            </a:rPr>
                            <m:t>1</m:t>
                          </m:r>
                        </m:e>
                        <m:sub>
                          <m:d>
                            <m:dPr>
                              <m:begChr m:val="{"/>
                              <m:endChr m:val="}"/>
                              <m:ctrlPr>
                                <a:rPr lang="en-GB" sz="1400" b="0" i="1" smtClean="0">
                                  <a:latin typeface="Cambria Math" panose="02040503050406030204" pitchFamily="18" charset="0"/>
                                  <a:ea typeface="Cambria Math" panose="02040503050406030204" pitchFamily="18" charset="0"/>
                                </a:rPr>
                              </m:ctrlPr>
                            </m:dPr>
                            <m:e>
                              <m:sSub>
                                <m:sSubPr>
                                  <m:ctrlPr>
                                    <a:rPr lang="en-GB" sz="1400" b="0" i="1" smtClean="0">
                                      <a:latin typeface="Cambria Math" panose="02040503050406030204" pitchFamily="18" charset="0"/>
                                      <a:ea typeface="Cambria Math" panose="02040503050406030204" pitchFamily="18" charset="0"/>
                                    </a:rPr>
                                  </m:ctrlPr>
                                </m:sSubPr>
                                <m:e>
                                  <m:r>
                                    <a:rPr lang="en-GB" sz="1400" b="0" i="1" smtClean="0">
                                      <a:latin typeface="Cambria Math" panose="02040503050406030204" pitchFamily="18" charset="0"/>
                                      <a:ea typeface="Cambria Math" panose="02040503050406030204" pitchFamily="18" charset="0"/>
                                    </a:rPr>
                                    <m:t>𝑧</m:t>
                                  </m:r>
                                </m:e>
                                <m:sub>
                                  <m:r>
                                    <a:rPr lang="en-GB" sz="1400" b="0" i="1" smtClean="0">
                                      <a:latin typeface="Cambria Math" panose="02040503050406030204" pitchFamily="18" charset="0"/>
                                      <a:ea typeface="Cambria Math" panose="02040503050406030204" pitchFamily="18" charset="0"/>
                                    </a:rPr>
                                    <m:t>𝑖</m:t>
                                  </m:r>
                                </m:sub>
                              </m:sSub>
                            </m:e>
                          </m:d>
                        </m:sub>
                      </m:sSub>
                      <m:r>
                        <a:rPr lang="en-GB" sz="1400" b="0" i="1" smtClean="0">
                          <a:latin typeface="Cambria Math" panose="02040503050406030204" pitchFamily="18" charset="0"/>
                          <a:ea typeface="Cambria Math" panose="02040503050406030204" pitchFamily="18" charset="0"/>
                        </a:rPr>
                        <m:t>=</m:t>
                      </m:r>
                      <m:f>
                        <m:fPr>
                          <m:ctrlPr>
                            <a:rPr lang="en-GB" sz="1400" b="0" i="1" smtClean="0">
                              <a:latin typeface="Cambria Math" panose="02040503050406030204" pitchFamily="18" charset="0"/>
                              <a:ea typeface="Cambria Math" panose="02040503050406030204" pitchFamily="18" charset="0"/>
                            </a:rPr>
                          </m:ctrlPr>
                        </m:fPr>
                        <m:num>
                          <m:r>
                            <a:rPr lang="en-GB" sz="1400" b="0" i="1" smtClean="0">
                              <a:latin typeface="Cambria Math" panose="02040503050406030204" pitchFamily="18" charset="0"/>
                              <a:ea typeface="Cambria Math" panose="02040503050406030204" pitchFamily="18" charset="0"/>
                            </a:rPr>
                            <m:t>1</m:t>
                          </m:r>
                        </m:num>
                        <m:den>
                          <m:r>
                            <a:rPr lang="en-GB" sz="1400" b="0" i="1" smtClean="0">
                              <a:latin typeface="Cambria Math" panose="02040503050406030204" pitchFamily="18" charset="0"/>
                              <a:ea typeface="Cambria Math" panose="02040503050406030204" pitchFamily="18" charset="0"/>
                            </a:rPr>
                            <m:t>5</m:t>
                          </m:r>
                        </m:den>
                      </m:f>
                    </m:oMath>
                  </m:oMathPara>
                </a14:m>
                <a:endParaRPr lang="en-GB" sz="1400" dirty="0"/>
              </a:p>
              <a:p>
                <a:endParaRPr lang="en-GB" sz="1400" dirty="0"/>
              </a:p>
              <a:p>
                <a:pPr/>
                <a14:m>
                  <m:oMathPara xmlns:m="http://schemas.openxmlformats.org/officeDocument/2006/math">
                    <m:oMathParaPr>
                      <m:jc m:val="left"/>
                    </m:oMathParaPr>
                    <m:oMath xmlns:m="http://schemas.openxmlformats.org/officeDocument/2006/math">
                      <m:f>
                        <m:fPr>
                          <m:ctrlPr>
                            <a:rPr lang="en-GB" sz="1400" i="1" smtClean="0">
                              <a:latin typeface="Cambria Math" panose="02040503050406030204" pitchFamily="18" charset="0"/>
                            </a:rPr>
                          </m:ctrlPr>
                        </m:fPr>
                        <m:num>
                          <m:r>
                            <a:rPr lang="en-GB" sz="1400" i="1" smtClean="0">
                              <a:latin typeface="Cambria Math" panose="02040503050406030204" pitchFamily="18" charset="0"/>
                            </a:rPr>
                            <m:t>𝑑</m:t>
                          </m:r>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𝑧</m:t>
                              </m:r>
                            </m:e>
                            <m:sub>
                              <m:r>
                                <a:rPr lang="en-GB" sz="1400" b="0" i="1" smtClean="0">
                                  <a:latin typeface="Cambria Math" panose="02040503050406030204" pitchFamily="18" charset="0"/>
                                </a:rPr>
                                <m:t>𝑖</m:t>
                              </m:r>
                            </m:sub>
                          </m:sSub>
                        </m:num>
                        <m:den>
                          <m:r>
                            <a:rPr lang="en-GB" sz="1400" i="1" smtClean="0">
                              <a:latin typeface="Cambria Math" panose="02040503050406030204" pitchFamily="18" charset="0"/>
                            </a:rPr>
                            <m:t>𝑑</m:t>
                          </m:r>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𝑦</m:t>
                              </m:r>
                            </m:e>
                            <m:sub>
                              <m:r>
                                <a:rPr lang="en-GB" sz="1400" b="0" i="1" smtClean="0">
                                  <a:latin typeface="Cambria Math" panose="02040503050406030204" pitchFamily="18" charset="0"/>
                                </a:rPr>
                                <m:t>𝑖</m:t>
                              </m:r>
                            </m:sub>
                          </m:sSub>
                        </m:den>
                      </m:f>
                      <m:r>
                        <a:rPr lang="en-GB" sz="1400" b="0" i="1" smtClean="0">
                          <a:latin typeface="Cambria Math" panose="02040503050406030204" pitchFamily="18" charset="0"/>
                        </a:rPr>
                        <m:t>=</m:t>
                      </m:r>
                      <m:f>
                        <m:fPr>
                          <m:ctrlPr>
                            <a:rPr lang="en-GB" sz="1400" i="1" smtClean="0">
                              <a:latin typeface="Cambria Math" panose="02040503050406030204" pitchFamily="18" charset="0"/>
                            </a:rPr>
                          </m:ctrlPr>
                        </m:fPr>
                        <m:num>
                          <m:r>
                            <a:rPr lang="en-GB" sz="1400" i="1" smtClean="0">
                              <a:latin typeface="Cambria Math" panose="02040503050406030204" pitchFamily="18" charset="0"/>
                            </a:rPr>
                            <m:t>𝑑</m:t>
                          </m:r>
                          <m:r>
                            <a:rPr lang="en-GB" sz="1400" b="0" i="1" smtClean="0">
                              <a:latin typeface="Cambria Math" panose="02040503050406030204" pitchFamily="18" charset="0"/>
                            </a:rPr>
                            <m:t>(2</m:t>
                          </m:r>
                          <m:sSubSup>
                            <m:sSubSupPr>
                              <m:ctrlPr>
                                <a:rPr lang="en-GB" sz="1400" b="0" i="1" smtClean="0">
                                  <a:latin typeface="Cambria Math" panose="02040503050406030204" pitchFamily="18" charset="0"/>
                                </a:rPr>
                              </m:ctrlPr>
                            </m:sSubSupPr>
                            <m:e>
                              <m:r>
                                <a:rPr lang="en-GB" sz="1400" b="0" i="1" smtClean="0">
                                  <a:latin typeface="Cambria Math" panose="02040503050406030204" pitchFamily="18" charset="0"/>
                                </a:rPr>
                                <m:t>𝑦</m:t>
                              </m:r>
                            </m:e>
                            <m:sub>
                              <m:r>
                                <a:rPr lang="en-GB" sz="1400" b="0" i="1" smtClean="0">
                                  <a:latin typeface="Cambria Math" panose="02040503050406030204" pitchFamily="18" charset="0"/>
                                </a:rPr>
                                <m:t>𝑖</m:t>
                              </m:r>
                            </m:sub>
                            <m:sup>
                              <m:r>
                                <a:rPr lang="en-GB" sz="1400" b="0" i="1" smtClean="0">
                                  <a:latin typeface="Cambria Math" panose="02040503050406030204" pitchFamily="18" charset="0"/>
                                </a:rPr>
                                <m:t>2</m:t>
                              </m:r>
                            </m:sup>
                          </m:sSubSup>
                          <m:r>
                            <a:rPr lang="en-GB" sz="1400" b="0" i="1" smtClean="0">
                              <a:latin typeface="Cambria Math" panose="02040503050406030204" pitchFamily="18" charset="0"/>
                            </a:rPr>
                            <m:t>)</m:t>
                          </m:r>
                        </m:num>
                        <m:den>
                          <m:r>
                            <a:rPr lang="en-GB" sz="1400" i="1" smtClean="0">
                              <a:latin typeface="Cambria Math" panose="02040503050406030204" pitchFamily="18" charset="0"/>
                            </a:rPr>
                            <m:t>𝑑</m:t>
                          </m:r>
                          <m:sSub>
                            <m:sSubPr>
                              <m:ctrlPr>
                                <a:rPr lang="en-GB" sz="1400" i="1" smtClean="0">
                                  <a:latin typeface="Cambria Math" panose="02040503050406030204" pitchFamily="18" charset="0"/>
                                </a:rPr>
                              </m:ctrlPr>
                            </m:sSubPr>
                            <m:e>
                              <m:r>
                                <a:rPr lang="en-GB" sz="1400" i="1" smtClean="0">
                                  <a:latin typeface="Cambria Math" panose="02040503050406030204" pitchFamily="18" charset="0"/>
                                </a:rPr>
                                <m:t>𝑦</m:t>
                              </m:r>
                            </m:e>
                            <m:sub>
                              <m:r>
                                <a:rPr lang="en-GB" sz="1400" i="1" smtClean="0">
                                  <a:latin typeface="Cambria Math" panose="02040503050406030204" pitchFamily="18" charset="0"/>
                                </a:rPr>
                                <m:t>𝑖</m:t>
                              </m:r>
                            </m:sub>
                          </m:sSub>
                        </m:den>
                      </m:f>
                      <m:r>
                        <a:rPr lang="en-GB" sz="1400" b="0" i="1" smtClean="0">
                          <a:latin typeface="Cambria Math" panose="02040503050406030204" pitchFamily="18" charset="0"/>
                        </a:rPr>
                        <m:t>=4</m:t>
                      </m:r>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𝑦</m:t>
                          </m:r>
                        </m:e>
                        <m:sub>
                          <m:r>
                            <a:rPr lang="en-GB" sz="1400" b="0" i="1" smtClean="0">
                              <a:latin typeface="Cambria Math" panose="02040503050406030204" pitchFamily="18" charset="0"/>
                            </a:rPr>
                            <m:t>𝑖</m:t>
                          </m:r>
                        </m:sub>
                      </m:sSub>
                      <m:r>
                        <a:rPr lang="en-GB" sz="1400" b="0" i="1" smtClean="0">
                          <a:latin typeface="Cambria Math" panose="02040503050406030204" pitchFamily="18" charset="0"/>
                        </a:rPr>
                        <m:t>=4</m:t>
                      </m:r>
                      <m:r>
                        <a:rPr lang="en-GB" sz="1400" i="1" smtClean="0">
                          <a:latin typeface="Cambria Math" panose="02040503050406030204" pitchFamily="18" charset="0"/>
                          <a:ea typeface="Cambria Math" panose="02040503050406030204" pitchFamily="18" charset="0"/>
                        </a:rPr>
                        <m:t>×</m:t>
                      </m:r>
                      <m:r>
                        <a:rPr lang="en-GB" sz="1400" b="0" i="1" smtClean="0">
                          <a:latin typeface="Cambria Math" panose="02040503050406030204" pitchFamily="18" charset="0"/>
                          <a:ea typeface="Cambria Math" panose="02040503050406030204" pitchFamily="18" charset="0"/>
                        </a:rPr>
                        <m:t>3=12</m:t>
                      </m:r>
                    </m:oMath>
                  </m:oMathPara>
                </a14:m>
                <a:endParaRPr lang="en-GB" sz="1400" dirty="0"/>
              </a:p>
              <a:p>
                <a:endParaRPr lang="en-GB" sz="1400" dirty="0"/>
              </a:p>
              <a:p>
                <a:pPr/>
                <a14:m>
                  <m:oMathPara xmlns:m="http://schemas.openxmlformats.org/officeDocument/2006/math">
                    <m:oMathParaPr>
                      <m:jc m:val="left"/>
                    </m:oMathParaPr>
                    <m:oMath xmlns:m="http://schemas.openxmlformats.org/officeDocument/2006/math">
                      <m:f>
                        <m:fPr>
                          <m:ctrlPr>
                            <a:rPr lang="en-GB" sz="1400" i="1" smtClean="0">
                              <a:latin typeface="Cambria Math" panose="02040503050406030204" pitchFamily="18" charset="0"/>
                            </a:rPr>
                          </m:ctrlPr>
                        </m:fPr>
                        <m:num>
                          <m:r>
                            <a:rPr lang="en-GB" sz="1400" i="1" smtClean="0">
                              <a:latin typeface="Cambria Math" panose="02040503050406030204" pitchFamily="18" charset="0"/>
                            </a:rPr>
                            <m:t>𝑑</m:t>
                          </m:r>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𝑦</m:t>
                              </m:r>
                            </m:e>
                            <m:sub>
                              <m:r>
                                <a:rPr lang="en-GB" sz="1400" b="0" i="1" smtClean="0">
                                  <a:latin typeface="Cambria Math" panose="02040503050406030204" pitchFamily="18" charset="0"/>
                                </a:rPr>
                                <m:t>𝑖</m:t>
                              </m:r>
                            </m:sub>
                          </m:sSub>
                        </m:num>
                        <m:den>
                          <m:r>
                            <a:rPr lang="en-GB" sz="1400" i="1" smtClean="0">
                              <a:latin typeface="Cambria Math" panose="02040503050406030204" pitchFamily="18" charset="0"/>
                            </a:rPr>
                            <m:t>𝑑</m:t>
                          </m:r>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𝑥</m:t>
                              </m:r>
                            </m:e>
                            <m:sub>
                              <m:r>
                                <a:rPr lang="en-GB" sz="1400" b="0" i="1" smtClean="0">
                                  <a:latin typeface="Cambria Math" panose="02040503050406030204" pitchFamily="18" charset="0"/>
                                </a:rPr>
                                <m:t>𝑖</m:t>
                              </m:r>
                            </m:sub>
                          </m:sSub>
                        </m:den>
                      </m:f>
                      <m:r>
                        <a:rPr lang="en-GB" sz="1400" b="0" i="1" smtClean="0">
                          <a:latin typeface="Cambria Math" panose="02040503050406030204" pitchFamily="18" charset="0"/>
                        </a:rPr>
                        <m:t>=</m:t>
                      </m:r>
                      <m:f>
                        <m:fPr>
                          <m:ctrlPr>
                            <a:rPr lang="en-GB" sz="1400" i="1" smtClean="0">
                              <a:latin typeface="Cambria Math" panose="02040503050406030204" pitchFamily="18" charset="0"/>
                            </a:rPr>
                          </m:ctrlPr>
                        </m:fPr>
                        <m:num>
                          <m:r>
                            <a:rPr lang="en-GB" sz="1400" i="1" smtClean="0">
                              <a:latin typeface="Cambria Math" panose="02040503050406030204" pitchFamily="18" charset="0"/>
                            </a:rPr>
                            <m:t>𝑑</m:t>
                          </m:r>
                          <m:r>
                            <a:rPr lang="en-GB" sz="1400" b="0" i="1" smtClean="0">
                              <a:latin typeface="Cambria Math" panose="02040503050406030204" pitchFamily="18" charset="0"/>
                            </a:rPr>
                            <m:t>(</m:t>
                          </m:r>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𝑥</m:t>
                              </m:r>
                            </m:e>
                            <m:sub>
                              <m:r>
                                <a:rPr lang="en-GB" sz="1400" b="0" i="1" smtClean="0">
                                  <a:latin typeface="Cambria Math" panose="02040503050406030204" pitchFamily="18" charset="0"/>
                                </a:rPr>
                                <m:t>𝑖</m:t>
                              </m:r>
                            </m:sub>
                          </m:sSub>
                          <m:r>
                            <a:rPr lang="en-GB" sz="1400" b="0" i="1" smtClean="0">
                              <a:latin typeface="Cambria Math" panose="02040503050406030204" pitchFamily="18" charset="0"/>
                            </a:rPr>
                            <m:t>+2)</m:t>
                          </m:r>
                        </m:num>
                        <m:den>
                          <m:r>
                            <a:rPr lang="en-GB" sz="1400" i="1" smtClean="0">
                              <a:latin typeface="Cambria Math" panose="02040503050406030204" pitchFamily="18" charset="0"/>
                            </a:rPr>
                            <m:t>𝑑</m:t>
                          </m:r>
                          <m:sSub>
                            <m:sSubPr>
                              <m:ctrlPr>
                                <a:rPr lang="en-GB" sz="1400" b="0" i="1" smtClean="0">
                                  <a:latin typeface="Cambria Math" panose="02040503050406030204" pitchFamily="18" charset="0"/>
                                </a:rPr>
                              </m:ctrlPr>
                            </m:sSubPr>
                            <m:e>
                              <m:r>
                                <a:rPr lang="en-GB" sz="1400" i="1" smtClean="0">
                                  <a:latin typeface="Cambria Math" panose="02040503050406030204" pitchFamily="18" charset="0"/>
                                </a:rPr>
                                <m:t>𝑥</m:t>
                              </m:r>
                            </m:e>
                            <m:sub>
                              <m:r>
                                <a:rPr lang="en-GB" sz="1400" b="0" i="1" smtClean="0">
                                  <a:latin typeface="Cambria Math" panose="02040503050406030204" pitchFamily="18" charset="0"/>
                                </a:rPr>
                                <m:t>𝑖</m:t>
                              </m:r>
                            </m:sub>
                          </m:sSub>
                        </m:den>
                      </m:f>
                      <m:r>
                        <a:rPr lang="en-GB" sz="1400" b="0" i="1" smtClean="0">
                          <a:latin typeface="Cambria Math" panose="02040503050406030204" pitchFamily="18" charset="0"/>
                        </a:rPr>
                        <m:t>=1</m:t>
                      </m:r>
                    </m:oMath>
                  </m:oMathPara>
                </a14:m>
                <a:endParaRPr lang="en-GB" sz="1400" dirty="0"/>
              </a:p>
              <a:p>
                <a:endParaRPr lang="en-GB" sz="1400" dirty="0"/>
              </a:p>
              <a:p>
                <a:pPr/>
                <a14:m>
                  <m:oMathPara xmlns:m="http://schemas.openxmlformats.org/officeDocument/2006/math">
                    <m:oMathParaPr>
                      <m:jc m:val="left"/>
                    </m:oMathParaPr>
                    <m:oMath xmlns:m="http://schemas.openxmlformats.org/officeDocument/2006/math">
                      <m:f>
                        <m:fPr>
                          <m:ctrlPr>
                            <a:rPr lang="en-GB" sz="1400" i="1" smtClean="0">
                              <a:latin typeface="Cambria Math" panose="02040503050406030204" pitchFamily="18" charset="0"/>
                            </a:rPr>
                          </m:ctrlPr>
                        </m:fPr>
                        <m:num>
                          <m:r>
                            <a:rPr lang="en-GB" sz="1400" i="1" smtClean="0">
                              <a:latin typeface="Cambria Math" panose="02040503050406030204" pitchFamily="18" charset="0"/>
                            </a:rPr>
                            <m:t>𝑑</m:t>
                          </m:r>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𝑧</m:t>
                              </m:r>
                            </m:e>
                            <m:sub>
                              <m:r>
                                <a:rPr lang="en-GB" sz="1400" b="0" i="1" smtClean="0">
                                  <a:latin typeface="Cambria Math" panose="02040503050406030204" pitchFamily="18" charset="0"/>
                                </a:rPr>
                                <m:t>𝑚𝑒𝑎𝑛</m:t>
                              </m:r>
                            </m:sub>
                          </m:sSub>
                        </m:num>
                        <m:den>
                          <m:r>
                            <a:rPr lang="en-GB" sz="1400" i="1" smtClean="0">
                              <a:latin typeface="Cambria Math" panose="02040503050406030204" pitchFamily="18" charset="0"/>
                            </a:rPr>
                            <m:t>𝑑</m:t>
                          </m:r>
                          <m:sSub>
                            <m:sSubPr>
                              <m:ctrlPr>
                                <a:rPr lang="en-GB" sz="1400" b="0" i="1" smtClean="0">
                                  <a:latin typeface="Cambria Math" panose="02040503050406030204" pitchFamily="18" charset="0"/>
                                </a:rPr>
                              </m:ctrlPr>
                            </m:sSubPr>
                            <m:e>
                              <m:r>
                                <a:rPr lang="en-GB" sz="1400" i="1" smtClean="0">
                                  <a:latin typeface="Cambria Math" panose="02040503050406030204" pitchFamily="18" charset="0"/>
                                </a:rPr>
                                <m:t>𝑥</m:t>
                              </m:r>
                            </m:e>
                            <m:sub>
                              <m:r>
                                <a:rPr lang="en-GB" sz="1400" b="0" i="1" smtClean="0">
                                  <a:latin typeface="Cambria Math" panose="02040503050406030204" pitchFamily="18" charset="0"/>
                                </a:rPr>
                                <m:t>𝑖</m:t>
                              </m:r>
                            </m:sub>
                          </m:sSub>
                        </m:den>
                      </m:f>
                      <m:r>
                        <a:rPr lang="en-GB" sz="1400" b="0" i="1" smtClean="0">
                          <a:latin typeface="Cambria Math" panose="02040503050406030204" pitchFamily="18" charset="0"/>
                        </a:rPr>
                        <m:t>=</m:t>
                      </m:r>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1</m:t>
                          </m:r>
                        </m:num>
                        <m:den>
                          <m:r>
                            <a:rPr lang="en-GB" sz="1400" b="0" i="1" smtClean="0">
                              <a:latin typeface="Cambria Math" panose="02040503050406030204" pitchFamily="18" charset="0"/>
                            </a:rPr>
                            <m:t>5</m:t>
                          </m:r>
                        </m:den>
                      </m:f>
                      <m:r>
                        <a:rPr lang="en-GB" sz="1400" i="1" smtClean="0">
                          <a:latin typeface="Cambria Math" panose="02040503050406030204" pitchFamily="18" charset="0"/>
                          <a:ea typeface="Cambria Math" panose="02040503050406030204" pitchFamily="18" charset="0"/>
                        </a:rPr>
                        <m:t>×</m:t>
                      </m:r>
                      <m:r>
                        <a:rPr lang="en-GB" sz="1400" b="0" i="1" smtClean="0">
                          <a:latin typeface="Cambria Math" panose="02040503050406030204" pitchFamily="18" charset="0"/>
                          <a:ea typeface="Cambria Math" panose="02040503050406030204" pitchFamily="18" charset="0"/>
                        </a:rPr>
                        <m:t>12</m:t>
                      </m:r>
                      <m:r>
                        <a:rPr lang="en-GB" sz="1400" i="1" smtClean="0">
                          <a:latin typeface="Cambria Math" panose="02040503050406030204" pitchFamily="18" charset="0"/>
                          <a:ea typeface="Cambria Math" panose="02040503050406030204" pitchFamily="18" charset="0"/>
                        </a:rPr>
                        <m:t>×</m:t>
                      </m:r>
                      <m:r>
                        <a:rPr lang="en-GB" sz="1400" b="0" i="1" smtClean="0">
                          <a:latin typeface="Cambria Math" panose="02040503050406030204" pitchFamily="18" charset="0"/>
                          <a:ea typeface="Cambria Math" panose="02040503050406030204" pitchFamily="18" charset="0"/>
                        </a:rPr>
                        <m:t>1=2.4</m:t>
                      </m:r>
                    </m:oMath>
                  </m:oMathPara>
                </a14:m>
                <a:endParaRPr lang="en-GB" sz="1400" dirty="0"/>
              </a:p>
            </p:txBody>
          </p:sp>
        </mc:Choice>
        <mc:Fallback xmlns="">
          <p:sp>
            <p:nvSpPr>
              <p:cNvPr id="7" name="ZoneTexte 6">
                <a:extLst>
                  <a:ext uri="{FF2B5EF4-FFF2-40B4-BE49-F238E27FC236}">
                    <a16:creationId xmlns:a16="http://schemas.microsoft.com/office/drawing/2014/main" id="{01F90F18-F0EC-98E2-7A69-0D2E3EE9CFA8}"/>
                  </a:ext>
                </a:extLst>
              </p:cNvPr>
              <p:cNvSpPr txBox="1">
                <a:spLocks noRot="1" noChangeAspect="1" noMove="1" noResize="1" noEditPoints="1" noAdjustHandles="1" noChangeArrowheads="1" noChangeShapeType="1" noTextEdit="1"/>
              </p:cNvSpPr>
              <p:nvPr/>
            </p:nvSpPr>
            <p:spPr>
              <a:xfrm>
                <a:off x="977900" y="1690688"/>
                <a:ext cx="8178800" cy="4665662"/>
              </a:xfrm>
              <a:prstGeom prst="rect">
                <a:avLst/>
              </a:prstGeom>
              <a:blipFill>
                <a:blip r:embed="rId3"/>
                <a:stretch>
                  <a:fillRect l="-1395" t="-1084" b="-1084"/>
                </a:stretch>
              </a:blipFill>
            </p:spPr>
            <p:txBody>
              <a:bodyPr/>
              <a:lstStyle/>
              <a:p>
                <a:r>
                  <a:rPr lang="en-GB">
                    <a:noFill/>
                  </a:rPr>
                  <a:t> </a:t>
                </a:r>
              </a:p>
            </p:txBody>
          </p:sp>
        </mc:Fallback>
      </mc:AlternateContent>
    </p:spTree>
    <p:extLst>
      <p:ext uri="{BB962C8B-B14F-4D97-AF65-F5344CB8AC3E}">
        <p14:creationId xmlns:p14="http://schemas.microsoft.com/office/powerpoint/2010/main" val="28992040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50EA9-6077-0DEE-CCA7-435909759C4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839DB1A-1D9A-CBDE-B957-021029D34591}"/>
              </a:ext>
            </a:extLst>
          </p:cNvPr>
          <p:cNvSpPr>
            <a:spLocks noGrp="1"/>
          </p:cNvSpPr>
          <p:nvPr>
            <p:ph type="title"/>
          </p:nvPr>
        </p:nvSpPr>
        <p:spPr/>
        <p:txBody>
          <a:bodyPr/>
          <a:lstStyle/>
          <a:p>
            <a:r>
              <a:rPr lang="en-GB" dirty="0"/>
              <a:t>Pytorch tutorial</a:t>
            </a:r>
            <a:br>
              <a:rPr lang="en-GB" dirty="0"/>
            </a:br>
            <a:r>
              <a:rPr lang="en-GB" sz="2800" b="1" dirty="0"/>
              <a:t>Neural Network – Backward pass</a:t>
            </a:r>
            <a:endParaRPr lang="en-GB" dirty="0"/>
          </a:p>
        </p:txBody>
      </p:sp>
      <p:sp>
        <p:nvSpPr>
          <p:cNvPr id="4" name="Espace réservé du pied de page 3">
            <a:extLst>
              <a:ext uri="{FF2B5EF4-FFF2-40B4-BE49-F238E27FC236}">
                <a16:creationId xmlns:a16="http://schemas.microsoft.com/office/drawing/2014/main" id="{CC287119-BFAA-44B5-D838-C8431CDF6A23}"/>
              </a:ext>
            </a:extLst>
          </p:cNvPr>
          <p:cNvSpPr>
            <a:spLocks noGrp="1"/>
          </p:cNvSpPr>
          <p:nvPr>
            <p:ph type="ftr" sz="quarter" idx="11"/>
          </p:nvPr>
        </p:nvSpPr>
        <p:spPr/>
        <p:txBody>
          <a:bodyPr/>
          <a:lstStyle/>
          <a:p>
            <a:r>
              <a:rPr lang="fr-FR"/>
              <a:t>Introduction to Neural Networks. Author: David Thébault</a:t>
            </a:r>
          </a:p>
        </p:txBody>
      </p:sp>
      <p:sp>
        <p:nvSpPr>
          <p:cNvPr id="6" name="ZoneTexte 5">
            <a:extLst>
              <a:ext uri="{FF2B5EF4-FFF2-40B4-BE49-F238E27FC236}">
                <a16:creationId xmlns:a16="http://schemas.microsoft.com/office/drawing/2014/main" id="{68F43775-8161-E459-8FB6-6AF7E016F178}"/>
              </a:ext>
            </a:extLst>
          </p:cNvPr>
          <p:cNvSpPr txBox="1"/>
          <p:nvPr/>
        </p:nvSpPr>
        <p:spPr>
          <a:xfrm>
            <a:off x="977900" y="1690688"/>
            <a:ext cx="11099800" cy="1569660"/>
          </a:xfrm>
          <a:prstGeom prst="rect">
            <a:avLst/>
          </a:prstGeom>
          <a:noFill/>
        </p:spPr>
        <p:txBody>
          <a:bodyPr wrap="square">
            <a:spAutoFit/>
          </a:bodyPr>
          <a:lstStyle/>
          <a:p>
            <a:r>
              <a:rPr lang="fr-FR" sz="2400" dirty="0">
                <a:solidFill>
                  <a:srgbClr val="0033B3"/>
                </a:solidFill>
                <a:effectLst/>
              </a:rPr>
              <a:t>import </a:t>
            </a:r>
            <a:r>
              <a:rPr lang="fr-FR" sz="2400" dirty="0" err="1">
                <a:solidFill>
                  <a:srgbClr val="080808"/>
                </a:solidFill>
                <a:effectLst/>
              </a:rPr>
              <a:t>torch</a:t>
            </a:r>
            <a:endParaRPr lang="fr-FR" sz="2400" dirty="0">
              <a:solidFill>
                <a:srgbClr val="080808"/>
              </a:solidFill>
              <a:effectLst/>
            </a:endParaRPr>
          </a:p>
          <a:p>
            <a:endParaRPr lang="fr-FR" sz="2400" dirty="0">
              <a:solidFill>
                <a:srgbClr val="080808"/>
              </a:solidFill>
              <a:effectLst/>
            </a:endParaRPr>
          </a:p>
          <a:p>
            <a:r>
              <a:rPr lang="fr-FR" sz="2400" i="1" dirty="0">
                <a:solidFill>
                  <a:srgbClr val="8C8C8C"/>
                </a:solidFill>
                <a:effectLst/>
              </a:rPr>
              <a:t># </a:t>
            </a:r>
            <a:r>
              <a:rPr lang="fr-FR" sz="2400" i="1" dirty="0" err="1">
                <a:solidFill>
                  <a:srgbClr val="8C8C8C"/>
                </a:solidFill>
                <a:effectLst/>
              </a:rPr>
              <a:t>when</a:t>
            </a:r>
            <a:r>
              <a:rPr lang="fr-FR" sz="2400" i="1" dirty="0">
                <a:solidFill>
                  <a:srgbClr val="8C8C8C"/>
                </a:solidFill>
                <a:effectLst/>
              </a:rPr>
              <a:t> z </a:t>
            </a:r>
            <a:r>
              <a:rPr lang="fr-FR" sz="2400" i="1" dirty="0" err="1">
                <a:solidFill>
                  <a:srgbClr val="8C8C8C"/>
                </a:solidFill>
                <a:effectLst/>
              </a:rPr>
              <a:t>is</a:t>
            </a:r>
            <a:r>
              <a:rPr lang="fr-FR" sz="2400" i="1" dirty="0">
                <a:solidFill>
                  <a:srgbClr val="8C8C8C"/>
                </a:solidFill>
                <a:effectLst/>
              </a:rPr>
              <a:t> not a </a:t>
            </a:r>
            <a:r>
              <a:rPr lang="fr-FR" sz="2400" i="1" dirty="0" err="1">
                <a:solidFill>
                  <a:srgbClr val="8C8C8C"/>
                </a:solidFill>
                <a:effectLst/>
              </a:rPr>
              <a:t>scalar</a:t>
            </a:r>
            <a:r>
              <a:rPr lang="fr-FR" sz="2400" i="1" dirty="0">
                <a:solidFill>
                  <a:srgbClr val="8C8C8C"/>
                </a:solidFill>
                <a:effectLst/>
              </a:rPr>
              <a:t> </a:t>
            </a:r>
            <a:r>
              <a:rPr lang="fr-FR" sz="2400" i="1" dirty="0" err="1">
                <a:solidFill>
                  <a:srgbClr val="8C8C8C"/>
                </a:solidFill>
                <a:effectLst/>
              </a:rPr>
              <a:t>we</a:t>
            </a:r>
            <a:r>
              <a:rPr lang="fr-FR" sz="2400" i="1" dirty="0">
                <a:solidFill>
                  <a:srgbClr val="8C8C8C"/>
                </a:solidFill>
                <a:effectLst/>
              </a:rPr>
              <a:t> </a:t>
            </a:r>
            <a:r>
              <a:rPr lang="fr-FR" sz="2400" i="1" dirty="0" err="1">
                <a:solidFill>
                  <a:srgbClr val="8C8C8C"/>
                </a:solidFill>
                <a:effectLst/>
              </a:rPr>
              <a:t>add</a:t>
            </a:r>
            <a:r>
              <a:rPr lang="fr-FR" sz="2400" i="1" dirty="0">
                <a:solidFill>
                  <a:srgbClr val="8C8C8C"/>
                </a:solidFill>
                <a:effectLst/>
              </a:rPr>
              <a:t> gradient=</a:t>
            </a:r>
            <a:r>
              <a:rPr lang="fr-FR" sz="2400" i="1" dirty="0" err="1">
                <a:solidFill>
                  <a:srgbClr val="8C8C8C"/>
                </a:solidFill>
                <a:effectLst/>
              </a:rPr>
              <a:t>torch.ones_like</a:t>
            </a:r>
            <a:r>
              <a:rPr lang="fr-FR" sz="2400" i="1" dirty="0">
                <a:solidFill>
                  <a:srgbClr val="8C8C8C"/>
                </a:solidFill>
                <a:effectLst/>
              </a:rPr>
              <a:t>(z):</a:t>
            </a:r>
            <a:br>
              <a:rPr lang="fr-FR" sz="2400" dirty="0">
                <a:solidFill>
                  <a:srgbClr val="080808"/>
                </a:solidFill>
                <a:effectLst/>
              </a:rPr>
            </a:br>
            <a:r>
              <a:rPr lang="fr-FR" sz="2400" dirty="0" err="1">
                <a:solidFill>
                  <a:srgbClr val="080808"/>
                </a:solidFill>
                <a:effectLst/>
              </a:rPr>
              <a:t>z.backward</a:t>
            </a:r>
            <a:r>
              <a:rPr lang="fr-FR" sz="2400" dirty="0">
                <a:solidFill>
                  <a:srgbClr val="080808"/>
                </a:solidFill>
                <a:effectLst/>
              </a:rPr>
              <a:t>(</a:t>
            </a:r>
            <a:r>
              <a:rPr lang="fr-FR" sz="2400" dirty="0"/>
              <a:t>gradient=</a:t>
            </a:r>
            <a:r>
              <a:rPr lang="fr-FR" sz="2400" dirty="0" err="1"/>
              <a:t>torch.ones_like</a:t>
            </a:r>
            <a:r>
              <a:rPr lang="fr-FR" sz="2400" dirty="0"/>
              <a:t>(z)</a:t>
            </a:r>
            <a:r>
              <a:rPr lang="fr-FR" sz="2400" dirty="0">
                <a:solidFill>
                  <a:srgbClr val="080808"/>
                </a:solidFill>
                <a:effectLst/>
              </a:rPr>
              <a:t>)</a:t>
            </a:r>
            <a:endParaRPr lang="fr-FR" sz="2400" i="1" dirty="0">
              <a:solidFill>
                <a:srgbClr val="8C8C8C"/>
              </a:solidFill>
              <a:effectLst/>
            </a:endParaRPr>
          </a:p>
        </p:txBody>
      </p:sp>
    </p:spTree>
    <p:extLst>
      <p:ext uri="{BB962C8B-B14F-4D97-AF65-F5344CB8AC3E}">
        <p14:creationId xmlns:p14="http://schemas.microsoft.com/office/powerpoint/2010/main" val="16558322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2F574-DA67-1807-5ECD-0AC5387E2FD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6F81C00-CB8A-0E19-DFA4-3B4DFA0495AE}"/>
              </a:ext>
            </a:extLst>
          </p:cNvPr>
          <p:cNvSpPr>
            <a:spLocks noGrp="1"/>
          </p:cNvSpPr>
          <p:nvPr>
            <p:ph type="title"/>
          </p:nvPr>
        </p:nvSpPr>
        <p:spPr/>
        <p:txBody>
          <a:bodyPr/>
          <a:lstStyle/>
          <a:p>
            <a:r>
              <a:rPr lang="en-GB" dirty="0"/>
              <a:t>Pytorch tutorial</a:t>
            </a:r>
            <a:br>
              <a:rPr lang="en-GB" dirty="0"/>
            </a:br>
            <a:r>
              <a:rPr lang="en-GB" sz="2800" b="1" dirty="0"/>
              <a:t>Neural Network – detach grad to stop tracking the gradients</a:t>
            </a:r>
            <a:endParaRPr lang="en-GB" dirty="0"/>
          </a:p>
        </p:txBody>
      </p:sp>
      <p:sp>
        <p:nvSpPr>
          <p:cNvPr id="4" name="Espace réservé du pied de page 3">
            <a:extLst>
              <a:ext uri="{FF2B5EF4-FFF2-40B4-BE49-F238E27FC236}">
                <a16:creationId xmlns:a16="http://schemas.microsoft.com/office/drawing/2014/main" id="{BD191420-25F4-0012-2831-532815061DA1}"/>
              </a:ext>
            </a:extLst>
          </p:cNvPr>
          <p:cNvSpPr>
            <a:spLocks noGrp="1"/>
          </p:cNvSpPr>
          <p:nvPr>
            <p:ph type="ftr" sz="quarter" idx="11"/>
          </p:nvPr>
        </p:nvSpPr>
        <p:spPr/>
        <p:txBody>
          <a:bodyPr/>
          <a:lstStyle/>
          <a:p>
            <a:r>
              <a:rPr lang="fr-FR"/>
              <a:t>Introduction to Neural Networks. Author: David Thébault</a:t>
            </a:r>
          </a:p>
        </p:txBody>
      </p:sp>
      <p:sp>
        <p:nvSpPr>
          <p:cNvPr id="6" name="ZoneTexte 5">
            <a:extLst>
              <a:ext uri="{FF2B5EF4-FFF2-40B4-BE49-F238E27FC236}">
                <a16:creationId xmlns:a16="http://schemas.microsoft.com/office/drawing/2014/main" id="{B959A0FD-242A-07AE-3466-A2723CD978C0}"/>
              </a:ext>
            </a:extLst>
          </p:cNvPr>
          <p:cNvSpPr txBox="1"/>
          <p:nvPr/>
        </p:nvSpPr>
        <p:spPr>
          <a:xfrm>
            <a:off x="977900" y="1690688"/>
            <a:ext cx="11099800" cy="4524315"/>
          </a:xfrm>
          <a:prstGeom prst="rect">
            <a:avLst/>
          </a:prstGeom>
          <a:noFill/>
        </p:spPr>
        <p:txBody>
          <a:bodyPr wrap="square">
            <a:spAutoFit/>
          </a:bodyPr>
          <a:lstStyle/>
          <a:p>
            <a:r>
              <a:rPr lang="fr-FR" sz="2400" i="1" dirty="0">
                <a:solidFill>
                  <a:srgbClr val="8C8C8C"/>
                </a:solidFill>
              </a:rPr>
              <a:t># Method 1</a:t>
            </a:r>
          </a:p>
          <a:p>
            <a:r>
              <a:rPr lang="fr-FR" sz="2400" dirty="0">
                <a:solidFill>
                  <a:srgbClr val="000080"/>
                </a:solidFill>
                <a:effectLst/>
              </a:rPr>
              <a:t>print</a:t>
            </a:r>
            <a:r>
              <a:rPr lang="fr-FR" sz="2400" dirty="0">
                <a:solidFill>
                  <a:srgbClr val="080808"/>
                </a:solidFill>
                <a:effectLst/>
              </a:rPr>
              <a:t>(x, </a:t>
            </a:r>
            <a:r>
              <a:rPr lang="fr-FR" sz="2400" dirty="0" err="1">
                <a:solidFill>
                  <a:srgbClr val="080808"/>
                </a:solidFill>
                <a:effectLst/>
              </a:rPr>
              <a:t>x.requires_grad</a:t>
            </a:r>
            <a:r>
              <a:rPr lang="fr-FR" sz="2400" dirty="0">
                <a:solidFill>
                  <a:srgbClr val="080808"/>
                </a:solidFill>
                <a:effectLst/>
              </a:rPr>
              <a:t>_(</a:t>
            </a:r>
            <a:r>
              <a:rPr lang="fr-FR" sz="2400" dirty="0">
                <a:solidFill>
                  <a:srgbClr val="0033B3"/>
                </a:solidFill>
                <a:effectLst/>
              </a:rPr>
              <a:t>False</a:t>
            </a:r>
            <a:r>
              <a:rPr lang="fr-FR" sz="2400" dirty="0">
                <a:solidFill>
                  <a:srgbClr val="080808"/>
                </a:solidFill>
                <a:effectLst/>
              </a:rPr>
              <a:t>))</a:t>
            </a:r>
            <a:br>
              <a:rPr lang="fr-FR" sz="2400" dirty="0">
                <a:solidFill>
                  <a:srgbClr val="080808"/>
                </a:solidFill>
                <a:effectLst/>
              </a:rPr>
            </a:br>
            <a:endParaRPr lang="fr-FR" sz="2400" dirty="0">
              <a:solidFill>
                <a:srgbClr val="080808"/>
              </a:solidFill>
              <a:effectLst/>
            </a:endParaRPr>
          </a:p>
          <a:p>
            <a:r>
              <a:rPr lang="fr-FR" sz="2400" i="1" dirty="0">
                <a:solidFill>
                  <a:srgbClr val="8C8C8C"/>
                </a:solidFill>
              </a:rPr>
              <a:t># Method 2</a:t>
            </a:r>
          </a:p>
          <a:p>
            <a:r>
              <a:rPr lang="fr-FR" sz="2400" dirty="0">
                <a:solidFill>
                  <a:srgbClr val="080808"/>
                </a:solidFill>
                <a:effectLst/>
              </a:rPr>
              <a:t>x = </a:t>
            </a:r>
            <a:r>
              <a:rPr lang="fr-FR" sz="2400" dirty="0" err="1">
                <a:solidFill>
                  <a:srgbClr val="080808"/>
                </a:solidFill>
                <a:effectLst/>
              </a:rPr>
              <a:t>torch.randn</a:t>
            </a:r>
            <a:r>
              <a:rPr lang="fr-FR" sz="2400" dirty="0">
                <a:solidFill>
                  <a:srgbClr val="080808"/>
                </a:solidFill>
                <a:effectLst/>
              </a:rPr>
              <a:t>(</a:t>
            </a:r>
            <a:r>
              <a:rPr lang="fr-FR" sz="2400" dirty="0">
                <a:solidFill>
                  <a:srgbClr val="1750EB"/>
                </a:solidFill>
                <a:effectLst/>
              </a:rPr>
              <a:t>3</a:t>
            </a:r>
            <a:r>
              <a:rPr lang="fr-FR" sz="2400" dirty="0">
                <a:solidFill>
                  <a:srgbClr val="080808"/>
                </a:solidFill>
                <a:effectLst/>
              </a:rPr>
              <a:t>, </a:t>
            </a:r>
            <a:r>
              <a:rPr lang="fr-FR" sz="2400" dirty="0" err="1">
                <a:solidFill>
                  <a:srgbClr val="660099"/>
                </a:solidFill>
                <a:effectLst/>
              </a:rPr>
              <a:t>requires_grad</a:t>
            </a:r>
            <a:r>
              <a:rPr lang="fr-FR" sz="2400" dirty="0">
                <a:solidFill>
                  <a:srgbClr val="080808"/>
                </a:solidFill>
                <a:effectLst/>
              </a:rPr>
              <a:t>=</a:t>
            </a:r>
            <a:r>
              <a:rPr lang="fr-FR" sz="2400" dirty="0" err="1">
                <a:solidFill>
                  <a:srgbClr val="0033B3"/>
                </a:solidFill>
                <a:effectLst/>
              </a:rPr>
              <a:t>True</a:t>
            </a:r>
            <a:r>
              <a:rPr lang="fr-FR" sz="2400" dirty="0">
                <a:solidFill>
                  <a:srgbClr val="080808"/>
                </a:solidFill>
                <a:effectLst/>
              </a:rPr>
              <a:t>)</a:t>
            </a:r>
            <a:br>
              <a:rPr lang="fr-FR" sz="2400" dirty="0">
                <a:solidFill>
                  <a:srgbClr val="080808"/>
                </a:solidFill>
                <a:effectLst/>
              </a:rPr>
            </a:br>
            <a:r>
              <a:rPr lang="fr-FR" sz="2400" dirty="0">
                <a:solidFill>
                  <a:srgbClr val="000080"/>
                </a:solidFill>
                <a:effectLst/>
              </a:rPr>
              <a:t>print</a:t>
            </a:r>
            <a:r>
              <a:rPr lang="fr-FR" sz="2400" dirty="0">
                <a:solidFill>
                  <a:srgbClr val="080808"/>
                </a:solidFill>
                <a:effectLst/>
              </a:rPr>
              <a:t>(x, </a:t>
            </a:r>
            <a:r>
              <a:rPr lang="fr-FR" sz="2400" dirty="0" err="1">
                <a:solidFill>
                  <a:srgbClr val="080808"/>
                </a:solidFill>
                <a:effectLst/>
              </a:rPr>
              <a:t>x.detach</a:t>
            </a:r>
            <a:r>
              <a:rPr lang="fr-FR" sz="2400" dirty="0">
                <a:solidFill>
                  <a:srgbClr val="080808"/>
                </a:solidFill>
                <a:effectLst/>
              </a:rPr>
              <a:t>())</a:t>
            </a:r>
            <a:br>
              <a:rPr lang="fr-FR" sz="2400" dirty="0">
                <a:solidFill>
                  <a:srgbClr val="080808"/>
                </a:solidFill>
                <a:effectLst/>
              </a:rPr>
            </a:br>
            <a:endParaRPr lang="fr-FR" sz="2400" dirty="0">
              <a:solidFill>
                <a:srgbClr val="080808"/>
              </a:solidFill>
              <a:effectLst/>
            </a:endParaRPr>
          </a:p>
          <a:p>
            <a:r>
              <a:rPr lang="fr-FR" sz="2400" i="1" dirty="0">
                <a:solidFill>
                  <a:srgbClr val="8C8C8C"/>
                </a:solidFill>
              </a:rPr>
              <a:t># Method 3</a:t>
            </a:r>
          </a:p>
          <a:p>
            <a:r>
              <a:rPr lang="fr-FR" sz="2400" dirty="0">
                <a:solidFill>
                  <a:srgbClr val="080808"/>
                </a:solidFill>
                <a:effectLst/>
              </a:rPr>
              <a:t>x = </a:t>
            </a:r>
            <a:r>
              <a:rPr lang="fr-FR" sz="2400" dirty="0" err="1">
                <a:solidFill>
                  <a:srgbClr val="080808"/>
                </a:solidFill>
                <a:effectLst/>
              </a:rPr>
              <a:t>torch.randn</a:t>
            </a:r>
            <a:r>
              <a:rPr lang="fr-FR" sz="2400" dirty="0">
                <a:solidFill>
                  <a:srgbClr val="080808"/>
                </a:solidFill>
                <a:effectLst/>
              </a:rPr>
              <a:t>(</a:t>
            </a:r>
            <a:r>
              <a:rPr lang="fr-FR" sz="2400" dirty="0">
                <a:solidFill>
                  <a:srgbClr val="1750EB"/>
                </a:solidFill>
                <a:effectLst/>
              </a:rPr>
              <a:t>3</a:t>
            </a:r>
            <a:r>
              <a:rPr lang="fr-FR" sz="2400" dirty="0">
                <a:solidFill>
                  <a:srgbClr val="080808"/>
                </a:solidFill>
                <a:effectLst/>
              </a:rPr>
              <a:t>, </a:t>
            </a:r>
            <a:r>
              <a:rPr lang="fr-FR" sz="2400" dirty="0" err="1">
                <a:solidFill>
                  <a:srgbClr val="660099"/>
                </a:solidFill>
                <a:effectLst/>
              </a:rPr>
              <a:t>requires_grad</a:t>
            </a:r>
            <a:r>
              <a:rPr lang="fr-FR" sz="2400" dirty="0">
                <a:solidFill>
                  <a:srgbClr val="080808"/>
                </a:solidFill>
                <a:effectLst/>
              </a:rPr>
              <a:t>=</a:t>
            </a:r>
            <a:r>
              <a:rPr lang="fr-FR" sz="2400" dirty="0" err="1">
                <a:solidFill>
                  <a:srgbClr val="0033B3"/>
                </a:solidFill>
                <a:effectLst/>
              </a:rPr>
              <a:t>True</a:t>
            </a:r>
            <a:r>
              <a:rPr lang="fr-FR" sz="2400" dirty="0">
                <a:solidFill>
                  <a:srgbClr val="080808"/>
                </a:solidFill>
                <a:effectLst/>
              </a:rPr>
              <a:t>)</a:t>
            </a:r>
            <a:br>
              <a:rPr lang="fr-FR" sz="2400" dirty="0">
                <a:solidFill>
                  <a:srgbClr val="080808"/>
                </a:solidFill>
                <a:effectLst/>
              </a:rPr>
            </a:br>
            <a:r>
              <a:rPr lang="fr-FR" sz="2400" dirty="0" err="1">
                <a:solidFill>
                  <a:srgbClr val="0033B3"/>
                </a:solidFill>
                <a:effectLst/>
              </a:rPr>
              <a:t>with</a:t>
            </a:r>
            <a:r>
              <a:rPr lang="fr-FR" sz="2400" dirty="0">
                <a:solidFill>
                  <a:srgbClr val="0033B3"/>
                </a:solidFill>
                <a:effectLst/>
              </a:rPr>
              <a:t> </a:t>
            </a:r>
            <a:r>
              <a:rPr lang="fr-FR" sz="2400" dirty="0" err="1">
                <a:solidFill>
                  <a:srgbClr val="080808"/>
                </a:solidFill>
                <a:effectLst/>
              </a:rPr>
              <a:t>torch.no_grad</a:t>
            </a:r>
            <a:r>
              <a:rPr lang="fr-FR" sz="2400" dirty="0">
                <a:solidFill>
                  <a:srgbClr val="080808"/>
                </a:solidFill>
                <a:effectLst/>
              </a:rPr>
              <a:t>():</a:t>
            </a:r>
            <a:br>
              <a:rPr lang="fr-FR" sz="2400" dirty="0">
                <a:solidFill>
                  <a:srgbClr val="080808"/>
                </a:solidFill>
                <a:effectLst/>
              </a:rPr>
            </a:br>
            <a:r>
              <a:rPr lang="fr-FR" sz="2400" dirty="0">
                <a:solidFill>
                  <a:srgbClr val="080808"/>
                </a:solidFill>
                <a:effectLst/>
              </a:rPr>
              <a:t>    y = x + </a:t>
            </a:r>
            <a:r>
              <a:rPr lang="fr-FR" sz="2400" dirty="0">
                <a:solidFill>
                  <a:srgbClr val="1750EB"/>
                </a:solidFill>
                <a:effectLst/>
              </a:rPr>
              <a:t>2</a:t>
            </a:r>
            <a:br>
              <a:rPr lang="fr-FR" sz="2400" dirty="0">
                <a:solidFill>
                  <a:srgbClr val="1750EB"/>
                </a:solidFill>
                <a:effectLst/>
              </a:rPr>
            </a:br>
            <a:r>
              <a:rPr lang="fr-FR" sz="2400" dirty="0">
                <a:solidFill>
                  <a:srgbClr val="1750EB"/>
                </a:solidFill>
                <a:effectLst/>
              </a:rPr>
              <a:t>    </a:t>
            </a:r>
            <a:r>
              <a:rPr lang="fr-FR" sz="2400" dirty="0">
                <a:solidFill>
                  <a:srgbClr val="000080"/>
                </a:solidFill>
                <a:effectLst/>
              </a:rPr>
              <a:t>print</a:t>
            </a:r>
            <a:r>
              <a:rPr lang="fr-FR" sz="2400" dirty="0">
                <a:solidFill>
                  <a:srgbClr val="080808"/>
                </a:solidFill>
                <a:effectLst/>
              </a:rPr>
              <a:t>(y)</a:t>
            </a:r>
          </a:p>
        </p:txBody>
      </p:sp>
    </p:spTree>
    <p:extLst>
      <p:ext uri="{BB962C8B-B14F-4D97-AF65-F5344CB8AC3E}">
        <p14:creationId xmlns:p14="http://schemas.microsoft.com/office/powerpoint/2010/main" val="3485797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F66A6-4780-717D-8ECF-36C56F9524A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9FB0DFB-E34B-50C7-220D-4DE3C9C36DC3}"/>
              </a:ext>
            </a:extLst>
          </p:cNvPr>
          <p:cNvSpPr>
            <a:spLocks noGrp="1"/>
          </p:cNvSpPr>
          <p:nvPr>
            <p:ph type="title"/>
          </p:nvPr>
        </p:nvSpPr>
        <p:spPr/>
        <p:txBody>
          <a:bodyPr/>
          <a:lstStyle/>
          <a:p>
            <a:r>
              <a:rPr lang="en-GB" dirty="0"/>
              <a:t>Pytorch tutorial</a:t>
            </a:r>
            <a:br>
              <a:rPr lang="en-GB" dirty="0"/>
            </a:br>
            <a:r>
              <a:rPr lang="en-GB" sz="2800" b="1" dirty="0"/>
              <a:t>Neural Network – Avoid gradients accumulation </a:t>
            </a:r>
            <a:r>
              <a:rPr lang="en-GB" sz="2800" b="1" dirty="0" err="1"/>
              <a:t>grad.zero</a:t>
            </a:r>
            <a:r>
              <a:rPr lang="en-GB" sz="2800" b="1" dirty="0"/>
              <a:t>!()</a:t>
            </a:r>
            <a:endParaRPr lang="en-GB" dirty="0"/>
          </a:p>
        </p:txBody>
      </p:sp>
      <p:sp>
        <p:nvSpPr>
          <p:cNvPr id="4" name="Espace réservé du pied de page 3">
            <a:extLst>
              <a:ext uri="{FF2B5EF4-FFF2-40B4-BE49-F238E27FC236}">
                <a16:creationId xmlns:a16="http://schemas.microsoft.com/office/drawing/2014/main" id="{7C1D4F94-23FA-8997-FEC2-05843B453584}"/>
              </a:ext>
            </a:extLst>
          </p:cNvPr>
          <p:cNvSpPr>
            <a:spLocks noGrp="1"/>
          </p:cNvSpPr>
          <p:nvPr>
            <p:ph type="ftr" sz="quarter" idx="11"/>
          </p:nvPr>
        </p:nvSpPr>
        <p:spPr/>
        <p:txBody>
          <a:bodyPr/>
          <a:lstStyle/>
          <a:p>
            <a:r>
              <a:rPr lang="fr-FR"/>
              <a:t>Introduction to Neural Networks. Author: David Thébault</a:t>
            </a:r>
          </a:p>
        </p:txBody>
      </p:sp>
      <p:sp>
        <p:nvSpPr>
          <p:cNvPr id="6" name="ZoneTexte 5">
            <a:extLst>
              <a:ext uri="{FF2B5EF4-FFF2-40B4-BE49-F238E27FC236}">
                <a16:creationId xmlns:a16="http://schemas.microsoft.com/office/drawing/2014/main" id="{CDB64743-62B9-BD64-6124-7054E29C3651}"/>
              </a:ext>
            </a:extLst>
          </p:cNvPr>
          <p:cNvSpPr txBox="1"/>
          <p:nvPr/>
        </p:nvSpPr>
        <p:spPr>
          <a:xfrm>
            <a:off x="977900" y="1690688"/>
            <a:ext cx="11099800" cy="4524315"/>
          </a:xfrm>
          <a:prstGeom prst="rect">
            <a:avLst/>
          </a:prstGeom>
          <a:noFill/>
        </p:spPr>
        <p:txBody>
          <a:bodyPr wrap="square">
            <a:spAutoFit/>
          </a:bodyPr>
          <a:lstStyle/>
          <a:p>
            <a:r>
              <a:rPr lang="fr-FR" sz="2400" i="1" dirty="0">
                <a:solidFill>
                  <a:srgbClr val="8C8C8C"/>
                </a:solidFill>
                <a:effectLst/>
              </a:rPr>
              <a:t># Important: to </a:t>
            </a:r>
            <a:r>
              <a:rPr lang="fr-FR" sz="2400" i="1" dirty="0" err="1">
                <a:solidFill>
                  <a:srgbClr val="8C8C8C"/>
                </a:solidFill>
                <a:effectLst/>
              </a:rPr>
              <a:t>think</a:t>
            </a:r>
            <a:r>
              <a:rPr lang="fr-FR" sz="2400" i="1" dirty="0">
                <a:solidFill>
                  <a:srgbClr val="8C8C8C"/>
                </a:solidFill>
                <a:effectLst/>
              </a:rPr>
              <a:t> about </a:t>
            </a:r>
            <a:r>
              <a:rPr lang="fr-FR" sz="2400" i="1" dirty="0" err="1">
                <a:solidFill>
                  <a:srgbClr val="8C8C8C"/>
                </a:solidFill>
                <a:effectLst/>
              </a:rPr>
              <a:t>weights.grad.zero</a:t>
            </a:r>
            <a:r>
              <a:rPr lang="fr-FR" sz="2400" i="1" dirty="0">
                <a:solidFill>
                  <a:srgbClr val="8C8C8C"/>
                </a:solidFill>
                <a:effectLst/>
              </a:rPr>
              <a:t>_()</a:t>
            </a:r>
            <a:br>
              <a:rPr lang="fr-FR" sz="2400" i="1" dirty="0">
                <a:solidFill>
                  <a:srgbClr val="8C8C8C"/>
                </a:solidFill>
                <a:effectLst/>
              </a:rPr>
            </a:br>
            <a:r>
              <a:rPr lang="fr-FR" sz="2400" i="1" dirty="0">
                <a:solidFill>
                  <a:srgbClr val="8C8C8C"/>
                </a:solidFill>
                <a:effectLst/>
              </a:rPr>
              <a:t># </a:t>
            </a:r>
            <a:r>
              <a:rPr lang="fr-FR" sz="2400" i="1" dirty="0" err="1">
                <a:solidFill>
                  <a:srgbClr val="8C8C8C"/>
                </a:solidFill>
                <a:effectLst/>
              </a:rPr>
              <a:t>otherwise</a:t>
            </a:r>
            <a:r>
              <a:rPr lang="fr-FR" sz="2400" i="1" dirty="0">
                <a:solidFill>
                  <a:srgbClr val="8C8C8C"/>
                </a:solidFill>
                <a:effectLst/>
              </a:rPr>
              <a:t> </a:t>
            </a:r>
            <a:r>
              <a:rPr lang="fr-FR" sz="2400" i="1" dirty="0" err="1">
                <a:solidFill>
                  <a:srgbClr val="8C8C8C"/>
                </a:solidFill>
                <a:effectLst/>
              </a:rPr>
              <a:t>weights.grad</a:t>
            </a:r>
            <a:r>
              <a:rPr lang="fr-FR" sz="2400" i="1" dirty="0">
                <a:solidFill>
                  <a:srgbClr val="8C8C8C"/>
                </a:solidFill>
                <a:effectLst/>
              </a:rPr>
              <a:t> </a:t>
            </a:r>
            <a:r>
              <a:rPr lang="fr-FR" sz="2400" i="1" dirty="0" err="1">
                <a:solidFill>
                  <a:srgbClr val="8C8C8C"/>
                </a:solidFill>
                <a:effectLst/>
              </a:rPr>
              <a:t>will</a:t>
            </a:r>
            <a:r>
              <a:rPr lang="fr-FR" sz="2400" i="1" dirty="0">
                <a:solidFill>
                  <a:srgbClr val="8C8C8C"/>
                </a:solidFill>
                <a:effectLst/>
              </a:rPr>
              <a:t> </a:t>
            </a:r>
            <a:r>
              <a:rPr lang="fr-FR" sz="2400" i="1" dirty="0" err="1">
                <a:solidFill>
                  <a:srgbClr val="8C8C8C"/>
                </a:solidFill>
                <a:effectLst/>
              </a:rPr>
              <a:t>increment</a:t>
            </a:r>
            <a:r>
              <a:rPr lang="fr-FR" sz="2400" i="1" dirty="0">
                <a:solidFill>
                  <a:srgbClr val="8C8C8C"/>
                </a:solidFill>
                <a:effectLst/>
              </a:rPr>
              <a:t> </a:t>
            </a:r>
            <a:r>
              <a:rPr lang="fr-FR" sz="2400" i="1" dirty="0" err="1">
                <a:solidFill>
                  <a:srgbClr val="8C8C8C"/>
                </a:solidFill>
                <a:effectLst/>
              </a:rPr>
              <a:t>during</a:t>
            </a:r>
            <a:r>
              <a:rPr lang="fr-FR" sz="2400" i="1" dirty="0">
                <a:solidFill>
                  <a:srgbClr val="8C8C8C"/>
                </a:solidFill>
                <a:effectLst/>
              </a:rPr>
              <a:t> the training</a:t>
            </a:r>
            <a:br>
              <a:rPr lang="fr-FR" sz="2400" i="1" dirty="0">
                <a:solidFill>
                  <a:srgbClr val="8C8C8C"/>
                </a:solidFill>
                <a:effectLst/>
              </a:rPr>
            </a:br>
            <a:r>
              <a:rPr lang="fr-FR" sz="2400" dirty="0" err="1">
                <a:solidFill>
                  <a:srgbClr val="080808"/>
                </a:solidFill>
                <a:effectLst/>
              </a:rPr>
              <a:t>weights</a:t>
            </a:r>
            <a:r>
              <a:rPr lang="fr-FR" sz="2400" dirty="0">
                <a:solidFill>
                  <a:srgbClr val="080808"/>
                </a:solidFill>
                <a:effectLst/>
              </a:rPr>
              <a:t> = </a:t>
            </a:r>
            <a:r>
              <a:rPr lang="fr-FR" sz="2400" dirty="0" err="1">
                <a:solidFill>
                  <a:srgbClr val="080808"/>
                </a:solidFill>
                <a:effectLst/>
              </a:rPr>
              <a:t>torch.ones</a:t>
            </a:r>
            <a:r>
              <a:rPr lang="fr-FR" sz="2400" dirty="0">
                <a:solidFill>
                  <a:srgbClr val="080808"/>
                </a:solidFill>
                <a:effectLst/>
              </a:rPr>
              <a:t>(</a:t>
            </a:r>
            <a:r>
              <a:rPr lang="fr-FR" sz="2400" dirty="0">
                <a:solidFill>
                  <a:srgbClr val="1750EB"/>
                </a:solidFill>
                <a:effectLst/>
              </a:rPr>
              <a:t>4</a:t>
            </a:r>
            <a:r>
              <a:rPr lang="fr-FR" sz="2400" dirty="0">
                <a:solidFill>
                  <a:srgbClr val="080808"/>
                </a:solidFill>
                <a:effectLst/>
              </a:rPr>
              <a:t>, </a:t>
            </a:r>
            <a:r>
              <a:rPr lang="fr-FR" sz="2400" dirty="0" err="1">
                <a:solidFill>
                  <a:srgbClr val="660099"/>
                </a:solidFill>
                <a:effectLst/>
              </a:rPr>
              <a:t>requires_grad</a:t>
            </a:r>
            <a:r>
              <a:rPr lang="fr-FR" sz="2400" dirty="0">
                <a:solidFill>
                  <a:srgbClr val="080808"/>
                </a:solidFill>
                <a:effectLst/>
              </a:rPr>
              <a:t>=</a:t>
            </a:r>
            <a:r>
              <a:rPr lang="fr-FR" sz="2400" dirty="0" err="1">
                <a:solidFill>
                  <a:srgbClr val="0033B3"/>
                </a:solidFill>
                <a:effectLst/>
              </a:rPr>
              <a:t>True</a:t>
            </a:r>
            <a:r>
              <a:rPr lang="fr-FR" sz="2400" dirty="0">
                <a:solidFill>
                  <a:srgbClr val="080808"/>
                </a:solidFill>
                <a:effectLst/>
              </a:rPr>
              <a:t>)</a:t>
            </a:r>
            <a:br>
              <a:rPr lang="fr-FR" sz="2400" dirty="0">
                <a:solidFill>
                  <a:srgbClr val="080808"/>
                </a:solidFill>
                <a:effectLst/>
              </a:rPr>
            </a:br>
            <a:r>
              <a:rPr lang="fr-FR" sz="2400" dirty="0">
                <a:solidFill>
                  <a:srgbClr val="0033B3"/>
                </a:solidFill>
                <a:effectLst/>
              </a:rPr>
              <a:t>for </a:t>
            </a:r>
            <a:r>
              <a:rPr lang="fr-FR" sz="2400" dirty="0" err="1">
                <a:solidFill>
                  <a:srgbClr val="080808"/>
                </a:solidFill>
                <a:effectLst/>
              </a:rPr>
              <a:t>epoch</a:t>
            </a:r>
            <a:r>
              <a:rPr lang="fr-FR" sz="2400" dirty="0">
                <a:solidFill>
                  <a:srgbClr val="080808"/>
                </a:solidFill>
                <a:effectLst/>
              </a:rPr>
              <a:t> </a:t>
            </a:r>
            <a:r>
              <a:rPr lang="fr-FR" sz="2400" dirty="0">
                <a:solidFill>
                  <a:srgbClr val="0033B3"/>
                </a:solidFill>
                <a:effectLst/>
              </a:rPr>
              <a:t>in </a:t>
            </a:r>
            <a:r>
              <a:rPr lang="fr-FR" sz="2400" dirty="0">
                <a:solidFill>
                  <a:srgbClr val="000080"/>
                </a:solidFill>
                <a:effectLst/>
              </a:rPr>
              <a:t>range</a:t>
            </a:r>
            <a:r>
              <a:rPr lang="fr-FR" sz="2400" dirty="0">
                <a:solidFill>
                  <a:srgbClr val="080808"/>
                </a:solidFill>
                <a:effectLst/>
              </a:rPr>
              <a:t>(</a:t>
            </a:r>
            <a:r>
              <a:rPr lang="fr-FR" sz="2400" dirty="0">
                <a:solidFill>
                  <a:srgbClr val="1750EB"/>
                </a:solidFill>
                <a:effectLst/>
              </a:rPr>
              <a:t>3</a:t>
            </a:r>
            <a:r>
              <a:rPr lang="fr-FR" sz="2400" dirty="0">
                <a:solidFill>
                  <a:srgbClr val="080808"/>
                </a:solidFill>
                <a:effectLst/>
              </a:rPr>
              <a:t>):</a:t>
            </a:r>
            <a:br>
              <a:rPr lang="fr-FR" sz="2400" dirty="0">
                <a:solidFill>
                  <a:srgbClr val="080808"/>
                </a:solidFill>
                <a:effectLst/>
              </a:rPr>
            </a:br>
            <a:r>
              <a:rPr lang="fr-FR" sz="2400" dirty="0">
                <a:solidFill>
                  <a:srgbClr val="080808"/>
                </a:solidFill>
                <a:effectLst/>
              </a:rPr>
              <a:t>    </a:t>
            </a:r>
            <a:r>
              <a:rPr lang="fr-FR" sz="2400" dirty="0" err="1">
                <a:solidFill>
                  <a:srgbClr val="080808"/>
                </a:solidFill>
                <a:effectLst/>
              </a:rPr>
              <a:t>model_output</a:t>
            </a:r>
            <a:r>
              <a:rPr lang="fr-FR" sz="2400" dirty="0">
                <a:solidFill>
                  <a:srgbClr val="080808"/>
                </a:solidFill>
                <a:effectLst/>
              </a:rPr>
              <a:t> = (</a:t>
            </a:r>
            <a:r>
              <a:rPr lang="fr-FR" sz="2400" dirty="0" err="1">
                <a:solidFill>
                  <a:srgbClr val="080808"/>
                </a:solidFill>
                <a:effectLst/>
              </a:rPr>
              <a:t>weights</a:t>
            </a:r>
            <a:r>
              <a:rPr lang="fr-FR" sz="2400" dirty="0">
                <a:solidFill>
                  <a:srgbClr val="080808"/>
                </a:solidFill>
                <a:effectLst/>
              </a:rPr>
              <a:t>*</a:t>
            </a:r>
            <a:r>
              <a:rPr lang="fr-FR" sz="2400" dirty="0">
                <a:solidFill>
                  <a:srgbClr val="1750EB"/>
                </a:solidFill>
                <a:effectLst/>
              </a:rPr>
              <a:t>3</a:t>
            </a:r>
            <a:r>
              <a:rPr lang="fr-FR" sz="2400" dirty="0">
                <a:solidFill>
                  <a:srgbClr val="080808"/>
                </a:solidFill>
                <a:effectLst/>
              </a:rPr>
              <a:t>).</a:t>
            </a:r>
            <a:r>
              <a:rPr lang="fr-FR" sz="2400" dirty="0" err="1">
                <a:solidFill>
                  <a:srgbClr val="080808"/>
                </a:solidFill>
                <a:effectLst/>
              </a:rPr>
              <a:t>sum</a:t>
            </a:r>
            <a:r>
              <a:rPr lang="fr-FR" sz="2400" dirty="0">
                <a:solidFill>
                  <a:srgbClr val="080808"/>
                </a:solidFill>
                <a:effectLst/>
              </a:rPr>
              <a:t>()</a:t>
            </a:r>
            <a:br>
              <a:rPr lang="fr-FR" sz="2400" dirty="0">
                <a:solidFill>
                  <a:srgbClr val="080808"/>
                </a:solidFill>
                <a:effectLst/>
              </a:rPr>
            </a:br>
            <a:r>
              <a:rPr lang="fr-FR" sz="2400" dirty="0">
                <a:solidFill>
                  <a:srgbClr val="080808"/>
                </a:solidFill>
                <a:effectLst/>
              </a:rPr>
              <a:t>    </a:t>
            </a:r>
            <a:r>
              <a:rPr lang="fr-FR" sz="2400" dirty="0" err="1">
                <a:solidFill>
                  <a:srgbClr val="080808"/>
                </a:solidFill>
                <a:effectLst/>
              </a:rPr>
              <a:t>model_output.backward</a:t>
            </a:r>
            <a:r>
              <a:rPr lang="fr-FR" sz="2400" dirty="0">
                <a:solidFill>
                  <a:srgbClr val="080808"/>
                </a:solidFill>
                <a:effectLst/>
              </a:rPr>
              <a:t>()</a:t>
            </a:r>
            <a:br>
              <a:rPr lang="fr-FR" sz="2400" dirty="0">
                <a:solidFill>
                  <a:srgbClr val="080808"/>
                </a:solidFill>
                <a:effectLst/>
              </a:rPr>
            </a:br>
            <a:r>
              <a:rPr lang="fr-FR" sz="2400" dirty="0">
                <a:solidFill>
                  <a:srgbClr val="080808"/>
                </a:solidFill>
                <a:effectLst/>
              </a:rPr>
              <a:t>    </a:t>
            </a:r>
            <a:r>
              <a:rPr lang="fr-FR" sz="2400" dirty="0">
                <a:solidFill>
                  <a:srgbClr val="000080"/>
                </a:solidFill>
                <a:effectLst/>
              </a:rPr>
              <a:t>print</a:t>
            </a:r>
            <a:r>
              <a:rPr lang="fr-FR" sz="2400" dirty="0">
                <a:solidFill>
                  <a:srgbClr val="080808"/>
                </a:solidFill>
                <a:effectLst/>
              </a:rPr>
              <a:t>(</a:t>
            </a:r>
            <a:r>
              <a:rPr lang="fr-FR" sz="2400" dirty="0" err="1">
                <a:solidFill>
                  <a:srgbClr val="080808"/>
                </a:solidFill>
                <a:effectLst/>
              </a:rPr>
              <a:t>weights.grad</a:t>
            </a:r>
            <a:r>
              <a:rPr lang="fr-FR" sz="2400" dirty="0">
                <a:solidFill>
                  <a:srgbClr val="080808"/>
                </a:solidFill>
                <a:effectLst/>
              </a:rPr>
              <a:t>)</a:t>
            </a:r>
            <a:br>
              <a:rPr lang="fr-FR" sz="2400" dirty="0">
                <a:solidFill>
                  <a:srgbClr val="080808"/>
                </a:solidFill>
                <a:effectLst/>
              </a:rPr>
            </a:br>
            <a:r>
              <a:rPr lang="fr-FR" sz="2400" dirty="0">
                <a:solidFill>
                  <a:srgbClr val="080808"/>
                </a:solidFill>
                <a:effectLst/>
              </a:rPr>
              <a:t>    </a:t>
            </a:r>
            <a:r>
              <a:rPr lang="fr-FR" sz="2400" dirty="0" err="1">
                <a:solidFill>
                  <a:srgbClr val="080808"/>
                </a:solidFill>
                <a:effectLst/>
              </a:rPr>
              <a:t>weights.grad.zero</a:t>
            </a:r>
            <a:r>
              <a:rPr lang="fr-FR" sz="2400" dirty="0">
                <a:solidFill>
                  <a:srgbClr val="080808"/>
                </a:solidFill>
                <a:effectLst/>
              </a:rPr>
              <a:t>_()</a:t>
            </a:r>
            <a:br>
              <a:rPr lang="fr-FR" sz="2400" dirty="0">
                <a:solidFill>
                  <a:srgbClr val="080808"/>
                </a:solidFill>
                <a:effectLst/>
              </a:rPr>
            </a:br>
            <a:endParaRPr lang="fr-FR" sz="2400" dirty="0">
              <a:solidFill>
                <a:srgbClr val="080808"/>
              </a:solidFill>
              <a:effectLst/>
            </a:endParaRPr>
          </a:p>
          <a:p>
            <a:r>
              <a:rPr lang="fr-FR" sz="2400" i="1" dirty="0">
                <a:solidFill>
                  <a:srgbClr val="8C8C8C"/>
                </a:solidFill>
                <a:effectLst/>
              </a:rPr>
              <a:t># </a:t>
            </a:r>
            <a:r>
              <a:rPr lang="fr-FR" sz="2400" i="1" dirty="0" err="1">
                <a:solidFill>
                  <a:srgbClr val="8C8C8C"/>
                </a:solidFill>
                <a:effectLst/>
              </a:rPr>
              <a:t>tensor</a:t>
            </a:r>
            <a:r>
              <a:rPr lang="fr-FR" sz="2400" i="1" dirty="0">
                <a:solidFill>
                  <a:srgbClr val="8C8C8C"/>
                </a:solidFill>
                <a:effectLst/>
              </a:rPr>
              <a:t>([3., 3., 3., 3.])</a:t>
            </a:r>
            <a:br>
              <a:rPr lang="fr-FR" sz="2400" i="1" dirty="0">
                <a:solidFill>
                  <a:srgbClr val="8C8C8C"/>
                </a:solidFill>
                <a:effectLst/>
              </a:rPr>
            </a:br>
            <a:r>
              <a:rPr lang="fr-FR" sz="2400" i="1" dirty="0">
                <a:solidFill>
                  <a:srgbClr val="8C8C8C"/>
                </a:solidFill>
                <a:effectLst/>
              </a:rPr>
              <a:t># </a:t>
            </a:r>
            <a:r>
              <a:rPr lang="fr-FR" sz="2400" i="1" dirty="0" err="1">
                <a:solidFill>
                  <a:srgbClr val="8C8C8C"/>
                </a:solidFill>
                <a:effectLst/>
              </a:rPr>
              <a:t>tensor</a:t>
            </a:r>
            <a:r>
              <a:rPr lang="fr-FR" sz="2400" i="1" dirty="0">
                <a:solidFill>
                  <a:srgbClr val="8C8C8C"/>
                </a:solidFill>
                <a:effectLst/>
              </a:rPr>
              <a:t>([3., 3., 3., 3.])</a:t>
            </a:r>
            <a:br>
              <a:rPr lang="fr-FR" sz="2400" i="1" dirty="0">
                <a:solidFill>
                  <a:srgbClr val="8C8C8C"/>
                </a:solidFill>
                <a:effectLst/>
              </a:rPr>
            </a:br>
            <a:r>
              <a:rPr lang="fr-FR" sz="2400" i="1" dirty="0">
                <a:solidFill>
                  <a:srgbClr val="8C8C8C"/>
                </a:solidFill>
                <a:effectLst/>
              </a:rPr>
              <a:t># </a:t>
            </a:r>
            <a:r>
              <a:rPr lang="fr-FR" sz="2400" i="1" dirty="0" err="1">
                <a:solidFill>
                  <a:srgbClr val="8C8C8C"/>
                </a:solidFill>
                <a:effectLst/>
              </a:rPr>
              <a:t>tensor</a:t>
            </a:r>
            <a:r>
              <a:rPr lang="fr-FR" sz="2400" i="1" dirty="0">
                <a:solidFill>
                  <a:srgbClr val="8C8C8C"/>
                </a:solidFill>
                <a:effectLst/>
              </a:rPr>
              <a:t>([3., 3., 3., 3.])</a:t>
            </a:r>
            <a:endParaRPr lang="fr-FR" sz="2400" dirty="0">
              <a:solidFill>
                <a:srgbClr val="080808"/>
              </a:solidFill>
              <a:effectLst/>
            </a:endParaRPr>
          </a:p>
        </p:txBody>
      </p:sp>
    </p:spTree>
    <p:extLst>
      <p:ext uri="{BB962C8B-B14F-4D97-AF65-F5344CB8AC3E}">
        <p14:creationId xmlns:p14="http://schemas.microsoft.com/office/powerpoint/2010/main" val="27162537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8B929-D985-F441-76A5-F57D4246E8F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6882367-1259-1DE7-7310-8F6088E79D13}"/>
              </a:ext>
            </a:extLst>
          </p:cNvPr>
          <p:cNvSpPr>
            <a:spLocks noGrp="1"/>
          </p:cNvSpPr>
          <p:nvPr>
            <p:ph type="title"/>
          </p:nvPr>
        </p:nvSpPr>
        <p:spPr/>
        <p:txBody>
          <a:bodyPr/>
          <a:lstStyle/>
          <a:p>
            <a:r>
              <a:rPr lang="en-GB" dirty="0"/>
              <a:t>Pytorch tutorial</a:t>
            </a:r>
            <a:br>
              <a:rPr lang="en-GB" dirty="0"/>
            </a:br>
            <a:r>
              <a:rPr lang="en-GB" sz="2800" b="1" dirty="0"/>
              <a:t>Neural Network – Backward pass</a:t>
            </a:r>
            <a:endParaRPr lang="en-GB" sz="2800" dirty="0"/>
          </a:p>
        </p:txBody>
      </p:sp>
      <p:sp>
        <p:nvSpPr>
          <p:cNvPr id="4" name="Espace réservé du pied de page 3">
            <a:extLst>
              <a:ext uri="{FF2B5EF4-FFF2-40B4-BE49-F238E27FC236}">
                <a16:creationId xmlns:a16="http://schemas.microsoft.com/office/drawing/2014/main" id="{9E9BFDF6-468E-8A0C-0AE8-3144AF6455B6}"/>
              </a:ext>
            </a:extLst>
          </p:cNvPr>
          <p:cNvSpPr>
            <a:spLocks noGrp="1"/>
          </p:cNvSpPr>
          <p:nvPr>
            <p:ph type="ftr" sz="quarter" idx="11"/>
          </p:nvPr>
        </p:nvSpPr>
        <p:spPr/>
        <p:txBody>
          <a:bodyPr/>
          <a:lstStyle/>
          <a:p>
            <a:r>
              <a:rPr lang="fr-FR"/>
              <a:t>Introduction to Neural Networks. Author: David Thébault</a:t>
            </a:r>
          </a:p>
        </p:txBody>
      </p:sp>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FEDC65C7-7D81-54CC-79AE-367D25242C55}"/>
                  </a:ext>
                </a:extLst>
              </p:cNvPr>
              <p:cNvSpPr txBox="1"/>
              <p:nvPr/>
            </p:nvSpPr>
            <p:spPr>
              <a:xfrm>
                <a:off x="977900" y="2235200"/>
                <a:ext cx="8178800" cy="4121150"/>
              </a:xfrm>
              <a:prstGeom prst="rect">
                <a:avLst/>
              </a:prstGeom>
              <a:noFill/>
            </p:spPr>
            <p:txBody>
              <a:bodyPr wrap="square" lIns="0" tIns="0" rIns="0" bIns="0" rtlCol="0">
                <a:noAutofit/>
              </a:bodyPr>
              <a:lstStyle/>
              <a:p>
                <a:r>
                  <a:rPr lang="en-GB" sz="1600" noProof="1">
                    <a:latin typeface="Cambria Math" panose="02040503050406030204" pitchFamily="18" charset="0"/>
                  </a:rPr>
                  <a:t>Mathematical formula with element-wise (_i) Pytorch derivative approach to demonstrate: </a:t>
                </a:r>
              </a:p>
              <a:p>
                <a:endParaRPr lang="en-GB" sz="1600" i="1" noProof="1">
                  <a:latin typeface="Cambria Math" panose="02040503050406030204" pitchFamily="18" charset="0"/>
                </a:endParaRPr>
              </a:p>
              <a:p>
                <a:pPr/>
                <a14:m>
                  <m:oMathPara xmlns:m="http://schemas.openxmlformats.org/officeDocument/2006/math">
                    <m:oMathParaPr>
                      <m:jc m:val="center"/>
                    </m:oMathParaPr>
                    <m:oMath xmlns:m="http://schemas.openxmlformats.org/officeDocument/2006/math">
                      <m:f>
                        <m:fPr>
                          <m:ctrlPr>
                            <a:rPr lang="en-GB" sz="1600" i="1">
                              <a:latin typeface="Cambria Math" panose="02040503050406030204" pitchFamily="18" charset="0"/>
                            </a:rPr>
                          </m:ctrlPr>
                        </m:fPr>
                        <m:num>
                          <m:r>
                            <a:rPr lang="en-GB" sz="1600" i="1">
                              <a:latin typeface="Cambria Math" panose="02040503050406030204" pitchFamily="18" charset="0"/>
                            </a:rPr>
                            <m:t>𝑑</m:t>
                          </m:r>
                          <m:r>
                            <a:rPr lang="fr-FR" sz="1600" i="1">
                              <a:latin typeface="Cambria Math" panose="02040503050406030204" pitchFamily="18" charset="0"/>
                            </a:rPr>
                            <m:t>𝑚𝑜𝑑𝑒𝑙𝑂𝑢𝑡𝑝𝑢𝑡</m:t>
                          </m:r>
                        </m:num>
                        <m:den>
                          <m:r>
                            <a:rPr lang="en-GB" sz="1600" i="1">
                              <a:latin typeface="Cambria Math" panose="02040503050406030204" pitchFamily="18" charset="0"/>
                            </a:rPr>
                            <m:t>𝑑</m:t>
                          </m:r>
                          <m:r>
                            <a:rPr lang="fr-FR" sz="1600" i="1">
                              <a:latin typeface="Cambria Math" panose="02040503050406030204" pitchFamily="18" charset="0"/>
                            </a:rPr>
                            <m:t>𝑤</m:t>
                          </m:r>
                        </m:den>
                      </m:f>
                      <m:r>
                        <a:rPr lang="fr-FR" sz="1600" b="0" i="1" smtClean="0">
                          <a:latin typeface="Cambria Math" panose="02040503050406030204" pitchFamily="18" charset="0"/>
                        </a:rPr>
                        <m:t>=</m:t>
                      </m:r>
                      <m:r>
                        <a:rPr lang="en-GB" sz="1600" i="1">
                          <a:latin typeface="Cambria Math" panose="02040503050406030204" pitchFamily="18" charset="0"/>
                        </a:rPr>
                        <m:t>(</m:t>
                      </m:r>
                      <m:r>
                        <a:rPr lang="fr-FR" sz="1600" i="1">
                          <a:latin typeface="Cambria Math" panose="02040503050406030204" pitchFamily="18" charset="0"/>
                        </a:rPr>
                        <m:t>3., 3., 3., 3.</m:t>
                      </m:r>
                      <m:r>
                        <a:rPr lang="en-GB" sz="1600" i="1">
                          <a:latin typeface="Cambria Math" panose="02040503050406030204" pitchFamily="18" charset="0"/>
                        </a:rPr>
                        <m:t>) </m:t>
                      </m:r>
                    </m:oMath>
                  </m:oMathPara>
                </a14:m>
                <a:endParaRPr lang="en-GB" sz="1600" noProof="1">
                  <a:latin typeface="Cambria Math" panose="02040503050406030204" pitchFamily="18" charset="0"/>
                </a:endParaRPr>
              </a:p>
              <a:p>
                <a:endParaRPr lang="en-GB" sz="1600" i="1" dirty="0">
                  <a:latin typeface="Cambria Math" panose="02040503050406030204" pitchFamily="18" charset="0"/>
                </a:endParaRPr>
              </a:p>
              <a:p>
                <a:endParaRPr lang="fr-FR" sz="16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f>
                        <m:fPr>
                          <m:ctrlPr>
                            <a:rPr lang="en-GB" sz="1600" i="1" smtClean="0">
                              <a:latin typeface="Cambria Math" panose="02040503050406030204" pitchFamily="18" charset="0"/>
                            </a:rPr>
                          </m:ctrlPr>
                        </m:fPr>
                        <m:num>
                          <m:r>
                            <a:rPr lang="en-GB" sz="1600" i="1" smtClean="0">
                              <a:latin typeface="Cambria Math" panose="02040503050406030204" pitchFamily="18" charset="0"/>
                            </a:rPr>
                            <m:t>𝑑</m:t>
                          </m:r>
                          <m:r>
                            <a:rPr lang="fr-FR" sz="1600" b="0" i="1" smtClean="0">
                              <a:latin typeface="Cambria Math" panose="02040503050406030204" pitchFamily="18" charset="0"/>
                            </a:rPr>
                            <m:t>𝑚𝑜𝑑𝑒𝑙𝑂𝑢𝑡𝑝𝑢𝑡</m:t>
                          </m:r>
                        </m:num>
                        <m:den>
                          <m:r>
                            <a:rPr lang="en-GB" sz="1600" i="1" smtClean="0">
                              <a:latin typeface="Cambria Math" panose="02040503050406030204" pitchFamily="18" charset="0"/>
                            </a:rPr>
                            <m:t>𝑑</m:t>
                          </m:r>
                          <m:sSub>
                            <m:sSubPr>
                              <m:ctrlPr>
                                <a:rPr lang="en-GB" sz="1600" b="0" i="1" smtClean="0">
                                  <a:latin typeface="Cambria Math" panose="02040503050406030204" pitchFamily="18" charset="0"/>
                                </a:rPr>
                              </m:ctrlPr>
                            </m:sSubPr>
                            <m:e>
                              <m:r>
                                <a:rPr lang="fr-FR" sz="1600" b="0" i="1" smtClean="0">
                                  <a:latin typeface="Cambria Math" panose="02040503050406030204" pitchFamily="18" charset="0"/>
                                </a:rPr>
                                <m:t>𝑤</m:t>
                              </m:r>
                            </m:e>
                            <m:sub>
                              <m:r>
                                <a:rPr lang="fr-FR" sz="1600" b="0" i="1" smtClean="0">
                                  <a:latin typeface="Cambria Math" panose="02040503050406030204" pitchFamily="18" charset="0"/>
                                </a:rPr>
                                <m:t>1</m:t>
                              </m:r>
                            </m:sub>
                          </m:sSub>
                        </m:den>
                      </m:f>
                      <m:r>
                        <a:rPr lang="en-GB" sz="1600" b="0" i="1" smtClean="0">
                          <a:latin typeface="Cambria Math" panose="02040503050406030204" pitchFamily="18" charset="0"/>
                        </a:rPr>
                        <m:t>=</m:t>
                      </m:r>
                      <m:f>
                        <m:fPr>
                          <m:ctrlPr>
                            <a:rPr lang="en-GB" sz="1600" b="0" i="1" smtClean="0">
                              <a:latin typeface="Cambria Math" panose="02040503050406030204" pitchFamily="18" charset="0"/>
                            </a:rPr>
                          </m:ctrlPr>
                        </m:fPr>
                        <m:num>
                          <m:r>
                            <a:rPr lang="en-GB" sz="1600" b="0" i="1" smtClean="0">
                              <a:latin typeface="Cambria Math" panose="02040503050406030204" pitchFamily="18" charset="0"/>
                            </a:rPr>
                            <m:t>𝑑</m:t>
                          </m:r>
                          <m:nary>
                            <m:naryPr>
                              <m:chr m:val="∑"/>
                              <m:subHide m:val="on"/>
                              <m:supHide m:val="on"/>
                              <m:ctrlPr>
                                <a:rPr lang="en-GB" sz="1600" i="1">
                                  <a:latin typeface="Cambria Math" panose="02040503050406030204" pitchFamily="18" charset="0"/>
                                </a:rPr>
                              </m:ctrlPr>
                            </m:naryPr>
                            <m:sub/>
                            <m:sup/>
                            <m:e>
                              <m:sSub>
                                <m:sSubPr>
                                  <m:ctrlPr>
                                    <a:rPr lang="en-GB" sz="1600" i="1">
                                      <a:latin typeface="Cambria Math" panose="02040503050406030204" pitchFamily="18" charset="0"/>
                                    </a:rPr>
                                  </m:ctrlPr>
                                </m:sSubPr>
                                <m:e>
                                  <m:r>
                                    <a:rPr lang="fr-FR" sz="1600" b="0" i="1" smtClean="0">
                                      <a:latin typeface="Cambria Math" panose="02040503050406030204" pitchFamily="18" charset="0"/>
                                    </a:rPr>
                                    <m:t>3</m:t>
                                  </m:r>
                                  <m:r>
                                    <a:rPr lang="en-GB" sz="1600" i="1">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rPr>
                                    <m:t>𝑤</m:t>
                                  </m:r>
                                </m:e>
                                <m:sub>
                                  <m:r>
                                    <a:rPr lang="en-GB" sz="1600" i="1">
                                      <a:latin typeface="Cambria Math" panose="02040503050406030204" pitchFamily="18" charset="0"/>
                                    </a:rPr>
                                    <m:t>𝑖</m:t>
                                  </m:r>
                                </m:sub>
                              </m:sSub>
                            </m:e>
                          </m:nary>
                        </m:num>
                        <m:den>
                          <m:r>
                            <a:rPr lang="en-GB" sz="1600" b="0" i="1" smtClean="0">
                              <a:latin typeface="Cambria Math" panose="02040503050406030204" pitchFamily="18" charset="0"/>
                            </a:rPr>
                            <m:t>𝑑</m:t>
                          </m:r>
                          <m:sSub>
                            <m:sSubPr>
                              <m:ctrlPr>
                                <a:rPr lang="en-GB" sz="1600" b="0" i="1" smtClean="0">
                                  <a:latin typeface="Cambria Math" panose="02040503050406030204" pitchFamily="18" charset="0"/>
                                </a:rPr>
                              </m:ctrlPr>
                            </m:sSubPr>
                            <m:e>
                              <m:r>
                                <a:rPr lang="fr-FR" sz="1600" i="1">
                                  <a:latin typeface="Cambria Math" panose="02040503050406030204" pitchFamily="18" charset="0"/>
                                </a:rPr>
                                <m:t>𝑤</m:t>
                              </m:r>
                            </m:e>
                            <m:sub>
                              <m:r>
                                <a:rPr lang="fr-FR" sz="1600" b="0" i="1" smtClean="0">
                                  <a:latin typeface="Cambria Math" panose="02040503050406030204" pitchFamily="18" charset="0"/>
                                </a:rPr>
                                <m:t>1</m:t>
                              </m:r>
                            </m:sub>
                          </m:sSub>
                        </m:den>
                      </m:f>
                      <m:r>
                        <a:rPr lang="fr-FR" sz="1600" b="0" i="1" smtClean="0">
                          <a:latin typeface="Cambria Math" panose="02040503050406030204" pitchFamily="18" charset="0"/>
                        </a:rPr>
                        <m:t>=3</m:t>
                      </m:r>
                      <m:r>
                        <a:rPr lang="en-GB" sz="1600" i="1">
                          <a:latin typeface="Cambria Math" panose="02040503050406030204" pitchFamily="18" charset="0"/>
                          <a:ea typeface="Cambria Math" panose="02040503050406030204" pitchFamily="18" charset="0"/>
                        </a:rPr>
                        <m:t>×</m:t>
                      </m:r>
                      <m:nary>
                        <m:naryPr>
                          <m:chr m:val="∑"/>
                          <m:subHide m:val="on"/>
                          <m:supHide m:val="on"/>
                          <m:ctrlPr>
                            <a:rPr lang="en-GB" sz="1600" i="1" smtClean="0">
                              <a:latin typeface="Cambria Math" panose="02040503050406030204" pitchFamily="18" charset="0"/>
                              <a:ea typeface="Cambria Math" panose="02040503050406030204" pitchFamily="18" charset="0"/>
                            </a:rPr>
                          </m:ctrlPr>
                        </m:naryPr>
                        <m:sub/>
                        <m:sup/>
                        <m:e>
                          <m:f>
                            <m:fPr>
                              <m:ctrlPr>
                                <a:rPr lang="en-GB" sz="1600" i="1" smtClean="0">
                                  <a:latin typeface="Cambria Math" panose="02040503050406030204" pitchFamily="18" charset="0"/>
                                  <a:ea typeface="Cambria Math" panose="02040503050406030204" pitchFamily="18" charset="0"/>
                                </a:rPr>
                              </m:ctrlPr>
                            </m:fPr>
                            <m:num>
                              <m:r>
                                <a:rPr lang="en-GB" sz="1600" i="1" smtClean="0">
                                  <a:latin typeface="Cambria Math" panose="02040503050406030204" pitchFamily="18" charset="0"/>
                                  <a:ea typeface="Cambria Math" panose="02040503050406030204" pitchFamily="18" charset="0"/>
                                </a:rPr>
                                <m:t>𝑑</m:t>
                              </m:r>
                              <m:sSub>
                                <m:sSubPr>
                                  <m:ctrlPr>
                                    <a:rPr lang="fr-FR" sz="1600" b="0" i="1" smtClean="0">
                                      <a:latin typeface="Cambria Math" panose="02040503050406030204" pitchFamily="18" charset="0"/>
                                      <a:ea typeface="Cambria Math" panose="02040503050406030204" pitchFamily="18" charset="0"/>
                                    </a:rPr>
                                  </m:ctrlPr>
                                </m:sSubPr>
                                <m:e>
                                  <m:r>
                                    <a:rPr lang="fr-FR" sz="1600" b="0" i="1" smtClean="0">
                                      <a:latin typeface="Cambria Math" panose="02040503050406030204" pitchFamily="18" charset="0"/>
                                      <a:ea typeface="Cambria Math" panose="02040503050406030204" pitchFamily="18" charset="0"/>
                                    </a:rPr>
                                    <m:t>𝑤</m:t>
                                  </m:r>
                                </m:e>
                                <m:sub>
                                  <m:r>
                                    <a:rPr lang="fr-FR" sz="1600" b="0" i="1" smtClean="0">
                                      <a:latin typeface="Cambria Math" panose="02040503050406030204" pitchFamily="18" charset="0"/>
                                      <a:ea typeface="Cambria Math" panose="02040503050406030204" pitchFamily="18" charset="0"/>
                                    </a:rPr>
                                    <m:t>𝑖</m:t>
                                  </m:r>
                                </m:sub>
                              </m:sSub>
                            </m:num>
                            <m:den>
                              <m:sSub>
                                <m:sSubPr>
                                  <m:ctrlPr>
                                    <a:rPr lang="fr-FR" sz="1600" b="0" i="1" smtClean="0">
                                      <a:latin typeface="Cambria Math" panose="02040503050406030204" pitchFamily="18" charset="0"/>
                                      <a:ea typeface="Cambria Math" panose="02040503050406030204" pitchFamily="18" charset="0"/>
                                    </a:rPr>
                                  </m:ctrlPr>
                                </m:sSubPr>
                                <m:e>
                                  <m:r>
                                    <a:rPr lang="fr-FR" sz="1600" b="0" i="1" smtClean="0">
                                      <a:latin typeface="Cambria Math" panose="02040503050406030204" pitchFamily="18" charset="0"/>
                                      <a:ea typeface="Cambria Math" panose="02040503050406030204" pitchFamily="18" charset="0"/>
                                    </a:rPr>
                                    <m:t>𝑑𝑤</m:t>
                                  </m:r>
                                </m:e>
                                <m:sub>
                                  <m:r>
                                    <a:rPr lang="fr-FR" sz="1600" b="0" i="1" smtClean="0">
                                      <a:latin typeface="Cambria Math" panose="02040503050406030204" pitchFamily="18" charset="0"/>
                                      <a:ea typeface="Cambria Math" panose="02040503050406030204" pitchFamily="18" charset="0"/>
                                    </a:rPr>
                                    <m:t>1</m:t>
                                  </m:r>
                                </m:sub>
                              </m:sSub>
                            </m:den>
                          </m:f>
                          <m:r>
                            <a:rPr lang="fr-FR" sz="1600" b="0" i="1" smtClean="0">
                              <a:latin typeface="Cambria Math" panose="02040503050406030204" pitchFamily="18" charset="0"/>
                              <a:ea typeface="Cambria Math" panose="02040503050406030204" pitchFamily="18" charset="0"/>
                            </a:rPr>
                            <m:t>=</m:t>
                          </m:r>
                          <m:r>
                            <a:rPr lang="fr-FR" sz="1600" i="1">
                              <a:latin typeface="Cambria Math" panose="02040503050406030204" pitchFamily="18" charset="0"/>
                            </a:rPr>
                            <m:t>3</m:t>
                          </m:r>
                          <m:r>
                            <a:rPr lang="en-GB" sz="1600" i="1">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1</m:t>
                          </m:r>
                        </m:e>
                      </m:nary>
                      <m:r>
                        <a:rPr lang="fr-FR" sz="1600" b="0" i="1" smtClean="0">
                          <a:latin typeface="Cambria Math" panose="02040503050406030204" pitchFamily="18" charset="0"/>
                          <a:ea typeface="Cambria Math" panose="02040503050406030204" pitchFamily="18" charset="0"/>
                        </a:rPr>
                        <m:t>=3</m:t>
                      </m:r>
                    </m:oMath>
                  </m:oMathPara>
                </a14:m>
                <a:endParaRPr lang="fr-FR" sz="1600" i="1" dirty="0">
                  <a:latin typeface="Cambria Math" panose="02040503050406030204" pitchFamily="18" charset="0"/>
                  <a:ea typeface="Cambria Math" panose="02040503050406030204" pitchFamily="18" charset="0"/>
                </a:endParaRPr>
              </a:p>
              <a:p>
                <a:endParaRPr lang="fr-FR" sz="1600" i="1" dirty="0">
                  <a:latin typeface="Cambria Math" panose="02040503050406030204" pitchFamily="18" charset="0"/>
                </a:endParaRPr>
              </a:p>
              <a:p>
                <a:r>
                  <a:rPr lang="fr-FR" sz="1600" i="1" dirty="0">
                    <a:latin typeface="Cambria Math" panose="02040503050406030204" pitchFamily="18" charset="0"/>
                  </a:rPr>
                  <a:t>The </a:t>
                </a:r>
                <a:r>
                  <a:rPr lang="fr-FR" sz="1600" i="1" dirty="0" err="1">
                    <a:latin typeface="Cambria Math" panose="02040503050406030204" pitchFamily="18" charset="0"/>
                  </a:rPr>
                  <a:t>same</a:t>
                </a:r>
                <a:r>
                  <a:rPr lang="fr-FR" sz="1600" i="1" dirty="0">
                    <a:latin typeface="Cambria Math" panose="02040503050406030204" pitchFamily="18" charset="0"/>
                  </a:rPr>
                  <a:t> </a:t>
                </a:r>
                <a:r>
                  <a:rPr lang="fr-FR" sz="1600" i="1" dirty="0" err="1">
                    <a:latin typeface="Cambria Math" panose="02040503050406030204" pitchFamily="18" charset="0"/>
                  </a:rPr>
                  <a:t>way</a:t>
                </a:r>
                <a:r>
                  <a:rPr lang="fr-FR" sz="1600" i="1" dirty="0">
                    <a:latin typeface="Cambria Math" panose="02040503050406030204" pitchFamily="18" charset="0"/>
                  </a:rPr>
                  <a:t> </a:t>
                </a:r>
                <a:r>
                  <a:rPr lang="fr-FR" sz="1600" i="1" dirty="0" err="1">
                    <a:latin typeface="Cambria Math" panose="02040503050406030204" pitchFamily="18" charset="0"/>
                  </a:rPr>
                  <a:t>we</a:t>
                </a:r>
                <a:r>
                  <a:rPr lang="fr-FR" sz="1600" i="1" dirty="0">
                    <a:latin typeface="Cambria Math" panose="02040503050406030204" pitchFamily="18" charset="0"/>
                  </a:rPr>
                  <a:t> </a:t>
                </a:r>
                <a:r>
                  <a:rPr lang="fr-FR" sz="1600" i="1" dirty="0" err="1">
                    <a:latin typeface="Cambria Math" panose="02040503050406030204" pitchFamily="18" charset="0"/>
                  </a:rPr>
                  <a:t>obtain</a:t>
                </a:r>
                <a:endParaRPr lang="fr-FR" sz="1600" i="1" dirty="0">
                  <a:latin typeface="Cambria Math" panose="02040503050406030204" pitchFamily="18" charset="0"/>
                </a:endParaRPr>
              </a:p>
              <a:p>
                <a:endParaRPr lang="fr-FR" sz="16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f>
                        <m:fPr>
                          <m:ctrlPr>
                            <a:rPr lang="en-GB" sz="1600" i="1">
                              <a:latin typeface="Cambria Math" panose="02040503050406030204" pitchFamily="18" charset="0"/>
                            </a:rPr>
                          </m:ctrlPr>
                        </m:fPr>
                        <m:num>
                          <m:r>
                            <a:rPr lang="en-GB" sz="1600" i="1">
                              <a:latin typeface="Cambria Math" panose="02040503050406030204" pitchFamily="18" charset="0"/>
                            </a:rPr>
                            <m:t>𝑑</m:t>
                          </m:r>
                          <m:r>
                            <a:rPr lang="fr-FR" sz="1600" i="1">
                              <a:latin typeface="Cambria Math" panose="02040503050406030204" pitchFamily="18" charset="0"/>
                            </a:rPr>
                            <m:t>𝑚𝑜𝑑𝑒𝑙𝑂𝑢𝑡𝑝𝑢𝑡</m:t>
                          </m:r>
                        </m:num>
                        <m:den>
                          <m:r>
                            <a:rPr lang="en-GB" sz="1600" i="1">
                              <a:latin typeface="Cambria Math" panose="02040503050406030204" pitchFamily="18" charset="0"/>
                            </a:rPr>
                            <m:t>𝑑</m:t>
                          </m:r>
                          <m:sSub>
                            <m:sSubPr>
                              <m:ctrlPr>
                                <a:rPr lang="en-GB" sz="1600" i="1">
                                  <a:latin typeface="Cambria Math" panose="02040503050406030204" pitchFamily="18" charset="0"/>
                                </a:rPr>
                              </m:ctrlPr>
                            </m:sSubPr>
                            <m:e>
                              <m:r>
                                <a:rPr lang="fr-FR" sz="1600" i="1">
                                  <a:latin typeface="Cambria Math" panose="02040503050406030204" pitchFamily="18" charset="0"/>
                                </a:rPr>
                                <m:t>𝑤</m:t>
                              </m:r>
                            </m:e>
                            <m:sub>
                              <m:r>
                                <a:rPr lang="fr-FR" sz="1600" b="0" i="1" smtClean="0">
                                  <a:latin typeface="Cambria Math" panose="02040503050406030204" pitchFamily="18" charset="0"/>
                                </a:rPr>
                                <m:t>2</m:t>
                              </m:r>
                            </m:sub>
                          </m:sSub>
                        </m:den>
                      </m:f>
                      <m:r>
                        <a:rPr lang="en-GB" sz="1600" i="1">
                          <a:latin typeface="Cambria Math" panose="02040503050406030204" pitchFamily="18" charset="0"/>
                        </a:rPr>
                        <m:t>=</m:t>
                      </m:r>
                      <m:r>
                        <a:rPr lang="fr-FR" sz="1600" b="0" i="1" smtClean="0">
                          <a:latin typeface="Cambria Math" panose="02040503050406030204" pitchFamily="18" charset="0"/>
                        </a:rPr>
                        <m:t>3</m:t>
                      </m:r>
                      <m:r>
                        <a:rPr lang="fr-FR" sz="1600" b="0" i="0" smtClean="0">
                          <a:latin typeface="Cambria Math" panose="02040503050406030204" pitchFamily="18" charset="0"/>
                        </a:rPr>
                        <m:t>, </m:t>
                      </m:r>
                      <m:f>
                        <m:fPr>
                          <m:ctrlPr>
                            <a:rPr lang="en-GB" sz="1600" i="1">
                              <a:latin typeface="Cambria Math" panose="02040503050406030204" pitchFamily="18" charset="0"/>
                            </a:rPr>
                          </m:ctrlPr>
                        </m:fPr>
                        <m:num>
                          <m:r>
                            <a:rPr lang="en-GB" sz="1600" i="1">
                              <a:latin typeface="Cambria Math" panose="02040503050406030204" pitchFamily="18" charset="0"/>
                            </a:rPr>
                            <m:t>𝑑</m:t>
                          </m:r>
                          <m:r>
                            <a:rPr lang="fr-FR" sz="1600" i="1">
                              <a:latin typeface="Cambria Math" panose="02040503050406030204" pitchFamily="18" charset="0"/>
                            </a:rPr>
                            <m:t>𝑚𝑜𝑑𝑒𝑙𝑂𝑢𝑡𝑝𝑢𝑡</m:t>
                          </m:r>
                        </m:num>
                        <m:den>
                          <m:r>
                            <a:rPr lang="en-GB" sz="1600" i="1">
                              <a:latin typeface="Cambria Math" panose="02040503050406030204" pitchFamily="18" charset="0"/>
                            </a:rPr>
                            <m:t>𝑑</m:t>
                          </m:r>
                          <m:sSub>
                            <m:sSubPr>
                              <m:ctrlPr>
                                <a:rPr lang="en-GB" sz="1600" i="1">
                                  <a:latin typeface="Cambria Math" panose="02040503050406030204" pitchFamily="18" charset="0"/>
                                </a:rPr>
                              </m:ctrlPr>
                            </m:sSubPr>
                            <m:e>
                              <m:r>
                                <a:rPr lang="fr-FR" sz="1600" i="1">
                                  <a:latin typeface="Cambria Math" panose="02040503050406030204" pitchFamily="18" charset="0"/>
                                </a:rPr>
                                <m:t>𝑤</m:t>
                              </m:r>
                            </m:e>
                            <m:sub>
                              <m:r>
                                <a:rPr lang="fr-FR" sz="1600" b="0" i="1" smtClean="0">
                                  <a:latin typeface="Cambria Math" panose="02040503050406030204" pitchFamily="18" charset="0"/>
                                </a:rPr>
                                <m:t>3</m:t>
                              </m:r>
                            </m:sub>
                          </m:sSub>
                        </m:den>
                      </m:f>
                      <m:r>
                        <a:rPr lang="en-GB" sz="1600" i="1">
                          <a:latin typeface="Cambria Math" panose="02040503050406030204" pitchFamily="18" charset="0"/>
                        </a:rPr>
                        <m:t>=</m:t>
                      </m:r>
                      <m:r>
                        <a:rPr lang="fr-FR" sz="1600" b="0" i="1" smtClean="0">
                          <a:latin typeface="Cambria Math" panose="02040503050406030204" pitchFamily="18" charset="0"/>
                        </a:rPr>
                        <m:t>3, </m:t>
                      </m:r>
                      <m:f>
                        <m:fPr>
                          <m:ctrlPr>
                            <a:rPr lang="en-GB" sz="1600" i="1">
                              <a:latin typeface="Cambria Math" panose="02040503050406030204" pitchFamily="18" charset="0"/>
                            </a:rPr>
                          </m:ctrlPr>
                        </m:fPr>
                        <m:num>
                          <m:r>
                            <a:rPr lang="en-GB" sz="1600" i="1">
                              <a:latin typeface="Cambria Math" panose="02040503050406030204" pitchFamily="18" charset="0"/>
                            </a:rPr>
                            <m:t>𝑑</m:t>
                          </m:r>
                          <m:r>
                            <a:rPr lang="fr-FR" sz="1600" i="1">
                              <a:latin typeface="Cambria Math" panose="02040503050406030204" pitchFamily="18" charset="0"/>
                            </a:rPr>
                            <m:t>𝑚𝑜𝑑𝑒𝑙𝑂𝑢𝑡𝑝𝑢𝑡</m:t>
                          </m:r>
                        </m:num>
                        <m:den>
                          <m:r>
                            <a:rPr lang="en-GB" sz="1600" i="1">
                              <a:latin typeface="Cambria Math" panose="02040503050406030204" pitchFamily="18" charset="0"/>
                            </a:rPr>
                            <m:t>𝑑</m:t>
                          </m:r>
                          <m:sSub>
                            <m:sSubPr>
                              <m:ctrlPr>
                                <a:rPr lang="en-GB" sz="1600" i="1">
                                  <a:latin typeface="Cambria Math" panose="02040503050406030204" pitchFamily="18" charset="0"/>
                                </a:rPr>
                              </m:ctrlPr>
                            </m:sSubPr>
                            <m:e>
                              <m:r>
                                <a:rPr lang="fr-FR" sz="1600" i="1">
                                  <a:latin typeface="Cambria Math" panose="02040503050406030204" pitchFamily="18" charset="0"/>
                                </a:rPr>
                                <m:t>𝑤</m:t>
                              </m:r>
                            </m:e>
                            <m:sub>
                              <m:r>
                                <a:rPr lang="fr-FR" sz="1600" b="0" i="1" smtClean="0">
                                  <a:latin typeface="Cambria Math" panose="02040503050406030204" pitchFamily="18" charset="0"/>
                                </a:rPr>
                                <m:t>4</m:t>
                              </m:r>
                            </m:sub>
                          </m:sSub>
                        </m:den>
                      </m:f>
                      <m:r>
                        <a:rPr lang="en-GB" sz="1600" i="1">
                          <a:latin typeface="Cambria Math" panose="02040503050406030204" pitchFamily="18" charset="0"/>
                        </a:rPr>
                        <m:t>=</m:t>
                      </m:r>
                      <m:r>
                        <a:rPr lang="fr-FR" sz="1600" b="0" i="1" smtClean="0">
                          <a:latin typeface="Cambria Math" panose="02040503050406030204" pitchFamily="18" charset="0"/>
                        </a:rPr>
                        <m:t>3</m:t>
                      </m:r>
                    </m:oMath>
                  </m:oMathPara>
                </a14:m>
                <a:endParaRPr lang="en-GB" sz="1600" dirty="0"/>
              </a:p>
              <a:p>
                <a:endParaRPr lang="en-GB" sz="1600" dirty="0"/>
              </a:p>
            </p:txBody>
          </p:sp>
        </mc:Choice>
        <mc:Fallback xmlns="">
          <p:sp>
            <p:nvSpPr>
              <p:cNvPr id="7" name="ZoneTexte 6">
                <a:extLst>
                  <a:ext uri="{FF2B5EF4-FFF2-40B4-BE49-F238E27FC236}">
                    <a16:creationId xmlns:a16="http://schemas.microsoft.com/office/drawing/2014/main" id="{FEDC65C7-7D81-54CC-79AE-367D25242C55}"/>
                  </a:ext>
                </a:extLst>
              </p:cNvPr>
              <p:cNvSpPr txBox="1">
                <a:spLocks noRot="1" noChangeAspect="1" noMove="1" noResize="1" noEditPoints="1" noAdjustHandles="1" noChangeArrowheads="1" noChangeShapeType="1" noTextEdit="1"/>
              </p:cNvSpPr>
              <p:nvPr/>
            </p:nvSpPr>
            <p:spPr>
              <a:xfrm>
                <a:off x="977900" y="2235200"/>
                <a:ext cx="8178800" cy="4121150"/>
              </a:xfrm>
              <a:prstGeom prst="rect">
                <a:avLst/>
              </a:prstGeom>
              <a:blipFill>
                <a:blip r:embed="rId3"/>
                <a:stretch>
                  <a:fillRect l="-1395" t="-1846"/>
                </a:stretch>
              </a:blipFill>
            </p:spPr>
            <p:txBody>
              <a:bodyPr/>
              <a:lstStyle/>
              <a:p>
                <a:r>
                  <a:rPr lang="en-GB">
                    <a:noFill/>
                  </a:rPr>
                  <a:t> </a:t>
                </a:r>
              </a:p>
            </p:txBody>
          </p:sp>
        </mc:Fallback>
      </mc:AlternateContent>
    </p:spTree>
    <p:extLst>
      <p:ext uri="{BB962C8B-B14F-4D97-AF65-F5344CB8AC3E}">
        <p14:creationId xmlns:p14="http://schemas.microsoft.com/office/powerpoint/2010/main" val="4960109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9329A8E-E6BC-5F10-2A95-394865D57A64}"/>
              </a:ext>
            </a:extLst>
          </p:cNvPr>
          <p:cNvSpPr>
            <a:spLocks noGrp="1"/>
          </p:cNvSpPr>
          <p:nvPr>
            <p:ph type="title"/>
          </p:nvPr>
        </p:nvSpPr>
        <p:spPr/>
        <p:txBody>
          <a:bodyPr/>
          <a:lstStyle/>
          <a:p>
            <a:r>
              <a:rPr lang="en-GB" dirty="0"/>
              <a:t>Pytorch tutorial</a:t>
            </a:r>
            <a:br>
              <a:rPr lang="en-GB" dirty="0"/>
            </a:br>
            <a:r>
              <a:rPr lang="en-GB" sz="2400" b="1" dirty="0"/>
              <a:t>Neural Network – </a:t>
            </a:r>
            <a:r>
              <a:rPr lang="en-GB" sz="2400" b="1" dirty="0">
                <a:highlight>
                  <a:srgbClr val="FFFF00"/>
                </a:highlight>
              </a:rPr>
              <a:t>Optimizer SGD</a:t>
            </a:r>
            <a:endParaRPr lang="en-GB" sz="1600" dirty="0">
              <a:highlight>
                <a:srgbClr val="FFFF00"/>
              </a:highlight>
            </a:endParaRPr>
          </a:p>
        </p:txBody>
      </p:sp>
      <p:sp>
        <p:nvSpPr>
          <p:cNvPr id="4" name="Espace réservé du pied de page 3">
            <a:extLst>
              <a:ext uri="{FF2B5EF4-FFF2-40B4-BE49-F238E27FC236}">
                <a16:creationId xmlns:a16="http://schemas.microsoft.com/office/drawing/2014/main" id="{5DDA0D1D-5555-0361-FC34-6D5F092A72BB}"/>
              </a:ext>
            </a:extLst>
          </p:cNvPr>
          <p:cNvSpPr>
            <a:spLocks noGrp="1"/>
          </p:cNvSpPr>
          <p:nvPr>
            <p:ph type="ftr" sz="quarter" idx="11"/>
          </p:nvPr>
        </p:nvSpPr>
        <p:spPr/>
        <p:txBody>
          <a:bodyPr/>
          <a:lstStyle/>
          <a:p>
            <a:r>
              <a:rPr lang="fr-FR"/>
              <a:t>Introduction to Neural Networks. Author: David Thébault</a:t>
            </a:r>
          </a:p>
        </p:txBody>
      </p:sp>
      <p:sp>
        <p:nvSpPr>
          <p:cNvPr id="7" name="ZoneTexte 6">
            <a:extLst>
              <a:ext uri="{FF2B5EF4-FFF2-40B4-BE49-F238E27FC236}">
                <a16:creationId xmlns:a16="http://schemas.microsoft.com/office/drawing/2014/main" id="{3E0C008C-9E77-CCBC-B9AC-97F4997FA415}"/>
              </a:ext>
            </a:extLst>
          </p:cNvPr>
          <p:cNvSpPr txBox="1"/>
          <p:nvPr/>
        </p:nvSpPr>
        <p:spPr>
          <a:xfrm>
            <a:off x="977900" y="1690688"/>
            <a:ext cx="11099800" cy="4524315"/>
          </a:xfrm>
          <a:prstGeom prst="rect">
            <a:avLst/>
          </a:prstGeom>
          <a:noFill/>
        </p:spPr>
        <p:txBody>
          <a:bodyPr wrap="square">
            <a:spAutoFit/>
          </a:bodyPr>
          <a:lstStyle/>
          <a:p>
            <a:r>
              <a:rPr lang="fr-FR" sz="2400" i="1" dirty="0">
                <a:solidFill>
                  <a:srgbClr val="8C8C8C"/>
                </a:solidFill>
                <a:effectLst/>
              </a:rPr>
              <a:t># Important: to </a:t>
            </a:r>
            <a:r>
              <a:rPr lang="fr-FR" sz="2400" i="1" dirty="0" err="1">
                <a:solidFill>
                  <a:srgbClr val="8C8C8C"/>
                </a:solidFill>
                <a:effectLst/>
              </a:rPr>
              <a:t>think</a:t>
            </a:r>
            <a:r>
              <a:rPr lang="fr-FR" sz="2400" i="1" dirty="0">
                <a:solidFill>
                  <a:srgbClr val="8C8C8C"/>
                </a:solidFill>
                <a:effectLst/>
              </a:rPr>
              <a:t> about </a:t>
            </a:r>
            <a:r>
              <a:rPr lang="fr-FR" sz="2400" i="1" dirty="0" err="1">
                <a:solidFill>
                  <a:srgbClr val="8C8C8C"/>
                </a:solidFill>
                <a:effectLst/>
              </a:rPr>
              <a:t>weights.grad.zero</a:t>
            </a:r>
            <a:r>
              <a:rPr lang="fr-FR" sz="2400" i="1" dirty="0">
                <a:solidFill>
                  <a:srgbClr val="8C8C8C"/>
                </a:solidFill>
                <a:effectLst/>
              </a:rPr>
              <a:t>_()</a:t>
            </a:r>
            <a:br>
              <a:rPr lang="fr-FR" sz="2400" i="1" dirty="0">
                <a:solidFill>
                  <a:srgbClr val="8C8C8C"/>
                </a:solidFill>
                <a:effectLst/>
              </a:rPr>
            </a:br>
            <a:r>
              <a:rPr lang="fr-FR" sz="2400" i="1" dirty="0">
                <a:solidFill>
                  <a:srgbClr val="8C8C8C"/>
                </a:solidFill>
                <a:effectLst/>
              </a:rPr>
              <a:t># </a:t>
            </a:r>
            <a:r>
              <a:rPr lang="fr-FR" sz="2400" i="1" dirty="0" err="1">
                <a:solidFill>
                  <a:srgbClr val="8C8C8C"/>
                </a:solidFill>
                <a:effectLst/>
              </a:rPr>
              <a:t>otherwise</a:t>
            </a:r>
            <a:r>
              <a:rPr lang="fr-FR" sz="2400" i="1" dirty="0">
                <a:solidFill>
                  <a:srgbClr val="8C8C8C"/>
                </a:solidFill>
                <a:effectLst/>
              </a:rPr>
              <a:t> </a:t>
            </a:r>
            <a:r>
              <a:rPr lang="fr-FR" sz="2400" i="1" dirty="0" err="1">
                <a:solidFill>
                  <a:srgbClr val="8C8C8C"/>
                </a:solidFill>
                <a:effectLst/>
              </a:rPr>
              <a:t>weights.grad</a:t>
            </a:r>
            <a:r>
              <a:rPr lang="fr-FR" sz="2400" i="1" dirty="0">
                <a:solidFill>
                  <a:srgbClr val="8C8C8C"/>
                </a:solidFill>
                <a:effectLst/>
              </a:rPr>
              <a:t> </a:t>
            </a:r>
            <a:r>
              <a:rPr lang="fr-FR" sz="2400" i="1" dirty="0" err="1">
                <a:solidFill>
                  <a:srgbClr val="8C8C8C"/>
                </a:solidFill>
                <a:effectLst/>
              </a:rPr>
              <a:t>will</a:t>
            </a:r>
            <a:r>
              <a:rPr lang="fr-FR" sz="2400" i="1" dirty="0">
                <a:solidFill>
                  <a:srgbClr val="8C8C8C"/>
                </a:solidFill>
                <a:effectLst/>
              </a:rPr>
              <a:t> </a:t>
            </a:r>
            <a:r>
              <a:rPr lang="fr-FR" sz="2400" i="1" dirty="0" err="1">
                <a:solidFill>
                  <a:srgbClr val="8C8C8C"/>
                </a:solidFill>
                <a:effectLst/>
              </a:rPr>
              <a:t>increment</a:t>
            </a:r>
            <a:r>
              <a:rPr lang="fr-FR" sz="2400" i="1" dirty="0">
                <a:solidFill>
                  <a:srgbClr val="8C8C8C"/>
                </a:solidFill>
                <a:effectLst/>
              </a:rPr>
              <a:t> </a:t>
            </a:r>
            <a:r>
              <a:rPr lang="fr-FR" sz="2400" i="1" dirty="0" err="1">
                <a:solidFill>
                  <a:srgbClr val="8C8C8C"/>
                </a:solidFill>
                <a:effectLst/>
              </a:rPr>
              <a:t>during</a:t>
            </a:r>
            <a:r>
              <a:rPr lang="fr-FR" sz="2400" i="1" dirty="0">
                <a:solidFill>
                  <a:srgbClr val="8C8C8C"/>
                </a:solidFill>
                <a:effectLst/>
              </a:rPr>
              <a:t> the training</a:t>
            </a:r>
            <a:br>
              <a:rPr lang="fr-FR" sz="2400" i="1" dirty="0">
                <a:solidFill>
                  <a:srgbClr val="8C8C8C"/>
                </a:solidFill>
                <a:effectLst/>
              </a:rPr>
            </a:br>
            <a:r>
              <a:rPr lang="fr-FR" sz="2400" dirty="0" err="1">
                <a:solidFill>
                  <a:srgbClr val="080808"/>
                </a:solidFill>
                <a:effectLst/>
              </a:rPr>
              <a:t>weights</a:t>
            </a:r>
            <a:r>
              <a:rPr lang="fr-FR" sz="2400" dirty="0">
                <a:solidFill>
                  <a:srgbClr val="080808"/>
                </a:solidFill>
                <a:effectLst/>
              </a:rPr>
              <a:t> = </a:t>
            </a:r>
            <a:r>
              <a:rPr lang="fr-FR" sz="2400" dirty="0" err="1">
                <a:solidFill>
                  <a:srgbClr val="080808"/>
                </a:solidFill>
                <a:effectLst/>
              </a:rPr>
              <a:t>torch.ones</a:t>
            </a:r>
            <a:r>
              <a:rPr lang="fr-FR" sz="2400" dirty="0">
                <a:solidFill>
                  <a:srgbClr val="080808"/>
                </a:solidFill>
                <a:effectLst/>
              </a:rPr>
              <a:t>(</a:t>
            </a:r>
            <a:r>
              <a:rPr lang="fr-FR" sz="2400" dirty="0">
                <a:solidFill>
                  <a:srgbClr val="1750EB"/>
                </a:solidFill>
                <a:effectLst/>
              </a:rPr>
              <a:t>4</a:t>
            </a:r>
            <a:r>
              <a:rPr lang="fr-FR" sz="2400" dirty="0">
                <a:solidFill>
                  <a:srgbClr val="080808"/>
                </a:solidFill>
                <a:effectLst/>
              </a:rPr>
              <a:t>, </a:t>
            </a:r>
            <a:r>
              <a:rPr lang="fr-FR" sz="2400" dirty="0" err="1">
                <a:solidFill>
                  <a:srgbClr val="660099"/>
                </a:solidFill>
                <a:effectLst/>
              </a:rPr>
              <a:t>requires_grad</a:t>
            </a:r>
            <a:r>
              <a:rPr lang="fr-FR" sz="2400" dirty="0">
                <a:solidFill>
                  <a:srgbClr val="080808"/>
                </a:solidFill>
                <a:effectLst/>
              </a:rPr>
              <a:t>=</a:t>
            </a:r>
            <a:r>
              <a:rPr lang="fr-FR" sz="2400" dirty="0" err="1">
                <a:solidFill>
                  <a:srgbClr val="0033B3"/>
                </a:solidFill>
                <a:effectLst/>
              </a:rPr>
              <a:t>True</a:t>
            </a:r>
            <a:r>
              <a:rPr lang="fr-FR" sz="2400" dirty="0">
                <a:solidFill>
                  <a:srgbClr val="080808"/>
                </a:solidFill>
                <a:effectLst/>
              </a:rPr>
              <a:t>)</a:t>
            </a:r>
            <a:br>
              <a:rPr lang="fr-FR" sz="2400" dirty="0">
                <a:solidFill>
                  <a:srgbClr val="080808"/>
                </a:solidFill>
                <a:effectLst/>
              </a:rPr>
            </a:br>
            <a:r>
              <a:rPr lang="fr-FR" sz="2400" dirty="0">
                <a:solidFill>
                  <a:srgbClr val="0033B3"/>
                </a:solidFill>
                <a:effectLst/>
              </a:rPr>
              <a:t>for </a:t>
            </a:r>
            <a:r>
              <a:rPr lang="fr-FR" sz="2400" dirty="0" err="1">
                <a:solidFill>
                  <a:srgbClr val="080808"/>
                </a:solidFill>
                <a:effectLst/>
              </a:rPr>
              <a:t>epoch</a:t>
            </a:r>
            <a:r>
              <a:rPr lang="fr-FR" sz="2400" dirty="0">
                <a:solidFill>
                  <a:srgbClr val="080808"/>
                </a:solidFill>
                <a:effectLst/>
              </a:rPr>
              <a:t> </a:t>
            </a:r>
            <a:r>
              <a:rPr lang="fr-FR" sz="2400" dirty="0">
                <a:solidFill>
                  <a:srgbClr val="0033B3"/>
                </a:solidFill>
                <a:effectLst/>
              </a:rPr>
              <a:t>in </a:t>
            </a:r>
            <a:r>
              <a:rPr lang="fr-FR" sz="2400" dirty="0">
                <a:solidFill>
                  <a:srgbClr val="000080"/>
                </a:solidFill>
                <a:effectLst/>
              </a:rPr>
              <a:t>range</a:t>
            </a:r>
            <a:r>
              <a:rPr lang="fr-FR" sz="2400" dirty="0">
                <a:solidFill>
                  <a:srgbClr val="080808"/>
                </a:solidFill>
                <a:effectLst/>
              </a:rPr>
              <a:t>(</a:t>
            </a:r>
            <a:r>
              <a:rPr lang="fr-FR" sz="2400" dirty="0">
                <a:solidFill>
                  <a:srgbClr val="1750EB"/>
                </a:solidFill>
                <a:effectLst/>
              </a:rPr>
              <a:t>3</a:t>
            </a:r>
            <a:r>
              <a:rPr lang="fr-FR" sz="2400" dirty="0">
                <a:solidFill>
                  <a:srgbClr val="080808"/>
                </a:solidFill>
                <a:effectLst/>
              </a:rPr>
              <a:t>):</a:t>
            </a:r>
            <a:br>
              <a:rPr lang="fr-FR" sz="2400" dirty="0">
                <a:solidFill>
                  <a:srgbClr val="080808"/>
                </a:solidFill>
                <a:effectLst/>
              </a:rPr>
            </a:br>
            <a:r>
              <a:rPr lang="fr-FR" sz="2400" dirty="0">
                <a:solidFill>
                  <a:srgbClr val="080808"/>
                </a:solidFill>
                <a:effectLst/>
              </a:rPr>
              <a:t>    </a:t>
            </a:r>
            <a:r>
              <a:rPr lang="fr-FR" sz="2400" dirty="0" err="1">
                <a:solidFill>
                  <a:srgbClr val="080808"/>
                </a:solidFill>
                <a:effectLst/>
              </a:rPr>
              <a:t>model_output</a:t>
            </a:r>
            <a:r>
              <a:rPr lang="fr-FR" sz="2400" dirty="0">
                <a:solidFill>
                  <a:srgbClr val="080808"/>
                </a:solidFill>
                <a:effectLst/>
              </a:rPr>
              <a:t> = (</a:t>
            </a:r>
            <a:r>
              <a:rPr lang="fr-FR" sz="2400" dirty="0" err="1">
                <a:solidFill>
                  <a:srgbClr val="080808"/>
                </a:solidFill>
                <a:effectLst/>
              </a:rPr>
              <a:t>weights</a:t>
            </a:r>
            <a:r>
              <a:rPr lang="fr-FR" sz="2400" dirty="0">
                <a:solidFill>
                  <a:srgbClr val="080808"/>
                </a:solidFill>
                <a:effectLst/>
              </a:rPr>
              <a:t>*</a:t>
            </a:r>
            <a:r>
              <a:rPr lang="fr-FR" sz="2400" dirty="0">
                <a:solidFill>
                  <a:srgbClr val="1750EB"/>
                </a:solidFill>
                <a:effectLst/>
              </a:rPr>
              <a:t>3</a:t>
            </a:r>
            <a:r>
              <a:rPr lang="fr-FR" sz="2400" dirty="0">
                <a:solidFill>
                  <a:srgbClr val="080808"/>
                </a:solidFill>
                <a:effectLst/>
              </a:rPr>
              <a:t>).</a:t>
            </a:r>
            <a:r>
              <a:rPr lang="fr-FR" sz="2400" dirty="0" err="1">
                <a:solidFill>
                  <a:srgbClr val="080808"/>
                </a:solidFill>
                <a:effectLst/>
              </a:rPr>
              <a:t>sum</a:t>
            </a:r>
            <a:r>
              <a:rPr lang="fr-FR" sz="2400" dirty="0">
                <a:solidFill>
                  <a:srgbClr val="080808"/>
                </a:solidFill>
                <a:effectLst/>
              </a:rPr>
              <a:t>()</a:t>
            </a:r>
            <a:br>
              <a:rPr lang="fr-FR" sz="2400" dirty="0">
                <a:solidFill>
                  <a:srgbClr val="080808"/>
                </a:solidFill>
                <a:effectLst/>
              </a:rPr>
            </a:br>
            <a:r>
              <a:rPr lang="fr-FR" sz="2400" dirty="0">
                <a:solidFill>
                  <a:srgbClr val="080808"/>
                </a:solidFill>
                <a:effectLst/>
              </a:rPr>
              <a:t>    </a:t>
            </a:r>
            <a:r>
              <a:rPr lang="fr-FR" sz="2400" dirty="0" err="1">
                <a:solidFill>
                  <a:srgbClr val="080808"/>
                </a:solidFill>
                <a:effectLst/>
              </a:rPr>
              <a:t>model_output.backward</a:t>
            </a:r>
            <a:r>
              <a:rPr lang="fr-FR" sz="2400" dirty="0">
                <a:solidFill>
                  <a:srgbClr val="080808"/>
                </a:solidFill>
                <a:effectLst/>
              </a:rPr>
              <a:t>()</a:t>
            </a:r>
            <a:br>
              <a:rPr lang="fr-FR" sz="2400" dirty="0">
                <a:solidFill>
                  <a:srgbClr val="080808"/>
                </a:solidFill>
                <a:effectLst/>
              </a:rPr>
            </a:br>
            <a:r>
              <a:rPr lang="fr-FR" sz="2400" dirty="0">
                <a:solidFill>
                  <a:srgbClr val="080808"/>
                </a:solidFill>
                <a:effectLst/>
              </a:rPr>
              <a:t>    </a:t>
            </a:r>
            <a:r>
              <a:rPr lang="fr-FR" sz="2400" dirty="0">
                <a:solidFill>
                  <a:srgbClr val="000080"/>
                </a:solidFill>
                <a:effectLst/>
              </a:rPr>
              <a:t>print</a:t>
            </a:r>
            <a:r>
              <a:rPr lang="fr-FR" sz="2400" dirty="0">
                <a:solidFill>
                  <a:srgbClr val="080808"/>
                </a:solidFill>
                <a:effectLst/>
              </a:rPr>
              <a:t>(</a:t>
            </a:r>
            <a:r>
              <a:rPr lang="fr-FR" sz="2400" dirty="0" err="1">
                <a:solidFill>
                  <a:srgbClr val="080808"/>
                </a:solidFill>
                <a:effectLst/>
              </a:rPr>
              <a:t>weights.grad</a:t>
            </a:r>
            <a:r>
              <a:rPr lang="fr-FR" sz="2400" dirty="0">
                <a:solidFill>
                  <a:srgbClr val="080808"/>
                </a:solidFill>
                <a:effectLst/>
              </a:rPr>
              <a:t>)</a:t>
            </a:r>
            <a:br>
              <a:rPr lang="fr-FR" sz="2400" dirty="0">
                <a:solidFill>
                  <a:srgbClr val="080808"/>
                </a:solidFill>
                <a:effectLst/>
              </a:rPr>
            </a:br>
            <a:r>
              <a:rPr lang="fr-FR" sz="2400" dirty="0">
                <a:solidFill>
                  <a:srgbClr val="080808"/>
                </a:solidFill>
                <a:effectLst/>
              </a:rPr>
              <a:t>    </a:t>
            </a:r>
            <a:r>
              <a:rPr lang="fr-FR" sz="2400" dirty="0" err="1">
                <a:solidFill>
                  <a:srgbClr val="080808"/>
                </a:solidFill>
                <a:effectLst/>
              </a:rPr>
              <a:t>weights.grad.zero</a:t>
            </a:r>
            <a:r>
              <a:rPr lang="fr-FR" sz="2400" dirty="0">
                <a:solidFill>
                  <a:srgbClr val="080808"/>
                </a:solidFill>
                <a:effectLst/>
              </a:rPr>
              <a:t>_()</a:t>
            </a:r>
            <a:br>
              <a:rPr lang="fr-FR" sz="2400" dirty="0">
                <a:solidFill>
                  <a:srgbClr val="080808"/>
                </a:solidFill>
                <a:effectLst/>
              </a:rPr>
            </a:br>
            <a:endParaRPr lang="fr-FR" sz="2400" dirty="0">
              <a:solidFill>
                <a:srgbClr val="080808"/>
              </a:solidFill>
              <a:effectLst/>
            </a:endParaRPr>
          </a:p>
          <a:p>
            <a:r>
              <a:rPr lang="fr-FR" sz="2400" i="1" dirty="0">
                <a:solidFill>
                  <a:srgbClr val="8C8C8C"/>
                </a:solidFill>
                <a:effectLst/>
              </a:rPr>
              <a:t># </a:t>
            </a:r>
            <a:r>
              <a:rPr lang="fr-FR" sz="2400" i="1" dirty="0" err="1">
                <a:solidFill>
                  <a:srgbClr val="8C8C8C"/>
                </a:solidFill>
                <a:effectLst/>
              </a:rPr>
              <a:t>tensor</a:t>
            </a:r>
            <a:r>
              <a:rPr lang="fr-FR" sz="2400" i="1" dirty="0">
                <a:solidFill>
                  <a:srgbClr val="8C8C8C"/>
                </a:solidFill>
                <a:effectLst/>
              </a:rPr>
              <a:t>([3., 3., 3., 3.])</a:t>
            </a:r>
            <a:br>
              <a:rPr lang="fr-FR" sz="2400" i="1" dirty="0">
                <a:solidFill>
                  <a:srgbClr val="8C8C8C"/>
                </a:solidFill>
                <a:effectLst/>
              </a:rPr>
            </a:br>
            <a:r>
              <a:rPr lang="fr-FR" sz="2400" i="1" dirty="0">
                <a:solidFill>
                  <a:srgbClr val="8C8C8C"/>
                </a:solidFill>
                <a:effectLst/>
              </a:rPr>
              <a:t># </a:t>
            </a:r>
            <a:r>
              <a:rPr lang="fr-FR" sz="2400" i="1" dirty="0" err="1">
                <a:solidFill>
                  <a:srgbClr val="8C8C8C"/>
                </a:solidFill>
                <a:effectLst/>
              </a:rPr>
              <a:t>tensor</a:t>
            </a:r>
            <a:r>
              <a:rPr lang="fr-FR" sz="2400" i="1" dirty="0">
                <a:solidFill>
                  <a:srgbClr val="8C8C8C"/>
                </a:solidFill>
                <a:effectLst/>
              </a:rPr>
              <a:t>([3., 3., 3., 3.])</a:t>
            </a:r>
            <a:br>
              <a:rPr lang="fr-FR" sz="2400" i="1" dirty="0">
                <a:solidFill>
                  <a:srgbClr val="8C8C8C"/>
                </a:solidFill>
                <a:effectLst/>
              </a:rPr>
            </a:br>
            <a:r>
              <a:rPr lang="fr-FR" sz="2400" i="1" dirty="0">
                <a:solidFill>
                  <a:srgbClr val="8C8C8C"/>
                </a:solidFill>
                <a:effectLst/>
              </a:rPr>
              <a:t># </a:t>
            </a:r>
            <a:r>
              <a:rPr lang="fr-FR" sz="2400" i="1" dirty="0" err="1">
                <a:solidFill>
                  <a:srgbClr val="8C8C8C"/>
                </a:solidFill>
                <a:effectLst/>
              </a:rPr>
              <a:t>tensor</a:t>
            </a:r>
            <a:r>
              <a:rPr lang="fr-FR" sz="2400" i="1" dirty="0">
                <a:solidFill>
                  <a:srgbClr val="8C8C8C"/>
                </a:solidFill>
                <a:effectLst/>
              </a:rPr>
              <a:t>([3., 3., 3., 3.])</a:t>
            </a:r>
            <a:endParaRPr lang="fr-FR" sz="2400" dirty="0">
              <a:solidFill>
                <a:srgbClr val="080808"/>
              </a:solidFill>
              <a:effectLst/>
            </a:endParaRPr>
          </a:p>
        </p:txBody>
      </p:sp>
    </p:spTree>
    <p:extLst>
      <p:ext uri="{BB962C8B-B14F-4D97-AF65-F5344CB8AC3E}">
        <p14:creationId xmlns:p14="http://schemas.microsoft.com/office/powerpoint/2010/main" val="130586310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6AA41-E361-E4E5-4F3C-311370D975A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DADF81F-E585-C47E-C3BF-CC27A4CCA220}"/>
              </a:ext>
            </a:extLst>
          </p:cNvPr>
          <p:cNvSpPr>
            <a:spLocks noGrp="1"/>
          </p:cNvSpPr>
          <p:nvPr>
            <p:ph type="title"/>
          </p:nvPr>
        </p:nvSpPr>
        <p:spPr/>
        <p:txBody>
          <a:bodyPr/>
          <a:lstStyle/>
          <a:p>
            <a:r>
              <a:rPr lang="en-GB" dirty="0"/>
              <a:t>Pytorch tutorial</a:t>
            </a:r>
            <a:br>
              <a:rPr lang="en-GB" dirty="0"/>
            </a:br>
            <a:r>
              <a:rPr lang="en-GB" sz="2400" b="1" dirty="0"/>
              <a:t>Neural Network – </a:t>
            </a:r>
            <a:r>
              <a:rPr lang="en-GB" sz="2400" b="1" dirty="0">
                <a:highlight>
                  <a:srgbClr val="FFFF00"/>
                </a:highlight>
              </a:rPr>
              <a:t>Optimizer SGD</a:t>
            </a:r>
            <a:endParaRPr lang="en-GB" sz="1600" dirty="0">
              <a:highlight>
                <a:srgbClr val="FFFF00"/>
              </a:highlight>
            </a:endParaRPr>
          </a:p>
        </p:txBody>
      </p:sp>
      <p:sp>
        <p:nvSpPr>
          <p:cNvPr id="4" name="Espace réservé du pied de page 3">
            <a:extLst>
              <a:ext uri="{FF2B5EF4-FFF2-40B4-BE49-F238E27FC236}">
                <a16:creationId xmlns:a16="http://schemas.microsoft.com/office/drawing/2014/main" id="{6081D2DC-E4E6-4DEB-0280-FCB7BD72A7C9}"/>
              </a:ext>
            </a:extLst>
          </p:cNvPr>
          <p:cNvSpPr>
            <a:spLocks noGrp="1"/>
          </p:cNvSpPr>
          <p:nvPr>
            <p:ph type="ftr" sz="quarter" idx="11"/>
          </p:nvPr>
        </p:nvSpPr>
        <p:spPr/>
        <p:txBody>
          <a:bodyPr/>
          <a:lstStyle/>
          <a:p>
            <a:r>
              <a:rPr lang="fr-FR"/>
              <a:t>Introduction to Neural Networks. Author: David Thébault</a:t>
            </a:r>
          </a:p>
        </p:txBody>
      </p:sp>
      <p:sp>
        <p:nvSpPr>
          <p:cNvPr id="7" name="ZoneTexte 6">
            <a:extLst>
              <a:ext uri="{FF2B5EF4-FFF2-40B4-BE49-F238E27FC236}">
                <a16:creationId xmlns:a16="http://schemas.microsoft.com/office/drawing/2014/main" id="{0D142A3C-36A0-D756-0C67-AAD78CD0F489}"/>
              </a:ext>
            </a:extLst>
          </p:cNvPr>
          <p:cNvSpPr txBox="1"/>
          <p:nvPr/>
        </p:nvSpPr>
        <p:spPr>
          <a:xfrm>
            <a:off x="977900" y="1690688"/>
            <a:ext cx="11099800" cy="4893647"/>
          </a:xfrm>
          <a:prstGeom prst="rect">
            <a:avLst/>
          </a:prstGeom>
          <a:noFill/>
        </p:spPr>
        <p:txBody>
          <a:bodyPr wrap="square">
            <a:spAutoFit/>
          </a:bodyPr>
          <a:lstStyle/>
          <a:p>
            <a:r>
              <a:rPr lang="fr-FR" sz="2400" dirty="0">
                <a:solidFill>
                  <a:srgbClr val="0033B3"/>
                </a:solidFill>
                <a:effectLst/>
              </a:rPr>
              <a:t>import </a:t>
            </a:r>
            <a:r>
              <a:rPr lang="fr-FR" sz="2400" dirty="0" err="1">
                <a:solidFill>
                  <a:srgbClr val="080808"/>
                </a:solidFill>
                <a:effectLst/>
              </a:rPr>
              <a:t>torch</a:t>
            </a:r>
            <a:br>
              <a:rPr lang="fr-FR" sz="2400" dirty="0">
                <a:solidFill>
                  <a:srgbClr val="080808"/>
                </a:solidFill>
                <a:effectLst/>
              </a:rPr>
            </a:br>
            <a:r>
              <a:rPr lang="fr-FR" sz="2400" dirty="0">
                <a:solidFill>
                  <a:srgbClr val="080808"/>
                </a:solidFill>
                <a:effectLst/>
              </a:rPr>
              <a:t>x = </a:t>
            </a:r>
            <a:r>
              <a:rPr lang="fr-FR" sz="2400" dirty="0" err="1">
                <a:solidFill>
                  <a:srgbClr val="080808"/>
                </a:solidFill>
                <a:effectLst/>
              </a:rPr>
              <a:t>torch.tensor</a:t>
            </a:r>
            <a:r>
              <a:rPr lang="fr-FR" sz="2400" dirty="0">
                <a:solidFill>
                  <a:srgbClr val="080808"/>
                </a:solidFill>
                <a:effectLst/>
              </a:rPr>
              <a:t>(</a:t>
            </a:r>
            <a:r>
              <a:rPr lang="fr-FR" sz="2400" dirty="0">
                <a:solidFill>
                  <a:srgbClr val="1750EB"/>
                </a:solidFill>
                <a:effectLst/>
              </a:rPr>
              <a:t>1.0</a:t>
            </a:r>
            <a:r>
              <a:rPr lang="fr-FR" sz="2400" dirty="0">
                <a:solidFill>
                  <a:srgbClr val="080808"/>
                </a:solidFill>
                <a:effectLst/>
              </a:rPr>
              <a:t>)</a:t>
            </a:r>
            <a:br>
              <a:rPr lang="fr-FR" sz="2400" dirty="0">
                <a:solidFill>
                  <a:srgbClr val="080808"/>
                </a:solidFill>
                <a:effectLst/>
              </a:rPr>
            </a:br>
            <a:r>
              <a:rPr lang="fr-FR" sz="2400" dirty="0">
                <a:solidFill>
                  <a:srgbClr val="080808"/>
                </a:solidFill>
                <a:effectLst/>
              </a:rPr>
              <a:t>y = </a:t>
            </a:r>
            <a:r>
              <a:rPr lang="fr-FR" sz="2400" dirty="0" err="1">
                <a:solidFill>
                  <a:srgbClr val="080808"/>
                </a:solidFill>
                <a:effectLst/>
              </a:rPr>
              <a:t>torch.tensor</a:t>
            </a:r>
            <a:r>
              <a:rPr lang="fr-FR" sz="2400" dirty="0">
                <a:solidFill>
                  <a:srgbClr val="080808"/>
                </a:solidFill>
                <a:effectLst/>
              </a:rPr>
              <a:t>(</a:t>
            </a:r>
            <a:r>
              <a:rPr lang="fr-FR" sz="2400" dirty="0">
                <a:solidFill>
                  <a:srgbClr val="1750EB"/>
                </a:solidFill>
                <a:effectLst/>
              </a:rPr>
              <a:t>2.0</a:t>
            </a:r>
            <a:r>
              <a:rPr lang="fr-FR" sz="2400" dirty="0">
                <a:solidFill>
                  <a:srgbClr val="080808"/>
                </a:solidFill>
                <a:effectLst/>
              </a:rPr>
              <a:t>)</a:t>
            </a:r>
            <a:br>
              <a:rPr lang="fr-FR" sz="2400" dirty="0">
                <a:solidFill>
                  <a:srgbClr val="080808"/>
                </a:solidFill>
                <a:effectLst/>
              </a:rPr>
            </a:br>
            <a:r>
              <a:rPr lang="fr-FR" sz="2400" dirty="0">
                <a:solidFill>
                  <a:srgbClr val="080808"/>
                </a:solidFill>
                <a:effectLst/>
              </a:rPr>
              <a:t>w = </a:t>
            </a:r>
            <a:r>
              <a:rPr lang="fr-FR" sz="2400" dirty="0" err="1">
                <a:solidFill>
                  <a:srgbClr val="080808"/>
                </a:solidFill>
                <a:effectLst/>
              </a:rPr>
              <a:t>torch.tensor</a:t>
            </a:r>
            <a:r>
              <a:rPr lang="fr-FR" sz="2400" dirty="0">
                <a:solidFill>
                  <a:srgbClr val="080808"/>
                </a:solidFill>
                <a:effectLst/>
              </a:rPr>
              <a:t>(</a:t>
            </a:r>
            <a:r>
              <a:rPr lang="fr-FR" sz="2400" dirty="0">
                <a:solidFill>
                  <a:srgbClr val="1750EB"/>
                </a:solidFill>
                <a:effectLst/>
              </a:rPr>
              <a:t>1.0</a:t>
            </a:r>
            <a:r>
              <a:rPr lang="fr-FR" sz="2400" dirty="0">
                <a:solidFill>
                  <a:srgbClr val="080808"/>
                </a:solidFill>
                <a:effectLst/>
              </a:rPr>
              <a:t>, </a:t>
            </a:r>
            <a:r>
              <a:rPr lang="fr-FR" sz="2400" dirty="0" err="1">
                <a:solidFill>
                  <a:srgbClr val="660099"/>
                </a:solidFill>
                <a:effectLst/>
              </a:rPr>
              <a:t>requires_grad</a:t>
            </a:r>
            <a:r>
              <a:rPr lang="fr-FR" sz="2400" dirty="0">
                <a:solidFill>
                  <a:srgbClr val="080808"/>
                </a:solidFill>
                <a:effectLst/>
              </a:rPr>
              <a:t>=</a:t>
            </a:r>
            <a:r>
              <a:rPr lang="fr-FR" sz="2400" dirty="0" err="1">
                <a:solidFill>
                  <a:srgbClr val="0033B3"/>
                </a:solidFill>
                <a:effectLst/>
              </a:rPr>
              <a:t>True</a:t>
            </a:r>
            <a:r>
              <a:rPr lang="fr-FR" sz="2400" dirty="0">
                <a:solidFill>
                  <a:srgbClr val="080808"/>
                </a:solidFill>
                <a:effectLst/>
              </a:rPr>
              <a:t>)</a:t>
            </a:r>
            <a:br>
              <a:rPr lang="fr-FR" sz="2400" dirty="0">
                <a:solidFill>
                  <a:srgbClr val="080808"/>
                </a:solidFill>
                <a:effectLst/>
              </a:rPr>
            </a:br>
            <a:r>
              <a:rPr lang="fr-FR" sz="2400" i="1" dirty="0">
                <a:solidFill>
                  <a:srgbClr val="8C8C8C"/>
                </a:solidFill>
                <a:effectLst/>
              </a:rPr>
              <a:t># </a:t>
            </a:r>
            <a:r>
              <a:rPr lang="fr-FR" sz="2400" i="1" dirty="0" err="1">
                <a:solidFill>
                  <a:srgbClr val="8C8C8C"/>
                </a:solidFill>
                <a:effectLst/>
              </a:rPr>
              <a:t>forward</a:t>
            </a:r>
            <a:r>
              <a:rPr lang="fr-FR" sz="2400" i="1" dirty="0">
                <a:solidFill>
                  <a:srgbClr val="8C8C8C"/>
                </a:solidFill>
                <a:effectLst/>
              </a:rPr>
              <a:t> </a:t>
            </a:r>
            <a:r>
              <a:rPr lang="fr-FR" sz="2400" i="1" dirty="0" err="1">
                <a:solidFill>
                  <a:srgbClr val="8C8C8C"/>
                </a:solidFill>
                <a:effectLst/>
              </a:rPr>
              <a:t>pass</a:t>
            </a:r>
            <a:r>
              <a:rPr lang="fr-FR" sz="2400" i="1" dirty="0">
                <a:solidFill>
                  <a:srgbClr val="8C8C8C"/>
                </a:solidFill>
                <a:effectLst/>
              </a:rPr>
              <a:t> and </a:t>
            </a:r>
            <a:r>
              <a:rPr lang="fr-FR" sz="2400" i="1" dirty="0" err="1">
                <a:solidFill>
                  <a:srgbClr val="8C8C8C"/>
                </a:solidFill>
                <a:effectLst/>
              </a:rPr>
              <a:t>compute</a:t>
            </a:r>
            <a:r>
              <a:rPr lang="fr-FR" sz="2400" i="1" dirty="0">
                <a:solidFill>
                  <a:srgbClr val="8C8C8C"/>
                </a:solidFill>
                <a:effectLst/>
              </a:rPr>
              <a:t> the </a:t>
            </a:r>
            <a:r>
              <a:rPr lang="fr-FR" sz="2400" i="1" dirty="0" err="1">
                <a:solidFill>
                  <a:srgbClr val="8C8C8C"/>
                </a:solidFill>
                <a:effectLst/>
              </a:rPr>
              <a:t>loss</a:t>
            </a:r>
            <a:br>
              <a:rPr lang="fr-FR" sz="2400" i="1" dirty="0">
                <a:solidFill>
                  <a:srgbClr val="8C8C8C"/>
                </a:solidFill>
                <a:effectLst/>
              </a:rPr>
            </a:br>
            <a:r>
              <a:rPr lang="fr-FR" sz="2400" dirty="0" err="1">
                <a:solidFill>
                  <a:srgbClr val="080808"/>
                </a:solidFill>
                <a:effectLst/>
              </a:rPr>
              <a:t>y_hat</a:t>
            </a:r>
            <a:r>
              <a:rPr lang="fr-FR" sz="2400" dirty="0">
                <a:solidFill>
                  <a:srgbClr val="080808"/>
                </a:solidFill>
                <a:effectLst/>
              </a:rPr>
              <a:t> = w * x</a:t>
            </a:r>
            <a:br>
              <a:rPr lang="fr-FR" sz="2400" dirty="0">
                <a:solidFill>
                  <a:srgbClr val="080808"/>
                </a:solidFill>
                <a:effectLst/>
              </a:rPr>
            </a:br>
            <a:r>
              <a:rPr lang="fr-FR" sz="2400" dirty="0" err="1">
                <a:solidFill>
                  <a:srgbClr val="080808"/>
                </a:solidFill>
                <a:effectLst/>
              </a:rPr>
              <a:t>loss</a:t>
            </a:r>
            <a:r>
              <a:rPr lang="fr-FR" sz="2400" dirty="0">
                <a:solidFill>
                  <a:srgbClr val="080808"/>
                </a:solidFill>
                <a:effectLst/>
              </a:rPr>
              <a:t> = (</a:t>
            </a:r>
            <a:r>
              <a:rPr lang="fr-FR" sz="2400" dirty="0" err="1">
                <a:solidFill>
                  <a:srgbClr val="080808"/>
                </a:solidFill>
                <a:effectLst/>
              </a:rPr>
              <a:t>y_hat</a:t>
            </a:r>
            <a:r>
              <a:rPr lang="fr-FR" sz="2400" dirty="0">
                <a:solidFill>
                  <a:srgbClr val="080808"/>
                </a:solidFill>
                <a:effectLst/>
              </a:rPr>
              <a:t> - y)**</a:t>
            </a:r>
            <a:r>
              <a:rPr lang="fr-FR" sz="2400" dirty="0">
                <a:solidFill>
                  <a:srgbClr val="1750EB"/>
                </a:solidFill>
                <a:effectLst/>
              </a:rPr>
              <a:t>2</a:t>
            </a:r>
            <a:br>
              <a:rPr lang="fr-FR" sz="2400" dirty="0">
                <a:solidFill>
                  <a:srgbClr val="1750EB"/>
                </a:solidFill>
                <a:effectLst/>
              </a:rPr>
            </a:br>
            <a:br>
              <a:rPr lang="fr-FR" sz="2400" dirty="0">
                <a:solidFill>
                  <a:srgbClr val="080808"/>
                </a:solidFill>
                <a:effectLst/>
              </a:rPr>
            </a:br>
            <a:r>
              <a:rPr lang="fr-FR" sz="2400" i="1" dirty="0">
                <a:solidFill>
                  <a:srgbClr val="8C8C8C"/>
                </a:solidFill>
                <a:effectLst/>
              </a:rPr>
              <a:t># </a:t>
            </a:r>
            <a:r>
              <a:rPr lang="fr-FR" sz="2400" i="1" dirty="0" err="1">
                <a:solidFill>
                  <a:srgbClr val="8C8C8C"/>
                </a:solidFill>
                <a:effectLst/>
              </a:rPr>
              <a:t>backward</a:t>
            </a:r>
            <a:r>
              <a:rPr lang="fr-FR" sz="2400" i="1" dirty="0">
                <a:solidFill>
                  <a:srgbClr val="8C8C8C"/>
                </a:solidFill>
                <a:effectLst/>
              </a:rPr>
              <a:t> </a:t>
            </a:r>
            <a:r>
              <a:rPr lang="fr-FR" sz="2400" i="1" dirty="0" err="1">
                <a:solidFill>
                  <a:srgbClr val="8C8C8C"/>
                </a:solidFill>
                <a:effectLst/>
              </a:rPr>
              <a:t>pass</a:t>
            </a:r>
            <a:br>
              <a:rPr lang="fr-FR" sz="2400" i="1" dirty="0">
                <a:solidFill>
                  <a:srgbClr val="8C8C8C"/>
                </a:solidFill>
                <a:effectLst/>
              </a:rPr>
            </a:br>
            <a:r>
              <a:rPr lang="fr-FR" sz="2400" dirty="0" err="1">
                <a:solidFill>
                  <a:srgbClr val="080808"/>
                </a:solidFill>
                <a:effectLst/>
              </a:rPr>
              <a:t>loss.backward</a:t>
            </a:r>
            <a:r>
              <a:rPr lang="fr-FR" sz="2400" dirty="0">
                <a:solidFill>
                  <a:srgbClr val="080808"/>
                </a:solidFill>
                <a:effectLst/>
              </a:rPr>
              <a:t>()</a:t>
            </a:r>
            <a:br>
              <a:rPr lang="fr-FR" sz="2400" dirty="0">
                <a:solidFill>
                  <a:srgbClr val="080808"/>
                </a:solidFill>
                <a:effectLst/>
              </a:rPr>
            </a:br>
            <a:r>
              <a:rPr lang="fr-FR" sz="2400" dirty="0">
                <a:solidFill>
                  <a:srgbClr val="000080"/>
                </a:solidFill>
                <a:effectLst/>
              </a:rPr>
              <a:t>print</a:t>
            </a:r>
            <a:r>
              <a:rPr lang="fr-FR" sz="2400" dirty="0">
                <a:solidFill>
                  <a:srgbClr val="080808"/>
                </a:solidFill>
                <a:effectLst/>
              </a:rPr>
              <a:t>(</a:t>
            </a:r>
            <a:r>
              <a:rPr lang="fr-FR" sz="2400" dirty="0" err="1">
                <a:solidFill>
                  <a:srgbClr val="067D17"/>
                </a:solidFill>
                <a:effectLst/>
              </a:rPr>
              <a:t>f"w_grad</a:t>
            </a:r>
            <a:r>
              <a:rPr lang="fr-FR" sz="2400" dirty="0">
                <a:solidFill>
                  <a:srgbClr val="067D17"/>
                </a:solidFill>
                <a:effectLst/>
              </a:rPr>
              <a:t>: </a:t>
            </a:r>
            <a:r>
              <a:rPr lang="fr-FR" sz="2400" dirty="0">
                <a:solidFill>
                  <a:srgbClr val="0037A6"/>
                </a:solidFill>
                <a:effectLst/>
              </a:rPr>
              <a:t>{</a:t>
            </a:r>
            <a:r>
              <a:rPr lang="fr-FR" sz="2400" dirty="0" err="1">
                <a:solidFill>
                  <a:srgbClr val="080808"/>
                </a:solidFill>
                <a:effectLst/>
              </a:rPr>
              <a:t>w.grad</a:t>
            </a:r>
            <a:r>
              <a:rPr lang="fr-FR" sz="2400" dirty="0">
                <a:solidFill>
                  <a:srgbClr val="0037A6"/>
                </a:solidFill>
                <a:effectLst/>
              </a:rPr>
              <a:t>}</a:t>
            </a:r>
            <a:r>
              <a:rPr lang="fr-FR" sz="2400" dirty="0">
                <a:solidFill>
                  <a:srgbClr val="067D17"/>
                </a:solidFill>
                <a:effectLst/>
              </a:rPr>
              <a:t>"</a:t>
            </a:r>
            <a:r>
              <a:rPr lang="fr-FR" sz="2400" dirty="0">
                <a:solidFill>
                  <a:srgbClr val="080808"/>
                </a:solidFill>
                <a:effectLst/>
              </a:rPr>
              <a:t>)</a:t>
            </a:r>
          </a:p>
          <a:p>
            <a:r>
              <a:rPr lang="fr-FR" sz="2400" dirty="0" err="1">
                <a:solidFill>
                  <a:schemeClr val="bg1">
                    <a:lumMod val="50000"/>
                  </a:schemeClr>
                </a:solidFill>
                <a:effectLst/>
              </a:rPr>
              <a:t>w_grad</a:t>
            </a:r>
            <a:r>
              <a:rPr lang="fr-FR" sz="2400" dirty="0">
                <a:solidFill>
                  <a:schemeClr val="bg1">
                    <a:lumMod val="50000"/>
                  </a:schemeClr>
                </a:solidFill>
                <a:effectLst/>
              </a:rPr>
              <a:t>: -2.0</a:t>
            </a:r>
            <a:br>
              <a:rPr lang="fr-FR" sz="2400" dirty="0">
                <a:solidFill>
                  <a:srgbClr val="080808"/>
                </a:solidFill>
                <a:effectLst/>
              </a:rPr>
            </a:br>
            <a:r>
              <a:rPr lang="fr-FR" sz="2400" i="1" dirty="0">
                <a:solidFill>
                  <a:srgbClr val="8C8C8C"/>
                </a:solidFill>
                <a:effectLst/>
              </a:rPr>
              <a:t># </a:t>
            </a:r>
            <a:r>
              <a:rPr lang="fr-FR" sz="2400" i="1" dirty="0" err="1">
                <a:solidFill>
                  <a:srgbClr val="8C8C8C"/>
                </a:solidFill>
                <a:effectLst/>
              </a:rPr>
              <a:t>dL</a:t>
            </a:r>
            <a:r>
              <a:rPr lang="fr-FR" sz="2400" i="1" dirty="0">
                <a:solidFill>
                  <a:srgbClr val="8C8C8C"/>
                </a:solidFill>
                <a:effectLst/>
              </a:rPr>
              <a:t>/</a:t>
            </a:r>
            <a:r>
              <a:rPr lang="fr-FR" sz="2400" i="1" dirty="0" err="1">
                <a:solidFill>
                  <a:srgbClr val="8C8C8C"/>
                </a:solidFill>
                <a:effectLst/>
              </a:rPr>
              <a:t>dy_hat</a:t>
            </a:r>
            <a:r>
              <a:rPr lang="fr-FR" sz="2400" i="1" dirty="0">
                <a:solidFill>
                  <a:srgbClr val="8C8C8C"/>
                </a:solidFill>
                <a:effectLst/>
              </a:rPr>
              <a:t> * </a:t>
            </a:r>
            <a:r>
              <a:rPr lang="fr-FR" sz="2400" i="1" dirty="0" err="1">
                <a:solidFill>
                  <a:srgbClr val="8C8C8C"/>
                </a:solidFill>
                <a:effectLst/>
              </a:rPr>
              <a:t>dy_hat</a:t>
            </a:r>
            <a:r>
              <a:rPr lang="fr-FR" sz="2400" i="1" dirty="0">
                <a:solidFill>
                  <a:srgbClr val="8C8C8C"/>
                </a:solidFill>
                <a:effectLst/>
              </a:rPr>
              <a:t>/</a:t>
            </a:r>
            <a:r>
              <a:rPr lang="fr-FR" sz="2400" i="1" dirty="0" err="1">
                <a:solidFill>
                  <a:srgbClr val="8C8C8C"/>
                </a:solidFill>
                <a:effectLst/>
              </a:rPr>
              <a:t>dw</a:t>
            </a:r>
            <a:r>
              <a:rPr lang="fr-FR" sz="2400" i="1" dirty="0">
                <a:solidFill>
                  <a:srgbClr val="8C8C8C"/>
                </a:solidFill>
                <a:effectLst/>
              </a:rPr>
              <a:t> = d(</a:t>
            </a:r>
            <a:r>
              <a:rPr lang="fr-FR" sz="2400" i="1" dirty="0" err="1">
                <a:solidFill>
                  <a:srgbClr val="8C8C8C"/>
                </a:solidFill>
                <a:effectLst/>
              </a:rPr>
              <a:t>y_hat</a:t>
            </a:r>
            <a:r>
              <a:rPr lang="fr-FR" sz="2400" i="1" dirty="0">
                <a:solidFill>
                  <a:srgbClr val="8C8C8C"/>
                </a:solidFill>
                <a:effectLst/>
              </a:rPr>
              <a:t>-y)**2/</a:t>
            </a:r>
            <a:r>
              <a:rPr lang="fr-FR" sz="2400" i="1" dirty="0" err="1">
                <a:solidFill>
                  <a:srgbClr val="8C8C8C"/>
                </a:solidFill>
                <a:effectLst/>
              </a:rPr>
              <a:t>dy_hat</a:t>
            </a:r>
            <a:r>
              <a:rPr lang="fr-FR" sz="2400" i="1" dirty="0">
                <a:solidFill>
                  <a:srgbClr val="8C8C8C"/>
                </a:solidFill>
                <a:effectLst/>
              </a:rPr>
              <a:t> * d(w*x)/</a:t>
            </a:r>
            <a:r>
              <a:rPr lang="fr-FR" sz="2400" i="1" dirty="0" err="1">
                <a:solidFill>
                  <a:srgbClr val="8C8C8C"/>
                </a:solidFill>
                <a:effectLst/>
              </a:rPr>
              <a:t>dw</a:t>
            </a:r>
            <a:r>
              <a:rPr lang="fr-FR" sz="2400" i="1" dirty="0">
                <a:solidFill>
                  <a:srgbClr val="8C8C8C"/>
                </a:solidFill>
                <a:effectLst/>
              </a:rPr>
              <a:t> = 2(</a:t>
            </a:r>
            <a:r>
              <a:rPr lang="fr-FR" sz="2400" i="1" dirty="0" err="1">
                <a:solidFill>
                  <a:srgbClr val="8C8C8C"/>
                </a:solidFill>
                <a:effectLst/>
              </a:rPr>
              <a:t>y_hat</a:t>
            </a:r>
            <a:r>
              <a:rPr lang="fr-FR" sz="2400" i="1" dirty="0">
                <a:solidFill>
                  <a:srgbClr val="8C8C8C"/>
                </a:solidFill>
                <a:effectLst/>
              </a:rPr>
              <a:t>-y) * x = 2(1-2)1</a:t>
            </a:r>
            <a:endParaRPr lang="fr-FR" sz="2400" dirty="0">
              <a:solidFill>
                <a:srgbClr val="080808"/>
              </a:solidFill>
              <a:effectLst/>
            </a:endParaRPr>
          </a:p>
        </p:txBody>
      </p:sp>
    </p:spTree>
    <p:extLst>
      <p:ext uri="{BB962C8B-B14F-4D97-AF65-F5344CB8AC3E}">
        <p14:creationId xmlns:p14="http://schemas.microsoft.com/office/powerpoint/2010/main" val="154259424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A937F-BF2E-4E22-7D2E-6F67C64CF7F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EA708EE-C9C1-A109-8E53-794715AACB26}"/>
              </a:ext>
            </a:extLst>
          </p:cNvPr>
          <p:cNvSpPr>
            <a:spLocks noGrp="1"/>
          </p:cNvSpPr>
          <p:nvPr>
            <p:ph type="title"/>
          </p:nvPr>
        </p:nvSpPr>
        <p:spPr/>
        <p:txBody>
          <a:bodyPr/>
          <a:lstStyle/>
          <a:p>
            <a:r>
              <a:rPr lang="en-GB" dirty="0"/>
              <a:t>Pytorch tutorial</a:t>
            </a:r>
            <a:br>
              <a:rPr lang="en-GB" dirty="0"/>
            </a:br>
            <a:r>
              <a:rPr lang="en-GB" sz="2400" b="1" dirty="0"/>
              <a:t>Neural Network – </a:t>
            </a:r>
            <a:r>
              <a:rPr lang="en-GB" sz="2400" b="1" dirty="0">
                <a:highlight>
                  <a:srgbClr val="FFFF00"/>
                </a:highlight>
              </a:rPr>
              <a:t>Optimizer SGD</a:t>
            </a:r>
            <a:endParaRPr lang="en-GB" sz="1600" dirty="0">
              <a:highlight>
                <a:srgbClr val="FFFF00"/>
              </a:highlight>
            </a:endParaRPr>
          </a:p>
        </p:txBody>
      </p:sp>
      <p:sp>
        <p:nvSpPr>
          <p:cNvPr id="4" name="Espace réservé du pied de page 3">
            <a:extLst>
              <a:ext uri="{FF2B5EF4-FFF2-40B4-BE49-F238E27FC236}">
                <a16:creationId xmlns:a16="http://schemas.microsoft.com/office/drawing/2014/main" id="{B12CC7D0-58C0-7888-19C7-4233B556D78B}"/>
              </a:ext>
            </a:extLst>
          </p:cNvPr>
          <p:cNvSpPr>
            <a:spLocks noGrp="1"/>
          </p:cNvSpPr>
          <p:nvPr>
            <p:ph type="ftr" sz="quarter" idx="11"/>
          </p:nvPr>
        </p:nvSpPr>
        <p:spPr/>
        <p:txBody>
          <a:bodyPr/>
          <a:lstStyle/>
          <a:p>
            <a:r>
              <a:rPr lang="fr-FR"/>
              <a:t>Introduction to Neural Networks. Author: David Thébault</a:t>
            </a:r>
          </a:p>
        </p:txBody>
      </p:sp>
      <p:sp>
        <p:nvSpPr>
          <p:cNvPr id="7" name="ZoneTexte 6">
            <a:extLst>
              <a:ext uri="{FF2B5EF4-FFF2-40B4-BE49-F238E27FC236}">
                <a16:creationId xmlns:a16="http://schemas.microsoft.com/office/drawing/2014/main" id="{33272643-FA5E-4811-9300-5059A686B3B2}"/>
              </a:ext>
            </a:extLst>
          </p:cNvPr>
          <p:cNvSpPr txBox="1"/>
          <p:nvPr/>
        </p:nvSpPr>
        <p:spPr>
          <a:xfrm>
            <a:off x="977900" y="1690688"/>
            <a:ext cx="11099800" cy="4893647"/>
          </a:xfrm>
          <a:prstGeom prst="rect">
            <a:avLst/>
          </a:prstGeom>
          <a:noFill/>
        </p:spPr>
        <p:txBody>
          <a:bodyPr wrap="square">
            <a:spAutoFit/>
          </a:bodyPr>
          <a:lstStyle/>
          <a:p>
            <a:r>
              <a:rPr lang="fr-FR" sz="2400" dirty="0">
                <a:solidFill>
                  <a:srgbClr val="0033B3"/>
                </a:solidFill>
                <a:effectLst/>
              </a:rPr>
              <a:t>import </a:t>
            </a:r>
            <a:r>
              <a:rPr lang="fr-FR" sz="2400" dirty="0" err="1">
                <a:solidFill>
                  <a:srgbClr val="080808"/>
                </a:solidFill>
                <a:effectLst/>
              </a:rPr>
              <a:t>torch</a:t>
            </a:r>
            <a:br>
              <a:rPr lang="fr-FR" sz="2400" dirty="0">
                <a:solidFill>
                  <a:srgbClr val="080808"/>
                </a:solidFill>
                <a:effectLst/>
              </a:rPr>
            </a:br>
            <a:r>
              <a:rPr lang="fr-FR" sz="2400" dirty="0">
                <a:solidFill>
                  <a:srgbClr val="080808"/>
                </a:solidFill>
                <a:effectLst/>
              </a:rPr>
              <a:t>x = </a:t>
            </a:r>
            <a:r>
              <a:rPr lang="fr-FR" sz="2400" dirty="0" err="1">
                <a:solidFill>
                  <a:srgbClr val="080808"/>
                </a:solidFill>
                <a:effectLst/>
              </a:rPr>
              <a:t>torch.tensor</a:t>
            </a:r>
            <a:r>
              <a:rPr lang="fr-FR" sz="2400" dirty="0">
                <a:solidFill>
                  <a:srgbClr val="080808"/>
                </a:solidFill>
                <a:effectLst/>
              </a:rPr>
              <a:t>(</a:t>
            </a:r>
            <a:r>
              <a:rPr lang="fr-FR" sz="2400" dirty="0">
                <a:solidFill>
                  <a:srgbClr val="1750EB"/>
                </a:solidFill>
                <a:effectLst/>
              </a:rPr>
              <a:t>1.0</a:t>
            </a:r>
            <a:r>
              <a:rPr lang="fr-FR" sz="2400" dirty="0">
                <a:solidFill>
                  <a:srgbClr val="080808"/>
                </a:solidFill>
                <a:effectLst/>
              </a:rPr>
              <a:t>)</a:t>
            </a:r>
            <a:br>
              <a:rPr lang="fr-FR" sz="2400" dirty="0">
                <a:solidFill>
                  <a:srgbClr val="080808"/>
                </a:solidFill>
                <a:effectLst/>
              </a:rPr>
            </a:br>
            <a:r>
              <a:rPr lang="fr-FR" sz="2400" dirty="0">
                <a:solidFill>
                  <a:srgbClr val="080808"/>
                </a:solidFill>
                <a:effectLst/>
              </a:rPr>
              <a:t>y = </a:t>
            </a:r>
            <a:r>
              <a:rPr lang="fr-FR" sz="2400" dirty="0" err="1">
                <a:solidFill>
                  <a:srgbClr val="080808"/>
                </a:solidFill>
                <a:effectLst/>
              </a:rPr>
              <a:t>torch.tensor</a:t>
            </a:r>
            <a:r>
              <a:rPr lang="fr-FR" sz="2400" dirty="0">
                <a:solidFill>
                  <a:srgbClr val="080808"/>
                </a:solidFill>
                <a:effectLst/>
              </a:rPr>
              <a:t>(</a:t>
            </a:r>
            <a:r>
              <a:rPr lang="fr-FR" sz="2400" dirty="0">
                <a:solidFill>
                  <a:srgbClr val="1750EB"/>
                </a:solidFill>
                <a:effectLst/>
              </a:rPr>
              <a:t>2.0</a:t>
            </a:r>
            <a:r>
              <a:rPr lang="fr-FR" sz="2400" dirty="0">
                <a:solidFill>
                  <a:srgbClr val="080808"/>
                </a:solidFill>
                <a:effectLst/>
              </a:rPr>
              <a:t>)</a:t>
            </a:r>
            <a:br>
              <a:rPr lang="fr-FR" sz="2400" dirty="0">
                <a:solidFill>
                  <a:srgbClr val="080808"/>
                </a:solidFill>
                <a:effectLst/>
              </a:rPr>
            </a:br>
            <a:r>
              <a:rPr lang="fr-FR" sz="2400" dirty="0">
                <a:solidFill>
                  <a:srgbClr val="080808"/>
                </a:solidFill>
                <a:effectLst/>
              </a:rPr>
              <a:t>w = </a:t>
            </a:r>
            <a:r>
              <a:rPr lang="fr-FR" sz="2400" dirty="0" err="1">
                <a:solidFill>
                  <a:srgbClr val="080808"/>
                </a:solidFill>
                <a:effectLst/>
              </a:rPr>
              <a:t>torch.tensor</a:t>
            </a:r>
            <a:r>
              <a:rPr lang="fr-FR" sz="2400" dirty="0">
                <a:solidFill>
                  <a:srgbClr val="080808"/>
                </a:solidFill>
                <a:effectLst/>
              </a:rPr>
              <a:t>(</a:t>
            </a:r>
            <a:r>
              <a:rPr lang="fr-FR" sz="2400" dirty="0">
                <a:solidFill>
                  <a:srgbClr val="1750EB"/>
                </a:solidFill>
                <a:effectLst/>
              </a:rPr>
              <a:t>1.0</a:t>
            </a:r>
            <a:r>
              <a:rPr lang="fr-FR" sz="2400" dirty="0">
                <a:solidFill>
                  <a:srgbClr val="080808"/>
                </a:solidFill>
                <a:effectLst/>
              </a:rPr>
              <a:t>, </a:t>
            </a:r>
            <a:r>
              <a:rPr lang="fr-FR" sz="2400" dirty="0" err="1">
                <a:solidFill>
                  <a:srgbClr val="660099"/>
                </a:solidFill>
                <a:effectLst/>
              </a:rPr>
              <a:t>requires_grad</a:t>
            </a:r>
            <a:r>
              <a:rPr lang="fr-FR" sz="2400" dirty="0">
                <a:solidFill>
                  <a:srgbClr val="080808"/>
                </a:solidFill>
                <a:effectLst/>
              </a:rPr>
              <a:t>=</a:t>
            </a:r>
            <a:r>
              <a:rPr lang="fr-FR" sz="2400" dirty="0" err="1">
                <a:solidFill>
                  <a:srgbClr val="0033B3"/>
                </a:solidFill>
                <a:effectLst/>
              </a:rPr>
              <a:t>True</a:t>
            </a:r>
            <a:r>
              <a:rPr lang="fr-FR" sz="2400" dirty="0">
                <a:solidFill>
                  <a:srgbClr val="080808"/>
                </a:solidFill>
                <a:effectLst/>
              </a:rPr>
              <a:t>)</a:t>
            </a:r>
            <a:br>
              <a:rPr lang="fr-FR" sz="2400" dirty="0">
                <a:solidFill>
                  <a:srgbClr val="080808"/>
                </a:solidFill>
                <a:effectLst/>
              </a:rPr>
            </a:br>
            <a:r>
              <a:rPr lang="fr-FR" sz="2400" i="1" dirty="0">
                <a:solidFill>
                  <a:srgbClr val="8C8C8C"/>
                </a:solidFill>
                <a:effectLst/>
              </a:rPr>
              <a:t># </a:t>
            </a:r>
            <a:r>
              <a:rPr lang="fr-FR" sz="2400" i="1" dirty="0" err="1">
                <a:solidFill>
                  <a:srgbClr val="8C8C8C"/>
                </a:solidFill>
                <a:effectLst/>
              </a:rPr>
              <a:t>forward</a:t>
            </a:r>
            <a:r>
              <a:rPr lang="fr-FR" sz="2400" i="1" dirty="0">
                <a:solidFill>
                  <a:srgbClr val="8C8C8C"/>
                </a:solidFill>
                <a:effectLst/>
              </a:rPr>
              <a:t> </a:t>
            </a:r>
            <a:r>
              <a:rPr lang="fr-FR" sz="2400" i="1" dirty="0" err="1">
                <a:solidFill>
                  <a:srgbClr val="8C8C8C"/>
                </a:solidFill>
                <a:effectLst/>
              </a:rPr>
              <a:t>pass</a:t>
            </a:r>
            <a:r>
              <a:rPr lang="fr-FR" sz="2400" i="1" dirty="0">
                <a:solidFill>
                  <a:srgbClr val="8C8C8C"/>
                </a:solidFill>
                <a:effectLst/>
              </a:rPr>
              <a:t> and </a:t>
            </a:r>
            <a:r>
              <a:rPr lang="fr-FR" sz="2400" i="1" dirty="0" err="1">
                <a:solidFill>
                  <a:srgbClr val="8C8C8C"/>
                </a:solidFill>
                <a:effectLst/>
              </a:rPr>
              <a:t>compute</a:t>
            </a:r>
            <a:r>
              <a:rPr lang="fr-FR" sz="2400" i="1" dirty="0">
                <a:solidFill>
                  <a:srgbClr val="8C8C8C"/>
                </a:solidFill>
                <a:effectLst/>
              </a:rPr>
              <a:t> the </a:t>
            </a:r>
            <a:r>
              <a:rPr lang="fr-FR" sz="2400" i="1" dirty="0" err="1">
                <a:solidFill>
                  <a:srgbClr val="8C8C8C"/>
                </a:solidFill>
                <a:effectLst/>
              </a:rPr>
              <a:t>loss</a:t>
            </a:r>
            <a:br>
              <a:rPr lang="fr-FR" sz="2400" i="1" dirty="0">
                <a:solidFill>
                  <a:srgbClr val="8C8C8C"/>
                </a:solidFill>
                <a:effectLst/>
              </a:rPr>
            </a:br>
            <a:r>
              <a:rPr lang="fr-FR" sz="2400" dirty="0" err="1">
                <a:solidFill>
                  <a:srgbClr val="080808"/>
                </a:solidFill>
                <a:effectLst/>
              </a:rPr>
              <a:t>y_hat</a:t>
            </a:r>
            <a:r>
              <a:rPr lang="fr-FR" sz="2400" dirty="0">
                <a:solidFill>
                  <a:srgbClr val="080808"/>
                </a:solidFill>
                <a:effectLst/>
              </a:rPr>
              <a:t> = w * x</a:t>
            </a:r>
            <a:br>
              <a:rPr lang="fr-FR" sz="2400" dirty="0">
                <a:solidFill>
                  <a:srgbClr val="080808"/>
                </a:solidFill>
                <a:effectLst/>
              </a:rPr>
            </a:br>
            <a:r>
              <a:rPr lang="fr-FR" sz="2400" dirty="0" err="1">
                <a:solidFill>
                  <a:srgbClr val="080808"/>
                </a:solidFill>
                <a:effectLst/>
              </a:rPr>
              <a:t>loss</a:t>
            </a:r>
            <a:r>
              <a:rPr lang="fr-FR" sz="2400" dirty="0">
                <a:solidFill>
                  <a:srgbClr val="080808"/>
                </a:solidFill>
                <a:effectLst/>
              </a:rPr>
              <a:t> = (</a:t>
            </a:r>
            <a:r>
              <a:rPr lang="fr-FR" sz="2400" dirty="0" err="1">
                <a:solidFill>
                  <a:srgbClr val="080808"/>
                </a:solidFill>
                <a:effectLst/>
              </a:rPr>
              <a:t>y_hat</a:t>
            </a:r>
            <a:r>
              <a:rPr lang="fr-FR" sz="2400" dirty="0">
                <a:solidFill>
                  <a:srgbClr val="080808"/>
                </a:solidFill>
                <a:effectLst/>
              </a:rPr>
              <a:t> - y)**</a:t>
            </a:r>
            <a:r>
              <a:rPr lang="fr-FR" sz="2400" dirty="0">
                <a:solidFill>
                  <a:srgbClr val="1750EB"/>
                </a:solidFill>
                <a:effectLst/>
              </a:rPr>
              <a:t>2</a:t>
            </a:r>
            <a:br>
              <a:rPr lang="fr-FR" sz="2400" dirty="0">
                <a:solidFill>
                  <a:srgbClr val="1750EB"/>
                </a:solidFill>
                <a:effectLst/>
              </a:rPr>
            </a:br>
            <a:br>
              <a:rPr lang="fr-FR" sz="2400" dirty="0">
                <a:solidFill>
                  <a:srgbClr val="080808"/>
                </a:solidFill>
                <a:effectLst/>
              </a:rPr>
            </a:br>
            <a:r>
              <a:rPr lang="fr-FR" sz="2400" i="1" dirty="0">
                <a:solidFill>
                  <a:srgbClr val="8C8C8C"/>
                </a:solidFill>
                <a:effectLst/>
              </a:rPr>
              <a:t># </a:t>
            </a:r>
            <a:r>
              <a:rPr lang="fr-FR" sz="2400" i="1" dirty="0" err="1">
                <a:solidFill>
                  <a:srgbClr val="8C8C8C"/>
                </a:solidFill>
                <a:effectLst/>
              </a:rPr>
              <a:t>backward</a:t>
            </a:r>
            <a:r>
              <a:rPr lang="fr-FR" sz="2400" i="1" dirty="0">
                <a:solidFill>
                  <a:srgbClr val="8C8C8C"/>
                </a:solidFill>
                <a:effectLst/>
              </a:rPr>
              <a:t> </a:t>
            </a:r>
            <a:r>
              <a:rPr lang="fr-FR" sz="2400" i="1" dirty="0" err="1">
                <a:solidFill>
                  <a:srgbClr val="8C8C8C"/>
                </a:solidFill>
                <a:effectLst/>
              </a:rPr>
              <a:t>pass</a:t>
            </a:r>
            <a:br>
              <a:rPr lang="fr-FR" sz="2400" i="1" dirty="0">
                <a:solidFill>
                  <a:srgbClr val="8C8C8C"/>
                </a:solidFill>
                <a:effectLst/>
              </a:rPr>
            </a:br>
            <a:r>
              <a:rPr lang="fr-FR" sz="2400" dirty="0" err="1">
                <a:solidFill>
                  <a:srgbClr val="080808"/>
                </a:solidFill>
                <a:effectLst/>
              </a:rPr>
              <a:t>loss.backward</a:t>
            </a:r>
            <a:r>
              <a:rPr lang="fr-FR" sz="2400" dirty="0">
                <a:solidFill>
                  <a:srgbClr val="080808"/>
                </a:solidFill>
                <a:effectLst/>
              </a:rPr>
              <a:t>()</a:t>
            </a:r>
            <a:br>
              <a:rPr lang="fr-FR" sz="2400" dirty="0">
                <a:solidFill>
                  <a:srgbClr val="080808"/>
                </a:solidFill>
                <a:effectLst/>
              </a:rPr>
            </a:br>
            <a:r>
              <a:rPr lang="fr-FR" sz="2400" dirty="0">
                <a:solidFill>
                  <a:srgbClr val="000080"/>
                </a:solidFill>
                <a:effectLst/>
              </a:rPr>
              <a:t>print</a:t>
            </a:r>
            <a:r>
              <a:rPr lang="fr-FR" sz="2400" dirty="0">
                <a:solidFill>
                  <a:srgbClr val="080808"/>
                </a:solidFill>
                <a:effectLst/>
              </a:rPr>
              <a:t>(</a:t>
            </a:r>
            <a:r>
              <a:rPr lang="fr-FR" sz="2400" dirty="0" err="1">
                <a:solidFill>
                  <a:srgbClr val="067D17"/>
                </a:solidFill>
                <a:effectLst/>
              </a:rPr>
              <a:t>f"w_grad</a:t>
            </a:r>
            <a:r>
              <a:rPr lang="fr-FR" sz="2400" dirty="0">
                <a:solidFill>
                  <a:srgbClr val="067D17"/>
                </a:solidFill>
                <a:effectLst/>
              </a:rPr>
              <a:t>: </a:t>
            </a:r>
            <a:r>
              <a:rPr lang="fr-FR" sz="2400" dirty="0">
                <a:solidFill>
                  <a:srgbClr val="0037A6"/>
                </a:solidFill>
                <a:effectLst/>
              </a:rPr>
              <a:t>{</a:t>
            </a:r>
            <a:r>
              <a:rPr lang="fr-FR" sz="2400" dirty="0" err="1">
                <a:solidFill>
                  <a:srgbClr val="080808"/>
                </a:solidFill>
                <a:effectLst/>
              </a:rPr>
              <a:t>w.grad</a:t>
            </a:r>
            <a:r>
              <a:rPr lang="fr-FR" sz="2400" dirty="0">
                <a:solidFill>
                  <a:srgbClr val="0037A6"/>
                </a:solidFill>
                <a:effectLst/>
              </a:rPr>
              <a:t>}</a:t>
            </a:r>
            <a:r>
              <a:rPr lang="fr-FR" sz="2400" dirty="0">
                <a:solidFill>
                  <a:srgbClr val="067D17"/>
                </a:solidFill>
                <a:effectLst/>
              </a:rPr>
              <a:t>"</a:t>
            </a:r>
            <a:r>
              <a:rPr lang="fr-FR" sz="2400" dirty="0">
                <a:solidFill>
                  <a:srgbClr val="080808"/>
                </a:solidFill>
                <a:effectLst/>
              </a:rPr>
              <a:t>)</a:t>
            </a:r>
          </a:p>
          <a:p>
            <a:r>
              <a:rPr lang="fr-FR" sz="2400" dirty="0" err="1">
                <a:solidFill>
                  <a:schemeClr val="bg1">
                    <a:lumMod val="50000"/>
                  </a:schemeClr>
                </a:solidFill>
                <a:effectLst/>
              </a:rPr>
              <a:t>w_grad</a:t>
            </a:r>
            <a:r>
              <a:rPr lang="fr-FR" sz="2400" dirty="0">
                <a:solidFill>
                  <a:schemeClr val="bg1">
                    <a:lumMod val="50000"/>
                  </a:schemeClr>
                </a:solidFill>
                <a:effectLst/>
              </a:rPr>
              <a:t>: -2.0</a:t>
            </a:r>
            <a:br>
              <a:rPr lang="fr-FR" sz="2400" dirty="0">
                <a:solidFill>
                  <a:srgbClr val="080808"/>
                </a:solidFill>
                <a:effectLst/>
              </a:rPr>
            </a:br>
            <a:r>
              <a:rPr lang="fr-FR" sz="2400" i="1" dirty="0">
                <a:solidFill>
                  <a:srgbClr val="8C8C8C"/>
                </a:solidFill>
                <a:effectLst/>
              </a:rPr>
              <a:t># </a:t>
            </a:r>
            <a:r>
              <a:rPr lang="fr-FR" sz="2400" i="1" dirty="0" err="1">
                <a:solidFill>
                  <a:srgbClr val="8C8C8C"/>
                </a:solidFill>
                <a:effectLst/>
              </a:rPr>
              <a:t>dL</a:t>
            </a:r>
            <a:r>
              <a:rPr lang="fr-FR" sz="2400" i="1" dirty="0">
                <a:solidFill>
                  <a:srgbClr val="8C8C8C"/>
                </a:solidFill>
                <a:effectLst/>
              </a:rPr>
              <a:t>/</a:t>
            </a:r>
            <a:r>
              <a:rPr lang="fr-FR" sz="2400" i="1" dirty="0" err="1">
                <a:solidFill>
                  <a:srgbClr val="8C8C8C"/>
                </a:solidFill>
                <a:effectLst/>
              </a:rPr>
              <a:t>dy_hat</a:t>
            </a:r>
            <a:r>
              <a:rPr lang="fr-FR" sz="2400" i="1" dirty="0">
                <a:solidFill>
                  <a:srgbClr val="8C8C8C"/>
                </a:solidFill>
                <a:effectLst/>
              </a:rPr>
              <a:t> * </a:t>
            </a:r>
            <a:r>
              <a:rPr lang="fr-FR" sz="2400" i="1" dirty="0" err="1">
                <a:solidFill>
                  <a:srgbClr val="8C8C8C"/>
                </a:solidFill>
                <a:effectLst/>
              </a:rPr>
              <a:t>dy_hat</a:t>
            </a:r>
            <a:r>
              <a:rPr lang="fr-FR" sz="2400" i="1" dirty="0">
                <a:solidFill>
                  <a:srgbClr val="8C8C8C"/>
                </a:solidFill>
                <a:effectLst/>
              </a:rPr>
              <a:t>/</a:t>
            </a:r>
            <a:r>
              <a:rPr lang="fr-FR" sz="2400" i="1" dirty="0" err="1">
                <a:solidFill>
                  <a:srgbClr val="8C8C8C"/>
                </a:solidFill>
                <a:effectLst/>
              </a:rPr>
              <a:t>dw</a:t>
            </a:r>
            <a:r>
              <a:rPr lang="fr-FR" sz="2400" i="1" dirty="0">
                <a:solidFill>
                  <a:srgbClr val="8C8C8C"/>
                </a:solidFill>
                <a:effectLst/>
              </a:rPr>
              <a:t> = d(</a:t>
            </a:r>
            <a:r>
              <a:rPr lang="fr-FR" sz="2400" i="1" dirty="0" err="1">
                <a:solidFill>
                  <a:srgbClr val="8C8C8C"/>
                </a:solidFill>
                <a:effectLst/>
              </a:rPr>
              <a:t>y_hat</a:t>
            </a:r>
            <a:r>
              <a:rPr lang="fr-FR" sz="2400" i="1" dirty="0">
                <a:solidFill>
                  <a:srgbClr val="8C8C8C"/>
                </a:solidFill>
                <a:effectLst/>
              </a:rPr>
              <a:t>-y)**2/</a:t>
            </a:r>
            <a:r>
              <a:rPr lang="fr-FR" sz="2400" i="1" dirty="0" err="1">
                <a:solidFill>
                  <a:srgbClr val="8C8C8C"/>
                </a:solidFill>
                <a:effectLst/>
              </a:rPr>
              <a:t>dy_hat</a:t>
            </a:r>
            <a:r>
              <a:rPr lang="fr-FR" sz="2400" i="1" dirty="0">
                <a:solidFill>
                  <a:srgbClr val="8C8C8C"/>
                </a:solidFill>
                <a:effectLst/>
              </a:rPr>
              <a:t> * d(w*x)/</a:t>
            </a:r>
            <a:r>
              <a:rPr lang="fr-FR" sz="2400" i="1" dirty="0" err="1">
                <a:solidFill>
                  <a:srgbClr val="8C8C8C"/>
                </a:solidFill>
                <a:effectLst/>
              </a:rPr>
              <a:t>dw</a:t>
            </a:r>
            <a:r>
              <a:rPr lang="fr-FR" sz="2400" i="1" dirty="0">
                <a:solidFill>
                  <a:srgbClr val="8C8C8C"/>
                </a:solidFill>
                <a:effectLst/>
              </a:rPr>
              <a:t> = 2(</a:t>
            </a:r>
            <a:r>
              <a:rPr lang="fr-FR" sz="2400" i="1" dirty="0" err="1">
                <a:solidFill>
                  <a:srgbClr val="8C8C8C"/>
                </a:solidFill>
                <a:effectLst/>
              </a:rPr>
              <a:t>y_hat</a:t>
            </a:r>
            <a:r>
              <a:rPr lang="fr-FR" sz="2400" i="1" dirty="0">
                <a:solidFill>
                  <a:srgbClr val="8C8C8C"/>
                </a:solidFill>
                <a:effectLst/>
              </a:rPr>
              <a:t>-y) * x = 2(1-2)1</a:t>
            </a:r>
            <a:endParaRPr lang="fr-FR" sz="2400" dirty="0">
              <a:solidFill>
                <a:srgbClr val="080808"/>
              </a:solidFill>
              <a:effectLst/>
            </a:endParaRPr>
          </a:p>
        </p:txBody>
      </p:sp>
    </p:spTree>
    <p:extLst>
      <p:ext uri="{BB962C8B-B14F-4D97-AF65-F5344CB8AC3E}">
        <p14:creationId xmlns:p14="http://schemas.microsoft.com/office/powerpoint/2010/main" val="243953207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33725</TotalTime>
  <Words>6645</Words>
  <Application>Microsoft Macintosh PowerPoint</Application>
  <PresentationFormat>Grand écran</PresentationFormat>
  <Paragraphs>905</Paragraphs>
  <Slides>65</Slides>
  <Notes>22</Notes>
  <HiddenSlides>0</HiddenSlides>
  <MMClips>0</MMClips>
  <ScaleCrop>false</ScaleCrop>
  <HeadingPairs>
    <vt:vector size="8" baseType="variant">
      <vt:variant>
        <vt:lpstr>Polices utilisées</vt:lpstr>
      </vt:variant>
      <vt:variant>
        <vt:i4>7</vt:i4>
      </vt:variant>
      <vt:variant>
        <vt:lpstr>Thème</vt:lpstr>
      </vt:variant>
      <vt:variant>
        <vt:i4>1</vt:i4>
      </vt:variant>
      <vt:variant>
        <vt:lpstr>Serveurs OLE incorporés</vt:lpstr>
      </vt:variant>
      <vt:variant>
        <vt:i4>1</vt:i4>
      </vt:variant>
      <vt:variant>
        <vt:lpstr>Titres des diapositives</vt:lpstr>
      </vt:variant>
      <vt:variant>
        <vt:i4>65</vt:i4>
      </vt:variant>
    </vt:vector>
  </HeadingPairs>
  <TitlesOfParts>
    <vt:vector size="74" baseType="lpstr">
      <vt:lpstr>Aptos</vt:lpstr>
      <vt:lpstr>Aptos Display</vt:lpstr>
      <vt:lpstr>Arial</vt:lpstr>
      <vt:lpstr>Cambria Math</vt:lpstr>
      <vt:lpstr>Monaco</vt:lpstr>
      <vt:lpstr>ui-sans-serif</vt:lpstr>
      <vt:lpstr>Wingdings</vt:lpstr>
      <vt:lpstr>Thème Office</vt:lpstr>
      <vt:lpstr>Feuille de calcul</vt:lpstr>
      <vt:lpstr>Introduction to  Neural Network </vt:lpstr>
      <vt:lpstr>Neural Network as a function</vt:lpstr>
      <vt:lpstr>Neural Network as a function</vt:lpstr>
      <vt:lpstr>Neural Network as a function</vt:lpstr>
      <vt:lpstr>Perceptron with a single input</vt:lpstr>
      <vt:lpstr>Perceptron with a single input</vt:lpstr>
      <vt:lpstr>Perceptron</vt:lpstr>
      <vt:lpstr>Perceptron with a single input</vt:lpstr>
      <vt:lpstr>Perceptron with a single input</vt:lpstr>
      <vt:lpstr>Perceptron with a single input</vt:lpstr>
      <vt:lpstr>Perceptron with a single input</vt:lpstr>
      <vt:lpstr>Perceptron with a single input</vt:lpstr>
      <vt:lpstr>Perceptron with a single input</vt:lpstr>
      <vt:lpstr>Perceptron with a single input</vt:lpstr>
      <vt:lpstr>Perceptron with two inputs</vt:lpstr>
      <vt:lpstr>Perceptron</vt:lpstr>
      <vt:lpstr>Perceptron</vt:lpstr>
      <vt:lpstr>Perceptron</vt:lpstr>
      <vt:lpstr>Perceptron</vt:lpstr>
      <vt:lpstr>Perceptron</vt:lpstr>
      <vt:lpstr>Perceptron</vt:lpstr>
      <vt:lpstr>Neural Networks with multiple layers I</vt:lpstr>
      <vt:lpstr>Neural Network</vt:lpstr>
      <vt:lpstr>Neural Network</vt:lpstr>
      <vt:lpstr>Neural Network</vt:lpstr>
      <vt:lpstr>Neural Networks with multiple layers II</vt:lpstr>
      <vt:lpstr>Neural Network</vt:lpstr>
      <vt:lpstr>Neural Network</vt:lpstr>
      <vt:lpstr>Neural Network</vt:lpstr>
      <vt:lpstr>Neural Network</vt:lpstr>
      <vt:lpstr>Neural Network</vt:lpstr>
      <vt:lpstr>Neural Network</vt:lpstr>
      <vt:lpstr>Neural Network</vt:lpstr>
      <vt:lpstr>Neural Network</vt:lpstr>
      <vt:lpstr>Neural Network</vt:lpstr>
      <vt:lpstr>Neural Network</vt:lpstr>
      <vt:lpstr>Neural Network</vt:lpstr>
      <vt:lpstr>Neural Network</vt:lpstr>
      <vt:lpstr>Neural Network</vt:lpstr>
      <vt:lpstr>Neural Network</vt:lpstr>
      <vt:lpstr>Neural Network</vt:lpstr>
      <vt:lpstr>Neural Networks with multiple layers III</vt:lpstr>
      <vt:lpstr>Neural Network</vt:lpstr>
      <vt:lpstr>Neural Network</vt:lpstr>
      <vt:lpstr>Neural Network</vt:lpstr>
      <vt:lpstr>Neural Network</vt:lpstr>
      <vt:lpstr>Neural Network</vt:lpstr>
      <vt:lpstr>Pytorch tutorial Create tensors</vt:lpstr>
      <vt:lpstr>Pytorch tutorial Create tensors</vt:lpstr>
      <vt:lpstr>Pytorch tutorial Create tensors</vt:lpstr>
      <vt:lpstr>Pytorch tutorial Create tensors</vt:lpstr>
      <vt:lpstr>Pytorch tutorial Conversion type</vt:lpstr>
      <vt:lpstr>Pytorch tutorial Work with GPU cuda</vt:lpstr>
      <vt:lpstr>Pytorch tutorial Neural Network</vt:lpstr>
      <vt:lpstr>Pytorch tutorial Neural Network – Forward pass</vt:lpstr>
      <vt:lpstr>Pytorch tutorial Neural Network – Forward pass</vt:lpstr>
      <vt:lpstr>Pytorch tutorial Neural Network – Backward pass</vt:lpstr>
      <vt:lpstr>Pytorch tutorial Neural Network – Backward pass</vt:lpstr>
      <vt:lpstr>Pytorch tutorial Neural Network – Backward pass</vt:lpstr>
      <vt:lpstr>Pytorch tutorial Neural Network – detach grad to stop tracking the gradients</vt:lpstr>
      <vt:lpstr>Pytorch tutorial Neural Network – Avoid gradients accumulation grad.zero!()</vt:lpstr>
      <vt:lpstr>Pytorch tutorial Neural Network – Backward pass</vt:lpstr>
      <vt:lpstr>Pytorch tutorial Neural Network – Optimizer SGD</vt:lpstr>
      <vt:lpstr>Pytorch tutorial Neural Network – Optimizer SGD</vt:lpstr>
      <vt:lpstr>Pytorch tutorial Neural Network – Optimizer SGD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THEBAULT</dc:creator>
  <cp:lastModifiedBy>David THEBAULT</cp:lastModifiedBy>
  <cp:revision>336</cp:revision>
  <dcterms:created xsi:type="dcterms:W3CDTF">2024-11-11T16:09:09Z</dcterms:created>
  <dcterms:modified xsi:type="dcterms:W3CDTF">2025-03-08T18:02:24Z</dcterms:modified>
</cp:coreProperties>
</file>