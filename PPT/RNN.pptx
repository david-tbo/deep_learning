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7" r:id="rId2"/>
    <p:sldId id="258" r:id="rId3"/>
    <p:sldId id="273" r:id="rId4"/>
    <p:sldId id="294" r:id="rId5"/>
    <p:sldId id="285" r:id="rId6"/>
    <p:sldId id="286" r:id="rId7"/>
    <p:sldId id="290" r:id="rId8"/>
    <p:sldId id="291" r:id="rId9"/>
    <p:sldId id="292" r:id="rId10"/>
    <p:sldId id="295" r:id="rId11"/>
    <p:sldId id="298" r:id="rId12"/>
    <p:sldId id="296" r:id="rId13"/>
    <p:sldId id="297" r:id="rId14"/>
    <p:sldId id="299" r:id="rId15"/>
    <p:sldId id="300" r:id="rId16"/>
    <p:sldId id="275" r:id="rId17"/>
    <p:sldId id="301" r:id="rId18"/>
    <p:sldId id="302" r:id="rId19"/>
    <p:sldId id="303" r:id="rId20"/>
    <p:sldId id="304" r:id="rId2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15"/>
    <p:restoredTop sz="57174"/>
  </p:normalViewPr>
  <p:slideViewPr>
    <p:cSldViewPr snapToGrid="0">
      <p:cViewPr varScale="1">
        <p:scale>
          <a:sx n="65" d="100"/>
          <a:sy n="65" d="100"/>
        </p:scale>
        <p:origin x="2640" y="200"/>
      </p:cViewPr>
      <p:guideLst/>
    </p:cSldViewPr>
  </p:slideViewPr>
  <p:outlineViewPr>
    <p:cViewPr>
      <p:scale>
        <a:sx n="33" d="100"/>
        <a:sy n="33" d="100"/>
      </p:scale>
      <p:origin x="0" y="-31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AA1ACA-B3B5-2C4B-9EDA-C0BA6CE5D44C}" type="datetimeFigureOut">
              <a:rPr lang="en-GB" smtClean="0"/>
              <a:t>09/03/2025</a:t>
            </a:fld>
            <a:endParaRPr lang="en-GB"/>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0F5B79-958C-7D41-A64D-F75AF3759245}" type="slidenum">
              <a:rPr lang="en-GB" smtClean="0"/>
              <a:t>‹N°›</a:t>
            </a:fld>
            <a:endParaRPr lang="en-GB"/>
          </a:p>
        </p:txBody>
      </p:sp>
    </p:spTree>
    <p:extLst>
      <p:ext uri="{BB962C8B-B14F-4D97-AF65-F5344CB8AC3E}">
        <p14:creationId xmlns:p14="http://schemas.microsoft.com/office/powerpoint/2010/main" val="3709423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noProof="0" dirty="0"/>
              <a:t>Traitement automatique du </a:t>
            </a:r>
            <a:r>
              <a:rPr lang="fr-FR" noProof="0" dirty="0" err="1"/>
              <a:t>language</a:t>
            </a:r>
            <a:r>
              <a:rPr lang="fr-FR" noProof="0" dirty="0"/>
              <a:t> naturel</a:t>
            </a:r>
          </a:p>
        </p:txBody>
      </p:sp>
      <p:sp>
        <p:nvSpPr>
          <p:cNvPr id="4" name="Espace réservé du numéro de diapositive 3"/>
          <p:cNvSpPr>
            <a:spLocks noGrp="1"/>
          </p:cNvSpPr>
          <p:nvPr>
            <p:ph type="sldNum" sz="quarter" idx="5"/>
          </p:nvPr>
        </p:nvSpPr>
        <p:spPr/>
        <p:txBody>
          <a:bodyPr/>
          <a:lstStyle/>
          <a:p>
            <a:fld id="{1A0F5B79-958C-7D41-A64D-F75AF3759245}" type="slidenum">
              <a:rPr lang="en-GB" smtClean="0"/>
              <a:t>1</a:t>
            </a:fld>
            <a:endParaRPr lang="en-GB"/>
          </a:p>
        </p:txBody>
      </p:sp>
    </p:spTree>
    <p:extLst>
      <p:ext uri="{BB962C8B-B14F-4D97-AF65-F5344CB8AC3E}">
        <p14:creationId xmlns:p14="http://schemas.microsoft.com/office/powerpoint/2010/main" val="689186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noProof="0" dirty="0"/>
          </a:p>
        </p:txBody>
      </p:sp>
      <p:sp>
        <p:nvSpPr>
          <p:cNvPr id="4" name="Espace réservé du numéro de diapositive 3"/>
          <p:cNvSpPr>
            <a:spLocks noGrp="1"/>
          </p:cNvSpPr>
          <p:nvPr>
            <p:ph type="sldNum" sz="quarter" idx="5"/>
          </p:nvPr>
        </p:nvSpPr>
        <p:spPr/>
        <p:txBody>
          <a:bodyPr/>
          <a:lstStyle/>
          <a:p>
            <a:fld id="{BFE20620-1C2C-7043-8B38-691BB5666C4A}" type="slidenum">
              <a:rPr lang="fr-FR" smtClean="0"/>
              <a:t>2</a:t>
            </a:fld>
            <a:endParaRPr lang="fr-FR"/>
          </a:p>
        </p:txBody>
      </p:sp>
    </p:spTree>
    <p:extLst>
      <p:ext uri="{BB962C8B-B14F-4D97-AF65-F5344CB8AC3E}">
        <p14:creationId xmlns:p14="http://schemas.microsoft.com/office/powerpoint/2010/main" val="2756174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65355-836B-A8E5-68F9-4016C2636D9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87B481C-BB2B-7A0E-3718-8A1CF227CF9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466D0BE-121F-95CA-FB59-592CD652D6A5}"/>
              </a:ext>
            </a:extLst>
          </p:cNvPr>
          <p:cNvSpPr>
            <a:spLocks noGrp="1"/>
          </p:cNvSpPr>
          <p:nvPr>
            <p:ph type="body" idx="1"/>
          </p:nvPr>
        </p:nvSpPr>
        <p:spPr/>
        <p:txBody>
          <a:bodyPr/>
          <a:lstStyle/>
          <a:p>
            <a:pPr>
              <a:spcAft>
                <a:spcPts val="750"/>
              </a:spcAft>
            </a:pPr>
            <a:br>
              <a:rPr lang="fr-FR" b="0" dirty="0">
                <a:effectLst/>
              </a:rPr>
            </a:br>
            <a:r>
              <a:rPr lang="fr-FR" b="0" dirty="0" err="1">
                <a:effectLst/>
              </a:rPr>
              <a:t>Ambiguity</a:t>
            </a:r>
            <a:r>
              <a:rPr lang="fr-FR" b="0" dirty="0">
                <a:effectLst/>
              </a:rPr>
              <a:t> (Ambiguïté)</a:t>
            </a:r>
            <a:endParaRPr lang="fr-FR" dirty="0">
              <a:effectLst/>
            </a:endParaRPr>
          </a:p>
          <a:p>
            <a:pPr>
              <a:buFont typeface="Arial" panose="020B0604020202020204" pitchFamily="34" charset="0"/>
              <a:buChar char="•"/>
            </a:pPr>
            <a:r>
              <a:rPr lang="fr-FR" b="0" dirty="0">
                <a:effectLst/>
              </a:rPr>
              <a:t>Phrase exemple</a:t>
            </a:r>
            <a:r>
              <a:rPr lang="fr-FR" dirty="0">
                <a:effectLst/>
              </a:rPr>
              <a:t> : "I </a:t>
            </a:r>
            <a:r>
              <a:rPr lang="fr-FR" dirty="0" err="1">
                <a:effectLst/>
              </a:rPr>
              <a:t>saw</a:t>
            </a:r>
            <a:r>
              <a:rPr lang="fr-FR" dirty="0">
                <a:effectLst/>
              </a:rPr>
              <a:t> the </a:t>
            </a:r>
            <a:r>
              <a:rPr lang="fr-FR" dirty="0" err="1">
                <a:effectLst/>
              </a:rPr>
              <a:t>banker</a:t>
            </a:r>
            <a:r>
              <a:rPr lang="fr-FR" dirty="0">
                <a:effectLst/>
              </a:rPr>
              <a:t> </a:t>
            </a:r>
            <a:r>
              <a:rPr lang="fr-FR" dirty="0" err="1">
                <a:effectLst/>
              </a:rPr>
              <a:t>with</a:t>
            </a:r>
            <a:r>
              <a:rPr lang="fr-FR" dirty="0">
                <a:effectLst/>
              </a:rPr>
              <a:t> the </a:t>
            </a:r>
            <a:r>
              <a:rPr lang="fr-FR" dirty="0" err="1">
                <a:effectLst/>
              </a:rPr>
              <a:t>telescope</a:t>
            </a:r>
            <a:r>
              <a:rPr lang="fr-FR" dirty="0">
                <a:effectLst/>
              </a:rPr>
              <a:t>."</a:t>
            </a:r>
          </a:p>
          <a:p>
            <a:pPr>
              <a:buFont typeface="Arial" panose="020B0604020202020204" pitchFamily="34" charset="0"/>
              <a:buChar char="•"/>
            </a:pPr>
            <a:r>
              <a:rPr lang="fr-FR" b="0" dirty="0">
                <a:effectLst/>
              </a:rPr>
              <a:t>Explication</a:t>
            </a:r>
            <a:r>
              <a:rPr lang="fr-FR" dirty="0">
                <a:effectLst/>
              </a:rPr>
              <a:t> : This sentence </a:t>
            </a:r>
            <a:r>
              <a:rPr lang="fr-FR" dirty="0" err="1">
                <a:effectLst/>
              </a:rPr>
              <a:t>is</a:t>
            </a:r>
            <a:r>
              <a:rPr lang="fr-FR" dirty="0">
                <a:effectLst/>
              </a:rPr>
              <a:t> </a:t>
            </a:r>
            <a:r>
              <a:rPr lang="fr-FR" dirty="0" err="1">
                <a:effectLst/>
              </a:rPr>
              <a:t>ambiguous</a:t>
            </a:r>
            <a:r>
              <a:rPr lang="fr-FR" dirty="0">
                <a:effectLst/>
              </a:rPr>
              <a:t> </a:t>
            </a:r>
            <a:r>
              <a:rPr lang="fr-FR" dirty="0" err="1">
                <a:effectLst/>
              </a:rPr>
              <a:t>because</a:t>
            </a:r>
            <a:r>
              <a:rPr lang="fr-FR" dirty="0">
                <a:effectLst/>
              </a:rPr>
              <a:t> </a:t>
            </a:r>
            <a:r>
              <a:rPr lang="fr-FR" dirty="0" err="1">
                <a:effectLst/>
              </a:rPr>
              <a:t>it</a:t>
            </a:r>
            <a:r>
              <a:rPr lang="fr-FR" dirty="0">
                <a:effectLst/>
              </a:rPr>
              <a:t> can </a:t>
            </a:r>
            <a:r>
              <a:rPr lang="fr-FR" dirty="0" err="1">
                <a:effectLst/>
              </a:rPr>
              <a:t>mean</a:t>
            </a:r>
            <a:r>
              <a:rPr lang="fr-FR" dirty="0">
                <a:effectLst/>
              </a:rPr>
              <a:t> </a:t>
            </a:r>
            <a:r>
              <a:rPr lang="fr-FR" dirty="0" err="1">
                <a:effectLst/>
              </a:rPr>
              <a:t>either</a:t>
            </a:r>
            <a:r>
              <a:rPr lang="fr-FR" dirty="0">
                <a:effectLst/>
              </a:rPr>
              <a:t> </a:t>
            </a:r>
            <a:r>
              <a:rPr lang="fr-FR" dirty="0" err="1">
                <a:effectLst/>
              </a:rPr>
              <a:t>that</a:t>
            </a:r>
            <a:r>
              <a:rPr lang="fr-FR" dirty="0">
                <a:effectLst/>
              </a:rPr>
              <a:t> the </a:t>
            </a:r>
            <a:r>
              <a:rPr lang="fr-FR" dirty="0" err="1">
                <a:effectLst/>
              </a:rPr>
              <a:t>banker</a:t>
            </a:r>
            <a:r>
              <a:rPr lang="fr-FR" dirty="0">
                <a:effectLst/>
              </a:rPr>
              <a:t> </a:t>
            </a:r>
            <a:r>
              <a:rPr lang="fr-FR" dirty="0" err="1">
                <a:effectLst/>
              </a:rPr>
              <a:t>is</a:t>
            </a:r>
            <a:r>
              <a:rPr lang="fr-FR" dirty="0">
                <a:effectLst/>
              </a:rPr>
              <a:t> </a:t>
            </a:r>
            <a:r>
              <a:rPr lang="fr-FR" dirty="0" err="1">
                <a:effectLst/>
              </a:rPr>
              <a:t>using</a:t>
            </a:r>
            <a:r>
              <a:rPr lang="fr-FR" dirty="0">
                <a:effectLst/>
              </a:rPr>
              <a:t> a </a:t>
            </a:r>
            <a:r>
              <a:rPr lang="fr-FR" dirty="0" err="1">
                <a:effectLst/>
              </a:rPr>
              <a:t>telescope</a:t>
            </a:r>
            <a:r>
              <a:rPr lang="fr-FR" dirty="0">
                <a:effectLst/>
              </a:rPr>
              <a:t> or </a:t>
            </a:r>
            <a:r>
              <a:rPr lang="fr-FR" dirty="0" err="1">
                <a:effectLst/>
              </a:rPr>
              <a:t>that</a:t>
            </a:r>
            <a:r>
              <a:rPr lang="fr-FR" dirty="0">
                <a:effectLst/>
              </a:rPr>
              <a:t> the speaker </a:t>
            </a:r>
            <a:r>
              <a:rPr lang="fr-FR" dirty="0" err="1">
                <a:effectLst/>
              </a:rPr>
              <a:t>saw</a:t>
            </a:r>
            <a:r>
              <a:rPr lang="fr-FR" dirty="0">
                <a:effectLst/>
              </a:rPr>
              <a:t> the </a:t>
            </a:r>
            <a:r>
              <a:rPr lang="fr-FR" dirty="0" err="1">
                <a:effectLst/>
              </a:rPr>
              <a:t>banker</a:t>
            </a:r>
            <a:r>
              <a:rPr lang="fr-FR" dirty="0">
                <a:effectLst/>
              </a:rPr>
              <a:t> </a:t>
            </a:r>
            <a:r>
              <a:rPr lang="fr-FR" dirty="0" err="1">
                <a:effectLst/>
              </a:rPr>
              <a:t>using</a:t>
            </a:r>
            <a:r>
              <a:rPr lang="fr-FR" dirty="0">
                <a:effectLst/>
              </a:rPr>
              <a:t> a </a:t>
            </a:r>
            <a:r>
              <a:rPr lang="fr-FR" dirty="0" err="1">
                <a:effectLst/>
              </a:rPr>
              <a:t>telescope</a:t>
            </a:r>
            <a:r>
              <a:rPr lang="fr-FR" dirty="0">
                <a:effectLst/>
              </a:rPr>
              <a:t>.</a:t>
            </a:r>
          </a:p>
          <a:p>
            <a:pPr>
              <a:spcAft>
                <a:spcPts val="750"/>
              </a:spcAft>
            </a:pPr>
            <a:r>
              <a:rPr lang="fr-FR" b="0" dirty="0" err="1">
                <a:effectLst/>
              </a:rPr>
              <a:t>Polysemy</a:t>
            </a:r>
            <a:r>
              <a:rPr lang="fr-FR" b="0" dirty="0">
                <a:effectLst/>
              </a:rPr>
              <a:t> (Polysémie)</a:t>
            </a:r>
            <a:endParaRPr lang="fr-FR" dirty="0">
              <a:effectLst/>
            </a:endParaRPr>
          </a:p>
          <a:p>
            <a:pPr>
              <a:buFont typeface="Arial" panose="020B0604020202020204" pitchFamily="34" charset="0"/>
              <a:buChar char="•"/>
            </a:pPr>
            <a:r>
              <a:rPr lang="fr-FR" b="0" dirty="0">
                <a:effectLst/>
              </a:rPr>
              <a:t>Phrase exemple</a:t>
            </a:r>
            <a:r>
              <a:rPr lang="fr-FR" dirty="0">
                <a:effectLst/>
              </a:rPr>
              <a:t> : "The </a:t>
            </a:r>
            <a:r>
              <a:rPr lang="fr-FR" dirty="0" err="1">
                <a:effectLst/>
              </a:rPr>
              <a:t>bank</a:t>
            </a:r>
            <a:r>
              <a:rPr lang="fr-FR" dirty="0">
                <a:effectLst/>
              </a:rPr>
              <a:t> </a:t>
            </a:r>
            <a:r>
              <a:rPr lang="fr-FR" dirty="0" err="1">
                <a:effectLst/>
              </a:rPr>
              <a:t>robbery</a:t>
            </a:r>
            <a:r>
              <a:rPr lang="fr-FR" dirty="0">
                <a:effectLst/>
              </a:rPr>
              <a:t> </a:t>
            </a:r>
            <a:r>
              <a:rPr lang="fr-FR" dirty="0" err="1">
                <a:effectLst/>
              </a:rPr>
              <a:t>was</a:t>
            </a:r>
            <a:r>
              <a:rPr lang="fr-FR" dirty="0">
                <a:effectLst/>
              </a:rPr>
              <a:t> quick."</a:t>
            </a:r>
          </a:p>
          <a:p>
            <a:pPr>
              <a:buFont typeface="Arial" panose="020B0604020202020204" pitchFamily="34" charset="0"/>
              <a:buChar char="•"/>
            </a:pPr>
            <a:r>
              <a:rPr lang="fr-FR" b="0" dirty="0">
                <a:effectLst/>
              </a:rPr>
              <a:t>Explication</a:t>
            </a:r>
            <a:r>
              <a:rPr lang="fr-FR" dirty="0">
                <a:effectLst/>
              </a:rPr>
              <a:t> : The </a:t>
            </a:r>
            <a:r>
              <a:rPr lang="fr-FR" dirty="0" err="1">
                <a:effectLst/>
              </a:rPr>
              <a:t>word</a:t>
            </a:r>
            <a:r>
              <a:rPr lang="fr-FR" dirty="0">
                <a:effectLst/>
              </a:rPr>
              <a:t> "</a:t>
            </a:r>
            <a:r>
              <a:rPr lang="fr-FR" dirty="0" err="1">
                <a:effectLst/>
              </a:rPr>
              <a:t>bank</a:t>
            </a:r>
            <a:r>
              <a:rPr lang="fr-FR" dirty="0">
                <a:effectLst/>
              </a:rPr>
              <a:t>" can </a:t>
            </a:r>
            <a:r>
              <a:rPr lang="fr-FR" dirty="0" err="1">
                <a:effectLst/>
              </a:rPr>
              <a:t>mean</a:t>
            </a:r>
            <a:r>
              <a:rPr lang="fr-FR" dirty="0">
                <a:effectLst/>
              </a:rPr>
              <a:t> </a:t>
            </a:r>
            <a:r>
              <a:rPr lang="fr-FR" dirty="0" err="1">
                <a:effectLst/>
              </a:rPr>
              <a:t>either</a:t>
            </a:r>
            <a:r>
              <a:rPr lang="fr-FR" dirty="0">
                <a:effectLst/>
              </a:rPr>
              <a:t> a </a:t>
            </a:r>
            <a:r>
              <a:rPr lang="fr-FR" dirty="0" err="1">
                <a:effectLst/>
              </a:rPr>
              <a:t>financial</a:t>
            </a:r>
            <a:r>
              <a:rPr lang="fr-FR" dirty="0">
                <a:effectLst/>
              </a:rPr>
              <a:t> institution or the </a:t>
            </a:r>
            <a:r>
              <a:rPr lang="fr-FR" dirty="0" err="1">
                <a:effectLst/>
              </a:rPr>
              <a:t>side</a:t>
            </a:r>
            <a:r>
              <a:rPr lang="fr-FR" dirty="0">
                <a:effectLst/>
              </a:rPr>
              <a:t> of a river.</a:t>
            </a:r>
          </a:p>
          <a:p>
            <a:pPr>
              <a:spcAft>
                <a:spcPts val="750"/>
              </a:spcAft>
            </a:pPr>
            <a:r>
              <a:rPr lang="fr-FR" b="0" dirty="0" err="1">
                <a:effectLst/>
              </a:rPr>
              <a:t>Homonymy</a:t>
            </a:r>
            <a:r>
              <a:rPr lang="fr-FR" b="0" dirty="0">
                <a:effectLst/>
              </a:rPr>
              <a:t> (Homonymie)</a:t>
            </a:r>
            <a:endParaRPr lang="fr-FR" dirty="0">
              <a:effectLst/>
            </a:endParaRPr>
          </a:p>
          <a:p>
            <a:pPr>
              <a:buFont typeface="Arial" panose="020B0604020202020204" pitchFamily="34" charset="0"/>
              <a:buChar char="•"/>
            </a:pPr>
            <a:r>
              <a:rPr lang="fr-FR" b="0" dirty="0">
                <a:effectLst/>
              </a:rPr>
              <a:t>Phrase exemple</a:t>
            </a:r>
            <a:r>
              <a:rPr lang="fr-FR" dirty="0">
                <a:effectLst/>
              </a:rPr>
              <a:t> : "The </a:t>
            </a:r>
            <a:r>
              <a:rPr lang="fr-FR" dirty="0" err="1">
                <a:effectLst/>
              </a:rPr>
              <a:t>bass</a:t>
            </a:r>
            <a:r>
              <a:rPr lang="fr-FR" dirty="0">
                <a:effectLst/>
              </a:rPr>
              <a:t> </a:t>
            </a:r>
            <a:r>
              <a:rPr lang="fr-FR" dirty="0" err="1">
                <a:effectLst/>
              </a:rPr>
              <a:t>was</a:t>
            </a:r>
            <a:r>
              <a:rPr lang="fr-FR" dirty="0">
                <a:effectLst/>
              </a:rPr>
              <a:t> </a:t>
            </a:r>
            <a:r>
              <a:rPr lang="fr-FR" dirty="0" err="1">
                <a:effectLst/>
              </a:rPr>
              <a:t>too</a:t>
            </a:r>
            <a:r>
              <a:rPr lang="fr-FR" dirty="0">
                <a:effectLst/>
              </a:rPr>
              <a:t> </a:t>
            </a:r>
            <a:r>
              <a:rPr lang="fr-FR" dirty="0" err="1">
                <a:effectLst/>
              </a:rPr>
              <a:t>loud</a:t>
            </a:r>
            <a:r>
              <a:rPr lang="fr-FR" dirty="0">
                <a:effectLst/>
              </a:rPr>
              <a:t>."</a:t>
            </a:r>
          </a:p>
          <a:p>
            <a:pPr>
              <a:buFont typeface="Arial" panose="020B0604020202020204" pitchFamily="34" charset="0"/>
              <a:buChar char="•"/>
            </a:pPr>
            <a:r>
              <a:rPr lang="fr-FR" b="0" dirty="0">
                <a:effectLst/>
              </a:rPr>
              <a:t>Explication</a:t>
            </a:r>
            <a:r>
              <a:rPr lang="fr-FR" dirty="0">
                <a:effectLst/>
              </a:rPr>
              <a:t> : The </a:t>
            </a:r>
            <a:r>
              <a:rPr lang="fr-FR" dirty="0" err="1">
                <a:effectLst/>
              </a:rPr>
              <a:t>word</a:t>
            </a:r>
            <a:r>
              <a:rPr lang="fr-FR" dirty="0">
                <a:effectLst/>
              </a:rPr>
              <a:t> "</a:t>
            </a:r>
            <a:r>
              <a:rPr lang="fr-FR" dirty="0" err="1">
                <a:effectLst/>
              </a:rPr>
              <a:t>bass</a:t>
            </a:r>
            <a:r>
              <a:rPr lang="fr-FR" dirty="0">
                <a:effectLst/>
              </a:rPr>
              <a:t>" can </a:t>
            </a:r>
            <a:r>
              <a:rPr lang="fr-FR" dirty="0" err="1">
                <a:effectLst/>
              </a:rPr>
              <a:t>refer</a:t>
            </a:r>
            <a:r>
              <a:rPr lang="fr-FR" dirty="0">
                <a:effectLst/>
              </a:rPr>
              <a:t> to </a:t>
            </a:r>
            <a:r>
              <a:rPr lang="fr-FR" dirty="0" err="1">
                <a:effectLst/>
              </a:rPr>
              <a:t>either</a:t>
            </a:r>
            <a:r>
              <a:rPr lang="fr-FR" dirty="0">
                <a:effectLst/>
              </a:rPr>
              <a:t> a type of </a:t>
            </a:r>
            <a:r>
              <a:rPr lang="fr-FR" dirty="0" err="1">
                <a:effectLst/>
              </a:rPr>
              <a:t>fish</a:t>
            </a:r>
            <a:r>
              <a:rPr lang="fr-FR" dirty="0">
                <a:effectLst/>
              </a:rPr>
              <a:t> or a </a:t>
            </a:r>
            <a:r>
              <a:rPr lang="fr-FR" dirty="0" err="1">
                <a:effectLst/>
              </a:rPr>
              <a:t>low-frequency</a:t>
            </a:r>
            <a:r>
              <a:rPr lang="fr-FR" dirty="0">
                <a:effectLst/>
              </a:rPr>
              <a:t> </a:t>
            </a:r>
            <a:r>
              <a:rPr lang="fr-FR" dirty="0" err="1">
                <a:effectLst/>
              </a:rPr>
              <a:t>sound</a:t>
            </a:r>
            <a:r>
              <a:rPr lang="fr-FR" dirty="0">
                <a:effectLst/>
              </a:rPr>
              <a:t>.</a:t>
            </a:r>
          </a:p>
          <a:p>
            <a:pPr>
              <a:spcAft>
                <a:spcPts val="750"/>
              </a:spcAft>
            </a:pPr>
            <a:r>
              <a:rPr lang="fr-FR" b="0" dirty="0" err="1">
                <a:effectLst/>
              </a:rPr>
              <a:t>Synonymy</a:t>
            </a:r>
            <a:r>
              <a:rPr lang="fr-FR" b="0" dirty="0">
                <a:effectLst/>
              </a:rPr>
              <a:t> (Synonymie)</a:t>
            </a:r>
            <a:endParaRPr lang="fr-FR" dirty="0">
              <a:effectLst/>
            </a:endParaRPr>
          </a:p>
          <a:p>
            <a:pPr>
              <a:buFont typeface="Arial" panose="020B0604020202020204" pitchFamily="34" charset="0"/>
              <a:buChar char="•"/>
            </a:pPr>
            <a:r>
              <a:rPr lang="fr-FR" b="0" dirty="0">
                <a:effectLst/>
              </a:rPr>
              <a:t>Phrase exemple</a:t>
            </a:r>
            <a:r>
              <a:rPr lang="fr-FR" dirty="0">
                <a:effectLst/>
              </a:rPr>
              <a:t> : "The cat </a:t>
            </a:r>
            <a:r>
              <a:rPr lang="fr-FR" dirty="0" err="1">
                <a:effectLst/>
              </a:rPr>
              <a:t>is</a:t>
            </a:r>
            <a:r>
              <a:rPr lang="fr-FR" dirty="0">
                <a:effectLst/>
              </a:rPr>
              <a:t> on the couch."</a:t>
            </a:r>
          </a:p>
          <a:p>
            <a:pPr>
              <a:buFont typeface="Arial" panose="020B0604020202020204" pitchFamily="34" charset="0"/>
              <a:buChar char="•"/>
            </a:pPr>
            <a:r>
              <a:rPr lang="fr-FR" b="0" dirty="0">
                <a:effectLst/>
              </a:rPr>
              <a:t>Explication</a:t>
            </a:r>
            <a:r>
              <a:rPr lang="fr-FR" dirty="0">
                <a:effectLst/>
              </a:rPr>
              <a:t> : The </a:t>
            </a:r>
            <a:r>
              <a:rPr lang="fr-FR" dirty="0" err="1">
                <a:effectLst/>
              </a:rPr>
              <a:t>word</a:t>
            </a:r>
            <a:r>
              <a:rPr lang="fr-FR" dirty="0">
                <a:effectLst/>
              </a:rPr>
              <a:t> "couch" can </a:t>
            </a:r>
            <a:r>
              <a:rPr lang="fr-FR" dirty="0" err="1">
                <a:effectLst/>
              </a:rPr>
              <a:t>be</a:t>
            </a:r>
            <a:r>
              <a:rPr lang="fr-FR" dirty="0">
                <a:effectLst/>
              </a:rPr>
              <a:t> </a:t>
            </a:r>
            <a:r>
              <a:rPr lang="fr-FR" dirty="0" err="1">
                <a:effectLst/>
              </a:rPr>
              <a:t>replaced</a:t>
            </a:r>
            <a:r>
              <a:rPr lang="fr-FR" dirty="0">
                <a:effectLst/>
              </a:rPr>
              <a:t> </a:t>
            </a:r>
            <a:r>
              <a:rPr lang="fr-FR" dirty="0" err="1">
                <a:effectLst/>
              </a:rPr>
              <a:t>with</a:t>
            </a:r>
            <a:r>
              <a:rPr lang="fr-FR" dirty="0">
                <a:effectLst/>
              </a:rPr>
              <a:t> "sofa" </a:t>
            </a:r>
            <a:r>
              <a:rPr lang="fr-FR" dirty="0" err="1">
                <a:effectLst/>
              </a:rPr>
              <a:t>without</a:t>
            </a:r>
            <a:r>
              <a:rPr lang="fr-FR" dirty="0">
                <a:effectLst/>
              </a:rPr>
              <a:t> </a:t>
            </a:r>
            <a:r>
              <a:rPr lang="fr-FR" dirty="0" err="1">
                <a:effectLst/>
              </a:rPr>
              <a:t>changing</a:t>
            </a:r>
            <a:r>
              <a:rPr lang="fr-FR" dirty="0">
                <a:effectLst/>
              </a:rPr>
              <a:t> the </a:t>
            </a:r>
            <a:r>
              <a:rPr lang="fr-FR" dirty="0" err="1">
                <a:effectLst/>
              </a:rPr>
              <a:t>meaning</a:t>
            </a:r>
            <a:r>
              <a:rPr lang="fr-FR" dirty="0">
                <a:effectLst/>
              </a:rPr>
              <a:t> of the sentence, but an NLP model must </a:t>
            </a:r>
            <a:r>
              <a:rPr lang="fr-FR" dirty="0" err="1">
                <a:effectLst/>
              </a:rPr>
              <a:t>understand</a:t>
            </a:r>
            <a:r>
              <a:rPr lang="fr-FR" dirty="0">
                <a:effectLst/>
              </a:rPr>
              <a:t> </a:t>
            </a:r>
            <a:r>
              <a:rPr lang="fr-FR" dirty="0" err="1">
                <a:effectLst/>
              </a:rPr>
              <a:t>that</a:t>
            </a:r>
            <a:r>
              <a:rPr lang="fr-FR" dirty="0">
                <a:effectLst/>
              </a:rPr>
              <a:t> </a:t>
            </a:r>
            <a:r>
              <a:rPr lang="fr-FR" dirty="0" err="1">
                <a:effectLst/>
              </a:rPr>
              <a:t>these</a:t>
            </a:r>
            <a:r>
              <a:rPr lang="fr-FR" dirty="0">
                <a:effectLst/>
              </a:rPr>
              <a:t> </a:t>
            </a:r>
            <a:r>
              <a:rPr lang="fr-FR" dirty="0" err="1">
                <a:effectLst/>
              </a:rPr>
              <a:t>words</a:t>
            </a:r>
            <a:r>
              <a:rPr lang="fr-FR" dirty="0">
                <a:effectLst/>
              </a:rPr>
              <a:t> are </a:t>
            </a:r>
            <a:r>
              <a:rPr lang="fr-FR" dirty="0" err="1">
                <a:effectLst/>
              </a:rPr>
              <a:t>synonyms</a:t>
            </a:r>
            <a:r>
              <a:rPr lang="fr-FR" dirty="0">
                <a:effectLst/>
              </a:rPr>
              <a:t>.</a:t>
            </a:r>
          </a:p>
          <a:p>
            <a:pPr>
              <a:spcAft>
                <a:spcPts val="750"/>
              </a:spcAft>
            </a:pPr>
            <a:r>
              <a:rPr lang="fr-FR" b="0" dirty="0" err="1">
                <a:effectLst/>
              </a:rPr>
              <a:t>Context</a:t>
            </a:r>
            <a:r>
              <a:rPr lang="fr-FR" b="0" dirty="0">
                <a:effectLst/>
              </a:rPr>
              <a:t> </a:t>
            </a:r>
            <a:r>
              <a:rPr lang="fr-FR" b="0" dirty="0" err="1">
                <a:effectLst/>
              </a:rPr>
              <a:t>Dependency</a:t>
            </a:r>
            <a:r>
              <a:rPr lang="fr-FR" b="0" dirty="0">
                <a:effectLst/>
              </a:rPr>
              <a:t> (Dépendance au contexte)</a:t>
            </a:r>
            <a:endParaRPr lang="fr-FR" dirty="0">
              <a:effectLst/>
            </a:endParaRPr>
          </a:p>
          <a:p>
            <a:pPr>
              <a:buFont typeface="Arial" panose="020B0604020202020204" pitchFamily="34" charset="0"/>
              <a:buChar char="•"/>
            </a:pPr>
            <a:r>
              <a:rPr lang="fr-FR" b="0" dirty="0">
                <a:effectLst/>
              </a:rPr>
              <a:t>Phrase exemple</a:t>
            </a:r>
            <a:r>
              <a:rPr lang="fr-FR" dirty="0">
                <a:effectLst/>
              </a:rPr>
              <a:t> : "I </a:t>
            </a:r>
            <a:r>
              <a:rPr lang="fr-FR" dirty="0" err="1">
                <a:effectLst/>
              </a:rPr>
              <a:t>am</a:t>
            </a:r>
            <a:r>
              <a:rPr lang="fr-FR" dirty="0">
                <a:effectLst/>
              </a:rPr>
              <a:t> </a:t>
            </a:r>
            <a:r>
              <a:rPr lang="fr-FR" dirty="0" err="1">
                <a:effectLst/>
              </a:rPr>
              <a:t>going</a:t>
            </a:r>
            <a:r>
              <a:rPr lang="fr-FR" dirty="0">
                <a:effectLst/>
              </a:rPr>
              <a:t> to the </a:t>
            </a:r>
            <a:r>
              <a:rPr lang="fr-FR" dirty="0" err="1">
                <a:effectLst/>
              </a:rPr>
              <a:t>bank</a:t>
            </a:r>
            <a:r>
              <a:rPr lang="fr-FR" dirty="0">
                <a:effectLst/>
              </a:rPr>
              <a:t>."</a:t>
            </a:r>
          </a:p>
          <a:p>
            <a:pPr>
              <a:buFont typeface="Arial" panose="020B0604020202020204" pitchFamily="34" charset="0"/>
              <a:buChar char="•"/>
            </a:pPr>
            <a:r>
              <a:rPr lang="fr-FR" b="0" dirty="0">
                <a:effectLst/>
              </a:rPr>
              <a:t>Explication</a:t>
            </a:r>
            <a:r>
              <a:rPr lang="fr-FR" dirty="0">
                <a:effectLst/>
              </a:rPr>
              <a:t> : The </a:t>
            </a:r>
            <a:r>
              <a:rPr lang="fr-FR" dirty="0" err="1">
                <a:effectLst/>
              </a:rPr>
              <a:t>word</a:t>
            </a:r>
            <a:r>
              <a:rPr lang="fr-FR" dirty="0">
                <a:effectLst/>
              </a:rPr>
              <a:t> "</a:t>
            </a:r>
            <a:r>
              <a:rPr lang="fr-FR" dirty="0" err="1">
                <a:effectLst/>
              </a:rPr>
              <a:t>bank</a:t>
            </a:r>
            <a:r>
              <a:rPr lang="fr-FR" dirty="0">
                <a:effectLst/>
              </a:rPr>
              <a:t>" can </a:t>
            </a:r>
            <a:r>
              <a:rPr lang="fr-FR" dirty="0" err="1">
                <a:effectLst/>
              </a:rPr>
              <a:t>mean</a:t>
            </a:r>
            <a:r>
              <a:rPr lang="fr-FR" dirty="0">
                <a:effectLst/>
              </a:rPr>
              <a:t> </a:t>
            </a:r>
            <a:r>
              <a:rPr lang="fr-FR" dirty="0" err="1">
                <a:effectLst/>
              </a:rPr>
              <a:t>either</a:t>
            </a:r>
            <a:r>
              <a:rPr lang="fr-FR" dirty="0">
                <a:effectLst/>
              </a:rPr>
              <a:t> a </a:t>
            </a:r>
            <a:r>
              <a:rPr lang="fr-FR" dirty="0" err="1">
                <a:effectLst/>
              </a:rPr>
              <a:t>financial</a:t>
            </a:r>
            <a:r>
              <a:rPr lang="fr-FR" dirty="0">
                <a:effectLst/>
              </a:rPr>
              <a:t> institution or the </a:t>
            </a:r>
            <a:r>
              <a:rPr lang="fr-FR" dirty="0" err="1">
                <a:effectLst/>
              </a:rPr>
              <a:t>side</a:t>
            </a:r>
            <a:r>
              <a:rPr lang="fr-FR" dirty="0">
                <a:effectLst/>
              </a:rPr>
              <a:t> of a river, </a:t>
            </a:r>
            <a:r>
              <a:rPr lang="fr-FR" dirty="0" err="1">
                <a:effectLst/>
              </a:rPr>
              <a:t>depending</a:t>
            </a:r>
            <a:r>
              <a:rPr lang="fr-FR" dirty="0">
                <a:effectLst/>
              </a:rPr>
              <a:t> on the </a:t>
            </a:r>
            <a:r>
              <a:rPr lang="fr-FR" dirty="0" err="1">
                <a:effectLst/>
              </a:rPr>
              <a:t>context</a:t>
            </a:r>
            <a:r>
              <a:rPr lang="fr-FR" dirty="0">
                <a:effectLst/>
              </a:rPr>
              <a:t>.</a:t>
            </a:r>
          </a:p>
          <a:p>
            <a:pPr>
              <a:spcAft>
                <a:spcPts val="750"/>
              </a:spcAft>
            </a:pPr>
            <a:r>
              <a:rPr lang="fr-FR" b="0" dirty="0" err="1">
                <a:effectLst/>
              </a:rPr>
              <a:t>Idioms</a:t>
            </a:r>
            <a:r>
              <a:rPr lang="fr-FR" b="0" dirty="0">
                <a:effectLst/>
              </a:rPr>
              <a:t> (Expressions idiomatiques)</a:t>
            </a:r>
            <a:endParaRPr lang="fr-FR" dirty="0">
              <a:effectLst/>
            </a:endParaRPr>
          </a:p>
          <a:p>
            <a:pPr>
              <a:buFont typeface="Arial" panose="020B0604020202020204" pitchFamily="34" charset="0"/>
              <a:buChar char="•"/>
            </a:pPr>
            <a:r>
              <a:rPr lang="fr-FR" b="0" dirty="0">
                <a:effectLst/>
              </a:rPr>
              <a:t>Phrase exemple</a:t>
            </a:r>
            <a:r>
              <a:rPr lang="fr-FR" dirty="0">
                <a:effectLst/>
              </a:rPr>
              <a:t> : "</a:t>
            </a:r>
            <a:r>
              <a:rPr lang="fr-FR" dirty="0" err="1">
                <a:effectLst/>
              </a:rPr>
              <a:t>It's</a:t>
            </a:r>
            <a:r>
              <a:rPr lang="fr-FR" dirty="0">
                <a:effectLst/>
              </a:rPr>
              <a:t> </a:t>
            </a:r>
            <a:r>
              <a:rPr lang="fr-FR" dirty="0" err="1">
                <a:effectLst/>
              </a:rPr>
              <a:t>raining</a:t>
            </a:r>
            <a:r>
              <a:rPr lang="fr-FR" dirty="0">
                <a:effectLst/>
              </a:rPr>
              <a:t> cats and </a:t>
            </a:r>
            <a:r>
              <a:rPr lang="fr-FR" dirty="0" err="1">
                <a:effectLst/>
              </a:rPr>
              <a:t>dogs</a:t>
            </a:r>
            <a:r>
              <a:rPr lang="fr-FR" dirty="0">
                <a:effectLst/>
              </a:rPr>
              <a:t>."</a:t>
            </a:r>
          </a:p>
          <a:p>
            <a:pPr>
              <a:buFont typeface="Arial" panose="020B0604020202020204" pitchFamily="34" charset="0"/>
              <a:buChar char="•"/>
            </a:pPr>
            <a:r>
              <a:rPr lang="fr-FR" b="0" dirty="0">
                <a:effectLst/>
              </a:rPr>
              <a:t>Explication</a:t>
            </a:r>
            <a:r>
              <a:rPr lang="fr-FR" dirty="0">
                <a:effectLst/>
              </a:rPr>
              <a:t> : This </a:t>
            </a:r>
            <a:r>
              <a:rPr lang="fr-FR" dirty="0" err="1">
                <a:effectLst/>
              </a:rPr>
              <a:t>idiomatic</a:t>
            </a:r>
            <a:r>
              <a:rPr lang="fr-FR" dirty="0">
                <a:effectLst/>
              </a:rPr>
              <a:t> expression means </a:t>
            </a:r>
            <a:r>
              <a:rPr lang="fr-FR" dirty="0" err="1">
                <a:effectLst/>
              </a:rPr>
              <a:t>it</a:t>
            </a:r>
            <a:r>
              <a:rPr lang="fr-FR" dirty="0">
                <a:effectLst/>
              </a:rPr>
              <a:t> </a:t>
            </a:r>
            <a:r>
              <a:rPr lang="fr-FR" dirty="0" err="1">
                <a:effectLst/>
              </a:rPr>
              <a:t>is</a:t>
            </a:r>
            <a:r>
              <a:rPr lang="fr-FR" dirty="0">
                <a:effectLst/>
              </a:rPr>
              <a:t> </a:t>
            </a:r>
            <a:r>
              <a:rPr lang="fr-FR" dirty="0" err="1">
                <a:effectLst/>
              </a:rPr>
              <a:t>raining</a:t>
            </a:r>
            <a:r>
              <a:rPr lang="fr-FR" dirty="0">
                <a:effectLst/>
              </a:rPr>
              <a:t> </a:t>
            </a:r>
            <a:r>
              <a:rPr lang="fr-FR" dirty="0" err="1">
                <a:effectLst/>
              </a:rPr>
              <a:t>heavily</a:t>
            </a:r>
            <a:r>
              <a:rPr lang="fr-FR" dirty="0">
                <a:effectLst/>
              </a:rPr>
              <a:t>, but </a:t>
            </a:r>
            <a:r>
              <a:rPr lang="fr-FR" dirty="0" err="1">
                <a:effectLst/>
              </a:rPr>
              <a:t>literally</a:t>
            </a:r>
            <a:r>
              <a:rPr lang="fr-FR" dirty="0">
                <a:effectLst/>
              </a:rPr>
              <a:t>, </a:t>
            </a:r>
            <a:r>
              <a:rPr lang="fr-FR" dirty="0" err="1">
                <a:effectLst/>
              </a:rPr>
              <a:t>it</a:t>
            </a:r>
            <a:r>
              <a:rPr lang="fr-FR" dirty="0">
                <a:effectLst/>
              </a:rPr>
              <a:t> </a:t>
            </a:r>
            <a:r>
              <a:rPr lang="fr-FR" dirty="0" err="1">
                <a:effectLst/>
              </a:rPr>
              <a:t>makes</a:t>
            </a:r>
            <a:r>
              <a:rPr lang="fr-FR" dirty="0">
                <a:effectLst/>
              </a:rPr>
              <a:t> no </a:t>
            </a:r>
            <a:r>
              <a:rPr lang="fr-FR" dirty="0" err="1">
                <a:effectLst/>
              </a:rPr>
              <a:t>sense</a:t>
            </a:r>
            <a:r>
              <a:rPr lang="fr-FR" dirty="0">
                <a:effectLst/>
              </a:rPr>
              <a:t>.</a:t>
            </a:r>
          </a:p>
          <a:p>
            <a:pPr>
              <a:spcAft>
                <a:spcPts val="750"/>
              </a:spcAft>
            </a:pPr>
            <a:r>
              <a:rPr lang="fr-FR" b="0" dirty="0" err="1">
                <a:effectLst/>
              </a:rPr>
              <a:t>Sarcasm</a:t>
            </a:r>
            <a:r>
              <a:rPr lang="fr-FR" b="0" dirty="0">
                <a:effectLst/>
              </a:rPr>
              <a:t> (Sarcasme)</a:t>
            </a:r>
            <a:endParaRPr lang="fr-FR" dirty="0">
              <a:effectLst/>
            </a:endParaRPr>
          </a:p>
          <a:p>
            <a:pPr>
              <a:buFont typeface="Arial" panose="020B0604020202020204" pitchFamily="34" charset="0"/>
              <a:buChar char="•"/>
            </a:pPr>
            <a:r>
              <a:rPr lang="fr-FR" b="0" dirty="0">
                <a:effectLst/>
              </a:rPr>
              <a:t>Phrase exemple</a:t>
            </a:r>
            <a:r>
              <a:rPr lang="fr-FR" dirty="0">
                <a:effectLst/>
              </a:rPr>
              <a:t> : "Oh </a:t>
            </a:r>
            <a:r>
              <a:rPr lang="fr-FR" dirty="0" err="1">
                <a:effectLst/>
              </a:rPr>
              <a:t>great</a:t>
            </a:r>
            <a:r>
              <a:rPr lang="fr-FR" dirty="0">
                <a:effectLst/>
              </a:rPr>
              <a:t>, </a:t>
            </a:r>
            <a:r>
              <a:rPr lang="fr-FR" dirty="0" err="1">
                <a:effectLst/>
              </a:rPr>
              <a:t>it's</a:t>
            </a:r>
            <a:r>
              <a:rPr lang="fr-FR" dirty="0">
                <a:effectLst/>
              </a:rPr>
              <a:t> </a:t>
            </a:r>
            <a:r>
              <a:rPr lang="fr-FR" dirty="0" err="1">
                <a:effectLst/>
              </a:rPr>
              <a:t>raining</a:t>
            </a:r>
            <a:r>
              <a:rPr lang="fr-FR" dirty="0">
                <a:effectLst/>
              </a:rPr>
              <a:t> </a:t>
            </a:r>
            <a:r>
              <a:rPr lang="fr-FR" dirty="0" err="1">
                <a:effectLst/>
              </a:rPr>
              <a:t>again</a:t>
            </a:r>
            <a:r>
              <a:rPr lang="fr-FR" dirty="0">
                <a:effectLst/>
              </a:rPr>
              <a:t>."</a:t>
            </a:r>
          </a:p>
          <a:p>
            <a:pPr>
              <a:buFont typeface="Arial" panose="020B0604020202020204" pitchFamily="34" charset="0"/>
              <a:buChar char="•"/>
            </a:pPr>
            <a:r>
              <a:rPr lang="fr-FR" b="0" dirty="0">
                <a:effectLst/>
              </a:rPr>
              <a:t>Explication</a:t>
            </a:r>
            <a:r>
              <a:rPr lang="fr-FR" dirty="0">
                <a:effectLst/>
              </a:rPr>
              <a:t> : </a:t>
            </a:r>
            <a:r>
              <a:rPr lang="fr-FR" dirty="0" err="1">
                <a:effectLst/>
              </a:rPr>
              <a:t>Sarcasm</a:t>
            </a:r>
            <a:r>
              <a:rPr lang="fr-FR" dirty="0">
                <a:effectLst/>
              </a:rPr>
              <a:t> </a:t>
            </a:r>
            <a:r>
              <a:rPr lang="fr-FR" dirty="0" err="1">
                <a:effectLst/>
              </a:rPr>
              <a:t>is</a:t>
            </a:r>
            <a:r>
              <a:rPr lang="fr-FR" dirty="0">
                <a:effectLst/>
              </a:rPr>
              <a:t> </a:t>
            </a:r>
            <a:r>
              <a:rPr lang="fr-FR" dirty="0" err="1">
                <a:effectLst/>
              </a:rPr>
              <a:t>difficult</a:t>
            </a:r>
            <a:r>
              <a:rPr lang="fr-FR" dirty="0">
                <a:effectLst/>
              </a:rPr>
              <a:t> for NLP </a:t>
            </a:r>
            <a:r>
              <a:rPr lang="fr-FR" dirty="0" err="1">
                <a:effectLst/>
              </a:rPr>
              <a:t>models</a:t>
            </a:r>
            <a:r>
              <a:rPr lang="fr-FR" dirty="0">
                <a:effectLst/>
              </a:rPr>
              <a:t> to </a:t>
            </a:r>
            <a:r>
              <a:rPr lang="fr-FR" dirty="0" err="1">
                <a:effectLst/>
              </a:rPr>
              <a:t>detect</a:t>
            </a:r>
            <a:r>
              <a:rPr lang="fr-FR" dirty="0">
                <a:effectLst/>
              </a:rPr>
              <a:t> </a:t>
            </a:r>
            <a:r>
              <a:rPr lang="fr-FR" dirty="0" err="1">
                <a:effectLst/>
              </a:rPr>
              <a:t>because</a:t>
            </a:r>
            <a:r>
              <a:rPr lang="fr-FR" dirty="0">
                <a:effectLst/>
              </a:rPr>
              <a:t> </a:t>
            </a:r>
            <a:r>
              <a:rPr lang="fr-FR" dirty="0" err="1">
                <a:effectLst/>
              </a:rPr>
              <a:t>it</a:t>
            </a:r>
            <a:r>
              <a:rPr lang="fr-FR" dirty="0">
                <a:effectLst/>
              </a:rPr>
              <a:t> relies on </a:t>
            </a:r>
            <a:r>
              <a:rPr lang="fr-FR" dirty="0" err="1">
                <a:effectLst/>
              </a:rPr>
              <a:t>tone</a:t>
            </a:r>
            <a:r>
              <a:rPr lang="fr-FR" dirty="0">
                <a:effectLst/>
              </a:rPr>
              <a:t> and </a:t>
            </a:r>
            <a:r>
              <a:rPr lang="fr-FR" dirty="0" err="1">
                <a:effectLst/>
              </a:rPr>
              <a:t>context</a:t>
            </a:r>
            <a:r>
              <a:rPr lang="fr-FR" dirty="0">
                <a:effectLst/>
              </a:rPr>
              <a:t>, </a:t>
            </a:r>
            <a:r>
              <a:rPr lang="fr-FR" dirty="0" err="1">
                <a:effectLst/>
              </a:rPr>
              <a:t>which</a:t>
            </a:r>
            <a:r>
              <a:rPr lang="fr-FR" dirty="0">
                <a:effectLst/>
              </a:rPr>
              <a:t> are not </a:t>
            </a:r>
            <a:r>
              <a:rPr lang="fr-FR" dirty="0" err="1">
                <a:effectLst/>
              </a:rPr>
              <a:t>always</a:t>
            </a:r>
            <a:r>
              <a:rPr lang="fr-FR" dirty="0">
                <a:effectLst/>
              </a:rPr>
              <a:t> </a:t>
            </a:r>
            <a:r>
              <a:rPr lang="fr-FR" dirty="0" err="1">
                <a:effectLst/>
              </a:rPr>
              <a:t>obvious</a:t>
            </a:r>
            <a:r>
              <a:rPr lang="fr-FR" dirty="0">
                <a:effectLst/>
              </a:rPr>
              <a:t> in </a:t>
            </a:r>
            <a:r>
              <a:rPr lang="fr-FR" dirty="0" err="1">
                <a:effectLst/>
              </a:rPr>
              <a:t>written</a:t>
            </a:r>
            <a:r>
              <a:rPr lang="fr-FR" dirty="0">
                <a:effectLst/>
              </a:rPr>
              <a:t> </a:t>
            </a:r>
            <a:r>
              <a:rPr lang="fr-FR" dirty="0" err="1">
                <a:effectLst/>
              </a:rPr>
              <a:t>text</a:t>
            </a:r>
            <a:r>
              <a:rPr lang="fr-FR" dirty="0">
                <a:effectLst/>
              </a:rPr>
              <a:t>.</a:t>
            </a:r>
          </a:p>
          <a:p>
            <a:pPr>
              <a:spcAft>
                <a:spcPts val="750"/>
              </a:spcAft>
            </a:pPr>
            <a:r>
              <a:rPr lang="fr-FR" b="0" dirty="0" err="1">
                <a:effectLst/>
              </a:rPr>
              <a:t>Negation</a:t>
            </a:r>
            <a:r>
              <a:rPr lang="fr-FR" b="0" dirty="0">
                <a:effectLst/>
              </a:rPr>
              <a:t> (Négation)</a:t>
            </a:r>
            <a:endParaRPr lang="fr-FR" dirty="0">
              <a:effectLst/>
            </a:endParaRPr>
          </a:p>
          <a:p>
            <a:pPr>
              <a:buFont typeface="Arial" panose="020B0604020202020204" pitchFamily="34" charset="0"/>
              <a:buChar char="•"/>
            </a:pPr>
            <a:r>
              <a:rPr lang="fr-FR" b="0" dirty="0">
                <a:effectLst/>
              </a:rPr>
              <a:t>Phrase exemple</a:t>
            </a:r>
            <a:r>
              <a:rPr lang="fr-FR" dirty="0">
                <a:effectLst/>
              </a:rPr>
              <a:t> : "I </a:t>
            </a:r>
            <a:r>
              <a:rPr lang="fr-FR" dirty="0" err="1">
                <a:effectLst/>
              </a:rPr>
              <a:t>did</a:t>
            </a:r>
            <a:r>
              <a:rPr lang="fr-FR" dirty="0">
                <a:effectLst/>
              </a:rPr>
              <a:t> not </a:t>
            </a:r>
            <a:r>
              <a:rPr lang="fr-FR" dirty="0" err="1">
                <a:effectLst/>
              </a:rPr>
              <a:t>say</a:t>
            </a:r>
            <a:r>
              <a:rPr lang="fr-FR" dirty="0">
                <a:effectLst/>
              </a:rPr>
              <a:t> I </a:t>
            </a:r>
            <a:r>
              <a:rPr lang="fr-FR" dirty="0" err="1">
                <a:effectLst/>
              </a:rPr>
              <a:t>would</a:t>
            </a:r>
            <a:r>
              <a:rPr lang="fr-FR" dirty="0">
                <a:effectLst/>
              </a:rPr>
              <a:t> come."</a:t>
            </a:r>
          </a:p>
          <a:p>
            <a:pPr>
              <a:buFont typeface="Arial" panose="020B0604020202020204" pitchFamily="34" charset="0"/>
              <a:buChar char="•"/>
            </a:pPr>
            <a:r>
              <a:rPr lang="fr-FR" b="0" dirty="0">
                <a:effectLst/>
              </a:rPr>
              <a:t>Explication</a:t>
            </a:r>
            <a:r>
              <a:rPr lang="fr-FR" dirty="0">
                <a:effectLst/>
              </a:rPr>
              <a:t> : </a:t>
            </a:r>
            <a:r>
              <a:rPr lang="fr-FR" dirty="0" err="1">
                <a:effectLst/>
              </a:rPr>
              <a:t>Negation</a:t>
            </a:r>
            <a:r>
              <a:rPr lang="fr-FR" dirty="0">
                <a:effectLst/>
              </a:rPr>
              <a:t> can reverse the </a:t>
            </a:r>
            <a:r>
              <a:rPr lang="fr-FR" dirty="0" err="1">
                <a:effectLst/>
              </a:rPr>
              <a:t>meaning</a:t>
            </a:r>
            <a:r>
              <a:rPr lang="fr-FR" dirty="0">
                <a:effectLst/>
              </a:rPr>
              <a:t> of a sentence, </a:t>
            </a:r>
            <a:r>
              <a:rPr lang="fr-FR" dirty="0" err="1">
                <a:effectLst/>
              </a:rPr>
              <a:t>which</a:t>
            </a:r>
            <a:r>
              <a:rPr lang="fr-FR" dirty="0">
                <a:effectLst/>
              </a:rPr>
              <a:t> can </a:t>
            </a:r>
            <a:r>
              <a:rPr lang="fr-FR" dirty="0" err="1">
                <a:effectLst/>
              </a:rPr>
              <a:t>be</a:t>
            </a:r>
            <a:r>
              <a:rPr lang="fr-FR" dirty="0">
                <a:effectLst/>
              </a:rPr>
              <a:t> </a:t>
            </a:r>
            <a:r>
              <a:rPr lang="fr-FR" dirty="0" err="1">
                <a:effectLst/>
              </a:rPr>
              <a:t>challenging</a:t>
            </a:r>
            <a:r>
              <a:rPr lang="fr-FR" dirty="0">
                <a:effectLst/>
              </a:rPr>
              <a:t> for an NLP model to </a:t>
            </a:r>
            <a:r>
              <a:rPr lang="fr-FR" dirty="0" err="1">
                <a:effectLst/>
              </a:rPr>
              <a:t>interpret</a:t>
            </a:r>
            <a:r>
              <a:rPr lang="fr-FR" dirty="0">
                <a:effectLst/>
              </a:rPr>
              <a:t> </a:t>
            </a:r>
            <a:r>
              <a:rPr lang="fr-FR" dirty="0" err="1">
                <a:effectLst/>
              </a:rPr>
              <a:t>correctly</a:t>
            </a:r>
            <a:r>
              <a:rPr lang="fr-FR" dirty="0">
                <a:effectLst/>
              </a:rPr>
              <a:t>.</a:t>
            </a:r>
          </a:p>
          <a:p>
            <a:pPr>
              <a:spcAft>
                <a:spcPts val="750"/>
              </a:spcAft>
            </a:pPr>
            <a:r>
              <a:rPr lang="fr-FR" b="0" dirty="0" err="1">
                <a:effectLst/>
              </a:rPr>
              <a:t>Coreference</a:t>
            </a:r>
            <a:r>
              <a:rPr lang="fr-FR" b="0" dirty="0">
                <a:effectLst/>
              </a:rPr>
              <a:t> </a:t>
            </a:r>
            <a:r>
              <a:rPr lang="fr-FR" b="0" dirty="0" err="1">
                <a:effectLst/>
              </a:rPr>
              <a:t>Resolution</a:t>
            </a:r>
            <a:r>
              <a:rPr lang="fr-FR" b="0" dirty="0">
                <a:effectLst/>
              </a:rPr>
              <a:t> (Résolution de coréférence)</a:t>
            </a:r>
            <a:endParaRPr lang="fr-FR" dirty="0">
              <a:effectLst/>
            </a:endParaRPr>
          </a:p>
          <a:p>
            <a:pPr>
              <a:buFont typeface="Arial" panose="020B0604020202020204" pitchFamily="34" charset="0"/>
              <a:buChar char="•"/>
            </a:pPr>
            <a:r>
              <a:rPr lang="fr-FR" b="0" dirty="0">
                <a:effectLst/>
              </a:rPr>
              <a:t>Phrase exemple</a:t>
            </a:r>
            <a:r>
              <a:rPr lang="fr-FR" dirty="0">
                <a:effectLst/>
              </a:rPr>
              <a:t> : "Mary </a:t>
            </a:r>
            <a:r>
              <a:rPr lang="fr-FR" dirty="0" err="1">
                <a:effectLst/>
              </a:rPr>
              <a:t>said</a:t>
            </a:r>
            <a:r>
              <a:rPr lang="fr-FR" dirty="0">
                <a:effectLst/>
              </a:rPr>
              <a:t> </a:t>
            </a:r>
            <a:r>
              <a:rPr lang="fr-FR" dirty="0" err="1">
                <a:effectLst/>
              </a:rPr>
              <a:t>she</a:t>
            </a:r>
            <a:r>
              <a:rPr lang="fr-FR" dirty="0">
                <a:effectLst/>
              </a:rPr>
              <a:t> </a:t>
            </a:r>
            <a:r>
              <a:rPr lang="fr-FR" dirty="0" err="1">
                <a:effectLst/>
              </a:rPr>
              <a:t>would</a:t>
            </a:r>
            <a:r>
              <a:rPr lang="fr-FR" dirty="0">
                <a:effectLst/>
              </a:rPr>
              <a:t> come."</a:t>
            </a:r>
          </a:p>
          <a:p>
            <a:pPr>
              <a:buFont typeface="Arial" panose="020B0604020202020204" pitchFamily="34" charset="0"/>
              <a:buChar char="•"/>
            </a:pPr>
            <a:r>
              <a:rPr lang="fr-FR" b="0" dirty="0">
                <a:effectLst/>
              </a:rPr>
              <a:t>Explication</a:t>
            </a:r>
            <a:r>
              <a:rPr lang="fr-FR" dirty="0">
                <a:effectLst/>
              </a:rPr>
              <a:t> : The </a:t>
            </a:r>
            <a:r>
              <a:rPr lang="fr-FR" dirty="0" err="1">
                <a:effectLst/>
              </a:rPr>
              <a:t>pronoun</a:t>
            </a:r>
            <a:r>
              <a:rPr lang="fr-FR" dirty="0">
                <a:effectLst/>
              </a:rPr>
              <a:t> "</a:t>
            </a:r>
            <a:r>
              <a:rPr lang="fr-FR" dirty="0" err="1">
                <a:effectLst/>
              </a:rPr>
              <a:t>she</a:t>
            </a:r>
            <a:r>
              <a:rPr lang="fr-FR" dirty="0">
                <a:effectLst/>
              </a:rPr>
              <a:t>" </a:t>
            </a:r>
            <a:r>
              <a:rPr lang="fr-FR" dirty="0" err="1">
                <a:effectLst/>
              </a:rPr>
              <a:t>refers</a:t>
            </a:r>
            <a:r>
              <a:rPr lang="fr-FR" dirty="0">
                <a:effectLst/>
              </a:rPr>
              <a:t> to "Mary," and an NLP model must </a:t>
            </a:r>
            <a:r>
              <a:rPr lang="fr-FR" dirty="0" err="1">
                <a:effectLst/>
              </a:rPr>
              <a:t>understand</a:t>
            </a:r>
            <a:r>
              <a:rPr lang="fr-FR" dirty="0">
                <a:effectLst/>
              </a:rPr>
              <a:t> </a:t>
            </a:r>
            <a:r>
              <a:rPr lang="fr-FR" dirty="0" err="1">
                <a:effectLst/>
              </a:rPr>
              <a:t>this</a:t>
            </a:r>
            <a:r>
              <a:rPr lang="fr-FR" dirty="0">
                <a:effectLst/>
              </a:rPr>
              <a:t> </a:t>
            </a:r>
            <a:r>
              <a:rPr lang="fr-FR" dirty="0" err="1">
                <a:effectLst/>
              </a:rPr>
              <a:t>coreference</a:t>
            </a:r>
            <a:r>
              <a:rPr lang="fr-FR" dirty="0">
                <a:effectLst/>
              </a:rPr>
              <a:t> to </a:t>
            </a:r>
            <a:r>
              <a:rPr lang="fr-FR" dirty="0" err="1">
                <a:effectLst/>
              </a:rPr>
              <a:t>interpret</a:t>
            </a:r>
            <a:r>
              <a:rPr lang="fr-FR" dirty="0">
                <a:effectLst/>
              </a:rPr>
              <a:t> the sentence </a:t>
            </a:r>
            <a:r>
              <a:rPr lang="fr-FR" dirty="0" err="1">
                <a:effectLst/>
              </a:rPr>
              <a:t>correctly</a:t>
            </a:r>
            <a:r>
              <a:rPr lang="fr-FR" dirty="0">
                <a:effectLst/>
              </a:rPr>
              <a:t>.</a:t>
            </a:r>
          </a:p>
          <a:p>
            <a:pPr>
              <a:spcAft>
                <a:spcPts val="750"/>
              </a:spcAft>
            </a:pPr>
            <a:r>
              <a:rPr lang="fr-FR" b="0" dirty="0" err="1">
                <a:effectLst/>
              </a:rPr>
              <a:t>Named</a:t>
            </a:r>
            <a:r>
              <a:rPr lang="fr-FR" b="0" dirty="0">
                <a:effectLst/>
              </a:rPr>
              <a:t> </a:t>
            </a:r>
            <a:r>
              <a:rPr lang="fr-FR" b="0" dirty="0" err="1">
                <a:effectLst/>
              </a:rPr>
              <a:t>Entity</a:t>
            </a:r>
            <a:r>
              <a:rPr lang="fr-FR" b="0" dirty="0">
                <a:effectLst/>
              </a:rPr>
              <a:t> Recognition (Reconnaissance d'entités nommées)</a:t>
            </a:r>
            <a:endParaRPr lang="fr-FR" dirty="0">
              <a:effectLst/>
            </a:endParaRPr>
          </a:p>
          <a:p>
            <a:pPr>
              <a:buFont typeface="Arial" panose="020B0604020202020204" pitchFamily="34" charset="0"/>
              <a:buChar char="•"/>
            </a:pPr>
            <a:r>
              <a:rPr lang="fr-FR" b="0" dirty="0">
                <a:effectLst/>
              </a:rPr>
              <a:t>Phrase exemple</a:t>
            </a:r>
            <a:r>
              <a:rPr lang="fr-FR" dirty="0">
                <a:effectLst/>
              </a:rPr>
              <a:t> : "Paris </a:t>
            </a:r>
            <a:r>
              <a:rPr lang="fr-FR" dirty="0" err="1">
                <a:effectLst/>
              </a:rPr>
              <a:t>is</a:t>
            </a:r>
            <a:r>
              <a:rPr lang="fr-FR" dirty="0">
                <a:effectLst/>
              </a:rPr>
              <a:t> the capital of France."</a:t>
            </a:r>
          </a:p>
          <a:p>
            <a:pPr>
              <a:buFont typeface="Arial" panose="020B0604020202020204" pitchFamily="34" charset="0"/>
              <a:buChar char="•"/>
            </a:pPr>
            <a:r>
              <a:rPr lang="fr-FR" b="0" dirty="0">
                <a:effectLst/>
              </a:rPr>
              <a:t>Explication</a:t>
            </a:r>
            <a:r>
              <a:rPr lang="fr-FR" dirty="0">
                <a:effectLst/>
              </a:rPr>
              <a:t> : An NLP model must </a:t>
            </a:r>
            <a:r>
              <a:rPr lang="fr-FR" dirty="0" err="1">
                <a:effectLst/>
              </a:rPr>
              <a:t>identify</a:t>
            </a:r>
            <a:r>
              <a:rPr lang="fr-FR" dirty="0">
                <a:effectLst/>
              </a:rPr>
              <a:t> "Paris" as a city and "France" as a country, </a:t>
            </a:r>
            <a:r>
              <a:rPr lang="fr-FR" dirty="0" err="1">
                <a:effectLst/>
              </a:rPr>
              <a:t>which</a:t>
            </a:r>
            <a:r>
              <a:rPr lang="fr-FR" dirty="0">
                <a:effectLst/>
              </a:rPr>
              <a:t> can </a:t>
            </a:r>
            <a:r>
              <a:rPr lang="fr-FR" dirty="0" err="1">
                <a:effectLst/>
              </a:rPr>
              <a:t>be</a:t>
            </a:r>
            <a:r>
              <a:rPr lang="fr-FR" dirty="0">
                <a:effectLst/>
              </a:rPr>
              <a:t> </a:t>
            </a:r>
            <a:r>
              <a:rPr lang="fr-FR" dirty="0" err="1">
                <a:effectLst/>
              </a:rPr>
              <a:t>challenging</a:t>
            </a:r>
            <a:r>
              <a:rPr lang="fr-FR" dirty="0">
                <a:effectLst/>
              </a:rPr>
              <a:t> due to the </a:t>
            </a:r>
            <a:r>
              <a:rPr lang="fr-FR" dirty="0" err="1">
                <a:effectLst/>
              </a:rPr>
              <a:t>variability</a:t>
            </a:r>
            <a:r>
              <a:rPr lang="fr-FR" dirty="0">
                <a:effectLst/>
              </a:rPr>
              <a:t> of </a:t>
            </a:r>
            <a:r>
              <a:rPr lang="fr-FR" dirty="0" err="1">
                <a:effectLst/>
              </a:rPr>
              <a:t>proper</a:t>
            </a:r>
            <a:r>
              <a:rPr lang="fr-FR" dirty="0">
                <a:effectLst/>
              </a:rPr>
              <a:t> </a:t>
            </a:r>
            <a:r>
              <a:rPr lang="fr-FR" dirty="0" err="1">
                <a:effectLst/>
              </a:rPr>
              <a:t>names</a:t>
            </a:r>
            <a:r>
              <a:rPr lang="fr-FR" dirty="0">
                <a:effectLst/>
              </a:rPr>
              <a:t>.</a:t>
            </a:r>
          </a:p>
        </p:txBody>
      </p:sp>
      <p:sp>
        <p:nvSpPr>
          <p:cNvPr id="4" name="Espace réservé du numéro de diapositive 3">
            <a:extLst>
              <a:ext uri="{FF2B5EF4-FFF2-40B4-BE49-F238E27FC236}">
                <a16:creationId xmlns:a16="http://schemas.microsoft.com/office/drawing/2014/main" id="{38E18641-E232-41BC-928C-98D623B92582}"/>
              </a:ext>
            </a:extLst>
          </p:cNvPr>
          <p:cNvSpPr>
            <a:spLocks noGrp="1"/>
          </p:cNvSpPr>
          <p:nvPr>
            <p:ph type="sldNum" sz="quarter" idx="5"/>
          </p:nvPr>
        </p:nvSpPr>
        <p:spPr/>
        <p:txBody>
          <a:bodyPr/>
          <a:lstStyle/>
          <a:p>
            <a:fld id="{BFE20620-1C2C-7043-8B38-691BB5666C4A}" type="slidenum">
              <a:rPr lang="fr-FR" smtClean="0"/>
              <a:t>3</a:t>
            </a:fld>
            <a:endParaRPr lang="fr-FR"/>
          </a:p>
        </p:txBody>
      </p:sp>
    </p:spTree>
    <p:extLst>
      <p:ext uri="{BB962C8B-B14F-4D97-AF65-F5344CB8AC3E}">
        <p14:creationId xmlns:p14="http://schemas.microsoft.com/office/powerpoint/2010/main" val="36888245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EBE8B-EC76-0204-EF82-2EE3493286C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324A8A5-BEB2-C2FD-E523-41CC818D369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9750C2F-91B8-3A71-E855-47984B41E0F1}"/>
              </a:ext>
            </a:extLst>
          </p:cNvPr>
          <p:cNvSpPr>
            <a:spLocks noGrp="1"/>
          </p:cNvSpPr>
          <p:nvPr>
            <p:ph type="body" idx="1"/>
          </p:nvPr>
        </p:nvSpPr>
        <p:spPr/>
        <p:txBody>
          <a:bodyPr/>
          <a:lstStyle/>
          <a:p>
            <a:pPr>
              <a:spcAft>
                <a:spcPts val="750"/>
              </a:spcAft>
            </a:pPr>
            <a:br>
              <a:rPr lang="fr-FR" b="0" dirty="0">
                <a:effectLst/>
              </a:rPr>
            </a:br>
            <a:r>
              <a:rPr lang="fr-FR" b="0" dirty="0" err="1">
                <a:effectLst/>
              </a:rPr>
              <a:t>Ambiguity</a:t>
            </a:r>
            <a:r>
              <a:rPr lang="fr-FR" b="0" dirty="0">
                <a:effectLst/>
              </a:rPr>
              <a:t> (Ambiguïté)</a:t>
            </a:r>
            <a:endParaRPr lang="fr-FR" dirty="0">
              <a:effectLst/>
            </a:endParaRPr>
          </a:p>
          <a:p>
            <a:pPr>
              <a:buFont typeface="Arial" panose="020B0604020202020204" pitchFamily="34" charset="0"/>
              <a:buChar char="•"/>
            </a:pPr>
            <a:r>
              <a:rPr lang="fr-FR" b="0" dirty="0">
                <a:effectLst/>
              </a:rPr>
              <a:t>Phrase exemple</a:t>
            </a:r>
            <a:r>
              <a:rPr lang="fr-FR" dirty="0">
                <a:effectLst/>
              </a:rPr>
              <a:t> : "I </a:t>
            </a:r>
            <a:r>
              <a:rPr lang="fr-FR" dirty="0" err="1">
                <a:effectLst/>
              </a:rPr>
              <a:t>saw</a:t>
            </a:r>
            <a:r>
              <a:rPr lang="fr-FR" dirty="0">
                <a:effectLst/>
              </a:rPr>
              <a:t> the </a:t>
            </a:r>
            <a:r>
              <a:rPr lang="fr-FR" dirty="0" err="1">
                <a:effectLst/>
              </a:rPr>
              <a:t>banker</a:t>
            </a:r>
            <a:r>
              <a:rPr lang="fr-FR" dirty="0">
                <a:effectLst/>
              </a:rPr>
              <a:t> </a:t>
            </a:r>
            <a:r>
              <a:rPr lang="fr-FR" dirty="0" err="1">
                <a:effectLst/>
              </a:rPr>
              <a:t>with</a:t>
            </a:r>
            <a:r>
              <a:rPr lang="fr-FR" dirty="0">
                <a:effectLst/>
              </a:rPr>
              <a:t> the </a:t>
            </a:r>
            <a:r>
              <a:rPr lang="fr-FR" dirty="0" err="1">
                <a:effectLst/>
              </a:rPr>
              <a:t>telescope</a:t>
            </a:r>
            <a:r>
              <a:rPr lang="fr-FR" dirty="0">
                <a:effectLst/>
              </a:rPr>
              <a:t>."</a:t>
            </a:r>
          </a:p>
          <a:p>
            <a:pPr>
              <a:buFont typeface="Arial" panose="020B0604020202020204" pitchFamily="34" charset="0"/>
              <a:buChar char="•"/>
            </a:pPr>
            <a:r>
              <a:rPr lang="fr-FR" b="0" dirty="0">
                <a:effectLst/>
              </a:rPr>
              <a:t>Explication</a:t>
            </a:r>
            <a:r>
              <a:rPr lang="fr-FR" dirty="0">
                <a:effectLst/>
              </a:rPr>
              <a:t> : This sentence </a:t>
            </a:r>
            <a:r>
              <a:rPr lang="fr-FR" dirty="0" err="1">
                <a:effectLst/>
              </a:rPr>
              <a:t>is</a:t>
            </a:r>
            <a:r>
              <a:rPr lang="fr-FR" dirty="0">
                <a:effectLst/>
              </a:rPr>
              <a:t> </a:t>
            </a:r>
            <a:r>
              <a:rPr lang="fr-FR" dirty="0" err="1">
                <a:effectLst/>
              </a:rPr>
              <a:t>ambiguous</a:t>
            </a:r>
            <a:r>
              <a:rPr lang="fr-FR" dirty="0">
                <a:effectLst/>
              </a:rPr>
              <a:t> </a:t>
            </a:r>
            <a:r>
              <a:rPr lang="fr-FR" dirty="0" err="1">
                <a:effectLst/>
              </a:rPr>
              <a:t>because</a:t>
            </a:r>
            <a:r>
              <a:rPr lang="fr-FR" dirty="0">
                <a:effectLst/>
              </a:rPr>
              <a:t> </a:t>
            </a:r>
            <a:r>
              <a:rPr lang="fr-FR" dirty="0" err="1">
                <a:effectLst/>
              </a:rPr>
              <a:t>it</a:t>
            </a:r>
            <a:r>
              <a:rPr lang="fr-FR" dirty="0">
                <a:effectLst/>
              </a:rPr>
              <a:t> can </a:t>
            </a:r>
            <a:r>
              <a:rPr lang="fr-FR" dirty="0" err="1">
                <a:effectLst/>
              </a:rPr>
              <a:t>mean</a:t>
            </a:r>
            <a:r>
              <a:rPr lang="fr-FR" dirty="0">
                <a:effectLst/>
              </a:rPr>
              <a:t> </a:t>
            </a:r>
            <a:r>
              <a:rPr lang="fr-FR" dirty="0" err="1">
                <a:effectLst/>
              </a:rPr>
              <a:t>either</a:t>
            </a:r>
            <a:r>
              <a:rPr lang="fr-FR" dirty="0">
                <a:effectLst/>
              </a:rPr>
              <a:t> </a:t>
            </a:r>
            <a:r>
              <a:rPr lang="fr-FR" dirty="0" err="1">
                <a:effectLst/>
              </a:rPr>
              <a:t>that</a:t>
            </a:r>
            <a:r>
              <a:rPr lang="fr-FR" dirty="0">
                <a:effectLst/>
              </a:rPr>
              <a:t> the </a:t>
            </a:r>
            <a:r>
              <a:rPr lang="fr-FR" dirty="0" err="1">
                <a:effectLst/>
              </a:rPr>
              <a:t>banker</a:t>
            </a:r>
            <a:r>
              <a:rPr lang="fr-FR" dirty="0">
                <a:effectLst/>
              </a:rPr>
              <a:t> </a:t>
            </a:r>
            <a:r>
              <a:rPr lang="fr-FR" dirty="0" err="1">
                <a:effectLst/>
              </a:rPr>
              <a:t>is</a:t>
            </a:r>
            <a:r>
              <a:rPr lang="fr-FR" dirty="0">
                <a:effectLst/>
              </a:rPr>
              <a:t> </a:t>
            </a:r>
            <a:r>
              <a:rPr lang="fr-FR" dirty="0" err="1">
                <a:effectLst/>
              </a:rPr>
              <a:t>using</a:t>
            </a:r>
            <a:r>
              <a:rPr lang="fr-FR" dirty="0">
                <a:effectLst/>
              </a:rPr>
              <a:t> a </a:t>
            </a:r>
            <a:r>
              <a:rPr lang="fr-FR" dirty="0" err="1">
                <a:effectLst/>
              </a:rPr>
              <a:t>telescope</a:t>
            </a:r>
            <a:r>
              <a:rPr lang="fr-FR" dirty="0">
                <a:effectLst/>
              </a:rPr>
              <a:t> or </a:t>
            </a:r>
            <a:r>
              <a:rPr lang="fr-FR" dirty="0" err="1">
                <a:effectLst/>
              </a:rPr>
              <a:t>that</a:t>
            </a:r>
            <a:r>
              <a:rPr lang="fr-FR" dirty="0">
                <a:effectLst/>
              </a:rPr>
              <a:t> the speaker </a:t>
            </a:r>
            <a:r>
              <a:rPr lang="fr-FR" dirty="0" err="1">
                <a:effectLst/>
              </a:rPr>
              <a:t>saw</a:t>
            </a:r>
            <a:r>
              <a:rPr lang="fr-FR" dirty="0">
                <a:effectLst/>
              </a:rPr>
              <a:t> the </a:t>
            </a:r>
            <a:r>
              <a:rPr lang="fr-FR" dirty="0" err="1">
                <a:effectLst/>
              </a:rPr>
              <a:t>banker</a:t>
            </a:r>
            <a:r>
              <a:rPr lang="fr-FR" dirty="0">
                <a:effectLst/>
              </a:rPr>
              <a:t> </a:t>
            </a:r>
            <a:r>
              <a:rPr lang="fr-FR" dirty="0" err="1">
                <a:effectLst/>
              </a:rPr>
              <a:t>using</a:t>
            </a:r>
            <a:r>
              <a:rPr lang="fr-FR" dirty="0">
                <a:effectLst/>
              </a:rPr>
              <a:t> a </a:t>
            </a:r>
            <a:r>
              <a:rPr lang="fr-FR" dirty="0" err="1">
                <a:effectLst/>
              </a:rPr>
              <a:t>telescope</a:t>
            </a:r>
            <a:r>
              <a:rPr lang="fr-FR" dirty="0">
                <a:effectLst/>
              </a:rPr>
              <a:t>.</a:t>
            </a:r>
          </a:p>
          <a:p>
            <a:pPr>
              <a:spcAft>
                <a:spcPts val="750"/>
              </a:spcAft>
            </a:pPr>
            <a:r>
              <a:rPr lang="fr-FR" b="0" dirty="0" err="1">
                <a:effectLst/>
              </a:rPr>
              <a:t>Polysemy</a:t>
            </a:r>
            <a:r>
              <a:rPr lang="fr-FR" b="0" dirty="0">
                <a:effectLst/>
              </a:rPr>
              <a:t> (Polysémie)</a:t>
            </a:r>
            <a:endParaRPr lang="fr-FR" dirty="0">
              <a:effectLst/>
            </a:endParaRPr>
          </a:p>
          <a:p>
            <a:pPr>
              <a:buFont typeface="Arial" panose="020B0604020202020204" pitchFamily="34" charset="0"/>
              <a:buChar char="•"/>
            </a:pPr>
            <a:r>
              <a:rPr lang="fr-FR" b="0" dirty="0">
                <a:effectLst/>
              </a:rPr>
              <a:t>Phrase exemple</a:t>
            </a:r>
            <a:r>
              <a:rPr lang="fr-FR" dirty="0">
                <a:effectLst/>
              </a:rPr>
              <a:t> : "The </a:t>
            </a:r>
            <a:r>
              <a:rPr lang="fr-FR" dirty="0" err="1">
                <a:effectLst/>
              </a:rPr>
              <a:t>bank</a:t>
            </a:r>
            <a:r>
              <a:rPr lang="fr-FR" dirty="0">
                <a:effectLst/>
              </a:rPr>
              <a:t> </a:t>
            </a:r>
            <a:r>
              <a:rPr lang="fr-FR" dirty="0" err="1">
                <a:effectLst/>
              </a:rPr>
              <a:t>robbery</a:t>
            </a:r>
            <a:r>
              <a:rPr lang="fr-FR" dirty="0">
                <a:effectLst/>
              </a:rPr>
              <a:t> </a:t>
            </a:r>
            <a:r>
              <a:rPr lang="fr-FR" dirty="0" err="1">
                <a:effectLst/>
              </a:rPr>
              <a:t>was</a:t>
            </a:r>
            <a:r>
              <a:rPr lang="fr-FR" dirty="0">
                <a:effectLst/>
              </a:rPr>
              <a:t> quick."</a:t>
            </a:r>
          </a:p>
          <a:p>
            <a:pPr>
              <a:buFont typeface="Arial" panose="020B0604020202020204" pitchFamily="34" charset="0"/>
              <a:buChar char="•"/>
            </a:pPr>
            <a:r>
              <a:rPr lang="fr-FR" b="0" dirty="0">
                <a:effectLst/>
              </a:rPr>
              <a:t>Explication</a:t>
            </a:r>
            <a:r>
              <a:rPr lang="fr-FR" dirty="0">
                <a:effectLst/>
              </a:rPr>
              <a:t> : The </a:t>
            </a:r>
            <a:r>
              <a:rPr lang="fr-FR" dirty="0" err="1">
                <a:effectLst/>
              </a:rPr>
              <a:t>word</a:t>
            </a:r>
            <a:r>
              <a:rPr lang="fr-FR" dirty="0">
                <a:effectLst/>
              </a:rPr>
              <a:t> "</a:t>
            </a:r>
            <a:r>
              <a:rPr lang="fr-FR" dirty="0" err="1">
                <a:effectLst/>
              </a:rPr>
              <a:t>bank</a:t>
            </a:r>
            <a:r>
              <a:rPr lang="fr-FR" dirty="0">
                <a:effectLst/>
              </a:rPr>
              <a:t>" can </a:t>
            </a:r>
            <a:r>
              <a:rPr lang="fr-FR" dirty="0" err="1">
                <a:effectLst/>
              </a:rPr>
              <a:t>mean</a:t>
            </a:r>
            <a:r>
              <a:rPr lang="fr-FR" dirty="0">
                <a:effectLst/>
              </a:rPr>
              <a:t> </a:t>
            </a:r>
            <a:r>
              <a:rPr lang="fr-FR" dirty="0" err="1">
                <a:effectLst/>
              </a:rPr>
              <a:t>either</a:t>
            </a:r>
            <a:r>
              <a:rPr lang="fr-FR" dirty="0">
                <a:effectLst/>
              </a:rPr>
              <a:t> a </a:t>
            </a:r>
            <a:r>
              <a:rPr lang="fr-FR" dirty="0" err="1">
                <a:effectLst/>
              </a:rPr>
              <a:t>financial</a:t>
            </a:r>
            <a:r>
              <a:rPr lang="fr-FR" dirty="0">
                <a:effectLst/>
              </a:rPr>
              <a:t> institution or the </a:t>
            </a:r>
            <a:r>
              <a:rPr lang="fr-FR" dirty="0" err="1">
                <a:effectLst/>
              </a:rPr>
              <a:t>side</a:t>
            </a:r>
            <a:r>
              <a:rPr lang="fr-FR" dirty="0">
                <a:effectLst/>
              </a:rPr>
              <a:t> of a river.</a:t>
            </a:r>
          </a:p>
          <a:p>
            <a:pPr>
              <a:spcAft>
                <a:spcPts val="750"/>
              </a:spcAft>
            </a:pPr>
            <a:r>
              <a:rPr lang="fr-FR" b="0" dirty="0" err="1">
                <a:effectLst/>
              </a:rPr>
              <a:t>Homonymy</a:t>
            </a:r>
            <a:r>
              <a:rPr lang="fr-FR" b="0" dirty="0">
                <a:effectLst/>
              </a:rPr>
              <a:t> (Homonymie)</a:t>
            </a:r>
            <a:endParaRPr lang="fr-FR" dirty="0">
              <a:effectLst/>
            </a:endParaRPr>
          </a:p>
          <a:p>
            <a:pPr>
              <a:buFont typeface="Arial" panose="020B0604020202020204" pitchFamily="34" charset="0"/>
              <a:buChar char="•"/>
            </a:pPr>
            <a:r>
              <a:rPr lang="fr-FR" b="0" dirty="0">
                <a:effectLst/>
              </a:rPr>
              <a:t>Phrase exemple</a:t>
            </a:r>
            <a:r>
              <a:rPr lang="fr-FR" dirty="0">
                <a:effectLst/>
              </a:rPr>
              <a:t> : "The </a:t>
            </a:r>
            <a:r>
              <a:rPr lang="fr-FR" dirty="0" err="1">
                <a:effectLst/>
              </a:rPr>
              <a:t>bass</a:t>
            </a:r>
            <a:r>
              <a:rPr lang="fr-FR" dirty="0">
                <a:effectLst/>
              </a:rPr>
              <a:t> </a:t>
            </a:r>
            <a:r>
              <a:rPr lang="fr-FR" dirty="0" err="1">
                <a:effectLst/>
              </a:rPr>
              <a:t>was</a:t>
            </a:r>
            <a:r>
              <a:rPr lang="fr-FR" dirty="0">
                <a:effectLst/>
              </a:rPr>
              <a:t> </a:t>
            </a:r>
            <a:r>
              <a:rPr lang="fr-FR" dirty="0" err="1">
                <a:effectLst/>
              </a:rPr>
              <a:t>too</a:t>
            </a:r>
            <a:r>
              <a:rPr lang="fr-FR" dirty="0">
                <a:effectLst/>
              </a:rPr>
              <a:t> </a:t>
            </a:r>
            <a:r>
              <a:rPr lang="fr-FR" dirty="0" err="1">
                <a:effectLst/>
              </a:rPr>
              <a:t>loud</a:t>
            </a:r>
            <a:r>
              <a:rPr lang="fr-FR" dirty="0">
                <a:effectLst/>
              </a:rPr>
              <a:t>."</a:t>
            </a:r>
          </a:p>
          <a:p>
            <a:pPr>
              <a:buFont typeface="Arial" panose="020B0604020202020204" pitchFamily="34" charset="0"/>
              <a:buChar char="•"/>
            </a:pPr>
            <a:r>
              <a:rPr lang="fr-FR" b="0" dirty="0">
                <a:effectLst/>
              </a:rPr>
              <a:t>Explication</a:t>
            </a:r>
            <a:r>
              <a:rPr lang="fr-FR" dirty="0">
                <a:effectLst/>
              </a:rPr>
              <a:t> : The </a:t>
            </a:r>
            <a:r>
              <a:rPr lang="fr-FR" dirty="0" err="1">
                <a:effectLst/>
              </a:rPr>
              <a:t>word</a:t>
            </a:r>
            <a:r>
              <a:rPr lang="fr-FR" dirty="0">
                <a:effectLst/>
              </a:rPr>
              <a:t> "</a:t>
            </a:r>
            <a:r>
              <a:rPr lang="fr-FR" dirty="0" err="1">
                <a:effectLst/>
              </a:rPr>
              <a:t>bass</a:t>
            </a:r>
            <a:r>
              <a:rPr lang="fr-FR" dirty="0">
                <a:effectLst/>
              </a:rPr>
              <a:t>" can </a:t>
            </a:r>
            <a:r>
              <a:rPr lang="fr-FR" dirty="0" err="1">
                <a:effectLst/>
              </a:rPr>
              <a:t>refer</a:t>
            </a:r>
            <a:r>
              <a:rPr lang="fr-FR" dirty="0">
                <a:effectLst/>
              </a:rPr>
              <a:t> to </a:t>
            </a:r>
            <a:r>
              <a:rPr lang="fr-FR" dirty="0" err="1">
                <a:effectLst/>
              </a:rPr>
              <a:t>either</a:t>
            </a:r>
            <a:r>
              <a:rPr lang="fr-FR" dirty="0">
                <a:effectLst/>
              </a:rPr>
              <a:t> a type of </a:t>
            </a:r>
            <a:r>
              <a:rPr lang="fr-FR" dirty="0" err="1">
                <a:effectLst/>
              </a:rPr>
              <a:t>fish</a:t>
            </a:r>
            <a:r>
              <a:rPr lang="fr-FR" dirty="0">
                <a:effectLst/>
              </a:rPr>
              <a:t> or a </a:t>
            </a:r>
            <a:r>
              <a:rPr lang="fr-FR" dirty="0" err="1">
                <a:effectLst/>
              </a:rPr>
              <a:t>low-frequency</a:t>
            </a:r>
            <a:r>
              <a:rPr lang="fr-FR" dirty="0">
                <a:effectLst/>
              </a:rPr>
              <a:t> </a:t>
            </a:r>
            <a:r>
              <a:rPr lang="fr-FR" dirty="0" err="1">
                <a:effectLst/>
              </a:rPr>
              <a:t>sound</a:t>
            </a:r>
            <a:r>
              <a:rPr lang="fr-FR" dirty="0">
                <a:effectLst/>
              </a:rPr>
              <a:t>.</a:t>
            </a:r>
          </a:p>
          <a:p>
            <a:pPr>
              <a:spcAft>
                <a:spcPts val="750"/>
              </a:spcAft>
            </a:pPr>
            <a:r>
              <a:rPr lang="fr-FR" b="0" dirty="0" err="1">
                <a:effectLst/>
              </a:rPr>
              <a:t>Synonymy</a:t>
            </a:r>
            <a:r>
              <a:rPr lang="fr-FR" b="0" dirty="0">
                <a:effectLst/>
              </a:rPr>
              <a:t> (Synonymie)</a:t>
            </a:r>
            <a:endParaRPr lang="fr-FR" dirty="0">
              <a:effectLst/>
            </a:endParaRPr>
          </a:p>
          <a:p>
            <a:pPr>
              <a:buFont typeface="Arial" panose="020B0604020202020204" pitchFamily="34" charset="0"/>
              <a:buChar char="•"/>
            </a:pPr>
            <a:r>
              <a:rPr lang="fr-FR" b="0" dirty="0">
                <a:effectLst/>
              </a:rPr>
              <a:t>Phrase exemple</a:t>
            </a:r>
            <a:r>
              <a:rPr lang="fr-FR" dirty="0">
                <a:effectLst/>
              </a:rPr>
              <a:t> : "The cat </a:t>
            </a:r>
            <a:r>
              <a:rPr lang="fr-FR" dirty="0" err="1">
                <a:effectLst/>
              </a:rPr>
              <a:t>is</a:t>
            </a:r>
            <a:r>
              <a:rPr lang="fr-FR" dirty="0">
                <a:effectLst/>
              </a:rPr>
              <a:t> on the couch."</a:t>
            </a:r>
          </a:p>
          <a:p>
            <a:pPr>
              <a:buFont typeface="Arial" panose="020B0604020202020204" pitchFamily="34" charset="0"/>
              <a:buChar char="•"/>
            </a:pPr>
            <a:r>
              <a:rPr lang="fr-FR" b="0" dirty="0">
                <a:effectLst/>
              </a:rPr>
              <a:t>Explication</a:t>
            </a:r>
            <a:r>
              <a:rPr lang="fr-FR" dirty="0">
                <a:effectLst/>
              </a:rPr>
              <a:t> : The </a:t>
            </a:r>
            <a:r>
              <a:rPr lang="fr-FR" dirty="0" err="1">
                <a:effectLst/>
              </a:rPr>
              <a:t>word</a:t>
            </a:r>
            <a:r>
              <a:rPr lang="fr-FR" dirty="0">
                <a:effectLst/>
              </a:rPr>
              <a:t> "couch" can </a:t>
            </a:r>
            <a:r>
              <a:rPr lang="fr-FR" dirty="0" err="1">
                <a:effectLst/>
              </a:rPr>
              <a:t>be</a:t>
            </a:r>
            <a:r>
              <a:rPr lang="fr-FR" dirty="0">
                <a:effectLst/>
              </a:rPr>
              <a:t> </a:t>
            </a:r>
            <a:r>
              <a:rPr lang="fr-FR" dirty="0" err="1">
                <a:effectLst/>
              </a:rPr>
              <a:t>replaced</a:t>
            </a:r>
            <a:r>
              <a:rPr lang="fr-FR" dirty="0">
                <a:effectLst/>
              </a:rPr>
              <a:t> </a:t>
            </a:r>
            <a:r>
              <a:rPr lang="fr-FR" dirty="0" err="1">
                <a:effectLst/>
              </a:rPr>
              <a:t>with</a:t>
            </a:r>
            <a:r>
              <a:rPr lang="fr-FR" dirty="0">
                <a:effectLst/>
              </a:rPr>
              <a:t> "sofa" </a:t>
            </a:r>
            <a:r>
              <a:rPr lang="fr-FR" dirty="0" err="1">
                <a:effectLst/>
              </a:rPr>
              <a:t>without</a:t>
            </a:r>
            <a:r>
              <a:rPr lang="fr-FR" dirty="0">
                <a:effectLst/>
              </a:rPr>
              <a:t> </a:t>
            </a:r>
            <a:r>
              <a:rPr lang="fr-FR" dirty="0" err="1">
                <a:effectLst/>
              </a:rPr>
              <a:t>changing</a:t>
            </a:r>
            <a:r>
              <a:rPr lang="fr-FR" dirty="0">
                <a:effectLst/>
              </a:rPr>
              <a:t> the </a:t>
            </a:r>
            <a:r>
              <a:rPr lang="fr-FR" dirty="0" err="1">
                <a:effectLst/>
              </a:rPr>
              <a:t>meaning</a:t>
            </a:r>
            <a:r>
              <a:rPr lang="fr-FR" dirty="0">
                <a:effectLst/>
              </a:rPr>
              <a:t> of the sentence, but an NLP model must </a:t>
            </a:r>
            <a:r>
              <a:rPr lang="fr-FR" dirty="0" err="1">
                <a:effectLst/>
              </a:rPr>
              <a:t>understand</a:t>
            </a:r>
            <a:r>
              <a:rPr lang="fr-FR" dirty="0">
                <a:effectLst/>
              </a:rPr>
              <a:t> </a:t>
            </a:r>
            <a:r>
              <a:rPr lang="fr-FR" dirty="0" err="1">
                <a:effectLst/>
              </a:rPr>
              <a:t>that</a:t>
            </a:r>
            <a:r>
              <a:rPr lang="fr-FR" dirty="0">
                <a:effectLst/>
              </a:rPr>
              <a:t> </a:t>
            </a:r>
            <a:r>
              <a:rPr lang="fr-FR" dirty="0" err="1">
                <a:effectLst/>
              </a:rPr>
              <a:t>these</a:t>
            </a:r>
            <a:r>
              <a:rPr lang="fr-FR" dirty="0">
                <a:effectLst/>
              </a:rPr>
              <a:t> </a:t>
            </a:r>
            <a:r>
              <a:rPr lang="fr-FR" dirty="0" err="1">
                <a:effectLst/>
              </a:rPr>
              <a:t>words</a:t>
            </a:r>
            <a:r>
              <a:rPr lang="fr-FR" dirty="0">
                <a:effectLst/>
              </a:rPr>
              <a:t> are </a:t>
            </a:r>
            <a:r>
              <a:rPr lang="fr-FR" dirty="0" err="1">
                <a:effectLst/>
              </a:rPr>
              <a:t>synonyms</a:t>
            </a:r>
            <a:r>
              <a:rPr lang="fr-FR" dirty="0">
                <a:effectLst/>
              </a:rPr>
              <a:t>.</a:t>
            </a:r>
          </a:p>
          <a:p>
            <a:pPr>
              <a:spcAft>
                <a:spcPts val="750"/>
              </a:spcAft>
            </a:pPr>
            <a:r>
              <a:rPr lang="fr-FR" b="0" dirty="0" err="1">
                <a:effectLst/>
              </a:rPr>
              <a:t>Context</a:t>
            </a:r>
            <a:r>
              <a:rPr lang="fr-FR" b="0" dirty="0">
                <a:effectLst/>
              </a:rPr>
              <a:t> </a:t>
            </a:r>
            <a:r>
              <a:rPr lang="fr-FR" b="0" dirty="0" err="1">
                <a:effectLst/>
              </a:rPr>
              <a:t>Dependency</a:t>
            </a:r>
            <a:r>
              <a:rPr lang="fr-FR" b="0" dirty="0">
                <a:effectLst/>
              </a:rPr>
              <a:t> (Dépendance au contexte)</a:t>
            </a:r>
            <a:endParaRPr lang="fr-FR" dirty="0">
              <a:effectLst/>
            </a:endParaRPr>
          </a:p>
          <a:p>
            <a:pPr>
              <a:buFont typeface="Arial" panose="020B0604020202020204" pitchFamily="34" charset="0"/>
              <a:buChar char="•"/>
            </a:pPr>
            <a:r>
              <a:rPr lang="fr-FR" b="0" dirty="0">
                <a:effectLst/>
              </a:rPr>
              <a:t>Phrase exemple</a:t>
            </a:r>
            <a:r>
              <a:rPr lang="fr-FR" dirty="0">
                <a:effectLst/>
              </a:rPr>
              <a:t> : "I </a:t>
            </a:r>
            <a:r>
              <a:rPr lang="fr-FR" dirty="0" err="1">
                <a:effectLst/>
              </a:rPr>
              <a:t>am</a:t>
            </a:r>
            <a:r>
              <a:rPr lang="fr-FR" dirty="0">
                <a:effectLst/>
              </a:rPr>
              <a:t> </a:t>
            </a:r>
            <a:r>
              <a:rPr lang="fr-FR" dirty="0" err="1">
                <a:effectLst/>
              </a:rPr>
              <a:t>going</a:t>
            </a:r>
            <a:r>
              <a:rPr lang="fr-FR" dirty="0">
                <a:effectLst/>
              </a:rPr>
              <a:t> to the </a:t>
            </a:r>
            <a:r>
              <a:rPr lang="fr-FR" dirty="0" err="1">
                <a:effectLst/>
              </a:rPr>
              <a:t>bank</a:t>
            </a:r>
            <a:r>
              <a:rPr lang="fr-FR" dirty="0">
                <a:effectLst/>
              </a:rPr>
              <a:t>."</a:t>
            </a:r>
          </a:p>
          <a:p>
            <a:pPr>
              <a:buFont typeface="Arial" panose="020B0604020202020204" pitchFamily="34" charset="0"/>
              <a:buChar char="•"/>
            </a:pPr>
            <a:r>
              <a:rPr lang="fr-FR" b="0" dirty="0">
                <a:effectLst/>
              </a:rPr>
              <a:t>Explication</a:t>
            </a:r>
            <a:r>
              <a:rPr lang="fr-FR" dirty="0">
                <a:effectLst/>
              </a:rPr>
              <a:t> : The </a:t>
            </a:r>
            <a:r>
              <a:rPr lang="fr-FR" dirty="0" err="1">
                <a:effectLst/>
              </a:rPr>
              <a:t>word</a:t>
            </a:r>
            <a:r>
              <a:rPr lang="fr-FR" dirty="0">
                <a:effectLst/>
              </a:rPr>
              <a:t> "</a:t>
            </a:r>
            <a:r>
              <a:rPr lang="fr-FR" dirty="0" err="1">
                <a:effectLst/>
              </a:rPr>
              <a:t>bank</a:t>
            </a:r>
            <a:r>
              <a:rPr lang="fr-FR" dirty="0">
                <a:effectLst/>
              </a:rPr>
              <a:t>" can </a:t>
            </a:r>
            <a:r>
              <a:rPr lang="fr-FR" dirty="0" err="1">
                <a:effectLst/>
              </a:rPr>
              <a:t>mean</a:t>
            </a:r>
            <a:r>
              <a:rPr lang="fr-FR" dirty="0">
                <a:effectLst/>
              </a:rPr>
              <a:t> </a:t>
            </a:r>
            <a:r>
              <a:rPr lang="fr-FR" dirty="0" err="1">
                <a:effectLst/>
              </a:rPr>
              <a:t>either</a:t>
            </a:r>
            <a:r>
              <a:rPr lang="fr-FR" dirty="0">
                <a:effectLst/>
              </a:rPr>
              <a:t> a </a:t>
            </a:r>
            <a:r>
              <a:rPr lang="fr-FR" dirty="0" err="1">
                <a:effectLst/>
              </a:rPr>
              <a:t>financial</a:t>
            </a:r>
            <a:r>
              <a:rPr lang="fr-FR" dirty="0">
                <a:effectLst/>
              </a:rPr>
              <a:t> institution or the </a:t>
            </a:r>
            <a:r>
              <a:rPr lang="fr-FR" dirty="0" err="1">
                <a:effectLst/>
              </a:rPr>
              <a:t>side</a:t>
            </a:r>
            <a:r>
              <a:rPr lang="fr-FR" dirty="0">
                <a:effectLst/>
              </a:rPr>
              <a:t> of a river, </a:t>
            </a:r>
            <a:r>
              <a:rPr lang="fr-FR" dirty="0" err="1">
                <a:effectLst/>
              </a:rPr>
              <a:t>depending</a:t>
            </a:r>
            <a:r>
              <a:rPr lang="fr-FR" dirty="0">
                <a:effectLst/>
              </a:rPr>
              <a:t> on the </a:t>
            </a:r>
            <a:r>
              <a:rPr lang="fr-FR" dirty="0" err="1">
                <a:effectLst/>
              </a:rPr>
              <a:t>context</a:t>
            </a:r>
            <a:r>
              <a:rPr lang="fr-FR" dirty="0">
                <a:effectLst/>
              </a:rPr>
              <a:t>.</a:t>
            </a:r>
          </a:p>
          <a:p>
            <a:pPr>
              <a:spcAft>
                <a:spcPts val="750"/>
              </a:spcAft>
            </a:pPr>
            <a:r>
              <a:rPr lang="fr-FR" b="0" dirty="0" err="1">
                <a:effectLst/>
              </a:rPr>
              <a:t>Idioms</a:t>
            </a:r>
            <a:r>
              <a:rPr lang="fr-FR" b="0" dirty="0">
                <a:effectLst/>
              </a:rPr>
              <a:t> (Expressions idiomatiques)</a:t>
            </a:r>
            <a:endParaRPr lang="fr-FR" dirty="0">
              <a:effectLst/>
            </a:endParaRPr>
          </a:p>
          <a:p>
            <a:pPr>
              <a:buFont typeface="Arial" panose="020B0604020202020204" pitchFamily="34" charset="0"/>
              <a:buChar char="•"/>
            </a:pPr>
            <a:r>
              <a:rPr lang="fr-FR" b="0" dirty="0">
                <a:effectLst/>
              </a:rPr>
              <a:t>Phrase exemple</a:t>
            </a:r>
            <a:r>
              <a:rPr lang="fr-FR" dirty="0">
                <a:effectLst/>
              </a:rPr>
              <a:t> : "</a:t>
            </a:r>
            <a:r>
              <a:rPr lang="fr-FR" dirty="0" err="1">
                <a:effectLst/>
              </a:rPr>
              <a:t>It's</a:t>
            </a:r>
            <a:r>
              <a:rPr lang="fr-FR" dirty="0">
                <a:effectLst/>
              </a:rPr>
              <a:t> </a:t>
            </a:r>
            <a:r>
              <a:rPr lang="fr-FR" dirty="0" err="1">
                <a:effectLst/>
              </a:rPr>
              <a:t>raining</a:t>
            </a:r>
            <a:r>
              <a:rPr lang="fr-FR" dirty="0">
                <a:effectLst/>
              </a:rPr>
              <a:t> cats and </a:t>
            </a:r>
            <a:r>
              <a:rPr lang="fr-FR" dirty="0" err="1">
                <a:effectLst/>
              </a:rPr>
              <a:t>dogs</a:t>
            </a:r>
            <a:r>
              <a:rPr lang="fr-FR" dirty="0">
                <a:effectLst/>
              </a:rPr>
              <a:t>."</a:t>
            </a:r>
          </a:p>
          <a:p>
            <a:pPr>
              <a:buFont typeface="Arial" panose="020B0604020202020204" pitchFamily="34" charset="0"/>
              <a:buChar char="•"/>
            </a:pPr>
            <a:r>
              <a:rPr lang="fr-FR" b="0" dirty="0">
                <a:effectLst/>
              </a:rPr>
              <a:t>Explication</a:t>
            </a:r>
            <a:r>
              <a:rPr lang="fr-FR" dirty="0">
                <a:effectLst/>
              </a:rPr>
              <a:t> : This </a:t>
            </a:r>
            <a:r>
              <a:rPr lang="fr-FR" dirty="0" err="1">
                <a:effectLst/>
              </a:rPr>
              <a:t>idiomatic</a:t>
            </a:r>
            <a:r>
              <a:rPr lang="fr-FR" dirty="0">
                <a:effectLst/>
              </a:rPr>
              <a:t> expression means </a:t>
            </a:r>
            <a:r>
              <a:rPr lang="fr-FR" dirty="0" err="1">
                <a:effectLst/>
              </a:rPr>
              <a:t>it</a:t>
            </a:r>
            <a:r>
              <a:rPr lang="fr-FR" dirty="0">
                <a:effectLst/>
              </a:rPr>
              <a:t> </a:t>
            </a:r>
            <a:r>
              <a:rPr lang="fr-FR" dirty="0" err="1">
                <a:effectLst/>
              </a:rPr>
              <a:t>is</a:t>
            </a:r>
            <a:r>
              <a:rPr lang="fr-FR" dirty="0">
                <a:effectLst/>
              </a:rPr>
              <a:t> </a:t>
            </a:r>
            <a:r>
              <a:rPr lang="fr-FR" dirty="0" err="1">
                <a:effectLst/>
              </a:rPr>
              <a:t>raining</a:t>
            </a:r>
            <a:r>
              <a:rPr lang="fr-FR" dirty="0">
                <a:effectLst/>
              </a:rPr>
              <a:t> </a:t>
            </a:r>
            <a:r>
              <a:rPr lang="fr-FR" dirty="0" err="1">
                <a:effectLst/>
              </a:rPr>
              <a:t>heavily</a:t>
            </a:r>
            <a:r>
              <a:rPr lang="fr-FR" dirty="0">
                <a:effectLst/>
              </a:rPr>
              <a:t>, but </a:t>
            </a:r>
            <a:r>
              <a:rPr lang="fr-FR" dirty="0" err="1">
                <a:effectLst/>
              </a:rPr>
              <a:t>literally</a:t>
            </a:r>
            <a:r>
              <a:rPr lang="fr-FR" dirty="0">
                <a:effectLst/>
              </a:rPr>
              <a:t>, </a:t>
            </a:r>
            <a:r>
              <a:rPr lang="fr-FR" dirty="0" err="1">
                <a:effectLst/>
              </a:rPr>
              <a:t>it</a:t>
            </a:r>
            <a:r>
              <a:rPr lang="fr-FR" dirty="0">
                <a:effectLst/>
              </a:rPr>
              <a:t> </a:t>
            </a:r>
            <a:r>
              <a:rPr lang="fr-FR" dirty="0" err="1">
                <a:effectLst/>
              </a:rPr>
              <a:t>makes</a:t>
            </a:r>
            <a:r>
              <a:rPr lang="fr-FR" dirty="0">
                <a:effectLst/>
              </a:rPr>
              <a:t> no </a:t>
            </a:r>
            <a:r>
              <a:rPr lang="fr-FR" dirty="0" err="1">
                <a:effectLst/>
              </a:rPr>
              <a:t>sense</a:t>
            </a:r>
            <a:r>
              <a:rPr lang="fr-FR" dirty="0">
                <a:effectLst/>
              </a:rPr>
              <a:t>.</a:t>
            </a:r>
          </a:p>
          <a:p>
            <a:pPr>
              <a:spcAft>
                <a:spcPts val="750"/>
              </a:spcAft>
            </a:pPr>
            <a:r>
              <a:rPr lang="fr-FR" b="0" dirty="0" err="1">
                <a:effectLst/>
              </a:rPr>
              <a:t>Sarcasm</a:t>
            </a:r>
            <a:r>
              <a:rPr lang="fr-FR" b="0" dirty="0">
                <a:effectLst/>
              </a:rPr>
              <a:t> (Sarcasme)</a:t>
            </a:r>
            <a:endParaRPr lang="fr-FR" dirty="0">
              <a:effectLst/>
            </a:endParaRPr>
          </a:p>
          <a:p>
            <a:pPr>
              <a:buFont typeface="Arial" panose="020B0604020202020204" pitchFamily="34" charset="0"/>
              <a:buChar char="•"/>
            </a:pPr>
            <a:r>
              <a:rPr lang="fr-FR" b="0" dirty="0">
                <a:effectLst/>
              </a:rPr>
              <a:t>Phrase exemple</a:t>
            </a:r>
            <a:r>
              <a:rPr lang="fr-FR" dirty="0">
                <a:effectLst/>
              </a:rPr>
              <a:t> : "Oh </a:t>
            </a:r>
            <a:r>
              <a:rPr lang="fr-FR" dirty="0" err="1">
                <a:effectLst/>
              </a:rPr>
              <a:t>great</a:t>
            </a:r>
            <a:r>
              <a:rPr lang="fr-FR" dirty="0">
                <a:effectLst/>
              </a:rPr>
              <a:t>, </a:t>
            </a:r>
            <a:r>
              <a:rPr lang="fr-FR" dirty="0" err="1">
                <a:effectLst/>
              </a:rPr>
              <a:t>it's</a:t>
            </a:r>
            <a:r>
              <a:rPr lang="fr-FR" dirty="0">
                <a:effectLst/>
              </a:rPr>
              <a:t> </a:t>
            </a:r>
            <a:r>
              <a:rPr lang="fr-FR" dirty="0" err="1">
                <a:effectLst/>
              </a:rPr>
              <a:t>raining</a:t>
            </a:r>
            <a:r>
              <a:rPr lang="fr-FR" dirty="0">
                <a:effectLst/>
              </a:rPr>
              <a:t> </a:t>
            </a:r>
            <a:r>
              <a:rPr lang="fr-FR" dirty="0" err="1">
                <a:effectLst/>
              </a:rPr>
              <a:t>again</a:t>
            </a:r>
            <a:r>
              <a:rPr lang="fr-FR" dirty="0">
                <a:effectLst/>
              </a:rPr>
              <a:t>."</a:t>
            </a:r>
          </a:p>
          <a:p>
            <a:pPr>
              <a:buFont typeface="Arial" panose="020B0604020202020204" pitchFamily="34" charset="0"/>
              <a:buChar char="•"/>
            </a:pPr>
            <a:r>
              <a:rPr lang="fr-FR" b="0" dirty="0">
                <a:effectLst/>
              </a:rPr>
              <a:t>Explication</a:t>
            </a:r>
            <a:r>
              <a:rPr lang="fr-FR" dirty="0">
                <a:effectLst/>
              </a:rPr>
              <a:t> : </a:t>
            </a:r>
            <a:r>
              <a:rPr lang="fr-FR" dirty="0" err="1">
                <a:effectLst/>
              </a:rPr>
              <a:t>Sarcasm</a:t>
            </a:r>
            <a:r>
              <a:rPr lang="fr-FR" dirty="0">
                <a:effectLst/>
              </a:rPr>
              <a:t> </a:t>
            </a:r>
            <a:r>
              <a:rPr lang="fr-FR" dirty="0" err="1">
                <a:effectLst/>
              </a:rPr>
              <a:t>is</a:t>
            </a:r>
            <a:r>
              <a:rPr lang="fr-FR" dirty="0">
                <a:effectLst/>
              </a:rPr>
              <a:t> </a:t>
            </a:r>
            <a:r>
              <a:rPr lang="fr-FR" dirty="0" err="1">
                <a:effectLst/>
              </a:rPr>
              <a:t>difficult</a:t>
            </a:r>
            <a:r>
              <a:rPr lang="fr-FR" dirty="0">
                <a:effectLst/>
              </a:rPr>
              <a:t> for NLP </a:t>
            </a:r>
            <a:r>
              <a:rPr lang="fr-FR" dirty="0" err="1">
                <a:effectLst/>
              </a:rPr>
              <a:t>models</a:t>
            </a:r>
            <a:r>
              <a:rPr lang="fr-FR" dirty="0">
                <a:effectLst/>
              </a:rPr>
              <a:t> to </a:t>
            </a:r>
            <a:r>
              <a:rPr lang="fr-FR" dirty="0" err="1">
                <a:effectLst/>
              </a:rPr>
              <a:t>detect</a:t>
            </a:r>
            <a:r>
              <a:rPr lang="fr-FR" dirty="0">
                <a:effectLst/>
              </a:rPr>
              <a:t> </a:t>
            </a:r>
            <a:r>
              <a:rPr lang="fr-FR" dirty="0" err="1">
                <a:effectLst/>
              </a:rPr>
              <a:t>because</a:t>
            </a:r>
            <a:r>
              <a:rPr lang="fr-FR" dirty="0">
                <a:effectLst/>
              </a:rPr>
              <a:t> </a:t>
            </a:r>
            <a:r>
              <a:rPr lang="fr-FR" dirty="0" err="1">
                <a:effectLst/>
              </a:rPr>
              <a:t>it</a:t>
            </a:r>
            <a:r>
              <a:rPr lang="fr-FR" dirty="0">
                <a:effectLst/>
              </a:rPr>
              <a:t> relies on </a:t>
            </a:r>
            <a:r>
              <a:rPr lang="fr-FR" dirty="0" err="1">
                <a:effectLst/>
              </a:rPr>
              <a:t>tone</a:t>
            </a:r>
            <a:r>
              <a:rPr lang="fr-FR" dirty="0">
                <a:effectLst/>
              </a:rPr>
              <a:t> and </a:t>
            </a:r>
            <a:r>
              <a:rPr lang="fr-FR" dirty="0" err="1">
                <a:effectLst/>
              </a:rPr>
              <a:t>context</a:t>
            </a:r>
            <a:r>
              <a:rPr lang="fr-FR" dirty="0">
                <a:effectLst/>
              </a:rPr>
              <a:t>, </a:t>
            </a:r>
            <a:r>
              <a:rPr lang="fr-FR" dirty="0" err="1">
                <a:effectLst/>
              </a:rPr>
              <a:t>which</a:t>
            </a:r>
            <a:r>
              <a:rPr lang="fr-FR" dirty="0">
                <a:effectLst/>
              </a:rPr>
              <a:t> are not </a:t>
            </a:r>
            <a:r>
              <a:rPr lang="fr-FR" dirty="0" err="1">
                <a:effectLst/>
              </a:rPr>
              <a:t>always</a:t>
            </a:r>
            <a:r>
              <a:rPr lang="fr-FR" dirty="0">
                <a:effectLst/>
              </a:rPr>
              <a:t> </a:t>
            </a:r>
            <a:r>
              <a:rPr lang="fr-FR" dirty="0" err="1">
                <a:effectLst/>
              </a:rPr>
              <a:t>obvious</a:t>
            </a:r>
            <a:r>
              <a:rPr lang="fr-FR" dirty="0">
                <a:effectLst/>
              </a:rPr>
              <a:t> in </a:t>
            </a:r>
            <a:r>
              <a:rPr lang="fr-FR" dirty="0" err="1">
                <a:effectLst/>
              </a:rPr>
              <a:t>written</a:t>
            </a:r>
            <a:r>
              <a:rPr lang="fr-FR" dirty="0">
                <a:effectLst/>
              </a:rPr>
              <a:t> </a:t>
            </a:r>
            <a:r>
              <a:rPr lang="fr-FR" dirty="0" err="1">
                <a:effectLst/>
              </a:rPr>
              <a:t>text</a:t>
            </a:r>
            <a:r>
              <a:rPr lang="fr-FR" dirty="0">
                <a:effectLst/>
              </a:rPr>
              <a:t>.</a:t>
            </a:r>
          </a:p>
          <a:p>
            <a:pPr>
              <a:spcAft>
                <a:spcPts val="750"/>
              </a:spcAft>
            </a:pPr>
            <a:r>
              <a:rPr lang="fr-FR" b="0" dirty="0" err="1">
                <a:effectLst/>
              </a:rPr>
              <a:t>Negation</a:t>
            </a:r>
            <a:r>
              <a:rPr lang="fr-FR" b="0" dirty="0">
                <a:effectLst/>
              </a:rPr>
              <a:t> (Négation)</a:t>
            </a:r>
            <a:endParaRPr lang="fr-FR" dirty="0">
              <a:effectLst/>
            </a:endParaRPr>
          </a:p>
          <a:p>
            <a:pPr>
              <a:buFont typeface="Arial" panose="020B0604020202020204" pitchFamily="34" charset="0"/>
              <a:buChar char="•"/>
            </a:pPr>
            <a:r>
              <a:rPr lang="fr-FR" b="0" dirty="0">
                <a:effectLst/>
              </a:rPr>
              <a:t>Phrase exemple</a:t>
            </a:r>
            <a:r>
              <a:rPr lang="fr-FR" dirty="0">
                <a:effectLst/>
              </a:rPr>
              <a:t> : "I </a:t>
            </a:r>
            <a:r>
              <a:rPr lang="fr-FR" dirty="0" err="1">
                <a:effectLst/>
              </a:rPr>
              <a:t>did</a:t>
            </a:r>
            <a:r>
              <a:rPr lang="fr-FR" dirty="0">
                <a:effectLst/>
              </a:rPr>
              <a:t> not </a:t>
            </a:r>
            <a:r>
              <a:rPr lang="fr-FR" dirty="0" err="1">
                <a:effectLst/>
              </a:rPr>
              <a:t>say</a:t>
            </a:r>
            <a:r>
              <a:rPr lang="fr-FR" dirty="0">
                <a:effectLst/>
              </a:rPr>
              <a:t> I </a:t>
            </a:r>
            <a:r>
              <a:rPr lang="fr-FR" dirty="0" err="1">
                <a:effectLst/>
              </a:rPr>
              <a:t>would</a:t>
            </a:r>
            <a:r>
              <a:rPr lang="fr-FR" dirty="0">
                <a:effectLst/>
              </a:rPr>
              <a:t> come."</a:t>
            </a:r>
          </a:p>
          <a:p>
            <a:pPr>
              <a:buFont typeface="Arial" panose="020B0604020202020204" pitchFamily="34" charset="0"/>
              <a:buChar char="•"/>
            </a:pPr>
            <a:r>
              <a:rPr lang="fr-FR" b="0" dirty="0">
                <a:effectLst/>
              </a:rPr>
              <a:t>Explication</a:t>
            </a:r>
            <a:r>
              <a:rPr lang="fr-FR" dirty="0">
                <a:effectLst/>
              </a:rPr>
              <a:t> : </a:t>
            </a:r>
            <a:r>
              <a:rPr lang="fr-FR" dirty="0" err="1">
                <a:effectLst/>
              </a:rPr>
              <a:t>Negation</a:t>
            </a:r>
            <a:r>
              <a:rPr lang="fr-FR" dirty="0">
                <a:effectLst/>
              </a:rPr>
              <a:t> can reverse the </a:t>
            </a:r>
            <a:r>
              <a:rPr lang="fr-FR" dirty="0" err="1">
                <a:effectLst/>
              </a:rPr>
              <a:t>meaning</a:t>
            </a:r>
            <a:r>
              <a:rPr lang="fr-FR" dirty="0">
                <a:effectLst/>
              </a:rPr>
              <a:t> of a sentence, </a:t>
            </a:r>
            <a:r>
              <a:rPr lang="fr-FR" dirty="0" err="1">
                <a:effectLst/>
              </a:rPr>
              <a:t>which</a:t>
            </a:r>
            <a:r>
              <a:rPr lang="fr-FR" dirty="0">
                <a:effectLst/>
              </a:rPr>
              <a:t> can </a:t>
            </a:r>
            <a:r>
              <a:rPr lang="fr-FR" dirty="0" err="1">
                <a:effectLst/>
              </a:rPr>
              <a:t>be</a:t>
            </a:r>
            <a:r>
              <a:rPr lang="fr-FR" dirty="0">
                <a:effectLst/>
              </a:rPr>
              <a:t> </a:t>
            </a:r>
            <a:r>
              <a:rPr lang="fr-FR" dirty="0" err="1">
                <a:effectLst/>
              </a:rPr>
              <a:t>challenging</a:t>
            </a:r>
            <a:r>
              <a:rPr lang="fr-FR" dirty="0">
                <a:effectLst/>
              </a:rPr>
              <a:t> for an NLP model to </a:t>
            </a:r>
            <a:r>
              <a:rPr lang="fr-FR" dirty="0" err="1">
                <a:effectLst/>
              </a:rPr>
              <a:t>interpret</a:t>
            </a:r>
            <a:r>
              <a:rPr lang="fr-FR" dirty="0">
                <a:effectLst/>
              </a:rPr>
              <a:t> </a:t>
            </a:r>
            <a:r>
              <a:rPr lang="fr-FR" dirty="0" err="1">
                <a:effectLst/>
              </a:rPr>
              <a:t>correctly</a:t>
            </a:r>
            <a:r>
              <a:rPr lang="fr-FR" dirty="0">
                <a:effectLst/>
              </a:rPr>
              <a:t>.</a:t>
            </a:r>
          </a:p>
          <a:p>
            <a:pPr>
              <a:spcAft>
                <a:spcPts val="750"/>
              </a:spcAft>
            </a:pPr>
            <a:r>
              <a:rPr lang="fr-FR" b="0" dirty="0" err="1">
                <a:effectLst/>
              </a:rPr>
              <a:t>Coreference</a:t>
            </a:r>
            <a:r>
              <a:rPr lang="fr-FR" b="0" dirty="0">
                <a:effectLst/>
              </a:rPr>
              <a:t> </a:t>
            </a:r>
            <a:r>
              <a:rPr lang="fr-FR" b="0" dirty="0" err="1">
                <a:effectLst/>
              </a:rPr>
              <a:t>Resolution</a:t>
            </a:r>
            <a:r>
              <a:rPr lang="fr-FR" b="0" dirty="0">
                <a:effectLst/>
              </a:rPr>
              <a:t> (Résolution de coréférence)</a:t>
            </a:r>
            <a:endParaRPr lang="fr-FR" dirty="0">
              <a:effectLst/>
            </a:endParaRPr>
          </a:p>
          <a:p>
            <a:pPr>
              <a:buFont typeface="Arial" panose="020B0604020202020204" pitchFamily="34" charset="0"/>
              <a:buChar char="•"/>
            </a:pPr>
            <a:r>
              <a:rPr lang="fr-FR" b="0" dirty="0">
                <a:effectLst/>
              </a:rPr>
              <a:t>Phrase exemple</a:t>
            </a:r>
            <a:r>
              <a:rPr lang="fr-FR" dirty="0">
                <a:effectLst/>
              </a:rPr>
              <a:t> : "Mary </a:t>
            </a:r>
            <a:r>
              <a:rPr lang="fr-FR" dirty="0" err="1">
                <a:effectLst/>
              </a:rPr>
              <a:t>said</a:t>
            </a:r>
            <a:r>
              <a:rPr lang="fr-FR" dirty="0">
                <a:effectLst/>
              </a:rPr>
              <a:t> </a:t>
            </a:r>
            <a:r>
              <a:rPr lang="fr-FR" dirty="0" err="1">
                <a:effectLst/>
              </a:rPr>
              <a:t>she</a:t>
            </a:r>
            <a:r>
              <a:rPr lang="fr-FR" dirty="0">
                <a:effectLst/>
              </a:rPr>
              <a:t> </a:t>
            </a:r>
            <a:r>
              <a:rPr lang="fr-FR" dirty="0" err="1">
                <a:effectLst/>
              </a:rPr>
              <a:t>would</a:t>
            </a:r>
            <a:r>
              <a:rPr lang="fr-FR" dirty="0">
                <a:effectLst/>
              </a:rPr>
              <a:t> come."</a:t>
            </a:r>
          </a:p>
          <a:p>
            <a:pPr>
              <a:buFont typeface="Arial" panose="020B0604020202020204" pitchFamily="34" charset="0"/>
              <a:buChar char="•"/>
            </a:pPr>
            <a:r>
              <a:rPr lang="fr-FR" b="0" dirty="0">
                <a:effectLst/>
              </a:rPr>
              <a:t>Explication</a:t>
            </a:r>
            <a:r>
              <a:rPr lang="fr-FR" dirty="0">
                <a:effectLst/>
              </a:rPr>
              <a:t> : The </a:t>
            </a:r>
            <a:r>
              <a:rPr lang="fr-FR" dirty="0" err="1">
                <a:effectLst/>
              </a:rPr>
              <a:t>pronoun</a:t>
            </a:r>
            <a:r>
              <a:rPr lang="fr-FR" dirty="0">
                <a:effectLst/>
              </a:rPr>
              <a:t> "</a:t>
            </a:r>
            <a:r>
              <a:rPr lang="fr-FR" dirty="0" err="1">
                <a:effectLst/>
              </a:rPr>
              <a:t>she</a:t>
            </a:r>
            <a:r>
              <a:rPr lang="fr-FR" dirty="0">
                <a:effectLst/>
              </a:rPr>
              <a:t>" </a:t>
            </a:r>
            <a:r>
              <a:rPr lang="fr-FR" dirty="0" err="1">
                <a:effectLst/>
              </a:rPr>
              <a:t>refers</a:t>
            </a:r>
            <a:r>
              <a:rPr lang="fr-FR" dirty="0">
                <a:effectLst/>
              </a:rPr>
              <a:t> to "Mary," and an NLP model must </a:t>
            </a:r>
            <a:r>
              <a:rPr lang="fr-FR" dirty="0" err="1">
                <a:effectLst/>
              </a:rPr>
              <a:t>understand</a:t>
            </a:r>
            <a:r>
              <a:rPr lang="fr-FR" dirty="0">
                <a:effectLst/>
              </a:rPr>
              <a:t> </a:t>
            </a:r>
            <a:r>
              <a:rPr lang="fr-FR" dirty="0" err="1">
                <a:effectLst/>
              </a:rPr>
              <a:t>this</a:t>
            </a:r>
            <a:r>
              <a:rPr lang="fr-FR" dirty="0">
                <a:effectLst/>
              </a:rPr>
              <a:t> </a:t>
            </a:r>
            <a:r>
              <a:rPr lang="fr-FR" dirty="0" err="1">
                <a:effectLst/>
              </a:rPr>
              <a:t>coreference</a:t>
            </a:r>
            <a:r>
              <a:rPr lang="fr-FR" dirty="0">
                <a:effectLst/>
              </a:rPr>
              <a:t> to </a:t>
            </a:r>
            <a:r>
              <a:rPr lang="fr-FR" dirty="0" err="1">
                <a:effectLst/>
              </a:rPr>
              <a:t>interpret</a:t>
            </a:r>
            <a:r>
              <a:rPr lang="fr-FR" dirty="0">
                <a:effectLst/>
              </a:rPr>
              <a:t> the sentence </a:t>
            </a:r>
            <a:r>
              <a:rPr lang="fr-FR" dirty="0" err="1">
                <a:effectLst/>
              </a:rPr>
              <a:t>correctly</a:t>
            </a:r>
            <a:r>
              <a:rPr lang="fr-FR" dirty="0">
                <a:effectLst/>
              </a:rPr>
              <a:t>.</a:t>
            </a:r>
          </a:p>
          <a:p>
            <a:pPr>
              <a:spcAft>
                <a:spcPts val="750"/>
              </a:spcAft>
            </a:pPr>
            <a:r>
              <a:rPr lang="fr-FR" b="0" dirty="0" err="1">
                <a:effectLst/>
              </a:rPr>
              <a:t>Named</a:t>
            </a:r>
            <a:r>
              <a:rPr lang="fr-FR" b="0" dirty="0">
                <a:effectLst/>
              </a:rPr>
              <a:t> </a:t>
            </a:r>
            <a:r>
              <a:rPr lang="fr-FR" b="0" dirty="0" err="1">
                <a:effectLst/>
              </a:rPr>
              <a:t>Entity</a:t>
            </a:r>
            <a:r>
              <a:rPr lang="fr-FR" b="0" dirty="0">
                <a:effectLst/>
              </a:rPr>
              <a:t> Recognition (Reconnaissance d'entités nommées)</a:t>
            </a:r>
            <a:endParaRPr lang="fr-FR" dirty="0">
              <a:effectLst/>
            </a:endParaRPr>
          </a:p>
          <a:p>
            <a:pPr>
              <a:buFont typeface="Arial" panose="020B0604020202020204" pitchFamily="34" charset="0"/>
              <a:buChar char="•"/>
            </a:pPr>
            <a:r>
              <a:rPr lang="fr-FR" b="0" dirty="0">
                <a:effectLst/>
              </a:rPr>
              <a:t>Phrase exemple</a:t>
            </a:r>
            <a:r>
              <a:rPr lang="fr-FR" dirty="0">
                <a:effectLst/>
              </a:rPr>
              <a:t> : "Paris </a:t>
            </a:r>
            <a:r>
              <a:rPr lang="fr-FR" dirty="0" err="1">
                <a:effectLst/>
              </a:rPr>
              <a:t>is</a:t>
            </a:r>
            <a:r>
              <a:rPr lang="fr-FR" dirty="0">
                <a:effectLst/>
              </a:rPr>
              <a:t> the capital of France."</a:t>
            </a:r>
          </a:p>
          <a:p>
            <a:pPr>
              <a:buFont typeface="Arial" panose="020B0604020202020204" pitchFamily="34" charset="0"/>
              <a:buChar char="•"/>
            </a:pPr>
            <a:r>
              <a:rPr lang="fr-FR" b="0" dirty="0">
                <a:effectLst/>
              </a:rPr>
              <a:t>Explication</a:t>
            </a:r>
            <a:r>
              <a:rPr lang="fr-FR" dirty="0">
                <a:effectLst/>
              </a:rPr>
              <a:t> : An NLP model must </a:t>
            </a:r>
            <a:r>
              <a:rPr lang="fr-FR" dirty="0" err="1">
                <a:effectLst/>
              </a:rPr>
              <a:t>identify</a:t>
            </a:r>
            <a:r>
              <a:rPr lang="fr-FR" dirty="0">
                <a:effectLst/>
              </a:rPr>
              <a:t> "Paris" as a city and "France" as a country, </a:t>
            </a:r>
            <a:r>
              <a:rPr lang="fr-FR" dirty="0" err="1">
                <a:effectLst/>
              </a:rPr>
              <a:t>which</a:t>
            </a:r>
            <a:r>
              <a:rPr lang="fr-FR" dirty="0">
                <a:effectLst/>
              </a:rPr>
              <a:t> can </a:t>
            </a:r>
            <a:r>
              <a:rPr lang="fr-FR" dirty="0" err="1">
                <a:effectLst/>
              </a:rPr>
              <a:t>be</a:t>
            </a:r>
            <a:r>
              <a:rPr lang="fr-FR" dirty="0">
                <a:effectLst/>
              </a:rPr>
              <a:t> </a:t>
            </a:r>
            <a:r>
              <a:rPr lang="fr-FR" dirty="0" err="1">
                <a:effectLst/>
              </a:rPr>
              <a:t>challenging</a:t>
            </a:r>
            <a:r>
              <a:rPr lang="fr-FR" dirty="0">
                <a:effectLst/>
              </a:rPr>
              <a:t> due to the </a:t>
            </a:r>
            <a:r>
              <a:rPr lang="fr-FR" dirty="0" err="1">
                <a:effectLst/>
              </a:rPr>
              <a:t>variability</a:t>
            </a:r>
            <a:r>
              <a:rPr lang="fr-FR" dirty="0">
                <a:effectLst/>
              </a:rPr>
              <a:t> of </a:t>
            </a:r>
            <a:r>
              <a:rPr lang="fr-FR" dirty="0" err="1">
                <a:effectLst/>
              </a:rPr>
              <a:t>proper</a:t>
            </a:r>
            <a:r>
              <a:rPr lang="fr-FR" dirty="0">
                <a:effectLst/>
              </a:rPr>
              <a:t> </a:t>
            </a:r>
            <a:r>
              <a:rPr lang="fr-FR" dirty="0" err="1">
                <a:effectLst/>
              </a:rPr>
              <a:t>names</a:t>
            </a:r>
            <a:r>
              <a:rPr lang="fr-FR" dirty="0">
                <a:effectLst/>
              </a:rPr>
              <a:t>.</a:t>
            </a:r>
          </a:p>
        </p:txBody>
      </p:sp>
      <p:sp>
        <p:nvSpPr>
          <p:cNvPr id="4" name="Espace réservé du numéro de diapositive 3">
            <a:extLst>
              <a:ext uri="{FF2B5EF4-FFF2-40B4-BE49-F238E27FC236}">
                <a16:creationId xmlns:a16="http://schemas.microsoft.com/office/drawing/2014/main" id="{EF6C91E0-493A-F289-645E-F953B41269F4}"/>
              </a:ext>
            </a:extLst>
          </p:cNvPr>
          <p:cNvSpPr>
            <a:spLocks noGrp="1"/>
          </p:cNvSpPr>
          <p:nvPr>
            <p:ph type="sldNum" sz="quarter" idx="5"/>
          </p:nvPr>
        </p:nvSpPr>
        <p:spPr/>
        <p:txBody>
          <a:bodyPr/>
          <a:lstStyle/>
          <a:p>
            <a:fld id="{BFE20620-1C2C-7043-8B38-691BB5666C4A}" type="slidenum">
              <a:rPr lang="fr-FR" smtClean="0"/>
              <a:t>4</a:t>
            </a:fld>
            <a:endParaRPr lang="fr-FR"/>
          </a:p>
        </p:txBody>
      </p:sp>
    </p:spTree>
    <p:extLst>
      <p:ext uri="{BB962C8B-B14F-4D97-AF65-F5344CB8AC3E}">
        <p14:creationId xmlns:p14="http://schemas.microsoft.com/office/powerpoint/2010/main" val="41985307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CD0AC-5B65-DB8B-3B3B-B5C7ED8ACC2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AF20461-95F7-63A4-FFE1-AE35E17DB0A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2868422-1D5A-9DFA-FB1D-59015A071A69}"/>
              </a:ext>
            </a:extLst>
          </p:cNvPr>
          <p:cNvSpPr>
            <a:spLocks noGrp="1"/>
          </p:cNvSpPr>
          <p:nvPr>
            <p:ph type="body" idx="1"/>
          </p:nvPr>
        </p:nvSpPr>
        <p:spPr/>
        <p:txBody>
          <a:bodyPr/>
          <a:lstStyle/>
          <a:p>
            <a:pPr>
              <a:spcAft>
                <a:spcPts val="750"/>
              </a:spcAft>
            </a:pPr>
            <a:endParaRPr lang="fr-FR" dirty="0">
              <a:effectLst/>
            </a:endParaRPr>
          </a:p>
        </p:txBody>
      </p:sp>
      <p:sp>
        <p:nvSpPr>
          <p:cNvPr id="4" name="Espace réservé du numéro de diapositive 3">
            <a:extLst>
              <a:ext uri="{FF2B5EF4-FFF2-40B4-BE49-F238E27FC236}">
                <a16:creationId xmlns:a16="http://schemas.microsoft.com/office/drawing/2014/main" id="{A10E0512-E266-BCCD-CC1F-F0D44F860933}"/>
              </a:ext>
            </a:extLst>
          </p:cNvPr>
          <p:cNvSpPr>
            <a:spLocks noGrp="1"/>
          </p:cNvSpPr>
          <p:nvPr>
            <p:ph type="sldNum" sz="quarter" idx="5"/>
          </p:nvPr>
        </p:nvSpPr>
        <p:spPr/>
        <p:txBody>
          <a:bodyPr/>
          <a:lstStyle/>
          <a:p>
            <a:fld id="{BFE20620-1C2C-7043-8B38-691BB5666C4A}" type="slidenum">
              <a:rPr lang="fr-FR" smtClean="0"/>
              <a:t>5</a:t>
            </a:fld>
            <a:endParaRPr lang="fr-FR"/>
          </a:p>
        </p:txBody>
      </p:sp>
    </p:spTree>
    <p:extLst>
      <p:ext uri="{BB962C8B-B14F-4D97-AF65-F5344CB8AC3E}">
        <p14:creationId xmlns:p14="http://schemas.microsoft.com/office/powerpoint/2010/main" val="2033778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EA74F-C7BF-2D56-0C00-C137ECEC3D3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6736F2C-8EC4-EC44-06A2-B7E8063A538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9221470-31BB-6B77-EA66-73AF5D4587A6}"/>
              </a:ext>
            </a:extLst>
          </p:cNvPr>
          <p:cNvSpPr>
            <a:spLocks noGrp="1"/>
          </p:cNvSpPr>
          <p:nvPr>
            <p:ph type="body" idx="1"/>
          </p:nvPr>
        </p:nvSpPr>
        <p:spPr/>
        <p:txBody>
          <a:bodyPr/>
          <a:lstStyle/>
          <a:p>
            <a:pPr>
              <a:spcAft>
                <a:spcPts val="750"/>
              </a:spcAft>
            </a:pPr>
            <a:endParaRPr lang="fr-FR" dirty="0">
              <a:effectLst/>
            </a:endParaRPr>
          </a:p>
        </p:txBody>
      </p:sp>
      <p:sp>
        <p:nvSpPr>
          <p:cNvPr id="4" name="Espace réservé du numéro de diapositive 3">
            <a:extLst>
              <a:ext uri="{FF2B5EF4-FFF2-40B4-BE49-F238E27FC236}">
                <a16:creationId xmlns:a16="http://schemas.microsoft.com/office/drawing/2014/main" id="{475CC9AA-7CD4-E46D-C496-CF7409341C6D}"/>
              </a:ext>
            </a:extLst>
          </p:cNvPr>
          <p:cNvSpPr>
            <a:spLocks noGrp="1"/>
          </p:cNvSpPr>
          <p:nvPr>
            <p:ph type="sldNum" sz="quarter" idx="5"/>
          </p:nvPr>
        </p:nvSpPr>
        <p:spPr/>
        <p:txBody>
          <a:bodyPr/>
          <a:lstStyle/>
          <a:p>
            <a:fld id="{BFE20620-1C2C-7043-8B38-691BB5666C4A}" type="slidenum">
              <a:rPr lang="fr-FR" smtClean="0"/>
              <a:t>6</a:t>
            </a:fld>
            <a:endParaRPr lang="fr-FR"/>
          </a:p>
        </p:txBody>
      </p:sp>
    </p:spTree>
    <p:extLst>
      <p:ext uri="{BB962C8B-B14F-4D97-AF65-F5344CB8AC3E}">
        <p14:creationId xmlns:p14="http://schemas.microsoft.com/office/powerpoint/2010/main" val="32962312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A354C-7539-495D-0E3B-DD262EF5D08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8AE8F06-5D5B-7402-EF54-769054EA6F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AE2FEAF-D8EF-8B84-5D51-E971CC4F6780}"/>
              </a:ext>
            </a:extLst>
          </p:cNvPr>
          <p:cNvSpPr>
            <a:spLocks noGrp="1"/>
          </p:cNvSpPr>
          <p:nvPr>
            <p:ph type="body" idx="1"/>
          </p:nvPr>
        </p:nvSpPr>
        <p:spPr/>
        <p:txBody>
          <a:bodyPr/>
          <a:lstStyle/>
          <a:p>
            <a:pPr>
              <a:spcAft>
                <a:spcPts val="750"/>
              </a:spcAft>
            </a:pPr>
            <a:endParaRPr lang="fr-FR" dirty="0">
              <a:effectLst/>
            </a:endParaRPr>
          </a:p>
        </p:txBody>
      </p:sp>
      <p:sp>
        <p:nvSpPr>
          <p:cNvPr id="4" name="Espace réservé du numéro de diapositive 3">
            <a:extLst>
              <a:ext uri="{FF2B5EF4-FFF2-40B4-BE49-F238E27FC236}">
                <a16:creationId xmlns:a16="http://schemas.microsoft.com/office/drawing/2014/main" id="{5D803A1C-F8A0-197A-B66F-E384F5DB83A9}"/>
              </a:ext>
            </a:extLst>
          </p:cNvPr>
          <p:cNvSpPr>
            <a:spLocks noGrp="1"/>
          </p:cNvSpPr>
          <p:nvPr>
            <p:ph type="sldNum" sz="quarter" idx="5"/>
          </p:nvPr>
        </p:nvSpPr>
        <p:spPr/>
        <p:txBody>
          <a:bodyPr/>
          <a:lstStyle/>
          <a:p>
            <a:fld id="{BFE20620-1C2C-7043-8B38-691BB5666C4A}" type="slidenum">
              <a:rPr lang="fr-FR" smtClean="0"/>
              <a:t>7</a:t>
            </a:fld>
            <a:endParaRPr lang="fr-FR"/>
          </a:p>
        </p:txBody>
      </p:sp>
    </p:spTree>
    <p:extLst>
      <p:ext uri="{BB962C8B-B14F-4D97-AF65-F5344CB8AC3E}">
        <p14:creationId xmlns:p14="http://schemas.microsoft.com/office/powerpoint/2010/main" val="16865773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F1E87-5AA6-D1BD-21E7-BE1FF694E50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61E1C8F-5377-DC1D-D8F5-43C00524BA4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1C0B76C-91FC-9AE8-9429-2F04B22851FA}"/>
              </a:ext>
            </a:extLst>
          </p:cNvPr>
          <p:cNvSpPr>
            <a:spLocks noGrp="1"/>
          </p:cNvSpPr>
          <p:nvPr>
            <p:ph type="body" idx="1"/>
          </p:nvPr>
        </p:nvSpPr>
        <p:spPr/>
        <p:txBody>
          <a:bodyPr/>
          <a:lstStyle/>
          <a:p>
            <a:pPr>
              <a:spcAft>
                <a:spcPts val="750"/>
              </a:spcAft>
            </a:pPr>
            <a:endParaRPr lang="fr-FR" dirty="0">
              <a:effectLst/>
            </a:endParaRPr>
          </a:p>
        </p:txBody>
      </p:sp>
      <p:sp>
        <p:nvSpPr>
          <p:cNvPr id="4" name="Espace réservé du numéro de diapositive 3">
            <a:extLst>
              <a:ext uri="{FF2B5EF4-FFF2-40B4-BE49-F238E27FC236}">
                <a16:creationId xmlns:a16="http://schemas.microsoft.com/office/drawing/2014/main" id="{F3D263C5-1A6D-35D8-220E-8FB59CA4ADF3}"/>
              </a:ext>
            </a:extLst>
          </p:cNvPr>
          <p:cNvSpPr>
            <a:spLocks noGrp="1"/>
          </p:cNvSpPr>
          <p:nvPr>
            <p:ph type="sldNum" sz="quarter" idx="5"/>
          </p:nvPr>
        </p:nvSpPr>
        <p:spPr/>
        <p:txBody>
          <a:bodyPr/>
          <a:lstStyle/>
          <a:p>
            <a:fld id="{BFE20620-1C2C-7043-8B38-691BB5666C4A}" type="slidenum">
              <a:rPr lang="fr-FR" smtClean="0"/>
              <a:t>8</a:t>
            </a:fld>
            <a:endParaRPr lang="fr-FR"/>
          </a:p>
        </p:txBody>
      </p:sp>
    </p:spTree>
    <p:extLst>
      <p:ext uri="{BB962C8B-B14F-4D97-AF65-F5344CB8AC3E}">
        <p14:creationId xmlns:p14="http://schemas.microsoft.com/office/powerpoint/2010/main" val="19486845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FB7AA-9634-D4D6-A1B4-C7710CE2A05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EDC6F11-04A4-B391-32D6-44BC3A74894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F2413C0-E6C7-8E7E-9F7E-BCD445D5860E}"/>
              </a:ext>
            </a:extLst>
          </p:cNvPr>
          <p:cNvSpPr>
            <a:spLocks noGrp="1"/>
          </p:cNvSpPr>
          <p:nvPr>
            <p:ph type="body" idx="1"/>
          </p:nvPr>
        </p:nvSpPr>
        <p:spPr/>
        <p:txBody>
          <a:bodyPr/>
          <a:lstStyle/>
          <a:p>
            <a:pPr>
              <a:spcAft>
                <a:spcPts val="750"/>
              </a:spcAft>
            </a:pPr>
            <a:endParaRPr lang="fr-FR" dirty="0">
              <a:effectLst/>
            </a:endParaRPr>
          </a:p>
        </p:txBody>
      </p:sp>
      <p:sp>
        <p:nvSpPr>
          <p:cNvPr id="4" name="Espace réservé du numéro de diapositive 3">
            <a:extLst>
              <a:ext uri="{FF2B5EF4-FFF2-40B4-BE49-F238E27FC236}">
                <a16:creationId xmlns:a16="http://schemas.microsoft.com/office/drawing/2014/main" id="{82058B7D-2B9E-E55A-8442-6F95E98F7EE3}"/>
              </a:ext>
            </a:extLst>
          </p:cNvPr>
          <p:cNvSpPr>
            <a:spLocks noGrp="1"/>
          </p:cNvSpPr>
          <p:nvPr>
            <p:ph type="sldNum" sz="quarter" idx="5"/>
          </p:nvPr>
        </p:nvSpPr>
        <p:spPr/>
        <p:txBody>
          <a:bodyPr/>
          <a:lstStyle/>
          <a:p>
            <a:fld id="{BFE20620-1C2C-7043-8B38-691BB5666C4A}" type="slidenum">
              <a:rPr lang="fr-FR" smtClean="0"/>
              <a:t>9</a:t>
            </a:fld>
            <a:endParaRPr lang="fr-FR"/>
          </a:p>
        </p:txBody>
      </p:sp>
    </p:spTree>
    <p:extLst>
      <p:ext uri="{BB962C8B-B14F-4D97-AF65-F5344CB8AC3E}">
        <p14:creationId xmlns:p14="http://schemas.microsoft.com/office/powerpoint/2010/main" val="24153431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B4B6B-A103-AA89-0D18-0A3ABB33632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E863B40-F56A-0F6B-2326-738A2C921E9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73E9EA4-525A-7F9E-8EB3-2FC8163BE8A7}"/>
              </a:ext>
            </a:extLst>
          </p:cNvPr>
          <p:cNvSpPr>
            <a:spLocks noGrp="1"/>
          </p:cNvSpPr>
          <p:nvPr>
            <p:ph type="body" idx="1"/>
          </p:nvPr>
        </p:nvSpPr>
        <p:spPr/>
        <p:txBody>
          <a:bodyPr/>
          <a:lstStyle/>
          <a:p>
            <a:pPr>
              <a:spcAft>
                <a:spcPts val="750"/>
              </a:spcAft>
            </a:pPr>
            <a:endParaRPr lang="fr-FR" dirty="0">
              <a:effectLst/>
            </a:endParaRPr>
          </a:p>
        </p:txBody>
      </p:sp>
      <p:sp>
        <p:nvSpPr>
          <p:cNvPr id="4" name="Espace réservé du numéro de diapositive 3">
            <a:extLst>
              <a:ext uri="{FF2B5EF4-FFF2-40B4-BE49-F238E27FC236}">
                <a16:creationId xmlns:a16="http://schemas.microsoft.com/office/drawing/2014/main" id="{06D722CD-0CA6-08DA-08D9-5FF6C0DD887F}"/>
              </a:ext>
            </a:extLst>
          </p:cNvPr>
          <p:cNvSpPr>
            <a:spLocks noGrp="1"/>
          </p:cNvSpPr>
          <p:nvPr>
            <p:ph type="sldNum" sz="quarter" idx="5"/>
          </p:nvPr>
        </p:nvSpPr>
        <p:spPr/>
        <p:txBody>
          <a:bodyPr/>
          <a:lstStyle/>
          <a:p>
            <a:fld id="{BFE20620-1C2C-7043-8B38-691BB5666C4A}" type="slidenum">
              <a:rPr lang="fr-FR" smtClean="0"/>
              <a:t>10</a:t>
            </a:fld>
            <a:endParaRPr lang="fr-FR"/>
          </a:p>
        </p:txBody>
      </p:sp>
    </p:spTree>
    <p:extLst>
      <p:ext uri="{BB962C8B-B14F-4D97-AF65-F5344CB8AC3E}">
        <p14:creationId xmlns:p14="http://schemas.microsoft.com/office/powerpoint/2010/main" val="24082529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5972D-DFFE-3DA4-4CE1-F6C27BF78EA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92E41B2-4002-D943-B727-3FDB235DA71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3055CBA-60D5-318D-8605-1B3932E06553}"/>
              </a:ext>
            </a:extLst>
          </p:cNvPr>
          <p:cNvSpPr>
            <a:spLocks noGrp="1"/>
          </p:cNvSpPr>
          <p:nvPr>
            <p:ph type="body" idx="1"/>
          </p:nvPr>
        </p:nvSpPr>
        <p:spPr/>
        <p:txBody>
          <a:bodyPr/>
          <a:lstStyle/>
          <a:p>
            <a:pPr>
              <a:spcAft>
                <a:spcPts val="750"/>
              </a:spcAft>
            </a:pPr>
            <a:endParaRPr lang="fr-FR" dirty="0">
              <a:effectLst/>
            </a:endParaRPr>
          </a:p>
        </p:txBody>
      </p:sp>
      <p:sp>
        <p:nvSpPr>
          <p:cNvPr id="4" name="Espace réservé du numéro de diapositive 3">
            <a:extLst>
              <a:ext uri="{FF2B5EF4-FFF2-40B4-BE49-F238E27FC236}">
                <a16:creationId xmlns:a16="http://schemas.microsoft.com/office/drawing/2014/main" id="{C8E8FDA2-0EE1-5FFE-E179-D72A5C6A0F8C}"/>
              </a:ext>
            </a:extLst>
          </p:cNvPr>
          <p:cNvSpPr>
            <a:spLocks noGrp="1"/>
          </p:cNvSpPr>
          <p:nvPr>
            <p:ph type="sldNum" sz="quarter" idx="5"/>
          </p:nvPr>
        </p:nvSpPr>
        <p:spPr/>
        <p:txBody>
          <a:bodyPr/>
          <a:lstStyle/>
          <a:p>
            <a:fld id="{BFE20620-1C2C-7043-8B38-691BB5666C4A}" type="slidenum">
              <a:rPr lang="fr-FR" smtClean="0"/>
              <a:t>11</a:t>
            </a:fld>
            <a:endParaRPr lang="fr-FR"/>
          </a:p>
        </p:txBody>
      </p:sp>
    </p:spTree>
    <p:extLst>
      <p:ext uri="{BB962C8B-B14F-4D97-AF65-F5344CB8AC3E}">
        <p14:creationId xmlns:p14="http://schemas.microsoft.com/office/powerpoint/2010/main" val="21941676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AD524-ED33-957C-2627-E82970A7FA2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5955E96-401B-48DB-6488-09557784B9A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2D16F0C-5714-1EA5-37F0-0072C344630C}"/>
              </a:ext>
            </a:extLst>
          </p:cNvPr>
          <p:cNvSpPr>
            <a:spLocks noGrp="1"/>
          </p:cNvSpPr>
          <p:nvPr>
            <p:ph type="body" idx="1"/>
          </p:nvPr>
        </p:nvSpPr>
        <p:spPr/>
        <p:txBody>
          <a:bodyPr/>
          <a:lstStyle/>
          <a:p>
            <a:pPr>
              <a:spcAft>
                <a:spcPts val="750"/>
              </a:spcAft>
            </a:pPr>
            <a:endParaRPr lang="fr-FR" dirty="0">
              <a:effectLst/>
            </a:endParaRPr>
          </a:p>
        </p:txBody>
      </p:sp>
      <p:sp>
        <p:nvSpPr>
          <p:cNvPr id="4" name="Espace réservé du numéro de diapositive 3">
            <a:extLst>
              <a:ext uri="{FF2B5EF4-FFF2-40B4-BE49-F238E27FC236}">
                <a16:creationId xmlns:a16="http://schemas.microsoft.com/office/drawing/2014/main" id="{E3164EA8-CCAD-4CB2-C3B3-E9968B2F58D3}"/>
              </a:ext>
            </a:extLst>
          </p:cNvPr>
          <p:cNvSpPr>
            <a:spLocks noGrp="1"/>
          </p:cNvSpPr>
          <p:nvPr>
            <p:ph type="sldNum" sz="quarter" idx="5"/>
          </p:nvPr>
        </p:nvSpPr>
        <p:spPr/>
        <p:txBody>
          <a:bodyPr/>
          <a:lstStyle/>
          <a:p>
            <a:fld id="{BFE20620-1C2C-7043-8B38-691BB5666C4A}" type="slidenum">
              <a:rPr lang="fr-FR" smtClean="0"/>
              <a:t>12</a:t>
            </a:fld>
            <a:endParaRPr lang="fr-FR"/>
          </a:p>
        </p:txBody>
      </p:sp>
    </p:spTree>
    <p:extLst>
      <p:ext uri="{BB962C8B-B14F-4D97-AF65-F5344CB8AC3E}">
        <p14:creationId xmlns:p14="http://schemas.microsoft.com/office/powerpoint/2010/main" val="35428991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6365F-7568-EC90-1B48-338B7D176D0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04C5C8D-815A-46FA-AA29-39210BD35AE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7397D58-7498-B7A8-D766-81AC671E69E5}"/>
              </a:ext>
            </a:extLst>
          </p:cNvPr>
          <p:cNvSpPr>
            <a:spLocks noGrp="1"/>
          </p:cNvSpPr>
          <p:nvPr>
            <p:ph type="body" idx="1"/>
          </p:nvPr>
        </p:nvSpPr>
        <p:spPr/>
        <p:txBody>
          <a:bodyPr/>
          <a:lstStyle/>
          <a:p>
            <a:pPr>
              <a:spcAft>
                <a:spcPts val="750"/>
              </a:spcAft>
            </a:pPr>
            <a:endParaRPr lang="fr-FR" dirty="0">
              <a:effectLst/>
            </a:endParaRPr>
          </a:p>
        </p:txBody>
      </p:sp>
      <p:sp>
        <p:nvSpPr>
          <p:cNvPr id="4" name="Espace réservé du numéro de diapositive 3">
            <a:extLst>
              <a:ext uri="{FF2B5EF4-FFF2-40B4-BE49-F238E27FC236}">
                <a16:creationId xmlns:a16="http://schemas.microsoft.com/office/drawing/2014/main" id="{491FE651-6FB9-7D6A-80AE-7717F1C27964}"/>
              </a:ext>
            </a:extLst>
          </p:cNvPr>
          <p:cNvSpPr>
            <a:spLocks noGrp="1"/>
          </p:cNvSpPr>
          <p:nvPr>
            <p:ph type="sldNum" sz="quarter" idx="5"/>
          </p:nvPr>
        </p:nvSpPr>
        <p:spPr/>
        <p:txBody>
          <a:bodyPr/>
          <a:lstStyle/>
          <a:p>
            <a:fld id="{BFE20620-1C2C-7043-8B38-691BB5666C4A}" type="slidenum">
              <a:rPr lang="fr-FR" smtClean="0"/>
              <a:t>13</a:t>
            </a:fld>
            <a:endParaRPr lang="fr-FR"/>
          </a:p>
        </p:txBody>
      </p:sp>
    </p:spTree>
    <p:extLst>
      <p:ext uri="{BB962C8B-B14F-4D97-AF65-F5344CB8AC3E}">
        <p14:creationId xmlns:p14="http://schemas.microsoft.com/office/powerpoint/2010/main" val="16948957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4BC50-19F5-D268-2101-9F145C222A5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2598D01-A844-434E-E607-21C1E690CD3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3027E1A-D489-3533-6B8C-DC7AD574410E}"/>
              </a:ext>
            </a:extLst>
          </p:cNvPr>
          <p:cNvSpPr>
            <a:spLocks noGrp="1"/>
          </p:cNvSpPr>
          <p:nvPr>
            <p:ph type="body" idx="1"/>
          </p:nvPr>
        </p:nvSpPr>
        <p:spPr/>
        <p:txBody>
          <a:bodyPr/>
          <a:lstStyle/>
          <a:p>
            <a:pPr>
              <a:spcAft>
                <a:spcPts val="750"/>
              </a:spcAft>
            </a:pPr>
            <a:endParaRPr lang="fr-FR" dirty="0">
              <a:effectLst/>
            </a:endParaRPr>
          </a:p>
        </p:txBody>
      </p:sp>
      <p:sp>
        <p:nvSpPr>
          <p:cNvPr id="4" name="Espace réservé du numéro de diapositive 3">
            <a:extLst>
              <a:ext uri="{FF2B5EF4-FFF2-40B4-BE49-F238E27FC236}">
                <a16:creationId xmlns:a16="http://schemas.microsoft.com/office/drawing/2014/main" id="{C64D533D-4AE7-CDCC-E26D-4459698AA75F}"/>
              </a:ext>
            </a:extLst>
          </p:cNvPr>
          <p:cNvSpPr>
            <a:spLocks noGrp="1"/>
          </p:cNvSpPr>
          <p:nvPr>
            <p:ph type="sldNum" sz="quarter" idx="5"/>
          </p:nvPr>
        </p:nvSpPr>
        <p:spPr/>
        <p:txBody>
          <a:bodyPr/>
          <a:lstStyle/>
          <a:p>
            <a:fld id="{BFE20620-1C2C-7043-8B38-691BB5666C4A}" type="slidenum">
              <a:rPr lang="fr-FR" smtClean="0"/>
              <a:t>14</a:t>
            </a:fld>
            <a:endParaRPr lang="fr-FR"/>
          </a:p>
        </p:txBody>
      </p:sp>
    </p:spTree>
    <p:extLst>
      <p:ext uri="{BB962C8B-B14F-4D97-AF65-F5344CB8AC3E}">
        <p14:creationId xmlns:p14="http://schemas.microsoft.com/office/powerpoint/2010/main" val="9624817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DDC9B-7525-ED5C-7BEE-92A294D508F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77A85B0-FFB0-5D1A-640A-F33134532D0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AC6E552-A4E2-FFE6-8C54-2D22CC0BFE29}"/>
              </a:ext>
            </a:extLst>
          </p:cNvPr>
          <p:cNvSpPr>
            <a:spLocks noGrp="1"/>
          </p:cNvSpPr>
          <p:nvPr>
            <p:ph type="body" idx="1"/>
          </p:nvPr>
        </p:nvSpPr>
        <p:spPr/>
        <p:txBody>
          <a:bodyPr/>
          <a:lstStyle/>
          <a:p>
            <a:pPr>
              <a:spcAft>
                <a:spcPts val="750"/>
              </a:spcAft>
            </a:pPr>
            <a:endParaRPr lang="fr-FR" dirty="0">
              <a:effectLst/>
            </a:endParaRPr>
          </a:p>
        </p:txBody>
      </p:sp>
      <p:sp>
        <p:nvSpPr>
          <p:cNvPr id="4" name="Espace réservé du numéro de diapositive 3">
            <a:extLst>
              <a:ext uri="{FF2B5EF4-FFF2-40B4-BE49-F238E27FC236}">
                <a16:creationId xmlns:a16="http://schemas.microsoft.com/office/drawing/2014/main" id="{A12DCE59-A41B-05BD-2713-5A7C50FC3995}"/>
              </a:ext>
            </a:extLst>
          </p:cNvPr>
          <p:cNvSpPr>
            <a:spLocks noGrp="1"/>
          </p:cNvSpPr>
          <p:nvPr>
            <p:ph type="sldNum" sz="quarter" idx="5"/>
          </p:nvPr>
        </p:nvSpPr>
        <p:spPr/>
        <p:txBody>
          <a:bodyPr/>
          <a:lstStyle/>
          <a:p>
            <a:fld id="{BFE20620-1C2C-7043-8B38-691BB5666C4A}" type="slidenum">
              <a:rPr lang="fr-FR" smtClean="0"/>
              <a:t>15</a:t>
            </a:fld>
            <a:endParaRPr lang="fr-FR"/>
          </a:p>
        </p:txBody>
      </p:sp>
    </p:spTree>
    <p:extLst>
      <p:ext uri="{BB962C8B-B14F-4D97-AF65-F5344CB8AC3E}">
        <p14:creationId xmlns:p14="http://schemas.microsoft.com/office/powerpoint/2010/main" val="26476326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83E8C-8831-5D53-36C9-611FF0C83F7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44A1146-E77C-67F1-F12E-126F05B071F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426C2EF-8B2B-F5E0-8300-501F9FE34501}"/>
              </a:ext>
            </a:extLst>
          </p:cNvPr>
          <p:cNvSpPr>
            <a:spLocks noGrp="1"/>
          </p:cNvSpPr>
          <p:nvPr>
            <p:ph type="body" idx="1"/>
          </p:nvPr>
        </p:nvSpPr>
        <p:spPr/>
        <p:txBody>
          <a:bodyPr/>
          <a:lstStyle/>
          <a:p>
            <a:pPr algn="l">
              <a:spcBef>
                <a:spcPts val="1800"/>
              </a:spcBef>
              <a:spcAft>
                <a:spcPts val="1200"/>
              </a:spcAft>
            </a:pPr>
            <a:endParaRPr lang="fr-FR" b="0" i="0" u="none" strike="noStrike" dirty="0">
              <a:solidFill>
                <a:srgbClr val="E4E4E7"/>
              </a:solidFill>
              <a:effectLst/>
              <a:latin typeface="ui-sans-serif"/>
            </a:endParaRPr>
          </a:p>
        </p:txBody>
      </p:sp>
      <p:sp>
        <p:nvSpPr>
          <p:cNvPr id="4" name="Espace réservé du numéro de diapositive 3">
            <a:extLst>
              <a:ext uri="{FF2B5EF4-FFF2-40B4-BE49-F238E27FC236}">
                <a16:creationId xmlns:a16="http://schemas.microsoft.com/office/drawing/2014/main" id="{05510790-CDAD-E65B-F4A6-8C4D5118F28A}"/>
              </a:ext>
            </a:extLst>
          </p:cNvPr>
          <p:cNvSpPr>
            <a:spLocks noGrp="1"/>
          </p:cNvSpPr>
          <p:nvPr>
            <p:ph type="sldNum" sz="quarter" idx="5"/>
          </p:nvPr>
        </p:nvSpPr>
        <p:spPr/>
        <p:txBody>
          <a:bodyPr/>
          <a:lstStyle/>
          <a:p>
            <a:fld id="{BFE20620-1C2C-7043-8B38-691BB5666C4A}" type="slidenum">
              <a:rPr lang="fr-FR" smtClean="0"/>
              <a:t>16</a:t>
            </a:fld>
            <a:endParaRPr lang="fr-FR"/>
          </a:p>
        </p:txBody>
      </p:sp>
    </p:spTree>
    <p:extLst>
      <p:ext uri="{BB962C8B-B14F-4D97-AF65-F5344CB8AC3E}">
        <p14:creationId xmlns:p14="http://schemas.microsoft.com/office/powerpoint/2010/main" val="35670916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6573-83CA-8C4F-E975-9682F1505FF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591BE65-B4C9-083F-E32E-D66B5AA565C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F7F7B6A-774E-EF49-FEF1-19933B67DD27}"/>
              </a:ext>
            </a:extLst>
          </p:cNvPr>
          <p:cNvSpPr>
            <a:spLocks noGrp="1"/>
          </p:cNvSpPr>
          <p:nvPr>
            <p:ph type="body" idx="1"/>
          </p:nvPr>
        </p:nvSpPr>
        <p:spPr/>
        <p:txBody>
          <a:bodyPr/>
          <a:lstStyle/>
          <a:p>
            <a:pPr algn="l">
              <a:spcBef>
                <a:spcPts val="1800"/>
              </a:spcBef>
              <a:spcAft>
                <a:spcPts val="1200"/>
              </a:spcAft>
            </a:pPr>
            <a:r>
              <a:rPr lang="fr-FR" b="0" i="0" u="none" strike="noStrike" dirty="0">
                <a:solidFill>
                  <a:srgbClr val="E4E4E7"/>
                </a:solidFill>
                <a:effectLst/>
                <a:latin typeface="ui-sans-serif"/>
              </a:rPr>
              <a:t>(+) </a:t>
            </a:r>
            <a:r>
              <a:rPr lang="fr-FR" b="0" i="0" u="none" strike="noStrike" dirty="0" err="1">
                <a:solidFill>
                  <a:srgbClr val="E4E4E7"/>
                </a:solidFill>
                <a:effectLst/>
                <a:latin typeface="ui-sans-serif"/>
              </a:rPr>
              <a:t>Stacked</a:t>
            </a:r>
            <a:r>
              <a:rPr lang="fr-FR" b="0" i="0" u="none" strike="noStrike" dirty="0">
                <a:solidFill>
                  <a:srgbClr val="E4E4E7"/>
                </a:solidFill>
                <a:effectLst/>
                <a:latin typeface="ui-sans-serif"/>
              </a:rPr>
              <a:t> </a:t>
            </a:r>
            <a:r>
              <a:rPr lang="fr-FR" b="0" i="0" u="none" strike="noStrike" dirty="0" err="1">
                <a:solidFill>
                  <a:srgbClr val="E4E4E7"/>
                </a:solidFill>
                <a:effectLst/>
                <a:latin typeface="ui-sans-serif"/>
              </a:rPr>
              <a:t>RNNs</a:t>
            </a:r>
            <a:r>
              <a:rPr lang="fr-FR" b="0" i="0" u="none" strike="noStrike" dirty="0">
                <a:solidFill>
                  <a:srgbClr val="E4E4E7"/>
                </a:solidFill>
                <a:effectLst/>
                <a:latin typeface="ui-sans-serif"/>
              </a:rPr>
              <a:t> have </a:t>
            </a:r>
            <a:r>
              <a:rPr lang="fr-FR" b="0" i="0" u="none" strike="noStrike" dirty="0" err="1">
                <a:solidFill>
                  <a:srgbClr val="E4E4E7"/>
                </a:solidFill>
                <a:effectLst/>
                <a:latin typeface="ui-sans-serif"/>
              </a:rPr>
              <a:t>great</a:t>
            </a:r>
            <a:r>
              <a:rPr lang="fr-FR" b="0" i="0" u="none" strike="noStrike" dirty="0">
                <a:solidFill>
                  <a:srgbClr val="E4E4E7"/>
                </a:solidFill>
                <a:effectLst/>
                <a:latin typeface="ui-sans-serif"/>
              </a:rPr>
              <a:t> </a:t>
            </a:r>
            <a:r>
              <a:rPr lang="fr-FR" b="0" i="0" u="none" strike="noStrike" dirty="0" err="1">
                <a:solidFill>
                  <a:srgbClr val="E4E4E7"/>
                </a:solidFill>
                <a:effectLst/>
                <a:latin typeface="ui-sans-serif"/>
              </a:rPr>
              <a:t>success</a:t>
            </a:r>
            <a:r>
              <a:rPr lang="fr-FR" b="0" i="0" u="none" strike="noStrike" dirty="0">
                <a:solidFill>
                  <a:srgbClr val="E4E4E7"/>
                </a:solidFill>
                <a:effectLst/>
                <a:latin typeface="ui-sans-serif"/>
              </a:rPr>
              <a:t> in neural machine translation.</a:t>
            </a:r>
          </a:p>
          <a:p>
            <a:pPr algn="l">
              <a:spcBef>
                <a:spcPts val="1800"/>
              </a:spcBef>
              <a:spcAft>
                <a:spcPts val="1200"/>
              </a:spcAft>
            </a:pPr>
            <a:r>
              <a:rPr lang="fr-FR" b="0" i="0" u="none" strike="noStrike" dirty="0">
                <a:solidFill>
                  <a:srgbClr val="E4E4E7"/>
                </a:solidFill>
                <a:effectLst/>
                <a:latin typeface="ui-sans-serif"/>
              </a:rPr>
              <a:t>(-) Training time </a:t>
            </a:r>
            <a:r>
              <a:rPr lang="fr-FR" b="0" i="0" u="none" strike="noStrike" dirty="0" err="1">
                <a:solidFill>
                  <a:srgbClr val="E4E4E7"/>
                </a:solidFill>
                <a:effectLst/>
                <a:latin typeface="ui-sans-serif"/>
              </a:rPr>
              <a:t>increases</a:t>
            </a:r>
            <a:r>
              <a:rPr lang="fr-FR" b="0" i="0" u="none" strike="noStrike" dirty="0">
                <a:solidFill>
                  <a:srgbClr val="E4E4E7"/>
                </a:solidFill>
                <a:effectLst/>
                <a:latin typeface="ui-sans-serif"/>
              </a:rPr>
              <a:t> </a:t>
            </a:r>
            <a:r>
              <a:rPr lang="fr-FR" b="0" i="0" u="none" strike="noStrike" dirty="0" err="1">
                <a:solidFill>
                  <a:srgbClr val="E4E4E7"/>
                </a:solidFill>
                <a:effectLst/>
                <a:latin typeface="ui-sans-serif"/>
              </a:rPr>
              <a:t>quickly</a:t>
            </a:r>
            <a:r>
              <a:rPr lang="fr-FR" b="0" i="0" u="none" strike="noStrike" dirty="0">
                <a:solidFill>
                  <a:srgbClr val="E4E4E7"/>
                </a:solidFill>
                <a:effectLst/>
                <a:latin typeface="ui-sans-serif"/>
              </a:rPr>
              <a:t>.</a:t>
            </a:r>
          </a:p>
        </p:txBody>
      </p:sp>
      <p:sp>
        <p:nvSpPr>
          <p:cNvPr id="4" name="Espace réservé du numéro de diapositive 3">
            <a:extLst>
              <a:ext uri="{FF2B5EF4-FFF2-40B4-BE49-F238E27FC236}">
                <a16:creationId xmlns:a16="http://schemas.microsoft.com/office/drawing/2014/main" id="{D2524A78-56B9-8B6D-C8C5-0A1B780B5CAE}"/>
              </a:ext>
            </a:extLst>
          </p:cNvPr>
          <p:cNvSpPr>
            <a:spLocks noGrp="1"/>
          </p:cNvSpPr>
          <p:nvPr>
            <p:ph type="sldNum" sz="quarter" idx="5"/>
          </p:nvPr>
        </p:nvSpPr>
        <p:spPr/>
        <p:txBody>
          <a:bodyPr/>
          <a:lstStyle/>
          <a:p>
            <a:fld id="{BFE20620-1C2C-7043-8B38-691BB5666C4A}" type="slidenum">
              <a:rPr lang="fr-FR" smtClean="0"/>
              <a:t>17</a:t>
            </a:fld>
            <a:endParaRPr lang="fr-FR"/>
          </a:p>
        </p:txBody>
      </p:sp>
    </p:spTree>
    <p:extLst>
      <p:ext uri="{BB962C8B-B14F-4D97-AF65-F5344CB8AC3E}">
        <p14:creationId xmlns:p14="http://schemas.microsoft.com/office/powerpoint/2010/main" val="23248640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F4B67-8ACB-02F5-70A0-49635EEBDFE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931AEA0-5C57-6462-9D28-76E7E3853B1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8762984-68B1-3E97-7838-9652BF4FD77B}"/>
              </a:ext>
            </a:extLst>
          </p:cNvPr>
          <p:cNvSpPr>
            <a:spLocks noGrp="1"/>
          </p:cNvSpPr>
          <p:nvPr>
            <p:ph type="body" idx="1"/>
          </p:nvPr>
        </p:nvSpPr>
        <p:spPr/>
        <p:txBody>
          <a:bodyPr/>
          <a:lstStyle/>
          <a:p>
            <a:pPr algn="l">
              <a:spcBef>
                <a:spcPts val="1800"/>
              </a:spcBef>
              <a:spcAft>
                <a:spcPts val="1200"/>
              </a:spcAft>
            </a:pPr>
            <a:r>
              <a:rPr lang="fr-FR" b="0" i="0" u="none" strike="noStrike" dirty="0">
                <a:solidFill>
                  <a:srgbClr val="E4E4E7"/>
                </a:solidFill>
                <a:effectLst/>
                <a:latin typeface="ui-sans-serif"/>
              </a:rPr>
              <a:t>(+) </a:t>
            </a:r>
            <a:r>
              <a:rPr lang="fr-FR" b="0" i="0" u="none" strike="noStrike" dirty="0" err="1">
                <a:solidFill>
                  <a:srgbClr val="E4E4E7"/>
                </a:solidFill>
                <a:effectLst/>
                <a:latin typeface="ui-sans-serif"/>
              </a:rPr>
              <a:t>Part-Of</a:t>
            </a:r>
            <a:r>
              <a:rPr lang="fr-FR" b="0" i="0" u="none" strike="noStrike" dirty="0">
                <a:solidFill>
                  <a:srgbClr val="E4E4E7"/>
                </a:solidFill>
                <a:effectLst/>
                <a:latin typeface="ui-sans-serif"/>
              </a:rPr>
              <a:t> Speech tagging.</a:t>
            </a:r>
          </a:p>
          <a:p>
            <a:pPr algn="l">
              <a:spcBef>
                <a:spcPts val="1800"/>
              </a:spcBef>
              <a:spcAft>
                <a:spcPts val="1200"/>
              </a:spcAft>
            </a:pPr>
            <a:r>
              <a:rPr lang="fr-FR" b="0" i="0" u="none" strike="noStrike" dirty="0">
                <a:solidFill>
                  <a:srgbClr val="E4E4E7"/>
                </a:solidFill>
                <a:effectLst/>
                <a:latin typeface="ui-sans-serif"/>
              </a:rPr>
              <a:t>(-) </a:t>
            </a:r>
          </a:p>
        </p:txBody>
      </p:sp>
      <p:sp>
        <p:nvSpPr>
          <p:cNvPr id="4" name="Espace réservé du numéro de diapositive 3">
            <a:extLst>
              <a:ext uri="{FF2B5EF4-FFF2-40B4-BE49-F238E27FC236}">
                <a16:creationId xmlns:a16="http://schemas.microsoft.com/office/drawing/2014/main" id="{48F595B9-6D05-BBB0-B76A-A9E605D68E96}"/>
              </a:ext>
            </a:extLst>
          </p:cNvPr>
          <p:cNvSpPr>
            <a:spLocks noGrp="1"/>
          </p:cNvSpPr>
          <p:nvPr>
            <p:ph type="sldNum" sz="quarter" idx="5"/>
          </p:nvPr>
        </p:nvSpPr>
        <p:spPr/>
        <p:txBody>
          <a:bodyPr/>
          <a:lstStyle/>
          <a:p>
            <a:fld id="{BFE20620-1C2C-7043-8B38-691BB5666C4A}" type="slidenum">
              <a:rPr lang="fr-FR" smtClean="0"/>
              <a:t>18</a:t>
            </a:fld>
            <a:endParaRPr lang="fr-FR"/>
          </a:p>
        </p:txBody>
      </p:sp>
    </p:spTree>
    <p:extLst>
      <p:ext uri="{BB962C8B-B14F-4D97-AF65-F5344CB8AC3E}">
        <p14:creationId xmlns:p14="http://schemas.microsoft.com/office/powerpoint/2010/main" val="37227637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19410-4141-CA83-DE2D-1E3260C1838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4263589-2862-B5E0-83C3-1B08406CD39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409C190-D8A4-D3C6-B7D0-3133789F4212}"/>
              </a:ext>
            </a:extLst>
          </p:cNvPr>
          <p:cNvSpPr>
            <a:spLocks noGrp="1"/>
          </p:cNvSpPr>
          <p:nvPr>
            <p:ph type="body" idx="1"/>
          </p:nvPr>
        </p:nvSpPr>
        <p:spPr/>
        <p:txBody>
          <a:bodyPr/>
          <a:lstStyle/>
          <a:p>
            <a:pPr algn="l">
              <a:spcBef>
                <a:spcPts val="1800"/>
              </a:spcBef>
              <a:spcAft>
                <a:spcPts val="1200"/>
              </a:spcAft>
            </a:pPr>
            <a:r>
              <a:rPr lang="fr-FR" b="0" i="0" u="none" strike="noStrike" dirty="0">
                <a:solidFill>
                  <a:srgbClr val="E4E4E7"/>
                </a:solidFill>
                <a:effectLst/>
                <a:latin typeface="ui-sans-serif"/>
              </a:rPr>
              <a:t>One-to-one: image classification</a:t>
            </a:r>
          </a:p>
          <a:p>
            <a:pPr algn="l">
              <a:spcBef>
                <a:spcPts val="1800"/>
              </a:spcBef>
              <a:spcAft>
                <a:spcPts val="1200"/>
              </a:spcAft>
            </a:pPr>
            <a:r>
              <a:rPr lang="fr-FR" b="0" i="0" u="none" strike="noStrike" dirty="0">
                <a:solidFill>
                  <a:srgbClr val="E4E4E7"/>
                </a:solidFill>
                <a:effectLst/>
                <a:latin typeface="ui-sans-serif"/>
              </a:rPr>
              <a:t>One to </a:t>
            </a:r>
            <a:r>
              <a:rPr lang="fr-FR" b="0" i="0" u="none" strike="noStrike" dirty="0" err="1">
                <a:solidFill>
                  <a:srgbClr val="E4E4E7"/>
                </a:solidFill>
                <a:effectLst/>
                <a:latin typeface="ui-sans-serif"/>
              </a:rPr>
              <a:t>many</a:t>
            </a:r>
            <a:r>
              <a:rPr lang="fr-FR" b="0" i="0" u="none" strike="noStrike" dirty="0">
                <a:solidFill>
                  <a:srgbClr val="E4E4E7"/>
                </a:solidFill>
                <a:effectLst/>
                <a:latin typeface="ui-sans-serif"/>
              </a:rPr>
              <a:t>: image </a:t>
            </a:r>
            <a:r>
              <a:rPr lang="fr-FR" b="0" i="0" u="none" strike="noStrike" dirty="0" err="1">
                <a:solidFill>
                  <a:srgbClr val="E4E4E7"/>
                </a:solidFill>
                <a:effectLst/>
                <a:latin typeface="ui-sans-serif"/>
              </a:rPr>
              <a:t>captioning</a:t>
            </a:r>
            <a:endParaRPr lang="fr-FR" b="0" i="0" u="none" strike="noStrike" dirty="0">
              <a:solidFill>
                <a:srgbClr val="E4E4E7"/>
              </a:solidFill>
              <a:effectLst/>
              <a:latin typeface="ui-sans-serif"/>
            </a:endParaRPr>
          </a:p>
          <a:p>
            <a:pPr algn="l">
              <a:spcBef>
                <a:spcPts val="1800"/>
              </a:spcBef>
              <a:spcAft>
                <a:spcPts val="1200"/>
              </a:spcAft>
            </a:pPr>
            <a:r>
              <a:rPr lang="fr-FR" b="0" i="0" u="none" strike="noStrike" dirty="0" err="1">
                <a:solidFill>
                  <a:srgbClr val="E4E4E7"/>
                </a:solidFill>
                <a:effectLst/>
                <a:latin typeface="ui-sans-serif"/>
              </a:rPr>
              <a:t>Many</a:t>
            </a:r>
            <a:r>
              <a:rPr lang="fr-FR" b="0" i="0" u="none" strike="noStrike" dirty="0">
                <a:solidFill>
                  <a:srgbClr val="E4E4E7"/>
                </a:solidFill>
                <a:effectLst/>
                <a:latin typeface="ui-sans-serif"/>
              </a:rPr>
              <a:t> to one: </a:t>
            </a:r>
            <a:r>
              <a:rPr lang="fr-FR" b="0" i="0" u="none" strike="noStrike" dirty="0" err="1">
                <a:solidFill>
                  <a:srgbClr val="E4E4E7"/>
                </a:solidFill>
                <a:effectLst/>
                <a:latin typeface="ui-sans-serif"/>
              </a:rPr>
              <a:t>sentimement</a:t>
            </a:r>
            <a:r>
              <a:rPr lang="fr-FR" b="0" i="0" u="none" strike="noStrike" dirty="0">
                <a:solidFill>
                  <a:srgbClr val="E4E4E7"/>
                </a:solidFill>
                <a:effectLst/>
                <a:latin typeface="ui-sans-serif"/>
              </a:rPr>
              <a:t> classification</a:t>
            </a:r>
          </a:p>
          <a:p>
            <a:pPr algn="l">
              <a:spcBef>
                <a:spcPts val="1800"/>
              </a:spcBef>
              <a:spcAft>
                <a:spcPts val="1200"/>
              </a:spcAft>
            </a:pPr>
            <a:r>
              <a:rPr lang="fr-FR" b="0" i="0" u="none" strike="noStrike" dirty="0" err="1">
                <a:solidFill>
                  <a:srgbClr val="E4E4E7"/>
                </a:solidFill>
                <a:effectLst/>
                <a:latin typeface="ui-sans-serif"/>
              </a:rPr>
              <a:t>Many</a:t>
            </a:r>
            <a:r>
              <a:rPr lang="fr-FR" b="0" i="0" u="none" strike="noStrike" dirty="0">
                <a:solidFill>
                  <a:srgbClr val="E4E4E7"/>
                </a:solidFill>
                <a:effectLst/>
                <a:latin typeface="ui-sans-serif"/>
              </a:rPr>
              <a:t> to </a:t>
            </a:r>
            <a:r>
              <a:rPr lang="fr-FR" b="0" i="0" u="none" strike="noStrike" dirty="0" err="1">
                <a:solidFill>
                  <a:srgbClr val="E4E4E7"/>
                </a:solidFill>
                <a:effectLst/>
                <a:latin typeface="ui-sans-serif"/>
              </a:rPr>
              <a:t>many</a:t>
            </a:r>
            <a:r>
              <a:rPr lang="fr-FR" b="0" i="0" u="none" strike="noStrike" dirty="0">
                <a:solidFill>
                  <a:srgbClr val="E4E4E7"/>
                </a:solidFill>
                <a:effectLst/>
                <a:latin typeface="ui-sans-serif"/>
              </a:rPr>
              <a:t>: machine translation, </a:t>
            </a:r>
            <a:r>
              <a:rPr lang="fr-FR" b="0" i="0" u="none" strike="noStrike" dirty="0" err="1">
                <a:solidFill>
                  <a:srgbClr val="E4E4E7"/>
                </a:solidFill>
                <a:effectLst/>
                <a:latin typeface="ui-sans-serif"/>
              </a:rPr>
              <a:t>video</a:t>
            </a:r>
            <a:r>
              <a:rPr lang="fr-FR" b="0" i="0" u="none" strike="noStrike" dirty="0">
                <a:solidFill>
                  <a:srgbClr val="E4E4E7"/>
                </a:solidFill>
                <a:effectLst/>
                <a:latin typeface="ui-sans-serif"/>
              </a:rPr>
              <a:t> classification.</a:t>
            </a:r>
          </a:p>
        </p:txBody>
      </p:sp>
      <p:sp>
        <p:nvSpPr>
          <p:cNvPr id="4" name="Espace réservé du numéro de diapositive 3">
            <a:extLst>
              <a:ext uri="{FF2B5EF4-FFF2-40B4-BE49-F238E27FC236}">
                <a16:creationId xmlns:a16="http://schemas.microsoft.com/office/drawing/2014/main" id="{9F1EE7A8-0C3A-C713-3744-BA1E98FA884F}"/>
              </a:ext>
            </a:extLst>
          </p:cNvPr>
          <p:cNvSpPr>
            <a:spLocks noGrp="1"/>
          </p:cNvSpPr>
          <p:nvPr>
            <p:ph type="sldNum" sz="quarter" idx="5"/>
          </p:nvPr>
        </p:nvSpPr>
        <p:spPr/>
        <p:txBody>
          <a:bodyPr/>
          <a:lstStyle/>
          <a:p>
            <a:fld id="{BFE20620-1C2C-7043-8B38-691BB5666C4A}" type="slidenum">
              <a:rPr lang="fr-FR" smtClean="0"/>
              <a:t>19</a:t>
            </a:fld>
            <a:endParaRPr lang="fr-FR"/>
          </a:p>
        </p:txBody>
      </p:sp>
    </p:spTree>
    <p:extLst>
      <p:ext uri="{BB962C8B-B14F-4D97-AF65-F5344CB8AC3E}">
        <p14:creationId xmlns:p14="http://schemas.microsoft.com/office/powerpoint/2010/main" val="30826406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0FE02-BF80-03E8-95F4-3342A06253C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639EC97-391F-723A-7687-AE50B606790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96C0AB8-4246-0824-ED43-29954918F03D}"/>
              </a:ext>
            </a:extLst>
          </p:cNvPr>
          <p:cNvSpPr>
            <a:spLocks noGrp="1"/>
          </p:cNvSpPr>
          <p:nvPr>
            <p:ph type="body" idx="1"/>
          </p:nvPr>
        </p:nvSpPr>
        <p:spPr/>
        <p:txBody>
          <a:bodyPr/>
          <a:lstStyle/>
          <a:p>
            <a:pPr algn="l">
              <a:spcBef>
                <a:spcPts val="1800"/>
              </a:spcBef>
              <a:spcAft>
                <a:spcPts val="1200"/>
              </a:spcAft>
            </a:pPr>
            <a:r>
              <a:rPr lang="fr-FR" b="0" i="0" u="none" strike="noStrike" dirty="0">
                <a:solidFill>
                  <a:srgbClr val="E4E4E7"/>
                </a:solidFill>
                <a:effectLst/>
                <a:latin typeface="ui-sans-serif"/>
              </a:rPr>
              <a:t>One-to-one: image classification</a:t>
            </a:r>
          </a:p>
          <a:p>
            <a:pPr algn="l">
              <a:spcBef>
                <a:spcPts val="1800"/>
              </a:spcBef>
              <a:spcAft>
                <a:spcPts val="1200"/>
              </a:spcAft>
            </a:pPr>
            <a:r>
              <a:rPr lang="fr-FR" b="0" i="0" u="none" strike="noStrike" dirty="0">
                <a:solidFill>
                  <a:srgbClr val="E4E4E7"/>
                </a:solidFill>
                <a:effectLst/>
                <a:latin typeface="ui-sans-serif"/>
              </a:rPr>
              <a:t>One to </a:t>
            </a:r>
            <a:r>
              <a:rPr lang="fr-FR" b="0" i="0" u="none" strike="noStrike" dirty="0" err="1">
                <a:solidFill>
                  <a:srgbClr val="E4E4E7"/>
                </a:solidFill>
                <a:effectLst/>
                <a:latin typeface="ui-sans-serif"/>
              </a:rPr>
              <a:t>many</a:t>
            </a:r>
            <a:r>
              <a:rPr lang="fr-FR" b="0" i="0" u="none" strike="noStrike" dirty="0">
                <a:solidFill>
                  <a:srgbClr val="E4E4E7"/>
                </a:solidFill>
                <a:effectLst/>
                <a:latin typeface="ui-sans-serif"/>
              </a:rPr>
              <a:t>: image </a:t>
            </a:r>
            <a:r>
              <a:rPr lang="fr-FR" b="0" i="0" u="none" strike="noStrike" dirty="0" err="1">
                <a:solidFill>
                  <a:srgbClr val="E4E4E7"/>
                </a:solidFill>
                <a:effectLst/>
                <a:latin typeface="ui-sans-serif"/>
              </a:rPr>
              <a:t>captioning</a:t>
            </a:r>
            <a:endParaRPr lang="fr-FR" b="0" i="0" u="none" strike="noStrike" dirty="0">
              <a:solidFill>
                <a:srgbClr val="E4E4E7"/>
              </a:solidFill>
              <a:effectLst/>
              <a:latin typeface="ui-sans-serif"/>
            </a:endParaRPr>
          </a:p>
          <a:p>
            <a:pPr algn="l">
              <a:spcBef>
                <a:spcPts val="1800"/>
              </a:spcBef>
              <a:spcAft>
                <a:spcPts val="1200"/>
              </a:spcAft>
            </a:pPr>
            <a:r>
              <a:rPr lang="fr-FR" b="0" i="0" u="none" strike="noStrike" dirty="0" err="1">
                <a:solidFill>
                  <a:srgbClr val="E4E4E7"/>
                </a:solidFill>
                <a:effectLst/>
                <a:latin typeface="ui-sans-serif"/>
              </a:rPr>
              <a:t>Many</a:t>
            </a:r>
            <a:r>
              <a:rPr lang="fr-FR" b="0" i="0" u="none" strike="noStrike" dirty="0">
                <a:solidFill>
                  <a:srgbClr val="E4E4E7"/>
                </a:solidFill>
                <a:effectLst/>
                <a:latin typeface="ui-sans-serif"/>
              </a:rPr>
              <a:t> to one: </a:t>
            </a:r>
            <a:r>
              <a:rPr lang="fr-FR" b="0" i="0" u="none" strike="noStrike" dirty="0" err="1">
                <a:solidFill>
                  <a:srgbClr val="E4E4E7"/>
                </a:solidFill>
                <a:effectLst/>
                <a:latin typeface="ui-sans-serif"/>
              </a:rPr>
              <a:t>sentimement</a:t>
            </a:r>
            <a:r>
              <a:rPr lang="fr-FR" b="0" i="0" u="none" strike="noStrike" dirty="0">
                <a:solidFill>
                  <a:srgbClr val="E4E4E7"/>
                </a:solidFill>
                <a:effectLst/>
                <a:latin typeface="ui-sans-serif"/>
              </a:rPr>
              <a:t> classification</a:t>
            </a:r>
          </a:p>
          <a:p>
            <a:pPr algn="l">
              <a:spcBef>
                <a:spcPts val="1800"/>
              </a:spcBef>
              <a:spcAft>
                <a:spcPts val="1200"/>
              </a:spcAft>
            </a:pPr>
            <a:r>
              <a:rPr lang="fr-FR" b="0" i="0" u="none" strike="noStrike" dirty="0" err="1">
                <a:solidFill>
                  <a:srgbClr val="E4E4E7"/>
                </a:solidFill>
                <a:effectLst/>
                <a:latin typeface="ui-sans-serif"/>
              </a:rPr>
              <a:t>Many</a:t>
            </a:r>
            <a:r>
              <a:rPr lang="fr-FR" b="0" i="0" u="none" strike="noStrike" dirty="0">
                <a:solidFill>
                  <a:srgbClr val="E4E4E7"/>
                </a:solidFill>
                <a:effectLst/>
                <a:latin typeface="ui-sans-serif"/>
              </a:rPr>
              <a:t> to </a:t>
            </a:r>
            <a:r>
              <a:rPr lang="fr-FR" b="0" i="0" u="none" strike="noStrike" dirty="0" err="1">
                <a:solidFill>
                  <a:srgbClr val="E4E4E7"/>
                </a:solidFill>
                <a:effectLst/>
                <a:latin typeface="ui-sans-serif"/>
              </a:rPr>
              <a:t>many</a:t>
            </a:r>
            <a:r>
              <a:rPr lang="fr-FR" b="0" i="0" u="none" strike="noStrike" dirty="0">
                <a:solidFill>
                  <a:srgbClr val="E4E4E7"/>
                </a:solidFill>
                <a:effectLst/>
                <a:latin typeface="ui-sans-serif"/>
              </a:rPr>
              <a:t>: machine translation, </a:t>
            </a:r>
            <a:r>
              <a:rPr lang="fr-FR" b="0" i="0" u="none" strike="noStrike" dirty="0" err="1">
                <a:solidFill>
                  <a:srgbClr val="E4E4E7"/>
                </a:solidFill>
                <a:effectLst/>
                <a:latin typeface="ui-sans-serif"/>
              </a:rPr>
              <a:t>video</a:t>
            </a:r>
            <a:r>
              <a:rPr lang="fr-FR" b="0" i="0" u="none" strike="noStrike" dirty="0">
                <a:solidFill>
                  <a:srgbClr val="E4E4E7"/>
                </a:solidFill>
                <a:effectLst/>
                <a:latin typeface="ui-sans-serif"/>
              </a:rPr>
              <a:t> classification.</a:t>
            </a:r>
          </a:p>
        </p:txBody>
      </p:sp>
      <p:sp>
        <p:nvSpPr>
          <p:cNvPr id="4" name="Espace réservé du numéro de diapositive 3">
            <a:extLst>
              <a:ext uri="{FF2B5EF4-FFF2-40B4-BE49-F238E27FC236}">
                <a16:creationId xmlns:a16="http://schemas.microsoft.com/office/drawing/2014/main" id="{F8FB42A1-C8FA-D287-DC30-74A15BAA4FB7}"/>
              </a:ext>
            </a:extLst>
          </p:cNvPr>
          <p:cNvSpPr>
            <a:spLocks noGrp="1"/>
          </p:cNvSpPr>
          <p:nvPr>
            <p:ph type="sldNum" sz="quarter" idx="5"/>
          </p:nvPr>
        </p:nvSpPr>
        <p:spPr/>
        <p:txBody>
          <a:bodyPr/>
          <a:lstStyle/>
          <a:p>
            <a:fld id="{BFE20620-1C2C-7043-8B38-691BB5666C4A}" type="slidenum">
              <a:rPr lang="fr-FR" smtClean="0"/>
              <a:t>20</a:t>
            </a:fld>
            <a:endParaRPr lang="fr-FR"/>
          </a:p>
        </p:txBody>
      </p:sp>
    </p:spTree>
    <p:extLst>
      <p:ext uri="{BB962C8B-B14F-4D97-AF65-F5344CB8AC3E}">
        <p14:creationId xmlns:p14="http://schemas.microsoft.com/office/powerpoint/2010/main" val="27306597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E638AB-AB44-4F44-785B-96931090D5E5}"/>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GB"/>
          </a:p>
        </p:txBody>
      </p:sp>
      <p:sp>
        <p:nvSpPr>
          <p:cNvPr id="3" name="Sous-titre 2">
            <a:extLst>
              <a:ext uri="{FF2B5EF4-FFF2-40B4-BE49-F238E27FC236}">
                <a16:creationId xmlns:a16="http://schemas.microsoft.com/office/drawing/2014/main" id="{0C5BB094-185D-6C1F-E8E2-02C460A2E3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4" name="Espace réservé de la date 3">
            <a:extLst>
              <a:ext uri="{FF2B5EF4-FFF2-40B4-BE49-F238E27FC236}">
                <a16:creationId xmlns:a16="http://schemas.microsoft.com/office/drawing/2014/main" id="{1E48E908-3F7D-BE66-1BAF-48AFA60EB8C5}"/>
              </a:ext>
            </a:extLst>
          </p:cNvPr>
          <p:cNvSpPr>
            <a:spLocks noGrp="1"/>
          </p:cNvSpPr>
          <p:nvPr>
            <p:ph type="dt" sz="half" idx="10"/>
          </p:nvPr>
        </p:nvSpPr>
        <p:spPr/>
        <p:txBody>
          <a:bodyPr/>
          <a:lstStyle/>
          <a:p>
            <a:fld id="{4EEB0C8F-8E33-7D4B-9DCF-7846A2EEA7BC}" type="datetime1">
              <a:rPr lang="fr-FR" smtClean="0"/>
              <a:t>09/03/2025</a:t>
            </a:fld>
            <a:endParaRPr lang="en-GB"/>
          </a:p>
        </p:txBody>
      </p:sp>
      <p:sp>
        <p:nvSpPr>
          <p:cNvPr id="5" name="Espace réservé du pied de page 4">
            <a:extLst>
              <a:ext uri="{FF2B5EF4-FFF2-40B4-BE49-F238E27FC236}">
                <a16:creationId xmlns:a16="http://schemas.microsoft.com/office/drawing/2014/main" id="{B2DB4057-F791-D7BB-5389-3187C8C9C4E3}"/>
              </a:ext>
            </a:extLst>
          </p:cNvPr>
          <p:cNvSpPr>
            <a:spLocks noGrp="1"/>
          </p:cNvSpPr>
          <p:nvPr>
            <p:ph type="ftr" sz="quarter" idx="11"/>
          </p:nvPr>
        </p:nvSpPr>
        <p:spPr/>
        <p:txBody>
          <a:bodyPr/>
          <a:lstStyle/>
          <a:p>
            <a:r>
              <a:rPr lang="en-GB"/>
              <a:t>Introduction to NLP. Author: David Thébault</a:t>
            </a:r>
          </a:p>
        </p:txBody>
      </p:sp>
      <p:sp>
        <p:nvSpPr>
          <p:cNvPr id="6" name="Espace réservé du numéro de diapositive 5">
            <a:extLst>
              <a:ext uri="{FF2B5EF4-FFF2-40B4-BE49-F238E27FC236}">
                <a16:creationId xmlns:a16="http://schemas.microsoft.com/office/drawing/2014/main" id="{0D80D4BA-190C-14AF-E6BC-1AB74F44D964}"/>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1216869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0FE821-2576-9651-58EC-D62A8C7CD07C}"/>
              </a:ext>
            </a:extLst>
          </p:cNvPr>
          <p:cNvSpPr>
            <a:spLocks noGrp="1"/>
          </p:cNvSpPr>
          <p:nvPr>
            <p:ph type="title"/>
          </p:nvPr>
        </p:nvSpPr>
        <p:spPr/>
        <p:txBody>
          <a:bodyPr/>
          <a:lstStyle/>
          <a:p>
            <a:r>
              <a:rPr lang="fr-FR"/>
              <a:t>Modifiez le style du titre</a:t>
            </a:r>
            <a:endParaRPr lang="en-GB"/>
          </a:p>
        </p:txBody>
      </p:sp>
      <p:sp>
        <p:nvSpPr>
          <p:cNvPr id="3" name="Espace réservé du contenu 2">
            <a:extLst>
              <a:ext uri="{FF2B5EF4-FFF2-40B4-BE49-F238E27FC236}">
                <a16:creationId xmlns:a16="http://schemas.microsoft.com/office/drawing/2014/main" id="{7E75DD06-FC64-CFC1-0A6C-ADC010106D4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A337CA26-36E2-1A7A-72F3-37DF3F808DBD}"/>
              </a:ext>
            </a:extLst>
          </p:cNvPr>
          <p:cNvSpPr>
            <a:spLocks noGrp="1"/>
          </p:cNvSpPr>
          <p:nvPr>
            <p:ph type="dt" sz="half" idx="10"/>
          </p:nvPr>
        </p:nvSpPr>
        <p:spPr/>
        <p:txBody>
          <a:bodyPr/>
          <a:lstStyle/>
          <a:p>
            <a:fld id="{224A5EB9-46A4-524F-A835-D669998F01A6}" type="datetime1">
              <a:rPr lang="fr-FR" smtClean="0"/>
              <a:t>09/03/2025</a:t>
            </a:fld>
            <a:endParaRPr lang="en-GB"/>
          </a:p>
        </p:txBody>
      </p:sp>
      <p:sp>
        <p:nvSpPr>
          <p:cNvPr id="5" name="Espace réservé du pied de page 4">
            <a:extLst>
              <a:ext uri="{FF2B5EF4-FFF2-40B4-BE49-F238E27FC236}">
                <a16:creationId xmlns:a16="http://schemas.microsoft.com/office/drawing/2014/main" id="{C7D1542E-D2D1-BB47-00D6-D9B1EF66DC51}"/>
              </a:ext>
            </a:extLst>
          </p:cNvPr>
          <p:cNvSpPr>
            <a:spLocks noGrp="1"/>
          </p:cNvSpPr>
          <p:nvPr>
            <p:ph type="ftr" sz="quarter" idx="11"/>
          </p:nvPr>
        </p:nvSpPr>
        <p:spPr/>
        <p:txBody>
          <a:bodyPr/>
          <a:lstStyle/>
          <a:p>
            <a:r>
              <a:rPr lang="en-GB"/>
              <a:t>Introduction to NLP. Author: David Thébault</a:t>
            </a:r>
          </a:p>
        </p:txBody>
      </p:sp>
      <p:sp>
        <p:nvSpPr>
          <p:cNvPr id="6" name="Espace réservé du numéro de diapositive 5">
            <a:extLst>
              <a:ext uri="{FF2B5EF4-FFF2-40B4-BE49-F238E27FC236}">
                <a16:creationId xmlns:a16="http://schemas.microsoft.com/office/drawing/2014/main" id="{BC2E8FE9-F73F-DD65-CDEE-D88E626E7C05}"/>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337086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BC490C-7B6A-CD7C-DA28-04CBFF384A9B}"/>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GB"/>
          </a:p>
        </p:txBody>
      </p:sp>
      <p:sp>
        <p:nvSpPr>
          <p:cNvPr id="3" name="Espace réservé du texte 2">
            <a:extLst>
              <a:ext uri="{FF2B5EF4-FFF2-40B4-BE49-F238E27FC236}">
                <a16:creationId xmlns:a16="http://schemas.microsoft.com/office/drawing/2014/main" id="{200ED621-B471-72E9-02E2-0D472DEA44B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99A63065-521A-5DBC-71F4-DCF6E9D37E4A}"/>
              </a:ext>
            </a:extLst>
          </p:cNvPr>
          <p:cNvSpPr>
            <a:spLocks noGrp="1"/>
          </p:cNvSpPr>
          <p:nvPr>
            <p:ph type="dt" sz="half" idx="10"/>
          </p:nvPr>
        </p:nvSpPr>
        <p:spPr/>
        <p:txBody>
          <a:bodyPr/>
          <a:lstStyle/>
          <a:p>
            <a:fld id="{D5A256E9-F474-FE40-9628-98DEF26086B4}" type="datetime1">
              <a:rPr lang="fr-FR" smtClean="0"/>
              <a:t>09/03/2025</a:t>
            </a:fld>
            <a:endParaRPr lang="en-GB"/>
          </a:p>
        </p:txBody>
      </p:sp>
      <p:sp>
        <p:nvSpPr>
          <p:cNvPr id="5" name="Espace réservé du pied de page 4">
            <a:extLst>
              <a:ext uri="{FF2B5EF4-FFF2-40B4-BE49-F238E27FC236}">
                <a16:creationId xmlns:a16="http://schemas.microsoft.com/office/drawing/2014/main" id="{E2BED33D-F900-95F1-B4D5-F8803096C373}"/>
              </a:ext>
            </a:extLst>
          </p:cNvPr>
          <p:cNvSpPr>
            <a:spLocks noGrp="1"/>
          </p:cNvSpPr>
          <p:nvPr>
            <p:ph type="ftr" sz="quarter" idx="11"/>
          </p:nvPr>
        </p:nvSpPr>
        <p:spPr/>
        <p:txBody>
          <a:bodyPr/>
          <a:lstStyle/>
          <a:p>
            <a:r>
              <a:rPr lang="en-GB"/>
              <a:t>Introduction to NLP. Author: David Thébault</a:t>
            </a:r>
          </a:p>
        </p:txBody>
      </p:sp>
      <p:sp>
        <p:nvSpPr>
          <p:cNvPr id="6" name="Espace réservé du numéro de diapositive 5">
            <a:extLst>
              <a:ext uri="{FF2B5EF4-FFF2-40B4-BE49-F238E27FC236}">
                <a16:creationId xmlns:a16="http://schemas.microsoft.com/office/drawing/2014/main" id="{16D1837B-5DBE-E8E0-5F94-CA65E491E923}"/>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2312738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40EB0C-2D6C-A35D-3E38-8EF35B11771B}"/>
              </a:ext>
            </a:extLst>
          </p:cNvPr>
          <p:cNvSpPr>
            <a:spLocks noGrp="1"/>
          </p:cNvSpPr>
          <p:nvPr>
            <p:ph type="title"/>
          </p:nvPr>
        </p:nvSpPr>
        <p:spPr/>
        <p:txBody>
          <a:bodyPr/>
          <a:lstStyle/>
          <a:p>
            <a:r>
              <a:rPr lang="fr-FR"/>
              <a:t>Modifiez le style du titre</a:t>
            </a:r>
            <a:endParaRPr lang="en-GB"/>
          </a:p>
        </p:txBody>
      </p:sp>
      <p:sp>
        <p:nvSpPr>
          <p:cNvPr id="3" name="Espace réservé du contenu 2">
            <a:extLst>
              <a:ext uri="{FF2B5EF4-FFF2-40B4-BE49-F238E27FC236}">
                <a16:creationId xmlns:a16="http://schemas.microsoft.com/office/drawing/2014/main" id="{D89E5493-B0AB-CE62-736C-951FD00FD5DC}"/>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u contenu 3">
            <a:extLst>
              <a:ext uri="{FF2B5EF4-FFF2-40B4-BE49-F238E27FC236}">
                <a16:creationId xmlns:a16="http://schemas.microsoft.com/office/drawing/2014/main" id="{CF308763-2A51-56FC-5374-D7A15ECCA0E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5" name="Espace réservé de la date 4">
            <a:extLst>
              <a:ext uri="{FF2B5EF4-FFF2-40B4-BE49-F238E27FC236}">
                <a16:creationId xmlns:a16="http://schemas.microsoft.com/office/drawing/2014/main" id="{8AAFD73C-7D06-D51F-510A-3529CF77D3B1}"/>
              </a:ext>
            </a:extLst>
          </p:cNvPr>
          <p:cNvSpPr>
            <a:spLocks noGrp="1"/>
          </p:cNvSpPr>
          <p:nvPr>
            <p:ph type="dt" sz="half" idx="10"/>
          </p:nvPr>
        </p:nvSpPr>
        <p:spPr/>
        <p:txBody>
          <a:bodyPr/>
          <a:lstStyle/>
          <a:p>
            <a:fld id="{5A6A66BB-E4F9-CD47-978F-A29BA084C690}" type="datetime1">
              <a:rPr lang="fr-FR" smtClean="0"/>
              <a:t>09/03/2025</a:t>
            </a:fld>
            <a:endParaRPr lang="en-GB"/>
          </a:p>
        </p:txBody>
      </p:sp>
      <p:sp>
        <p:nvSpPr>
          <p:cNvPr id="6" name="Espace réservé du pied de page 5">
            <a:extLst>
              <a:ext uri="{FF2B5EF4-FFF2-40B4-BE49-F238E27FC236}">
                <a16:creationId xmlns:a16="http://schemas.microsoft.com/office/drawing/2014/main" id="{B2CBF3C5-04D3-9218-12FE-9DE02DDCD76C}"/>
              </a:ext>
            </a:extLst>
          </p:cNvPr>
          <p:cNvSpPr>
            <a:spLocks noGrp="1"/>
          </p:cNvSpPr>
          <p:nvPr>
            <p:ph type="ftr" sz="quarter" idx="11"/>
          </p:nvPr>
        </p:nvSpPr>
        <p:spPr/>
        <p:txBody>
          <a:bodyPr/>
          <a:lstStyle/>
          <a:p>
            <a:r>
              <a:rPr lang="en-GB"/>
              <a:t>Introduction to NLP. Author: David Thébault</a:t>
            </a:r>
          </a:p>
        </p:txBody>
      </p:sp>
      <p:sp>
        <p:nvSpPr>
          <p:cNvPr id="7" name="Espace réservé du numéro de diapositive 6">
            <a:extLst>
              <a:ext uri="{FF2B5EF4-FFF2-40B4-BE49-F238E27FC236}">
                <a16:creationId xmlns:a16="http://schemas.microsoft.com/office/drawing/2014/main" id="{AD4728E8-0E1D-7809-2E4D-ADCF6F1FFA4A}"/>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1645716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54130B-9370-7883-0717-1BD68A38669A}"/>
              </a:ext>
            </a:extLst>
          </p:cNvPr>
          <p:cNvSpPr>
            <a:spLocks noGrp="1"/>
          </p:cNvSpPr>
          <p:nvPr>
            <p:ph type="title"/>
          </p:nvPr>
        </p:nvSpPr>
        <p:spPr>
          <a:xfrm>
            <a:off x="839788" y="365125"/>
            <a:ext cx="10515600" cy="1325563"/>
          </a:xfrm>
        </p:spPr>
        <p:txBody>
          <a:bodyPr/>
          <a:lstStyle/>
          <a:p>
            <a:r>
              <a:rPr lang="fr-FR"/>
              <a:t>Modifiez le style du titre</a:t>
            </a:r>
            <a:endParaRPr lang="en-GB"/>
          </a:p>
        </p:txBody>
      </p:sp>
      <p:sp>
        <p:nvSpPr>
          <p:cNvPr id="3" name="Espace réservé du texte 2">
            <a:extLst>
              <a:ext uri="{FF2B5EF4-FFF2-40B4-BE49-F238E27FC236}">
                <a16:creationId xmlns:a16="http://schemas.microsoft.com/office/drawing/2014/main" id="{6F848E4E-97DD-6C44-9961-5F656105D6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A3EF8ED9-7E68-987E-4801-4FCC154EA4CC}"/>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5" name="Espace réservé du texte 4">
            <a:extLst>
              <a:ext uri="{FF2B5EF4-FFF2-40B4-BE49-F238E27FC236}">
                <a16:creationId xmlns:a16="http://schemas.microsoft.com/office/drawing/2014/main" id="{3E617C08-B632-10ED-F514-3542580AE4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C8005FD-BB5C-7715-9BBB-4652B44B7095}"/>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7" name="Espace réservé de la date 6">
            <a:extLst>
              <a:ext uri="{FF2B5EF4-FFF2-40B4-BE49-F238E27FC236}">
                <a16:creationId xmlns:a16="http://schemas.microsoft.com/office/drawing/2014/main" id="{08748F56-F980-5498-B88A-57DB85FF4209}"/>
              </a:ext>
            </a:extLst>
          </p:cNvPr>
          <p:cNvSpPr>
            <a:spLocks noGrp="1"/>
          </p:cNvSpPr>
          <p:nvPr>
            <p:ph type="dt" sz="half" idx="10"/>
          </p:nvPr>
        </p:nvSpPr>
        <p:spPr/>
        <p:txBody>
          <a:bodyPr/>
          <a:lstStyle/>
          <a:p>
            <a:fld id="{E215135E-FA81-C949-BF84-217CF1FED30B}" type="datetime1">
              <a:rPr lang="fr-FR" smtClean="0"/>
              <a:t>09/03/2025</a:t>
            </a:fld>
            <a:endParaRPr lang="en-GB"/>
          </a:p>
        </p:txBody>
      </p:sp>
      <p:sp>
        <p:nvSpPr>
          <p:cNvPr id="8" name="Espace réservé du pied de page 7">
            <a:extLst>
              <a:ext uri="{FF2B5EF4-FFF2-40B4-BE49-F238E27FC236}">
                <a16:creationId xmlns:a16="http://schemas.microsoft.com/office/drawing/2014/main" id="{A54B50B6-47B3-6075-4EC2-36F65EA10531}"/>
              </a:ext>
            </a:extLst>
          </p:cNvPr>
          <p:cNvSpPr>
            <a:spLocks noGrp="1"/>
          </p:cNvSpPr>
          <p:nvPr>
            <p:ph type="ftr" sz="quarter" idx="11"/>
          </p:nvPr>
        </p:nvSpPr>
        <p:spPr/>
        <p:txBody>
          <a:bodyPr/>
          <a:lstStyle/>
          <a:p>
            <a:r>
              <a:rPr lang="en-GB"/>
              <a:t>Introduction to NLP. Author: David Thébault</a:t>
            </a:r>
          </a:p>
        </p:txBody>
      </p:sp>
      <p:sp>
        <p:nvSpPr>
          <p:cNvPr id="9" name="Espace réservé du numéro de diapositive 8">
            <a:extLst>
              <a:ext uri="{FF2B5EF4-FFF2-40B4-BE49-F238E27FC236}">
                <a16:creationId xmlns:a16="http://schemas.microsoft.com/office/drawing/2014/main" id="{825A3815-5467-2E89-3A5F-0BA78FAB352E}"/>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286397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BDB8EC-5949-E9DB-81BD-1745DCE71D9B}"/>
              </a:ext>
            </a:extLst>
          </p:cNvPr>
          <p:cNvSpPr>
            <a:spLocks noGrp="1"/>
          </p:cNvSpPr>
          <p:nvPr>
            <p:ph type="title"/>
          </p:nvPr>
        </p:nvSpPr>
        <p:spPr/>
        <p:txBody>
          <a:bodyPr/>
          <a:lstStyle/>
          <a:p>
            <a:r>
              <a:rPr lang="fr-FR"/>
              <a:t>Modifiez le style du titre</a:t>
            </a:r>
            <a:endParaRPr lang="en-GB"/>
          </a:p>
        </p:txBody>
      </p:sp>
      <p:sp>
        <p:nvSpPr>
          <p:cNvPr id="3" name="Espace réservé de la date 2">
            <a:extLst>
              <a:ext uri="{FF2B5EF4-FFF2-40B4-BE49-F238E27FC236}">
                <a16:creationId xmlns:a16="http://schemas.microsoft.com/office/drawing/2014/main" id="{F307A441-A698-1837-AC62-4D17978759CD}"/>
              </a:ext>
            </a:extLst>
          </p:cNvPr>
          <p:cNvSpPr>
            <a:spLocks noGrp="1"/>
          </p:cNvSpPr>
          <p:nvPr>
            <p:ph type="dt" sz="half" idx="10"/>
          </p:nvPr>
        </p:nvSpPr>
        <p:spPr/>
        <p:txBody>
          <a:bodyPr/>
          <a:lstStyle/>
          <a:p>
            <a:fld id="{CFA417FA-B0AE-A046-961D-49ACF96A1E38}" type="datetime1">
              <a:rPr lang="fr-FR" smtClean="0"/>
              <a:t>09/03/2025</a:t>
            </a:fld>
            <a:endParaRPr lang="en-GB"/>
          </a:p>
        </p:txBody>
      </p:sp>
      <p:sp>
        <p:nvSpPr>
          <p:cNvPr id="4" name="Espace réservé du pied de page 3">
            <a:extLst>
              <a:ext uri="{FF2B5EF4-FFF2-40B4-BE49-F238E27FC236}">
                <a16:creationId xmlns:a16="http://schemas.microsoft.com/office/drawing/2014/main" id="{10C7AD70-E50C-75FF-4C19-8242D66345BA}"/>
              </a:ext>
            </a:extLst>
          </p:cNvPr>
          <p:cNvSpPr>
            <a:spLocks noGrp="1"/>
          </p:cNvSpPr>
          <p:nvPr>
            <p:ph type="ftr" sz="quarter" idx="11"/>
          </p:nvPr>
        </p:nvSpPr>
        <p:spPr/>
        <p:txBody>
          <a:bodyPr/>
          <a:lstStyle/>
          <a:p>
            <a:r>
              <a:rPr lang="en-GB"/>
              <a:t>Introduction to NLP. Author: David Thébault</a:t>
            </a:r>
          </a:p>
        </p:txBody>
      </p:sp>
      <p:sp>
        <p:nvSpPr>
          <p:cNvPr id="5" name="Espace réservé du numéro de diapositive 4">
            <a:extLst>
              <a:ext uri="{FF2B5EF4-FFF2-40B4-BE49-F238E27FC236}">
                <a16:creationId xmlns:a16="http://schemas.microsoft.com/office/drawing/2014/main" id="{CDA152C5-28E3-1071-CEF8-84E9008454B7}"/>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1525627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D017A14-40F9-6437-5261-222B51BEB281}"/>
              </a:ext>
            </a:extLst>
          </p:cNvPr>
          <p:cNvSpPr>
            <a:spLocks noGrp="1"/>
          </p:cNvSpPr>
          <p:nvPr>
            <p:ph type="dt" sz="half" idx="10"/>
          </p:nvPr>
        </p:nvSpPr>
        <p:spPr/>
        <p:txBody>
          <a:bodyPr/>
          <a:lstStyle/>
          <a:p>
            <a:fld id="{10E370DE-B107-C14C-8AC4-727633FCA810}" type="datetime1">
              <a:rPr lang="fr-FR" smtClean="0"/>
              <a:t>09/03/2025</a:t>
            </a:fld>
            <a:endParaRPr lang="en-GB"/>
          </a:p>
        </p:txBody>
      </p:sp>
      <p:sp>
        <p:nvSpPr>
          <p:cNvPr id="3" name="Espace réservé du pied de page 2">
            <a:extLst>
              <a:ext uri="{FF2B5EF4-FFF2-40B4-BE49-F238E27FC236}">
                <a16:creationId xmlns:a16="http://schemas.microsoft.com/office/drawing/2014/main" id="{01AAAE1D-5F91-D7B8-0C07-F57F37D24341}"/>
              </a:ext>
            </a:extLst>
          </p:cNvPr>
          <p:cNvSpPr>
            <a:spLocks noGrp="1"/>
          </p:cNvSpPr>
          <p:nvPr>
            <p:ph type="ftr" sz="quarter" idx="11"/>
          </p:nvPr>
        </p:nvSpPr>
        <p:spPr/>
        <p:txBody>
          <a:bodyPr/>
          <a:lstStyle/>
          <a:p>
            <a:r>
              <a:rPr lang="en-GB"/>
              <a:t>Introduction to NLP. Author: David Thébault</a:t>
            </a:r>
          </a:p>
        </p:txBody>
      </p:sp>
      <p:sp>
        <p:nvSpPr>
          <p:cNvPr id="4" name="Espace réservé du numéro de diapositive 3">
            <a:extLst>
              <a:ext uri="{FF2B5EF4-FFF2-40B4-BE49-F238E27FC236}">
                <a16:creationId xmlns:a16="http://schemas.microsoft.com/office/drawing/2014/main" id="{977FDAD7-2841-DE0C-052B-3685807265B3}"/>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2931550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B7B945-B2F7-153C-3391-88D7C31A867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GB"/>
          </a:p>
        </p:txBody>
      </p:sp>
      <p:sp>
        <p:nvSpPr>
          <p:cNvPr id="3" name="Espace réservé du contenu 2">
            <a:extLst>
              <a:ext uri="{FF2B5EF4-FFF2-40B4-BE49-F238E27FC236}">
                <a16:creationId xmlns:a16="http://schemas.microsoft.com/office/drawing/2014/main" id="{FC1A287C-1AD2-E80E-E53C-28DCFA7D6F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u texte 3">
            <a:extLst>
              <a:ext uri="{FF2B5EF4-FFF2-40B4-BE49-F238E27FC236}">
                <a16:creationId xmlns:a16="http://schemas.microsoft.com/office/drawing/2014/main" id="{7EB51E35-4073-D78F-44C5-C2143EB0DA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B7E06BC-CF7C-52F4-A947-C96A2BDBF062}"/>
              </a:ext>
            </a:extLst>
          </p:cNvPr>
          <p:cNvSpPr>
            <a:spLocks noGrp="1"/>
          </p:cNvSpPr>
          <p:nvPr>
            <p:ph type="dt" sz="half" idx="10"/>
          </p:nvPr>
        </p:nvSpPr>
        <p:spPr/>
        <p:txBody>
          <a:bodyPr/>
          <a:lstStyle/>
          <a:p>
            <a:fld id="{A3379A73-56E1-0847-98C6-1343EC2D8C39}" type="datetime1">
              <a:rPr lang="fr-FR" smtClean="0"/>
              <a:t>09/03/2025</a:t>
            </a:fld>
            <a:endParaRPr lang="en-GB"/>
          </a:p>
        </p:txBody>
      </p:sp>
      <p:sp>
        <p:nvSpPr>
          <p:cNvPr id="6" name="Espace réservé du pied de page 5">
            <a:extLst>
              <a:ext uri="{FF2B5EF4-FFF2-40B4-BE49-F238E27FC236}">
                <a16:creationId xmlns:a16="http://schemas.microsoft.com/office/drawing/2014/main" id="{8A7F41F4-A70C-6EAD-4A46-A5C287EC67ED}"/>
              </a:ext>
            </a:extLst>
          </p:cNvPr>
          <p:cNvSpPr>
            <a:spLocks noGrp="1"/>
          </p:cNvSpPr>
          <p:nvPr>
            <p:ph type="ftr" sz="quarter" idx="11"/>
          </p:nvPr>
        </p:nvSpPr>
        <p:spPr/>
        <p:txBody>
          <a:bodyPr/>
          <a:lstStyle/>
          <a:p>
            <a:r>
              <a:rPr lang="en-GB"/>
              <a:t>Introduction to NLP. Author: David Thébault</a:t>
            </a:r>
          </a:p>
        </p:txBody>
      </p:sp>
      <p:sp>
        <p:nvSpPr>
          <p:cNvPr id="7" name="Espace réservé du numéro de diapositive 6">
            <a:extLst>
              <a:ext uri="{FF2B5EF4-FFF2-40B4-BE49-F238E27FC236}">
                <a16:creationId xmlns:a16="http://schemas.microsoft.com/office/drawing/2014/main" id="{A076A87E-FA41-78D4-EC00-5D8998430220}"/>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3358857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D0BC82-6D03-592A-0C8A-8804C8AD771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GB"/>
          </a:p>
        </p:txBody>
      </p:sp>
      <p:sp>
        <p:nvSpPr>
          <p:cNvPr id="3" name="Espace réservé pour une image  2">
            <a:extLst>
              <a:ext uri="{FF2B5EF4-FFF2-40B4-BE49-F238E27FC236}">
                <a16:creationId xmlns:a16="http://schemas.microsoft.com/office/drawing/2014/main" id="{99859FD4-01A7-D155-B541-03EAFB59A9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Espace réservé du texte 3">
            <a:extLst>
              <a:ext uri="{FF2B5EF4-FFF2-40B4-BE49-F238E27FC236}">
                <a16:creationId xmlns:a16="http://schemas.microsoft.com/office/drawing/2014/main" id="{46FF0AA2-CEED-722D-EC4B-68D1642CFC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67F03BE-E420-E221-39C5-0519A77F4609}"/>
              </a:ext>
            </a:extLst>
          </p:cNvPr>
          <p:cNvSpPr>
            <a:spLocks noGrp="1"/>
          </p:cNvSpPr>
          <p:nvPr>
            <p:ph type="dt" sz="half" idx="10"/>
          </p:nvPr>
        </p:nvSpPr>
        <p:spPr/>
        <p:txBody>
          <a:bodyPr/>
          <a:lstStyle/>
          <a:p>
            <a:fld id="{11533398-1D35-6544-A2CC-10E1CFDB53BA}" type="datetime1">
              <a:rPr lang="fr-FR" smtClean="0"/>
              <a:t>09/03/2025</a:t>
            </a:fld>
            <a:endParaRPr lang="en-GB"/>
          </a:p>
        </p:txBody>
      </p:sp>
      <p:sp>
        <p:nvSpPr>
          <p:cNvPr id="6" name="Espace réservé du pied de page 5">
            <a:extLst>
              <a:ext uri="{FF2B5EF4-FFF2-40B4-BE49-F238E27FC236}">
                <a16:creationId xmlns:a16="http://schemas.microsoft.com/office/drawing/2014/main" id="{888752CD-3356-E07D-5257-BE3F6539A022}"/>
              </a:ext>
            </a:extLst>
          </p:cNvPr>
          <p:cNvSpPr>
            <a:spLocks noGrp="1"/>
          </p:cNvSpPr>
          <p:nvPr>
            <p:ph type="ftr" sz="quarter" idx="11"/>
          </p:nvPr>
        </p:nvSpPr>
        <p:spPr/>
        <p:txBody>
          <a:bodyPr/>
          <a:lstStyle/>
          <a:p>
            <a:r>
              <a:rPr lang="en-GB"/>
              <a:t>Introduction to NLP. Author: David Thébault</a:t>
            </a:r>
          </a:p>
        </p:txBody>
      </p:sp>
      <p:sp>
        <p:nvSpPr>
          <p:cNvPr id="7" name="Espace réservé du numéro de diapositive 6">
            <a:extLst>
              <a:ext uri="{FF2B5EF4-FFF2-40B4-BE49-F238E27FC236}">
                <a16:creationId xmlns:a16="http://schemas.microsoft.com/office/drawing/2014/main" id="{7E514820-E6C4-F3D4-EE8D-70ABD3B14BFB}"/>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1400617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47F897-700C-3101-5C3C-72A9FF91DD62}"/>
              </a:ext>
            </a:extLst>
          </p:cNvPr>
          <p:cNvSpPr>
            <a:spLocks noGrp="1"/>
          </p:cNvSpPr>
          <p:nvPr>
            <p:ph type="title"/>
          </p:nvPr>
        </p:nvSpPr>
        <p:spPr/>
        <p:txBody>
          <a:bodyPr/>
          <a:lstStyle/>
          <a:p>
            <a:r>
              <a:rPr lang="fr-FR"/>
              <a:t>Modifiez le style du titre</a:t>
            </a:r>
            <a:endParaRPr lang="en-GB"/>
          </a:p>
        </p:txBody>
      </p:sp>
      <p:sp>
        <p:nvSpPr>
          <p:cNvPr id="3" name="Espace réservé du texte vertical 2">
            <a:extLst>
              <a:ext uri="{FF2B5EF4-FFF2-40B4-BE49-F238E27FC236}">
                <a16:creationId xmlns:a16="http://schemas.microsoft.com/office/drawing/2014/main" id="{C2882897-D3D4-C2D1-D319-9B718B03066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20AF124C-E111-5CC6-61AA-889BF1A47253}"/>
              </a:ext>
            </a:extLst>
          </p:cNvPr>
          <p:cNvSpPr>
            <a:spLocks noGrp="1"/>
          </p:cNvSpPr>
          <p:nvPr>
            <p:ph type="dt" sz="half" idx="10"/>
          </p:nvPr>
        </p:nvSpPr>
        <p:spPr/>
        <p:txBody>
          <a:bodyPr/>
          <a:lstStyle/>
          <a:p>
            <a:fld id="{A9A6B707-1D71-774A-9821-01A895ED4CA0}" type="datetime1">
              <a:rPr lang="fr-FR" smtClean="0"/>
              <a:t>09/03/2025</a:t>
            </a:fld>
            <a:endParaRPr lang="en-GB"/>
          </a:p>
        </p:txBody>
      </p:sp>
      <p:sp>
        <p:nvSpPr>
          <p:cNvPr id="5" name="Espace réservé du pied de page 4">
            <a:extLst>
              <a:ext uri="{FF2B5EF4-FFF2-40B4-BE49-F238E27FC236}">
                <a16:creationId xmlns:a16="http://schemas.microsoft.com/office/drawing/2014/main" id="{6FD92984-1579-FADD-F22D-588D62EB62D3}"/>
              </a:ext>
            </a:extLst>
          </p:cNvPr>
          <p:cNvSpPr>
            <a:spLocks noGrp="1"/>
          </p:cNvSpPr>
          <p:nvPr>
            <p:ph type="ftr" sz="quarter" idx="11"/>
          </p:nvPr>
        </p:nvSpPr>
        <p:spPr/>
        <p:txBody>
          <a:bodyPr/>
          <a:lstStyle/>
          <a:p>
            <a:r>
              <a:rPr lang="en-GB"/>
              <a:t>Introduction to NLP. Author: David Thébault</a:t>
            </a:r>
          </a:p>
        </p:txBody>
      </p:sp>
      <p:sp>
        <p:nvSpPr>
          <p:cNvPr id="6" name="Espace réservé du numéro de diapositive 5">
            <a:extLst>
              <a:ext uri="{FF2B5EF4-FFF2-40B4-BE49-F238E27FC236}">
                <a16:creationId xmlns:a16="http://schemas.microsoft.com/office/drawing/2014/main" id="{693F842A-D66B-0FA6-5EE0-CE72083FB918}"/>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18234312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AD283032-C078-B82A-8633-A57C5B4CA375}"/>
              </a:ext>
            </a:extLst>
          </p:cNvPr>
          <p:cNvSpPr>
            <a:spLocks noGrp="1"/>
          </p:cNvSpPr>
          <p:nvPr>
            <p:ph type="title" orient="vert"/>
          </p:nvPr>
        </p:nvSpPr>
        <p:spPr>
          <a:xfrm>
            <a:off x="8724900" y="365125"/>
            <a:ext cx="2628900" cy="5811838"/>
          </a:xfrm>
        </p:spPr>
        <p:txBody>
          <a:bodyPr vert="eaVert"/>
          <a:lstStyle/>
          <a:p>
            <a:r>
              <a:rPr lang="fr-FR"/>
              <a:t>Modifiez le style du titre</a:t>
            </a:r>
            <a:endParaRPr lang="en-GB"/>
          </a:p>
        </p:txBody>
      </p:sp>
      <p:sp>
        <p:nvSpPr>
          <p:cNvPr id="3" name="Espace réservé du texte vertical 2">
            <a:extLst>
              <a:ext uri="{FF2B5EF4-FFF2-40B4-BE49-F238E27FC236}">
                <a16:creationId xmlns:a16="http://schemas.microsoft.com/office/drawing/2014/main" id="{9F5D9928-6925-D028-A1F6-4349D4D49AD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E66365FF-1093-5263-CEC4-A966C0CA1EBD}"/>
              </a:ext>
            </a:extLst>
          </p:cNvPr>
          <p:cNvSpPr>
            <a:spLocks noGrp="1"/>
          </p:cNvSpPr>
          <p:nvPr>
            <p:ph type="dt" sz="half" idx="10"/>
          </p:nvPr>
        </p:nvSpPr>
        <p:spPr/>
        <p:txBody>
          <a:bodyPr/>
          <a:lstStyle/>
          <a:p>
            <a:fld id="{9EEFA1DB-9F39-7549-A1CF-7DB3AA086340}" type="datetime1">
              <a:rPr lang="fr-FR" smtClean="0"/>
              <a:t>09/03/2025</a:t>
            </a:fld>
            <a:endParaRPr lang="en-GB"/>
          </a:p>
        </p:txBody>
      </p:sp>
      <p:sp>
        <p:nvSpPr>
          <p:cNvPr id="5" name="Espace réservé du pied de page 4">
            <a:extLst>
              <a:ext uri="{FF2B5EF4-FFF2-40B4-BE49-F238E27FC236}">
                <a16:creationId xmlns:a16="http://schemas.microsoft.com/office/drawing/2014/main" id="{2569AAC2-C2B1-D84B-3DA1-7D3688A7E247}"/>
              </a:ext>
            </a:extLst>
          </p:cNvPr>
          <p:cNvSpPr>
            <a:spLocks noGrp="1"/>
          </p:cNvSpPr>
          <p:nvPr>
            <p:ph type="ftr" sz="quarter" idx="11"/>
          </p:nvPr>
        </p:nvSpPr>
        <p:spPr/>
        <p:txBody>
          <a:bodyPr/>
          <a:lstStyle/>
          <a:p>
            <a:r>
              <a:rPr lang="en-GB"/>
              <a:t>Introduction to NLP. Author: David Thébault</a:t>
            </a:r>
          </a:p>
        </p:txBody>
      </p:sp>
      <p:sp>
        <p:nvSpPr>
          <p:cNvPr id="6" name="Espace réservé du numéro de diapositive 5">
            <a:extLst>
              <a:ext uri="{FF2B5EF4-FFF2-40B4-BE49-F238E27FC236}">
                <a16:creationId xmlns:a16="http://schemas.microsoft.com/office/drawing/2014/main" id="{9791DF25-B577-4592-5552-5C6F2E8F06BA}"/>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985072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38E99DA2-E800-51D7-232D-195A1643C9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GB"/>
          </a:p>
        </p:txBody>
      </p:sp>
      <p:sp>
        <p:nvSpPr>
          <p:cNvPr id="3" name="Espace réservé du texte 2">
            <a:extLst>
              <a:ext uri="{FF2B5EF4-FFF2-40B4-BE49-F238E27FC236}">
                <a16:creationId xmlns:a16="http://schemas.microsoft.com/office/drawing/2014/main" id="{E5CD912A-3146-AFCE-A9CC-E173D878B5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A64607F7-0DF0-ADD6-CDE4-5E54800580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59F0546-0615-3E45-8C8A-078A7AEBEBD8}" type="datetime1">
              <a:rPr lang="fr-FR" smtClean="0"/>
              <a:t>09/03/2025</a:t>
            </a:fld>
            <a:endParaRPr lang="en-GB"/>
          </a:p>
        </p:txBody>
      </p:sp>
      <p:sp>
        <p:nvSpPr>
          <p:cNvPr id="5" name="Espace réservé du pied de page 4">
            <a:extLst>
              <a:ext uri="{FF2B5EF4-FFF2-40B4-BE49-F238E27FC236}">
                <a16:creationId xmlns:a16="http://schemas.microsoft.com/office/drawing/2014/main" id="{8A06EDC5-D7F4-E73D-0D3C-F995AEDFFE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Introduction to NLP. Author: David Thébault</a:t>
            </a:r>
          </a:p>
        </p:txBody>
      </p:sp>
      <p:sp>
        <p:nvSpPr>
          <p:cNvPr id="6" name="Espace réservé du numéro de diapositive 5">
            <a:extLst>
              <a:ext uri="{FF2B5EF4-FFF2-40B4-BE49-F238E27FC236}">
                <a16:creationId xmlns:a16="http://schemas.microsoft.com/office/drawing/2014/main" id="{5F18EB3C-E203-29A4-64EE-1B7292D3A0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E0816F-190A-DA4E-84D3-F6FF722C1D33}" type="slidenum">
              <a:rPr lang="en-GB" smtClean="0"/>
              <a:t>‹N°›</a:t>
            </a:fld>
            <a:endParaRPr lang="en-GB"/>
          </a:p>
        </p:txBody>
      </p:sp>
    </p:spTree>
    <p:extLst>
      <p:ext uri="{BB962C8B-B14F-4D97-AF65-F5344CB8AC3E}">
        <p14:creationId xmlns:p14="http://schemas.microsoft.com/office/powerpoint/2010/main" val="34572803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3.png"/><Relationship Id="rId3" Type="http://schemas.openxmlformats.org/officeDocument/2006/relationships/image" Target="../media/image10.png"/><Relationship Id="rId7" Type="http://schemas.openxmlformats.org/officeDocument/2006/relationships/image" Target="../media/image5.png"/><Relationship Id="rId12"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17.png"/><Relationship Id="rId3" Type="http://schemas.openxmlformats.org/officeDocument/2006/relationships/image" Target="../media/image710.png"/><Relationship Id="rId7" Type="http://schemas.openxmlformats.org/officeDocument/2006/relationships/image" Target="../media/image110.png"/><Relationship Id="rId12"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0.png"/><Relationship Id="rId11" Type="http://schemas.openxmlformats.org/officeDocument/2006/relationships/image" Target="../media/image15.png"/><Relationship Id="rId5" Type="http://schemas.openxmlformats.org/officeDocument/2006/relationships/image" Target="../media/image90.png"/><Relationship Id="rId10" Type="http://schemas.openxmlformats.org/officeDocument/2006/relationships/image" Target="../media/image14.png"/><Relationship Id="rId4" Type="http://schemas.openxmlformats.org/officeDocument/2006/relationships/image" Target="../media/image81.png"/><Relationship Id="rId9" Type="http://schemas.openxmlformats.org/officeDocument/2006/relationships/image" Target="../media/image130.png"/><Relationship Id="rId1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17.png"/><Relationship Id="rId3" Type="http://schemas.openxmlformats.org/officeDocument/2006/relationships/image" Target="../media/image710.png"/><Relationship Id="rId7" Type="http://schemas.openxmlformats.org/officeDocument/2006/relationships/image" Target="../media/image110.png"/><Relationship Id="rId12"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0.png"/><Relationship Id="rId11" Type="http://schemas.openxmlformats.org/officeDocument/2006/relationships/image" Target="../media/image15.png"/><Relationship Id="rId5" Type="http://schemas.openxmlformats.org/officeDocument/2006/relationships/image" Target="../media/image90.png"/><Relationship Id="rId10" Type="http://schemas.openxmlformats.org/officeDocument/2006/relationships/image" Target="../media/image14.png"/><Relationship Id="rId4" Type="http://schemas.openxmlformats.org/officeDocument/2006/relationships/image" Target="../media/image81.png"/><Relationship Id="rId9" Type="http://schemas.openxmlformats.org/officeDocument/2006/relationships/image" Target="../media/image130.png"/><Relationship Id="rId14"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17.png"/><Relationship Id="rId3" Type="http://schemas.openxmlformats.org/officeDocument/2006/relationships/image" Target="../media/image710.png"/><Relationship Id="rId7" Type="http://schemas.openxmlformats.org/officeDocument/2006/relationships/image" Target="../media/image22.png"/><Relationship Id="rId12" Type="http://schemas.openxmlformats.org/officeDocument/2006/relationships/image" Target="../media/image16.png"/><Relationship Id="rId17" Type="http://schemas.openxmlformats.org/officeDocument/2006/relationships/image" Target="../media/image28.png"/><Relationship Id="rId2" Type="http://schemas.openxmlformats.org/officeDocument/2006/relationships/notesSlide" Target="../notesSlides/notesSlide7.xml"/><Relationship Id="rId16"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4.png"/><Relationship Id="rId5" Type="http://schemas.openxmlformats.org/officeDocument/2006/relationships/image" Target="../media/image20.png"/><Relationship Id="rId15" Type="http://schemas.openxmlformats.org/officeDocument/2006/relationships/image" Target="../media/image26.png"/><Relationship Id="rId10" Type="http://schemas.openxmlformats.org/officeDocument/2006/relationships/image" Target="../media/image14.png"/><Relationship Id="rId4" Type="http://schemas.openxmlformats.org/officeDocument/2006/relationships/image" Target="../media/image19.png"/><Relationship Id="rId9" Type="http://schemas.openxmlformats.org/officeDocument/2006/relationships/image" Target="../media/image23.png"/><Relationship Id="rId14" Type="http://schemas.openxmlformats.org/officeDocument/2006/relationships/image" Target="../media/image25.png"/></Relationships>
</file>

<file path=ppt/slides/_rels/slide8.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17.png"/><Relationship Id="rId3" Type="http://schemas.openxmlformats.org/officeDocument/2006/relationships/image" Target="../media/image710.png"/><Relationship Id="rId12"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11" Type="http://schemas.openxmlformats.org/officeDocument/2006/relationships/image" Target="../media/image29.png"/><Relationship Id="rId5" Type="http://schemas.openxmlformats.org/officeDocument/2006/relationships/image" Target="../media/image21.png"/><Relationship Id="rId15" Type="http://schemas.openxmlformats.org/officeDocument/2006/relationships/image" Target="../media/image31.png"/><Relationship Id="rId10" Type="http://schemas.openxmlformats.org/officeDocument/2006/relationships/image" Target="../media/image14.png"/><Relationship Id="rId4" Type="http://schemas.openxmlformats.org/officeDocument/2006/relationships/image" Target="../media/image20.png"/><Relationship Id="rId14" Type="http://schemas.openxmlformats.org/officeDocument/2006/relationships/image" Target="../media/image30.png"/></Relationships>
</file>

<file path=ppt/slides/_rels/slide9.xml.rels><?xml version="1.0" encoding="UTF-8" standalone="yes"?>
<Relationships xmlns="http://schemas.openxmlformats.org/package/2006/relationships"><Relationship Id="rId13" Type="http://schemas.openxmlformats.org/officeDocument/2006/relationships/image" Target="../media/image40.png"/><Relationship Id="rId18" Type="http://schemas.openxmlformats.org/officeDocument/2006/relationships/image" Target="../media/image45.png"/><Relationship Id="rId26" Type="http://schemas.openxmlformats.org/officeDocument/2006/relationships/image" Target="../media/image53.png"/><Relationship Id="rId39" Type="http://schemas.openxmlformats.org/officeDocument/2006/relationships/image" Target="../media/image66.png"/><Relationship Id="rId34" Type="http://schemas.openxmlformats.org/officeDocument/2006/relationships/image" Target="../media/image61.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4.png"/><Relationship Id="rId25" Type="http://schemas.openxmlformats.org/officeDocument/2006/relationships/image" Target="../media/image52.png"/><Relationship Id="rId33" Type="http://schemas.openxmlformats.org/officeDocument/2006/relationships/image" Target="../media/image60.png"/><Relationship Id="rId38" Type="http://schemas.openxmlformats.org/officeDocument/2006/relationships/image" Target="../media/image65.png"/><Relationship Id="rId2" Type="http://schemas.openxmlformats.org/officeDocument/2006/relationships/notesSlide" Target="../notesSlides/notesSlide9.xml"/><Relationship Id="rId16" Type="http://schemas.openxmlformats.org/officeDocument/2006/relationships/image" Target="../media/image43.png"/><Relationship Id="rId20" Type="http://schemas.openxmlformats.org/officeDocument/2006/relationships/image" Target="../media/image47.png"/><Relationship Id="rId29"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38.png"/><Relationship Id="rId24" Type="http://schemas.openxmlformats.org/officeDocument/2006/relationships/image" Target="../media/image51.png"/><Relationship Id="rId32" Type="http://schemas.openxmlformats.org/officeDocument/2006/relationships/image" Target="../media/image59.png"/><Relationship Id="rId37" Type="http://schemas.openxmlformats.org/officeDocument/2006/relationships/image" Target="../media/image64.png"/><Relationship Id="rId5" Type="http://schemas.openxmlformats.org/officeDocument/2006/relationships/image" Target="../media/image20.png"/><Relationship Id="rId15" Type="http://schemas.openxmlformats.org/officeDocument/2006/relationships/image" Target="../media/image42.png"/><Relationship Id="rId23" Type="http://schemas.openxmlformats.org/officeDocument/2006/relationships/image" Target="../media/image50.png"/><Relationship Id="rId28" Type="http://schemas.openxmlformats.org/officeDocument/2006/relationships/image" Target="../media/image55.png"/><Relationship Id="rId36" Type="http://schemas.openxmlformats.org/officeDocument/2006/relationships/image" Target="../media/image63.png"/><Relationship Id="rId10" Type="http://schemas.openxmlformats.org/officeDocument/2006/relationships/image" Target="../media/image37.png"/><Relationship Id="rId19" Type="http://schemas.openxmlformats.org/officeDocument/2006/relationships/image" Target="../media/image46.png"/><Relationship Id="rId31" Type="http://schemas.openxmlformats.org/officeDocument/2006/relationships/image" Target="../media/image58.png"/><Relationship Id="rId4" Type="http://schemas.openxmlformats.org/officeDocument/2006/relationships/image" Target="../media/image33.png"/><Relationship Id="rId9" Type="http://schemas.openxmlformats.org/officeDocument/2006/relationships/image" Target="../media/image36.png"/><Relationship Id="rId14" Type="http://schemas.openxmlformats.org/officeDocument/2006/relationships/image" Target="../media/image41.png"/><Relationship Id="rId22" Type="http://schemas.openxmlformats.org/officeDocument/2006/relationships/image" Target="../media/image49.png"/><Relationship Id="rId27" Type="http://schemas.openxmlformats.org/officeDocument/2006/relationships/image" Target="../media/image54.png"/><Relationship Id="rId30" Type="http://schemas.openxmlformats.org/officeDocument/2006/relationships/image" Target="../media/image57.png"/><Relationship Id="rId35" Type="http://schemas.openxmlformats.org/officeDocument/2006/relationships/image" Target="../media/image62.png"/><Relationship Id="rId8" Type="http://schemas.openxmlformats.org/officeDocument/2006/relationships/image" Target="../media/image35.png"/><Relationship Id="rId3" Type="http://schemas.openxmlformats.org/officeDocument/2006/relationships/image" Target="../media/image32.png"/></Relationships>
</file>

<file path=ppt/slides/_rels/slide10.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68.png"/><Relationship Id="rId9" Type="http://schemas.openxmlformats.org/officeDocument/2006/relationships/image" Target="../media/image73.png"/></Relationships>
</file>

<file path=ppt/slides/_rels/slide11.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76.png"/><Relationship Id="rId9" Type="http://schemas.openxmlformats.org/officeDocument/2006/relationships/image" Target="../media/image73.png"/></Relationships>
</file>

<file path=ppt/slides/_rels/slide12.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48.png"/><Relationship Id="rId9" Type="http://schemas.openxmlformats.org/officeDocument/2006/relationships/image" Target="../media/image73.png"/></Relationships>
</file>

<file path=ppt/slides/_rels/slide13.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78.png"/><Relationship Id="rId9" Type="http://schemas.openxmlformats.org/officeDocument/2006/relationships/image" Target="../media/image73.png"/></Relationships>
</file>

<file path=ppt/slides/_rels/slide14.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79.png"/><Relationship Id="rId9" Type="http://schemas.openxmlformats.org/officeDocument/2006/relationships/image" Target="../media/image73.png"/></Relationships>
</file>

<file path=ppt/slides/_rels/slide15.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67.png"/><Relationship Id="rId7" Type="http://schemas.openxmlformats.org/officeDocument/2006/relationships/image" Target="../media/image8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82.png"/><Relationship Id="rId11" Type="http://schemas.openxmlformats.org/officeDocument/2006/relationships/image" Target="../media/image87.png"/><Relationship Id="rId5" Type="http://schemas.openxmlformats.org/officeDocument/2006/relationships/image" Target="../media/image77.png"/><Relationship Id="rId10" Type="http://schemas.openxmlformats.org/officeDocument/2006/relationships/image" Target="../media/image86.png"/><Relationship Id="rId4" Type="http://schemas.openxmlformats.org/officeDocument/2006/relationships/image" Target="../media/image80.png"/><Relationship Id="rId9" Type="http://schemas.openxmlformats.org/officeDocument/2006/relationships/image" Target="../media/image85.png"/></Relationships>
</file>

<file path=ppt/slides/_rels/slide1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92.svg"/><Relationship Id="rId5" Type="http://schemas.openxmlformats.org/officeDocument/2006/relationships/image" Target="../media/image91.png"/><Relationship Id="rId4" Type="http://schemas.openxmlformats.org/officeDocument/2006/relationships/image" Target="../media/image89.svg"/></Relationships>
</file>

<file path=ppt/slides/_rels/slide17.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104.png"/><Relationship Id="rId18" Type="http://schemas.openxmlformats.org/officeDocument/2006/relationships/image" Target="../media/image109.png"/><Relationship Id="rId3" Type="http://schemas.openxmlformats.org/officeDocument/2006/relationships/image" Target="../media/image93.png"/><Relationship Id="rId7" Type="http://schemas.openxmlformats.org/officeDocument/2006/relationships/image" Target="../media/image97.png"/><Relationship Id="rId12" Type="http://schemas.openxmlformats.org/officeDocument/2006/relationships/image" Target="../media/image103.png"/><Relationship Id="rId17" Type="http://schemas.openxmlformats.org/officeDocument/2006/relationships/image" Target="../media/image108.png"/><Relationship Id="rId2" Type="http://schemas.openxmlformats.org/officeDocument/2006/relationships/notesSlide" Target="../notesSlides/notesSlide17.xml"/><Relationship Id="rId16" Type="http://schemas.openxmlformats.org/officeDocument/2006/relationships/image" Target="../media/image107.png"/><Relationship Id="rId20" Type="http://schemas.openxmlformats.org/officeDocument/2006/relationships/image" Target="../media/image112.png"/><Relationship Id="rId1" Type="http://schemas.openxmlformats.org/officeDocument/2006/relationships/slideLayout" Target="../slideLayouts/slideLayout2.xml"/><Relationship Id="rId6" Type="http://schemas.openxmlformats.org/officeDocument/2006/relationships/image" Target="../media/image96.png"/><Relationship Id="rId11" Type="http://schemas.openxmlformats.org/officeDocument/2006/relationships/image" Target="../media/image102.png"/><Relationship Id="rId5" Type="http://schemas.openxmlformats.org/officeDocument/2006/relationships/image" Target="../media/image95.png"/><Relationship Id="rId15" Type="http://schemas.openxmlformats.org/officeDocument/2006/relationships/image" Target="../media/image106.png"/><Relationship Id="rId10" Type="http://schemas.openxmlformats.org/officeDocument/2006/relationships/image" Target="../media/image101.png"/><Relationship Id="rId19" Type="http://schemas.openxmlformats.org/officeDocument/2006/relationships/image" Target="../media/image111.png"/><Relationship Id="rId4" Type="http://schemas.openxmlformats.org/officeDocument/2006/relationships/image" Target="../media/image94.png"/><Relationship Id="rId9" Type="http://schemas.openxmlformats.org/officeDocument/2006/relationships/image" Target="../media/image99.png"/><Relationship Id="rId14" Type="http://schemas.openxmlformats.org/officeDocument/2006/relationships/image" Target="../media/image105.png"/></Relationships>
</file>

<file path=ppt/slides/_rels/slide18.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113.png"/><Relationship Id="rId7" Type="http://schemas.openxmlformats.org/officeDocument/2006/relationships/image" Target="../media/image117.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16.png"/><Relationship Id="rId11" Type="http://schemas.openxmlformats.org/officeDocument/2006/relationships/image" Target="../media/image112.png"/><Relationship Id="rId5" Type="http://schemas.openxmlformats.org/officeDocument/2006/relationships/image" Target="../media/image115.png"/><Relationship Id="rId10" Type="http://schemas.openxmlformats.org/officeDocument/2006/relationships/image" Target="../media/image118.png"/><Relationship Id="rId4" Type="http://schemas.openxmlformats.org/officeDocument/2006/relationships/image" Target="../media/image114.png"/><Relationship Id="rId9" Type="http://schemas.openxmlformats.org/officeDocument/2006/relationships/image" Target="../media/image109.png"/></Relationships>
</file>

<file path=ppt/slides/_rels/slide19.xml.rels><?xml version="1.0" encoding="UTF-8" standalone="yes"?>
<Relationships xmlns="http://schemas.openxmlformats.org/package/2006/relationships"><Relationship Id="rId8" Type="http://schemas.openxmlformats.org/officeDocument/2006/relationships/image" Target="../media/image125.png"/><Relationship Id="rId13" Type="http://schemas.openxmlformats.org/officeDocument/2006/relationships/image" Target="../media/image131.png"/><Relationship Id="rId18" Type="http://schemas.openxmlformats.org/officeDocument/2006/relationships/image" Target="../media/image136.png"/><Relationship Id="rId3" Type="http://schemas.openxmlformats.org/officeDocument/2006/relationships/image" Target="../media/image119.png"/><Relationship Id="rId21" Type="http://schemas.openxmlformats.org/officeDocument/2006/relationships/image" Target="../media/image139.png"/><Relationship Id="rId7" Type="http://schemas.openxmlformats.org/officeDocument/2006/relationships/image" Target="../media/image124.png"/><Relationship Id="rId12" Type="http://schemas.openxmlformats.org/officeDocument/2006/relationships/image" Target="../media/image129.png"/><Relationship Id="rId17" Type="http://schemas.openxmlformats.org/officeDocument/2006/relationships/image" Target="../media/image135.png"/><Relationship Id="rId25" Type="http://schemas.openxmlformats.org/officeDocument/2006/relationships/image" Target="../media/image143.png"/><Relationship Id="rId2" Type="http://schemas.openxmlformats.org/officeDocument/2006/relationships/notesSlide" Target="../notesSlides/notesSlide19.xml"/><Relationship Id="rId16" Type="http://schemas.openxmlformats.org/officeDocument/2006/relationships/image" Target="../media/image134.png"/><Relationship Id="rId20" Type="http://schemas.openxmlformats.org/officeDocument/2006/relationships/image" Target="../media/image138.png"/><Relationship Id="rId1" Type="http://schemas.openxmlformats.org/officeDocument/2006/relationships/slideLayout" Target="../slideLayouts/slideLayout2.xml"/><Relationship Id="rId6" Type="http://schemas.openxmlformats.org/officeDocument/2006/relationships/image" Target="../media/image123.png"/><Relationship Id="rId11" Type="http://schemas.openxmlformats.org/officeDocument/2006/relationships/image" Target="../media/image128.png"/><Relationship Id="rId24" Type="http://schemas.openxmlformats.org/officeDocument/2006/relationships/image" Target="../media/image142.png"/><Relationship Id="rId5" Type="http://schemas.openxmlformats.org/officeDocument/2006/relationships/image" Target="../media/image122.png"/><Relationship Id="rId15" Type="http://schemas.openxmlformats.org/officeDocument/2006/relationships/image" Target="../media/image133.png"/><Relationship Id="rId23" Type="http://schemas.openxmlformats.org/officeDocument/2006/relationships/image" Target="../media/image141.png"/><Relationship Id="rId10" Type="http://schemas.openxmlformats.org/officeDocument/2006/relationships/image" Target="../media/image127.png"/><Relationship Id="rId19" Type="http://schemas.openxmlformats.org/officeDocument/2006/relationships/image" Target="../media/image137.png"/><Relationship Id="rId4" Type="http://schemas.openxmlformats.org/officeDocument/2006/relationships/image" Target="../media/image121.png"/><Relationship Id="rId9" Type="http://schemas.openxmlformats.org/officeDocument/2006/relationships/image" Target="../media/image126.png"/><Relationship Id="rId14" Type="http://schemas.openxmlformats.org/officeDocument/2006/relationships/image" Target="../media/image132.png"/><Relationship Id="rId22" Type="http://schemas.openxmlformats.org/officeDocument/2006/relationships/image" Target="../media/image14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F56B84-BFA1-BA9A-1552-59B724FBA9FC}"/>
              </a:ext>
            </a:extLst>
          </p:cNvPr>
          <p:cNvSpPr>
            <a:spLocks noGrp="1"/>
          </p:cNvSpPr>
          <p:nvPr>
            <p:ph type="ctrTitle"/>
          </p:nvPr>
        </p:nvSpPr>
        <p:spPr/>
        <p:txBody>
          <a:bodyPr>
            <a:normAutofit/>
          </a:bodyPr>
          <a:lstStyle/>
          <a:p>
            <a:r>
              <a:rPr lang="en-GB" noProof="0" dirty="0"/>
              <a:t>Recurrent Neural Networks</a:t>
            </a:r>
            <a:br>
              <a:rPr lang="en-GB" noProof="0" dirty="0"/>
            </a:br>
            <a:r>
              <a:rPr lang="en-GB" noProof="0" dirty="0"/>
              <a:t>(RNN)</a:t>
            </a:r>
            <a:endParaRPr lang="fr-FR" dirty="0"/>
          </a:p>
        </p:txBody>
      </p:sp>
      <p:sp>
        <p:nvSpPr>
          <p:cNvPr id="3" name="Espace réservé du pied de page 2">
            <a:extLst>
              <a:ext uri="{FF2B5EF4-FFF2-40B4-BE49-F238E27FC236}">
                <a16:creationId xmlns:a16="http://schemas.microsoft.com/office/drawing/2014/main" id="{70571C27-E009-ADD7-40B4-859AAF7C848C}"/>
              </a:ext>
            </a:extLst>
          </p:cNvPr>
          <p:cNvSpPr>
            <a:spLocks noGrp="1"/>
          </p:cNvSpPr>
          <p:nvPr>
            <p:ph type="ftr" sz="quarter" idx="11"/>
          </p:nvPr>
        </p:nvSpPr>
        <p:spPr>
          <a:xfrm>
            <a:off x="4038600" y="6356350"/>
            <a:ext cx="4549346" cy="365125"/>
          </a:xfrm>
        </p:spPr>
        <p:txBody>
          <a:bodyPr/>
          <a:lstStyle/>
          <a:p>
            <a:r>
              <a:rPr lang="en-GB" noProof="1"/>
              <a:t>RNN. Author: David Thébault – Based on NLPDemystified.org</a:t>
            </a:r>
          </a:p>
        </p:txBody>
      </p:sp>
    </p:spTree>
    <p:extLst>
      <p:ext uri="{BB962C8B-B14F-4D97-AF65-F5344CB8AC3E}">
        <p14:creationId xmlns:p14="http://schemas.microsoft.com/office/powerpoint/2010/main" val="1299667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4A8439-9850-DBFA-890A-1A6B7ED1A314}"/>
              </a:ext>
            </a:extLst>
          </p:cNvPr>
          <p:cNvSpPr>
            <a:spLocks noGrp="1"/>
          </p:cNvSpPr>
          <p:nvPr>
            <p:ph type="title"/>
          </p:nvPr>
        </p:nvSpPr>
        <p:spPr/>
        <p:txBody>
          <a:bodyPr/>
          <a:lstStyle/>
          <a:p>
            <a:pPr algn="ctr"/>
            <a:r>
              <a:rPr lang="en-GB" noProof="0" dirty="0"/>
              <a:t>Recurrent Neural Networks</a:t>
            </a:r>
          </a:p>
        </p:txBody>
      </p:sp>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AB336254-BF5B-D5F4-FDE7-9B8877DA5C0C}"/>
                  </a:ext>
                </a:extLst>
              </p:cNvPr>
              <p:cNvSpPr txBox="1"/>
              <p:nvPr/>
            </p:nvSpPr>
            <p:spPr>
              <a:xfrm>
                <a:off x="838199" y="1828799"/>
                <a:ext cx="10515600" cy="4206241"/>
              </a:xfrm>
              <a:prstGeom prst="rect">
                <a:avLst/>
              </a:prstGeom>
              <a:noFill/>
            </p:spPr>
            <p:txBody>
              <a:bodyPr wrap="square" lIns="90000" rtlCol="0">
                <a:noAutofit/>
              </a:bodyPr>
              <a:lstStyle/>
              <a:p>
                <a:r>
                  <a:rPr lang="en-GB" b="1" i="0" u="none" strike="noStrike" dirty="0">
                    <a:effectLst/>
                    <a:latin typeface="ui-sans-serif"/>
                  </a:rPr>
                  <a:t>Because word order matter:</a:t>
                </a:r>
              </a:p>
              <a:p>
                <a:endParaRPr lang="en-GB" b="1" dirty="0">
                  <a:latin typeface="ui-sans-serif"/>
                </a:endParaRPr>
              </a:p>
              <a:p>
                <a:r>
                  <a:rPr lang="en-GB" dirty="0">
                    <a:latin typeface="ui-sans-serif"/>
                  </a:rPr>
                  <a:t>Dog bites man. </a:t>
                </a:r>
                <a14:m>
                  <m:oMath xmlns:m="http://schemas.openxmlformats.org/officeDocument/2006/math">
                    <m:r>
                      <a:rPr lang="en-GB" b="0" i="1" smtClean="0">
                        <a:latin typeface="Cambria Math" panose="02040503050406030204" pitchFamily="18" charset="0"/>
                        <a:ea typeface="Cambria Math" panose="02040503050406030204" pitchFamily="18" charset="0"/>
                      </a:rPr>
                      <m:t>≠</m:t>
                    </m:r>
                  </m:oMath>
                </a14:m>
                <a:r>
                  <a:rPr lang="en-GB" dirty="0">
                    <a:latin typeface="ui-sans-serif"/>
                  </a:rPr>
                  <a:t> Man bites dog.</a:t>
                </a:r>
              </a:p>
              <a:p>
                <a:endParaRPr lang="en-GB" b="1" dirty="0">
                  <a:latin typeface="ui-sans-serif"/>
                </a:endParaRPr>
              </a:p>
              <a:p>
                <a:r>
                  <a:rPr lang="en-GB" dirty="0">
                    <a:latin typeface="ui-sans-serif"/>
                  </a:rPr>
                  <a:t>The two sentences have the same </a:t>
                </a:r>
                <a:r>
                  <a:rPr lang="en-GB" dirty="0" err="1">
                    <a:latin typeface="ui-sans-serif"/>
                  </a:rPr>
                  <a:t>BoW</a:t>
                </a:r>
                <a:r>
                  <a:rPr lang="en-GB" dirty="0">
                    <a:latin typeface="ui-sans-serif"/>
                  </a:rPr>
                  <a:t> but not the same meaning.</a:t>
                </a:r>
              </a:p>
              <a:p>
                <a:endParaRPr lang="en-GB" dirty="0">
                  <a:latin typeface="ui-sans-serif"/>
                </a:endParaRPr>
              </a:p>
              <a:p>
                <a:r>
                  <a:rPr lang="en-GB" b="1" dirty="0">
                    <a:latin typeface="ui-sans-serif"/>
                  </a:rPr>
                  <a:t>The meaning has also its importance:</a:t>
                </a:r>
              </a:p>
              <a:p>
                <a:endParaRPr lang="en-GB" b="1" dirty="0">
                  <a:latin typeface="ui-sans-serif"/>
                </a:endParaRPr>
              </a:p>
              <a:p>
                <a:r>
                  <a:rPr lang="en-GB" dirty="0">
                    <a:latin typeface="ui-sans-serif"/>
                  </a:rPr>
                  <a:t>The dog looked guilty.</a:t>
                </a:r>
              </a:p>
              <a:p>
                <a:endParaRPr lang="en-GB" dirty="0">
                  <a:latin typeface="ui-sans-serif"/>
                </a:endParaRPr>
              </a:p>
              <a:p>
                <a:r>
                  <a:rPr lang="en-GB" dirty="0">
                    <a:latin typeface="ui-sans-serif"/>
                  </a:rPr>
                  <a:t>The defendant looked guilty.</a:t>
                </a:r>
              </a:p>
              <a:p>
                <a:endParaRPr lang="en-GB" dirty="0">
                  <a:latin typeface="ui-sans-serif"/>
                </a:endParaRPr>
              </a:p>
              <a:p>
                <a:r>
                  <a:rPr lang="en-GB" b="1" dirty="0">
                    <a:latin typeface="ui-sans-serif"/>
                  </a:rPr>
                  <a:t>To better capture context, we can process sentences as sequences rather than bags.</a:t>
                </a:r>
                <a:endParaRPr lang="en-GB" b="1" dirty="0"/>
              </a:p>
            </p:txBody>
          </p:sp>
        </mc:Choice>
        <mc:Fallback xmlns="">
          <p:sp>
            <p:nvSpPr>
              <p:cNvPr id="4" name="ZoneTexte 3">
                <a:extLst>
                  <a:ext uri="{FF2B5EF4-FFF2-40B4-BE49-F238E27FC236}">
                    <a16:creationId xmlns:a16="http://schemas.microsoft.com/office/drawing/2014/main" id="{AB336254-BF5B-D5F4-FDE7-9B8877DA5C0C}"/>
                  </a:ext>
                </a:extLst>
              </p:cNvPr>
              <p:cNvSpPr txBox="1">
                <a:spLocks noRot="1" noChangeAspect="1" noMove="1" noResize="1" noEditPoints="1" noAdjustHandles="1" noChangeArrowheads="1" noChangeShapeType="1" noTextEdit="1"/>
              </p:cNvSpPr>
              <p:nvPr/>
            </p:nvSpPr>
            <p:spPr>
              <a:xfrm>
                <a:off x="838199" y="1828799"/>
                <a:ext cx="10515600" cy="4206241"/>
              </a:xfrm>
              <a:prstGeom prst="rect">
                <a:avLst/>
              </a:prstGeom>
              <a:blipFill>
                <a:blip r:embed="rId3"/>
                <a:stretch>
                  <a:fillRect l="-483" t="-602"/>
                </a:stretch>
              </a:blipFill>
            </p:spPr>
            <p:txBody>
              <a:bodyPr/>
              <a:lstStyle/>
              <a:p>
                <a:r>
                  <a:rPr lang="en-GB">
                    <a:noFill/>
                  </a:rPr>
                  <a:t> </a:t>
                </a:r>
              </a:p>
            </p:txBody>
          </p:sp>
        </mc:Fallback>
      </mc:AlternateContent>
      <p:sp>
        <p:nvSpPr>
          <p:cNvPr id="5" name="Espace réservé du pied de page 2">
            <a:extLst>
              <a:ext uri="{FF2B5EF4-FFF2-40B4-BE49-F238E27FC236}">
                <a16:creationId xmlns:a16="http://schemas.microsoft.com/office/drawing/2014/main" id="{280C3AF8-C45E-CEB2-2A8A-048DF2E73A3E}"/>
              </a:ext>
            </a:extLst>
          </p:cNvPr>
          <p:cNvSpPr>
            <a:spLocks noGrp="1"/>
          </p:cNvSpPr>
          <p:nvPr>
            <p:ph type="ftr" sz="quarter" idx="11"/>
          </p:nvPr>
        </p:nvSpPr>
        <p:spPr>
          <a:xfrm>
            <a:off x="4038600" y="6356350"/>
            <a:ext cx="4549346" cy="365125"/>
          </a:xfrm>
        </p:spPr>
        <p:txBody>
          <a:bodyPr/>
          <a:lstStyle/>
          <a:p>
            <a:r>
              <a:rPr lang="en-GB" noProof="1"/>
              <a:t>RNN. Author: David Thébault – Based on NLPDemystified.org</a:t>
            </a:r>
          </a:p>
        </p:txBody>
      </p:sp>
    </p:spTree>
    <p:extLst>
      <p:ext uri="{BB962C8B-B14F-4D97-AF65-F5344CB8AC3E}">
        <p14:creationId xmlns:p14="http://schemas.microsoft.com/office/powerpoint/2010/main" val="3575134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DD52C-9560-252A-987B-C7E33A39A480}"/>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13C8AB3B-6C02-E73C-3DAF-2D0DE0C862FB}"/>
              </a:ext>
            </a:extLst>
          </p:cNvPr>
          <p:cNvSpPr txBox="1"/>
          <p:nvPr/>
        </p:nvSpPr>
        <p:spPr>
          <a:xfrm>
            <a:off x="838199" y="1356532"/>
            <a:ext cx="8703365" cy="883402"/>
          </a:xfrm>
          <a:prstGeom prst="rect">
            <a:avLst/>
          </a:prstGeom>
          <a:noFill/>
        </p:spPr>
        <p:txBody>
          <a:bodyPr wrap="square" lIns="90000" rtlCol="0">
            <a:noAutofit/>
          </a:bodyPr>
          <a:lstStyle/>
          <a:p>
            <a:r>
              <a:rPr lang="en-GB" sz="2400" b="1" dirty="0">
                <a:latin typeface="ui-sans-serif"/>
              </a:rPr>
              <a:t>Process sentences as sequences with Recurrent Neural Network.</a:t>
            </a:r>
          </a:p>
          <a:p>
            <a:r>
              <a:rPr lang="en-GB" sz="2400" dirty="0">
                <a:latin typeface="ui-sans-serif"/>
              </a:rPr>
              <a:t>Simple Recurrent Neural Network</a:t>
            </a:r>
          </a:p>
          <a:p>
            <a:endParaRPr lang="en-GB" sz="2400" dirty="0">
              <a:latin typeface="ui-sans-serif"/>
            </a:endParaRPr>
          </a:p>
          <a:p>
            <a:endParaRPr lang="en-GB" sz="2400" dirty="0">
              <a:latin typeface="ui-sans-serif"/>
            </a:endParaRPr>
          </a:p>
        </p:txBody>
      </p:sp>
      <p:sp>
        <p:nvSpPr>
          <p:cNvPr id="2" name="Titre 1">
            <a:extLst>
              <a:ext uri="{FF2B5EF4-FFF2-40B4-BE49-F238E27FC236}">
                <a16:creationId xmlns:a16="http://schemas.microsoft.com/office/drawing/2014/main" id="{4B632051-9A49-2CBB-D52F-792CBA6B9F94}"/>
              </a:ext>
            </a:extLst>
          </p:cNvPr>
          <p:cNvSpPr>
            <a:spLocks noGrp="1"/>
          </p:cNvSpPr>
          <p:nvPr>
            <p:ph type="title"/>
          </p:nvPr>
        </p:nvSpPr>
        <p:spPr/>
        <p:txBody>
          <a:bodyPr/>
          <a:lstStyle/>
          <a:p>
            <a:pPr algn="ctr"/>
            <a:r>
              <a:rPr lang="en-GB" noProof="0" dirty="0"/>
              <a:t>Recurrent Neural Networks</a:t>
            </a:r>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F6FFFBF3-9573-0116-C98F-505F8C08969C}"/>
                  </a:ext>
                </a:extLst>
              </p:cNvPr>
              <p:cNvSpPr txBox="1"/>
              <p:nvPr/>
            </p:nvSpPr>
            <p:spPr>
              <a:xfrm>
                <a:off x="1344828" y="6051437"/>
                <a:ext cx="816495" cy="369332"/>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2400" b="0" i="1" smtClean="0">
                              <a:latin typeface="Cambria Math" panose="02040503050406030204" pitchFamily="18" charset="0"/>
                            </a:rPr>
                          </m:ctrlPr>
                        </m:sSubPr>
                        <m:e>
                          <m:r>
                            <a:rPr lang="fr-FR" sz="2400" b="0" i="1" smtClean="0">
                              <a:latin typeface="Cambria Math" panose="02040503050406030204" pitchFamily="18" charset="0"/>
                            </a:rPr>
                            <m:t> </m:t>
                          </m:r>
                          <m:r>
                            <a:rPr lang="fr-FR" sz="2400" b="0" i="1" smtClean="0">
                              <a:latin typeface="Cambria Math" panose="02040503050406030204" pitchFamily="18" charset="0"/>
                            </a:rPr>
                            <m:t>𝑋</m:t>
                          </m:r>
                        </m:e>
                        <m:sub>
                          <m:r>
                            <a:rPr lang="fr-FR" sz="2400" b="0" i="1" smtClean="0">
                              <a:latin typeface="Cambria Math" panose="02040503050406030204" pitchFamily="18" charset="0"/>
                            </a:rPr>
                            <m:t>𝑡</m:t>
                          </m:r>
                        </m:sub>
                      </m:sSub>
                    </m:oMath>
                  </m:oMathPara>
                </a14:m>
                <a:endParaRPr lang="en-GB" sz="2400" dirty="0"/>
              </a:p>
            </p:txBody>
          </p:sp>
        </mc:Choice>
        <mc:Fallback xmlns="">
          <p:sp>
            <p:nvSpPr>
              <p:cNvPr id="5" name="ZoneTexte 4">
                <a:extLst>
                  <a:ext uri="{FF2B5EF4-FFF2-40B4-BE49-F238E27FC236}">
                    <a16:creationId xmlns:a16="http://schemas.microsoft.com/office/drawing/2014/main" id="{F6FFFBF3-9573-0116-C98F-505F8C08969C}"/>
                  </a:ext>
                </a:extLst>
              </p:cNvPr>
              <p:cNvSpPr txBox="1">
                <a:spLocks noRot="1" noChangeAspect="1" noMove="1" noResize="1" noEditPoints="1" noAdjustHandles="1" noChangeArrowheads="1" noChangeShapeType="1" noTextEdit="1"/>
              </p:cNvSpPr>
              <p:nvPr/>
            </p:nvSpPr>
            <p:spPr>
              <a:xfrm>
                <a:off x="1344828" y="6051437"/>
                <a:ext cx="816495" cy="369332"/>
              </a:xfrm>
              <a:prstGeom prst="rect">
                <a:avLst/>
              </a:prstGeom>
              <a:blipFill>
                <a:blip r:embed="rId3"/>
                <a:stretch>
                  <a:fillRect t="-10000"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FAE3F91D-2F85-2652-A184-6B1C813477F1}"/>
                  </a:ext>
                </a:extLst>
              </p:cNvPr>
              <p:cNvSpPr txBox="1"/>
              <p:nvPr/>
            </p:nvSpPr>
            <p:spPr>
              <a:xfrm>
                <a:off x="1629628" y="4903931"/>
                <a:ext cx="262508" cy="276999"/>
              </a:xfrm>
              <a:prstGeom prst="rect">
                <a:avLst/>
              </a:prstGeom>
              <a:noFill/>
            </p:spPr>
            <p:txBody>
              <a:bodyPr wrap="non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h</m:t>
                          </m:r>
                        </m:e>
                        <m:sub>
                          <m:r>
                            <a:rPr lang="fr-FR" b="0" i="1" smtClean="0">
                              <a:latin typeface="Cambria Math" panose="02040503050406030204" pitchFamily="18" charset="0"/>
                            </a:rPr>
                            <m:t>𝑡</m:t>
                          </m:r>
                        </m:sub>
                      </m:sSub>
                    </m:oMath>
                  </m:oMathPara>
                </a14:m>
                <a:endParaRPr lang="en-GB" dirty="0"/>
              </a:p>
            </p:txBody>
          </p:sp>
        </mc:Choice>
        <mc:Fallback xmlns="">
          <p:sp>
            <p:nvSpPr>
              <p:cNvPr id="6" name="ZoneTexte 5">
                <a:extLst>
                  <a:ext uri="{FF2B5EF4-FFF2-40B4-BE49-F238E27FC236}">
                    <a16:creationId xmlns:a16="http://schemas.microsoft.com/office/drawing/2014/main" id="{FAE3F91D-2F85-2652-A184-6B1C813477F1}"/>
                  </a:ext>
                </a:extLst>
              </p:cNvPr>
              <p:cNvSpPr txBox="1">
                <a:spLocks noRot="1" noChangeAspect="1" noMove="1" noResize="1" noEditPoints="1" noAdjustHandles="1" noChangeArrowheads="1" noChangeShapeType="1" noTextEdit="1"/>
              </p:cNvSpPr>
              <p:nvPr/>
            </p:nvSpPr>
            <p:spPr>
              <a:xfrm>
                <a:off x="1629628" y="4903931"/>
                <a:ext cx="262508" cy="276999"/>
              </a:xfrm>
              <a:prstGeom prst="rect">
                <a:avLst/>
              </a:prstGeom>
              <a:blipFill>
                <a:blip r:embed="rId4"/>
                <a:stretch>
                  <a:fillRect l="-23810" r="-9524" b="-8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8CA7BA9F-F474-2CD8-178B-A148BD55B11B}"/>
                  </a:ext>
                </a:extLst>
              </p:cNvPr>
              <p:cNvSpPr txBox="1"/>
              <p:nvPr/>
            </p:nvSpPr>
            <p:spPr>
              <a:xfrm>
                <a:off x="1554522" y="4063358"/>
                <a:ext cx="33445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2400" b="0" i="1" smtClean="0">
                              <a:latin typeface="Cambria Math" panose="02040503050406030204" pitchFamily="18" charset="0"/>
                            </a:rPr>
                          </m:ctrlPr>
                        </m:sSubPr>
                        <m:e>
                          <m:r>
                            <a:rPr lang="fr-FR" sz="2400" b="0" i="1" smtClean="0">
                              <a:latin typeface="Cambria Math" panose="02040503050406030204" pitchFamily="18" charset="0"/>
                            </a:rPr>
                            <m:t>𝑜</m:t>
                          </m:r>
                        </m:e>
                        <m:sub>
                          <m:r>
                            <a:rPr lang="fr-FR" sz="2400" b="0" i="1" smtClean="0">
                              <a:latin typeface="Cambria Math" panose="02040503050406030204" pitchFamily="18" charset="0"/>
                            </a:rPr>
                            <m:t>𝑡</m:t>
                          </m:r>
                        </m:sub>
                      </m:sSub>
                    </m:oMath>
                  </m:oMathPara>
                </a14:m>
                <a:endParaRPr lang="en-GB" sz="2400" dirty="0"/>
              </a:p>
            </p:txBody>
          </p:sp>
        </mc:Choice>
        <mc:Fallback xmlns="">
          <p:sp>
            <p:nvSpPr>
              <p:cNvPr id="7" name="ZoneTexte 6">
                <a:extLst>
                  <a:ext uri="{FF2B5EF4-FFF2-40B4-BE49-F238E27FC236}">
                    <a16:creationId xmlns:a16="http://schemas.microsoft.com/office/drawing/2014/main" id="{8CA7BA9F-F474-2CD8-178B-A148BD55B11B}"/>
                  </a:ext>
                </a:extLst>
              </p:cNvPr>
              <p:cNvSpPr txBox="1">
                <a:spLocks noRot="1" noChangeAspect="1" noMove="1" noResize="1" noEditPoints="1" noAdjustHandles="1" noChangeArrowheads="1" noChangeShapeType="1" noTextEdit="1"/>
              </p:cNvSpPr>
              <p:nvPr/>
            </p:nvSpPr>
            <p:spPr>
              <a:xfrm>
                <a:off x="1554522" y="4063358"/>
                <a:ext cx="334451" cy="369332"/>
              </a:xfrm>
              <a:prstGeom prst="rect">
                <a:avLst/>
              </a:prstGeom>
              <a:blipFill>
                <a:blip r:embed="rId5"/>
                <a:stretch>
                  <a:fillRect l="-11111" r="-7407" b="-13793"/>
                </a:stretch>
              </a:blipFill>
            </p:spPr>
            <p:txBody>
              <a:bodyPr/>
              <a:lstStyle/>
              <a:p>
                <a:r>
                  <a:rPr lang="en-GB">
                    <a:noFill/>
                  </a:rPr>
                  <a:t> </a:t>
                </a:r>
              </a:p>
            </p:txBody>
          </p:sp>
        </mc:Fallback>
      </mc:AlternateContent>
      <p:cxnSp>
        <p:nvCxnSpPr>
          <p:cNvPr id="10" name="Connecteur droit avec flèche 9">
            <a:extLst>
              <a:ext uri="{FF2B5EF4-FFF2-40B4-BE49-F238E27FC236}">
                <a16:creationId xmlns:a16="http://schemas.microsoft.com/office/drawing/2014/main" id="{A0A3A0B9-87AA-3CA1-D689-2DBAF3ABA93E}"/>
              </a:ext>
            </a:extLst>
          </p:cNvPr>
          <p:cNvCxnSpPr>
            <a:cxnSpLocks/>
            <a:stCxn id="16" idx="0"/>
          </p:cNvCxnSpPr>
          <p:nvPr/>
        </p:nvCxnSpPr>
        <p:spPr>
          <a:xfrm flipH="1" flipV="1">
            <a:off x="1737680" y="4451423"/>
            <a:ext cx="5558" cy="3769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Connecteur droit avec flèche 11">
            <a:extLst>
              <a:ext uri="{FF2B5EF4-FFF2-40B4-BE49-F238E27FC236}">
                <a16:creationId xmlns:a16="http://schemas.microsoft.com/office/drawing/2014/main" id="{A6F7999D-2969-0EFC-45F6-5AC469F0CED7}"/>
              </a:ext>
            </a:extLst>
          </p:cNvPr>
          <p:cNvCxnSpPr>
            <a:cxnSpLocks/>
            <a:stCxn id="5" idx="0"/>
          </p:cNvCxnSpPr>
          <p:nvPr/>
        </p:nvCxnSpPr>
        <p:spPr>
          <a:xfrm flipH="1" flipV="1">
            <a:off x="1751229" y="5590420"/>
            <a:ext cx="1847" cy="4610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5" name="ZoneTexte 24">
                <a:extLst>
                  <a:ext uri="{FF2B5EF4-FFF2-40B4-BE49-F238E27FC236}">
                    <a16:creationId xmlns:a16="http://schemas.microsoft.com/office/drawing/2014/main" id="{A9105D05-D332-5A9D-11F3-06B94A1BFAE8}"/>
                  </a:ext>
                </a:extLst>
              </p:cNvPr>
              <p:cNvSpPr txBox="1"/>
              <p:nvPr/>
            </p:nvSpPr>
            <p:spPr>
              <a:xfrm>
                <a:off x="601621" y="4972926"/>
                <a:ext cx="48212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h</m:t>
                          </m:r>
                        </m:e>
                        <m:sub>
                          <m:r>
                            <a:rPr lang="fr-FR" b="0" i="1" smtClean="0">
                              <a:latin typeface="Cambria Math" panose="02040503050406030204" pitchFamily="18" charset="0"/>
                            </a:rPr>
                            <m:t>𝑡</m:t>
                          </m:r>
                          <m:r>
                            <a:rPr lang="fr-FR" b="0" i="1" smtClean="0">
                              <a:latin typeface="Cambria Math" panose="02040503050406030204" pitchFamily="18" charset="0"/>
                            </a:rPr>
                            <m:t>−1</m:t>
                          </m:r>
                        </m:sub>
                      </m:sSub>
                    </m:oMath>
                  </m:oMathPara>
                </a14:m>
                <a:endParaRPr lang="en-GB" dirty="0"/>
              </a:p>
            </p:txBody>
          </p:sp>
        </mc:Choice>
        <mc:Fallback xmlns="">
          <p:sp>
            <p:nvSpPr>
              <p:cNvPr id="25" name="ZoneTexte 24">
                <a:extLst>
                  <a:ext uri="{FF2B5EF4-FFF2-40B4-BE49-F238E27FC236}">
                    <a16:creationId xmlns:a16="http://schemas.microsoft.com/office/drawing/2014/main" id="{A9105D05-D332-5A9D-11F3-06B94A1BFAE8}"/>
                  </a:ext>
                </a:extLst>
              </p:cNvPr>
              <p:cNvSpPr txBox="1">
                <a:spLocks noRot="1" noChangeAspect="1" noMove="1" noResize="1" noEditPoints="1" noAdjustHandles="1" noChangeArrowheads="1" noChangeShapeType="1" noTextEdit="1"/>
              </p:cNvSpPr>
              <p:nvPr/>
            </p:nvSpPr>
            <p:spPr>
              <a:xfrm>
                <a:off x="601621" y="4972926"/>
                <a:ext cx="482120" cy="276999"/>
              </a:xfrm>
              <a:prstGeom prst="rect">
                <a:avLst/>
              </a:prstGeom>
              <a:blipFill>
                <a:blip r:embed="rId6"/>
                <a:stretch>
                  <a:fillRect l="-12821" r="-2564" b="-130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ZoneTexte 25">
                <a:extLst>
                  <a:ext uri="{FF2B5EF4-FFF2-40B4-BE49-F238E27FC236}">
                    <a16:creationId xmlns:a16="http://schemas.microsoft.com/office/drawing/2014/main" id="{0D0AAABF-4168-1F3A-5080-4564FDF621FD}"/>
                  </a:ext>
                </a:extLst>
              </p:cNvPr>
              <p:cNvSpPr txBox="1"/>
              <p:nvPr/>
            </p:nvSpPr>
            <p:spPr>
              <a:xfrm>
                <a:off x="4777378" y="4639921"/>
                <a:ext cx="6974685" cy="1443664"/>
              </a:xfrm>
              <a:prstGeom prst="rect">
                <a:avLst/>
              </a:prstGeom>
              <a:noFill/>
            </p:spPr>
            <p:txBody>
              <a:bodyPr wrap="square" rtlCol="0">
                <a:noAutofit/>
              </a:bodyPr>
              <a:lstStyle/>
              <a:p>
                <a:r>
                  <a:rPr lang="en-GB" sz="1400" dirty="0"/>
                  <a:t>Recurrent connection</a:t>
                </a:r>
              </a:p>
              <a:p>
                <a:endParaRPr lang="en-GB" sz="1400" dirty="0"/>
              </a:p>
              <a:p>
                <a:r>
                  <a:rPr lang="en-GB" sz="1400" dirty="0"/>
                  <a:t>At the time step t, the output hidden layer receives </a:t>
                </a:r>
                <a:r>
                  <a:rPr lang="en-GB" sz="1400" b="1" dirty="0"/>
                  <a:t>two</a:t>
                </a:r>
                <a:r>
                  <a:rPr lang="en-GB" sz="1400" dirty="0"/>
                  <a:t> inputs from:</a:t>
                </a:r>
              </a:p>
              <a:p>
                <a:endParaRPr lang="en-GB" sz="1400" dirty="0"/>
              </a:p>
              <a:p>
                <a:pPr marL="342900" indent="-342900">
                  <a:buAutoNum type="arabicPeriod"/>
                </a:pPr>
                <a:r>
                  <a:rPr lang="en-GB" sz="1400" dirty="0"/>
                  <a:t>The current input </a:t>
                </a:r>
                <a14:m>
                  <m:oMath xmlns:m="http://schemas.openxmlformats.org/officeDocument/2006/math">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𝑋</m:t>
                        </m:r>
                      </m:e>
                      <m:sub>
                        <m:r>
                          <a:rPr lang="fr-FR" sz="1400" b="0" i="1" smtClean="0">
                            <a:latin typeface="Cambria Math" panose="02040503050406030204" pitchFamily="18" charset="0"/>
                          </a:rPr>
                          <m:t>𝑡</m:t>
                        </m:r>
                      </m:sub>
                    </m:sSub>
                  </m:oMath>
                </a14:m>
                <a:r>
                  <a:rPr lang="en-GB" sz="1400" dirty="0"/>
                  <a:t> </a:t>
                </a:r>
              </a:p>
              <a:p>
                <a:pPr marL="342900" indent="-342900">
                  <a:buAutoNum type="arabicPeriod"/>
                </a:pPr>
                <a:r>
                  <a:rPr lang="en-GB" sz="1400" dirty="0"/>
                  <a:t>The output of the hidden layer from the previous time step.</a:t>
                </a:r>
              </a:p>
            </p:txBody>
          </p:sp>
        </mc:Choice>
        <mc:Fallback xmlns="">
          <p:sp>
            <p:nvSpPr>
              <p:cNvPr id="26" name="ZoneTexte 25">
                <a:extLst>
                  <a:ext uri="{FF2B5EF4-FFF2-40B4-BE49-F238E27FC236}">
                    <a16:creationId xmlns:a16="http://schemas.microsoft.com/office/drawing/2014/main" id="{0D0AAABF-4168-1F3A-5080-4564FDF621FD}"/>
                  </a:ext>
                </a:extLst>
              </p:cNvPr>
              <p:cNvSpPr txBox="1">
                <a:spLocks noRot="1" noChangeAspect="1" noMove="1" noResize="1" noEditPoints="1" noAdjustHandles="1" noChangeArrowheads="1" noChangeShapeType="1" noTextEdit="1"/>
              </p:cNvSpPr>
              <p:nvPr/>
            </p:nvSpPr>
            <p:spPr>
              <a:xfrm>
                <a:off x="4777378" y="4639921"/>
                <a:ext cx="6974685" cy="1443664"/>
              </a:xfrm>
              <a:prstGeom prst="rect">
                <a:avLst/>
              </a:prstGeom>
              <a:blipFill>
                <a:blip r:embed="rId7"/>
                <a:stretch>
                  <a:fillRect l="-364" t="-870"/>
                </a:stretch>
              </a:blipFill>
            </p:spPr>
            <p:txBody>
              <a:bodyPr/>
              <a:lstStyle/>
              <a:p>
                <a:r>
                  <a:rPr lang="en-GB">
                    <a:noFill/>
                  </a:rPr>
                  <a:t> </a:t>
                </a:r>
              </a:p>
            </p:txBody>
          </p:sp>
        </mc:Fallback>
      </mc:AlternateContent>
      <p:cxnSp>
        <p:nvCxnSpPr>
          <p:cNvPr id="14" name="Connecteur droit 13">
            <a:extLst>
              <a:ext uri="{FF2B5EF4-FFF2-40B4-BE49-F238E27FC236}">
                <a16:creationId xmlns:a16="http://schemas.microsoft.com/office/drawing/2014/main" id="{616D0A15-3EB5-0A51-2C4C-6C892A66B191}"/>
              </a:ext>
            </a:extLst>
          </p:cNvPr>
          <p:cNvCxnSpPr>
            <a:cxnSpLocks/>
            <a:stCxn id="16" idx="6"/>
            <a:endCxn id="16" idx="2"/>
          </p:cNvCxnSpPr>
          <p:nvPr/>
        </p:nvCxnSpPr>
        <p:spPr>
          <a:xfrm flipH="1">
            <a:off x="1394256" y="5209094"/>
            <a:ext cx="697964" cy="0"/>
          </a:xfrm>
          <a:prstGeom prst="line">
            <a:avLst/>
          </a:prstGeom>
          <a:ln w="12700"/>
        </p:spPr>
        <p:style>
          <a:lnRef idx="2">
            <a:schemeClr val="accent1"/>
          </a:lnRef>
          <a:fillRef idx="0">
            <a:schemeClr val="accent1"/>
          </a:fillRef>
          <a:effectRef idx="1">
            <a:schemeClr val="accent1"/>
          </a:effectRef>
          <a:fontRef idx="minor">
            <a:schemeClr val="tx1"/>
          </a:fontRef>
        </p:style>
      </p:cxnSp>
      <p:sp>
        <p:nvSpPr>
          <p:cNvPr id="16" name="Ellipse 15">
            <a:extLst>
              <a:ext uri="{FF2B5EF4-FFF2-40B4-BE49-F238E27FC236}">
                <a16:creationId xmlns:a16="http://schemas.microsoft.com/office/drawing/2014/main" id="{F56D7F54-D9E4-06C6-7ED9-A756420D7BB5}"/>
              </a:ext>
            </a:extLst>
          </p:cNvPr>
          <p:cNvSpPr/>
          <p:nvPr/>
        </p:nvSpPr>
        <p:spPr>
          <a:xfrm>
            <a:off x="1394256" y="4828420"/>
            <a:ext cx="697964" cy="761348"/>
          </a:xfrm>
          <a:prstGeom prst="ellipse">
            <a:avLst/>
          </a:prstGeom>
          <a:no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Connecteur en arc 19">
            <a:extLst>
              <a:ext uri="{FF2B5EF4-FFF2-40B4-BE49-F238E27FC236}">
                <a16:creationId xmlns:a16="http://schemas.microsoft.com/office/drawing/2014/main" id="{89E9E237-12AA-4702-A305-0A4B797BB5C9}"/>
              </a:ext>
            </a:extLst>
          </p:cNvPr>
          <p:cNvCxnSpPr>
            <a:cxnSpLocks/>
            <a:stCxn id="16" idx="1"/>
            <a:endCxn id="16" idx="3"/>
          </p:cNvCxnSpPr>
          <p:nvPr/>
        </p:nvCxnSpPr>
        <p:spPr>
          <a:xfrm rot="16200000" flipH="1">
            <a:off x="1227293" y="5209094"/>
            <a:ext cx="538354" cy="12700"/>
          </a:xfrm>
          <a:prstGeom prst="curvedConnector5">
            <a:avLst>
              <a:gd name="adj1" fmla="val -42463"/>
              <a:gd name="adj2" fmla="val -3135701"/>
              <a:gd name="adj3" fmla="val 142463"/>
            </a:avLst>
          </a:prstGeom>
          <a:ln w="15875">
            <a:tailEnd type="triangle"/>
          </a:ln>
        </p:spPr>
        <p:style>
          <a:lnRef idx="2">
            <a:schemeClr val="accent1"/>
          </a:lnRef>
          <a:fillRef idx="0">
            <a:schemeClr val="accent1"/>
          </a:fillRef>
          <a:effectRef idx="1">
            <a:schemeClr val="accent1"/>
          </a:effectRef>
          <a:fontRef idx="minor">
            <a:schemeClr val="tx1"/>
          </a:fontRef>
        </p:style>
      </p:cxnSp>
      <p:sp>
        <p:nvSpPr>
          <p:cNvPr id="36" name="Espace réservé du pied de page 2">
            <a:extLst>
              <a:ext uri="{FF2B5EF4-FFF2-40B4-BE49-F238E27FC236}">
                <a16:creationId xmlns:a16="http://schemas.microsoft.com/office/drawing/2014/main" id="{D7D0E3E7-25C0-9D8D-82BA-4AB8971B9864}"/>
              </a:ext>
            </a:extLst>
          </p:cNvPr>
          <p:cNvSpPr>
            <a:spLocks noGrp="1"/>
          </p:cNvSpPr>
          <p:nvPr>
            <p:ph type="ftr" sz="quarter" idx="11"/>
          </p:nvPr>
        </p:nvSpPr>
        <p:spPr>
          <a:xfrm>
            <a:off x="4038600" y="6356350"/>
            <a:ext cx="4549346" cy="365125"/>
          </a:xfrm>
        </p:spPr>
        <p:txBody>
          <a:bodyPr/>
          <a:lstStyle/>
          <a:p>
            <a:r>
              <a:rPr lang="en-GB" noProof="1"/>
              <a:t>RNN. Author: David Thébault – Based on NLPDemystified.org</a:t>
            </a:r>
          </a:p>
        </p:txBody>
      </p:sp>
      <mc:AlternateContent xmlns:mc="http://schemas.openxmlformats.org/markup-compatibility/2006" xmlns:a14="http://schemas.microsoft.com/office/drawing/2010/main">
        <mc:Choice Requires="a14">
          <p:sp>
            <p:nvSpPr>
              <p:cNvPr id="39" name="ZoneTexte 38">
                <a:extLst>
                  <a:ext uri="{FF2B5EF4-FFF2-40B4-BE49-F238E27FC236}">
                    <a16:creationId xmlns:a16="http://schemas.microsoft.com/office/drawing/2014/main" id="{FE4E900D-D708-D75C-37E9-7440E1ACE6E3}"/>
                  </a:ext>
                </a:extLst>
              </p:cNvPr>
              <p:cNvSpPr txBox="1"/>
              <p:nvPr/>
            </p:nvSpPr>
            <p:spPr>
              <a:xfrm>
                <a:off x="1546152" y="3502329"/>
                <a:ext cx="34291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2400" b="0" i="1" smtClean="0">
                              <a:latin typeface="Cambria Math" panose="02040503050406030204" pitchFamily="18" charset="0"/>
                            </a:rPr>
                          </m:ctrlPr>
                        </m:sSubPr>
                        <m:e>
                          <m:acc>
                            <m:accPr>
                              <m:chr m:val="̂"/>
                              <m:ctrlPr>
                                <a:rPr lang="fr-FR" sz="2400" b="0" i="1" smtClean="0">
                                  <a:latin typeface="Cambria Math" panose="02040503050406030204" pitchFamily="18" charset="0"/>
                                </a:rPr>
                              </m:ctrlPr>
                            </m:accPr>
                            <m:e>
                              <m:r>
                                <a:rPr lang="fr-FR" sz="2400" b="0" i="1" smtClean="0">
                                  <a:latin typeface="Cambria Math" panose="02040503050406030204" pitchFamily="18" charset="0"/>
                                </a:rPr>
                                <m:t>𝑦</m:t>
                              </m:r>
                            </m:e>
                          </m:acc>
                        </m:e>
                        <m:sub>
                          <m:r>
                            <a:rPr lang="fr-FR" sz="2400" b="0" i="1" smtClean="0">
                              <a:latin typeface="Cambria Math" panose="02040503050406030204" pitchFamily="18" charset="0"/>
                            </a:rPr>
                            <m:t>𝑡</m:t>
                          </m:r>
                        </m:sub>
                      </m:sSub>
                    </m:oMath>
                  </m:oMathPara>
                </a14:m>
                <a:endParaRPr lang="en-GB" sz="2400" dirty="0"/>
              </a:p>
            </p:txBody>
          </p:sp>
        </mc:Choice>
        <mc:Fallback xmlns="">
          <p:sp>
            <p:nvSpPr>
              <p:cNvPr id="39" name="ZoneTexte 38">
                <a:extLst>
                  <a:ext uri="{FF2B5EF4-FFF2-40B4-BE49-F238E27FC236}">
                    <a16:creationId xmlns:a16="http://schemas.microsoft.com/office/drawing/2014/main" id="{FE4E900D-D708-D75C-37E9-7440E1ACE6E3}"/>
                  </a:ext>
                </a:extLst>
              </p:cNvPr>
              <p:cNvSpPr txBox="1">
                <a:spLocks noRot="1" noChangeAspect="1" noMove="1" noResize="1" noEditPoints="1" noAdjustHandles="1" noChangeArrowheads="1" noChangeShapeType="1" noTextEdit="1"/>
              </p:cNvSpPr>
              <p:nvPr/>
            </p:nvSpPr>
            <p:spPr>
              <a:xfrm>
                <a:off x="1546152" y="3502329"/>
                <a:ext cx="342914" cy="369332"/>
              </a:xfrm>
              <a:prstGeom prst="rect">
                <a:avLst/>
              </a:prstGeom>
              <a:blipFill>
                <a:blip r:embed="rId8"/>
                <a:stretch>
                  <a:fillRect l="-17857" t="-20690" r="-7143" b="-2413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ZoneTexte 39">
                <a:extLst>
                  <a:ext uri="{FF2B5EF4-FFF2-40B4-BE49-F238E27FC236}">
                    <a16:creationId xmlns:a16="http://schemas.microsoft.com/office/drawing/2014/main" id="{295CF123-0701-D360-B1F5-706A04386E38}"/>
                  </a:ext>
                </a:extLst>
              </p:cNvPr>
              <p:cNvSpPr txBox="1"/>
              <p:nvPr/>
            </p:nvSpPr>
            <p:spPr>
              <a:xfrm>
                <a:off x="1577974" y="2941298"/>
                <a:ext cx="34419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2400" b="0" i="1" smtClean="0">
                              <a:solidFill>
                                <a:srgbClr val="FF0000"/>
                              </a:solidFill>
                              <a:latin typeface="Cambria Math" panose="02040503050406030204" pitchFamily="18" charset="0"/>
                            </a:rPr>
                          </m:ctrlPr>
                        </m:sSubPr>
                        <m:e>
                          <m:r>
                            <a:rPr lang="fr-FR" sz="2400" b="0" i="1" smtClean="0">
                              <a:solidFill>
                                <a:srgbClr val="FF0000"/>
                              </a:solidFill>
                              <a:latin typeface="Cambria Math" panose="02040503050406030204" pitchFamily="18" charset="0"/>
                            </a:rPr>
                            <m:t>𝐿</m:t>
                          </m:r>
                        </m:e>
                        <m:sub>
                          <m:r>
                            <a:rPr lang="fr-FR" sz="2400" b="0" i="1" smtClean="0">
                              <a:solidFill>
                                <a:srgbClr val="FF0000"/>
                              </a:solidFill>
                              <a:latin typeface="Cambria Math" panose="02040503050406030204" pitchFamily="18" charset="0"/>
                            </a:rPr>
                            <m:t>𝑡</m:t>
                          </m:r>
                        </m:sub>
                      </m:sSub>
                    </m:oMath>
                  </m:oMathPara>
                </a14:m>
                <a:endParaRPr lang="en-GB" sz="2400" dirty="0">
                  <a:solidFill>
                    <a:srgbClr val="FF0000"/>
                  </a:solidFill>
                </a:endParaRPr>
              </a:p>
            </p:txBody>
          </p:sp>
        </mc:Choice>
        <mc:Fallback xmlns="">
          <p:sp>
            <p:nvSpPr>
              <p:cNvPr id="40" name="ZoneTexte 39">
                <a:extLst>
                  <a:ext uri="{FF2B5EF4-FFF2-40B4-BE49-F238E27FC236}">
                    <a16:creationId xmlns:a16="http://schemas.microsoft.com/office/drawing/2014/main" id="{295CF123-0701-D360-B1F5-706A04386E38}"/>
                  </a:ext>
                </a:extLst>
              </p:cNvPr>
              <p:cNvSpPr txBox="1">
                <a:spLocks noRot="1" noChangeAspect="1" noMove="1" noResize="1" noEditPoints="1" noAdjustHandles="1" noChangeArrowheads="1" noChangeShapeType="1" noTextEdit="1"/>
              </p:cNvSpPr>
              <p:nvPr/>
            </p:nvSpPr>
            <p:spPr>
              <a:xfrm>
                <a:off x="1577974" y="2941298"/>
                <a:ext cx="344197" cy="369332"/>
              </a:xfrm>
              <a:prstGeom prst="rect">
                <a:avLst/>
              </a:prstGeom>
              <a:blipFill>
                <a:blip r:embed="rId9"/>
                <a:stretch>
                  <a:fillRect l="-21429" r="-7143" b="-1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1" name="ZoneTexte 40">
                <a:extLst>
                  <a:ext uri="{FF2B5EF4-FFF2-40B4-BE49-F238E27FC236}">
                    <a16:creationId xmlns:a16="http://schemas.microsoft.com/office/drawing/2014/main" id="{2F269B47-48D8-C550-10EA-0FA8F5C348E1}"/>
                  </a:ext>
                </a:extLst>
              </p:cNvPr>
              <p:cNvSpPr txBox="1"/>
              <p:nvPr/>
            </p:nvSpPr>
            <p:spPr>
              <a:xfrm>
                <a:off x="1616488" y="2293402"/>
                <a:ext cx="34291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2400" b="0" i="1" smtClean="0">
                              <a:solidFill>
                                <a:schemeClr val="tx1"/>
                              </a:solidFill>
                              <a:latin typeface="Cambria Math" panose="02040503050406030204" pitchFamily="18" charset="0"/>
                            </a:rPr>
                          </m:ctrlPr>
                        </m:sSubPr>
                        <m:e>
                          <m:r>
                            <a:rPr lang="fr-FR" sz="2400" b="0" i="1" smtClean="0">
                              <a:solidFill>
                                <a:schemeClr val="tx1"/>
                              </a:solidFill>
                              <a:latin typeface="Cambria Math" panose="02040503050406030204" pitchFamily="18" charset="0"/>
                            </a:rPr>
                            <m:t>𝑦</m:t>
                          </m:r>
                        </m:e>
                        <m:sub>
                          <m:r>
                            <a:rPr lang="fr-FR" sz="2400" b="0" i="1" smtClean="0">
                              <a:solidFill>
                                <a:schemeClr val="tx1"/>
                              </a:solidFill>
                              <a:latin typeface="Cambria Math" panose="02040503050406030204" pitchFamily="18" charset="0"/>
                            </a:rPr>
                            <m:t>𝑡</m:t>
                          </m:r>
                        </m:sub>
                      </m:sSub>
                    </m:oMath>
                  </m:oMathPara>
                </a14:m>
                <a:endParaRPr lang="en-GB" sz="2400" dirty="0">
                  <a:solidFill>
                    <a:schemeClr val="tx1"/>
                  </a:solidFill>
                </a:endParaRPr>
              </a:p>
            </p:txBody>
          </p:sp>
        </mc:Choice>
        <mc:Fallback xmlns="">
          <p:sp>
            <p:nvSpPr>
              <p:cNvPr id="41" name="ZoneTexte 40">
                <a:extLst>
                  <a:ext uri="{FF2B5EF4-FFF2-40B4-BE49-F238E27FC236}">
                    <a16:creationId xmlns:a16="http://schemas.microsoft.com/office/drawing/2014/main" id="{2F269B47-48D8-C550-10EA-0FA8F5C348E1}"/>
                  </a:ext>
                </a:extLst>
              </p:cNvPr>
              <p:cNvSpPr txBox="1">
                <a:spLocks noRot="1" noChangeAspect="1" noMove="1" noResize="1" noEditPoints="1" noAdjustHandles="1" noChangeArrowheads="1" noChangeShapeType="1" noTextEdit="1"/>
              </p:cNvSpPr>
              <p:nvPr/>
            </p:nvSpPr>
            <p:spPr>
              <a:xfrm>
                <a:off x="1616488" y="2293402"/>
                <a:ext cx="342914" cy="369332"/>
              </a:xfrm>
              <a:prstGeom prst="rect">
                <a:avLst/>
              </a:prstGeom>
              <a:blipFill>
                <a:blip r:embed="rId10"/>
                <a:stretch>
                  <a:fillRect l="-21429" r="-3571" b="-23333"/>
                </a:stretch>
              </a:blipFill>
            </p:spPr>
            <p:txBody>
              <a:bodyPr/>
              <a:lstStyle/>
              <a:p>
                <a:r>
                  <a:rPr lang="en-GB">
                    <a:noFill/>
                  </a:rPr>
                  <a:t> </a:t>
                </a:r>
              </a:p>
            </p:txBody>
          </p:sp>
        </mc:Fallback>
      </mc:AlternateContent>
      <p:cxnSp>
        <p:nvCxnSpPr>
          <p:cNvPr id="42" name="Connecteur droit avec flèche 41">
            <a:extLst>
              <a:ext uri="{FF2B5EF4-FFF2-40B4-BE49-F238E27FC236}">
                <a16:creationId xmlns:a16="http://schemas.microsoft.com/office/drawing/2014/main" id="{A419E3C5-12FD-B76F-4402-4437112B9E58}"/>
              </a:ext>
            </a:extLst>
          </p:cNvPr>
          <p:cNvCxnSpPr>
            <a:cxnSpLocks/>
          </p:cNvCxnSpPr>
          <p:nvPr/>
        </p:nvCxnSpPr>
        <p:spPr>
          <a:xfrm flipV="1">
            <a:off x="1737680" y="3932810"/>
            <a:ext cx="0" cy="1959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Connecteur droit avec flèche 45">
            <a:extLst>
              <a:ext uri="{FF2B5EF4-FFF2-40B4-BE49-F238E27FC236}">
                <a16:creationId xmlns:a16="http://schemas.microsoft.com/office/drawing/2014/main" id="{2A18B08A-1692-562F-4868-EFB1B3BBDD5A}"/>
              </a:ext>
            </a:extLst>
          </p:cNvPr>
          <p:cNvCxnSpPr>
            <a:cxnSpLocks/>
          </p:cNvCxnSpPr>
          <p:nvPr/>
        </p:nvCxnSpPr>
        <p:spPr>
          <a:xfrm>
            <a:off x="1769503" y="2690343"/>
            <a:ext cx="0" cy="2794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Connecteur droit avec flèche 48">
            <a:extLst>
              <a:ext uri="{FF2B5EF4-FFF2-40B4-BE49-F238E27FC236}">
                <a16:creationId xmlns:a16="http://schemas.microsoft.com/office/drawing/2014/main" id="{26668A7F-94F9-4B89-A878-265F35DBED6F}"/>
              </a:ext>
            </a:extLst>
          </p:cNvPr>
          <p:cNvCxnSpPr>
            <a:cxnSpLocks/>
          </p:cNvCxnSpPr>
          <p:nvPr/>
        </p:nvCxnSpPr>
        <p:spPr>
          <a:xfrm flipV="1">
            <a:off x="1739357" y="3311489"/>
            <a:ext cx="0" cy="1959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0" name="ZoneTexte 49">
            <a:extLst>
              <a:ext uri="{FF2B5EF4-FFF2-40B4-BE49-F238E27FC236}">
                <a16:creationId xmlns:a16="http://schemas.microsoft.com/office/drawing/2014/main" id="{69095A96-6E89-23A2-9148-BC092B072E5D}"/>
              </a:ext>
            </a:extLst>
          </p:cNvPr>
          <p:cNvSpPr txBox="1"/>
          <p:nvPr/>
        </p:nvSpPr>
        <p:spPr>
          <a:xfrm>
            <a:off x="3109918" y="2354957"/>
            <a:ext cx="1597688" cy="307777"/>
          </a:xfrm>
          <a:prstGeom prst="rect">
            <a:avLst/>
          </a:prstGeom>
          <a:noFill/>
        </p:spPr>
        <p:txBody>
          <a:bodyPr wrap="square" rtlCol="0">
            <a:spAutoFit/>
          </a:bodyPr>
          <a:lstStyle/>
          <a:p>
            <a:r>
              <a:rPr lang="en-GB" sz="1400" dirty="0"/>
              <a:t>The target</a:t>
            </a:r>
          </a:p>
        </p:txBody>
      </p:sp>
      <p:sp>
        <p:nvSpPr>
          <p:cNvPr id="51" name="ZoneTexte 50">
            <a:extLst>
              <a:ext uri="{FF2B5EF4-FFF2-40B4-BE49-F238E27FC236}">
                <a16:creationId xmlns:a16="http://schemas.microsoft.com/office/drawing/2014/main" id="{71C86432-ACD6-82BE-4020-80848F83F96A}"/>
              </a:ext>
            </a:extLst>
          </p:cNvPr>
          <p:cNvSpPr txBox="1"/>
          <p:nvPr/>
        </p:nvSpPr>
        <p:spPr>
          <a:xfrm>
            <a:off x="3109917" y="2957850"/>
            <a:ext cx="5119682" cy="307777"/>
          </a:xfrm>
          <a:prstGeom prst="rect">
            <a:avLst/>
          </a:prstGeom>
          <a:noFill/>
        </p:spPr>
        <p:txBody>
          <a:bodyPr wrap="square" rtlCol="0">
            <a:spAutoFit/>
          </a:bodyPr>
          <a:lstStyle/>
          <a:p>
            <a:r>
              <a:rPr lang="en-GB" sz="1400" dirty="0"/>
              <a:t>The loss (binary cross-entropy, categorical cross entropy…)</a:t>
            </a:r>
          </a:p>
        </p:txBody>
      </p:sp>
      <p:sp>
        <p:nvSpPr>
          <p:cNvPr id="52" name="ZoneTexte 51">
            <a:extLst>
              <a:ext uri="{FF2B5EF4-FFF2-40B4-BE49-F238E27FC236}">
                <a16:creationId xmlns:a16="http://schemas.microsoft.com/office/drawing/2014/main" id="{43A44730-DA91-801C-2263-8670370F42F4}"/>
              </a:ext>
            </a:extLst>
          </p:cNvPr>
          <p:cNvSpPr txBox="1"/>
          <p:nvPr/>
        </p:nvSpPr>
        <p:spPr>
          <a:xfrm>
            <a:off x="3145039" y="3512095"/>
            <a:ext cx="1493464" cy="307777"/>
          </a:xfrm>
          <a:prstGeom prst="rect">
            <a:avLst/>
          </a:prstGeom>
          <a:noFill/>
        </p:spPr>
        <p:txBody>
          <a:bodyPr wrap="square" rtlCol="0">
            <a:spAutoFit/>
          </a:bodyPr>
          <a:lstStyle/>
          <a:p>
            <a:r>
              <a:rPr lang="en-GB" sz="1400" dirty="0"/>
              <a:t>The prediction</a:t>
            </a:r>
          </a:p>
        </p:txBody>
      </p:sp>
      <p:sp>
        <p:nvSpPr>
          <p:cNvPr id="53" name="ZoneTexte 52">
            <a:extLst>
              <a:ext uri="{FF2B5EF4-FFF2-40B4-BE49-F238E27FC236}">
                <a16:creationId xmlns:a16="http://schemas.microsoft.com/office/drawing/2014/main" id="{15B6699B-C563-D71D-E9FD-29DCB2EF08DC}"/>
              </a:ext>
            </a:extLst>
          </p:cNvPr>
          <p:cNvSpPr txBox="1"/>
          <p:nvPr/>
        </p:nvSpPr>
        <p:spPr>
          <a:xfrm>
            <a:off x="3145039" y="4058917"/>
            <a:ext cx="1477199" cy="307777"/>
          </a:xfrm>
          <a:prstGeom prst="rect">
            <a:avLst/>
          </a:prstGeom>
          <a:noFill/>
        </p:spPr>
        <p:txBody>
          <a:bodyPr wrap="square" rtlCol="0">
            <a:spAutoFit/>
          </a:bodyPr>
          <a:lstStyle/>
          <a:p>
            <a:r>
              <a:rPr lang="en-GB" sz="1400" dirty="0"/>
              <a:t>The output layer</a:t>
            </a:r>
          </a:p>
        </p:txBody>
      </p:sp>
      <p:sp>
        <p:nvSpPr>
          <p:cNvPr id="54" name="ZoneTexte 53">
            <a:extLst>
              <a:ext uri="{FF2B5EF4-FFF2-40B4-BE49-F238E27FC236}">
                <a16:creationId xmlns:a16="http://schemas.microsoft.com/office/drawing/2014/main" id="{692E98AC-C35F-BCF5-6A52-DA56F7157407}"/>
              </a:ext>
            </a:extLst>
          </p:cNvPr>
          <p:cNvSpPr txBox="1"/>
          <p:nvPr/>
        </p:nvSpPr>
        <p:spPr>
          <a:xfrm>
            <a:off x="3161304" y="5183938"/>
            <a:ext cx="1477199" cy="307777"/>
          </a:xfrm>
          <a:prstGeom prst="rect">
            <a:avLst/>
          </a:prstGeom>
          <a:noFill/>
        </p:spPr>
        <p:txBody>
          <a:bodyPr wrap="square" rtlCol="0">
            <a:spAutoFit/>
          </a:bodyPr>
          <a:lstStyle/>
          <a:p>
            <a:r>
              <a:rPr lang="en-GB" sz="1400" dirty="0"/>
              <a:t>The hidden layer</a:t>
            </a:r>
          </a:p>
        </p:txBody>
      </p:sp>
      <p:sp>
        <p:nvSpPr>
          <p:cNvPr id="55" name="Accolade ouvrante 54">
            <a:extLst>
              <a:ext uri="{FF2B5EF4-FFF2-40B4-BE49-F238E27FC236}">
                <a16:creationId xmlns:a16="http://schemas.microsoft.com/office/drawing/2014/main" id="{21AD8458-3394-6CC9-42B1-E5E602957846}"/>
              </a:ext>
            </a:extLst>
          </p:cNvPr>
          <p:cNvSpPr/>
          <p:nvPr/>
        </p:nvSpPr>
        <p:spPr>
          <a:xfrm>
            <a:off x="4568167" y="4639921"/>
            <a:ext cx="295238" cy="1411516"/>
          </a:xfrm>
          <a:prstGeom prst="leftBrace">
            <a:avLst/>
          </a:prstGeom>
          <a:ln w="12700"/>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cxnSp>
        <p:nvCxnSpPr>
          <p:cNvPr id="59" name="Connecteur en angle 58">
            <a:extLst>
              <a:ext uri="{FF2B5EF4-FFF2-40B4-BE49-F238E27FC236}">
                <a16:creationId xmlns:a16="http://schemas.microsoft.com/office/drawing/2014/main" id="{5FA8F7D4-B591-5F01-1B1F-6DEB381958DC}"/>
              </a:ext>
            </a:extLst>
          </p:cNvPr>
          <p:cNvCxnSpPr>
            <a:stCxn id="53" idx="3"/>
            <a:endCxn id="52" idx="3"/>
          </p:cNvCxnSpPr>
          <p:nvPr/>
        </p:nvCxnSpPr>
        <p:spPr>
          <a:xfrm flipV="1">
            <a:off x="4622238" y="3665984"/>
            <a:ext cx="16265" cy="546822"/>
          </a:xfrm>
          <a:prstGeom prst="bentConnector3">
            <a:avLst>
              <a:gd name="adj1" fmla="val 1505472"/>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60" name="ZoneTexte 59">
            <a:extLst>
              <a:ext uri="{FF2B5EF4-FFF2-40B4-BE49-F238E27FC236}">
                <a16:creationId xmlns:a16="http://schemas.microsoft.com/office/drawing/2014/main" id="{9B245973-C866-8244-7BD6-094B6F7A6334}"/>
              </a:ext>
            </a:extLst>
          </p:cNvPr>
          <p:cNvSpPr txBox="1"/>
          <p:nvPr/>
        </p:nvSpPr>
        <p:spPr>
          <a:xfrm>
            <a:off x="5009760" y="3755949"/>
            <a:ext cx="3504032" cy="393649"/>
          </a:xfrm>
          <a:prstGeom prst="rect">
            <a:avLst/>
          </a:prstGeom>
          <a:noFill/>
        </p:spPr>
        <p:txBody>
          <a:bodyPr wrap="square" rtlCol="0">
            <a:noAutofit/>
          </a:bodyPr>
          <a:lstStyle/>
          <a:p>
            <a:r>
              <a:rPr lang="en-GB" sz="1400" noProof="0"/>
              <a:t>Activation function (sigmoid, softmax…)</a:t>
            </a:r>
          </a:p>
        </p:txBody>
      </p:sp>
    </p:spTree>
    <p:extLst>
      <p:ext uri="{BB962C8B-B14F-4D97-AF65-F5344CB8AC3E}">
        <p14:creationId xmlns:p14="http://schemas.microsoft.com/office/powerpoint/2010/main" val="2496361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7EA81-ADA1-3FC2-CA01-A467667E414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1B125D43-474D-263B-2ED8-9AC77250E0D7}"/>
                  </a:ext>
                </a:extLst>
              </p:cNvPr>
              <p:cNvSpPr txBox="1"/>
              <p:nvPr/>
            </p:nvSpPr>
            <p:spPr>
              <a:xfrm>
                <a:off x="838199" y="1356532"/>
                <a:ext cx="9933634" cy="883402"/>
              </a:xfrm>
              <a:prstGeom prst="rect">
                <a:avLst/>
              </a:prstGeom>
              <a:noFill/>
            </p:spPr>
            <p:txBody>
              <a:bodyPr wrap="square" lIns="90000" rtlCol="0">
                <a:noAutofit/>
              </a:bodyPr>
              <a:lstStyle/>
              <a:p>
                <a:r>
                  <a:rPr lang="en-GB" sz="2400" b="1" dirty="0">
                    <a:latin typeface="ui-sans-serif"/>
                  </a:rPr>
                  <a:t>Process sentences as sequences with Recurrent Neural Network.</a:t>
                </a:r>
              </a:p>
              <a:p>
                <a:r>
                  <a:rPr lang="en-GB" sz="2400" dirty="0">
                    <a:latin typeface="ui-sans-serif"/>
                  </a:rPr>
                  <a:t>Simple Recurrent Neural Network</a:t>
                </a:r>
              </a:p>
              <a:p>
                <a:r>
                  <a:rPr lang="en-GB" sz="1600" b="1" dirty="0">
                    <a:solidFill>
                      <a:srgbClr val="0070C0"/>
                    </a:solidFill>
                  </a:rPr>
                  <a:t>Adding in the schema their weights U, V, W to respectively </a:t>
                </a:r>
                <a14:m>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 </m:t>
                        </m:r>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sub>
                    </m:sSub>
                  </m:oMath>
                </a14:m>
                <a:r>
                  <a:rPr lang="en-GB" sz="1600" b="1" dirty="0">
                    <a:solidFill>
                      <a:srgbClr val="0070C0"/>
                    </a:solidFill>
                  </a:rPr>
                  <a:t>,</a:t>
                </a:r>
                <a:r>
                  <a:rPr lang="fr-FR" sz="1600" dirty="0"/>
                  <a:t> </a:t>
                </a:r>
                <a14:m>
                  <m:oMath xmlns:m="http://schemas.openxmlformats.org/officeDocument/2006/math">
                    <m:sSub>
                      <m:sSubPr>
                        <m:ctrlPr>
                          <a:rPr lang="fr-FR" sz="1600" i="1">
                            <a:latin typeface="Cambria Math" panose="02040503050406030204" pitchFamily="18" charset="0"/>
                          </a:rPr>
                        </m:ctrlPr>
                      </m:sSubPr>
                      <m:e>
                        <m:r>
                          <a:rPr lang="fr-FR" sz="1600" i="1">
                            <a:latin typeface="Cambria Math" panose="02040503050406030204" pitchFamily="18" charset="0"/>
                          </a:rPr>
                          <m:t>h</m:t>
                        </m:r>
                      </m:e>
                      <m:sub>
                        <m:r>
                          <a:rPr lang="fr-FR" sz="1600" i="1">
                            <a:latin typeface="Cambria Math" panose="02040503050406030204" pitchFamily="18" charset="0"/>
                          </a:rPr>
                          <m:t>𝑡</m:t>
                        </m:r>
                      </m:sub>
                    </m:sSub>
                  </m:oMath>
                </a14:m>
                <a:r>
                  <a:rPr lang="en-GB" sz="1600" b="1" dirty="0">
                    <a:solidFill>
                      <a:srgbClr val="0070C0"/>
                    </a:solidFill>
                  </a:rPr>
                  <a:t>, </a:t>
                </a:r>
                <a14:m>
                  <m:oMath xmlns:m="http://schemas.openxmlformats.org/officeDocument/2006/math">
                    <m:sSub>
                      <m:sSubPr>
                        <m:ctrlPr>
                          <a:rPr lang="fr-FR" sz="1600" i="1">
                            <a:latin typeface="Cambria Math" panose="02040503050406030204" pitchFamily="18" charset="0"/>
                          </a:rPr>
                        </m:ctrlPr>
                      </m:sSubPr>
                      <m:e>
                        <m:r>
                          <a:rPr lang="fr-FR" sz="1600" i="1">
                            <a:latin typeface="Cambria Math" panose="02040503050406030204" pitchFamily="18" charset="0"/>
                          </a:rPr>
                          <m:t>h</m:t>
                        </m:r>
                      </m:e>
                      <m:sub>
                        <m:r>
                          <a:rPr lang="fr-FR" sz="1600" i="1">
                            <a:latin typeface="Cambria Math" panose="02040503050406030204" pitchFamily="18" charset="0"/>
                          </a:rPr>
                          <m:t>𝑡</m:t>
                        </m:r>
                        <m:r>
                          <a:rPr lang="fr-FR" sz="1600" i="1">
                            <a:latin typeface="Cambria Math" panose="02040503050406030204" pitchFamily="18" charset="0"/>
                          </a:rPr>
                          <m:t>−1</m:t>
                        </m:r>
                      </m:sub>
                    </m:sSub>
                  </m:oMath>
                </a14:m>
                <a:r>
                  <a:rPr lang="en-GB" sz="1600" b="1" dirty="0">
                    <a:solidFill>
                      <a:srgbClr val="0070C0"/>
                    </a:solidFill>
                  </a:rPr>
                  <a:t>  </a:t>
                </a:r>
              </a:p>
              <a:p>
                <a:endParaRPr lang="en-GB" sz="2400" dirty="0">
                  <a:latin typeface="ui-sans-serif"/>
                </a:endParaRPr>
              </a:p>
              <a:p>
                <a:endParaRPr lang="en-GB" sz="2400" dirty="0">
                  <a:latin typeface="ui-sans-serif"/>
                </a:endParaRPr>
              </a:p>
              <a:p>
                <a:endParaRPr lang="en-GB" sz="2400" dirty="0">
                  <a:latin typeface="ui-sans-serif"/>
                </a:endParaRPr>
              </a:p>
            </p:txBody>
          </p:sp>
        </mc:Choice>
        <mc:Fallback xmlns="">
          <p:sp>
            <p:nvSpPr>
              <p:cNvPr id="4" name="ZoneTexte 3">
                <a:extLst>
                  <a:ext uri="{FF2B5EF4-FFF2-40B4-BE49-F238E27FC236}">
                    <a16:creationId xmlns:a16="http://schemas.microsoft.com/office/drawing/2014/main" id="{1B125D43-474D-263B-2ED8-9AC77250E0D7}"/>
                  </a:ext>
                </a:extLst>
              </p:cNvPr>
              <p:cNvSpPr txBox="1">
                <a:spLocks noRot="1" noChangeAspect="1" noMove="1" noResize="1" noEditPoints="1" noAdjustHandles="1" noChangeArrowheads="1" noChangeShapeType="1" noTextEdit="1"/>
              </p:cNvSpPr>
              <p:nvPr/>
            </p:nvSpPr>
            <p:spPr>
              <a:xfrm>
                <a:off x="838199" y="1356532"/>
                <a:ext cx="9933634" cy="883402"/>
              </a:xfrm>
              <a:prstGeom prst="rect">
                <a:avLst/>
              </a:prstGeom>
              <a:blipFill>
                <a:blip r:embed="rId3"/>
                <a:stretch>
                  <a:fillRect l="-893" t="-7143" b="-28571"/>
                </a:stretch>
              </a:blipFill>
            </p:spPr>
            <p:txBody>
              <a:bodyPr/>
              <a:lstStyle/>
              <a:p>
                <a:r>
                  <a:rPr lang="en-GB">
                    <a:noFill/>
                  </a:rPr>
                  <a:t> </a:t>
                </a:r>
              </a:p>
            </p:txBody>
          </p:sp>
        </mc:Fallback>
      </mc:AlternateContent>
      <p:sp>
        <p:nvSpPr>
          <p:cNvPr id="2" name="Titre 1">
            <a:extLst>
              <a:ext uri="{FF2B5EF4-FFF2-40B4-BE49-F238E27FC236}">
                <a16:creationId xmlns:a16="http://schemas.microsoft.com/office/drawing/2014/main" id="{17F997FA-795D-47EA-DD56-09C51851B0C3}"/>
              </a:ext>
            </a:extLst>
          </p:cNvPr>
          <p:cNvSpPr>
            <a:spLocks noGrp="1"/>
          </p:cNvSpPr>
          <p:nvPr>
            <p:ph type="title"/>
          </p:nvPr>
        </p:nvSpPr>
        <p:spPr/>
        <p:txBody>
          <a:bodyPr/>
          <a:lstStyle/>
          <a:p>
            <a:pPr algn="ctr"/>
            <a:r>
              <a:rPr lang="en-GB" noProof="0" dirty="0"/>
              <a:t>Recurrent Neural Networks</a:t>
            </a:r>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17429A13-C6A9-E247-FA5D-62C40E223926}"/>
                  </a:ext>
                </a:extLst>
              </p:cNvPr>
              <p:cNvSpPr txBox="1"/>
              <p:nvPr/>
            </p:nvSpPr>
            <p:spPr>
              <a:xfrm>
                <a:off x="1344828" y="6051437"/>
                <a:ext cx="816495" cy="369332"/>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2400" b="0" i="1" smtClean="0">
                              <a:latin typeface="Cambria Math" panose="02040503050406030204" pitchFamily="18" charset="0"/>
                            </a:rPr>
                          </m:ctrlPr>
                        </m:sSubPr>
                        <m:e>
                          <m:r>
                            <a:rPr lang="fr-FR" sz="2400" b="0" i="1" smtClean="0">
                              <a:latin typeface="Cambria Math" panose="02040503050406030204" pitchFamily="18" charset="0"/>
                            </a:rPr>
                            <m:t> </m:t>
                          </m:r>
                          <m:r>
                            <a:rPr lang="fr-FR" sz="2400" b="0" i="1" smtClean="0">
                              <a:latin typeface="Cambria Math" panose="02040503050406030204" pitchFamily="18" charset="0"/>
                            </a:rPr>
                            <m:t>𝑋</m:t>
                          </m:r>
                        </m:e>
                        <m:sub>
                          <m:r>
                            <a:rPr lang="fr-FR" sz="2400" b="0" i="1" smtClean="0">
                              <a:latin typeface="Cambria Math" panose="02040503050406030204" pitchFamily="18" charset="0"/>
                            </a:rPr>
                            <m:t>𝑡</m:t>
                          </m:r>
                        </m:sub>
                      </m:sSub>
                    </m:oMath>
                  </m:oMathPara>
                </a14:m>
                <a:endParaRPr lang="en-GB" sz="2400" dirty="0"/>
              </a:p>
            </p:txBody>
          </p:sp>
        </mc:Choice>
        <mc:Fallback xmlns="">
          <p:sp>
            <p:nvSpPr>
              <p:cNvPr id="5" name="ZoneTexte 4">
                <a:extLst>
                  <a:ext uri="{FF2B5EF4-FFF2-40B4-BE49-F238E27FC236}">
                    <a16:creationId xmlns:a16="http://schemas.microsoft.com/office/drawing/2014/main" id="{17429A13-C6A9-E247-FA5D-62C40E223926}"/>
                  </a:ext>
                </a:extLst>
              </p:cNvPr>
              <p:cNvSpPr txBox="1">
                <a:spLocks noRot="1" noChangeAspect="1" noMove="1" noResize="1" noEditPoints="1" noAdjustHandles="1" noChangeArrowheads="1" noChangeShapeType="1" noTextEdit="1"/>
              </p:cNvSpPr>
              <p:nvPr/>
            </p:nvSpPr>
            <p:spPr>
              <a:xfrm>
                <a:off x="1344828" y="6051437"/>
                <a:ext cx="816495" cy="369332"/>
              </a:xfrm>
              <a:prstGeom prst="rect">
                <a:avLst/>
              </a:prstGeom>
              <a:blipFill>
                <a:blip r:embed="rId4"/>
                <a:stretch>
                  <a:fillRect t="-10000"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6B6FE3AF-1056-D4C2-7E09-7F4748F43830}"/>
                  </a:ext>
                </a:extLst>
              </p:cNvPr>
              <p:cNvSpPr txBox="1"/>
              <p:nvPr/>
            </p:nvSpPr>
            <p:spPr>
              <a:xfrm>
                <a:off x="1629628" y="4903931"/>
                <a:ext cx="262508" cy="276999"/>
              </a:xfrm>
              <a:prstGeom prst="rect">
                <a:avLst/>
              </a:prstGeom>
              <a:noFill/>
            </p:spPr>
            <p:txBody>
              <a:bodyPr wrap="non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h</m:t>
                          </m:r>
                        </m:e>
                        <m:sub>
                          <m:r>
                            <a:rPr lang="fr-FR" b="0" i="1" smtClean="0">
                              <a:latin typeface="Cambria Math" panose="02040503050406030204" pitchFamily="18" charset="0"/>
                            </a:rPr>
                            <m:t>𝑡</m:t>
                          </m:r>
                        </m:sub>
                      </m:sSub>
                    </m:oMath>
                  </m:oMathPara>
                </a14:m>
                <a:endParaRPr lang="en-GB" dirty="0"/>
              </a:p>
            </p:txBody>
          </p:sp>
        </mc:Choice>
        <mc:Fallback xmlns="">
          <p:sp>
            <p:nvSpPr>
              <p:cNvPr id="6" name="ZoneTexte 5">
                <a:extLst>
                  <a:ext uri="{FF2B5EF4-FFF2-40B4-BE49-F238E27FC236}">
                    <a16:creationId xmlns:a16="http://schemas.microsoft.com/office/drawing/2014/main" id="{6B6FE3AF-1056-D4C2-7E09-7F4748F43830}"/>
                  </a:ext>
                </a:extLst>
              </p:cNvPr>
              <p:cNvSpPr txBox="1">
                <a:spLocks noRot="1" noChangeAspect="1" noMove="1" noResize="1" noEditPoints="1" noAdjustHandles="1" noChangeArrowheads="1" noChangeShapeType="1" noTextEdit="1"/>
              </p:cNvSpPr>
              <p:nvPr/>
            </p:nvSpPr>
            <p:spPr>
              <a:xfrm>
                <a:off x="1629628" y="4903931"/>
                <a:ext cx="262508" cy="276999"/>
              </a:xfrm>
              <a:prstGeom prst="rect">
                <a:avLst/>
              </a:prstGeom>
              <a:blipFill>
                <a:blip r:embed="rId5"/>
                <a:stretch>
                  <a:fillRect l="-23810" r="-9524" b="-8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3417C89C-D9CE-ECFF-DD39-6C250D706138}"/>
                  </a:ext>
                </a:extLst>
              </p:cNvPr>
              <p:cNvSpPr txBox="1"/>
              <p:nvPr/>
            </p:nvSpPr>
            <p:spPr>
              <a:xfrm>
                <a:off x="1554522" y="4063358"/>
                <a:ext cx="33445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2400" b="0" i="1" smtClean="0">
                              <a:latin typeface="Cambria Math" panose="02040503050406030204" pitchFamily="18" charset="0"/>
                            </a:rPr>
                          </m:ctrlPr>
                        </m:sSubPr>
                        <m:e>
                          <m:r>
                            <a:rPr lang="fr-FR" sz="2400" b="0" i="1" smtClean="0">
                              <a:latin typeface="Cambria Math" panose="02040503050406030204" pitchFamily="18" charset="0"/>
                            </a:rPr>
                            <m:t>𝑜</m:t>
                          </m:r>
                        </m:e>
                        <m:sub>
                          <m:r>
                            <a:rPr lang="fr-FR" sz="2400" b="0" i="1" smtClean="0">
                              <a:latin typeface="Cambria Math" panose="02040503050406030204" pitchFamily="18" charset="0"/>
                            </a:rPr>
                            <m:t>𝑡</m:t>
                          </m:r>
                        </m:sub>
                      </m:sSub>
                    </m:oMath>
                  </m:oMathPara>
                </a14:m>
                <a:endParaRPr lang="en-GB" sz="2400" dirty="0"/>
              </a:p>
            </p:txBody>
          </p:sp>
        </mc:Choice>
        <mc:Fallback xmlns="">
          <p:sp>
            <p:nvSpPr>
              <p:cNvPr id="7" name="ZoneTexte 6">
                <a:extLst>
                  <a:ext uri="{FF2B5EF4-FFF2-40B4-BE49-F238E27FC236}">
                    <a16:creationId xmlns:a16="http://schemas.microsoft.com/office/drawing/2014/main" id="{3417C89C-D9CE-ECFF-DD39-6C250D706138}"/>
                  </a:ext>
                </a:extLst>
              </p:cNvPr>
              <p:cNvSpPr txBox="1">
                <a:spLocks noRot="1" noChangeAspect="1" noMove="1" noResize="1" noEditPoints="1" noAdjustHandles="1" noChangeArrowheads="1" noChangeShapeType="1" noTextEdit="1"/>
              </p:cNvSpPr>
              <p:nvPr/>
            </p:nvSpPr>
            <p:spPr>
              <a:xfrm>
                <a:off x="1554522" y="4063358"/>
                <a:ext cx="334451" cy="369332"/>
              </a:xfrm>
              <a:prstGeom prst="rect">
                <a:avLst/>
              </a:prstGeom>
              <a:blipFill>
                <a:blip r:embed="rId6"/>
                <a:stretch>
                  <a:fillRect l="-11111" r="-7407" b="-13793"/>
                </a:stretch>
              </a:blipFill>
            </p:spPr>
            <p:txBody>
              <a:bodyPr/>
              <a:lstStyle/>
              <a:p>
                <a:r>
                  <a:rPr lang="en-GB">
                    <a:noFill/>
                  </a:rPr>
                  <a:t> </a:t>
                </a:r>
              </a:p>
            </p:txBody>
          </p:sp>
        </mc:Fallback>
      </mc:AlternateContent>
      <p:cxnSp>
        <p:nvCxnSpPr>
          <p:cNvPr id="10" name="Connecteur droit avec flèche 9">
            <a:extLst>
              <a:ext uri="{FF2B5EF4-FFF2-40B4-BE49-F238E27FC236}">
                <a16:creationId xmlns:a16="http://schemas.microsoft.com/office/drawing/2014/main" id="{10066005-5269-818F-395C-4E2CE360BD7F}"/>
              </a:ext>
            </a:extLst>
          </p:cNvPr>
          <p:cNvCxnSpPr>
            <a:cxnSpLocks/>
            <a:stCxn id="16" idx="0"/>
          </p:cNvCxnSpPr>
          <p:nvPr/>
        </p:nvCxnSpPr>
        <p:spPr>
          <a:xfrm flipH="1" flipV="1">
            <a:off x="1737680" y="4451423"/>
            <a:ext cx="5558" cy="3769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Connecteur droit avec flèche 11">
            <a:extLst>
              <a:ext uri="{FF2B5EF4-FFF2-40B4-BE49-F238E27FC236}">
                <a16:creationId xmlns:a16="http://schemas.microsoft.com/office/drawing/2014/main" id="{EAE314E8-E7A5-6BE4-BC9E-5FC7A4BF7C04}"/>
              </a:ext>
            </a:extLst>
          </p:cNvPr>
          <p:cNvCxnSpPr>
            <a:cxnSpLocks/>
            <a:stCxn id="5" idx="0"/>
          </p:cNvCxnSpPr>
          <p:nvPr/>
        </p:nvCxnSpPr>
        <p:spPr>
          <a:xfrm flipH="1" flipV="1">
            <a:off x="1751229" y="5590420"/>
            <a:ext cx="1847" cy="4610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5" name="ZoneTexte 24">
                <a:extLst>
                  <a:ext uri="{FF2B5EF4-FFF2-40B4-BE49-F238E27FC236}">
                    <a16:creationId xmlns:a16="http://schemas.microsoft.com/office/drawing/2014/main" id="{E22235B8-5430-0E8B-887F-79226798D4A7}"/>
                  </a:ext>
                </a:extLst>
              </p:cNvPr>
              <p:cNvSpPr txBox="1"/>
              <p:nvPr/>
            </p:nvSpPr>
            <p:spPr>
              <a:xfrm>
                <a:off x="601621" y="4972926"/>
                <a:ext cx="48212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h</m:t>
                          </m:r>
                        </m:e>
                        <m:sub>
                          <m:r>
                            <a:rPr lang="fr-FR" b="0" i="1" smtClean="0">
                              <a:latin typeface="Cambria Math" panose="02040503050406030204" pitchFamily="18" charset="0"/>
                            </a:rPr>
                            <m:t>𝑡</m:t>
                          </m:r>
                          <m:r>
                            <a:rPr lang="fr-FR" b="0" i="1" smtClean="0">
                              <a:latin typeface="Cambria Math" panose="02040503050406030204" pitchFamily="18" charset="0"/>
                            </a:rPr>
                            <m:t>−1</m:t>
                          </m:r>
                        </m:sub>
                      </m:sSub>
                    </m:oMath>
                  </m:oMathPara>
                </a14:m>
                <a:endParaRPr lang="en-GB" dirty="0"/>
              </a:p>
            </p:txBody>
          </p:sp>
        </mc:Choice>
        <mc:Fallback xmlns="">
          <p:sp>
            <p:nvSpPr>
              <p:cNvPr id="25" name="ZoneTexte 24">
                <a:extLst>
                  <a:ext uri="{FF2B5EF4-FFF2-40B4-BE49-F238E27FC236}">
                    <a16:creationId xmlns:a16="http://schemas.microsoft.com/office/drawing/2014/main" id="{E22235B8-5430-0E8B-887F-79226798D4A7}"/>
                  </a:ext>
                </a:extLst>
              </p:cNvPr>
              <p:cNvSpPr txBox="1">
                <a:spLocks noRot="1" noChangeAspect="1" noMove="1" noResize="1" noEditPoints="1" noAdjustHandles="1" noChangeArrowheads="1" noChangeShapeType="1" noTextEdit="1"/>
              </p:cNvSpPr>
              <p:nvPr/>
            </p:nvSpPr>
            <p:spPr>
              <a:xfrm>
                <a:off x="601621" y="4972926"/>
                <a:ext cx="482120" cy="276999"/>
              </a:xfrm>
              <a:prstGeom prst="rect">
                <a:avLst/>
              </a:prstGeom>
              <a:blipFill>
                <a:blip r:embed="rId7"/>
                <a:stretch>
                  <a:fillRect l="-12821" r="-2564" b="-130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ZoneTexte 25">
                <a:extLst>
                  <a:ext uri="{FF2B5EF4-FFF2-40B4-BE49-F238E27FC236}">
                    <a16:creationId xmlns:a16="http://schemas.microsoft.com/office/drawing/2014/main" id="{74F49A4D-692D-6FD4-BFF0-B173014AA43F}"/>
                  </a:ext>
                </a:extLst>
              </p:cNvPr>
              <p:cNvSpPr txBox="1"/>
              <p:nvPr/>
            </p:nvSpPr>
            <p:spPr>
              <a:xfrm>
                <a:off x="4777378" y="4639921"/>
                <a:ext cx="6974685" cy="1780848"/>
              </a:xfrm>
              <a:prstGeom prst="rect">
                <a:avLst/>
              </a:prstGeom>
              <a:noFill/>
            </p:spPr>
            <p:txBody>
              <a:bodyPr wrap="square" rtlCol="0">
                <a:noAutofit/>
              </a:bodyPr>
              <a:lstStyle/>
              <a:p>
                <a:r>
                  <a:rPr lang="en-GB" sz="1400" dirty="0"/>
                  <a:t>Recurrent connection: </a:t>
                </a:r>
                <a14:m>
                  <m:oMath xmlns:m="http://schemas.openxmlformats.org/officeDocument/2006/math">
                    <m:sSub>
                      <m:sSubPr>
                        <m:ctrlPr>
                          <a:rPr lang="fr-FR" b="1" i="1" dirty="0" smtClean="0">
                            <a:latin typeface="Cambria Math" panose="02040503050406030204" pitchFamily="18" charset="0"/>
                          </a:rPr>
                        </m:ctrlPr>
                      </m:sSubPr>
                      <m:e>
                        <m:r>
                          <a:rPr lang="fr-FR" b="1" i="1">
                            <a:latin typeface="Cambria Math" panose="02040503050406030204" pitchFamily="18" charset="0"/>
                          </a:rPr>
                          <m:t>𝒉</m:t>
                        </m:r>
                      </m:e>
                      <m:sub>
                        <m:r>
                          <a:rPr lang="fr-FR" b="1" i="1" dirty="0">
                            <a:latin typeface="Cambria Math" panose="02040503050406030204" pitchFamily="18" charset="0"/>
                          </a:rPr>
                          <m:t>𝒕</m:t>
                        </m:r>
                      </m:sub>
                    </m:sSub>
                    <m:r>
                      <a:rPr lang="fr-FR" b="1" i="1" dirty="0">
                        <a:latin typeface="Cambria Math" panose="02040503050406030204" pitchFamily="18" charset="0"/>
                      </a:rPr>
                      <m:t>=</m:t>
                    </m:r>
                    <m:sSub>
                      <m:sSubPr>
                        <m:ctrlPr>
                          <a:rPr lang="fr-FR" b="1" i="1">
                            <a:latin typeface="Cambria Math" panose="02040503050406030204" pitchFamily="18" charset="0"/>
                          </a:rPr>
                        </m:ctrlPr>
                      </m:sSubPr>
                      <m:e>
                        <m:r>
                          <a:rPr lang="fr-FR" b="1" i="1">
                            <a:latin typeface="Cambria Math" panose="02040503050406030204" pitchFamily="18" charset="0"/>
                          </a:rPr>
                          <m:t>𝒇</m:t>
                        </m:r>
                        <m:r>
                          <a:rPr lang="fr-FR" b="1" i="1">
                            <a:latin typeface="Cambria Math" panose="02040503050406030204" pitchFamily="18" charset="0"/>
                          </a:rPr>
                          <m:t>(</m:t>
                        </m:r>
                        <m:r>
                          <a:rPr lang="fr-FR" b="1" i="1">
                            <a:latin typeface="Cambria Math" panose="02040503050406030204" pitchFamily="18" charset="0"/>
                          </a:rPr>
                          <m:t>𝑼𝑿</m:t>
                        </m:r>
                      </m:e>
                      <m:sub>
                        <m:r>
                          <a:rPr lang="fr-FR" b="1" i="1">
                            <a:latin typeface="Cambria Math" panose="02040503050406030204" pitchFamily="18" charset="0"/>
                          </a:rPr>
                          <m:t>𝒕</m:t>
                        </m:r>
                      </m:sub>
                    </m:sSub>
                    <m:r>
                      <a:rPr lang="fr-FR" b="1" i="1">
                        <a:latin typeface="Cambria Math" panose="02040503050406030204" pitchFamily="18" charset="0"/>
                      </a:rPr>
                      <m:t>+</m:t>
                    </m:r>
                    <m:r>
                      <a:rPr lang="fr-FR" b="1" i="1">
                        <a:latin typeface="Cambria Math" panose="02040503050406030204" pitchFamily="18" charset="0"/>
                      </a:rPr>
                      <m:t>𝑾</m:t>
                    </m:r>
                    <m:sSub>
                      <m:sSubPr>
                        <m:ctrlPr>
                          <a:rPr lang="fr-FR" b="1" i="1">
                            <a:latin typeface="Cambria Math" panose="02040503050406030204" pitchFamily="18" charset="0"/>
                          </a:rPr>
                        </m:ctrlPr>
                      </m:sSubPr>
                      <m:e>
                        <m:r>
                          <a:rPr lang="fr-FR" b="1" i="1">
                            <a:latin typeface="Cambria Math" panose="02040503050406030204" pitchFamily="18" charset="0"/>
                          </a:rPr>
                          <m:t>𝒉</m:t>
                        </m:r>
                      </m:e>
                      <m:sub>
                        <m:r>
                          <a:rPr lang="fr-FR" b="1" i="1">
                            <a:latin typeface="Cambria Math" panose="02040503050406030204" pitchFamily="18" charset="0"/>
                          </a:rPr>
                          <m:t>𝒕</m:t>
                        </m:r>
                        <m:r>
                          <a:rPr lang="fr-FR" b="1" i="1">
                            <a:latin typeface="Cambria Math" panose="02040503050406030204" pitchFamily="18" charset="0"/>
                          </a:rPr>
                          <m:t>−</m:t>
                        </m:r>
                        <m:r>
                          <a:rPr lang="fr-FR" b="1" i="1">
                            <a:latin typeface="Cambria Math" panose="02040503050406030204" pitchFamily="18" charset="0"/>
                          </a:rPr>
                          <m:t>𝟏</m:t>
                        </m:r>
                      </m:sub>
                    </m:sSub>
                    <m:r>
                      <a:rPr lang="fr-FR" b="1" i="1">
                        <a:latin typeface="Cambria Math" panose="02040503050406030204" pitchFamily="18" charset="0"/>
                      </a:rPr>
                      <m:t>)</m:t>
                    </m:r>
                  </m:oMath>
                </a14:m>
                <a:endParaRPr lang="en-GB" sz="1400" b="1" dirty="0"/>
              </a:p>
              <a:p>
                <a:endParaRPr lang="en-GB" sz="1400" dirty="0"/>
              </a:p>
              <a:p>
                <a:r>
                  <a:rPr lang="en-GB" sz="1400" dirty="0"/>
                  <a:t>At the time step t, the output hidden layer receives </a:t>
                </a:r>
                <a:r>
                  <a:rPr lang="en-GB" sz="1400" b="1" dirty="0"/>
                  <a:t>two</a:t>
                </a:r>
                <a:r>
                  <a:rPr lang="en-GB" sz="1400" dirty="0"/>
                  <a:t> inputs (</a:t>
                </a:r>
                <a14:m>
                  <m:oMath xmlns:m="http://schemas.openxmlformats.org/officeDocument/2006/math">
                    <m:sSub>
                      <m:sSubPr>
                        <m:ctrlPr>
                          <a:rPr lang="fr-FR" sz="1400" i="1" smtClean="0">
                            <a:latin typeface="Cambria Math" panose="02040503050406030204" pitchFamily="18" charset="0"/>
                          </a:rPr>
                        </m:ctrlPr>
                      </m:sSubPr>
                      <m:e>
                        <m:r>
                          <a:rPr lang="fr-FR" sz="1400" i="1">
                            <a:latin typeface="Cambria Math" panose="02040503050406030204" pitchFamily="18" charset="0"/>
                          </a:rPr>
                          <m:t>𝑈𝑋</m:t>
                        </m:r>
                      </m:e>
                      <m:sub>
                        <m:r>
                          <a:rPr lang="fr-FR" sz="1400" i="1">
                            <a:latin typeface="Cambria Math" panose="02040503050406030204" pitchFamily="18" charset="0"/>
                          </a:rPr>
                          <m:t>𝑡</m:t>
                        </m:r>
                      </m:sub>
                    </m:sSub>
                    <m:r>
                      <a:rPr lang="fr-FR" sz="1400" b="0" i="1" smtClean="0">
                        <a:latin typeface="Cambria Math" panose="02040503050406030204" pitchFamily="18" charset="0"/>
                      </a:rPr>
                      <m:t>  , </m:t>
                    </m:r>
                    <m:r>
                      <a:rPr lang="fr-FR" sz="1400" i="1">
                        <a:latin typeface="Cambria Math" panose="02040503050406030204" pitchFamily="18" charset="0"/>
                      </a:rPr>
                      <m:t>𝑊</m:t>
                    </m:r>
                    <m:sSub>
                      <m:sSubPr>
                        <m:ctrlPr>
                          <a:rPr lang="fr-FR" sz="1400" i="1">
                            <a:latin typeface="Cambria Math" panose="02040503050406030204" pitchFamily="18" charset="0"/>
                          </a:rPr>
                        </m:ctrlPr>
                      </m:sSubPr>
                      <m:e>
                        <m:r>
                          <a:rPr lang="fr-FR" sz="1400" i="1">
                            <a:latin typeface="Cambria Math" panose="02040503050406030204" pitchFamily="18" charset="0"/>
                          </a:rPr>
                          <m:t>h</m:t>
                        </m:r>
                      </m:e>
                      <m:sub>
                        <m:r>
                          <a:rPr lang="fr-FR" sz="1400" i="1">
                            <a:latin typeface="Cambria Math" panose="02040503050406030204" pitchFamily="18" charset="0"/>
                          </a:rPr>
                          <m:t>𝑡</m:t>
                        </m:r>
                        <m:r>
                          <a:rPr lang="fr-FR" sz="1400" i="1">
                            <a:latin typeface="Cambria Math" panose="02040503050406030204" pitchFamily="18" charset="0"/>
                          </a:rPr>
                          <m:t>−1</m:t>
                        </m:r>
                      </m:sub>
                    </m:sSub>
                    <m:r>
                      <a:rPr lang="fr-FR" sz="1400" i="1">
                        <a:latin typeface="Cambria Math" panose="02040503050406030204" pitchFamily="18" charset="0"/>
                      </a:rPr>
                      <m:t> </m:t>
                    </m:r>
                  </m:oMath>
                </a14:m>
                <a:r>
                  <a:rPr lang="en-GB" sz="1400" dirty="0"/>
                  <a:t>):</a:t>
                </a:r>
              </a:p>
              <a:p>
                <a:endParaRPr lang="en-GB" sz="1400" dirty="0"/>
              </a:p>
              <a:p>
                <a:pPr marL="342900" indent="-342900">
                  <a:buAutoNum type="arabicPeriod"/>
                </a:pPr>
                <a:r>
                  <a:rPr lang="en-GB" sz="1400" dirty="0"/>
                  <a:t>One from the current input </a:t>
                </a:r>
                <a14:m>
                  <m:oMath xmlns:m="http://schemas.openxmlformats.org/officeDocument/2006/math">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𝑋</m:t>
                        </m:r>
                      </m:e>
                      <m:sub>
                        <m:r>
                          <a:rPr lang="fr-FR" sz="1400" b="0" i="1" smtClean="0">
                            <a:latin typeface="Cambria Math" panose="02040503050406030204" pitchFamily="18" charset="0"/>
                          </a:rPr>
                          <m:t>𝑡</m:t>
                        </m:r>
                      </m:sub>
                    </m:sSub>
                  </m:oMath>
                </a14:m>
                <a:r>
                  <a:rPr lang="en-GB" sz="1400" dirty="0"/>
                  <a:t> </a:t>
                </a:r>
              </a:p>
              <a:p>
                <a:pPr marL="342900" indent="-342900">
                  <a:buAutoNum type="arabicPeriod"/>
                </a:pPr>
                <a:r>
                  <a:rPr lang="en-GB" sz="1400" dirty="0"/>
                  <a:t>The other from output of the hidden layer from the previous time step.</a:t>
                </a:r>
              </a:p>
            </p:txBody>
          </p:sp>
        </mc:Choice>
        <mc:Fallback xmlns="">
          <p:sp>
            <p:nvSpPr>
              <p:cNvPr id="26" name="ZoneTexte 25">
                <a:extLst>
                  <a:ext uri="{FF2B5EF4-FFF2-40B4-BE49-F238E27FC236}">
                    <a16:creationId xmlns:a16="http://schemas.microsoft.com/office/drawing/2014/main" id="{74F49A4D-692D-6FD4-BFF0-B173014AA43F}"/>
                  </a:ext>
                </a:extLst>
              </p:cNvPr>
              <p:cNvSpPr txBox="1">
                <a:spLocks noRot="1" noChangeAspect="1" noMove="1" noResize="1" noEditPoints="1" noAdjustHandles="1" noChangeArrowheads="1" noChangeShapeType="1" noTextEdit="1"/>
              </p:cNvSpPr>
              <p:nvPr/>
            </p:nvSpPr>
            <p:spPr>
              <a:xfrm>
                <a:off x="4777378" y="4639921"/>
                <a:ext cx="6974685" cy="1780848"/>
              </a:xfrm>
              <a:prstGeom prst="rect">
                <a:avLst/>
              </a:prstGeom>
              <a:blipFill>
                <a:blip r:embed="rId8"/>
                <a:stretch>
                  <a:fillRect l="-364"/>
                </a:stretch>
              </a:blipFill>
            </p:spPr>
            <p:txBody>
              <a:bodyPr/>
              <a:lstStyle/>
              <a:p>
                <a:r>
                  <a:rPr lang="en-GB">
                    <a:noFill/>
                  </a:rPr>
                  <a:t> </a:t>
                </a:r>
              </a:p>
            </p:txBody>
          </p:sp>
        </mc:Fallback>
      </mc:AlternateContent>
      <p:cxnSp>
        <p:nvCxnSpPr>
          <p:cNvPr id="14" name="Connecteur droit 13">
            <a:extLst>
              <a:ext uri="{FF2B5EF4-FFF2-40B4-BE49-F238E27FC236}">
                <a16:creationId xmlns:a16="http://schemas.microsoft.com/office/drawing/2014/main" id="{196D917B-25FB-6D87-10E7-B85E3422FF20}"/>
              </a:ext>
            </a:extLst>
          </p:cNvPr>
          <p:cNvCxnSpPr>
            <a:cxnSpLocks/>
            <a:stCxn id="16" idx="6"/>
            <a:endCxn id="16" idx="2"/>
          </p:cNvCxnSpPr>
          <p:nvPr/>
        </p:nvCxnSpPr>
        <p:spPr>
          <a:xfrm flipH="1">
            <a:off x="1394256" y="5209094"/>
            <a:ext cx="697964" cy="0"/>
          </a:xfrm>
          <a:prstGeom prst="line">
            <a:avLst/>
          </a:prstGeom>
          <a:ln w="12700"/>
        </p:spPr>
        <p:style>
          <a:lnRef idx="2">
            <a:schemeClr val="accent1"/>
          </a:lnRef>
          <a:fillRef idx="0">
            <a:schemeClr val="accent1"/>
          </a:fillRef>
          <a:effectRef idx="1">
            <a:schemeClr val="accent1"/>
          </a:effectRef>
          <a:fontRef idx="minor">
            <a:schemeClr val="tx1"/>
          </a:fontRef>
        </p:style>
      </p:cxnSp>
      <p:sp>
        <p:nvSpPr>
          <p:cNvPr id="16" name="Ellipse 15">
            <a:extLst>
              <a:ext uri="{FF2B5EF4-FFF2-40B4-BE49-F238E27FC236}">
                <a16:creationId xmlns:a16="http://schemas.microsoft.com/office/drawing/2014/main" id="{F185D7F3-14C8-5B78-3DE7-8FA8111445F8}"/>
              </a:ext>
            </a:extLst>
          </p:cNvPr>
          <p:cNvSpPr/>
          <p:nvPr/>
        </p:nvSpPr>
        <p:spPr>
          <a:xfrm>
            <a:off x="1394256" y="4828420"/>
            <a:ext cx="697964" cy="761348"/>
          </a:xfrm>
          <a:prstGeom prst="ellipse">
            <a:avLst/>
          </a:prstGeom>
          <a:no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Connecteur en arc 19">
            <a:extLst>
              <a:ext uri="{FF2B5EF4-FFF2-40B4-BE49-F238E27FC236}">
                <a16:creationId xmlns:a16="http://schemas.microsoft.com/office/drawing/2014/main" id="{1EC2D642-D496-01BB-8BBC-1D2C24CADE69}"/>
              </a:ext>
            </a:extLst>
          </p:cNvPr>
          <p:cNvCxnSpPr>
            <a:cxnSpLocks/>
            <a:stCxn id="16" idx="1"/>
            <a:endCxn id="16" idx="3"/>
          </p:cNvCxnSpPr>
          <p:nvPr/>
        </p:nvCxnSpPr>
        <p:spPr>
          <a:xfrm rot="16200000" flipH="1">
            <a:off x="1227293" y="5209094"/>
            <a:ext cx="538354" cy="12700"/>
          </a:xfrm>
          <a:prstGeom prst="curvedConnector5">
            <a:avLst>
              <a:gd name="adj1" fmla="val -42463"/>
              <a:gd name="adj2" fmla="val -3135701"/>
              <a:gd name="adj3" fmla="val 142463"/>
            </a:avLst>
          </a:prstGeom>
          <a:ln w="15875">
            <a:tailEnd type="triangle"/>
          </a:ln>
        </p:spPr>
        <p:style>
          <a:lnRef idx="2">
            <a:schemeClr val="accent1"/>
          </a:lnRef>
          <a:fillRef idx="0">
            <a:schemeClr val="accent1"/>
          </a:fillRef>
          <a:effectRef idx="1">
            <a:schemeClr val="accent1"/>
          </a:effectRef>
          <a:fontRef idx="minor">
            <a:schemeClr val="tx1"/>
          </a:fontRef>
        </p:style>
      </p:cxnSp>
      <p:sp>
        <p:nvSpPr>
          <p:cNvPr id="36" name="Espace réservé du pied de page 2">
            <a:extLst>
              <a:ext uri="{FF2B5EF4-FFF2-40B4-BE49-F238E27FC236}">
                <a16:creationId xmlns:a16="http://schemas.microsoft.com/office/drawing/2014/main" id="{B4304924-8CDD-F25F-C6C6-EB7955DF83B1}"/>
              </a:ext>
            </a:extLst>
          </p:cNvPr>
          <p:cNvSpPr>
            <a:spLocks noGrp="1"/>
          </p:cNvSpPr>
          <p:nvPr>
            <p:ph type="ftr" sz="quarter" idx="11"/>
          </p:nvPr>
        </p:nvSpPr>
        <p:spPr>
          <a:xfrm>
            <a:off x="4038600" y="6356350"/>
            <a:ext cx="4549346" cy="365125"/>
          </a:xfrm>
        </p:spPr>
        <p:txBody>
          <a:bodyPr/>
          <a:lstStyle/>
          <a:p>
            <a:r>
              <a:rPr lang="en-GB" noProof="1"/>
              <a:t>RNN. Author: David Thébault – Based on NLPDemystified.org</a:t>
            </a:r>
          </a:p>
        </p:txBody>
      </p:sp>
      <mc:AlternateContent xmlns:mc="http://schemas.openxmlformats.org/markup-compatibility/2006" xmlns:a14="http://schemas.microsoft.com/office/drawing/2010/main">
        <mc:Choice Requires="a14">
          <p:sp>
            <p:nvSpPr>
              <p:cNvPr id="39" name="ZoneTexte 38">
                <a:extLst>
                  <a:ext uri="{FF2B5EF4-FFF2-40B4-BE49-F238E27FC236}">
                    <a16:creationId xmlns:a16="http://schemas.microsoft.com/office/drawing/2014/main" id="{1F100DDD-DD64-0B8A-0273-DC848F91B498}"/>
                  </a:ext>
                </a:extLst>
              </p:cNvPr>
              <p:cNvSpPr txBox="1"/>
              <p:nvPr/>
            </p:nvSpPr>
            <p:spPr>
              <a:xfrm>
                <a:off x="1546152" y="3502329"/>
                <a:ext cx="34291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2400" b="0" i="1" smtClean="0">
                              <a:latin typeface="Cambria Math" panose="02040503050406030204" pitchFamily="18" charset="0"/>
                            </a:rPr>
                          </m:ctrlPr>
                        </m:sSubPr>
                        <m:e>
                          <m:acc>
                            <m:accPr>
                              <m:chr m:val="̂"/>
                              <m:ctrlPr>
                                <a:rPr lang="fr-FR" sz="2400" b="0" i="1" smtClean="0">
                                  <a:latin typeface="Cambria Math" panose="02040503050406030204" pitchFamily="18" charset="0"/>
                                </a:rPr>
                              </m:ctrlPr>
                            </m:accPr>
                            <m:e>
                              <m:r>
                                <a:rPr lang="fr-FR" sz="2400" b="0" i="1" smtClean="0">
                                  <a:latin typeface="Cambria Math" panose="02040503050406030204" pitchFamily="18" charset="0"/>
                                </a:rPr>
                                <m:t>𝑦</m:t>
                              </m:r>
                            </m:e>
                          </m:acc>
                        </m:e>
                        <m:sub>
                          <m:r>
                            <a:rPr lang="fr-FR" sz="2400" b="0" i="1" smtClean="0">
                              <a:latin typeface="Cambria Math" panose="02040503050406030204" pitchFamily="18" charset="0"/>
                            </a:rPr>
                            <m:t>𝑡</m:t>
                          </m:r>
                        </m:sub>
                      </m:sSub>
                    </m:oMath>
                  </m:oMathPara>
                </a14:m>
                <a:endParaRPr lang="en-GB" sz="2400" dirty="0"/>
              </a:p>
            </p:txBody>
          </p:sp>
        </mc:Choice>
        <mc:Fallback xmlns="">
          <p:sp>
            <p:nvSpPr>
              <p:cNvPr id="39" name="ZoneTexte 38">
                <a:extLst>
                  <a:ext uri="{FF2B5EF4-FFF2-40B4-BE49-F238E27FC236}">
                    <a16:creationId xmlns:a16="http://schemas.microsoft.com/office/drawing/2014/main" id="{1F100DDD-DD64-0B8A-0273-DC848F91B498}"/>
                  </a:ext>
                </a:extLst>
              </p:cNvPr>
              <p:cNvSpPr txBox="1">
                <a:spLocks noRot="1" noChangeAspect="1" noMove="1" noResize="1" noEditPoints="1" noAdjustHandles="1" noChangeArrowheads="1" noChangeShapeType="1" noTextEdit="1"/>
              </p:cNvSpPr>
              <p:nvPr/>
            </p:nvSpPr>
            <p:spPr>
              <a:xfrm>
                <a:off x="1546152" y="3502329"/>
                <a:ext cx="342914" cy="369332"/>
              </a:xfrm>
              <a:prstGeom prst="rect">
                <a:avLst/>
              </a:prstGeom>
              <a:blipFill>
                <a:blip r:embed="rId9"/>
                <a:stretch>
                  <a:fillRect l="-17857" t="-20690" r="-7143" b="-2413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ZoneTexte 39">
                <a:extLst>
                  <a:ext uri="{FF2B5EF4-FFF2-40B4-BE49-F238E27FC236}">
                    <a16:creationId xmlns:a16="http://schemas.microsoft.com/office/drawing/2014/main" id="{B3D51229-E688-3983-948C-A67726FAB2B3}"/>
                  </a:ext>
                </a:extLst>
              </p:cNvPr>
              <p:cNvSpPr txBox="1"/>
              <p:nvPr/>
            </p:nvSpPr>
            <p:spPr>
              <a:xfrm>
                <a:off x="1577974" y="2941298"/>
                <a:ext cx="34419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2400" b="0" i="1" smtClean="0">
                              <a:solidFill>
                                <a:srgbClr val="FF0000"/>
                              </a:solidFill>
                              <a:latin typeface="Cambria Math" panose="02040503050406030204" pitchFamily="18" charset="0"/>
                            </a:rPr>
                          </m:ctrlPr>
                        </m:sSubPr>
                        <m:e>
                          <m:r>
                            <a:rPr lang="fr-FR" sz="2400" b="0" i="1" smtClean="0">
                              <a:solidFill>
                                <a:srgbClr val="FF0000"/>
                              </a:solidFill>
                              <a:latin typeface="Cambria Math" panose="02040503050406030204" pitchFamily="18" charset="0"/>
                            </a:rPr>
                            <m:t>𝐿</m:t>
                          </m:r>
                        </m:e>
                        <m:sub>
                          <m:r>
                            <a:rPr lang="fr-FR" sz="2400" b="0" i="1" smtClean="0">
                              <a:solidFill>
                                <a:srgbClr val="FF0000"/>
                              </a:solidFill>
                              <a:latin typeface="Cambria Math" panose="02040503050406030204" pitchFamily="18" charset="0"/>
                            </a:rPr>
                            <m:t>𝑡</m:t>
                          </m:r>
                        </m:sub>
                      </m:sSub>
                    </m:oMath>
                  </m:oMathPara>
                </a14:m>
                <a:endParaRPr lang="en-GB" sz="2400" dirty="0">
                  <a:solidFill>
                    <a:srgbClr val="FF0000"/>
                  </a:solidFill>
                </a:endParaRPr>
              </a:p>
            </p:txBody>
          </p:sp>
        </mc:Choice>
        <mc:Fallback xmlns="">
          <p:sp>
            <p:nvSpPr>
              <p:cNvPr id="40" name="ZoneTexte 39">
                <a:extLst>
                  <a:ext uri="{FF2B5EF4-FFF2-40B4-BE49-F238E27FC236}">
                    <a16:creationId xmlns:a16="http://schemas.microsoft.com/office/drawing/2014/main" id="{B3D51229-E688-3983-948C-A67726FAB2B3}"/>
                  </a:ext>
                </a:extLst>
              </p:cNvPr>
              <p:cNvSpPr txBox="1">
                <a:spLocks noRot="1" noChangeAspect="1" noMove="1" noResize="1" noEditPoints="1" noAdjustHandles="1" noChangeArrowheads="1" noChangeShapeType="1" noTextEdit="1"/>
              </p:cNvSpPr>
              <p:nvPr/>
            </p:nvSpPr>
            <p:spPr>
              <a:xfrm>
                <a:off x="1577974" y="2941298"/>
                <a:ext cx="344197" cy="369332"/>
              </a:xfrm>
              <a:prstGeom prst="rect">
                <a:avLst/>
              </a:prstGeom>
              <a:blipFill>
                <a:blip r:embed="rId10"/>
                <a:stretch>
                  <a:fillRect l="-21429" r="-7143" b="-1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1" name="ZoneTexte 40">
                <a:extLst>
                  <a:ext uri="{FF2B5EF4-FFF2-40B4-BE49-F238E27FC236}">
                    <a16:creationId xmlns:a16="http://schemas.microsoft.com/office/drawing/2014/main" id="{2F1BB859-4F84-BA18-F3C2-2EDAA76E6281}"/>
                  </a:ext>
                </a:extLst>
              </p:cNvPr>
              <p:cNvSpPr txBox="1"/>
              <p:nvPr/>
            </p:nvSpPr>
            <p:spPr>
              <a:xfrm>
                <a:off x="1616488" y="2293402"/>
                <a:ext cx="34291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2400" b="0" i="1" smtClean="0">
                              <a:solidFill>
                                <a:schemeClr val="tx1"/>
                              </a:solidFill>
                              <a:latin typeface="Cambria Math" panose="02040503050406030204" pitchFamily="18" charset="0"/>
                            </a:rPr>
                          </m:ctrlPr>
                        </m:sSubPr>
                        <m:e>
                          <m:r>
                            <a:rPr lang="fr-FR" sz="2400" b="0" i="1" smtClean="0">
                              <a:solidFill>
                                <a:schemeClr val="tx1"/>
                              </a:solidFill>
                              <a:latin typeface="Cambria Math" panose="02040503050406030204" pitchFamily="18" charset="0"/>
                            </a:rPr>
                            <m:t>𝑦</m:t>
                          </m:r>
                        </m:e>
                        <m:sub>
                          <m:r>
                            <a:rPr lang="fr-FR" sz="2400" b="0" i="1" smtClean="0">
                              <a:solidFill>
                                <a:schemeClr val="tx1"/>
                              </a:solidFill>
                              <a:latin typeface="Cambria Math" panose="02040503050406030204" pitchFamily="18" charset="0"/>
                            </a:rPr>
                            <m:t>𝑡</m:t>
                          </m:r>
                        </m:sub>
                      </m:sSub>
                    </m:oMath>
                  </m:oMathPara>
                </a14:m>
                <a:endParaRPr lang="en-GB" sz="2400" dirty="0">
                  <a:solidFill>
                    <a:schemeClr val="tx1"/>
                  </a:solidFill>
                </a:endParaRPr>
              </a:p>
            </p:txBody>
          </p:sp>
        </mc:Choice>
        <mc:Fallback xmlns="">
          <p:sp>
            <p:nvSpPr>
              <p:cNvPr id="41" name="ZoneTexte 40">
                <a:extLst>
                  <a:ext uri="{FF2B5EF4-FFF2-40B4-BE49-F238E27FC236}">
                    <a16:creationId xmlns:a16="http://schemas.microsoft.com/office/drawing/2014/main" id="{2F1BB859-4F84-BA18-F3C2-2EDAA76E6281}"/>
                  </a:ext>
                </a:extLst>
              </p:cNvPr>
              <p:cNvSpPr txBox="1">
                <a:spLocks noRot="1" noChangeAspect="1" noMove="1" noResize="1" noEditPoints="1" noAdjustHandles="1" noChangeArrowheads="1" noChangeShapeType="1" noTextEdit="1"/>
              </p:cNvSpPr>
              <p:nvPr/>
            </p:nvSpPr>
            <p:spPr>
              <a:xfrm>
                <a:off x="1616488" y="2293402"/>
                <a:ext cx="342914" cy="369332"/>
              </a:xfrm>
              <a:prstGeom prst="rect">
                <a:avLst/>
              </a:prstGeom>
              <a:blipFill>
                <a:blip r:embed="rId11"/>
                <a:stretch>
                  <a:fillRect l="-21429" r="-3571" b="-23333"/>
                </a:stretch>
              </a:blipFill>
            </p:spPr>
            <p:txBody>
              <a:bodyPr/>
              <a:lstStyle/>
              <a:p>
                <a:r>
                  <a:rPr lang="en-GB">
                    <a:noFill/>
                  </a:rPr>
                  <a:t> </a:t>
                </a:r>
              </a:p>
            </p:txBody>
          </p:sp>
        </mc:Fallback>
      </mc:AlternateContent>
      <p:cxnSp>
        <p:nvCxnSpPr>
          <p:cNvPr id="42" name="Connecteur droit avec flèche 41">
            <a:extLst>
              <a:ext uri="{FF2B5EF4-FFF2-40B4-BE49-F238E27FC236}">
                <a16:creationId xmlns:a16="http://schemas.microsoft.com/office/drawing/2014/main" id="{82B2DE67-6837-A076-DC02-29BF68265A1D}"/>
              </a:ext>
            </a:extLst>
          </p:cNvPr>
          <p:cNvCxnSpPr>
            <a:cxnSpLocks/>
          </p:cNvCxnSpPr>
          <p:nvPr/>
        </p:nvCxnSpPr>
        <p:spPr>
          <a:xfrm flipV="1">
            <a:off x="1737680" y="3932810"/>
            <a:ext cx="0" cy="1959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Connecteur droit avec flèche 45">
            <a:extLst>
              <a:ext uri="{FF2B5EF4-FFF2-40B4-BE49-F238E27FC236}">
                <a16:creationId xmlns:a16="http://schemas.microsoft.com/office/drawing/2014/main" id="{1D62078E-5D21-5BCD-C9B6-C8751B4E5F00}"/>
              </a:ext>
            </a:extLst>
          </p:cNvPr>
          <p:cNvCxnSpPr>
            <a:cxnSpLocks/>
          </p:cNvCxnSpPr>
          <p:nvPr/>
        </p:nvCxnSpPr>
        <p:spPr>
          <a:xfrm>
            <a:off x="1769503" y="2690343"/>
            <a:ext cx="0" cy="2794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Connecteur droit avec flèche 48">
            <a:extLst>
              <a:ext uri="{FF2B5EF4-FFF2-40B4-BE49-F238E27FC236}">
                <a16:creationId xmlns:a16="http://schemas.microsoft.com/office/drawing/2014/main" id="{0A100310-9D0E-B946-76FC-37627813F6BF}"/>
              </a:ext>
            </a:extLst>
          </p:cNvPr>
          <p:cNvCxnSpPr>
            <a:cxnSpLocks/>
          </p:cNvCxnSpPr>
          <p:nvPr/>
        </p:nvCxnSpPr>
        <p:spPr>
          <a:xfrm flipV="1">
            <a:off x="1739357" y="3311489"/>
            <a:ext cx="0" cy="1959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0" name="ZoneTexte 49">
            <a:extLst>
              <a:ext uri="{FF2B5EF4-FFF2-40B4-BE49-F238E27FC236}">
                <a16:creationId xmlns:a16="http://schemas.microsoft.com/office/drawing/2014/main" id="{9009F87A-B3DB-FFFF-571D-1D50D9AF369E}"/>
              </a:ext>
            </a:extLst>
          </p:cNvPr>
          <p:cNvSpPr txBox="1"/>
          <p:nvPr/>
        </p:nvSpPr>
        <p:spPr>
          <a:xfrm>
            <a:off x="3109918" y="2354957"/>
            <a:ext cx="1597688" cy="307777"/>
          </a:xfrm>
          <a:prstGeom prst="rect">
            <a:avLst/>
          </a:prstGeom>
          <a:noFill/>
        </p:spPr>
        <p:txBody>
          <a:bodyPr wrap="square" rtlCol="0">
            <a:spAutoFit/>
          </a:bodyPr>
          <a:lstStyle/>
          <a:p>
            <a:r>
              <a:rPr lang="en-GB" sz="1400" dirty="0"/>
              <a:t>The target</a:t>
            </a:r>
          </a:p>
        </p:txBody>
      </p:sp>
      <p:sp>
        <p:nvSpPr>
          <p:cNvPr id="51" name="ZoneTexte 50">
            <a:extLst>
              <a:ext uri="{FF2B5EF4-FFF2-40B4-BE49-F238E27FC236}">
                <a16:creationId xmlns:a16="http://schemas.microsoft.com/office/drawing/2014/main" id="{7E28B37E-62FC-A579-56D2-605E41215248}"/>
              </a:ext>
            </a:extLst>
          </p:cNvPr>
          <p:cNvSpPr txBox="1"/>
          <p:nvPr/>
        </p:nvSpPr>
        <p:spPr>
          <a:xfrm>
            <a:off x="3109917" y="2957850"/>
            <a:ext cx="5119682" cy="307777"/>
          </a:xfrm>
          <a:prstGeom prst="rect">
            <a:avLst/>
          </a:prstGeom>
          <a:noFill/>
        </p:spPr>
        <p:txBody>
          <a:bodyPr wrap="square" rtlCol="0">
            <a:spAutoFit/>
          </a:bodyPr>
          <a:lstStyle/>
          <a:p>
            <a:r>
              <a:rPr lang="en-GB" sz="1400" dirty="0"/>
              <a:t>The loss (binary cross-entropy, categorical cross entropy…)</a:t>
            </a:r>
          </a:p>
        </p:txBody>
      </p:sp>
      <mc:AlternateContent xmlns:mc="http://schemas.openxmlformats.org/markup-compatibility/2006" xmlns:a14="http://schemas.microsoft.com/office/drawing/2010/main">
        <mc:Choice Requires="a14">
          <p:sp>
            <p:nvSpPr>
              <p:cNvPr id="52" name="ZoneTexte 51">
                <a:extLst>
                  <a:ext uri="{FF2B5EF4-FFF2-40B4-BE49-F238E27FC236}">
                    <a16:creationId xmlns:a16="http://schemas.microsoft.com/office/drawing/2014/main" id="{8626C78B-F904-B048-8FEE-F9BCD3AA9DB3}"/>
                  </a:ext>
                </a:extLst>
              </p:cNvPr>
              <p:cNvSpPr txBox="1"/>
              <p:nvPr/>
            </p:nvSpPr>
            <p:spPr>
              <a:xfrm>
                <a:off x="3145039" y="3512095"/>
                <a:ext cx="3433761" cy="369332"/>
              </a:xfrm>
              <a:prstGeom prst="rect">
                <a:avLst/>
              </a:prstGeom>
              <a:noFill/>
            </p:spPr>
            <p:txBody>
              <a:bodyPr wrap="none" rtlCol="0">
                <a:spAutoFit/>
              </a:bodyPr>
              <a:lstStyle/>
              <a:p>
                <a:r>
                  <a:rPr lang="en-GB" sz="1400" dirty="0"/>
                  <a:t>The prediction </a:t>
                </a:r>
                <a14:m>
                  <m:oMath xmlns:m="http://schemas.openxmlformats.org/officeDocument/2006/math">
                    <m:sSub>
                      <m:sSubPr>
                        <m:ctrlPr>
                          <a:rPr lang="fr-FR" b="1" i="1" dirty="0" smtClean="0">
                            <a:latin typeface="Cambria Math" panose="02040503050406030204" pitchFamily="18" charset="0"/>
                          </a:rPr>
                        </m:ctrlPr>
                      </m:sSubPr>
                      <m:e>
                        <m:acc>
                          <m:accPr>
                            <m:chr m:val="̂"/>
                            <m:ctrlPr>
                              <a:rPr lang="fr-FR" b="1" i="1" smtClean="0">
                                <a:latin typeface="Cambria Math" panose="02040503050406030204" pitchFamily="18" charset="0"/>
                              </a:rPr>
                            </m:ctrlPr>
                          </m:accPr>
                          <m:e>
                            <m:r>
                              <a:rPr lang="fr-FR" b="1" i="1" smtClean="0">
                                <a:latin typeface="Cambria Math" panose="02040503050406030204" pitchFamily="18" charset="0"/>
                              </a:rPr>
                              <m:t>𝒚</m:t>
                            </m:r>
                          </m:e>
                        </m:acc>
                      </m:e>
                      <m:sub>
                        <m:r>
                          <a:rPr lang="fr-FR" b="1" i="1" dirty="0" smtClean="0">
                            <a:latin typeface="Cambria Math" panose="02040503050406030204" pitchFamily="18" charset="0"/>
                          </a:rPr>
                          <m:t>𝒕</m:t>
                        </m:r>
                      </m:sub>
                    </m:sSub>
                    <m:r>
                      <a:rPr lang="fr-FR" b="1" i="1" dirty="0" smtClean="0">
                        <a:latin typeface="Cambria Math" panose="02040503050406030204" pitchFamily="18" charset="0"/>
                      </a:rPr>
                      <m:t>=</m:t>
                    </m:r>
                    <m:sSub>
                      <m:sSubPr>
                        <m:ctrlPr>
                          <a:rPr lang="fr-FR" b="1" i="1" smtClean="0">
                            <a:latin typeface="Cambria Math" panose="02040503050406030204" pitchFamily="18" charset="0"/>
                          </a:rPr>
                        </m:ctrlPr>
                      </m:sSubPr>
                      <m:e>
                        <m:r>
                          <a:rPr lang="fr-FR" b="1" i="1" smtClean="0">
                            <a:latin typeface="Cambria Math" panose="02040503050406030204" pitchFamily="18" charset="0"/>
                          </a:rPr>
                          <m:t>𝒈</m:t>
                        </m:r>
                        <m:r>
                          <a:rPr lang="fr-FR" b="1" i="1" smtClean="0">
                            <a:latin typeface="Cambria Math" panose="02040503050406030204" pitchFamily="18" charset="0"/>
                          </a:rPr>
                          <m:t>(</m:t>
                        </m:r>
                        <m:r>
                          <a:rPr lang="fr-FR" b="1" i="1" smtClean="0">
                            <a:latin typeface="Cambria Math" panose="02040503050406030204" pitchFamily="18" charset="0"/>
                          </a:rPr>
                          <m:t>𝒐</m:t>
                        </m:r>
                      </m:e>
                      <m:sub>
                        <m:r>
                          <a:rPr lang="fr-FR" b="1" i="1" smtClean="0">
                            <a:latin typeface="Cambria Math" panose="02040503050406030204" pitchFamily="18" charset="0"/>
                          </a:rPr>
                          <m:t>𝒕</m:t>
                        </m:r>
                      </m:sub>
                    </m:sSub>
                    <m:r>
                      <a:rPr lang="fr-FR" b="1" i="1" smtClean="0">
                        <a:latin typeface="Cambria Math" panose="02040503050406030204" pitchFamily="18" charset="0"/>
                      </a:rPr>
                      <m:t>)=</m:t>
                    </m:r>
                    <m:r>
                      <a:rPr lang="fr-FR" b="1" i="1" smtClean="0">
                        <a:latin typeface="Cambria Math" panose="02040503050406030204" pitchFamily="18" charset="0"/>
                      </a:rPr>
                      <m:t>𝒈</m:t>
                    </m:r>
                    <m:d>
                      <m:dPr>
                        <m:ctrlPr>
                          <a:rPr lang="fr-FR" b="1" i="1" smtClean="0">
                            <a:latin typeface="Cambria Math" panose="02040503050406030204" pitchFamily="18" charset="0"/>
                          </a:rPr>
                        </m:ctrlPr>
                      </m:dPr>
                      <m:e>
                        <m:r>
                          <a:rPr lang="fr-FR" b="1" i="1">
                            <a:latin typeface="Cambria Math" panose="02040503050406030204" pitchFamily="18" charset="0"/>
                          </a:rPr>
                          <m:t>𝑽</m:t>
                        </m:r>
                        <m:sSub>
                          <m:sSubPr>
                            <m:ctrlPr>
                              <a:rPr lang="fr-FR" b="1" i="1">
                                <a:latin typeface="Cambria Math" panose="02040503050406030204" pitchFamily="18" charset="0"/>
                              </a:rPr>
                            </m:ctrlPr>
                          </m:sSubPr>
                          <m:e>
                            <m:r>
                              <a:rPr lang="fr-FR" b="1" i="1">
                                <a:latin typeface="Cambria Math" panose="02040503050406030204" pitchFamily="18" charset="0"/>
                              </a:rPr>
                              <m:t>𝒉</m:t>
                            </m:r>
                          </m:e>
                          <m:sub>
                            <m:r>
                              <a:rPr lang="fr-FR" b="1" i="1">
                                <a:latin typeface="Cambria Math" panose="02040503050406030204" pitchFamily="18" charset="0"/>
                              </a:rPr>
                              <m:t>𝒕</m:t>
                            </m:r>
                          </m:sub>
                        </m:sSub>
                      </m:e>
                    </m:d>
                  </m:oMath>
                </a14:m>
                <a:endParaRPr lang="en-GB" sz="1400" b="1" dirty="0"/>
              </a:p>
            </p:txBody>
          </p:sp>
        </mc:Choice>
        <mc:Fallback xmlns="">
          <p:sp>
            <p:nvSpPr>
              <p:cNvPr id="52" name="ZoneTexte 51">
                <a:extLst>
                  <a:ext uri="{FF2B5EF4-FFF2-40B4-BE49-F238E27FC236}">
                    <a16:creationId xmlns:a16="http://schemas.microsoft.com/office/drawing/2014/main" id="{8626C78B-F904-B048-8FEE-F9BCD3AA9DB3}"/>
                  </a:ext>
                </a:extLst>
              </p:cNvPr>
              <p:cNvSpPr txBox="1">
                <a:spLocks noRot="1" noChangeAspect="1" noMove="1" noResize="1" noEditPoints="1" noAdjustHandles="1" noChangeArrowheads="1" noChangeShapeType="1" noTextEdit="1"/>
              </p:cNvSpPr>
              <p:nvPr/>
            </p:nvSpPr>
            <p:spPr>
              <a:xfrm>
                <a:off x="3145039" y="3512095"/>
                <a:ext cx="3433761" cy="369332"/>
              </a:xfrm>
              <a:prstGeom prst="rect">
                <a:avLst/>
              </a:prstGeom>
              <a:blipFill>
                <a:blip r:embed="rId12"/>
                <a:stretch>
                  <a:fillRect l="-369" b="-16667"/>
                </a:stretch>
              </a:blipFill>
            </p:spPr>
            <p:txBody>
              <a:bodyPr/>
              <a:lstStyle/>
              <a:p>
                <a:r>
                  <a:rPr lang="en-GB">
                    <a:noFill/>
                  </a:rPr>
                  <a:t> </a:t>
                </a:r>
              </a:p>
            </p:txBody>
          </p:sp>
        </mc:Fallback>
      </mc:AlternateContent>
      <p:sp>
        <p:nvSpPr>
          <p:cNvPr id="53" name="ZoneTexte 52">
            <a:extLst>
              <a:ext uri="{FF2B5EF4-FFF2-40B4-BE49-F238E27FC236}">
                <a16:creationId xmlns:a16="http://schemas.microsoft.com/office/drawing/2014/main" id="{73D923EF-5EAB-C479-5C47-3F9F793F1118}"/>
              </a:ext>
            </a:extLst>
          </p:cNvPr>
          <p:cNvSpPr txBox="1"/>
          <p:nvPr/>
        </p:nvSpPr>
        <p:spPr>
          <a:xfrm>
            <a:off x="3145039" y="4058917"/>
            <a:ext cx="1477199" cy="307777"/>
          </a:xfrm>
          <a:prstGeom prst="rect">
            <a:avLst/>
          </a:prstGeom>
          <a:noFill/>
        </p:spPr>
        <p:txBody>
          <a:bodyPr wrap="square" rtlCol="0">
            <a:spAutoFit/>
          </a:bodyPr>
          <a:lstStyle/>
          <a:p>
            <a:r>
              <a:rPr lang="en-GB" sz="1400" dirty="0"/>
              <a:t>The output layer</a:t>
            </a:r>
          </a:p>
        </p:txBody>
      </p:sp>
      <p:sp>
        <p:nvSpPr>
          <p:cNvPr id="54" name="ZoneTexte 53">
            <a:extLst>
              <a:ext uri="{FF2B5EF4-FFF2-40B4-BE49-F238E27FC236}">
                <a16:creationId xmlns:a16="http://schemas.microsoft.com/office/drawing/2014/main" id="{4A46696E-C245-A4F5-CBDE-65B61458768F}"/>
              </a:ext>
            </a:extLst>
          </p:cNvPr>
          <p:cNvSpPr txBox="1"/>
          <p:nvPr/>
        </p:nvSpPr>
        <p:spPr>
          <a:xfrm>
            <a:off x="3161304" y="5183938"/>
            <a:ext cx="1477199" cy="307777"/>
          </a:xfrm>
          <a:prstGeom prst="rect">
            <a:avLst/>
          </a:prstGeom>
          <a:noFill/>
        </p:spPr>
        <p:txBody>
          <a:bodyPr wrap="square" rtlCol="0">
            <a:spAutoFit/>
          </a:bodyPr>
          <a:lstStyle/>
          <a:p>
            <a:r>
              <a:rPr lang="en-GB" sz="1400" dirty="0"/>
              <a:t>The hidden layer</a:t>
            </a:r>
          </a:p>
        </p:txBody>
      </p:sp>
      <p:sp>
        <p:nvSpPr>
          <p:cNvPr id="55" name="Accolade ouvrante 54">
            <a:extLst>
              <a:ext uri="{FF2B5EF4-FFF2-40B4-BE49-F238E27FC236}">
                <a16:creationId xmlns:a16="http://schemas.microsoft.com/office/drawing/2014/main" id="{48547A56-34CA-D020-101C-49B004A7613A}"/>
              </a:ext>
            </a:extLst>
          </p:cNvPr>
          <p:cNvSpPr/>
          <p:nvPr/>
        </p:nvSpPr>
        <p:spPr>
          <a:xfrm>
            <a:off x="4568167" y="4639921"/>
            <a:ext cx="295238" cy="1411516"/>
          </a:xfrm>
          <a:prstGeom prst="leftBrace">
            <a:avLst/>
          </a:prstGeom>
          <a:ln w="12700"/>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60" name="ZoneTexte 59">
                <a:extLst>
                  <a:ext uri="{FF2B5EF4-FFF2-40B4-BE49-F238E27FC236}">
                    <a16:creationId xmlns:a16="http://schemas.microsoft.com/office/drawing/2014/main" id="{DCC7B54E-82E9-EB76-F27B-52358F413656}"/>
                  </a:ext>
                </a:extLst>
              </p:cNvPr>
              <p:cNvSpPr txBox="1"/>
              <p:nvPr/>
            </p:nvSpPr>
            <p:spPr>
              <a:xfrm>
                <a:off x="6638689" y="3514636"/>
                <a:ext cx="5113374" cy="393649"/>
              </a:xfrm>
              <a:prstGeom prst="rect">
                <a:avLst/>
              </a:prstGeom>
              <a:noFill/>
            </p:spPr>
            <p:txBody>
              <a:bodyPr wrap="square" rtlCol="0">
                <a:noAutofit/>
              </a:bodyPr>
              <a:lstStyle/>
              <a:p>
                <a:r>
                  <a:rPr lang="fr-FR" sz="1400" dirty="0"/>
                  <a:t>(</a:t>
                </a:r>
                <a14:m>
                  <m:oMath xmlns:m="http://schemas.openxmlformats.org/officeDocument/2006/math">
                    <m:r>
                      <a:rPr lang="fr-FR" sz="1400" b="0" i="1" smtClean="0">
                        <a:latin typeface="Cambria Math" panose="02040503050406030204" pitchFamily="18" charset="0"/>
                      </a:rPr>
                      <m:t>𝑔</m:t>
                    </m:r>
                    <m:r>
                      <a:rPr lang="fr-FR" sz="1400" b="0" i="1" smtClean="0">
                        <a:latin typeface="Cambria Math" panose="02040503050406030204" pitchFamily="18" charset="0"/>
                      </a:rPr>
                      <m:t> </m:t>
                    </m:r>
                  </m:oMath>
                </a14:m>
                <a:r>
                  <a:rPr lang="en-GB" sz="1400" noProof="0" dirty="0"/>
                  <a:t>the activation function could be a sigmoid, a softmax…)</a:t>
                </a:r>
              </a:p>
            </p:txBody>
          </p:sp>
        </mc:Choice>
        <mc:Fallback xmlns="">
          <p:sp>
            <p:nvSpPr>
              <p:cNvPr id="60" name="ZoneTexte 59">
                <a:extLst>
                  <a:ext uri="{FF2B5EF4-FFF2-40B4-BE49-F238E27FC236}">
                    <a16:creationId xmlns:a16="http://schemas.microsoft.com/office/drawing/2014/main" id="{DCC7B54E-82E9-EB76-F27B-52358F413656}"/>
                  </a:ext>
                </a:extLst>
              </p:cNvPr>
              <p:cNvSpPr txBox="1">
                <a:spLocks noRot="1" noChangeAspect="1" noMove="1" noResize="1" noEditPoints="1" noAdjustHandles="1" noChangeArrowheads="1" noChangeShapeType="1" noTextEdit="1"/>
              </p:cNvSpPr>
              <p:nvPr/>
            </p:nvSpPr>
            <p:spPr>
              <a:xfrm>
                <a:off x="6638689" y="3514636"/>
                <a:ext cx="5113374" cy="393649"/>
              </a:xfrm>
              <a:prstGeom prst="rect">
                <a:avLst/>
              </a:prstGeom>
              <a:blipFill>
                <a:blip r:embed="rId13"/>
                <a:stretch>
                  <a:fillRect l="-248"/>
                </a:stretch>
              </a:blipFill>
            </p:spPr>
            <p:txBody>
              <a:bodyPr/>
              <a:lstStyle/>
              <a:p>
                <a:r>
                  <a:rPr lang="en-GB">
                    <a:noFill/>
                  </a:rPr>
                  <a:t> </a:t>
                </a:r>
              </a:p>
            </p:txBody>
          </p:sp>
        </mc:Fallback>
      </mc:AlternateContent>
      <p:sp>
        <p:nvSpPr>
          <p:cNvPr id="3" name="ZoneTexte 2">
            <a:extLst>
              <a:ext uri="{FF2B5EF4-FFF2-40B4-BE49-F238E27FC236}">
                <a16:creationId xmlns:a16="http://schemas.microsoft.com/office/drawing/2014/main" id="{26B191F2-C65C-2199-46CE-88585F1C2CE9}"/>
              </a:ext>
            </a:extLst>
          </p:cNvPr>
          <p:cNvSpPr txBox="1"/>
          <p:nvPr/>
        </p:nvSpPr>
        <p:spPr>
          <a:xfrm>
            <a:off x="765789" y="4778324"/>
            <a:ext cx="304800" cy="369332"/>
          </a:xfrm>
          <a:prstGeom prst="rect">
            <a:avLst/>
          </a:prstGeom>
          <a:noFill/>
        </p:spPr>
        <p:txBody>
          <a:bodyPr wrap="square" rtlCol="0">
            <a:spAutoFit/>
          </a:bodyPr>
          <a:lstStyle/>
          <a:p>
            <a:r>
              <a:rPr lang="en-GB" b="1" dirty="0">
                <a:solidFill>
                  <a:srgbClr val="0070C0"/>
                </a:solidFill>
              </a:rPr>
              <a:t>W</a:t>
            </a:r>
          </a:p>
        </p:txBody>
      </p:sp>
      <p:sp>
        <p:nvSpPr>
          <p:cNvPr id="8" name="ZoneTexte 7">
            <a:extLst>
              <a:ext uri="{FF2B5EF4-FFF2-40B4-BE49-F238E27FC236}">
                <a16:creationId xmlns:a16="http://schemas.microsoft.com/office/drawing/2014/main" id="{3F60BC93-5A83-B9CB-CD66-E5229E047A2F}"/>
              </a:ext>
            </a:extLst>
          </p:cNvPr>
          <p:cNvSpPr txBox="1"/>
          <p:nvPr/>
        </p:nvSpPr>
        <p:spPr>
          <a:xfrm>
            <a:off x="1711517" y="4444702"/>
            <a:ext cx="304800" cy="369332"/>
          </a:xfrm>
          <a:prstGeom prst="rect">
            <a:avLst/>
          </a:prstGeom>
          <a:noFill/>
        </p:spPr>
        <p:txBody>
          <a:bodyPr wrap="square" rtlCol="0">
            <a:spAutoFit/>
          </a:bodyPr>
          <a:lstStyle/>
          <a:p>
            <a:r>
              <a:rPr lang="en-GB" b="1" dirty="0">
                <a:solidFill>
                  <a:srgbClr val="0070C0"/>
                </a:solidFill>
              </a:rPr>
              <a:t>V</a:t>
            </a:r>
          </a:p>
        </p:txBody>
      </p:sp>
      <p:sp>
        <p:nvSpPr>
          <p:cNvPr id="9" name="ZoneTexte 8">
            <a:extLst>
              <a:ext uri="{FF2B5EF4-FFF2-40B4-BE49-F238E27FC236}">
                <a16:creationId xmlns:a16="http://schemas.microsoft.com/office/drawing/2014/main" id="{489EC666-6F00-E17C-B549-556DBDB1FC30}"/>
              </a:ext>
            </a:extLst>
          </p:cNvPr>
          <p:cNvSpPr txBox="1"/>
          <p:nvPr/>
        </p:nvSpPr>
        <p:spPr>
          <a:xfrm>
            <a:off x="1731458" y="5679358"/>
            <a:ext cx="304800" cy="369332"/>
          </a:xfrm>
          <a:prstGeom prst="rect">
            <a:avLst/>
          </a:prstGeom>
          <a:noFill/>
        </p:spPr>
        <p:txBody>
          <a:bodyPr wrap="square" rtlCol="0">
            <a:spAutoFit/>
          </a:bodyPr>
          <a:lstStyle/>
          <a:p>
            <a:r>
              <a:rPr lang="en-GB" b="1" dirty="0">
                <a:solidFill>
                  <a:srgbClr val="0070C0"/>
                </a:solidFill>
              </a:rPr>
              <a:t>U</a:t>
            </a:r>
          </a:p>
        </p:txBody>
      </p:sp>
      <p:sp>
        <p:nvSpPr>
          <p:cNvPr id="17" name="ZoneTexte 16">
            <a:extLst>
              <a:ext uri="{FF2B5EF4-FFF2-40B4-BE49-F238E27FC236}">
                <a16:creationId xmlns:a16="http://schemas.microsoft.com/office/drawing/2014/main" id="{3F6612A0-140D-DF75-D715-1041B0E75404}"/>
              </a:ext>
            </a:extLst>
          </p:cNvPr>
          <p:cNvSpPr txBox="1"/>
          <p:nvPr/>
        </p:nvSpPr>
        <p:spPr>
          <a:xfrm>
            <a:off x="7747119" y="6079351"/>
            <a:ext cx="4004944" cy="276999"/>
          </a:xfrm>
          <a:prstGeom prst="rect">
            <a:avLst/>
          </a:prstGeom>
          <a:noFill/>
        </p:spPr>
        <p:txBody>
          <a:bodyPr wrap="square" rtlCol="0">
            <a:spAutoFit/>
          </a:bodyPr>
          <a:lstStyle/>
          <a:p>
            <a:r>
              <a:rPr lang="en-GB" sz="1200" dirty="0"/>
              <a:t>Note: for simplification, the bias are not mentioned here</a:t>
            </a:r>
          </a:p>
        </p:txBody>
      </p:sp>
    </p:spTree>
    <p:extLst>
      <p:ext uri="{BB962C8B-B14F-4D97-AF65-F5344CB8AC3E}">
        <p14:creationId xmlns:p14="http://schemas.microsoft.com/office/powerpoint/2010/main" val="1676695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EA3D6-A8A7-539A-D211-A93E94B8230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4A2FD57-36EC-6F2E-7110-068257C58CCD}"/>
              </a:ext>
            </a:extLst>
          </p:cNvPr>
          <p:cNvSpPr>
            <a:spLocks noGrp="1"/>
          </p:cNvSpPr>
          <p:nvPr>
            <p:ph type="title"/>
          </p:nvPr>
        </p:nvSpPr>
        <p:spPr/>
        <p:txBody>
          <a:bodyPr/>
          <a:lstStyle/>
          <a:p>
            <a:pPr algn="ctr"/>
            <a:r>
              <a:rPr lang="en-GB" noProof="0" dirty="0"/>
              <a:t>Recurrent Neural Networks</a:t>
            </a:r>
          </a:p>
        </p:txBody>
      </p:sp>
      <p:sp>
        <p:nvSpPr>
          <p:cNvPr id="4" name="ZoneTexte 3">
            <a:extLst>
              <a:ext uri="{FF2B5EF4-FFF2-40B4-BE49-F238E27FC236}">
                <a16:creationId xmlns:a16="http://schemas.microsoft.com/office/drawing/2014/main" id="{34638DDA-CB33-1D0D-82B6-BBE842F0DD62}"/>
              </a:ext>
            </a:extLst>
          </p:cNvPr>
          <p:cNvSpPr txBox="1"/>
          <p:nvPr/>
        </p:nvSpPr>
        <p:spPr>
          <a:xfrm>
            <a:off x="838199" y="1828800"/>
            <a:ext cx="8703365" cy="1479665"/>
          </a:xfrm>
          <a:prstGeom prst="rect">
            <a:avLst/>
          </a:prstGeom>
          <a:noFill/>
        </p:spPr>
        <p:txBody>
          <a:bodyPr wrap="square" lIns="90000" rtlCol="0">
            <a:noAutofit/>
          </a:bodyPr>
          <a:lstStyle/>
          <a:p>
            <a:r>
              <a:rPr lang="en-GB" sz="2400" b="1" dirty="0">
                <a:latin typeface="ui-sans-serif"/>
              </a:rPr>
              <a:t>Process sentences as sequences with Recurrent Neural Network.</a:t>
            </a:r>
          </a:p>
          <a:p>
            <a:r>
              <a:rPr lang="en-GB" sz="1600" dirty="0">
                <a:latin typeface="ui-sans-serif"/>
              </a:rPr>
              <a:t>Example sentence: “The dog looked guilty”</a:t>
            </a:r>
          </a:p>
          <a:p>
            <a:r>
              <a:rPr lang="en-GB" sz="2400" dirty="0">
                <a:latin typeface="ui-sans-serif"/>
              </a:rPr>
              <a:t>RNN at different time step</a:t>
            </a:r>
          </a:p>
          <a:p>
            <a:endParaRPr lang="en-GB" sz="2400" dirty="0">
              <a:latin typeface="ui-sans-serif"/>
            </a:endParaRPr>
          </a:p>
          <a:p>
            <a:endParaRPr lang="en-GB" sz="2400" dirty="0">
              <a:latin typeface="ui-sans-serif"/>
            </a:endParaRPr>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389878AE-5AC9-4350-40EF-2736B5F70579}"/>
                  </a:ext>
                </a:extLst>
              </p:cNvPr>
              <p:cNvSpPr txBox="1"/>
              <p:nvPr/>
            </p:nvSpPr>
            <p:spPr>
              <a:xfrm>
                <a:off x="1097156" y="5403084"/>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Sub>
                    </m:oMath>
                  </m:oMathPara>
                </a14:m>
                <a:endParaRPr lang="en-GB" sz="1600" dirty="0"/>
              </a:p>
            </p:txBody>
          </p:sp>
        </mc:Choice>
        <mc:Fallback xmlns="">
          <p:sp>
            <p:nvSpPr>
              <p:cNvPr id="5" name="ZoneTexte 4">
                <a:extLst>
                  <a:ext uri="{FF2B5EF4-FFF2-40B4-BE49-F238E27FC236}">
                    <a16:creationId xmlns:a16="http://schemas.microsoft.com/office/drawing/2014/main" id="{389878AE-5AC9-4350-40EF-2736B5F70579}"/>
                  </a:ext>
                </a:extLst>
              </p:cNvPr>
              <p:cNvSpPr txBox="1">
                <a:spLocks noRot="1" noChangeAspect="1" noMove="1" noResize="1" noEditPoints="1" noAdjustHandles="1" noChangeArrowheads="1" noChangeShapeType="1" noTextEdit="1"/>
              </p:cNvSpPr>
              <p:nvPr/>
            </p:nvSpPr>
            <p:spPr>
              <a:xfrm>
                <a:off x="1097156" y="5403084"/>
                <a:ext cx="424732" cy="246221"/>
              </a:xfrm>
              <a:prstGeom prst="rect">
                <a:avLst/>
              </a:prstGeom>
              <a:blipFill>
                <a:blip r:embed="rId3"/>
                <a:stretch>
                  <a:fillRect l="-14286" r="-5714" b="-1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5DCB4689-52A0-B994-01DC-BC12D5D89E38}"/>
                  </a:ext>
                </a:extLst>
              </p:cNvPr>
              <p:cNvSpPr txBox="1"/>
              <p:nvPr/>
            </p:nvSpPr>
            <p:spPr>
              <a:xfrm>
                <a:off x="1097156" y="3270847"/>
                <a:ext cx="4247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Sub>
                    </m:oMath>
                  </m:oMathPara>
                </a14:m>
                <a:endParaRPr lang="en-GB" sz="1600" dirty="0"/>
              </a:p>
            </p:txBody>
          </p:sp>
        </mc:Choice>
        <mc:Fallback xmlns="">
          <p:sp>
            <p:nvSpPr>
              <p:cNvPr id="7" name="ZoneTexte 6">
                <a:extLst>
                  <a:ext uri="{FF2B5EF4-FFF2-40B4-BE49-F238E27FC236}">
                    <a16:creationId xmlns:a16="http://schemas.microsoft.com/office/drawing/2014/main" id="{5DCB4689-52A0-B994-01DC-BC12D5D89E38}"/>
                  </a:ext>
                </a:extLst>
              </p:cNvPr>
              <p:cNvSpPr txBox="1">
                <a:spLocks noRot="1" noChangeAspect="1" noMove="1" noResize="1" noEditPoints="1" noAdjustHandles="1" noChangeArrowheads="1" noChangeShapeType="1" noTextEdit="1"/>
              </p:cNvSpPr>
              <p:nvPr/>
            </p:nvSpPr>
            <p:spPr>
              <a:xfrm>
                <a:off x="1097156" y="3270847"/>
                <a:ext cx="424732" cy="246221"/>
              </a:xfrm>
              <a:prstGeom prst="rect">
                <a:avLst/>
              </a:prstGeom>
              <a:blipFill>
                <a:blip r:embed="rId4"/>
                <a:stretch>
                  <a:fillRect l="-11429" t="-15000" r="-2857" b="-25000"/>
                </a:stretch>
              </a:blipFill>
            </p:spPr>
            <p:txBody>
              <a:bodyPr/>
              <a:lstStyle/>
              <a:p>
                <a:r>
                  <a:rPr lang="en-GB">
                    <a:noFill/>
                  </a:rPr>
                  <a:t> </a:t>
                </a:r>
              </a:p>
            </p:txBody>
          </p:sp>
        </mc:Fallback>
      </mc:AlternateContent>
      <p:sp>
        <p:nvSpPr>
          <p:cNvPr id="8" name="Rectangle : coins arrondis 7">
            <a:extLst>
              <a:ext uri="{FF2B5EF4-FFF2-40B4-BE49-F238E27FC236}">
                <a16:creationId xmlns:a16="http://schemas.microsoft.com/office/drawing/2014/main" id="{44F33424-3655-F176-8F03-3221F7521839}"/>
              </a:ext>
            </a:extLst>
          </p:cNvPr>
          <p:cNvSpPr/>
          <p:nvPr/>
        </p:nvSpPr>
        <p:spPr>
          <a:xfrm>
            <a:off x="1026160" y="4119541"/>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Connecteur droit avec flèche 9">
            <a:extLst>
              <a:ext uri="{FF2B5EF4-FFF2-40B4-BE49-F238E27FC236}">
                <a16:creationId xmlns:a16="http://schemas.microsoft.com/office/drawing/2014/main" id="{640DDF93-E383-4A25-B1D4-D058A651B896}"/>
              </a:ext>
            </a:extLst>
          </p:cNvPr>
          <p:cNvCxnSpPr>
            <a:stCxn id="8" idx="0"/>
            <a:endCxn id="7" idx="2"/>
          </p:cNvCxnSpPr>
          <p:nvPr/>
        </p:nvCxnSpPr>
        <p:spPr>
          <a:xfrm flipV="1">
            <a:off x="1305560" y="3517068"/>
            <a:ext cx="3962"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Connecteur droit avec flèche 11">
            <a:extLst>
              <a:ext uri="{FF2B5EF4-FFF2-40B4-BE49-F238E27FC236}">
                <a16:creationId xmlns:a16="http://schemas.microsoft.com/office/drawing/2014/main" id="{B7842886-A68F-FD08-DDAA-7D93374FC1A0}"/>
              </a:ext>
            </a:extLst>
          </p:cNvPr>
          <p:cNvCxnSpPr>
            <a:cxnSpLocks/>
            <a:stCxn id="5" idx="0"/>
            <a:endCxn id="8" idx="2"/>
          </p:cNvCxnSpPr>
          <p:nvPr/>
        </p:nvCxnSpPr>
        <p:spPr>
          <a:xfrm flipH="1" flipV="1">
            <a:off x="1305560" y="4881541"/>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5" name="ZoneTexte 24">
                <a:extLst>
                  <a:ext uri="{FF2B5EF4-FFF2-40B4-BE49-F238E27FC236}">
                    <a16:creationId xmlns:a16="http://schemas.microsoft.com/office/drawing/2014/main" id="{DBA7305B-0916-4B4F-E1F3-BC0E9064ADD7}"/>
                  </a:ext>
                </a:extLst>
              </p:cNvPr>
              <p:cNvSpPr txBox="1"/>
              <p:nvPr/>
            </p:nvSpPr>
            <p:spPr>
              <a:xfrm>
                <a:off x="1732404" y="4119541"/>
                <a:ext cx="429348" cy="246221"/>
              </a:xfrm>
              <a:prstGeom prst="rect">
                <a:avLst/>
              </a:prstGeom>
              <a:solidFill>
                <a:srgbClr val="FFFF00"/>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highlight>
                                <a:srgbClr val="FFFF00"/>
                              </a:highlight>
                              <a:latin typeface="Cambria Math" panose="02040503050406030204" pitchFamily="18" charset="0"/>
                            </a:rPr>
                          </m:ctrlPr>
                        </m:sSubPr>
                        <m:e>
                          <m:r>
                            <a:rPr lang="fr-FR" sz="1600" b="0" i="1" smtClean="0">
                              <a:highlight>
                                <a:srgbClr val="FFFF00"/>
                              </a:highlight>
                              <a:latin typeface="Cambria Math" panose="02040503050406030204" pitchFamily="18" charset="0"/>
                            </a:rPr>
                            <m:t>h</m:t>
                          </m:r>
                        </m:e>
                        <m:sub>
                          <m:r>
                            <a:rPr lang="fr-FR" sz="1600" b="0" i="1" smtClean="0">
                              <a:highlight>
                                <a:srgbClr val="FFFF00"/>
                              </a:highlight>
                              <a:latin typeface="Cambria Math" panose="02040503050406030204" pitchFamily="18" charset="0"/>
                            </a:rPr>
                            <m:t>𝑡</m:t>
                          </m:r>
                          <m:r>
                            <a:rPr lang="fr-FR" sz="1600" b="0" i="1" smtClean="0">
                              <a:highlight>
                                <a:srgbClr val="FFFF00"/>
                              </a:highlight>
                              <a:latin typeface="Cambria Math" panose="02040503050406030204" pitchFamily="18" charset="0"/>
                            </a:rPr>
                            <m:t>=1</m:t>
                          </m:r>
                        </m:sub>
                      </m:sSub>
                    </m:oMath>
                  </m:oMathPara>
                </a14:m>
                <a:endParaRPr lang="en-GB" sz="1600" dirty="0">
                  <a:highlight>
                    <a:srgbClr val="FFFF00"/>
                  </a:highlight>
                </a:endParaRPr>
              </a:p>
            </p:txBody>
          </p:sp>
        </mc:Choice>
        <mc:Fallback xmlns="">
          <p:sp>
            <p:nvSpPr>
              <p:cNvPr id="25" name="ZoneTexte 24">
                <a:extLst>
                  <a:ext uri="{FF2B5EF4-FFF2-40B4-BE49-F238E27FC236}">
                    <a16:creationId xmlns:a16="http://schemas.microsoft.com/office/drawing/2014/main" id="{DBA7305B-0916-4B4F-E1F3-BC0E9064ADD7}"/>
                  </a:ext>
                </a:extLst>
              </p:cNvPr>
              <p:cNvSpPr txBox="1">
                <a:spLocks noRot="1" noChangeAspect="1" noMove="1" noResize="1" noEditPoints="1" noAdjustHandles="1" noChangeArrowheads="1" noChangeShapeType="1" noTextEdit="1"/>
              </p:cNvSpPr>
              <p:nvPr/>
            </p:nvSpPr>
            <p:spPr>
              <a:xfrm>
                <a:off x="1732404" y="4119541"/>
                <a:ext cx="429348" cy="246221"/>
              </a:xfrm>
              <a:prstGeom prst="rect">
                <a:avLst/>
              </a:prstGeom>
              <a:blipFill>
                <a:blip r:embed="rId5"/>
                <a:stretch>
                  <a:fillRect l="-11429" r="-2857"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ZoneTexte 13">
                <a:extLst>
                  <a:ext uri="{FF2B5EF4-FFF2-40B4-BE49-F238E27FC236}">
                    <a16:creationId xmlns:a16="http://schemas.microsoft.com/office/drawing/2014/main" id="{09F85185-7700-124E-627E-15E60FD62682}"/>
                  </a:ext>
                </a:extLst>
              </p:cNvPr>
              <p:cNvSpPr txBox="1"/>
              <p:nvPr/>
            </p:nvSpPr>
            <p:spPr>
              <a:xfrm>
                <a:off x="2371220" y="5409180"/>
                <a:ext cx="424732" cy="246221"/>
              </a:xfrm>
              <a:prstGeom prst="rect">
                <a:avLst/>
              </a:prstGeom>
              <a:solidFill>
                <a:srgbClr val="FFFF00"/>
              </a:solid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highlight>
                                <a:srgbClr val="FFFF00"/>
                              </a:highlight>
                              <a:latin typeface="Cambria Math" panose="02040503050406030204" pitchFamily="18" charset="0"/>
                            </a:rPr>
                          </m:ctrlPr>
                        </m:sSubPr>
                        <m:e>
                          <m:r>
                            <a:rPr lang="fr-FR" sz="1600" b="0" i="1" smtClean="0">
                              <a:highlight>
                                <a:srgbClr val="FFFF00"/>
                              </a:highlight>
                              <a:latin typeface="Cambria Math" panose="02040503050406030204" pitchFamily="18" charset="0"/>
                            </a:rPr>
                            <m:t>𝑋</m:t>
                          </m:r>
                        </m:e>
                        <m:sub>
                          <m:r>
                            <a:rPr lang="fr-FR" sz="1600" b="0" i="1" smtClean="0">
                              <a:highlight>
                                <a:srgbClr val="FFFF00"/>
                              </a:highlight>
                              <a:latin typeface="Cambria Math" panose="02040503050406030204" pitchFamily="18" charset="0"/>
                            </a:rPr>
                            <m:t>𝑡</m:t>
                          </m:r>
                          <m:r>
                            <a:rPr lang="fr-FR" sz="1600" b="0" i="1" smtClean="0">
                              <a:highlight>
                                <a:srgbClr val="FFFF00"/>
                              </a:highlight>
                              <a:latin typeface="Cambria Math" panose="02040503050406030204" pitchFamily="18" charset="0"/>
                            </a:rPr>
                            <m:t>=2</m:t>
                          </m:r>
                        </m:sub>
                      </m:sSub>
                    </m:oMath>
                  </m:oMathPara>
                </a14:m>
                <a:endParaRPr lang="en-GB" sz="1600" dirty="0">
                  <a:highlight>
                    <a:srgbClr val="FFFF00"/>
                  </a:highlight>
                </a:endParaRPr>
              </a:p>
            </p:txBody>
          </p:sp>
        </mc:Choice>
        <mc:Fallback xmlns="">
          <p:sp>
            <p:nvSpPr>
              <p:cNvPr id="14" name="ZoneTexte 13">
                <a:extLst>
                  <a:ext uri="{FF2B5EF4-FFF2-40B4-BE49-F238E27FC236}">
                    <a16:creationId xmlns:a16="http://schemas.microsoft.com/office/drawing/2014/main" id="{09F85185-7700-124E-627E-15E60FD62682}"/>
                  </a:ext>
                </a:extLst>
              </p:cNvPr>
              <p:cNvSpPr txBox="1">
                <a:spLocks noRot="1" noChangeAspect="1" noMove="1" noResize="1" noEditPoints="1" noAdjustHandles="1" noChangeArrowheads="1" noChangeShapeType="1" noTextEdit="1"/>
              </p:cNvSpPr>
              <p:nvPr/>
            </p:nvSpPr>
            <p:spPr>
              <a:xfrm>
                <a:off x="2371220" y="5409180"/>
                <a:ext cx="424732" cy="246221"/>
              </a:xfrm>
              <a:prstGeom prst="rect">
                <a:avLst/>
              </a:prstGeom>
              <a:blipFill>
                <a:blip r:embed="rId6"/>
                <a:stretch>
                  <a:fillRect l="-14286" r="-5714" b="-1428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ZoneTexte 14">
                <a:extLst>
                  <a:ext uri="{FF2B5EF4-FFF2-40B4-BE49-F238E27FC236}">
                    <a16:creationId xmlns:a16="http://schemas.microsoft.com/office/drawing/2014/main" id="{62F3CD04-D38D-C6DB-B5E0-B406B701F8AC}"/>
                  </a:ext>
                </a:extLst>
              </p:cNvPr>
              <p:cNvSpPr txBox="1"/>
              <p:nvPr/>
            </p:nvSpPr>
            <p:spPr>
              <a:xfrm>
                <a:off x="2371220" y="3276943"/>
                <a:ext cx="424732" cy="246221"/>
              </a:xfrm>
              <a:prstGeom prst="rect">
                <a:avLst/>
              </a:prstGeom>
              <a:solidFill>
                <a:srgbClr val="FFC000"/>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r>
                            <a:rPr lang="fr-FR" sz="1600" b="0" i="1" smtClean="0">
                              <a:latin typeface="Cambria Math" panose="02040503050406030204" pitchFamily="18" charset="0"/>
                            </a:rPr>
                            <m:t>=2</m:t>
                          </m:r>
                        </m:sub>
                      </m:sSub>
                    </m:oMath>
                  </m:oMathPara>
                </a14:m>
                <a:endParaRPr lang="en-GB" sz="1600" dirty="0"/>
              </a:p>
            </p:txBody>
          </p:sp>
        </mc:Choice>
        <mc:Fallback xmlns="">
          <p:sp>
            <p:nvSpPr>
              <p:cNvPr id="15" name="ZoneTexte 14">
                <a:extLst>
                  <a:ext uri="{FF2B5EF4-FFF2-40B4-BE49-F238E27FC236}">
                    <a16:creationId xmlns:a16="http://schemas.microsoft.com/office/drawing/2014/main" id="{62F3CD04-D38D-C6DB-B5E0-B406B701F8AC}"/>
                  </a:ext>
                </a:extLst>
              </p:cNvPr>
              <p:cNvSpPr txBox="1">
                <a:spLocks noRot="1" noChangeAspect="1" noMove="1" noResize="1" noEditPoints="1" noAdjustHandles="1" noChangeArrowheads="1" noChangeShapeType="1" noTextEdit="1"/>
              </p:cNvSpPr>
              <p:nvPr/>
            </p:nvSpPr>
            <p:spPr>
              <a:xfrm>
                <a:off x="2371220" y="3276943"/>
                <a:ext cx="424732" cy="246221"/>
              </a:xfrm>
              <a:prstGeom prst="rect">
                <a:avLst/>
              </a:prstGeom>
              <a:blipFill>
                <a:blip r:embed="rId7"/>
                <a:stretch>
                  <a:fillRect l="-11429" t="-20000" r="-2857" b="-20000"/>
                </a:stretch>
              </a:blipFill>
            </p:spPr>
            <p:txBody>
              <a:bodyPr/>
              <a:lstStyle/>
              <a:p>
                <a:r>
                  <a:rPr lang="en-GB">
                    <a:noFill/>
                  </a:rPr>
                  <a:t> </a:t>
                </a:r>
              </a:p>
            </p:txBody>
          </p:sp>
        </mc:Fallback>
      </mc:AlternateContent>
      <p:sp>
        <p:nvSpPr>
          <p:cNvPr id="16" name="Rectangle : coins arrondis 15">
            <a:extLst>
              <a:ext uri="{FF2B5EF4-FFF2-40B4-BE49-F238E27FC236}">
                <a16:creationId xmlns:a16="http://schemas.microsoft.com/office/drawing/2014/main" id="{D477C2B0-0623-BAE5-DCEF-D1976BBC62E9}"/>
              </a:ext>
            </a:extLst>
          </p:cNvPr>
          <p:cNvSpPr/>
          <p:nvPr/>
        </p:nvSpPr>
        <p:spPr>
          <a:xfrm>
            <a:off x="2300224" y="4125637"/>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7" name="Connecteur droit avec flèche 16">
            <a:extLst>
              <a:ext uri="{FF2B5EF4-FFF2-40B4-BE49-F238E27FC236}">
                <a16:creationId xmlns:a16="http://schemas.microsoft.com/office/drawing/2014/main" id="{027DBC54-F04E-6574-8003-B01496E654BA}"/>
              </a:ext>
            </a:extLst>
          </p:cNvPr>
          <p:cNvCxnSpPr>
            <a:stCxn id="16" idx="0"/>
            <a:endCxn id="15" idx="2"/>
          </p:cNvCxnSpPr>
          <p:nvPr/>
        </p:nvCxnSpPr>
        <p:spPr>
          <a:xfrm flipV="1">
            <a:off x="2579624" y="3523164"/>
            <a:ext cx="3962"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DC7EAE91-845A-EF89-AEBF-40C9DCB54FBC}"/>
              </a:ext>
            </a:extLst>
          </p:cNvPr>
          <p:cNvCxnSpPr>
            <a:cxnSpLocks/>
            <a:stCxn id="14" idx="0"/>
            <a:endCxn id="16" idx="2"/>
          </p:cNvCxnSpPr>
          <p:nvPr/>
        </p:nvCxnSpPr>
        <p:spPr>
          <a:xfrm flipH="1" flipV="1">
            <a:off x="2579624" y="4887637"/>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C81FE50A-7173-CF17-A866-BAB63193FBB3}"/>
                  </a:ext>
                </a:extLst>
              </p:cNvPr>
              <p:cNvSpPr txBox="1"/>
              <p:nvPr/>
            </p:nvSpPr>
            <p:spPr>
              <a:xfrm>
                <a:off x="3645284" y="5415276"/>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r>
                            <a:rPr lang="fr-FR" sz="1600" b="0" i="1" smtClean="0">
                              <a:latin typeface="Cambria Math" panose="02040503050406030204" pitchFamily="18" charset="0"/>
                            </a:rPr>
                            <m:t>=3</m:t>
                          </m:r>
                        </m:sub>
                      </m:sSub>
                    </m:oMath>
                  </m:oMathPara>
                </a14:m>
                <a:endParaRPr lang="en-GB" sz="1600" dirty="0"/>
              </a:p>
            </p:txBody>
          </p:sp>
        </mc:Choice>
        <mc:Fallback xmlns="">
          <p:sp>
            <p:nvSpPr>
              <p:cNvPr id="19" name="ZoneTexte 18">
                <a:extLst>
                  <a:ext uri="{FF2B5EF4-FFF2-40B4-BE49-F238E27FC236}">
                    <a16:creationId xmlns:a16="http://schemas.microsoft.com/office/drawing/2014/main" id="{C81FE50A-7173-CF17-A866-BAB63193FBB3}"/>
                  </a:ext>
                </a:extLst>
              </p:cNvPr>
              <p:cNvSpPr txBox="1">
                <a:spLocks noRot="1" noChangeAspect="1" noMove="1" noResize="1" noEditPoints="1" noAdjustHandles="1" noChangeArrowheads="1" noChangeShapeType="1" noTextEdit="1"/>
              </p:cNvSpPr>
              <p:nvPr/>
            </p:nvSpPr>
            <p:spPr>
              <a:xfrm>
                <a:off x="3645284" y="5415276"/>
                <a:ext cx="424732" cy="246221"/>
              </a:xfrm>
              <a:prstGeom prst="rect">
                <a:avLst/>
              </a:prstGeom>
              <a:blipFill>
                <a:blip r:embed="rId8"/>
                <a:stretch>
                  <a:fillRect l="-14706" r="-8824" b="-1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ZoneTexte 19">
                <a:extLst>
                  <a:ext uri="{FF2B5EF4-FFF2-40B4-BE49-F238E27FC236}">
                    <a16:creationId xmlns:a16="http://schemas.microsoft.com/office/drawing/2014/main" id="{7BD69272-C7C1-472E-295A-177765208D36}"/>
                  </a:ext>
                </a:extLst>
              </p:cNvPr>
              <p:cNvSpPr txBox="1"/>
              <p:nvPr/>
            </p:nvSpPr>
            <p:spPr>
              <a:xfrm>
                <a:off x="3645284" y="3283039"/>
                <a:ext cx="4247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r>
                            <a:rPr lang="fr-FR" sz="1600" b="0" i="1" smtClean="0">
                              <a:latin typeface="Cambria Math" panose="02040503050406030204" pitchFamily="18" charset="0"/>
                            </a:rPr>
                            <m:t>=3</m:t>
                          </m:r>
                        </m:sub>
                      </m:sSub>
                    </m:oMath>
                  </m:oMathPara>
                </a14:m>
                <a:endParaRPr lang="en-GB" sz="1600" dirty="0"/>
              </a:p>
            </p:txBody>
          </p:sp>
        </mc:Choice>
        <mc:Fallback xmlns="">
          <p:sp>
            <p:nvSpPr>
              <p:cNvPr id="20" name="ZoneTexte 19">
                <a:extLst>
                  <a:ext uri="{FF2B5EF4-FFF2-40B4-BE49-F238E27FC236}">
                    <a16:creationId xmlns:a16="http://schemas.microsoft.com/office/drawing/2014/main" id="{7BD69272-C7C1-472E-295A-177765208D36}"/>
                  </a:ext>
                </a:extLst>
              </p:cNvPr>
              <p:cNvSpPr txBox="1">
                <a:spLocks noRot="1" noChangeAspect="1" noMove="1" noResize="1" noEditPoints="1" noAdjustHandles="1" noChangeArrowheads="1" noChangeShapeType="1" noTextEdit="1"/>
              </p:cNvSpPr>
              <p:nvPr/>
            </p:nvSpPr>
            <p:spPr>
              <a:xfrm>
                <a:off x="3645284" y="3283039"/>
                <a:ext cx="424732" cy="246221"/>
              </a:xfrm>
              <a:prstGeom prst="rect">
                <a:avLst/>
              </a:prstGeom>
              <a:blipFill>
                <a:blip r:embed="rId9"/>
                <a:stretch>
                  <a:fillRect l="-11765" t="-15000" r="-5882" b="-25000"/>
                </a:stretch>
              </a:blipFill>
            </p:spPr>
            <p:txBody>
              <a:bodyPr/>
              <a:lstStyle/>
              <a:p>
                <a:r>
                  <a:rPr lang="en-GB">
                    <a:noFill/>
                  </a:rPr>
                  <a:t> </a:t>
                </a:r>
              </a:p>
            </p:txBody>
          </p:sp>
        </mc:Fallback>
      </mc:AlternateContent>
      <p:sp>
        <p:nvSpPr>
          <p:cNvPr id="21" name="Rectangle : coins arrondis 20">
            <a:extLst>
              <a:ext uri="{FF2B5EF4-FFF2-40B4-BE49-F238E27FC236}">
                <a16:creationId xmlns:a16="http://schemas.microsoft.com/office/drawing/2014/main" id="{2DCF9CA8-22EB-C6EF-DFBF-70A8163B238B}"/>
              </a:ext>
            </a:extLst>
          </p:cNvPr>
          <p:cNvSpPr/>
          <p:nvPr/>
        </p:nvSpPr>
        <p:spPr>
          <a:xfrm>
            <a:off x="3574288" y="4131733"/>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2" name="Connecteur droit avec flèche 21">
            <a:extLst>
              <a:ext uri="{FF2B5EF4-FFF2-40B4-BE49-F238E27FC236}">
                <a16:creationId xmlns:a16="http://schemas.microsoft.com/office/drawing/2014/main" id="{5D0E6A06-B4F7-746F-21D7-3A10FB08D707}"/>
              </a:ext>
            </a:extLst>
          </p:cNvPr>
          <p:cNvCxnSpPr>
            <a:stCxn id="21" idx="0"/>
            <a:endCxn id="20" idx="2"/>
          </p:cNvCxnSpPr>
          <p:nvPr/>
        </p:nvCxnSpPr>
        <p:spPr>
          <a:xfrm flipV="1">
            <a:off x="3853688" y="3529260"/>
            <a:ext cx="3962"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Connecteur droit avec flèche 22">
            <a:extLst>
              <a:ext uri="{FF2B5EF4-FFF2-40B4-BE49-F238E27FC236}">
                <a16:creationId xmlns:a16="http://schemas.microsoft.com/office/drawing/2014/main" id="{5D5900F2-2D37-102A-839E-C736A950BC71}"/>
              </a:ext>
            </a:extLst>
          </p:cNvPr>
          <p:cNvCxnSpPr>
            <a:cxnSpLocks/>
            <a:stCxn id="19" idx="0"/>
            <a:endCxn id="21" idx="2"/>
          </p:cNvCxnSpPr>
          <p:nvPr/>
        </p:nvCxnSpPr>
        <p:spPr>
          <a:xfrm flipH="1" flipV="1">
            <a:off x="3853688" y="4893733"/>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8" name="ZoneTexte 27">
                <a:extLst>
                  <a:ext uri="{FF2B5EF4-FFF2-40B4-BE49-F238E27FC236}">
                    <a16:creationId xmlns:a16="http://schemas.microsoft.com/office/drawing/2014/main" id="{1B678DB9-B5A5-2C69-C2E7-B958E1F9692D}"/>
                  </a:ext>
                </a:extLst>
              </p:cNvPr>
              <p:cNvSpPr txBox="1"/>
              <p:nvPr/>
            </p:nvSpPr>
            <p:spPr>
              <a:xfrm>
                <a:off x="4907156" y="5421372"/>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r>
                            <a:rPr lang="fr-FR" sz="1600" b="0" i="1" smtClean="0">
                              <a:latin typeface="Cambria Math" panose="02040503050406030204" pitchFamily="18" charset="0"/>
                            </a:rPr>
                            <m:t>=4</m:t>
                          </m:r>
                        </m:sub>
                      </m:sSub>
                    </m:oMath>
                  </m:oMathPara>
                </a14:m>
                <a:endParaRPr lang="en-GB" sz="1600" dirty="0"/>
              </a:p>
            </p:txBody>
          </p:sp>
        </mc:Choice>
        <mc:Fallback xmlns="">
          <p:sp>
            <p:nvSpPr>
              <p:cNvPr id="28" name="ZoneTexte 27">
                <a:extLst>
                  <a:ext uri="{FF2B5EF4-FFF2-40B4-BE49-F238E27FC236}">
                    <a16:creationId xmlns:a16="http://schemas.microsoft.com/office/drawing/2014/main" id="{1B678DB9-B5A5-2C69-C2E7-B958E1F9692D}"/>
                  </a:ext>
                </a:extLst>
              </p:cNvPr>
              <p:cNvSpPr txBox="1">
                <a:spLocks noRot="1" noChangeAspect="1" noMove="1" noResize="1" noEditPoints="1" noAdjustHandles="1" noChangeArrowheads="1" noChangeShapeType="1" noTextEdit="1"/>
              </p:cNvSpPr>
              <p:nvPr/>
            </p:nvSpPr>
            <p:spPr>
              <a:xfrm>
                <a:off x="4907156" y="5421372"/>
                <a:ext cx="424732" cy="246221"/>
              </a:xfrm>
              <a:prstGeom prst="rect">
                <a:avLst/>
              </a:prstGeom>
              <a:blipFill>
                <a:blip r:embed="rId10"/>
                <a:stretch>
                  <a:fillRect l="-14286" r="-5714" b="-1428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ZoneTexte 28">
                <a:extLst>
                  <a:ext uri="{FF2B5EF4-FFF2-40B4-BE49-F238E27FC236}">
                    <a16:creationId xmlns:a16="http://schemas.microsoft.com/office/drawing/2014/main" id="{5C97AE84-9160-928B-F03E-88921F2E9FCB}"/>
                  </a:ext>
                </a:extLst>
              </p:cNvPr>
              <p:cNvSpPr txBox="1"/>
              <p:nvPr/>
            </p:nvSpPr>
            <p:spPr>
              <a:xfrm>
                <a:off x="4907156" y="3289135"/>
                <a:ext cx="4247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r>
                            <a:rPr lang="fr-FR" sz="1600" b="0" i="1" smtClean="0">
                              <a:latin typeface="Cambria Math" panose="02040503050406030204" pitchFamily="18" charset="0"/>
                            </a:rPr>
                            <m:t>=4</m:t>
                          </m:r>
                        </m:sub>
                      </m:sSub>
                    </m:oMath>
                  </m:oMathPara>
                </a14:m>
                <a:endParaRPr lang="en-GB" sz="1600" dirty="0"/>
              </a:p>
            </p:txBody>
          </p:sp>
        </mc:Choice>
        <mc:Fallback xmlns="">
          <p:sp>
            <p:nvSpPr>
              <p:cNvPr id="29" name="ZoneTexte 28">
                <a:extLst>
                  <a:ext uri="{FF2B5EF4-FFF2-40B4-BE49-F238E27FC236}">
                    <a16:creationId xmlns:a16="http://schemas.microsoft.com/office/drawing/2014/main" id="{5C97AE84-9160-928B-F03E-88921F2E9FCB}"/>
                  </a:ext>
                </a:extLst>
              </p:cNvPr>
              <p:cNvSpPr txBox="1">
                <a:spLocks noRot="1" noChangeAspect="1" noMove="1" noResize="1" noEditPoints="1" noAdjustHandles="1" noChangeArrowheads="1" noChangeShapeType="1" noTextEdit="1"/>
              </p:cNvSpPr>
              <p:nvPr/>
            </p:nvSpPr>
            <p:spPr>
              <a:xfrm>
                <a:off x="4907156" y="3289135"/>
                <a:ext cx="424732" cy="246221"/>
              </a:xfrm>
              <a:prstGeom prst="rect">
                <a:avLst/>
              </a:prstGeom>
              <a:blipFill>
                <a:blip r:embed="rId11"/>
                <a:stretch>
                  <a:fillRect l="-11429" t="-20000" r="-2857" b="-20000"/>
                </a:stretch>
              </a:blipFill>
            </p:spPr>
            <p:txBody>
              <a:bodyPr/>
              <a:lstStyle/>
              <a:p>
                <a:r>
                  <a:rPr lang="en-GB">
                    <a:noFill/>
                  </a:rPr>
                  <a:t> </a:t>
                </a:r>
              </a:p>
            </p:txBody>
          </p:sp>
        </mc:Fallback>
      </mc:AlternateContent>
      <p:sp>
        <p:nvSpPr>
          <p:cNvPr id="30" name="Rectangle : coins arrondis 29">
            <a:extLst>
              <a:ext uri="{FF2B5EF4-FFF2-40B4-BE49-F238E27FC236}">
                <a16:creationId xmlns:a16="http://schemas.microsoft.com/office/drawing/2014/main" id="{C8792D98-6790-65C8-20C4-A35C6139CF1C}"/>
              </a:ext>
            </a:extLst>
          </p:cNvPr>
          <p:cNvSpPr/>
          <p:nvPr/>
        </p:nvSpPr>
        <p:spPr>
          <a:xfrm>
            <a:off x="4836160" y="4137829"/>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1" name="Connecteur droit avec flèche 30">
            <a:extLst>
              <a:ext uri="{FF2B5EF4-FFF2-40B4-BE49-F238E27FC236}">
                <a16:creationId xmlns:a16="http://schemas.microsoft.com/office/drawing/2014/main" id="{8D2FDF67-D2AA-CF3F-AA1E-2FCB0E35F088}"/>
              </a:ext>
            </a:extLst>
          </p:cNvPr>
          <p:cNvCxnSpPr>
            <a:stCxn id="30" idx="0"/>
            <a:endCxn id="29" idx="2"/>
          </p:cNvCxnSpPr>
          <p:nvPr/>
        </p:nvCxnSpPr>
        <p:spPr>
          <a:xfrm flipV="1">
            <a:off x="5115560" y="3535356"/>
            <a:ext cx="3962"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BA42B45E-662C-DEE8-ACF1-09FB25AA67E9}"/>
              </a:ext>
            </a:extLst>
          </p:cNvPr>
          <p:cNvCxnSpPr>
            <a:cxnSpLocks/>
            <a:stCxn id="28" idx="0"/>
            <a:endCxn id="30" idx="2"/>
          </p:cNvCxnSpPr>
          <p:nvPr/>
        </p:nvCxnSpPr>
        <p:spPr>
          <a:xfrm flipH="1" flipV="1">
            <a:off x="5115560" y="4899829"/>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3" name="ZoneTexte 32">
                <a:extLst>
                  <a:ext uri="{FF2B5EF4-FFF2-40B4-BE49-F238E27FC236}">
                    <a16:creationId xmlns:a16="http://schemas.microsoft.com/office/drawing/2014/main" id="{403B9D29-8509-5A5F-9B36-779109E3ED4B}"/>
                  </a:ext>
                </a:extLst>
              </p:cNvPr>
              <p:cNvSpPr txBox="1"/>
              <p:nvPr/>
            </p:nvSpPr>
            <p:spPr>
              <a:xfrm>
                <a:off x="2981240" y="4119541"/>
                <a:ext cx="42934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=2</m:t>
                          </m:r>
                        </m:sub>
                      </m:sSub>
                    </m:oMath>
                  </m:oMathPara>
                </a14:m>
                <a:endParaRPr lang="en-GB" sz="1600" dirty="0"/>
              </a:p>
            </p:txBody>
          </p:sp>
        </mc:Choice>
        <mc:Fallback xmlns="">
          <p:sp>
            <p:nvSpPr>
              <p:cNvPr id="33" name="ZoneTexte 32">
                <a:extLst>
                  <a:ext uri="{FF2B5EF4-FFF2-40B4-BE49-F238E27FC236}">
                    <a16:creationId xmlns:a16="http://schemas.microsoft.com/office/drawing/2014/main" id="{403B9D29-8509-5A5F-9B36-779109E3ED4B}"/>
                  </a:ext>
                </a:extLst>
              </p:cNvPr>
              <p:cNvSpPr txBox="1">
                <a:spLocks noRot="1" noChangeAspect="1" noMove="1" noResize="1" noEditPoints="1" noAdjustHandles="1" noChangeArrowheads="1" noChangeShapeType="1" noTextEdit="1"/>
              </p:cNvSpPr>
              <p:nvPr/>
            </p:nvSpPr>
            <p:spPr>
              <a:xfrm>
                <a:off x="2981240" y="4119541"/>
                <a:ext cx="429348" cy="246221"/>
              </a:xfrm>
              <a:prstGeom prst="rect">
                <a:avLst/>
              </a:prstGeom>
              <a:blipFill>
                <a:blip r:embed="rId12"/>
                <a:stretch>
                  <a:fillRect l="-11429" r="-5714"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ZoneTexte 33">
                <a:extLst>
                  <a:ext uri="{FF2B5EF4-FFF2-40B4-BE49-F238E27FC236}">
                    <a16:creationId xmlns:a16="http://schemas.microsoft.com/office/drawing/2014/main" id="{7149822C-31AF-7146-BB6C-74545B5AC2E4}"/>
                  </a:ext>
                </a:extLst>
              </p:cNvPr>
              <p:cNvSpPr txBox="1"/>
              <p:nvPr/>
            </p:nvSpPr>
            <p:spPr>
              <a:xfrm>
                <a:off x="4296788" y="4127330"/>
                <a:ext cx="42934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=3</m:t>
                          </m:r>
                        </m:sub>
                      </m:sSub>
                    </m:oMath>
                  </m:oMathPara>
                </a14:m>
                <a:endParaRPr lang="en-GB" sz="1600" dirty="0"/>
              </a:p>
            </p:txBody>
          </p:sp>
        </mc:Choice>
        <mc:Fallback xmlns="">
          <p:sp>
            <p:nvSpPr>
              <p:cNvPr id="34" name="ZoneTexte 33">
                <a:extLst>
                  <a:ext uri="{FF2B5EF4-FFF2-40B4-BE49-F238E27FC236}">
                    <a16:creationId xmlns:a16="http://schemas.microsoft.com/office/drawing/2014/main" id="{7149822C-31AF-7146-BB6C-74545B5AC2E4}"/>
                  </a:ext>
                </a:extLst>
              </p:cNvPr>
              <p:cNvSpPr txBox="1">
                <a:spLocks noRot="1" noChangeAspect="1" noMove="1" noResize="1" noEditPoints="1" noAdjustHandles="1" noChangeArrowheads="1" noChangeShapeType="1" noTextEdit="1"/>
              </p:cNvSpPr>
              <p:nvPr/>
            </p:nvSpPr>
            <p:spPr>
              <a:xfrm>
                <a:off x="4296788" y="4127330"/>
                <a:ext cx="429348" cy="246221"/>
              </a:xfrm>
              <a:prstGeom prst="rect">
                <a:avLst/>
              </a:prstGeom>
              <a:blipFill>
                <a:blip r:embed="rId13"/>
                <a:stretch>
                  <a:fillRect l="-11765" r="-5882" b="-14286"/>
                </a:stretch>
              </a:blipFill>
            </p:spPr>
            <p:txBody>
              <a:bodyPr/>
              <a:lstStyle/>
              <a:p>
                <a:r>
                  <a:rPr lang="en-GB">
                    <a:noFill/>
                  </a:rPr>
                  <a:t> </a:t>
                </a:r>
              </a:p>
            </p:txBody>
          </p:sp>
        </mc:Fallback>
      </mc:AlternateContent>
      <p:cxnSp>
        <p:nvCxnSpPr>
          <p:cNvPr id="36" name="Connecteur droit avec flèche 35">
            <a:extLst>
              <a:ext uri="{FF2B5EF4-FFF2-40B4-BE49-F238E27FC236}">
                <a16:creationId xmlns:a16="http://schemas.microsoft.com/office/drawing/2014/main" id="{5F608728-2E65-131C-9052-0ADCEF19B3BA}"/>
              </a:ext>
            </a:extLst>
          </p:cNvPr>
          <p:cNvCxnSpPr>
            <a:cxnSpLocks/>
          </p:cNvCxnSpPr>
          <p:nvPr/>
        </p:nvCxnSpPr>
        <p:spPr>
          <a:xfrm>
            <a:off x="1584960" y="4500541"/>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Connecteur droit avec flèche 36">
            <a:extLst>
              <a:ext uri="{FF2B5EF4-FFF2-40B4-BE49-F238E27FC236}">
                <a16:creationId xmlns:a16="http://schemas.microsoft.com/office/drawing/2014/main" id="{A677FBE7-23EA-6AB3-18D6-F9E8917DA4F2}"/>
              </a:ext>
            </a:extLst>
          </p:cNvPr>
          <p:cNvCxnSpPr/>
          <p:nvPr/>
        </p:nvCxnSpPr>
        <p:spPr>
          <a:xfrm>
            <a:off x="2859024" y="451882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Connecteur droit avec flèche 37">
            <a:extLst>
              <a:ext uri="{FF2B5EF4-FFF2-40B4-BE49-F238E27FC236}">
                <a16:creationId xmlns:a16="http://schemas.microsoft.com/office/drawing/2014/main" id="{C90085DA-E3F3-D003-FEF4-BB259340259F}"/>
              </a:ext>
            </a:extLst>
          </p:cNvPr>
          <p:cNvCxnSpPr/>
          <p:nvPr/>
        </p:nvCxnSpPr>
        <p:spPr>
          <a:xfrm>
            <a:off x="4129620" y="451882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9" name="ZoneTexte 38">
            <a:extLst>
              <a:ext uri="{FF2B5EF4-FFF2-40B4-BE49-F238E27FC236}">
                <a16:creationId xmlns:a16="http://schemas.microsoft.com/office/drawing/2014/main" id="{7352997D-486B-C02F-8C2E-53604E130E27}"/>
              </a:ext>
            </a:extLst>
          </p:cNvPr>
          <p:cNvSpPr txBox="1"/>
          <p:nvPr/>
        </p:nvSpPr>
        <p:spPr>
          <a:xfrm>
            <a:off x="1019172" y="5724572"/>
            <a:ext cx="1426464" cy="400110"/>
          </a:xfrm>
          <a:prstGeom prst="rect">
            <a:avLst/>
          </a:prstGeom>
          <a:noFill/>
        </p:spPr>
        <p:txBody>
          <a:bodyPr wrap="square" rtlCol="0">
            <a:spAutoFit/>
          </a:bodyPr>
          <a:lstStyle/>
          <a:p>
            <a:r>
              <a:rPr lang="en-GB" sz="1000" dirty="0"/>
              <a:t>“The”</a:t>
            </a:r>
          </a:p>
          <a:p>
            <a:r>
              <a:rPr lang="en-GB" sz="1000" dirty="0"/>
              <a:t>[0.00154, 0.58..]</a:t>
            </a:r>
          </a:p>
        </p:txBody>
      </p:sp>
      <p:sp>
        <p:nvSpPr>
          <p:cNvPr id="40" name="ZoneTexte 39">
            <a:extLst>
              <a:ext uri="{FF2B5EF4-FFF2-40B4-BE49-F238E27FC236}">
                <a16:creationId xmlns:a16="http://schemas.microsoft.com/office/drawing/2014/main" id="{5310461F-45C9-A1F7-DB60-38F31D54C0A5}"/>
              </a:ext>
            </a:extLst>
          </p:cNvPr>
          <p:cNvSpPr txBox="1"/>
          <p:nvPr/>
        </p:nvSpPr>
        <p:spPr>
          <a:xfrm>
            <a:off x="2174516" y="5747158"/>
            <a:ext cx="1093032" cy="400110"/>
          </a:xfrm>
          <a:prstGeom prst="rect">
            <a:avLst/>
          </a:prstGeom>
          <a:noFill/>
        </p:spPr>
        <p:txBody>
          <a:bodyPr wrap="square" rtlCol="0">
            <a:spAutoFit/>
          </a:bodyPr>
          <a:lstStyle/>
          <a:p>
            <a:r>
              <a:rPr lang="en-GB" sz="1000" dirty="0"/>
              <a:t>“</a:t>
            </a:r>
            <a:r>
              <a:rPr lang="en-GB" sz="1000" dirty="0">
                <a:highlight>
                  <a:srgbClr val="FFFF00"/>
                </a:highlight>
              </a:rPr>
              <a:t>dog</a:t>
            </a:r>
            <a:r>
              <a:rPr lang="en-GB" sz="1000" dirty="0"/>
              <a:t>”</a:t>
            </a:r>
          </a:p>
          <a:p>
            <a:r>
              <a:rPr lang="en-GB" sz="1000" dirty="0"/>
              <a:t>[0.0445, 0.078..]</a:t>
            </a:r>
          </a:p>
        </p:txBody>
      </p:sp>
      <p:sp>
        <p:nvSpPr>
          <p:cNvPr id="41" name="ZoneTexte 40">
            <a:extLst>
              <a:ext uri="{FF2B5EF4-FFF2-40B4-BE49-F238E27FC236}">
                <a16:creationId xmlns:a16="http://schemas.microsoft.com/office/drawing/2014/main" id="{B7022412-EB7B-7FA3-B1A0-FCC65BB6933B}"/>
              </a:ext>
            </a:extLst>
          </p:cNvPr>
          <p:cNvSpPr txBox="1"/>
          <p:nvPr/>
        </p:nvSpPr>
        <p:spPr>
          <a:xfrm>
            <a:off x="3520716" y="5747158"/>
            <a:ext cx="1093032" cy="400110"/>
          </a:xfrm>
          <a:prstGeom prst="rect">
            <a:avLst/>
          </a:prstGeom>
          <a:noFill/>
        </p:spPr>
        <p:txBody>
          <a:bodyPr wrap="square" rtlCol="0">
            <a:spAutoFit/>
          </a:bodyPr>
          <a:lstStyle/>
          <a:p>
            <a:r>
              <a:rPr lang="en-GB" sz="1000" dirty="0"/>
              <a:t>“looked”</a:t>
            </a:r>
          </a:p>
          <a:p>
            <a:r>
              <a:rPr lang="en-GB" sz="1000" dirty="0"/>
              <a:t>[0.0021, 0.008..]</a:t>
            </a:r>
          </a:p>
        </p:txBody>
      </p:sp>
      <p:sp>
        <p:nvSpPr>
          <p:cNvPr id="42" name="ZoneTexte 41">
            <a:extLst>
              <a:ext uri="{FF2B5EF4-FFF2-40B4-BE49-F238E27FC236}">
                <a16:creationId xmlns:a16="http://schemas.microsoft.com/office/drawing/2014/main" id="{B2F300E8-CA1E-FBF1-3627-C0B9C583BD04}"/>
              </a:ext>
            </a:extLst>
          </p:cNvPr>
          <p:cNvSpPr txBox="1"/>
          <p:nvPr/>
        </p:nvSpPr>
        <p:spPr>
          <a:xfrm>
            <a:off x="4836160" y="5747158"/>
            <a:ext cx="1093032" cy="400110"/>
          </a:xfrm>
          <a:prstGeom prst="rect">
            <a:avLst/>
          </a:prstGeom>
          <a:noFill/>
        </p:spPr>
        <p:txBody>
          <a:bodyPr wrap="square" rtlCol="0">
            <a:spAutoFit/>
          </a:bodyPr>
          <a:lstStyle/>
          <a:p>
            <a:r>
              <a:rPr lang="en-GB" sz="1000" dirty="0"/>
              <a:t>“guilty”</a:t>
            </a:r>
          </a:p>
          <a:p>
            <a:r>
              <a:rPr lang="en-GB" sz="1000" dirty="0"/>
              <a:t>[0.1821, 0.082..]</a:t>
            </a:r>
          </a:p>
        </p:txBody>
      </p:sp>
      <p:sp>
        <p:nvSpPr>
          <p:cNvPr id="44" name="ZoneTexte 43">
            <a:extLst>
              <a:ext uri="{FF2B5EF4-FFF2-40B4-BE49-F238E27FC236}">
                <a16:creationId xmlns:a16="http://schemas.microsoft.com/office/drawing/2014/main" id="{572CF4A1-440B-3999-106B-592B451AD5F4}"/>
              </a:ext>
            </a:extLst>
          </p:cNvPr>
          <p:cNvSpPr txBox="1"/>
          <p:nvPr/>
        </p:nvSpPr>
        <p:spPr>
          <a:xfrm>
            <a:off x="1933833" y="3003399"/>
            <a:ext cx="1640455" cy="246221"/>
          </a:xfrm>
          <a:prstGeom prst="rect">
            <a:avLst/>
          </a:prstGeom>
          <a:noFill/>
        </p:spPr>
        <p:txBody>
          <a:bodyPr wrap="square" rtlCol="0">
            <a:spAutoFit/>
          </a:bodyPr>
          <a:lstStyle/>
          <a:p>
            <a:r>
              <a:rPr lang="en-GB" sz="1000" dirty="0"/>
              <a:t>Generated from ”The dog”</a:t>
            </a:r>
          </a:p>
        </p:txBody>
      </p:sp>
      <mc:AlternateContent xmlns:mc="http://schemas.openxmlformats.org/markup-compatibility/2006" xmlns:a14="http://schemas.microsoft.com/office/drawing/2010/main">
        <mc:Choice Requires="a14">
          <p:sp>
            <p:nvSpPr>
              <p:cNvPr id="45" name="ZoneTexte 44">
                <a:extLst>
                  <a:ext uri="{FF2B5EF4-FFF2-40B4-BE49-F238E27FC236}">
                    <a16:creationId xmlns:a16="http://schemas.microsoft.com/office/drawing/2014/main" id="{B932E03A-D278-037D-6C50-620077F28DE1}"/>
                  </a:ext>
                </a:extLst>
              </p:cNvPr>
              <p:cNvSpPr txBox="1"/>
              <p:nvPr/>
            </p:nvSpPr>
            <p:spPr>
              <a:xfrm>
                <a:off x="5784384" y="3406149"/>
                <a:ext cx="6285696" cy="1954381"/>
              </a:xfrm>
              <a:prstGeom prst="rect">
                <a:avLst/>
              </a:prstGeom>
              <a:noFill/>
            </p:spPr>
            <p:txBody>
              <a:bodyPr wrap="square" rtlCol="0">
                <a:spAutoFit/>
              </a:bodyPr>
              <a:lstStyle/>
              <a:p>
                <a:r>
                  <a:rPr lang="en-GB" sz="1100" b="1" dirty="0"/>
                  <a:t>At t=1</a:t>
                </a:r>
                <a:r>
                  <a:rPr lang="en-GB" sz="1100" dirty="0"/>
                  <a:t>, the encoding for the word  “the” goes into the network and the corresponding y_ is generated.</a:t>
                </a:r>
              </a:p>
              <a:p>
                <a:endParaRPr lang="en-GB" sz="1100" dirty="0"/>
              </a:p>
              <a:p>
                <a:r>
                  <a:rPr lang="en-GB" sz="1100" b="1" dirty="0"/>
                  <a:t>At t=2</a:t>
                </a:r>
                <a:r>
                  <a:rPr lang="en-GB" sz="1100" dirty="0"/>
                  <a:t>, the encoding for the word ”dog” goes into the network and the hidden layer output from the previous time step carrying information about the word “the” these are combined to produce an output for the second time step.</a:t>
                </a:r>
                <a:r>
                  <a:rPr lang="fr-FR" sz="1100" b="0" dirty="0"/>
                  <a:t> </a:t>
                </a:r>
                <a14:m>
                  <m:oMath xmlns:m="http://schemas.openxmlformats.org/officeDocument/2006/math">
                    <m:sSub>
                      <m:sSubPr>
                        <m:ctrlPr>
                          <a:rPr lang="fr-FR" sz="1100" b="0" i="1" smtClean="0">
                            <a:latin typeface="Cambria Math" panose="02040503050406030204" pitchFamily="18" charset="0"/>
                          </a:rPr>
                        </m:ctrlPr>
                      </m:sSubPr>
                      <m:e>
                        <m:acc>
                          <m:accPr>
                            <m:chr m:val="̂"/>
                            <m:ctrlPr>
                              <a:rPr lang="fr-FR" sz="1100" b="0" i="1" smtClean="0">
                                <a:latin typeface="Cambria Math" panose="02040503050406030204" pitchFamily="18" charset="0"/>
                              </a:rPr>
                            </m:ctrlPr>
                          </m:accPr>
                          <m:e>
                            <m:r>
                              <a:rPr lang="fr-FR" sz="1100" b="0" i="1" smtClean="0">
                                <a:latin typeface="Cambria Math" panose="02040503050406030204" pitchFamily="18" charset="0"/>
                              </a:rPr>
                              <m:t>𝑦</m:t>
                            </m:r>
                          </m:e>
                        </m:acc>
                      </m:e>
                      <m:sub>
                        <m:r>
                          <a:rPr lang="fr-FR" sz="1100" b="0" i="1" smtClean="0">
                            <a:latin typeface="Cambria Math" panose="02040503050406030204" pitchFamily="18" charset="0"/>
                          </a:rPr>
                          <m:t>𝑡</m:t>
                        </m:r>
                        <m:r>
                          <a:rPr lang="fr-FR" sz="1100" b="0" i="1" smtClean="0">
                            <a:latin typeface="Cambria Math" panose="02040503050406030204" pitchFamily="18" charset="0"/>
                          </a:rPr>
                          <m:t>=2</m:t>
                        </m:r>
                      </m:sub>
                    </m:sSub>
                  </m:oMath>
                </a14:m>
                <a:r>
                  <a:rPr lang="en-GB" sz="1100" dirty="0"/>
                  <a:t> is based on the sequence ”the dog” and this way the information about the sentence is carried forward through the network over time.</a:t>
                </a:r>
              </a:p>
              <a:p>
                <a:endParaRPr lang="en-GB" sz="1100" dirty="0"/>
              </a:p>
              <a:p>
                <a:r>
                  <a:rPr lang="en-GB" sz="1100" b="1" dirty="0"/>
                  <a:t>At t=3</a:t>
                </a:r>
                <a:r>
                  <a:rPr lang="en-GB" sz="1100" dirty="0"/>
                  <a:t>, </a:t>
                </a:r>
                <a14:m>
                  <m:oMath xmlns:m="http://schemas.openxmlformats.org/officeDocument/2006/math">
                    <m:sSub>
                      <m:sSubPr>
                        <m:ctrlPr>
                          <a:rPr lang="fr-FR" sz="1100" b="0" i="1" smtClean="0">
                            <a:latin typeface="Cambria Math" panose="02040503050406030204" pitchFamily="18" charset="0"/>
                          </a:rPr>
                        </m:ctrlPr>
                      </m:sSubPr>
                      <m:e>
                        <m:acc>
                          <m:accPr>
                            <m:chr m:val="̂"/>
                            <m:ctrlPr>
                              <a:rPr lang="fr-FR" sz="1100" b="0" i="1" smtClean="0">
                                <a:latin typeface="Cambria Math" panose="02040503050406030204" pitchFamily="18" charset="0"/>
                              </a:rPr>
                            </m:ctrlPr>
                          </m:accPr>
                          <m:e>
                            <m:r>
                              <a:rPr lang="fr-FR" sz="1100" b="0" i="1" smtClean="0">
                                <a:latin typeface="Cambria Math" panose="02040503050406030204" pitchFamily="18" charset="0"/>
                              </a:rPr>
                              <m:t>𝑦</m:t>
                            </m:r>
                          </m:e>
                        </m:acc>
                      </m:e>
                      <m:sub>
                        <m:r>
                          <a:rPr lang="fr-FR" sz="1100" b="0" i="1" smtClean="0">
                            <a:latin typeface="Cambria Math" panose="02040503050406030204" pitchFamily="18" charset="0"/>
                          </a:rPr>
                          <m:t>𝑡</m:t>
                        </m:r>
                        <m:r>
                          <a:rPr lang="fr-FR" sz="1100" b="0" i="1" smtClean="0">
                            <a:latin typeface="Cambria Math" panose="02040503050406030204" pitchFamily="18" charset="0"/>
                          </a:rPr>
                          <m:t>=3</m:t>
                        </m:r>
                      </m:sub>
                    </m:sSub>
                  </m:oMath>
                </a14:m>
                <a:r>
                  <a:rPr lang="en-GB" sz="1100" dirty="0"/>
                  <a:t> is based on the sequence “the dog looked”</a:t>
                </a:r>
              </a:p>
              <a:p>
                <a:endParaRPr lang="en-GB" sz="1100" dirty="0"/>
              </a:p>
              <a:p>
                <a:r>
                  <a:rPr lang="en-GB" sz="1100" b="1" dirty="0"/>
                  <a:t>At t=4</a:t>
                </a:r>
                <a:r>
                  <a:rPr lang="en-GB" sz="1100" dirty="0"/>
                  <a:t>, </a:t>
                </a:r>
                <a14:m>
                  <m:oMath xmlns:m="http://schemas.openxmlformats.org/officeDocument/2006/math">
                    <m:sSub>
                      <m:sSubPr>
                        <m:ctrlPr>
                          <a:rPr lang="fr-FR" sz="1100" b="0" i="1" smtClean="0">
                            <a:latin typeface="Cambria Math" panose="02040503050406030204" pitchFamily="18" charset="0"/>
                          </a:rPr>
                        </m:ctrlPr>
                      </m:sSubPr>
                      <m:e>
                        <m:acc>
                          <m:accPr>
                            <m:chr m:val="̂"/>
                            <m:ctrlPr>
                              <a:rPr lang="fr-FR" sz="1100" b="0" i="1" smtClean="0">
                                <a:latin typeface="Cambria Math" panose="02040503050406030204" pitchFamily="18" charset="0"/>
                              </a:rPr>
                            </m:ctrlPr>
                          </m:accPr>
                          <m:e>
                            <m:r>
                              <a:rPr lang="fr-FR" sz="1100" b="0" i="1" smtClean="0">
                                <a:latin typeface="Cambria Math" panose="02040503050406030204" pitchFamily="18" charset="0"/>
                              </a:rPr>
                              <m:t>𝑦</m:t>
                            </m:r>
                          </m:e>
                        </m:acc>
                      </m:e>
                      <m:sub>
                        <m:r>
                          <a:rPr lang="fr-FR" sz="1100" b="0" i="1" smtClean="0">
                            <a:latin typeface="Cambria Math" panose="02040503050406030204" pitchFamily="18" charset="0"/>
                          </a:rPr>
                          <m:t>𝑡</m:t>
                        </m:r>
                        <m:r>
                          <a:rPr lang="fr-FR" sz="1100" b="0" i="1" smtClean="0">
                            <a:latin typeface="Cambria Math" panose="02040503050406030204" pitchFamily="18" charset="0"/>
                          </a:rPr>
                          <m:t>=3</m:t>
                        </m:r>
                      </m:sub>
                    </m:sSub>
                  </m:oMath>
                </a14:m>
                <a:r>
                  <a:rPr lang="en-GB" sz="1100" dirty="0"/>
                  <a:t> is based on the entre sequence “the dog looked guilty”</a:t>
                </a:r>
              </a:p>
              <a:p>
                <a:endParaRPr lang="en-GB" sz="1100" dirty="0"/>
              </a:p>
            </p:txBody>
          </p:sp>
        </mc:Choice>
        <mc:Fallback xmlns="">
          <p:sp>
            <p:nvSpPr>
              <p:cNvPr id="45" name="ZoneTexte 44">
                <a:extLst>
                  <a:ext uri="{FF2B5EF4-FFF2-40B4-BE49-F238E27FC236}">
                    <a16:creationId xmlns:a16="http://schemas.microsoft.com/office/drawing/2014/main" id="{B932E03A-D278-037D-6C50-620077F28DE1}"/>
                  </a:ext>
                </a:extLst>
              </p:cNvPr>
              <p:cNvSpPr txBox="1">
                <a:spLocks noRot="1" noChangeAspect="1" noMove="1" noResize="1" noEditPoints="1" noAdjustHandles="1" noChangeArrowheads="1" noChangeShapeType="1" noTextEdit="1"/>
              </p:cNvSpPr>
              <p:nvPr/>
            </p:nvSpPr>
            <p:spPr>
              <a:xfrm>
                <a:off x="5784384" y="3406149"/>
                <a:ext cx="6285696" cy="1954381"/>
              </a:xfrm>
              <a:prstGeom prst="rect">
                <a:avLst/>
              </a:prstGeom>
              <a:blipFill>
                <a:blip r:embed="rId14"/>
                <a:stretch>
                  <a:fillRect/>
                </a:stretch>
              </a:blipFill>
            </p:spPr>
            <p:txBody>
              <a:bodyPr/>
              <a:lstStyle/>
              <a:p>
                <a:r>
                  <a:rPr lang="en-GB">
                    <a:noFill/>
                  </a:rPr>
                  <a:t> </a:t>
                </a:r>
              </a:p>
            </p:txBody>
          </p:sp>
        </mc:Fallback>
      </mc:AlternateContent>
      <p:sp>
        <p:nvSpPr>
          <p:cNvPr id="50" name="ZoneTexte 49">
            <a:extLst>
              <a:ext uri="{FF2B5EF4-FFF2-40B4-BE49-F238E27FC236}">
                <a16:creationId xmlns:a16="http://schemas.microsoft.com/office/drawing/2014/main" id="{160E279F-97E3-2EC4-1C99-2F4F3EEEDBB7}"/>
              </a:ext>
            </a:extLst>
          </p:cNvPr>
          <p:cNvSpPr txBox="1"/>
          <p:nvPr/>
        </p:nvSpPr>
        <p:spPr>
          <a:xfrm>
            <a:off x="6061322" y="5417776"/>
            <a:ext cx="5477346" cy="861774"/>
          </a:xfrm>
          <a:prstGeom prst="rect">
            <a:avLst/>
          </a:prstGeom>
          <a:noFill/>
          <a:ln>
            <a:solidFill>
              <a:schemeClr val="accent1">
                <a:shade val="15000"/>
              </a:schemeClr>
            </a:solidFill>
          </a:ln>
        </p:spPr>
        <p:txBody>
          <a:bodyPr wrap="square">
            <a:spAutoFit/>
          </a:bodyPr>
          <a:lstStyle/>
          <a:p>
            <a:r>
              <a:rPr lang="en-GB" sz="1600" dirty="0">
                <a:latin typeface="ui-sans-serif"/>
              </a:rPr>
              <a:t>At each time step, the network creates a representation of the sequence up to that point and through this recurrent mechanism the network as some sense of memory</a:t>
            </a:r>
          </a:p>
        </p:txBody>
      </p:sp>
      <p:sp>
        <p:nvSpPr>
          <p:cNvPr id="51" name="ZoneTexte 50">
            <a:extLst>
              <a:ext uri="{FF2B5EF4-FFF2-40B4-BE49-F238E27FC236}">
                <a16:creationId xmlns:a16="http://schemas.microsoft.com/office/drawing/2014/main" id="{7D3A8008-D62B-9060-C958-837CA27E859E}"/>
              </a:ext>
            </a:extLst>
          </p:cNvPr>
          <p:cNvSpPr txBox="1"/>
          <p:nvPr/>
        </p:nvSpPr>
        <p:spPr>
          <a:xfrm>
            <a:off x="5756852" y="2961103"/>
            <a:ext cx="5477346" cy="369332"/>
          </a:xfrm>
          <a:prstGeom prst="rect">
            <a:avLst/>
          </a:prstGeom>
          <a:noFill/>
        </p:spPr>
        <p:txBody>
          <a:bodyPr wrap="square">
            <a:spAutoFit/>
          </a:bodyPr>
          <a:lstStyle/>
          <a:p>
            <a:r>
              <a:rPr lang="en-GB" sz="1800" dirty="0">
                <a:latin typeface="ui-sans-serif"/>
              </a:rPr>
              <a:t>The RNN algorithm</a:t>
            </a:r>
          </a:p>
        </p:txBody>
      </p:sp>
      <p:sp>
        <p:nvSpPr>
          <p:cNvPr id="6" name="Espace réservé du pied de page 2">
            <a:extLst>
              <a:ext uri="{FF2B5EF4-FFF2-40B4-BE49-F238E27FC236}">
                <a16:creationId xmlns:a16="http://schemas.microsoft.com/office/drawing/2014/main" id="{D49F7DD0-EE76-C2E1-8001-D99AB9DD4C63}"/>
              </a:ext>
            </a:extLst>
          </p:cNvPr>
          <p:cNvSpPr>
            <a:spLocks noGrp="1"/>
          </p:cNvSpPr>
          <p:nvPr>
            <p:ph type="ftr" sz="quarter" idx="11"/>
          </p:nvPr>
        </p:nvSpPr>
        <p:spPr>
          <a:xfrm>
            <a:off x="4038600" y="6356350"/>
            <a:ext cx="4549346" cy="365125"/>
          </a:xfrm>
        </p:spPr>
        <p:txBody>
          <a:bodyPr/>
          <a:lstStyle/>
          <a:p>
            <a:r>
              <a:rPr lang="en-GB" noProof="1"/>
              <a:t>RNN. Author: David Thébault – Based on NLPDemystified.org</a:t>
            </a:r>
          </a:p>
        </p:txBody>
      </p:sp>
    </p:spTree>
    <p:extLst>
      <p:ext uri="{BB962C8B-B14F-4D97-AF65-F5344CB8AC3E}">
        <p14:creationId xmlns:p14="http://schemas.microsoft.com/office/powerpoint/2010/main" val="3780373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B4C49-D3EC-2AB9-6B1E-44916410189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82468EA-876B-F255-D12D-72E0F311FA18}"/>
              </a:ext>
            </a:extLst>
          </p:cNvPr>
          <p:cNvSpPr>
            <a:spLocks noGrp="1"/>
          </p:cNvSpPr>
          <p:nvPr>
            <p:ph type="title"/>
          </p:nvPr>
        </p:nvSpPr>
        <p:spPr/>
        <p:txBody>
          <a:bodyPr/>
          <a:lstStyle/>
          <a:p>
            <a:pPr algn="ctr"/>
            <a:r>
              <a:rPr lang="en-GB" noProof="0" dirty="0"/>
              <a:t>Recurrent Neural Networks</a:t>
            </a:r>
          </a:p>
        </p:txBody>
      </p:sp>
      <p:sp>
        <p:nvSpPr>
          <p:cNvPr id="4" name="ZoneTexte 3">
            <a:extLst>
              <a:ext uri="{FF2B5EF4-FFF2-40B4-BE49-F238E27FC236}">
                <a16:creationId xmlns:a16="http://schemas.microsoft.com/office/drawing/2014/main" id="{7E2569C6-E0AB-ED4F-E326-2A76A42D539F}"/>
              </a:ext>
            </a:extLst>
          </p:cNvPr>
          <p:cNvSpPr txBox="1"/>
          <p:nvPr/>
        </p:nvSpPr>
        <p:spPr>
          <a:xfrm>
            <a:off x="838199" y="1828800"/>
            <a:ext cx="8703365" cy="1479665"/>
          </a:xfrm>
          <a:prstGeom prst="rect">
            <a:avLst/>
          </a:prstGeom>
          <a:noFill/>
        </p:spPr>
        <p:txBody>
          <a:bodyPr wrap="square" lIns="90000" rtlCol="0">
            <a:noAutofit/>
          </a:bodyPr>
          <a:lstStyle/>
          <a:p>
            <a:r>
              <a:rPr lang="en-GB" sz="2400" b="1" dirty="0">
                <a:latin typeface="ui-sans-serif"/>
              </a:rPr>
              <a:t>Process sentences as sequences with Recurrent Neural Network.</a:t>
            </a:r>
          </a:p>
          <a:p>
            <a:r>
              <a:rPr lang="en-GB" sz="1600" dirty="0">
                <a:latin typeface="ui-sans-serif"/>
              </a:rPr>
              <a:t>Example sentence: “The dog looked guilty”</a:t>
            </a:r>
          </a:p>
          <a:p>
            <a:r>
              <a:rPr lang="en-GB" sz="2400" dirty="0">
                <a:latin typeface="ui-sans-serif"/>
              </a:rPr>
              <a:t>RNN at different time step</a:t>
            </a:r>
          </a:p>
          <a:p>
            <a:endParaRPr lang="en-GB" sz="2400" dirty="0">
              <a:latin typeface="ui-sans-serif"/>
            </a:endParaRPr>
          </a:p>
          <a:p>
            <a:endParaRPr lang="en-GB" sz="2400" dirty="0">
              <a:latin typeface="ui-sans-serif"/>
            </a:endParaRPr>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5D5321D2-60FB-B695-EE93-40D48F33903E}"/>
                  </a:ext>
                </a:extLst>
              </p:cNvPr>
              <p:cNvSpPr txBox="1"/>
              <p:nvPr/>
            </p:nvSpPr>
            <p:spPr>
              <a:xfrm>
                <a:off x="1097156" y="5403084"/>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Sub>
                    </m:oMath>
                  </m:oMathPara>
                </a14:m>
                <a:endParaRPr lang="en-GB" sz="1600" dirty="0"/>
              </a:p>
            </p:txBody>
          </p:sp>
        </mc:Choice>
        <mc:Fallback xmlns="">
          <p:sp>
            <p:nvSpPr>
              <p:cNvPr id="5" name="ZoneTexte 4">
                <a:extLst>
                  <a:ext uri="{FF2B5EF4-FFF2-40B4-BE49-F238E27FC236}">
                    <a16:creationId xmlns:a16="http://schemas.microsoft.com/office/drawing/2014/main" id="{5D5321D2-60FB-B695-EE93-40D48F33903E}"/>
                  </a:ext>
                </a:extLst>
              </p:cNvPr>
              <p:cNvSpPr txBox="1">
                <a:spLocks noRot="1" noChangeAspect="1" noMove="1" noResize="1" noEditPoints="1" noAdjustHandles="1" noChangeArrowheads="1" noChangeShapeType="1" noTextEdit="1"/>
              </p:cNvSpPr>
              <p:nvPr/>
            </p:nvSpPr>
            <p:spPr>
              <a:xfrm>
                <a:off x="1097156" y="5403084"/>
                <a:ext cx="424732" cy="246221"/>
              </a:xfrm>
              <a:prstGeom prst="rect">
                <a:avLst/>
              </a:prstGeom>
              <a:blipFill>
                <a:blip r:embed="rId3"/>
                <a:stretch>
                  <a:fillRect l="-14286" r="-5714" b="-1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0B59BB56-F517-FB81-A829-37ACBFCE528E}"/>
                  </a:ext>
                </a:extLst>
              </p:cNvPr>
              <p:cNvSpPr txBox="1"/>
              <p:nvPr/>
            </p:nvSpPr>
            <p:spPr>
              <a:xfrm>
                <a:off x="1097156" y="3270847"/>
                <a:ext cx="4247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Sub>
                    </m:oMath>
                  </m:oMathPara>
                </a14:m>
                <a:endParaRPr lang="en-GB" sz="1600" dirty="0"/>
              </a:p>
            </p:txBody>
          </p:sp>
        </mc:Choice>
        <mc:Fallback xmlns="">
          <p:sp>
            <p:nvSpPr>
              <p:cNvPr id="7" name="ZoneTexte 6">
                <a:extLst>
                  <a:ext uri="{FF2B5EF4-FFF2-40B4-BE49-F238E27FC236}">
                    <a16:creationId xmlns:a16="http://schemas.microsoft.com/office/drawing/2014/main" id="{0B59BB56-F517-FB81-A829-37ACBFCE528E}"/>
                  </a:ext>
                </a:extLst>
              </p:cNvPr>
              <p:cNvSpPr txBox="1">
                <a:spLocks noRot="1" noChangeAspect="1" noMove="1" noResize="1" noEditPoints="1" noAdjustHandles="1" noChangeArrowheads="1" noChangeShapeType="1" noTextEdit="1"/>
              </p:cNvSpPr>
              <p:nvPr/>
            </p:nvSpPr>
            <p:spPr>
              <a:xfrm>
                <a:off x="1097156" y="3270847"/>
                <a:ext cx="424732" cy="246221"/>
              </a:xfrm>
              <a:prstGeom prst="rect">
                <a:avLst/>
              </a:prstGeom>
              <a:blipFill>
                <a:blip r:embed="rId4"/>
                <a:stretch>
                  <a:fillRect l="-11429" t="-15000" r="-2857" b="-25000"/>
                </a:stretch>
              </a:blipFill>
            </p:spPr>
            <p:txBody>
              <a:bodyPr/>
              <a:lstStyle/>
              <a:p>
                <a:r>
                  <a:rPr lang="en-GB">
                    <a:noFill/>
                  </a:rPr>
                  <a:t> </a:t>
                </a:r>
              </a:p>
            </p:txBody>
          </p:sp>
        </mc:Fallback>
      </mc:AlternateContent>
      <p:sp>
        <p:nvSpPr>
          <p:cNvPr id="8" name="Rectangle : coins arrondis 7">
            <a:extLst>
              <a:ext uri="{FF2B5EF4-FFF2-40B4-BE49-F238E27FC236}">
                <a16:creationId xmlns:a16="http://schemas.microsoft.com/office/drawing/2014/main" id="{B5ED60AC-7FCF-C11A-487F-9BEC853463BC}"/>
              </a:ext>
            </a:extLst>
          </p:cNvPr>
          <p:cNvSpPr/>
          <p:nvPr/>
        </p:nvSpPr>
        <p:spPr>
          <a:xfrm>
            <a:off x="1026160" y="4119541"/>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Connecteur droit avec flèche 9">
            <a:extLst>
              <a:ext uri="{FF2B5EF4-FFF2-40B4-BE49-F238E27FC236}">
                <a16:creationId xmlns:a16="http://schemas.microsoft.com/office/drawing/2014/main" id="{15F6A7C5-9B1A-29EB-FFBB-8C2B98F1D706}"/>
              </a:ext>
            </a:extLst>
          </p:cNvPr>
          <p:cNvCxnSpPr>
            <a:stCxn id="8" idx="0"/>
            <a:endCxn id="7" idx="2"/>
          </p:cNvCxnSpPr>
          <p:nvPr/>
        </p:nvCxnSpPr>
        <p:spPr>
          <a:xfrm flipV="1">
            <a:off x="1305560" y="3517068"/>
            <a:ext cx="3962"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Connecteur droit avec flèche 11">
            <a:extLst>
              <a:ext uri="{FF2B5EF4-FFF2-40B4-BE49-F238E27FC236}">
                <a16:creationId xmlns:a16="http://schemas.microsoft.com/office/drawing/2014/main" id="{01525E9E-C9B4-6516-972B-E32C8EA8C2AE}"/>
              </a:ext>
            </a:extLst>
          </p:cNvPr>
          <p:cNvCxnSpPr>
            <a:cxnSpLocks/>
            <a:stCxn id="5" idx="0"/>
            <a:endCxn id="8" idx="2"/>
          </p:cNvCxnSpPr>
          <p:nvPr/>
        </p:nvCxnSpPr>
        <p:spPr>
          <a:xfrm flipH="1" flipV="1">
            <a:off x="1305560" y="4881541"/>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5" name="ZoneTexte 24">
                <a:extLst>
                  <a:ext uri="{FF2B5EF4-FFF2-40B4-BE49-F238E27FC236}">
                    <a16:creationId xmlns:a16="http://schemas.microsoft.com/office/drawing/2014/main" id="{03BF5063-439B-0753-B08D-E87827186D27}"/>
                  </a:ext>
                </a:extLst>
              </p:cNvPr>
              <p:cNvSpPr txBox="1"/>
              <p:nvPr/>
            </p:nvSpPr>
            <p:spPr>
              <a:xfrm>
                <a:off x="1732404" y="4119541"/>
                <a:ext cx="429348" cy="246221"/>
              </a:xfrm>
              <a:prstGeom prst="rect">
                <a:avLst/>
              </a:prstGeom>
              <a:solidFill>
                <a:srgbClr val="FFFF00"/>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highlight>
                                <a:srgbClr val="FFFF00"/>
                              </a:highlight>
                              <a:latin typeface="Cambria Math" panose="02040503050406030204" pitchFamily="18" charset="0"/>
                            </a:rPr>
                          </m:ctrlPr>
                        </m:sSubPr>
                        <m:e>
                          <m:r>
                            <a:rPr lang="fr-FR" sz="1600" b="0" i="1" smtClean="0">
                              <a:highlight>
                                <a:srgbClr val="FFFF00"/>
                              </a:highlight>
                              <a:latin typeface="Cambria Math" panose="02040503050406030204" pitchFamily="18" charset="0"/>
                            </a:rPr>
                            <m:t>h</m:t>
                          </m:r>
                        </m:e>
                        <m:sub>
                          <m:r>
                            <a:rPr lang="fr-FR" sz="1600" b="0" i="1" smtClean="0">
                              <a:highlight>
                                <a:srgbClr val="FFFF00"/>
                              </a:highlight>
                              <a:latin typeface="Cambria Math" panose="02040503050406030204" pitchFamily="18" charset="0"/>
                            </a:rPr>
                            <m:t>𝑡</m:t>
                          </m:r>
                          <m:r>
                            <a:rPr lang="fr-FR" sz="1600" b="0" i="1" smtClean="0">
                              <a:highlight>
                                <a:srgbClr val="FFFF00"/>
                              </a:highlight>
                              <a:latin typeface="Cambria Math" panose="02040503050406030204" pitchFamily="18" charset="0"/>
                            </a:rPr>
                            <m:t>=1</m:t>
                          </m:r>
                        </m:sub>
                      </m:sSub>
                    </m:oMath>
                  </m:oMathPara>
                </a14:m>
                <a:endParaRPr lang="en-GB" sz="1600" dirty="0">
                  <a:highlight>
                    <a:srgbClr val="FFFF00"/>
                  </a:highlight>
                </a:endParaRPr>
              </a:p>
            </p:txBody>
          </p:sp>
        </mc:Choice>
        <mc:Fallback xmlns="">
          <p:sp>
            <p:nvSpPr>
              <p:cNvPr id="25" name="ZoneTexte 24">
                <a:extLst>
                  <a:ext uri="{FF2B5EF4-FFF2-40B4-BE49-F238E27FC236}">
                    <a16:creationId xmlns:a16="http://schemas.microsoft.com/office/drawing/2014/main" id="{03BF5063-439B-0753-B08D-E87827186D27}"/>
                  </a:ext>
                </a:extLst>
              </p:cNvPr>
              <p:cNvSpPr txBox="1">
                <a:spLocks noRot="1" noChangeAspect="1" noMove="1" noResize="1" noEditPoints="1" noAdjustHandles="1" noChangeArrowheads="1" noChangeShapeType="1" noTextEdit="1"/>
              </p:cNvSpPr>
              <p:nvPr/>
            </p:nvSpPr>
            <p:spPr>
              <a:xfrm>
                <a:off x="1732404" y="4119541"/>
                <a:ext cx="429348" cy="246221"/>
              </a:xfrm>
              <a:prstGeom prst="rect">
                <a:avLst/>
              </a:prstGeom>
              <a:blipFill>
                <a:blip r:embed="rId5"/>
                <a:stretch>
                  <a:fillRect l="-11429" r="-2857"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ZoneTexte 13">
                <a:extLst>
                  <a:ext uri="{FF2B5EF4-FFF2-40B4-BE49-F238E27FC236}">
                    <a16:creationId xmlns:a16="http://schemas.microsoft.com/office/drawing/2014/main" id="{2E06FE60-859A-22C8-D592-F4F94DCE24E1}"/>
                  </a:ext>
                </a:extLst>
              </p:cNvPr>
              <p:cNvSpPr txBox="1"/>
              <p:nvPr/>
            </p:nvSpPr>
            <p:spPr>
              <a:xfrm>
                <a:off x="2371220" y="5409180"/>
                <a:ext cx="424732" cy="246221"/>
              </a:xfrm>
              <a:prstGeom prst="rect">
                <a:avLst/>
              </a:prstGeom>
              <a:solidFill>
                <a:srgbClr val="FFFF00"/>
              </a:solid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highlight>
                                <a:srgbClr val="FFFF00"/>
                              </a:highlight>
                              <a:latin typeface="Cambria Math" panose="02040503050406030204" pitchFamily="18" charset="0"/>
                            </a:rPr>
                          </m:ctrlPr>
                        </m:sSubPr>
                        <m:e>
                          <m:r>
                            <a:rPr lang="fr-FR" sz="1600" b="0" i="1" smtClean="0">
                              <a:highlight>
                                <a:srgbClr val="FFFF00"/>
                              </a:highlight>
                              <a:latin typeface="Cambria Math" panose="02040503050406030204" pitchFamily="18" charset="0"/>
                            </a:rPr>
                            <m:t>𝑋</m:t>
                          </m:r>
                        </m:e>
                        <m:sub>
                          <m:r>
                            <a:rPr lang="fr-FR" sz="1600" b="0" i="1" smtClean="0">
                              <a:highlight>
                                <a:srgbClr val="FFFF00"/>
                              </a:highlight>
                              <a:latin typeface="Cambria Math" panose="02040503050406030204" pitchFamily="18" charset="0"/>
                            </a:rPr>
                            <m:t>𝑡</m:t>
                          </m:r>
                          <m:r>
                            <a:rPr lang="fr-FR" sz="1600" b="0" i="1" smtClean="0">
                              <a:highlight>
                                <a:srgbClr val="FFFF00"/>
                              </a:highlight>
                              <a:latin typeface="Cambria Math" panose="02040503050406030204" pitchFamily="18" charset="0"/>
                            </a:rPr>
                            <m:t>=2</m:t>
                          </m:r>
                        </m:sub>
                      </m:sSub>
                    </m:oMath>
                  </m:oMathPara>
                </a14:m>
                <a:endParaRPr lang="en-GB" sz="1600" dirty="0">
                  <a:highlight>
                    <a:srgbClr val="FFFF00"/>
                  </a:highlight>
                </a:endParaRPr>
              </a:p>
            </p:txBody>
          </p:sp>
        </mc:Choice>
        <mc:Fallback xmlns="">
          <p:sp>
            <p:nvSpPr>
              <p:cNvPr id="14" name="ZoneTexte 13">
                <a:extLst>
                  <a:ext uri="{FF2B5EF4-FFF2-40B4-BE49-F238E27FC236}">
                    <a16:creationId xmlns:a16="http://schemas.microsoft.com/office/drawing/2014/main" id="{2E06FE60-859A-22C8-D592-F4F94DCE24E1}"/>
                  </a:ext>
                </a:extLst>
              </p:cNvPr>
              <p:cNvSpPr txBox="1">
                <a:spLocks noRot="1" noChangeAspect="1" noMove="1" noResize="1" noEditPoints="1" noAdjustHandles="1" noChangeArrowheads="1" noChangeShapeType="1" noTextEdit="1"/>
              </p:cNvSpPr>
              <p:nvPr/>
            </p:nvSpPr>
            <p:spPr>
              <a:xfrm>
                <a:off x="2371220" y="5409180"/>
                <a:ext cx="424732" cy="246221"/>
              </a:xfrm>
              <a:prstGeom prst="rect">
                <a:avLst/>
              </a:prstGeom>
              <a:blipFill>
                <a:blip r:embed="rId6"/>
                <a:stretch>
                  <a:fillRect l="-14286" r="-5714" b="-1428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ZoneTexte 14">
                <a:extLst>
                  <a:ext uri="{FF2B5EF4-FFF2-40B4-BE49-F238E27FC236}">
                    <a16:creationId xmlns:a16="http://schemas.microsoft.com/office/drawing/2014/main" id="{D8A2B200-9221-CAB9-EA24-70458027F2A7}"/>
                  </a:ext>
                </a:extLst>
              </p:cNvPr>
              <p:cNvSpPr txBox="1"/>
              <p:nvPr/>
            </p:nvSpPr>
            <p:spPr>
              <a:xfrm>
                <a:off x="2371220" y="3276943"/>
                <a:ext cx="424732" cy="246221"/>
              </a:xfrm>
              <a:prstGeom prst="rect">
                <a:avLst/>
              </a:prstGeom>
              <a:solidFill>
                <a:srgbClr val="FFC000"/>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r>
                            <a:rPr lang="fr-FR" sz="1600" b="0" i="1" smtClean="0">
                              <a:latin typeface="Cambria Math" panose="02040503050406030204" pitchFamily="18" charset="0"/>
                            </a:rPr>
                            <m:t>=2</m:t>
                          </m:r>
                        </m:sub>
                      </m:sSub>
                    </m:oMath>
                  </m:oMathPara>
                </a14:m>
                <a:endParaRPr lang="en-GB" sz="1600" dirty="0"/>
              </a:p>
            </p:txBody>
          </p:sp>
        </mc:Choice>
        <mc:Fallback xmlns="">
          <p:sp>
            <p:nvSpPr>
              <p:cNvPr id="15" name="ZoneTexte 14">
                <a:extLst>
                  <a:ext uri="{FF2B5EF4-FFF2-40B4-BE49-F238E27FC236}">
                    <a16:creationId xmlns:a16="http://schemas.microsoft.com/office/drawing/2014/main" id="{D8A2B200-9221-CAB9-EA24-70458027F2A7}"/>
                  </a:ext>
                </a:extLst>
              </p:cNvPr>
              <p:cNvSpPr txBox="1">
                <a:spLocks noRot="1" noChangeAspect="1" noMove="1" noResize="1" noEditPoints="1" noAdjustHandles="1" noChangeArrowheads="1" noChangeShapeType="1" noTextEdit="1"/>
              </p:cNvSpPr>
              <p:nvPr/>
            </p:nvSpPr>
            <p:spPr>
              <a:xfrm>
                <a:off x="2371220" y="3276943"/>
                <a:ext cx="424732" cy="246221"/>
              </a:xfrm>
              <a:prstGeom prst="rect">
                <a:avLst/>
              </a:prstGeom>
              <a:blipFill>
                <a:blip r:embed="rId7"/>
                <a:stretch>
                  <a:fillRect l="-11429" t="-20000" r="-2857" b="-20000"/>
                </a:stretch>
              </a:blipFill>
            </p:spPr>
            <p:txBody>
              <a:bodyPr/>
              <a:lstStyle/>
              <a:p>
                <a:r>
                  <a:rPr lang="en-GB">
                    <a:noFill/>
                  </a:rPr>
                  <a:t> </a:t>
                </a:r>
              </a:p>
            </p:txBody>
          </p:sp>
        </mc:Fallback>
      </mc:AlternateContent>
      <p:sp>
        <p:nvSpPr>
          <p:cNvPr id="16" name="Rectangle : coins arrondis 15">
            <a:extLst>
              <a:ext uri="{FF2B5EF4-FFF2-40B4-BE49-F238E27FC236}">
                <a16:creationId xmlns:a16="http://schemas.microsoft.com/office/drawing/2014/main" id="{F934E2B2-888A-F6F2-2C44-17E7CE6A457A}"/>
              </a:ext>
            </a:extLst>
          </p:cNvPr>
          <p:cNvSpPr/>
          <p:nvPr/>
        </p:nvSpPr>
        <p:spPr>
          <a:xfrm>
            <a:off x="2300224" y="4125637"/>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7" name="Connecteur droit avec flèche 16">
            <a:extLst>
              <a:ext uri="{FF2B5EF4-FFF2-40B4-BE49-F238E27FC236}">
                <a16:creationId xmlns:a16="http://schemas.microsoft.com/office/drawing/2014/main" id="{D0A704F7-3820-A852-2F71-85E54A03CDB8}"/>
              </a:ext>
            </a:extLst>
          </p:cNvPr>
          <p:cNvCxnSpPr>
            <a:stCxn id="16" idx="0"/>
            <a:endCxn id="15" idx="2"/>
          </p:cNvCxnSpPr>
          <p:nvPr/>
        </p:nvCxnSpPr>
        <p:spPr>
          <a:xfrm flipV="1">
            <a:off x="2579624" y="3523164"/>
            <a:ext cx="3962"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79E3E704-5830-A12A-0F50-93F6513831B2}"/>
              </a:ext>
            </a:extLst>
          </p:cNvPr>
          <p:cNvCxnSpPr>
            <a:cxnSpLocks/>
            <a:stCxn id="14" idx="0"/>
            <a:endCxn id="16" idx="2"/>
          </p:cNvCxnSpPr>
          <p:nvPr/>
        </p:nvCxnSpPr>
        <p:spPr>
          <a:xfrm flipH="1" flipV="1">
            <a:off x="2579624" y="4887637"/>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A5F5AD6B-CB94-167F-DAF7-043BF63CA6D1}"/>
                  </a:ext>
                </a:extLst>
              </p:cNvPr>
              <p:cNvSpPr txBox="1"/>
              <p:nvPr/>
            </p:nvSpPr>
            <p:spPr>
              <a:xfrm>
                <a:off x="3645284" y="5415276"/>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r>
                            <a:rPr lang="fr-FR" sz="1600" b="0" i="1" smtClean="0">
                              <a:latin typeface="Cambria Math" panose="02040503050406030204" pitchFamily="18" charset="0"/>
                            </a:rPr>
                            <m:t>=3</m:t>
                          </m:r>
                        </m:sub>
                      </m:sSub>
                    </m:oMath>
                  </m:oMathPara>
                </a14:m>
                <a:endParaRPr lang="en-GB" sz="1600" dirty="0"/>
              </a:p>
            </p:txBody>
          </p:sp>
        </mc:Choice>
        <mc:Fallback xmlns="">
          <p:sp>
            <p:nvSpPr>
              <p:cNvPr id="19" name="ZoneTexte 18">
                <a:extLst>
                  <a:ext uri="{FF2B5EF4-FFF2-40B4-BE49-F238E27FC236}">
                    <a16:creationId xmlns:a16="http://schemas.microsoft.com/office/drawing/2014/main" id="{A5F5AD6B-CB94-167F-DAF7-043BF63CA6D1}"/>
                  </a:ext>
                </a:extLst>
              </p:cNvPr>
              <p:cNvSpPr txBox="1">
                <a:spLocks noRot="1" noChangeAspect="1" noMove="1" noResize="1" noEditPoints="1" noAdjustHandles="1" noChangeArrowheads="1" noChangeShapeType="1" noTextEdit="1"/>
              </p:cNvSpPr>
              <p:nvPr/>
            </p:nvSpPr>
            <p:spPr>
              <a:xfrm>
                <a:off x="3645284" y="5415276"/>
                <a:ext cx="424732" cy="246221"/>
              </a:xfrm>
              <a:prstGeom prst="rect">
                <a:avLst/>
              </a:prstGeom>
              <a:blipFill>
                <a:blip r:embed="rId8"/>
                <a:stretch>
                  <a:fillRect l="-14706" r="-8824" b="-1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ZoneTexte 19">
                <a:extLst>
                  <a:ext uri="{FF2B5EF4-FFF2-40B4-BE49-F238E27FC236}">
                    <a16:creationId xmlns:a16="http://schemas.microsoft.com/office/drawing/2014/main" id="{11AD22B0-F31D-76C0-E2D5-FEF45B7B9680}"/>
                  </a:ext>
                </a:extLst>
              </p:cNvPr>
              <p:cNvSpPr txBox="1"/>
              <p:nvPr/>
            </p:nvSpPr>
            <p:spPr>
              <a:xfrm>
                <a:off x="3645284" y="3283039"/>
                <a:ext cx="4247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r>
                            <a:rPr lang="fr-FR" sz="1600" b="0" i="1" smtClean="0">
                              <a:latin typeface="Cambria Math" panose="02040503050406030204" pitchFamily="18" charset="0"/>
                            </a:rPr>
                            <m:t>=3</m:t>
                          </m:r>
                        </m:sub>
                      </m:sSub>
                    </m:oMath>
                  </m:oMathPara>
                </a14:m>
                <a:endParaRPr lang="en-GB" sz="1600" dirty="0"/>
              </a:p>
            </p:txBody>
          </p:sp>
        </mc:Choice>
        <mc:Fallback xmlns="">
          <p:sp>
            <p:nvSpPr>
              <p:cNvPr id="20" name="ZoneTexte 19">
                <a:extLst>
                  <a:ext uri="{FF2B5EF4-FFF2-40B4-BE49-F238E27FC236}">
                    <a16:creationId xmlns:a16="http://schemas.microsoft.com/office/drawing/2014/main" id="{11AD22B0-F31D-76C0-E2D5-FEF45B7B9680}"/>
                  </a:ext>
                </a:extLst>
              </p:cNvPr>
              <p:cNvSpPr txBox="1">
                <a:spLocks noRot="1" noChangeAspect="1" noMove="1" noResize="1" noEditPoints="1" noAdjustHandles="1" noChangeArrowheads="1" noChangeShapeType="1" noTextEdit="1"/>
              </p:cNvSpPr>
              <p:nvPr/>
            </p:nvSpPr>
            <p:spPr>
              <a:xfrm>
                <a:off x="3645284" y="3283039"/>
                <a:ext cx="424732" cy="246221"/>
              </a:xfrm>
              <a:prstGeom prst="rect">
                <a:avLst/>
              </a:prstGeom>
              <a:blipFill>
                <a:blip r:embed="rId9"/>
                <a:stretch>
                  <a:fillRect l="-11765" t="-15000" r="-5882" b="-25000"/>
                </a:stretch>
              </a:blipFill>
            </p:spPr>
            <p:txBody>
              <a:bodyPr/>
              <a:lstStyle/>
              <a:p>
                <a:r>
                  <a:rPr lang="en-GB">
                    <a:noFill/>
                  </a:rPr>
                  <a:t> </a:t>
                </a:r>
              </a:p>
            </p:txBody>
          </p:sp>
        </mc:Fallback>
      </mc:AlternateContent>
      <p:sp>
        <p:nvSpPr>
          <p:cNvPr id="21" name="Rectangle : coins arrondis 20">
            <a:extLst>
              <a:ext uri="{FF2B5EF4-FFF2-40B4-BE49-F238E27FC236}">
                <a16:creationId xmlns:a16="http://schemas.microsoft.com/office/drawing/2014/main" id="{65906682-AB5D-C989-69A4-3C628EA4BA72}"/>
              </a:ext>
            </a:extLst>
          </p:cNvPr>
          <p:cNvSpPr/>
          <p:nvPr/>
        </p:nvSpPr>
        <p:spPr>
          <a:xfrm>
            <a:off x="3574288" y="4131733"/>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2" name="Connecteur droit avec flèche 21">
            <a:extLst>
              <a:ext uri="{FF2B5EF4-FFF2-40B4-BE49-F238E27FC236}">
                <a16:creationId xmlns:a16="http://schemas.microsoft.com/office/drawing/2014/main" id="{1455E39C-2333-1AB0-36D4-580F51BF0CB9}"/>
              </a:ext>
            </a:extLst>
          </p:cNvPr>
          <p:cNvCxnSpPr>
            <a:stCxn id="21" idx="0"/>
            <a:endCxn id="20" idx="2"/>
          </p:cNvCxnSpPr>
          <p:nvPr/>
        </p:nvCxnSpPr>
        <p:spPr>
          <a:xfrm flipV="1">
            <a:off x="3853688" y="3529260"/>
            <a:ext cx="3962"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Connecteur droit avec flèche 22">
            <a:extLst>
              <a:ext uri="{FF2B5EF4-FFF2-40B4-BE49-F238E27FC236}">
                <a16:creationId xmlns:a16="http://schemas.microsoft.com/office/drawing/2014/main" id="{8041C7C9-67AF-6F7B-F856-C5115EDAAB4D}"/>
              </a:ext>
            </a:extLst>
          </p:cNvPr>
          <p:cNvCxnSpPr>
            <a:cxnSpLocks/>
            <a:stCxn id="19" idx="0"/>
            <a:endCxn id="21" idx="2"/>
          </p:cNvCxnSpPr>
          <p:nvPr/>
        </p:nvCxnSpPr>
        <p:spPr>
          <a:xfrm flipH="1" flipV="1">
            <a:off x="3853688" y="4893733"/>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8" name="ZoneTexte 27">
                <a:extLst>
                  <a:ext uri="{FF2B5EF4-FFF2-40B4-BE49-F238E27FC236}">
                    <a16:creationId xmlns:a16="http://schemas.microsoft.com/office/drawing/2014/main" id="{1DE384AB-84DD-4820-578E-AE72F793F00C}"/>
                  </a:ext>
                </a:extLst>
              </p:cNvPr>
              <p:cNvSpPr txBox="1"/>
              <p:nvPr/>
            </p:nvSpPr>
            <p:spPr>
              <a:xfrm>
                <a:off x="4907156" y="5421372"/>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r>
                            <a:rPr lang="fr-FR" sz="1600" b="0" i="1" smtClean="0">
                              <a:latin typeface="Cambria Math" panose="02040503050406030204" pitchFamily="18" charset="0"/>
                            </a:rPr>
                            <m:t>=4</m:t>
                          </m:r>
                        </m:sub>
                      </m:sSub>
                    </m:oMath>
                  </m:oMathPara>
                </a14:m>
                <a:endParaRPr lang="en-GB" sz="1600" dirty="0"/>
              </a:p>
            </p:txBody>
          </p:sp>
        </mc:Choice>
        <mc:Fallback xmlns="">
          <p:sp>
            <p:nvSpPr>
              <p:cNvPr id="28" name="ZoneTexte 27">
                <a:extLst>
                  <a:ext uri="{FF2B5EF4-FFF2-40B4-BE49-F238E27FC236}">
                    <a16:creationId xmlns:a16="http://schemas.microsoft.com/office/drawing/2014/main" id="{1DE384AB-84DD-4820-578E-AE72F793F00C}"/>
                  </a:ext>
                </a:extLst>
              </p:cNvPr>
              <p:cNvSpPr txBox="1">
                <a:spLocks noRot="1" noChangeAspect="1" noMove="1" noResize="1" noEditPoints="1" noAdjustHandles="1" noChangeArrowheads="1" noChangeShapeType="1" noTextEdit="1"/>
              </p:cNvSpPr>
              <p:nvPr/>
            </p:nvSpPr>
            <p:spPr>
              <a:xfrm>
                <a:off x="4907156" y="5421372"/>
                <a:ext cx="424732" cy="246221"/>
              </a:xfrm>
              <a:prstGeom prst="rect">
                <a:avLst/>
              </a:prstGeom>
              <a:blipFill>
                <a:blip r:embed="rId10"/>
                <a:stretch>
                  <a:fillRect l="-14286" r="-5714" b="-1428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ZoneTexte 28">
                <a:extLst>
                  <a:ext uri="{FF2B5EF4-FFF2-40B4-BE49-F238E27FC236}">
                    <a16:creationId xmlns:a16="http://schemas.microsoft.com/office/drawing/2014/main" id="{60E6635F-EC03-14B8-89D7-64050E3CF91B}"/>
                  </a:ext>
                </a:extLst>
              </p:cNvPr>
              <p:cNvSpPr txBox="1"/>
              <p:nvPr/>
            </p:nvSpPr>
            <p:spPr>
              <a:xfrm>
                <a:off x="4907156" y="3289135"/>
                <a:ext cx="4247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r>
                            <a:rPr lang="fr-FR" sz="1600" b="0" i="1" smtClean="0">
                              <a:latin typeface="Cambria Math" panose="02040503050406030204" pitchFamily="18" charset="0"/>
                            </a:rPr>
                            <m:t>=4</m:t>
                          </m:r>
                        </m:sub>
                      </m:sSub>
                    </m:oMath>
                  </m:oMathPara>
                </a14:m>
                <a:endParaRPr lang="en-GB" sz="1600" dirty="0"/>
              </a:p>
            </p:txBody>
          </p:sp>
        </mc:Choice>
        <mc:Fallback xmlns="">
          <p:sp>
            <p:nvSpPr>
              <p:cNvPr id="29" name="ZoneTexte 28">
                <a:extLst>
                  <a:ext uri="{FF2B5EF4-FFF2-40B4-BE49-F238E27FC236}">
                    <a16:creationId xmlns:a16="http://schemas.microsoft.com/office/drawing/2014/main" id="{60E6635F-EC03-14B8-89D7-64050E3CF91B}"/>
                  </a:ext>
                </a:extLst>
              </p:cNvPr>
              <p:cNvSpPr txBox="1">
                <a:spLocks noRot="1" noChangeAspect="1" noMove="1" noResize="1" noEditPoints="1" noAdjustHandles="1" noChangeArrowheads="1" noChangeShapeType="1" noTextEdit="1"/>
              </p:cNvSpPr>
              <p:nvPr/>
            </p:nvSpPr>
            <p:spPr>
              <a:xfrm>
                <a:off x="4907156" y="3289135"/>
                <a:ext cx="424732" cy="246221"/>
              </a:xfrm>
              <a:prstGeom prst="rect">
                <a:avLst/>
              </a:prstGeom>
              <a:blipFill>
                <a:blip r:embed="rId11"/>
                <a:stretch>
                  <a:fillRect l="-11429" t="-20000" r="-2857" b="-20000"/>
                </a:stretch>
              </a:blipFill>
            </p:spPr>
            <p:txBody>
              <a:bodyPr/>
              <a:lstStyle/>
              <a:p>
                <a:r>
                  <a:rPr lang="en-GB">
                    <a:noFill/>
                  </a:rPr>
                  <a:t> </a:t>
                </a:r>
              </a:p>
            </p:txBody>
          </p:sp>
        </mc:Fallback>
      </mc:AlternateContent>
      <p:sp>
        <p:nvSpPr>
          <p:cNvPr id="30" name="Rectangle : coins arrondis 29">
            <a:extLst>
              <a:ext uri="{FF2B5EF4-FFF2-40B4-BE49-F238E27FC236}">
                <a16:creationId xmlns:a16="http://schemas.microsoft.com/office/drawing/2014/main" id="{31B7030E-D8C7-B7AB-2E45-0048A193E018}"/>
              </a:ext>
            </a:extLst>
          </p:cNvPr>
          <p:cNvSpPr/>
          <p:nvPr/>
        </p:nvSpPr>
        <p:spPr>
          <a:xfrm>
            <a:off x="4836160" y="4137829"/>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1" name="Connecteur droit avec flèche 30">
            <a:extLst>
              <a:ext uri="{FF2B5EF4-FFF2-40B4-BE49-F238E27FC236}">
                <a16:creationId xmlns:a16="http://schemas.microsoft.com/office/drawing/2014/main" id="{4ED62F36-765B-A679-EFD1-CAA5B742B6B1}"/>
              </a:ext>
            </a:extLst>
          </p:cNvPr>
          <p:cNvCxnSpPr>
            <a:stCxn id="30" idx="0"/>
            <a:endCxn id="29" idx="2"/>
          </p:cNvCxnSpPr>
          <p:nvPr/>
        </p:nvCxnSpPr>
        <p:spPr>
          <a:xfrm flipV="1">
            <a:off x="5115560" y="3535356"/>
            <a:ext cx="3962"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B7E58297-2EF9-5B7A-A8B2-C206DD9E8460}"/>
              </a:ext>
            </a:extLst>
          </p:cNvPr>
          <p:cNvCxnSpPr>
            <a:cxnSpLocks/>
            <a:stCxn id="28" idx="0"/>
            <a:endCxn id="30" idx="2"/>
          </p:cNvCxnSpPr>
          <p:nvPr/>
        </p:nvCxnSpPr>
        <p:spPr>
          <a:xfrm flipH="1" flipV="1">
            <a:off x="5115560" y="4899829"/>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3" name="ZoneTexte 32">
                <a:extLst>
                  <a:ext uri="{FF2B5EF4-FFF2-40B4-BE49-F238E27FC236}">
                    <a16:creationId xmlns:a16="http://schemas.microsoft.com/office/drawing/2014/main" id="{BBE09889-E286-85E8-613D-C500FA39DF50}"/>
                  </a:ext>
                </a:extLst>
              </p:cNvPr>
              <p:cNvSpPr txBox="1"/>
              <p:nvPr/>
            </p:nvSpPr>
            <p:spPr>
              <a:xfrm>
                <a:off x="2981240" y="4119541"/>
                <a:ext cx="42934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=2</m:t>
                          </m:r>
                        </m:sub>
                      </m:sSub>
                    </m:oMath>
                  </m:oMathPara>
                </a14:m>
                <a:endParaRPr lang="en-GB" sz="1600" dirty="0"/>
              </a:p>
            </p:txBody>
          </p:sp>
        </mc:Choice>
        <mc:Fallback xmlns="">
          <p:sp>
            <p:nvSpPr>
              <p:cNvPr id="33" name="ZoneTexte 32">
                <a:extLst>
                  <a:ext uri="{FF2B5EF4-FFF2-40B4-BE49-F238E27FC236}">
                    <a16:creationId xmlns:a16="http://schemas.microsoft.com/office/drawing/2014/main" id="{BBE09889-E286-85E8-613D-C500FA39DF50}"/>
                  </a:ext>
                </a:extLst>
              </p:cNvPr>
              <p:cNvSpPr txBox="1">
                <a:spLocks noRot="1" noChangeAspect="1" noMove="1" noResize="1" noEditPoints="1" noAdjustHandles="1" noChangeArrowheads="1" noChangeShapeType="1" noTextEdit="1"/>
              </p:cNvSpPr>
              <p:nvPr/>
            </p:nvSpPr>
            <p:spPr>
              <a:xfrm>
                <a:off x="2981240" y="4119541"/>
                <a:ext cx="429348" cy="246221"/>
              </a:xfrm>
              <a:prstGeom prst="rect">
                <a:avLst/>
              </a:prstGeom>
              <a:blipFill>
                <a:blip r:embed="rId12"/>
                <a:stretch>
                  <a:fillRect l="-11429" r="-5714"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ZoneTexte 33">
                <a:extLst>
                  <a:ext uri="{FF2B5EF4-FFF2-40B4-BE49-F238E27FC236}">
                    <a16:creationId xmlns:a16="http://schemas.microsoft.com/office/drawing/2014/main" id="{BBC89DC5-3598-2AD2-9010-66F25D7A1B84}"/>
                  </a:ext>
                </a:extLst>
              </p:cNvPr>
              <p:cNvSpPr txBox="1"/>
              <p:nvPr/>
            </p:nvSpPr>
            <p:spPr>
              <a:xfrm>
                <a:off x="4296788" y="4127330"/>
                <a:ext cx="42934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=3</m:t>
                          </m:r>
                        </m:sub>
                      </m:sSub>
                    </m:oMath>
                  </m:oMathPara>
                </a14:m>
                <a:endParaRPr lang="en-GB" sz="1600" dirty="0"/>
              </a:p>
            </p:txBody>
          </p:sp>
        </mc:Choice>
        <mc:Fallback xmlns="">
          <p:sp>
            <p:nvSpPr>
              <p:cNvPr id="34" name="ZoneTexte 33">
                <a:extLst>
                  <a:ext uri="{FF2B5EF4-FFF2-40B4-BE49-F238E27FC236}">
                    <a16:creationId xmlns:a16="http://schemas.microsoft.com/office/drawing/2014/main" id="{BBC89DC5-3598-2AD2-9010-66F25D7A1B84}"/>
                  </a:ext>
                </a:extLst>
              </p:cNvPr>
              <p:cNvSpPr txBox="1">
                <a:spLocks noRot="1" noChangeAspect="1" noMove="1" noResize="1" noEditPoints="1" noAdjustHandles="1" noChangeArrowheads="1" noChangeShapeType="1" noTextEdit="1"/>
              </p:cNvSpPr>
              <p:nvPr/>
            </p:nvSpPr>
            <p:spPr>
              <a:xfrm>
                <a:off x="4296788" y="4127330"/>
                <a:ext cx="429348" cy="246221"/>
              </a:xfrm>
              <a:prstGeom prst="rect">
                <a:avLst/>
              </a:prstGeom>
              <a:blipFill>
                <a:blip r:embed="rId13"/>
                <a:stretch>
                  <a:fillRect l="-11765" r="-5882" b="-14286"/>
                </a:stretch>
              </a:blipFill>
            </p:spPr>
            <p:txBody>
              <a:bodyPr/>
              <a:lstStyle/>
              <a:p>
                <a:r>
                  <a:rPr lang="en-GB">
                    <a:noFill/>
                  </a:rPr>
                  <a:t> </a:t>
                </a:r>
              </a:p>
            </p:txBody>
          </p:sp>
        </mc:Fallback>
      </mc:AlternateContent>
      <p:cxnSp>
        <p:nvCxnSpPr>
          <p:cNvPr id="36" name="Connecteur droit avec flèche 35">
            <a:extLst>
              <a:ext uri="{FF2B5EF4-FFF2-40B4-BE49-F238E27FC236}">
                <a16:creationId xmlns:a16="http://schemas.microsoft.com/office/drawing/2014/main" id="{C1845B66-6885-7075-6670-A63735487173}"/>
              </a:ext>
            </a:extLst>
          </p:cNvPr>
          <p:cNvCxnSpPr>
            <a:stCxn id="8" idx="3"/>
            <a:endCxn id="16" idx="1"/>
          </p:cNvCxnSpPr>
          <p:nvPr/>
        </p:nvCxnSpPr>
        <p:spPr>
          <a:xfrm>
            <a:off x="1584960" y="4500541"/>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Connecteur droit avec flèche 36">
            <a:extLst>
              <a:ext uri="{FF2B5EF4-FFF2-40B4-BE49-F238E27FC236}">
                <a16:creationId xmlns:a16="http://schemas.microsoft.com/office/drawing/2014/main" id="{43C66C31-13C2-6A97-C9FF-F416CD6F601D}"/>
              </a:ext>
            </a:extLst>
          </p:cNvPr>
          <p:cNvCxnSpPr/>
          <p:nvPr/>
        </p:nvCxnSpPr>
        <p:spPr>
          <a:xfrm>
            <a:off x="2859024" y="451882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Connecteur droit avec flèche 37">
            <a:extLst>
              <a:ext uri="{FF2B5EF4-FFF2-40B4-BE49-F238E27FC236}">
                <a16:creationId xmlns:a16="http://schemas.microsoft.com/office/drawing/2014/main" id="{37470DD0-C221-5C8D-ED85-BA5E0EB52992}"/>
              </a:ext>
            </a:extLst>
          </p:cNvPr>
          <p:cNvCxnSpPr/>
          <p:nvPr/>
        </p:nvCxnSpPr>
        <p:spPr>
          <a:xfrm>
            <a:off x="4129620" y="451882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9" name="ZoneTexte 38">
            <a:extLst>
              <a:ext uri="{FF2B5EF4-FFF2-40B4-BE49-F238E27FC236}">
                <a16:creationId xmlns:a16="http://schemas.microsoft.com/office/drawing/2014/main" id="{10909607-592B-F6F9-EA11-35F8BAC7F634}"/>
              </a:ext>
            </a:extLst>
          </p:cNvPr>
          <p:cNvSpPr txBox="1"/>
          <p:nvPr/>
        </p:nvSpPr>
        <p:spPr>
          <a:xfrm>
            <a:off x="1019172" y="5724572"/>
            <a:ext cx="1426464" cy="400110"/>
          </a:xfrm>
          <a:prstGeom prst="rect">
            <a:avLst/>
          </a:prstGeom>
          <a:noFill/>
        </p:spPr>
        <p:txBody>
          <a:bodyPr wrap="square" rtlCol="0">
            <a:spAutoFit/>
          </a:bodyPr>
          <a:lstStyle/>
          <a:p>
            <a:r>
              <a:rPr lang="en-GB" sz="1000" dirty="0"/>
              <a:t>“The”</a:t>
            </a:r>
          </a:p>
          <a:p>
            <a:r>
              <a:rPr lang="en-GB" sz="1000" dirty="0"/>
              <a:t>[0.00154, 0.58..]</a:t>
            </a:r>
          </a:p>
        </p:txBody>
      </p:sp>
      <p:sp>
        <p:nvSpPr>
          <p:cNvPr id="40" name="ZoneTexte 39">
            <a:extLst>
              <a:ext uri="{FF2B5EF4-FFF2-40B4-BE49-F238E27FC236}">
                <a16:creationId xmlns:a16="http://schemas.microsoft.com/office/drawing/2014/main" id="{C6D01E1C-BDE8-CB98-612A-B4EF1A2A708D}"/>
              </a:ext>
            </a:extLst>
          </p:cNvPr>
          <p:cNvSpPr txBox="1"/>
          <p:nvPr/>
        </p:nvSpPr>
        <p:spPr>
          <a:xfrm>
            <a:off x="2174516" y="5747158"/>
            <a:ext cx="1093032" cy="400110"/>
          </a:xfrm>
          <a:prstGeom prst="rect">
            <a:avLst/>
          </a:prstGeom>
          <a:noFill/>
        </p:spPr>
        <p:txBody>
          <a:bodyPr wrap="square" rtlCol="0">
            <a:spAutoFit/>
          </a:bodyPr>
          <a:lstStyle/>
          <a:p>
            <a:r>
              <a:rPr lang="en-GB" sz="1000" dirty="0"/>
              <a:t>“</a:t>
            </a:r>
            <a:r>
              <a:rPr lang="en-GB" sz="1000" dirty="0">
                <a:highlight>
                  <a:srgbClr val="FFFF00"/>
                </a:highlight>
              </a:rPr>
              <a:t>dog</a:t>
            </a:r>
            <a:r>
              <a:rPr lang="en-GB" sz="1000" dirty="0"/>
              <a:t>”</a:t>
            </a:r>
          </a:p>
          <a:p>
            <a:r>
              <a:rPr lang="en-GB" sz="1000" dirty="0"/>
              <a:t>[0.0445, 0.078..]</a:t>
            </a:r>
          </a:p>
        </p:txBody>
      </p:sp>
      <p:sp>
        <p:nvSpPr>
          <p:cNvPr id="41" name="ZoneTexte 40">
            <a:extLst>
              <a:ext uri="{FF2B5EF4-FFF2-40B4-BE49-F238E27FC236}">
                <a16:creationId xmlns:a16="http://schemas.microsoft.com/office/drawing/2014/main" id="{98221434-3E3D-5149-EA9F-22147BE34CDE}"/>
              </a:ext>
            </a:extLst>
          </p:cNvPr>
          <p:cNvSpPr txBox="1"/>
          <p:nvPr/>
        </p:nvSpPr>
        <p:spPr>
          <a:xfrm>
            <a:off x="3520716" y="5747158"/>
            <a:ext cx="1093032" cy="400110"/>
          </a:xfrm>
          <a:prstGeom prst="rect">
            <a:avLst/>
          </a:prstGeom>
          <a:noFill/>
        </p:spPr>
        <p:txBody>
          <a:bodyPr wrap="square" rtlCol="0">
            <a:spAutoFit/>
          </a:bodyPr>
          <a:lstStyle/>
          <a:p>
            <a:r>
              <a:rPr lang="en-GB" sz="1000" dirty="0"/>
              <a:t>“looked”</a:t>
            </a:r>
          </a:p>
          <a:p>
            <a:r>
              <a:rPr lang="en-GB" sz="1000" dirty="0"/>
              <a:t>[0.0021, 0.008..]</a:t>
            </a:r>
          </a:p>
        </p:txBody>
      </p:sp>
      <p:sp>
        <p:nvSpPr>
          <p:cNvPr id="42" name="ZoneTexte 41">
            <a:extLst>
              <a:ext uri="{FF2B5EF4-FFF2-40B4-BE49-F238E27FC236}">
                <a16:creationId xmlns:a16="http://schemas.microsoft.com/office/drawing/2014/main" id="{250D3664-0514-B620-66A7-AA4A3D75C3F6}"/>
              </a:ext>
            </a:extLst>
          </p:cNvPr>
          <p:cNvSpPr txBox="1"/>
          <p:nvPr/>
        </p:nvSpPr>
        <p:spPr>
          <a:xfrm>
            <a:off x="4836160" y="5747158"/>
            <a:ext cx="1093032" cy="400110"/>
          </a:xfrm>
          <a:prstGeom prst="rect">
            <a:avLst/>
          </a:prstGeom>
          <a:noFill/>
        </p:spPr>
        <p:txBody>
          <a:bodyPr wrap="square" rtlCol="0">
            <a:spAutoFit/>
          </a:bodyPr>
          <a:lstStyle/>
          <a:p>
            <a:r>
              <a:rPr lang="en-GB" sz="1000" dirty="0"/>
              <a:t>“guilty”</a:t>
            </a:r>
          </a:p>
          <a:p>
            <a:r>
              <a:rPr lang="en-GB" sz="1000" dirty="0"/>
              <a:t>[0.1821, 0.082..]</a:t>
            </a:r>
          </a:p>
        </p:txBody>
      </p:sp>
      <p:sp>
        <p:nvSpPr>
          <p:cNvPr id="44" name="ZoneTexte 43">
            <a:extLst>
              <a:ext uri="{FF2B5EF4-FFF2-40B4-BE49-F238E27FC236}">
                <a16:creationId xmlns:a16="http://schemas.microsoft.com/office/drawing/2014/main" id="{26C14D66-EFFF-486E-8420-C7442FBF3D3B}"/>
              </a:ext>
            </a:extLst>
          </p:cNvPr>
          <p:cNvSpPr txBox="1"/>
          <p:nvPr/>
        </p:nvSpPr>
        <p:spPr>
          <a:xfrm>
            <a:off x="1933833" y="3003399"/>
            <a:ext cx="1640455" cy="246221"/>
          </a:xfrm>
          <a:prstGeom prst="rect">
            <a:avLst/>
          </a:prstGeom>
          <a:noFill/>
        </p:spPr>
        <p:txBody>
          <a:bodyPr wrap="square" rtlCol="0">
            <a:spAutoFit/>
          </a:bodyPr>
          <a:lstStyle/>
          <a:p>
            <a:r>
              <a:rPr lang="en-GB" sz="1000" dirty="0"/>
              <a:t>Generated from ”The dog”</a:t>
            </a:r>
          </a:p>
        </p:txBody>
      </p:sp>
      <mc:AlternateContent xmlns:mc="http://schemas.openxmlformats.org/markup-compatibility/2006" xmlns:a14="http://schemas.microsoft.com/office/drawing/2010/main">
        <mc:Choice Requires="a14">
          <p:sp>
            <p:nvSpPr>
              <p:cNvPr id="45" name="ZoneTexte 44">
                <a:extLst>
                  <a:ext uri="{FF2B5EF4-FFF2-40B4-BE49-F238E27FC236}">
                    <a16:creationId xmlns:a16="http://schemas.microsoft.com/office/drawing/2014/main" id="{0C28A307-EE75-E207-65AF-68C88A051F5B}"/>
                  </a:ext>
                </a:extLst>
              </p:cNvPr>
              <p:cNvSpPr txBox="1"/>
              <p:nvPr/>
            </p:nvSpPr>
            <p:spPr>
              <a:xfrm>
                <a:off x="5784384" y="3406149"/>
                <a:ext cx="6285696" cy="1954381"/>
              </a:xfrm>
              <a:prstGeom prst="rect">
                <a:avLst/>
              </a:prstGeom>
              <a:noFill/>
            </p:spPr>
            <p:txBody>
              <a:bodyPr wrap="square" rtlCol="0">
                <a:spAutoFit/>
              </a:bodyPr>
              <a:lstStyle/>
              <a:p>
                <a:r>
                  <a:rPr lang="en-GB" sz="1100" b="1" dirty="0"/>
                  <a:t>At t=1</a:t>
                </a:r>
                <a:r>
                  <a:rPr lang="en-GB" sz="1100" dirty="0"/>
                  <a:t>, the encoding for the word  “the” goes into the network and the corresponding y_ is generated.</a:t>
                </a:r>
              </a:p>
              <a:p>
                <a:endParaRPr lang="en-GB" sz="1100" dirty="0"/>
              </a:p>
              <a:p>
                <a:r>
                  <a:rPr lang="en-GB" sz="1100" b="1" dirty="0"/>
                  <a:t>At t=2</a:t>
                </a:r>
                <a:r>
                  <a:rPr lang="en-GB" sz="1100" dirty="0"/>
                  <a:t>, the encoding for the word ”dog” goes into the network and the hidden layer output from the previous time step carrying information about the word “the” these are combined to produce an output for the second time step.</a:t>
                </a:r>
                <a:r>
                  <a:rPr lang="fr-FR" sz="1100" b="0" dirty="0"/>
                  <a:t> </a:t>
                </a:r>
                <a14:m>
                  <m:oMath xmlns:m="http://schemas.openxmlformats.org/officeDocument/2006/math">
                    <m:sSub>
                      <m:sSubPr>
                        <m:ctrlPr>
                          <a:rPr lang="fr-FR" sz="1100" b="0" i="1" smtClean="0">
                            <a:latin typeface="Cambria Math" panose="02040503050406030204" pitchFamily="18" charset="0"/>
                          </a:rPr>
                        </m:ctrlPr>
                      </m:sSubPr>
                      <m:e>
                        <m:acc>
                          <m:accPr>
                            <m:chr m:val="̂"/>
                            <m:ctrlPr>
                              <a:rPr lang="fr-FR" sz="1100" b="0" i="1" smtClean="0">
                                <a:latin typeface="Cambria Math" panose="02040503050406030204" pitchFamily="18" charset="0"/>
                              </a:rPr>
                            </m:ctrlPr>
                          </m:accPr>
                          <m:e>
                            <m:r>
                              <a:rPr lang="fr-FR" sz="1100" b="0" i="1" smtClean="0">
                                <a:latin typeface="Cambria Math" panose="02040503050406030204" pitchFamily="18" charset="0"/>
                              </a:rPr>
                              <m:t>𝑦</m:t>
                            </m:r>
                          </m:e>
                        </m:acc>
                      </m:e>
                      <m:sub>
                        <m:r>
                          <a:rPr lang="fr-FR" sz="1100" b="0" i="1" smtClean="0">
                            <a:latin typeface="Cambria Math" panose="02040503050406030204" pitchFamily="18" charset="0"/>
                          </a:rPr>
                          <m:t>𝑡</m:t>
                        </m:r>
                        <m:r>
                          <a:rPr lang="fr-FR" sz="1100" b="0" i="1" smtClean="0">
                            <a:latin typeface="Cambria Math" panose="02040503050406030204" pitchFamily="18" charset="0"/>
                          </a:rPr>
                          <m:t>=2</m:t>
                        </m:r>
                      </m:sub>
                    </m:sSub>
                  </m:oMath>
                </a14:m>
                <a:r>
                  <a:rPr lang="en-GB" sz="1100" dirty="0"/>
                  <a:t> is based on the sequence ”the dog” and this way the information about the sentence is carried forward through the network over time.</a:t>
                </a:r>
              </a:p>
              <a:p>
                <a:endParaRPr lang="en-GB" sz="1100" dirty="0"/>
              </a:p>
              <a:p>
                <a:r>
                  <a:rPr lang="en-GB" sz="1100" b="1" dirty="0"/>
                  <a:t>At t=3</a:t>
                </a:r>
                <a:r>
                  <a:rPr lang="en-GB" sz="1100" dirty="0"/>
                  <a:t>, </a:t>
                </a:r>
                <a14:m>
                  <m:oMath xmlns:m="http://schemas.openxmlformats.org/officeDocument/2006/math">
                    <m:sSub>
                      <m:sSubPr>
                        <m:ctrlPr>
                          <a:rPr lang="fr-FR" sz="1100" b="0" i="1" smtClean="0">
                            <a:latin typeface="Cambria Math" panose="02040503050406030204" pitchFamily="18" charset="0"/>
                          </a:rPr>
                        </m:ctrlPr>
                      </m:sSubPr>
                      <m:e>
                        <m:acc>
                          <m:accPr>
                            <m:chr m:val="̂"/>
                            <m:ctrlPr>
                              <a:rPr lang="fr-FR" sz="1100" b="0" i="1" smtClean="0">
                                <a:latin typeface="Cambria Math" panose="02040503050406030204" pitchFamily="18" charset="0"/>
                              </a:rPr>
                            </m:ctrlPr>
                          </m:accPr>
                          <m:e>
                            <m:r>
                              <a:rPr lang="fr-FR" sz="1100" b="0" i="1" smtClean="0">
                                <a:latin typeface="Cambria Math" panose="02040503050406030204" pitchFamily="18" charset="0"/>
                              </a:rPr>
                              <m:t>𝑦</m:t>
                            </m:r>
                          </m:e>
                        </m:acc>
                      </m:e>
                      <m:sub>
                        <m:r>
                          <a:rPr lang="fr-FR" sz="1100" b="0" i="1" smtClean="0">
                            <a:latin typeface="Cambria Math" panose="02040503050406030204" pitchFamily="18" charset="0"/>
                          </a:rPr>
                          <m:t>𝑡</m:t>
                        </m:r>
                        <m:r>
                          <a:rPr lang="fr-FR" sz="1100" b="0" i="1" smtClean="0">
                            <a:latin typeface="Cambria Math" panose="02040503050406030204" pitchFamily="18" charset="0"/>
                          </a:rPr>
                          <m:t>=3</m:t>
                        </m:r>
                      </m:sub>
                    </m:sSub>
                  </m:oMath>
                </a14:m>
                <a:r>
                  <a:rPr lang="en-GB" sz="1100" dirty="0"/>
                  <a:t> is based on the sequence “the dog looked”</a:t>
                </a:r>
              </a:p>
              <a:p>
                <a:endParaRPr lang="en-GB" sz="1100" dirty="0"/>
              </a:p>
              <a:p>
                <a:r>
                  <a:rPr lang="en-GB" sz="1100" b="1" dirty="0"/>
                  <a:t>At t=4</a:t>
                </a:r>
                <a:r>
                  <a:rPr lang="en-GB" sz="1100" dirty="0"/>
                  <a:t>, </a:t>
                </a:r>
                <a14:m>
                  <m:oMath xmlns:m="http://schemas.openxmlformats.org/officeDocument/2006/math">
                    <m:sSub>
                      <m:sSubPr>
                        <m:ctrlPr>
                          <a:rPr lang="fr-FR" sz="1100" b="0" i="1" smtClean="0">
                            <a:latin typeface="Cambria Math" panose="02040503050406030204" pitchFamily="18" charset="0"/>
                          </a:rPr>
                        </m:ctrlPr>
                      </m:sSubPr>
                      <m:e>
                        <m:acc>
                          <m:accPr>
                            <m:chr m:val="̂"/>
                            <m:ctrlPr>
                              <a:rPr lang="fr-FR" sz="1100" b="0" i="1" smtClean="0">
                                <a:latin typeface="Cambria Math" panose="02040503050406030204" pitchFamily="18" charset="0"/>
                              </a:rPr>
                            </m:ctrlPr>
                          </m:accPr>
                          <m:e>
                            <m:r>
                              <a:rPr lang="fr-FR" sz="1100" b="0" i="1" smtClean="0">
                                <a:latin typeface="Cambria Math" panose="02040503050406030204" pitchFamily="18" charset="0"/>
                              </a:rPr>
                              <m:t>𝑦</m:t>
                            </m:r>
                          </m:e>
                        </m:acc>
                      </m:e>
                      <m:sub>
                        <m:r>
                          <a:rPr lang="fr-FR" sz="1100" b="0" i="1" smtClean="0">
                            <a:latin typeface="Cambria Math" panose="02040503050406030204" pitchFamily="18" charset="0"/>
                          </a:rPr>
                          <m:t>𝑡</m:t>
                        </m:r>
                        <m:r>
                          <a:rPr lang="fr-FR" sz="1100" b="0" i="1" smtClean="0">
                            <a:latin typeface="Cambria Math" panose="02040503050406030204" pitchFamily="18" charset="0"/>
                          </a:rPr>
                          <m:t>=3</m:t>
                        </m:r>
                      </m:sub>
                    </m:sSub>
                  </m:oMath>
                </a14:m>
                <a:r>
                  <a:rPr lang="en-GB" sz="1100" dirty="0"/>
                  <a:t> is based on the entre sequence “the dog looked guilty”</a:t>
                </a:r>
              </a:p>
              <a:p>
                <a:endParaRPr lang="en-GB" sz="1100" dirty="0"/>
              </a:p>
            </p:txBody>
          </p:sp>
        </mc:Choice>
        <mc:Fallback xmlns="">
          <p:sp>
            <p:nvSpPr>
              <p:cNvPr id="45" name="ZoneTexte 44">
                <a:extLst>
                  <a:ext uri="{FF2B5EF4-FFF2-40B4-BE49-F238E27FC236}">
                    <a16:creationId xmlns:a16="http://schemas.microsoft.com/office/drawing/2014/main" id="{0C28A307-EE75-E207-65AF-68C88A051F5B}"/>
                  </a:ext>
                </a:extLst>
              </p:cNvPr>
              <p:cNvSpPr txBox="1">
                <a:spLocks noRot="1" noChangeAspect="1" noMove="1" noResize="1" noEditPoints="1" noAdjustHandles="1" noChangeArrowheads="1" noChangeShapeType="1" noTextEdit="1"/>
              </p:cNvSpPr>
              <p:nvPr/>
            </p:nvSpPr>
            <p:spPr>
              <a:xfrm>
                <a:off x="5784384" y="3406149"/>
                <a:ext cx="6285696" cy="1954381"/>
              </a:xfrm>
              <a:prstGeom prst="rect">
                <a:avLst/>
              </a:prstGeom>
              <a:blipFill>
                <a:blip r:embed="rId14"/>
                <a:stretch>
                  <a:fillRect/>
                </a:stretch>
              </a:blipFill>
            </p:spPr>
            <p:txBody>
              <a:bodyPr/>
              <a:lstStyle/>
              <a:p>
                <a:r>
                  <a:rPr lang="en-GB">
                    <a:noFill/>
                  </a:rPr>
                  <a:t> </a:t>
                </a:r>
              </a:p>
            </p:txBody>
          </p:sp>
        </mc:Fallback>
      </mc:AlternateContent>
      <p:sp>
        <p:nvSpPr>
          <p:cNvPr id="50" name="ZoneTexte 49">
            <a:extLst>
              <a:ext uri="{FF2B5EF4-FFF2-40B4-BE49-F238E27FC236}">
                <a16:creationId xmlns:a16="http://schemas.microsoft.com/office/drawing/2014/main" id="{6123C4E9-FB00-7BC4-554C-2A09B801C563}"/>
              </a:ext>
            </a:extLst>
          </p:cNvPr>
          <p:cNvSpPr txBox="1"/>
          <p:nvPr/>
        </p:nvSpPr>
        <p:spPr>
          <a:xfrm>
            <a:off x="6061322" y="5417776"/>
            <a:ext cx="5477346" cy="861774"/>
          </a:xfrm>
          <a:prstGeom prst="rect">
            <a:avLst/>
          </a:prstGeom>
          <a:noFill/>
          <a:ln>
            <a:solidFill>
              <a:schemeClr val="accent1">
                <a:shade val="15000"/>
              </a:schemeClr>
            </a:solidFill>
          </a:ln>
        </p:spPr>
        <p:txBody>
          <a:bodyPr wrap="square">
            <a:spAutoFit/>
          </a:bodyPr>
          <a:lstStyle/>
          <a:p>
            <a:r>
              <a:rPr lang="en-GB" sz="1600" dirty="0">
                <a:latin typeface="ui-sans-serif"/>
              </a:rPr>
              <a:t>At each time step, the network creates a representation of the sequence up to that point and through this recurrent mechanism the network as some sense of memory</a:t>
            </a:r>
          </a:p>
        </p:txBody>
      </p:sp>
      <p:sp>
        <p:nvSpPr>
          <p:cNvPr id="51" name="ZoneTexte 50">
            <a:extLst>
              <a:ext uri="{FF2B5EF4-FFF2-40B4-BE49-F238E27FC236}">
                <a16:creationId xmlns:a16="http://schemas.microsoft.com/office/drawing/2014/main" id="{1C7B5279-5677-4A94-2FA4-50F4C0F4BB88}"/>
              </a:ext>
            </a:extLst>
          </p:cNvPr>
          <p:cNvSpPr txBox="1"/>
          <p:nvPr/>
        </p:nvSpPr>
        <p:spPr>
          <a:xfrm>
            <a:off x="5756852" y="2961103"/>
            <a:ext cx="5477346" cy="369332"/>
          </a:xfrm>
          <a:prstGeom prst="rect">
            <a:avLst/>
          </a:prstGeom>
          <a:noFill/>
        </p:spPr>
        <p:txBody>
          <a:bodyPr wrap="square">
            <a:spAutoFit/>
          </a:bodyPr>
          <a:lstStyle/>
          <a:p>
            <a:r>
              <a:rPr lang="en-GB" sz="1800" dirty="0">
                <a:latin typeface="ui-sans-serif"/>
              </a:rPr>
              <a:t>The RNN algorithm</a:t>
            </a:r>
          </a:p>
        </p:txBody>
      </p:sp>
      <p:sp>
        <p:nvSpPr>
          <p:cNvPr id="9" name="ZoneTexte 8">
            <a:extLst>
              <a:ext uri="{FF2B5EF4-FFF2-40B4-BE49-F238E27FC236}">
                <a16:creationId xmlns:a16="http://schemas.microsoft.com/office/drawing/2014/main" id="{D593E1B0-65C6-201B-3E93-33CFDAC5C420}"/>
              </a:ext>
            </a:extLst>
          </p:cNvPr>
          <p:cNvSpPr txBox="1"/>
          <p:nvPr/>
        </p:nvSpPr>
        <p:spPr>
          <a:xfrm>
            <a:off x="1365526" y="3663640"/>
            <a:ext cx="304800" cy="369332"/>
          </a:xfrm>
          <a:prstGeom prst="rect">
            <a:avLst/>
          </a:prstGeom>
          <a:noFill/>
        </p:spPr>
        <p:txBody>
          <a:bodyPr wrap="square" rtlCol="0">
            <a:spAutoFit/>
          </a:bodyPr>
          <a:lstStyle/>
          <a:p>
            <a:r>
              <a:rPr lang="en-GB" b="1" dirty="0">
                <a:solidFill>
                  <a:srgbClr val="0070C0"/>
                </a:solidFill>
              </a:rPr>
              <a:t>V</a:t>
            </a:r>
          </a:p>
        </p:txBody>
      </p:sp>
      <p:sp>
        <p:nvSpPr>
          <p:cNvPr id="13" name="ZoneTexte 12">
            <a:extLst>
              <a:ext uri="{FF2B5EF4-FFF2-40B4-BE49-F238E27FC236}">
                <a16:creationId xmlns:a16="http://schemas.microsoft.com/office/drawing/2014/main" id="{915B6B0C-7683-6D01-8679-5B721E7E7395}"/>
              </a:ext>
            </a:extLst>
          </p:cNvPr>
          <p:cNvSpPr txBox="1"/>
          <p:nvPr/>
        </p:nvSpPr>
        <p:spPr>
          <a:xfrm>
            <a:off x="1336040" y="4957646"/>
            <a:ext cx="304800" cy="369332"/>
          </a:xfrm>
          <a:prstGeom prst="rect">
            <a:avLst/>
          </a:prstGeom>
          <a:noFill/>
        </p:spPr>
        <p:txBody>
          <a:bodyPr wrap="square" rtlCol="0">
            <a:spAutoFit/>
          </a:bodyPr>
          <a:lstStyle/>
          <a:p>
            <a:r>
              <a:rPr lang="en-GB" b="1" dirty="0">
                <a:solidFill>
                  <a:srgbClr val="0070C0"/>
                </a:solidFill>
              </a:rPr>
              <a:t>U</a:t>
            </a:r>
          </a:p>
        </p:txBody>
      </p:sp>
      <p:sp>
        <p:nvSpPr>
          <p:cNvPr id="24" name="ZoneTexte 23">
            <a:extLst>
              <a:ext uri="{FF2B5EF4-FFF2-40B4-BE49-F238E27FC236}">
                <a16:creationId xmlns:a16="http://schemas.microsoft.com/office/drawing/2014/main" id="{8AE7297F-E559-B061-B43E-6CF6D5062698}"/>
              </a:ext>
            </a:extLst>
          </p:cNvPr>
          <p:cNvSpPr txBox="1"/>
          <p:nvPr/>
        </p:nvSpPr>
        <p:spPr>
          <a:xfrm>
            <a:off x="2635504" y="4951375"/>
            <a:ext cx="304800" cy="369332"/>
          </a:xfrm>
          <a:prstGeom prst="rect">
            <a:avLst/>
          </a:prstGeom>
          <a:noFill/>
        </p:spPr>
        <p:txBody>
          <a:bodyPr wrap="square" rtlCol="0">
            <a:spAutoFit/>
          </a:bodyPr>
          <a:lstStyle/>
          <a:p>
            <a:r>
              <a:rPr lang="en-GB" b="1" dirty="0">
                <a:solidFill>
                  <a:srgbClr val="0070C0"/>
                </a:solidFill>
              </a:rPr>
              <a:t>U</a:t>
            </a:r>
          </a:p>
        </p:txBody>
      </p:sp>
      <p:sp>
        <p:nvSpPr>
          <p:cNvPr id="26" name="ZoneTexte 25">
            <a:extLst>
              <a:ext uri="{FF2B5EF4-FFF2-40B4-BE49-F238E27FC236}">
                <a16:creationId xmlns:a16="http://schemas.microsoft.com/office/drawing/2014/main" id="{01D8E0AF-0A0B-6594-D064-14652F6B2D4E}"/>
              </a:ext>
            </a:extLst>
          </p:cNvPr>
          <p:cNvSpPr txBox="1"/>
          <p:nvPr/>
        </p:nvSpPr>
        <p:spPr>
          <a:xfrm>
            <a:off x="3885184" y="4957471"/>
            <a:ext cx="304800" cy="369332"/>
          </a:xfrm>
          <a:prstGeom prst="rect">
            <a:avLst/>
          </a:prstGeom>
          <a:noFill/>
        </p:spPr>
        <p:txBody>
          <a:bodyPr wrap="square" rtlCol="0">
            <a:spAutoFit/>
          </a:bodyPr>
          <a:lstStyle/>
          <a:p>
            <a:r>
              <a:rPr lang="en-GB" b="1" dirty="0">
                <a:solidFill>
                  <a:srgbClr val="0070C0"/>
                </a:solidFill>
              </a:rPr>
              <a:t>U</a:t>
            </a:r>
          </a:p>
        </p:txBody>
      </p:sp>
      <p:sp>
        <p:nvSpPr>
          <p:cNvPr id="27" name="ZoneTexte 26">
            <a:extLst>
              <a:ext uri="{FF2B5EF4-FFF2-40B4-BE49-F238E27FC236}">
                <a16:creationId xmlns:a16="http://schemas.microsoft.com/office/drawing/2014/main" id="{AC76430B-1AEA-4EBF-B572-220658F11F14}"/>
              </a:ext>
            </a:extLst>
          </p:cNvPr>
          <p:cNvSpPr txBox="1"/>
          <p:nvPr/>
        </p:nvSpPr>
        <p:spPr>
          <a:xfrm>
            <a:off x="5086096" y="4951375"/>
            <a:ext cx="304800" cy="369332"/>
          </a:xfrm>
          <a:prstGeom prst="rect">
            <a:avLst/>
          </a:prstGeom>
          <a:noFill/>
        </p:spPr>
        <p:txBody>
          <a:bodyPr wrap="square" rtlCol="0">
            <a:spAutoFit/>
          </a:bodyPr>
          <a:lstStyle/>
          <a:p>
            <a:r>
              <a:rPr lang="en-GB" b="1" dirty="0">
                <a:solidFill>
                  <a:srgbClr val="0070C0"/>
                </a:solidFill>
              </a:rPr>
              <a:t>U</a:t>
            </a:r>
          </a:p>
        </p:txBody>
      </p:sp>
      <p:sp>
        <p:nvSpPr>
          <p:cNvPr id="35" name="ZoneTexte 34">
            <a:extLst>
              <a:ext uri="{FF2B5EF4-FFF2-40B4-BE49-F238E27FC236}">
                <a16:creationId xmlns:a16="http://schemas.microsoft.com/office/drawing/2014/main" id="{7FBD5D78-DA6C-05B9-C0EE-B71C53105441}"/>
              </a:ext>
            </a:extLst>
          </p:cNvPr>
          <p:cNvSpPr txBox="1"/>
          <p:nvPr/>
        </p:nvSpPr>
        <p:spPr>
          <a:xfrm>
            <a:off x="1741983" y="4518829"/>
            <a:ext cx="304800" cy="369332"/>
          </a:xfrm>
          <a:prstGeom prst="rect">
            <a:avLst/>
          </a:prstGeom>
          <a:noFill/>
        </p:spPr>
        <p:txBody>
          <a:bodyPr wrap="square" rtlCol="0">
            <a:spAutoFit/>
          </a:bodyPr>
          <a:lstStyle/>
          <a:p>
            <a:r>
              <a:rPr lang="en-GB" b="1" dirty="0">
                <a:solidFill>
                  <a:srgbClr val="0070C0"/>
                </a:solidFill>
              </a:rPr>
              <a:t>W</a:t>
            </a:r>
          </a:p>
        </p:txBody>
      </p:sp>
      <p:sp>
        <p:nvSpPr>
          <p:cNvPr id="43" name="ZoneTexte 42">
            <a:extLst>
              <a:ext uri="{FF2B5EF4-FFF2-40B4-BE49-F238E27FC236}">
                <a16:creationId xmlns:a16="http://schemas.microsoft.com/office/drawing/2014/main" id="{6BAD5808-2460-A334-E0B6-7DF27347E659}"/>
              </a:ext>
            </a:extLst>
          </p:cNvPr>
          <p:cNvSpPr txBox="1"/>
          <p:nvPr/>
        </p:nvSpPr>
        <p:spPr>
          <a:xfrm>
            <a:off x="2991663" y="4512733"/>
            <a:ext cx="304800" cy="369332"/>
          </a:xfrm>
          <a:prstGeom prst="rect">
            <a:avLst/>
          </a:prstGeom>
          <a:noFill/>
        </p:spPr>
        <p:txBody>
          <a:bodyPr wrap="square" rtlCol="0">
            <a:spAutoFit/>
          </a:bodyPr>
          <a:lstStyle/>
          <a:p>
            <a:r>
              <a:rPr lang="en-GB" b="1" dirty="0">
                <a:solidFill>
                  <a:srgbClr val="0070C0"/>
                </a:solidFill>
              </a:rPr>
              <a:t>W</a:t>
            </a:r>
          </a:p>
        </p:txBody>
      </p:sp>
      <p:sp>
        <p:nvSpPr>
          <p:cNvPr id="46" name="ZoneTexte 45">
            <a:extLst>
              <a:ext uri="{FF2B5EF4-FFF2-40B4-BE49-F238E27FC236}">
                <a16:creationId xmlns:a16="http://schemas.microsoft.com/office/drawing/2014/main" id="{56D9C1EA-2679-DD04-F87B-2C0757912CF4}"/>
              </a:ext>
            </a:extLst>
          </p:cNvPr>
          <p:cNvSpPr txBox="1"/>
          <p:nvPr/>
        </p:nvSpPr>
        <p:spPr>
          <a:xfrm>
            <a:off x="4290111" y="4518829"/>
            <a:ext cx="304800" cy="369332"/>
          </a:xfrm>
          <a:prstGeom prst="rect">
            <a:avLst/>
          </a:prstGeom>
          <a:noFill/>
        </p:spPr>
        <p:txBody>
          <a:bodyPr wrap="square" rtlCol="0">
            <a:spAutoFit/>
          </a:bodyPr>
          <a:lstStyle/>
          <a:p>
            <a:r>
              <a:rPr lang="en-GB" b="1" dirty="0">
                <a:solidFill>
                  <a:srgbClr val="0070C0"/>
                </a:solidFill>
              </a:rPr>
              <a:t>W</a:t>
            </a:r>
          </a:p>
        </p:txBody>
      </p:sp>
      <p:sp>
        <p:nvSpPr>
          <p:cNvPr id="47" name="ZoneTexte 46">
            <a:extLst>
              <a:ext uri="{FF2B5EF4-FFF2-40B4-BE49-F238E27FC236}">
                <a16:creationId xmlns:a16="http://schemas.microsoft.com/office/drawing/2014/main" id="{8731860C-47F7-2C6C-C9B7-B70472A7B36A}"/>
              </a:ext>
            </a:extLst>
          </p:cNvPr>
          <p:cNvSpPr txBox="1"/>
          <p:nvPr/>
        </p:nvSpPr>
        <p:spPr>
          <a:xfrm>
            <a:off x="2651782" y="3657544"/>
            <a:ext cx="304800" cy="369332"/>
          </a:xfrm>
          <a:prstGeom prst="rect">
            <a:avLst/>
          </a:prstGeom>
          <a:noFill/>
        </p:spPr>
        <p:txBody>
          <a:bodyPr wrap="square" rtlCol="0">
            <a:spAutoFit/>
          </a:bodyPr>
          <a:lstStyle/>
          <a:p>
            <a:r>
              <a:rPr lang="en-GB" b="1" dirty="0">
                <a:solidFill>
                  <a:srgbClr val="0070C0"/>
                </a:solidFill>
              </a:rPr>
              <a:t>V</a:t>
            </a:r>
          </a:p>
        </p:txBody>
      </p:sp>
      <p:sp>
        <p:nvSpPr>
          <p:cNvPr id="48" name="ZoneTexte 47">
            <a:extLst>
              <a:ext uri="{FF2B5EF4-FFF2-40B4-BE49-F238E27FC236}">
                <a16:creationId xmlns:a16="http://schemas.microsoft.com/office/drawing/2014/main" id="{58357ABE-CDEE-4F05-96CF-3A2A017988BD}"/>
              </a:ext>
            </a:extLst>
          </p:cNvPr>
          <p:cNvSpPr txBox="1"/>
          <p:nvPr/>
        </p:nvSpPr>
        <p:spPr>
          <a:xfrm>
            <a:off x="3816118" y="3663640"/>
            <a:ext cx="304800" cy="369332"/>
          </a:xfrm>
          <a:prstGeom prst="rect">
            <a:avLst/>
          </a:prstGeom>
          <a:noFill/>
        </p:spPr>
        <p:txBody>
          <a:bodyPr wrap="square" rtlCol="0">
            <a:spAutoFit/>
          </a:bodyPr>
          <a:lstStyle/>
          <a:p>
            <a:r>
              <a:rPr lang="en-GB" b="1" dirty="0">
                <a:solidFill>
                  <a:srgbClr val="0070C0"/>
                </a:solidFill>
              </a:rPr>
              <a:t>V</a:t>
            </a:r>
          </a:p>
        </p:txBody>
      </p:sp>
      <p:sp>
        <p:nvSpPr>
          <p:cNvPr id="49" name="ZoneTexte 48">
            <a:extLst>
              <a:ext uri="{FF2B5EF4-FFF2-40B4-BE49-F238E27FC236}">
                <a16:creationId xmlns:a16="http://schemas.microsoft.com/office/drawing/2014/main" id="{05AF2D88-9064-2712-5FCC-E64DA38DA292}"/>
              </a:ext>
            </a:extLst>
          </p:cNvPr>
          <p:cNvSpPr txBox="1"/>
          <p:nvPr/>
        </p:nvSpPr>
        <p:spPr>
          <a:xfrm>
            <a:off x="5102374" y="3669736"/>
            <a:ext cx="304800" cy="369332"/>
          </a:xfrm>
          <a:prstGeom prst="rect">
            <a:avLst/>
          </a:prstGeom>
          <a:noFill/>
        </p:spPr>
        <p:txBody>
          <a:bodyPr wrap="square" rtlCol="0">
            <a:spAutoFit/>
          </a:bodyPr>
          <a:lstStyle/>
          <a:p>
            <a:r>
              <a:rPr lang="en-GB" b="1" dirty="0">
                <a:solidFill>
                  <a:srgbClr val="0070C0"/>
                </a:solidFill>
              </a:rPr>
              <a:t>V</a:t>
            </a:r>
          </a:p>
        </p:txBody>
      </p:sp>
      <p:sp>
        <p:nvSpPr>
          <p:cNvPr id="6" name="Espace réservé du pied de page 2">
            <a:extLst>
              <a:ext uri="{FF2B5EF4-FFF2-40B4-BE49-F238E27FC236}">
                <a16:creationId xmlns:a16="http://schemas.microsoft.com/office/drawing/2014/main" id="{123CBC52-6276-B54A-2A10-BF6D2B6D6136}"/>
              </a:ext>
            </a:extLst>
          </p:cNvPr>
          <p:cNvSpPr>
            <a:spLocks noGrp="1"/>
          </p:cNvSpPr>
          <p:nvPr>
            <p:ph type="ftr" sz="quarter" idx="11"/>
          </p:nvPr>
        </p:nvSpPr>
        <p:spPr>
          <a:xfrm>
            <a:off x="4038600" y="6356350"/>
            <a:ext cx="4549346" cy="365125"/>
          </a:xfrm>
        </p:spPr>
        <p:txBody>
          <a:bodyPr/>
          <a:lstStyle/>
          <a:p>
            <a:r>
              <a:rPr lang="en-GB" noProof="1"/>
              <a:t>RNN. Author: David Thébault – Based on NLPDemystified.org</a:t>
            </a:r>
          </a:p>
        </p:txBody>
      </p:sp>
    </p:spTree>
    <p:extLst>
      <p:ext uri="{BB962C8B-B14F-4D97-AF65-F5344CB8AC3E}">
        <p14:creationId xmlns:p14="http://schemas.microsoft.com/office/powerpoint/2010/main" val="2117652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F1F99-E4B2-2759-9CB9-AB38543A538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D532834-8654-974B-FB72-278056C0C3BE}"/>
              </a:ext>
            </a:extLst>
          </p:cNvPr>
          <p:cNvSpPr>
            <a:spLocks noGrp="1"/>
          </p:cNvSpPr>
          <p:nvPr>
            <p:ph type="title"/>
          </p:nvPr>
        </p:nvSpPr>
        <p:spPr/>
        <p:txBody>
          <a:bodyPr/>
          <a:lstStyle/>
          <a:p>
            <a:pPr algn="ctr"/>
            <a:r>
              <a:rPr lang="en-GB" noProof="0" dirty="0"/>
              <a:t>Recurrent Neural Networks</a:t>
            </a:r>
          </a:p>
        </p:txBody>
      </p:sp>
      <p:sp>
        <p:nvSpPr>
          <p:cNvPr id="4" name="ZoneTexte 3">
            <a:extLst>
              <a:ext uri="{FF2B5EF4-FFF2-40B4-BE49-F238E27FC236}">
                <a16:creationId xmlns:a16="http://schemas.microsoft.com/office/drawing/2014/main" id="{3C75907F-9F62-4D49-EB17-1DE7FCD59658}"/>
              </a:ext>
            </a:extLst>
          </p:cNvPr>
          <p:cNvSpPr txBox="1"/>
          <p:nvPr/>
        </p:nvSpPr>
        <p:spPr>
          <a:xfrm>
            <a:off x="838199" y="1828800"/>
            <a:ext cx="8703365" cy="1479665"/>
          </a:xfrm>
          <a:prstGeom prst="rect">
            <a:avLst/>
          </a:prstGeom>
          <a:noFill/>
        </p:spPr>
        <p:txBody>
          <a:bodyPr wrap="square" lIns="90000" rtlCol="0">
            <a:noAutofit/>
          </a:bodyPr>
          <a:lstStyle/>
          <a:p>
            <a:r>
              <a:rPr lang="en-GB" sz="2400" b="1" dirty="0">
                <a:latin typeface="ui-sans-serif"/>
              </a:rPr>
              <a:t>RNN </a:t>
            </a:r>
            <a:r>
              <a:rPr lang="en-GB" sz="2400" b="1" dirty="0">
                <a:solidFill>
                  <a:schemeClr val="accent4"/>
                </a:solidFill>
                <a:latin typeface="ui-sans-serif"/>
              </a:rPr>
              <a:t>schema</a:t>
            </a:r>
            <a:r>
              <a:rPr lang="en-GB" sz="2400" b="1" dirty="0">
                <a:latin typeface="ui-sans-serif"/>
              </a:rPr>
              <a:t> for Sequence </a:t>
            </a:r>
            <a:r>
              <a:rPr lang="en-GB" sz="2400" b="1" dirty="0">
                <a:solidFill>
                  <a:schemeClr val="accent4"/>
                </a:solidFill>
                <a:latin typeface="ui-sans-serif"/>
              </a:rPr>
              <a:t>Labelling</a:t>
            </a:r>
          </a:p>
          <a:p>
            <a:r>
              <a:rPr lang="en-GB" sz="1600" dirty="0">
                <a:latin typeface="ui-sans-serif"/>
              </a:rPr>
              <a:t>Example Part-of-Speech (POS) tagging with the sentence: “The dog looked guilty”</a:t>
            </a:r>
          </a:p>
          <a:p>
            <a:r>
              <a:rPr lang="en-GB" sz="2400" dirty="0">
                <a:latin typeface="ui-sans-serif"/>
              </a:rPr>
              <a:t>Each output is labelled</a:t>
            </a:r>
          </a:p>
          <a:p>
            <a:endParaRPr lang="en-GB" sz="2400" dirty="0">
              <a:latin typeface="ui-sans-serif"/>
            </a:endParaRPr>
          </a:p>
          <a:p>
            <a:endParaRPr lang="en-GB" sz="2400" dirty="0">
              <a:latin typeface="ui-sans-serif"/>
            </a:endParaRPr>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1EDFC852-EE7F-E0FB-44ED-DC836A7E036D}"/>
                  </a:ext>
                </a:extLst>
              </p:cNvPr>
              <p:cNvSpPr txBox="1"/>
              <p:nvPr/>
            </p:nvSpPr>
            <p:spPr>
              <a:xfrm>
                <a:off x="1097156" y="5403084"/>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Sub>
                    </m:oMath>
                  </m:oMathPara>
                </a14:m>
                <a:endParaRPr lang="en-GB" sz="1600" dirty="0"/>
              </a:p>
            </p:txBody>
          </p:sp>
        </mc:Choice>
        <mc:Fallback xmlns="">
          <p:sp>
            <p:nvSpPr>
              <p:cNvPr id="5" name="ZoneTexte 4">
                <a:extLst>
                  <a:ext uri="{FF2B5EF4-FFF2-40B4-BE49-F238E27FC236}">
                    <a16:creationId xmlns:a16="http://schemas.microsoft.com/office/drawing/2014/main" id="{5D5321D2-60FB-B695-EE93-40D48F33903E}"/>
                  </a:ext>
                </a:extLst>
              </p:cNvPr>
              <p:cNvSpPr txBox="1">
                <a:spLocks noRot="1" noChangeAspect="1" noMove="1" noResize="1" noEditPoints="1" noAdjustHandles="1" noChangeArrowheads="1" noChangeShapeType="1" noTextEdit="1"/>
              </p:cNvSpPr>
              <p:nvPr/>
            </p:nvSpPr>
            <p:spPr>
              <a:xfrm>
                <a:off x="1097156" y="5403084"/>
                <a:ext cx="424732" cy="246221"/>
              </a:xfrm>
              <a:prstGeom prst="rect">
                <a:avLst/>
              </a:prstGeom>
              <a:blipFill>
                <a:blip r:embed="rId3"/>
                <a:stretch>
                  <a:fillRect l="-14286" r="-5714" b="-1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6858E05B-0B70-5B8F-225F-A062A8B878D8}"/>
                  </a:ext>
                </a:extLst>
              </p:cNvPr>
              <p:cNvSpPr txBox="1"/>
              <p:nvPr/>
            </p:nvSpPr>
            <p:spPr>
              <a:xfrm>
                <a:off x="763522" y="3270847"/>
                <a:ext cx="108985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Sub>
                      <m:r>
                        <a:rPr lang="fr-FR" sz="1600" b="0" i="1" smtClean="0">
                          <a:latin typeface="Cambria Math" panose="02040503050406030204" pitchFamily="18" charset="0"/>
                        </a:rPr>
                        <m:t>=</m:t>
                      </m:r>
                      <m:r>
                        <a:rPr lang="fr-FR" sz="1600" b="0" i="1" smtClean="0">
                          <a:latin typeface="Cambria Math" panose="02040503050406030204" pitchFamily="18" charset="0"/>
                        </a:rPr>
                        <m:t>𝐷𝐸𝑇</m:t>
                      </m:r>
                    </m:oMath>
                  </m:oMathPara>
                </a14:m>
                <a:endParaRPr lang="en-GB" sz="1600" dirty="0"/>
              </a:p>
            </p:txBody>
          </p:sp>
        </mc:Choice>
        <mc:Fallback xmlns="">
          <p:sp>
            <p:nvSpPr>
              <p:cNvPr id="7" name="ZoneTexte 6">
                <a:extLst>
                  <a:ext uri="{FF2B5EF4-FFF2-40B4-BE49-F238E27FC236}">
                    <a16:creationId xmlns:a16="http://schemas.microsoft.com/office/drawing/2014/main" id="{6858E05B-0B70-5B8F-225F-A062A8B878D8}"/>
                  </a:ext>
                </a:extLst>
              </p:cNvPr>
              <p:cNvSpPr txBox="1">
                <a:spLocks noRot="1" noChangeAspect="1" noMove="1" noResize="1" noEditPoints="1" noAdjustHandles="1" noChangeArrowheads="1" noChangeShapeType="1" noTextEdit="1"/>
              </p:cNvSpPr>
              <p:nvPr/>
            </p:nvSpPr>
            <p:spPr>
              <a:xfrm>
                <a:off x="763522" y="3270847"/>
                <a:ext cx="1089850" cy="246221"/>
              </a:xfrm>
              <a:prstGeom prst="rect">
                <a:avLst/>
              </a:prstGeom>
              <a:blipFill>
                <a:blip r:embed="rId4"/>
                <a:stretch>
                  <a:fillRect l="-4651" t="-15000" r="-4651" b="-25000"/>
                </a:stretch>
              </a:blipFill>
            </p:spPr>
            <p:txBody>
              <a:bodyPr/>
              <a:lstStyle/>
              <a:p>
                <a:r>
                  <a:rPr lang="en-GB">
                    <a:noFill/>
                  </a:rPr>
                  <a:t> </a:t>
                </a:r>
              </a:p>
            </p:txBody>
          </p:sp>
        </mc:Fallback>
      </mc:AlternateContent>
      <p:sp>
        <p:nvSpPr>
          <p:cNvPr id="8" name="Rectangle : coins arrondis 7">
            <a:extLst>
              <a:ext uri="{FF2B5EF4-FFF2-40B4-BE49-F238E27FC236}">
                <a16:creationId xmlns:a16="http://schemas.microsoft.com/office/drawing/2014/main" id="{0407973A-75A7-92B0-45E7-8BDE214EF3B7}"/>
              </a:ext>
            </a:extLst>
          </p:cNvPr>
          <p:cNvSpPr/>
          <p:nvPr/>
        </p:nvSpPr>
        <p:spPr>
          <a:xfrm>
            <a:off x="1026160" y="4119541"/>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Connecteur droit avec flèche 9">
            <a:extLst>
              <a:ext uri="{FF2B5EF4-FFF2-40B4-BE49-F238E27FC236}">
                <a16:creationId xmlns:a16="http://schemas.microsoft.com/office/drawing/2014/main" id="{4B7F2BA1-5134-7454-C436-BD7A5C365EC4}"/>
              </a:ext>
            </a:extLst>
          </p:cNvPr>
          <p:cNvCxnSpPr>
            <a:stCxn id="8" idx="0"/>
            <a:endCxn id="7" idx="2"/>
          </p:cNvCxnSpPr>
          <p:nvPr/>
        </p:nvCxnSpPr>
        <p:spPr>
          <a:xfrm flipV="1">
            <a:off x="1305560" y="3517068"/>
            <a:ext cx="2887"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Connecteur droit avec flèche 11">
            <a:extLst>
              <a:ext uri="{FF2B5EF4-FFF2-40B4-BE49-F238E27FC236}">
                <a16:creationId xmlns:a16="http://schemas.microsoft.com/office/drawing/2014/main" id="{7B89171E-8001-B04B-65FA-771BFA03C533}"/>
              </a:ext>
            </a:extLst>
          </p:cNvPr>
          <p:cNvCxnSpPr>
            <a:cxnSpLocks/>
            <a:stCxn id="5" idx="0"/>
            <a:endCxn id="8" idx="2"/>
          </p:cNvCxnSpPr>
          <p:nvPr/>
        </p:nvCxnSpPr>
        <p:spPr>
          <a:xfrm flipH="1" flipV="1">
            <a:off x="1305560" y="4881541"/>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5" name="ZoneTexte 24">
                <a:extLst>
                  <a:ext uri="{FF2B5EF4-FFF2-40B4-BE49-F238E27FC236}">
                    <a16:creationId xmlns:a16="http://schemas.microsoft.com/office/drawing/2014/main" id="{0BEA7A2E-76EC-C228-402F-7BDD7EF6024F}"/>
                  </a:ext>
                </a:extLst>
              </p:cNvPr>
              <p:cNvSpPr txBox="1"/>
              <p:nvPr/>
            </p:nvSpPr>
            <p:spPr>
              <a:xfrm>
                <a:off x="1732404" y="4119541"/>
                <a:ext cx="42934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Sub>
                    </m:oMath>
                  </m:oMathPara>
                </a14:m>
                <a:endParaRPr lang="en-GB" sz="1600" dirty="0"/>
              </a:p>
            </p:txBody>
          </p:sp>
        </mc:Choice>
        <mc:Fallback xmlns="">
          <p:sp>
            <p:nvSpPr>
              <p:cNvPr id="25" name="ZoneTexte 24">
                <a:extLst>
                  <a:ext uri="{FF2B5EF4-FFF2-40B4-BE49-F238E27FC236}">
                    <a16:creationId xmlns:a16="http://schemas.microsoft.com/office/drawing/2014/main" id="{0BEA7A2E-76EC-C228-402F-7BDD7EF6024F}"/>
                  </a:ext>
                </a:extLst>
              </p:cNvPr>
              <p:cNvSpPr txBox="1">
                <a:spLocks noRot="1" noChangeAspect="1" noMove="1" noResize="1" noEditPoints="1" noAdjustHandles="1" noChangeArrowheads="1" noChangeShapeType="1" noTextEdit="1"/>
              </p:cNvSpPr>
              <p:nvPr/>
            </p:nvSpPr>
            <p:spPr>
              <a:xfrm>
                <a:off x="1732404" y="4119541"/>
                <a:ext cx="429348" cy="246221"/>
              </a:xfrm>
              <a:prstGeom prst="rect">
                <a:avLst/>
              </a:prstGeom>
              <a:blipFill>
                <a:blip r:embed="rId5"/>
                <a:stretch>
                  <a:fillRect l="-11429" r="-2857"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ZoneTexte 13">
                <a:extLst>
                  <a:ext uri="{FF2B5EF4-FFF2-40B4-BE49-F238E27FC236}">
                    <a16:creationId xmlns:a16="http://schemas.microsoft.com/office/drawing/2014/main" id="{D1AD3CE6-14B5-6BB3-7AC8-DA98828ADF0E}"/>
                  </a:ext>
                </a:extLst>
              </p:cNvPr>
              <p:cNvSpPr txBox="1"/>
              <p:nvPr/>
            </p:nvSpPr>
            <p:spPr>
              <a:xfrm>
                <a:off x="2371220" y="5409180"/>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r>
                            <a:rPr lang="fr-FR" sz="1600" b="0" i="1" smtClean="0">
                              <a:latin typeface="Cambria Math" panose="02040503050406030204" pitchFamily="18" charset="0"/>
                            </a:rPr>
                            <m:t>=2</m:t>
                          </m:r>
                        </m:sub>
                      </m:sSub>
                    </m:oMath>
                  </m:oMathPara>
                </a14:m>
                <a:endParaRPr lang="en-GB" sz="1600" dirty="0"/>
              </a:p>
            </p:txBody>
          </p:sp>
        </mc:Choice>
        <mc:Fallback xmlns="">
          <p:sp>
            <p:nvSpPr>
              <p:cNvPr id="14" name="ZoneTexte 13">
                <a:extLst>
                  <a:ext uri="{FF2B5EF4-FFF2-40B4-BE49-F238E27FC236}">
                    <a16:creationId xmlns:a16="http://schemas.microsoft.com/office/drawing/2014/main" id="{D1AD3CE6-14B5-6BB3-7AC8-DA98828ADF0E}"/>
                  </a:ext>
                </a:extLst>
              </p:cNvPr>
              <p:cNvSpPr txBox="1">
                <a:spLocks noRot="1" noChangeAspect="1" noMove="1" noResize="1" noEditPoints="1" noAdjustHandles="1" noChangeArrowheads="1" noChangeShapeType="1" noTextEdit="1"/>
              </p:cNvSpPr>
              <p:nvPr/>
            </p:nvSpPr>
            <p:spPr>
              <a:xfrm>
                <a:off x="2371220" y="5409180"/>
                <a:ext cx="424732" cy="246221"/>
              </a:xfrm>
              <a:prstGeom prst="rect">
                <a:avLst/>
              </a:prstGeom>
              <a:blipFill>
                <a:blip r:embed="rId6"/>
                <a:stretch>
                  <a:fillRect l="-14286" r="-5714" b="-1428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ZoneTexte 14">
                <a:extLst>
                  <a:ext uri="{FF2B5EF4-FFF2-40B4-BE49-F238E27FC236}">
                    <a16:creationId xmlns:a16="http://schemas.microsoft.com/office/drawing/2014/main" id="{09D40932-79ED-67A4-AA9F-76AAB059E3D6}"/>
                  </a:ext>
                </a:extLst>
              </p:cNvPr>
              <p:cNvSpPr txBox="1"/>
              <p:nvPr/>
            </p:nvSpPr>
            <p:spPr>
              <a:xfrm>
                <a:off x="1951086" y="3276943"/>
                <a:ext cx="1279517"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r>
                            <a:rPr lang="fr-FR" sz="1600" b="0" i="1" smtClean="0">
                              <a:latin typeface="Cambria Math" panose="02040503050406030204" pitchFamily="18" charset="0"/>
                            </a:rPr>
                            <m:t>=2</m:t>
                          </m:r>
                        </m:sub>
                      </m:sSub>
                      <m:r>
                        <a:rPr lang="fr-FR" sz="1600" b="0" i="1" smtClean="0">
                          <a:latin typeface="Cambria Math" panose="02040503050406030204" pitchFamily="18" charset="0"/>
                        </a:rPr>
                        <m:t>=</m:t>
                      </m:r>
                      <m:r>
                        <a:rPr lang="fr-FR" sz="1600" b="0" i="1" smtClean="0">
                          <a:latin typeface="Cambria Math" panose="02040503050406030204" pitchFamily="18" charset="0"/>
                        </a:rPr>
                        <m:t>𝑁𝑂𝑈𝑁</m:t>
                      </m:r>
                    </m:oMath>
                  </m:oMathPara>
                </a14:m>
                <a:endParaRPr lang="en-GB" sz="1600" dirty="0"/>
              </a:p>
            </p:txBody>
          </p:sp>
        </mc:Choice>
        <mc:Fallback xmlns="">
          <p:sp>
            <p:nvSpPr>
              <p:cNvPr id="15" name="ZoneTexte 14">
                <a:extLst>
                  <a:ext uri="{FF2B5EF4-FFF2-40B4-BE49-F238E27FC236}">
                    <a16:creationId xmlns:a16="http://schemas.microsoft.com/office/drawing/2014/main" id="{09D40932-79ED-67A4-AA9F-76AAB059E3D6}"/>
                  </a:ext>
                </a:extLst>
              </p:cNvPr>
              <p:cNvSpPr txBox="1">
                <a:spLocks noRot="1" noChangeAspect="1" noMove="1" noResize="1" noEditPoints="1" noAdjustHandles="1" noChangeArrowheads="1" noChangeShapeType="1" noTextEdit="1"/>
              </p:cNvSpPr>
              <p:nvPr/>
            </p:nvSpPr>
            <p:spPr>
              <a:xfrm>
                <a:off x="1951086" y="3276943"/>
                <a:ext cx="1279517" cy="246221"/>
              </a:xfrm>
              <a:prstGeom prst="rect">
                <a:avLst/>
              </a:prstGeom>
              <a:blipFill>
                <a:blip r:embed="rId7"/>
                <a:stretch>
                  <a:fillRect l="-3922" t="-20000" r="-2941" b="-20000"/>
                </a:stretch>
              </a:blipFill>
            </p:spPr>
            <p:txBody>
              <a:bodyPr/>
              <a:lstStyle/>
              <a:p>
                <a:r>
                  <a:rPr lang="en-GB">
                    <a:noFill/>
                  </a:rPr>
                  <a:t> </a:t>
                </a:r>
              </a:p>
            </p:txBody>
          </p:sp>
        </mc:Fallback>
      </mc:AlternateContent>
      <p:sp>
        <p:nvSpPr>
          <p:cNvPr id="16" name="Rectangle : coins arrondis 15">
            <a:extLst>
              <a:ext uri="{FF2B5EF4-FFF2-40B4-BE49-F238E27FC236}">
                <a16:creationId xmlns:a16="http://schemas.microsoft.com/office/drawing/2014/main" id="{CD70D6D1-7B4C-D2E7-2D12-CAB969D7C83B}"/>
              </a:ext>
            </a:extLst>
          </p:cNvPr>
          <p:cNvSpPr/>
          <p:nvPr/>
        </p:nvSpPr>
        <p:spPr>
          <a:xfrm>
            <a:off x="2300224" y="4125637"/>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7" name="Connecteur droit avec flèche 16">
            <a:extLst>
              <a:ext uri="{FF2B5EF4-FFF2-40B4-BE49-F238E27FC236}">
                <a16:creationId xmlns:a16="http://schemas.microsoft.com/office/drawing/2014/main" id="{6022CBD3-8897-E02A-3943-889990C3C194}"/>
              </a:ext>
            </a:extLst>
          </p:cNvPr>
          <p:cNvCxnSpPr>
            <a:stCxn id="16" idx="0"/>
            <a:endCxn id="15" idx="2"/>
          </p:cNvCxnSpPr>
          <p:nvPr/>
        </p:nvCxnSpPr>
        <p:spPr>
          <a:xfrm flipV="1">
            <a:off x="2579624" y="3523164"/>
            <a:ext cx="11221"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371E95D8-B2B9-D5D2-FFA7-AA147F309D7F}"/>
              </a:ext>
            </a:extLst>
          </p:cNvPr>
          <p:cNvCxnSpPr>
            <a:cxnSpLocks/>
            <a:stCxn id="14" idx="0"/>
            <a:endCxn id="16" idx="2"/>
          </p:cNvCxnSpPr>
          <p:nvPr/>
        </p:nvCxnSpPr>
        <p:spPr>
          <a:xfrm flipH="1" flipV="1">
            <a:off x="2579624" y="4887637"/>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B5679E11-6C2B-9CA0-42FC-9B3808098CA4}"/>
                  </a:ext>
                </a:extLst>
              </p:cNvPr>
              <p:cNvSpPr txBox="1"/>
              <p:nvPr/>
            </p:nvSpPr>
            <p:spPr>
              <a:xfrm>
                <a:off x="3645284" y="5415276"/>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r>
                            <a:rPr lang="fr-FR" sz="1600" b="0" i="1" smtClean="0">
                              <a:latin typeface="Cambria Math" panose="02040503050406030204" pitchFamily="18" charset="0"/>
                            </a:rPr>
                            <m:t>=3</m:t>
                          </m:r>
                        </m:sub>
                      </m:sSub>
                    </m:oMath>
                  </m:oMathPara>
                </a14:m>
                <a:endParaRPr lang="en-GB" sz="1600" dirty="0"/>
              </a:p>
            </p:txBody>
          </p:sp>
        </mc:Choice>
        <mc:Fallback xmlns="">
          <p:sp>
            <p:nvSpPr>
              <p:cNvPr id="19" name="ZoneTexte 18">
                <a:extLst>
                  <a:ext uri="{FF2B5EF4-FFF2-40B4-BE49-F238E27FC236}">
                    <a16:creationId xmlns:a16="http://schemas.microsoft.com/office/drawing/2014/main" id="{A5F5AD6B-CB94-167F-DAF7-043BF63CA6D1}"/>
                  </a:ext>
                </a:extLst>
              </p:cNvPr>
              <p:cNvSpPr txBox="1">
                <a:spLocks noRot="1" noChangeAspect="1" noMove="1" noResize="1" noEditPoints="1" noAdjustHandles="1" noChangeArrowheads="1" noChangeShapeType="1" noTextEdit="1"/>
              </p:cNvSpPr>
              <p:nvPr/>
            </p:nvSpPr>
            <p:spPr>
              <a:xfrm>
                <a:off x="3645284" y="5415276"/>
                <a:ext cx="424732" cy="246221"/>
              </a:xfrm>
              <a:prstGeom prst="rect">
                <a:avLst/>
              </a:prstGeom>
              <a:blipFill>
                <a:blip r:embed="rId8"/>
                <a:stretch>
                  <a:fillRect l="-14706" r="-8824" b="-1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ZoneTexte 19">
                <a:extLst>
                  <a:ext uri="{FF2B5EF4-FFF2-40B4-BE49-F238E27FC236}">
                    <a16:creationId xmlns:a16="http://schemas.microsoft.com/office/drawing/2014/main" id="{21A74012-A128-ACF2-082A-BFDB2CEC4088}"/>
                  </a:ext>
                </a:extLst>
              </p:cNvPr>
              <p:cNvSpPr txBox="1"/>
              <p:nvPr/>
            </p:nvSpPr>
            <p:spPr>
              <a:xfrm>
                <a:off x="3249862" y="3283039"/>
                <a:ext cx="1220719"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r>
                            <a:rPr lang="fr-FR" sz="1600" b="0" i="1" smtClean="0">
                              <a:latin typeface="Cambria Math" panose="02040503050406030204" pitchFamily="18" charset="0"/>
                            </a:rPr>
                            <m:t>=3</m:t>
                          </m:r>
                        </m:sub>
                      </m:sSub>
                      <m:r>
                        <a:rPr lang="fr-FR" sz="1600" b="0" i="1" smtClean="0">
                          <a:latin typeface="Cambria Math" panose="02040503050406030204" pitchFamily="18" charset="0"/>
                        </a:rPr>
                        <m:t>=</m:t>
                      </m:r>
                      <m:r>
                        <a:rPr lang="fr-FR" sz="1600" b="0" i="1" smtClean="0">
                          <a:latin typeface="Cambria Math" panose="02040503050406030204" pitchFamily="18" charset="0"/>
                        </a:rPr>
                        <m:t>𝑉𝐸𝑅𝐵</m:t>
                      </m:r>
                    </m:oMath>
                  </m:oMathPara>
                </a14:m>
                <a:endParaRPr lang="en-GB" sz="1600" dirty="0"/>
              </a:p>
            </p:txBody>
          </p:sp>
        </mc:Choice>
        <mc:Fallback xmlns="">
          <p:sp>
            <p:nvSpPr>
              <p:cNvPr id="20" name="ZoneTexte 19">
                <a:extLst>
                  <a:ext uri="{FF2B5EF4-FFF2-40B4-BE49-F238E27FC236}">
                    <a16:creationId xmlns:a16="http://schemas.microsoft.com/office/drawing/2014/main" id="{21A74012-A128-ACF2-082A-BFDB2CEC4088}"/>
                  </a:ext>
                </a:extLst>
              </p:cNvPr>
              <p:cNvSpPr txBox="1">
                <a:spLocks noRot="1" noChangeAspect="1" noMove="1" noResize="1" noEditPoints="1" noAdjustHandles="1" noChangeArrowheads="1" noChangeShapeType="1" noTextEdit="1"/>
              </p:cNvSpPr>
              <p:nvPr/>
            </p:nvSpPr>
            <p:spPr>
              <a:xfrm>
                <a:off x="3249862" y="3283039"/>
                <a:ext cx="1220719" cy="246221"/>
              </a:xfrm>
              <a:prstGeom prst="rect">
                <a:avLst/>
              </a:prstGeom>
              <a:blipFill>
                <a:blip r:embed="rId9"/>
                <a:stretch>
                  <a:fillRect l="-3093" t="-15000" r="-4124" b="-25000"/>
                </a:stretch>
              </a:blipFill>
            </p:spPr>
            <p:txBody>
              <a:bodyPr/>
              <a:lstStyle/>
              <a:p>
                <a:r>
                  <a:rPr lang="en-GB">
                    <a:noFill/>
                  </a:rPr>
                  <a:t> </a:t>
                </a:r>
              </a:p>
            </p:txBody>
          </p:sp>
        </mc:Fallback>
      </mc:AlternateContent>
      <p:sp>
        <p:nvSpPr>
          <p:cNvPr id="21" name="Rectangle : coins arrondis 20">
            <a:extLst>
              <a:ext uri="{FF2B5EF4-FFF2-40B4-BE49-F238E27FC236}">
                <a16:creationId xmlns:a16="http://schemas.microsoft.com/office/drawing/2014/main" id="{FCCFA794-F902-0B43-194E-82B3BFA76E39}"/>
              </a:ext>
            </a:extLst>
          </p:cNvPr>
          <p:cNvSpPr/>
          <p:nvPr/>
        </p:nvSpPr>
        <p:spPr>
          <a:xfrm>
            <a:off x="3574288" y="4131733"/>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2" name="Connecteur droit avec flèche 21">
            <a:extLst>
              <a:ext uri="{FF2B5EF4-FFF2-40B4-BE49-F238E27FC236}">
                <a16:creationId xmlns:a16="http://schemas.microsoft.com/office/drawing/2014/main" id="{D094B5C5-A500-1DB0-E9F5-9235AB6F798C}"/>
              </a:ext>
            </a:extLst>
          </p:cNvPr>
          <p:cNvCxnSpPr>
            <a:stCxn id="21" idx="0"/>
            <a:endCxn id="20" idx="2"/>
          </p:cNvCxnSpPr>
          <p:nvPr/>
        </p:nvCxnSpPr>
        <p:spPr>
          <a:xfrm flipV="1">
            <a:off x="3853688" y="3529260"/>
            <a:ext cx="6534"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Connecteur droit avec flèche 22">
            <a:extLst>
              <a:ext uri="{FF2B5EF4-FFF2-40B4-BE49-F238E27FC236}">
                <a16:creationId xmlns:a16="http://schemas.microsoft.com/office/drawing/2014/main" id="{488C4585-B876-60FF-3001-1B411E8DFCAB}"/>
              </a:ext>
            </a:extLst>
          </p:cNvPr>
          <p:cNvCxnSpPr>
            <a:cxnSpLocks/>
            <a:stCxn id="19" idx="0"/>
            <a:endCxn id="21" idx="2"/>
          </p:cNvCxnSpPr>
          <p:nvPr/>
        </p:nvCxnSpPr>
        <p:spPr>
          <a:xfrm flipH="1" flipV="1">
            <a:off x="3853688" y="4893733"/>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8" name="ZoneTexte 27">
                <a:extLst>
                  <a:ext uri="{FF2B5EF4-FFF2-40B4-BE49-F238E27FC236}">
                    <a16:creationId xmlns:a16="http://schemas.microsoft.com/office/drawing/2014/main" id="{B0A8C83F-38F4-CE78-A77D-C9932D680B79}"/>
                  </a:ext>
                </a:extLst>
              </p:cNvPr>
              <p:cNvSpPr txBox="1"/>
              <p:nvPr/>
            </p:nvSpPr>
            <p:spPr>
              <a:xfrm>
                <a:off x="4907156" y="5421372"/>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r>
                            <a:rPr lang="fr-FR" sz="1600" b="0" i="1" smtClean="0">
                              <a:latin typeface="Cambria Math" panose="02040503050406030204" pitchFamily="18" charset="0"/>
                            </a:rPr>
                            <m:t>=4</m:t>
                          </m:r>
                        </m:sub>
                      </m:sSub>
                    </m:oMath>
                  </m:oMathPara>
                </a14:m>
                <a:endParaRPr lang="en-GB" sz="1600" dirty="0"/>
              </a:p>
            </p:txBody>
          </p:sp>
        </mc:Choice>
        <mc:Fallback xmlns="">
          <p:sp>
            <p:nvSpPr>
              <p:cNvPr id="28" name="ZoneTexte 27">
                <a:extLst>
                  <a:ext uri="{FF2B5EF4-FFF2-40B4-BE49-F238E27FC236}">
                    <a16:creationId xmlns:a16="http://schemas.microsoft.com/office/drawing/2014/main" id="{1DE384AB-84DD-4820-578E-AE72F793F00C}"/>
                  </a:ext>
                </a:extLst>
              </p:cNvPr>
              <p:cNvSpPr txBox="1">
                <a:spLocks noRot="1" noChangeAspect="1" noMove="1" noResize="1" noEditPoints="1" noAdjustHandles="1" noChangeArrowheads="1" noChangeShapeType="1" noTextEdit="1"/>
              </p:cNvSpPr>
              <p:nvPr/>
            </p:nvSpPr>
            <p:spPr>
              <a:xfrm>
                <a:off x="4907156" y="5421372"/>
                <a:ext cx="424732" cy="246221"/>
              </a:xfrm>
              <a:prstGeom prst="rect">
                <a:avLst/>
              </a:prstGeom>
              <a:blipFill>
                <a:blip r:embed="rId10"/>
                <a:stretch>
                  <a:fillRect l="-14286" r="-5714" b="-1428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ZoneTexte 28">
                <a:extLst>
                  <a:ext uri="{FF2B5EF4-FFF2-40B4-BE49-F238E27FC236}">
                    <a16:creationId xmlns:a16="http://schemas.microsoft.com/office/drawing/2014/main" id="{832BD85E-2FED-95CE-2A91-A91D4DE31620}"/>
                  </a:ext>
                </a:extLst>
              </p:cNvPr>
              <p:cNvSpPr txBox="1"/>
              <p:nvPr/>
            </p:nvSpPr>
            <p:spPr>
              <a:xfrm>
                <a:off x="4598231" y="3289135"/>
                <a:ext cx="104772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r>
                            <a:rPr lang="fr-FR" sz="1600" b="0" i="1" smtClean="0">
                              <a:latin typeface="Cambria Math" panose="02040503050406030204" pitchFamily="18" charset="0"/>
                            </a:rPr>
                            <m:t>=4</m:t>
                          </m:r>
                        </m:sub>
                      </m:sSub>
                      <m:r>
                        <a:rPr lang="fr-FR" sz="1600" b="0" i="1" smtClean="0">
                          <a:latin typeface="Cambria Math" panose="02040503050406030204" pitchFamily="18" charset="0"/>
                        </a:rPr>
                        <m:t>=</m:t>
                      </m:r>
                      <m:r>
                        <a:rPr lang="fr-FR" sz="1600" b="0" i="1" smtClean="0">
                          <a:latin typeface="Cambria Math" panose="02040503050406030204" pitchFamily="18" charset="0"/>
                        </a:rPr>
                        <m:t>𝐴𝐷𝐽</m:t>
                      </m:r>
                    </m:oMath>
                  </m:oMathPara>
                </a14:m>
                <a:endParaRPr lang="en-GB" sz="1600" dirty="0"/>
              </a:p>
            </p:txBody>
          </p:sp>
        </mc:Choice>
        <mc:Fallback xmlns="">
          <p:sp>
            <p:nvSpPr>
              <p:cNvPr id="29" name="ZoneTexte 28">
                <a:extLst>
                  <a:ext uri="{FF2B5EF4-FFF2-40B4-BE49-F238E27FC236}">
                    <a16:creationId xmlns:a16="http://schemas.microsoft.com/office/drawing/2014/main" id="{832BD85E-2FED-95CE-2A91-A91D4DE31620}"/>
                  </a:ext>
                </a:extLst>
              </p:cNvPr>
              <p:cNvSpPr txBox="1">
                <a:spLocks noRot="1" noChangeAspect="1" noMove="1" noResize="1" noEditPoints="1" noAdjustHandles="1" noChangeArrowheads="1" noChangeShapeType="1" noTextEdit="1"/>
              </p:cNvSpPr>
              <p:nvPr/>
            </p:nvSpPr>
            <p:spPr>
              <a:xfrm>
                <a:off x="4598231" y="3289135"/>
                <a:ext cx="1047723" cy="246221"/>
              </a:xfrm>
              <a:prstGeom prst="rect">
                <a:avLst/>
              </a:prstGeom>
              <a:blipFill>
                <a:blip r:embed="rId11"/>
                <a:stretch>
                  <a:fillRect l="-3571" t="-20000" r="-5952" b="-30000"/>
                </a:stretch>
              </a:blipFill>
            </p:spPr>
            <p:txBody>
              <a:bodyPr/>
              <a:lstStyle/>
              <a:p>
                <a:r>
                  <a:rPr lang="en-GB">
                    <a:noFill/>
                  </a:rPr>
                  <a:t> </a:t>
                </a:r>
              </a:p>
            </p:txBody>
          </p:sp>
        </mc:Fallback>
      </mc:AlternateContent>
      <p:sp>
        <p:nvSpPr>
          <p:cNvPr id="30" name="Rectangle : coins arrondis 29">
            <a:extLst>
              <a:ext uri="{FF2B5EF4-FFF2-40B4-BE49-F238E27FC236}">
                <a16:creationId xmlns:a16="http://schemas.microsoft.com/office/drawing/2014/main" id="{354B2057-1A28-9749-A194-D95AA26C8A6E}"/>
              </a:ext>
            </a:extLst>
          </p:cNvPr>
          <p:cNvSpPr/>
          <p:nvPr/>
        </p:nvSpPr>
        <p:spPr>
          <a:xfrm>
            <a:off x="4836160" y="4137829"/>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1" name="Connecteur droit avec flèche 30">
            <a:extLst>
              <a:ext uri="{FF2B5EF4-FFF2-40B4-BE49-F238E27FC236}">
                <a16:creationId xmlns:a16="http://schemas.microsoft.com/office/drawing/2014/main" id="{6E27C60D-0C13-B621-AAC6-028458CD0437}"/>
              </a:ext>
            </a:extLst>
          </p:cNvPr>
          <p:cNvCxnSpPr>
            <a:stCxn id="30" idx="0"/>
            <a:endCxn id="29" idx="2"/>
          </p:cNvCxnSpPr>
          <p:nvPr/>
        </p:nvCxnSpPr>
        <p:spPr>
          <a:xfrm flipV="1">
            <a:off x="5115560" y="3535356"/>
            <a:ext cx="6533"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CAB65C0B-276D-45DF-8100-A03D982248E2}"/>
              </a:ext>
            </a:extLst>
          </p:cNvPr>
          <p:cNvCxnSpPr>
            <a:cxnSpLocks/>
            <a:stCxn id="28" idx="0"/>
            <a:endCxn id="30" idx="2"/>
          </p:cNvCxnSpPr>
          <p:nvPr/>
        </p:nvCxnSpPr>
        <p:spPr>
          <a:xfrm flipH="1" flipV="1">
            <a:off x="5115560" y="4899829"/>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3" name="ZoneTexte 32">
                <a:extLst>
                  <a:ext uri="{FF2B5EF4-FFF2-40B4-BE49-F238E27FC236}">
                    <a16:creationId xmlns:a16="http://schemas.microsoft.com/office/drawing/2014/main" id="{2305DF4A-81DC-21C7-FABA-DF4C0E1584C0}"/>
                  </a:ext>
                </a:extLst>
              </p:cNvPr>
              <p:cNvSpPr txBox="1"/>
              <p:nvPr/>
            </p:nvSpPr>
            <p:spPr>
              <a:xfrm>
                <a:off x="2981240" y="4119541"/>
                <a:ext cx="42934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=2</m:t>
                          </m:r>
                        </m:sub>
                      </m:sSub>
                    </m:oMath>
                  </m:oMathPara>
                </a14:m>
                <a:endParaRPr lang="en-GB" sz="1600" dirty="0"/>
              </a:p>
            </p:txBody>
          </p:sp>
        </mc:Choice>
        <mc:Fallback xmlns="">
          <p:sp>
            <p:nvSpPr>
              <p:cNvPr id="33" name="ZoneTexte 32">
                <a:extLst>
                  <a:ext uri="{FF2B5EF4-FFF2-40B4-BE49-F238E27FC236}">
                    <a16:creationId xmlns:a16="http://schemas.microsoft.com/office/drawing/2014/main" id="{BBE09889-E286-85E8-613D-C500FA39DF50}"/>
                  </a:ext>
                </a:extLst>
              </p:cNvPr>
              <p:cNvSpPr txBox="1">
                <a:spLocks noRot="1" noChangeAspect="1" noMove="1" noResize="1" noEditPoints="1" noAdjustHandles="1" noChangeArrowheads="1" noChangeShapeType="1" noTextEdit="1"/>
              </p:cNvSpPr>
              <p:nvPr/>
            </p:nvSpPr>
            <p:spPr>
              <a:xfrm>
                <a:off x="2981240" y="4119541"/>
                <a:ext cx="429348" cy="246221"/>
              </a:xfrm>
              <a:prstGeom prst="rect">
                <a:avLst/>
              </a:prstGeom>
              <a:blipFill>
                <a:blip r:embed="rId12"/>
                <a:stretch>
                  <a:fillRect l="-11429" r="-5714"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ZoneTexte 33">
                <a:extLst>
                  <a:ext uri="{FF2B5EF4-FFF2-40B4-BE49-F238E27FC236}">
                    <a16:creationId xmlns:a16="http://schemas.microsoft.com/office/drawing/2014/main" id="{EF727FDC-95D0-7588-35EF-E2067FD5F1B2}"/>
                  </a:ext>
                </a:extLst>
              </p:cNvPr>
              <p:cNvSpPr txBox="1"/>
              <p:nvPr/>
            </p:nvSpPr>
            <p:spPr>
              <a:xfrm>
                <a:off x="4296788" y="4127330"/>
                <a:ext cx="42934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=3</m:t>
                          </m:r>
                        </m:sub>
                      </m:sSub>
                    </m:oMath>
                  </m:oMathPara>
                </a14:m>
                <a:endParaRPr lang="en-GB" sz="1600" dirty="0"/>
              </a:p>
            </p:txBody>
          </p:sp>
        </mc:Choice>
        <mc:Fallback xmlns="">
          <p:sp>
            <p:nvSpPr>
              <p:cNvPr id="34" name="ZoneTexte 33">
                <a:extLst>
                  <a:ext uri="{FF2B5EF4-FFF2-40B4-BE49-F238E27FC236}">
                    <a16:creationId xmlns:a16="http://schemas.microsoft.com/office/drawing/2014/main" id="{BBC89DC5-3598-2AD2-9010-66F25D7A1B84}"/>
                  </a:ext>
                </a:extLst>
              </p:cNvPr>
              <p:cNvSpPr txBox="1">
                <a:spLocks noRot="1" noChangeAspect="1" noMove="1" noResize="1" noEditPoints="1" noAdjustHandles="1" noChangeArrowheads="1" noChangeShapeType="1" noTextEdit="1"/>
              </p:cNvSpPr>
              <p:nvPr/>
            </p:nvSpPr>
            <p:spPr>
              <a:xfrm>
                <a:off x="4296788" y="4127330"/>
                <a:ext cx="429348" cy="246221"/>
              </a:xfrm>
              <a:prstGeom prst="rect">
                <a:avLst/>
              </a:prstGeom>
              <a:blipFill>
                <a:blip r:embed="rId13"/>
                <a:stretch>
                  <a:fillRect l="-11765" r="-5882" b="-14286"/>
                </a:stretch>
              </a:blipFill>
            </p:spPr>
            <p:txBody>
              <a:bodyPr/>
              <a:lstStyle/>
              <a:p>
                <a:r>
                  <a:rPr lang="en-GB">
                    <a:noFill/>
                  </a:rPr>
                  <a:t> </a:t>
                </a:r>
              </a:p>
            </p:txBody>
          </p:sp>
        </mc:Fallback>
      </mc:AlternateContent>
      <p:cxnSp>
        <p:nvCxnSpPr>
          <p:cNvPr id="36" name="Connecteur droit avec flèche 35">
            <a:extLst>
              <a:ext uri="{FF2B5EF4-FFF2-40B4-BE49-F238E27FC236}">
                <a16:creationId xmlns:a16="http://schemas.microsoft.com/office/drawing/2014/main" id="{EACC4D70-2294-E0FE-4304-3EBE179F8F72}"/>
              </a:ext>
            </a:extLst>
          </p:cNvPr>
          <p:cNvCxnSpPr>
            <a:stCxn id="8" idx="3"/>
            <a:endCxn id="16" idx="1"/>
          </p:cNvCxnSpPr>
          <p:nvPr/>
        </p:nvCxnSpPr>
        <p:spPr>
          <a:xfrm>
            <a:off x="1584960" y="4500541"/>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Connecteur droit avec flèche 36">
            <a:extLst>
              <a:ext uri="{FF2B5EF4-FFF2-40B4-BE49-F238E27FC236}">
                <a16:creationId xmlns:a16="http://schemas.microsoft.com/office/drawing/2014/main" id="{135D4772-E352-0111-3503-F02BB705C10C}"/>
              </a:ext>
            </a:extLst>
          </p:cNvPr>
          <p:cNvCxnSpPr/>
          <p:nvPr/>
        </p:nvCxnSpPr>
        <p:spPr>
          <a:xfrm>
            <a:off x="2859024" y="451882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Connecteur droit avec flèche 37">
            <a:extLst>
              <a:ext uri="{FF2B5EF4-FFF2-40B4-BE49-F238E27FC236}">
                <a16:creationId xmlns:a16="http://schemas.microsoft.com/office/drawing/2014/main" id="{573E4691-2ADE-CE73-468A-09F26116C30F}"/>
              </a:ext>
            </a:extLst>
          </p:cNvPr>
          <p:cNvCxnSpPr/>
          <p:nvPr/>
        </p:nvCxnSpPr>
        <p:spPr>
          <a:xfrm>
            <a:off x="4129620" y="451882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9" name="ZoneTexte 38">
            <a:extLst>
              <a:ext uri="{FF2B5EF4-FFF2-40B4-BE49-F238E27FC236}">
                <a16:creationId xmlns:a16="http://schemas.microsoft.com/office/drawing/2014/main" id="{238F2D49-35B7-2147-914F-F8E4B59A40CD}"/>
              </a:ext>
            </a:extLst>
          </p:cNvPr>
          <p:cNvSpPr txBox="1"/>
          <p:nvPr/>
        </p:nvSpPr>
        <p:spPr>
          <a:xfrm>
            <a:off x="1019172" y="5724572"/>
            <a:ext cx="1426464" cy="400110"/>
          </a:xfrm>
          <a:prstGeom prst="rect">
            <a:avLst/>
          </a:prstGeom>
          <a:noFill/>
        </p:spPr>
        <p:txBody>
          <a:bodyPr wrap="square" rtlCol="0">
            <a:spAutoFit/>
          </a:bodyPr>
          <a:lstStyle/>
          <a:p>
            <a:r>
              <a:rPr lang="en-GB" sz="1000" dirty="0"/>
              <a:t>“The”</a:t>
            </a:r>
          </a:p>
          <a:p>
            <a:r>
              <a:rPr lang="en-GB" sz="1000" dirty="0"/>
              <a:t>[0.00154, 0.58..]</a:t>
            </a:r>
          </a:p>
        </p:txBody>
      </p:sp>
      <p:sp>
        <p:nvSpPr>
          <p:cNvPr id="40" name="ZoneTexte 39">
            <a:extLst>
              <a:ext uri="{FF2B5EF4-FFF2-40B4-BE49-F238E27FC236}">
                <a16:creationId xmlns:a16="http://schemas.microsoft.com/office/drawing/2014/main" id="{EBB3D14D-D75D-93F2-D497-29C563FFF982}"/>
              </a:ext>
            </a:extLst>
          </p:cNvPr>
          <p:cNvSpPr txBox="1"/>
          <p:nvPr/>
        </p:nvSpPr>
        <p:spPr>
          <a:xfrm>
            <a:off x="2174516" y="5747158"/>
            <a:ext cx="1093032" cy="400110"/>
          </a:xfrm>
          <a:prstGeom prst="rect">
            <a:avLst/>
          </a:prstGeom>
          <a:noFill/>
        </p:spPr>
        <p:txBody>
          <a:bodyPr wrap="square" rtlCol="0">
            <a:spAutoFit/>
          </a:bodyPr>
          <a:lstStyle/>
          <a:p>
            <a:r>
              <a:rPr lang="en-GB" sz="1000" dirty="0"/>
              <a:t>“dog”</a:t>
            </a:r>
          </a:p>
          <a:p>
            <a:r>
              <a:rPr lang="en-GB" sz="1000" dirty="0"/>
              <a:t>[0.0445, 0.078..]</a:t>
            </a:r>
          </a:p>
        </p:txBody>
      </p:sp>
      <p:sp>
        <p:nvSpPr>
          <p:cNvPr id="41" name="ZoneTexte 40">
            <a:extLst>
              <a:ext uri="{FF2B5EF4-FFF2-40B4-BE49-F238E27FC236}">
                <a16:creationId xmlns:a16="http://schemas.microsoft.com/office/drawing/2014/main" id="{817542E6-AD85-8701-3272-962BB402C1DF}"/>
              </a:ext>
            </a:extLst>
          </p:cNvPr>
          <p:cNvSpPr txBox="1"/>
          <p:nvPr/>
        </p:nvSpPr>
        <p:spPr>
          <a:xfrm>
            <a:off x="3520716" y="5747158"/>
            <a:ext cx="1093032" cy="400110"/>
          </a:xfrm>
          <a:prstGeom prst="rect">
            <a:avLst/>
          </a:prstGeom>
          <a:noFill/>
        </p:spPr>
        <p:txBody>
          <a:bodyPr wrap="square" rtlCol="0">
            <a:spAutoFit/>
          </a:bodyPr>
          <a:lstStyle/>
          <a:p>
            <a:r>
              <a:rPr lang="en-GB" sz="1000" dirty="0"/>
              <a:t>“looked”</a:t>
            </a:r>
          </a:p>
          <a:p>
            <a:r>
              <a:rPr lang="en-GB" sz="1000" dirty="0"/>
              <a:t>[0.0021, 0.008..]</a:t>
            </a:r>
          </a:p>
        </p:txBody>
      </p:sp>
      <p:sp>
        <p:nvSpPr>
          <p:cNvPr id="42" name="ZoneTexte 41">
            <a:extLst>
              <a:ext uri="{FF2B5EF4-FFF2-40B4-BE49-F238E27FC236}">
                <a16:creationId xmlns:a16="http://schemas.microsoft.com/office/drawing/2014/main" id="{B01DA3FD-1DC1-87D7-37E1-7D3312286ADB}"/>
              </a:ext>
            </a:extLst>
          </p:cNvPr>
          <p:cNvSpPr txBox="1"/>
          <p:nvPr/>
        </p:nvSpPr>
        <p:spPr>
          <a:xfrm>
            <a:off x="4836160" y="5747158"/>
            <a:ext cx="1093032" cy="400110"/>
          </a:xfrm>
          <a:prstGeom prst="rect">
            <a:avLst/>
          </a:prstGeom>
          <a:noFill/>
        </p:spPr>
        <p:txBody>
          <a:bodyPr wrap="square" rtlCol="0">
            <a:spAutoFit/>
          </a:bodyPr>
          <a:lstStyle/>
          <a:p>
            <a:r>
              <a:rPr lang="en-GB" sz="1000" dirty="0"/>
              <a:t>“guilty”</a:t>
            </a:r>
          </a:p>
          <a:p>
            <a:r>
              <a:rPr lang="en-GB" sz="1000" dirty="0"/>
              <a:t>[0.1821, 0.082..]</a:t>
            </a:r>
          </a:p>
        </p:txBody>
      </p:sp>
      <p:sp>
        <p:nvSpPr>
          <p:cNvPr id="44" name="ZoneTexte 43">
            <a:extLst>
              <a:ext uri="{FF2B5EF4-FFF2-40B4-BE49-F238E27FC236}">
                <a16:creationId xmlns:a16="http://schemas.microsoft.com/office/drawing/2014/main" id="{11C6C639-24DD-01B6-A829-B3CC56E2E522}"/>
              </a:ext>
            </a:extLst>
          </p:cNvPr>
          <p:cNvSpPr txBox="1"/>
          <p:nvPr/>
        </p:nvSpPr>
        <p:spPr>
          <a:xfrm>
            <a:off x="1933833" y="3003399"/>
            <a:ext cx="1640455" cy="246221"/>
          </a:xfrm>
          <a:prstGeom prst="rect">
            <a:avLst/>
          </a:prstGeom>
          <a:noFill/>
        </p:spPr>
        <p:txBody>
          <a:bodyPr wrap="square" rtlCol="0">
            <a:spAutoFit/>
          </a:bodyPr>
          <a:lstStyle/>
          <a:p>
            <a:r>
              <a:rPr lang="en-GB" sz="1000" dirty="0"/>
              <a:t>Generated from ”The dog”</a:t>
            </a:r>
          </a:p>
        </p:txBody>
      </p:sp>
      <p:sp>
        <p:nvSpPr>
          <p:cNvPr id="50" name="ZoneTexte 49">
            <a:extLst>
              <a:ext uri="{FF2B5EF4-FFF2-40B4-BE49-F238E27FC236}">
                <a16:creationId xmlns:a16="http://schemas.microsoft.com/office/drawing/2014/main" id="{64EB4D23-8601-0A57-EB8E-F90E2B1FC182}"/>
              </a:ext>
            </a:extLst>
          </p:cNvPr>
          <p:cNvSpPr txBox="1"/>
          <p:nvPr/>
        </p:nvSpPr>
        <p:spPr>
          <a:xfrm>
            <a:off x="6445399" y="3280548"/>
            <a:ext cx="5477346" cy="338554"/>
          </a:xfrm>
          <a:prstGeom prst="rect">
            <a:avLst/>
          </a:prstGeom>
          <a:noFill/>
          <a:ln>
            <a:solidFill>
              <a:schemeClr val="accent1">
                <a:shade val="15000"/>
              </a:schemeClr>
            </a:solidFill>
          </a:ln>
        </p:spPr>
        <p:txBody>
          <a:bodyPr wrap="square">
            <a:spAutoFit/>
          </a:bodyPr>
          <a:lstStyle/>
          <a:p>
            <a:r>
              <a:rPr lang="en-GB" sz="1600" dirty="0">
                <a:latin typeface="ui-sans-serif"/>
              </a:rPr>
              <a:t>At each time step, each output must be known</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FA0B0CD4-A0A7-CC49-2296-C4EF4B0D0C75}"/>
                  </a:ext>
                </a:extLst>
              </p:cNvPr>
              <p:cNvSpPr txBox="1"/>
              <p:nvPr/>
            </p:nvSpPr>
            <p:spPr>
              <a:xfrm>
                <a:off x="1254006" y="3580885"/>
                <a:ext cx="1104068" cy="2616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fr-FR" sz="1100" b="0" i="1" smtClean="0">
                          <a:solidFill>
                            <a:schemeClr val="bg1">
                              <a:lumMod val="50000"/>
                            </a:schemeClr>
                          </a:solidFill>
                          <a:latin typeface="Cambria Math" panose="02040503050406030204" pitchFamily="18" charset="0"/>
                        </a:rPr>
                        <m:t>𝑔</m:t>
                      </m:r>
                      <m:r>
                        <a:rPr lang="fr-FR" sz="1100" b="0" i="1" smtClean="0">
                          <a:solidFill>
                            <a:schemeClr val="bg1">
                              <a:lumMod val="50000"/>
                            </a:schemeClr>
                          </a:solidFill>
                          <a:latin typeface="Cambria Math" panose="02040503050406030204" pitchFamily="18" charset="0"/>
                        </a:rPr>
                        <m:t>=</m:t>
                      </m:r>
                      <m:r>
                        <a:rPr lang="fr-FR" sz="1100" b="0" i="1" smtClean="0">
                          <a:solidFill>
                            <a:schemeClr val="bg1">
                              <a:lumMod val="50000"/>
                            </a:schemeClr>
                          </a:solidFill>
                          <a:latin typeface="Cambria Math" panose="02040503050406030204" pitchFamily="18" charset="0"/>
                        </a:rPr>
                        <m:t>𝑠𝑜𝑓𝑡𝑚𝑎𝑥</m:t>
                      </m:r>
                    </m:oMath>
                  </m:oMathPara>
                </a14:m>
                <a:endParaRPr lang="en-GB" sz="1100" dirty="0"/>
              </a:p>
            </p:txBody>
          </p:sp>
        </mc:Choice>
        <mc:Fallback xmlns="">
          <p:sp>
            <p:nvSpPr>
              <p:cNvPr id="3" name="ZoneTexte 2">
                <a:extLst>
                  <a:ext uri="{FF2B5EF4-FFF2-40B4-BE49-F238E27FC236}">
                    <a16:creationId xmlns:a16="http://schemas.microsoft.com/office/drawing/2014/main" id="{FA0B0CD4-A0A7-CC49-2296-C4EF4B0D0C75}"/>
                  </a:ext>
                </a:extLst>
              </p:cNvPr>
              <p:cNvSpPr txBox="1">
                <a:spLocks noRot="1" noChangeAspect="1" noMove="1" noResize="1" noEditPoints="1" noAdjustHandles="1" noChangeArrowheads="1" noChangeShapeType="1" noTextEdit="1"/>
              </p:cNvSpPr>
              <p:nvPr/>
            </p:nvSpPr>
            <p:spPr>
              <a:xfrm>
                <a:off x="1254006" y="3580885"/>
                <a:ext cx="1104068" cy="261610"/>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A9D9E2F7-7C1D-3556-3DCA-099823085DDA}"/>
                  </a:ext>
                </a:extLst>
              </p:cNvPr>
              <p:cNvSpPr txBox="1"/>
              <p:nvPr/>
            </p:nvSpPr>
            <p:spPr>
              <a:xfrm>
                <a:off x="2528070" y="3584387"/>
                <a:ext cx="1104068" cy="2616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fr-FR" sz="1100" b="0" i="1" smtClean="0">
                          <a:solidFill>
                            <a:schemeClr val="bg1">
                              <a:lumMod val="50000"/>
                            </a:schemeClr>
                          </a:solidFill>
                          <a:latin typeface="Cambria Math" panose="02040503050406030204" pitchFamily="18" charset="0"/>
                        </a:rPr>
                        <m:t>𝑔</m:t>
                      </m:r>
                      <m:r>
                        <a:rPr lang="fr-FR" sz="1100" b="0" i="1" smtClean="0">
                          <a:solidFill>
                            <a:schemeClr val="bg1">
                              <a:lumMod val="50000"/>
                            </a:schemeClr>
                          </a:solidFill>
                          <a:latin typeface="Cambria Math" panose="02040503050406030204" pitchFamily="18" charset="0"/>
                        </a:rPr>
                        <m:t>=</m:t>
                      </m:r>
                      <m:r>
                        <a:rPr lang="fr-FR" sz="1100" b="0" i="1" smtClean="0">
                          <a:solidFill>
                            <a:schemeClr val="bg1">
                              <a:lumMod val="50000"/>
                            </a:schemeClr>
                          </a:solidFill>
                          <a:latin typeface="Cambria Math" panose="02040503050406030204" pitchFamily="18" charset="0"/>
                        </a:rPr>
                        <m:t>𝑠𝑜𝑓𝑡𝑚𝑎𝑥</m:t>
                      </m:r>
                    </m:oMath>
                  </m:oMathPara>
                </a14:m>
                <a:endParaRPr lang="en-GB" sz="1100" dirty="0"/>
              </a:p>
            </p:txBody>
          </p:sp>
        </mc:Choice>
        <mc:Fallback xmlns="">
          <p:sp>
            <p:nvSpPr>
              <p:cNvPr id="6" name="ZoneTexte 5">
                <a:extLst>
                  <a:ext uri="{FF2B5EF4-FFF2-40B4-BE49-F238E27FC236}">
                    <a16:creationId xmlns:a16="http://schemas.microsoft.com/office/drawing/2014/main" id="{A9D9E2F7-7C1D-3556-3DCA-099823085DDA}"/>
                  </a:ext>
                </a:extLst>
              </p:cNvPr>
              <p:cNvSpPr txBox="1">
                <a:spLocks noRot="1" noChangeAspect="1" noMove="1" noResize="1" noEditPoints="1" noAdjustHandles="1" noChangeArrowheads="1" noChangeShapeType="1" noTextEdit="1"/>
              </p:cNvSpPr>
              <p:nvPr/>
            </p:nvSpPr>
            <p:spPr>
              <a:xfrm>
                <a:off x="2528070" y="3584387"/>
                <a:ext cx="1104068" cy="261610"/>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7E3F9CD3-92F5-0CFC-702F-8D2AB2405E1F}"/>
                  </a:ext>
                </a:extLst>
              </p:cNvPr>
              <p:cNvSpPr txBox="1"/>
              <p:nvPr/>
            </p:nvSpPr>
            <p:spPr>
              <a:xfrm>
                <a:off x="3845331" y="3563557"/>
                <a:ext cx="1104068" cy="2616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fr-FR" sz="1100" b="0" i="1" smtClean="0">
                          <a:solidFill>
                            <a:schemeClr val="bg1">
                              <a:lumMod val="50000"/>
                            </a:schemeClr>
                          </a:solidFill>
                          <a:latin typeface="Cambria Math" panose="02040503050406030204" pitchFamily="18" charset="0"/>
                        </a:rPr>
                        <m:t>𝑔</m:t>
                      </m:r>
                      <m:r>
                        <a:rPr lang="fr-FR" sz="1100" b="0" i="1" smtClean="0">
                          <a:solidFill>
                            <a:schemeClr val="bg1">
                              <a:lumMod val="50000"/>
                            </a:schemeClr>
                          </a:solidFill>
                          <a:latin typeface="Cambria Math" panose="02040503050406030204" pitchFamily="18" charset="0"/>
                        </a:rPr>
                        <m:t>=</m:t>
                      </m:r>
                      <m:r>
                        <a:rPr lang="fr-FR" sz="1100" b="0" i="1" smtClean="0">
                          <a:solidFill>
                            <a:schemeClr val="bg1">
                              <a:lumMod val="50000"/>
                            </a:schemeClr>
                          </a:solidFill>
                          <a:latin typeface="Cambria Math" panose="02040503050406030204" pitchFamily="18" charset="0"/>
                        </a:rPr>
                        <m:t>𝑠𝑜𝑓𝑡𝑚𝑎𝑥</m:t>
                      </m:r>
                    </m:oMath>
                  </m:oMathPara>
                </a14:m>
                <a:endParaRPr lang="en-GB" sz="1100" dirty="0"/>
              </a:p>
            </p:txBody>
          </p:sp>
        </mc:Choice>
        <mc:Fallback xmlns="">
          <p:sp>
            <p:nvSpPr>
              <p:cNvPr id="11" name="ZoneTexte 10">
                <a:extLst>
                  <a:ext uri="{FF2B5EF4-FFF2-40B4-BE49-F238E27FC236}">
                    <a16:creationId xmlns:a16="http://schemas.microsoft.com/office/drawing/2014/main" id="{7E3F9CD3-92F5-0CFC-702F-8D2AB2405E1F}"/>
                  </a:ext>
                </a:extLst>
              </p:cNvPr>
              <p:cNvSpPr txBox="1">
                <a:spLocks noRot="1" noChangeAspect="1" noMove="1" noResize="1" noEditPoints="1" noAdjustHandles="1" noChangeArrowheads="1" noChangeShapeType="1" noTextEdit="1"/>
              </p:cNvSpPr>
              <p:nvPr/>
            </p:nvSpPr>
            <p:spPr>
              <a:xfrm>
                <a:off x="3845331" y="3563557"/>
                <a:ext cx="1104068" cy="261610"/>
              </a:xfrm>
              <a:prstGeom prst="rect">
                <a:avLst/>
              </a:prstGeom>
              <a:blipFill>
                <a:blip r:embed="rId16"/>
                <a:stretch>
                  <a:fillRect b="-476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2" name="ZoneTexte 51">
                <a:extLst>
                  <a:ext uri="{FF2B5EF4-FFF2-40B4-BE49-F238E27FC236}">
                    <a16:creationId xmlns:a16="http://schemas.microsoft.com/office/drawing/2014/main" id="{D68EB4B7-2CB1-0388-0E40-8FE6F090E874}"/>
                  </a:ext>
                </a:extLst>
              </p:cNvPr>
              <p:cNvSpPr txBox="1"/>
              <p:nvPr/>
            </p:nvSpPr>
            <p:spPr>
              <a:xfrm>
                <a:off x="5082450" y="3580630"/>
                <a:ext cx="1104068" cy="2616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fr-FR" sz="1100" b="0" i="1" smtClean="0">
                          <a:solidFill>
                            <a:schemeClr val="bg1">
                              <a:lumMod val="50000"/>
                            </a:schemeClr>
                          </a:solidFill>
                          <a:latin typeface="Cambria Math" panose="02040503050406030204" pitchFamily="18" charset="0"/>
                        </a:rPr>
                        <m:t>𝑔</m:t>
                      </m:r>
                      <m:r>
                        <a:rPr lang="fr-FR" sz="1100" b="0" i="1" smtClean="0">
                          <a:solidFill>
                            <a:schemeClr val="bg1">
                              <a:lumMod val="50000"/>
                            </a:schemeClr>
                          </a:solidFill>
                          <a:latin typeface="Cambria Math" panose="02040503050406030204" pitchFamily="18" charset="0"/>
                        </a:rPr>
                        <m:t>=</m:t>
                      </m:r>
                      <m:r>
                        <a:rPr lang="fr-FR" sz="1100" b="0" i="1" smtClean="0">
                          <a:solidFill>
                            <a:schemeClr val="bg1">
                              <a:lumMod val="50000"/>
                            </a:schemeClr>
                          </a:solidFill>
                          <a:latin typeface="Cambria Math" panose="02040503050406030204" pitchFamily="18" charset="0"/>
                        </a:rPr>
                        <m:t>𝑠𝑜𝑓𝑡𝑚𝑎𝑥</m:t>
                      </m:r>
                    </m:oMath>
                  </m:oMathPara>
                </a14:m>
                <a:endParaRPr lang="en-GB" sz="1100" dirty="0"/>
              </a:p>
            </p:txBody>
          </p:sp>
        </mc:Choice>
        <mc:Fallback xmlns="">
          <p:sp>
            <p:nvSpPr>
              <p:cNvPr id="52" name="ZoneTexte 51">
                <a:extLst>
                  <a:ext uri="{FF2B5EF4-FFF2-40B4-BE49-F238E27FC236}">
                    <a16:creationId xmlns:a16="http://schemas.microsoft.com/office/drawing/2014/main" id="{D68EB4B7-2CB1-0388-0E40-8FE6F090E874}"/>
                  </a:ext>
                </a:extLst>
              </p:cNvPr>
              <p:cNvSpPr txBox="1">
                <a:spLocks noRot="1" noChangeAspect="1" noMove="1" noResize="1" noEditPoints="1" noAdjustHandles="1" noChangeArrowheads="1" noChangeShapeType="1" noTextEdit="1"/>
              </p:cNvSpPr>
              <p:nvPr/>
            </p:nvSpPr>
            <p:spPr>
              <a:xfrm>
                <a:off x="5082450" y="3580630"/>
                <a:ext cx="1104068" cy="261610"/>
              </a:xfrm>
              <a:prstGeom prst="rect">
                <a:avLst/>
              </a:prstGeom>
              <a:blipFill>
                <a:blip r:embed="rId17"/>
                <a:stretch>
                  <a:fillRect/>
                </a:stretch>
              </a:blipFill>
            </p:spPr>
            <p:txBody>
              <a:bodyPr/>
              <a:lstStyle/>
              <a:p>
                <a:r>
                  <a:rPr lang="en-GB">
                    <a:noFill/>
                  </a:rPr>
                  <a:t> </a:t>
                </a:r>
              </a:p>
            </p:txBody>
          </p:sp>
        </mc:Fallback>
      </mc:AlternateContent>
      <p:sp>
        <p:nvSpPr>
          <p:cNvPr id="53" name="ZoneTexte 52">
            <a:extLst>
              <a:ext uri="{FF2B5EF4-FFF2-40B4-BE49-F238E27FC236}">
                <a16:creationId xmlns:a16="http://schemas.microsoft.com/office/drawing/2014/main" id="{140C2F46-D1A0-49A6-9DC4-CC185FADA78D}"/>
              </a:ext>
            </a:extLst>
          </p:cNvPr>
          <p:cNvSpPr txBox="1"/>
          <p:nvPr/>
        </p:nvSpPr>
        <p:spPr>
          <a:xfrm>
            <a:off x="7183395" y="5930866"/>
            <a:ext cx="4739350" cy="276999"/>
          </a:xfrm>
          <a:prstGeom prst="rect">
            <a:avLst/>
          </a:prstGeom>
          <a:noFill/>
        </p:spPr>
        <p:txBody>
          <a:bodyPr wrap="square" rtlCol="0">
            <a:spAutoFit/>
          </a:bodyPr>
          <a:lstStyle/>
          <a:p>
            <a:r>
              <a:rPr lang="en-GB" sz="1200" dirty="0"/>
              <a:t>Note: Same schema for Name Entity Recognition (NER) classification</a:t>
            </a:r>
          </a:p>
        </p:txBody>
      </p:sp>
      <p:sp>
        <p:nvSpPr>
          <p:cNvPr id="54" name="Espace réservé du pied de page 2">
            <a:extLst>
              <a:ext uri="{FF2B5EF4-FFF2-40B4-BE49-F238E27FC236}">
                <a16:creationId xmlns:a16="http://schemas.microsoft.com/office/drawing/2014/main" id="{D5766565-13A5-C414-28F7-8E5E96C6C036}"/>
              </a:ext>
            </a:extLst>
          </p:cNvPr>
          <p:cNvSpPr>
            <a:spLocks noGrp="1"/>
          </p:cNvSpPr>
          <p:nvPr>
            <p:ph type="ftr" sz="quarter" idx="11"/>
          </p:nvPr>
        </p:nvSpPr>
        <p:spPr>
          <a:xfrm>
            <a:off x="4038600" y="6356350"/>
            <a:ext cx="4549346" cy="365125"/>
          </a:xfrm>
        </p:spPr>
        <p:txBody>
          <a:bodyPr/>
          <a:lstStyle/>
          <a:p>
            <a:r>
              <a:rPr lang="en-GB" noProof="1"/>
              <a:t>RNN. Author: David Thébault – Based on NLPDemystified.org</a:t>
            </a:r>
          </a:p>
        </p:txBody>
      </p:sp>
    </p:spTree>
    <p:extLst>
      <p:ext uri="{BB962C8B-B14F-4D97-AF65-F5344CB8AC3E}">
        <p14:creationId xmlns:p14="http://schemas.microsoft.com/office/powerpoint/2010/main" val="3958896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FAFB8-99FE-E656-7FD0-7FC8978FAC6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8DCA44C-E58D-2103-012C-53E3E97763C3}"/>
              </a:ext>
            </a:extLst>
          </p:cNvPr>
          <p:cNvSpPr>
            <a:spLocks noGrp="1"/>
          </p:cNvSpPr>
          <p:nvPr>
            <p:ph type="title"/>
          </p:nvPr>
        </p:nvSpPr>
        <p:spPr/>
        <p:txBody>
          <a:bodyPr/>
          <a:lstStyle/>
          <a:p>
            <a:pPr algn="ctr"/>
            <a:r>
              <a:rPr lang="en-GB" noProof="0" dirty="0"/>
              <a:t>Recurrent Neural Networks</a:t>
            </a:r>
          </a:p>
        </p:txBody>
      </p:sp>
      <p:sp>
        <p:nvSpPr>
          <p:cNvPr id="4" name="ZoneTexte 3">
            <a:extLst>
              <a:ext uri="{FF2B5EF4-FFF2-40B4-BE49-F238E27FC236}">
                <a16:creationId xmlns:a16="http://schemas.microsoft.com/office/drawing/2014/main" id="{8AD53416-36AF-C6C3-5ECF-FEC0CCD3988B}"/>
              </a:ext>
            </a:extLst>
          </p:cNvPr>
          <p:cNvSpPr txBox="1"/>
          <p:nvPr/>
        </p:nvSpPr>
        <p:spPr>
          <a:xfrm>
            <a:off x="838199" y="1828800"/>
            <a:ext cx="8703365" cy="1479665"/>
          </a:xfrm>
          <a:prstGeom prst="rect">
            <a:avLst/>
          </a:prstGeom>
          <a:noFill/>
        </p:spPr>
        <p:txBody>
          <a:bodyPr wrap="square" lIns="90000" rtlCol="0">
            <a:noAutofit/>
          </a:bodyPr>
          <a:lstStyle/>
          <a:p>
            <a:r>
              <a:rPr lang="en-GB" sz="2400" b="1" dirty="0">
                <a:latin typeface="ui-sans-serif"/>
              </a:rPr>
              <a:t>RNN </a:t>
            </a:r>
            <a:r>
              <a:rPr lang="en-GB" sz="2400" b="1" dirty="0">
                <a:solidFill>
                  <a:schemeClr val="accent4"/>
                </a:solidFill>
                <a:latin typeface="ui-sans-serif"/>
              </a:rPr>
              <a:t>schema</a:t>
            </a:r>
            <a:r>
              <a:rPr lang="en-GB" sz="2400" b="1" dirty="0">
                <a:latin typeface="ui-sans-serif"/>
              </a:rPr>
              <a:t> for Sequence </a:t>
            </a:r>
            <a:r>
              <a:rPr lang="en-GB" sz="2400" b="1" dirty="0">
                <a:solidFill>
                  <a:schemeClr val="accent4"/>
                </a:solidFill>
                <a:latin typeface="ui-sans-serif"/>
              </a:rPr>
              <a:t>Classification</a:t>
            </a:r>
          </a:p>
          <a:p>
            <a:r>
              <a:rPr lang="en-GB" sz="1600" dirty="0">
                <a:latin typeface="ui-sans-serif"/>
              </a:rPr>
              <a:t>Example with the sentence: “The dog looked guilty”</a:t>
            </a:r>
          </a:p>
          <a:p>
            <a:r>
              <a:rPr lang="en-GB" sz="2400" dirty="0">
                <a:latin typeface="ui-sans-serif"/>
              </a:rPr>
              <a:t>Only the last input is labelled</a:t>
            </a:r>
          </a:p>
          <a:p>
            <a:endParaRPr lang="en-GB" sz="2400" dirty="0">
              <a:latin typeface="ui-sans-serif"/>
            </a:endParaRPr>
          </a:p>
          <a:p>
            <a:endParaRPr lang="en-GB" sz="2400" dirty="0">
              <a:latin typeface="ui-sans-serif"/>
            </a:endParaRPr>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51CC1380-5A20-0A66-FB51-564DCCB83823}"/>
                  </a:ext>
                </a:extLst>
              </p:cNvPr>
              <p:cNvSpPr txBox="1"/>
              <p:nvPr/>
            </p:nvSpPr>
            <p:spPr>
              <a:xfrm>
                <a:off x="1097156" y="5403084"/>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Sub>
                    </m:oMath>
                  </m:oMathPara>
                </a14:m>
                <a:endParaRPr lang="en-GB" sz="1600" dirty="0"/>
              </a:p>
            </p:txBody>
          </p:sp>
        </mc:Choice>
        <mc:Fallback xmlns="">
          <p:sp>
            <p:nvSpPr>
              <p:cNvPr id="5" name="ZoneTexte 4">
                <a:extLst>
                  <a:ext uri="{FF2B5EF4-FFF2-40B4-BE49-F238E27FC236}">
                    <a16:creationId xmlns:a16="http://schemas.microsoft.com/office/drawing/2014/main" id="{5D5321D2-60FB-B695-EE93-40D48F33903E}"/>
                  </a:ext>
                </a:extLst>
              </p:cNvPr>
              <p:cNvSpPr txBox="1">
                <a:spLocks noRot="1" noChangeAspect="1" noMove="1" noResize="1" noEditPoints="1" noAdjustHandles="1" noChangeArrowheads="1" noChangeShapeType="1" noTextEdit="1"/>
              </p:cNvSpPr>
              <p:nvPr/>
            </p:nvSpPr>
            <p:spPr>
              <a:xfrm>
                <a:off x="1097156" y="5403084"/>
                <a:ext cx="424732" cy="246221"/>
              </a:xfrm>
              <a:prstGeom prst="rect">
                <a:avLst/>
              </a:prstGeom>
              <a:blipFill>
                <a:blip r:embed="rId3"/>
                <a:stretch>
                  <a:fillRect l="-14286" r="-5714" b="-15000"/>
                </a:stretch>
              </a:blipFill>
            </p:spPr>
            <p:txBody>
              <a:bodyPr/>
              <a:lstStyle/>
              <a:p>
                <a:r>
                  <a:rPr lang="en-GB">
                    <a:noFill/>
                  </a:rPr>
                  <a:t> </a:t>
                </a:r>
              </a:p>
            </p:txBody>
          </p:sp>
        </mc:Fallback>
      </mc:AlternateContent>
      <p:sp>
        <p:nvSpPr>
          <p:cNvPr id="8" name="Rectangle : coins arrondis 7">
            <a:extLst>
              <a:ext uri="{FF2B5EF4-FFF2-40B4-BE49-F238E27FC236}">
                <a16:creationId xmlns:a16="http://schemas.microsoft.com/office/drawing/2014/main" id="{B78E16FD-CBB6-004C-29D0-406753A379D3}"/>
              </a:ext>
            </a:extLst>
          </p:cNvPr>
          <p:cNvSpPr/>
          <p:nvPr/>
        </p:nvSpPr>
        <p:spPr>
          <a:xfrm>
            <a:off x="1026160" y="4119541"/>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2" name="Connecteur droit avec flèche 11">
            <a:extLst>
              <a:ext uri="{FF2B5EF4-FFF2-40B4-BE49-F238E27FC236}">
                <a16:creationId xmlns:a16="http://schemas.microsoft.com/office/drawing/2014/main" id="{6C2B2F3D-7479-4143-DAAC-ECA718EA2143}"/>
              </a:ext>
            </a:extLst>
          </p:cNvPr>
          <p:cNvCxnSpPr>
            <a:cxnSpLocks/>
            <a:stCxn id="5" idx="0"/>
            <a:endCxn id="8" idx="2"/>
          </p:cNvCxnSpPr>
          <p:nvPr/>
        </p:nvCxnSpPr>
        <p:spPr>
          <a:xfrm flipH="1" flipV="1">
            <a:off x="1305560" y="4881541"/>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5" name="ZoneTexte 24">
                <a:extLst>
                  <a:ext uri="{FF2B5EF4-FFF2-40B4-BE49-F238E27FC236}">
                    <a16:creationId xmlns:a16="http://schemas.microsoft.com/office/drawing/2014/main" id="{9A402EB2-1444-F09A-F98E-BE71E774FB4C}"/>
                  </a:ext>
                </a:extLst>
              </p:cNvPr>
              <p:cNvSpPr txBox="1"/>
              <p:nvPr/>
            </p:nvSpPr>
            <p:spPr>
              <a:xfrm>
                <a:off x="1732404" y="4119541"/>
                <a:ext cx="42934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Sub>
                    </m:oMath>
                  </m:oMathPara>
                </a14:m>
                <a:endParaRPr lang="en-GB" sz="1600" dirty="0"/>
              </a:p>
            </p:txBody>
          </p:sp>
        </mc:Choice>
        <mc:Fallback xmlns="">
          <p:sp>
            <p:nvSpPr>
              <p:cNvPr id="25" name="ZoneTexte 24">
                <a:extLst>
                  <a:ext uri="{FF2B5EF4-FFF2-40B4-BE49-F238E27FC236}">
                    <a16:creationId xmlns:a16="http://schemas.microsoft.com/office/drawing/2014/main" id="{9A402EB2-1444-F09A-F98E-BE71E774FB4C}"/>
                  </a:ext>
                </a:extLst>
              </p:cNvPr>
              <p:cNvSpPr txBox="1">
                <a:spLocks noRot="1" noChangeAspect="1" noMove="1" noResize="1" noEditPoints="1" noAdjustHandles="1" noChangeArrowheads="1" noChangeShapeType="1" noTextEdit="1"/>
              </p:cNvSpPr>
              <p:nvPr/>
            </p:nvSpPr>
            <p:spPr>
              <a:xfrm>
                <a:off x="1732404" y="4119541"/>
                <a:ext cx="429348" cy="246221"/>
              </a:xfrm>
              <a:prstGeom prst="rect">
                <a:avLst/>
              </a:prstGeom>
              <a:blipFill>
                <a:blip r:embed="rId4"/>
                <a:stretch>
                  <a:fillRect l="-11429" r="-2857"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ZoneTexte 13">
                <a:extLst>
                  <a:ext uri="{FF2B5EF4-FFF2-40B4-BE49-F238E27FC236}">
                    <a16:creationId xmlns:a16="http://schemas.microsoft.com/office/drawing/2014/main" id="{E5ADBDAC-1B18-1879-D41C-B8EC077BD704}"/>
                  </a:ext>
                </a:extLst>
              </p:cNvPr>
              <p:cNvSpPr txBox="1"/>
              <p:nvPr/>
            </p:nvSpPr>
            <p:spPr>
              <a:xfrm>
                <a:off x="2371220" y="5409180"/>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r>
                            <a:rPr lang="fr-FR" sz="1600" b="0" i="1" smtClean="0">
                              <a:latin typeface="Cambria Math" panose="02040503050406030204" pitchFamily="18" charset="0"/>
                            </a:rPr>
                            <m:t>=2</m:t>
                          </m:r>
                        </m:sub>
                      </m:sSub>
                    </m:oMath>
                  </m:oMathPara>
                </a14:m>
                <a:endParaRPr lang="en-GB" sz="1600" dirty="0"/>
              </a:p>
            </p:txBody>
          </p:sp>
        </mc:Choice>
        <mc:Fallback xmlns="">
          <p:sp>
            <p:nvSpPr>
              <p:cNvPr id="14" name="ZoneTexte 13">
                <a:extLst>
                  <a:ext uri="{FF2B5EF4-FFF2-40B4-BE49-F238E27FC236}">
                    <a16:creationId xmlns:a16="http://schemas.microsoft.com/office/drawing/2014/main" id="{E5ADBDAC-1B18-1879-D41C-B8EC077BD704}"/>
                  </a:ext>
                </a:extLst>
              </p:cNvPr>
              <p:cNvSpPr txBox="1">
                <a:spLocks noRot="1" noChangeAspect="1" noMove="1" noResize="1" noEditPoints="1" noAdjustHandles="1" noChangeArrowheads="1" noChangeShapeType="1" noTextEdit="1"/>
              </p:cNvSpPr>
              <p:nvPr/>
            </p:nvSpPr>
            <p:spPr>
              <a:xfrm>
                <a:off x="2371220" y="5409180"/>
                <a:ext cx="424732" cy="246221"/>
              </a:xfrm>
              <a:prstGeom prst="rect">
                <a:avLst/>
              </a:prstGeom>
              <a:blipFill>
                <a:blip r:embed="rId5"/>
                <a:stretch>
                  <a:fillRect l="-14286" r="-5714" b="-14286"/>
                </a:stretch>
              </a:blipFill>
            </p:spPr>
            <p:txBody>
              <a:bodyPr/>
              <a:lstStyle/>
              <a:p>
                <a:r>
                  <a:rPr lang="en-GB">
                    <a:noFill/>
                  </a:rPr>
                  <a:t> </a:t>
                </a:r>
              </a:p>
            </p:txBody>
          </p:sp>
        </mc:Fallback>
      </mc:AlternateContent>
      <p:sp>
        <p:nvSpPr>
          <p:cNvPr id="16" name="Rectangle : coins arrondis 15">
            <a:extLst>
              <a:ext uri="{FF2B5EF4-FFF2-40B4-BE49-F238E27FC236}">
                <a16:creationId xmlns:a16="http://schemas.microsoft.com/office/drawing/2014/main" id="{C7899E07-8B64-AB3B-82DA-B286B6B5C2CC}"/>
              </a:ext>
            </a:extLst>
          </p:cNvPr>
          <p:cNvSpPr/>
          <p:nvPr/>
        </p:nvSpPr>
        <p:spPr>
          <a:xfrm>
            <a:off x="2300224" y="4125637"/>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8" name="Connecteur droit avec flèche 17">
            <a:extLst>
              <a:ext uri="{FF2B5EF4-FFF2-40B4-BE49-F238E27FC236}">
                <a16:creationId xmlns:a16="http://schemas.microsoft.com/office/drawing/2014/main" id="{D8958533-D11C-EA19-4ECA-D56E36F8B101}"/>
              </a:ext>
            </a:extLst>
          </p:cNvPr>
          <p:cNvCxnSpPr>
            <a:cxnSpLocks/>
            <a:stCxn id="14" idx="0"/>
            <a:endCxn id="16" idx="2"/>
          </p:cNvCxnSpPr>
          <p:nvPr/>
        </p:nvCxnSpPr>
        <p:spPr>
          <a:xfrm flipH="1" flipV="1">
            <a:off x="2579624" y="4887637"/>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EAEEC067-3D31-0AF4-E967-153A9491BEBB}"/>
                  </a:ext>
                </a:extLst>
              </p:cNvPr>
              <p:cNvSpPr txBox="1"/>
              <p:nvPr/>
            </p:nvSpPr>
            <p:spPr>
              <a:xfrm>
                <a:off x="3645284" y="5415276"/>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r>
                            <a:rPr lang="fr-FR" sz="1600" b="0" i="1" smtClean="0">
                              <a:latin typeface="Cambria Math" panose="02040503050406030204" pitchFamily="18" charset="0"/>
                            </a:rPr>
                            <m:t>=3</m:t>
                          </m:r>
                        </m:sub>
                      </m:sSub>
                    </m:oMath>
                  </m:oMathPara>
                </a14:m>
                <a:endParaRPr lang="en-GB" sz="1600" dirty="0"/>
              </a:p>
            </p:txBody>
          </p:sp>
        </mc:Choice>
        <mc:Fallback xmlns="">
          <p:sp>
            <p:nvSpPr>
              <p:cNvPr id="19" name="ZoneTexte 18">
                <a:extLst>
                  <a:ext uri="{FF2B5EF4-FFF2-40B4-BE49-F238E27FC236}">
                    <a16:creationId xmlns:a16="http://schemas.microsoft.com/office/drawing/2014/main" id="{A5F5AD6B-CB94-167F-DAF7-043BF63CA6D1}"/>
                  </a:ext>
                </a:extLst>
              </p:cNvPr>
              <p:cNvSpPr txBox="1">
                <a:spLocks noRot="1" noChangeAspect="1" noMove="1" noResize="1" noEditPoints="1" noAdjustHandles="1" noChangeArrowheads="1" noChangeShapeType="1" noTextEdit="1"/>
              </p:cNvSpPr>
              <p:nvPr/>
            </p:nvSpPr>
            <p:spPr>
              <a:xfrm>
                <a:off x="3645284" y="5415276"/>
                <a:ext cx="424732" cy="246221"/>
              </a:xfrm>
              <a:prstGeom prst="rect">
                <a:avLst/>
              </a:prstGeom>
              <a:blipFill>
                <a:blip r:embed="rId8"/>
                <a:stretch>
                  <a:fillRect l="-14706" r="-8824" b="-15000"/>
                </a:stretch>
              </a:blipFill>
            </p:spPr>
            <p:txBody>
              <a:bodyPr/>
              <a:lstStyle/>
              <a:p>
                <a:r>
                  <a:rPr lang="en-GB">
                    <a:noFill/>
                  </a:rPr>
                  <a:t> </a:t>
                </a:r>
              </a:p>
            </p:txBody>
          </p:sp>
        </mc:Fallback>
      </mc:AlternateContent>
      <p:sp>
        <p:nvSpPr>
          <p:cNvPr id="21" name="Rectangle : coins arrondis 20">
            <a:extLst>
              <a:ext uri="{FF2B5EF4-FFF2-40B4-BE49-F238E27FC236}">
                <a16:creationId xmlns:a16="http://schemas.microsoft.com/office/drawing/2014/main" id="{7225F768-5507-AF29-F2D4-FFBCAF7E01D1}"/>
              </a:ext>
            </a:extLst>
          </p:cNvPr>
          <p:cNvSpPr/>
          <p:nvPr/>
        </p:nvSpPr>
        <p:spPr>
          <a:xfrm>
            <a:off x="3574288" y="4131733"/>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3" name="Connecteur droit avec flèche 22">
            <a:extLst>
              <a:ext uri="{FF2B5EF4-FFF2-40B4-BE49-F238E27FC236}">
                <a16:creationId xmlns:a16="http://schemas.microsoft.com/office/drawing/2014/main" id="{ACA21408-B662-94D9-F92F-1C5CD071D57A}"/>
              </a:ext>
            </a:extLst>
          </p:cNvPr>
          <p:cNvCxnSpPr>
            <a:cxnSpLocks/>
            <a:stCxn id="19" idx="0"/>
            <a:endCxn id="21" idx="2"/>
          </p:cNvCxnSpPr>
          <p:nvPr/>
        </p:nvCxnSpPr>
        <p:spPr>
          <a:xfrm flipH="1" flipV="1">
            <a:off x="3853688" y="4893733"/>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8" name="ZoneTexte 27">
                <a:extLst>
                  <a:ext uri="{FF2B5EF4-FFF2-40B4-BE49-F238E27FC236}">
                    <a16:creationId xmlns:a16="http://schemas.microsoft.com/office/drawing/2014/main" id="{EA1F91C7-8294-D0AE-0581-F9B9FFB515F2}"/>
                  </a:ext>
                </a:extLst>
              </p:cNvPr>
              <p:cNvSpPr txBox="1"/>
              <p:nvPr/>
            </p:nvSpPr>
            <p:spPr>
              <a:xfrm>
                <a:off x="4907156" y="5421372"/>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r>
                            <a:rPr lang="fr-FR" sz="1600" b="0" i="1" smtClean="0">
                              <a:latin typeface="Cambria Math" panose="02040503050406030204" pitchFamily="18" charset="0"/>
                            </a:rPr>
                            <m:t>=4</m:t>
                          </m:r>
                        </m:sub>
                      </m:sSub>
                    </m:oMath>
                  </m:oMathPara>
                </a14:m>
                <a:endParaRPr lang="en-GB" sz="1600" dirty="0"/>
              </a:p>
            </p:txBody>
          </p:sp>
        </mc:Choice>
        <mc:Fallback xmlns="">
          <p:sp>
            <p:nvSpPr>
              <p:cNvPr id="28" name="ZoneTexte 27">
                <a:extLst>
                  <a:ext uri="{FF2B5EF4-FFF2-40B4-BE49-F238E27FC236}">
                    <a16:creationId xmlns:a16="http://schemas.microsoft.com/office/drawing/2014/main" id="{1DE384AB-84DD-4820-578E-AE72F793F00C}"/>
                  </a:ext>
                </a:extLst>
              </p:cNvPr>
              <p:cNvSpPr txBox="1">
                <a:spLocks noRot="1" noChangeAspect="1" noMove="1" noResize="1" noEditPoints="1" noAdjustHandles="1" noChangeArrowheads="1" noChangeShapeType="1" noTextEdit="1"/>
              </p:cNvSpPr>
              <p:nvPr/>
            </p:nvSpPr>
            <p:spPr>
              <a:xfrm>
                <a:off x="4907156" y="5421372"/>
                <a:ext cx="424732" cy="246221"/>
              </a:xfrm>
              <a:prstGeom prst="rect">
                <a:avLst/>
              </a:prstGeom>
              <a:blipFill>
                <a:blip r:embed="rId10"/>
                <a:stretch>
                  <a:fillRect l="-14286" r="-5714" b="-1428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ZoneTexte 28">
                <a:extLst>
                  <a:ext uri="{FF2B5EF4-FFF2-40B4-BE49-F238E27FC236}">
                    <a16:creationId xmlns:a16="http://schemas.microsoft.com/office/drawing/2014/main" id="{3FDCEF32-B2C7-FA74-CF48-500EAC562A30}"/>
                  </a:ext>
                </a:extLst>
              </p:cNvPr>
              <p:cNvSpPr txBox="1"/>
              <p:nvPr/>
            </p:nvSpPr>
            <p:spPr>
              <a:xfrm>
                <a:off x="4894797" y="3289135"/>
                <a:ext cx="4247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r>
                            <a:rPr lang="fr-FR" sz="1600" b="0" i="1" smtClean="0">
                              <a:latin typeface="Cambria Math" panose="02040503050406030204" pitchFamily="18" charset="0"/>
                            </a:rPr>
                            <m:t>=4</m:t>
                          </m:r>
                        </m:sub>
                      </m:sSub>
                    </m:oMath>
                  </m:oMathPara>
                </a14:m>
                <a:endParaRPr lang="en-GB" sz="1600" dirty="0"/>
              </a:p>
            </p:txBody>
          </p:sp>
        </mc:Choice>
        <mc:Fallback xmlns="">
          <p:sp>
            <p:nvSpPr>
              <p:cNvPr id="29" name="ZoneTexte 28">
                <a:extLst>
                  <a:ext uri="{FF2B5EF4-FFF2-40B4-BE49-F238E27FC236}">
                    <a16:creationId xmlns:a16="http://schemas.microsoft.com/office/drawing/2014/main" id="{3FDCEF32-B2C7-FA74-CF48-500EAC562A30}"/>
                  </a:ext>
                </a:extLst>
              </p:cNvPr>
              <p:cNvSpPr txBox="1">
                <a:spLocks noRot="1" noChangeAspect="1" noMove="1" noResize="1" noEditPoints="1" noAdjustHandles="1" noChangeArrowheads="1" noChangeShapeType="1" noTextEdit="1"/>
              </p:cNvSpPr>
              <p:nvPr/>
            </p:nvSpPr>
            <p:spPr>
              <a:xfrm>
                <a:off x="4894797" y="3289135"/>
                <a:ext cx="424732" cy="246221"/>
              </a:xfrm>
              <a:prstGeom prst="rect">
                <a:avLst/>
              </a:prstGeom>
              <a:blipFill>
                <a:blip r:embed="rId11"/>
                <a:stretch>
                  <a:fillRect l="-11429" t="-20000" r="-2857" b="-20000"/>
                </a:stretch>
              </a:blipFill>
            </p:spPr>
            <p:txBody>
              <a:bodyPr/>
              <a:lstStyle/>
              <a:p>
                <a:r>
                  <a:rPr lang="en-GB">
                    <a:noFill/>
                  </a:rPr>
                  <a:t> </a:t>
                </a:r>
              </a:p>
            </p:txBody>
          </p:sp>
        </mc:Fallback>
      </mc:AlternateContent>
      <p:sp>
        <p:nvSpPr>
          <p:cNvPr id="30" name="Rectangle : coins arrondis 29">
            <a:extLst>
              <a:ext uri="{FF2B5EF4-FFF2-40B4-BE49-F238E27FC236}">
                <a16:creationId xmlns:a16="http://schemas.microsoft.com/office/drawing/2014/main" id="{23397169-604F-5338-D66E-CE35BCB6752A}"/>
              </a:ext>
            </a:extLst>
          </p:cNvPr>
          <p:cNvSpPr/>
          <p:nvPr/>
        </p:nvSpPr>
        <p:spPr>
          <a:xfrm>
            <a:off x="4836160" y="4137829"/>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1" name="Connecteur droit avec flèche 30">
            <a:extLst>
              <a:ext uri="{FF2B5EF4-FFF2-40B4-BE49-F238E27FC236}">
                <a16:creationId xmlns:a16="http://schemas.microsoft.com/office/drawing/2014/main" id="{8F4DFDC6-9FD7-FD70-43A0-69F65F93FF91}"/>
              </a:ext>
            </a:extLst>
          </p:cNvPr>
          <p:cNvCxnSpPr>
            <a:stCxn id="30" idx="0"/>
            <a:endCxn id="29" idx="2"/>
          </p:cNvCxnSpPr>
          <p:nvPr/>
        </p:nvCxnSpPr>
        <p:spPr>
          <a:xfrm flipH="1" flipV="1">
            <a:off x="5107163" y="3535356"/>
            <a:ext cx="8397"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59365CA5-0250-281E-D73B-7FE562731563}"/>
              </a:ext>
            </a:extLst>
          </p:cNvPr>
          <p:cNvCxnSpPr>
            <a:cxnSpLocks/>
            <a:stCxn id="28" idx="0"/>
            <a:endCxn id="30" idx="2"/>
          </p:cNvCxnSpPr>
          <p:nvPr/>
        </p:nvCxnSpPr>
        <p:spPr>
          <a:xfrm flipH="1" flipV="1">
            <a:off x="5115560" y="4899829"/>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3" name="ZoneTexte 32">
                <a:extLst>
                  <a:ext uri="{FF2B5EF4-FFF2-40B4-BE49-F238E27FC236}">
                    <a16:creationId xmlns:a16="http://schemas.microsoft.com/office/drawing/2014/main" id="{53E609CD-D6BD-E635-90C1-701F24164928}"/>
                  </a:ext>
                </a:extLst>
              </p:cNvPr>
              <p:cNvSpPr txBox="1"/>
              <p:nvPr/>
            </p:nvSpPr>
            <p:spPr>
              <a:xfrm>
                <a:off x="2981240" y="4119541"/>
                <a:ext cx="42934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=2</m:t>
                          </m:r>
                        </m:sub>
                      </m:sSub>
                    </m:oMath>
                  </m:oMathPara>
                </a14:m>
                <a:endParaRPr lang="en-GB" sz="1600" dirty="0"/>
              </a:p>
            </p:txBody>
          </p:sp>
        </mc:Choice>
        <mc:Fallback xmlns="">
          <p:sp>
            <p:nvSpPr>
              <p:cNvPr id="33" name="ZoneTexte 32">
                <a:extLst>
                  <a:ext uri="{FF2B5EF4-FFF2-40B4-BE49-F238E27FC236}">
                    <a16:creationId xmlns:a16="http://schemas.microsoft.com/office/drawing/2014/main" id="{BBE09889-E286-85E8-613D-C500FA39DF50}"/>
                  </a:ext>
                </a:extLst>
              </p:cNvPr>
              <p:cNvSpPr txBox="1">
                <a:spLocks noRot="1" noChangeAspect="1" noMove="1" noResize="1" noEditPoints="1" noAdjustHandles="1" noChangeArrowheads="1" noChangeShapeType="1" noTextEdit="1"/>
              </p:cNvSpPr>
              <p:nvPr/>
            </p:nvSpPr>
            <p:spPr>
              <a:xfrm>
                <a:off x="2981240" y="4119541"/>
                <a:ext cx="429348" cy="246221"/>
              </a:xfrm>
              <a:prstGeom prst="rect">
                <a:avLst/>
              </a:prstGeom>
              <a:blipFill>
                <a:blip r:embed="rId12"/>
                <a:stretch>
                  <a:fillRect l="-11429" r="-5714"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ZoneTexte 33">
                <a:extLst>
                  <a:ext uri="{FF2B5EF4-FFF2-40B4-BE49-F238E27FC236}">
                    <a16:creationId xmlns:a16="http://schemas.microsoft.com/office/drawing/2014/main" id="{9847B170-9347-F4AE-A1B5-885DAC70904B}"/>
                  </a:ext>
                </a:extLst>
              </p:cNvPr>
              <p:cNvSpPr txBox="1"/>
              <p:nvPr/>
            </p:nvSpPr>
            <p:spPr>
              <a:xfrm>
                <a:off x="4296788" y="4127330"/>
                <a:ext cx="42934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=3</m:t>
                          </m:r>
                        </m:sub>
                      </m:sSub>
                    </m:oMath>
                  </m:oMathPara>
                </a14:m>
                <a:endParaRPr lang="en-GB" sz="1600" dirty="0"/>
              </a:p>
            </p:txBody>
          </p:sp>
        </mc:Choice>
        <mc:Fallback xmlns="">
          <p:sp>
            <p:nvSpPr>
              <p:cNvPr id="34" name="ZoneTexte 33">
                <a:extLst>
                  <a:ext uri="{FF2B5EF4-FFF2-40B4-BE49-F238E27FC236}">
                    <a16:creationId xmlns:a16="http://schemas.microsoft.com/office/drawing/2014/main" id="{BBC89DC5-3598-2AD2-9010-66F25D7A1B84}"/>
                  </a:ext>
                </a:extLst>
              </p:cNvPr>
              <p:cNvSpPr txBox="1">
                <a:spLocks noRot="1" noChangeAspect="1" noMove="1" noResize="1" noEditPoints="1" noAdjustHandles="1" noChangeArrowheads="1" noChangeShapeType="1" noTextEdit="1"/>
              </p:cNvSpPr>
              <p:nvPr/>
            </p:nvSpPr>
            <p:spPr>
              <a:xfrm>
                <a:off x="4296788" y="4127330"/>
                <a:ext cx="429348" cy="246221"/>
              </a:xfrm>
              <a:prstGeom prst="rect">
                <a:avLst/>
              </a:prstGeom>
              <a:blipFill>
                <a:blip r:embed="rId13"/>
                <a:stretch>
                  <a:fillRect l="-11765" r="-5882" b="-14286"/>
                </a:stretch>
              </a:blipFill>
            </p:spPr>
            <p:txBody>
              <a:bodyPr/>
              <a:lstStyle/>
              <a:p>
                <a:r>
                  <a:rPr lang="en-GB">
                    <a:noFill/>
                  </a:rPr>
                  <a:t> </a:t>
                </a:r>
              </a:p>
            </p:txBody>
          </p:sp>
        </mc:Fallback>
      </mc:AlternateContent>
      <p:cxnSp>
        <p:nvCxnSpPr>
          <p:cNvPr id="36" name="Connecteur droit avec flèche 35">
            <a:extLst>
              <a:ext uri="{FF2B5EF4-FFF2-40B4-BE49-F238E27FC236}">
                <a16:creationId xmlns:a16="http://schemas.microsoft.com/office/drawing/2014/main" id="{CE01DCC3-C0A9-1BC9-C87F-3077CC1ACF83}"/>
              </a:ext>
            </a:extLst>
          </p:cNvPr>
          <p:cNvCxnSpPr>
            <a:stCxn id="8" idx="3"/>
            <a:endCxn id="16" idx="1"/>
          </p:cNvCxnSpPr>
          <p:nvPr/>
        </p:nvCxnSpPr>
        <p:spPr>
          <a:xfrm>
            <a:off x="1584960" y="4500541"/>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Connecteur droit avec flèche 36">
            <a:extLst>
              <a:ext uri="{FF2B5EF4-FFF2-40B4-BE49-F238E27FC236}">
                <a16:creationId xmlns:a16="http://schemas.microsoft.com/office/drawing/2014/main" id="{298459CF-E820-14A2-9D0C-C62F477B9E3A}"/>
              </a:ext>
            </a:extLst>
          </p:cNvPr>
          <p:cNvCxnSpPr/>
          <p:nvPr/>
        </p:nvCxnSpPr>
        <p:spPr>
          <a:xfrm>
            <a:off x="2859024" y="451882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Connecteur droit avec flèche 37">
            <a:extLst>
              <a:ext uri="{FF2B5EF4-FFF2-40B4-BE49-F238E27FC236}">
                <a16:creationId xmlns:a16="http://schemas.microsoft.com/office/drawing/2014/main" id="{64D26D7A-796C-29CA-E3DD-466E3FBA4E6D}"/>
              </a:ext>
            </a:extLst>
          </p:cNvPr>
          <p:cNvCxnSpPr/>
          <p:nvPr/>
        </p:nvCxnSpPr>
        <p:spPr>
          <a:xfrm>
            <a:off x="4129620" y="451882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9" name="ZoneTexte 38">
            <a:extLst>
              <a:ext uri="{FF2B5EF4-FFF2-40B4-BE49-F238E27FC236}">
                <a16:creationId xmlns:a16="http://schemas.microsoft.com/office/drawing/2014/main" id="{2675F3B8-E618-80E2-A842-E4CCDF94676D}"/>
              </a:ext>
            </a:extLst>
          </p:cNvPr>
          <p:cNvSpPr txBox="1"/>
          <p:nvPr/>
        </p:nvSpPr>
        <p:spPr>
          <a:xfrm>
            <a:off x="1019172" y="5724572"/>
            <a:ext cx="1426464" cy="400110"/>
          </a:xfrm>
          <a:prstGeom prst="rect">
            <a:avLst/>
          </a:prstGeom>
          <a:noFill/>
        </p:spPr>
        <p:txBody>
          <a:bodyPr wrap="square" rtlCol="0">
            <a:spAutoFit/>
          </a:bodyPr>
          <a:lstStyle/>
          <a:p>
            <a:r>
              <a:rPr lang="en-GB" sz="1000" dirty="0"/>
              <a:t>“The”</a:t>
            </a:r>
          </a:p>
          <a:p>
            <a:r>
              <a:rPr lang="en-GB" sz="1000" dirty="0"/>
              <a:t>[0.00154, 0.58..]</a:t>
            </a:r>
          </a:p>
        </p:txBody>
      </p:sp>
      <p:sp>
        <p:nvSpPr>
          <p:cNvPr id="40" name="ZoneTexte 39">
            <a:extLst>
              <a:ext uri="{FF2B5EF4-FFF2-40B4-BE49-F238E27FC236}">
                <a16:creationId xmlns:a16="http://schemas.microsoft.com/office/drawing/2014/main" id="{6F45B496-F264-745A-B433-4C4991ECB77D}"/>
              </a:ext>
            </a:extLst>
          </p:cNvPr>
          <p:cNvSpPr txBox="1"/>
          <p:nvPr/>
        </p:nvSpPr>
        <p:spPr>
          <a:xfrm>
            <a:off x="2174516" y="5747158"/>
            <a:ext cx="1093032" cy="400110"/>
          </a:xfrm>
          <a:prstGeom prst="rect">
            <a:avLst/>
          </a:prstGeom>
          <a:noFill/>
        </p:spPr>
        <p:txBody>
          <a:bodyPr wrap="square" rtlCol="0">
            <a:spAutoFit/>
          </a:bodyPr>
          <a:lstStyle/>
          <a:p>
            <a:r>
              <a:rPr lang="en-GB" sz="1000" dirty="0"/>
              <a:t>“dog”</a:t>
            </a:r>
          </a:p>
          <a:p>
            <a:r>
              <a:rPr lang="en-GB" sz="1000" dirty="0"/>
              <a:t>[0.0445, 0.078..]</a:t>
            </a:r>
          </a:p>
        </p:txBody>
      </p:sp>
      <p:sp>
        <p:nvSpPr>
          <p:cNvPr id="41" name="ZoneTexte 40">
            <a:extLst>
              <a:ext uri="{FF2B5EF4-FFF2-40B4-BE49-F238E27FC236}">
                <a16:creationId xmlns:a16="http://schemas.microsoft.com/office/drawing/2014/main" id="{450E98BD-6836-1C05-CBB8-2D1CD23A6EF2}"/>
              </a:ext>
            </a:extLst>
          </p:cNvPr>
          <p:cNvSpPr txBox="1"/>
          <p:nvPr/>
        </p:nvSpPr>
        <p:spPr>
          <a:xfrm>
            <a:off x="3520716" y="5747158"/>
            <a:ext cx="1093032" cy="400110"/>
          </a:xfrm>
          <a:prstGeom prst="rect">
            <a:avLst/>
          </a:prstGeom>
          <a:noFill/>
        </p:spPr>
        <p:txBody>
          <a:bodyPr wrap="square" rtlCol="0">
            <a:spAutoFit/>
          </a:bodyPr>
          <a:lstStyle/>
          <a:p>
            <a:r>
              <a:rPr lang="en-GB" sz="1000" dirty="0"/>
              <a:t>“looked”</a:t>
            </a:r>
          </a:p>
          <a:p>
            <a:r>
              <a:rPr lang="en-GB" sz="1000" dirty="0"/>
              <a:t>[0.0021, 0.008..]</a:t>
            </a:r>
          </a:p>
        </p:txBody>
      </p:sp>
      <p:sp>
        <p:nvSpPr>
          <p:cNvPr id="42" name="ZoneTexte 41">
            <a:extLst>
              <a:ext uri="{FF2B5EF4-FFF2-40B4-BE49-F238E27FC236}">
                <a16:creationId xmlns:a16="http://schemas.microsoft.com/office/drawing/2014/main" id="{F8F83189-132F-8B19-FDE2-84E82BB85654}"/>
              </a:ext>
            </a:extLst>
          </p:cNvPr>
          <p:cNvSpPr txBox="1"/>
          <p:nvPr/>
        </p:nvSpPr>
        <p:spPr>
          <a:xfrm>
            <a:off x="4836160" y="5747158"/>
            <a:ext cx="1093032" cy="400110"/>
          </a:xfrm>
          <a:prstGeom prst="rect">
            <a:avLst/>
          </a:prstGeom>
          <a:noFill/>
        </p:spPr>
        <p:txBody>
          <a:bodyPr wrap="square" rtlCol="0">
            <a:spAutoFit/>
          </a:bodyPr>
          <a:lstStyle/>
          <a:p>
            <a:r>
              <a:rPr lang="en-GB" sz="1000" dirty="0"/>
              <a:t>“guilty”</a:t>
            </a:r>
          </a:p>
          <a:p>
            <a:r>
              <a:rPr lang="en-GB" sz="1000" dirty="0"/>
              <a:t>[0.1821, 0.082..]</a:t>
            </a:r>
          </a:p>
        </p:txBody>
      </p:sp>
      <p:sp>
        <p:nvSpPr>
          <p:cNvPr id="50" name="ZoneTexte 49">
            <a:extLst>
              <a:ext uri="{FF2B5EF4-FFF2-40B4-BE49-F238E27FC236}">
                <a16:creationId xmlns:a16="http://schemas.microsoft.com/office/drawing/2014/main" id="{BD238BF7-CA61-7A88-D35A-3DE718FEAD0E}"/>
              </a:ext>
            </a:extLst>
          </p:cNvPr>
          <p:cNvSpPr txBox="1"/>
          <p:nvPr/>
        </p:nvSpPr>
        <p:spPr>
          <a:xfrm>
            <a:off x="6824905" y="2978926"/>
            <a:ext cx="5133424" cy="830997"/>
          </a:xfrm>
          <a:prstGeom prst="rect">
            <a:avLst/>
          </a:prstGeom>
          <a:noFill/>
          <a:ln>
            <a:solidFill>
              <a:schemeClr val="accent1">
                <a:shade val="15000"/>
              </a:schemeClr>
            </a:solidFill>
          </a:ln>
        </p:spPr>
        <p:txBody>
          <a:bodyPr wrap="square">
            <a:spAutoFit/>
          </a:bodyPr>
          <a:lstStyle/>
          <a:p>
            <a:r>
              <a:rPr lang="en-GB" sz="1600" dirty="0">
                <a:latin typeface="ui-sans-serif"/>
              </a:rPr>
              <a:t>The intermediates outputs are ignored, and we only use the final output considered as the embedding for the whole sequence</a:t>
            </a:r>
          </a:p>
        </p:txBody>
      </p:sp>
      <mc:AlternateContent xmlns:mc="http://schemas.openxmlformats.org/markup-compatibility/2006" xmlns:a14="http://schemas.microsoft.com/office/drawing/2010/main">
        <mc:Choice Requires="a14">
          <p:sp>
            <p:nvSpPr>
              <p:cNvPr id="52" name="ZoneTexte 51">
                <a:extLst>
                  <a:ext uri="{FF2B5EF4-FFF2-40B4-BE49-F238E27FC236}">
                    <a16:creationId xmlns:a16="http://schemas.microsoft.com/office/drawing/2014/main" id="{4D7C7DE1-BD82-8322-C17F-04422E4351D8}"/>
                  </a:ext>
                </a:extLst>
              </p:cNvPr>
              <p:cNvSpPr txBox="1"/>
              <p:nvPr/>
            </p:nvSpPr>
            <p:spPr>
              <a:xfrm>
                <a:off x="5082450" y="3580630"/>
                <a:ext cx="1104068" cy="2616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fr-FR" sz="1100" b="0" i="1" smtClean="0">
                          <a:solidFill>
                            <a:schemeClr val="bg1">
                              <a:lumMod val="50000"/>
                            </a:schemeClr>
                          </a:solidFill>
                          <a:latin typeface="Cambria Math" panose="02040503050406030204" pitchFamily="18" charset="0"/>
                        </a:rPr>
                        <m:t>𝑔</m:t>
                      </m:r>
                      <m:r>
                        <a:rPr lang="fr-FR" sz="1100" b="0" i="1" smtClean="0">
                          <a:solidFill>
                            <a:schemeClr val="bg1">
                              <a:lumMod val="50000"/>
                            </a:schemeClr>
                          </a:solidFill>
                          <a:latin typeface="Cambria Math" panose="02040503050406030204" pitchFamily="18" charset="0"/>
                        </a:rPr>
                        <m:t>=</m:t>
                      </m:r>
                      <m:r>
                        <a:rPr lang="fr-FR" sz="1100" b="0" i="1" smtClean="0">
                          <a:solidFill>
                            <a:schemeClr val="bg1">
                              <a:lumMod val="50000"/>
                            </a:schemeClr>
                          </a:solidFill>
                          <a:latin typeface="Cambria Math" panose="02040503050406030204" pitchFamily="18" charset="0"/>
                        </a:rPr>
                        <m:t>𝑠𝑖𝑔𝑚𝑜𝑖𝑑</m:t>
                      </m:r>
                    </m:oMath>
                  </m:oMathPara>
                </a14:m>
                <a:endParaRPr lang="fr-FR" sz="1100" b="0" dirty="0">
                  <a:solidFill>
                    <a:schemeClr val="bg1">
                      <a:lumMod val="50000"/>
                    </a:schemeClr>
                  </a:solidFill>
                </a:endParaRPr>
              </a:p>
            </p:txBody>
          </p:sp>
        </mc:Choice>
        <mc:Fallback xmlns="">
          <p:sp>
            <p:nvSpPr>
              <p:cNvPr id="52" name="ZoneTexte 51">
                <a:extLst>
                  <a:ext uri="{FF2B5EF4-FFF2-40B4-BE49-F238E27FC236}">
                    <a16:creationId xmlns:a16="http://schemas.microsoft.com/office/drawing/2014/main" id="{4D7C7DE1-BD82-8322-C17F-04422E4351D8}"/>
                  </a:ext>
                </a:extLst>
              </p:cNvPr>
              <p:cNvSpPr txBox="1">
                <a:spLocks noRot="1" noChangeAspect="1" noMove="1" noResize="1" noEditPoints="1" noAdjustHandles="1" noChangeArrowheads="1" noChangeShapeType="1" noTextEdit="1"/>
              </p:cNvSpPr>
              <p:nvPr/>
            </p:nvSpPr>
            <p:spPr>
              <a:xfrm>
                <a:off x="5082450" y="3580630"/>
                <a:ext cx="1104068" cy="261610"/>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CF5B3851-176F-2367-FAAC-824BC84482DD}"/>
                  </a:ext>
                </a:extLst>
              </p:cNvPr>
              <p:cNvSpPr txBox="1"/>
              <p:nvPr/>
            </p:nvSpPr>
            <p:spPr>
              <a:xfrm>
                <a:off x="6824905" y="4189567"/>
                <a:ext cx="4739350" cy="1200329"/>
              </a:xfrm>
              <a:prstGeom prst="rect">
                <a:avLst/>
              </a:prstGeom>
              <a:noFill/>
            </p:spPr>
            <p:txBody>
              <a:bodyPr wrap="square" rtlCol="0">
                <a:spAutoFit/>
              </a:bodyPr>
              <a:lstStyle/>
              <a:p>
                <a:r>
                  <a:rPr lang="fr-FR" sz="1200" b="0" dirty="0">
                    <a:solidFill>
                      <a:schemeClr val="tx1"/>
                    </a:solidFill>
                  </a:rPr>
                  <a:t>Note: </a:t>
                </a:r>
                <a14:m>
                  <m:oMath xmlns:m="http://schemas.openxmlformats.org/officeDocument/2006/math">
                    <m:r>
                      <a:rPr lang="fr-FR" sz="1200" b="0" i="1" smtClean="0">
                        <a:solidFill>
                          <a:schemeClr val="tx1"/>
                        </a:solidFill>
                        <a:latin typeface="Cambria Math" panose="02040503050406030204" pitchFamily="18" charset="0"/>
                      </a:rPr>
                      <m:t>𝑔</m:t>
                    </m:r>
                    <m:r>
                      <a:rPr lang="fr-FR" sz="1200" b="0" i="1" smtClean="0">
                        <a:solidFill>
                          <a:schemeClr val="tx1"/>
                        </a:solidFill>
                        <a:latin typeface="Cambria Math" panose="02040503050406030204" pitchFamily="18" charset="0"/>
                      </a:rPr>
                      <m:t> </m:t>
                    </m:r>
                  </m:oMath>
                </a14:m>
                <a:r>
                  <a:rPr lang="en-GB" sz="1200" dirty="0">
                    <a:solidFill>
                      <a:schemeClr val="tx1"/>
                    </a:solidFill>
                  </a:rPr>
                  <a:t>will be a sigmoid for binary classification, a softmax for multi-class classification or even a downstream system for further processing.</a:t>
                </a:r>
              </a:p>
              <a:p>
                <a:endParaRPr lang="en-GB" sz="1200" dirty="0"/>
              </a:p>
              <a:p>
                <a:r>
                  <a:rPr lang="en-GB" sz="1200" dirty="0">
                    <a:solidFill>
                      <a:schemeClr val="tx1"/>
                    </a:solidFill>
                  </a:rPr>
                  <a:t>Another way to classify a sequence is to take the average or max of all the hidden states and feed that into a classifier</a:t>
                </a:r>
              </a:p>
            </p:txBody>
          </p:sp>
        </mc:Choice>
        <mc:Fallback xmlns="">
          <p:sp>
            <p:nvSpPr>
              <p:cNvPr id="9" name="ZoneTexte 8">
                <a:extLst>
                  <a:ext uri="{FF2B5EF4-FFF2-40B4-BE49-F238E27FC236}">
                    <a16:creationId xmlns:a16="http://schemas.microsoft.com/office/drawing/2014/main" id="{CF5B3851-176F-2367-FAAC-824BC84482DD}"/>
                  </a:ext>
                </a:extLst>
              </p:cNvPr>
              <p:cNvSpPr txBox="1">
                <a:spLocks noRot="1" noChangeAspect="1" noMove="1" noResize="1" noEditPoints="1" noAdjustHandles="1" noChangeArrowheads="1" noChangeShapeType="1" noTextEdit="1"/>
              </p:cNvSpPr>
              <p:nvPr/>
            </p:nvSpPr>
            <p:spPr>
              <a:xfrm>
                <a:off x="6824905" y="4189567"/>
                <a:ext cx="4739350" cy="1200329"/>
              </a:xfrm>
              <a:prstGeom prst="rect">
                <a:avLst/>
              </a:prstGeom>
              <a:blipFill>
                <a:blip r:embed="rId15"/>
                <a:stretch>
                  <a:fillRect r="-535" b="-2083"/>
                </a:stretch>
              </a:blipFill>
            </p:spPr>
            <p:txBody>
              <a:bodyPr/>
              <a:lstStyle/>
              <a:p>
                <a:r>
                  <a:rPr lang="en-GB">
                    <a:noFill/>
                  </a:rPr>
                  <a:t> </a:t>
                </a:r>
              </a:p>
            </p:txBody>
          </p:sp>
        </mc:Fallback>
      </mc:AlternateContent>
      <p:sp>
        <p:nvSpPr>
          <p:cNvPr id="13" name="Espace réservé du pied de page 2">
            <a:extLst>
              <a:ext uri="{FF2B5EF4-FFF2-40B4-BE49-F238E27FC236}">
                <a16:creationId xmlns:a16="http://schemas.microsoft.com/office/drawing/2014/main" id="{F8D40532-DC39-C00D-3258-C35637EFE420}"/>
              </a:ext>
            </a:extLst>
          </p:cNvPr>
          <p:cNvSpPr>
            <a:spLocks noGrp="1"/>
          </p:cNvSpPr>
          <p:nvPr>
            <p:ph type="ftr" sz="quarter" idx="11"/>
          </p:nvPr>
        </p:nvSpPr>
        <p:spPr>
          <a:xfrm>
            <a:off x="4038600" y="6356350"/>
            <a:ext cx="4549346" cy="365125"/>
          </a:xfrm>
        </p:spPr>
        <p:txBody>
          <a:bodyPr/>
          <a:lstStyle/>
          <a:p>
            <a:r>
              <a:rPr lang="en-GB" noProof="1"/>
              <a:t>RNN. Author: David Thébault – Based on NLPDemystified.org</a:t>
            </a:r>
          </a:p>
        </p:txBody>
      </p:sp>
    </p:spTree>
    <p:extLst>
      <p:ext uri="{BB962C8B-B14F-4D97-AF65-F5344CB8AC3E}">
        <p14:creationId xmlns:p14="http://schemas.microsoft.com/office/powerpoint/2010/main" val="3540138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34727-8C75-3647-03FF-2BABAA95BEC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0BF3C33-E6D1-8230-7EA3-C98193BCC3ED}"/>
              </a:ext>
            </a:extLst>
          </p:cNvPr>
          <p:cNvSpPr>
            <a:spLocks noGrp="1"/>
          </p:cNvSpPr>
          <p:nvPr>
            <p:ph type="title"/>
          </p:nvPr>
        </p:nvSpPr>
        <p:spPr/>
        <p:txBody>
          <a:bodyPr/>
          <a:lstStyle/>
          <a:p>
            <a:pPr algn="ctr"/>
            <a:r>
              <a:rPr lang="en-GB" noProof="0" dirty="0"/>
              <a:t>Recurrent Neural Networks</a:t>
            </a:r>
          </a:p>
        </p:txBody>
      </p:sp>
      <p:sp>
        <p:nvSpPr>
          <p:cNvPr id="4" name="ZoneTexte 3">
            <a:extLst>
              <a:ext uri="{FF2B5EF4-FFF2-40B4-BE49-F238E27FC236}">
                <a16:creationId xmlns:a16="http://schemas.microsoft.com/office/drawing/2014/main" id="{45DAF0AC-B170-C072-0291-A791DBE84FDB}"/>
              </a:ext>
            </a:extLst>
          </p:cNvPr>
          <p:cNvSpPr txBox="1"/>
          <p:nvPr/>
        </p:nvSpPr>
        <p:spPr>
          <a:xfrm>
            <a:off x="886813" y="1408837"/>
            <a:ext cx="8703365" cy="1023136"/>
          </a:xfrm>
          <a:prstGeom prst="rect">
            <a:avLst/>
          </a:prstGeom>
          <a:noFill/>
        </p:spPr>
        <p:txBody>
          <a:bodyPr wrap="square" lIns="90000" rtlCol="0">
            <a:noAutofit/>
          </a:bodyPr>
          <a:lstStyle/>
          <a:p>
            <a:r>
              <a:rPr lang="en-GB" sz="2400" b="1" dirty="0">
                <a:latin typeface="ui-sans-serif"/>
              </a:rPr>
              <a:t>Backpropagation Through Time (BPTT)</a:t>
            </a:r>
            <a:endParaRPr lang="en-GB" sz="2400" b="1" dirty="0">
              <a:solidFill>
                <a:schemeClr val="accent4"/>
              </a:solidFill>
              <a:latin typeface="ui-sans-serif"/>
            </a:endParaRPr>
          </a:p>
          <a:p>
            <a:r>
              <a:rPr lang="en-GB" sz="1600" dirty="0">
                <a:latin typeface="ui-sans-serif"/>
              </a:rPr>
              <a:t>Example with a sequence labelling such as POS tagging with the sentence: “The dog looked guilty”</a:t>
            </a:r>
          </a:p>
          <a:p>
            <a:r>
              <a:rPr lang="en-GB" sz="2400" dirty="0">
                <a:latin typeface="ui-sans-serif"/>
              </a:rPr>
              <a:t>All the inputs are labelled</a:t>
            </a:r>
          </a:p>
        </p:txBody>
      </p:sp>
      <p:sp>
        <p:nvSpPr>
          <p:cNvPr id="50" name="ZoneTexte 49">
            <a:extLst>
              <a:ext uri="{FF2B5EF4-FFF2-40B4-BE49-F238E27FC236}">
                <a16:creationId xmlns:a16="http://schemas.microsoft.com/office/drawing/2014/main" id="{720F05E3-8FD1-4CF5-BA7C-BCC5F0D6B513}"/>
              </a:ext>
            </a:extLst>
          </p:cNvPr>
          <p:cNvSpPr txBox="1"/>
          <p:nvPr/>
        </p:nvSpPr>
        <p:spPr>
          <a:xfrm>
            <a:off x="7294658" y="2829567"/>
            <a:ext cx="4524933" cy="461665"/>
          </a:xfrm>
          <a:prstGeom prst="rect">
            <a:avLst/>
          </a:prstGeom>
          <a:noFill/>
          <a:ln>
            <a:noFill/>
          </a:ln>
        </p:spPr>
        <p:txBody>
          <a:bodyPr wrap="square">
            <a:spAutoFit/>
          </a:bodyPr>
          <a:lstStyle/>
          <a:p>
            <a:r>
              <a:rPr lang="en-GB" sz="1200" dirty="0">
                <a:latin typeface="Cambria Math" panose="02040503050406030204" pitchFamily="18" charset="0"/>
                <a:ea typeface="Cambria Math" panose="02040503050406030204" pitchFamily="18" charset="0"/>
              </a:rPr>
              <a:t>Loss for the whole sequence with T the number of time steps and CCE for Categorical Cross Entropy</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732EAE8A-D0B9-3867-C75F-CB7E4F02C684}"/>
                  </a:ext>
                </a:extLst>
              </p:cNvPr>
              <p:cNvSpPr txBox="1"/>
              <p:nvPr/>
            </p:nvSpPr>
            <p:spPr>
              <a:xfrm>
                <a:off x="1097156" y="5403084"/>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Sub>
                    </m:oMath>
                  </m:oMathPara>
                </a14:m>
                <a:endParaRPr lang="en-GB" sz="1600" dirty="0"/>
              </a:p>
            </p:txBody>
          </p:sp>
        </mc:Choice>
        <mc:Fallback xmlns="">
          <p:sp>
            <p:nvSpPr>
              <p:cNvPr id="3" name="ZoneTexte 2">
                <a:extLst>
                  <a:ext uri="{FF2B5EF4-FFF2-40B4-BE49-F238E27FC236}">
                    <a16:creationId xmlns:a16="http://schemas.microsoft.com/office/drawing/2014/main" id="{732EAE8A-D0B9-3867-C75F-CB7E4F02C684}"/>
                  </a:ext>
                </a:extLst>
              </p:cNvPr>
              <p:cNvSpPr txBox="1">
                <a:spLocks noRot="1" noChangeAspect="1" noMove="1" noResize="1" noEditPoints="1" noAdjustHandles="1" noChangeArrowheads="1" noChangeShapeType="1" noTextEdit="1"/>
              </p:cNvSpPr>
              <p:nvPr/>
            </p:nvSpPr>
            <p:spPr>
              <a:xfrm>
                <a:off x="1097156" y="5403084"/>
                <a:ext cx="424732" cy="246221"/>
              </a:xfrm>
              <a:prstGeom prst="rect">
                <a:avLst/>
              </a:prstGeom>
              <a:blipFill>
                <a:blip r:embed="rId3"/>
                <a:stretch>
                  <a:fillRect l="-14286" r="-5714" b="-1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1FA5487C-4B13-A5FE-34BE-75601AEBF8FF}"/>
                  </a:ext>
                </a:extLst>
              </p:cNvPr>
              <p:cNvSpPr txBox="1"/>
              <p:nvPr/>
            </p:nvSpPr>
            <p:spPr>
              <a:xfrm>
                <a:off x="1097156" y="3270847"/>
                <a:ext cx="4247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Sub>
                    </m:oMath>
                  </m:oMathPara>
                </a14:m>
                <a:endParaRPr lang="en-GB" sz="1600" dirty="0"/>
              </a:p>
            </p:txBody>
          </p:sp>
        </mc:Choice>
        <mc:Fallback xmlns="">
          <p:sp>
            <p:nvSpPr>
              <p:cNvPr id="6" name="ZoneTexte 5">
                <a:extLst>
                  <a:ext uri="{FF2B5EF4-FFF2-40B4-BE49-F238E27FC236}">
                    <a16:creationId xmlns:a16="http://schemas.microsoft.com/office/drawing/2014/main" id="{1FA5487C-4B13-A5FE-34BE-75601AEBF8FF}"/>
                  </a:ext>
                </a:extLst>
              </p:cNvPr>
              <p:cNvSpPr txBox="1">
                <a:spLocks noRot="1" noChangeAspect="1" noMove="1" noResize="1" noEditPoints="1" noAdjustHandles="1" noChangeArrowheads="1" noChangeShapeType="1" noTextEdit="1"/>
              </p:cNvSpPr>
              <p:nvPr/>
            </p:nvSpPr>
            <p:spPr>
              <a:xfrm>
                <a:off x="1097156" y="3270847"/>
                <a:ext cx="424732" cy="246221"/>
              </a:xfrm>
              <a:prstGeom prst="rect">
                <a:avLst/>
              </a:prstGeom>
              <a:blipFill>
                <a:blip r:embed="rId4"/>
                <a:stretch>
                  <a:fillRect l="-11429" t="-15000" r="-2857" b="-25000"/>
                </a:stretch>
              </a:blipFill>
            </p:spPr>
            <p:txBody>
              <a:bodyPr/>
              <a:lstStyle/>
              <a:p>
                <a:r>
                  <a:rPr lang="en-GB">
                    <a:noFill/>
                  </a:rPr>
                  <a:t> </a:t>
                </a:r>
              </a:p>
            </p:txBody>
          </p:sp>
        </mc:Fallback>
      </mc:AlternateContent>
      <p:sp>
        <p:nvSpPr>
          <p:cNvPr id="7" name="Rectangle : coins arrondis 6">
            <a:extLst>
              <a:ext uri="{FF2B5EF4-FFF2-40B4-BE49-F238E27FC236}">
                <a16:creationId xmlns:a16="http://schemas.microsoft.com/office/drawing/2014/main" id="{C38E4830-3CA0-524C-6E46-F52D5CF68B22}"/>
              </a:ext>
            </a:extLst>
          </p:cNvPr>
          <p:cNvSpPr/>
          <p:nvPr/>
        </p:nvSpPr>
        <p:spPr>
          <a:xfrm>
            <a:off x="1026160" y="4119541"/>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Connecteur droit avec flèche 9">
            <a:extLst>
              <a:ext uri="{FF2B5EF4-FFF2-40B4-BE49-F238E27FC236}">
                <a16:creationId xmlns:a16="http://schemas.microsoft.com/office/drawing/2014/main" id="{03EE25BE-E5E6-1922-5BEB-8F0D8387B92E}"/>
              </a:ext>
            </a:extLst>
          </p:cNvPr>
          <p:cNvCxnSpPr>
            <a:cxnSpLocks/>
          </p:cNvCxnSpPr>
          <p:nvPr/>
        </p:nvCxnSpPr>
        <p:spPr>
          <a:xfrm flipV="1">
            <a:off x="1305560" y="3848654"/>
            <a:ext cx="3962" cy="252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Connecteur droit avec flèche 10">
            <a:extLst>
              <a:ext uri="{FF2B5EF4-FFF2-40B4-BE49-F238E27FC236}">
                <a16:creationId xmlns:a16="http://schemas.microsoft.com/office/drawing/2014/main" id="{CAB2706D-2161-B52F-5222-F5D2703DACCB}"/>
              </a:ext>
            </a:extLst>
          </p:cNvPr>
          <p:cNvCxnSpPr>
            <a:cxnSpLocks/>
            <a:stCxn id="3" idx="0"/>
            <a:endCxn id="7" idx="2"/>
          </p:cNvCxnSpPr>
          <p:nvPr/>
        </p:nvCxnSpPr>
        <p:spPr>
          <a:xfrm flipH="1" flipV="1">
            <a:off x="1305560" y="4881541"/>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A24F7A98-A158-24A0-C445-1ED2E1415B40}"/>
                  </a:ext>
                </a:extLst>
              </p:cNvPr>
              <p:cNvSpPr txBox="1"/>
              <p:nvPr/>
            </p:nvSpPr>
            <p:spPr>
              <a:xfrm>
                <a:off x="1732404" y="4119541"/>
                <a:ext cx="42934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Sub>
                    </m:oMath>
                  </m:oMathPara>
                </a14:m>
                <a:endParaRPr lang="en-GB" sz="1600" dirty="0"/>
              </a:p>
            </p:txBody>
          </p:sp>
        </mc:Choice>
        <mc:Fallback xmlns="">
          <p:sp>
            <p:nvSpPr>
              <p:cNvPr id="13" name="ZoneTexte 12">
                <a:extLst>
                  <a:ext uri="{FF2B5EF4-FFF2-40B4-BE49-F238E27FC236}">
                    <a16:creationId xmlns:a16="http://schemas.microsoft.com/office/drawing/2014/main" id="{A24F7A98-A158-24A0-C445-1ED2E1415B40}"/>
                  </a:ext>
                </a:extLst>
              </p:cNvPr>
              <p:cNvSpPr txBox="1">
                <a:spLocks noRot="1" noChangeAspect="1" noMove="1" noResize="1" noEditPoints="1" noAdjustHandles="1" noChangeArrowheads="1" noChangeShapeType="1" noTextEdit="1"/>
              </p:cNvSpPr>
              <p:nvPr/>
            </p:nvSpPr>
            <p:spPr>
              <a:xfrm>
                <a:off x="1732404" y="4119541"/>
                <a:ext cx="429348" cy="246221"/>
              </a:xfrm>
              <a:prstGeom prst="rect">
                <a:avLst/>
              </a:prstGeom>
              <a:blipFill>
                <a:blip r:embed="rId5"/>
                <a:stretch>
                  <a:fillRect l="-11429" r="-2857"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ZoneTexte 14">
                <a:extLst>
                  <a:ext uri="{FF2B5EF4-FFF2-40B4-BE49-F238E27FC236}">
                    <a16:creationId xmlns:a16="http://schemas.microsoft.com/office/drawing/2014/main" id="{9E487E09-5783-D551-7F8E-3152BDB12B35}"/>
                  </a:ext>
                </a:extLst>
              </p:cNvPr>
              <p:cNvSpPr txBox="1"/>
              <p:nvPr/>
            </p:nvSpPr>
            <p:spPr>
              <a:xfrm>
                <a:off x="2371220" y="5409180"/>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r>
                            <a:rPr lang="fr-FR" sz="1600" b="0" i="1" smtClean="0">
                              <a:latin typeface="Cambria Math" panose="02040503050406030204" pitchFamily="18" charset="0"/>
                            </a:rPr>
                            <m:t>=2</m:t>
                          </m:r>
                        </m:sub>
                      </m:sSub>
                    </m:oMath>
                  </m:oMathPara>
                </a14:m>
                <a:endParaRPr lang="en-GB" sz="1600" dirty="0"/>
              </a:p>
            </p:txBody>
          </p:sp>
        </mc:Choice>
        <mc:Fallback xmlns="">
          <p:sp>
            <p:nvSpPr>
              <p:cNvPr id="15" name="ZoneTexte 14">
                <a:extLst>
                  <a:ext uri="{FF2B5EF4-FFF2-40B4-BE49-F238E27FC236}">
                    <a16:creationId xmlns:a16="http://schemas.microsoft.com/office/drawing/2014/main" id="{9E487E09-5783-D551-7F8E-3152BDB12B35}"/>
                  </a:ext>
                </a:extLst>
              </p:cNvPr>
              <p:cNvSpPr txBox="1">
                <a:spLocks noRot="1" noChangeAspect="1" noMove="1" noResize="1" noEditPoints="1" noAdjustHandles="1" noChangeArrowheads="1" noChangeShapeType="1" noTextEdit="1"/>
              </p:cNvSpPr>
              <p:nvPr/>
            </p:nvSpPr>
            <p:spPr>
              <a:xfrm>
                <a:off x="2371220" y="5409180"/>
                <a:ext cx="424732" cy="246221"/>
              </a:xfrm>
              <a:prstGeom prst="rect">
                <a:avLst/>
              </a:prstGeom>
              <a:blipFill>
                <a:blip r:embed="rId6"/>
                <a:stretch>
                  <a:fillRect l="-14286" r="-5714" b="-14286"/>
                </a:stretch>
              </a:blipFill>
            </p:spPr>
            <p:txBody>
              <a:bodyPr/>
              <a:lstStyle/>
              <a:p>
                <a:r>
                  <a:rPr lang="en-GB">
                    <a:noFill/>
                  </a:rPr>
                  <a:t> </a:t>
                </a:r>
              </a:p>
            </p:txBody>
          </p:sp>
        </mc:Fallback>
      </mc:AlternateContent>
      <p:sp>
        <p:nvSpPr>
          <p:cNvPr id="20" name="Rectangle : coins arrondis 19">
            <a:extLst>
              <a:ext uri="{FF2B5EF4-FFF2-40B4-BE49-F238E27FC236}">
                <a16:creationId xmlns:a16="http://schemas.microsoft.com/office/drawing/2014/main" id="{E3FC00C7-2121-3A67-83E5-D93EC77C4EC8}"/>
              </a:ext>
            </a:extLst>
          </p:cNvPr>
          <p:cNvSpPr/>
          <p:nvPr/>
        </p:nvSpPr>
        <p:spPr>
          <a:xfrm>
            <a:off x="2300224" y="4125637"/>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4" name="Connecteur droit avec flèche 23">
            <a:extLst>
              <a:ext uri="{FF2B5EF4-FFF2-40B4-BE49-F238E27FC236}">
                <a16:creationId xmlns:a16="http://schemas.microsoft.com/office/drawing/2014/main" id="{490A69FF-8FCB-39C5-EC47-12804D4B345F}"/>
              </a:ext>
            </a:extLst>
          </p:cNvPr>
          <p:cNvCxnSpPr>
            <a:cxnSpLocks/>
            <a:stCxn id="15" idx="0"/>
            <a:endCxn id="20" idx="2"/>
          </p:cNvCxnSpPr>
          <p:nvPr/>
        </p:nvCxnSpPr>
        <p:spPr>
          <a:xfrm flipH="1" flipV="1">
            <a:off x="2579624" y="4887637"/>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6" name="ZoneTexte 25">
                <a:extLst>
                  <a:ext uri="{FF2B5EF4-FFF2-40B4-BE49-F238E27FC236}">
                    <a16:creationId xmlns:a16="http://schemas.microsoft.com/office/drawing/2014/main" id="{48AB5F7F-F2CE-405F-0BEF-318E0D9CC51C}"/>
                  </a:ext>
                </a:extLst>
              </p:cNvPr>
              <p:cNvSpPr txBox="1"/>
              <p:nvPr/>
            </p:nvSpPr>
            <p:spPr>
              <a:xfrm>
                <a:off x="3645284" y="5415276"/>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r>
                            <a:rPr lang="fr-FR" sz="1600" b="0" i="1" smtClean="0">
                              <a:latin typeface="Cambria Math" panose="02040503050406030204" pitchFamily="18" charset="0"/>
                            </a:rPr>
                            <m:t>=3</m:t>
                          </m:r>
                        </m:sub>
                      </m:sSub>
                    </m:oMath>
                  </m:oMathPara>
                </a14:m>
                <a:endParaRPr lang="en-GB" sz="1600" dirty="0"/>
              </a:p>
            </p:txBody>
          </p:sp>
        </mc:Choice>
        <mc:Fallback xmlns="">
          <p:sp>
            <p:nvSpPr>
              <p:cNvPr id="26" name="ZoneTexte 25">
                <a:extLst>
                  <a:ext uri="{FF2B5EF4-FFF2-40B4-BE49-F238E27FC236}">
                    <a16:creationId xmlns:a16="http://schemas.microsoft.com/office/drawing/2014/main" id="{48AB5F7F-F2CE-405F-0BEF-318E0D9CC51C}"/>
                  </a:ext>
                </a:extLst>
              </p:cNvPr>
              <p:cNvSpPr txBox="1">
                <a:spLocks noRot="1" noChangeAspect="1" noMove="1" noResize="1" noEditPoints="1" noAdjustHandles="1" noChangeArrowheads="1" noChangeShapeType="1" noTextEdit="1"/>
              </p:cNvSpPr>
              <p:nvPr/>
            </p:nvSpPr>
            <p:spPr>
              <a:xfrm>
                <a:off x="3645284" y="5415276"/>
                <a:ext cx="424732" cy="246221"/>
              </a:xfrm>
              <a:prstGeom prst="rect">
                <a:avLst/>
              </a:prstGeom>
              <a:blipFill>
                <a:blip r:embed="rId7"/>
                <a:stretch>
                  <a:fillRect l="-14706" r="-8824" b="-15000"/>
                </a:stretch>
              </a:blipFill>
            </p:spPr>
            <p:txBody>
              <a:bodyPr/>
              <a:lstStyle/>
              <a:p>
                <a:r>
                  <a:rPr lang="en-GB">
                    <a:noFill/>
                  </a:rPr>
                  <a:t> </a:t>
                </a:r>
              </a:p>
            </p:txBody>
          </p:sp>
        </mc:Fallback>
      </mc:AlternateContent>
      <p:sp>
        <p:nvSpPr>
          <p:cNvPr id="35" name="Rectangle : coins arrondis 34">
            <a:extLst>
              <a:ext uri="{FF2B5EF4-FFF2-40B4-BE49-F238E27FC236}">
                <a16:creationId xmlns:a16="http://schemas.microsoft.com/office/drawing/2014/main" id="{4B70D3C1-9B72-15F6-7BE4-D6E5554A7669}"/>
              </a:ext>
            </a:extLst>
          </p:cNvPr>
          <p:cNvSpPr/>
          <p:nvPr/>
        </p:nvSpPr>
        <p:spPr>
          <a:xfrm>
            <a:off x="3574288" y="4131733"/>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4" name="Connecteur droit avec flèche 43">
            <a:extLst>
              <a:ext uri="{FF2B5EF4-FFF2-40B4-BE49-F238E27FC236}">
                <a16:creationId xmlns:a16="http://schemas.microsoft.com/office/drawing/2014/main" id="{754A3514-8774-9ABB-18DF-F923CC6083EA}"/>
              </a:ext>
            </a:extLst>
          </p:cNvPr>
          <p:cNvCxnSpPr>
            <a:cxnSpLocks/>
            <a:stCxn id="26" idx="0"/>
            <a:endCxn id="35" idx="2"/>
          </p:cNvCxnSpPr>
          <p:nvPr/>
        </p:nvCxnSpPr>
        <p:spPr>
          <a:xfrm flipH="1" flipV="1">
            <a:off x="3853688" y="4893733"/>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ZoneTexte 44">
                <a:extLst>
                  <a:ext uri="{FF2B5EF4-FFF2-40B4-BE49-F238E27FC236}">
                    <a16:creationId xmlns:a16="http://schemas.microsoft.com/office/drawing/2014/main" id="{BED42FBC-1CCB-165F-B5D8-F90EE7D79C03}"/>
                  </a:ext>
                </a:extLst>
              </p:cNvPr>
              <p:cNvSpPr txBox="1"/>
              <p:nvPr/>
            </p:nvSpPr>
            <p:spPr>
              <a:xfrm>
                <a:off x="4907156" y="5421372"/>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r>
                            <a:rPr lang="fr-FR" sz="1600" b="0" i="1" smtClean="0">
                              <a:latin typeface="Cambria Math" panose="02040503050406030204" pitchFamily="18" charset="0"/>
                            </a:rPr>
                            <m:t>=4</m:t>
                          </m:r>
                        </m:sub>
                      </m:sSub>
                    </m:oMath>
                  </m:oMathPara>
                </a14:m>
                <a:endParaRPr lang="en-GB" sz="1600" dirty="0"/>
              </a:p>
            </p:txBody>
          </p:sp>
        </mc:Choice>
        <mc:Fallback xmlns="">
          <p:sp>
            <p:nvSpPr>
              <p:cNvPr id="45" name="ZoneTexte 44">
                <a:extLst>
                  <a:ext uri="{FF2B5EF4-FFF2-40B4-BE49-F238E27FC236}">
                    <a16:creationId xmlns:a16="http://schemas.microsoft.com/office/drawing/2014/main" id="{BED42FBC-1CCB-165F-B5D8-F90EE7D79C03}"/>
                  </a:ext>
                </a:extLst>
              </p:cNvPr>
              <p:cNvSpPr txBox="1">
                <a:spLocks noRot="1" noChangeAspect="1" noMove="1" noResize="1" noEditPoints="1" noAdjustHandles="1" noChangeArrowheads="1" noChangeShapeType="1" noTextEdit="1"/>
              </p:cNvSpPr>
              <p:nvPr/>
            </p:nvSpPr>
            <p:spPr>
              <a:xfrm>
                <a:off x="4907156" y="5421372"/>
                <a:ext cx="424732" cy="246221"/>
              </a:xfrm>
              <a:prstGeom prst="rect">
                <a:avLst/>
              </a:prstGeom>
              <a:blipFill>
                <a:blip r:embed="rId8"/>
                <a:stretch>
                  <a:fillRect l="-14286" r="-5714" b="-14286"/>
                </a:stretch>
              </a:blipFill>
            </p:spPr>
            <p:txBody>
              <a:bodyPr/>
              <a:lstStyle/>
              <a:p>
                <a:r>
                  <a:rPr lang="en-GB">
                    <a:noFill/>
                  </a:rPr>
                  <a:t> </a:t>
                </a:r>
              </a:p>
            </p:txBody>
          </p:sp>
        </mc:Fallback>
      </mc:AlternateContent>
      <p:sp>
        <p:nvSpPr>
          <p:cNvPr id="47" name="Rectangle : coins arrondis 46">
            <a:extLst>
              <a:ext uri="{FF2B5EF4-FFF2-40B4-BE49-F238E27FC236}">
                <a16:creationId xmlns:a16="http://schemas.microsoft.com/office/drawing/2014/main" id="{F206B72E-1C3F-3D31-EBA8-2B3711973BE9}"/>
              </a:ext>
            </a:extLst>
          </p:cNvPr>
          <p:cNvSpPr/>
          <p:nvPr/>
        </p:nvSpPr>
        <p:spPr>
          <a:xfrm>
            <a:off x="4836160" y="4137829"/>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9" name="Connecteur droit avec flèche 48">
            <a:extLst>
              <a:ext uri="{FF2B5EF4-FFF2-40B4-BE49-F238E27FC236}">
                <a16:creationId xmlns:a16="http://schemas.microsoft.com/office/drawing/2014/main" id="{64D9D1D1-6B54-ACE5-8BD1-1838F6171486}"/>
              </a:ext>
            </a:extLst>
          </p:cNvPr>
          <p:cNvCxnSpPr>
            <a:cxnSpLocks/>
            <a:stCxn id="45" idx="0"/>
            <a:endCxn id="47" idx="2"/>
          </p:cNvCxnSpPr>
          <p:nvPr/>
        </p:nvCxnSpPr>
        <p:spPr>
          <a:xfrm flipH="1" flipV="1">
            <a:off x="5115560" y="4899829"/>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1" name="ZoneTexte 50">
                <a:extLst>
                  <a:ext uri="{FF2B5EF4-FFF2-40B4-BE49-F238E27FC236}">
                    <a16:creationId xmlns:a16="http://schemas.microsoft.com/office/drawing/2014/main" id="{0506B9F3-63F8-4D9F-3585-136778C9F03B}"/>
                  </a:ext>
                </a:extLst>
              </p:cNvPr>
              <p:cNvSpPr txBox="1"/>
              <p:nvPr/>
            </p:nvSpPr>
            <p:spPr>
              <a:xfrm>
                <a:off x="2981240" y="4119541"/>
                <a:ext cx="42934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=2</m:t>
                          </m:r>
                        </m:sub>
                      </m:sSub>
                    </m:oMath>
                  </m:oMathPara>
                </a14:m>
                <a:endParaRPr lang="en-GB" sz="1600" dirty="0"/>
              </a:p>
            </p:txBody>
          </p:sp>
        </mc:Choice>
        <mc:Fallback xmlns="">
          <p:sp>
            <p:nvSpPr>
              <p:cNvPr id="51" name="ZoneTexte 50">
                <a:extLst>
                  <a:ext uri="{FF2B5EF4-FFF2-40B4-BE49-F238E27FC236}">
                    <a16:creationId xmlns:a16="http://schemas.microsoft.com/office/drawing/2014/main" id="{0506B9F3-63F8-4D9F-3585-136778C9F03B}"/>
                  </a:ext>
                </a:extLst>
              </p:cNvPr>
              <p:cNvSpPr txBox="1">
                <a:spLocks noRot="1" noChangeAspect="1" noMove="1" noResize="1" noEditPoints="1" noAdjustHandles="1" noChangeArrowheads="1" noChangeShapeType="1" noTextEdit="1"/>
              </p:cNvSpPr>
              <p:nvPr/>
            </p:nvSpPr>
            <p:spPr>
              <a:xfrm>
                <a:off x="2981240" y="4119541"/>
                <a:ext cx="429348" cy="246221"/>
              </a:xfrm>
              <a:prstGeom prst="rect">
                <a:avLst/>
              </a:prstGeom>
              <a:blipFill>
                <a:blip r:embed="rId9"/>
                <a:stretch>
                  <a:fillRect l="-11429" r="-5714"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3" name="ZoneTexte 52">
                <a:extLst>
                  <a:ext uri="{FF2B5EF4-FFF2-40B4-BE49-F238E27FC236}">
                    <a16:creationId xmlns:a16="http://schemas.microsoft.com/office/drawing/2014/main" id="{329A06A0-E267-5B0E-2E33-296B86D6E9F0}"/>
                  </a:ext>
                </a:extLst>
              </p:cNvPr>
              <p:cNvSpPr txBox="1"/>
              <p:nvPr/>
            </p:nvSpPr>
            <p:spPr>
              <a:xfrm>
                <a:off x="4296788" y="4127330"/>
                <a:ext cx="42934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=3</m:t>
                          </m:r>
                        </m:sub>
                      </m:sSub>
                    </m:oMath>
                  </m:oMathPara>
                </a14:m>
                <a:endParaRPr lang="en-GB" sz="1600" dirty="0"/>
              </a:p>
            </p:txBody>
          </p:sp>
        </mc:Choice>
        <mc:Fallback xmlns="">
          <p:sp>
            <p:nvSpPr>
              <p:cNvPr id="53" name="ZoneTexte 52">
                <a:extLst>
                  <a:ext uri="{FF2B5EF4-FFF2-40B4-BE49-F238E27FC236}">
                    <a16:creationId xmlns:a16="http://schemas.microsoft.com/office/drawing/2014/main" id="{329A06A0-E267-5B0E-2E33-296B86D6E9F0}"/>
                  </a:ext>
                </a:extLst>
              </p:cNvPr>
              <p:cNvSpPr txBox="1">
                <a:spLocks noRot="1" noChangeAspect="1" noMove="1" noResize="1" noEditPoints="1" noAdjustHandles="1" noChangeArrowheads="1" noChangeShapeType="1" noTextEdit="1"/>
              </p:cNvSpPr>
              <p:nvPr/>
            </p:nvSpPr>
            <p:spPr>
              <a:xfrm>
                <a:off x="4296788" y="4127330"/>
                <a:ext cx="429348" cy="246221"/>
              </a:xfrm>
              <a:prstGeom prst="rect">
                <a:avLst/>
              </a:prstGeom>
              <a:blipFill>
                <a:blip r:embed="rId10"/>
                <a:stretch>
                  <a:fillRect l="-11765" r="-5882" b="-14286"/>
                </a:stretch>
              </a:blipFill>
            </p:spPr>
            <p:txBody>
              <a:bodyPr/>
              <a:lstStyle/>
              <a:p>
                <a:r>
                  <a:rPr lang="en-GB">
                    <a:noFill/>
                  </a:rPr>
                  <a:t> </a:t>
                </a:r>
              </a:p>
            </p:txBody>
          </p:sp>
        </mc:Fallback>
      </mc:AlternateContent>
      <p:cxnSp>
        <p:nvCxnSpPr>
          <p:cNvPr id="54" name="Connecteur droit avec flèche 53">
            <a:extLst>
              <a:ext uri="{FF2B5EF4-FFF2-40B4-BE49-F238E27FC236}">
                <a16:creationId xmlns:a16="http://schemas.microsoft.com/office/drawing/2014/main" id="{4E9CEC3D-98B1-F954-4006-EF31EA6158AE}"/>
              </a:ext>
            </a:extLst>
          </p:cNvPr>
          <p:cNvCxnSpPr>
            <a:stCxn id="7" idx="3"/>
            <a:endCxn id="20" idx="1"/>
          </p:cNvCxnSpPr>
          <p:nvPr/>
        </p:nvCxnSpPr>
        <p:spPr>
          <a:xfrm>
            <a:off x="1584960" y="4500541"/>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Connecteur droit avec flèche 54">
            <a:extLst>
              <a:ext uri="{FF2B5EF4-FFF2-40B4-BE49-F238E27FC236}">
                <a16:creationId xmlns:a16="http://schemas.microsoft.com/office/drawing/2014/main" id="{51364A15-1170-0080-01F3-91C7B68B7B16}"/>
              </a:ext>
            </a:extLst>
          </p:cNvPr>
          <p:cNvCxnSpPr/>
          <p:nvPr/>
        </p:nvCxnSpPr>
        <p:spPr>
          <a:xfrm>
            <a:off x="2859024" y="451882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Connecteur droit avec flèche 55">
            <a:extLst>
              <a:ext uri="{FF2B5EF4-FFF2-40B4-BE49-F238E27FC236}">
                <a16:creationId xmlns:a16="http://schemas.microsoft.com/office/drawing/2014/main" id="{26DE2A44-9350-8C0D-4777-B1FC275690F1}"/>
              </a:ext>
            </a:extLst>
          </p:cNvPr>
          <p:cNvCxnSpPr/>
          <p:nvPr/>
        </p:nvCxnSpPr>
        <p:spPr>
          <a:xfrm>
            <a:off x="4129620" y="451882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7" name="ZoneTexte 56">
            <a:extLst>
              <a:ext uri="{FF2B5EF4-FFF2-40B4-BE49-F238E27FC236}">
                <a16:creationId xmlns:a16="http://schemas.microsoft.com/office/drawing/2014/main" id="{E41AF3EB-6A38-2FC6-1D9D-66C68EF4DF11}"/>
              </a:ext>
            </a:extLst>
          </p:cNvPr>
          <p:cNvSpPr txBox="1"/>
          <p:nvPr/>
        </p:nvSpPr>
        <p:spPr>
          <a:xfrm>
            <a:off x="1019172" y="5724572"/>
            <a:ext cx="1426464" cy="400110"/>
          </a:xfrm>
          <a:prstGeom prst="rect">
            <a:avLst/>
          </a:prstGeom>
          <a:noFill/>
        </p:spPr>
        <p:txBody>
          <a:bodyPr wrap="square" rtlCol="0">
            <a:spAutoFit/>
          </a:bodyPr>
          <a:lstStyle/>
          <a:p>
            <a:r>
              <a:rPr lang="en-GB" sz="1000" dirty="0"/>
              <a:t>“The”</a:t>
            </a:r>
          </a:p>
          <a:p>
            <a:r>
              <a:rPr lang="en-GB" sz="1000" dirty="0"/>
              <a:t>[0.00154, 0.58..]</a:t>
            </a:r>
          </a:p>
        </p:txBody>
      </p:sp>
      <p:sp>
        <p:nvSpPr>
          <p:cNvPr id="58" name="ZoneTexte 57">
            <a:extLst>
              <a:ext uri="{FF2B5EF4-FFF2-40B4-BE49-F238E27FC236}">
                <a16:creationId xmlns:a16="http://schemas.microsoft.com/office/drawing/2014/main" id="{8A031252-EADC-D569-5F67-2F291231B04F}"/>
              </a:ext>
            </a:extLst>
          </p:cNvPr>
          <p:cNvSpPr txBox="1"/>
          <p:nvPr/>
        </p:nvSpPr>
        <p:spPr>
          <a:xfrm>
            <a:off x="2174516" y="5747158"/>
            <a:ext cx="1093032" cy="400110"/>
          </a:xfrm>
          <a:prstGeom prst="rect">
            <a:avLst/>
          </a:prstGeom>
          <a:noFill/>
        </p:spPr>
        <p:txBody>
          <a:bodyPr wrap="square" rtlCol="0">
            <a:spAutoFit/>
          </a:bodyPr>
          <a:lstStyle/>
          <a:p>
            <a:r>
              <a:rPr lang="en-GB" sz="1000" dirty="0"/>
              <a:t>“dog”</a:t>
            </a:r>
          </a:p>
          <a:p>
            <a:r>
              <a:rPr lang="en-GB" sz="1000" dirty="0"/>
              <a:t>[0.0445, 0.078..]</a:t>
            </a:r>
          </a:p>
        </p:txBody>
      </p:sp>
      <p:sp>
        <p:nvSpPr>
          <p:cNvPr id="59" name="ZoneTexte 58">
            <a:extLst>
              <a:ext uri="{FF2B5EF4-FFF2-40B4-BE49-F238E27FC236}">
                <a16:creationId xmlns:a16="http://schemas.microsoft.com/office/drawing/2014/main" id="{5C08583C-A50B-4179-593F-BC8442451BDC}"/>
              </a:ext>
            </a:extLst>
          </p:cNvPr>
          <p:cNvSpPr txBox="1"/>
          <p:nvPr/>
        </p:nvSpPr>
        <p:spPr>
          <a:xfrm>
            <a:off x="3520716" y="5747158"/>
            <a:ext cx="1093032" cy="400110"/>
          </a:xfrm>
          <a:prstGeom prst="rect">
            <a:avLst/>
          </a:prstGeom>
          <a:noFill/>
        </p:spPr>
        <p:txBody>
          <a:bodyPr wrap="square" rtlCol="0">
            <a:spAutoFit/>
          </a:bodyPr>
          <a:lstStyle/>
          <a:p>
            <a:r>
              <a:rPr lang="en-GB" sz="1000" dirty="0"/>
              <a:t>“looked”</a:t>
            </a:r>
          </a:p>
          <a:p>
            <a:r>
              <a:rPr lang="en-GB" sz="1000" dirty="0"/>
              <a:t>[0.0021, 0.008..]</a:t>
            </a:r>
          </a:p>
        </p:txBody>
      </p:sp>
      <p:sp>
        <p:nvSpPr>
          <p:cNvPr id="60" name="ZoneTexte 59">
            <a:extLst>
              <a:ext uri="{FF2B5EF4-FFF2-40B4-BE49-F238E27FC236}">
                <a16:creationId xmlns:a16="http://schemas.microsoft.com/office/drawing/2014/main" id="{54DACAF3-2483-33AC-F97B-1830149E55D8}"/>
              </a:ext>
            </a:extLst>
          </p:cNvPr>
          <p:cNvSpPr txBox="1"/>
          <p:nvPr/>
        </p:nvSpPr>
        <p:spPr>
          <a:xfrm>
            <a:off x="4836160" y="5747158"/>
            <a:ext cx="1093032" cy="400110"/>
          </a:xfrm>
          <a:prstGeom prst="rect">
            <a:avLst/>
          </a:prstGeom>
          <a:noFill/>
        </p:spPr>
        <p:txBody>
          <a:bodyPr wrap="square" rtlCol="0">
            <a:spAutoFit/>
          </a:bodyPr>
          <a:lstStyle/>
          <a:p>
            <a:r>
              <a:rPr lang="en-GB" sz="1000" dirty="0"/>
              <a:t>“guilty”</a:t>
            </a:r>
          </a:p>
          <a:p>
            <a:r>
              <a:rPr lang="en-GB" sz="1000" dirty="0"/>
              <a:t>[0.1821, 0.082..]</a:t>
            </a:r>
          </a:p>
        </p:txBody>
      </p:sp>
      <p:sp>
        <p:nvSpPr>
          <p:cNvPr id="62" name="ZoneTexte 61">
            <a:extLst>
              <a:ext uri="{FF2B5EF4-FFF2-40B4-BE49-F238E27FC236}">
                <a16:creationId xmlns:a16="http://schemas.microsoft.com/office/drawing/2014/main" id="{4EEA6A2C-475D-D04A-C30F-2D119666F8C2}"/>
              </a:ext>
            </a:extLst>
          </p:cNvPr>
          <p:cNvSpPr txBox="1"/>
          <p:nvPr/>
        </p:nvSpPr>
        <p:spPr>
          <a:xfrm>
            <a:off x="1365526" y="3874655"/>
            <a:ext cx="304800" cy="307777"/>
          </a:xfrm>
          <a:prstGeom prst="rect">
            <a:avLst/>
          </a:prstGeom>
          <a:noFill/>
        </p:spPr>
        <p:txBody>
          <a:bodyPr wrap="square" rtlCol="0">
            <a:spAutoFit/>
          </a:bodyPr>
          <a:lstStyle/>
          <a:p>
            <a:r>
              <a:rPr lang="en-GB" sz="1400" b="1" dirty="0">
                <a:solidFill>
                  <a:srgbClr val="0070C0"/>
                </a:solidFill>
              </a:rPr>
              <a:t>V</a:t>
            </a:r>
          </a:p>
        </p:txBody>
      </p:sp>
      <p:sp>
        <p:nvSpPr>
          <p:cNvPr id="63" name="ZoneTexte 62">
            <a:extLst>
              <a:ext uri="{FF2B5EF4-FFF2-40B4-BE49-F238E27FC236}">
                <a16:creationId xmlns:a16="http://schemas.microsoft.com/office/drawing/2014/main" id="{43B67990-E444-7C1B-6C5E-340E205D50D6}"/>
              </a:ext>
            </a:extLst>
          </p:cNvPr>
          <p:cNvSpPr txBox="1"/>
          <p:nvPr/>
        </p:nvSpPr>
        <p:spPr>
          <a:xfrm>
            <a:off x="1336040" y="4957646"/>
            <a:ext cx="304800" cy="307777"/>
          </a:xfrm>
          <a:prstGeom prst="rect">
            <a:avLst/>
          </a:prstGeom>
          <a:noFill/>
        </p:spPr>
        <p:txBody>
          <a:bodyPr wrap="square" rtlCol="0">
            <a:spAutoFit/>
          </a:bodyPr>
          <a:lstStyle/>
          <a:p>
            <a:r>
              <a:rPr lang="en-GB" sz="1400" b="1" dirty="0">
                <a:solidFill>
                  <a:srgbClr val="0070C0"/>
                </a:solidFill>
              </a:rPr>
              <a:t>U</a:t>
            </a:r>
          </a:p>
        </p:txBody>
      </p:sp>
      <p:sp>
        <p:nvSpPr>
          <p:cNvPr id="64" name="ZoneTexte 63">
            <a:extLst>
              <a:ext uri="{FF2B5EF4-FFF2-40B4-BE49-F238E27FC236}">
                <a16:creationId xmlns:a16="http://schemas.microsoft.com/office/drawing/2014/main" id="{80CCBB15-D2A9-E368-A259-50BAEEF8B3DA}"/>
              </a:ext>
            </a:extLst>
          </p:cNvPr>
          <p:cNvSpPr txBox="1"/>
          <p:nvPr/>
        </p:nvSpPr>
        <p:spPr>
          <a:xfrm>
            <a:off x="2635504" y="4951375"/>
            <a:ext cx="304800" cy="307777"/>
          </a:xfrm>
          <a:prstGeom prst="rect">
            <a:avLst/>
          </a:prstGeom>
          <a:noFill/>
        </p:spPr>
        <p:txBody>
          <a:bodyPr wrap="square" rtlCol="0">
            <a:spAutoFit/>
          </a:bodyPr>
          <a:lstStyle/>
          <a:p>
            <a:r>
              <a:rPr lang="en-GB" sz="1400" b="1" dirty="0">
                <a:solidFill>
                  <a:srgbClr val="0070C0"/>
                </a:solidFill>
              </a:rPr>
              <a:t>U</a:t>
            </a:r>
          </a:p>
        </p:txBody>
      </p:sp>
      <p:sp>
        <p:nvSpPr>
          <p:cNvPr id="65" name="ZoneTexte 64">
            <a:extLst>
              <a:ext uri="{FF2B5EF4-FFF2-40B4-BE49-F238E27FC236}">
                <a16:creationId xmlns:a16="http://schemas.microsoft.com/office/drawing/2014/main" id="{DBEA96F3-C3BA-48F6-0BB0-5D924E2C8DC5}"/>
              </a:ext>
            </a:extLst>
          </p:cNvPr>
          <p:cNvSpPr txBox="1"/>
          <p:nvPr/>
        </p:nvSpPr>
        <p:spPr>
          <a:xfrm>
            <a:off x="3885184" y="4957471"/>
            <a:ext cx="304800" cy="307777"/>
          </a:xfrm>
          <a:prstGeom prst="rect">
            <a:avLst/>
          </a:prstGeom>
          <a:noFill/>
        </p:spPr>
        <p:txBody>
          <a:bodyPr wrap="square" rtlCol="0">
            <a:spAutoFit/>
          </a:bodyPr>
          <a:lstStyle/>
          <a:p>
            <a:r>
              <a:rPr lang="en-GB" sz="1400" b="1" dirty="0">
                <a:solidFill>
                  <a:srgbClr val="0070C0"/>
                </a:solidFill>
              </a:rPr>
              <a:t>U</a:t>
            </a:r>
          </a:p>
        </p:txBody>
      </p:sp>
      <p:sp>
        <p:nvSpPr>
          <p:cNvPr id="66" name="ZoneTexte 65">
            <a:extLst>
              <a:ext uri="{FF2B5EF4-FFF2-40B4-BE49-F238E27FC236}">
                <a16:creationId xmlns:a16="http://schemas.microsoft.com/office/drawing/2014/main" id="{C9EA54A4-769D-2479-DDA1-40AAEB28ADC4}"/>
              </a:ext>
            </a:extLst>
          </p:cNvPr>
          <p:cNvSpPr txBox="1"/>
          <p:nvPr/>
        </p:nvSpPr>
        <p:spPr>
          <a:xfrm>
            <a:off x="5086096" y="4951375"/>
            <a:ext cx="304800" cy="307777"/>
          </a:xfrm>
          <a:prstGeom prst="rect">
            <a:avLst/>
          </a:prstGeom>
          <a:noFill/>
        </p:spPr>
        <p:txBody>
          <a:bodyPr wrap="square" rtlCol="0">
            <a:spAutoFit/>
          </a:bodyPr>
          <a:lstStyle/>
          <a:p>
            <a:r>
              <a:rPr lang="en-GB" sz="1400" b="1" dirty="0">
                <a:solidFill>
                  <a:srgbClr val="0070C0"/>
                </a:solidFill>
              </a:rPr>
              <a:t>U</a:t>
            </a:r>
          </a:p>
        </p:txBody>
      </p:sp>
      <p:sp>
        <p:nvSpPr>
          <p:cNvPr id="67" name="ZoneTexte 66">
            <a:extLst>
              <a:ext uri="{FF2B5EF4-FFF2-40B4-BE49-F238E27FC236}">
                <a16:creationId xmlns:a16="http://schemas.microsoft.com/office/drawing/2014/main" id="{671DE3F8-A473-921A-1224-06E684677994}"/>
              </a:ext>
            </a:extLst>
          </p:cNvPr>
          <p:cNvSpPr txBox="1"/>
          <p:nvPr/>
        </p:nvSpPr>
        <p:spPr>
          <a:xfrm>
            <a:off x="1741983" y="4518829"/>
            <a:ext cx="304800" cy="307777"/>
          </a:xfrm>
          <a:prstGeom prst="rect">
            <a:avLst/>
          </a:prstGeom>
          <a:noFill/>
        </p:spPr>
        <p:txBody>
          <a:bodyPr wrap="square" rtlCol="0">
            <a:spAutoFit/>
          </a:bodyPr>
          <a:lstStyle/>
          <a:p>
            <a:r>
              <a:rPr lang="en-GB" sz="1400" b="1" dirty="0">
                <a:solidFill>
                  <a:srgbClr val="0070C0"/>
                </a:solidFill>
              </a:rPr>
              <a:t>W</a:t>
            </a:r>
          </a:p>
        </p:txBody>
      </p:sp>
      <p:sp>
        <p:nvSpPr>
          <p:cNvPr id="68" name="ZoneTexte 67">
            <a:extLst>
              <a:ext uri="{FF2B5EF4-FFF2-40B4-BE49-F238E27FC236}">
                <a16:creationId xmlns:a16="http://schemas.microsoft.com/office/drawing/2014/main" id="{DB5E087A-6EE0-8973-3194-968B85C4D343}"/>
              </a:ext>
            </a:extLst>
          </p:cNvPr>
          <p:cNvSpPr txBox="1"/>
          <p:nvPr/>
        </p:nvSpPr>
        <p:spPr>
          <a:xfrm>
            <a:off x="2991663" y="4512733"/>
            <a:ext cx="304800" cy="307777"/>
          </a:xfrm>
          <a:prstGeom prst="rect">
            <a:avLst/>
          </a:prstGeom>
          <a:noFill/>
        </p:spPr>
        <p:txBody>
          <a:bodyPr wrap="square" rtlCol="0">
            <a:spAutoFit/>
          </a:bodyPr>
          <a:lstStyle/>
          <a:p>
            <a:r>
              <a:rPr lang="en-GB" sz="1400" b="1" dirty="0">
                <a:solidFill>
                  <a:srgbClr val="0070C0"/>
                </a:solidFill>
              </a:rPr>
              <a:t>W</a:t>
            </a:r>
          </a:p>
        </p:txBody>
      </p:sp>
      <p:sp>
        <p:nvSpPr>
          <p:cNvPr id="69" name="ZoneTexte 68">
            <a:extLst>
              <a:ext uri="{FF2B5EF4-FFF2-40B4-BE49-F238E27FC236}">
                <a16:creationId xmlns:a16="http://schemas.microsoft.com/office/drawing/2014/main" id="{DEECB584-44D8-BC79-1DE9-349B26ED8CD0}"/>
              </a:ext>
            </a:extLst>
          </p:cNvPr>
          <p:cNvSpPr txBox="1"/>
          <p:nvPr/>
        </p:nvSpPr>
        <p:spPr>
          <a:xfrm>
            <a:off x="4290111" y="4518829"/>
            <a:ext cx="304800" cy="307777"/>
          </a:xfrm>
          <a:prstGeom prst="rect">
            <a:avLst/>
          </a:prstGeom>
          <a:noFill/>
        </p:spPr>
        <p:txBody>
          <a:bodyPr wrap="square" rtlCol="0">
            <a:spAutoFit/>
          </a:bodyPr>
          <a:lstStyle/>
          <a:p>
            <a:r>
              <a:rPr lang="en-GB" sz="1400" b="1" dirty="0">
                <a:solidFill>
                  <a:srgbClr val="0070C0"/>
                </a:solidFill>
              </a:rPr>
              <a:t>W</a:t>
            </a:r>
          </a:p>
        </p:txBody>
      </p:sp>
      <mc:AlternateContent xmlns:mc="http://schemas.openxmlformats.org/markup-compatibility/2006" xmlns:a14="http://schemas.microsoft.com/office/drawing/2010/main">
        <mc:Choice Requires="a14">
          <p:sp>
            <p:nvSpPr>
              <p:cNvPr id="74" name="ZoneTexte 73">
                <a:extLst>
                  <a:ext uri="{FF2B5EF4-FFF2-40B4-BE49-F238E27FC236}">
                    <a16:creationId xmlns:a16="http://schemas.microsoft.com/office/drawing/2014/main" id="{714AEC8B-FEDE-3347-72E5-741F6E457897}"/>
                  </a:ext>
                </a:extLst>
              </p:cNvPr>
              <p:cNvSpPr txBox="1"/>
              <p:nvPr/>
            </p:nvSpPr>
            <p:spPr>
              <a:xfrm>
                <a:off x="559514" y="4127330"/>
                <a:ext cx="42934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=0</m:t>
                          </m:r>
                        </m:sub>
                      </m:sSub>
                    </m:oMath>
                  </m:oMathPara>
                </a14:m>
                <a:endParaRPr lang="en-GB" sz="1600" dirty="0"/>
              </a:p>
            </p:txBody>
          </p:sp>
        </mc:Choice>
        <mc:Fallback xmlns="">
          <p:sp>
            <p:nvSpPr>
              <p:cNvPr id="74" name="ZoneTexte 73">
                <a:extLst>
                  <a:ext uri="{FF2B5EF4-FFF2-40B4-BE49-F238E27FC236}">
                    <a16:creationId xmlns:a16="http://schemas.microsoft.com/office/drawing/2014/main" id="{714AEC8B-FEDE-3347-72E5-741F6E457897}"/>
                  </a:ext>
                </a:extLst>
              </p:cNvPr>
              <p:cNvSpPr txBox="1">
                <a:spLocks noRot="1" noChangeAspect="1" noMove="1" noResize="1" noEditPoints="1" noAdjustHandles="1" noChangeArrowheads="1" noChangeShapeType="1" noTextEdit="1"/>
              </p:cNvSpPr>
              <p:nvPr/>
            </p:nvSpPr>
            <p:spPr>
              <a:xfrm>
                <a:off x="559514" y="4127330"/>
                <a:ext cx="429348" cy="246221"/>
              </a:xfrm>
              <a:prstGeom prst="rect">
                <a:avLst/>
              </a:prstGeom>
              <a:blipFill>
                <a:blip r:embed="rId11"/>
                <a:stretch>
                  <a:fillRect l="-14706" r="-5882" b="-1428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5" name="Rectangle : coins arrondis 74">
                <a:extLst>
                  <a:ext uri="{FF2B5EF4-FFF2-40B4-BE49-F238E27FC236}">
                    <a16:creationId xmlns:a16="http://schemas.microsoft.com/office/drawing/2014/main" id="{463FCA21-F007-46FA-B197-E8A67A98AE67}"/>
                  </a:ext>
                </a:extLst>
              </p:cNvPr>
              <p:cNvSpPr/>
              <p:nvPr/>
            </p:nvSpPr>
            <p:spPr>
              <a:xfrm>
                <a:off x="190014" y="4123657"/>
                <a:ext cx="34544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fr-FR" sz="1050" b="0" i="1" smtClean="0">
                          <a:solidFill>
                            <a:schemeClr val="tx1"/>
                          </a:solidFill>
                          <a:latin typeface="Cambria Math" panose="02040503050406030204" pitchFamily="18" charset="0"/>
                        </a:rPr>
                        <m:t>0</m:t>
                      </m:r>
                    </m:oMath>
                  </m:oMathPara>
                </a14:m>
                <a:endParaRPr lang="fr-FR" sz="1050" b="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fr-FR" sz="1050" b="0" i="1" smtClean="0">
                          <a:solidFill>
                            <a:schemeClr val="tx1"/>
                          </a:solidFill>
                          <a:latin typeface="Cambria Math" panose="02040503050406030204" pitchFamily="18" charset="0"/>
                        </a:rPr>
                        <m:t>0</m:t>
                      </m:r>
                    </m:oMath>
                  </m:oMathPara>
                </a14:m>
                <a:endParaRPr lang="fr-FR" sz="1050" b="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fr-FR" sz="1050" b="0" i="1" smtClean="0">
                          <a:solidFill>
                            <a:schemeClr val="tx1"/>
                          </a:solidFill>
                          <a:latin typeface="Cambria Math" panose="02040503050406030204" pitchFamily="18" charset="0"/>
                        </a:rPr>
                        <m:t>0</m:t>
                      </m:r>
                    </m:oMath>
                  </m:oMathPara>
                </a14:m>
                <a:endParaRPr lang="fr-FR" sz="1050" b="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fr-FR" sz="1050" b="0" i="1" smtClean="0">
                          <a:solidFill>
                            <a:schemeClr val="tx1"/>
                          </a:solidFill>
                          <a:latin typeface="Cambria Math" panose="02040503050406030204" pitchFamily="18" charset="0"/>
                        </a:rPr>
                        <m:t>0</m:t>
                      </m:r>
                    </m:oMath>
                  </m:oMathPara>
                </a14:m>
                <a:endParaRPr lang="en-GB" sz="1050" dirty="0">
                  <a:solidFill>
                    <a:schemeClr val="tx1"/>
                  </a:solidFill>
                </a:endParaRPr>
              </a:p>
            </p:txBody>
          </p:sp>
        </mc:Choice>
        <mc:Fallback xmlns="">
          <p:sp>
            <p:nvSpPr>
              <p:cNvPr id="75" name="Rectangle : coins arrondis 74">
                <a:extLst>
                  <a:ext uri="{FF2B5EF4-FFF2-40B4-BE49-F238E27FC236}">
                    <a16:creationId xmlns:a16="http://schemas.microsoft.com/office/drawing/2014/main" id="{463FCA21-F007-46FA-B197-E8A67A98AE67}"/>
                  </a:ext>
                </a:extLst>
              </p:cNvPr>
              <p:cNvSpPr>
                <a:spLocks noRot="1" noChangeAspect="1" noMove="1" noResize="1" noEditPoints="1" noAdjustHandles="1" noChangeArrowheads="1" noChangeShapeType="1" noTextEdit="1"/>
              </p:cNvSpPr>
              <p:nvPr/>
            </p:nvSpPr>
            <p:spPr>
              <a:xfrm>
                <a:off x="190014" y="4123657"/>
                <a:ext cx="345440" cy="762000"/>
              </a:xfrm>
              <a:prstGeom prst="roundRect">
                <a:avLst/>
              </a:prstGeom>
              <a:blipFill>
                <a:blip r:embed="rId12"/>
                <a:stretch>
                  <a:fillRect/>
                </a:stretch>
              </a:blipFill>
              <a:ln w="6350"/>
            </p:spPr>
            <p:txBody>
              <a:bodyPr/>
              <a:lstStyle/>
              <a:p>
                <a:r>
                  <a:rPr lang="en-GB">
                    <a:noFill/>
                  </a:rPr>
                  <a:t> </a:t>
                </a:r>
              </a:p>
            </p:txBody>
          </p:sp>
        </mc:Fallback>
      </mc:AlternateContent>
      <p:cxnSp>
        <p:nvCxnSpPr>
          <p:cNvPr id="76" name="Connecteur droit avec flèche 75">
            <a:extLst>
              <a:ext uri="{FF2B5EF4-FFF2-40B4-BE49-F238E27FC236}">
                <a16:creationId xmlns:a16="http://schemas.microsoft.com/office/drawing/2014/main" id="{276AE2E1-A15C-E0C4-E025-E1CA9B381648}"/>
              </a:ext>
            </a:extLst>
          </p:cNvPr>
          <p:cNvCxnSpPr>
            <a:cxnSpLocks/>
            <a:stCxn id="75" idx="3"/>
            <a:endCxn id="7" idx="1"/>
          </p:cNvCxnSpPr>
          <p:nvPr/>
        </p:nvCxnSpPr>
        <p:spPr>
          <a:xfrm flipV="1">
            <a:off x="535454" y="4500541"/>
            <a:ext cx="490706" cy="41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3" name="Espace réservé du pied de page 2">
            <a:extLst>
              <a:ext uri="{FF2B5EF4-FFF2-40B4-BE49-F238E27FC236}">
                <a16:creationId xmlns:a16="http://schemas.microsoft.com/office/drawing/2014/main" id="{BF060BAD-B897-72C6-0651-28BA4475DADE}"/>
              </a:ext>
            </a:extLst>
          </p:cNvPr>
          <p:cNvSpPr>
            <a:spLocks noGrp="1"/>
          </p:cNvSpPr>
          <p:nvPr>
            <p:ph type="ftr" sz="quarter" idx="11"/>
          </p:nvPr>
        </p:nvSpPr>
        <p:spPr>
          <a:xfrm>
            <a:off x="4038600" y="6356350"/>
            <a:ext cx="4549346" cy="365125"/>
          </a:xfrm>
        </p:spPr>
        <p:txBody>
          <a:bodyPr/>
          <a:lstStyle/>
          <a:p>
            <a:r>
              <a:rPr lang="en-GB" noProof="1"/>
              <a:t>RNN. Author: David Thébault – Based on NLPDemystified.org</a:t>
            </a:r>
          </a:p>
        </p:txBody>
      </p:sp>
      <mc:AlternateContent xmlns:mc="http://schemas.openxmlformats.org/markup-compatibility/2006" xmlns:a14="http://schemas.microsoft.com/office/drawing/2010/main">
        <mc:Choice Requires="a14">
          <p:sp>
            <p:nvSpPr>
              <p:cNvPr id="84" name="ZoneTexte 83">
                <a:extLst>
                  <a:ext uri="{FF2B5EF4-FFF2-40B4-BE49-F238E27FC236}">
                    <a16:creationId xmlns:a16="http://schemas.microsoft.com/office/drawing/2014/main" id="{7AD81784-0D9C-C6F8-0F0E-13D437BFCF41}"/>
                  </a:ext>
                </a:extLst>
              </p:cNvPr>
              <p:cNvSpPr txBox="1"/>
              <p:nvPr/>
            </p:nvSpPr>
            <p:spPr>
              <a:xfrm>
                <a:off x="1101272" y="2953688"/>
                <a:ext cx="424539"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solidFill>
                                <a:srgbClr val="C00000"/>
                              </a:solidFill>
                              <a:latin typeface="Cambria Math" panose="02040503050406030204" pitchFamily="18" charset="0"/>
                            </a:rPr>
                          </m:ctrlPr>
                        </m:sSubPr>
                        <m:e>
                          <m:r>
                            <a:rPr lang="fr-FR" sz="1600" b="0" i="1" smtClean="0">
                              <a:solidFill>
                                <a:srgbClr val="C00000"/>
                              </a:solidFill>
                              <a:latin typeface="Cambria Math" panose="02040503050406030204" pitchFamily="18" charset="0"/>
                            </a:rPr>
                            <m:t>𝐿</m:t>
                          </m:r>
                        </m:e>
                        <m:sub>
                          <m:r>
                            <a:rPr lang="fr-FR" sz="1600" b="0" i="1" smtClean="0">
                              <a:solidFill>
                                <a:srgbClr val="C00000"/>
                              </a:solidFill>
                              <a:latin typeface="Cambria Math" panose="02040503050406030204" pitchFamily="18" charset="0"/>
                            </a:rPr>
                            <m:t>𝑡</m:t>
                          </m:r>
                          <m:r>
                            <a:rPr lang="fr-FR" sz="1600" b="0" i="1" smtClean="0">
                              <a:solidFill>
                                <a:srgbClr val="C00000"/>
                              </a:solidFill>
                              <a:latin typeface="Cambria Math" panose="02040503050406030204" pitchFamily="18" charset="0"/>
                            </a:rPr>
                            <m:t>=1</m:t>
                          </m:r>
                        </m:sub>
                      </m:sSub>
                    </m:oMath>
                  </m:oMathPara>
                </a14:m>
                <a:endParaRPr lang="en-GB" sz="1600" dirty="0">
                  <a:solidFill>
                    <a:srgbClr val="C00000"/>
                  </a:solidFill>
                </a:endParaRPr>
              </a:p>
            </p:txBody>
          </p:sp>
        </mc:Choice>
        <mc:Fallback xmlns="">
          <p:sp>
            <p:nvSpPr>
              <p:cNvPr id="84" name="ZoneTexte 83">
                <a:extLst>
                  <a:ext uri="{FF2B5EF4-FFF2-40B4-BE49-F238E27FC236}">
                    <a16:creationId xmlns:a16="http://schemas.microsoft.com/office/drawing/2014/main" id="{7AD81784-0D9C-C6F8-0F0E-13D437BFCF41}"/>
                  </a:ext>
                </a:extLst>
              </p:cNvPr>
              <p:cNvSpPr txBox="1">
                <a:spLocks noRot="1" noChangeAspect="1" noMove="1" noResize="1" noEditPoints="1" noAdjustHandles="1" noChangeArrowheads="1" noChangeShapeType="1" noTextEdit="1"/>
              </p:cNvSpPr>
              <p:nvPr/>
            </p:nvSpPr>
            <p:spPr>
              <a:xfrm>
                <a:off x="1101272" y="2953688"/>
                <a:ext cx="424539" cy="246221"/>
              </a:xfrm>
              <a:prstGeom prst="rect">
                <a:avLst/>
              </a:prstGeom>
              <a:blipFill>
                <a:blip r:embed="rId13"/>
                <a:stretch>
                  <a:fillRect l="-11429" r="-2857" b="-952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8" name="ZoneTexte 87">
                <a:extLst>
                  <a:ext uri="{FF2B5EF4-FFF2-40B4-BE49-F238E27FC236}">
                    <a16:creationId xmlns:a16="http://schemas.microsoft.com/office/drawing/2014/main" id="{74CF2946-D5C6-E009-B7B2-BD8F833C1CB4}"/>
                  </a:ext>
                </a:extLst>
              </p:cNvPr>
              <p:cNvSpPr txBox="1"/>
              <p:nvPr/>
            </p:nvSpPr>
            <p:spPr>
              <a:xfrm>
                <a:off x="17016" y="2983884"/>
                <a:ext cx="1115546" cy="2616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fr-FR" sz="1100" b="0" i="1" smtClean="0">
                          <a:solidFill>
                            <a:schemeClr val="bg1">
                              <a:lumMod val="50000"/>
                            </a:schemeClr>
                          </a:solidFill>
                          <a:latin typeface="Cambria Math" panose="02040503050406030204" pitchFamily="18" charset="0"/>
                        </a:rPr>
                        <m:t>𝐿𝑜𝑠𝑠</m:t>
                      </m:r>
                      <m:r>
                        <a:rPr lang="fr-FR" sz="1100" b="0" i="1" smtClean="0">
                          <a:solidFill>
                            <a:schemeClr val="bg1">
                              <a:lumMod val="50000"/>
                            </a:schemeClr>
                          </a:solidFill>
                          <a:latin typeface="Cambria Math" panose="02040503050406030204" pitchFamily="18" charset="0"/>
                        </a:rPr>
                        <m:t> </m:t>
                      </m:r>
                      <m:r>
                        <a:rPr lang="fr-FR" sz="1100" b="0" i="1" smtClean="0">
                          <a:solidFill>
                            <a:schemeClr val="bg1">
                              <a:lumMod val="50000"/>
                            </a:schemeClr>
                          </a:solidFill>
                          <a:latin typeface="Cambria Math" panose="02040503050406030204" pitchFamily="18" charset="0"/>
                        </a:rPr>
                        <m:t>𝑎𝑡</m:t>
                      </m:r>
                      <m:r>
                        <a:rPr lang="fr-FR" sz="1100" b="0" i="1" smtClean="0">
                          <a:solidFill>
                            <a:schemeClr val="bg1">
                              <a:lumMod val="50000"/>
                            </a:schemeClr>
                          </a:solidFill>
                          <a:latin typeface="Cambria Math" panose="02040503050406030204" pitchFamily="18" charset="0"/>
                        </a:rPr>
                        <m:t> </m:t>
                      </m:r>
                      <m:r>
                        <a:rPr lang="fr-FR" sz="1100" b="0" i="1" smtClean="0">
                          <a:solidFill>
                            <a:schemeClr val="bg1">
                              <a:lumMod val="50000"/>
                            </a:schemeClr>
                          </a:solidFill>
                          <a:latin typeface="Cambria Math" panose="02040503050406030204" pitchFamily="18" charset="0"/>
                        </a:rPr>
                        <m:t>𝑡</m:t>
                      </m:r>
                      <m:r>
                        <a:rPr lang="fr-FR" sz="1100" b="0" i="1" smtClean="0">
                          <a:solidFill>
                            <a:schemeClr val="bg1">
                              <a:lumMod val="50000"/>
                            </a:schemeClr>
                          </a:solidFill>
                          <a:latin typeface="Cambria Math" panose="02040503050406030204" pitchFamily="18" charset="0"/>
                        </a:rPr>
                        <m:t>=1</m:t>
                      </m:r>
                    </m:oMath>
                  </m:oMathPara>
                </a14:m>
                <a:endParaRPr lang="fr-FR" sz="1100" b="0" dirty="0">
                  <a:solidFill>
                    <a:schemeClr val="bg1">
                      <a:lumMod val="50000"/>
                    </a:schemeClr>
                  </a:solidFill>
                </a:endParaRPr>
              </a:p>
            </p:txBody>
          </p:sp>
        </mc:Choice>
        <mc:Fallback xmlns="">
          <p:sp>
            <p:nvSpPr>
              <p:cNvPr id="88" name="ZoneTexte 87">
                <a:extLst>
                  <a:ext uri="{FF2B5EF4-FFF2-40B4-BE49-F238E27FC236}">
                    <a16:creationId xmlns:a16="http://schemas.microsoft.com/office/drawing/2014/main" id="{74CF2946-D5C6-E009-B7B2-BD8F833C1CB4}"/>
                  </a:ext>
                </a:extLst>
              </p:cNvPr>
              <p:cNvSpPr txBox="1">
                <a:spLocks noRot="1" noChangeAspect="1" noMove="1" noResize="1" noEditPoints="1" noAdjustHandles="1" noChangeArrowheads="1" noChangeShapeType="1" noTextEdit="1"/>
              </p:cNvSpPr>
              <p:nvPr/>
            </p:nvSpPr>
            <p:spPr>
              <a:xfrm>
                <a:off x="17016" y="2983884"/>
                <a:ext cx="1115546" cy="261610"/>
              </a:xfrm>
              <a:prstGeom prst="rect">
                <a:avLst/>
              </a:prstGeom>
              <a:blipFill>
                <a:blip r:embed="rId14"/>
                <a:stretch>
                  <a:fillRect b="-454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9" name="ZoneTexte 88">
                <a:extLst>
                  <a:ext uri="{FF2B5EF4-FFF2-40B4-BE49-F238E27FC236}">
                    <a16:creationId xmlns:a16="http://schemas.microsoft.com/office/drawing/2014/main" id="{DBF16E45-D6CA-D2E5-9DB7-669DFD3E911D}"/>
                  </a:ext>
                </a:extLst>
              </p:cNvPr>
              <p:cNvSpPr txBox="1"/>
              <p:nvPr/>
            </p:nvSpPr>
            <p:spPr>
              <a:xfrm>
                <a:off x="5857956" y="2716658"/>
                <a:ext cx="1121653" cy="6923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sz="1600" b="0" i="1" smtClean="0">
                          <a:solidFill>
                            <a:srgbClr val="C00000"/>
                          </a:solidFill>
                          <a:latin typeface="Cambria Math" panose="02040503050406030204" pitchFamily="18" charset="0"/>
                        </a:rPr>
                        <m:t>𝐿</m:t>
                      </m:r>
                      <m:r>
                        <a:rPr lang="fr-FR" sz="1600" b="0" i="1" smtClean="0">
                          <a:solidFill>
                            <a:srgbClr val="C00000"/>
                          </a:solidFill>
                          <a:latin typeface="Cambria Math" panose="02040503050406030204" pitchFamily="18" charset="0"/>
                        </a:rPr>
                        <m:t>= </m:t>
                      </m:r>
                      <m:f>
                        <m:fPr>
                          <m:ctrlPr>
                            <a:rPr lang="fr-FR" sz="1600" b="0" i="1" smtClean="0">
                              <a:solidFill>
                                <a:srgbClr val="C00000"/>
                              </a:solidFill>
                              <a:latin typeface="Cambria Math" panose="02040503050406030204" pitchFamily="18" charset="0"/>
                            </a:rPr>
                          </m:ctrlPr>
                        </m:fPr>
                        <m:num>
                          <m:r>
                            <a:rPr lang="fr-FR" sz="1600" b="0" i="1" smtClean="0">
                              <a:solidFill>
                                <a:srgbClr val="C00000"/>
                              </a:solidFill>
                              <a:latin typeface="Cambria Math" panose="02040503050406030204" pitchFamily="18" charset="0"/>
                            </a:rPr>
                            <m:t>1</m:t>
                          </m:r>
                        </m:num>
                        <m:den>
                          <m:r>
                            <a:rPr lang="fr-FR" sz="1600" b="0" i="1" smtClean="0">
                              <a:solidFill>
                                <a:srgbClr val="C00000"/>
                              </a:solidFill>
                              <a:latin typeface="Cambria Math" panose="02040503050406030204" pitchFamily="18" charset="0"/>
                            </a:rPr>
                            <m:t>𝑇</m:t>
                          </m:r>
                        </m:den>
                      </m:f>
                      <m:nary>
                        <m:naryPr>
                          <m:chr m:val="∑"/>
                          <m:ctrlPr>
                            <a:rPr lang="fr-FR" sz="1600" b="0" i="1" smtClean="0">
                              <a:solidFill>
                                <a:srgbClr val="C00000"/>
                              </a:solidFill>
                              <a:latin typeface="Cambria Math" panose="02040503050406030204" pitchFamily="18" charset="0"/>
                            </a:rPr>
                          </m:ctrlPr>
                        </m:naryPr>
                        <m:sub>
                          <m:r>
                            <m:rPr>
                              <m:brk m:alnAt="23"/>
                            </m:rPr>
                            <a:rPr lang="fr-FR" sz="1600" b="0" i="1" smtClean="0">
                              <a:solidFill>
                                <a:srgbClr val="C00000"/>
                              </a:solidFill>
                              <a:latin typeface="Cambria Math" panose="02040503050406030204" pitchFamily="18" charset="0"/>
                            </a:rPr>
                            <m:t>𝑡</m:t>
                          </m:r>
                          <m:r>
                            <a:rPr lang="fr-FR" sz="1600" b="0" i="1" smtClean="0">
                              <a:solidFill>
                                <a:srgbClr val="C00000"/>
                              </a:solidFill>
                              <a:latin typeface="Cambria Math" panose="02040503050406030204" pitchFamily="18" charset="0"/>
                            </a:rPr>
                            <m:t>=1</m:t>
                          </m:r>
                        </m:sub>
                        <m:sup>
                          <m:r>
                            <a:rPr lang="fr-FR" sz="1600" b="0" i="1" smtClean="0">
                              <a:solidFill>
                                <a:srgbClr val="C00000"/>
                              </a:solidFill>
                              <a:latin typeface="Cambria Math" panose="02040503050406030204" pitchFamily="18" charset="0"/>
                            </a:rPr>
                            <m:t>𝑇</m:t>
                          </m:r>
                        </m:sup>
                        <m:e>
                          <m:sSub>
                            <m:sSubPr>
                              <m:ctrlPr>
                                <a:rPr lang="fr-FR" sz="1600" b="0" i="1" smtClean="0">
                                  <a:solidFill>
                                    <a:srgbClr val="C00000"/>
                                  </a:solidFill>
                                  <a:latin typeface="Cambria Math" panose="02040503050406030204" pitchFamily="18" charset="0"/>
                                </a:rPr>
                              </m:ctrlPr>
                            </m:sSubPr>
                            <m:e>
                              <m:r>
                                <a:rPr lang="fr-FR" sz="1600" b="0" i="1" smtClean="0">
                                  <a:solidFill>
                                    <a:srgbClr val="C00000"/>
                                  </a:solidFill>
                                  <a:latin typeface="Cambria Math" panose="02040503050406030204" pitchFamily="18" charset="0"/>
                                </a:rPr>
                                <m:t>𝐿</m:t>
                              </m:r>
                            </m:e>
                            <m:sub>
                              <m:r>
                                <a:rPr lang="fr-FR" sz="1600" b="0" i="1" smtClean="0">
                                  <a:solidFill>
                                    <a:srgbClr val="C00000"/>
                                  </a:solidFill>
                                  <a:latin typeface="Cambria Math" panose="02040503050406030204" pitchFamily="18" charset="0"/>
                                </a:rPr>
                                <m:t>𝑡</m:t>
                              </m:r>
                            </m:sub>
                          </m:sSub>
                        </m:e>
                      </m:nary>
                    </m:oMath>
                  </m:oMathPara>
                </a14:m>
                <a:endParaRPr lang="en-GB" sz="1600" dirty="0">
                  <a:solidFill>
                    <a:srgbClr val="C00000"/>
                  </a:solidFill>
                </a:endParaRPr>
              </a:p>
            </p:txBody>
          </p:sp>
        </mc:Choice>
        <mc:Fallback xmlns="">
          <p:sp>
            <p:nvSpPr>
              <p:cNvPr id="89" name="ZoneTexte 88">
                <a:extLst>
                  <a:ext uri="{FF2B5EF4-FFF2-40B4-BE49-F238E27FC236}">
                    <a16:creationId xmlns:a16="http://schemas.microsoft.com/office/drawing/2014/main" id="{DBF16E45-D6CA-D2E5-9DB7-669DFD3E911D}"/>
                  </a:ext>
                </a:extLst>
              </p:cNvPr>
              <p:cNvSpPr txBox="1">
                <a:spLocks noRot="1" noChangeAspect="1" noMove="1" noResize="1" noEditPoints="1" noAdjustHandles="1" noChangeArrowheads="1" noChangeShapeType="1" noTextEdit="1"/>
              </p:cNvSpPr>
              <p:nvPr/>
            </p:nvSpPr>
            <p:spPr>
              <a:xfrm>
                <a:off x="5857956" y="2716658"/>
                <a:ext cx="1121653" cy="692369"/>
              </a:xfrm>
              <a:prstGeom prst="rect">
                <a:avLst/>
              </a:prstGeom>
              <a:blipFill>
                <a:blip r:embed="rId15"/>
                <a:stretch>
                  <a:fillRect l="-16854" t="-118182" r="-24719" b="-18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0" name="ZoneTexte 89">
                <a:extLst>
                  <a:ext uri="{FF2B5EF4-FFF2-40B4-BE49-F238E27FC236}">
                    <a16:creationId xmlns:a16="http://schemas.microsoft.com/office/drawing/2014/main" id="{CAC90A95-BB67-7B0F-6224-242785B1549C}"/>
                  </a:ext>
                </a:extLst>
              </p:cNvPr>
              <p:cNvSpPr txBox="1"/>
              <p:nvPr/>
            </p:nvSpPr>
            <p:spPr>
              <a:xfrm>
                <a:off x="1768452" y="2941960"/>
                <a:ext cx="31540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1600" b="0" i="1" smtClean="0">
                          <a:solidFill>
                            <a:srgbClr val="C00000"/>
                          </a:solidFill>
                          <a:latin typeface="Cambria Math" panose="02040503050406030204" pitchFamily="18" charset="0"/>
                        </a:rPr>
                        <m:t>+</m:t>
                      </m:r>
                    </m:oMath>
                  </m:oMathPara>
                </a14:m>
                <a:endParaRPr lang="en-GB" sz="1600" dirty="0">
                  <a:solidFill>
                    <a:srgbClr val="C00000"/>
                  </a:solidFill>
                </a:endParaRPr>
              </a:p>
            </p:txBody>
          </p:sp>
        </mc:Choice>
        <mc:Fallback xmlns="">
          <p:sp>
            <p:nvSpPr>
              <p:cNvPr id="90" name="ZoneTexte 89">
                <a:extLst>
                  <a:ext uri="{FF2B5EF4-FFF2-40B4-BE49-F238E27FC236}">
                    <a16:creationId xmlns:a16="http://schemas.microsoft.com/office/drawing/2014/main" id="{CAC90A95-BB67-7B0F-6224-242785B1549C}"/>
                  </a:ext>
                </a:extLst>
              </p:cNvPr>
              <p:cNvSpPr txBox="1">
                <a:spLocks noRot="1" noChangeAspect="1" noMove="1" noResize="1" noEditPoints="1" noAdjustHandles="1" noChangeArrowheads="1" noChangeShapeType="1" noTextEdit="1"/>
              </p:cNvSpPr>
              <p:nvPr/>
            </p:nvSpPr>
            <p:spPr>
              <a:xfrm>
                <a:off x="1768452" y="2941960"/>
                <a:ext cx="315402" cy="246221"/>
              </a:xfrm>
              <a:prstGeom prst="rect">
                <a:avLst/>
              </a:prstGeom>
              <a:blipFill>
                <a:blip r:embed="rId16"/>
                <a:stretch>
                  <a:fillRect b="-476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1" name="ZoneTexte 90">
                <a:extLst>
                  <a:ext uri="{FF2B5EF4-FFF2-40B4-BE49-F238E27FC236}">
                    <a16:creationId xmlns:a16="http://schemas.microsoft.com/office/drawing/2014/main" id="{B45CF47C-F953-0105-D9A5-FBADDD3648D7}"/>
                  </a:ext>
                </a:extLst>
              </p:cNvPr>
              <p:cNvSpPr txBox="1"/>
              <p:nvPr/>
            </p:nvSpPr>
            <p:spPr>
              <a:xfrm>
                <a:off x="3041201" y="2941960"/>
                <a:ext cx="31540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1600" b="0" i="1" smtClean="0">
                          <a:solidFill>
                            <a:srgbClr val="C00000"/>
                          </a:solidFill>
                          <a:latin typeface="Cambria Math" panose="02040503050406030204" pitchFamily="18" charset="0"/>
                        </a:rPr>
                        <m:t>+</m:t>
                      </m:r>
                    </m:oMath>
                  </m:oMathPara>
                </a14:m>
                <a:endParaRPr lang="en-GB" sz="1600" dirty="0">
                  <a:solidFill>
                    <a:srgbClr val="C00000"/>
                  </a:solidFill>
                </a:endParaRPr>
              </a:p>
            </p:txBody>
          </p:sp>
        </mc:Choice>
        <mc:Fallback xmlns="">
          <p:sp>
            <p:nvSpPr>
              <p:cNvPr id="91" name="ZoneTexte 90">
                <a:extLst>
                  <a:ext uri="{FF2B5EF4-FFF2-40B4-BE49-F238E27FC236}">
                    <a16:creationId xmlns:a16="http://schemas.microsoft.com/office/drawing/2014/main" id="{B45CF47C-F953-0105-D9A5-FBADDD3648D7}"/>
                  </a:ext>
                </a:extLst>
              </p:cNvPr>
              <p:cNvSpPr txBox="1">
                <a:spLocks noRot="1" noChangeAspect="1" noMove="1" noResize="1" noEditPoints="1" noAdjustHandles="1" noChangeArrowheads="1" noChangeShapeType="1" noTextEdit="1"/>
              </p:cNvSpPr>
              <p:nvPr/>
            </p:nvSpPr>
            <p:spPr>
              <a:xfrm>
                <a:off x="3041201" y="2941960"/>
                <a:ext cx="315402" cy="246221"/>
              </a:xfrm>
              <a:prstGeom prst="rect">
                <a:avLst/>
              </a:prstGeom>
              <a:blipFill>
                <a:blip r:embed="rId17"/>
                <a:stretch>
                  <a:fillRect b="-476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2" name="ZoneTexte 91">
                <a:extLst>
                  <a:ext uri="{FF2B5EF4-FFF2-40B4-BE49-F238E27FC236}">
                    <a16:creationId xmlns:a16="http://schemas.microsoft.com/office/drawing/2014/main" id="{E3804904-E0BD-2D91-50F5-B5DEC79855AC}"/>
                  </a:ext>
                </a:extLst>
              </p:cNvPr>
              <p:cNvSpPr txBox="1"/>
              <p:nvPr/>
            </p:nvSpPr>
            <p:spPr>
              <a:xfrm>
                <a:off x="4301597" y="2941960"/>
                <a:ext cx="31540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1600" b="0" i="1" smtClean="0">
                          <a:solidFill>
                            <a:srgbClr val="C00000"/>
                          </a:solidFill>
                          <a:latin typeface="Cambria Math" panose="02040503050406030204" pitchFamily="18" charset="0"/>
                        </a:rPr>
                        <m:t>+</m:t>
                      </m:r>
                    </m:oMath>
                  </m:oMathPara>
                </a14:m>
                <a:endParaRPr lang="en-GB" sz="1600" dirty="0">
                  <a:solidFill>
                    <a:srgbClr val="C00000"/>
                  </a:solidFill>
                </a:endParaRPr>
              </a:p>
            </p:txBody>
          </p:sp>
        </mc:Choice>
        <mc:Fallback xmlns="">
          <p:sp>
            <p:nvSpPr>
              <p:cNvPr id="92" name="ZoneTexte 91">
                <a:extLst>
                  <a:ext uri="{FF2B5EF4-FFF2-40B4-BE49-F238E27FC236}">
                    <a16:creationId xmlns:a16="http://schemas.microsoft.com/office/drawing/2014/main" id="{E3804904-E0BD-2D91-50F5-B5DEC79855AC}"/>
                  </a:ext>
                </a:extLst>
              </p:cNvPr>
              <p:cNvSpPr txBox="1">
                <a:spLocks noRot="1" noChangeAspect="1" noMove="1" noResize="1" noEditPoints="1" noAdjustHandles="1" noChangeArrowheads="1" noChangeShapeType="1" noTextEdit="1"/>
              </p:cNvSpPr>
              <p:nvPr/>
            </p:nvSpPr>
            <p:spPr>
              <a:xfrm>
                <a:off x="4301597" y="2941960"/>
                <a:ext cx="315402" cy="246221"/>
              </a:xfrm>
              <a:prstGeom prst="rect">
                <a:avLst/>
              </a:prstGeom>
              <a:blipFill>
                <a:blip r:embed="rId18"/>
                <a:stretch>
                  <a:fillRect b="-476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3" name="ZoneTexte 92">
                <a:extLst>
                  <a:ext uri="{FF2B5EF4-FFF2-40B4-BE49-F238E27FC236}">
                    <a16:creationId xmlns:a16="http://schemas.microsoft.com/office/drawing/2014/main" id="{A47268F6-7839-1C0B-F07F-1C8579B9605A}"/>
                  </a:ext>
                </a:extLst>
              </p:cNvPr>
              <p:cNvSpPr txBox="1"/>
              <p:nvPr/>
            </p:nvSpPr>
            <p:spPr>
              <a:xfrm>
                <a:off x="5430182" y="2946076"/>
                <a:ext cx="31540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1600" b="0" i="1" smtClean="0">
                          <a:solidFill>
                            <a:srgbClr val="C00000"/>
                          </a:solidFill>
                          <a:latin typeface="Cambria Math" panose="02040503050406030204" pitchFamily="18" charset="0"/>
                          <a:ea typeface="Cambria Math" panose="02040503050406030204" pitchFamily="18" charset="0"/>
                        </a:rPr>
                        <m:t>⟹</m:t>
                      </m:r>
                    </m:oMath>
                  </m:oMathPara>
                </a14:m>
                <a:endParaRPr lang="en-GB" sz="1600" dirty="0">
                  <a:solidFill>
                    <a:srgbClr val="C00000"/>
                  </a:solidFill>
                </a:endParaRPr>
              </a:p>
            </p:txBody>
          </p:sp>
        </mc:Choice>
        <mc:Fallback xmlns="">
          <p:sp>
            <p:nvSpPr>
              <p:cNvPr id="93" name="ZoneTexte 92">
                <a:extLst>
                  <a:ext uri="{FF2B5EF4-FFF2-40B4-BE49-F238E27FC236}">
                    <a16:creationId xmlns:a16="http://schemas.microsoft.com/office/drawing/2014/main" id="{A47268F6-7839-1C0B-F07F-1C8579B9605A}"/>
                  </a:ext>
                </a:extLst>
              </p:cNvPr>
              <p:cNvSpPr txBox="1">
                <a:spLocks noRot="1" noChangeAspect="1" noMove="1" noResize="1" noEditPoints="1" noAdjustHandles="1" noChangeArrowheads="1" noChangeShapeType="1" noTextEdit="1"/>
              </p:cNvSpPr>
              <p:nvPr/>
            </p:nvSpPr>
            <p:spPr>
              <a:xfrm>
                <a:off x="5430182" y="2946076"/>
                <a:ext cx="315402" cy="246221"/>
              </a:xfrm>
              <a:prstGeom prst="rect">
                <a:avLst/>
              </a:prstGeom>
              <a:blipFill>
                <a:blip r:embed="rId19"/>
                <a:stretch>
                  <a:fillRect l="-7692" r="-769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4" name="ZoneTexte 93">
                <a:extLst>
                  <a:ext uri="{FF2B5EF4-FFF2-40B4-BE49-F238E27FC236}">
                    <a16:creationId xmlns:a16="http://schemas.microsoft.com/office/drawing/2014/main" id="{4EC6FF0E-BFBD-9D4F-90F5-302C70114D96}"/>
                  </a:ext>
                </a:extLst>
              </p:cNvPr>
              <p:cNvSpPr txBox="1"/>
              <p:nvPr/>
            </p:nvSpPr>
            <p:spPr>
              <a:xfrm>
                <a:off x="5837242" y="3692883"/>
                <a:ext cx="1260409" cy="6923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fr-FR" sz="1600" b="0" i="1" dirty="0" smtClean="0">
                              <a:solidFill>
                                <a:schemeClr val="tx1"/>
                              </a:solidFill>
                              <a:latin typeface="Cambria Math" panose="02040503050406030204" pitchFamily="18" charset="0"/>
                            </a:rPr>
                          </m:ctrlPr>
                        </m:fPr>
                        <m:num>
                          <m:r>
                            <a:rPr lang="fr-FR" sz="1600" b="0" i="1" dirty="0" smtClean="0">
                              <a:solidFill>
                                <a:schemeClr val="tx1"/>
                              </a:solidFill>
                              <a:latin typeface="Cambria Math" panose="02040503050406030204" pitchFamily="18" charset="0"/>
                            </a:rPr>
                            <m:t>𝜕</m:t>
                          </m:r>
                          <m:r>
                            <a:rPr lang="fr-FR" sz="1600" b="0" i="1" dirty="0" smtClean="0">
                              <a:solidFill>
                                <a:schemeClr val="tx1"/>
                              </a:solidFill>
                              <a:latin typeface="Cambria Math" panose="02040503050406030204" pitchFamily="18" charset="0"/>
                            </a:rPr>
                            <m:t>𝐿</m:t>
                          </m:r>
                        </m:num>
                        <m:den>
                          <m:r>
                            <a:rPr lang="fr-FR" sz="1600" b="0" i="1" dirty="0" smtClean="0">
                              <a:solidFill>
                                <a:schemeClr val="tx1"/>
                              </a:solidFill>
                              <a:latin typeface="Cambria Math" panose="02040503050406030204" pitchFamily="18" charset="0"/>
                            </a:rPr>
                            <m:t>𝜕</m:t>
                          </m:r>
                          <m:r>
                            <a:rPr lang="fr-FR" sz="1600" b="0" i="1" dirty="0" smtClean="0">
                              <a:solidFill>
                                <a:schemeClr val="tx1"/>
                              </a:solidFill>
                              <a:latin typeface="Cambria Math" panose="02040503050406030204" pitchFamily="18" charset="0"/>
                            </a:rPr>
                            <m:t>𝑉</m:t>
                          </m:r>
                        </m:den>
                      </m:f>
                      <m:r>
                        <a:rPr lang="fr-FR" sz="1600" b="0" i="1" dirty="0" smtClean="0">
                          <a:solidFill>
                            <a:schemeClr val="tx1"/>
                          </a:solidFill>
                          <a:latin typeface="Cambria Math" panose="02040503050406030204" pitchFamily="18" charset="0"/>
                        </a:rPr>
                        <m:t>= </m:t>
                      </m:r>
                      <m:nary>
                        <m:naryPr>
                          <m:chr m:val="∑"/>
                          <m:ctrlPr>
                            <a:rPr lang="fr-FR" sz="1600" b="0" i="1" dirty="0" smtClean="0">
                              <a:solidFill>
                                <a:schemeClr val="tx1"/>
                              </a:solidFill>
                              <a:latin typeface="Cambria Math" panose="02040503050406030204" pitchFamily="18" charset="0"/>
                            </a:rPr>
                          </m:ctrlPr>
                        </m:naryPr>
                        <m:sub>
                          <m:r>
                            <m:rPr>
                              <m:brk m:alnAt="23"/>
                            </m:rPr>
                            <a:rPr lang="fr-FR" sz="1600" b="0" i="1" dirty="0" smtClean="0">
                              <a:solidFill>
                                <a:schemeClr val="tx1"/>
                              </a:solidFill>
                              <a:latin typeface="Cambria Math" panose="02040503050406030204" pitchFamily="18" charset="0"/>
                            </a:rPr>
                            <m:t>𝑡</m:t>
                          </m:r>
                          <m:r>
                            <a:rPr lang="fr-FR" sz="1600" b="0" i="1" dirty="0" smtClean="0">
                              <a:solidFill>
                                <a:schemeClr val="tx1"/>
                              </a:solidFill>
                              <a:latin typeface="Cambria Math" panose="02040503050406030204" pitchFamily="18" charset="0"/>
                            </a:rPr>
                            <m:t>=1</m:t>
                          </m:r>
                        </m:sub>
                        <m:sup>
                          <m:r>
                            <a:rPr lang="fr-FR" sz="1600" b="0" i="1" dirty="0" smtClean="0">
                              <a:solidFill>
                                <a:schemeClr val="tx1"/>
                              </a:solidFill>
                              <a:latin typeface="Cambria Math" panose="02040503050406030204" pitchFamily="18" charset="0"/>
                            </a:rPr>
                            <m:t>𝑇</m:t>
                          </m:r>
                        </m:sup>
                        <m:e>
                          <m:f>
                            <m:fPr>
                              <m:ctrlPr>
                                <a:rPr lang="fr-FR" sz="1600" b="0" i="1" dirty="0" smtClean="0">
                                  <a:solidFill>
                                    <a:schemeClr val="tx1"/>
                                  </a:solidFill>
                                  <a:latin typeface="Cambria Math" panose="02040503050406030204" pitchFamily="18" charset="0"/>
                                </a:rPr>
                              </m:ctrlPr>
                            </m:fPr>
                            <m:num>
                              <m:r>
                                <a:rPr lang="fr-FR" sz="1600" b="0" i="1" dirty="0" smtClean="0">
                                  <a:solidFill>
                                    <a:schemeClr val="tx1"/>
                                  </a:solidFill>
                                  <a:latin typeface="Cambria Math" panose="02040503050406030204" pitchFamily="18" charset="0"/>
                                </a:rPr>
                                <m:t>𝜕</m:t>
                              </m:r>
                              <m:sSub>
                                <m:sSubPr>
                                  <m:ctrlPr>
                                    <a:rPr lang="fr-FR" sz="1600" b="0" i="1" dirty="0" smtClean="0">
                                      <a:solidFill>
                                        <a:schemeClr val="tx1"/>
                                      </a:solidFill>
                                      <a:latin typeface="Cambria Math" panose="02040503050406030204" pitchFamily="18" charset="0"/>
                                    </a:rPr>
                                  </m:ctrlPr>
                                </m:sSubPr>
                                <m:e>
                                  <m:r>
                                    <a:rPr lang="fr-FR" sz="1600" b="0" i="1" dirty="0" smtClean="0">
                                      <a:solidFill>
                                        <a:schemeClr val="tx1"/>
                                      </a:solidFill>
                                      <a:latin typeface="Cambria Math" panose="02040503050406030204" pitchFamily="18" charset="0"/>
                                    </a:rPr>
                                    <m:t>𝐿</m:t>
                                  </m:r>
                                </m:e>
                                <m:sub>
                                  <m:r>
                                    <a:rPr lang="fr-FR" sz="1600" b="0" i="1" dirty="0" smtClean="0">
                                      <a:solidFill>
                                        <a:schemeClr val="tx1"/>
                                      </a:solidFill>
                                      <a:latin typeface="Cambria Math" panose="02040503050406030204" pitchFamily="18" charset="0"/>
                                    </a:rPr>
                                    <m:t>𝑡</m:t>
                                  </m:r>
                                </m:sub>
                              </m:sSub>
                            </m:num>
                            <m:den>
                              <m:r>
                                <a:rPr lang="fr-FR" sz="1600" b="0" i="1" dirty="0" smtClean="0">
                                  <a:solidFill>
                                    <a:schemeClr val="tx1"/>
                                  </a:solidFill>
                                  <a:latin typeface="Cambria Math" panose="02040503050406030204" pitchFamily="18" charset="0"/>
                                </a:rPr>
                                <m:t>𝜕</m:t>
                              </m:r>
                              <m:r>
                                <a:rPr lang="fr-FR" sz="1600" b="0" i="1" dirty="0" smtClean="0">
                                  <a:solidFill>
                                    <a:schemeClr val="tx1"/>
                                  </a:solidFill>
                                  <a:latin typeface="Cambria Math" panose="02040503050406030204" pitchFamily="18" charset="0"/>
                                </a:rPr>
                                <m:t>𝑉</m:t>
                              </m:r>
                            </m:den>
                          </m:f>
                        </m:e>
                      </m:nary>
                      <m:r>
                        <a:rPr lang="fr-FR" sz="1600" b="0" i="1" dirty="0" smtClean="0">
                          <a:solidFill>
                            <a:schemeClr val="tx1"/>
                          </a:solidFill>
                          <a:latin typeface="Cambria Math" panose="02040503050406030204" pitchFamily="18" charset="0"/>
                        </a:rPr>
                        <m:t> </m:t>
                      </m:r>
                    </m:oMath>
                  </m:oMathPara>
                </a14:m>
                <a:endParaRPr lang="en-GB" sz="1600" dirty="0">
                  <a:solidFill>
                    <a:schemeClr val="tx1"/>
                  </a:solidFill>
                </a:endParaRPr>
              </a:p>
            </p:txBody>
          </p:sp>
        </mc:Choice>
        <mc:Fallback xmlns="">
          <p:sp>
            <p:nvSpPr>
              <p:cNvPr id="94" name="ZoneTexte 93">
                <a:extLst>
                  <a:ext uri="{FF2B5EF4-FFF2-40B4-BE49-F238E27FC236}">
                    <a16:creationId xmlns:a16="http://schemas.microsoft.com/office/drawing/2014/main" id="{4EC6FF0E-BFBD-9D4F-90F5-302C70114D96}"/>
                  </a:ext>
                </a:extLst>
              </p:cNvPr>
              <p:cNvSpPr txBox="1">
                <a:spLocks noRot="1" noChangeAspect="1" noMove="1" noResize="1" noEditPoints="1" noAdjustHandles="1" noChangeArrowheads="1" noChangeShapeType="1" noTextEdit="1"/>
              </p:cNvSpPr>
              <p:nvPr/>
            </p:nvSpPr>
            <p:spPr>
              <a:xfrm>
                <a:off x="5837242" y="3692883"/>
                <a:ext cx="1260409" cy="692369"/>
              </a:xfrm>
              <a:prstGeom prst="rect">
                <a:avLst/>
              </a:prstGeom>
              <a:blipFill>
                <a:blip r:embed="rId20"/>
                <a:stretch>
                  <a:fillRect l="-16000" t="-114286" r="-10000" b="-17678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7" name="ZoneTexte 96">
                <a:extLst>
                  <a:ext uri="{FF2B5EF4-FFF2-40B4-BE49-F238E27FC236}">
                    <a16:creationId xmlns:a16="http://schemas.microsoft.com/office/drawing/2014/main" id="{0825F726-2DFF-6C57-9CAE-46197D39B716}"/>
                  </a:ext>
                </a:extLst>
              </p:cNvPr>
              <p:cNvSpPr txBox="1"/>
              <p:nvPr/>
            </p:nvSpPr>
            <p:spPr>
              <a:xfrm>
                <a:off x="1088786" y="3573967"/>
                <a:ext cx="41800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𝑜</m:t>
                          </m:r>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Sub>
                    </m:oMath>
                  </m:oMathPara>
                </a14:m>
                <a:endParaRPr lang="en-GB" sz="1600" dirty="0"/>
              </a:p>
            </p:txBody>
          </p:sp>
        </mc:Choice>
        <mc:Fallback xmlns="">
          <p:sp>
            <p:nvSpPr>
              <p:cNvPr id="97" name="ZoneTexte 96">
                <a:extLst>
                  <a:ext uri="{FF2B5EF4-FFF2-40B4-BE49-F238E27FC236}">
                    <a16:creationId xmlns:a16="http://schemas.microsoft.com/office/drawing/2014/main" id="{0825F726-2DFF-6C57-9CAE-46197D39B716}"/>
                  </a:ext>
                </a:extLst>
              </p:cNvPr>
              <p:cNvSpPr txBox="1">
                <a:spLocks noRot="1" noChangeAspect="1" noMove="1" noResize="1" noEditPoints="1" noAdjustHandles="1" noChangeArrowheads="1" noChangeShapeType="1" noTextEdit="1"/>
              </p:cNvSpPr>
              <p:nvPr/>
            </p:nvSpPr>
            <p:spPr>
              <a:xfrm>
                <a:off x="1088786" y="3573967"/>
                <a:ext cx="418000" cy="246221"/>
              </a:xfrm>
              <a:prstGeom prst="rect">
                <a:avLst/>
              </a:prstGeom>
              <a:blipFill>
                <a:blip r:embed="rId22"/>
                <a:stretch>
                  <a:fillRect l="-5882" r="-5882" b="-15000"/>
                </a:stretch>
              </a:blipFill>
            </p:spPr>
            <p:txBody>
              <a:bodyPr/>
              <a:lstStyle/>
              <a:p>
                <a:r>
                  <a:rPr lang="en-GB">
                    <a:noFill/>
                  </a:rPr>
                  <a:t> </a:t>
                </a:r>
              </a:p>
            </p:txBody>
          </p:sp>
        </mc:Fallback>
      </mc:AlternateContent>
      <p:cxnSp>
        <p:nvCxnSpPr>
          <p:cNvPr id="98" name="Connecteur droit avec flèche 97">
            <a:extLst>
              <a:ext uri="{FF2B5EF4-FFF2-40B4-BE49-F238E27FC236}">
                <a16:creationId xmlns:a16="http://schemas.microsoft.com/office/drawing/2014/main" id="{3E6C9228-6B1E-88B0-FDDB-3672D0949763}"/>
              </a:ext>
            </a:extLst>
          </p:cNvPr>
          <p:cNvCxnSpPr>
            <a:cxnSpLocks/>
          </p:cNvCxnSpPr>
          <p:nvPr/>
        </p:nvCxnSpPr>
        <p:spPr>
          <a:xfrm flipV="1">
            <a:off x="1307235" y="3528785"/>
            <a:ext cx="3962" cy="144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9" name="Connecteur droit avec flèche 98">
            <a:extLst>
              <a:ext uri="{FF2B5EF4-FFF2-40B4-BE49-F238E27FC236}">
                <a16:creationId xmlns:a16="http://schemas.microsoft.com/office/drawing/2014/main" id="{C24726F6-A2FB-75B0-C2E1-0E3E1E8028B7}"/>
              </a:ext>
            </a:extLst>
          </p:cNvPr>
          <p:cNvCxnSpPr>
            <a:cxnSpLocks/>
          </p:cNvCxnSpPr>
          <p:nvPr/>
        </p:nvCxnSpPr>
        <p:spPr>
          <a:xfrm flipV="1">
            <a:off x="1308911" y="3218962"/>
            <a:ext cx="3962" cy="144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0" name="ZoneTexte 99">
                <a:extLst>
                  <a:ext uri="{FF2B5EF4-FFF2-40B4-BE49-F238E27FC236}">
                    <a16:creationId xmlns:a16="http://schemas.microsoft.com/office/drawing/2014/main" id="{0E49C68A-8AFC-66B7-FF7C-53C5E95F269B}"/>
                  </a:ext>
                </a:extLst>
              </p:cNvPr>
              <p:cNvSpPr txBox="1"/>
              <p:nvPr/>
            </p:nvSpPr>
            <p:spPr>
              <a:xfrm>
                <a:off x="1088783" y="2609335"/>
                <a:ext cx="4247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𝑦</m:t>
                          </m:r>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Sub>
                    </m:oMath>
                  </m:oMathPara>
                </a14:m>
                <a:endParaRPr lang="en-GB" sz="1600" dirty="0"/>
              </a:p>
            </p:txBody>
          </p:sp>
        </mc:Choice>
        <mc:Fallback xmlns="">
          <p:sp>
            <p:nvSpPr>
              <p:cNvPr id="100" name="ZoneTexte 99">
                <a:extLst>
                  <a:ext uri="{FF2B5EF4-FFF2-40B4-BE49-F238E27FC236}">
                    <a16:creationId xmlns:a16="http://schemas.microsoft.com/office/drawing/2014/main" id="{0E49C68A-8AFC-66B7-FF7C-53C5E95F269B}"/>
                  </a:ext>
                </a:extLst>
              </p:cNvPr>
              <p:cNvSpPr txBox="1">
                <a:spLocks noRot="1" noChangeAspect="1" noMove="1" noResize="1" noEditPoints="1" noAdjustHandles="1" noChangeArrowheads="1" noChangeShapeType="1" noTextEdit="1"/>
              </p:cNvSpPr>
              <p:nvPr/>
            </p:nvSpPr>
            <p:spPr>
              <a:xfrm>
                <a:off x="1088783" y="2609335"/>
                <a:ext cx="424732" cy="246221"/>
              </a:xfrm>
              <a:prstGeom prst="rect">
                <a:avLst/>
              </a:prstGeom>
              <a:blipFill>
                <a:blip r:embed="rId23"/>
                <a:stretch>
                  <a:fillRect l="-11429" r="-2857" b="-20000"/>
                </a:stretch>
              </a:blipFill>
            </p:spPr>
            <p:txBody>
              <a:bodyPr/>
              <a:lstStyle/>
              <a:p>
                <a:r>
                  <a:rPr lang="en-GB">
                    <a:noFill/>
                  </a:rPr>
                  <a:t> </a:t>
                </a:r>
              </a:p>
            </p:txBody>
          </p:sp>
        </mc:Fallback>
      </mc:AlternateContent>
      <p:cxnSp>
        <p:nvCxnSpPr>
          <p:cNvPr id="101" name="Connecteur droit avec flèche 100">
            <a:extLst>
              <a:ext uri="{FF2B5EF4-FFF2-40B4-BE49-F238E27FC236}">
                <a16:creationId xmlns:a16="http://schemas.microsoft.com/office/drawing/2014/main" id="{DC478822-7C03-8852-2A33-BB89AB53D9FC}"/>
              </a:ext>
            </a:extLst>
          </p:cNvPr>
          <p:cNvCxnSpPr>
            <a:cxnSpLocks/>
          </p:cNvCxnSpPr>
          <p:nvPr/>
        </p:nvCxnSpPr>
        <p:spPr>
          <a:xfrm rot="-300000" flipH="1">
            <a:off x="1314548" y="2856542"/>
            <a:ext cx="21492" cy="1804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4" name="ZoneTexte 103">
                <a:extLst>
                  <a:ext uri="{FF2B5EF4-FFF2-40B4-BE49-F238E27FC236}">
                    <a16:creationId xmlns:a16="http://schemas.microsoft.com/office/drawing/2014/main" id="{7A1DB66A-A00B-F8EC-8CE8-B89469E12D59}"/>
                  </a:ext>
                </a:extLst>
              </p:cNvPr>
              <p:cNvSpPr txBox="1"/>
              <p:nvPr/>
            </p:nvSpPr>
            <p:spPr>
              <a:xfrm>
                <a:off x="2385013" y="3272526"/>
                <a:ext cx="4247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r>
                            <a:rPr lang="fr-FR" sz="1600" b="0" i="1" smtClean="0">
                              <a:latin typeface="Cambria Math" panose="02040503050406030204" pitchFamily="18" charset="0"/>
                            </a:rPr>
                            <m:t>=2</m:t>
                          </m:r>
                        </m:sub>
                      </m:sSub>
                    </m:oMath>
                  </m:oMathPara>
                </a14:m>
                <a:endParaRPr lang="en-GB" sz="1600" dirty="0"/>
              </a:p>
            </p:txBody>
          </p:sp>
        </mc:Choice>
        <mc:Fallback xmlns="">
          <p:sp>
            <p:nvSpPr>
              <p:cNvPr id="104" name="ZoneTexte 103">
                <a:extLst>
                  <a:ext uri="{FF2B5EF4-FFF2-40B4-BE49-F238E27FC236}">
                    <a16:creationId xmlns:a16="http://schemas.microsoft.com/office/drawing/2014/main" id="{7A1DB66A-A00B-F8EC-8CE8-B89469E12D59}"/>
                  </a:ext>
                </a:extLst>
              </p:cNvPr>
              <p:cNvSpPr txBox="1">
                <a:spLocks noRot="1" noChangeAspect="1" noMove="1" noResize="1" noEditPoints="1" noAdjustHandles="1" noChangeArrowheads="1" noChangeShapeType="1" noTextEdit="1"/>
              </p:cNvSpPr>
              <p:nvPr/>
            </p:nvSpPr>
            <p:spPr>
              <a:xfrm>
                <a:off x="2385013" y="3272526"/>
                <a:ext cx="424732" cy="246221"/>
              </a:xfrm>
              <a:prstGeom prst="rect">
                <a:avLst/>
              </a:prstGeom>
              <a:blipFill>
                <a:blip r:embed="rId24"/>
                <a:stretch>
                  <a:fillRect l="-11429" t="-15000" r="-5714" b="-25000"/>
                </a:stretch>
              </a:blipFill>
            </p:spPr>
            <p:txBody>
              <a:bodyPr/>
              <a:lstStyle/>
              <a:p>
                <a:r>
                  <a:rPr lang="en-GB">
                    <a:noFill/>
                  </a:rPr>
                  <a:t> </a:t>
                </a:r>
              </a:p>
            </p:txBody>
          </p:sp>
        </mc:Fallback>
      </mc:AlternateContent>
      <p:cxnSp>
        <p:nvCxnSpPr>
          <p:cNvPr id="105" name="Connecteur droit avec flèche 104">
            <a:extLst>
              <a:ext uri="{FF2B5EF4-FFF2-40B4-BE49-F238E27FC236}">
                <a16:creationId xmlns:a16="http://schemas.microsoft.com/office/drawing/2014/main" id="{FF775861-3F9F-363D-A950-95FFD6B2F7BD}"/>
              </a:ext>
            </a:extLst>
          </p:cNvPr>
          <p:cNvCxnSpPr>
            <a:cxnSpLocks/>
          </p:cNvCxnSpPr>
          <p:nvPr/>
        </p:nvCxnSpPr>
        <p:spPr>
          <a:xfrm flipV="1">
            <a:off x="2593417" y="3850333"/>
            <a:ext cx="3962" cy="252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6" name="ZoneTexte 105">
            <a:extLst>
              <a:ext uri="{FF2B5EF4-FFF2-40B4-BE49-F238E27FC236}">
                <a16:creationId xmlns:a16="http://schemas.microsoft.com/office/drawing/2014/main" id="{D667AE8C-A8FB-E72E-EE67-9BBD57EB0308}"/>
              </a:ext>
            </a:extLst>
          </p:cNvPr>
          <p:cNvSpPr txBox="1"/>
          <p:nvPr/>
        </p:nvSpPr>
        <p:spPr>
          <a:xfrm>
            <a:off x="2653383" y="3876334"/>
            <a:ext cx="304800" cy="307777"/>
          </a:xfrm>
          <a:prstGeom prst="rect">
            <a:avLst/>
          </a:prstGeom>
          <a:noFill/>
        </p:spPr>
        <p:txBody>
          <a:bodyPr wrap="square" rtlCol="0">
            <a:spAutoFit/>
          </a:bodyPr>
          <a:lstStyle/>
          <a:p>
            <a:r>
              <a:rPr lang="en-GB" sz="1400" b="1" dirty="0">
                <a:solidFill>
                  <a:srgbClr val="0070C0"/>
                </a:solidFill>
              </a:rPr>
              <a:t>V</a:t>
            </a:r>
          </a:p>
        </p:txBody>
      </p:sp>
      <mc:AlternateContent xmlns:mc="http://schemas.openxmlformats.org/markup-compatibility/2006" xmlns:a14="http://schemas.microsoft.com/office/drawing/2010/main">
        <mc:Choice Requires="a14">
          <p:sp>
            <p:nvSpPr>
              <p:cNvPr id="107" name="ZoneTexte 106">
                <a:extLst>
                  <a:ext uri="{FF2B5EF4-FFF2-40B4-BE49-F238E27FC236}">
                    <a16:creationId xmlns:a16="http://schemas.microsoft.com/office/drawing/2014/main" id="{5AD72F35-929F-4BDE-8280-FA4E5D80EAEB}"/>
                  </a:ext>
                </a:extLst>
              </p:cNvPr>
              <p:cNvSpPr txBox="1"/>
              <p:nvPr/>
            </p:nvSpPr>
            <p:spPr>
              <a:xfrm>
                <a:off x="2389129" y="2955367"/>
                <a:ext cx="42454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solidFill>
                                <a:srgbClr val="C00000"/>
                              </a:solidFill>
                              <a:latin typeface="Cambria Math" panose="02040503050406030204" pitchFamily="18" charset="0"/>
                            </a:rPr>
                          </m:ctrlPr>
                        </m:sSubPr>
                        <m:e>
                          <m:r>
                            <a:rPr lang="fr-FR" sz="1600" b="0" i="1" smtClean="0">
                              <a:solidFill>
                                <a:srgbClr val="C00000"/>
                              </a:solidFill>
                              <a:latin typeface="Cambria Math" panose="02040503050406030204" pitchFamily="18" charset="0"/>
                            </a:rPr>
                            <m:t>𝐿</m:t>
                          </m:r>
                        </m:e>
                        <m:sub>
                          <m:r>
                            <a:rPr lang="fr-FR" sz="1600" b="0" i="1" smtClean="0">
                              <a:solidFill>
                                <a:srgbClr val="C00000"/>
                              </a:solidFill>
                              <a:latin typeface="Cambria Math" panose="02040503050406030204" pitchFamily="18" charset="0"/>
                            </a:rPr>
                            <m:t>𝑡</m:t>
                          </m:r>
                          <m:r>
                            <a:rPr lang="fr-FR" sz="1600" b="0" i="1" smtClean="0">
                              <a:solidFill>
                                <a:srgbClr val="C00000"/>
                              </a:solidFill>
                              <a:latin typeface="Cambria Math" panose="02040503050406030204" pitchFamily="18" charset="0"/>
                            </a:rPr>
                            <m:t>=2</m:t>
                          </m:r>
                        </m:sub>
                      </m:sSub>
                    </m:oMath>
                  </m:oMathPara>
                </a14:m>
                <a:endParaRPr lang="en-GB" sz="1600" dirty="0">
                  <a:solidFill>
                    <a:srgbClr val="C00000"/>
                  </a:solidFill>
                </a:endParaRPr>
              </a:p>
            </p:txBody>
          </p:sp>
        </mc:Choice>
        <mc:Fallback xmlns="">
          <p:sp>
            <p:nvSpPr>
              <p:cNvPr id="107" name="ZoneTexte 106">
                <a:extLst>
                  <a:ext uri="{FF2B5EF4-FFF2-40B4-BE49-F238E27FC236}">
                    <a16:creationId xmlns:a16="http://schemas.microsoft.com/office/drawing/2014/main" id="{5AD72F35-929F-4BDE-8280-FA4E5D80EAEB}"/>
                  </a:ext>
                </a:extLst>
              </p:cNvPr>
              <p:cNvSpPr txBox="1">
                <a:spLocks noRot="1" noChangeAspect="1" noMove="1" noResize="1" noEditPoints="1" noAdjustHandles="1" noChangeArrowheads="1" noChangeShapeType="1" noTextEdit="1"/>
              </p:cNvSpPr>
              <p:nvPr/>
            </p:nvSpPr>
            <p:spPr>
              <a:xfrm>
                <a:off x="2389129" y="2955367"/>
                <a:ext cx="424540" cy="246221"/>
              </a:xfrm>
              <a:prstGeom prst="rect">
                <a:avLst/>
              </a:prstGeom>
              <a:blipFill>
                <a:blip r:embed="rId25"/>
                <a:stretch>
                  <a:fillRect l="-11765" r="-5882" b="-1428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8" name="ZoneTexte 107">
                <a:extLst>
                  <a:ext uri="{FF2B5EF4-FFF2-40B4-BE49-F238E27FC236}">
                    <a16:creationId xmlns:a16="http://schemas.microsoft.com/office/drawing/2014/main" id="{30DE0524-19FF-FCF4-3E9A-FFA6FBE202D2}"/>
                  </a:ext>
                </a:extLst>
              </p:cNvPr>
              <p:cNvSpPr txBox="1"/>
              <p:nvPr/>
            </p:nvSpPr>
            <p:spPr>
              <a:xfrm>
                <a:off x="2376643" y="3575646"/>
                <a:ext cx="41800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𝑜</m:t>
                          </m:r>
                        </m:e>
                        <m:sub>
                          <m:r>
                            <a:rPr lang="fr-FR" sz="1600" b="0" i="1" smtClean="0">
                              <a:latin typeface="Cambria Math" panose="02040503050406030204" pitchFamily="18" charset="0"/>
                            </a:rPr>
                            <m:t>𝑡</m:t>
                          </m:r>
                          <m:r>
                            <a:rPr lang="fr-FR" sz="1600" b="0" i="1" smtClean="0">
                              <a:latin typeface="Cambria Math" panose="02040503050406030204" pitchFamily="18" charset="0"/>
                            </a:rPr>
                            <m:t>=2</m:t>
                          </m:r>
                        </m:sub>
                      </m:sSub>
                    </m:oMath>
                  </m:oMathPara>
                </a14:m>
                <a:endParaRPr lang="en-GB" sz="1600" dirty="0"/>
              </a:p>
            </p:txBody>
          </p:sp>
        </mc:Choice>
        <mc:Fallback xmlns="">
          <p:sp>
            <p:nvSpPr>
              <p:cNvPr id="108" name="ZoneTexte 107">
                <a:extLst>
                  <a:ext uri="{FF2B5EF4-FFF2-40B4-BE49-F238E27FC236}">
                    <a16:creationId xmlns:a16="http://schemas.microsoft.com/office/drawing/2014/main" id="{30DE0524-19FF-FCF4-3E9A-FFA6FBE202D2}"/>
                  </a:ext>
                </a:extLst>
              </p:cNvPr>
              <p:cNvSpPr txBox="1">
                <a:spLocks noRot="1" noChangeAspect="1" noMove="1" noResize="1" noEditPoints="1" noAdjustHandles="1" noChangeArrowheads="1" noChangeShapeType="1" noTextEdit="1"/>
              </p:cNvSpPr>
              <p:nvPr/>
            </p:nvSpPr>
            <p:spPr>
              <a:xfrm>
                <a:off x="2376643" y="3575646"/>
                <a:ext cx="418000" cy="246221"/>
              </a:xfrm>
              <a:prstGeom prst="rect">
                <a:avLst/>
              </a:prstGeom>
              <a:blipFill>
                <a:blip r:embed="rId26"/>
                <a:stretch>
                  <a:fillRect l="-9091" r="-6061" b="-15000"/>
                </a:stretch>
              </a:blipFill>
            </p:spPr>
            <p:txBody>
              <a:bodyPr/>
              <a:lstStyle/>
              <a:p>
                <a:r>
                  <a:rPr lang="en-GB">
                    <a:noFill/>
                  </a:rPr>
                  <a:t> </a:t>
                </a:r>
              </a:p>
            </p:txBody>
          </p:sp>
        </mc:Fallback>
      </mc:AlternateContent>
      <p:cxnSp>
        <p:nvCxnSpPr>
          <p:cNvPr id="109" name="Connecteur droit avec flèche 108">
            <a:extLst>
              <a:ext uri="{FF2B5EF4-FFF2-40B4-BE49-F238E27FC236}">
                <a16:creationId xmlns:a16="http://schemas.microsoft.com/office/drawing/2014/main" id="{938132C5-D63D-BC96-932A-946EB9B4CE91}"/>
              </a:ext>
            </a:extLst>
          </p:cNvPr>
          <p:cNvCxnSpPr>
            <a:cxnSpLocks/>
          </p:cNvCxnSpPr>
          <p:nvPr/>
        </p:nvCxnSpPr>
        <p:spPr>
          <a:xfrm flipV="1">
            <a:off x="2595092" y="3530464"/>
            <a:ext cx="3962" cy="144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0" name="Connecteur droit avec flèche 109">
            <a:extLst>
              <a:ext uri="{FF2B5EF4-FFF2-40B4-BE49-F238E27FC236}">
                <a16:creationId xmlns:a16="http://schemas.microsoft.com/office/drawing/2014/main" id="{8E2FB525-ABD2-D666-A7C3-838D47286E76}"/>
              </a:ext>
            </a:extLst>
          </p:cNvPr>
          <p:cNvCxnSpPr>
            <a:cxnSpLocks/>
          </p:cNvCxnSpPr>
          <p:nvPr/>
        </p:nvCxnSpPr>
        <p:spPr>
          <a:xfrm flipV="1">
            <a:off x="2596768" y="3220641"/>
            <a:ext cx="3962" cy="144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1" name="ZoneTexte 110">
                <a:extLst>
                  <a:ext uri="{FF2B5EF4-FFF2-40B4-BE49-F238E27FC236}">
                    <a16:creationId xmlns:a16="http://schemas.microsoft.com/office/drawing/2014/main" id="{A31DB7E2-BF5A-C0E1-B937-5ABD2C14120E}"/>
                  </a:ext>
                </a:extLst>
              </p:cNvPr>
              <p:cNvSpPr txBox="1"/>
              <p:nvPr/>
            </p:nvSpPr>
            <p:spPr>
              <a:xfrm>
                <a:off x="2376640" y="2611014"/>
                <a:ext cx="4247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𝑦</m:t>
                          </m:r>
                        </m:e>
                        <m:sub>
                          <m:r>
                            <a:rPr lang="fr-FR" sz="1600" b="0" i="1" smtClean="0">
                              <a:latin typeface="Cambria Math" panose="02040503050406030204" pitchFamily="18" charset="0"/>
                            </a:rPr>
                            <m:t>𝑡</m:t>
                          </m:r>
                          <m:r>
                            <a:rPr lang="fr-FR" sz="1600" b="0" i="1" smtClean="0">
                              <a:latin typeface="Cambria Math" panose="02040503050406030204" pitchFamily="18" charset="0"/>
                            </a:rPr>
                            <m:t>=2</m:t>
                          </m:r>
                        </m:sub>
                      </m:sSub>
                    </m:oMath>
                  </m:oMathPara>
                </a14:m>
                <a:endParaRPr lang="en-GB" sz="1600" dirty="0"/>
              </a:p>
            </p:txBody>
          </p:sp>
        </mc:Choice>
        <mc:Fallback xmlns="">
          <p:sp>
            <p:nvSpPr>
              <p:cNvPr id="111" name="ZoneTexte 110">
                <a:extLst>
                  <a:ext uri="{FF2B5EF4-FFF2-40B4-BE49-F238E27FC236}">
                    <a16:creationId xmlns:a16="http://schemas.microsoft.com/office/drawing/2014/main" id="{A31DB7E2-BF5A-C0E1-B937-5ABD2C14120E}"/>
                  </a:ext>
                </a:extLst>
              </p:cNvPr>
              <p:cNvSpPr txBox="1">
                <a:spLocks noRot="1" noChangeAspect="1" noMove="1" noResize="1" noEditPoints="1" noAdjustHandles="1" noChangeArrowheads="1" noChangeShapeType="1" noTextEdit="1"/>
              </p:cNvSpPr>
              <p:nvPr/>
            </p:nvSpPr>
            <p:spPr>
              <a:xfrm>
                <a:off x="2376640" y="2611014"/>
                <a:ext cx="424732" cy="246221"/>
              </a:xfrm>
              <a:prstGeom prst="rect">
                <a:avLst/>
              </a:prstGeom>
              <a:blipFill>
                <a:blip r:embed="rId27"/>
                <a:stretch>
                  <a:fillRect l="-11765" r="-5882" b="-19048"/>
                </a:stretch>
              </a:blipFill>
            </p:spPr>
            <p:txBody>
              <a:bodyPr/>
              <a:lstStyle/>
              <a:p>
                <a:r>
                  <a:rPr lang="en-GB">
                    <a:noFill/>
                  </a:rPr>
                  <a:t> </a:t>
                </a:r>
              </a:p>
            </p:txBody>
          </p:sp>
        </mc:Fallback>
      </mc:AlternateContent>
      <p:cxnSp>
        <p:nvCxnSpPr>
          <p:cNvPr id="112" name="Connecteur droit avec flèche 111">
            <a:extLst>
              <a:ext uri="{FF2B5EF4-FFF2-40B4-BE49-F238E27FC236}">
                <a16:creationId xmlns:a16="http://schemas.microsoft.com/office/drawing/2014/main" id="{53671BAF-DA2B-7BFF-4B99-8C5C9EBA61C6}"/>
              </a:ext>
            </a:extLst>
          </p:cNvPr>
          <p:cNvCxnSpPr>
            <a:cxnSpLocks/>
          </p:cNvCxnSpPr>
          <p:nvPr/>
        </p:nvCxnSpPr>
        <p:spPr>
          <a:xfrm rot="-300000" flipH="1">
            <a:off x="2602405" y="2858221"/>
            <a:ext cx="21492" cy="1804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3" name="ZoneTexte 112">
                <a:extLst>
                  <a:ext uri="{FF2B5EF4-FFF2-40B4-BE49-F238E27FC236}">
                    <a16:creationId xmlns:a16="http://schemas.microsoft.com/office/drawing/2014/main" id="{706B990A-6439-EFFF-06CC-1E082EDE5B23}"/>
                  </a:ext>
                </a:extLst>
              </p:cNvPr>
              <p:cNvSpPr txBox="1"/>
              <p:nvPr/>
            </p:nvSpPr>
            <p:spPr>
              <a:xfrm>
                <a:off x="3661154" y="3262477"/>
                <a:ext cx="4247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r>
                            <a:rPr lang="fr-FR" sz="1600" b="0" i="1" smtClean="0">
                              <a:latin typeface="Cambria Math" panose="02040503050406030204" pitchFamily="18" charset="0"/>
                            </a:rPr>
                            <m:t>=3</m:t>
                          </m:r>
                        </m:sub>
                      </m:sSub>
                    </m:oMath>
                  </m:oMathPara>
                </a14:m>
                <a:endParaRPr lang="en-GB" sz="1600" dirty="0"/>
              </a:p>
            </p:txBody>
          </p:sp>
        </mc:Choice>
        <mc:Fallback xmlns="">
          <p:sp>
            <p:nvSpPr>
              <p:cNvPr id="113" name="ZoneTexte 112">
                <a:extLst>
                  <a:ext uri="{FF2B5EF4-FFF2-40B4-BE49-F238E27FC236}">
                    <a16:creationId xmlns:a16="http://schemas.microsoft.com/office/drawing/2014/main" id="{706B990A-6439-EFFF-06CC-1E082EDE5B23}"/>
                  </a:ext>
                </a:extLst>
              </p:cNvPr>
              <p:cNvSpPr txBox="1">
                <a:spLocks noRot="1" noChangeAspect="1" noMove="1" noResize="1" noEditPoints="1" noAdjustHandles="1" noChangeArrowheads="1" noChangeShapeType="1" noTextEdit="1"/>
              </p:cNvSpPr>
              <p:nvPr/>
            </p:nvSpPr>
            <p:spPr>
              <a:xfrm>
                <a:off x="3661154" y="3262477"/>
                <a:ext cx="424732" cy="246221"/>
              </a:xfrm>
              <a:prstGeom prst="rect">
                <a:avLst/>
              </a:prstGeom>
              <a:blipFill>
                <a:blip r:embed="rId28"/>
                <a:stretch>
                  <a:fillRect l="-11765" t="-14286" r="-5882" b="-19048"/>
                </a:stretch>
              </a:blipFill>
            </p:spPr>
            <p:txBody>
              <a:bodyPr/>
              <a:lstStyle/>
              <a:p>
                <a:r>
                  <a:rPr lang="en-GB">
                    <a:noFill/>
                  </a:rPr>
                  <a:t> </a:t>
                </a:r>
              </a:p>
            </p:txBody>
          </p:sp>
        </mc:Fallback>
      </mc:AlternateContent>
      <p:cxnSp>
        <p:nvCxnSpPr>
          <p:cNvPr id="114" name="Connecteur droit avec flèche 113">
            <a:extLst>
              <a:ext uri="{FF2B5EF4-FFF2-40B4-BE49-F238E27FC236}">
                <a16:creationId xmlns:a16="http://schemas.microsoft.com/office/drawing/2014/main" id="{661BF0AA-784E-5743-6CC4-EB4F4D4004D5}"/>
              </a:ext>
            </a:extLst>
          </p:cNvPr>
          <p:cNvCxnSpPr>
            <a:cxnSpLocks/>
          </p:cNvCxnSpPr>
          <p:nvPr/>
        </p:nvCxnSpPr>
        <p:spPr>
          <a:xfrm flipV="1">
            <a:off x="3869558" y="3840284"/>
            <a:ext cx="3962" cy="252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5" name="ZoneTexte 114">
            <a:extLst>
              <a:ext uri="{FF2B5EF4-FFF2-40B4-BE49-F238E27FC236}">
                <a16:creationId xmlns:a16="http://schemas.microsoft.com/office/drawing/2014/main" id="{52478E77-9E2E-7E61-9C78-BFD6559EBE63}"/>
              </a:ext>
            </a:extLst>
          </p:cNvPr>
          <p:cNvSpPr txBox="1"/>
          <p:nvPr/>
        </p:nvSpPr>
        <p:spPr>
          <a:xfrm>
            <a:off x="3929524" y="3866285"/>
            <a:ext cx="304800" cy="307777"/>
          </a:xfrm>
          <a:prstGeom prst="rect">
            <a:avLst/>
          </a:prstGeom>
          <a:noFill/>
        </p:spPr>
        <p:txBody>
          <a:bodyPr wrap="square" rtlCol="0">
            <a:spAutoFit/>
          </a:bodyPr>
          <a:lstStyle/>
          <a:p>
            <a:r>
              <a:rPr lang="en-GB" sz="1400" b="1" dirty="0">
                <a:solidFill>
                  <a:srgbClr val="0070C0"/>
                </a:solidFill>
              </a:rPr>
              <a:t>V</a:t>
            </a:r>
          </a:p>
        </p:txBody>
      </p:sp>
      <mc:AlternateContent xmlns:mc="http://schemas.openxmlformats.org/markup-compatibility/2006" xmlns:a14="http://schemas.microsoft.com/office/drawing/2010/main">
        <mc:Choice Requires="a14">
          <p:sp>
            <p:nvSpPr>
              <p:cNvPr id="116" name="ZoneTexte 115">
                <a:extLst>
                  <a:ext uri="{FF2B5EF4-FFF2-40B4-BE49-F238E27FC236}">
                    <a16:creationId xmlns:a16="http://schemas.microsoft.com/office/drawing/2014/main" id="{8E2E5CAD-79C0-E837-A7AE-9BAADB8109F8}"/>
                  </a:ext>
                </a:extLst>
              </p:cNvPr>
              <p:cNvSpPr txBox="1"/>
              <p:nvPr/>
            </p:nvSpPr>
            <p:spPr>
              <a:xfrm>
                <a:off x="3665270" y="2945318"/>
                <a:ext cx="42454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solidFill>
                                <a:srgbClr val="C00000"/>
                              </a:solidFill>
                              <a:latin typeface="Cambria Math" panose="02040503050406030204" pitchFamily="18" charset="0"/>
                            </a:rPr>
                          </m:ctrlPr>
                        </m:sSubPr>
                        <m:e>
                          <m:r>
                            <a:rPr lang="fr-FR" sz="1600" b="0" i="1" smtClean="0">
                              <a:solidFill>
                                <a:srgbClr val="C00000"/>
                              </a:solidFill>
                              <a:latin typeface="Cambria Math" panose="02040503050406030204" pitchFamily="18" charset="0"/>
                            </a:rPr>
                            <m:t>𝐿</m:t>
                          </m:r>
                        </m:e>
                        <m:sub>
                          <m:r>
                            <a:rPr lang="fr-FR" sz="1600" b="0" i="1" smtClean="0">
                              <a:solidFill>
                                <a:srgbClr val="C00000"/>
                              </a:solidFill>
                              <a:latin typeface="Cambria Math" panose="02040503050406030204" pitchFamily="18" charset="0"/>
                            </a:rPr>
                            <m:t>𝑡</m:t>
                          </m:r>
                          <m:r>
                            <a:rPr lang="fr-FR" sz="1600" b="0" i="1" smtClean="0">
                              <a:solidFill>
                                <a:srgbClr val="C00000"/>
                              </a:solidFill>
                              <a:latin typeface="Cambria Math" panose="02040503050406030204" pitchFamily="18" charset="0"/>
                            </a:rPr>
                            <m:t>=3</m:t>
                          </m:r>
                        </m:sub>
                      </m:sSub>
                    </m:oMath>
                  </m:oMathPara>
                </a14:m>
                <a:endParaRPr lang="en-GB" sz="1600" dirty="0">
                  <a:solidFill>
                    <a:srgbClr val="C00000"/>
                  </a:solidFill>
                </a:endParaRPr>
              </a:p>
            </p:txBody>
          </p:sp>
        </mc:Choice>
        <mc:Fallback xmlns="">
          <p:sp>
            <p:nvSpPr>
              <p:cNvPr id="116" name="ZoneTexte 115">
                <a:extLst>
                  <a:ext uri="{FF2B5EF4-FFF2-40B4-BE49-F238E27FC236}">
                    <a16:creationId xmlns:a16="http://schemas.microsoft.com/office/drawing/2014/main" id="{8E2E5CAD-79C0-E837-A7AE-9BAADB8109F8}"/>
                  </a:ext>
                </a:extLst>
              </p:cNvPr>
              <p:cNvSpPr txBox="1">
                <a:spLocks noRot="1" noChangeAspect="1" noMove="1" noResize="1" noEditPoints="1" noAdjustHandles="1" noChangeArrowheads="1" noChangeShapeType="1" noTextEdit="1"/>
              </p:cNvSpPr>
              <p:nvPr/>
            </p:nvSpPr>
            <p:spPr>
              <a:xfrm>
                <a:off x="3665270" y="2945318"/>
                <a:ext cx="424540" cy="246221"/>
              </a:xfrm>
              <a:prstGeom prst="rect">
                <a:avLst/>
              </a:prstGeom>
              <a:blipFill>
                <a:blip r:embed="rId29"/>
                <a:stretch>
                  <a:fillRect l="-11429" r="-2857" b="-1428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7" name="ZoneTexte 116">
                <a:extLst>
                  <a:ext uri="{FF2B5EF4-FFF2-40B4-BE49-F238E27FC236}">
                    <a16:creationId xmlns:a16="http://schemas.microsoft.com/office/drawing/2014/main" id="{6ED9CFBE-5B8E-EB81-4FA9-08F2D4647DB7}"/>
                  </a:ext>
                </a:extLst>
              </p:cNvPr>
              <p:cNvSpPr txBox="1"/>
              <p:nvPr/>
            </p:nvSpPr>
            <p:spPr>
              <a:xfrm>
                <a:off x="3652784" y="3565597"/>
                <a:ext cx="41800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𝑜</m:t>
                          </m:r>
                        </m:e>
                        <m:sub>
                          <m:r>
                            <a:rPr lang="fr-FR" sz="1600" b="0" i="1" smtClean="0">
                              <a:latin typeface="Cambria Math" panose="02040503050406030204" pitchFamily="18" charset="0"/>
                            </a:rPr>
                            <m:t>𝑡</m:t>
                          </m:r>
                          <m:r>
                            <a:rPr lang="fr-FR" sz="1600" b="0" i="1" smtClean="0">
                              <a:latin typeface="Cambria Math" panose="02040503050406030204" pitchFamily="18" charset="0"/>
                            </a:rPr>
                            <m:t>=3</m:t>
                          </m:r>
                        </m:sub>
                      </m:sSub>
                    </m:oMath>
                  </m:oMathPara>
                </a14:m>
                <a:endParaRPr lang="en-GB" sz="1600" dirty="0"/>
              </a:p>
            </p:txBody>
          </p:sp>
        </mc:Choice>
        <mc:Fallback xmlns="">
          <p:sp>
            <p:nvSpPr>
              <p:cNvPr id="117" name="ZoneTexte 116">
                <a:extLst>
                  <a:ext uri="{FF2B5EF4-FFF2-40B4-BE49-F238E27FC236}">
                    <a16:creationId xmlns:a16="http://schemas.microsoft.com/office/drawing/2014/main" id="{6ED9CFBE-5B8E-EB81-4FA9-08F2D4647DB7}"/>
                  </a:ext>
                </a:extLst>
              </p:cNvPr>
              <p:cNvSpPr txBox="1">
                <a:spLocks noRot="1" noChangeAspect="1" noMove="1" noResize="1" noEditPoints="1" noAdjustHandles="1" noChangeArrowheads="1" noChangeShapeType="1" noTextEdit="1"/>
              </p:cNvSpPr>
              <p:nvPr/>
            </p:nvSpPr>
            <p:spPr>
              <a:xfrm>
                <a:off x="3652784" y="3565597"/>
                <a:ext cx="418000" cy="246221"/>
              </a:xfrm>
              <a:prstGeom prst="rect">
                <a:avLst/>
              </a:prstGeom>
              <a:blipFill>
                <a:blip r:embed="rId30"/>
                <a:stretch>
                  <a:fillRect l="-5882" r="-5882" b="-20000"/>
                </a:stretch>
              </a:blipFill>
            </p:spPr>
            <p:txBody>
              <a:bodyPr/>
              <a:lstStyle/>
              <a:p>
                <a:r>
                  <a:rPr lang="en-GB">
                    <a:noFill/>
                  </a:rPr>
                  <a:t> </a:t>
                </a:r>
              </a:p>
            </p:txBody>
          </p:sp>
        </mc:Fallback>
      </mc:AlternateContent>
      <p:cxnSp>
        <p:nvCxnSpPr>
          <p:cNvPr id="118" name="Connecteur droit avec flèche 117">
            <a:extLst>
              <a:ext uri="{FF2B5EF4-FFF2-40B4-BE49-F238E27FC236}">
                <a16:creationId xmlns:a16="http://schemas.microsoft.com/office/drawing/2014/main" id="{0E3E640C-EC18-9988-BB5C-9F9639EEBF2C}"/>
              </a:ext>
            </a:extLst>
          </p:cNvPr>
          <p:cNvCxnSpPr>
            <a:cxnSpLocks/>
          </p:cNvCxnSpPr>
          <p:nvPr/>
        </p:nvCxnSpPr>
        <p:spPr>
          <a:xfrm flipV="1">
            <a:off x="3871233" y="3520415"/>
            <a:ext cx="3962" cy="144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9" name="Connecteur droit avec flèche 118">
            <a:extLst>
              <a:ext uri="{FF2B5EF4-FFF2-40B4-BE49-F238E27FC236}">
                <a16:creationId xmlns:a16="http://schemas.microsoft.com/office/drawing/2014/main" id="{FC0A80BC-E310-207C-8B8F-85C9D4F0C31C}"/>
              </a:ext>
            </a:extLst>
          </p:cNvPr>
          <p:cNvCxnSpPr>
            <a:cxnSpLocks/>
          </p:cNvCxnSpPr>
          <p:nvPr/>
        </p:nvCxnSpPr>
        <p:spPr>
          <a:xfrm flipV="1">
            <a:off x="3872909" y="3210592"/>
            <a:ext cx="3962" cy="144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0" name="ZoneTexte 119">
                <a:extLst>
                  <a:ext uri="{FF2B5EF4-FFF2-40B4-BE49-F238E27FC236}">
                    <a16:creationId xmlns:a16="http://schemas.microsoft.com/office/drawing/2014/main" id="{13792995-B257-9085-EA12-D70A0909E57F}"/>
                  </a:ext>
                </a:extLst>
              </p:cNvPr>
              <p:cNvSpPr txBox="1"/>
              <p:nvPr/>
            </p:nvSpPr>
            <p:spPr>
              <a:xfrm>
                <a:off x="3652781" y="2600965"/>
                <a:ext cx="4247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𝑦</m:t>
                          </m:r>
                        </m:e>
                        <m:sub>
                          <m:r>
                            <a:rPr lang="fr-FR" sz="1600" b="0" i="1" smtClean="0">
                              <a:latin typeface="Cambria Math" panose="02040503050406030204" pitchFamily="18" charset="0"/>
                            </a:rPr>
                            <m:t>𝑡</m:t>
                          </m:r>
                          <m:r>
                            <a:rPr lang="fr-FR" sz="1600" b="0" i="1" smtClean="0">
                              <a:latin typeface="Cambria Math" panose="02040503050406030204" pitchFamily="18" charset="0"/>
                            </a:rPr>
                            <m:t>=3</m:t>
                          </m:r>
                        </m:sub>
                      </m:sSub>
                    </m:oMath>
                  </m:oMathPara>
                </a14:m>
                <a:endParaRPr lang="en-GB" sz="1600" dirty="0"/>
              </a:p>
            </p:txBody>
          </p:sp>
        </mc:Choice>
        <mc:Fallback xmlns="">
          <p:sp>
            <p:nvSpPr>
              <p:cNvPr id="120" name="ZoneTexte 119">
                <a:extLst>
                  <a:ext uri="{FF2B5EF4-FFF2-40B4-BE49-F238E27FC236}">
                    <a16:creationId xmlns:a16="http://schemas.microsoft.com/office/drawing/2014/main" id="{13792995-B257-9085-EA12-D70A0909E57F}"/>
                  </a:ext>
                </a:extLst>
              </p:cNvPr>
              <p:cNvSpPr txBox="1">
                <a:spLocks noRot="1" noChangeAspect="1" noMove="1" noResize="1" noEditPoints="1" noAdjustHandles="1" noChangeArrowheads="1" noChangeShapeType="1" noTextEdit="1"/>
              </p:cNvSpPr>
              <p:nvPr/>
            </p:nvSpPr>
            <p:spPr>
              <a:xfrm>
                <a:off x="3652781" y="2600965"/>
                <a:ext cx="424732" cy="246221"/>
              </a:xfrm>
              <a:prstGeom prst="rect">
                <a:avLst/>
              </a:prstGeom>
              <a:blipFill>
                <a:blip r:embed="rId31"/>
                <a:stretch>
                  <a:fillRect l="-11429" r="-5714" b="-19048"/>
                </a:stretch>
              </a:blipFill>
            </p:spPr>
            <p:txBody>
              <a:bodyPr/>
              <a:lstStyle/>
              <a:p>
                <a:r>
                  <a:rPr lang="en-GB">
                    <a:noFill/>
                  </a:rPr>
                  <a:t> </a:t>
                </a:r>
              </a:p>
            </p:txBody>
          </p:sp>
        </mc:Fallback>
      </mc:AlternateContent>
      <p:cxnSp>
        <p:nvCxnSpPr>
          <p:cNvPr id="121" name="Connecteur droit avec flèche 120">
            <a:extLst>
              <a:ext uri="{FF2B5EF4-FFF2-40B4-BE49-F238E27FC236}">
                <a16:creationId xmlns:a16="http://schemas.microsoft.com/office/drawing/2014/main" id="{93D3674F-D702-2013-9A96-0A0A378068C6}"/>
              </a:ext>
            </a:extLst>
          </p:cNvPr>
          <p:cNvCxnSpPr>
            <a:cxnSpLocks/>
          </p:cNvCxnSpPr>
          <p:nvPr/>
        </p:nvCxnSpPr>
        <p:spPr>
          <a:xfrm rot="-300000" flipH="1">
            <a:off x="3878546" y="2848172"/>
            <a:ext cx="21492" cy="1804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2" name="ZoneTexte 121">
                <a:extLst>
                  <a:ext uri="{FF2B5EF4-FFF2-40B4-BE49-F238E27FC236}">
                    <a16:creationId xmlns:a16="http://schemas.microsoft.com/office/drawing/2014/main" id="{2068D197-14E9-FC79-6F7E-787FC1732CA2}"/>
                  </a:ext>
                </a:extLst>
              </p:cNvPr>
              <p:cNvSpPr txBox="1"/>
              <p:nvPr/>
            </p:nvSpPr>
            <p:spPr>
              <a:xfrm>
                <a:off x="4927255" y="3272524"/>
                <a:ext cx="4247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r>
                            <a:rPr lang="fr-FR" sz="1600" b="0" i="1" smtClean="0">
                              <a:latin typeface="Cambria Math" panose="02040503050406030204" pitchFamily="18" charset="0"/>
                            </a:rPr>
                            <m:t>=4</m:t>
                          </m:r>
                        </m:sub>
                      </m:sSub>
                    </m:oMath>
                  </m:oMathPara>
                </a14:m>
                <a:endParaRPr lang="en-GB" sz="1600" dirty="0"/>
              </a:p>
            </p:txBody>
          </p:sp>
        </mc:Choice>
        <mc:Fallback xmlns="">
          <p:sp>
            <p:nvSpPr>
              <p:cNvPr id="122" name="ZoneTexte 121">
                <a:extLst>
                  <a:ext uri="{FF2B5EF4-FFF2-40B4-BE49-F238E27FC236}">
                    <a16:creationId xmlns:a16="http://schemas.microsoft.com/office/drawing/2014/main" id="{2068D197-14E9-FC79-6F7E-787FC1732CA2}"/>
                  </a:ext>
                </a:extLst>
              </p:cNvPr>
              <p:cNvSpPr txBox="1">
                <a:spLocks noRot="1" noChangeAspect="1" noMove="1" noResize="1" noEditPoints="1" noAdjustHandles="1" noChangeArrowheads="1" noChangeShapeType="1" noTextEdit="1"/>
              </p:cNvSpPr>
              <p:nvPr/>
            </p:nvSpPr>
            <p:spPr>
              <a:xfrm>
                <a:off x="4927255" y="3272524"/>
                <a:ext cx="424732" cy="246221"/>
              </a:xfrm>
              <a:prstGeom prst="rect">
                <a:avLst/>
              </a:prstGeom>
              <a:blipFill>
                <a:blip r:embed="rId32"/>
                <a:stretch>
                  <a:fillRect l="-8571" t="-15000" r="-5714" b="-25000"/>
                </a:stretch>
              </a:blipFill>
            </p:spPr>
            <p:txBody>
              <a:bodyPr/>
              <a:lstStyle/>
              <a:p>
                <a:r>
                  <a:rPr lang="en-GB">
                    <a:noFill/>
                  </a:rPr>
                  <a:t> </a:t>
                </a:r>
              </a:p>
            </p:txBody>
          </p:sp>
        </mc:Fallback>
      </mc:AlternateContent>
      <p:cxnSp>
        <p:nvCxnSpPr>
          <p:cNvPr id="123" name="Connecteur droit avec flèche 122">
            <a:extLst>
              <a:ext uri="{FF2B5EF4-FFF2-40B4-BE49-F238E27FC236}">
                <a16:creationId xmlns:a16="http://schemas.microsoft.com/office/drawing/2014/main" id="{BA7C234B-CA34-36DD-67F1-655C189AF1AB}"/>
              </a:ext>
            </a:extLst>
          </p:cNvPr>
          <p:cNvCxnSpPr>
            <a:cxnSpLocks/>
          </p:cNvCxnSpPr>
          <p:nvPr/>
        </p:nvCxnSpPr>
        <p:spPr>
          <a:xfrm flipV="1">
            <a:off x="5135659" y="3850331"/>
            <a:ext cx="3962" cy="252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4" name="ZoneTexte 123">
            <a:extLst>
              <a:ext uri="{FF2B5EF4-FFF2-40B4-BE49-F238E27FC236}">
                <a16:creationId xmlns:a16="http://schemas.microsoft.com/office/drawing/2014/main" id="{EBDE060F-ABBC-4E12-3F93-212B8D063D9C}"/>
              </a:ext>
            </a:extLst>
          </p:cNvPr>
          <p:cNvSpPr txBox="1"/>
          <p:nvPr/>
        </p:nvSpPr>
        <p:spPr>
          <a:xfrm>
            <a:off x="5195625" y="3876332"/>
            <a:ext cx="304800" cy="307777"/>
          </a:xfrm>
          <a:prstGeom prst="rect">
            <a:avLst/>
          </a:prstGeom>
          <a:noFill/>
        </p:spPr>
        <p:txBody>
          <a:bodyPr wrap="square" rtlCol="0">
            <a:spAutoFit/>
          </a:bodyPr>
          <a:lstStyle/>
          <a:p>
            <a:r>
              <a:rPr lang="en-GB" sz="1400" b="1" dirty="0">
                <a:solidFill>
                  <a:srgbClr val="0070C0"/>
                </a:solidFill>
              </a:rPr>
              <a:t>V</a:t>
            </a:r>
          </a:p>
        </p:txBody>
      </p:sp>
      <mc:AlternateContent xmlns:mc="http://schemas.openxmlformats.org/markup-compatibility/2006" xmlns:a14="http://schemas.microsoft.com/office/drawing/2010/main">
        <mc:Choice Requires="a14">
          <p:sp>
            <p:nvSpPr>
              <p:cNvPr id="125" name="ZoneTexte 124">
                <a:extLst>
                  <a:ext uri="{FF2B5EF4-FFF2-40B4-BE49-F238E27FC236}">
                    <a16:creationId xmlns:a16="http://schemas.microsoft.com/office/drawing/2014/main" id="{CF2A24DD-FFE7-3C97-3722-9D7BF814C910}"/>
                  </a:ext>
                </a:extLst>
              </p:cNvPr>
              <p:cNvSpPr txBox="1"/>
              <p:nvPr/>
            </p:nvSpPr>
            <p:spPr>
              <a:xfrm>
                <a:off x="4931371" y="2955365"/>
                <a:ext cx="42454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solidFill>
                                <a:srgbClr val="C00000"/>
                              </a:solidFill>
                              <a:latin typeface="Cambria Math" panose="02040503050406030204" pitchFamily="18" charset="0"/>
                            </a:rPr>
                          </m:ctrlPr>
                        </m:sSubPr>
                        <m:e>
                          <m:r>
                            <a:rPr lang="fr-FR" sz="1600" b="0" i="1" smtClean="0">
                              <a:solidFill>
                                <a:srgbClr val="C00000"/>
                              </a:solidFill>
                              <a:latin typeface="Cambria Math" panose="02040503050406030204" pitchFamily="18" charset="0"/>
                            </a:rPr>
                            <m:t>𝐿</m:t>
                          </m:r>
                        </m:e>
                        <m:sub>
                          <m:r>
                            <a:rPr lang="fr-FR" sz="1600" b="0" i="1" smtClean="0">
                              <a:solidFill>
                                <a:srgbClr val="C00000"/>
                              </a:solidFill>
                              <a:latin typeface="Cambria Math" panose="02040503050406030204" pitchFamily="18" charset="0"/>
                            </a:rPr>
                            <m:t>𝑡</m:t>
                          </m:r>
                          <m:r>
                            <a:rPr lang="fr-FR" sz="1600" b="0" i="1" smtClean="0">
                              <a:solidFill>
                                <a:srgbClr val="C00000"/>
                              </a:solidFill>
                              <a:latin typeface="Cambria Math" panose="02040503050406030204" pitchFamily="18" charset="0"/>
                            </a:rPr>
                            <m:t>=4</m:t>
                          </m:r>
                        </m:sub>
                      </m:sSub>
                    </m:oMath>
                  </m:oMathPara>
                </a14:m>
                <a:endParaRPr lang="en-GB" sz="1600" dirty="0">
                  <a:solidFill>
                    <a:srgbClr val="C00000"/>
                  </a:solidFill>
                </a:endParaRPr>
              </a:p>
            </p:txBody>
          </p:sp>
        </mc:Choice>
        <mc:Fallback xmlns="">
          <p:sp>
            <p:nvSpPr>
              <p:cNvPr id="125" name="ZoneTexte 124">
                <a:extLst>
                  <a:ext uri="{FF2B5EF4-FFF2-40B4-BE49-F238E27FC236}">
                    <a16:creationId xmlns:a16="http://schemas.microsoft.com/office/drawing/2014/main" id="{CF2A24DD-FFE7-3C97-3722-9D7BF814C910}"/>
                  </a:ext>
                </a:extLst>
              </p:cNvPr>
              <p:cNvSpPr txBox="1">
                <a:spLocks noRot="1" noChangeAspect="1" noMove="1" noResize="1" noEditPoints="1" noAdjustHandles="1" noChangeArrowheads="1" noChangeShapeType="1" noTextEdit="1"/>
              </p:cNvSpPr>
              <p:nvPr/>
            </p:nvSpPr>
            <p:spPr>
              <a:xfrm>
                <a:off x="4931371" y="2955365"/>
                <a:ext cx="424540" cy="246221"/>
              </a:xfrm>
              <a:prstGeom prst="rect">
                <a:avLst/>
              </a:prstGeom>
              <a:blipFill>
                <a:blip r:embed="rId33"/>
                <a:stretch>
                  <a:fillRect l="-11765" r="-5882" b="-1428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6" name="ZoneTexte 125">
                <a:extLst>
                  <a:ext uri="{FF2B5EF4-FFF2-40B4-BE49-F238E27FC236}">
                    <a16:creationId xmlns:a16="http://schemas.microsoft.com/office/drawing/2014/main" id="{5D07794A-769C-F159-4099-12AABA993115}"/>
                  </a:ext>
                </a:extLst>
              </p:cNvPr>
              <p:cNvSpPr txBox="1"/>
              <p:nvPr/>
            </p:nvSpPr>
            <p:spPr>
              <a:xfrm>
                <a:off x="4918885" y="3575644"/>
                <a:ext cx="41800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𝑜</m:t>
                          </m:r>
                        </m:e>
                        <m:sub>
                          <m:r>
                            <a:rPr lang="fr-FR" sz="1600" b="0" i="1" smtClean="0">
                              <a:latin typeface="Cambria Math" panose="02040503050406030204" pitchFamily="18" charset="0"/>
                            </a:rPr>
                            <m:t>𝑡</m:t>
                          </m:r>
                          <m:r>
                            <a:rPr lang="fr-FR" sz="1600" b="0" i="1" smtClean="0">
                              <a:latin typeface="Cambria Math" panose="02040503050406030204" pitchFamily="18" charset="0"/>
                            </a:rPr>
                            <m:t>=4</m:t>
                          </m:r>
                        </m:sub>
                      </m:sSub>
                    </m:oMath>
                  </m:oMathPara>
                </a14:m>
                <a:endParaRPr lang="en-GB" sz="1600" dirty="0"/>
              </a:p>
            </p:txBody>
          </p:sp>
        </mc:Choice>
        <mc:Fallback xmlns="">
          <p:sp>
            <p:nvSpPr>
              <p:cNvPr id="126" name="ZoneTexte 125">
                <a:extLst>
                  <a:ext uri="{FF2B5EF4-FFF2-40B4-BE49-F238E27FC236}">
                    <a16:creationId xmlns:a16="http://schemas.microsoft.com/office/drawing/2014/main" id="{5D07794A-769C-F159-4099-12AABA993115}"/>
                  </a:ext>
                </a:extLst>
              </p:cNvPr>
              <p:cNvSpPr txBox="1">
                <a:spLocks noRot="1" noChangeAspect="1" noMove="1" noResize="1" noEditPoints="1" noAdjustHandles="1" noChangeArrowheads="1" noChangeShapeType="1" noTextEdit="1"/>
              </p:cNvSpPr>
              <p:nvPr/>
            </p:nvSpPr>
            <p:spPr>
              <a:xfrm>
                <a:off x="4918885" y="3575644"/>
                <a:ext cx="418000" cy="246221"/>
              </a:xfrm>
              <a:prstGeom prst="rect">
                <a:avLst/>
              </a:prstGeom>
              <a:blipFill>
                <a:blip r:embed="rId34"/>
                <a:stretch>
                  <a:fillRect l="-8824" r="-2941" b="-15000"/>
                </a:stretch>
              </a:blipFill>
            </p:spPr>
            <p:txBody>
              <a:bodyPr/>
              <a:lstStyle/>
              <a:p>
                <a:r>
                  <a:rPr lang="en-GB">
                    <a:noFill/>
                  </a:rPr>
                  <a:t> </a:t>
                </a:r>
              </a:p>
            </p:txBody>
          </p:sp>
        </mc:Fallback>
      </mc:AlternateContent>
      <p:cxnSp>
        <p:nvCxnSpPr>
          <p:cNvPr id="127" name="Connecteur droit avec flèche 126">
            <a:extLst>
              <a:ext uri="{FF2B5EF4-FFF2-40B4-BE49-F238E27FC236}">
                <a16:creationId xmlns:a16="http://schemas.microsoft.com/office/drawing/2014/main" id="{2D8E0451-6C49-407B-90EB-DC9D6E624E6E}"/>
              </a:ext>
            </a:extLst>
          </p:cNvPr>
          <p:cNvCxnSpPr>
            <a:cxnSpLocks/>
          </p:cNvCxnSpPr>
          <p:nvPr/>
        </p:nvCxnSpPr>
        <p:spPr>
          <a:xfrm flipV="1">
            <a:off x="5137334" y="3530462"/>
            <a:ext cx="3962" cy="144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8" name="Connecteur droit avec flèche 127">
            <a:extLst>
              <a:ext uri="{FF2B5EF4-FFF2-40B4-BE49-F238E27FC236}">
                <a16:creationId xmlns:a16="http://schemas.microsoft.com/office/drawing/2014/main" id="{1F4527CE-70EE-1B37-A05C-179986EC9838}"/>
              </a:ext>
            </a:extLst>
          </p:cNvPr>
          <p:cNvCxnSpPr>
            <a:cxnSpLocks/>
          </p:cNvCxnSpPr>
          <p:nvPr/>
        </p:nvCxnSpPr>
        <p:spPr>
          <a:xfrm flipV="1">
            <a:off x="5139010" y="3220639"/>
            <a:ext cx="3962" cy="144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9" name="ZoneTexte 128">
                <a:extLst>
                  <a:ext uri="{FF2B5EF4-FFF2-40B4-BE49-F238E27FC236}">
                    <a16:creationId xmlns:a16="http://schemas.microsoft.com/office/drawing/2014/main" id="{E69CAF9A-C77B-3876-5D79-462F9C1D53B9}"/>
                  </a:ext>
                </a:extLst>
              </p:cNvPr>
              <p:cNvSpPr txBox="1"/>
              <p:nvPr/>
            </p:nvSpPr>
            <p:spPr>
              <a:xfrm>
                <a:off x="4918882" y="2611012"/>
                <a:ext cx="4247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𝑦</m:t>
                          </m:r>
                        </m:e>
                        <m:sub>
                          <m:r>
                            <a:rPr lang="fr-FR" sz="1600" b="0" i="1" smtClean="0">
                              <a:latin typeface="Cambria Math" panose="02040503050406030204" pitchFamily="18" charset="0"/>
                            </a:rPr>
                            <m:t>𝑡</m:t>
                          </m:r>
                          <m:r>
                            <a:rPr lang="fr-FR" sz="1600" b="0" i="1" smtClean="0">
                              <a:latin typeface="Cambria Math" panose="02040503050406030204" pitchFamily="18" charset="0"/>
                            </a:rPr>
                            <m:t>=4</m:t>
                          </m:r>
                        </m:sub>
                      </m:sSub>
                    </m:oMath>
                  </m:oMathPara>
                </a14:m>
                <a:endParaRPr lang="en-GB" sz="1600" dirty="0"/>
              </a:p>
            </p:txBody>
          </p:sp>
        </mc:Choice>
        <mc:Fallback xmlns="">
          <p:sp>
            <p:nvSpPr>
              <p:cNvPr id="129" name="ZoneTexte 128">
                <a:extLst>
                  <a:ext uri="{FF2B5EF4-FFF2-40B4-BE49-F238E27FC236}">
                    <a16:creationId xmlns:a16="http://schemas.microsoft.com/office/drawing/2014/main" id="{E69CAF9A-C77B-3876-5D79-462F9C1D53B9}"/>
                  </a:ext>
                </a:extLst>
              </p:cNvPr>
              <p:cNvSpPr txBox="1">
                <a:spLocks noRot="1" noChangeAspect="1" noMove="1" noResize="1" noEditPoints="1" noAdjustHandles="1" noChangeArrowheads="1" noChangeShapeType="1" noTextEdit="1"/>
              </p:cNvSpPr>
              <p:nvPr/>
            </p:nvSpPr>
            <p:spPr>
              <a:xfrm>
                <a:off x="4918882" y="2611012"/>
                <a:ext cx="424732" cy="246221"/>
              </a:xfrm>
              <a:prstGeom prst="rect">
                <a:avLst/>
              </a:prstGeom>
              <a:blipFill>
                <a:blip r:embed="rId35"/>
                <a:stretch>
                  <a:fillRect l="-11765" r="-5882" b="-19048"/>
                </a:stretch>
              </a:blipFill>
            </p:spPr>
            <p:txBody>
              <a:bodyPr/>
              <a:lstStyle/>
              <a:p>
                <a:r>
                  <a:rPr lang="en-GB">
                    <a:noFill/>
                  </a:rPr>
                  <a:t> </a:t>
                </a:r>
              </a:p>
            </p:txBody>
          </p:sp>
        </mc:Fallback>
      </mc:AlternateContent>
      <p:cxnSp>
        <p:nvCxnSpPr>
          <p:cNvPr id="130" name="Connecteur droit avec flèche 129">
            <a:extLst>
              <a:ext uri="{FF2B5EF4-FFF2-40B4-BE49-F238E27FC236}">
                <a16:creationId xmlns:a16="http://schemas.microsoft.com/office/drawing/2014/main" id="{8B50B413-1EC5-7B23-D01A-49D11327D19E}"/>
              </a:ext>
            </a:extLst>
          </p:cNvPr>
          <p:cNvCxnSpPr>
            <a:cxnSpLocks/>
          </p:cNvCxnSpPr>
          <p:nvPr/>
        </p:nvCxnSpPr>
        <p:spPr>
          <a:xfrm rot="-300000" flipH="1">
            <a:off x="5144647" y="2858219"/>
            <a:ext cx="21492" cy="1804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1" name="ZoneTexte 130">
                <a:extLst>
                  <a:ext uri="{FF2B5EF4-FFF2-40B4-BE49-F238E27FC236}">
                    <a16:creationId xmlns:a16="http://schemas.microsoft.com/office/drawing/2014/main" id="{D8D6D628-1EE0-955F-59F0-978DB6B48DA1}"/>
                  </a:ext>
                </a:extLst>
              </p:cNvPr>
              <p:cNvSpPr txBox="1"/>
              <p:nvPr/>
            </p:nvSpPr>
            <p:spPr>
              <a:xfrm>
                <a:off x="1081915" y="4113788"/>
                <a:ext cx="42934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Sub>
                    </m:oMath>
                  </m:oMathPara>
                </a14:m>
                <a:endParaRPr lang="en-GB" sz="1600" dirty="0"/>
              </a:p>
            </p:txBody>
          </p:sp>
        </mc:Choice>
        <mc:Fallback xmlns="">
          <p:sp>
            <p:nvSpPr>
              <p:cNvPr id="131" name="ZoneTexte 130">
                <a:extLst>
                  <a:ext uri="{FF2B5EF4-FFF2-40B4-BE49-F238E27FC236}">
                    <a16:creationId xmlns:a16="http://schemas.microsoft.com/office/drawing/2014/main" id="{D8D6D628-1EE0-955F-59F0-978DB6B48DA1}"/>
                  </a:ext>
                </a:extLst>
              </p:cNvPr>
              <p:cNvSpPr txBox="1">
                <a:spLocks noRot="1" noChangeAspect="1" noMove="1" noResize="1" noEditPoints="1" noAdjustHandles="1" noChangeArrowheads="1" noChangeShapeType="1" noTextEdit="1"/>
              </p:cNvSpPr>
              <p:nvPr/>
            </p:nvSpPr>
            <p:spPr>
              <a:xfrm>
                <a:off x="1081915" y="4113788"/>
                <a:ext cx="429348" cy="246221"/>
              </a:xfrm>
              <a:prstGeom prst="rect">
                <a:avLst/>
              </a:prstGeom>
              <a:blipFill>
                <a:blip r:embed="rId36"/>
                <a:stretch>
                  <a:fillRect l="-8333" r="-2778" b="-1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2" name="ZoneTexte 131">
                <a:extLst>
                  <a:ext uri="{FF2B5EF4-FFF2-40B4-BE49-F238E27FC236}">
                    <a16:creationId xmlns:a16="http://schemas.microsoft.com/office/drawing/2014/main" id="{4CAFE473-9230-4718-7712-50706BD662EE}"/>
                  </a:ext>
                </a:extLst>
              </p:cNvPr>
              <p:cNvSpPr txBox="1"/>
              <p:nvPr/>
            </p:nvSpPr>
            <p:spPr>
              <a:xfrm>
                <a:off x="2397745" y="4130799"/>
                <a:ext cx="42934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=2</m:t>
                          </m:r>
                        </m:sub>
                      </m:sSub>
                    </m:oMath>
                  </m:oMathPara>
                </a14:m>
                <a:endParaRPr lang="en-GB" sz="1600" dirty="0"/>
              </a:p>
            </p:txBody>
          </p:sp>
        </mc:Choice>
        <mc:Fallback xmlns="">
          <p:sp>
            <p:nvSpPr>
              <p:cNvPr id="132" name="ZoneTexte 131">
                <a:extLst>
                  <a:ext uri="{FF2B5EF4-FFF2-40B4-BE49-F238E27FC236}">
                    <a16:creationId xmlns:a16="http://schemas.microsoft.com/office/drawing/2014/main" id="{4CAFE473-9230-4718-7712-50706BD662EE}"/>
                  </a:ext>
                </a:extLst>
              </p:cNvPr>
              <p:cNvSpPr txBox="1">
                <a:spLocks noRot="1" noChangeAspect="1" noMove="1" noResize="1" noEditPoints="1" noAdjustHandles="1" noChangeArrowheads="1" noChangeShapeType="1" noTextEdit="1"/>
              </p:cNvSpPr>
              <p:nvPr/>
            </p:nvSpPr>
            <p:spPr>
              <a:xfrm>
                <a:off x="2397745" y="4130799"/>
                <a:ext cx="429348" cy="246221"/>
              </a:xfrm>
              <a:prstGeom prst="rect">
                <a:avLst/>
              </a:prstGeom>
              <a:blipFill>
                <a:blip r:embed="rId37"/>
                <a:stretch>
                  <a:fillRect l="-11429" r="-5714" b="-1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3" name="ZoneTexte 132">
                <a:extLst>
                  <a:ext uri="{FF2B5EF4-FFF2-40B4-BE49-F238E27FC236}">
                    <a16:creationId xmlns:a16="http://schemas.microsoft.com/office/drawing/2014/main" id="{3AD15139-9821-E77E-2553-C6E7CE9926FE}"/>
                  </a:ext>
                </a:extLst>
              </p:cNvPr>
              <p:cNvSpPr txBox="1"/>
              <p:nvPr/>
            </p:nvSpPr>
            <p:spPr>
              <a:xfrm>
                <a:off x="3646299" y="4137755"/>
                <a:ext cx="42934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=3</m:t>
                          </m:r>
                        </m:sub>
                      </m:sSub>
                    </m:oMath>
                  </m:oMathPara>
                </a14:m>
                <a:endParaRPr lang="en-GB" sz="1600" dirty="0"/>
              </a:p>
            </p:txBody>
          </p:sp>
        </mc:Choice>
        <mc:Fallback xmlns="">
          <p:sp>
            <p:nvSpPr>
              <p:cNvPr id="133" name="ZoneTexte 132">
                <a:extLst>
                  <a:ext uri="{FF2B5EF4-FFF2-40B4-BE49-F238E27FC236}">
                    <a16:creationId xmlns:a16="http://schemas.microsoft.com/office/drawing/2014/main" id="{3AD15139-9821-E77E-2553-C6E7CE9926FE}"/>
                  </a:ext>
                </a:extLst>
              </p:cNvPr>
              <p:cNvSpPr txBox="1">
                <a:spLocks noRot="1" noChangeAspect="1" noMove="1" noResize="1" noEditPoints="1" noAdjustHandles="1" noChangeArrowheads="1" noChangeShapeType="1" noTextEdit="1"/>
              </p:cNvSpPr>
              <p:nvPr/>
            </p:nvSpPr>
            <p:spPr>
              <a:xfrm>
                <a:off x="3646299" y="4137755"/>
                <a:ext cx="429348" cy="246221"/>
              </a:xfrm>
              <a:prstGeom prst="rect">
                <a:avLst/>
              </a:prstGeom>
              <a:blipFill>
                <a:blip r:embed="rId38"/>
                <a:stretch>
                  <a:fillRect l="-11429" r="-2857" b="-1428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4" name="ZoneTexte 133">
                <a:extLst>
                  <a:ext uri="{FF2B5EF4-FFF2-40B4-BE49-F238E27FC236}">
                    <a16:creationId xmlns:a16="http://schemas.microsoft.com/office/drawing/2014/main" id="{5F6037C0-8B32-0C1D-8211-9B7CA60942AA}"/>
                  </a:ext>
                </a:extLst>
              </p:cNvPr>
              <p:cNvSpPr txBox="1"/>
              <p:nvPr/>
            </p:nvSpPr>
            <p:spPr>
              <a:xfrm>
                <a:off x="4947437" y="4137908"/>
                <a:ext cx="42934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=4</m:t>
                          </m:r>
                        </m:sub>
                      </m:sSub>
                    </m:oMath>
                  </m:oMathPara>
                </a14:m>
                <a:endParaRPr lang="en-GB" sz="1600" dirty="0"/>
              </a:p>
            </p:txBody>
          </p:sp>
        </mc:Choice>
        <mc:Fallback xmlns="">
          <p:sp>
            <p:nvSpPr>
              <p:cNvPr id="134" name="ZoneTexte 133">
                <a:extLst>
                  <a:ext uri="{FF2B5EF4-FFF2-40B4-BE49-F238E27FC236}">
                    <a16:creationId xmlns:a16="http://schemas.microsoft.com/office/drawing/2014/main" id="{5F6037C0-8B32-0C1D-8211-9B7CA60942AA}"/>
                  </a:ext>
                </a:extLst>
              </p:cNvPr>
              <p:cNvSpPr txBox="1">
                <a:spLocks noRot="1" noChangeAspect="1" noMove="1" noResize="1" noEditPoints="1" noAdjustHandles="1" noChangeArrowheads="1" noChangeShapeType="1" noTextEdit="1"/>
              </p:cNvSpPr>
              <p:nvPr/>
            </p:nvSpPr>
            <p:spPr>
              <a:xfrm>
                <a:off x="4947437" y="4137908"/>
                <a:ext cx="429348" cy="246221"/>
              </a:xfrm>
              <a:prstGeom prst="rect">
                <a:avLst/>
              </a:prstGeom>
              <a:blipFill>
                <a:blip r:embed="rId39"/>
                <a:stretch>
                  <a:fillRect l="-11429" r="-5714" b="-14286"/>
                </a:stretch>
              </a:blipFill>
            </p:spPr>
            <p:txBody>
              <a:bodyPr/>
              <a:lstStyle/>
              <a:p>
                <a:r>
                  <a:rPr lang="en-GB">
                    <a:noFill/>
                  </a:rPr>
                  <a:t> </a:t>
                </a:r>
              </a:p>
            </p:txBody>
          </p:sp>
        </mc:Fallback>
      </mc:AlternateContent>
      <p:cxnSp>
        <p:nvCxnSpPr>
          <p:cNvPr id="136" name="Connecteur droit 135">
            <a:extLst>
              <a:ext uri="{FF2B5EF4-FFF2-40B4-BE49-F238E27FC236}">
                <a16:creationId xmlns:a16="http://schemas.microsoft.com/office/drawing/2014/main" id="{506B6961-D2B5-8981-C651-36A816A83DBC}"/>
              </a:ext>
            </a:extLst>
          </p:cNvPr>
          <p:cNvCxnSpPr/>
          <p:nvPr/>
        </p:nvCxnSpPr>
        <p:spPr>
          <a:xfrm>
            <a:off x="1019172" y="4385252"/>
            <a:ext cx="565788" cy="0"/>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137" name="Connecteur droit 136">
            <a:extLst>
              <a:ext uri="{FF2B5EF4-FFF2-40B4-BE49-F238E27FC236}">
                <a16:creationId xmlns:a16="http://schemas.microsoft.com/office/drawing/2014/main" id="{29553824-9B5F-780B-4C68-4F1BAF363C4A}"/>
              </a:ext>
            </a:extLst>
          </p:cNvPr>
          <p:cNvCxnSpPr/>
          <p:nvPr/>
        </p:nvCxnSpPr>
        <p:spPr>
          <a:xfrm>
            <a:off x="2300224" y="4388075"/>
            <a:ext cx="565788" cy="0"/>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138" name="Connecteur droit 137">
            <a:extLst>
              <a:ext uri="{FF2B5EF4-FFF2-40B4-BE49-F238E27FC236}">
                <a16:creationId xmlns:a16="http://schemas.microsoft.com/office/drawing/2014/main" id="{487AC5CC-680E-7224-7492-981D64DF7B3F}"/>
              </a:ext>
            </a:extLst>
          </p:cNvPr>
          <p:cNvCxnSpPr/>
          <p:nvPr/>
        </p:nvCxnSpPr>
        <p:spPr>
          <a:xfrm>
            <a:off x="3566854" y="4398332"/>
            <a:ext cx="565788" cy="0"/>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139" name="Connecteur droit 138">
            <a:extLst>
              <a:ext uri="{FF2B5EF4-FFF2-40B4-BE49-F238E27FC236}">
                <a16:creationId xmlns:a16="http://schemas.microsoft.com/office/drawing/2014/main" id="{A0447485-03D8-1E90-6B28-42735684EA38}"/>
              </a:ext>
            </a:extLst>
          </p:cNvPr>
          <p:cNvCxnSpPr/>
          <p:nvPr/>
        </p:nvCxnSpPr>
        <p:spPr>
          <a:xfrm>
            <a:off x="4832666" y="4408589"/>
            <a:ext cx="565788" cy="0"/>
          </a:xfrm>
          <a:prstGeom prst="line">
            <a:avLst/>
          </a:prstGeom>
          <a:ln w="635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5730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9ED67-28AF-2A58-ECAE-934A25C6696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14ADBB7-6D0B-4B74-F122-CB7E603990F1}"/>
              </a:ext>
            </a:extLst>
          </p:cNvPr>
          <p:cNvSpPr>
            <a:spLocks noGrp="1"/>
          </p:cNvSpPr>
          <p:nvPr>
            <p:ph type="title"/>
          </p:nvPr>
        </p:nvSpPr>
        <p:spPr/>
        <p:txBody>
          <a:bodyPr/>
          <a:lstStyle/>
          <a:p>
            <a:pPr algn="ctr"/>
            <a:r>
              <a:rPr lang="en-GB" noProof="0" dirty="0"/>
              <a:t>Recurrent Neural Networks</a:t>
            </a:r>
          </a:p>
        </p:txBody>
      </p:sp>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79D775A0-75C2-00FA-D2BC-3911D56E1FE5}"/>
                  </a:ext>
                </a:extLst>
              </p:cNvPr>
              <p:cNvSpPr txBox="1"/>
              <p:nvPr/>
            </p:nvSpPr>
            <p:spPr>
              <a:xfrm>
                <a:off x="838200" y="1318020"/>
                <a:ext cx="8703365" cy="1023136"/>
              </a:xfrm>
              <a:prstGeom prst="rect">
                <a:avLst/>
              </a:prstGeom>
              <a:noFill/>
            </p:spPr>
            <p:txBody>
              <a:bodyPr wrap="square" lIns="90000" rtlCol="0">
                <a:noAutofit/>
              </a:bodyPr>
              <a:lstStyle/>
              <a:p>
                <a:r>
                  <a:rPr lang="en-GB" sz="2400" b="1" dirty="0">
                    <a:latin typeface="ui-sans-serif"/>
                  </a:rPr>
                  <a:t>Backpropagation Through Time (BPTT)</a:t>
                </a:r>
                <a:endParaRPr lang="en-GB" sz="2400" b="1" dirty="0">
                  <a:solidFill>
                    <a:schemeClr val="accent4"/>
                  </a:solidFill>
                  <a:latin typeface="ui-sans-serif"/>
                </a:endParaRPr>
              </a:p>
              <a:p>
                <a:r>
                  <a:rPr lang="en-GB" sz="1600" dirty="0">
                    <a:latin typeface="ui-sans-serif"/>
                  </a:rPr>
                  <a:t>Demonstration of the gradient's calculation with </a:t>
                </a:r>
                <a14:m>
                  <m:oMath xmlns:m="http://schemas.openxmlformats.org/officeDocument/2006/math">
                    <m:r>
                      <a:rPr lang="en-GB" sz="2400" b="0" i="1" noProof="0" smtClean="0">
                        <a:solidFill>
                          <a:schemeClr val="tx1"/>
                        </a:solidFill>
                        <a:latin typeface="Cambria Math" panose="02040503050406030204" pitchFamily="18" charset="0"/>
                      </a:rPr>
                      <m:t>𝑔</m:t>
                    </m:r>
                  </m:oMath>
                </a14:m>
                <a:r>
                  <a:rPr lang="en-GB" sz="2400" dirty="0">
                    <a:latin typeface="ui-sans-serif"/>
                  </a:rPr>
                  <a:t> </a:t>
                </a:r>
                <a:r>
                  <a:rPr lang="en-GB" sz="1600" dirty="0">
                    <a:latin typeface="ui-sans-serif"/>
                  </a:rPr>
                  <a:t>softmax function and </a:t>
                </a:r>
                <a14:m>
                  <m:oMath xmlns:m="http://schemas.openxmlformats.org/officeDocument/2006/math">
                    <m:r>
                      <a:rPr lang="fr-FR" sz="2400" b="0" i="1" smtClean="0">
                        <a:latin typeface="Cambria Math" panose="02040503050406030204" pitchFamily="18" charset="0"/>
                      </a:rPr>
                      <m:t>𝑓</m:t>
                    </m:r>
                  </m:oMath>
                </a14:m>
                <a:r>
                  <a:rPr lang="en-GB" sz="2400" dirty="0">
                    <a:latin typeface="ui-sans-serif"/>
                  </a:rPr>
                  <a:t> </a:t>
                </a:r>
                <a:r>
                  <a:rPr lang="en-GB" sz="1600" dirty="0">
                    <a:latin typeface="ui-sans-serif"/>
                  </a:rPr>
                  <a:t>tanh</a:t>
                </a:r>
              </a:p>
            </p:txBody>
          </p:sp>
        </mc:Choice>
        <mc:Fallback xmlns="">
          <p:sp>
            <p:nvSpPr>
              <p:cNvPr id="4" name="ZoneTexte 3">
                <a:extLst>
                  <a:ext uri="{FF2B5EF4-FFF2-40B4-BE49-F238E27FC236}">
                    <a16:creationId xmlns:a16="http://schemas.microsoft.com/office/drawing/2014/main" id="{79D775A0-75C2-00FA-D2BC-3911D56E1FE5}"/>
                  </a:ext>
                </a:extLst>
              </p:cNvPr>
              <p:cNvSpPr txBox="1">
                <a:spLocks noRot="1" noChangeAspect="1" noMove="1" noResize="1" noEditPoints="1" noAdjustHandles="1" noChangeArrowheads="1" noChangeShapeType="1" noTextEdit="1"/>
              </p:cNvSpPr>
              <p:nvPr/>
            </p:nvSpPr>
            <p:spPr>
              <a:xfrm>
                <a:off x="838200" y="1318020"/>
                <a:ext cx="8703365" cy="1023136"/>
              </a:xfrm>
              <a:prstGeom prst="rect">
                <a:avLst/>
              </a:prstGeom>
              <a:blipFill>
                <a:blip r:embed="rId3"/>
                <a:stretch>
                  <a:fillRect l="-1166" t="-4878"/>
                </a:stretch>
              </a:blipFill>
            </p:spPr>
            <p:txBody>
              <a:bodyPr/>
              <a:lstStyle/>
              <a:p>
                <a:r>
                  <a:rPr lang="en-GB">
                    <a:noFill/>
                  </a:rPr>
                  <a:t> </a:t>
                </a:r>
              </a:p>
            </p:txBody>
          </p:sp>
        </mc:Fallback>
      </mc:AlternateContent>
      <p:sp>
        <p:nvSpPr>
          <p:cNvPr id="83" name="Espace réservé du pied de page 2">
            <a:extLst>
              <a:ext uri="{FF2B5EF4-FFF2-40B4-BE49-F238E27FC236}">
                <a16:creationId xmlns:a16="http://schemas.microsoft.com/office/drawing/2014/main" id="{2D7BA854-572F-E9C4-66F2-4CB5C650BBB3}"/>
              </a:ext>
            </a:extLst>
          </p:cNvPr>
          <p:cNvSpPr>
            <a:spLocks noGrp="1"/>
          </p:cNvSpPr>
          <p:nvPr>
            <p:ph type="ftr" sz="quarter" idx="11"/>
          </p:nvPr>
        </p:nvSpPr>
        <p:spPr>
          <a:xfrm>
            <a:off x="4038600" y="6356350"/>
            <a:ext cx="4549346" cy="365125"/>
          </a:xfrm>
        </p:spPr>
        <p:txBody>
          <a:bodyPr/>
          <a:lstStyle/>
          <a:p>
            <a:r>
              <a:rPr lang="en-GB" noProof="1"/>
              <a:t>RNN. Author: David Thébault – Based on NLPDemystified.org</a:t>
            </a:r>
          </a:p>
        </p:txBody>
      </p:sp>
      <mc:AlternateContent xmlns:mc="http://schemas.openxmlformats.org/markup-compatibility/2006" xmlns:a14="http://schemas.microsoft.com/office/drawing/2010/main">
        <mc:Choice Requires="a14">
          <p:sp>
            <p:nvSpPr>
              <p:cNvPr id="89" name="ZoneTexte 88">
                <a:extLst>
                  <a:ext uri="{FF2B5EF4-FFF2-40B4-BE49-F238E27FC236}">
                    <a16:creationId xmlns:a16="http://schemas.microsoft.com/office/drawing/2014/main" id="{9FDE2C74-F300-EDB4-E562-36673EBB42B6}"/>
                  </a:ext>
                </a:extLst>
              </p:cNvPr>
              <p:cNvSpPr txBox="1"/>
              <p:nvPr/>
            </p:nvSpPr>
            <p:spPr>
              <a:xfrm>
                <a:off x="1670023" y="2366552"/>
                <a:ext cx="9821766" cy="3719736"/>
              </a:xfrm>
              <a:prstGeom prst="rect">
                <a:avLst/>
              </a:prstGeom>
              <a:noFill/>
            </p:spPr>
            <p:txBody>
              <a:bodyPr wrap="square" lIns="0" tIns="0" rIns="0" bIns="0" rtlCol="0">
                <a:spAutoFit/>
              </a:bodyPr>
              <a:lstStyle/>
              <a:p>
                <a:r>
                  <a:rPr lang="en-GB" sz="1200" i="1" noProof="0" dirty="0">
                    <a:latin typeface="Cambria Math" panose="02040503050406030204" pitchFamily="18" charset="0"/>
                    <a:ea typeface="Cambria Math" panose="02040503050406030204" pitchFamily="18" charset="0"/>
                  </a:rPr>
                  <a:t>The material that will need for the gradient’s calculations</a:t>
                </a:r>
              </a:p>
              <a:p>
                <a:endParaRPr lang="fr-FR" sz="12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GB" sz="1200" i="1" smtClean="0">
                          <a:latin typeface="Cambria Math" panose="02040503050406030204" pitchFamily="18" charset="0"/>
                          <a:ea typeface="Cambria Math" panose="02040503050406030204" pitchFamily="18" charset="0"/>
                        </a:rPr>
                        <m:t>𝐿</m:t>
                      </m:r>
                      <m:r>
                        <a:rPr lang="en-GB" sz="1200" i="1" smtClean="0">
                          <a:latin typeface="Cambria Math" panose="02040503050406030204" pitchFamily="18" charset="0"/>
                          <a:ea typeface="Cambria Math" panose="02040503050406030204" pitchFamily="18" charset="0"/>
                        </a:rPr>
                        <m:t>= </m:t>
                      </m:r>
                      <m:f>
                        <m:fPr>
                          <m:ctrlPr>
                            <a:rPr lang="en-GB" sz="1200" i="1">
                              <a:latin typeface="Cambria Math" panose="02040503050406030204" pitchFamily="18" charset="0"/>
                              <a:ea typeface="Cambria Math" panose="02040503050406030204" pitchFamily="18" charset="0"/>
                            </a:rPr>
                          </m:ctrlPr>
                        </m:fPr>
                        <m:num>
                          <m:r>
                            <a:rPr lang="en-GB" sz="1200" i="1">
                              <a:latin typeface="Cambria Math" panose="02040503050406030204" pitchFamily="18" charset="0"/>
                              <a:ea typeface="Cambria Math" panose="02040503050406030204" pitchFamily="18" charset="0"/>
                            </a:rPr>
                            <m:t>1</m:t>
                          </m:r>
                        </m:num>
                        <m:den>
                          <m:r>
                            <a:rPr lang="en-GB" sz="1200" i="1">
                              <a:latin typeface="Cambria Math" panose="02040503050406030204" pitchFamily="18" charset="0"/>
                              <a:ea typeface="Cambria Math" panose="02040503050406030204" pitchFamily="18" charset="0"/>
                            </a:rPr>
                            <m:t>𝑇</m:t>
                          </m:r>
                        </m:den>
                      </m:f>
                      <m:nary>
                        <m:naryPr>
                          <m:chr m:val="∑"/>
                          <m:ctrlPr>
                            <a:rPr lang="en-GB" sz="1200" i="1">
                              <a:latin typeface="Cambria Math" panose="02040503050406030204" pitchFamily="18" charset="0"/>
                              <a:ea typeface="Cambria Math" panose="02040503050406030204" pitchFamily="18" charset="0"/>
                            </a:rPr>
                          </m:ctrlPr>
                        </m:naryPr>
                        <m:sub>
                          <m:r>
                            <m:rPr>
                              <m:brk m:alnAt="23"/>
                            </m:rPr>
                            <a:rPr lang="en-GB" sz="1200" i="1">
                              <a:latin typeface="Cambria Math" panose="02040503050406030204" pitchFamily="18" charset="0"/>
                              <a:ea typeface="Cambria Math" panose="02040503050406030204" pitchFamily="18" charset="0"/>
                            </a:rPr>
                            <m:t>𝑡</m:t>
                          </m:r>
                          <m:r>
                            <a:rPr lang="en-GB" sz="1200" i="1">
                              <a:latin typeface="Cambria Math" panose="02040503050406030204" pitchFamily="18" charset="0"/>
                              <a:ea typeface="Cambria Math" panose="02040503050406030204" pitchFamily="18" charset="0"/>
                            </a:rPr>
                            <m:t>=1</m:t>
                          </m:r>
                        </m:sub>
                        <m:sup>
                          <m:r>
                            <a:rPr lang="en-GB" sz="1200" i="1">
                              <a:latin typeface="Cambria Math" panose="02040503050406030204" pitchFamily="18" charset="0"/>
                              <a:ea typeface="Cambria Math" panose="02040503050406030204" pitchFamily="18" charset="0"/>
                            </a:rPr>
                            <m:t>𝑇</m:t>
                          </m:r>
                        </m:sup>
                        <m:e>
                          <m:sSub>
                            <m:sSubPr>
                              <m:ctrlPr>
                                <a:rPr lang="en-GB" sz="1200" i="1">
                                  <a:latin typeface="Cambria Math" panose="02040503050406030204" pitchFamily="18" charset="0"/>
                                  <a:ea typeface="Cambria Math" panose="02040503050406030204" pitchFamily="18" charset="0"/>
                                </a:rPr>
                              </m:ctrlPr>
                            </m:sSubPr>
                            <m:e>
                              <m:r>
                                <a:rPr lang="en-GB" sz="1200" i="1">
                                  <a:latin typeface="Cambria Math" panose="02040503050406030204" pitchFamily="18" charset="0"/>
                                  <a:ea typeface="Cambria Math" panose="02040503050406030204" pitchFamily="18" charset="0"/>
                                </a:rPr>
                                <m:t>𝐿</m:t>
                              </m:r>
                            </m:e>
                            <m:sub>
                              <m:r>
                                <a:rPr lang="en-GB" sz="1200" i="1">
                                  <a:latin typeface="Cambria Math" panose="02040503050406030204" pitchFamily="18" charset="0"/>
                                  <a:ea typeface="Cambria Math" panose="02040503050406030204" pitchFamily="18" charset="0"/>
                                </a:rPr>
                                <m:t>𝑡</m:t>
                              </m:r>
                            </m:sub>
                          </m:sSub>
                        </m:e>
                      </m:nary>
                      <m:r>
                        <a:rPr lang="en-GB" sz="1200">
                          <a:latin typeface="Cambria Math" panose="02040503050406030204" pitchFamily="18" charset="0"/>
                          <a:ea typeface="Cambria Math" panose="02040503050406030204" pitchFamily="18" charset="0"/>
                        </a:rPr>
                        <m:t>, </m:t>
                      </m:r>
                      <m:r>
                        <a:rPr lang="fr-FR" sz="1200" b="0" i="1" smtClean="0">
                          <a:latin typeface="Cambria Math" panose="02040503050406030204" pitchFamily="18" charset="0"/>
                          <a:ea typeface="Cambria Math" panose="02040503050406030204" pitchFamily="18" charset="0"/>
                        </a:rPr>
                        <m:t> </m:t>
                      </m:r>
                    </m:oMath>
                  </m:oMathPara>
                </a14:m>
                <a:endParaRPr lang="fr-FR" sz="1200" b="0" i="1" dirty="0">
                  <a:latin typeface="Cambria Math" panose="02040503050406030204" pitchFamily="18" charset="0"/>
                  <a:ea typeface="Cambria Math" panose="02040503050406030204" pitchFamily="18" charset="0"/>
                </a:endParaRPr>
              </a:p>
              <a:p>
                <a:endParaRPr lang="fr-FR" sz="12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fr-FR" sz="1200" b="0" i="1" smtClean="0">
                              <a:latin typeface="Cambria Math" panose="02040503050406030204" pitchFamily="18" charset="0"/>
                              <a:ea typeface="Cambria Math" panose="02040503050406030204" pitchFamily="18" charset="0"/>
                            </a:rPr>
                          </m:ctrlPr>
                        </m:sSubPr>
                        <m:e>
                          <m:acc>
                            <m:accPr>
                              <m:chr m:val="̂"/>
                              <m:ctrlPr>
                                <a:rPr lang="fr-FR" sz="1200" b="0" i="1" smtClean="0">
                                  <a:latin typeface="Cambria Math" panose="02040503050406030204" pitchFamily="18" charset="0"/>
                                  <a:ea typeface="Cambria Math" panose="02040503050406030204" pitchFamily="18" charset="0"/>
                                </a:rPr>
                              </m:ctrlPr>
                            </m:accPr>
                            <m:e>
                              <m:r>
                                <a:rPr lang="fr-FR" sz="1200" b="0" i="1" smtClean="0">
                                  <a:latin typeface="Cambria Math" panose="02040503050406030204" pitchFamily="18" charset="0"/>
                                  <a:ea typeface="Cambria Math" panose="02040503050406030204" pitchFamily="18" charset="0"/>
                                </a:rPr>
                                <m:t>𝑦</m:t>
                              </m:r>
                            </m:e>
                          </m:acc>
                        </m:e>
                        <m:sub>
                          <m:r>
                            <a:rPr lang="fr-FR" sz="1200" b="0" i="1" smtClean="0">
                              <a:latin typeface="Cambria Math" panose="02040503050406030204" pitchFamily="18" charset="0"/>
                              <a:ea typeface="Cambria Math" panose="02040503050406030204" pitchFamily="18" charset="0"/>
                            </a:rPr>
                            <m:t>𝑡</m:t>
                          </m:r>
                        </m:sub>
                      </m:sSub>
                      <m:r>
                        <a:rPr lang="en-GB" sz="1200" i="1">
                          <a:latin typeface="Cambria Math" panose="02040503050406030204" pitchFamily="18" charset="0"/>
                          <a:ea typeface="Cambria Math" panose="02040503050406030204" pitchFamily="18" charset="0"/>
                        </a:rPr>
                        <m:t>=</m:t>
                      </m:r>
                      <m:r>
                        <a:rPr lang="fr-FR" sz="1200" b="0" i="1" smtClean="0">
                          <a:latin typeface="Cambria Math" panose="02040503050406030204" pitchFamily="18" charset="0"/>
                          <a:ea typeface="Cambria Math" panose="02040503050406030204" pitchFamily="18" charset="0"/>
                        </a:rPr>
                        <m:t>𝑠𝑜𝑓𝑡𝑚𝑎𝑥</m:t>
                      </m:r>
                      <m:d>
                        <m:dPr>
                          <m:ctrlPr>
                            <a:rPr lang="en-GB" sz="1200" i="1">
                              <a:latin typeface="Cambria Math" panose="02040503050406030204" pitchFamily="18" charset="0"/>
                              <a:ea typeface="Cambria Math" panose="02040503050406030204" pitchFamily="18" charset="0"/>
                            </a:rPr>
                          </m:ctrlPr>
                        </m:dPr>
                        <m:e>
                          <m:sSub>
                            <m:sSubPr>
                              <m:ctrlPr>
                                <a:rPr lang="fr-FR" sz="1200" b="0" i="1" smtClean="0">
                                  <a:latin typeface="Cambria Math" panose="02040503050406030204" pitchFamily="18" charset="0"/>
                                  <a:ea typeface="Cambria Math" panose="02040503050406030204" pitchFamily="18" charset="0"/>
                                </a:rPr>
                              </m:ctrlPr>
                            </m:sSubPr>
                            <m:e>
                              <m:r>
                                <a:rPr lang="fr-FR" sz="1200" b="0" i="1" smtClean="0">
                                  <a:latin typeface="Cambria Math" panose="02040503050406030204" pitchFamily="18" charset="0"/>
                                  <a:ea typeface="Cambria Math" panose="02040503050406030204" pitchFamily="18" charset="0"/>
                                </a:rPr>
                                <m:t>𝑜</m:t>
                              </m:r>
                            </m:e>
                            <m:sub>
                              <m:r>
                                <a:rPr lang="fr-FR" sz="1200" b="0" i="1" smtClean="0">
                                  <a:latin typeface="Cambria Math" panose="02040503050406030204" pitchFamily="18" charset="0"/>
                                  <a:ea typeface="Cambria Math" panose="02040503050406030204" pitchFamily="18" charset="0"/>
                                </a:rPr>
                                <m:t>𝑡</m:t>
                              </m:r>
                            </m:sub>
                          </m:sSub>
                          <m:r>
                            <a:rPr lang="fr-FR" sz="1200" b="0" i="1" smtClean="0">
                              <a:latin typeface="Cambria Math" panose="02040503050406030204" pitchFamily="18" charset="0"/>
                              <a:ea typeface="Cambria Math" panose="02040503050406030204" pitchFamily="18" charset="0"/>
                            </a:rPr>
                            <m:t>)=</m:t>
                          </m:r>
                          <m:r>
                            <a:rPr lang="fr-FR" sz="1200" b="0" i="1" smtClean="0">
                              <a:latin typeface="Cambria Math" panose="02040503050406030204" pitchFamily="18" charset="0"/>
                              <a:ea typeface="Cambria Math" panose="02040503050406030204" pitchFamily="18" charset="0"/>
                            </a:rPr>
                            <m:t>𝑠𝑜𝑓𝑡𝑚𝑎𝑥</m:t>
                          </m:r>
                          <m:r>
                            <a:rPr lang="fr-FR" sz="1200" b="0" i="1" smtClean="0">
                              <a:latin typeface="Cambria Math" panose="02040503050406030204" pitchFamily="18" charset="0"/>
                              <a:ea typeface="Cambria Math" panose="02040503050406030204" pitchFamily="18" charset="0"/>
                            </a:rPr>
                            <m:t>(</m:t>
                          </m:r>
                          <m:r>
                            <a:rPr lang="en-GB" sz="1200" i="1">
                              <a:latin typeface="Cambria Math" panose="02040503050406030204" pitchFamily="18" charset="0"/>
                              <a:ea typeface="Cambria Math" panose="02040503050406030204" pitchFamily="18" charset="0"/>
                            </a:rPr>
                            <m:t>𝑉</m:t>
                          </m:r>
                          <m:sSub>
                            <m:sSubPr>
                              <m:ctrlPr>
                                <a:rPr lang="en-GB" sz="1200" i="1">
                                  <a:latin typeface="Cambria Math" panose="02040503050406030204" pitchFamily="18" charset="0"/>
                                  <a:ea typeface="Cambria Math" panose="02040503050406030204" pitchFamily="18" charset="0"/>
                                </a:rPr>
                              </m:ctrlPr>
                            </m:sSubPr>
                            <m:e>
                              <m:r>
                                <a:rPr lang="en-GB" sz="1200" i="1">
                                  <a:latin typeface="Cambria Math" panose="02040503050406030204" pitchFamily="18" charset="0"/>
                                  <a:ea typeface="Cambria Math" panose="02040503050406030204" pitchFamily="18" charset="0"/>
                                </a:rPr>
                                <m:t>h</m:t>
                              </m:r>
                            </m:e>
                            <m:sub>
                              <m:r>
                                <a:rPr lang="en-GB" sz="1200" i="1">
                                  <a:latin typeface="Cambria Math" panose="02040503050406030204" pitchFamily="18" charset="0"/>
                                  <a:ea typeface="Cambria Math" panose="02040503050406030204" pitchFamily="18" charset="0"/>
                                </a:rPr>
                                <m:t>𝑡</m:t>
                              </m:r>
                            </m:sub>
                          </m:sSub>
                        </m:e>
                      </m:d>
                      <m:r>
                        <a:rPr lang="en-GB" sz="1200">
                          <a:latin typeface="Cambria Math" panose="02040503050406030204" pitchFamily="18" charset="0"/>
                          <a:ea typeface="Cambria Math" panose="02040503050406030204" pitchFamily="18" charset="0"/>
                        </a:rPr>
                        <m:t>,  </m:t>
                      </m:r>
                    </m:oMath>
                  </m:oMathPara>
                </a14:m>
                <a:endParaRPr lang="fr-FR" sz="1200" dirty="0">
                  <a:latin typeface="Cambria Math" panose="02040503050406030204" pitchFamily="18" charset="0"/>
                  <a:ea typeface="Cambria Math" panose="02040503050406030204" pitchFamily="18" charset="0"/>
                </a:endParaRPr>
              </a:p>
              <a:p>
                <a:endParaRPr lang="en-GB" sz="12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en-GB" sz="1200" i="1">
                              <a:latin typeface="Cambria Math" panose="02040503050406030204" pitchFamily="18" charset="0"/>
                              <a:ea typeface="Cambria Math" panose="02040503050406030204" pitchFamily="18" charset="0"/>
                            </a:rPr>
                          </m:ctrlPr>
                        </m:sSubPr>
                        <m:e>
                          <m:r>
                            <a:rPr lang="en-GB" sz="1200" i="1">
                              <a:latin typeface="Cambria Math" panose="02040503050406030204" pitchFamily="18" charset="0"/>
                              <a:ea typeface="Cambria Math" panose="02040503050406030204" pitchFamily="18" charset="0"/>
                            </a:rPr>
                            <m:t>h</m:t>
                          </m:r>
                        </m:e>
                        <m:sub>
                          <m:r>
                            <a:rPr lang="en-GB" sz="1200" i="1">
                              <a:latin typeface="Cambria Math" panose="02040503050406030204" pitchFamily="18" charset="0"/>
                              <a:ea typeface="Cambria Math" panose="02040503050406030204" pitchFamily="18" charset="0"/>
                            </a:rPr>
                            <m:t>𝑡</m:t>
                          </m:r>
                        </m:sub>
                      </m:sSub>
                      <m:r>
                        <a:rPr lang="en-GB" sz="1200" i="1">
                          <a:latin typeface="Cambria Math" panose="02040503050406030204" pitchFamily="18" charset="0"/>
                          <a:ea typeface="Cambria Math" panose="02040503050406030204" pitchFamily="18" charset="0"/>
                        </a:rPr>
                        <m:t>=</m:t>
                      </m:r>
                      <m:r>
                        <a:rPr lang="fr-FR" sz="1200" b="0" i="1" smtClean="0">
                          <a:latin typeface="Cambria Math" panose="02040503050406030204" pitchFamily="18" charset="0"/>
                          <a:ea typeface="Cambria Math" panose="02040503050406030204" pitchFamily="18" charset="0"/>
                        </a:rPr>
                        <m:t>𝑡𝑎𝑛h</m:t>
                      </m:r>
                      <m:d>
                        <m:dPr>
                          <m:ctrlPr>
                            <a:rPr lang="en-GB" sz="1200" b="0" i="1" smtClean="0">
                              <a:latin typeface="Cambria Math" panose="02040503050406030204" pitchFamily="18" charset="0"/>
                              <a:ea typeface="Cambria Math" panose="02040503050406030204" pitchFamily="18" charset="0"/>
                            </a:rPr>
                          </m:ctrlPr>
                        </m:dPr>
                        <m:e>
                          <m:r>
                            <a:rPr lang="en-GB" sz="1200" i="1">
                              <a:latin typeface="Cambria Math" panose="02040503050406030204" pitchFamily="18" charset="0"/>
                              <a:ea typeface="Cambria Math" panose="02040503050406030204" pitchFamily="18" charset="0"/>
                            </a:rPr>
                            <m:t>𝑈</m:t>
                          </m:r>
                          <m:sSub>
                            <m:sSubPr>
                              <m:ctrlPr>
                                <a:rPr lang="en-GB" sz="1200" i="1">
                                  <a:latin typeface="Cambria Math" panose="02040503050406030204" pitchFamily="18" charset="0"/>
                                  <a:ea typeface="Cambria Math" panose="02040503050406030204" pitchFamily="18" charset="0"/>
                                </a:rPr>
                              </m:ctrlPr>
                            </m:sSubPr>
                            <m:e>
                              <m:r>
                                <a:rPr lang="en-GB" sz="1200" i="1">
                                  <a:latin typeface="Cambria Math" panose="02040503050406030204" pitchFamily="18" charset="0"/>
                                  <a:ea typeface="Cambria Math" panose="02040503050406030204" pitchFamily="18" charset="0"/>
                                </a:rPr>
                                <m:t>𝑋</m:t>
                              </m:r>
                            </m:e>
                            <m:sub>
                              <m:r>
                                <a:rPr lang="en-GB" sz="1200" i="1">
                                  <a:latin typeface="Cambria Math" panose="02040503050406030204" pitchFamily="18" charset="0"/>
                                  <a:ea typeface="Cambria Math" panose="02040503050406030204" pitchFamily="18" charset="0"/>
                                </a:rPr>
                                <m:t>𝑡</m:t>
                              </m:r>
                            </m:sub>
                          </m:sSub>
                          <m:r>
                            <a:rPr lang="en-GB" sz="1200" i="1">
                              <a:latin typeface="Cambria Math" panose="02040503050406030204" pitchFamily="18" charset="0"/>
                              <a:ea typeface="Cambria Math" panose="02040503050406030204" pitchFamily="18" charset="0"/>
                            </a:rPr>
                            <m:t>+</m:t>
                          </m:r>
                          <m:r>
                            <a:rPr lang="en-GB" sz="1200" i="1">
                              <a:latin typeface="Cambria Math" panose="02040503050406030204" pitchFamily="18" charset="0"/>
                              <a:ea typeface="Cambria Math" panose="02040503050406030204" pitchFamily="18" charset="0"/>
                            </a:rPr>
                            <m:t>𝑊</m:t>
                          </m:r>
                          <m:sSub>
                            <m:sSubPr>
                              <m:ctrlPr>
                                <a:rPr lang="en-GB" sz="1200" i="1">
                                  <a:latin typeface="Cambria Math" panose="02040503050406030204" pitchFamily="18" charset="0"/>
                                  <a:ea typeface="Cambria Math" panose="02040503050406030204" pitchFamily="18" charset="0"/>
                                </a:rPr>
                              </m:ctrlPr>
                            </m:sSubPr>
                            <m:e>
                              <m:r>
                                <a:rPr lang="en-GB" sz="1200" i="1">
                                  <a:latin typeface="Cambria Math" panose="02040503050406030204" pitchFamily="18" charset="0"/>
                                  <a:ea typeface="Cambria Math" panose="02040503050406030204" pitchFamily="18" charset="0"/>
                                </a:rPr>
                                <m:t>h</m:t>
                              </m:r>
                            </m:e>
                            <m:sub>
                              <m:r>
                                <a:rPr lang="en-GB" sz="1200" i="1">
                                  <a:latin typeface="Cambria Math" panose="02040503050406030204" pitchFamily="18" charset="0"/>
                                  <a:ea typeface="Cambria Math" panose="02040503050406030204" pitchFamily="18" charset="0"/>
                                </a:rPr>
                                <m:t>𝑡</m:t>
                              </m:r>
                              <m:r>
                                <a:rPr lang="en-GB" sz="1200" i="1">
                                  <a:latin typeface="Cambria Math" panose="02040503050406030204" pitchFamily="18" charset="0"/>
                                  <a:ea typeface="Cambria Math" panose="02040503050406030204" pitchFamily="18" charset="0"/>
                                </a:rPr>
                                <m:t>−1</m:t>
                              </m:r>
                            </m:sub>
                          </m:sSub>
                        </m:e>
                      </m:d>
                      <m:r>
                        <a:rPr lang="fr-FR" sz="1200" b="0" i="1" smtClean="0">
                          <a:latin typeface="Cambria Math" panose="02040503050406030204" pitchFamily="18" charset="0"/>
                          <a:ea typeface="Cambria Math" panose="02040503050406030204" pitchFamily="18" charset="0"/>
                        </a:rPr>
                        <m:t>,  </m:t>
                      </m:r>
                    </m:oMath>
                  </m:oMathPara>
                </a14:m>
                <a:endParaRPr lang="fr-FR" sz="1200" b="0" i="1" dirty="0">
                  <a:latin typeface="Cambria Math" panose="02040503050406030204" pitchFamily="18" charset="0"/>
                  <a:ea typeface="Cambria Math" panose="02040503050406030204" pitchFamily="18" charset="0"/>
                </a:endParaRPr>
              </a:p>
              <a:p>
                <a:endParaRPr lang="fr-FR" sz="12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fr-FR" sz="1200" b="0" i="1" smtClean="0">
                          <a:latin typeface="Cambria Math" panose="02040503050406030204" pitchFamily="18" charset="0"/>
                          <a:ea typeface="Cambria Math" panose="02040503050406030204" pitchFamily="18" charset="0"/>
                        </a:rPr>
                        <m:t>𝑡𝑎𝑛</m:t>
                      </m:r>
                      <m:sSup>
                        <m:sSupPr>
                          <m:ctrlPr>
                            <a:rPr lang="fr-FR" sz="1200" b="0" i="1" smtClean="0">
                              <a:latin typeface="Cambria Math" panose="02040503050406030204" pitchFamily="18" charset="0"/>
                              <a:ea typeface="Cambria Math" panose="02040503050406030204" pitchFamily="18" charset="0"/>
                            </a:rPr>
                          </m:ctrlPr>
                        </m:sSupPr>
                        <m:e>
                          <m:r>
                            <a:rPr lang="fr-FR" sz="1200" b="0" i="1" smtClean="0">
                              <a:latin typeface="Cambria Math" panose="02040503050406030204" pitchFamily="18" charset="0"/>
                              <a:ea typeface="Cambria Math" panose="02040503050406030204" pitchFamily="18" charset="0"/>
                            </a:rPr>
                            <m:t>h</m:t>
                          </m:r>
                        </m:e>
                        <m:sup>
                          <m:r>
                            <a:rPr lang="fr-FR" sz="1200" b="0" i="1" smtClean="0">
                              <a:latin typeface="Cambria Math" panose="02040503050406030204" pitchFamily="18" charset="0"/>
                              <a:ea typeface="Cambria Math" panose="02040503050406030204" pitchFamily="18" charset="0"/>
                            </a:rPr>
                            <m:t>′</m:t>
                          </m:r>
                        </m:sup>
                      </m:sSup>
                      <m:d>
                        <m:dPr>
                          <m:ctrlPr>
                            <a:rPr lang="fr-FR" sz="1200" b="0" i="1" smtClean="0">
                              <a:latin typeface="Cambria Math" panose="02040503050406030204" pitchFamily="18" charset="0"/>
                              <a:ea typeface="Cambria Math" panose="02040503050406030204" pitchFamily="18" charset="0"/>
                            </a:rPr>
                          </m:ctrlPr>
                        </m:dPr>
                        <m:e>
                          <m:r>
                            <a:rPr lang="fr-FR" sz="1200" b="0" i="1" smtClean="0">
                              <a:latin typeface="Cambria Math" panose="02040503050406030204" pitchFamily="18" charset="0"/>
                              <a:ea typeface="Cambria Math" panose="02040503050406030204" pitchFamily="18" charset="0"/>
                            </a:rPr>
                            <m:t>𝑥</m:t>
                          </m:r>
                        </m:e>
                      </m:d>
                      <m:r>
                        <a:rPr lang="fr-FR" sz="1200" b="0" i="1" smtClean="0">
                          <a:latin typeface="Cambria Math" panose="02040503050406030204" pitchFamily="18" charset="0"/>
                          <a:ea typeface="Cambria Math" panose="02040503050406030204" pitchFamily="18" charset="0"/>
                        </a:rPr>
                        <m:t>=1−</m:t>
                      </m:r>
                      <m:sSup>
                        <m:sSupPr>
                          <m:ctrlPr>
                            <a:rPr lang="fr-FR" sz="1200" b="0" i="1" smtClean="0">
                              <a:latin typeface="Cambria Math" panose="02040503050406030204" pitchFamily="18" charset="0"/>
                              <a:ea typeface="Cambria Math" panose="02040503050406030204" pitchFamily="18" charset="0"/>
                            </a:rPr>
                          </m:ctrlPr>
                        </m:sSupPr>
                        <m:e>
                          <m:func>
                            <m:funcPr>
                              <m:ctrlPr>
                                <a:rPr lang="fr-FR" sz="1200" b="0" i="1" smtClean="0">
                                  <a:latin typeface="Cambria Math" panose="02040503050406030204" pitchFamily="18" charset="0"/>
                                  <a:ea typeface="Cambria Math" panose="02040503050406030204" pitchFamily="18" charset="0"/>
                                </a:rPr>
                              </m:ctrlPr>
                            </m:funcPr>
                            <m:fName>
                              <m:r>
                                <m:rPr>
                                  <m:sty m:val="p"/>
                                </m:rPr>
                                <a:rPr lang="fr-FR" sz="1200" b="0" i="0" smtClean="0">
                                  <a:latin typeface="Cambria Math" panose="02040503050406030204" pitchFamily="18" charset="0"/>
                                  <a:ea typeface="Cambria Math" panose="02040503050406030204" pitchFamily="18" charset="0"/>
                                </a:rPr>
                                <m:t>tanh</m:t>
                              </m:r>
                            </m:fName>
                            <m:e>
                              <m:d>
                                <m:dPr>
                                  <m:ctrlPr>
                                    <a:rPr lang="fr-FR" sz="1200" b="0" i="1" smtClean="0">
                                      <a:latin typeface="Cambria Math" panose="02040503050406030204" pitchFamily="18" charset="0"/>
                                      <a:ea typeface="Cambria Math" panose="02040503050406030204" pitchFamily="18" charset="0"/>
                                    </a:rPr>
                                  </m:ctrlPr>
                                </m:dPr>
                                <m:e>
                                  <m:r>
                                    <a:rPr lang="fr-FR" sz="1200" b="0" i="1" smtClean="0">
                                      <a:latin typeface="Cambria Math" panose="02040503050406030204" pitchFamily="18" charset="0"/>
                                      <a:ea typeface="Cambria Math" panose="02040503050406030204" pitchFamily="18" charset="0"/>
                                    </a:rPr>
                                    <m:t>𝑥</m:t>
                                  </m:r>
                                </m:e>
                              </m:d>
                            </m:e>
                          </m:func>
                        </m:e>
                        <m:sup>
                          <m:r>
                            <a:rPr lang="fr-FR" sz="1200" b="0" i="1" smtClean="0">
                              <a:latin typeface="Cambria Math" panose="02040503050406030204" pitchFamily="18" charset="0"/>
                              <a:ea typeface="Cambria Math" panose="02040503050406030204" pitchFamily="18" charset="0"/>
                            </a:rPr>
                            <m:t>2</m:t>
                          </m:r>
                        </m:sup>
                      </m:sSup>
                      <m:r>
                        <a:rPr lang="fr-FR" sz="1200" b="0" i="1" smtClean="0">
                          <a:latin typeface="Cambria Math" panose="02040503050406030204" pitchFamily="18" charset="0"/>
                          <a:ea typeface="Cambria Math" panose="02040503050406030204" pitchFamily="18" charset="0"/>
                        </a:rPr>
                        <m:t>,  </m:t>
                      </m:r>
                    </m:oMath>
                  </m:oMathPara>
                </a14:m>
                <a:endParaRPr lang="fr-FR" sz="1200" b="0" i="1" dirty="0">
                  <a:latin typeface="Cambria Math" panose="02040503050406030204" pitchFamily="18" charset="0"/>
                  <a:ea typeface="Cambria Math" panose="02040503050406030204" pitchFamily="18" charset="0"/>
                </a:endParaRPr>
              </a:p>
              <a:p>
                <a:endParaRPr lang="fr-FR" sz="12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sSup>
                        <m:sSupPr>
                          <m:ctrlPr>
                            <a:rPr lang="fr-FR" sz="1200" b="0" i="1" smtClean="0">
                              <a:latin typeface="Cambria Math" panose="02040503050406030204" pitchFamily="18" charset="0"/>
                              <a:ea typeface="Cambria Math" panose="02040503050406030204" pitchFamily="18" charset="0"/>
                            </a:rPr>
                          </m:ctrlPr>
                        </m:sSupPr>
                        <m:e>
                          <m:d>
                            <m:dPr>
                              <m:begChr m:val="["/>
                              <m:endChr m:val="]"/>
                              <m:ctrlPr>
                                <a:rPr lang="fr-FR" sz="1200" b="0" i="1" smtClean="0">
                                  <a:latin typeface="Cambria Math" panose="02040503050406030204" pitchFamily="18" charset="0"/>
                                  <a:ea typeface="Cambria Math" panose="02040503050406030204" pitchFamily="18" charset="0"/>
                                </a:rPr>
                              </m:ctrlPr>
                            </m:dPr>
                            <m:e>
                              <m:r>
                                <a:rPr lang="fr-FR" sz="1200" b="0" i="1" smtClean="0">
                                  <a:latin typeface="Cambria Math" panose="02040503050406030204" pitchFamily="18" charset="0"/>
                                  <a:ea typeface="Cambria Math" panose="02040503050406030204" pitchFamily="18" charset="0"/>
                                </a:rPr>
                                <m:t>𝑓</m:t>
                              </m:r>
                              <m:d>
                                <m:dPr>
                                  <m:ctrlPr>
                                    <a:rPr lang="fr-FR" sz="1200" b="0" i="1" smtClean="0">
                                      <a:latin typeface="Cambria Math" panose="02040503050406030204" pitchFamily="18" charset="0"/>
                                      <a:ea typeface="Cambria Math" panose="02040503050406030204" pitchFamily="18" charset="0"/>
                                    </a:rPr>
                                  </m:ctrlPr>
                                </m:dPr>
                                <m:e>
                                  <m:r>
                                    <a:rPr lang="fr-FR" sz="1200" b="0" i="1" smtClean="0">
                                      <a:latin typeface="Cambria Math" panose="02040503050406030204" pitchFamily="18" charset="0"/>
                                      <a:ea typeface="Cambria Math" panose="02040503050406030204" pitchFamily="18" charset="0"/>
                                    </a:rPr>
                                    <m:t>𝑔</m:t>
                                  </m:r>
                                  <m:d>
                                    <m:dPr>
                                      <m:ctrlPr>
                                        <a:rPr lang="fr-FR" sz="1200" b="0" i="1" smtClean="0">
                                          <a:latin typeface="Cambria Math" panose="02040503050406030204" pitchFamily="18" charset="0"/>
                                          <a:ea typeface="Cambria Math" panose="02040503050406030204" pitchFamily="18" charset="0"/>
                                        </a:rPr>
                                      </m:ctrlPr>
                                    </m:dPr>
                                    <m:e>
                                      <m:r>
                                        <a:rPr lang="fr-FR" sz="1200" b="0" i="1" smtClean="0">
                                          <a:latin typeface="Cambria Math" panose="02040503050406030204" pitchFamily="18" charset="0"/>
                                          <a:ea typeface="Cambria Math" panose="02040503050406030204" pitchFamily="18" charset="0"/>
                                        </a:rPr>
                                        <m:t>𝑥</m:t>
                                      </m:r>
                                    </m:e>
                                  </m:d>
                                </m:e>
                              </m:d>
                            </m:e>
                          </m:d>
                        </m:e>
                        <m:sup>
                          <m:r>
                            <a:rPr lang="fr-FR" sz="1200" b="0" i="1" smtClean="0">
                              <a:latin typeface="Cambria Math" panose="02040503050406030204" pitchFamily="18" charset="0"/>
                              <a:ea typeface="Cambria Math" panose="02040503050406030204" pitchFamily="18" charset="0"/>
                            </a:rPr>
                            <m:t>′</m:t>
                          </m:r>
                        </m:sup>
                      </m:sSup>
                      <m:r>
                        <a:rPr lang="fr-FR" sz="1200" b="0" i="1" smtClean="0">
                          <a:latin typeface="Cambria Math" panose="02040503050406030204" pitchFamily="18" charset="0"/>
                          <a:ea typeface="Cambria Math" panose="02040503050406030204" pitchFamily="18" charset="0"/>
                        </a:rPr>
                        <m:t>=</m:t>
                      </m:r>
                      <m:sSup>
                        <m:sSupPr>
                          <m:ctrlPr>
                            <a:rPr lang="fr-FR" sz="1200" b="0" i="1" smtClean="0">
                              <a:latin typeface="Cambria Math" panose="02040503050406030204" pitchFamily="18" charset="0"/>
                              <a:ea typeface="Cambria Math" panose="02040503050406030204" pitchFamily="18" charset="0"/>
                            </a:rPr>
                          </m:ctrlPr>
                        </m:sSupPr>
                        <m:e>
                          <m:r>
                            <a:rPr lang="fr-FR" sz="1200" b="0" i="1" smtClean="0">
                              <a:latin typeface="Cambria Math" panose="02040503050406030204" pitchFamily="18" charset="0"/>
                              <a:ea typeface="Cambria Math" panose="02040503050406030204" pitchFamily="18" charset="0"/>
                            </a:rPr>
                            <m:t>𝑓</m:t>
                          </m:r>
                        </m:e>
                        <m:sup>
                          <m:r>
                            <a:rPr lang="fr-FR" sz="1200" b="0" i="1" smtClean="0">
                              <a:latin typeface="Cambria Math" panose="02040503050406030204" pitchFamily="18" charset="0"/>
                              <a:ea typeface="Cambria Math" panose="02040503050406030204" pitchFamily="18" charset="0"/>
                            </a:rPr>
                            <m:t>′</m:t>
                          </m:r>
                        </m:sup>
                      </m:sSup>
                      <m:d>
                        <m:dPr>
                          <m:ctrlPr>
                            <a:rPr lang="fr-FR" sz="1200" b="0" i="1" smtClean="0">
                              <a:latin typeface="Cambria Math" panose="02040503050406030204" pitchFamily="18" charset="0"/>
                              <a:ea typeface="Cambria Math" panose="02040503050406030204" pitchFamily="18" charset="0"/>
                            </a:rPr>
                          </m:ctrlPr>
                        </m:dPr>
                        <m:e>
                          <m:r>
                            <a:rPr lang="fr-FR" sz="1200" b="0" i="1" smtClean="0">
                              <a:latin typeface="Cambria Math" panose="02040503050406030204" pitchFamily="18" charset="0"/>
                              <a:ea typeface="Cambria Math" panose="02040503050406030204" pitchFamily="18" charset="0"/>
                            </a:rPr>
                            <m:t>𝑔</m:t>
                          </m:r>
                          <m:d>
                            <m:dPr>
                              <m:ctrlPr>
                                <a:rPr lang="fr-FR" sz="1200" b="0" i="1" smtClean="0">
                                  <a:latin typeface="Cambria Math" panose="02040503050406030204" pitchFamily="18" charset="0"/>
                                  <a:ea typeface="Cambria Math" panose="02040503050406030204" pitchFamily="18" charset="0"/>
                                </a:rPr>
                              </m:ctrlPr>
                            </m:dPr>
                            <m:e>
                              <m:r>
                                <a:rPr lang="fr-FR" sz="1200" b="0" i="1" smtClean="0">
                                  <a:latin typeface="Cambria Math" panose="02040503050406030204" pitchFamily="18" charset="0"/>
                                  <a:ea typeface="Cambria Math" panose="02040503050406030204" pitchFamily="18" charset="0"/>
                                </a:rPr>
                                <m:t>𝑥</m:t>
                              </m:r>
                            </m:e>
                          </m:d>
                        </m:e>
                      </m:d>
                      <m:r>
                        <a:rPr lang="fr-FR" sz="1200" b="0" i="1" smtClean="0">
                          <a:latin typeface="Cambria Math" panose="02040503050406030204" pitchFamily="18" charset="0"/>
                          <a:ea typeface="Cambria Math" panose="02040503050406030204" pitchFamily="18" charset="0"/>
                        </a:rPr>
                        <m:t>.</m:t>
                      </m:r>
                      <m:sSup>
                        <m:sSupPr>
                          <m:ctrlPr>
                            <a:rPr lang="fr-FR" sz="1200" b="0" i="1" smtClean="0">
                              <a:latin typeface="Cambria Math" panose="02040503050406030204" pitchFamily="18" charset="0"/>
                              <a:ea typeface="Cambria Math" panose="02040503050406030204" pitchFamily="18" charset="0"/>
                            </a:rPr>
                          </m:ctrlPr>
                        </m:sSupPr>
                        <m:e>
                          <m:r>
                            <a:rPr lang="fr-FR" sz="1200" b="0" i="1" smtClean="0">
                              <a:latin typeface="Cambria Math" panose="02040503050406030204" pitchFamily="18" charset="0"/>
                              <a:ea typeface="Cambria Math" panose="02040503050406030204" pitchFamily="18" charset="0"/>
                            </a:rPr>
                            <m:t>𝑔</m:t>
                          </m:r>
                        </m:e>
                        <m:sup>
                          <m:r>
                            <a:rPr lang="fr-FR" sz="1200" b="0" i="1" smtClean="0">
                              <a:latin typeface="Cambria Math" panose="02040503050406030204" pitchFamily="18" charset="0"/>
                              <a:ea typeface="Cambria Math" panose="02040503050406030204" pitchFamily="18" charset="0"/>
                            </a:rPr>
                            <m:t>′</m:t>
                          </m:r>
                        </m:sup>
                      </m:sSup>
                      <m:d>
                        <m:dPr>
                          <m:ctrlPr>
                            <a:rPr lang="fr-FR" sz="1200" b="0" i="1" smtClean="0">
                              <a:latin typeface="Cambria Math" panose="02040503050406030204" pitchFamily="18" charset="0"/>
                              <a:ea typeface="Cambria Math" panose="02040503050406030204" pitchFamily="18" charset="0"/>
                            </a:rPr>
                          </m:ctrlPr>
                        </m:dPr>
                        <m:e>
                          <m:r>
                            <a:rPr lang="fr-FR" sz="1200" b="0" i="1" smtClean="0">
                              <a:latin typeface="Cambria Math" panose="02040503050406030204" pitchFamily="18" charset="0"/>
                              <a:ea typeface="Cambria Math" panose="02040503050406030204" pitchFamily="18" charset="0"/>
                            </a:rPr>
                            <m:t>𝑥</m:t>
                          </m:r>
                        </m:e>
                      </m:d>
                      <m:r>
                        <a:rPr lang="fr-FR" sz="1200" b="0" i="1" smtClean="0">
                          <a:latin typeface="Cambria Math" panose="02040503050406030204" pitchFamily="18" charset="0"/>
                          <a:ea typeface="Cambria Math" panose="02040503050406030204" pitchFamily="18" charset="0"/>
                        </a:rPr>
                        <m:t> </m:t>
                      </m:r>
                    </m:oMath>
                  </m:oMathPara>
                </a14:m>
                <a:endParaRPr lang="fr-FR" sz="1200" b="0" i="1" dirty="0">
                  <a:latin typeface="Cambria Math" panose="02040503050406030204" pitchFamily="18" charset="0"/>
                  <a:ea typeface="Cambria Math" panose="02040503050406030204" pitchFamily="18" charset="0"/>
                </a:endParaRPr>
              </a:p>
              <a:p>
                <a:endParaRPr lang="fr-FR" sz="12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sSup>
                        <m:sSupPr>
                          <m:ctrlPr>
                            <a:rPr lang="fr-FR" sz="1200" b="0" i="1" smtClean="0">
                              <a:latin typeface="Cambria Math" panose="02040503050406030204" pitchFamily="18" charset="0"/>
                              <a:ea typeface="Cambria Math" panose="02040503050406030204" pitchFamily="18" charset="0"/>
                            </a:rPr>
                          </m:ctrlPr>
                        </m:sSupPr>
                        <m:e>
                          <m:d>
                            <m:dPr>
                              <m:begChr m:val="["/>
                              <m:endChr m:val="]"/>
                              <m:ctrlPr>
                                <a:rPr lang="fr-FR" sz="1200" b="0" i="1" smtClean="0">
                                  <a:latin typeface="Cambria Math" panose="02040503050406030204" pitchFamily="18" charset="0"/>
                                  <a:ea typeface="Cambria Math" panose="02040503050406030204" pitchFamily="18" charset="0"/>
                                </a:rPr>
                              </m:ctrlPr>
                            </m:dPr>
                            <m:e>
                              <m:r>
                                <a:rPr lang="fr-FR" sz="1200" b="0" i="1" smtClean="0">
                                  <a:latin typeface="Cambria Math" panose="02040503050406030204" pitchFamily="18" charset="0"/>
                                  <a:ea typeface="Cambria Math" panose="02040503050406030204" pitchFamily="18" charset="0"/>
                                </a:rPr>
                                <m:t>𝑢</m:t>
                              </m:r>
                              <m:r>
                                <a:rPr lang="fr-FR" sz="1200" b="0" i="1" smtClean="0">
                                  <a:latin typeface="Cambria Math" panose="02040503050406030204" pitchFamily="18" charset="0"/>
                                  <a:ea typeface="Cambria Math" panose="02040503050406030204" pitchFamily="18" charset="0"/>
                                </a:rPr>
                                <m:t>.</m:t>
                              </m:r>
                              <m:r>
                                <a:rPr lang="fr-FR" sz="1200" b="0" i="1" smtClean="0">
                                  <a:latin typeface="Cambria Math" panose="02040503050406030204" pitchFamily="18" charset="0"/>
                                  <a:ea typeface="Cambria Math" panose="02040503050406030204" pitchFamily="18" charset="0"/>
                                </a:rPr>
                                <m:t>𝑣</m:t>
                              </m:r>
                            </m:e>
                          </m:d>
                        </m:e>
                        <m:sup>
                          <m:r>
                            <a:rPr lang="fr-FR" sz="1200" b="0" i="1" smtClean="0">
                              <a:latin typeface="Cambria Math" panose="02040503050406030204" pitchFamily="18" charset="0"/>
                              <a:ea typeface="Cambria Math" panose="02040503050406030204" pitchFamily="18" charset="0"/>
                            </a:rPr>
                            <m:t>′</m:t>
                          </m:r>
                        </m:sup>
                      </m:sSup>
                      <m:d>
                        <m:dPr>
                          <m:ctrlPr>
                            <a:rPr lang="fr-FR" sz="1200" b="0" i="1" smtClean="0">
                              <a:latin typeface="Cambria Math" panose="02040503050406030204" pitchFamily="18" charset="0"/>
                              <a:ea typeface="Cambria Math" panose="02040503050406030204" pitchFamily="18" charset="0"/>
                            </a:rPr>
                          </m:ctrlPr>
                        </m:dPr>
                        <m:e>
                          <m:r>
                            <a:rPr lang="fr-FR" sz="1200" b="0" i="1" smtClean="0">
                              <a:latin typeface="Cambria Math" panose="02040503050406030204" pitchFamily="18" charset="0"/>
                              <a:ea typeface="Cambria Math" panose="02040503050406030204" pitchFamily="18" charset="0"/>
                            </a:rPr>
                            <m:t>𝑥</m:t>
                          </m:r>
                        </m:e>
                      </m:d>
                      <m:r>
                        <a:rPr lang="fr-FR" sz="1200" b="0" i="1" smtClean="0">
                          <a:latin typeface="Cambria Math" panose="02040503050406030204" pitchFamily="18" charset="0"/>
                          <a:ea typeface="Cambria Math" panose="02040503050406030204" pitchFamily="18" charset="0"/>
                        </a:rPr>
                        <m:t>=</m:t>
                      </m:r>
                      <m:sSup>
                        <m:sSupPr>
                          <m:ctrlPr>
                            <a:rPr lang="fr-FR" sz="1200" b="0" i="1" smtClean="0">
                              <a:latin typeface="Cambria Math" panose="02040503050406030204" pitchFamily="18" charset="0"/>
                              <a:ea typeface="Cambria Math" panose="02040503050406030204" pitchFamily="18" charset="0"/>
                            </a:rPr>
                          </m:ctrlPr>
                        </m:sSupPr>
                        <m:e>
                          <m:r>
                            <a:rPr lang="fr-FR" sz="1200" b="0" i="1" smtClean="0">
                              <a:latin typeface="Cambria Math" panose="02040503050406030204" pitchFamily="18" charset="0"/>
                              <a:ea typeface="Cambria Math" panose="02040503050406030204" pitchFamily="18" charset="0"/>
                            </a:rPr>
                            <m:t>𝑢</m:t>
                          </m:r>
                        </m:e>
                        <m:sup>
                          <m:r>
                            <a:rPr lang="fr-FR" sz="1200" b="0" i="1" smtClean="0">
                              <a:latin typeface="Cambria Math" panose="02040503050406030204" pitchFamily="18" charset="0"/>
                              <a:ea typeface="Cambria Math" panose="02040503050406030204" pitchFamily="18" charset="0"/>
                            </a:rPr>
                            <m:t>′</m:t>
                          </m:r>
                        </m:sup>
                      </m:sSup>
                      <m:d>
                        <m:dPr>
                          <m:ctrlPr>
                            <a:rPr lang="fr-FR" sz="1200" b="0" i="1" smtClean="0">
                              <a:latin typeface="Cambria Math" panose="02040503050406030204" pitchFamily="18" charset="0"/>
                              <a:ea typeface="Cambria Math" panose="02040503050406030204" pitchFamily="18" charset="0"/>
                            </a:rPr>
                          </m:ctrlPr>
                        </m:dPr>
                        <m:e>
                          <m:r>
                            <a:rPr lang="fr-FR" sz="1200" b="0" i="1" smtClean="0">
                              <a:latin typeface="Cambria Math" panose="02040503050406030204" pitchFamily="18" charset="0"/>
                              <a:ea typeface="Cambria Math" panose="02040503050406030204" pitchFamily="18" charset="0"/>
                            </a:rPr>
                            <m:t>𝑥</m:t>
                          </m:r>
                        </m:e>
                      </m:d>
                      <m:r>
                        <a:rPr lang="fr-FR" sz="1200" b="0" i="1" smtClean="0">
                          <a:latin typeface="Cambria Math" panose="02040503050406030204" pitchFamily="18" charset="0"/>
                          <a:ea typeface="Cambria Math" panose="02040503050406030204" pitchFamily="18" charset="0"/>
                        </a:rPr>
                        <m:t>𝑣</m:t>
                      </m:r>
                      <m:d>
                        <m:dPr>
                          <m:ctrlPr>
                            <a:rPr lang="fr-FR" sz="1200" b="0" i="1" smtClean="0">
                              <a:latin typeface="Cambria Math" panose="02040503050406030204" pitchFamily="18" charset="0"/>
                              <a:ea typeface="Cambria Math" panose="02040503050406030204" pitchFamily="18" charset="0"/>
                            </a:rPr>
                          </m:ctrlPr>
                        </m:dPr>
                        <m:e>
                          <m:r>
                            <a:rPr lang="fr-FR" sz="1200" b="0" i="1" smtClean="0">
                              <a:latin typeface="Cambria Math" panose="02040503050406030204" pitchFamily="18" charset="0"/>
                              <a:ea typeface="Cambria Math" panose="02040503050406030204" pitchFamily="18" charset="0"/>
                            </a:rPr>
                            <m:t>𝑥</m:t>
                          </m:r>
                        </m:e>
                      </m:d>
                      <m:r>
                        <a:rPr lang="fr-FR" sz="1200" b="0" i="1" smtClean="0">
                          <a:latin typeface="Cambria Math" panose="02040503050406030204" pitchFamily="18" charset="0"/>
                          <a:ea typeface="Cambria Math" panose="02040503050406030204" pitchFamily="18" charset="0"/>
                        </a:rPr>
                        <m:t>+</m:t>
                      </m:r>
                      <m:r>
                        <a:rPr lang="fr-FR" sz="1200" b="0" i="1" smtClean="0">
                          <a:latin typeface="Cambria Math" panose="02040503050406030204" pitchFamily="18" charset="0"/>
                          <a:ea typeface="Cambria Math" panose="02040503050406030204" pitchFamily="18" charset="0"/>
                        </a:rPr>
                        <m:t>𝑢</m:t>
                      </m:r>
                      <m:d>
                        <m:dPr>
                          <m:ctrlPr>
                            <a:rPr lang="fr-FR" sz="1200" b="0" i="1" smtClean="0">
                              <a:latin typeface="Cambria Math" panose="02040503050406030204" pitchFamily="18" charset="0"/>
                              <a:ea typeface="Cambria Math" panose="02040503050406030204" pitchFamily="18" charset="0"/>
                            </a:rPr>
                          </m:ctrlPr>
                        </m:dPr>
                        <m:e>
                          <m:r>
                            <a:rPr lang="fr-FR" sz="1200" b="0" i="1" smtClean="0">
                              <a:latin typeface="Cambria Math" panose="02040503050406030204" pitchFamily="18" charset="0"/>
                              <a:ea typeface="Cambria Math" panose="02040503050406030204" pitchFamily="18" charset="0"/>
                            </a:rPr>
                            <m:t>𝑥</m:t>
                          </m:r>
                        </m:e>
                      </m:d>
                      <m:r>
                        <a:rPr lang="fr-FR" sz="1200" b="0" i="1" smtClean="0">
                          <a:latin typeface="Cambria Math" panose="02040503050406030204" pitchFamily="18" charset="0"/>
                          <a:ea typeface="Cambria Math" panose="02040503050406030204" pitchFamily="18" charset="0"/>
                        </a:rPr>
                        <m:t>𝑣</m:t>
                      </m:r>
                      <m:r>
                        <a:rPr lang="fr-FR" sz="1200" b="0" i="1" smtClean="0">
                          <a:latin typeface="Cambria Math" panose="02040503050406030204" pitchFamily="18" charset="0"/>
                          <a:ea typeface="Cambria Math" panose="02040503050406030204" pitchFamily="18" charset="0"/>
                        </a:rPr>
                        <m:t>′(</m:t>
                      </m:r>
                      <m:r>
                        <a:rPr lang="fr-FR" sz="1200" b="0" i="1" smtClean="0">
                          <a:latin typeface="Cambria Math" panose="02040503050406030204" pitchFamily="18" charset="0"/>
                          <a:ea typeface="Cambria Math" panose="02040503050406030204" pitchFamily="18" charset="0"/>
                        </a:rPr>
                        <m:t>𝑥</m:t>
                      </m:r>
                      <m:r>
                        <a:rPr lang="fr-FR" sz="1200" b="0" i="1" smtClean="0">
                          <a:latin typeface="Cambria Math" panose="02040503050406030204" pitchFamily="18" charset="0"/>
                          <a:ea typeface="Cambria Math" panose="02040503050406030204" pitchFamily="18" charset="0"/>
                        </a:rPr>
                        <m:t>)   </m:t>
                      </m:r>
                    </m:oMath>
                  </m:oMathPara>
                </a14:m>
                <a:endParaRPr lang="fr-FR" sz="1200" b="0" i="1" dirty="0">
                  <a:latin typeface="Cambria Math" panose="02040503050406030204" pitchFamily="18" charset="0"/>
                  <a:ea typeface="Cambria Math" panose="02040503050406030204" pitchFamily="18" charset="0"/>
                </a:endParaRPr>
              </a:p>
              <a:p>
                <a:endParaRPr lang="fr-FR" sz="1200" i="1" dirty="0">
                  <a:solidFill>
                    <a:srgbClr val="0070C0"/>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fr-FR" sz="1200" i="1" dirty="0">
                              <a:latin typeface="Cambria Math" panose="02040503050406030204" pitchFamily="18" charset="0"/>
                              <a:ea typeface="Cambria Math" panose="02040503050406030204" pitchFamily="18" charset="0"/>
                            </a:rPr>
                          </m:ctrlPr>
                        </m:fPr>
                        <m:num>
                          <m:r>
                            <a:rPr lang="fr-FR" sz="1200" i="1"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a:rPr lang="fr-FR" sz="1200" i="1" dirty="0">
                                  <a:latin typeface="Cambria Math" panose="02040503050406030204" pitchFamily="18" charset="0"/>
                                  <a:ea typeface="Cambria Math" panose="02040503050406030204" pitchFamily="18" charset="0"/>
                                </a:rPr>
                                <m:t>𝐿</m:t>
                              </m:r>
                            </m:e>
                            <m:sub>
                              <m:r>
                                <a:rPr lang="fr-FR" sz="1200" i="1" dirty="0">
                                  <a:latin typeface="Cambria Math" panose="02040503050406030204" pitchFamily="18" charset="0"/>
                                  <a:ea typeface="Cambria Math" panose="02040503050406030204" pitchFamily="18" charset="0"/>
                                </a:rPr>
                                <m:t>𝑡</m:t>
                              </m:r>
                            </m:sub>
                          </m:sSub>
                        </m:num>
                        <m:den>
                          <m:r>
                            <a:rPr lang="fr-FR" sz="1200" i="1"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acc>
                                <m:accPr>
                                  <m:chr m:val="̂"/>
                                  <m:ctrlPr>
                                    <a:rPr lang="fr-FR" sz="1200" i="1" dirty="0">
                                      <a:latin typeface="Cambria Math" panose="02040503050406030204" pitchFamily="18" charset="0"/>
                                      <a:ea typeface="Cambria Math" panose="02040503050406030204" pitchFamily="18" charset="0"/>
                                    </a:rPr>
                                  </m:ctrlPr>
                                </m:accPr>
                                <m:e>
                                  <m:r>
                                    <a:rPr lang="fr-FR" sz="1200" i="1" dirty="0">
                                      <a:latin typeface="Cambria Math" panose="02040503050406030204" pitchFamily="18" charset="0"/>
                                      <a:ea typeface="Cambria Math" panose="02040503050406030204" pitchFamily="18" charset="0"/>
                                    </a:rPr>
                                    <m:t>𝑦</m:t>
                                  </m:r>
                                </m:e>
                              </m:acc>
                            </m:e>
                            <m:sub>
                              <m:r>
                                <a:rPr lang="fr-FR" sz="1200" i="1" dirty="0">
                                  <a:latin typeface="Cambria Math" panose="02040503050406030204" pitchFamily="18" charset="0"/>
                                  <a:ea typeface="Cambria Math" panose="02040503050406030204" pitchFamily="18" charset="0"/>
                                </a:rPr>
                                <m:t>𝑡</m:t>
                              </m:r>
                            </m:sub>
                          </m:sSub>
                        </m:den>
                      </m:f>
                      <m:f>
                        <m:fPr>
                          <m:ctrlPr>
                            <a:rPr lang="fr-FR" sz="1200" i="1" dirty="0">
                              <a:latin typeface="Cambria Math" panose="02040503050406030204" pitchFamily="18" charset="0"/>
                              <a:ea typeface="Cambria Math" panose="02040503050406030204" pitchFamily="18" charset="0"/>
                            </a:rPr>
                          </m:ctrlPr>
                        </m:fPr>
                        <m:num>
                          <m:r>
                            <a:rPr lang="fr-FR" sz="1200" i="1"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acc>
                                <m:accPr>
                                  <m:chr m:val="̂"/>
                                  <m:ctrlPr>
                                    <a:rPr lang="fr-FR" sz="1200" i="1" dirty="0">
                                      <a:latin typeface="Cambria Math" panose="02040503050406030204" pitchFamily="18" charset="0"/>
                                      <a:ea typeface="Cambria Math" panose="02040503050406030204" pitchFamily="18" charset="0"/>
                                    </a:rPr>
                                  </m:ctrlPr>
                                </m:accPr>
                                <m:e>
                                  <m:r>
                                    <a:rPr lang="fr-FR" sz="1200" i="1" dirty="0">
                                      <a:latin typeface="Cambria Math" panose="02040503050406030204" pitchFamily="18" charset="0"/>
                                      <a:ea typeface="Cambria Math" panose="02040503050406030204" pitchFamily="18" charset="0"/>
                                    </a:rPr>
                                    <m:t>𝑦</m:t>
                                  </m:r>
                                </m:e>
                              </m:acc>
                            </m:e>
                            <m:sub>
                              <m:r>
                                <a:rPr lang="fr-FR" sz="1200" i="1" dirty="0">
                                  <a:latin typeface="Cambria Math" panose="02040503050406030204" pitchFamily="18" charset="0"/>
                                  <a:ea typeface="Cambria Math" panose="02040503050406030204" pitchFamily="18" charset="0"/>
                                </a:rPr>
                                <m:t>𝑡</m:t>
                              </m:r>
                            </m:sub>
                          </m:sSub>
                        </m:num>
                        <m:den>
                          <m:r>
                            <a:rPr lang="fr-FR" sz="1200" i="1"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a:rPr lang="fr-FR" sz="1200" i="1" dirty="0">
                                  <a:latin typeface="Cambria Math" panose="02040503050406030204" pitchFamily="18" charset="0"/>
                                  <a:ea typeface="Cambria Math" panose="02040503050406030204" pitchFamily="18" charset="0"/>
                                </a:rPr>
                                <m:t>𝑜</m:t>
                              </m:r>
                            </m:e>
                            <m:sub>
                              <m:r>
                                <a:rPr lang="fr-FR" sz="1200" i="1" dirty="0">
                                  <a:latin typeface="Cambria Math" panose="02040503050406030204" pitchFamily="18" charset="0"/>
                                  <a:ea typeface="Cambria Math" panose="02040503050406030204" pitchFamily="18" charset="0"/>
                                </a:rPr>
                                <m:t>𝑡</m:t>
                              </m:r>
                            </m:sub>
                          </m:sSub>
                        </m:den>
                      </m:f>
                      <m:r>
                        <a:rPr lang="fr-FR" sz="1200" b="0" i="1" dirty="0" smtClean="0">
                          <a:latin typeface="Cambria Math" panose="02040503050406030204" pitchFamily="18" charset="0"/>
                          <a:ea typeface="Cambria Math" panose="02040503050406030204" pitchFamily="18" charset="0"/>
                        </a:rPr>
                        <m:t>=</m:t>
                      </m:r>
                      <m:sSub>
                        <m:sSubPr>
                          <m:ctrlPr>
                            <a:rPr lang="fr-FR" sz="1200" b="0" i="1" dirty="0" smtClean="0">
                              <a:latin typeface="Cambria Math" panose="02040503050406030204" pitchFamily="18" charset="0"/>
                              <a:ea typeface="Cambria Math" panose="02040503050406030204" pitchFamily="18" charset="0"/>
                            </a:rPr>
                          </m:ctrlPr>
                        </m:sSubPr>
                        <m:e>
                          <m:acc>
                            <m:accPr>
                              <m:chr m:val="̂"/>
                              <m:ctrlPr>
                                <a:rPr lang="fr-FR" sz="1200" b="0" i="1" dirty="0" smtClean="0">
                                  <a:latin typeface="Cambria Math" panose="02040503050406030204" pitchFamily="18" charset="0"/>
                                  <a:ea typeface="Cambria Math" panose="02040503050406030204" pitchFamily="18" charset="0"/>
                                </a:rPr>
                              </m:ctrlPr>
                            </m:accPr>
                            <m:e>
                              <m:r>
                                <a:rPr lang="fr-FR" sz="1200" b="0" i="1" dirty="0" smtClean="0">
                                  <a:latin typeface="Cambria Math" panose="02040503050406030204" pitchFamily="18" charset="0"/>
                                  <a:ea typeface="Cambria Math" panose="02040503050406030204" pitchFamily="18" charset="0"/>
                                </a:rPr>
                                <m:t>𝑦</m:t>
                              </m:r>
                            </m:e>
                          </m:acc>
                        </m:e>
                        <m:sub>
                          <m:r>
                            <a:rPr lang="fr-FR" sz="1200" b="0" i="1" dirty="0" smtClean="0">
                              <a:latin typeface="Cambria Math" panose="02040503050406030204" pitchFamily="18" charset="0"/>
                              <a:ea typeface="Cambria Math" panose="02040503050406030204" pitchFamily="18" charset="0"/>
                            </a:rPr>
                            <m:t>𝑡</m:t>
                          </m:r>
                        </m:sub>
                      </m:sSub>
                      <m:r>
                        <a:rPr lang="fr-FR" sz="1200" b="0" i="1" dirty="0" smtClean="0">
                          <a:latin typeface="Cambria Math" panose="02040503050406030204" pitchFamily="18" charset="0"/>
                          <a:ea typeface="Cambria Math" panose="02040503050406030204" pitchFamily="18" charset="0"/>
                        </a:rPr>
                        <m:t>−</m:t>
                      </m:r>
                      <m:sSub>
                        <m:sSubPr>
                          <m:ctrlPr>
                            <a:rPr lang="fr-FR" sz="1200" b="0" i="1" dirty="0" smtClean="0">
                              <a:latin typeface="Cambria Math" panose="02040503050406030204" pitchFamily="18" charset="0"/>
                              <a:ea typeface="Cambria Math" panose="02040503050406030204" pitchFamily="18" charset="0"/>
                            </a:rPr>
                          </m:ctrlPr>
                        </m:sSubPr>
                        <m:e>
                          <m:r>
                            <a:rPr lang="fr-FR" sz="1200" b="0" i="1" dirty="0" smtClean="0">
                              <a:latin typeface="Cambria Math" panose="02040503050406030204" pitchFamily="18" charset="0"/>
                              <a:ea typeface="Cambria Math" panose="02040503050406030204" pitchFamily="18" charset="0"/>
                            </a:rPr>
                            <m:t>𝑦</m:t>
                          </m:r>
                        </m:e>
                        <m:sub>
                          <m:r>
                            <a:rPr lang="fr-FR" sz="1200" b="0" i="1" dirty="0" smtClean="0">
                              <a:latin typeface="Cambria Math" panose="02040503050406030204" pitchFamily="18" charset="0"/>
                              <a:ea typeface="Cambria Math" panose="02040503050406030204" pitchFamily="18" charset="0"/>
                            </a:rPr>
                            <m:t>𝑡</m:t>
                          </m:r>
                        </m:sub>
                      </m:sSub>
                    </m:oMath>
                  </m:oMathPara>
                </a14:m>
                <a:endParaRPr lang="en-GB" sz="1200" noProof="0" dirty="0">
                  <a:latin typeface="Cambria Math" panose="02040503050406030204" pitchFamily="18" charset="0"/>
                  <a:ea typeface="Cambria Math" panose="02040503050406030204" pitchFamily="18" charset="0"/>
                </a:endParaRPr>
              </a:p>
              <a:p>
                <a:endParaRPr lang="en-GB" sz="1200" dirty="0">
                  <a:latin typeface="Cambria Math" panose="02040503050406030204" pitchFamily="18" charset="0"/>
                  <a:ea typeface="Cambria Math" panose="02040503050406030204" pitchFamily="18" charset="0"/>
                </a:endParaRPr>
              </a:p>
              <a:p>
                <a:r>
                  <a:rPr lang="en-GB" sz="1200" i="1" noProof="0" dirty="0">
                    <a:latin typeface="Cambria Math" panose="02040503050406030204" pitchFamily="18" charset="0"/>
                    <a:ea typeface="Cambria Math" panose="02040503050406030204" pitchFamily="18" charset="0"/>
                  </a:rPr>
                  <a:t>The demonstration of this last equation is available in Machine Learning/Supervised Learning/Loss_function.ppt:</a:t>
                </a:r>
                <a:endParaRPr lang="fr-FR" sz="1200" i="1" dirty="0">
                  <a:latin typeface="Cambria Math" panose="02040503050406030204" pitchFamily="18" charset="0"/>
                  <a:ea typeface="Cambria Math" panose="02040503050406030204" pitchFamily="18" charset="0"/>
                </a:endParaRPr>
              </a:p>
            </p:txBody>
          </p:sp>
        </mc:Choice>
        <mc:Fallback xmlns="">
          <p:sp>
            <p:nvSpPr>
              <p:cNvPr id="89" name="ZoneTexte 88">
                <a:extLst>
                  <a:ext uri="{FF2B5EF4-FFF2-40B4-BE49-F238E27FC236}">
                    <a16:creationId xmlns:a16="http://schemas.microsoft.com/office/drawing/2014/main" id="{9FDE2C74-F300-EDB4-E562-36673EBB42B6}"/>
                  </a:ext>
                </a:extLst>
              </p:cNvPr>
              <p:cNvSpPr txBox="1">
                <a:spLocks noRot="1" noChangeAspect="1" noMove="1" noResize="1" noEditPoints="1" noAdjustHandles="1" noChangeArrowheads="1" noChangeShapeType="1" noTextEdit="1"/>
              </p:cNvSpPr>
              <p:nvPr/>
            </p:nvSpPr>
            <p:spPr>
              <a:xfrm>
                <a:off x="1670023" y="2366552"/>
                <a:ext cx="9821766" cy="3719736"/>
              </a:xfrm>
              <a:prstGeom prst="rect">
                <a:avLst/>
              </a:prstGeom>
              <a:blipFill>
                <a:blip r:embed="rId4"/>
                <a:stretch>
                  <a:fillRect l="-1550" t="-6122" b="-136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80C50F50-5769-E457-A69E-92F21D03CD1D}"/>
                  </a:ext>
                </a:extLst>
              </p:cNvPr>
              <p:cNvSpPr txBox="1"/>
              <p:nvPr/>
            </p:nvSpPr>
            <p:spPr>
              <a:xfrm>
                <a:off x="229581" y="4260024"/>
                <a:ext cx="42934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Sub>
                    </m:oMath>
                  </m:oMathPara>
                </a14:m>
                <a:endParaRPr lang="en-GB" sz="1600" dirty="0"/>
              </a:p>
            </p:txBody>
          </p:sp>
        </mc:Choice>
        <mc:Fallback xmlns="">
          <p:sp>
            <p:nvSpPr>
              <p:cNvPr id="5" name="ZoneTexte 4">
                <a:extLst>
                  <a:ext uri="{FF2B5EF4-FFF2-40B4-BE49-F238E27FC236}">
                    <a16:creationId xmlns:a16="http://schemas.microsoft.com/office/drawing/2014/main" id="{80C50F50-5769-E457-A69E-92F21D03CD1D}"/>
                  </a:ext>
                </a:extLst>
              </p:cNvPr>
              <p:cNvSpPr txBox="1">
                <a:spLocks noRot="1" noChangeAspect="1" noMove="1" noResize="1" noEditPoints="1" noAdjustHandles="1" noChangeArrowheads="1" noChangeShapeType="1" noTextEdit="1"/>
              </p:cNvSpPr>
              <p:nvPr/>
            </p:nvSpPr>
            <p:spPr>
              <a:xfrm>
                <a:off x="229581" y="4260024"/>
                <a:ext cx="429348" cy="246221"/>
              </a:xfrm>
              <a:prstGeom prst="rect">
                <a:avLst/>
              </a:prstGeom>
              <a:blipFill>
                <a:blip r:embed="rId5"/>
                <a:stretch>
                  <a:fillRect l="-14706" r="-5882"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F1D65AD7-38A3-B7CE-0439-F787991AA57D}"/>
                  </a:ext>
                </a:extLst>
              </p:cNvPr>
              <p:cNvSpPr txBox="1"/>
              <p:nvPr/>
            </p:nvSpPr>
            <p:spPr>
              <a:xfrm>
                <a:off x="771207" y="5409180"/>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sub>
                      </m:sSub>
                    </m:oMath>
                  </m:oMathPara>
                </a14:m>
                <a:endParaRPr lang="en-GB" sz="1600" dirty="0"/>
              </a:p>
            </p:txBody>
          </p:sp>
        </mc:Choice>
        <mc:Fallback xmlns="">
          <p:sp>
            <p:nvSpPr>
              <p:cNvPr id="8" name="ZoneTexte 7">
                <a:extLst>
                  <a:ext uri="{FF2B5EF4-FFF2-40B4-BE49-F238E27FC236}">
                    <a16:creationId xmlns:a16="http://schemas.microsoft.com/office/drawing/2014/main" id="{F1D65AD7-38A3-B7CE-0439-F787991AA57D}"/>
                  </a:ext>
                </a:extLst>
              </p:cNvPr>
              <p:cNvSpPr txBox="1">
                <a:spLocks noRot="1" noChangeAspect="1" noMove="1" noResize="1" noEditPoints="1" noAdjustHandles="1" noChangeArrowheads="1" noChangeShapeType="1" noTextEdit="1"/>
              </p:cNvSpPr>
              <p:nvPr/>
            </p:nvSpPr>
            <p:spPr>
              <a:xfrm>
                <a:off x="771207" y="5409180"/>
                <a:ext cx="424732" cy="246221"/>
              </a:xfrm>
              <a:prstGeom prst="rect">
                <a:avLst/>
              </a:prstGeom>
              <a:blipFill>
                <a:blip r:embed="rId6"/>
                <a:stretch>
                  <a:fillRect b="-9524"/>
                </a:stretch>
              </a:blipFill>
            </p:spPr>
            <p:txBody>
              <a:bodyPr/>
              <a:lstStyle/>
              <a:p>
                <a:r>
                  <a:rPr lang="en-GB">
                    <a:noFill/>
                  </a:rPr>
                  <a:t> </a:t>
                </a:r>
              </a:p>
            </p:txBody>
          </p:sp>
        </mc:Fallback>
      </mc:AlternateContent>
      <p:sp>
        <p:nvSpPr>
          <p:cNvPr id="9" name="Rectangle : coins arrondis 8">
            <a:extLst>
              <a:ext uri="{FF2B5EF4-FFF2-40B4-BE49-F238E27FC236}">
                <a16:creationId xmlns:a16="http://schemas.microsoft.com/office/drawing/2014/main" id="{FF28DDB7-6ADD-FC6D-9EE2-CAE554B73C4E}"/>
              </a:ext>
            </a:extLst>
          </p:cNvPr>
          <p:cNvSpPr/>
          <p:nvPr/>
        </p:nvSpPr>
        <p:spPr>
          <a:xfrm>
            <a:off x="700211" y="4125637"/>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2" name="Connecteur droit avec flèche 11">
            <a:extLst>
              <a:ext uri="{FF2B5EF4-FFF2-40B4-BE49-F238E27FC236}">
                <a16:creationId xmlns:a16="http://schemas.microsoft.com/office/drawing/2014/main" id="{416F0070-8DA3-C72B-DD0F-67A2167E6063}"/>
              </a:ext>
            </a:extLst>
          </p:cNvPr>
          <p:cNvCxnSpPr>
            <a:cxnSpLocks/>
            <a:stCxn id="8" idx="0"/>
            <a:endCxn id="9" idx="2"/>
          </p:cNvCxnSpPr>
          <p:nvPr/>
        </p:nvCxnSpPr>
        <p:spPr>
          <a:xfrm flipH="1" flipV="1">
            <a:off x="979611" y="4887637"/>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necteur droit avec flèche 13">
            <a:extLst>
              <a:ext uri="{FF2B5EF4-FFF2-40B4-BE49-F238E27FC236}">
                <a16:creationId xmlns:a16="http://schemas.microsoft.com/office/drawing/2014/main" id="{11DC12A2-8E15-DCAC-3647-37F1AD5DE807}"/>
              </a:ext>
            </a:extLst>
          </p:cNvPr>
          <p:cNvCxnSpPr>
            <a:cxnSpLocks/>
          </p:cNvCxnSpPr>
          <p:nvPr/>
        </p:nvCxnSpPr>
        <p:spPr>
          <a:xfrm>
            <a:off x="349017" y="4635451"/>
            <a:ext cx="324000"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25E48B85-C7C1-B820-926A-A21D0D7DDE85}"/>
              </a:ext>
            </a:extLst>
          </p:cNvPr>
          <p:cNvSpPr txBox="1"/>
          <p:nvPr/>
        </p:nvSpPr>
        <p:spPr>
          <a:xfrm>
            <a:off x="1035491" y="4951375"/>
            <a:ext cx="304800" cy="307777"/>
          </a:xfrm>
          <a:prstGeom prst="rect">
            <a:avLst/>
          </a:prstGeom>
          <a:noFill/>
        </p:spPr>
        <p:txBody>
          <a:bodyPr wrap="square" rtlCol="0">
            <a:spAutoFit/>
          </a:bodyPr>
          <a:lstStyle/>
          <a:p>
            <a:r>
              <a:rPr lang="en-GB" sz="1400" b="1" dirty="0">
                <a:solidFill>
                  <a:srgbClr val="0070C0"/>
                </a:solidFill>
              </a:rPr>
              <a:t>U</a:t>
            </a:r>
          </a:p>
        </p:txBody>
      </p:sp>
      <p:sp>
        <p:nvSpPr>
          <p:cNvPr id="18" name="ZoneTexte 17">
            <a:extLst>
              <a:ext uri="{FF2B5EF4-FFF2-40B4-BE49-F238E27FC236}">
                <a16:creationId xmlns:a16="http://schemas.microsoft.com/office/drawing/2014/main" id="{7EEF4018-55A4-C90F-EB87-3F4DAFD13263}"/>
              </a:ext>
            </a:extLst>
          </p:cNvPr>
          <p:cNvSpPr txBox="1"/>
          <p:nvPr/>
        </p:nvSpPr>
        <p:spPr>
          <a:xfrm>
            <a:off x="291933" y="4643598"/>
            <a:ext cx="304800" cy="307777"/>
          </a:xfrm>
          <a:prstGeom prst="rect">
            <a:avLst/>
          </a:prstGeom>
          <a:noFill/>
        </p:spPr>
        <p:txBody>
          <a:bodyPr wrap="square" rtlCol="0">
            <a:spAutoFit/>
          </a:bodyPr>
          <a:lstStyle/>
          <a:p>
            <a:r>
              <a:rPr lang="en-GB" sz="1400" b="1" dirty="0">
                <a:solidFill>
                  <a:srgbClr val="0070C0"/>
                </a:solidFill>
              </a:rPr>
              <a:t>W</a:t>
            </a:r>
          </a:p>
        </p:txBody>
      </p:sp>
      <mc:AlternateContent xmlns:mc="http://schemas.openxmlformats.org/markup-compatibility/2006" xmlns:a14="http://schemas.microsoft.com/office/drawing/2010/main">
        <mc:Choice Requires="a14">
          <p:sp>
            <p:nvSpPr>
              <p:cNvPr id="21" name="ZoneTexte 20">
                <a:extLst>
                  <a:ext uri="{FF2B5EF4-FFF2-40B4-BE49-F238E27FC236}">
                    <a16:creationId xmlns:a16="http://schemas.microsoft.com/office/drawing/2014/main" id="{E9362DF5-01AF-53D6-B49C-F92EC0962F38}"/>
                  </a:ext>
                </a:extLst>
              </p:cNvPr>
              <p:cNvSpPr txBox="1"/>
              <p:nvPr/>
            </p:nvSpPr>
            <p:spPr>
              <a:xfrm>
                <a:off x="875432" y="3272526"/>
                <a:ext cx="22916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sub>
                      </m:sSub>
                    </m:oMath>
                  </m:oMathPara>
                </a14:m>
                <a:endParaRPr lang="en-GB" sz="1600" dirty="0"/>
              </a:p>
            </p:txBody>
          </p:sp>
        </mc:Choice>
        <mc:Fallback xmlns="">
          <p:sp>
            <p:nvSpPr>
              <p:cNvPr id="21" name="ZoneTexte 20">
                <a:extLst>
                  <a:ext uri="{FF2B5EF4-FFF2-40B4-BE49-F238E27FC236}">
                    <a16:creationId xmlns:a16="http://schemas.microsoft.com/office/drawing/2014/main" id="{E9362DF5-01AF-53D6-B49C-F92EC0962F38}"/>
                  </a:ext>
                </a:extLst>
              </p:cNvPr>
              <p:cNvSpPr txBox="1">
                <a:spLocks noRot="1" noChangeAspect="1" noMove="1" noResize="1" noEditPoints="1" noAdjustHandles="1" noChangeArrowheads="1" noChangeShapeType="1" noTextEdit="1"/>
              </p:cNvSpPr>
              <p:nvPr/>
            </p:nvSpPr>
            <p:spPr>
              <a:xfrm>
                <a:off x="875432" y="3272526"/>
                <a:ext cx="229165" cy="246221"/>
              </a:xfrm>
              <a:prstGeom prst="rect">
                <a:avLst/>
              </a:prstGeom>
              <a:blipFill>
                <a:blip r:embed="rId7"/>
                <a:stretch>
                  <a:fillRect l="-27778" t="-15000" r="-5556" b="-25000"/>
                </a:stretch>
              </a:blipFill>
            </p:spPr>
            <p:txBody>
              <a:bodyPr/>
              <a:lstStyle/>
              <a:p>
                <a:r>
                  <a:rPr lang="en-GB">
                    <a:noFill/>
                  </a:rPr>
                  <a:t> </a:t>
                </a:r>
              </a:p>
            </p:txBody>
          </p:sp>
        </mc:Fallback>
      </mc:AlternateContent>
      <p:cxnSp>
        <p:nvCxnSpPr>
          <p:cNvPr id="23" name="Connecteur droit avec flèche 22">
            <a:extLst>
              <a:ext uri="{FF2B5EF4-FFF2-40B4-BE49-F238E27FC236}">
                <a16:creationId xmlns:a16="http://schemas.microsoft.com/office/drawing/2014/main" id="{DA42B5B4-2BF9-77EF-77B1-12A9F1655BDA}"/>
              </a:ext>
            </a:extLst>
          </p:cNvPr>
          <p:cNvCxnSpPr>
            <a:cxnSpLocks/>
          </p:cNvCxnSpPr>
          <p:nvPr/>
        </p:nvCxnSpPr>
        <p:spPr>
          <a:xfrm flipV="1">
            <a:off x="993404" y="3850333"/>
            <a:ext cx="3962" cy="252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ZoneTexte 24">
            <a:extLst>
              <a:ext uri="{FF2B5EF4-FFF2-40B4-BE49-F238E27FC236}">
                <a16:creationId xmlns:a16="http://schemas.microsoft.com/office/drawing/2014/main" id="{E11157E0-3127-540D-3262-B2C898F798C7}"/>
              </a:ext>
            </a:extLst>
          </p:cNvPr>
          <p:cNvSpPr txBox="1"/>
          <p:nvPr/>
        </p:nvSpPr>
        <p:spPr>
          <a:xfrm>
            <a:off x="1053370" y="3876334"/>
            <a:ext cx="304800" cy="307777"/>
          </a:xfrm>
          <a:prstGeom prst="rect">
            <a:avLst/>
          </a:prstGeom>
          <a:noFill/>
        </p:spPr>
        <p:txBody>
          <a:bodyPr wrap="square" rtlCol="0">
            <a:spAutoFit/>
          </a:bodyPr>
          <a:lstStyle/>
          <a:p>
            <a:r>
              <a:rPr lang="en-GB" sz="1400" b="1" dirty="0">
                <a:solidFill>
                  <a:srgbClr val="0070C0"/>
                </a:solidFill>
              </a:rPr>
              <a:t>V</a:t>
            </a:r>
          </a:p>
        </p:txBody>
      </p:sp>
      <mc:AlternateContent xmlns:mc="http://schemas.openxmlformats.org/markup-compatibility/2006" xmlns:a14="http://schemas.microsoft.com/office/drawing/2010/main">
        <mc:Choice Requires="a14">
          <p:sp>
            <p:nvSpPr>
              <p:cNvPr id="28" name="ZoneTexte 27">
                <a:extLst>
                  <a:ext uri="{FF2B5EF4-FFF2-40B4-BE49-F238E27FC236}">
                    <a16:creationId xmlns:a16="http://schemas.microsoft.com/office/drawing/2014/main" id="{1AC5DB32-F103-4939-BCC4-66420A26BDDA}"/>
                  </a:ext>
                </a:extLst>
              </p:cNvPr>
              <p:cNvSpPr txBox="1"/>
              <p:nvPr/>
            </p:nvSpPr>
            <p:spPr>
              <a:xfrm>
                <a:off x="879548" y="2885031"/>
                <a:ext cx="22897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solidFill>
                                <a:srgbClr val="C00000"/>
                              </a:solidFill>
                              <a:latin typeface="Cambria Math" panose="02040503050406030204" pitchFamily="18" charset="0"/>
                            </a:rPr>
                          </m:ctrlPr>
                        </m:sSubPr>
                        <m:e>
                          <m:r>
                            <a:rPr lang="fr-FR" sz="1600" b="0" i="1" smtClean="0">
                              <a:solidFill>
                                <a:srgbClr val="C00000"/>
                              </a:solidFill>
                              <a:latin typeface="Cambria Math" panose="02040503050406030204" pitchFamily="18" charset="0"/>
                            </a:rPr>
                            <m:t>𝐿</m:t>
                          </m:r>
                        </m:e>
                        <m:sub>
                          <m:r>
                            <a:rPr lang="fr-FR" sz="1600" b="0" i="1" smtClean="0">
                              <a:solidFill>
                                <a:srgbClr val="C00000"/>
                              </a:solidFill>
                              <a:latin typeface="Cambria Math" panose="02040503050406030204" pitchFamily="18" charset="0"/>
                            </a:rPr>
                            <m:t>𝑡</m:t>
                          </m:r>
                        </m:sub>
                      </m:sSub>
                    </m:oMath>
                  </m:oMathPara>
                </a14:m>
                <a:endParaRPr lang="en-GB" sz="1600" dirty="0">
                  <a:solidFill>
                    <a:srgbClr val="C00000"/>
                  </a:solidFill>
                </a:endParaRPr>
              </a:p>
            </p:txBody>
          </p:sp>
        </mc:Choice>
        <mc:Fallback xmlns="">
          <p:sp>
            <p:nvSpPr>
              <p:cNvPr id="28" name="ZoneTexte 27">
                <a:extLst>
                  <a:ext uri="{FF2B5EF4-FFF2-40B4-BE49-F238E27FC236}">
                    <a16:creationId xmlns:a16="http://schemas.microsoft.com/office/drawing/2014/main" id="{1AC5DB32-F103-4939-BCC4-66420A26BDDA}"/>
                  </a:ext>
                </a:extLst>
              </p:cNvPr>
              <p:cNvSpPr txBox="1">
                <a:spLocks noRot="1" noChangeAspect="1" noMove="1" noResize="1" noEditPoints="1" noAdjustHandles="1" noChangeArrowheads="1" noChangeShapeType="1" noTextEdit="1"/>
              </p:cNvSpPr>
              <p:nvPr/>
            </p:nvSpPr>
            <p:spPr>
              <a:xfrm>
                <a:off x="879548" y="2885031"/>
                <a:ext cx="228972" cy="246221"/>
              </a:xfrm>
              <a:prstGeom prst="rect">
                <a:avLst/>
              </a:prstGeom>
              <a:blipFill>
                <a:blip r:embed="rId8"/>
                <a:stretch>
                  <a:fillRect l="-21053" r="-5263" b="-1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ZoneTexte 28">
                <a:extLst>
                  <a:ext uri="{FF2B5EF4-FFF2-40B4-BE49-F238E27FC236}">
                    <a16:creationId xmlns:a16="http://schemas.microsoft.com/office/drawing/2014/main" id="{6C3E2E31-893B-ECFE-4848-AA49EE2DDE41}"/>
                  </a:ext>
                </a:extLst>
              </p:cNvPr>
              <p:cNvSpPr txBox="1"/>
              <p:nvPr/>
            </p:nvSpPr>
            <p:spPr>
              <a:xfrm>
                <a:off x="887158" y="3605790"/>
                <a:ext cx="22243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𝑜</m:t>
                          </m:r>
                        </m:e>
                        <m:sub>
                          <m:r>
                            <a:rPr lang="fr-FR" sz="1600" b="0" i="1" smtClean="0">
                              <a:latin typeface="Cambria Math" panose="02040503050406030204" pitchFamily="18" charset="0"/>
                            </a:rPr>
                            <m:t>𝑡</m:t>
                          </m:r>
                        </m:sub>
                      </m:sSub>
                    </m:oMath>
                  </m:oMathPara>
                </a14:m>
                <a:endParaRPr lang="en-GB" sz="1600" dirty="0"/>
              </a:p>
            </p:txBody>
          </p:sp>
        </mc:Choice>
        <mc:Fallback xmlns="">
          <p:sp>
            <p:nvSpPr>
              <p:cNvPr id="29" name="ZoneTexte 28">
                <a:extLst>
                  <a:ext uri="{FF2B5EF4-FFF2-40B4-BE49-F238E27FC236}">
                    <a16:creationId xmlns:a16="http://schemas.microsoft.com/office/drawing/2014/main" id="{6C3E2E31-893B-ECFE-4848-AA49EE2DDE41}"/>
                  </a:ext>
                </a:extLst>
              </p:cNvPr>
              <p:cNvSpPr txBox="1">
                <a:spLocks noRot="1" noChangeAspect="1" noMove="1" noResize="1" noEditPoints="1" noAdjustHandles="1" noChangeArrowheads="1" noChangeShapeType="1" noTextEdit="1"/>
              </p:cNvSpPr>
              <p:nvPr/>
            </p:nvSpPr>
            <p:spPr>
              <a:xfrm>
                <a:off x="887158" y="3605790"/>
                <a:ext cx="222433" cy="246221"/>
              </a:xfrm>
              <a:prstGeom prst="rect">
                <a:avLst/>
              </a:prstGeom>
              <a:blipFill>
                <a:blip r:embed="rId9"/>
                <a:stretch>
                  <a:fillRect l="-16667" r="-5556" b="-10000"/>
                </a:stretch>
              </a:blipFill>
            </p:spPr>
            <p:txBody>
              <a:bodyPr/>
              <a:lstStyle/>
              <a:p>
                <a:r>
                  <a:rPr lang="en-GB">
                    <a:noFill/>
                  </a:rPr>
                  <a:t> </a:t>
                </a:r>
              </a:p>
            </p:txBody>
          </p:sp>
        </mc:Fallback>
      </mc:AlternateContent>
      <p:cxnSp>
        <p:nvCxnSpPr>
          <p:cNvPr id="30" name="Connecteur droit avec flèche 29">
            <a:extLst>
              <a:ext uri="{FF2B5EF4-FFF2-40B4-BE49-F238E27FC236}">
                <a16:creationId xmlns:a16="http://schemas.microsoft.com/office/drawing/2014/main" id="{01F64A1D-385E-3568-C83A-C5ACB28363B8}"/>
              </a:ext>
            </a:extLst>
          </p:cNvPr>
          <p:cNvCxnSpPr>
            <a:cxnSpLocks/>
          </p:cNvCxnSpPr>
          <p:nvPr/>
        </p:nvCxnSpPr>
        <p:spPr>
          <a:xfrm flipV="1">
            <a:off x="995079" y="3530464"/>
            <a:ext cx="3962" cy="144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Connecteur droit avec flèche 30">
            <a:extLst>
              <a:ext uri="{FF2B5EF4-FFF2-40B4-BE49-F238E27FC236}">
                <a16:creationId xmlns:a16="http://schemas.microsoft.com/office/drawing/2014/main" id="{C63506C1-2B91-8CC8-5A51-CB7EE52AC8A9}"/>
              </a:ext>
            </a:extLst>
          </p:cNvPr>
          <p:cNvCxnSpPr>
            <a:cxnSpLocks/>
          </p:cNvCxnSpPr>
          <p:nvPr/>
        </p:nvCxnSpPr>
        <p:spPr>
          <a:xfrm flipV="1">
            <a:off x="996755" y="3140257"/>
            <a:ext cx="3962" cy="144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ZoneTexte 31">
                <a:extLst>
                  <a:ext uri="{FF2B5EF4-FFF2-40B4-BE49-F238E27FC236}">
                    <a16:creationId xmlns:a16="http://schemas.microsoft.com/office/drawing/2014/main" id="{ADEFB27A-963A-DC0D-A1DC-DC886E06A525}"/>
                  </a:ext>
                </a:extLst>
              </p:cNvPr>
              <p:cNvSpPr txBox="1"/>
              <p:nvPr/>
            </p:nvSpPr>
            <p:spPr>
              <a:xfrm>
                <a:off x="897203" y="2460294"/>
                <a:ext cx="22916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𝑦</m:t>
                          </m:r>
                        </m:e>
                        <m:sub>
                          <m:r>
                            <a:rPr lang="fr-FR" sz="1600" b="0" i="1" smtClean="0">
                              <a:latin typeface="Cambria Math" panose="02040503050406030204" pitchFamily="18" charset="0"/>
                            </a:rPr>
                            <m:t>𝑡</m:t>
                          </m:r>
                        </m:sub>
                      </m:sSub>
                    </m:oMath>
                  </m:oMathPara>
                </a14:m>
                <a:endParaRPr lang="en-GB" sz="1600" dirty="0"/>
              </a:p>
            </p:txBody>
          </p:sp>
        </mc:Choice>
        <mc:Fallback xmlns="">
          <p:sp>
            <p:nvSpPr>
              <p:cNvPr id="32" name="ZoneTexte 31">
                <a:extLst>
                  <a:ext uri="{FF2B5EF4-FFF2-40B4-BE49-F238E27FC236}">
                    <a16:creationId xmlns:a16="http://schemas.microsoft.com/office/drawing/2014/main" id="{ADEFB27A-963A-DC0D-A1DC-DC886E06A525}"/>
                  </a:ext>
                </a:extLst>
              </p:cNvPr>
              <p:cNvSpPr txBox="1">
                <a:spLocks noRot="1" noChangeAspect="1" noMove="1" noResize="1" noEditPoints="1" noAdjustHandles="1" noChangeArrowheads="1" noChangeShapeType="1" noTextEdit="1"/>
              </p:cNvSpPr>
              <p:nvPr/>
            </p:nvSpPr>
            <p:spPr>
              <a:xfrm>
                <a:off x="897203" y="2460294"/>
                <a:ext cx="229165" cy="246221"/>
              </a:xfrm>
              <a:prstGeom prst="rect">
                <a:avLst/>
              </a:prstGeom>
              <a:blipFill>
                <a:blip r:embed="rId10"/>
                <a:stretch>
                  <a:fillRect l="-21053" r="-5263" b="-19048"/>
                </a:stretch>
              </a:blipFill>
            </p:spPr>
            <p:txBody>
              <a:bodyPr/>
              <a:lstStyle/>
              <a:p>
                <a:r>
                  <a:rPr lang="en-GB">
                    <a:noFill/>
                  </a:rPr>
                  <a:t> </a:t>
                </a:r>
              </a:p>
            </p:txBody>
          </p:sp>
        </mc:Fallback>
      </mc:AlternateContent>
      <p:cxnSp>
        <p:nvCxnSpPr>
          <p:cNvPr id="33" name="Connecteur droit avec flèche 32">
            <a:extLst>
              <a:ext uri="{FF2B5EF4-FFF2-40B4-BE49-F238E27FC236}">
                <a16:creationId xmlns:a16="http://schemas.microsoft.com/office/drawing/2014/main" id="{4CC18713-9DBF-E9CD-A19D-FA6DA4519738}"/>
              </a:ext>
            </a:extLst>
          </p:cNvPr>
          <p:cNvCxnSpPr>
            <a:cxnSpLocks/>
          </p:cNvCxnSpPr>
          <p:nvPr/>
        </p:nvCxnSpPr>
        <p:spPr>
          <a:xfrm rot="-300000" flipH="1">
            <a:off x="1002392" y="2747693"/>
            <a:ext cx="21492" cy="1804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ZoneTexte 33">
                <a:extLst>
                  <a:ext uri="{FF2B5EF4-FFF2-40B4-BE49-F238E27FC236}">
                    <a16:creationId xmlns:a16="http://schemas.microsoft.com/office/drawing/2014/main" id="{DC06F68A-012B-8C44-BC69-B98FBCE3C5C9}"/>
                  </a:ext>
                </a:extLst>
              </p:cNvPr>
              <p:cNvSpPr txBox="1"/>
              <p:nvPr/>
            </p:nvSpPr>
            <p:spPr>
              <a:xfrm>
                <a:off x="868394" y="4127333"/>
                <a:ext cx="23378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sub>
                      </m:sSub>
                    </m:oMath>
                  </m:oMathPara>
                </a14:m>
                <a:endParaRPr lang="en-GB" sz="1600" dirty="0"/>
              </a:p>
            </p:txBody>
          </p:sp>
        </mc:Choice>
        <mc:Fallback xmlns="">
          <p:sp>
            <p:nvSpPr>
              <p:cNvPr id="34" name="ZoneTexte 33">
                <a:extLst>
                  <a:ext uri="{FF2B5EF4-FFF2-40B4-BE49-F238E27FC236}">
                    <a16:creationId xmlns:a16="http://schemas.microsoft.com/office/drawing/2014/main" id="{DC06F68A-012B-8C44-BC69-B98FBCE3C5C9}"/>
                  </a:ext>
                </a:extLst>
              </p:cNvPr>
              <p:cNvSpPr txBox="1">
                <a:spLocks noRot="1" noChangeAspect="1" noMove="1" noResize="1" noEditPoints="1" noAdjustHandles="1" noChangeArrowheads="1" noChangeShapeType="1" noTextEdit="1"/>
              </p:cNvSpPr>
              <p:nvPr/>
            </p:nvSpPr>
            <p:spPr>
              <a:xfrm>
                <a:off x="868394" y="4127333"/>
                <a:ext cx="233782" cy="246221"/>
              </a:xfrm>
              <a:prstGeom prst="rect">
                <a:avLst/>
              </a:prstGeom>
              <a:blipFill>
                <a:blip r:embed="rId11"/>
                <a:stretch>
                  <a:fillRect l="-21053" r="-5263" b="-14286"/>
                </a:stretch>
              </a:blipFill>
            </p:spPr>
            <p:txBody>
              <a:bodyPr/>
              <a:lstStyle/>
              <a:p>
                <a:r>
                  <a:rPr lang="en-GB">
                    <a:noFill/>
                  </a:rPr>
                  <a:t> </a:t>
                </a:r>
              </a:p>
            </p:txBody>
          </p:sp>
        </mc:Fallback>
      </mc:AlternateContent>
      <p:cxnSp>
        <p:nvCxnSpPr>
          <p:cNvPr id="37" name="Connecteur droit 36">
            <a:extLst>
              <a:ext uri="{FF2B5EF4-FFF2-40B4-BE49-F238E27FC236}">
                <a16:creationId xmlns:a16="http://schemas.microsoft.com/office/drawing/2014/main" id="{C31B3543-E753-0ABD-9290-3844865E255E}"/>
              </a:ext>
            </a:extLst>
          </p:cNvPr>
          <p:cNvCxnSpPr>
            <a:stCxn id="9" idx="1"/>
            <a:endCxn id="9" idx="3"/>
          </p:cNvCxnSpPr>
          <p:nvPr/>
        </p:nvCxnSpPr>
        <p:spPr>
          <a:xfrm>
            <a:off x="700211" y="4506637"/>
            <a:ext cx="558800" cy="0"/>
          </a:xfrm>
          <a:prstGeom prst="line">
            <a:avLst/>
          </a:prstGeom>
          <a:ln w="12700"/>
        </p:spPr>
        <p:style>
          <a:lnRef idx="2">
            <a:schemeClr val="accent1"/>
          </a:lnRef>
          <a:fillRef idx="0">
            <a:schemeClr val="accent1"/>
          </a:fillRef>
          <a:effectRef idx="1">
            <a:schemeClr val="accent1"/>
          </a:effectRef>
          <a:fontRef idx="minor">
            <a:schemeClr val="tx1"/>
          </a:fontRef>
        </p:style>
      </p:cxnSp>
      <p:sp>
        <p:nvSpPr>
          <p:cNvPr id="38" name="Rectangle 37">
            <a:extLst>
              <a:ext uri="{FF2B5EF4-FFF2-40B4-BE49-F238E27FC236}">
                <a16:creationId xmlns:a16="http://schemas.microsoft.com/office/drawing/2014/main" id="{6A0E7F4D-10D7-AEF2-02F4-1303064022A5}"/>
              </a:ext>
            </a:extLst>
          </p:cNvPr>
          <p:cNvSpPr/>
          <p:nvPr/>
        </p:nvSpPr>
        <p:spPr>
          <a:xfrm>
            <a:off x="4428066" y="2583404"/>
            <a:ext cx="406400" cy="345334"/>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684356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BB08D-DCA3-B462-37D5-7C7BB5FEB1C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F03CFDA-5667-8791-934F-8FF39E5F2025}"/>
              </a:ext>
            </a:extLst>
          </p:cNvPr>
          <p:cNvSpPr>
            <a:spLocks noGrp="1"/>
          </p:cNvSpPr>
          <p:nvPr>
            <p:ph type="title"/>
          </p:nvPr>
        </p:nvSpPr>
        <p:spPr/>
        <p:txBody>
          <a:bodyPr/>
          <a:lstStyle/>
          <a:p>
            <a:pPr algn="ctr"/>
            <a:r>
              <a:rPr lang="en-GB" noProof="0" dirty="0"/>
              <a:t>Recurrent Neural Networks</a:t>
            </a:r>
          </a:p>
        </p:txBody>
      </p:sp>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ED8AD063-25F5-BAF7-9AEB-9C09AC6DCF7B}"/>
                  </a:ext>
                </a:extLst>
              </p:cNvPr>
              <p:cNvSpPr txBox="1"/>
              <p:nvPr/>
            </p:nvSpPr>
            <p:spPr>
              <a:xfrm>
                <a:off x="838200" y="1318020"/>
                <a:ext cx="8703365" cy="1023136"/>
              </a:xfrm>
              <a:prstGeom prst="rect">
                <a:avLst/>
              </a:prstGeom>
              <a:noFill/>
            </p:spPr>
            <p:txBody>
              <a:bodyPr wrap="square" lIns="90000" rtlCol="0">
                <a:noAutofit/>
              </a:bodyPr>
              <a:lstStyle/>
              <a:p>
                <a:r>
                  <a:rPr lang="en-GB" sz="2400" b="1" dirty="0">
                    <a:latin typeface="ui-sans-serif"/>
                  </a:rPr>
                  <a:t>Backpropagation Through Time (BPTT)</a:t>
                </a:r>
                <a:endParaRPr lang="en-GB" sz="2400" b="1" dirty="0">
                  <a:solidFill>
                    <a:schemeClr val="accent4"/>
                  </a:solidFill>
                  <a:latin typeface="ui-sans-serif"/>
                </a:endParaRPr>
              </a:p>
              <a:p>
                <a:r>
                  <a:rPr lang="en-GB" sz="1600" dirty="0">
                    <a:latin typeface="ui-sans-serif"/>
                  </a:rPr>
                  <a:t>Demonstration of the gradient's calculation with </a:t>
                </a:r>
                <a14:m>
                  <m:oMath xmlns:m="http://schemas.openxmlformats.org/officeDocument/2006/math">
                    <m:r>
                      <a:rPr lang="en-GB" sz="2400" b="0" i="1" noProof="0" smtClean="0">
                        <a:solidFill>
                          <a:schemeClr val="tx1"/>
                        </a:solidFill>
                        <a:latin typeface="Cambria Math" panose="02040503050406030204" pitchFamily="18" charset="0"/>
                      </a:rPr>
                      <m:t>𝑔</m:t>
                    </m:r>
                  </m:oMath>
                </a14:m>
                <a:r>
                  <a:rPr lang="en-GB" sz="2400" dirty="0">
                    <a:latin typeface="ui-sans-serif"/>
                  </a:rPr>
                  <a:t> </a:t>
                </a:r>
                <a:r>
                  <a:rPr lang="en-GB" sz="1600" dirty="0">
                    <a:latin typeface="ui-sans-serif"/>
                  </a:rPr>
                  <a:t>softmax function and </a:t>
                </a:r>
                <a14:m>
                  <m:oMath xmlns:m="http://schemas.openxmlformats.org/officeDocument/2006/math">
                    <m:r>
                      <a:rPr lang="fr-FR" sz="2400" b="0" i="1" smtClean="0">
                        <a:latin typeface="Cambria Math" panose="02040503050406030204" pitchFamily="18" charset="0"/>
                      </a:rPr>
                      <m:t>𝑓</m:t>
                    </m:r>
                  </m:oMath>
                </a14:m>
                <a:r>
                  <a:rPr lang="en-GB" sz="2400" dirty="0">
                    <a:latin typeface="ui-sans-serif"/>
                  </a:rPr>
                  <a:t> </a:t>
                </a:r>
                <a:r>
                  <a:rPr lang="en-GB" sz="1600" dirty="0">
                    <a:latin typeface="ui-sans-serif"/>
                  </a:rPr>
                  <a:t>tanh</a:t>
                </a:r>
              </a:p>
            </p:txBody>
          </p:sp>
        </mc:Choice>
        <mc:Fallback xmlns="">
          <p:sp>
            <p:nvSpPr>
              <p:cNvPr id="4" name="ZoneTexte 3">
                <a:extLst>
                  <a:ext uri="{FF2B5EF4-FFF2-40B4-BE49-F238E27FC236}">
                    <a16:creationId xmlns:a16="http://schemas.microsoft.com/office/drawing/2014/main" id="{ED8AD063-25F5-BAF7-9AEB-9C09AC6DCF7B}"/>
                  </a:ext>
                </a:extLst>
              </p:cNvPr>
              <p:cNvSpPr txBox="1">
                <a:spLocks noRot="1" noChangeAspect="1" noMove="1" noResize="1" noEditPoints="1" noAdjustHandles="1" noChangeArrowheads="1" noChangeShapeType="1" noTextEdit="1"/>
              </p:cNvSpPr>
              <p:nvPr/>
            </p:nvSpPr>
            <p:spPr>
              <a:xfrm>
                <a:off x="838200" y="1318020"/>
                <a:ext cx="8703365" cy="1023136"/>
              </a:xfrm>
              <a:prstGeom prst="rect">
                <a:avLst/>
              </a:prstGeom>
              <a:blipFill>
                <a:blip r:embed="rId3"/>
                <a:stretch>
                  <a:fillRect l="-1166" t="-4878"/>
                </a:stretch>
              </a:blipFill>
            </p:spPr>
            <p:txBody>
              <a:bodyPr/>
              <a:lstStyle/>
              <a:p>
                <a:r>
                  <a:rPr lang="en-GB">
                    <a:noFill/>
                  </a:rPr>
                  <a:t> </a:t>
                </a:r>
              </a:p>
            </p:txBody>
          </p:sp>
        </mc:Fallback>
      </mc:AlternateContent>
      <p:sp>
        <p:nvSpPr>
          <p:cNvPr id="83" name="Espace réservé du pied de page 2">
            <a:extLst>
              <a:ext uri="{FF2B5EF4-FFF2-40B4-BE49-F238E27FC236}">
                <a16:creationId xmlns:a16="http://schemas.microsoft.com/office/drawing/2014/main" id="{7E70F2EF-1F18-5DE2-E1F8-CB21D67CE1B7}"/>
              </a:ext>
            </a:extLst>
          </p:cNvPr>
          <p:cNvSpPr>
            <a:spLocks noGrp="1"/>
          </p:cNvSpPr>
          <p:nvPr>
            <p:ph type="ftr" sz="quarter" idx="11"/>
          </p:nvPr>
        </p:nvSpPr>
        <p:spPr>
          <a:xfrm>
            <a:off x="4038600" y="6356350"/>
            <a:ext cx="4549346" cy="365125"/>
          </a:xfrm>
        </p:spPr>
        <p:txBody>
          <a:bodyPr/>
          <a:lstStyle/>
          <a:p>
            <a:r>
              <a:rPr lang="en-GB" noProof="1"/>
              <a:t>RNN. Author: David Thébault – Based on NLPDemystified.org</a:t>
            </a:r>
          </a:p>
        </p:txBody>
      </p:sp>
      <mc:AlternateContent xmlns:mc="http://schemas.openxmlformats.org/markup-compatibility/2006" xmlns:a14="http://schemas.microsoft.com/office/drawing/2010/main">
        <mc:Choice Requires="a14">
          <p:sp>
            <p:nvSpPr>
              <p:cNvPr id="89" name="ZoneTexte 88">
                <a:extLst>
                  <a:ext uri="{FF2B5EF4-FFF2-40B4-BE49-F238E27FC236}">
                    <a16:creationId xmlns:a16="http://schemas.microsoft.com/office/drawing/2014/main" id="{17EE6674-4083-6AA1-23C3-F57A112795F9}"/>
                  </a:ext>
                </a:extLst>
              </p:cNvPr>
              <p:cNvSpPr txBox="1"/>
              <p:nvPr/>
            </p:nvSpPr>
            <p:spPr>
              <a:xfrm>
                <a:off x="1670023" y="2249617"/>
                <a:ext cx="9821766" cy="2524409"/>
              </a:xfrm>
              <a:prstGeom prst="rect">
                <a:avLst/>
              </a:prstGeom>
              <a:noFill/>
            </p:spPr>
            <p:txBody>
              <a:bodyPr wrap="square" lIns="0" tIns="0" rIns="0" bIns="0" rtlCol="0">
                <a:spAutoFit/>
              </a:bodyPr>
              <a:lstStyle/>
              <a:p>
                <a:endParaRPr lang="fr-FR" sz="1600" i="1" dirty="0">
                  <a:solidFill>
                    <a:srgbClr val="0070C0"/>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center"/>
                    </m:oMathParaPr>
                    <m:oMath xmlns:m="http://schemas.openxmlformats.org/officeDocument/2006/math">
                      <m:f>
                        <m:fPr>
                          <m:ctrlPr>
                            <a:rPr lang="fr-FR" sz="2000" i="1" dirty="0">
                              <a:solidFill>
                                <a:srgbClr val="0070C0"/>
                              </a:solidFill>
                              <a:latin typeface="Cambria Math" panose="02040503050406030204" pitchFamily="18" charset="0"/>
                              <a:ea typeface="Cambria Math" panose="02040503050406030204" pitchFamily="18" charset="0"/>
                            </a:rPr>
                          </m:ctrlPr>
                        </m:fPr>
                        <m:num>
                          <m:r>
                            <a:rPr lang="fr-FR" sz="2000" i="1" dirty="0">
                              <a:solidFill>
                                <a:srgbClr val="0070C0"/>
                              </a:solidFill>
                              <a:latin typeface="Cambria Math" panose="02040503050406030204" pitchFamily="18" charset="0"/>
                              <a:ea typeface="Cambria Math" panose="02040503050406030204" pitchFamily="18" charset="0"/>
                            </a:rPr>
                            <m:t>𝜕</m:t>
                          </m:r>
                          <m:sSub>
                            <m:sSubPr>
                              <m:ctrlPr>
                                <a:rPr lang="fr-FR" sz="2000" i="1" dirty="0">
                                  <a:solidFill>
                                    <a:srgbClr val="0070C0"/>
                                  </a:solidFill>
                                  <a:latin typeface="Cambria Math" panose="02040503050406030204" pitchFamily="18" charset="0"/>
                                  <a:ea typeface="Cambria Math" panose="02040503050406030204" pitchFamily="18" charset="0"/>
                                </a:rPr>
                              </m:ctrlPr>
                            </m:sSubPr>
                            <m:e>
                              <m:r>
                                <a:rPr lang="fr-FR" sz="2000" i="1" dirty="0">
                                  <a:solidFill>
                                    <a:srgbClr val="0070C0"/>
                                  </a:solidFill>
                                  <a:latin typeface="Cambria Math" panose="02040503050406030204" pitchFamily="18" charset="0"/>
                                  <a:ea typeface="Cambria Math" panose="02040503050406030204" pitchFamily="18" charset="0"/>
                                </a:rPr>
                                <m:t>𝐿</m:t>
                              </m:r>
                            </m:e>
                            <m:sub>
                              <m:r>
                                <a:rPr lang="fr-FR" sz="2000" i="1" dirty="0">
                                  <a:solidFill>
                                    <a:srgbClr val="0070C0"/>
                                  </a:solidFill>
                                  <a:latin typeface="Cambria Math" panose="02040503050406030204" pitchFamily="18" charset="0"/>
                                  <a:ea typeface="Cambria Math" panose="02040503050406030204" pitchFamily="18" charset="0"/>
                                </a:rPr>
                                <m:t>𝑡</m:t>
                              </m:r>
                            </m:sub>
                          </m:sSub>
                        </m:num>
                        <m:den>
                          <m:r>
                            <a:rPr lang="fr-FR" sz="2000" i="1" dirty="0">
                              <a:solidFill>
                                <a:srgbClr val="0070C0"/>
                              </a:solidFill>
                              <a:latin typeface="Cambria Math" panose="02040503050406030204" pitchFamily="18" charset="0"/>
                              <a:ea typeface="Cambria Math" panose="02040503050406030204" pitchFamily="18" charset="0"/>
                            </a:rPr>
                            <m:t>𝜕</m:t>
                          </m:r>
                          <m:r>
                            <a:rPr lang="fr-FR" sz="2000" i="1" dirty="0">
                              <a:solidFill>
                                <a:srgbClr val="0070C0"/>
                              </a:solidFill>
                              <a:latin typeface="Cambria Math" panose="02040503050406030204" pitchFamily="18" charset="0"/>
                              <a:ea typeface="Cambria Math" panose="02040503050406030204" pitchFamily="18" charset="0"/>
                            </a:rPr>
                            <m:t>𝑉</m:t>
                          </m:r>
                        </m:den>
                      </m:f>
                      <m:r>
                        <a:rPr lang="fr-FR" sz="2000" b="0" i="1" dirty="0" smtClean="0">
                          <a:solidFill>
                            <a:srgbClr val="0070C0"/>
                          </a:solidFill>
                          <a:latin typeface="Cambria Math" panose="02040503050406030204" pitchFamily="18" charset="0"/>
                          <a:ea typeface="Cambria Math" panose="02040503050406030204" pitchFamily="18" charset="0"/>
                        </a:rPr>
                        <m:t>=</m:t>
                      </m:r>
                      <m:d>
                        <m:dPr>
                          <m:ctrlPr>
                            <a:rPr lang="fr-FR" sz="2000" i="1" dirty="0" smtClean="0">
                              <a:solidFill>
                                <a:schemeClr val="tx1"/>
                              </a:solidFill>
                              <a:latin typeface="Cambria Math" panose="02040503050406030204" pitchFamily="18" charset="0"/>
                              <a:ea typeface="Cambria Math" panose="02040503050406030204" pitchFamily="18" charset="0"/>
                            </a:rPr>
                          </m:ctrlPr>
                        </m:dPr>
                        <m:e>
                          <m:sSub>
                            <m:sSubPr>
                              <m:ctrlPr>
                                <a:rPr lang="fr-FR" sz="2000" i="1" dirty="0">
                                  <a:solidFill>
                                    <a:schemeClr val="tx1"/>
                                  </a:solidFill>
                                  <a:latin typeface="Cambria Math" panose="02040503050406030204" pitchFamily="18" charset="0"/>
                                  <a:ea typeface="Cambria Math" panose="02040503050406030204" pitchFamily="18" charset="0"/>
                                </a:rPr>
                              </m:ctrlPr>
                            </m:sSubPr>
                            <m:e>
                              <m:acc>
                                <m:accPr>
                                  <m:chr m:val="̂"/>
                                  <m:ctrlPr>
                                    <a:rPr lang="fr-FR" sz="2000" i="1" dirty="0">
                                      <a:solidFill>
                                        <a:schemeClr val="tx1"/>
                                      </a:solidFill>
                                      <a:latin typeface="Cambria Math" panose="02040503050406030204" pitchFamily="18" charset="0"/>
                                      <a:ea typeface="Cambria Math" panose="02040503050406030204" pitchFamily="18" charset="0"/>
                                    </a:rPr>
                                  </m:ctrlPr>
                                </m:accPr>
                                <m:e>
                                  <m:r>
                                    <a:rPr lang="fr-FR" sz="2000" i="1" dirty="0">
                                      <a:solidFill>
                                        <a:schemeClr val="tx1"/>
                                      </a:solidFill>
                                      <a:latin typeface="Cambria Math" panose="02040503050406030204" pitchFamily="18" charset="0"/>
                                      <a:ea typeface="Cambria Math" panose="02040503050406030204" pitchFamily="18" charset="0"/>
                                    </a:rPr>
                                    <m:t>𝑦</m:t>
                                  </m:r>
                                </m:e>
                              </m:acc>
                            </m:e>
                            <m:sub>
                              <m:r>
                                <a:rPr lang="fr-FR" sz="2000" i="1" dirty="0">
                                  <a:solidFill>
                                    <a:schemeClr val="tx1"/>
                                  </a:solidFill>
                                  <a:latin typeface="Cambria Math" panose="02040503050406030204" pitchFamily="18" charset="0"/>
                                  <a:ea typeface="Cambria Math" panose="02040503050406030204" pitchFamily="18" charset="0"/>
                                </a:rPr>
                                <m:t>𝑡</m:t>
                              </m:r>
                            </m:sub>
                          </m:sSub>
                          <m:r>
                            <a:rPr lang="fr-FR" sz="2000" i="1" dirty="0">
                              <a:solidFill>
                                <a:schemeClr val="tx1"/>
                              </a:solidFill>
                              <a:latin typeface="Cambria Math" panose="02040503050406030204" pitchFamily="18" charset="0"/>
                              <a:ea typeface="Cambria Math" panose="02040503050406030204" pitchFamily="18" charset="0"/>
                            </a:rPr>
                            <m:t>−</m:t>
                          </m:r>
                          <m:sSub>
                            <m:sSubPr>
                              <m:ctrlPr>
                                <a:rPr lang="fr-FR" sz="2000" i="1" dirty="0">
                                  <a:solidFill>
                                    <a:schemeClr val="tx1"/>
                                  </a:solidFill>
                                  <a:latin typeface="Cambria Math" panose="02040503050406030204" pitchFamily="18" charset="0"/>
                                  <a:ea typeface="Cambria Math" panose="02040503050406030204" pitchFamily="18" charset="0"/>
                                </a:rPr>
                              </m:ctrlPr>
                            </m:sSubPr>
                            <m:e>
                              <m:r>
                                <a:rPr lang="fr-FR" sz="2000" i="1" dirty="0">
                                  <a:solidFill>
                                    <a:schemeClr val="tx1"/>
                                  </a:solidFill>
                                  <a:latin typeface="Cambria Math" panose="02040503050406030204" pitchFamily="18" charset="0"/>
                                  <a:ea typeface="Cambria Math" panose="02040503050406030204" pitchFamily="18" charset="0"/>
                                </a:rPr>
                                <m:t>𝑦</m:t>
                              </m:r>
                            </m:e>
                            <m:sub>
                              <m:r>
                                <a:rPr lang="fr-FR" sz="2000" i="1" dirty="0">
                                  <a:solidFill>
                                    <a:schemeClr val="tx1"/>
                                  </a:solidFill>
                                  <a:latin typeface="Cambria Math" panose="02040503050406030204" pitchFamily="18" charset="0"/>
                                  <a:ea typeface="Cambria Math" panose="02040503050406030204" pitchFamily="18" charset="0"/>
                                </a:rPr>
                                <m:t>𝑡</m:t>
                              </m:r>
                            </m:sub>
                          </m:sSub>
                        </m:e>
                      </m:d>
                      <m:r>
                        <m:rPr>
                          <m:nor/>
                        </m:rPr>
                        <a:rPr lang="fr-FR" sz="2000" dirty="0">
                          <a:solidFill>
                            <a:schemeClr val="tx1"/>
                          </a:solidFill>
                          <a:latin typeface="Cambria Math" panose="02040503050406030204" pitchFamily="18" charset="0"/>
                          <a:ea typeface="Cambria Math" panose="02040503050406030204" pitchFamily="18" charset="0"/>
                        </a:rPr>
                        <m:t>V</m:t>
                      </m:r>
                    </m:oMath>
                  </m:oMathPara>
                </a14:m>
                <a:endParaRPr lang="en-GB" sz="2000" dirty="0">
                  <a:solidFill>
                    <a:schemeClr val="tx1"/>
                  </a:solidFill>
                  <a:latin typeface="Cambria Math" panose="02040503050406030204" pitchFamily="18" charset="0"/>
                  <a:ea typeface="Cambria Math" panose="02040503050406030204" pitchFamily="18" charset="0"/>
                </a:endParaRPr>
              </a:p>
              <a:p>
                <a:endParaRPr lang="en-GB" sz="1600" dirty="0"/>
              </a:p>
              <a:p>
                <a:r>
                  <a:rPr lang="en-GB" sz="1400" i="1" dirty="0">
                    <a:latin typeface="Cambria Math" panose="02040503050406030204" pitchFamily="18" charset="0"/>
                    <a:ea typeface="Cambria Math" panose="02040503050406030204" pitchFamily="18" charset="0"/>
                  </a:rPr>
                  <a:t>For this demonstration, we will use the chain rule</a:t>
                </a:r>
              </a:p>
              <a:p>
                <a:endParaRPr lang="en-GB" sz="1600" i="1" dirty="0">
                  <a:latin typeface="Cambria Math" panose="02040503050406030204" pitchFamily="18" charset="0"/>
                  <a:ea typeface="Cambria Math" panose="02040503050406030204" pitchFamily="18" charset="0"/>
                </a:endParaRPr>
              </a:p>
              <a:p>
                <a14:m>
                  <m:oMath xmlns:m="http://schemas.openxmlformats.org/officeDocument/2006/math">
                    <m:f>
                      <m:fPr>
                        <m:ctrlPr>
                          <a:rPr lang="fr-FR" sz="2000" i="1" dirty="0">
                            <a:latin typeface="Cambria Math" panose="02040503050406030204" pitchFamily="18" charset="0"/>
                            <a:ea typeface="Cambria Math" panose="02040503050406030204" pitchFamily="18" charset="0"/>
                          </a:rPr>
                        </m:ctrlPr>
                      </m:fPr>
                      <m:num>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𝐿</m:t>
                            </m:r>
                          </m:e>
                          <m:sub>
                            <m:r>
                              <a:rPr lang="fr-FR" sz="2000" i="1" dirty="0">
                                <a:latin typeface="Cambria Math" panose="02040503050406030204" pitchFamily="18" charset="0"/>
                                <a:ea typeface="Cambria Math" panose="02040503050406030204" pitchFamily="18" charset="0"/>
                              </a:rPr>
                              <m:t>𝑡</m:t>
                            </m:r>
                          </m:sub>
                        </m:sSub>
                      </m:num>
                      <m:den>
                        <m:r>
                          <a:rPr lang="fr-FR" sz="2000" i="1" dirty="0">
                            <a:latin typeface="Cambria Math" panose="02040503050406030204" pitchFamily="18" charset="0"/>
                            <a:ea typeface="Cambria Math" panose="02040503050406030204" pitchFamily="18" charset="0"/>
                          </a:rPr>
                          <m:t>𝜕</m:t>
                        </m:r>
                        <m:r>
                          <a:rPr lang="fr-FR" sz="2000" i="1" dirty="0">
                            <a:latin typeface="Cambria Math" panose="02040503050406030204" pitchFamily="18" charset="0"/>
                            <a:ea typeface="Cambria Math" panose="02040503050406030204" pitchFamily="18" charset="0"/>
                          </a:rPr>
                          <m:t>𝑉</m:t>
                        </m:r>
                      </m:den>
                    </m:f>
                    <m:r>
                      <a:rPr lang="fr-FR" sz="2000" i="1" dirty="0">
                        <a:latin typeface="Cambria Math" panose="02040503050406030204" pitchFamily="18" charset="0"/>
                        <a:ea typeface="Cambria Math" panose="02040503050406030204" pitchFamily="18" charset="0"/>
                      </a:rPr>
                      <m:t>=</m:t>
                    </m:r>
                    <m:f>
                      <m:fPr>
                        <m:ctrlPr>
                          <a:rPr lang="fr-FR" sz="2000" i="1" dirty="0">
                            <a:latin typeface="Cambria Math" panose="02040503050406030204" pitchFamily="18" charset="0"/>
                            <a:ea typeface="Cambria Math" panose="02040503050406030204" pitchFamily="18" charset="0"/>
                          </a:rPr>
                        </m:ctrlPr>
                      </m:fPr>
                      <m:num>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𝐿</m:t>
                            </m:r>
                          </m:e>
                          <m:sub>
                            <m:r>
                              <a:rPr lang="fr-FR" sz="2000" i="1" dirty="0">
                                <a:latin typeface="Cambria Math" panose="02040503050406030204" pitchFamily="18" charset="0"/>
                                <a:ea typeface="Cambria Math" panose="02040503050406030204" pitchFamily="18" charset="0"/>
                              </a:rPr>
                              <m:t>𝑡</m:t>
                            </m:r>
                          </m:sub>
                        </m:sSub>
                      </m:num>
                      <m:den>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acc>
                              <m:accPr>
                                <m:chr m:val="̂"/>
                                <m:ctrlPr>
                                  <a:rPr lang="fr-FR" sz="2000" i="1" dirty="0">
                                    <a:latin typeface="Cambria Math" panose="02040503050406030204" pitchFamily="18" charset="0"/>
                                    <a:ea typeface="Cambria Math" panose="02040503050406030204" pitchFamily="18" charset="0"/>
                                  </a:rPr>
                                </m:ctrlPr>
                              </m:accPr>
                              <m:e>
                                <m:r>
                                  <a:rPr lang="fr-FR" sz="2000" i="1" dirty="0">
                                    <a:latin typeface="Cambria Math" panose="02040503050406030204" pitchFamily="18" charset="0"/>
                                    <a:ea typeface="Cambria Math" panose="02040503050406030204" pitchFamily="18" charset="0"/>
                                  </a:rPr>
                                  <m:t>𝑦</m:t>
                                </m:r>
                              </m:e>
                            </m:acc>
                          </m:e>
                          <m:sub>
                            <m:r>
                              <a:rPr lang="fr-FR" sz="2000" i="1" dirty="0">
                                <a:latin typeface="Cambria Math" panose="02040503050406030204" pitchFamily="18" charset="0"/>
                                <a:ea typeface="Cambria Math" panose="02040503050406030204" pitchFamily="18" charset="0"/>
                              </a:rPr>
                              <m:t>𝑡</m:t>
                            </m:r>
                          </m:sub>
                        </m:sSub>
                      </m:den>
                    </m:f>
                    <m:f>
                      <m:fPr>
                        <m:ctrlPr>
                          <a:rPr lang="fr-FR" sz="2000" i="1" dirty="0">
                            <a:latin typeface="Cambria Math" panose="02040503050406030204" pitchFamily="18" charset="0"/>
                            <a:ea typeface="Cambria Math" panose="02040503050406030204" pitchFamily="18" charset="0"/>
                          </a:rPr>
                        </m:ctrlPr>
                      </m:fPr>
                      <m:num>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acc>
                              <m:accPr>
                                <m:chr m:val="̂"/>
                                <m:ctrlPr>
                                  <a:rPr lang="fr-FR" sz="2000" i="1" dirty="0">
                                    <a:latin typeface="Cambria Math" panose="02040503050406030204" pitchFamily="18" charset="0"/>
                                    <a:ea typeface="Cambria Math" panose="02040503050406030204" pitchFamily="18" charset="0"/>
                                  </a:rPr>
                                </m:ctrlPr>
                              </m:accPr>
                              <m:e>
                                <m:r>
                                  <a:rPr lang="fr-FR" sz="2000" i="1" dirty="0">
                                    <a:latin typeface="Cambria Math" panose="02040503050406030204" pitchFamily="18" charset="0"/>
                                    <a:ea typeface="Cambria Math" panose="02040503050406030204" pitchFamily="18" charset="0"/>
                                  </a:rPr>
                                  <m:t>𝑦</m:t>
                                </m:r>
                              </m:e>
                            </m:acc>
                          </m:e>
                          <m:sub>
                            <m:r>
                              <a:rPr lang="fr-FR" sz="2000" i="1" dirty="0">
                                <a:latin typeface="Cambria Math" panose="02040503050406030204" pitchFamily="18" charset="0"/>
                                <a:ea typeface="Cambria Math" panose="02040503050406030204" pitchFamily="18" charset="0"/>
                              </a:rPr>
                              <m:t>𝑡</m:t>
                            </m:r>
                          </m:sub>
                        </m:sSub>
                      </m:num>
                      <m:den>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𝑜</m:t>
                            </m:r>
                          </m:e>
                          <m:sub>
                            <m:r>
                              <a:rPr lang="fr-FR" sz="2000" i="1" dirty="0">
                                <a:latin typeface="Cambria Math" panose="02040503050406030204" pitchFamily="18" charset="0"/>
                                <a:ea typeface="Cambria Math" panose="02040503050406030204" pitchFamily="18" charset="0"/>
                              </a:rPr>
                              <m:t>𝑡</m:t>
                            </m:r>
                          </m:sub>
                        </m:sSub>
                      </m:den>
                    </m:f>
                    <m:f>
                      <m:fPr>
                        <m:ctrlPr>
                          <a:rPr lang="fr-FR" sz="2000" i="1" dirty="0">
                            <a:latin typeface="Cambria Math" panose="02040503050406030204" pitchFamily="18" charset="0"/>
                            <a:ea typeface="Cambria Math" panose="02040503050406030204" pitchFamily="18" charset="0"/>
                          </a:rPr>
                        </m:ctrlPr>
                      </m:fPr>
                      <m:num>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𝑜</m:t>
                            </m:r>
                          </m:e>
                          <m:sub>
                            <m:r>
                              <a:rPr lang="fr-FR" sz="2000" i="1" dirty="0">
                                <a:latin typeface="Cambria Math" panose="02040503050406030204" pitchFamily="18" charset="0"/>
                                <a:ea typeface="Cambria Math" panose="02040503050406030204" pitchFamily="18" charset="0"/>
                              </a:rPr>
                              <m:t>𝑡</m:t>
                            </m:r>
                          </m:sub>
                        </m:sSub>
                      </m:num>
                      <m:den>
                        <m:r>
                          <a:rPr lang="fr-FR" sz="2000" i="1" dirty="0">
                            <a:latin typeface="Cambria Math" panose="02040503050406030204" pitchFamily="18" charset="0"/>
                            <a:ea typeface="Cambria Math" panose="02040503050406030204" pitchFamily="18" charset="0"/>
                          </a:rPr>
                          <m:t>𝜕</m:t>
                        </m:r>
                        <m:r>
                          <a:rPr lang="fr-FR" sz="2000" i="1" dirty="0">
                            <a:latin typeface="Cambria Math" panose="02040503050406030204" pitchFamily="18" charset="0"/>
                            <a:ea typeface="Cambria Math" panose="02040503050406030204" pitchFamily="18" charset="0"/>
                          </a:rPr>
                          <m:t>𝑉</m:t>
                        </m:r>
                      </m:den>
                    </m:f>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acc>
                          <m:accPr>
                            <m:chr m:val="̂"/>
                            <m:ctrlPr>
                              <a:rPr lang="fr-FR" sz="2000" i="1" dirty="0">
                                <a:latin typeface="Cambria Math" panose="02040503050406030204" pitchFamily="18" charset="0"/>
                                <a:ea typeface="Cambria Math" panose="02040503050406030204" pitchFamily="18" charset="0"/>
                              </a:rPr>
                            </m:ctrlPr>
                          </m:accPr>
                          <m:e>
                            <m:r>
                              <a:rPr lang="fr-FR" sz="2000" i="1" dirty="0">
                                <a:latin typeface="Cambria Math" panose="02040503050406030204" pitchFamily="18" charset="0"/>
                                <a:ea typeface="Cambria Math" panose="02040503050406030204" pitchFamily="18" charset="0"/>
                              </a:rPr>
                              <m:t>𝑦</m:t>
                            </m:r>
                          </m:e>
                        </m:acc>
                      </m:e>
                      <m:sub>
                        <m:r>
                          <a:rPr lang="fr-FR" sz="2000" i="1" dirty="0">
                            <a:latin typeface="Cambria Math" panose="02040503050406030204" pitchFamily="18" charset="0"/>
                            <a:ea typeface="Cambria Math" panose="02040503050406030204" pitchFamily="18" charset="0"/>
                          </a:rPr>
                          <m:t>𝑡</m:t>
                        </m:r>
                      </m:sub>
                    </m:sSub>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𝑦</m:t>
                        </m:r>
                      </m:e>
                      <m:sub>
                        <m:r>
                          <a:rPr lang="fr-FR" sz="2000" i="1" dirty="0">
                            <a:latin typeface="Cambria Math" panose="02040503050406030204" pitchFamily="18" charset="0"/>
                            <a:ea typeface="Cambria Math" panose="02040503050406030204" pitchFamily="18" charset="0"/>
                          </a:rPr>
                          <m:t>𝑡</m:t>
                        </m:r>
                      </m:sub>
                    </m:sSub>
                    <m:r>
                      <a:rPr lang="fr-FR" sz="2000" i="1" dirty="0">
                        <a:latin typeface="Cambria Math" panose="02040503050406030204" pitchFamily="18" charset="0"/>
                        <a:ea typeface="Cambria Math" panose="02040503050406030204" pitchFamily="18" charset="0"/>
                      </a:rPr>
                      <m:t>)</m:t>
                    </m:r>
                  </m:oMath>
                </a14:m>
                <a:r>
                  <a:rPr lang="fr-FR" sz="2000" i="1" dirty="0">
                    <a:latin typeface="Cambria Math" panose="02040503050406030204" pitchFamily="18" charset="0"/>
                    <a:ea typeface="Cambria Math" panose="02040503050406030204" pitchFamily="18" charset="0"/>
                  </a:rPr>
                  <a:t> </a:t>
                </a:r>
                <a14:m>
                  <m:oMath xmlns:m="http://schemas.openxmlformats.org/officeDocument/2006/math">
                    <m:f>
                      <m:fPr>
                        <m:ctrlPr>
                          <a:rPr lang="fr-FR" sz="2000" i="1" dirty="0">
                            <a:latin typeface="Cambria Math" panose="02040503050406030204" pitchFamily="18" charset="0"/>
                            <a:ea typeface="Cambria Math" panose="02040503050406030204" pitchFamily="18" charset="0"/>
                          </a:rPr>
                        </m:ctrlPr>
                      </m:fPr>
                      <m:num>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𝑜</m:t>
                            </m:r>
                          </m:e>
                          <m:sub>
                            <m:r>
                              <a:rPr lang="fr-FR" sz="2000" i="1" dirty="0">
                                <a:latin typeface="Cambria Math" panose="02040503050406030204" pitchFamily="18" charset="0"/>
                                <a:ea typeface="Cambria Math" panose="02040503050406030204" pitchFamily="18" charset="0"/>
                              </a:rPr>
                              <m:t>𝑡</m:t>
                            </m:r>
                          </m:sub>
                        </m:sSub>
                      </m:num>
                      <m:den>
                        <m:r>
                          <a:rPr lang="fr-FR" sz="2000" i="1" dirty="0">
                            <a:latin typeface="Cambria Math" panose="02040503050406030204" pitchFamily="18" charset="0"/>
                            <a:ea typeface="Cambria Math" panose="02040503050406030204" pitchFamily="18" charset="0"/>
                          </a:rPr>
                          <m:t>𝜕</m:t>
                        </m:r>
                        <m:r>
                          <a:rPr lang="fr-FR" sz="2000" i="1" dirty="0">
                            <a:latin typeface="Cambria Math" panose="02040503050406030204" pitchFamily="18" charset="0"/>
                            <a:ea typeface="Cambria Math" panose="02040503050406030204" pitchFamily="18" charset="0"/>
                          </a:rPr>
                          <m:t>𝑉</m:t>
                        </m:r>
                      </m:den>
                    </m:f>
                    <m:r>
                      <a:rPr lang="fr-FR" sz="2000" i="1" dirty="0">
                        <a:latin typeface="Cambria Math" panose="02040503050406030204" pitchFamily="18" charset="0"/>
                        <a:ea typeface="Cambria Math" panose="02040503050406030204" pitchFamily="18" charset="0"/>
                      </a:rPr>
                      <m:t>=</m:t>
                    </m:r>
                    <m:d>
                      <m:dPr>
                        <m:ctrlPr>
                          <a:rPr lang="fr-FR" sz="2000" i="1" dirty="0">
                            <a:latin typeface="Cambria Math" panose="02040503050406030204" pitchFamily="18" charset="0"/>
                            <a:ea typeface="Cambria Math" panose="02040503050406030204" pitchFamily="18" charset="0"/>
                          </a:rPr>
                        </m:ctrlPr>
                      </m:dPr>
                      <m:e>
                        <m:sSub>
                          <m:sSubPr>
                            <m:ctrlPr>
                              <a:rPr lang="fr-FR" sz="2000" i="1" dirty="0">
                                <a:latin typeface="Cambria Math" panose="02040503050406030204" pitchFamily="18" charset="0"/>
                                <a:ea typeface="Cambria Math" panose="02040503050406030204" pitchFamily="18" charset="0"/>
                              </a:rPr>
                            </m:ctrlPr>
                          </m:sSubPr>
                          <m:e>
                            <m:acc>
                              <m:accPr>
                                <m:chr m:val="̂"/>
                                <m:ctrlPr>
                                  <a:rPr lang="fr-FR" sz="2000" i="1" dirty="0">
                                    <a:latin typeface="Cambria Math" panose="02040503050406030204" pitchFamily="18" charset="0"/>
                                    <a:ea typeface="Cambria Math" panose="02040503050406030204" pitchFamily="18" charset="0"/>
                                  </a:rPr>
                                </m:ctrlPr>
                              </m:accPr>
                              <m:e>
                                <m:r>
                                  <a:rPr lang="fr-FR" sz="2000" i="1" dirty="0">
                                    <a:latin typeface="Cambria Math" panose="02040503050406030204" pitchFamily="18" charset="0"/>
                                    <a:ea typeface="Cambria Math" panose="02040503050406030204" pitchFamily="18" charset="0"/>
                                  </a:rPr>
                                  <m:t>𝑦</m:t>
                                </m:r>
                              </m:e>
                            </m:acc>
                          </m:e>
                          <m:sub>
                            <m:r>
                              <a:rPr lang="fr-FR" sz="2000" i="1" dirty="0">
                                <a:latin typeface="Cambria Math" panose="02040503050406030204" pitchFamily="18" charset="0"/>
                                <a:ea typeface="Cambria Math" panose="02040503050406030204" pitchFamily="18" charset="0"/>
                              </a:rPr>
                              <m:t>𝑡</m:t>
                            </m:r>
                          </m:sub>
                        </m:sSub>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𝑦</m:t>
                            </m:r>
                          </m:e>
                          <m:sub>
                            <m:r>
                              <a:rPr lang="fr-FR" sz="2000" i="1" dirty="0">
                                <a:latin typeface="Cambria Math" panose="02040503050406030204" pitchFamily="18" charset="0"/>
                                <a:ea typeface="Cambria Math" panose="02040503050406030204" pitchFamily="18" charset="0"/>
                              </a:rPr>
                              <m:t>𝑡</m:t>
                            </m:r>
                          </m:sub>
                        </m:sSub>
                      </m:e>
                    </m:d>
                    <m:r>
                      <m:rPr>
                        <m:nor/>
                      </m:rPr>
                      <a:rPr lang="fr-FR" sz="2000" i="1" dirty="0">
                        <a:latin typeface="Cambria Math" panose="02040503050406030204" pitchFamily="18" charset="0"/>
                        <a:ea typeface="Cambria Math" panose="02040503050406030204" pitchFamily="18" charset="0"/>
                      </a:rPr>
                      <m:t> </m:t>
                    </m:r>
                    <m:f>
                      <m:fPr>
                        <m:ctrlPr>
                          <a:rPr lang="fr-FR" sz="2000" i="1" dirty="0">
                            <a:latin typeface="Cambria Math" panose="02040503050406030204" pitchFamily="18" charset="0"/>
                            <a:ea typeface="Cambria Math" panose="02040503050406030204" pitchFamily="18" charset="0"/>
                          </a:rPr>
                        </m:ctrlPr>
                      </m:fPr>
                      <m:num>
                        <m:r>
                          <a:rPr lang="fr-FR" sz="2000" i="1" dirty="0">
                            <a:latin typeface="Cambria Math" panose="02040503050406030204" pitchFamily="18" charset="0"/>
                            <a:ea typeface="Cambria Math" panose="02040503050406030204" pitchFamily="18" charset="0"/>
                          </a:rPr>
                          <m:t>𝜕</m:t>
                        </m:r>
                        <m:r>
                          <a:rPr lang="fr-FR" sz="2000" i="1" dirty="0">
                            <a:latin typeface="Cambria Math" panose="02040503050406030204" pitchFamily="18" charset="0"/>
                            <a:ea typeface="Cambria Math" panose="02040503050406030204" pitchFamily="18" charset="0"/>
                          </a:rPr>
                          <m:t>𝑉</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h</m:t>
                            </m:r>
                          </m:e>
                          <m:sub>
                            <m:r>
                              <a:rPr lang="fr-FR" sz="2000" i="1" dirty="0">
                                <a:latin typeface="Cambria Math" panose="02040503050406030204" pitchFamily="18" charset="0"/>
                                <a:ea typeface="Cambria Math" panose="02040503050406030204" pitchFamily="18" charset="0"/>
                              </a:rPr>
                              <m:t>𝑡</m:t>
                            </m:r>
                          </m:sub>
                        </m:sSub>
                      </m:num>
                      <m:den>
                        <m:r>
                          <a:rPr lang="fr-FR" sz="2000" i="1" dirty="0">
                            <a:latin typeface="Cambria Math" panose="02040503050406030204" pitchFamily="18" charset="0"/>
                            <a:ea typeface="Cambria Math" panose="02040503050406030204" pitchFamily="18" charset="0"/>
                          </a:rPr>
                          <m:t>𝜕</m:t>
                        </m:r>
                        <m:r>
                          <a:rPr lang="fr-FR" sz="2000" i="1" dirty="0">
                            <a:latin typeface="Cambria Math" panose="02040503050406030204" pitchFamily="18" charset="0"/>
                            <a:ea typeface="Cambria Math" panose="02040503050406030204" pitchFamily="18" charset="0"/>
                          </a:rPr>
                          <m:t>𝑉</m:t>
                        </m:r>
                      </m:den>
                    </m:f>
                    <m:r>
                      <a:rPr lang="fr-FR" sz="2000" i="1" dirty="0">
                        <a:latin typeface="Cambria Math" panose="02040503050406030204" pitchFamily="18" charset="0"/>
                        <a:ea typeface="Cambria Math" panose="02040503050406030204" pitchFamily="18" charset="0"/>
                      </a:rPr>
                      <m:t>=</m:t>
                    </m:r>
                  </m:oMath>
                </a14:m>
                <a:r>
                  <a:rPr lang="fr-FR" sz="2000" i="1" dirty="0">
                    <a:latin typeface="Cambria Math" panose="02040503050406030204" pitchFamily="18" charset="0"/>
                    <a:ea typeface="Cambria Math" panose="02040503050406030204" pitchFamily="18" charset="0"/>
                  </a:rPr>
                  <a:t> </a:t>
                </a:r>
                <a14:m>
                  <m:oMath xmlns:m="http://schemas.openxmlformats.org/officeDocument/2006/math">
                    <m:d>
                      <m:dPr>
                        <m:ctrlPr>
                          <a:rPr lang="fr-FR" sz="2000" i="1" dirty="0">
                            <a:latin typeface="Cambria Math" panose="02040503050406030204" pitchFamily="18" charset="0"/>
                            <a:ea typeface="Cambria Math" panose="02040503050406030204" pitchFamily="18" charset="0"/>
                          </a:rPr>
                        </m:ctrlPr>
                      </m:dPr>
                      <m:e>
                        <m:sSub>
                          <m:sSubPr>
                            <m:ctrlPr>
                              <a:rPr lang="fr-FR" sz="2000" i="1" dirty="0">
                                <a:latin typeface="Cambria Math" panose="02040503050406030204" pitchFamily="18" charset="0"/>
                                <a:ea typeface="Cambria Math" panose="02040503050406030204" pitchFamily="18" charset="0"/>
                              </a:rPr>
                            </m:ctrlPr>
                          </m:sSubPr>
                          <m:e>
                            <m:acc>
                              <m:accPr>
                                <m:chr m:val="̂"/>
                                <m:ctrlPr>
                                  <a:rPr lang="fr-FR" sz="2000" i="1" dirty="0">
                                    <a:latin typeface="Cambria Math" panose="02040503050406030204" pitchFamily="18" charset="0"/>
                                    <a:ea typeface="Cambria Math" panose="02040503050406030204" pitchFamily="18" charset="0"/>
                                  </a:rPr>
                                </m:ctrlPr>
                              </m:accPr>
                              <m:e>
                                <m:r>
                                  <a:rPr lang="fr-FR" sz="2000" i="1" dirty="0">
                                    <a:latin typeface="Cambria Math" panose="02040503050406030204" pitchFamily="18" charset="0"/>
                                    <a:ea typeface="Cambria Math" panose="02040503050406030204" pitchFamily="18" charset="0"/>
                                  </a:rPr>
                                  <m:t>𝑦</m:t>
                                </m:r>
                              </m:e>
                            </m:acc>
                          </m:e>
                          <m:sub>
                            <m:r>
                              <a:rPr lang="fr-FR" sz="2000" i="1" dirty="0">
                                <a:latin typeface="Cambria Math" panose="02040503050406030204" pitchFamily="18" charset="0"/>
                                <a:ea typeface="Cambria Math" panose="02040503050406030204" pitchFamily="18" charset="0"/>
                              </a:rPr>
                              <m:t>𝑡</m:t>
                            </m:r>
                          </m:sub>
                        </m:sSub>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𝑦</m:t>
                            </m:r>
                          </m:e>
                          <m:sub>
                            <m:r>
                              <a:rPr lang="fr-FR" sz="2000" i="1" dirty="0">
                                <a:latin typeface="Cambria Math" panose="02040503050406030204" pitchFamily="18" charset="0"/>
                                <a:ea typeface="Cambria Math" panose="02040503050406030204" pitchFamily="18" charset="0"/>
                              </a:rPr>
                              <m:t>𝑡</m:t>
                            </m:r>
                          </m:sub>
                        </m:sSub>
                      </m:e>
                    </m:d>
                    <m:sSubSup>
                      <m:sSubSupPr>
                        <m:ctrlPr>
                          <a:rPr lang="fr-FR" sz="2000" i="1" dirty="0">
                            <a:latin typeface="Cambria Math" panose="02040503050406030204" pitchFamily="18" charset="0"/>
                            <a:ea typeface="Cambria Math" panose="02040503050406030204" pitchFamily="18" charset="0"/>
                          </a:rPr>
                        </m:ctrlPr>
                      </m:sSubSupPr>
                      <m:e>
                        <m:r>
                          <a:rPr lang="fr-FR" sz="2000" i="1" dirty="0">
                            <a:latin typeface="Cambria Math" panose="02040503050406030204" pitchFamily="18" charset="0"/>
                            <a:ea typeface="Cambria Math" panose="02040503050406030204" pitchFamily="18" charset="0"/>
                          </a:rPr>
                          <m:t>h</m:t>
                        </m:r>
                      </m:e>
                      <m:sub>
                        <m:r>
                          <a:rPr lang="fr-FR" sz="2000" i="1" dirty="0">
                            <a:latin typeface="Cambria Math" panose="02040503050406030204" pitchFamily="18" charset="0"/>
                            <a:ea typeface="Cambria Math" panose="02040503050406030204" pitchFamily="18" charset="0"/>
                          </a:rPr>
                          <m:t>𝑡</m:t>
                        </m:r>
                      </m:sub>
                      <m:sup>
                        <m:r>
                          <a:rPr lang="fr-FR" sz="2000" i="1" dirty="0">
                            <a:latin typeface="Cambria Math" panose="02040503050406030204" pitchFamily="18" charset="0"/>
                            <a:ea typeface="Cambria Math" panose="02040503050406030204" pitchFamily="18" charset="0"/>
                          </a:rPr>
                          <m:t>𝑇</m:t>
                        </m:r>
                      </m:sup>
                    </m:sSubSup>
                    <m:r>
                      <m:rPr>
                        <m:nor/>
                      </m:rPr>
                      <a:rPr lang="fr-FR" sz="2000" i="1" dirty="0">
                        <a:latin typeface="Cambria Math" panose="02040503050406030204" pitchFamily="18" charset="0"/>
                        <a:ea typeface="Cambria Math" panose="02040503050406030204" pitchFamily="18" charset="0"/>
                      </a:rPr>
                      <m:t>  </m:t>
                    </m:r>
                  </m:oMath>
                </a14:m>
                <a:endParaRPr lang="en-GB" sz="1600" i="1" dirty="0">
                  <a:latin typeface="Cambria Math" panose="02040503050406030204" pitchFamily="18" charset="0"/>
                  <a:ea typeface="Cambria Math" panose="02040503050406030204" pitchFamily="18" charset="0"/>
                </a:endParaRPr>
              </a:p>
              <a:p>
                <a:endParaRPr lang="en-GB" sz="1600" i="1" noProof="0" dirty="0">
                  <a:latin typeface="Cambria Math" panose="02040503050406030204" pitchFamily="18" charset="0"/>
                  <a:ea typeface="Cambria Math" panose="02040503050406030204" pitchFamily="18" charset="0"/>
                </a:endParaRPr>
              </a:p>
              <a:p>
                <a:endParaRPr lang="en-GB" sz="1600" noProof="0" dirty="0"/>
              </a:p>
            </p:txBody>
          </p:sp>
        </mc:Choice>
        <mc:Fallback xmlns="">
          <p:sp>
            <p:nvSpPr>
              <p:cNvPr id="89" name="ZoneTexte 88">
                <a:extLst>
                  <a:ext uri="{FF2B5EF4-FFF2-40B4-BE49-F238E27FC236}">
                    <a16:creationId xmlns:a16="http://schemas.microsoft.com/office/drawing/2014/main" id="{17EE6674-4083-6AA1-23C3-F57A112795F9}"/>
                  </a:ext>
                </a:extLst>
              </p:cNvPr>
              <p:cNvSpPr txBox="1">
                <a:spLocks noRot="1" noChangeAspect="1" noMove="1" noResize="1" noEditPoints="1" noAdjustHandles="1" noChangeArrowheads="1" noChangeShapeType="1" noTextEdit="1"/>
              </p:cNvSpPr>
              <p:nvPr/>
            </p:nvSpPr>
            <p:spPr>
              <a:xfrm>
                <a:off x="1670023" y="2249617"/>
                <a:ext cx="9821766" cy="2524409"/>
              </a:xfrm>
              <a:prstGeom prst="rect">
                <a:avLst/>
              </a:prstGeom>
              <a:blipFill>
                <a:blip r:embed="rId4"/>
                <a:stretch>
                  <a:fillRect l="-116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F06B4242-1258-E43D-39B2-492E5C99FE43}"/>
                  </a:ext>
                </a:extLst>
              </p:cNvPr>
              <p:cNvSpPr txBox="1"/>
              <p:nvPr/>
            </p:nvSpPr>
            <p:spPr>
              <a:xfrm>
                <a:off x="229581" y="4260024"/>
                <a:ext cx="42934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Sub>
                    </m:oMath>
                  </m:oMathPara>
                </a14:m>
                <a:endParaRPr lang="en-GB" sz="1600" dirty="0"/>
              </a:p>
            </p:txBody>
          </p:sp>
        </mc:Choice>
        <mc:Fallback xmlns="">
          <p:sp>
            <p:nvSpPr>
              <p:cNvPr id="5" name="ZoneTexte 4">
                <a:extLst>
                  <a:ext uri="{FF2B5EF4-FFF2-40B4-BE49-F238E27FC236}">
                    <a16:creationId xmlns:a16="http://schemas.microsoft.com/office/drawing/2014/main" id="{F06B4242-1258-E43D-39B2-492E5C99FE43}"/>
                  </a:ext>
                </a:extLst>
              </p:cNvPr>
              <p:cNvSpPr txBox="1">
                <a:spLocks noRot="1" noChangeAspect="1" noMove="1" noResize="1" noEditPoints="1" noAdjustHandles="1" noChangeArrowheads="1" noChangeShapeType="1" noTextEdit="1"/>
              </p:cNvSpPr>
              <p:nvPr/>
            </p:nvSpPr>
            <p:spPr>
              <a:xfrm>
                <a:off x="229581" y="4260024"/>
                <a:ext cx="429348" cy="246221"/>
              </a:xfrm>
              <a:prstGeom prst="rect">
                <a:avLst/>
              </a:prstGeom>
              <a:blipFill>
                <a:blip r:embed="rId5"/>
                <a:stretch>
                  <a:fillRect l="-14706" r="-5882"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ED42CFD0-B4C8-1684-D901-AA1B654E8EE3}"/>
                  </a:ext>
                </a:extLst>
              </p:cNvPr>
              <p:cNvSpPr txBox="1"/>
              <p:nvPr/>
            </p:nvSpPr>
            <p:spPr>
              <a:xfrm>
                <a:off x="771207" y="5409180"/>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sub>
                      </m:sSub>
                    </m:oMath>
                  </m:oMathPara>
                </a14:m>
                <a:endParaRPr lang="en-GB" sz="1600" dirty="0"/>
              </a:p>
            </p:txBody>
          </p:sp>
        </mc:Choice>
        <mc:Fallback xmlns="">
          <p:sp>
            <p:nvSpPr>
              <p:cNvPr id="8" name="ZoneTexte 7">
                <a:extLst>
                  <a:ext uri="{FF2B5EF4-FFF2-40B4-BE49-F238E27FC236}">
                    <a16:creationId xmlns:a16="http://schemas.microsoft.com/office/drawing/2014/main" id="{ED42CFD0-B4C8-1684-D901-AA1B654E8EE3}"/>
                  </a:ext>
                </a:extLst>
              </p:cNvPr>
              <p:cNvSpPr txBox="1">
                <a:spLocks noRot="1" noChangeAspect="1" noMove="1" noResize="1" noEditPoints="1" noAdjustHandles="1" noChangeArrowheads="1" noChangeShapeType="1" noTextEdit="1"/>
              </p:cNvSpPr>
              <p:nvPr/>
            </p:nvSpPr>
            <p:spPr>
              <a:xfrm>
                <a:off x="771207" y="5409180"/>
                <a:ext cx="424732" cy="246221"/>
              </a:xfrm>
              <a:prstGeom prst="rect">
                <a:avLst/>
              </a:prstGeom>
              <a:blipFill>
                <a:blip r:embed="rId6"/>
                <a:stretch>
                  <a:fillRect b="-9524"/>
                </a:stretch>
              </a:blipFill>
            </p:spPr>
            <p:txBody>
              <a:bodyPr/>
              <a:lstStyle/>
              <a:p>
                <a:r>
                  <a:rPr lang="en-GB">
                    <a:noFill/>
                  </a:rPr>
                  <a:t> </a:t>
                </a:r>
              </a:p>
            </p:txBody>
          </p:sp>
        </mc:Fallback>
      </mc:AlternateContent>
      <p:sp>
        <p:nvSpPr>
          <p:cNvPr id="9" name="Rectangle : coins arrondis 8">
            <a:extLst>
              <a:ext uri="{FF2B5EF4-FFF2-40B4-BE49-F238E27FC236}">
                <a16:creationId xmlns:a16="http://schemas.microsoft.com/office/drawing/2014/main" id="{D7C9AF4E-3F8D-2845-97E7-E9D0DED27602}"/>
              </a:ext>
            </a:extLst>
          </p:cNvPr>
          <p:cNvSpPr/>
          <p:nvPr/>
        </p:nvSpPr>
        <p:spPr>
          <a:xfrm>
            <a:off x="700211" y="4125637"/>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2" name="Connecteur droit avec flèche 11">
            <a:extLst>
              <a:ext uri="{FF2B5EF4-FFF2-40B4-BE49-F238E27FC236}">
                <a16:creationId xmlns:a16="http://schemas.microsoft.com/office/drawing/2014/main" id="{DAEA7F58-E02D-F673-5291-B14045342421}"/>
              </a:ext>
            </a:extLst>
          </p:cNvPr>
          <p:cNvCxnSpPr>
            <a:cxnSpLocks/>
            <a:stCxn id="8" idx="0"/>
            <a:endCxn id="9" idx="2"/>
          </p:cNvCxnSpPr>
          <p:nvPr/>
        </p:nvCxnSpPr>
        <p:spPr>
          <a:xfrm flipH="1" flipV="1">
            <a:off x="979611" y="4887637"/>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necteur droit avec flèche 13">
            <a:extLst>
              <a:ext uri="{FF2B5EF4-FFF2-40B4-BE49-F238E27FC236}">
                <a16:creationId xmlns:a16="http://schemas.microsoft.com/office/drawing/2014/main" id="{C046E7C9-8FA2-CB2A-E3F2-072D94CF9E7A}"/>
              </a:ext>
            </a:extLst>
          </p:cNvPr>
          <p:cNvCxnSpPr>
            <a:cxnSpLocks/>
          </p:cNvCxnSpPr>
          <p:nvPr/>
        </p:nvCxnSpPr>
        <p:spPr>
          <a:xfrm>
            <a:off x="349017" y="4635451"/>
            <a:ext cx="324000"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E1CF938E-357B-6B84-AA42-49A59826BF31}"/>
              </a:ext>
            </a:extLst>
          </p:cNvPr>
          <p:cNvSpPr txBox="1"/>
          <p:nvPr/>
        </p:nvSpPr>
        <p:spPr>
          <a:xfrm>
            <a:off x="1035491" y="4951375"/>
            <a:ext cx="304800" cy="307777"/>
          </a:xfrm>
          <a:prstGeom prst="rect">
            <a:avLst/>
          </a:prstGeom>
          <a:noFill/>
        </p:spPr>
        <p:txBody>
          <a:bodyPr wrap="square" rtlCol="0">
            <a:spAutoFit/>
          </a:bodyPr>
          <a:lstStyle/>
          <a:p>
            <a:r>
              <a:rPr lang="en-GB" sz="1400" b="1" dirty="0">
                <a:solidFill>
                  <a:srgbClr val="0070C0"/>
                </a:solidFill>
              </a:rPr>
              <a:t>U</a:t>
            </a:r>
          </a:p>
        </p:txBody>
      </p:sp>
      <p:sp>
        <p:nvSpPr>
          <p:cNvPr id="18" name="ZoneTexte 17">
            <a:extLst>
              <a:ext uri="{FF2B5EF4-FFF2-40B4-BE49-F238E27FC236}">
                <a16:creationId xmlns:a16="http://schemas.microsoft.com/office/drawing/2014/main" id="{11588097-43C5-1E60-593E-D9639815141E}"/>
              </a:ext>
            </a:extLst>
          </p:cNvPr>
          <p:cNvSpPr txBox="1"/>
          <p:nvPr/>
        </p:nvSpPr>
        <p:spPr>
          <a:xfrm>
            <a:off x="291933" y="4643598"/>
            <a:ext cx="304800" cy="307777"/>
          </a:xfrm>
          <a:prstGeom prst="rect">
            <a:avLst/>
          </a:prstGeom>
          <a:noFill/>
        </p:spPr>
        <p:txBody>
          <a:bodyPr wrap="square" rtlCol="0">
            <a:spAutoFit/>
          </a:bodyPr>
          <a:lstStyle/>
          <a:p>
            <a:r>
              <a:rPr lang="en-GB" sz="1400" b="1" dirty="0">
                <a:solidFill>
                  <a:srgbClr val="0070C0"/>
                </a:solidFill>
              </a:rPr>
              <a:t>W</a:t>
            </a:r>
          </a:p>
        </p:txBody>
      </p:sp>
      <mc:AlternateContent xmlns:mc="http://schemas.openxmlformats.org/markup-compatibility/2006" xmlns:a14="http://schemas.microsoft.com/office/drawing/2010/main">
        <mc:Choice Requires="a14">
          <p:sp>
            <p:nvSpPr>
              <p:cNvPr id="21" name="ZoneTexte 20">
                <a:extLst>
                  <a:ext uri="{FF2B5EF4-FFF2-40B4-BE49-F238E27FC236}">
                    <a16:creationId xmlns:a16="http://schemas.microsoft.com/office/drawing/2014/main" id="{2461B77F-076F-0143-930A-EBBA6CE3ECB7}"/>
                  </a:ext>
                </a:extLst>
              </p:cNvPr>
              <p:cNvSpPr txBox="1"/>
              <p:nvPr/>
            </p:nvSpPr>
            <p:spPr>
              <a:xfrm>
                <a:off x="875432" y="3272526"/>
                <a:ext cx="22916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sub>
                      </m:sSub>
                    </m:oMath>
                  </m:oMathPara>
                </a14:m>
                <a:endParaRPr lang="en-GB" sz="1600" dirty="0"/>
              </a:p>
            </p:txBody>
          </p:sp>
        </mc:Choice>
        <mc:Fallback xmlns="">
          <p:sp>
            <p:nvSpPr>
              <p:cNvPr id="21" name="ZoneTexte 20">
                <a:extLst>
                  <a:ext uri="{FF2B5EF4-FFF2-40B4-BE49-F238E27FC236}">
                    <a16:creationId xmlns:a16="http://schemas.microsoft.com/office/drawing/2014/main" id="{2461B77F-076F-0143-930A-EBBA6CE3ECB7}"/>
                  </a:ext>
                </a:extLst>
              </p:cNvPr>
              <p:cNvSpPr txBox="1">
                <a:spLocks noRot="1" noChangeAspect="1" noMove="1" noResize="1" noEditPoints="1" noAdjustHandles="1" noChangeArrowheads="1" noChangeShapeType="1" noTextEdit="1"/>
              </p:cNvSpPr>
              <p:nvPr/>
            </p:nvSpPr>
            <p:spPr>
              <a:xfrm>
                <a:off x="875432" y="3272526"/>
                <a:ext cx="229165" cy="246221"/>
              </a:xfrm>
              <a:prstGeom prst="rect">
                <a:avLst/>
              </a:prstGeom>
              <a:blipFill>
                <a:blip r:embed="rId7"/>
                <a:stretch>
                  <a:fillRect l="-27778" t="-15000" r="-5556" b="-25000"/>
                </a:stretch>
              </a:blipFill>
            </p:spPr>
            <p:txBody>
              <a:bodyPr/>
              <a:lstStyle/>
              <a:p>
                <a:r>
                  <a:rPr lang="en-GB">
                    <a:noFill/>
                  </a:rPr>
                  <a:t> </a:t>
                </a:r>
              </a:p>
            </p:txBody>
          </p:sp>
        </mc:Fallback>
      </mc:AlternateContent>
      <p:cxnSp>
        <p:nvCxnSpPr>
          <p:cNvPr id="23" name="Connecteur droit avec flèche 22">
            <a:extLst>
              <a:ext uri="{FF2B5EF4-FFF2-40B4-BE49-F238E27FC236}">
                <a16:creationId xmlns:a16="http://schemas.microsoft.com/office/drawing/2014/main" id="{66D7E0E4-12E9-39E2-9AC3-6F4F1481D819}"/>
              </a:ext>
            </a:extLst>
          </p:cNvPr>
          <p:cNvCxnSpPr>
            <a:cxnSpLocks/>
          </p:cNvCxnSpPr>
          <p:nvPr/>
        </p:nvCxnSpPr>
        <p:spPr>
          <a:xfrm flipV="1">
            <a:off x="993404" y="3850333"/>
            <a:ext cx="3962" cy="252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ZoneTexte 24">
            <a:extLst>
              <a:ext uri="{FF2B5EF4-FFF2-40B4-BE49-F238E27FC236}">
                <a16:creationId xmlns:a16="http://schemas.microsoft.com/office/drawing/2014/main" id="{FF606203-8B4D-40B6-9CB4-2EE2C8424DFA}"/>
              </a:ext>
            </a:extLst>
          </p:cNvPr>
          <p:cNvSpPr txBox="1"/>
          <p:nvPr/>
        </p:nvSpPr>
        <p:spPr>
          <a:xfrm>
            <a:off x="1053370" y="3876334"/>
            <a:ext cx="304800" cy="307777"/>
          </a:xfrm>
          <a:prstGeom prst="rect">
            <a:avLst/>
          </a:prstGeom>
          <a:noFill/>
        </p:spPr>
        <p:txBody>
          <a:bodyPr wrap="square" rtlCol="0">
            <a:spAutoFit/>
          </a:bodyPr>
          <a:lstStyle/>
          <a:p>
            <a:r>
              <a:rPr lang="en-GB" sz="1400" b="1" dirty="0">
                <a:solidFill>
                  <a:srgbClr val="0070C0"/>
                </a:solidFill>
              </a:rPr>
              <a:t>V</a:t>
            </a:r>
          </a:p>
        </p:txBody>
      </p:sp>
      <mc:AlternateContent xmlns:mc="http://schemas.openxmlformats.org/markup-compatibility/2006" xmlns:a14="http://schemas.microsoft.com/office/drawing/2010/main">
        <mc:Choice Requires="a14">
          <p:sp>
            <p:nvSpPr>
              <p:cNvPr id="28" name="ZoneTexte 27">
                <a:extLst>
                  <a:ext uri="{FF2B5EF4-FFF2-40B4-BE49-F238E27FC236}">
                    <a16:creationId xmlns:a16="http://schemas.microsoft.com/office/drawing/2014/main" id="{CBBB99C1-42AD-0E50-6FA2-1E8B650D72F5}"/>
                  </a:ext>
                </a:extLst>
              </p:cNvPr>
              <p:cNvSpPr txBox="1"/>
              <p:nvPr/>
            </p:nvSpPr>
            <p:spPr>
              <a:xfrm>
                <a:off x="879548" y="2885031"/>
                <a:ext cx="22897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solidFill>
                                <a:srgbClr val="C00000"/>
                              </a:solidFill>
                              <a:latin typeface="Cambria Math" panose="02040503050406030204" pitchFamily="18" charset="0"/>
                            </a:rPr>
                          </m:ctrlPr>
                        </m:sSubPr>
                        <m:e>
                          <m:r>
                            <a:rPr lang="fr-FR" sz="1600" b="0" i="1" smtClean="0">
                              <a:solidFill>
                                <a:srgbClr val="C00000"/>
                              </a:solidFill>
                              <a:latin typeface="Cambria Math" panose="02040503050406030204" pitchFamily="18" charset="0"/>
                            </a:rPr>
                            <m:t>𝐿</m:t>
                          </m:r>
                        </m:e>
                        <m:sub>
                          <m:r>
                            <a:rPr lang="fr-FR" sz="1600" b="0" i="1" smtClean="0">
                              <a:solidFill>
                                <a:srgbClr val="C00000"/>
                              </a:solidFill>
                              <a:latin typeface="Cambria Math" panose="02040503050406030204" pitchFamily="18" charset="0"/>
                            </a:rPr>
                            <m:t>𝑡</m:t>
                          </m:r>
                        </m:sub>
                      </m:sSub>
                    </m:oMath>
                  </m:oMathPara>
                </a14:m>
                <a:endParaRPr lang="en-GB" sz="1600" dirty="0">
                  <a:solidFill>
                    <a:srgbClr val="C00000"/>
                  </a:solidFill>
                </a:endParaRPr>
              </a:p>
            </p:txBody>
          </p:sp>
        </mc:Choice>
        <mc:Fallback xmlns="">
          <p:sp>
            <p:nvSpPr>
              <p:cNvPr id="28" name="ZoneTexte 27">
                <a:extLst>
                  <a:ext uri="{FF2B5EF4-FFF2-40B4-BE49-F238E27FC236}">
                    <a16:creationId xmlns:a16="http://schemas.microsoft.com/office/drawing/2014/main" id="{CBBB99C1-42AD-0E50-6FA2-1E8B650D72F5}"/>
                  </a:ext>
                </a:extLst>
              </p:cNvPr>
              <p:cNvSpPr txBox="1">
                <a:spLocks noRot="1" noChangeAspect="1" noMove="1" noResize="1" noEditPoints="1" noAdjustHandles="1" noChangeArrowheads="1" noChangeShapeType="1" noTextEdit="1"/>
              </p:cNvSpPr>
              <p:nvPr/>
            </p:nvSpPr>
            <p:spPr>
              <a:xfrm>
                <a:off x="879548" y="2885031"/>
                <a:ext cx="228972" cy="246221"/>
              </a:xfrm>
              <a:prstGeom prst="rect">
                <a:avLst/>
              </a:prstGeom>
              <a:blipFill>
                <a:blip r:embed="rId8"/>
                <a:stretch>
                  <a:fillRect l="-21053" r="-5263" b="-1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ZoneTexte 28">
                <a:extLst>
                  <a:ext uri="{FF2B5EF4-FFF2-40B4-BE49-F238E27FC236}">
                    <a16:creationId xmlns:a16="http://schemas.microsoft.com/office/drawing/2014/main" id="{6472FA3E-85B6-3D64-3AC1-CFAD4C688B31}"/>
                  </a:ext>
                </a:extLst>
              </p:cNvPr>
              <p:cNvSpPr txBox="1"/>
              <p:nvPr/>
            </p:nvSpPr>
            <p:spPr>
              <a:xfrm>
                <a:off x="887158" y="3605790"/>
                <a:ext cx="22243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𝑜</m:t>
                          </m:r>
                        </m:e>
                        <m:sub>
                          <m:r>
                            <a:rPr lang="fr-FR" sz="1600" b="0" i="1" smtClean="0">
                              <a:latin typeface="Cambria Math" panose="02040503050406030204" pitchFamily="18" charset="0"/>
                            </a:rPr>
                            <m:t>𝑡</m:t>
                          </m:r>
                        </m:sub>
                      </m:sSub>
                    </m:oMath>
                  </m:oMathPara>
                </a14:m>
                <a:endParaRPr lang="en-GB" sz="1600" dirty="0"/>
              </a:p>
            </p:txBody>
          </p:sp>
        </mc:Choice>
        <mc:Fallback xmlns="">
          <p:sp>
            <p:nvSpPr>
              <p:cNvPr id="29" name="ZoneTexte 28">
                <a:extLst>
                  <a:ext uri="{FF2B5EF4-FFF2-40B4-BE49-F238E27FC236}">
                    <a16:creationId xmlns:a16="http://schemas.microsoft.com/office/drawing/2014/main" id="{6472FA3E-85B6-3D64-3AC1-CFAD4C688B31}"/>
                  </a:ext>
                </a:extLst>
              </p:cNvPr>
              <p:cNvSpPr txBox="1">
                <a:spLocks noRot="1" noChangeAspect="1" noMove="1" noResize="1" noEditPoints="1" noAdjustHandles="1" noChangeArrowheads="1" noChangeShapeType="1" noTextEdit="1"/>
              </p:cNvSpPr>
              <p:nvPr/>
            </p:nvSpPr>
            <p:spPr>
              <a:xfrm>
                <a:off x="887158" y="3605790"/>
                <a:ext cx="222433" cy="246221"/>
              </a:xfrm>
              <a:prstGeom prst="rect">
                <a:avLst/>
              </a:prstGeom>
              <a:blipFill>
                <a:blip r:embed="rId9"/>
                <a:stretch>
                  <a:fillRect l="-16667" r="-5556" b="-10000"/>
                </a:stretch>
              </a:blipFill>
            </p:spPr>
            <p:txBody>
              <a:bodyPr/>
              <a:lstStyle/>
              <a:p>
                <a:r>
                  <a:rPr lang="en-GB">
                    <a:noFill/>
                  </a:rPr>
                  <a:t> </a:t>
                </a:r>
              </a:p>
            </p:txBody>
          </p:sp>
        </mc:Fallback>
      </mc:AlternateContent>
      <p:cxnSp>
        <p:nvCxnSpPr>
          <p:cNvPr id="30" name="Connecteur droit avec flèche 29">
            <a:extLst>
              <a:ext uri="{FF2B5EF4-FFF2-40B4-BE49-F238E27FC236}">
                <a16:creationId xmlns:a16="http://schemas.microsoft.com/office/drawing/2014/main" id="{C8E955B0-D582-0D64-0D44-9547F12B642E}"/>
              </a:ext>
            </a:extLst>
          </p:cNvPr>
          <p:cNvCxnSpPr>
            <a:cxnSpLocks/>
          </p:cNvCxnSpPr>
          <p:nvPr/>
        </p:nvCxnSpPr>
        <p:spPr>
          <a:xfrm flipV="1">
            <a:off x="995079" y="3530464"/>
            <a:ext cx="3962" cy="144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Connecteur droit avec flèche 30">
            <a:extLst>
              <a:ext uri="{FF2B5EF4-FFF2-40B4-BE49-F238E27FC236}">
                <a16:creationId xmlns:a16="http://schemas.microsoft.com/office/drawing/2014/main" id="{F07895D0-B2C6-523D-FDB0-5C580B9307A6}"/>
              </a:ext>
            </a:extLst>
          </p:cNvPr>
          <p:cNvCxnSpPr>
            <a:cxnSpLocks/>
          </p:cNvCxnSpPr>
          <p:nvPr/>
        </p:nvCxnSpPr>
        <p:spPr>
          <a:xfrm flipV="1">
            <a:off x="996755" y="3140257"/>
            <a:ext cx="3962" cy="144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ZoneTexte 31">
                <a:extLst>
                  <a:ext uri="{FF2B5EF4-FFF2-40B4-BE49-F238E27FC236}">
                    <a16:creationId xmlns:a16="http://schemas.microsoft.com/office/drawing/2014/main" id="{FA9F6B8B-C72B-7A95-FCAD-A1CD768152AC}"/>
                  </a:ext>
                </a:extLst>
              </p:cNvPr>
              <p:cNvSpPr txBox="1"/>
              <p:nvPr/>
            </p:nvSpPr>
            <p:spPr>
              <a:xfrm>
                <a:off x="897203" y="2460294"/>
                <a:ext cx="22916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𝑦</m:t>
                          </m:r>
                        </m:e>
                        <m:sub>
                          <m:r>
                            <a:rPr lang="fr-FR" sz="1600" b="0" i="1" smtClean="0">
                              <a:latin typeface="Cambria Math" panose="02040503050406030204" pitchFamily="18" charset="0"/>
                            </a:rPr>
                            <m:t>𝑡</m:t>
                          </m:r>
                        </m:sub>
                      </m:sSub>
                    </m:oMath>
                  </m:oMathPara>
                </a14:m>
                <a:endParaRPr lang="en-GB" sz="1600" dirty="0"/>
              </a:p>
            </p:txBody>
          </p:sp>
        </mc:Choice>
        <mc:Fallback xmlns="">
          <p:sp>
            <p:nvSpPr>
              <p:cNvPr id="32" name="ZoneTexte 31">
                <a:extLst>
                  <a:ext uri="{FF2B5EF4-FFF2-40B4-BE49-F238E27FC236}">
                    <a16:creationId xmlns:a16="http://schemas.microsoft.com/office/drawing/2014/main" id="{FA9F6B8B-C72B-7A95-FCAD-A1CD768152AC}"/>
                  </a:ext>
                </a:extLst>
              </p:cNvPr>
              <p:cNvSpPr txBox="1">
                <a:spLocks noRot="1" noChangeAspect="1" noMove="1" noResize="1" noEditPoints="1" noAdjustHandles="1" noChangeArrowheads="1" noChangeShapeType="1" noTextEdit="1"/>
              </p:cNvSpPr>
              <p:nvPr/>
            </p:nvSpPr>
            <p:spPr>
              <a:xfrm>
                <a:off x="897203" y="2460294"/>
                <a:ext cx="229165" cy="246221"/>
              </a:xfrm>
              <a:prstGeom prst="rect">
                <a:avLst/>
              </a:prstGeom>
              <a:blipFill>
                <a:blip r:embed="rId10"/>
                <a:stretch>
                  <a:fillRect l="-21053" r="-5263" b="-19048"/>
                </a:stretch>
              </a:blipFill>
            </p:spPr>
            <p:txBody>
              <a:bodyPr/>
              <a:lstStyle/>
              <a:p>
                <a:r>
                  <a:rPr lang="en-GB">
                    <a:noFill/>
                  </a:rPr>
                  <a:t> </a:t>
                </a:r>
              </a:p>
            </p:txBody>
          </p:sp>
        </mc:Fallback>
      </mc:AlternateContent>
      <p:cxnSp>
        <p:nvCxnSpPr>
          <p:cNvPr id="33" name="Connecteur droit avec flèche 32">
            <a:extLst>
              <a:ext uri="{FF2B5EF4-FFF2-40B4-BE49-F238E27FC236}">
                <a16:creationId xmlns:a16="http://schemas.microsoft.com/office/drawing/2014/main" id="{60FD0F1A-F57F-9D01-2A50-C1398060B1C1}"/>
              </a:ext>
            </a:extLst>
          </p:cNvPr>
          <p:cNvCxnSpPr>
            <a:cxnSpLocks/>
          </p:cNvCxnSpPr>
          <p:nvPr/>
        </p:nvCxnSpPr>
        <p:spPr>
          <a:xfrm rot="-300000" flipH="1">
            <a:off x="1002392" y="2747693"/>
            <a:ext cx="21492" cy="1804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ZoneTexte 33">
                <a:extLst>
                  <a:ext uri="{FF2B5EF4-FFF2-40B4-BE49-F238E27FC236}">
                    <a16:creationId xmlns:a16="http://schemas.microsoft.com/office/drawing/2014/main" id="{2D366B73-870B-2464-131D-12FA9136F34B}"/>
                  </a:ext>
                </a:extLst>
              </p:cNvPr>
              <p:cNvSpPr txBox="1"/>
              <p:nvPr/>
            </p:nvSpPr>
            <p:spPr>
              <a:xfrm>
                <a:off x="868394" y="4127333"/>
                <a:ext cx="23378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sub>
                      </m:sSub>
                    </m:oMath>
                  </m:oMathPara>
                </a14:m>
                <a:endParaRPr lang="en-GB" sz="1600" dirty="0"/>
              </a:p>
            </p:txBody>
          </p:sp>
        </mc:Choice>
        <mc:Fallback xmlns="">
          <p:sp>
            <p:nvSpPr>
              <p:cNvPr id="34" name="ZoneTexte 33">
                <a:extLst>
                  <a:ext uri="{FF2B5EF4-FFF2-40B4-BE49-F238E27FC236}">
                    <a16:creationId xmlns:a16="http://schemas.microsoft.com/office/drawing/2014/main" id="{2D366B73-870B-2464-131D-12FA9136F34B}"/>
                  </a:ext>
                </a:extLst>
              </p:cNvPr>
              <p:cNvSpPr txBox="1">
                <a:spLocks noRot="1" noChangeAspect="1" noMove="1" noResize="1" noEditPoints="1" noAdjustHandles="1" noChangeArrowheads="1" noChangeShapeType="1" noTextEdit="1"/>
              </p:cNvSpPr>
              <p:nvPr/>
            </p:nvSpPr>
            <p:spPr>
              <a:xfrm>
                <a:off x="868394" y="4127333"/>
                <a:ext cx="233782" cy="246221"/>
              </a:xfrm>
              <a:prstGeom prst="rect">
                <a:avLst/>
              </a:prstGeom>
              <a:blipFill>
                <a:blip r:embed="rId11"/>
                <a:stretch>
                  <a:fillRect l="-21053" r="-5263" b="-14286"/>
                </a:stretch>
              </a:blipFill>
            </p:spPr>
            <p:txBody>
              <a:bodyPr/>
              <a:lstStyle/>
              <a:p>
                <a:r>
                  <a:rPr lang="en-GB">
                    <a:noFill/>
                  </a:rPr>
                  <a:t> </a:t>
                </a:r>
              </a:p>
            </p:txBody>
          </p:sp>
        </mc:Fallback>
      </mc:AlternateContent>
      <p:cxnSp>
        <p:nvCxnSpPr>
          <p:cNvPr id="37" name="Connecteur droit 36">
            <a:extLst>
              <a:ext uri="{FF2B5EF4-FFF2-40B4-BE49-F238E27FC236}">
                <a16:creationId xmlns:a16="http://schemas.microsoft.com/office/drawing/2014/main" id="{1BF00C32-EDF7-7993-2861-B88D35AF72F1}"/>
              </a:ext>
            </a:extLst>
          </p:cNvPr>
          <p:cNvCxnSpPr>
            <a:stCxn id="9" idx="1"/>
            <a:endCxn id="9" idx="3"/>
          </p:cNvCxnSpPr>
          <p:nvPr/>
        </p:nvCxnSpPr>
        <p:spPr>
          <a:xfrm>
            <a:off x="700211" y="4506637"/>
            <a:ext cx="558800" cy="0"/>
          </a:xfrm>
          <a:prstGeom prst="line">
            <a:avLst/>
          </a:prstGeom>
          <a:ln w="12700"/>
        </p:spPr>
        <p:style>
          <a:lnRef idx="2">
            <a:schemeClr val="accent1"/>
          </a:lnRef>
          <a:fillRef idx="0">
            <a:schemeClr val="accent1"/>
          </a:fillRef>
          <a:effectRef idx="1">
            <a:schemeClr val="accent1"/>
          </a:effectRef>
          <a:fontRef idx="minor">
            <a:schemeClr val="tx1"/>
          </a:fontRef>
        </p:style>
      </p:cxnSp>
      <p:sp>
        <p:nvSpPr>
          <p:cNvPr id="38" name="Rectangle 37">
            <a:extLst>
              <a:ext uri="{FF2B5EF4-FFF2-40B4-BE49-F238E27FC236}">
                <a16:creationId xmlns:a16="http://schemas.microsoft.com/office/drawing/2014/main" id="{AE72C335-FAA1-0613-E4F1-DBBCC836DE80}"/>
              </a:ext>
            </a:extLst>
          </p:cNvPr>
          <p:cNvSpPr/>
          <p:nvPr/>
        </p:nvSpPr>
        <p:spPr>
          <a:xfrm>
            <a:off x="4428066" y="2583404"/>
            <a:ext cx="406400" cy="345334"/>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74501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4F730-0C53-B348-76B8-44A37E45C4E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9F31CA7-13FA-4EAF-8E38-B1BF4764CC79}"/>
              </a:ext>
            </a:extLst>
          </p:cNvPr>
          <p:cNvSpPr>
            <a:spLocks noGrp="1"/>
          </p:cNvSpPr>
          <p:nvPr>
            <p:ph type="title"/>
          </p:nvPr>
        </p:nvSpPr>
        <p:spPr/>
        <p:txBody>
          <a:bodyPr/>
          <a:lstStyle/>
          <a:p>
            <a:pPr algn="ctr"/>
            <a:r>
              <a:rPr lang="en-GB" noProof="0" dirty="0"/>
              <a:t>Recurrent Neural Networks</a:t>
            </a:r>
          </a:p>
        </p:txBody>
      </p:sp>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26C7FA21-A5E5-47E7-14BB-217F22ED1229}"/>
                  </a:ext>
                </a:extLst>
              </p:cNvPr>
              <p:cNvSpPr txBox="1"/>
              <p:nvPr/>
            </p:nvSpPr>
            <p:spPr>
              <a:xfrm>
                <a:off x="838200" y="1318020"/>
                <a:ext cx="8703365" cy="1023136"/>
              </a:xfrm>
              <a:prstGeom prst="rect">
                <a:avLst/>
              </a:prstGeom>
              <a:noFill/>
            </p:spPr>
            <p:txBody>
              <a:bodyPr wrap="square" lIns="90000" rtlCol="0">
                <a:noAutofit/>
              </a:bodyPr>
              <a:lstStyle/>
              <a:p>
                <a:r>
                  <a:rPr lang="en-GB" sz="2400" b="1" dirty="0">
                    <a:latin typeface="ui-sans-serif"/>
                  </a:rPr>
                  <a:t>Backpropagation Through Time (BPTT)</a:t>
                </a:r>
                <a:endParaRPr lang="en-GB" sz="2400" b="1" dirty="0">
                  <a:solidFill>
                    <a:schemeClr val="accent4"/>
                  </a:solidFill>
                  <a:latin typeface="ui-sans-serif"/>
                </a:endParaRPr>
              </a:p>
              <a:p>
                <a:r>
                  <a:rPr lang="en-GB" sz="1600" dirty="0">
                    <a:latin typeface="ui-sans-serif"/>
                  </a:rPr>
                  <a:t>Demonstration of the gradient's calculation with </a:t>
                </a:r>
                <a14:m>
                  <m:oMath xmlns:m="http://schemas.openxmlformats.org/officeDocument/2006/math">
                    <m:r>
                      <a:rPr lang="en-GB" sz="2400" b="0" i="1" noProof="0" smtClean="0">
                        <a:solidFill>
                          <a:schemeClr val="tx1"/>
                        </a:solidFill>
                        <a:latin typeface="Cambria Math" panose="02040503050406030204" pitchFamily="18" charset="0"/>
                      </a:rPr>
                      <m:t>𝑔</m:t>
                    </m:r>
                  </m:oMath>
                </a14:m>
                <a:r>
                  <a:rPr lang="en-GB" sz="2400" dirty="0">
                    <a:latin typeface="ui-sans-serif"/>
                  </a:rPr>
                  <a:t> </a:t>
                </a:r>
                <a:r>
                  <a:rPr lang="en-GB" sz="1600" dirty="0">
                    <a:latin typeface="ui-sans-serif"/>
                  </a:rPr>
                  <a:t>softmax function and </a:t>
                </a:r>
                <a14:m>
                  <m:oMath xmlns:m="http://schemas.openxmlformats.org/officeDocument/2006/math">
                    <m:r>
                      <a:rPr lang="fr-FR" sz="2400" b="0" i="1" smtClean="0">
                        <a:latin typeface="Cambria Math" panose="02040503050406030204" pitchFamily="18" charset="0"/>
                      </a:rPr>
                      <m:t>𝑓</m:t>
                    </m:r>
                  </m:oMath>
                </a14:m>
                <a:r>
                  <a:rPr lang="en-GB" sz="2400" dirty="0">
                    <a:latin typeface="ui-sans-serif"/>
                  </a:rPr>
                  <a:t> </a:t>
                </a:r>
                <a:r>
                  <a:rPr lang="en-GB" sz="1600" dirty="0">
                    <a:latin typeface="ui-sans-serif"/>
                  </a:rPr>
                  <a:t>tanh</a:t>
                </a:r>
              </a:p>
            </p:txBody>
          </p:sp>
        </mc:Choice>
        <mc:Fallback xmlns="">
          <p:sp>
            <p:nvSpPr>
              <p:cNvPr id="4" name="ZoneTexte 3">
                <a:extLst>
                  <a:ext uri="{FF2B5EF4-FFF2-40B4-BE49-F238E27FC236}">
                    <a16:creationId xmlns:a16="http://schemas.microsoft.com/office/drawing/2014/main" id="{26C7FA21-A5E5-47E7-14BB-217F22ED1229}"/>
                  </a:ext>
                </a:extLst>
              </p:cNvPr>
              <p:cNvSpPr txBox="1">
                <a:spLocks noRot="1" noChangeAspect="1" noMove="1" noResize="1" noEditPoints="1" noAdjustHandles="1" noChangeArrowheads="1" noChangeShapeType="1" noTextEdit="1"/>
              </p:cNvSpPr>
              <p:nvPr/>
            </p:nvSpPr>
            <p:spPr>
              <a:xfrm>
                <a:off x="838200" y="1318020"/>
                <a:ext cx="8703365" cy="1023136"/>
              </a:xfrm>
              <a:prstGeom prst="rect">
                <a:avLst/>
              </a:prstGeom>
              <a:blipFill>
                <a:blip r:embed="rId3"/>
                <a:stretch>
                  <a:fillRect l="-1166" t="-4878"/>
                </a:stretch>
              </a:blipFill>
            </p:spPr>
            <p:txBody>
              <a:bodyPr/>
              <a:lstStyle/>
              <a:p>
                <a:r>
                  <a:rPr lang="en-GB">
                    <a:noFill/>
                  </a:rPr>
                  <a:t> </a:t>
                </a:r>
              </a:p>
            </p:txBody>
          </p:sp>
        </mc:Fallback>
      </mc:AlternateContent>
      <p:sp>
        <p:nvSpPr>
          <p:cNvPr id="83" name="Espace réservé du pied de page 2">
            <a:extLst>
              <a:ext uri="{FF2B5EF4-FFF2-40B4-BE49-F238E27FC236}">
                <a16:creationId xmlns:a16="http://schemas.microsoft.com/office/drawing/2014/main" id="{CEAD0081-9A61-D75C-73EA-63CA476850B3}"/>
              </a:ext>
            </a:extLst>
          </p:cNvPr>
          <p:cNvSpPr>
            <a:spLocks noGrp="1"/>
          </p:cNvSpPr>
          <p:nvPr>
            <p:ph type="ftr" sz="quarter" idx="11"/>
          </p:nvPr>
        </p:nvSpPr>
        <p:spPr>
          <a:xfrm>
            <a:off x="4038600" y="6356350"/>
            <a:ext cx="4549346" cy="365125"/>
          </a:xfrm>
        </p:spPr>
        <p:txBody>
          <a:bodyPr/>
          <a:lstStyle/>
          <a:p>
            <a:r>
              <a:rPr lang="en-GB" noProof="1"/>
              <a:t>RNN. Author: David Thébault – Based on NLPDemystified.org</a:t>
            </a:r>
          </a:p>
        </p:txBody>
      </p:sp>
      <mc:AlternateContent xmlns:mc="http://schemas.openxmlformats.org/markup-compatibility/2006" xmlns:a14="http://schemas.microsoft.com/office/drawing/2010/main">
        <mc:Choice Requires="a14">
          <p:sp>
            <p:nvSpPr>
              <p:cNvPr id="89" name="ZoneTexte 88">
                <a:extLst>
                  <a:ext uri="{FF2B5EF4-FFF2-40B4-BE49-F238E27FC236}">
                    <a16:creationId xmlns:a16="http://schemas.microsoft.com/office/drawing/2014/main" id="{35709ED5-136A-25E3-7910-44A617747D7A}"/>
                  </a:ext>
                </a:extLst>
              </p:cNvPr>
              <p:cNvSpPr txBox="1"/>
              <p:nvPr/>
            </p:nvSpPr>
            <p:spPr>
              <a:xfrm>
                <a:off x="1578817" y="2163914"/>
                <a:ext cx="10350249" cy="4199548"/>
              </a:xfrm>
              <a:prstGeom prst="rect">
                <a:avLst/>
              </a:prstGeom>
              <a:noFill/>
            </p:spPr>
            <p:txBody>
              <a:bodyPr wrap="square" lIns="0" tIns="0" rIns="0" bIns="0" rtlCol="0">
                <a:spAutoFit/>
              </a:bodyPr>
              <a:lstStyle/>
              <a:p>
                <a:endParaRPr lang="fr-FR" sz="1400" i="1" dirty="0">
                  <a:latin typeface="Cambria Math" panose="02040503050406030204" pitchFamily="18" charset="0"/>
                  <a:ea typeface="Cambria Math" panose="02040503050406030204" pitchFamily="18" charset="0"/>
                </a:endParaRPr>
              </a:p>
              <a:p>
                <a14:m>
                  <m:oMath xmlns:m="http://schemas.openxmlformats.org/officeDocument/2006/math">
                    <m:f>
                      <m:fPr>
                        <m:ctrlPr>
                          <a:rPr lang="fr-FR" sz="1400" i="1" dirty="0">
                            <a:latin typeface="Cambria Math" panose="02040503050406030204" pitchFamily="18" charset="0"/>
                            <a:ea typeface="Cambria Math" panose="02040503050406030204" pitchFamily="18" charset="0"/>
                          </a:rPr>
                        </m:ctrlPr>
                      </m:fPr>
                      <m:num>
                        <m:r>
                          <a:rPr lang="fr-FR" sz="1400" i="1" dirty="0">
                            <a:latin typeface="Cambria Math" panose="02040503050406030204" pitchFamily="18" charset="0"/>
                            <a:ea typeface="Cambria Math" panose="02040503050406030204" pitchFamily="18" charset="0"/>
                          </a:rPr>
                          <m:t>𝜕</m:t>
                        </m:r>
                        <m:sSub>
                          <m:sSubPr>
                            <m:ctrlPr>
                              <a:rPr lang="fr-FR" sz="1400" i="1" dirty="0">
                                <a:latin typeface="Cambria Math" panose="02040503050406030204" pitchFamily="18" charset="0"/>
                                <a:ea typeface="Cambria Math" panose="02040503050406030204" pitchFamily="18" charset="0"/>
                              </a:rPr>
                            </m:ctrlPr>
                          </m:sSubPr>
                          <m:e>
                            <m:r>
                              <a:rPr lang="fr-FR" sz="1400" i="1" dirty="0">
                                <a:latin typeface="Cambria Math" panose="02040503050406030204" pitchFamily="18" charset="0"/>
                                <a:ea typeface="Cambria Math" panose="02040503050406030204" pitchFamily="18" charset="0"/>
                              </a:rPr>
                              <m:t>𝐿</m:t>
                            </m:r>
                          </m:e>
                          <m:sub>
                            <m:r>
                              <a:rPr lang="fr-FR" sz="1400" i="1" dirty="0">
                                <a:latin typeface="Cambria Math" panose="02040503050406030204" pitchFamily="18" charset="0"/>
                                <a:ea typeface="Cambria Math" panose="02040503050406030204" pitchFamily="18" charset="0"/>
                              </a:rPr>
                              <m:t>𝑡</m:t>
                            </m:r>
                          </m:sub>
                        </m:sSub>
                      </m:num>
                      <m:den>
                        <m:r>
                          <a:rPr lang="fr-FR" sz="1400" i="1" dirty="0">
                            <a:latin typeface="Cambria Math" panose="02040503050406030204" pitchFamily="18" charset="0"/>
                            <a:ea typeface="Cambria Math" panose="02040503050406030204" pitchFamily="18" charset="0"/>
                          </a:rPr>
                          <m:t>𝜕</m:t>
                        </m:r>
                        <m:r>
                          <a:rPr lang="fr-FR" sz="1400" b="0" i="1" dirty="0" smtClean="0">
                            <a:latin typeface="Cambria Math" panose="02040503050406030204" pitchFamily="18" charset="0"/>
                            <a:ea typeface="Cambria Math" panose="02040503050406030204" pitchFamily="18" charset="0"/>
                          </a:rPr>
                          <m:t>𝑊</m:t>
                        </m:r>
                      </m:den>
                    </m:f>
                    <m:r>
                      <a:rPr lang="fr-FR" sz="1400" i="1" dirty="0">
                        <a:latin typeface="Cambria Math" panose="02040503050406030204" pitchFamily="18" charset="0"/>
                        <a:ea typeface="Cambria Math" panose="02040503050406030204" pitchFamily="18" charset="0"/>
                      </a:rPr>
                      <m:t>=</m:t>
                    </m:r>
                    <m:f>
                      <m:fPr>
                        <m:ctrlPr>
                          <a:rPr lang="fr-FR" sz="1400" i="1" dirty="0">
                            <a:latin typeface="Cambria Math" panose="02040503050406030204" pitchFamily="18" charset="0"/>
                            <a:ea typeface="Cambria Math" panose="02040503050406030204" pitchFamily="18" charset="0"/>
                          </a:rPr>
                        </m:ctrlPr>
                      </m:fPr>
                      <m:num>
                        <m:r>
                          <a:rPr lang="fr-FR" sz="1400" i="1" dirty="0">
                            <a:latin typeface="Cambria Math" panose="02040503050406030204" pitchFamily="18" charset="0"/>
                            <a:ea typeface="Cambria Math" panose="02040503050406030204" pitchFamily="18" charset="0"/>
                          </a:rPr>
                          <m:t>𝜕</m:t>
                        </m:r>
                        <m:sSub>
                          <m:sSubPr>
                            <m:ctrlPr>
                              <a:rPr lang="fr-FR" sz="1400" i="1" dirty="0">
                                <a:latin typeface="Cambria Math" panose="02040503050406030204" pitchFamily="18" charset="0"/>
                                <a:ea typeface="Cambria Math" panose="02040503050406030204" pitchFamily="18" charset="0"/>
                              </a:rPr>
                            </m:ctrlPr>
                          </m:sSubPr>
                          <m:e>
                            <m:r>
                              <a:rPr lang="fr-FR" sz="1400" i="1" dirty="0">
                                <a:latin typeface="Cambria Math" panose="02040503050406030204" pitchFamily="18" charset="0"/>
                                <a:ea typeface="Cambria Math" panose="02040503050406030204" pitchFamily="18" charset="0"/>
                              </a:rPr>
                              <m:t>𝐿</m:t>
                            </m:r>
                          </m:e>
                          <m:sub>
                            <m:r>
                              <a:rPr lang="fr-FR" sz="1400" i="1" dirty="0">
                                <a:latin typeface="Cambria Math" panose="02040503050406030204" pitchFamily="18" charset="0"/>
                                <a:ea typeface="Cambria Math" panose="02040503050406030204" pitchFamily="18" charset="0"/>
                              </a:rPr>
                              <m:t>𝑡</m:t>
                            </m:r>
                          </m:sub>
                        </m:sSub>
                      </m:num>
                      <m:den>
                        <m:r>
                          <a:rPr lang="fr-FR" sz="1400" i="1" dirty="0">
                            <a:latin typeface="Cambria Math" panose="02040503050406030204" pitchFamily="18" charset="0"/>
                            <a:ea typeface="Cambria Math" panose="02040503050406030204" pitchFamily="18" charset="0"/>
                          </a:rPr>
                          <m:t>𝜕</m:t>
                        </m:r>
                        <m:sSub>
                          <m:sSubPr>
                            <m:ctrlPr>
                              <a:rPr lang="fr-FR" sz="1400" i="1" dirty="0">
                                <a:latin typeface="Cambria Math" panose="02040503050406030204" pitchFamily="18" charset="0"/>
                                <a:ea typeface="Cambria Math" panose="02040503050406030204" pitchFamily="18" charset="0"/>
                              </a:rPr>
                            </m:ctrlPr>
                          </m:sSubPr>
                          <m:e>
                            <m:acc>
                              <m:accPr>
                                <m:chr m:val="̂"/>
                                <m:ctrlPr>
                                  <a:rPr lang="fr-FR" sz="1400" i="1" dirty="0">
                                    <a:latin typeface="Cambria Math" panose="02040503050406030204" pitchFamily="18" charset="0"/>
                                    <a:ea typeface="Cambria Math" panose="02040503050406030204" pitchFamily="18" charset="0"/>
                                  </a:rPr>
                                </m:ctrlPr>
                              </m:accPr>
                              <m:e>
                                <m:r>
                                  <a:rPr lang="fr-FR" sz="1400" i="1" dirty="0">
                                    <a:latin typeface="Cambria Math" panose="02040503050406030204" pitchFamily="18" charset="0"/>
                                    <a:ea typeface="Cambria Math" panose="02040503050406030204" pitchFamily="18" charset="0"/>
                                  </a:rPr>
                                  <m:t>𝑦</m:t>
                                </m:r>
                              </m:e>
                            </m:acc>
                          </m:e>
                          <m:sub>
                            <m:r>
                              <a:rPr lang="fr-FR" sz="1400" i="1" dirty="0">
                                <a:latin typeface="Cambria Math" panose="02040503050406030204" pitchFamily="18" charset="0"/>
                                <a:ea typeface="Cambria Math" panose="02040503050406030204" pitchFamily="18" charset="0"/>
                              </a:rPr>
                              <m:t>𝑡</m:t>
                            </m:r>
                          </m:sub>
                        </m:sSub>
                      </m:den>
                    </m:f>
                    <m:f>
                      <m:fPr>
                        <m:ctrlPr>
                          <a:rPr lang="fr-FR" sz="1400" i="1" dirty="0">
                            <a:latin typeface="Cambria Math" panose="02040503050406030204" pitchFamily="18" charset="0"/>
                            <a:ea typeface="Cambria Math" panose="02040503050406030204" pitchFamily="18" charset="0"/>
                          </a:rPr>
                        </m:ctrlPr>
                      </m:fPr>
                      <m:num>
                        <m:r>
                          <a:rPr lang="fr-FR" sz="1400" i="1" dirty="0">
                            <a:latin typeface="Cambria Math" panose="02040503050406030204" pitchFamily="18" charset="0"/>
                            <a:ea typeface="Cambria Math" panose="02040503050406030204" pitchFamily="18" charset="0"/>
                          </a:rPr>
                          <m:t>𝜕</m:t>
                        </m:r>
                        <m:sSub>
                          <m:sSubPr>
                            <m:ctrlPr>
                              <a:rPr lang="fr-FR" sz="1400" i="1" dirty="0">
                                <a:latin typeface="Cambria Math" panose="02040503050406030204" pitchFamily="18" charset="0"/>
                                <a:ea typeface="Cambria Math" panose="02040503050406030204" pitchFamily="18" charset="0"/>
                              </a:rPr>
                            </m:ctrlPr>
                          </m:sSubPr>
                          <m:e>
                            <m:acc>
                              <m:accPr>
                                <m:chr m:val="̂"/>
                                <m:ctrlPr>
                                  <a:rPr lang="fr-FR" sz="1400" i="1" dirty="0">
                                    <a:latin typeface="Cambria Math" panose="02040503050406030204" pitchFamily="18" charset="0"/>
                                    <a:ea typeface="Cambria Math" panose="02040503050406030204" pitchFamily="18" charset="0"/>
                                  </a:rPr>
                                </m:ctrlPr>
                              </m:accPr>
                              <m:e>
                                <m:r>
                                  <a:rPr lang="fr-FR" sz="1400" i="1" dirty="0">
                                    <a:latin typeface="Cambria Math" panose="02040503050406030204" pitchFamily="18" charset="0"/>
                                    <a:ea typeface="Cambria Math" panose="02040503050406030204" pitchFamily="18" charset="0"/>
                                  </a:rPr>
                                  <m:t>𝑦</m:t>
                                </m:r>
                              </m:e>
                            </m:acc>
                          </m:e>
                          <m:sub>
                            <m:r>
                              <a:rPr lang="fr-FR" sz="1400" i="1" dirty="0">
                                <a:latin typeface="Cambria Math" panose="02040503050406030204" pitchFamily="18" charset="0"/>
                                <a:ea typeface="Cambria Math" panose="02040503050406030204" pitchFamily="18" charset="0"/>
                              </a:rPr>
                              <m:t>𝑡</m:t>
                            </m:r>
                          </m:sub>
                        </m:sSub>
                      </m:num>
                      <m:den>
                        <m:r>
                          <a:rPr lang="fr-FR" sz="1400" i="1" dirty="0">
                            <a:latin typeface="Cambria Math" panose="02040503050406030204" pitchFamily="18" charset="0"/>
                            <a:ea typeface="Cambria Math" panose="02040503050406030204" pitchFamily="18" charset="0"/>
                          </a:rPr>
                          <m:t>𝜕</m:t>
                        </m:r>
                        <m:sSub>
                          <m:sSubPr>
                            <m:ctrlPr>
                              <a:rPr lang="fr-FR" sz="1400" i="1" dirty="0">
                                <a:latin typeface="Cambria Math" panose="02040503050406030204" pitchFamily="18" charset="0"/>
                                <a:ea typeface="Cambria Math" panose="02040503050406030204" pitchFamily="18" charset="0"/>
                              </a:rPr>
                            </m:ctrlPr>
                          </m:sSubPr>
                          <m:e>
                            <m:r>
                              <a:rPr lang="fr-FR" sz="1400" i="1" dirty="0">
                                <a:latin typeface="Cambria Math" panose="02040503050406030204" pitchFamily="18" charset="0"/>
                                <a:ea typeface="Cambria Math" panose="02040503050406030204" pitchFamily="18" charset="0"/>
                              </a:rPr>
                              <m:t>𝑜</m:t>
                            </m:r>
                          </m:e>
                          <m:sub>
                            <m:r>
                              <a:rPr lang="fr-FR" sz="1400" i="1" dirty="0">
                                <a:latin typeface="Cambria Math" panose="02040503050406030204" pitchFamily="18" charset="0"/>
                                <a:ea typeface="Cambria Math" panose="02040503050406030204" pitchFamily="18" charset="0"/>
                              </a:rPr>
                              <m:t>𝑡</m:t>
                            </m:r>
                          </m:sub>
                        </m:sSub>
                      </m:den>
                    </m:f>
                    <m:f>
                      <m:fPr>
                        <m:ctrlPr>
                          <a:rPr lang="fr-FR" sz="1400" i="1" dirty="0">
                            <a:latin typeface="Cambria Math" panose="02040503050406030204" pitchFamily="18" charset="0"/>
                            <a:ea typeface="Cambria Math" panose="02040503050406030204" pitchFamily="18" charset="0"/>
                          </a:rPr>
                        </m:ctrlPr>
                      </m:fPr>
                      <m:num>
                        <m:r>
                          <a:rPr lang="fr-FR" sz="1400" i="1" dirty="0">
                            <a:latin typeface="Cambria Math" panose="02040503050406030204" pitchFamily="18" charset="0"/>
                            <a:ea typeface="Cambria Math" panose="02040503050406030204" pitchFamily="18" charset="0"/>
                          </a:rPr>
                          <m:t>𝜕</m:t>
                        </m:r>
                        <m:sSub>
                          <m:sSubPr>
                            <m:ctrlPr>
                              <a:rPr lang="fr-FR" sz="1400" i="1" dirty="0">
                                <a:latin typeface="Cambria Math" panose="02040503050406030204" pitchFamily="18" charset="0"/>
                                <a:ea typeface="Cambria Math" panose="02040503050406030204" pitchFamily="18" charset="0"/>
                              </a:rPr>
                            </m:ctrlPr>
                          </m:sSubPr>
                          <m:e>
                            <m:r>
                              <a:rPr lang="fr-FR" sz="1400" i="1" dirty="0">
                                <a:latin typeface="Cambria Math" panose="02040503050406030204" pitchFamily="18" charset="0"/>
                                <a:ea typeface="Cambria Math" panose="02040503050406030204" pitchFamily="18" charset="0"/>
                              </a:rPr>
                              <m:t>𝑜</m:t>
                            </m:r>
                          </m:e>
                          <m:sub>
                            <m:r>
                              <a:rPr lang="fr-FR" sz="1400" i="1" dirty="0">
                                <a:latin typeface="Cambria Math" panose="02040503050406030204" pitchFamily="18" charset="0"/>
                                <a:ea typeface="Cambria Math" panose="02040503050406030204" pitchFamily="18" charset="0"/>
                              </a:rPr>
                              <m:t>𝑡</m:t>
                            </m:r>
                          </m:sub>
                        </m:sSub>
                      </m:num>
                      <m:den>
                        <m:r>
                          <a:rPr lang="fr-FR" sz="1400" i="1" dirty="0">
                            <a:latin typeface="Cambria Math" panose="02040503050406030204" pitchFamily="18" charset="0"/>
                            <a:ea typeface="Cambria Math" panose="02040503050406030204" pitchFamily="18" charset="0"/>
                          </a:rPr>
                          <m:t>𝜕</m:t>
                        </m:r>
                        <m:sSub>
                          <m:sSubPr>
                            <m:ctrlPr>
                              <a:rPr lang="fr-FR" sz="1400" b="0" i="1" dirty="0" smtClean="0">
                                <a:latin typeface="Cambria Math" panose="02040503050406030204" pitchFamily="18" charset="0"/>
                                <a:ea typeface="Cambria Math" panose="02040503050406030204" pitchFamily="18" charset="0"/>
                              </a:rPr>
                            </m:ctrlPr>
                          </m:sSubPr>
                          <m:e>
                            <m:r>
                              <a:rPr lang="fr-FR" sz="1400" b="0" i="1" dirty="0" smtClean="0">
                                <a:latin typeface="Cambria Math" panose="02040503050406030204" pitchFamily="18" charset="0"/>
                                <a:ea typeface="Cambria Math" panose="02040503050406030204" pitchFamily="18" charset="0"/>
                              </a:rPr>
                              <m:t>h</m:t>
                            </m:r>
                          </m:e>
                          <m:sub>
                            <m:r>
                              <a:rPr lang="fr-FR" sz="1400" b="0" i="1" dirty="0" smtClean="0">
                                <a:latin typeface="Cambria Math" panose="02040503050406030204" pitchFamily="18" charset="0"/>
                                <a:ea typeface="Cambria Math" panose="02040503050406030204" pitchFamily="18" charset="0"/>
                              </a:rPr>
                              <m:t>𝑡</m:t>
                            </m:r>
                          </m:sub>
                        </m:sSub>
                      </m:den>
                    </m:f>
                    <m:f>
                      <m:fPr>
                        <m:ctrlPr>
                          <a:rPr lang="fr-FR" sz="1400" i="1" dirty="0">
                            <a:latin typeface="Cambria Math" panose="02040503050406030204" pitchFamily="18" charset="0"/>
                            <a:ea typeface="Cambria Math" panose="02040503050406030204" pitchFamily="18" charset="0"/>
                          </a:rPr>
                        </m:ctrlPr>
                      </m:fPr>
                      <m:num>
                        <m:r>
                          <a:rPr lang="fr-FR" sz="1400" i="1" dirty="0">
                            <a:latin typeface="Cambria Math" panose="02040503050406030204" pitchFamily="18" charset="0"/>
                            <a:ea typeface="Cambria Math" panose="02040503050406030204" pitchFamily="18" charset="0"/>
                          </a:rPr>
                          <m:t>𝜕</m:t>
                        </m:r>
                        <m:sSub>
                          <m:sSubPr>
                            <m:ctrlPr>
                              <a:rPr lang="fr-FR" sz="1400" b="0" i="1" dirty="0" smtClean="0">
                                <a:latin typeface="Cambria Math" panose="02040503050406030204" pitchFamily="18" charset="0"/>
                                <a:ea typeface="Cambria Math" panose="02040503050406030204" pitchFamily="18" charset="0"/>
                              </a:rPr>
                            </m:ctrlPr>
                          </m:sSubPr>
                          <m:e>
                            <m:r>
                              <a:rPr lang="fr-FR" sz="1400" b="0" i="1" dirty="0" smtClean="0">
                                <a:latin typeface="Cambria Math" panose="02040503050406030204" pitchFamily="18" charset="0"/>
                                <a:ea typeface="Cambria Math" panose="02040503050406030204" pitchFamily="18" charset="0"/>
                              </a:rPr>
                              <m:t>h</m:t>
                            </m:r>
                          </m:e>
                          <m:sub>
                            <m:r>
                              <a:rPr lang="fr-FR" sz="1400" b="0" i="1" dirty="0" smtClean="0">
                                <a:latin typeface="Cambria Math" panose="02040503050406030204" pitchFamily="18" charset="0"/>
                                <a:ea typeface="Cambria Math" panose="02040503050406030204" pitchFamily="18" charset="0"/>
                              </a:rPr>
                              <m:t>𝑡</m:t>
                            </m:r>
                          </m:sub>
                        </m:sSub>
                      </m:num>
                      <m:den>
                        <m:r>
                          <a:rPr lang="fr-FR" sz="1400" i="1" dirty="0">
                            <a:latin typeface="Cambria Math" panose="02040503050406030204" pitchFamily="18" charset="0"/>
                            <a:ea typeface="Cambria Math" panose="02040503050406030204" pitchFamily="18" charset="0"/>
                          </a:rPr>
                          <m:t>𝜕</m:t>
                        </m:r>
                        <m:r>
                          <a:rPr lang="fr-FR" sz="1400" b="0" i="1" dirty="0" smtClean="0">
                            <a:latin typeface="Cambria Math" panose="02040503050406030204" pitchFamily="18" charset="0"/>
                            <a:ea typeface="Cambria Math" panose="02040503050406030204" pitchFamily="18" charset="0"/>
                          </a:rPr>
                          <m:t>𝑊</m:t>
                        </m:r>
                      </m:den>
                    </m:f>
                    <m:r>
                      <a:rPr lang="fr-FR" sz="1400" i="1" dirty="0">
                        <a:latin typeface="Cambria Math" panose="02040503050406030204" pitchFamily="18" charset="0"/>
                        <a:ea typeface="Cambria Math" panose="02040503050406030204" pitchFamily="18" charset="0"/>
                      </a:rPr>
                      <m:t>=(</m:t>
                    </m:r>
                    <m:sSub>
                      <m:sSubPr>
                        <m:ctrlPr>
                          <a:rPr lang="fr-FR" sz="1400" i="1" dirty="0">
                            <a:latin typeface="Cambria Math" panose="02040503050406030204" pitchFamily="18" charset="0"/>
                            <a:ea typeface="Cambria Math" panose="02040503050406030204" pitchFamily="18" charset="0"/>
                          </a:rPr>
                        </m:ctrlPr>
                      </m:sSubPr>
                      <m:e>
                        <m:acc>
                          <m:accPr>
                            <m:chr m:val="̂"/>
                            <m:ctrlPr>
                              <a:rPr lang="fr-FR" sz="1400" i="1" dirty="0">
                                <a:latin typeface="Cambria Math" panose="02040503050406030204" pitchFamily="18" charset="0"/>
                                <a:ea typeface="Cambria Math" panose="02040503050406030204" pitchFamily="18" charset="0"/>
                              </a:rPr>
                            </m:ctrlPr>
                          </m:accPr>
                          <m:e>
                            <m:r>
                              <a:rPr lang="fr-FR" sz="1400" i="1" dirty="0">
                                <a:latin typeface="Cambria Math" panose="02040503050406030204" pitchFamily="18" charset="0"/>
                                <a:ea typeface="Cambria Math" panose="02040503050406030204" pitchFamily="18" charset="0"/>
                              </a:rPr>
                              <m:t>𝑦</m:t>
                            </m:r>
                          </m:e>
                        </m:acc>
                      </m:e>
                      <m:sub>
                        <m:r>
                          <a:rPr lang="fr-FR" sz="1400" i="1" dirty="0">
                            <a:latin typeface="Cambria Math" panose="02040503050406030204" pitchFamily="18" charset="0"/>
                            <a:ea typeface="Cambria Math" panose="02040503050406030204" pitchFamily="18" charset="0"/>
                          </a:rPr>
                          <m:t>𝑡</m:t>
                        </m:r>
                      </m:sub>
                    </m:sSub>
                    <m:r>
                      <a:rPr lang="fr-FR" sz="1400" i="1" dirty="0">
                        <a:latin typeface="Cambria Math" panose="02040503050406030204" pitchFamily="18" charset="0"/>
                        <a:ea typeface="Cambria Math" panose="02040503050406030204" pitchFamily="18" charset="0"/>
                      </a:rPr>
                      <m:t>−</m:t>
                    </m:r>
                    <m:sSub>
                      <m:sSubPr>
                        <m:ctrlPr>
                          <a:rPr lang="fr-FR" sz="1400" i="1" dirty="0">
                            <a:latin typeface="Cambria Math" panose="02040503050406030204" pitchFamily="18" charset="0"/>
                            <a:ea typeface="Cambria Math" panose="02040503050406030204" pitchFamily="18" charset="0"/>
                          </a:rPr>
                        </m:ctrlPr>
                      </m:sSubPr>
                      <m:e>
                        <m:r>
                          <a:rPr lang="fr-FR" sz="1400" i="1" dirty="0">
                            <a:latin typeface="Cambria Math" panose="02040503050406030204" pitchFamily="18" charset="0"/>
                            <a:ea typeface="Cambria Math" panose="02040503050406030204" pitchFamily="18" charset="0"/>
                          </a:rPr>
                          <m:t>𝑦</m:t>
                        </m:r>
                      </m:e>
                      <m:sub>
                        <m:r>
                          <a:rPr lang="fr-FR" sz="1400" i="1" dirty="0">
                            <a:latin typeface="Cambria Math" panose="02040503050406030204" pitchFamily="18" charset="0"/>
                            <a:ea typeface="Cambria Math" panose="02040503050406030204" pitchFamily="18" charset="0"/>
                          </a:rPr>
                          <m:t>𝑡</m:t>
                        </m:r>
                      </m:sub>
                    </m:sSub>
                    <m:r>
                      <a:rPr lang="fr-FR" sz="1400" i="1" dirty="0">
                        <a:latin typeface="Cambria Math" panose="02040503050406030204" pitchFamily="18" charset="0"/>
                        <a:ea typeface="Cambria Math" panose="02040503050406030204" pitchFamily="18" charset="0"/>
                      </a:rPr>
                      <m:t>)</m:t>
                    </m:r>
                    <m:f>
                      <m:fPr>
                        <m:ctrlPr>
                          <a:rPr lang="fr-FR" sz="1400" i="1" dirty="0">
                            <a:latin typeface="Cambria Math" panose="02040503050406030204" pitchFamily="18" charset="0"/>
                            <a:ea typeface="Cambria Math" panose="02040503050406030204" pitchFamily="18" charset="0"/>
                          </a:rPr>
                        </m:ctrlPr>
                      </m:fPr>
                      <m:num>
                        <m:r>
                          <a:rPr lang="fr-FR" sz="1400" i="1" dirty="0">
                            <a:latin typeface="Cambria Math" panose="02040503050406030204" pitchFamily="18" charset="0"/>
                            <a:ea typeface="Cambria Math" panose="02040503050406030204" pitchFamily="18" charset="0"/>
                          </a:rPr>
                          <m:t>𝜕</m:t>
                        </m:r>
                        <m:sSub>
                          <m:sSubPr>
                            <m:ctrlPr>
                              <a:rPr lang="fr-FR" sz="1400" i="1" dirty="0">
                                <a:latin typeface="Cambria Math" panose="02040503050406030204" pitchFamily="18" charset="0"/>
                                <a:ea typeface="Cambria Math" panose="02040503050406030204" pitchFamily="18" charset="0"/>
                              </a:rPr>
                            </m:ctrlPr>
                          </m:sSubPr>
                          <m:e>
                            <m:r>
                              <a:rPr lang="fr-FR" sz="1400" i="1" dirty="0">
                                <a:latin typeface="Cambria Math" panose="02040503050406030204" pitchFamily="18" charset="0"/>
                                <a:ea typeface="Cambria Math" panose="02040503050406030204" pitchFamily="18" charset="0"/>
                              </a:rPr>
                              <m:t>𝑜</m:t>
                            </m:r>
                          </m:e>
                          <m:sub>
                            <m:r>
                              <a:rPr lang="fr-FR" sz="1400" i="1" dirty="0">
                                <a:latin typeface="Cambria Math" panose="02040503050406030204" pitchFamily="18" charset="0"/>
                                <a:ea typeface="Cambria Math" panose="02040503050406030204" pitchFamily="18" charset="0"/>
                              </a:rPr>
                              <m:t>𝑡</m:t>
                            </m:r>
                          </m:sub>
                        </m:sSub>
                      </m:num>
                      <m:den>
                        <m:r>
                          <a:rPr lang="fr-FR" sz="1400" i="1" dirty="0">
                            <a:latin typeface="Cambria Math" panose="02040503050406030204" pitchFamily="18" charset="0"/>
                            <a:ea typeface="Cambria Math" panose="02040503050406030204" pitchFamily="18" charset="0"/>
                          </a:rPr>
                          <m:t>𝜕</m:t>
                        </m:r>
                        <m:sSub>
                          <m:sSubPr>
                            <m:ctrlPr>
                              <a:rPr lang="fr-FR" sz="1400" i="1" dirty="0">
                                <a:latin typeface="Cambria Math" panose="02040503050406030204" pitchFamily="18" charset="0"/>
                                <a:ea typeface="Cambria Math" panose="02040503050406030204" pitchFamily="18" charset="0"/>
                              </a:rPr>
                            </m:ctrlPr>
                          </m:sSubPr>
                          <m:e>
                            <m:r>
                              <a:rPr lang="fr-FR" sz="1400" i="1" dirty="0">
                                <a:latin typeface="Cambria Math" panose="02040503050406030204" pitchFamily="18" charset="0"/>
                                <a:ea typeface="Cambria Math" panose="02040503050406030204" pitchFamily="18" charset="0"/>
                              </a:rPr>
                              <m:t>h</m:t>
                            </m:r>
                          </m:e>
                          <m:sub>
                            <m:r>
                              <a:rPr lang="fr-FR" sz="1400" i="1" dirty="0">
                                <a:latin typeface="Cambria Math" panose="02040503050406030204" pitchFamily="18" charset="0"/>
                                <a:ea typeface="Cambria Math" panose="02040503050406030204" pitchFamily="18" charset="0"/>
                              </a:rPr>
                              <m:t>𝑡</m:t>
                            </m:r>
                          </m:sub>
                        </m:sSub>
                      </m:den>
                    </m:f>
                    <m:f>
                      <m:fPr>
                        <m:ctrlPr>
                          <a:rPr lang="fr-FR" sz="1400" i="1" dirty="0">
                            <a:latin typeface="Cambria Math" panose="02040503050406030204" pitchFamily="18" charset="0"/>
                            <a:ea typeface="Cambria Math" panose="02040503050406030204" pitchFamily="18" charset="0"/>
                          </a:rPr>
                        </m:ctrlPr>
                      </m:fPr>
                      <m:num>
                        <m:r>
                          <a:rPr lang="fr-FR" sz="1400" i="1" dirty="0">
                            <a:latin typeface="Cambria Math" panose="02040503050406030204" pitchFamily="18" charset="0"/>
                            <a:ea typeface="Cambria Math" panose="02040503050406030204" pitchFamily="18" charset="0"/>
                          </a:rPr>
                          <m:t>𝜕</m:t>
                        </m:r>
                        <m:sSub>
                          <m:sSubPr>
                            <m:ctrlPr>
                              <a:rPr lang="fr-FR" sz="1400" i="1" dirty="0">
                                <a:latin typeface="Cambria Math" panose="02040503050406030204" pitchFamily="18" charset="0"/>
                                <a:ea typeface="Cambria Math" panose="02040503050406030204" pitchFamily="18" charset="0"/>
                              </a:rPr>
                            </m:ctrlPr>
                          </m:sSubPr>
                          <m:e>
                            <m:r>
                              <a:rPr lang="fr-FR" sz="1400" i="1" dirty="0">
                                <a:latin typeface="Cambria Math" panose="02040503050406030204" pitchFamily="18" charset="0"/>
                                <a:ea typeface="Cambria Math" panose="02040503050406030204" pitchFamily="18" charset="0"/>
                              </a:rPr>
                              <m:t>h</m:t>
                            </m:r>
                          </m:e>
                          <m:sub>
                            <m:r>
                              <a:rPr lang="fr-FR" sz="1400" i="1" dirty="0">
                                <a:latin typeface="Cambria Math" panose="02040503050406030204" pitchFamily="18" charset="0"/>
                                <a:ea typeface="Cambria Math" panose="02040503050406030204" pitchFamily="18" charset="0"/>
                              </a:rPr>
                              <m:t>𝑡</m:t>
                            </m:r>
                          </m:sub>
                        </m:sSub>
                      </m:num>
                      <m:den>
                        <m:r>
                          <a:rPr lang="fr-FR" sz="1400" i="1" dirty="0">
                            <a:latin typeface="Cambria Math" panose="02040503050406030204" pitchFamily="18" charset="0"/>
                            <a:ea typeface="Cambria Math" panose="02040503050406030204" pitchFamily="18" charset="0"/>
                          </a:rPr>
                          <m:t>𝜕</m:t>
                        </m:r>
                        <m:r>
                          <a:rPr lang="fr-FR" sz="1400" i="1" dirty="0">
                            <a:latin typeface="Cambria Math" panose="02040503050406030204" pitchFamily="18" charset="0"/>
                            <a:ea typeface="Cambria Math" panose="02040503050406030204" pitchFamily="18" charset="0"/>
                          </a:rPr>
                          <m:t>𝑊</m:t>
                        </m:r>
                      </m:den>
                    </m:f>
                    <m:r>
                      <a:rPr lang="fr-FR" sz="1400" i="1" dirty="0">
                        <a:latin typeface="Cambria Math" panose="02040503050406030204" pitchFamily="18" charset="0"/>
                        <a:ea typeface="Cambria Math" panose="02040503050406030204" pitchFamily="18" charset="0"/>
                      </a:rPr>
                      <m:t>=</m:t>
                    </m:r>
                    <m:d>
                      <m:dPr>
                        <m:ctrlPr>
                          <a:rPr lang="fr-FR" sz="1400" i="1" dirty="0">
                            <a:latin typeface="Cambria Math" panose="02040503050406030204" pitchFamily="18" charset="0"/>
                            <a:ea typeface="Cambria Math" panose="02040503050406030204" pitchFamily="18" charset="0"/>
                          </a:rPr>
                        </m:ctrlPr>
                      </m:dPr>
                      <m:e>
                        <m:sSub>
                          <m:sSubPr>
                            <m:ctrlPr>
                              <a:rPr lang="fr-FR" sz="1400" i="1" dirty="0">
                                <a:latin typeface="Cambria Math" panose="02040503050406030204" pitchFamily="18" charset="0"/>
                                <a:ea typeface="Cambria Math" panose="02040503050406030204" pitchFamily="18" charset="0"/>
                              </a:rPr>
                            </m:ctrlPr>
                          </m:sSubPr>
                          <m:e>
                            <m:acc>
                              <m:accPr>
                                <m:chr m:val="̂"/>
                                <m:ctrlPr>
                                  <a:rPr lang="fr-FR" sz="1400" i="1" dirty="0">
                                    <a:latin typeface="Cambria Math" panose="02040503050406030204" pitchFamily="18" charset="0"/>
                                    <a:ea typeface="Cambria Math" panose="02040503050406030204" pitchFamily="18" charset="0"/>
                                  </a:rPr>
                                </m:ctrlPr>
                              </m:accPr>
                              <m:e>
                                <m:r>
                                  <a:rPr lang="fr-FR" sz="1400" i="1" dirty="0">
                                    <a:latin typeface="Cambria Math" panose="02040503050406030204" pitchFamily="18" charset="0"/>
                                    <a:ea typeface="Cambria Math" panose="02040503050406030204" pitchFamily="18" charset="0"/>
                                  </a:rPr>
                                  <m:t>𝑦</m:t>
                                </m:r>
                              </m:e>
                            </m:acc>
                          </m:e>
                          <m:sub>
                            <m:r>
                              <a:rPr lang="fr-FR" sz="1400" i="1" dirty="0">
                                <a:latin typeface="Cambria Math" panose="02040503050406030204" pitchFamily="18" charset="0"/>
                                <a:ea typeface="Cambria Math" panose="02040503050406030204" pitchFamily="18" charset="0"/>
                              </a:rPr>
                              <m:t>𝑡</m:t>
                            </m:r>
                          </m:sub>
                        </m:sSub>
                        <m:r>
                          <a:rPr lang="fr-FR" sz="1400" i="1" dirty="0">
                            <a:latin typeface="Cambria Math" panose="02040503050406030204" pitchFamily="18" charset="0"/>
                            <a:ea typeface="Cambria Math" panose="02040503050406030204" pitchFamily="18" charset="0"/>
                          </a:rPr>
                          <m:t>−</m:t>
                        </m:r>
                        <m:sSub>
                          <m:sSubPr>
                            <m:ctrlPr>
                              <a:rPr lang="fr-FR" sz="1400" i="1" dirty="0">
                                <a:latin typeface="Cambria Math" panose="02040503050406030204" pitchFamily="18" charset="0"/>
                                <a:ea typeface="Cambria Math" panose="02040503050406030204" pitchFamily="18" charset="0"/>
                              </a:rPr>
                            </m:ctrlPr>
                          </m:sSubPr>
                          <m:e>
                            <m:r>
                              <a:rPr lang="fr-FR" sz="1400" i="1" dirty="0">
                                <a:latin typeface="Cambria Math" panose="02040503050406030204" pitchFamily="18" charset="0"/>
                                <a:ea typeface="Cambria Math" panose="02040503050406030204" pitchFamily="18" charset="0"/>
                              </a:rPr>
                              <m:t>𝑦</m:t>
                            </m:r>
                          </m:e>
                          <m:sub>
                            <m:r>
                              <a:rPr lang="fr-FR" sz="1400" i="1" dirty="0">
                                <a:latin typeface="Cambria Math" panose="02040503050406030204" pitchFamily="18" charset="0"/>
                                <a:ea typeface="Cambria Math" panose="02040503050406030204" pitchFamily="18" charset="0"/>
                              </a:rPr>
                              <m:t>𝑡</m:t>
                            </m:r>
                          </m:sub>
                        </m:sSub>
                      </m:e>
                    </m:d>
                    <m:r>
                      <m:rPr>
                        <m:nor/>
                      </m:rPr>
                      <a:rPr lang="fr-FR" sz="1400" dirty="0">
                        <a:latin typeface="Cambria Math" panose="02040503050406030204" pitchFamily="18" charset="0"/>
                        <a:ea typeface="Cambria Math" panose="02040503050406030204" pitchFamily="18" charset="0"/>
                      </a:rPr>
                      <m:t> </m:t>
                    </m:r>
                    <m:f>
                      <m:fPr>
                        <m:ctrlPr>
                          <a:rPr lang="fr-FR" sz="1400" i="1" dirty="0">
                            <a:latin typeface="Cambria Math" panose="02040503050406030204" pitchFamily="18" charset="0"/>
                            <a:ea typeface="Cambria Math" panose="02040503050406030204" pitchFamily="18" charset="0"/>
                          </a:rPr>
                        </m:ctrlPr>
                      </m:fPr>
                      <m:num>
                        <m:r>
                          <a:rPr lang="fr-FR" sz="1400" i="1" dirty="0">
                            <a:latin typeface="Cambria Math" panose="02040503050406030204" pitchFamily="18" charset="0"/>
                            <a:ea typeface="Cambria Math" panose="02040503050406030204" pitchFamily="18" charset="0"/>
                          </a:rPr>
                          <m:t>𝜕</m:t>
                        </m:r>
                        <m:r>
                          <a:rPr lang="fr-FR" sz="1400" i="1" dirty="0">
                            <a:latin typeface="Cambria Math" panose="02040503050406030204" pitchFamily="18" charset="0"/>
                            <a:ea typeface="Cambria Math" panose="02040503050406030204" pitchFamily="18" charset="0"/>
                          </a:rPr>
                          <m:t>𝑉</m:t>
                        </m:r>
                        <m:sSub>
                          <m:sSubPr>
                            <m:ctrlPr>
                              <a:rPr lang="fr-FR" sz="1400" i="1" dirty="0">
                                <a:latin typeface="Cambria Math" panose="02040503050406030204" pitchFamily="18" charset="0"/>
                                <a:ea typeface="Cambria Math" panose="02040503050406030204" pitchFamily="18" charset="0"/>
                              </a:rPr>
                            </m:ctrlPr>
                          </m:sSubPr>
                          <m:e>
                            <m:r>
                              <a:rPr lang="fr-FR" sz="1400" i="1" dirty="0">
                                <a:latin typeface="Cambria Math" panose="02040503050406030204" pitchFamily="18" charset="0"/>
                                <a:ea typeface="Cambria Math" panose="02040503050406030204" pitchFamily="18" charset="0"/>
                              </a:rPr>
                              <m:t>h</m:t>
                            </m:r>
                          </m:e>
                          <m:sub>
                            <m:r>
                              <a:rPr lang="fr-FR" sz="1400" i="1" dirty="0">
                                <a:latin typeface="Cambria Math" panose="02040503050406030204" pitchFamily="18" charset="0"/>
                                <a:ea typeface="Cambria Math" panose="02040503050406030204" pitchFamily="18" charset="0"/>
                              </a:rPr>
                              <m:t>𝑡</m:t>
                            </m:r>
                          </m:sub>
                        </m:sSub>
                      </m:num>
                      <m:den>
                        <m:r>
                          <a:rPr lang="fr-FR" sz="1400" i="1" dirty="0">
                            <a:latin typeface="Cambria Math" panose="02040503050406030204" pitchFamily="18" charset="0"/>
                            <a:ea typeface="Cambria Math" panose="02040503050406030204" pitchFamily="18" charset="0"/>
                          </a:rPr>
                          <m:t>𝜕</m:t>
                        </m:r>
                        <m:r>
                          <a:rPr lang="fr-FR" sz="1400" i="1" dirty="0">
                            <a:latin typeface="Cambria Math" panose="02040503050406030204" pitchFamily="18" charset="0"/>
                            <a:ea typeface="Cambria Math" panose="02040503050406030204" pitchFamily="18" charset="0"/>
                          </a:rPr>
                          <m:t>𝑉</m:t>
                        </m:r>
                      </m:den>
                    </m:f>
                    <m:r>
                      <a:rPr lang="fr-FR" sz="1400" i="1" dirty="0">
                        <a:latin typeface="Cambria Math" panose="02040503050406030204" pitchFamily="18" charset="0"/>
                        <a:ea typeface="Cambria Math" panose="02040503050406030204" pitchFamily="18" charset="0"/>
                      </a:rPr>
                      <m:t>=</m:t>
                    </m:r>
                  </m:oMath>
                </a14:m>
                <a:r>
                  <a:rPr lang="fr-FR" sz="1400" dirty="0">
                    <a:latin typeface="Cambria Math" panose="02040503050406030204" pitchFamily="18" charset="0"/>
                    <a:ea typeface="Cambria Math" panose="02040503050406030204" pitchFamily="18" charset="0"/>
                  </a:rPr>
                  <a:t> </a:t>
                </a:r>
                <a14:m>
                  <m:oMath xmlns:m="http://schemas.openxmlformats.org/officeDocument/2006/math">
                    <m:d>
                      <m:dPr>
                        <m:ctrlPr>
                          <a:rPr lang="fr-FR" sz="1400" i="1" dirty="0">
                            <a:latin typeface="Cambria Math" panose="02040503050406030204" pitchFamily="18" charset="0"/>
                            <a:ea typeface="Cambria Math" panose="02040503050406030204" pitchFamily="18" charset="0"/>
                          </a:rPr>
                        </m:ctrlPr>
                      </m:dPr>
                      <m:e>
                        <m:sSub>
                          <m:sSubPr>
                            <m:ctrlPr>
                              <a:rPr lang="fr-FR" sz="1400" i="1" dirty="0">
                                <a:latin typeface="Cambria Math" panose="02040503050406030204" pitchFamily="18" charset="0"/>
                                <a:ea typeface="Cambria Math" panose="02040503050406030204" pitchFamily="18" charset="0"/>
                              </a:rPr>
                            </m:ctrlPr>
                          </m:sSubPr>
                          <m:e>
                            <m:acc>
                              <m:accPr>
                                <m:chr m:val="̂"/>
                                <m:ctrlPr>
                                  <a:rPr lang="fr-FR" sz="1400" i="1" dirty="0">
                                    <a:latin typeface="Cambria Math" panose="02040503050406030204" pitchFamily="18" charset="0"/>
                                    <a:ea typeface="Cambria Math" panose="02040503050406030204" pitchFamily="18" charset="0"/>
                                  </a:rPr>
                                </m:ctrlPr>
                              </m:accPr>
                              <m:e>
                                <m:r>
                                  <a:rPr lang="fr-FR" sz="1400" i="1" dirty="0">
                                    <a:latin typeface="Cambria Math" panose="02040503050406030204" pitchFamily="18" charset="0"/>
                                    <a:ea typeface="Cambria Math" panose="02040503050406030204" pitchFamily="18" charset="0"/>
                                  </a:rPr>
                                  <m:t>𝑦</m:t>
                                </m:r>
                              </m:e>
                            </m:acc>
                          </m:e>
                          <m:sub>
                            <m:r>
                              <a:rPr lang="fr-FR" sz="1400" i="1" dirty="0">
                                <a:latin typeface="Cambria Math" panose="02040503050406030204" pitchFamily="18" charset="0"/>
                                <a:ea typeface="Cambria Math" panose="02040503050406030204" pitchFamily="18" charset="0"/>
                              </a:rPr>
                              <m:t>𝑡</m:t>
                            </m:r>
                          </m:sub>
                        </m:sSub>
                        <m:r>
                          <a:rPr lang="fr-FR" sz="1400" i="1" dirty="0">
                            <a:latin typeface="Cambria Math" panose="02040503050406030204" pitchFamily="18" charset="0"/>
                            <a:ea typeface="Cambria Math" panose="02040503050406030204" pitchFamily="18" charset="0"/>
                          </a:rPr>
                          <m:t>−</m:t>
                        </m:r>
                        <m:sSub>
                          <m:sSubPr>
                            <m:ctrlPr>
                              <a:rPr lang="fr-FR" sz="1400" i="1" dirty="0">
                                <a:latin typeface="Cambria Math" panose="02040503050406030204" pitchFamily="18" charset="0"/>
                                <a:ea typeface="Cambria Math" panose="02040503050406030204" pitchFamily="18" charset="0"/>
                              </a:rPr>
                            </m:ctrlPr>
                          </m:sSubPr>
                          <m:e>
                            <m:r>
                              <a:rPr lang="fr-FR" sz="1400" i="1" dirty="0">
                                <a:latin typeface="Cambria Math" panose="02040503050406030204" pitchFamily="18" charset="0"/>
                                <a:ea typeface="Cambria Math" panose="02040503050406030204" pitchFamily="18" charset="0"/>
                              </a:rPr>
                              <m:t>𝑦</m:t>
                            </m:r>
                          </m:e>
                          <m:sub>
                            <m:r>
                              <a:rPr lang="fr-FR" sz="1400" i="1" dirty="0">
                                <a:latin typeface="Cambria Math" panose="02040503050406030204" pitchFamily="18" charset="0"/>
                                <a:ea typeface="Cambria Math" panose="02040503050406030204" pitchFamily="18" charset="0"/>
                              </a:rPr>
                              <m:t>𝑡</m:t>
                            </m:r>
                          </m:sub>
                        </m:sSub>
                      </m:e>
                    </m:d>
                    <m:r>
                      <m:rPr>
                        <m:nor/>
                      </m:rPr>
                      <a:rPr lang="fr-FR" sz="1400" dirty="0">
                        <a:latin typeface="Cambria Math" panose="02040503050406030204" pitchFamily="18" charset="0"/>
                        <a:ea typeface="Cambria Math" panose="02040503050406030204" pitchFamily="18" charset="0"/>
                      </a:rPr>
                      <m:t>V</m:t>
                    </m:r>
                  </m:oMath>
                </a14:m>
                <a:r>
                  <a:rPr lang="fr-FR" sz="1400" dirty="0">
                    <a:ea typeface="Cambria Math" panose="02040503050406030204" pitchFamily="18" charset="0"/>
                  </a:rPr>
                  <a:t> </a:t>
                </a:r>
                <a14:m>
                  <m:oMath xmlns:m="http://schemas.openxmlformats.org/officeDocument/2006/math">
                    <m:f>
                      <m:fPr>
                        <m:ctrlPr>
                          <a:rPr lang="fr-FR" sz="1400" i="1" dirty="0">
                            <a:latin typeface="Cambria Math" panose="02040503050406030204" pitchFamily="18" charset="0"/>
                            <a:ea typeface="Cambria Math" panose="02040503050406030204" pitchFamily="18" charset="0"/>
                          </a:rPr>
                        </m:ctrlPr>
                      </m:fPr>
                      <m:num>
                        <m:r>
                          <a:rPr lang="fr-FR" sz="1400" i="1" dirty="0">
                            <a:latin typeface="Cambria Math" panose="02040503050406030204" pitchFamily="18" charset="0"/>
                            <a:ea typeface="Cambria Math" panose="02040503050406030204" pitchFamily="18" charset="0"/>
                          </a:rPr>
                          <m:t>𝜕</m:t>
                        </m:r>
                        <m:sSub>
                          <m:sSubPr>
                            <m:ctrlPr>
                              <a:rPr lang="fr-FR" sz="1400" i="1" dirty="0">
                                <a:latin typeface="Cambria Math" panose="02040503050406030204" pitchFamily="18" charset="0"/>
                                <a:ea typeface="Cambria Math" panose="02040503050406030204" pitchFamily="18" charset="0"/>
                              </a:rPr>
                            </m:ctrlPr>
                          </m:sSubPr>
                          <m:e>
                            <m:r>
                              <a:rPr lang="fr-FR" sz="1400" i="1" dirty="0">
                                <a:latin typeface="Cambria Math" panose="02040503050406030204" pitchFamily="18" charset="0"/>
                                <a:ea typeface="Cambria Math" panose="02040503050406030204" pitchFamily="18" charset="0"/>
                              </a:rPr>
                              <m:t>h</m:t>
                            </m:r>
                          </m:e>
                          <m:sub>
                            <m:r>
                              <a:rPr lang="fr-FR" sz="1400" i="1" dirty="0">
                                <a:latin typeface="Cambria Math" panose="02040503050406030204" pitchFamily="18" charset="0"/>
                                <a:ea typeface="Cambria Math" panose="02040503050406030204" pitchFamily="18" charset="0"/>
                              </a:rPr>
                              <m:t>𝑡</m:t>
                            </m:r>
                          </m:sub>
                        </m:sSub>
                      </m:num>
                      <m:den>
                        <m:r>
                          <a:rPr lang="fr-FR" sz="1400" i="1" dirty="0">
                            <a:latin typeface="Cambria Math" panose="02040503050406030204" pitchFamily="18" charset="0"/>
                            <a:ea typeface="Cambria Math" panose="02040503050406030204" pitchFamily="18" charset="0"/>
                          </a:rPr>
                          <m:t>𝜕</m:t>
                        </m:r>
                        <m:r>
                          <a:rPr lang="fr-FR" sz="1400" i="1" dirty="0">
                            <a:latin typeface="Cambria Math" panose="02040503050406030204" pitchFamily="18" charset="0"/>
                            <a:ea typeface="Cambria Math" panose="02040503050406030204" pitchFamily="18" charset="0"/>
                          </a:rPr>
                          <m:t>𝑊</m:t>
                        </m:r>
                      </m:den>
                    </m:f>
                  </m:oMath>
                </a14:m>
                <a:r>
                  <a:rPr lang="fr-FR" sz="1400" dirty="0">
                    <a:ea typeface="Cambria Math" panose="02040503050406030204" pitchFamily="18" charset="0"/>
                  </a:rPr>
                  <a:t>         </a:t>
                </a:r>
                <a:r>
                  <a:rPr lang="fr-FR" sz="1200" dirty="0">
                    <a:ea typeface="Cambria Math" panose="02040503050406030204" pitchFamily="18" charset="0"/>
                  </a:rPr>
                  <a:t>(</a:t>
                </a:r>
                <a:r>
                  <a:rPr lang="en-GB" sz="1200" dirty="0">
                    <a:latin typeface="Cambria Math" panose="02040503050406030204" pitchFamily="18" charset="0"/>
                    <a:ea typeface="Cambria Math" panose="02040503050406030204" pitchFamily="18" charset="0"/>
                  </a:rPr>
                  <a:t>total gradient including the recurrent dependency)</a:t>
                </a:r>
                <a:endParaRPr lang="fr-FR" sz="1400" dirty="0">
                  <a:ea typeface="Cambria Math" panose="02040503050406030204" pitchFamily="18" charset="0"/>
                </a:endParaRPr>
              </a:p>
              <a:p>
                <a:endParaRPr lang="en-GB" sz="1400" dirty="0">
                  <a:latin typeface="Cambria Math" panose="02040503050406030204" pitchFamily="18" charset="0"/>
                  <a:ea typeface="Cambria Math" panose="02040503050406030204" pitchFamily="18" charset="0"/>
                </a:endParaRPr>
              </a:p>
              <a:p>
                <a:r>
                  <a:rPr lang="en-GB" sz="1200" dirty="0">
                    <a:latin typeface="Cambria Math" panose="02040503050406030204" pitchFamily="18" charset="0"/>
                    <a:ea typeface="Cambria Math" panose="02040503050406030204" pitchFamily="18" charset="0"/>
                  </a:rPr>
                  <a:t>Here comes the tricky point with the computation of </a:t>
                </a:r>
                <a14:m>
                  <m:oMath xmlns:m="http://schemas.openxmlformats.org/officeDocument/2006/math">
                    <m:f>
                      <m:fPr>
                        <m:ctrlPr>
                          <a:rPr lang="fr-FR" sz="1200" i="1" dirty="0">
                            <a:latin typeface="Cambria Math" panose="02040503050406030204" pitchFamily="18" charset="0"/>
                            <a:ea typeface="Cambria Math" panose="02040503050406030204" pitchFamily="18" charset="0"/>
                          </a:rPr>
                        </m:ctrlPr>
                      </m:fPr>
                      <m:num>
                        <m:r>
                          <a:rPr lang="fr-FR" sz="1200"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a:rPr lang="fr-FR" sz="1200" dirty="0">
                                <a:latin typeface="Cambria Math" panose="02040503050406030204" pitchFamily="18" charset="0"/>
                                <a:ea typeface="Cambria Math" panose="02040503050406030204" pitchFamily="18" charset="0"/>
                              </a:rPr>
                              <m:t>h</m:t>
                            </m:r>
                          </m:e>
                          <m:sub>
                            <m:r>
                              <a:rPr lang="fr-FR" sz="1200" dirty="0">
                                <a:latin typeface="Cambria Math" panose="02040503050406030204" pitchFamily="18" charset="0"/>
                                <a:ea typeface="Cambria Math" panose="02040503050406030204" pitchFamily="18" charset="0"/>
                              </a:rPr>
                              <m:t>𝑡</m:t>
                            </m:r>
                          </m:sub>
                        </m:sSub>
                      </m:num>
                      <m:den>
                        <m:r>
                          <a:rPr lang="fr-FR" sz="1200" dirty="0">
                            <a:latin typeface="Cambria Math" panose="02040503050406030204" pitchFamily="18" charset="0"/>
                            <a:ea typeface="Cambria Math" panose="02040503050406030204" pitchFamily="18" charset="0"/>
                          </a:rPr>
                          <m:t>𝜕</m:t>
                        </m:r>
                        <m:r>
                          <a:rPr lang="fr-FR" sz="1200" dirty="0">
                            <a:latin typeface="Cambria Math" panose="02040503050406030204" pitchFamily="18" charset="0"/>
                            <a:ea typeface="Cambria Math" panose="02040503050406030204" pitchFamily="18" charset="0"/>
                          </a:rPr>
                          <m:t>𝑊</m:t>
                        </m:r>
                      </m:den>
                    </m:f>
                  </m:oMath>
                </a14:m>
                <a:r>
                  <a:rPr lang="en-GB" sz="1200" dirty="0">
                    <a:latin typeface="Cambria Math" panose="02040503050406030204" pitchFamily="18" charset="0"/>
                    <a:ea typeface="Cambria Math" panose="02040503050406030204" pitchFamily="18" charset="0"/>
                  </a:rPr>
                  <a:t> that we are going to detail.</a:t>
                </a:r>
              </a:p>
              <a:p>
                <a:pPr marL="228600" indent="-228600">
                  <a:buFont typeface="+mj-lt"/>
                  <a:buAutoNum type="arabicPeriod"/>
                </a:pPr>
                <a:endParaRPr lang="en-GB" sz="800" dirty="0"/>
              </a:p>
              <a:p>
                <a:pPr/>
                <a14:m>
                  <m:oMathPara xmlns:m="http://schemas.openxmlformats.org/officeDocument/2006/math">
                    <m:oMathParaPr>
                      <m:jc m:val="left"/>
                    </m:oMathParaPr>
                    <m:oMath xmlns:m="http://schemas.openxmlformats.org/officeDocument/2006/math">
                      <m:f>
                        <m:fPr>
                          <m:ctrlPr>
                            <a:rPr lang="fr-FR" sz="1100" i="1" dirty="0" smtClean="0">
                              <a:latin typeface="Cambria Math" panose="02040503050406030204" pitchFamily="18" charset="0"/>
                              <a:ea typeface="Cambria Math" panose="02040503050406030204" pitchFamily="18" charset="0"/>
                            </a:rPr>
                          </m:ctrlPr>
                        </m:fPr>
                        <m:num>
                          <m:r>
                            <a:rPr lang="fr-FR" sz="1100" i="1" dirty="0">
                              <a:latin typeface="Cambria Math" panose="02040503050406030204" pitchFamily="18" charset="0"/>
                              <a:ea typeface="Cambria Math" panose="02040503050406030204" pitchFamily="18" charset="0"/>
                            </a:rPr>
                            <m:t>𝜕</m:t>
                          </m:r>
                          <m:sSub>
                            <m:sSubPr>
                              <m:ctrlPr>
                                <a:rPr lang="fr-FR" sz="1100" i="1" dirty="0">
                                  <a:latin typeface="Cambria Math" panose="02040503050406030204" pitchFamily="18" charset="0"/>
                                  <a:ea typeface="Cambria Math" panose="02040503050406030204" pitchFamily="18" charset="0"/>
                                </a:rPr>
                              </m:ctrlPr>
                            </m:sSubPr>
                            <m:e>
                              <m:r>
                                <a:rPr lang="fr-FR" sz="1100" i="1" dirty="0">
                                  <a:latin typeface="Cambria Math" panose="02040503050406030204" pitchFamily="18" charset="0"/>
                                  <a:ea typeface="Cambria Math" panose="02040503050406030204" pitchFamily="18" charset="0"/>
                                </a:rPr>
                                <m:t>h</m:t>
                              </m:r>
                            </m:e>
                            <m:sub>
                              <m:r>
                                <a:rPr lang="fr-FR" sz="1100" i="1" dirty="0">
                                  <a:latin typeface="Cambria Math" panose="02040503050406030204" pitchFamily="18" charset="0"/>
                                  <a:ea typeface="Cambria Math" panose="02040503050406030204" pitchFamily="18" charset="0"/>
                                </a:rPr>
                                <m:t>𝑡</m:t>
                              </m:r>
                            </m:sub>
                          </m:sSub>
                        </m:num>
                        <m:den>
                          <m:r>
                            <a:rPr lang="fr-FR" sz="1100" i="1" dirty="0">
                              <a:latin typeface="Cambria Math" panose="02040503050406030204" pitchFamily="18" charset="0"/>
                              <a:ea typeface="Cambria Math" panose="02040503050406030204" pitchFamily="18" charset="0"/>
                            </a:rPr>
                            <m:t>𝜕</m:t>
                          </m:r>
                          <m:r>
                            <a:rPr lang="fr-FR" sz="1100" i="1" dirty="0">
                              <a:latin typeface="Cambria Math" panose="02040503050406030204" pitchFamily="18" charset="0"/>
                              <a:ea typeface="Cambria Math" panose="02040503050406030204" pitchFamily="18" charset="0"/>
                            </a:rPr>
                            <m:t>𝑊</m:t>
                          </m:r>
                        </m:den>
                      </m:f>
                      <m:r>
                        <a:rPr lang="fr-FR" sz="1100" b="0" i="1" dirty="0" smtClean="0">
                          <a:latin typeface="Cambria Math" panose="02040503050406030204" pitchFamily="18" charset="0"/>
                          <a:ea typeface="Cambria Math" panose="02040503050406030204" pitchFamily="18" charset="0"/>
                        </a:rPr>
                        <m:t>=</m:t>
                      </m:r>
                      <m:f>
                        <m:fPr>
                          <m:ctrlPr>
                            <a:rPr lang="fr-FR" sz="1100" i="1" dirty="0">
                              <a:latin typeface="Cambria Math" panose="02040503050406030204" pitchFamily="18" charset="0"/>
                              <a:ea typeface="Cambria Math" panose="02040503050406030204" pitchFamily="18" charset="0"/>
                            </a:rPr>
                          </m:ctrlPr>
                        </m:fPr>
                        <m:num>
                          <m:r>
                            <a:rPr lang="fr-FR" sz="1100" i="1" dirty="0">
                              <a:latin typeface="Cambria Math" panose="02040503050406030204" pitchFamily="18" charset="0"/>
                              <a:ea typeface="Cambria Math" panose="02040503050406030204" pitchFamily="18" charset="0"/>
                            </a:rPr>
                            <m:t>𝜕</m:t>
                          </m:r>
                          <m:r>
                            <a:rPr lang="fr-FR" sz="1100" b="0" i="1" dirty="0" smtClean="0">
                              <a:latin typeface="Cambria Math" panose="02040503050406030204" pitchFamily="18" charset="0"/>
                              <a:ea typeface="Cambria Math" panose="02040503050406030204" pitchFamily="18" charset="0"/>
                            </a:rPr>
                            <m:t>(</m:t>
                          </m:r>
                          <m:r>
                            <a:rPr lang="fr-FR" sz="1100" i="1">
                              <a:latin typeface="Cambria Math" panose="02040503050406030204" pitchFamily="18" charset="0"/>
                              <a:ea typeface="Cambria Math" panose="02040503050406030204" pitchFamily="18" charset="0"/>
                            </a:rPr>
                            <m:t>𝑡𝑎𝑛h</m:t>
                          </m:r>
                          <m:d>
                            <m:dPr>
                              <m:ctrlPr>
                                <a:rPr lang="en-GB" sz="1100" i="1">
                                  <a:latin typeface="Cambria Math" panose="02040503050406030204" pitchFamily="18" charset="0"/>
                                  <a:ea typeface="Cambria Math" panose="02040503050406030204" pitchFamily="18" charset="0"/>
                                </a:rPr>
                              </m:ctrlPr>
                            </m:dPr>
                            <m:e>
                              <m:r>
                                <a:rPr lang="en-GB" sz="1100" i="1">
                                  <a:latin typeface="Cambria Math" panose="02040503050406030204" pitchFamily="18" charset="0"/>
                                  <a:ea typeface="Cambria Math" panose="02040503050406030204" pitchFamily="18" charset="0"/>
                                </a:rPr>
                                <m:t>𝑈</m:t>
                              </m:r>
                              <m:sSub>
                                <m:sSubPr>
                                  <m:ctrlPr>
                                    <a:rPr lang="en-GB" sz="1100" i="1">
                                      <a:latin typeface="Cambria Math" panose="02040503050406030204" pitchFamily="18" charset="0"/>
                                      <a:ea typeface="Cambria Math" panose="02040503050406030204" pitchFamily="18" charset="0"/>
                                    </a:rPr>
                                  </m:ctrlPr>
                                </m:sSubPr>
                                <m:e>
                                  <m:r>
                                    <a:rPr lang="en-GB" sz="1100" i="1">
                                      <a:latin typeface="Cambria Math" panose="02040503050406030204" pitchFamily="18" charset="0"/>
                                      <a:ea typeface="Cambria Math" panose="02040503050406030204" pitchFamily="18" charset="0"/>
                                    </a:rPr>
                                    <m:t>𝑋</m:t>
                                  </m:r>
                                </m:e>
                                <m:sub>
                                  <m:r>
                                    <a:rPr lang="en-GB" sz="1100" i="1">
                                      <a:latin typeface="Cambria Math" panose="02040503050406030204" pitchFamily="18" charset="0"/>
                                      <a:ea typeface="Cambria Math" panose="02040503050406030204" pitchFamily="18" charset="0"/>
                                    </a:rPr>
                                    <m:t>𝑡</m:t>
                                  </m:r>
                                </m:sub>
                              </m:sSub>
                              <m:r>
                                <a:rPr lang="en-GB" sz="1100" i="1">
                                  <a:latin typeface="Cambria Math" panose="02040503050406030204" pitchFamily="18" charset="0"/>
                                  <a:ea typeface="Cambria Math" panose="02040503050406030204" pitchFamily="18" charset="0"/>
                                </a:rPr>
                                <m:t>+</m:t>
                              </m:r>
                              <m:r>
                                <a:rPr lang="en-GB" sz="1100" i="1">
                                  <a:latin typeface="Cambria Math" panose="02040503050406030204" pitchFamily="18" charset="0"/>
                                  <a:ea typeface="Cambria Math" panose="02040503050406030204" pitchFamily="18" charset="0"/>
                                </a:rPr>
                                <m:t>𝑊</m:t>
                              </m:r>
                              <m:sSub>
                                <m:sSubPr>
                                  <m:ctrlPr>
                                    <a:rPr lang="en-GB" sz="1100" i="1">
                                      <a:latin typeface="Cambria Math" panose="02040503050406030204" pitchFamily="18" charset="0"/>
                                      <a:ea typeface="Cambria Math" panose="02040503050406030204" pitchFamily="18" charset="0"/>
                                    </a:rPr>
                                  </m:ctrlPr>
                                </m:sSubPr>
                                <m:e>
                                  <m:r>
                                    <a:rPr lang="en-GB" sz="1100" i="1">
                                      <a:latin typeface="Cambria Math" panose="02040503050406030204" pitchFamily="18" charset="0"/>
                                      <a:ea typeface="Cambria Math" panose="02040503050406030204" pitchFamily="18" charset="0"/>
                                    </a:rPr>
                                    <m:t>h</m:t>
                                  </m:r>
                                </m:e>
                                <m:sub>
                                  <m:r>
                                    <a:rPr lang="en-GB" sz="1100" i="1">
                                      <a:latin typeface="Cambria Math" panose="02040503050406030204" pitchFamily="18" charset="0"/>
                                      <a:ea typeface="Cambria Math" panose="02040503050406030204" pitchFamily="18" charset="0"/>
                                    </a:rPr>
                                    <m:t>𝑡</m:t>
                                  </m:r>
                                  <m:r>
                                    <a:rPr lang="en-GB" sz="1100" i="1">
                                      <a:latin typeface="Cambria Math" panose="02040503050406030204" pitchFamily="18" charset="0"/>
                                      <a:ea typeface="Cambria Math" panose="02040503050406030204" pitchFamily="18" charset="0"/>
                                    </a:rPr>
                                    <m:t>−1</m:t>
                                  </m:r>
                                </m:sub>
                              </m:sSub>
                            </m:e>
                          </m:d>
                          <m:r>
                            <a:rPr lang="fr-FR" sz="1100" b="0" i="1" smtClean="0">
                              <a:latin typeface="Cambria Math" panose="02040503050406030204" pitchFamily="18" charset="0"/>
                              <a:ea typeface="Cambria Math" panose="02040503050406030204" pitchFamily="18" charset="0"/>
                            </a:rPr>
                            <m:t>)</m:t>
                          </m:r>
                        </m:num>
                        <m:den>
                          <m:r>
                            <a:rPr lang="fr-FR" sz="1100" i="1" dirty="0">
                              <a:latin typeface="Cambria Math" panose="02040503050406030204" pitchFamily="18" charset="0"/>
                              <a:ea typeface="Cambria Math" panose="02040503050406030204" pitchFamily="18" charset="0"/>
                            </a:rPr>
                            <m:t>𝜕</m:t>
                          </m:r>
                          <m:r>
                            <a:rPr lang="fr-FR" sz="1100" i="1" dirty="0">
                              <a:latin typeface="Cambria Math" panose="02040503050406030204" pitchFamily="18" charset="0"/>
                              <a:ea typeface="Cambria Math" panose="02040503050406030204" pitchFamily="18" charset="0"/>
                            </a:rPr>
                            <m:t>𝑊</m:t>
                          </m:r>
                        </m:den>
                      </m:f>
                      <m:r>
                        <a:rPr lang="fr-FR" sz="1100" b="0" i="1" dirty="0" smtClean="0">
                          <a:latin typeface="Cambria Math" panose="02040503050406030204" pitchFamily="18" charset="0"/>
                          <a:ea typeface="Cambria Math" panose="02040503050406030204" pitchFamily="18" charset="0"/>
                        </a:rPr>
                        <m:t>=</m:t>
                      </m:r>
                      <m:d>
                        <m:dPr>
                          <m:ctrlPr>
                            <a:rPr lang="fr-FR" sz="1100" b="0" i="1" dirty="0" smtClean="0">
                              <a:latin typeface="Cambria Math" panose="02040503050406030204" pitchFamily="18" charset="0"/>
                              <a:ea typeface="Cambria Math" panose="02040503050406030204" pitchFamily="18" charset="0"/>
                            </a:rPr>
                          </m:ctrlPr>
                        </m:dPr>
                        <m:e>
                          <m:r>
                            <a:rPr lang="fr-FR" sz="1100" b="0" i="1" dirty="0" smtClean="0">
                              <a:latin typeface="Cambria Math" panose="02040503050406030204" pitchFamily="18" charset="0"/>
                              <a:ea typeface="Cambria Math" panose="02040503050406030204" pitchFamily="18" charset="0"/>
                            </a:rPr>
                            <m:t>1−</m:t>
                          </m:r>
                          <m:r>
                            <a:rPr lang="fr-FR" sz="1100" i="1">
                              <a:latin typeface="Cambria Math" panose="02040503050406030204" pitchFamily="18" charset="0"/>
                              <a:ea typeface="Cambria Math" panose="02040503050406030204" pitchFamily="18" charset="0"/>
                            </a:rPr>
                            <m:t>𝑡𝑎𝑛</m:t>
                          </m:r>
                          <m:sSup>
                            <m:sSupPr>
                              <m:ctrlPr>
                                <a:rPr lang="fr-FR" sz="1100" i="1" smtClean="0">
                                  <a:latin typeface="Cambria Math" panose="02040503050406030204" pitchFamily="18" charset="0"/>
                                  <a:ea typeface="Cambria Math" panose="02040503050406030204" pitchFamily="18" charset="0"/>
                                </a:rPr>
                              </m:ctrlPr>
                            </m:sSupPr>
                            <m:e>
                              <m:r>
                                <a:rPr lang="fr-FR" sz="1100" i="1">
                                  <a:latin typeface="Cambria Math" panose="02040503050406030204" pitchFamily="18" charset="0"/>
                                  <a:ea typeface="Cambria Math" panose="02040503050406030204" pitchFamily="18" charset="0"/>
                                </a:rPr>
                                <m:t>h</m:t>
                              </m:r>
                            </m:e>
                            <m:sup>
                              <m:r>
                                <a:rPr lang="fr-FR" sz="1100" b="0" i="1" smtClean="0">
                                  <a:latin typeface="Cambria Math" panose="02040503050406030204" pitchFamily="18" charset="0"/>
                                  <a:ea typeface="Cambria Math" panose="02040503050406030204" pitchFamily="18" charset="0"/>
                                </a:rPr>
                                <m:t>2</m:t>
                              </m:r>
                            </m:sup>
                          </m:sSup>
                          <m:d>
                            <m:dPr>
                              <m:ctrlPr>
                                <a:rPr lang="en-GB" sz="1100" i="1">
                                  <a:latin typeface="Cambria Math" panose="02040503050406030204" pitchFamily="18" charset="0"/>
                                  <a:ea typeface="Cambria Math" panose="02040503050406030204" pitchFamily="18" charset="0"/>
                                </a:rPr>
                              </m:ctrlPr>
                            </m:dPr>
                            <m:e>
                              <m:r>
                                <a:rPr lang="en-GB" sz="1100" i="1">
                                  <a:latin typeface="Cambria Math" panose="02040503050406030204" pitchFamily="18" charset="0"/>
                                  <a:ea typeface="Cambria Math" panose="02040503050406030204" pitchFamily="18" charset="0"/>
                                </a:rPr>
                                <m:t>𝑈</m:t>
                              </m:r>
                              <m:sSub>
                                <m:sSubPr>
                                  <m:ctrlPr>
                                    <a:rPr lang="en-GB" sz="1100" i="1">
                                      <a:latin typeface="Cambria Math" panose="02040503050406030204" pitchFamily="18" charset="0"/>
                                      <a:ea typeface="Cambria Math" panose="02040503050406030204" pitchFamily="18" charset="0"/>
                                    </a:rPr>
                                  </m:ctrlPr>
                                </m:sSubPr>
                                <m:e>
                                  <m:r>
                                    <a:rPr lang="en-GB" sz="1100" i="1">
                                      <a:latin typeface="Cambria Math" panose="02040503050406030204" pitchFamily="18" charset="0"/>
                                      <a:ea typeface="Cambria Math" panose="02040503050406030204" pitchFamily="18" charset="0"/>
                                    </a:rPr>
                                    <m:t>𝑋</m:t>
                                  </m:r>
                                </m:e>
                                <m:sub>
                                  <m:r>
                                    <a:rPr lang="en-GB" sz="1100" i="1">
                                      <a:latin typeface="Cambria Math" panose="02040503050406030204" pitchFamily="18" charset="0"/>
                                      <a:ea typeface="Cambria Math" panose="02040503050406030204" pitchFamily="18" charset="0"/>
                                    </a:rPr>
                                    <m:t>𝑡</m:t>
                                  </m:r>
                                </m:sub>
                              </m:sSub>
                              <m:r>
                                <a:rPr lang="en-GB" sz="1100" i="1">
                                  <a:latin typeface="Cambria Math" panose="02040503050406030204" pitchFamily="18" charset="0"/>
                                  <a:ea typeface="Cambria Math" panose="02040503050406030204" pitchFamily="18" charset="0"/>
                                </a:rPr>
                                <m:t>+</m:t>
                              </m:r>
                              <m:r>
                                <a:rPr lang="en-GB" sz="1100" i="1">
                                  <a:latin typeface="Cambria Math" panose="02040503050406030204" pitchFamily="18" charset="0"/>
                                  <a:ea typeface="Cambria Math" panose="02040503050406030204" pitchFamily="18" charset="0"/>
                                </a:rPr>
                                <m:t>𝑊</m:t>
                              </m:r>
                              <m:sSub>
                                <m:sSubPr>
                                  <m:ctrlPr>
                                    <a:rPr lang="en-GB" sz="1100" i="1">
                                      <a:latin typeface="Cambria Math" panose="02040503050406030204" pitchFamily="18" charset="0"/>
                                      <a:ea typeface="Cambria Math" panose="02040503050406030204" pitchFamily="18" charset="0"/>
                                    </a:rPr>
                                  </m:ctrlPr>
                                </m:sSubPr>
                                <m:e>
                                  <m:r>
                                    <a:rPr lang="en-GB" sz="1100" i="1">
                                      <a:latin typeface="Cambria Math" panose="02040503050406030204" pitchFamily="18" charset="0"/>
                                      <a:ea typeface="Cambria Math" panose="02040503050406030204" pitchFamily="18" charset="0"/>
                                    </a:rPr>
                                    <m:t>h</m:t>
                                  </m:r>
                                </m:e>
                                <m:sub>
                                  <m:r>
                                    <a:rPr lang="en-GB" sz="1100" i="1">
                                      <a:latin typeface="Cambria Math" panose="02040503050406030204" pitchFamily="18" charset="0"/>
                                      <a:ea typeface="Cambria Math" panose="02040503050406030204" pitchFamily="18" charset="0"/>
                                    </a:rPr>
                                    <m:t>𝑡</m:t>
                                  </m:r>
                                  <m:r>
                                    <a:rPr lang="en-GB" sz="1100" i="1">
                                      <a:latin typeface="Cambria Math" panose="02040503050406030204" pitchFamily="18" charset="0"/>
                                      <a:ea typeface="Cambria Math" panose="02040503050406030204" pitchFamily="18" charset="0"/>
                                    </a:rPr>
                                    <m:t>−1</m:t>
                                  </m:r>
                                </m:sub>
                              </m:sSub>
                            </m:e>
                          </m:d>
                        </m:e>
                      </m:d>
                      <m:r>
                        <a:rPr lang="fr-FR" sz="1100" b="0" i="1" smtClean="0">
                          <a:latin typeface="Cambria Math" panose="02040503050406030204" pitchFamily="18" charset="0"/>
                          <a:ea typeface="Cambria Math" panose="02040503050406030204" pitchFamily="18" charset="0"/>
                        </a:rPr>
                        <m:t>.</m:t>
                      </m:r>
                      <m:f>
                        <m:fPr>
                          <m:ctrlPr>
                            <a:rPr lang="fr-FR" sz="1100" i="1" dirty="0">
                              <a:latin typeface="Cambria Math" panose="02040503050406030204" pitchFamily="18" charset="0"/>
                              <a:ea typeface="Cambria Math" panose="02040503050406030204" pitchFamily="18" charset="0"/>
                            </a:rPr>
                          </m:ctrlPr>
                        </m:fPr>
                        <m:num>
                          <m:r>
                            <a:rPr lang="fr-FR" sz="1100" i="1" dirty="0">
                              <a:latin typeface="Cambria Math" panose="02040503050406030204" pitchFamily="18" charset="0"/>
                              <a:ea typeface="Cambria Math" panose="02040503050406030204" pitchFamily="18" charset="0"/>
                            </a:rPr>
                            <m:t>𝜕</m:t>
                          </m:r>
                          <m:d>
                            <m:dPr>
                              <m:ctrlPr>
                                <a:rPr lang="en-GB" sz="1100" i="1">
                                  <a:latin typeface="Cambria Math" panose="02040503050406030204" pitchFamily="18" charset="0"/>
                                  <a:ea typeface="Cambria Math" panose="02040503050406030204" pitchFamily="18" charset="0"/>
                                </a:rPr>
                              </m:ctrlPr>
                            </m:dPr>
                            <m:e>
                              <m:r>
                                <a:rPr lang="en-GB" sz="1100" i="1">
                                  <a:latin typeface="Cambria Math" panose="02040503050406030204" pitchFamily="18" charset="0"/>
                                  <a:ea typeface="Cambria Math" panose="02040503050406030204" pitchFamily="18" charset="0"/>
                                </a:rPr>
                                <m:t>𝑈</m:t>
                              </m:r>
                              <m:sSub>
                                <m:sSubPr>
                                  <m:ctrlPr>
                                    <a:rPr lang="en-GB" sz="1100" i="1">
                                      <a:latin typeface="Cambria Math" panose="02040503050406030204" pitchFamily="18" charset="0"/>
                                      <a:ea typeface="Cambria Math" panose="02040503050406030204" pitchFamily="18" charset="0"/>
                                    </a:rPr>
                                  </m:ctrlPr>
                                </m:sSubPr>
                                <m:e>
                                  <m:r>
                                    <a:rPr lang="en-GB" sz="1100" i="1">
                                      <a:latin typeface="Cambria Math" panose="02040503050406030204" pitchFamily="18" charset="0"/>
                                      <a:ea typeface="Cambria Math" panose="02040503050406030204" pitchFamily="18" charset="0"/>
                                    </a:rPr>
                                    <m:t>𝑋</m:t>
                                  </m:r>
                                </m:e>
                                <m:sub>
                                  <m:r>
                                    <a:rPr lang="en-GB" sz="1100" i="1">
                                      <a:latin typeface="Cambria Math" panose="02040503050406030204" pitchFamily="18" charset="0"/>
                                      <a:ea typeface="Cambria Math" panose="02040503050406030204" pitchFamily="18" charset="0"/>
                                    </a:rPr>
                                    <m:t>𝑡</m:t>
                                  </m:r>
                                </m:sub>
                              </m:sSub>
                              <m:r>
                                <a:rPr lang="en-GB" sz="1100" i="1">
                                  <a:latin typeface="Cambria Math" panose="02040503050406030204" pitchFamily="18" charset="0"/>
                                  <a:ea typeface="Cambria Math" panose="02040503050406030204" pitchFamily="18" charset="0"/>
                                </a:rPr>
                                <m:t>+</m:t>
                              </m:r>
                              <m:r>
                                <a:rPr lang="en-GB" sz="1100" i="1">
                                  <a:latin typeface="Cambria Math" panose="02040503050406030204" pitchFamily="18" charset="0"/>
                                  <a:ea typeface="Cambria Math" panose="02040503050406030204" pitchFamily="18" charset="0"/>
                                </a:rPr>
                                <m:t>𝑊</m:t>
                              </m:r>
                              <m:sSub>
                                <m:sSubPr>
                                  <m:ctrlPr>
                                    <a:rPr lang="en-GB" sz="1100" i="1">
                                      <a:latin typeface="Cambria Math" panose="02040503050406030204" pitchFamily="18" charset="0"/>
                                      <a:ea typeface="Cambria Math" panose="02040503050406030204" pitchFamily="18" charset="0"/>
                                    </a:rPr>
                                  </m:ctrlPr>
                                </m:sSubPr>
                                <m:e>
                                  <m:r>
                                    <a:rPr lang="en-GB" sz="1100" i="1">
                                      <a:latin typeface="Cambria Math" panose="02040503050406030204" pitchFamily="18" charset="0"/>
                                      <a:ea typeface="Cambria Math" panose="02040503050406030204" pitchFamily="18" charset="0"/>
                                    </a:rPr>
                                    <m:t>h</m:t>
                                  </m:r>
                                </m:e>
                                <m:sub>
                                  <m:r>
                                    <a:rPr lang="en-GB" sz="1100" i="1">
                                      <a:latin typeface="Cambria Math" panose="02040503050406030204" pitchFamily="18" charset="0"/>
                                      <a:ea typeface="Cambria Math" panose="02040503050406030204" pitchFamily="18" charset="0"/>
                                    </a:rPr>
                                    <m:t>𝑡</m:t>
                                  </m:r>
                                  <m:r>
                                    <a:rPr lang="en-GB" sz="1100" i="1">
                                      <a:latin typeface="Cambria Math" panose="02040503050406030204" pitchFamily="18" charset="0"/>
                                      <a:ea typeface="Cambria Math" panose="02040503050406030204" pitchFamily="18" charset="0"/>
                                    </a:rPr>
                                    <m:t>−1</m:t>
                                  </m:r>
                                </m:sub>
                              </m:sSub>
                            </m:e>
                          </m:d>
                        </m:num>
                        <m:den>
                          <m:r>
                            <a:rPr lang="fr-FR" sz="1100" i="1" dirty="0">
                              <a:latin typeface="Cambria Math" panose="02040503050406030204" pitchFamily="18" charset="0"/>
                              <a:ea typeface="Cambria Math" panose="02040503050406030204" pitchFamily="18" charset="0"/>
                            </a:rPr>
                            <m:t>𝜕</m:t>
                          </m:r>
                          <m:r>
                            <a:rPr lang="fr-FR" sz="1100" i="1" dirty="0">
                              <a:latin typeface="Cambria Math" panose="02040503050406030204" pitchFamily="18" charset="0"/>
                              <a:ea typeface="Cambria Math" panose="02040503050406030204" pitchFamily="18" charset="0"/>
                            </a:rPr>
                            <m:t>𝑊</m:t>
                          </m:r>
                        </m:den>
                      </m:f>
                      <m:r>
                        <a:rPr lang="fr-FR" sz="1100" b="0" i="1" dirty="0" smtClean="0">
                          <a:latin typeface="Cambria Math" panose="02040503050406030204" pitchFamily="18" charset="0"/>
                          <a:ea typeface="Cambria Math" panose="02040503050406030204" pitchFamily="18" charset="0"/>
                        </a:rPr>
                        <m:t>=</m:t>
                      </m:r>
                      <m:d>
                        <m:dPr>
                          <m:ctrlPr>
                            <a:rPr lang="fr-FR" sz="1100" b="0" i="1" dirty="0" smtClean="0">
                              <a:latin typeface="Cambria Math" panose="02040503050406030204" pitchFamily="18" charset="0"/>
                              <a:ea typeface="Cambria Math" panose="02040503050406030204" pitchFamily="18" charset="0"/>
                            </a:rPr>
                          </m:ctrlPr>
                        </m:dPr>
                        <m:e>
                          <m:r>
                            <a:rPr lang="fr-FR" sz="1100" b="0" i="1" dirty="0" smtClean="0">
                              <a:latin typeface="Cambria Math" panose="02040503050406030204" pitchFamily="18" charset="0"/>
                              <a:ea typeface="Cambria Math" panose="02040503050406030204" pitchFamily="18" charset="0"/>
                            </a:rPr>
                            <m:t>1−</m:t>
                          </m:r>
                          <m:sSubSup>
                            <m:sSubSupPr>
                              <m:ctrlPr>
                                <a:rPr lang="fr-FR" sz="1100" b="0" i="1" dirty="0" smtClean="0">
                                  <a:latin typeface="Cambria Math" panose="02040503050406030204" pitchFamily="18" charset="0"/>
                                  <a:ea typeface="Cambria Math" panose="02040503050406030204" pitchFamily="18" charset="0"/>
                                </a:rPr>
                              </m:ctrlPr>
                            </m:sSubSupPr>
                            <m:e>
                              <m:r>
                                <a:rPr lang="fr-FR" sz="1100" b="0" i="1" dirty="0" smtClean="0">
                                  <a:latin typeface="Cambria Math" panose="02040503050406030204" pitchFamily="18" charset="0"/>
                                  <a:ea typeface="Cambria Math" panose="02040503050406030204" pitchFamily="18" charset="0"/>
                                </a:rPr>
                                <m:t>h</m:t>
                              </m:r>
                            </m:e>
                            <m:sub>
                              <m:r>
                                <a:rPr lang="fr-FR" sz="1100" b="0" i="1" dirty="0" smtClean="0">
                                  <a:latin typeface="Cambria Math" panose="02040503050406030204" pitchFamily="18" charset="0"/>
                                  <a:ea typeface="Cambria Math" panose="02040503050406030204" pitchFamily="18" charset="0"/>
                                </a:rPr>
                                <m:t>𝑡</m:t>
                              </m:r>
                            </m:sub>
                            <m:sup>
                              <m:r>
                                <a:rPr lang="fr-FR" sz="1100" b="0" i="1" dirty="0" smtClean="0">
                                  <a:latin typeface="Cambria Math" panose="02040503050406030204" pitchFamily="18" charset="0"/>
                                  <a:ea typeface="Cambria Math" panose="02040503050406030204" pitchFamily="18" charset="0"/>
                                </a:rPr>
                                <m:t>2</m:t>
                              </m:r>
                            </m:sup>
                          </m:sSubSup>
                        </m:e>
                      </m:d>
                      <m:r>
                        <a:rPr lang="fr-FR" sz="1100" b="0" i="1" dirty="0" smtClean="0">
                          <a:latin typeface="Cambria Math" panose="02040503050406030204" pitchFamily="18" charset="0"/>
                          <a:ea typeface="Cambria Math" panose="02040503050406030204" pitchFamily="18" charset="0"/>
                        </a:rPr>
                        <m:t>.</m:t>
                      </m:r>
                      <m:f>
                        <m:fPr>
                          <m:ctrlPr>
                            <a:rPr lang="fr-FR" sz="1100" i="1" dirty="0">
                              <a:latin typeface="Cambria Math" panose="02040503050406030204" pitchFamily="18" charset="0"/>
                              <a:ea typeface="Cambria Math" panose="02040503050406030204" pitchFamily="18" charset="0"/>
                            </a:rPr>
                          </m:ctrlPr>
                        </m:fPr>
                        <m:num>
                          <m:r>
                            <a:rPr lang="fr-FR" sz="1100" i="1" dirty="0">
                              <a:latin typeface="Cambria Math" panose="02040503050406030204" pitchFamily="18" charset="0"/>
                              <a:ea typeface="Cambria Math" panose="02040503050406030204" pitchFamily="18" charset="0"/>
                            </a:rPr>
                            <m:t>𝜕</m:t>
                          </m:r>
                          <m:d>
                            <m:dPr>
                              <m:ctrlPr>
                                <a:rPr lang="en-GB" sz="1100" i="1">
                                  <a:latin typeface="Cambria Math" panose="02040503050406030204" pitchFamily="18" charset="0"/>
                                  <a:ea typeface="Cambria Math" panose="02040503050406030204" pitchFamily="18" charset="0"/>
                                </a:rPr>
                              </m:ctrlPr>
                            </m:dPr>
                            <m:e>
                              <m:r>
                                <a:rPr lang="en-GB" sz="1100" i="1">
                                  <a:latin typeface="Cambria Math" panose="02040503050406030204" pitchFamily="18" charset="0"/>
                                  <a:ea typeface="Cambria Math" panose="02040503050406030204" pitchFamily="18" charset="0"/>
                                </a:rPr>
                                <m:t>𝑊</m:t>
                              </m:r>
                              <m:sSub>
                                <m:sSubPr>
                                  <m:ctrlPr>
                                    <a:rPr lang="en-GB" sz="1100" i="1">
                                      <a:latin typeface="Cambria Math" panose="02040503050406030204" pitchFamily="18" charset="0"/>
                                      <a:ea typeface="Cambria Math" panose="02040503050406030204" pitchFamily="18" charset="0"/>
                                    </a:rPr>
                                  </m:ctrlPr>
                                </m:sSubPr>
                                <m:e>
                                  <m:r>
                                    <a:rPr lang="en-GB" sz="1100" i="1">
                                      <a:latin typeface="Cambria Math" panose="02040503050406030204" pitchFamily="18" charset="0"/>
                                      <a:ea typeface="Cambria Math" panose="02040503050406030204" pitchFamily="18" charset="0"/>
                                    </a:rPr>
                                    <m:t>h</m:t>
                                  </m:r>
                                </m:e>
                                <m:sub>
                                  <m:r>
                                    <a:rPr lang="en-GB" sz="1100" i="1">
                                      <a:latin typeface="Cambria Math" panose="02040503050406030204" pitchFamily="18" charset="0"/>
                                      <a:ea typeface="Cambria Math" panose="02040503050406030204" pitchFamily="18" charset="0"/>
                                    </a:rPr>
                                    <m:t>𝑡</m:t>
                                  </m:r>
                                  <m:r>
                                    <a:rPr lang="en-GB" sz="1100" i="1">
                                      <a:latin typeface="Cambria Math" panose="02040503050406030204" pitchFamily="18" charset="0"/>
                                      <a:ea typeface="Cambria Math" panose="02040503050406030204" pitchFamily="18" charset="0"/>
                                    </a:rPr>
                                    <m:t>−1</m:t>
                                  </m:r>
                                </m:sub>
                              </m:sSub>
                            </m:e>
                          </m:d>
                        </m:num>
                        <m:den>
                          <m:r>
                            <a:rPr lang="fr-FR" sz="1100" i="1" dirty="0">
                              <a:latin typeface="Cambria Math" panose="02040503050406030204" pitchFamily="18" charset="0"/>
                              <a:ea typeface="Cambria Math" panose="02040503050406030204" pitchFamily="18" charset="0"/>
                            </a:rPr>
                            <m:t>𝜕</m:t>
                          </m:r>
                          <m:r>
                            <a:rPr lang="fr-FR" sz="1100" i="1" dirty="0">
                              <a:latin typeface="Cambria Math" panose="02040503050406030204" pitchFamily="18" charset="0"/>
                              <a:ea typeface="Cambria Math" panose="02040503050406030204" pitchFamily="18" charset="0"/>
                            </a:rPr>
                            <m:t>𝑊</m:t>
                          </m:r>
                        </m:den>
                      </m:f>
                      <m:r>
                        <a:rPr lang="fr-FR" sz="1100" b="0" i="1" dirty="0" smtClean="0">
                          <a:latin typeface="Cambria Math" panose="02040503050406030204" pitchFamily="18" charset="0"/>
                          <a:ea typeface="Cambria Math" panose="02040503050406030204" pitchFamily="18" charset="0"/>
                        </a:rPr>
                        <m:t>=</m:t>
                      </m:r>
                      <m:d>
                        <m:dPr>
                          <m:ctrlPr>
                            <a:rPr lang="fr-FR" sz="1100" i="1" dirty="0">
                              <a:latin typeface="Cambria Math" panose="02040503050406030204" pitchFamily="18" charset="0"/>
                              <a:ea typeface="Cambria Math" panose="02040503050406030204" pitchFamily="18" charset="0"/>
                            </a:rPr>
                          </m:ctrlPr>
                        </m:dPr>
                        <m:e>
                          <m:r>
                            <a:rPr lang="fr-FR" sz="1100" i="1" dirty="0">
                              <a:latin typeface="Cambria Math" panose="02040503050406030204" pitchFamily="18" charset="0"/>
                              <a:ea typeface="Cambria Math" panose="02040503050406030204" pitchFamily="18" charset="0"/>
                            </a:rPr>
                            <m:t>1−</m:t>
                          </m:r>
                          <m:sSubSup>
                            <m:sSubSupPr>
                              <m:ctrlPr>
                                <a:rPr lang="fr-FR" sz="1100" i="1" dirty="0">
                                  <a:latin typeface="Cambria Math" panose="02040503050406030204" pitchFamily="18" charset="0"/>
                                  <a:ea typeface="Cambria Math" panose="02040503050406030204" pitchFamily="18" charset="0"/>
                                </a:rPr>
                              </m:ctrlPr>
                            </m:sSubSupPr>
                            <m:e>
                              <m:r>
                                <a:rPr lang="fr-FR" sz="1100" i="1" dirty="0">
                                  <a:latin typeface="Cambria Math" panose="02040503050406030204" pitchFamily="18" charset="0"/>
                                  <a:ea typeface="Cambria Math" panose="02040503050406030204" pitchFamily="18" charset="0"/>
                                </a:rPr>
                                <m:t>h</m:t>
                              </m:r>
                            </m:e>
                            <m:sub>
                              <m:r>
                                <a:rPr lang="fr-FR" sz="1100" i="1" dirty="0">
                                  <a:latin typeface="Cambria Math" panose="02040503050406030204" pitchFamily="18" charset="0"/>
                                  <a:ea typeface="Cambria Math" panose="02040503050406030204" pitchFamily="18" charset="0"/>
                                </a:rPr>
                                <m:t>𝑡</m:t>
                              </m:r>
                            </m:sub>
                            <m:sup>
                              <m:r>
                                <a:rPr lang="fr-FR" sz="1100" i="1" dirty="0">
                                  <a:latin typeface="Cambria Math" panose="02040503050406030204" pitchFamily="18" charset="0"/>
                                  <a:ea typeface="Cambria Math" panose="02040503050406030204" pitchFamily="18" charset="0"/>
                                </a:rPr>
                                <m:t>2</m:t>
                              </m:r>
                            </m:sup>
                          </m:sSubSup>
                        </m:e>
                      </m:d>
                      <m:r>
                        <a:rPr lang="fr-FR" sz="1100" i="1" dirty="0">
                          <a:latin typeface="Cambria Math" panose="02040503050406030204" pitchFamily="18" charset="0"/>
                          <a:ea typeface="Cambria Math" panose="02040503050406030204" pitchFamily="18" charset="0"/>
                        </a:rPr>
                        <m:t>.</m:t>
                      </m:r>
                      <m:d>
                        <m:dPr>
                          <m:ctrlPr>
                            <a:rPr lang="fr-FR" sz="1100" b="0" i="1" dirty="0" smtClean="0">
                              <a:latin typeface="Cambria Math" panose="02040503050406030204" pitchFamily="18" charset="0"/>
                              <a:ea typeface="Cambria Math" panose="02040503050406030204" pitchFamily="18" charset="0"/>
                            </a:rPr>
                          </m:ctrlPr>
                        </m:dPr>
                        <m:e>
                          <m:sSubSup>
                            <m:sSubSupPr>
                              <m:ctrlPr>
                                <a:rPr lang="fr-FR" sz="1100" i="1" dirty="0">
                                  <a:latin typeface="Cambria Math" panose="02040503050406030204" pitchFamily="18" charset="0"/>
                                  <a:ea typeface="Cambria Math" panose="02040503050406030204" pitchFamily="18" charset="0"/>
                                </a:rPr>
                              </m:ctrlPr>
                            </m:sSubSupPr>
                            <m:e>
                              <m:r>
                                <a:rPr lang="fr-FR" sz="1100" b="0" i="1" dirty="0" smtClean="0">
                                  <a:latin typeface="Cambria Math" panose="02040503050406030204" pitchFamily="18" charset="0"/>
                                  <a:ea typeface="Cambria Math" panose="02040503050406030204" pitchFamily="18" charset="0"/>
                                </a:rPr>
                                <m:t>1.</m:t>
                              </m:r>
                              <m:r>
                                <a:rPr lang="fr-FR" sz="1100" b="0" i="1" dirty="0" smtClean="0">
                                  <a:latin typeface="Cambria Math" panose="02040503050406030204" pitchFamily="18" charset="0"/>
                                  <a:ea typeface="Cambria Math" panose="02040503050406030204" pitchFamily="18" charset="0"/>
                                </a:rPr>
                                <m:t>h</m:t>
                              </m:r>
                            </m:e>
                            <m:sub>
                              <m:r>
                                <a:rPr lang="fr-FR" sz="1100" b="0" i="1" dirty="0" smtClean="0">
                                  <a:latin typeface="Cambria Math" panose="02040503050406030204" pitchFamily="18" charset="0"/>
                                  <a:ea typeface="Cambria Math" panose="02040503050406030204" pitchFamily="18" charset="0"/>
                                </a:rPr>
                                <m:t>𝑡</m:t>
                              </m:r>
                              <m:r>
                                <a:rPr lang="fr-FR" sz="1100" b="0" i="1" dirty="0" smtClean="0">
                                  <a:latin typeface="Cambria Math" panose="02040503050406030204" pitchFamily="18" charset="0"/>
                                  <a:ea typeface="Cambria Math" panose="02040503050406030204" pitchFamily="18" charset="0"/>
                                </a:rPr>
                                <m:t>−1</m:t>
                              </m:r>
                            </m:sub>
                            <m:sup>
                              <m:r>
                                <a:rPr lang="fr-FR" sz="1100" b="0" i="1" dirty="0" smtClean="0">
                                  <a:latin typeface="Cambria Math" panose="02040503050406030204" pitchFamily="18" charset="0"/>
                                  <a:ea typeface="Cambria Math" panose="02040503050406030204" pitchFamily="18" charset="0"/>
                                </a:rPr>
                                <m:t>𝑇</m:t>
                              </m:r>
                            </m:sup>
                          </m:sSubSup>
                          <m:r>
                            <a:rPr lang="fr-FR" sz="1100" b="0" i="1" dirty="0" smtClean="0">
                              <a:latin typeface="Cambria Math" panose="02040503050406030204" pitchFamily="18" charset="0"/>
                              <a:ea typeface="Cambria Math" panose="02040503050406030204" pitchFamily="18" charset="0"/>
                            </a:rPr>
                            <m:t>+</m:t>
                          </m:r>
                          <m:r>
                            <a:rPr lang="fr-FR" sz="1100" b="0" i="1" dirty="0" smtClean="0">
                              <a:latin typeface="Cambria Math" panose="02040503050406030204" pitchFamily="18" charset="0"/>
                              <a:ea typeface="Cambria Math" panose="02040503050406030204" pitchFamily="18" charset="0"/>
                            </a:rPr>
                            <m:t>𝑊</m:t>
                          </m:r>
                          <m:r>
                            <a:rPr lang="fr-FR" sz="1100" b="0" i="1" dirty="0" smtClean="0">
                              <a:latin typeface="Cambria Math" panose="02040503050406030204" pitchFamily="18" charset="0"/>
                              <a:ea typeface="Cambria Math" panose="02040503050406030204" pitchFamily="18" charset="0"/>
                            </a:rPr>
                            <m:t>.</m:t>
                          </m:r>
                          <m:f>
                            <m:fPr>
                              <m:ctrlPr>
                                <a:rPr lang="fr-FR" sz="1100" i="1" dirty="0">
                                  <a:latin typeface="Cambria Math" panose="02040503050406030204" pitchFamily="18" charset="0"/>
                                  <a:ea typeface="Cambria Math" panose="02040503050406030204" pitchFamily="18" charset="0"/>
                                </a:rPr>
                              </m:ctrlPr>
                            </m:fPr>
                            <m:num>
                              <m:r>
                                <a:rPr lang="fr-FR" sz="1100" i="1" dirty="0">
                                  <a:latin typeface="Cambria Math" panose="02040503050406030204" pitchFamily="18" charset="0"/>
                                  <a:ea typeface="Cambria Math" panose="02040503050406030204" pitchFamily="18" charset="0"/>
                                </a:rPr>
                                <m:t>𝜕</m:t>
                              </m:r>
                              <m:sSub>
                                <m:sSubPr>
                                  <m:ctrlPr>
                                    <a:rPr lang="en-GB" sz="1100" i="1">
                                      <a:latin typeface="Cambria Math" panose="02040503050406030204" pitchFamily="18" charset="0"/>
                                      <a:ea typeface="Cambria Math" panose="02040503050406030204" pitchFamily="18" charset="0"/>
                                    </a:rPr>
                                  </m:ctrlPr>
                                </m:sSubPr>
                                <m:e>
                                  <m:r>
                                    <a:rPr lang="en-GB" sz="1100" i="1">
                                      <a:latin typeface="Cambria Math" panose="02040503050406030204" pitchFamily="18" charset="0"/>
                                      <a:ea typeface="Cambria Math" panose="02040503050406030204" pitchFamily="18" charset="0"/>
                                    </a:rPr>
                                    <m:t>h</m:t>
                                  </m:r>
                                </m:e>
                                <m:sub>
                                  <m:r>
                                    <a:rPr lang="en-GB" sz="1100" i="1">
                                      <a:latin typeface="Cambria Math" panose="02040503050406030204" pitchFamily="18" charset="0"/>
                                      <a:ea typeface="Cambria Math" panose="02040503050406030204" pitchFamily="18" charset="0"/>
                                    </a:rPr>
                                    <m:t>𝑡</m:t>
                                  </m:r>
                                  <m:r>
                                    <a:rPr lang="en-GB" sz="1100" i="1">
                                      <a:latin typeface="Cambria Math" panose="02040503050406030204" pitchFamily="18" charset="0"/>
                                      <a:ea typeface="Cambria Math" panose="02040503050406030204" pitchFamily="18" charset="0"/>
                                    </a:rPr>
                                    <m:t>−1</m:t>
                                  </m:r>
                                </m:sub>
                              </m:sSub>
                            </m:num>
                            <m:den>
                              <m:r>
                                <a:rPr lang="fr-FR" sz="1100" i="1" dirty="0">
                                  <a:latin typeface="Cambria Math" panose="02040503050406030204" pitchFamily="18" charset="0"/>
                                  <a:ea typeface="Cambria Math" panose="02040503050406030204" pitchFamily="18" charset="0"/>
                                </a:rPr>
                                <m:t>𝜕</m:t>
                              </m:r>
                              <m:r>
                                <a:rPr lang="fr-FR" sz="1100" b="0" i="1" dirty="0" smtClean="0">
                                  <a:latin typeface="Cambria Math" panose="02040503050406030204" pitchFamily="18" charset="0"/>
                                  <a:ea typeface="Cambria Math" panose="02040503050406030204" pitchFamily="18" charset="0"/>
                                </a:rPr>
                                <m:t>𝑊</m:t>
                              </m:r>
                            </m:den>
                          </m:f>
                        </m:e>
                      </m:d>
                      <m:r>
                        <a:rPr lang="fr-FR" sz="1100" b="0" i="1" dirty="0" smtClean="0">
                          <a:latin typeface="Cambria Math" panose="02040503050406030204" pitchFamily="18" charset="0"/>
                          <a:ea typeface="Cambria Math" panose="02040503050406030204" pitchFamily="18" charset="0"/>
                        </a:rPr>
                        <m:t>=</m:t>
                      </m:r>
                      <m:d>
                        <m:dPr>
                          <m:ctrlPr>
                            <a:rPr lang="fr-FR" sz="1100" i="1" dirty="0">
                              <a:latin typeface="Cambria Math" panose="02040503050406030204" pitchFamily="18" charset="0"/>
                              <a:ea typeface="Cambria Math" panose="02040503050406030204" pitchFamily="18" charset="0"/>
                            </a:rPr>
                          </m:ctrlPr>
                        </m:dPr>
                        <m:e>
                          <m:r>
                            <a:rPr lang="fr-FR" sz="1100" i="1" dirty="0">
                              <a:latin typeface="Cambria Math" panose="02040503050406030204" pitchFamily="18" charset="0"/>
                              <a:ea typeface="Cambria Math" panose="02040503050406030204" pitchFamily="18" charset="0"/>
                            </a:rPr>
                            <m:t>1−</m:t>
                          </m:r>
                          <m:sSubSup>
                            <m:sSubSupPr>
                              <m:ctrlPr>
                                <a:rPr lang="fr-FR" sz="1100" i="1" dirty="0">
                                  <a:latin typeface="Cambria Math" panose="02040503050406030204" pitchFamily="18" charset="0"/>
                                  <a:ea typeface="Cambria Math" panose="02040503050406030204" pitchFamily="18" charset="0"/>
                                </a:rPr>
                              </m:ctrlPr>
                            </m:sSubSupPr>
                            <m:e>
                              <m:r>
                                <a:rPr lang="fr-FR" sz="1100" i="1" dirty="0">
                                  <a:latin typeface="Cambria Math" panose="02040503050406030204" pitchFamily="18" charset="0"/>
                                  <a:ea typeface="Cambria Math" panose="02040503050406030204" pitchFamily="18" charset="0"/>
                                </a:rPr>
                                <m:t>h</m:t>
                              </m:r>
                            </m:e>
                            <m:sub>
                              <m:r>
                                <a:rPr lang="fr-FR" sz="1100" i="1" dirty="0">
                                  <a:latin typeface="Cambria Math" panose="02040503050406030204" pitchFamily="18" charset="0"/>
                                  <a:ea typeface="Cambria Math" panose="02040503050406030204" pitchFamily="18" charset="0"/>
                                </a:rPr>
                                <m:t>𝑡</m:t>
                              </m:r>
                            </m:sub>
                            <m:sup>
                              <m:r>
                                <a:rPr lang="fr-FR" sz="1100" i="1" dirty="0">
                                  <a:latin typeface="Cambria Math" panose="02040503050406030204" pitchFamily="18" charset="0"/>
                                  <a:ea typeface="Cambria Math" panose="02040503050406030204" pitchFamily="18" charset="0"/>
                                </a:rPr>
                                <m:t>2</m:t>
                              </m:r>
                            </m:sup>
                          </m:sSubSup>
                        </m:e>
                      </m:d>
                      <m:r>
                        <a:rPr lang="fr-FR" sz="1100" i="1" dirty="0">
                          <a:latin typeface="Cambria Math" panose="02040503050406030204" pitchFamily="18" charset="0"/>
                          <a:ea typeface="Cambria Math" panose="02040503050406030204" pitchFamily="18" charset="0"/>
                        </a:rPr>
                        <m:t>.</m:t>
                      </m:r>
                      <m:sSubSup>
                        <m:sSubSupPr>
                          <m:ctrlPr>
                            <a:rPr lang="fr-FR" sz="1100" i="1" dirty="0">
                              <a:latin typeface="Cambria Math" panose="02040503050406030204" pitchFamily="18" charset="0"/>
                              <a:ea typeface="Cambria Math" panose="02040503050406030204" pitchFamily="18" charset="0"/>
                            </a:rPr>
                          </m:ctrlPr>
                        </m:sSubSupPr>
                        <m:e>
                          <m:r>
                            <a:rPr lang="fr-FR" sz="1100" i="1" dirty="0">
                              <a:latin typeface="Cambria Math" panose="02040503050406030204" pitchFamily="18" charset="0"/>
                              <a:ea typeface="Cambria Math" panose="02040503050406030204" pitchFamily="18" charset="0"/>
                            </a:rPr>
                            <m:t>h</m:t>
                          </m:r>
                        </m:e>
                        <m:sub>
                          <m:r>
                            <a:rPr lang="fr-FR" sz="1100" i="1" dirty="0">
                              <a:latin typeface="Cambria Math" panose="02040503050406030204" pitchFamily="18" charset="0"/>
                              <a:ea typeface="Cambria Math" panose="02040503050406030204" pitchFamily="18" charset="0"/>
                            </a:rPr>
                            <m:t>𝑡</m:t>
                          </m:r>
                          <m:r>
                            <a:rPr lang="fr-FR" sz="1100" i="1" dirty="0">
                              <a:latin typeface="Cambria Math" panose="02040503050406030204" pitchFamily="18" charset="0"/>
                              <a:ea typeface="Cambria Math" panose="02040503050406030204" pitchFamily="18" charset="0"/>
                            </a:rPr>
                            <m:t>−1</m:t>
                          </m:r>
                        </m:sub>
                        <m:sup>
                          <m:r>
                            <a:rPr lang="fr-FR" sz="1100" i="1" dirty="0">
                              <a:latin typeface="Cambria Math" panose="02040503050406030204" pitchFamily="18" charset="0"/>
                              <a:ea typeface="Cambria Math" panose="02040503050406030204" pitchFamily="18" charset="0"/>
                            </a:rPr>
                            <m:t>𝑇</m:t>
                          </m:r>
                        </m:sup>
                      </m:sSubSup>
                      <m:r>
                        <a:rPr lang="fr-FR" sz="1100" b="0" i="1" dirty="0" smtClean="0">
                          <a:latin typeface="Cambria Math" panose="02040503050406030204" pitchFamily="18" charset="0"/>
                          <a:ea typeface="Cambria Math" panose="02040503050406030204" pitchFamily="18" charset="0"/>
                        </a:rPr>
                        <m:t>+</m:t>
                      </m:r>
                      <m:d>
                        <m:dPr>
                          <m:ctrlPr>
                            <a:rPr lang="fr-FR" sz="1100" i="1" dirty="0">
                              <a:latin typeface="Cambria Math" panose="02040503050406030204" pitchFamily="18" charset="0"/>
                              <a:ea typeface="Cambria Math" panose="02040503050406030204" pitchFamily="18" charset="0"/>
                            </a:rPr>
                          </m:ctrlPr>
                        </m:dPr>
                        <m:e>
                          <m:r>
                            <a:rPr lang="fr-FR" sz="1100" i="1" dirty="0">
                              <a:latin typeface="Cambria Math" panose="02040503050406030204" pitchFamily="18" charset="0"/>
                              <a:ea typeface="Cambria Math" panose="02040503050406030204" pitchFamily="18" charset="0"/>
                            </a:rPr>
                            <m:t>1−</m:t>
                          </m:r>
                          <m:sSubSup>
                            <m:sSubSupPr>
                              <m:ctrlPr>
                                <a:rPr lang="fr-FR" sz="1100" i="1" dirty="0">
                                  <a:latin typeface="Cambria Math" panose="02040503050406030204" pitchFamily="18" charset="0"/>
                                  <a:ea typeface="Cambria Math" panose="02040503050406030204" pitchFamily="18" charset="0"/>
                                </a:rPr>
                              </m:ctrlPr>
                            </m:sSubSupPr>
                            <m:e>
                              <m:r>
                                <a:rPr lang="fr-FR" sz="1100" i="1" dirty="0">
                                  <a:latin typeface="Cambria Math" panose="02040503050406030204" pitchFamily="18" charset="0"/>
                                  <a:ea typeface="Cambria Math" panose="02040503050406030204" pitchFamily="18" charset="0"/>
                                </a:rPr>
                                <m:t>h</m:t>
                              </m:r>
                            </m:e>
                            <m:sub>
                              <m:r>
                                <a:rPr lang="fr-FR" sz="1100" i="1" dirty="0">
                                  <a:latin typeface="Cambria Math" panose="02040503050406030204" pitchFamily="18" charset="0"/>
                                  <a:ea typeface="Cambria Math" panose="02040503050406030204" pitchFamily="18" charset="0"/>
                                </a:rPr>
                                <m:t>𝑡</m:t>
                              </m:r>
                            </m:sub>
                            <m:sup>
                              <m:r>
                                <a:rPr lang="fr-FR" sz="1100" i="1" dirty="0">
                                  <a:latin typeface="Cambria Math" panose="02040503050406030204" pitchFamily="18" charset="0"/>
                                  <a:ea typeface="Cambria Math" panose="02040503050406030204" pitchFamily="18" charset="0"/>
                                </a:rPr>
                                <m:t>2</m:t>
                              </m:r>
                            </m:sup>
                          </m:sSubSup>
                        </m:e>
                      </m:d>
                      <m:r>
                        <a:rPr lang="fr-FR" sz="1100" i="1" dirty="0">
                          <a:latin typeface="Cambria Math" panose="02040503050406030204" pitchFamily="18" charset="0"/>
                          <a:ea typeface="Cambria Math" panose="02040503050406030204" pitchFamily="18" charset="0"/>
                        </a:rPr>
                        <m:t>.</m:t>
                      </m:r>
                      <m:r>
                        <a:rPr lang="fr-FR" sz="1100" b="0" i="1" dirty="0" smtClean="0">
                          <a:latin typeface="Cambria Math" panose="02040503050406030204" pitchFamily="18" charset="0"/>
                          <a:ea typeface="Cambria Math" panose="02040503050406030204" pitchFamily="18" charset="0"/>
                        </a:rPr>
                        <m:t>𝑊</m:t>
                      </m:r>
                      <m:f>
                        <m:fPr>
                          <m:ctrlPr>
                            <a:rPr lang="fr-FR" sz="1100" i="1" dirty="0">
                              <a:latin typeface="Cambria Math" panose="02040503050406030204" pitchFamily="18" charset="0"/>
                              <a:ea typeface="Cambria Math" panose="02040503050406030204" pitchFamily="18" charset="0"/>
                            </a:rPr>
                          </m:ctrlPr>
                        </m:fPr>
                        <m:num>
                          <m:r>
                            <a:rPr lang="fr-FR" sz="1100" i="1" dirty="0">
                              <a:latin typeface="Cambria Math" panose="02040503050406030204" pitchFamily="18" charset="0"/>
                              <a:ea typeface="Cambria Math" panose="02040503050406030204" pitchFamily="18" charset="0"/>
                            </a:rPr>
                            <m:t>𝜕</m:t>
                          </m:r>
                          <m:sSub>
                            <m:sSubPr>
                              <m:ctrlPr>
                                <a:rPr lang="en-GB" sz="1100" i="1">
                                  <a:latin typeface="Cambria Math" panose="02040503050406030204" pitchFamily="18" charset="0"/>
                                  <a:ea typeface="Cambria Math" panose="02040503050406030204" pitchFamily="18" charset="0"/>
                                </a:rPr>
                              </m:ctrlPr>
                            </m:sSubPr>
                            <m:e>
                              <m:r>
                                <a:rPr lang="en-GB" sz="1100" i="1">
                                  <a:latin typeface="Cambria Math" panose="02040503050406030204" pitchFamily="18" charset="0"/>
                                  <a:ea typeface="Cambria Math" panose="02040503050406030204" pitchFamily="18" charset="0"/>
                                </a:rPr>
                                <m:t>h</m:t>
                              </m:r>
                            </m:e>
                            <m:sub>
                              <m:r>
                                <a:rPr lang="en-GB" sz="1100" i="1">
                                  <a:latin typeface="Cambria Math" panose="02040503050406030204" pitchFamily="18" charset="0"/>
                                  <a:ea typeface="Cambria Math" panose="02040503050406030204" pitchFamily="18" charset="0"/>
                                </a:rPr>
                                <m:t>𝑡</m:t>
                              </m:r>
                              <m:r>
                                <a:rPr lang="en-GB" sz="1100" i="1">
                                  <a:latin typeface="Cambria Math" panose="02040503050406030204" pitchFamily="18" charset="0"/>
                                  <a:ea typeface="Cambria Math" panose="02040503050406030204" pitchFamily="18" charset="0"/>
                                </a:rPr>
                                <m:t>−1</m:t>
                              </m:r>
                            </m:sub>
                          </m:sSub>
                        </m:num>
                        <m:den>
                          <m:r>
                            <a:rPr lang="fr-FR" sz="1100" i="1" dirty="0">
                              <a:latin typeface="Cambria Math" panose="02040503050406030204" pitchFamily="18" charset="0"/>
                              <a:ea typeface="Cambria Math" panose="02040503050406030204" pitchFamily="18" charset="0"/>
                            </a:rPr>
                            <m:t>𝜕</m:t>
                          </m:r>
                          <m:r>
                            <a:rPr lang="fr-FR" sz="1100" i="1" dirty="0">
                              <a:latin typeface="Cambria Math" panose="02040503050406030204" pitchFamily="18" charset="0"/>
                              <a:ea typeface="Cambria Math" panose="02040503050406030204" pitchFamily="18" charset="0"/>
                            </a:rPr>
                            <m:t>𝑊</m:t>
                          </m:r>
                        </m:den>
                      </m:f>
                    </m:oMath>
                  </m:oMathPara>
                </a14:m>
                <a:endParaRPr lang="en-GB" sz="1100" dirty="0"/>
              </a:p>
              <a:p>
                <a:endParaRPr lang="en-GB" sz="1100" dirty="0"/>
              </a:p>
              <a:p>
                <a:r>
                  <a:rPr lang="en-GB" sz="1100" dirty="0"/>
                  <a:t>If we fixe </a:t>
                </a:r>
                <a14:m>
                  <m:oMath xmlns:m="http://schemas.openxmlformats.org/officeDocument/2006/math">
                    <m:sSub>
                      <m:sSubPr>
                        <m:ctrlPr>
                          <a:rPr lang="en-GB" sz="1100" i="1" smtClean="0">
                            <a:latin typeface="Cambria Math" panose="02040503050406030204" pitchFamily="18" charset="0"/>
                            <a:ea typeface="Cambria Math" panose="02040503050406030204" pitchFamily="18" charset="0"/>
                          </a:rPr>
                        </m:ctrlPr>
                      </m:sSubPr>
                      <m:e>
                        <m:r>
                          <a:rPr lang="en-GB" sz="1100" i="1">
                            <a:latin typeface="Cambria Math" panose="02040503050406030204" pitchFamily="18" charset="0"/>
                            <a:ea typeface="Cambria Math" panose="02040503050406030204" pitchFamily="18" charset="0"/>
                          </a:rPr>
                          <m:t>h</m:t>
                        </m:r>
                      </m:e>
                      <m:sub>
                        <m:r>
                          <a:rPr lang="en-GB" sz="1100" i="1">
                            <a:latin typeface="Cambria Math" panose="02040503050406030204" pitchFamily="18" charset="0"/>
                            <a:ea typeface="Cambria Math" panose="02040503050406030204" pitchFamily="18" charset="0"/>
                          </a:rPr>
                          <m:t>𝑡</m:t>
                        </m:r>
                      </m:sub>
                    </m:sSub>
                    <m:r>
                      <a:rPr lang="en-GB" sz="1100" i="1">
                        <a:latin typeface="Cambria Math" panose="02040503050406030204" pitchFamily="18" charset="0"/>
                        <a:ea typeface="Cambria Math" panose="02040503050406030204" pitchFamily="18" charset="0"/>
                      </a:rPr>
                      <m:t> </m:t>
                    </m:r>
                  </m:oMath>
                </a14:m>
                <a:r>
                  <a:rPr lang="en-GB" sz="1100" dirty="0"/>
                  <a:t>i.e. if we want to know the immediate impact of </a:t>
                </a:r>
                <a14:m>
                  <m:oMath xmlns:m="http://schemas.openxmlformats.org/officeDocument/2006/math">
                    <m:r>
                      <a:rPr lang="fr-FR" sz="1100" b="0" i="1" smtClean="0">
                        <a:latin typeface="Cambria Math" panose="02040503050406030204" pitchFamily="18" charset="0"/>
                        <a:ea typeface="Cambria Math" panose="02040503050406030204" pitchFamily="18" charset="0"/>
                      </a:rPr>
                      <m:t>𝑊</m:t>
                    </m:r>
                  </m:oMath>
                </a14:m>
                <a:r>
                  <a:rPr lang="en-GB" sz="1100" dirty="0"/>
                  <a:t>on </a:t>
                </a:r>
                <a14:m>
                  <m:oMath xmlns:m="http://schemas.openxmlformats.org/officeDocument/2006/math">
                    <m:sSub>
                      <m:sSubPr>
                        <m:ctrlPr>
                          <a:rPr lang="en-GB" sz="1100" i="1">
                            <a:latin typeface="Cambria Math" panose="02040503050406030204" pitchFamily="18" charset="0"/>
                            <a:ea typeface="Cambria Math" panose="02040503050406030204" pitchFamily="18" charset="0"/>
                          </a:rPr>
                        </m:ctrlPr>
                      </m:sSubPr>
                      <m:e>
                        <m:r>
                          <a:rPr lang="en-GB" sz="1100" i="1">
                            <a:latin typeface="Cambria Math" panose="02040503050406030204" pitchFamily="18" charset="0"/>
                            <a:ea typeface="Cambria Math" panose="02040503050406030204" pitchFamily="18" charset="0"/>
                          </a:rPr>
                          <m:t>h</m:t>
                        </m:r>
                      </m:e>
                      <m:sub>
                        <m:r>
                          <a:rPr lang="en-GB" sz="1100" i="1">
                            <a:latin typeface="Cambria Math" panose="02040503050406030204" pitchFamily="18" charset="0"/>
                            <a:ea typeface="Cambria Math" panose="02040503050406030204" pitchFamily="18" charset="0"/>
                          </a:rPr>
                          <m:t>𝑡</m:t>
                        </m:r>
                      </m:sub>
                    </m:sSub>
                  </m:oMath>
                </a14:m>
                <a:r>
                  <a:rPr lang="en-GB" sz="1100" dirty="0"/>
                  <a:t>: </a:t>
                </a:r>
                <a:endParaRPr lang="fr-FR" sz="1200" i="1" dirty="0">
                  <a:latin typeface="Cambria Math" panose="02040503050406030204" pitchFamily="18" charset="0"/>
                  <a:ea typeface="Cambria Math" panose="02040503050406030204" pitchFamily="18" charset="0"/>
                </a:endParaRPr>
              </a:p>
              <a:p>
                <a:endParaRPr lang="fr-FR" sz="1000" i="1" dirty="0">
                  <a:latin typeface="Cambria Math" panose="02040503050406030204" pitchFamily="18" charset="0"/>
                  <a:ea typeface="Cambria Math" panose="02040503050406030204" pitchFamily="18" charset="0"/>
                </a:endParaRPr>
              </a:p>
              <a:p>
                <a14:m>
                  <m:oMath xmlns:m="http://schemas.openxmlformats.org/officeDocument/2006/math">
                    <m:f>
                      <m:fPr>
                        <m:ctrlPr>
                          <a:rPr lang="fr-FR" sz="1200" i="1" dirty="0">
                            <a:latin typeface="Cambria Math" panose="02040503050406030204" pitchFamily="18" charset="0"/>
                            <a:ea typeface="Cambria Math" panose="02040503050406030204" pitchFamily="18" charset="0"/>
                          </a:rPr>
                        </m:ctrlPr>
                      </m:fPr>
                      <m:num>
                        <m:r>
                          <a:rPr lang="fr-FR" sz="1200" i="1"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a:rPr lang="fr-FR" sz="1200" i="1" dirty="0">
                                <a:latin typeface="Cambria Math" panose="02040503050406030204" pitchFamily="18" charset="0"/>
                                <a:ea typeface="Cambria Math" panose="02040503050406030204" pitchFamily="18" charset="0"/>
                              </a:rPr>
                              <m:t>h</m:t>
                            </m:r>
                          </m:e>
                          <m:sub>
                            <m:r>
                              <a:rPr lang="fr-FR" sz="1200" i="1" dirty="0">
                                <a:latin typeface="Cambria Math" panose="02040503050406030204" pitchFamily="18" charset="0"/>
                                <a:ea typeface="Cambria Math" panose="02040503050406030204" pitchFamily="18" charset="0"/>
                              </a:rPr>
                              <m:t>𝑡</m:t>
                            </m:r>
                          </m:sub>
                        </m:sSub>
                      </m:num>
                      <m:den>
                        <m:r>
                          <a:rPr lang="fr-FR" sz="1200" i="1" dirty="0">
                            <a:latin typeface="Cambria Math" panose="02040503050406030204" pitchFamily="18" charset="0"/>
                            <a:ea typeface="Cambria Math" panose="02040503050406030204" pitchFamily="18" charset="0"/>
                          </a:rPr>
                          <m:t>𝜕</m:t>
                        </m:r>
                        <m:r>
                          <a:rPr lang="fr-FR" sz="1200" i="1" dirty="0">
                            <a:latin typeface="Cambria Math" panose="02040503050406030204" pitchFamily="18" charset="0"/>
                            <a:ea typeface="Cambria Math" panose="02040503050406030204" pitchFamily="18" charset="0"/>
                          </a:rPr>
                          <m:t>𝑊</m:t>
                        </m:r>
                      </m:den>
                    </m:f>
                    <m:r>
                      <a:rPr lang="fr-FR" sz="1200" b="0" i="1" dirty="0" smtClean="0">
                        <a:latin typeface="Cambria Math" panose="02040503050406030204" pitchFamily="18" charset="0"/>
                        <a:ea typeface="Cambria Math" panose="02040503050406030204" pitchFamily="18" charset="0"/>
                      </a:rPr>
                      <m:t>=</m:t>
                    </m:r>
                    <m:d>
                      <m:dPr>
                        <m:ctrlPr>
                          <a:rPr lang="fr-FR" sz="1200" i="1" dirty="0">
                            <a:latin typeface="Cambria Math" panose="02040503050406030204" pitchFamily="18" charset="0"/>
                            <a:ea typeface="Cambria Math" panose="02040503050406030204" pitchFamily="18" charset="0"/>
                          </a:rPr>
                        </m:ctrlPr>
                      </m:dPr>
                      <m:e>
                        <m:r>
                          <a:rPr lang="fr-FR" sz="1200" i="1" dirty="0">
                            <a:latin typeface="Cambria Math" panose="02040503050406030204" pitchFamily="18" charset="0"/>
                            <a:ea typeface="Cambria Math" panose="02040503050406030204" pitchFamily="18" charset="0"/>
                          </a:rPr>
                          <m:t>1−</m:t>
                        </m:r>
                        <m:sSubSup>
                          <m:sSubSupPr>
                            <m:ctrlPr>
                              <a:rPr lang="fr-FR" sz="1200" i="1" dirty="0">
                                <a:latin typeface="Cambria Math" panose="02040503050406030204" pitchFamily="18" charset="0"/>
                                <a:ea typeface="Cambria Math" panose="02040503050406030204" pitchFamily="18" charset="0"/>
                              </a:rPr>
                            </m:ctrlPr>
                          </m:sSubSupPr>
                          <m:e>
                            <m:r>
                              <a:rPr lang="fr-FR" sz="1200" i="1" dirty="0">
                                <a:latin typeface="Cambria Math" panose="02040503050406030204" pitchFamily="18" charset="0"/>
                                <a:ea typeface="Cambria Math" panose="02040503050406030204" pitchFamily="18" charset="0"/>
                              </a:rPr>
                              <m:t>h</m:t>
                            </m:r>
                          </m:e>
                          <m:sub>
                            <m:r>
                              <a:rPr lang="fr-FR" sz="1200" i="1" dirty="0">
                                <a:latin typeface="Cambria Math" panose="02040503050406030204" pitchFamily="18" charset="0"/>
                                <a:ea typeface="Cambria Math" panose="02040503050406030204" pitchFamily="18" charset="0"/>
                              </a:rPr>
                              <m:t>𝑡</m:t>
                            </m:r>
                          </m:sub>
                          <m:sup>
                            <m:r>
                              <a:rPr lang="fr-FR" sz="1200" i="1" dirty="0">
                                <a:latin typeface="Cambria Math" panose="02040503050406030204" pitchFamily="18" charset="0"/>
                                <a:ea typeface="Cambria Math" panose="02040503050406030204" pitchFamily="18" charset="0"/>
                              </a:rPr>
                              <m:t>2</m:t>
                            </m:r>
                          </m:sup>
                        </m:sSubSup>
                      </m:e>
                    </m:d>
                    <m:r>
                      <a:rPr lang="fr-FR" sz="1200" b="0" i="1" dirty="0" smtClean="0">
                        <a:latin typeface="Cambria Math" panose="02040503050406030204" pitchFamily="18" charset="0"/>
                        <a:ea typeface="Cambria Math" panose="02040503050406030204" pitchFamily="18" charset="0"/>
                      </a:rPr>
                      <m:t>.</m:t>
                    </m:r>
                    <m:f>
                      <m:fPr>
                        <m:ctrlPr>
                          <a:rPr lang="fr-FR" sz="1200" b="0" i="1" dirty="0" smtClean="0">
                            <a:latin typeface="Cambria Math" panose="02040503050406030204" pitchFamily="18" charset="0"/>
                            <a:ea typeface="Cambria Math" panose="02040503050406030204" pitchFamily="18" charset="0"/>
                          </a:rPr>
                        </m:ctrlPr>
                      </m:fPr>
                      <m:num>
                        <m:r>
                          <a:rPr lang="fr-FR" sz="1200" b="0" i="1" dirty="0" smtClean="0">
                            <a:latin typeface="Cambria Math" panose="02040503050406030204" pitchFamily="18" charset="0"/>
                            <a:ea typeface="Cambria Math" panose="02040503050406030204" pitchFamily="18" charset="0"/>
                          </a:rPr>
                          <m:t>𝑑</m:t>
                        </m:r>
                        <m:r>
                          <a:rPr lang="fr-FR" sz="1200" b="0" i="1" dirty="0" smtClean="0">
                            <a:latin typeface="Cambria Math" panose="02040503050406030204" pitchFamily="18" charset="0"/>
                            <a:ea typeface="Cambria Math" panose="02040503050406030204" pitchFamily="18" charset="0"/>
                          </a:rPr>
                          <m:t>(</m:t>
                        </m:r>
                        <m:r>
                          <a:rPr lang="fr-FR" sz="1200" b="0" i="1" dirty="0" smtClean="0">
                            <a:latin typeface="Cambria Math" panose="02040503050406030204" pitchFamily="18" charset="0"/>
                            <a:ea typeface="Cambria Math" panose="02040503050406030204" pitchFamily="18" charset="0"/>
                          </a:rPr>
                          <m:t>𝑈</m:t>
                        </m:r>
                        <m:sSub>
                          <m:sSubPr>
                            <m:ctrlPr>
                              <a:rPr lang="fr-FR" sz="1200" b="0" i="1" dirty="0" smtClean="0">
                                <a:latin typeface="Cambria Math" panose="02040503050406030204" pitchFamily="18" charset="0"/>
                                <a:ea typeface="Cambria Math" panose="02040503050406030204" pitchFamily="18" charset="0"/>
                              </a:rPr>
                            </m:ctrlPr>
                          </m:sSubPr>
                          <m:e>
                            <m:r>
                              <a:rPr lang="fr-FR" sz="1200" b="0" i="1" dirty="0" smtClean="0">
                                <a:latin typeface="Cambria Math" panose="02040503050406030204" pitchFamily="18" charset="0"/>
                                <a:ea typeface="Cambria Math" panose="02040503050406030204" pitchFamily="18" charset="0"/>
                              </a:rPr>
                              <m:t>𝑋</m:t>
                            </m:r>
                          </m:e>
                          <m:sub>
                            <m:r>
                              <a:rPr lang="fr-FR" sz="1200" b="0" i="1" dirty="0" smtClean="0">
                                <a:latin typeface="Cambria Math" panose="02040503050406030204" pitchFamily="18" charset="0"/>
                                <a:ea typeface="Cambria Math" panose="02040503050406030204" pitchFamily="18" charset="0"/>
                              </a:rPr>
                              <m:t>𝑡</m:t>
                            </m:r>
                          </m:sub>
                        </m:sSub>
                        <m:r>
                          <a:rPr lang="fr-FR" sz="1200" b="0" i="1" dirty="0" smtClean="0">
                            <a:latin typeface="Cambria Math" panose="02040503050406030204" pitchFamily="18" charset="0"/>
                            <a:ea typeface="Cambria Math" panose="02040503050406030204" pitchFamily="18" charset="0"/>
                          </a:rPr>
                          <m:t>+</m:t>
                        </m:r>
                        <m:r>
                          <a:rPr lang="fr-FR" sz="1200" b="0" i="1" dirty="0" smtClean="0">
                            <a:latin typeface="Cambria Math" panose="02040503050406030204" pitchFamily="18" charset="0"/>
                            <a:ea typeface="Cambria Math" panose="02040503050406030204" pitchFamily="18" charset="0"/>
                          </a:rPr>
                          <m:t>𝑊</m:t>
                        </m:r>
                        <m:sSub>
                          <m:sSubPr>
                            <m:ctrlPr>
                              <a:rPr lang="fr-FR" sz="1200" b="0" i="1" dirty="0" smtClean="0">
                                <a:latin typeface="Cambria Math" panose="02040503050406030204" pitchFamily="18" charset="0"/>
                                <a:ea typeface="Cambria Math" panose="02040503050406030204" pitchFamily="18" charset="0"/>
                              </a:rPr>
                            </m:ctrlPr>
                          </m:sSubPr>
                          <m:e>
                            <m:r>
                              <a:rPr lang="fr-FR" sz="1200" b="0" i="1" dirty="0" smtClean="0">
                                <a:latin typeface="Cambria Math" panose="02040503050406030204" pitchFamily="18" charset="0"/>
                                <a:ea typeface="Cambria Math" panose="02040503050406030204" pitchFamily="18" charset="0"/>
                              </a:rPr>
                              <m:t>h</m:t>
                            </m:r>
                          </m:e>
                          <m:sub>
                            <m:r>
                              <a:rPr lang="fr-FR" sz="1200" b="0" i="1" dirty="0" smtClean="0">
                                <a:latin typeface="Cambria Math" panose="02040503050406030204" pitchFamily="18" charset="0"/>
                                <a:ea typeface="Cambria Math" panose="02040503050406030204" pitchFamily="18" charset="0"/>
                              </a:rPr>
                              <m:t>𝑡</m:t>
                            </m:r>
                            <m:r>
                              <a:rPr lang="fr-FR" sz="1200" b="0" i="1" dirty="0" smtClean="0">
                                <a:latin typeface="Cambria Math" panose="02040503050406030204" pitchFamily="18" charset="0"/>
                                <a:ea typeface="Cambria Math" panose="02040503050406030204" pitchFamily="18" charset="0"/>
                              </a:rPr>
                              <m:t>−1</m:t>
                            </m:r>
                          </m:sub>
                        </m:sSub>
                        <m:r>
                          <a:rPr lang="fr-FR" sz="1200" b="0" i="1" dirty="0" smtClean="0">
                            <a:latin typeface="Cambria Math" panose="02040503050406030204" pitchFamily="18" charset="0"/>
                            <a:ea typeface="Cambria Math" panose="02040503050406030204" pitchFamily="18" charset="0"/>
                          </a:rPr>
                          <m:t>)</m:t>
                        </m:r>
                      </m:num>
                      <m:den>
                        <m:r>
                          <a:rPr lang="fr-FR" sz="1200" b="0" i="1" dirty="0" smtClean="0">
                            <a:latin typeface="Cambria Math" panose="02040503050406030204" pitchFamily="18" charset="0"/>
                            <a:ea typeface="Cambria Math" panose="02040503050406030204" pitchFamily="18" charset="0"/>
                          </a:rPr>
                          <m:t>𝑑𝑥</m:t>
                        </m:r>
                      </m:den>
                    </m:f>
                    <m:r>
                      <a:rPr lang="fr-FR" sz="1200" b="0" i="1" dirty="0" smtClean="0">
                        <a:latin typeface="Cambria Math" panose="02040503050406030204" pitchFamily="18" charset="0"/>
                        <a:ea typeface="Cambria Math" panose="02040503050406030204" pitchFamily="18" charset="0"/>
                      </a:rPr>
                      <m:t>=</m:t>
                    </m:r>
                    <m:d>
                      <m:dPr>
                        <m:ctrlPr>
                          <a:rPr lang="fr-FR" sz="1200" i="1" dirty="0">
                            <a:latin typeface="Cambria Math" panose="02040503050406030204" pitchFamily="18" charset="0"/>
                            <a:ea typeface="Cambria Math" panose="02040503050406030204" pitchFamily="18" charset="0"/>
                          </a:rPr>
                        </m:ctrlPr>
                      </m:dPr>
                      <m:e>
                        <m:r>
                          <a:rPr lang="fr-FR" sz="1200" i="1" dirty="0">
                            <a:latin typeface="Cambria Math" panose="02040503050406030204" pitchFamily="18" charset="0"/>
                            <a:ea typeface="Cambria Math" panose="02040503050406030204" pitchFamily="18" charset="0"/>
                          </a:rPr>
                          <m:t>1−</m:t>
                        </m:r>
                        <m:sSubSup>
                          <m:sSubSupPr>
                            <m:ctrlPr>
                              <a:rPr lang="fr-FR" sz="1200" i="1" dirty="0">
                                <a:latin typeface="Cambria Math" panose="02040503050406030204" pitchFamily="18" charset="0"/>
                                <a:ea typeface="Cambria Math" panose="02040503050406030204" pitchFamily="18" charset="0"/>
                              </a:rPr>
                            </m:ctrlPr>
                          </m:sSubSupPr>
                          <m:e>
                            <m:r>
                              <a:rPr lang="fr-FR" sz="1200" i="1" dirty="0">
                                <a:latin typeface="Cambria Math" panose="02040503050406030204" pitchFamily="18" charset="0"/>
                                <a:ea typeface="Cambria Math" panose="02040503050406030204" pitchFamily="18" charset="0"/>
                              </a:rPr>
                              <m:t>h</m:t>
                            </m:r>
                          </m:e>
                          <m:sub>
                            <m:r>
                              <a:rPr lang="fr-FR" sz="1200" i="1" dirty="0">
                                <a:latin typeface="Cambria Math" panose="02040503050406030204" pitchFamily="18" charset="0"/>
                                <a:ea typeface="Cambria Math" panose="02040503050406030204" pitchFamily="18" charset="0"/>
                              </a:rPr>
                              <m:t>𝑡</m:t>
                            </m:r>
                          </m:sub>
                          <m:sup>
                            <m:r>
                              <a:rPr lang="fr-FR" sz="1200" i="1" dirty="0">
                                <a:latin typeface="Cambria Math" panose="02040503050406030204" pitchFamily="18" charset="0"/>
                                <a:ea typeface="Cambria Math" panose="02040503050406030204" pitchFamily="18" charset="0"/>
                              </a:rPr>
                              <m:t>2</m:t>
                            </m:r>
                          </m:sup>
                        </m:sSubSup>
                      </m:e>
                    </m:d>
                    <m:sSub>
                      <m:sSubPr>
                        <m:ctrlPr>
                          <a:rPr lang="fr-FR" sz="1200" b="0" i="1" dirty="0" smtClean="0">
                            <a:latin typeface="Cambria Math" panose="02040503050406030204" pitchFamily="18" charset="0"/>
                            <a:ea typeface="Cambria Math" panose="02040503050406030204" pitchFamily="18" charset="0"/>
                          </a:rPr>
                        </m:ctrlPr>
                      </m:sSubPr>
                      <m:e>
                        <m:r>
                          <a:rPr lang="fr-FR" sz="1200" b="0" i="1" dirty="0" smtClean="0">
                            <a:latin typeface="Cambria Math" panose="02040503050406030204" pitchFamily="18" charset="0"/>
                            <a:ea typeface="Cambria Math" panose="02040503050406030204" pitchFamily="18" charset="0"/>
                          </a:rPr>
                          <m:t>h</m:t>
                        </m:r>
                      </m:e>
                      <m:sub>
                        <m:r>
                          <a:rPr lang="fr-FR" sz="1200" b="0" i="1" dirty="0" smtClean="0">
                            <a:latin typeface="Cambria Math" panose="02040503050406030204" pitchFamily="18" charset="0"/>
                            <a:ea typeface="Cambria Math" panose="02040503050406030204" pitchFamily="18" charset="0"/>
                          </a:rPr>
                          <m:t>𝑡</m:t>
                        </m:r>
                        <m:r>
                          <a:rPr lang="fr-FR" sz="1200" b="0" i="1" dirty="0" smtClean="0">
                            <a:latin typeface="Cambria Math" panose="02040503050406030204" pitchFamily="18" charset="0"/>
                            <a:ea typeface="Cambria Math" panose="02040503050406030204" pitchFamily="18" charset="0"/>
                          </a:rPr>
                          <m:t>−1</m:t>
                        </m:r>
                      </m:sub>
                    </m:sSub>
                  </m:oMath>
                </a14:m>
                <a:r>
                  <a:rPr lang="en-GB" sz="1100" dirty="0"/>
                  <a:t> </a:t>
                </a:r>
              </a:p>
              <a:p>
                <a:endParaRPr lang="en-GB" sz="1100" dirty="0"/>
              </a:p>
              <a:p>
                <a:r>
                  <a:rPr lang="en-GB" sz="1200" dirty="0">
                    <a:latin typeface="Cambria Math" panose="02040503050406030204" pitchFamily="18" charset="0"/>
                    <a:ea typeface="Cambria Math" panose="02040503050406030204" pitchFamily="18" charset="0"/>
                  </a:rPr>
                  <a:t>We also have the following result </a:t>
                </a:r>
                <a:endParaRPr lang="fr-FR" sz="1200" dirty="0">
                  <a:latin typeface="Cambria Math" panose="02040503050406030204" pitchFamily="18" charset="0"/>
                  <a:ea typeface="Cambria Math" panose="02040503050406030204" pitchFamily="18" charset="0"/>
                </a:endParaRPr>
              </a:p>
              <a:p>
                <a:endParaRPr lang="fr-FR" sz="10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fr-FR" sz="1200" i="1" dirty="0">
                              <a:latin typeface="Cambria Math" panose="02040503050406030204" pitchFamily="18" charset="0"/>
                              <a:ea typeface="Cambria Math" panose="02040503050406030204" pitchFamily="18" charset="0"/>
                            </a:rPr>
                          </m:ctrlPr>
                        </m:fPr>
                        <m:num>
                          <m:r>
                            <a:rPr lang="fr-FR" sz="1200" i="1"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a:rPr lang="fr-FR" sz="1200" i="1" dirty="0">
                                  <a:latin typeface="Cambria Math" panose="02040503050406030204" pitchFamily="18" charset="0"/>
                                  <a:ea typeface="Cambria Math" panose="02040503050406030204" pitchFamily="18" charset="0"/>
                                </a:rPr>
                                <m:t>h</m:t>
                              </m:r>
                            </m:e>
                            <m:sub>
                              <m:r>
                                <a:rPr lang="fr-FR" sz="1200" i="1" dirty="0">
                                  <a:latin typeface="Cambria Math" panose="02040503050406030204" pitchFamily="18" charset="0"/>
                                  <a:ea typeface="Cambria Math" panose="02040503050406030204" pitchFamily="18" charset="0"/>
                                </a:rPr>
                                <m:t>𝑡</m:t>
                              </m:r>
                            </m:sub>
                          </m:sSub>
                        </m:num>
                        <m:den>
                          <m:r>
                            <a:rPr lang="fr-FR" sz="1200" i="1" dirty="0">
                              <a:latin typeface="Cambria Math" panose="02040503050406030204" pitchFamily="18" charset="0"/>
                              <a:ea typeface="Cambria Math" panose="02040503050406030204" pitchFamily="18" charset="0"/>
                            </a:rPr>
                            <m:t>𝜕</m:t>
                          </m:r>
                          <m:sSub>
                            <m:sSubPr>
                              <m:ctrlPr>
                                <a:rPr lang="fr-FR" sz="1200" b="0" i="1" dirty="0" smtClean="0">
                                  <a:latin typeface="Cambria Math" panose="02040503050406030204" pitchFamily="18" charset="0"/>
                                  <a:ea typeface="Cambria Math" panose="02040503050406030204" pitchFamily="18" charset="0"/>
                                </a:rPr>
                              </m:ctrlPr>
                            </m:sSubPr>
                            <m:e>
                              <m:r>
                                <a:rPr lang="fr-FR" sz="1200" b="0" i="1" dirty="0" smtClean="0">
                                  <a:latin typeface="Cambria Math" panose="02040503050406030204" pitchFamily="18" charset="0"/>
                                  <a:ea typeface="Cambria Math" panose="02040503050406030204" pitchFamily="18" charset="0"/>
                                </a:rPr>
                                <m:t>h</m:t>
                              </m:r>
                            </m:e>
                            <m:sub>
                              <m:r>
                                <a:rPr lang="fr-FR" sz="1200" b="0" i="1" dirty="0" smtClean="0">
                                  <a:latin typeface="Cambria Math" panose="02040503050406030204" pitchFamily="18" charset="0"/>
                                  <a:ea typeface="Cambria Math" panose="02040503050406030204" pitchFamily="18" charset="0"/>
                                </a:rPr>
                                <m:t>𝑡</m:t>
                              </m:r>
                              <m:r>
                                <a:rPr lang="fr-FR" sz="1200" b="0" i="1" dirty="0" smtClean="0">
                                  <a:latin typeface="Cambria Math" panose="02040503050406030204" pitchFamily="18" charset="0"/>
                                  <a:ea typeface="Cambria Math" panose="02040503050406030204" pitchFamily="18" charset="0"/>
                                </a:rPr>
                                <m:t>−1</m:t>
                              </m:r>
                            </m:sub>
                          </m:sSub>
                        </m:den>
                      </m:f>
                      <m:r>
                        <a:rPr lang="fr-FR" sz="1200" b="0" i="1" dirty="0" smtClean="0">
                          <a:latin typeface="Cambria Math" panose="02040503050406030204" pitchFamily="18" charset="0"/>
                          <a:ea typeface="Cambria Math" panose="02040503050406030204" pitchFamily="18" charset="0"/>
                        </a:rPr>
                        <m:t>=</m:t>
                      </m:r>
                      <m:d>
                        <m:dPr>
                          <m:ctrlPr>
                            <a:rPr lang="fr-FR" sz="1200" b="0" i="1" dirty="0" smtClean="0">
                              <a:latin typeface="Cambria Math" panose="02040503050406030204" pitchFamily="18" charset="0"/>
                              <a:ea typeface="Cambria Math" panose="02040503050406030204" pitchFamily="18" charset="0"/>
                            </a:rPr>
                          </m:ctrlPr>
                        </m:dPr>
                        <m:e>
                          <m:r>
                            <a:rPr lang="fr-FR" sz="1200" b="0" i="1" dirty="0" smtClean="0">
                              <a:latin typeface="Cambria Math" panose="02040503050406030204" pitchFamily="18" charset="0"/>
                              <a:ea typeface="Cambria Math" panose="02040503050406030204" pitchFamily="18" charset="0"/>
                            </a:rPr>
                            <m:t>1−</m:t>
                          </m:r>
                          <m:sSubSup>
                            <m:sSubSupPr>
                              <m:ctrlPr>
                                <a:rPr lang="fr-FR" sz="1200" b="0" i="1" dirty="0" smtClean="0">
                                  <a:latin typeface="Cambria Math" panose="02040503050406030204" pitchFamily="18" charset="0"/>
                                  <a:ea typeface="Cambria Math" panose="02040503050406030204" pitchFamily="18" charset="0"/>
                                </a:rPr>
                              </m:ctrlPr>
                            </m:sSubSupPr>
                            <m:e>
                              <m:r>
                                <a:rPr lang="fr-FR" sz="1200" b="0" i="1" dirty="0" smtClean="0">
                                  <a:latin typeface="Cambria Math" panose="02040503050406030204" pitchFamily="18" charset="0"/>
                                  <a:ea typeface="Cambria Math" panose="02040503050406030204" pitchFamily="18" charset="0"/>
                                </a:rPr>
                                <m:t>h</m:t>
                              </m:r>
                            </m:e>
                            <m:sub>
                              <m:r>
                                <a:rPr lang="fr-FR" sz="1200" b="0" i="1" dirty="0" smtClean="0">
                                  <a:latin typeface="Cambria Math" panose="02040503050406030204" pitchFamily="18" charset="0"/>
                                  <a:ea typeface="Cambria Math" panose="02040503050406030204" pitchFamily="18" charset="0"/>
                                </a:rPr>
                                <m:t>𝑡</m:t>
                              </m:r>
                            </m:sub>
                            <m:sup>
                              <m:r>
                                <a:rPr lang="fr-FR" sz="1200" b="0" i="1" dirty="0" smtClean="0">
                                  <a:latin typeface="Cambria Math" panose="02040503050406030204" pitchFamily="18" charset="0"/>
                                  <a:ea typeface="Cambria Math" panose="02040503050406030204" pitchFamily="18" charset="0"/>
                                </a:rPr>
                                <m:t>2</m:t>
                              </m:r>
                            </m:sup>
                          </m:sSubSup>
                        </m:e>
                      </m:d>
                      <m:r>
                        <a:rPr lang="fr-FR" sz="1200" b="0" i="1" dirty="0" smtClean="0">
                          <a:latin typeface="Cambria Math" panose="02040503050406030204" pitchFamily="18" charset="0"/>
                          <a:ea typeface="Cambria Math" panose="02040503050406030204" pitchFamily="18" charset="0"/>
                        </a:rPr>
                        <m:t>.</m:t>
                      </m:r>
                      <m:r>
                        <a:rPr lang="fr-FR" sz="1200" b="0" i="1" dirty="0" smtClean="0">
                          <a:latin typeface="Cambria Math" panose="02040503050406030204" pitchFamily="18" charset="0"/>
                          <a:ea typeface="Cambria Math" panose="02040503050406030204" pitchFamily="18" charset="0"/>
                        </a:rPr>
                        <m:t>𝑊</m:t>
                      </m:r>
                    </m:oMath>
                  </m:oMathPara>
                </a14:m>
                <a:endParaRPr lang="en-GB" sz="1100" dirty="0"/>
              </a:p>
              <a:p>
                <a:endParaRPr lang="en-GB" sz="1100" dirty="0"/>
              </a:p>
              <a:p>
                <a:r>
                  <a:rPr lang="en-GB" sz="1200" dirty="0">
                    <a:latin typeface="Cambria Math" panose="02040503050406030204" pitchFamily="18" charset="0"/>
                    <a:ea typeface="Cambria Math" panose="02040503050406030204" pitchFamily="18" charset="0"/>
                  </a:rPr>
                  <a:t>If we integrate these two results in our equation we get:</a:t>
                </a:r>
              </a:p>
              <a:p>
                <a:endParaRPr lang="en-GB" sz="1100" dirty="0"/>
              </a:p>
              <a:p>
                <a:pPr/>
                <a14:m>
                  <m:oMathPara xmlns:m="http://schemas.openxmlformats.org/officeDocument/2006/math">
                    <m:oMathParaPr>
                      <m:jc m:val="left"/>
                    </m:oMathParaPr>
                    <m:oMath xmlns:m="http://schemas.openxmlformats.org/officeDocument/2006/math">
                      <m:f>
                        <m:fPr>
                          <m:ctrlPr>
                            <a:rPr lang="fr-FR" sz="1100" i="1" dirty="0" smtClean="0">
                              <a:latin typeface="Cambria Math" panose="02040503050406030204" pitchFamily="18" charset="0"/>
                              <a:ea typeface="Cambria Math" panose="02040503050406030204" pitchFamily="18" charset="0"/>
                            </a:rPr>
                          </m:ctrlPr>
                        </m:fPr>
                        <m:num>
                          <m:r>
                            <a:rPr lang="fr-FR" sz="1100" i="1" dirty="0">
                              <a:latin typeface="Cambria Math" panose="02040503050406030204" pitchFamily="18" charset="0"/>
                              <a:ea typeface="Cambria Math" panose="02040503050406030204" pitchFamily="18" charset="0"/>
                            </a:rPr>
                            <m:t>𝜕</m:t>
                          </m:r>
                          <m:sSub>
                            <m:sSubPr>
                              <m:ctrlPr>
                                <a:rPr lang="fr-FR" sz="1100" i="1" dirty="0">
                                  <a:latin typeface="Cambria Math" panose="02040503050406030204" pitchFamily="18" charset="0"/>
                                  <a:ea typeface="Cambria Math" panose="02040503050406030204" pitchFamily="18" charset="0"/>
                                </a:rPr>
                              </m:ctrlPr>
                            </m:sSubPr>
                            <m:e>
                              <m:r>
                                <a:rPr lang="fr-FR" sz="1100" i="1" dirty="0">
                                  <a:latin typeface="Cambria Math" panose="02040503050406030204" pitchFamily="18" charset="0"/>
                                  <a:ea typeface="Cambria Math" panose="02040503050406030204" pitchFamily="18" charset="0"/>
                                </a:rPr>
                                <m:t>h</m:t>
                              </m:r>
                            </m:e>
                            <m:sub>
                              <m:r>
                                <a:rPr lang="fr-FR" sz="1100" i="1" dirty="0">
                                  <a:latin typeface="Cambria Math" panose="02040503050406030204" pitchFamily="18" charset="0"/>
                                  <a:ea typeface="Cambria Math" panose="02040503050406030204" pitchFamily="18" charset="0"/>
                                </a:rPr>
                                <m:t>𝑡</m:t>
                              </m:r>
                            </m:sub>
                          </m:sSub>
                        </m:num>
                        <m:den>
                          <m:r>
                            <a:rPr lang="fr-FR" sz="1100" i="1" dirty="0">
                              <a:latin typeface="Cambria Math" panose="02040503050406030204" pitchFamily="18" charset="0"/>
                              <a:ea typeface="Cambria Math" panose="02040503050406030204" pitchFamily="18" charset="0"/>
                            </a:rPr>
                            <m:t>𝜕</m:t>
                          </m:r>
                          <m:r>
                            <a:rPr lang="fr-FR" sz="1100" i="1" dirty="0">
                              <a:latin typeface="Cambria Math" panose="02040503050406030204" pitchFamily="18" charset="0"/>
                              <a:ea typeface="Cambria Math" panose="02040503050406030204" pitchFamily="18" charset="0"/>
                            </a:rPr>
                            <m:t>𝑊</m:t>
                          </m:r>
                        </m:den>
                      </m:f>
                      <m:r>
                        <a:rPr lang="fr-FR" sz="1100" b="0" i="1" dirty="0" smtClean="0">
                          <a:latin typeface="Cambria Math" panose="02040503050406030204" pitchFamily="18" charset="0"/>
                          <a:ea typeface="Cambria Math" panose="02040503050406030204" pitchFamily="18" charset="0"/>
                        </a:rPr>
                        <m:t>=</m:t>
                      </m:r>
                      <m:d>
                        <m:dPr>
                          <m:ctrlPr>
                            <a:rPr lang="fr-FR" sz="1100" i="1" dirty="0">
                              <a:latin typeface="Cambria Math" panose="02040503050406030204" pitchFamily="18" charset="0"/>
                              <a:ea typeface="Cambria Math" panose="02040503050406030204" pitchFamily="18" charset="0"/>
                            </a:rPr>
                          </m:ctrlPr>
                        </m:dPr>
                        <m:e>
                          <m:r>
                            <a:rPr lang="fr-FR" sz="1100" i="1" dirty="0">
                              <a:latin typeface="Cambria Math" panose="02040503050406030204" pitchFamily="18" charset="0"/>
                              <a:ea typeface="Cambria Math" panose="02040503050406030204" pitchFamily="18" charset="0"/>
                            </a:rPr>
                            <m:t>1−</m:t>
                          </m:r>
                          <m:sSubSup>
                            <m:sSubSupPr>
                              <m:ctrlPr>
                                <a:rPr lang="fr-FR" sz="1100" i="1" dirty="0">
                                  <a:latin typeface="Cambria Math" panose="02040503050406030204" pitchFamily="18" charset="0"/>
                                  <a:ea typeface="Cambria Math" panose="02040503050406030204" pitchFamily="18" charset="0"/>
                                </a:rPr>
                              </m:ctrlPr>
                            </m:sSubSupPr>
                            <m:e>
                              <m:r>
                                <a:rPr lang="fr-FR" sz="1100" i="1" dirty="0">
                                  <a:latin typeface="Cambria Math" panose="02040503050406030204" pitchFamily="18" charset="0"/>
                                  <a:ea typeface="Cambria Math" panose="02040503050406030204" pitchFamily="18" charset="0"/>
                                </a:rPr>
                                <m:t>h</m:t>
                              </m:r>
                            </m:e>
                            <m:sub>
                              <m:r>
                                <a:rPr lang="fr-FR" sz="1100" i="1" dirty="0">
                                  <a:latin typeface="Cambria Math" panose="02040503050406030204" pitchFamily="18" charset="0"/>
                                  <a:ea typeface="Cambria Math" panose="02040503050406030204" pitchFamily="18" charset="0"/>
                                </a:rPr>
                                <m:t>𝑡</m:t>
                              </m:r>
                            </m:sub>
                            <m:sup>
                              <m:r>
                                <a:rPr lang="fr-FR" sz="1100" i="1" dirty="0">
                                  <a:latin typeface="Cambria Math" panose="02040503050406030204" pitchFamily="18" charset="0"/>
                                  <a:ea typeface="Cambria Math" panose="02040503050406030204" pitchFamily="18" charset="0"/>
                                </a:rPr>
                                <m:t>2</m:t>
                              </m:r>
                            </m:sup>
                          </m:sSubSup>
                        </m:e>
                      </m:d>
                      <m:r>
                        <a:rPr lang="fr-FR" sz="1100" i="1" dirty="0">
                          <a:latin typeface="Cambria Math" panose="02040503050406030204" pitchFamily="18" charset="0"/>
                          <a:ea typeface="Cambria Math" panose="02040503050406030204" pitchFamily="18" charset="0"/>
                        </a:rPr>
                        <m:t>.</m:t>
                      </m:r>
                      <m:sSubSup>
                        <m:sSubSupPr>
                          <m:ctrlPr>
                            <a:rPr lang="fr-FR" sz="1100" i="1" dirty="0">
                              <a:latin typeface="Cambria Math" panose="02040503050406030204" pitchFamily="18" charset="0"/>
                              <a:ea typeface="Cambria Math" panose="02040503050406030204" pitchFamily="18" charset="0"/>
                            </a:rPr>
                          </m:ctrlPr>
                        </m:sSubSupPr>
                        <m:e>
                          <m:r>
                            <a:rPr lang="fr-FR" sz="1100" i="1" dirty="0">
                              <a:latin typeface="Cambria Math" panose="02040503050406030204" pitchFamily="18" charset="0"/>
                              <a:ea typeface="Cambria Math" panose="02040503050406030204" pitchFamily="18" charset="0"/>
                            </a:rPr>
                            <m:t>h</m:t>
                          </m:r>
                        </m:e>
                        <m:sub>
                          <m:r>
                            <a:rPr lang="fr-FR" sz="1100" i="1" dirty="0">
                              <a:latin typeface="Cambria Math" panose="02040503050406030204" pitchFamily="18" charset="0"/>
                              <a:ea typeface="Cambria Math" panose="02040503050406030204" pitchFamily="18" charset="0"/>
                            </a:rPr>
                            <m:t>𝑡</m:t>
                          </m:r>
                          <m:r>
                            <a:rPr lang="fr-FR" sz="1100" i="1" dirty="0">
                              <a:latin typeface="Cambria Math" panose="02040503050406030204" pitchFamily="18" charset="0"/>
                              <a:ea typeface="Cambria Math" panose="02040503050406030204" pitchFamily="18" charset="0"/>
                            </a:rPr>
                            <m:t>−1</m:t>
                          </m:r>
                        </m:sub>
                        <m:sup>
                          <m:r>
                            <a:rPr lang="fr-FR" sz="1100" i="1" dirty="0">
                              <a:latin typeface="Cambria Math" panose="02040503050406030204" pitchFamily="18" charset="0"/>
                              <a:ea typeface="Cambria Math" panose="02040503050406030204" pitchFamily="18" charset="0"/>
                            </a:rPr>
                            <m:t>𝑇</m:t>
                          </m:r>
                        </m:sup>
                      </m:sSubSup>
                      <m:r>
                        <a:rPr lang="fr-FR" sz="1100" i="1" dirty="0">
                          <a:latin typeface="Cambria Math" panose="02040503050406030204" pitchFamily="18" charset="0"/>
                          <a:ea typeface="Cambria Math" panose="02040503050406030204" pitchFamily="18" charset="0"/>
                        </a:rPr>
                        <m:t>+</m:t>
                      </m:r>
                      <m:d>
                        <m:dPr>
                          <m:ctrlPr>
                            <a:rPr lang="fr-FR" sz="1100" i="1" dirty="0">
                              <a:latin typeface="Cambria Math" panose="02040503050406030204" pitchFamily="18" charset="0"/>
                              <a:ea typeface="Cambria Math" panose="02040503050406030204" pitchFamily="18" charset="0"/>
                            </a:rPr>
                          </m:ctrlPr>
                        </m:dPr>
                        <m:e>
                          <m:r>
                            <a:rPr lang="fr-FR" sz="1100" i="1" dirty="0">
                              <a:latin typeface="Cambria Math" panose="02040503050406030204" pitchFamily="18" charset="0"/>
                              <a:ea typeface="Cambria Math" panose="02040503050406030204" pitchFamily="18" charset="0"/>
                            </a:rPr>
                            <m:t>1−</m:t>
                          </m:r>
                          <m:sSubSup>
                            <m:sSubSupPr>
                              <m:ctrlPr>
                                <a:rPr lang="fr-FR" sz="1100" i="1" dirty="0">
                                  <a:latin typeface="Cambria Math" panose="02040503050406030204" pitchFamily="18" charset="0"/>
                                  <a:ea typeface="Cambria Math" panose="02040503050406030204" pitchFamily="18" charset="0"/>
                                </a:rPr>
                              </m:ctrlPr>
                            </m:sSubSupPr>
                            <m:e>
                              <m:r>
                                <a:rPr lang="fr-FR" sz="1100" i="1" dirty="0">
                                  <a:latin typeface="Cambria Math" panose="02040503050406030204" pitchFamily="18" charset="0"/>
                                  <a:ea typeface="Cambria Math" panose="02040503050406030204" pitchFamily="18" charset="0"/>
                                </a:rPr>
                                <m:t>h</m:t>
                              </m:r>
                            </m:e>
                            <m:sub>
                              <m:r>
                                <a:rPr lang="fr-FR" sz="1100" i="1" dirty="0">
                                  <a:latin typeface="Cambria Math" panose="02040503050406030204" pitchFamily="18" charset="0"/>
                                  <a:ea typeface="Cambria Math" panose="02040503050406030204" pitchFamily="18" charset="0"/>
                                </a:rPr>
                                <m:t>𝑡</m:t>
                              </m:r>
                            </m:sub>
                            <m:sup>
                              <m:r>
                                <a:rPr lang="fr-FR" sz="1100" i="1" dirty="0">
                                  <a:latin typeface="Cambria Math" panose="02040503050406030204" pitchFamily="18" charset="0"/>
                                  <a:ea typeface="Cambria Math" panose="02040503050406030204" pitchFamily="18" charset="0"/>
                                </a:rPr>
                                <m:t>2</m:t>
                              </m:r>
                            </m:sup>
                          </m:sSubSup>
                        </m:e>
                      </m:d>
                      <m:r>
                        <a:rPr lang="fr-FR" sz="1100" i="1" dirty="0">
                          <a:latin typeface="Cambria Math" panose="02040503050406030204" pitchFamily="18" charset="0"/>
                          <a:ea typeface="Cambria Math" panose="02040503050406030204" pitchFamily="18" charset="0"/>
                        </a:rPr>
                        <m:t>.</m:t>
                      </m:r>
                      <m:r>
                        <a:rPr lang="fr-FR" sz="1100" b="0" i="1" dirty="0" smtClean="0">
                          <a:latin typeface="Cambria Math" panose="02040503050406030204" pitchFamily="18" charset="0"/>
                          <a:ea typeface="Cambria Math" panose="02040503050406030204" pitchFamily="18" charset="0"/>
                        </a:rPr>
                        <m:t>𝑊</m:t>
                      </m:r>
                      <m:f>
                        <m:fPr>
                          <m:ctrlPr>
                            <a:rPr lang="fr-FR" sz="1100" i="1" dirty="0">
                              <a:latin typeface="Cambria Math" panose="02040503050406030204" pitchFamily="18" charset="0"/>
                              <a:ea typeface="Cambria Math" panose="02040503050406030204" pitchFamily="18" charset="0"/>
                            </a:rPr>
                          </m:ctrlPr>
                        </m:fPr>
                        <m:num>
                          <m:r>
                            <a:rPr lang="fr-FR" sz="1100" i="1" dirty="0">
                              <a:latin typeface="Cambria Math" panose="02040503050406030204" pitchFamily="18" charset="0"/>
                              <a:ea typeface="Cambria Math" panose="02040503050406030204" pitchFamily="18" charset="0"/>
                            </a:rPr>
                            <m:t>𝜕</m:t>
                          </m:r>
                          <m:sSub>
                            <m:sSubPr>
                              <m:ctrlPr>
                                <a:rPr lang="en-GB" sz="1100" i="1">
                                  <a:latin typeface="Cambria Math" panose="02040503050406030204" pitchFamily="18" charset="0"/>
                                  <a:ea typeface="Cambria Math" panose="02040503050406030204" pitchFamily="18" charset="0"/>
                                </a:rPr>
                              </m:ctrlPr>
                            </m:sSubPr>
                            <m:e>
                              <m:r>
                                <a:rPr lang="en-GB" sz="1100" i="1">
                                  <a:latin typeface="Cambria Math" panose="02040503050406030204" pitchFamily="18" charset="0"/>
                                  <a:ea typeface="Cambria Math" panose="02040503050406030204" pitchFamily="18" charset="0"/>
                                </a:rPr>
                                <m:t>h</m:t>
                              </m:r>
                            </m:e>
                            <m:sub>
                              <m:r>
                                <a:rPr lang="en-GB" sz="1100" i="1">
                                  <a:latin typeface="Cambria Math" panose="02040503050406030204" pitchFamily="18" charset="0"/>
                                  <a:ea typeface="Cambria Math" panose="02040503050406030204" pitchFamily="18" charset="0"/>
                                </a:rPr>
                                <m:t>𝑡</m:t>
                              </m:r>
                              <m:r>
                                <a:rPr lang="en-GB" sz="1100" i="1">
                                  <a:latin typeface="Cambria Math" panose="02040503050406030204" pitchFamily="18" charset="0"/>
                                  <a:ea typeface="Cambria Math" panose="02040503050406030204" pitchFamily="18" charset="0"/>
                                </a:rPr>
                                <m:t>−1</m:t>
                              </m:r>
                            </m:sub>
                          </m:sSub>
                        </m:num>
                        <m:den>
                          <m:r>
                            <a:rPr lang="fr-FR" sz="1100" i="1" dirty="0">
                              <a:latin typeface="Cambria Math" panose="02040503050406030204" pitchFamily="18" charset="0"/>
                              <a:ea typeface="Cambria Math" panose="02040503050406030204" pitchFamily="18" charset="0"/>
                            </a:rPr>
                            <m:t>𝜕</m:t>
                          </m:r>
                          <m:r>
                            <a:rPr lang="fr-FR" sz="1100" i="1" dirty="0">
                              <a:latin typeface="Cambria Math" panose="02040503050406030204" pitchFamily="18" charset="0"/>
                              <a:ea typeface="Cambria Math" panose="02040503050406030204" pitchFamily="18" charset="0"/>
                            </a:rPr>
                            <m:t>𝑊</m:t>
                          </m:r>
                        </m:den>
                      </m:f>
                      <m:r>
                        <a:rPr lang="fr-FR" sz="1100" b="0" i="1" dirty="0" smtClean="0">
                          <a:latin typeface="Cambria Math" panose="02040503050406030204" pitchFamily="18" charset="0"/>
                          <a:ea typeface="Cambria Math" panose="02040503050406030204" pitchFamily="18" charset="0"/>
                        </a:rPr>
                        <m:t>=</m:t>
                      </m:r>
                      <m:f>
                        <m:fPr>
                          <m:ctrlPr>
                            <a:rPr lang="fr-FR" sz="1100" i="1" dirty="0">
                              <a:latin typeface="Cambria Math" panose="02040503050406030204" pitchFamily="18" charset="0"/>
                              <a:ea typeface="Cambria Math" panose="02040503050406030204" pitchFamily="18" charset="0"/>
                            </a:rPr>
                          </m:ctrlPr>
                        </m:fPr>
                        <m:num>
                          <m:r>
                            <a:rPr lang="fr-FR" sz="1100" i="1" dirty="0">
                              <a:latin typeface="Cambria Math" panose="02040503050406030204" pitchFamily="18" charset="0"/>
                              <a:ea typeface="Cambria Math" panose="02040503050406030204" pitchFamily="18" charset="0"/>
                            </a:rPr>
                            <m:t>𝜕</m:t>
                          </m:r>
                          <m:sSub>
                            <m:sSubPr>
                              <m:ctrlPr>
                                <a:rPr lang="fr-FR" sz="1100" i="1" dirty="0">
                                  <a:latin typeface="Cambria Math" panose="02040503050406030204" pitchFamily="18" charset="0"/>
                                  <a:ea typeface="Cambria Math" panose="02040503050406030204" pitchFamily="18" charset="0"/>
                                </a:rPr>
                              </m:ctrlPr>
                            </m:sSubPr>
                            <m:e>
                              <m:r>
                                <a:rPr lang="fr-FR" sz="1100" i="1" dirty="0">
                                  <a:latin typeface="Cambria Math" panose="02040503050406030204" pitchFamily="18" charset="0"/>
                                  <a:ea typeface="Cambria Math" panose="02040503050406030204" pitchFamily="18" charset="0"/>
                                </a:rPr>
                                <m:t>h</m:t>
                              </m:r>
                            </m:e>
                            <m:sub>
                              <m:r>
                                <a:rPr lang="fr-FR" sz="1100" i="1" dirty="0">
                                  <a:latin typeface="Cambria Math" panose="02040503050406030204" pitchFamily="18" charset="0"/>
                                  <a:ea typeface="Cambria Math" panose="02040503050406030204" pitchFamily="18" charset="0"/>
                                </a:rPr>
                                <m:t>𝑡</m:t>
                              </m:r>
                            </m:sub>
                          </m:sSub>
                        </m:num>
                        <m:den>
                          <m:r>
                            <a:rPr lang="fr-FR" sz="1100" i="1" dirty="0">
                              <a:latin typeface="Cambria Math" panose="02040503050406030204" pitchFamily="18" charset="0"/>
                              <a:ea typeface="Cambria Math" panose="02040503050406030204" pitchFamily="18" charset="0"/>
                            </a:rPr>
                            <m:t>𝜕</m:t>
                          </m:r>
                          <m:r>
                            <a:rPr lang="fr-FR" sz="1100" i="1" dirty="0">
                              <a:latin typeface="Cambria Math" panose="02040503050406030204" pitchFamily="18" charset="0"/>
                              <a:ea typeface="Cambria Math" panose="02040503050406030204" pitchFamily="18" charset="0"/>
                            </a:rPr>
                            <m:t>𝑊</m:t>
                          </m:r>
                        </m:den>
                      </m:f>
                      <m:r>
                        <a:rPr lang="fr-FR" sz="1100" b="0" i="1" dirty="0" smtClean="0">
                          <a:latin typeface="Cambria Math" panose="02040503050406030204" pitchFamily="18" charset="0"/>
                          <a:ea typeface="Cambria Math" panose="02040503050406030204" pitchFamily="18" charset="0"/>
                        </a:rPr>
                        <m:t>+</m:t>
                      </m:r>
                      <m:f>
                        <m:fPr>
                          <m:ctrlPr>
                            <a:rPr lang="fr-FR" sz="1100" i="1" dirty="0">
                              <a:latin typeface="Cambria Math" panose="02040503050406030204" pitchFamily="18" charset="0"/>
                              <a:ea typeface="Cambria Math" panose="02040503050406030204" pitchFamily="18" charset="0"/>
                            </a:rPr>
                          </m:ctrlPr>
                        </m:fPr>
                        <m:num>
                          <m:r>
                            <a:rPr lang="fr-FR" sz="1100" i="1" dirty="0">
                              <a:latin typeface="Cambria Math" panose="02040503050406030204" pitchFamily="18" charset="0"/>
                              <a:ea typeface="Cambria Math" panose="02040503050406030204" pitchFamily="18" charset="0"/>
                            </a:rPr>
                            <m:t>𝜕</m:t>
                          </m:r>
                          <m:sSub>
                            <m:sSubPr>
                              <m:ctrlPr>
                                <a:rPr lang="fr-FR" sz="1100" i="1" dirty="0">
                                  <a:latin typeface="Cambria Math" panose="02040503050406030204" pitchFamily="18" charset="0"/>
                                  <a:ea typeface="Cambria Math" panose="02040503050406030204" pitchFamily="18" charset="0"/>
                                </a:rPr>
                              </m:ctrlPr>
                            </m:sSubPr>
                            <m:e>
                              <m:r>
                                <a:rPr lang="fr-FR" sz="1100" i="1" dirty="0">
                                  <a:latin typeface="Cambria Math" panose="02040503050406030204" pitchFamily="18" charset="0"/>
                                  <a:ea typeface="Cambria Math" panose="02040503050406030204" pitchFamily="18" charset="0"/>
                                </a:rPr>
                                <m:t>h</m:t>
                              </m:r>
                            </m:e>
                            <m:sub>
                              <m:r>
                                <a:rPr lang="fr-FR" sz="1100" i="1" dirty="0">
                                  <a:latin typeface="Cambria Math" panose="02040503050406030204" pitchFamily="18" charset="0"/>
                                  <a:ea typeface="Cambria Math" panose="02040503050406030204" pitchFamily="18" charset="0"/>
                                </a:rPr>
                                <m:t>𝑡</m:t>
                              </m:r>
                            </m:sub>
                          </m:sSub>
                        </m:num>
                        <m:den>
                          <m:r>
                            <a:rPr lang="fr-FR" sz="1100" i="1" dirty="0">
                              <a:latin typeface="Cambria Math" panose="02040503050406030204" pitchFamily="18" charset="0"/>
                              <a:ea typeface="Cambria Math" panose="02040503050406030204" pitchFamily="18" charset="0"/>
                            </a:rPr>
                            <m:t>𝜕</m:t>
                          </m:r>
                          <m:sSub>
                            <m:sSubPr>
                              <m:ctrlPr>
                                <a:rPr lang="fr-FR" sz="1100" i="1" dirty="0">
                                  <a:latin typeface="Cambria Math" panose="02040503050406030204" pitchFamily="18" charset="0"/>
                                  <a:ea typeface="Cambria Math" panose="02040503050406030204" pitchFamily="18" charset="0"/>
                                </a:rPr>
                              </m:ctrlPr>
                            </m:sSubPr>
                            <m:e>
                              <m:r>
                                <a:rPr lang="fr-FR" sz="1100" i="1" dirty="0">
                                  <a:latin typeface="Cambria Math" panose="02040503050406030204" pitchFamily="18" charset="0"/>
                                  <a:ea typeface="Cambria Math" panose="02040503050406030204" pitchFamily="18" charset="0"/>
                                </a:rPr>
                                <m:t>h</m:t>
                              </m:r>
                            </m:e>
                            <m:sub>
                              <m:r>
                                <a:rPr lang="fr-FR" sz="1100" i="1" dirty="0">
                                  <a:latin typeface="Cambria Math" panose="02040503050406030204" pitchFamily="18" charset="0"/>
                                  <a:ea typeface="Cambria Math" panose="02040503050406030204" pitchFamily="18" charset="0"/>
                                </a:rPr>
                                <m:t>𝑡</m:t>
                              </m:r>
                              <m:r>
                                <a:rPr lang="fr-FR" sz="1100" i="1" dirty="0">
                                  <a:latin typeface="Cambria Math" panose="02040503050406030204" pitchFamily="18" charset="0"/>
                                  <a:ea typeface="Cambria Math" panose="02040503050406030204" pitchFamily="18" charset="0"/>
                                </a:rPr>
                                <m:t>−1</m:t>
                              </m:r>
                            </m:sub>
                          </m:sSub>
                        </m:den>
                      </m:f>
                      <m:r>
                        <a:rPr lang="fr-FR" sz="1100" b="0" i="1" dirty="0" smtClean="0">
                          <a:latin typeface="Cambria Math" panose="02040503050406030204" pitchFamily="18" charset="0"/>
                          <a:ea typeface="Cambria Math" panose="02040503050406030204" pitchFamily="18" charset="0"/>
                        </a:rPr>
                        <m:t>.</m:t>
                      </m:r>
                      <m:f>
                        <m:fPr>
                          <m:ctrlPr>
                            <a:rPr lang="fr-FR" sz="1100" i="1" dirty="0">
                              <a:latin typeface="Cambria Math" panose="02040503050406030204" pitchFamily="18" charset="0"/>
                              <a:ea typeface="Cambria Math" panose="02040503050406030204" pitchFamily="18" charset="0"/>
                            </a:rPr>
                          </m:ctrlPr>
                        </m:fPr>
                        <m:num>
                          <m:r>
                            <a:rPr lang="fr-FR" sz="1100" i="1" dirty="0">
                              <a:latin typeface="Cambria Math" panose="02040503050406030204" pitchFamily="18" charset="0"/>
                              <a:ea typeface="Cambria Math" panose="02040503050406030204" pitchFamily="18" charset="0"/>
                            </a:rPr>
                            <m:t>𝜕</m:t>
                          </m:r>
                          <m:sSub>
                            <m:sSubPr>
                              <m:ctrlPr>
                                <a:rPr lang="en-GB" sz="1100" i="1">
                                  <a:latin typeface="Cambria Math" panose="02040503050406030204" pitchFamily="18" charset="0"/>
                                  <a:ea typeface="Cambria Math" panose="02040503050406030204" pitchFamily="18" charset="0"/>
                                </a:rPr>
                              </m:ctrlPr>
                            </m:sSubPr>
                            <m:e>
                              <m:r>
                                <a:rPr lang="en-GB" sz="1100" i="1">
                                  <a:latin typeface="Cambria Math" panose="02040503050406030204" pitchFamily="18" charset="0"/>
                                  <a:ea typeface="Cambria Math" panose="02040503050406030204" pitchFamily="18" charset="0"/>
                                </a:rPr>
                                <m:t>h</m:t>
                              </m:r>
                            </m:e>
                            <m:sub>
                              <m:r>
                                <a:rPr lang="en-GB" sz="1100" i="1">
                                  <a:latin typeface="Cambria Math" panose="02040503050406030204" pitchFamily="18" charset="0"/>
                                  <a:ea typeface="Cambria Math" panose="02040503050406030204" pitchFamily="18" charset="0"/>
                                </a:rPr>
                                <m:t>𝑡</m:t>
                              </m:r>
                              <m:r>
                                <a:rPr lang="en-GB" sz="1100" i="1">
                                  <a:latin typeface="Cambria Math" panose="02040503050406030204" pitchFamily="18" charset="0"/>
                                  <a:ea typeface="Cambria Math" panose="02040503050406030204" pitchFamily="18" charset="0"/>
                                </a:rPr>
                                <m:t>−1</m:t>
                              </m:r>
                            </m:sub>
                          </m:sSub>
                        </m:num>
                        <m:den>
                          <m:r>
                            <a:rPr lang="fr-FR" sz="1100" i="1" dirty="0">
                              <a:latin typeface="Cambria Math" panose="02040503050406030204" pitchFamily="18" charset="0"/>
                              <a:ea typeface="Cambria Math" panose="02040503050406030204" pitchFamily="18" charset="0"/>
                            </a:rPr>
                            <m:t>𝜕</m:t>
                          </m:r>
                          <m:r>
                            <a:rPr lang="fr-FR" sz="1100" i="1" dirty="0">
                              <a:latin typeface="Cambria Math" panose="02040503050406030204" pitchFamily="18" charset="0"/>
                              <a:ea typeface="Cambria Math" panose="02040503050406030204" pitchFamily="18" charset="0"/>
                            </a:rPr>
                            <m:t>𝑊</m:t>
                          </m:r>
                        </m:den>
                      </m:f>
                    </m:oMath>
                  </m:oMathPara>
                </a14:m>
                <a:endParaRPr lang="en-GB" sz="1100" dirty="0"/>
              </a:p>
              <a:p>
                <a:endParaRPr lang="fr-FR" sz="1100" i="1" dirty="0">
                  <a:latin typeface="Cambria Math" panose="02040503050406030204" pitchFamily="18" charset="0"/>
                  <a:ea typeface="Cambria Math" panose="02040503050406030204" pitchFamily="18" charset="0"/>
                </a:endParaRPr>
              </a:p>
            </p:txBody>
          </p:sp>
        </mc:Choice>
        <mc:Fallback xmlns="">
          <p:sp>
            <p:nvSpPr>
              <p:cNvPr id="89" name="ZoneTexte 88">
                <a:extLst>
                  <a:ext uri="{FF2B5EF4-FFF2-40B4-BE49-F238E27FC236}">
                    <a16:creationId xmlns:a16="http://schemas.microsoft.com/office/drawing/2014/main" id="{35709ED5-136A-25E3-7910-44A617747D7A}"/>
                  </a:ext>
                </a:extLst>
              </p:cNvPr>
              <p:cNvSpPr txBox="1">
                <a:spLocks noRot="1" noChangeAspect="1" noMove="1" noResize="1" noEditPoints="1" noAdjustHandles="1" noChangeArrowheads="1" noChangeShapeType="1" noTextEdit="1"/>
              </p:cNvSpPr>
              <p:nvPr/>
            </p:nvSpPr>
            <p:spPr>
              <a:xfrm>
                <a:off x="1578817" y="2163914"/>
                <a:ext cx="10350249" cy="4199548"/>
              </a:xfrm>
              <a:prstGeom prst="rect">
                <a:avLst/>
              </a:prstGeom>
              <a:blipFill>
                <a:blip r:embed="rId4"/>
                <a:stretch>
                  <a:fillRect l="-85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F20667E0-4301-680C-8997-5C806B23BC33}"/>
                  </a:ext>
                </a:extLst>
              </p:cNvPr>
              <p:cNvSpPr txBox="1"/>
              <p:nvPr/>
            </p:nvSpPr>
            <p:spPr>
              <a:xfrm>
                <a:off x="229581" y="4260024"/>
                <a:ext cx="42934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Sub>
                    </m:oMath>
                  </m:oMathPara>
                </a14:m>
                <a:endParaRPr lang="en-GB" sz="1600" dirty="0"/>
              </a:p>
            </p:txBody>
          </p:sp>
        </mc:Choice>
        <mc:Fallback xmlns="">
          <p:sp>
            <p:nvSpPr>
              <p:cNvPr id="5" name="ZoneTexte 4">
                <a:extLst>
                  <a:ext uri="{FF2B5EF4-FFF2-40B4-BE49-F238E27FC236}">
                    <a16:creationId xmlns:a16="http://schemas.microsoft.com/office/drawing/2014/main" id="{F20667E0-4301-680C-8997-5C806B23BC33}"/>
                  </a:ext>
                </a:extLst>
              </p:cNvPr>
              <p:cNvSpPr txBox="1">
                <a:spLocks noRot="1" noChangeAspect="1" noMove="1" noResize="1" noEditPoints="1" noAdjustHandles="1" noChangeArrowheads="1" noChangeShapeType="1" noTextEdit="1"/>
              </p:cNvSpPr>
              <p:nvPr/>
            </p:nvSpPr>
            <p:spPr>
              <a:xfrm>
                <a:off x="229581" y="4260024"/>
                <a:ext cx="429348" cy="246221"/>
              </a:xfrm>
              <a:prstGeom prst="rect">
                <a:avLst/>
              </a:prstGeom>
              <a:blipFill>
                <a:blip r:embed="rId5"/>
                <a:stretch>
                  <a:fillRect l="-14706" r="-5882"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293527B2-4E95-BF9A-7666-87A5457CDAE6}"/>
                  </a:ext>
                </a:extLst>
              </p:cNvPr>
              <p:cNvSpPr txBox="1"/>
              <p:nvPr/>
            </p:nvSpPr>
            <p:spPr>
              <a:xfrm>
                <a:off x="771207" y="5409180"/>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sub>
                      </m:sSub>
                    </m:oMath>
                  </m:oMathPara>
                </a14:m>
                <a:endParaRPr lang="en-GB" sz="1600" dirty="0"/>
              </a:p>
            </p:txBody>
          </p:sp>
        </mc:Choice>
        <mc:Fallback xmlns="">
          <p:sp>
            <p:nvSpPr>
              <p:cNvPr id="8" name="ZoneTexte 7">
                <a:extLst>
                  <a:ext uri="{FF2B5EF4-FFF2-40B4-BE49-F238E27FC236}">
                    <a16:creationId xmlns:a16="http://schemas.microsoft.com/office/drawing/2014/main" id="{293527B2-4E95-BF9A-7666-87A5457CDAE6}"/>
                  </a:ext>
                </a:extLst>
              </p:cNvPr>
              <p:cNvSpPr txBox="1">
                <a:spLocks noRot="1" noChangeAspect="1" noMove="1" noResize="1" noEditPoints="1" noAdjustHandles="1" noChangeArrowheads="1" noChangeShapeType="1" noTextEdit="1"/>
              </p:cNvSpPr>
              <p:nvPr/>
            </p:nvSpPr>
            <p:spPr>
              <a:xfrm>
                <a:off x="771207" y="5409180"/>
                <a:ext cx="424732" cy="246221"/>
              </a:xfrm>
              <a:prstGeom prst="rect">
                <a:avLst/>
              </a:prstGeom>
              <a:blipFill>
                <a:blip r:embed="rId6"/>
                <a:stretch>
                  <a:fillRect b="-9524"/>
                </a:stretch>
              </a:blipFill>
            </p:spPr>
            <p:txBody>
              <a:bodyPr/>
              <a:lstStyle/>
              <a:p>
                <a:r>
                  <a:rPr lang="en-GB">
                    <a:noFill/>
                  </a:rPr>
                  <a:t> </a:t>
                </a:r>
              </a:p>
            </p:txBody>
          </p:sp>
        </mc:Fallback>
      </mc:AlternateContent>
      <p:sp>
        <p:nvSpPr>
          <p:cNvPr id="9" name="Rectangle : coins arrondis 8">
            <a:extLst>
              <a:ext uri="{FF2B5EF4-FFF2-40B4-BE49-F238E27FC236}">
                <a16:creationId xmlns:a16="http://schemas.microsoft.com/office/drawing/2014/main" id="{93F17CFC-33F0-969E-C13C-BC3F66EC0937}"/>
              </a:ext>
            </a:extLst>
          </p:cNvPr>
          <p:cNvSpPr/>
          <p:nvPr/>
        </p:nvSpPr>
        <p:spPr>
          <a:xfrm>
            <a:off x="700211" y="4125637"/>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2" name="Connecteur droit avec flèche 11">
            <a:extLst>
              <a:ext uri="{FF2B5EF4-FFF2-40B4-BE49-F238E27FC236}">
                <a16:creationId xmlns:a16="http://schemas.microsoft.com/office/drawing/2014/main" id="{834B9D92-58FC-98BB-5724-03C839C418DC}"/>
              </a:ext>
            </a:extLst>
          </p:cNvPr>
          <p:cNvCxnSpPr>
            <a:cxnSpLocks/>
            <a:stCxn id="8" idx="0"/>
            <a:endCxn id="9" idx="2"/>
          </p:cNvCxnSpPr>
          <p:nvPr/>
        </p:nvCxnSpPr>
        <p:spPr>
          <a:xfrm flipH="1" flipV="1">
            <a:off x="979611" y="4887637"/>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necteur droit avec flèche 13">
            <a:extLst>
              <a:ext uri="{FF2B5EF4-FFF2-40B4-BE49-F238E27FC236}">
                <a16:creationId xmlns:a16="http://schemas.microsoft.com/office/drawing/2014/main" id="{E20FF4CF-35B2-8354-DA45-6A08DFD905B1}"/>
              </a:ext>
            </a:extLst>
          </p:cNvPr>
          <p:cNvCxnSpPr>
            <a:cxnSpLocks/>
          </p:cNvCxnSpPr>
          <p:nvPr/>
        </p:nvCxnSpPr>
        <p:spPr>
          <a:xfrm>
            <a:off x="349017" y="4635451"/>
            <a:ext cx="324000"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7C6FDBA7-D439-EFF0-D9CD-C77109806DD0}"/>
              </a:ext>
            </a:extLst>
          </p:cNvPr>
          <p:cNvSpPr txBox="1"/>
          <p:nvPr/>
        </p:nvSpPr>
        <p:spPr>
          <a:xfrm>
            <a:off x="1035491" y="4951375"/>
            <a:ext cx="304800" cy="307777"/>
          </a:xfrm>
          <a:prstGeom prst="rect">
            <a:avLst/>
          </a:prstGeom>
          <a:noFill/>
        </p:spPr>
        <p:txBody>
          <a:bodyPr wrap="square" rtlCol="0">
            <a:spAutoFit/>
          </a:bodyPr>
          <a:lstStyle/>
          <a:p>
            <a:r>
              <a:rPr lang="en-GB" sz="1400" b="1" dirty="0">
                <a:solidFill>
                  <a:srgbClr val="0070C0"/>
                </a:solidFill>
              </a:rPr>
              <a:t>U</a:t>
            </a:r>
          </a:p>
        </p:txBody>
      </p:sp>
      <p:sp>
        <p:nvSpPr>
          <p:cNvPr id="18" name="ZoneTexte 17">
            <a:extLst>
              <a:ext uri="{FF2B5EF4-FFF2-40B4-BE49-F238E27FC236}">
                <a16:creationId xmlns:a16="http://schemas.microsoft.com/office/drawing/2014/main" id="{4644CD89-E2F7-A7AC-61B4-2A9C4055EF76}"/>
              </a:ext>
            </a:extLst>
          </p:cNvPr>
          <p:cNvSpPr txBox="1"/>
          <p:nvPr/>
        </p:nvSpPr>
        <p:spPr>
          <a:xfrm>
            <a:off x="291933" y="4643598"/>
            <a:ext cx="304800" cy="307777"/>
          </a:xfrm>
          <a:prstGeom prst="rect">
            <a:avLst/>
          </a:prstGeom>
          <a:noFill/>
        </p:spPr>
        <p:txBody>
          <a:bodyPr wrap="square" rtlCol="0">
            <a:spAutoFit/>
          </a:bodyPr>
          <a:lstStyle/>
          <a:p>
            <a:r>
              <a:rPr lang="en-GB" sz="1400" b="1" dirty="0">
                <a:solidFill>
                  <a:srgbClr val="0070C0"/>
                </a:solidFill>
              </a:rPr>
              <a:t>W</a:t>
            </a:r>
          </a:p>
        </p:txBody>
      </p:sp>
      <mc:AlternateContent xmlns:mc="http://schemas.openxmlformats.org/markup-compatibility/2006" xmlns:a14="http://schemas.microsoft.com/office/drawing/2010/main">
        <mc:Choice Requires="a14">
          <p:sp>
            <p:nvSpPr>
              <p:cNvPr id="21" name="ZoneTexte 20">
                <a:extLst>
                  <a:ext uri="{FF2B5EF4-FFF2-40B4-BE49-F238E27FC236}">
                    <a16:creationId xmlns:a16="http://schemas.microsoft.com/office/drawing/2014/main" id="{573AB91C-0174-E1BC-1D53-990D2094A9AA}"/>
                  </a:ext>
                </a:extLst>
              </p:cNvPr>
              <p:cNvSpPr txBox="1"/>
              <p:nvPr/>
            </p:nvSpPr>
            <p:spPr>
              <a:xfrm>
                <a:off x="875432" y="3272526"/>
                <a:ext cx="22916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sub>
                      </m:sSub>
                    </m:oMath>
                  </m:oMathPara>
                </a14:m>
                <a:endParaRPr lang="en-GB" sz="1600" dirty="0"/>
              </a:p>
            </p:txBody>
          </p:sp>
        </mc:Choice>
        <mc:Fallback xmlns="">
          <p:sp>
            <p:nvSpPr>
              <p:cNvPr id="21" name="ZoneTexte 20">
                <a:extLst>
                  <a:ext uri="{FF2B5EF4-FFF2-40B4-BE49-F238E27FC236}">
                    <a16:creationId xmlns:a16="http://schemas.microsoft.com/office/drawing/2014/main" id="{573AB91C-0174-E1BC-1D53-990D2094A9AA}"/>
                  </a:ext>
                </a:extLst>
              </p:cNvPr>
              <p:cNvSpPr txBox="1">
                <a:spLocks noRot="1" noChangeAspect="1" noMove="1" noResize="1" noEditPoints="1" noAdjustHandles="1" noChangeArrowheads="1" noChangeShapeType="1" noTextEdit="1"/>
              </p:cNvSpPr>
              <p:nvPr/>
            </p:nvSpPr>
            <p:spPr>
              <a:xfrm>
                <a:off x="875432" y="3272526"/>
                <a:ext cx="229165" cy="246221"/>
              </a:xfrm>
              <a:prstGeom prst="rect">
                <a:avLst/>
              </a:prstGeom>
              <a:blipFill>
                <a:blip r:embed="rId7"/>
                <a:stretch>
                  <a:fillRect l="-27778" t="-15000" r="-5556" b="-25000"/>
                </a:stretch>
              </a:blipFill>
            </p:spPr>
            <p:txBody>
              <a:bodyPr/>
              <a:lstStyle/>
              <a:p>
                <a:r>
                  <a:rPr lang="en-GB">
                    <a:noFill/>
                  </a:rPr>
                  <a:t> </a:t>
                </a:r>
              </a:p>
            </p:txBody>
          </p:sp>
        </mc:Fallback>
      </mc:AlternateContent>
      <p:cxnSp>
        <p:nvCxnSpPr>
          <p:cNvPr id="23" name="Connecteur droit avec flèche 22">
            <a:extLst>
              <a:ext uri="{FF2B5EF4-FFF2-40B4-BE49-F238E27FC236}">
                <a16:creationId xmlns:a16="http://schemas.microsoft.com/office/drawing/2014/main" id="{0E9BF189-8997-F176-1568-D171E963AFE6}"/>
              </a:ext>
            </a:extLst>
          </p:cNvPr>
          <p:cNvCxnSpPr>
            <a:cxnSpLocks/>
          </p:cNvCxnSpPr>
          <p:nvPr/>
        </p:nvCxnSpPr>
        <p:spPr>
          <a:xfrm flipV="1">
            <a:off x="993404" y="3850333"/>
            <a:ext cx="3962" cy="252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ZoneTexte 24">
            <a:extLst>
              <a:ext uri="{FF2B5EF4-FFF2-40B4-BE49-F238E27FC236}">
                <a16:creationId xmlns:a16="http://schemas.microsoft.com/office/drawing/2014/main" id="{0E0A1A51-4BE6-472D-2642-175C64418B41}"/>
              </a:ext>
            </a:extLst>
          </p:cNvPr>
          <p:cNvSpPr txBox="1"/>
          <p:nvPr/>
        </p:nvSpPr>
        <p:spPr>
          <a:xfrm>
            <a:off x="1053370" y="3876334"/>
            <a:ext cx="304800" cy="307777"/>
          </a:xfrm>
          <a:prstGeom prst="rect">
            <a:avLst/>
          </a:prstGeom>
          <a:noFill/>
        </p:spPr>
        <p:txBody>
          <a:bodyPr wrap="square" rtlCol="0">
            <a:spAutoFit/>
          </a:bodyPr>
          <a:lstStyle/>
          <a:p>
            <a:r>
              <a:rPr lang="en-GB" sz="1400" b="1" dirty="0">
                <a:solidFill>
                  <a:srgbClr val="0070C0"/>
                </a:solidFill>
              </a:rPr>
              <a:t>V</a:t>
            </a:r>
          </a:p>
        </p:txBody>
      </p:sp>
      <mc:AlternateContent xmlns:mc="http://schemas.openxmlformats.org/markup-compatibility/2006" xmlns:a14="http://schemas.microsoft.com/office/drawing/2010/main">
        <mc:Choice Requires="a14">
          <p:sp>
            <p:nvSpPr>
              <p:cNvPr id="28" name="ZoneTexte 27">
                <a:extLst>
                  <a:ext uri="{FF2B5EF4-FFF2-40B4-BE49-F238E27FC236}">
                    <a16:creationId xmlns:a16="http://schemas.microsoft.com/office/drawing/2014/main" id="{9005E798-57F3-D5C9-6F08-98655D6DA479}"/>
                  </a:ext>
                </a:extLst>
              </p:cNvPr>
              <p:cNvSpPr txBox="1"/>
              <p:nvPr/>
            </p:nvSpPr>
            <p:spPr>
              <a:xfrm>
                <a:off x="879548" y="2885031"/>
                <a:ext cx="22897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solidFill>
                                <a:srgbClr val="C00000"/>
                              </a:solidFill>
                              <a:latin typeface="Cambria Math" panose="02040503050406030204" pitchFamily="18" charset="0"/>
                            </a:rPr>
                          </m:ctrlPr>
                        </m:sSubPr>
                        <m:e>
                          <m:r>
                            <a:rPr lang="fr-FR" sz="1600" b="0" i="1" smtClean="0">
                              <a:solidFill>
                                <a:srgbClr val="C00000"/>
                              </a:solidFill>
                              <a:latin typeface="Cambria Math" panose="02040503050406030204" pitchFamily="18" charset="0"/>
                            </a:rPr>
                            <m:t>𝐿</m:t>
                          </m:r>
                        </m:e>
                        <m:sub>
                          <m:r>
                            <a:rPr lang="fr-FR" sz="1600" b="0" i="1" smtClean="0">
                              <a:solidFill>
                                <a:srgbClr val="C00000"/>
                              </a:solidFill>
                              <a:latin typeface="Cambria Math" panose="02040503050406030204" pitchFamily="18" charset="0"/>
                            </a:rPr>
                            <m:t>𝑡</m:t>
                          </m:r>
                        </m:sub>
                      </m:sSub>
                    </m:oMath>
                  </m:oMathPara>
                </a14:m>
                <a:endParaRPr lang="en-GB" sz="1600" dirty="0">
                  <a:solidFill>
                    <a:srgbClr val="C00000"/>
                  </a:solidFill>
                </a:endParaRPr>
              </a:p>
            </p:txBody>
          </p:sp>
        </mc:Choice>
        <mc:Fallback xmlns="">
          <p:sp>
            <p:nvSpPr>
              <p:cNvPr id="28" name="ZoneTexte 27">
                <a:extLst>
                  <a:ext uri="{FF2B5EF4-FFF2-40B4-BE49-F238E27FC236}">
                    <a16:creationId xmlns:a16="http://schemas.microsoft.com/office/drawing/2014/main" id="{9005E798-57F3-D5C9-6F08-98655D6DA479}"/>
                  </a:ext>
                </a:extLst>
              </p:cNvPr>
              <p:cNvSpPr txBox="1">
                <a:spLocks noRot="1" noChangeAspect="1" noMove="1" noResize="1" noEditPoints="1" noAdjustHandles="1" noChangeArrowheads="1" noChangeShapeType="1" noTextEdit="1"/>
              </p:cNvSpPr>
              <p:nvPr/>
            </p:nvSpPr>
            <p:spPr>
              <a:xfrm>
                <a:off x="879548" y="2885031"/>
                <a:ext cx="228972" cy="246221"/>
              </a:xfrm>
              <a:prstGeom prst="rect">
                <a:avLst/>
              </a:prstGeom>
              <a:blipFill>
                <a:blip r:embed="rId8"/>
                <a:stretch>
                  <a:fillRect l="-21053" r="-5263" b="-1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ZoneTexte 28">
                <a:extLst>
                  <a:ext uri="{FF2B5EF4-FFF2-40B4-BE49-F238E27FC236}">
                    <a16:creationId xmlns:a16="http://schemas.microsoft.com/office/drawing/2014/main" id="{B5B28737-E53E-6A50-2AFA-3F2AB25E70A6}"/>
                  </a:ext>
                </a:extLst>
              </p:cNvPr>
              <p:cNvSpPr txBox="1"/>
              <p:nvPr/>
            </p:nvSpPr>
            <p:spPr>
              <a:xfrm>
                <a:off x="887158" y="3605790"/>
                <a:ext cx="22243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𝑜</m:t>
                          </m:r>
                        </m:e>
                        <m:sub>
                          <m:r>
                            <a:rPr lang="fr-FR" sz="1600" b="0" i="1" smtClean="0">
                              <a:latin typeface="Cambria Math" panose="02040503050406030204" pitchFamily="18" charset="0"/>
                            </a:rPr>
                            <m:t>𝑡</m:t>
                          </m:r>
                        </m:sub>
                      </m:sSub>
                    </m:oMath>
                  </m:oMathPara>
                </a14:m>
                <a:endParaRPr lang="en-GB" sz="1600" dirty="0"/>
              </a:p>
            </p:txBody>
          </p:sp>
        </mc:Choice>
        <mc:Fallback xmlns="">
          <p:sp>
            <p:nvSpPr>
              <p:cNvPr id="29" name="ZoneTexte 28">
                <a:extLst>
                  <a:ext uri="{FF2B5EF4-FFF2-40B4-BE49-F238E27FC236}">
                    <a16:creationId xmlns:a16="http://schemas.microsoft.com/office/drawing/2014/main" id="{B5B28737-E53E-6A50-2AFA-3F2AB25E70A6}"/>
                  </a:ext>
                </a:extLst>
              </p:cNvPr>
              <p:cNvSpPr txBox="1">
                <a:spLocks noRot="1" noChangeAspect="1" noMove="1" noResize="1" noEditPoints="1" noAdjustHandles="1" noChangeArrowheads="1" noChangeShapeType="1" noTextEdit="1"/>
              </p:cNvSpPr>
              <p:nvPr/>
            </p:nvSpPr>
            <p:spPr>
              <a:xfrm>
                <a:off x="887158" y="3605790"/>
                <a:ext cx="222433" cy="246221"/>
              </a:xfrm>
              <a:prstGeom prst="rect">
                <a:avLst/>
              </a:prstGeom>
              <a:blipFill>
                <a:blip r:embed="rId9"/>
                <a:stretch>
                  <a:fillRect l="-16667" r="-5556" b="-10000"/>
                </a:stretch>
              </a:blipFill>
            </p:spPr>
            <p:txBody>
              <a:bodyPr/>
              <a:lstStyle/>
              <a:p>
                <a:r>
                  <a:rPr lang="en-GB">
                    <a:noFill/>
                  </a:rPr>
                  <a:t> </a:t>
                </a:r>
              </a:p>
            </p:txBody>
          </p:sp>
        </mc:Fallback>
      </mc:AlternateContent>
      <p:cxnSp>
        <p:nvCxnSpPr>
          <p:cNvPr id="30" name="Connecteur droit avec flèche 29">
            <a:extLst>
              <a:ext uri="{FF2B5EF4-FFF2-40B4-BE49-F238E27FC236}">
                <a16:creationId xmlns:a16="http://schemas.microsoft.com/office/drawing/2014/main" id="{AFFC1F16-417A-8B70-10E7-FD4213652885}"/>
              </a:ext>
            </a:extLst>
          </p:cNvPr>
          <p:cNvCxnSpPr>
            <a:cxnSpLocks/>
          </p:cNvCxnSpPr>
          <p:nvPr/>
        </p:nvCxnSpPr>
        <p:spPr>
          <a:xfrm flipV="1">
            <a:off x="995079" y="3530464"/>
            <a:ext cx="3962" cy="144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Connecteur droit avec flèche 30">
            <a:extLst>
              <a:ext uri="{FF2B5EF4-FFF2-40B4-BE49-F238E27FC236}">
                <a16:creationId xmlns:a16="http://schemas.microsoft.com/office/drawing/2014/main" id="{5DEDDC8C-DB29-13CB-3886-6D1868A07F0B}"/>
              </a:ext>
            </a:extLst>
          </p:cNvPr>
          <p:cNvCxnSpPr>
            <a:cxnSpLocks/>
          </p:cNvCxnSpPr>
          <p:nvPr/>
        </p:nvCxnSpPr>
        <p:spPr>
          <a:xfrm flipV="1">
            <a:off x="996755" y="3140257"/>
            <a:ext cx="3962" cy="144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ZoneTexte 31">
                <a:extLst>
                  <a:ext uri="{FF2B5EF4-FFF2-40B4-BE49-F238E27FC236}">
                    <a16:creationId xmlns:a16="http://schemas.microsoft.com/office/drawing/2014/main" id="{C30B4991-6560-EA36-6D63-D5A6E1BD1C3A}"/>
                  </a:ext>
                </a:extLst>
              </p:cNvPr>
              <p:cNvSpPr txBox="1"/>
              <p:nvPr/>
            </p:nvSpPr>
            <p:spPr>
              <a:xfrm>
                <a:off x="897203" y="2460294"/>
                <a:ext cx="22916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𝑦</m:t>
                          </m:r>
                        </m:e>
                        <m:sub>
                          <m:r>
                            <a:rPr lang="fr-FR" sz="1600" b="0" i="1" smtClean="0">
                              <a:latin typeface="Cambria Math" panose="02040503050406030204" pitchFamily="18" charset="0"/>
                            </a:rPr>
                            <m:t>𝑡</m:t>
                          </m:r>
                        </m:sub>
                      </m:sSub>
                    </m:oMath>
                  </m:oMathPara>
                </a14:m>
                <a:endParaRPr lang="en-GB" sz="1600" dirty="0"/>
              </a:p>
            </p:txBody>
          </p:sp>
        </mc:Choice>
        <mc:Fallback xmlns="">
          <p:sp>
            <p:nvSpPr>
              <p:cNvPr id="32" name="ZoneTexte 31">
                <a:extLst>
                  <a:ext uri="{FF2B5EF4-FFF2-40B4-BE49-F238E27FC236}">
                    <a16:creationId xmlns:a16="http://schemas.microsoft.com/office/drawing/2014/main" id="{C30B4991-6560-EA36-6D63-D5A6E1BD1C3A}"/>
                  </a:ext>
                </a:extLst>
              </p:cNvPr>
              <p:cNvSpPr txBox="1">
                <a:spLocks noRot="1" noChangeAspect="1" noMove="1" noResize="1" noEditPoints="1" noAdjustHandles="1" noChangeArrowheads="1" noChangeShapeType="1" noTextEdit="1"/>
              </p:cNvSpPr>
              <p:nvPr/>
            </p:nvSpPr>
            <p:spPr>
              <a:xfrm>
                <a:off x="897203" y="2460294"/>
                <a:ext cx="229165" cy="246221"/>
              </a:xfrm>
              <a:prstGeom prst="rect">
                <a:avLst/>
              </a:prstGeom>
              <a:blipFill>
                <a:blip r:embed="rId10"/>
                <a:stretch>
                  <a:fillRect l="-21053" r="-5263" b="-19048"/>
                </a:stretch>
              </a:blipFill>
            </p:spPr>
            <p:txBody>
              <a:bodyPr/>
              <a:lstStyle/>
              <a:p>
                <a:r>
                  <a:rPr lang="en-GB">
                    <a:noFill/>
                  </a:rPr>
                  <a:t> </a:t>
                </a:r>
              </a:p>
            </p:txBody>
          </p:sp>
        </mc:Fallback>
      </mc:AlternateContent>
      <p:cxnSp>
        <p:nvCxnSpPr>
          <p:cNvPr id="33" name="Connecteur droit avec flèche 32">
            <a:extLst>
              <a:ext uri="{FF2B5EF4-FFF2-40B4-BE49-F238E27FC236}">
                <a16:creationId xmlns:a16="http://schemas.microsoft.com/office/drawing/2014/main" id="{F4BFC0DD-92B9-D99C-D183-1C331312A76A}"/>
              </a:ext>
            </a:extLst>
          </p:cNvPr>
          <p:cNvCxnSpPr>
            <a:cxnSpLocks/>
          </p:cNvCxnSpPr>
          <p:nvPr/>
        </p:nvCxnSpPr>
        <p:spPr>
          <a:xfrm rot="-300000" flipH="1">
            <a:off x="1002392" y="2747693"/>
            <a:ext cx="21492" cy="1804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ZoneTexte 33">
                <a:extLst>
                  <a:ext uri="{FF2B5EF4-FFF2-40B4-BE49-F238E27FC236}">
                    <a16:creationId xmlns:a16="http://schemas.microsoft.com/office/drawing/2014/main" id="{B6699A5A-F83E-4FA7-05B4-24C35C6E6492}"/>
                  </a:ext>
                </a:extLst>
              </p:cNvPr>
              <p:cNvSpPr txBox="1"/>
              <p:nvPr/>
            </p:nvSpPr>
            <p:spPr>
              <a:xfrm>
                <a:off x="868394" y="4127333"/>
                <a:ext cx="23378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sub>
                      </m:sSub>
                    </m:oMath>
                  </m:oMathPara>
                </a14:m>
                <a:endParaRPr lang="en-GB" sz="1600" dirty="0"/>
              </a:p>
            </p:txBody>
          </p:sp>
        </mc:Choice>
        <mc:Fallback xmlns="">
          <p:sp>
            <p:nvSpPr>
              <p:cNvPr id="34" name="ZoneTexte 33">
                <a:extLst>
                  <a:ext uri="{FF2B5EF4-FFF2-40B4-BE49-F238E27FC236}">
                    <a16:creationId xmlns:a16="http://schemas.microsoft.com/office/drawing/2014/main" id="{B6699A5A-F83E-4FA7-05B4-24C35C6E6492}"/>
                  </a:ext>
                </a:extLst>
              </p:cNvPr>
              <p:cNvSpPr txBox="1">
                <a:spLocks noRot="1" noChangeAspect="1" noMove="1" noResize="1" noEditPoints="1" noAdjustHandles="1" noChangeArrowheads="1" noChangeShapeType="1" noTextEdit="1"/>
              </p:cNvSpPr>
              <p:nvPr/>
            </p:nvSpPr>
            <p:spPr>
              <a:xfrm>
                <a:off x="868394" y="4127333"/>
                <a:ext cx="233782" cy="246221"/>
              </a:xfrm>
              <a:prstGeom prst="rect">
                <a:avLst/>
              </a:prstGeom>
              <a:blipFill>
                <a:blip r:embed="rId11"/>
                <a:stretch>
                  <a:fillRect l="-21053" r="-5263" b="-14286"/>
                </a:stretch>
              </a:blipFill>
            </p:spPr>
            <p:txBody>
              <a:bodyPr/>
              <a:lstStyle/>
              <a:p>
                <a:r>
                  <a:rPr lang="en-GB">
                    <a:noFill/>
                  </a:rPr>
                  <a:t> </a:t>
                </a:r>
              </a:p>
            </p:txBody>
          </p:sp>
        </mc:Fallback>
      </mc:AlternateContent>
      <p:cxnSp>
        <p:nvCxnSpPr>
          <p:cNvPr id="37" name="Connecteur droit 36">
            <a:extLst>
              <a:ext uri="{FF2B5EF4-FFF2-40B4-BE49-F238E27FC236}">
                <a16:creationId xmlns:a16="http://schemas.microsoft.com/office/drawing/2014/main" id="{CB1DC6E0-1602-FDF2-4CE0-097BFF317408}"/>
              </a:ext>
            </a:extLst>
          </p:cNvPr>
          <p:cNvCxnSpPr>
            <a:stCxn id="9" idx="1"/>
            <a:endCxn id="9" idx="3"/>
          </p:cNvCxnSpPr>
          <p:nvPr/>
        </p:nvCxnSpPr>
        <p:spPr>
          <a:xfrm>
            <a:off x="700211" y="4506637"/>
            <a:ext cx="558800" cy="0"/>
          </a:xfrm>
          <a:prstGeom prst="line">
            <a:avLst/>
          </a:prstGeom>
          <a:ln w="12700"/>
        </p:spPr>
        <p:style>
          <a:lnRef idx="2">
            <a:schemeClr val="accent1"/>
          </a:lnRef>
          <a:fillRef idx="0">
            <a:schemeClr val="accent1"/>
          </a:fillRef>
          <a:effectRef idx="1">
            <a:schemeClr val="accent1"/>
          </a:effectRef>
          <a:fontRef idx="minor">
            <a:schemeClr val="tx1"/>
          </a:fontRef>
        </p:style>
      </p:cxnSp>
      <p:sp>
        <p:nvSpPr>
          <p:cNvPr id="38" name="Rectangle 37">
            <a:extLst>
              <a:ext uri="{FF2B5EF4-FFF2-40B4-BE49-F238E27FC236}">
                <a16:creationId xmlns:a16="http://schemas.microsoft.com/office/drawing/2014/main" id="{0A5C1593-DE03-23E2-18EA-654D6D494979}"/>
              </a:ext>
            </a:extLst>
          </p:cNvPr>
          <p:cNvSpPr/>
          <p:nvPr/>
        </p:nvSpPr>
        <p:spPr>
          <a:xfrm>
            <a:off x="4428066" y="2583404"/>
            <a:ext cx="406400" cy="345334"/>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00266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3B982-BD47-3B2C-DFAD-D9AC72FE997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0AF7FF4-53BE-3BE5-7386-F087CB3BC49F}"/>
              </a:ext>
            </a:extLst>
          </p:cNvPr>
          <p:cNvSpPr>
            <a:spLocks noGrp="1"/>
          </p:cNvSpPr>
          <p:nvPr>
            <p:ph type="title"/>
          </p:nvPr>
        </p:nvSpPr>
        <p:spPr/>
        <p:txBody>
          <a:bodyPr/>
          <a:lstStyle/>
          <a:p>
            <a:pPr algn="ctr"/>
            <a:r>
              <a:rPr lang="en-GB" noProof="0" dirty="0"/>
              <a:t>Recurrent Neural Networks</a:t>
            </a:r>
          </a:p>
        </p:txBody>
      </p:sp>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07E08617-752D-6332-620D-C53020405234}"/>
                  </a:ext>
                </a:extLst>
              </p:cNvPr>
              <p:cNvSpPr txBox="1"/>
              <p:nvPr/>
            </p:nvSpPr>
            <p:spPr>
              <a:xfrm>
                <a:off x="838200" y="1318020"/>
                <a:ext cx="8703365" cy="1023136"/>
              </a:xfrm>
              <a:prstGeom prst="rect">
                <a:avLst/>
              </a:prstGeom>
              <a:noFill/>
            </p:spPr>
            <p:txBody>
              <a:bodyPr wrap="square" lIns="90000" rtlCol="0">
                <a:noAutofit/>
              </a:bodyPr>
              <a:lstStyle/>
              <a:p>
                <a:r>
                  <a:rPr lang="en-GB" sz="2400" b="1" dirty="0">
                    <a:latin typeface="ui-sans-serif"/>
                  </a:rPr>
                  <a:t>Backpropagation Through Time (BPTT)</a:t>
                </a:r>
                <a:endParaRPr lang="en-GB" sz="2400" b="1" dirty="0">
                  <a:solidFill>
                    <a:schemeClr val="accent4"/>
                  </a:solidFill>
                  <a:latin typeface="ui-sans-serif"/>
                </a:endParaRPr>
              </a:p>
              <a:p>
                <a:r>
                  <a:rPr lang="en-GB" sz="1600" dirty="0">
                    <a:latin typeface="ui-sans-serif"/>
                  </a:rPr>
                  <a:t>Demonstration of the gradient's calculation with </a:t>
                </a:r>
                <a14:m>
                  <m:oMath xmlns:m="http://schemas.openxmlformats.org/officeDocument/2006/math">
                    <m:r>
                      <a:rPr lang="en-GB" sz="2400" b="0" i="1" noProof="0" smtClean="0">
                        <a:solidFill>
                          <a:schemeClr val="tx1"/>
                        </a:solidFill>
                        <a:latin typeface="Cambria Math" panose="02040503050406030204" pitchFamily="18" charset="0"/>
                      </a:rPr>
                      <m:t>𝑔</m:t>
                    </m:r>
                  </m:oMath>
                </a14:m>
                <a:r>
                  <a:rPr lang="en-GB" sz="2400" dirty="0">
                    <a:latin typeface="ui-sans-serif"/>
                  </a:rPr>
                  <a:t> </a:t>
                </a:r>
                <a:r>
                  <a:rPr lang="en-GB" sz="1600" dirty="0">
                    <a:latin typeface="ui-sans-serif"/>
                  </a:rPr>
                  <a:t>softmax function and </a:t>
                </a:r>
                <a14:m>
                  <m:oMath xmlns:m="http://schemas.openxmlformats.org/officeDocument/2006/math">
                    <m:r>
                      <a:rPr lang="fr-FR" sz="2400" b="0" i="1" smtClean="0">
                        <a:latin typeface="Cambria Math" panose="02040503050406030204" pitchFamily="18" charset="0"/>
                      </a:rPr>
                      <m:t>𝑓</m:t>
                    </m:r>
                  </m:oMath>
                </a14:m>
                <a:r>
                  <a:rPr lang="en-GB" sz="2400" dirty="0">
                    <a:latin typeface="ui-sans-serif"/>
                  </a:rPr>
                  <a:t> </a:t>
                </a:r>
                <a:r>
                  <a:rPr lang="en-GB" sz="1600" dirty="0">
                    <a:latin typeface="ui-sans-serif"/>
                  </a:rPr>
                  <a:t>tanh</a:t>
                </a:r>
              </a:p>
            </p:txBody>
          </p:sp>
        </mc:Choice>
        <mc:Fallback xmlns="">
          <p:sp>
            <p:nvSpPr>
              <p:cNvPr id="4" name="ZoneTexte 3">
                <a:extLst>
                  <a:ext uri="{FF2B5EF4-FFF2-40B4-BE49-F238E27FC236}">
                    <a16:creationId xmlns:a16="http://schemas.microsoft.com/office/drawing/2014/main" id="{07E08617-752D-6332-620D-C53020405234}"/>
                  </a:ext>
                </a:extLst>
              </p:cNvPr>
              <p:cNvSpPr txBox="1">
                <a:spLocks noRot="1" noChangeAspect="1" noMove="1" noResize="1" noEditPoints="1" noAdjustHandles="1" noChangeArrowheads="1" noChangeShapeType="1" noTextEdit="1"/>
              </p:cNvSpPr>
              <p:nvPr/>
            </p:nvSpPr>
            <p:spPr>
              <a:xfrm>
                <a:off x="838200" y="1318020"/>
                <a:ext cx="8703365" cy="1023136"/>
              </a:xfrm>
              <a:prstGeom prst="rect">
                <a:avLst/>
              </a:prstGeom>
              <a:blipFill>
                <a:blip r:embed="rId3"/>
                <a:stretch>
                  <a:fillRect l="-1166" t="-4878"/>
                </a:stretch>
              </a:blipFill>
            </p:spPr>
            <p:txBody>
              <a:bodyPr/>
              <a:lstStyle/>
              <a:p>
                <a:r>
                  <a:rPr lang="en-GB">
                    <a:noFill/>
                  </a:rPr>
                  <a:t> </a:t>
                </a:r>
              </a:p>
            </p:txBody>
          </p:sp>
        </mc:Fallback>
      </mc:AlternateContent>
      <p:sp>
        <p:nvSpPr>
          <p:cNvPr id="83" name="Espace réservé du pied de page 2">
            <a:extLst>
              <a:ext uri="{FF2B5EF4-FFF2-40B4-BE49-F238E27FC236}">
                <a16:creationId xmlns:a16="http://schemas.microsoft.com/office/drawing/2014/main" id="{10A6BE12-83D1-CA4F-327A-350E6951E6DE}"/>
              </a:ext>
            </a:extLst>
          </p:cNvPr>
          <p:cNvSpPr>
            <a:spLocks noGrp="1"/>
          </p:cNvSpPr>
          <p:nvPr>
            <p:ph type="ftr" sz="quarter" idx="11"/>
          </p:nvPr>
        </p:nvSpPr>
        <p:spPr>
          <a:xfrm>
            <a:off x="4038600" y="6356350"/>
            <a:ext cx="4549346" cy="365125"/>
          </a:xfrm>
        </p:spPr>
        <p:txBody>
          <a:bodyPr/>
          <a:lstStyle/>
          <a:p>
            <a:r>
              <a:rPr lang="en-GB" noProof="1"/>
              <a:t>RNN. Author: David Thébault – Based on NLPDemystified.org</a:t>
            </a:r>
          </a:p>
        </p:txBody>
      </p:sp>
      <mc:AlternateContent xmlns:mc="http://schemas.openxmlformats.org/markup-compatibility/2006" xmlns:a14="http://schemas.microsoft.com/office/drawing/2010/main">
        <mc:Choice Requires="a14">
          <p:sp>
            <p:nvSpPr>
              <p:cNvPr id="89" name="ZoneTexte 88">
                <a:extLst>
                  <a:ext uri="{FF2B5EF4-FFF2-40B4-BE49-F238E27FC236}">
                    <a16:creationId xmlns:a16="http://schemas.microsoft.com/office/drawing/2014/main" id="{53714818-C295-3367-E8B0-CDFB4129344B}"/>
                  </a:ext>
                </a:extLst>
              </p:cNvPr>
              <p:cNvSpPr txBox="1"/>
              <p:nvPr/>
            </p:nvSpPr>
            <p:spPr>
              <a:xfrm>
                <a:off x="1670023" y="2249617"/>
                <a:ext cx="9821766" cy="4063035"/>
              </a:xfrm>
              <a:prstGeom prst="rect">
                <a:avLst/>
              </a:prstGeom>
              <a:noFill/>
            </p:spPr>
            <p:txBody>
              <a:bodyPr wrap="square" lIns="0" tIns="0" rIns="0" bIns="0" rtlCol="0">
                <a:spAutoFit/>
              </a:bodyPr>
              <a:lstStyle/>
              <a:p>
                <a:r>
                  <a:rPr lang="en-GB" sz="1050" noProof="0" dirty="0">
                    <a:latin typeface="Cambria Math" panose="02040503050406030204" pitchFamily="18" charset="0"/>
                    <a:ea typeface="Cambria Math" panose="02040503050406030204" pitchFamily="18" charset="0"/>
                  </a:rPr>
                  <a:t>By recurrence we have:</a:t>
                </a:r>
              </a:p>
              <a:p>
                <a:endParaRPr lang="fr-FR" sz="105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fr-FR" sz="1050" i="1" dirty="0" smtClean="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en-GB" sz="1050" i="1">
                                  <a:latin typeface="Cambria Math" panose="02040503050406030204" pitchFamily="18" charset="0"/>
                                  <a:ea typeface="Cambria Math" panose="02040503050406030204" pitchFamily="18" charset="0"/>
                                </a:rPr>
                              </m:ctrlPr>
                            </m:sSubPr>
                            <m:e>
                              <m:r>
                                <a:rPr lang="en-GB" sz="1050" i="1">
                                  <a:latin typeface="Cambria Math" panose="02040503050406030204" pitchFamily="18" charset="0"/>
                                  <a:ea typeface="Cambria Math" panose="02040503050406030204" pitchFamily="18" charset="0"/>
                                </a:rPr>
                                <m:t>h</m:t>
                              </m:r>
                            </m:e>
                            <m:sub>
                              <m:r>
                                <a:rPr lang="en-GB" sz="1050" i="1">
                                  <a:latin typeface="Cambria Math" panose="02040503050406030204" pitchFamily="18" charset="0"/>
                                  <a:ea typeface="Cambria Math" panose="02040503050406030204" pitchFamily="18" charset="0"/>
                                </a:rPr>
                                <m:t>𝑡</m:t>
                              </m:r>
                              <m:r>
                                <a:rPr lang="en-GB" sz="1050" i="1">
                                  <a:latin typeface="Cambria Math" panose="02040503050406030204" pitchFamily="18" charset="0"/>
                                  <a:ea typeface="Cambria Math" panose="02040503050406030204" pitchFamily="18" charset="0"/>
                                </a:rPr>
                                <m:t>−1</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r>
                        <a:rPr lang="fr-FR" sz="1050" b="0" i="1" dirty="0" smtClean="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en-GB" sz="1050" i="1">
                                  <a:latin typeface="Cambria Math" panose="02040503050406030204" pitchFamily="18" charset="0"/>
                                  <a:ea typeface="Cambria Math" panose="02040503050406030204" pitchFamily="18" charset="0"/>
                                </a:rPr>
                              </m:ctrlPr>
                            </m:sSubPr>
                            <m:e>
                              <m:r>
                                <a:rPr lang="en-GB" sz="1050" i="1">
                                  <a:latin typeface="Cambria Math" panose="02040503050406030204" pitchFamily="18" charset="0"/>
                                  <a:ea typeface="Cambria Math" panose="02040503050406030204" pitchFamily="18" charset="0"/>
                                </a:rPr>
                                <m:t>h</m:t>
                              </m:r>
                            </m:e>
                            <m:sub>
                              <m:r>
                                <a:rPr lang="en-GB" sz="1050" i="1">
                                  <a:latin typeface="Cambria Math" panose="02040503050406030204" pitchFamily="18" charset="0"/>
                                  <a:ea typeface="Cambria Math" panose="02040503050406030204" pitchFamily="18" charset="0"/>
                                </a:rPr>
                                <m:t>𝑡</m:t>
                              </m:r>
                              <m:r>
                                <a:rPr lang="en-GB" sz="1050" i="1">
                                  <a:latin typeface="Cambria Math" panose="02040503050406030204" pitchFamily="18" charset="0"/>
                                  <a:ea typeface="Cambria Math" panose="02040503050406030204" pitchFamily="18" charset="0"/>
                                </a:rPr>
                                <m:t>−1</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r>
                        <a:rPr lang="fr-FR" sz="1050" b="0" i="1" dirty="0" smtClean="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en-GB" sz="1050" i="1">
                                  <a:latin typeface="Cambria Math" panose="02040503050406030204" pitchFamily="18" charset="0"/>
                                  <a:ea typeface="Cambria Math" panose="02040503050406030204" pitchFamily="18" charset="0"/>
                                </a:rPr>
                              </m:ctrlPr>
                            </m:sSubPr>
                            <m:e>
                              <m:r>
                                <a:rPr lang="en-GB" sz="1050" i="1">
                                  <a:latin typeface="Cambria Math" panose="02040503050406030204" pitchFamily="18" charset="0"/>
                                  <a:ea typeface="Cambria Math" panose="02040503050406030204" pitchFamily="18" charset="0"/>
                                </a:rPr>
                                <m:t>h</m:t>
                              </m:r>
                            </m:e>
                            <m:sub>
                              <m:r>
                                <a:rPr lang="en-GB" sz="1050" i="1">
                                  <a:latin typeface="Cambria Math" panose="02040503050406030204" pitchFamily="18" charset="0"/>
                                  <a:ea typeface="Cambria Math" panose="02040503050406030204" pitchFamily="18" charset="0"/>
                                </a:rPr>
                                <m:t>𝑡</m:t>
                              </m:r>
                              <m:r>
                                <a:rPr lang="en-GB" sz="1050" i="1">
                                  <a:latin typeface="Cambria Math" panose="02040503050406030204" pitchFamily="18" charset="0"/>
                                  <a:ea typeface="Cambria Math" panose="02040503050406030204" pitchFamily="18" charset="0"/>
                                </a:rPr>
                                <m:t>−1</m:t>
                              </m:r>
                            </m:sub>
                          </m:sSub>
                        </m:num>
                        <m:den>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r>
                                <a:rPr lang="fr-FR" sz="1050" i="1" dirty="0">
                                  <a:latin typeface="Cambria Math" panose="02040503050406030204" pitchFamily="18" charset="0"/>
                                  <a:ea typeface="Cambria Math" panose="02040503050406030204" pitchFamily="18" charset="0"/>
                                </a:rPr>
                                <m:t>−2</m:t>
                              </m:r>
                            </m:sub>
                          </m:sSub>
                        </m:den>
                      </m:f>
                      <m:r>
                        <a:rPr lang="fr-FR" sz="1050" b="0" i="1" dirty="0" smtClean="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r>
                                <a:rPr lang="fr-FR" sz="1050" i="1" dirty="0">
                                  <a:latin typeface="Cambria Math" panose="02040503050406030204" pitchFamily="18" charset="0"/>
                                  <a:ea typeface="Cambria Math" panose="02040503050406030204" pitchFamily="18" charset="0"/>
                                </a:rPr>
                                <m:t>−2</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oMath>
                  </m:oMathPara>
                </a14:m>
                <a:endParaRPr lang="en-GB" sz="1050" dirty="0"/>
              </a:p>
              <a:p>
                <a:endParaRPr lang="en-GB" sz="1050" dirty="0"/>
              </a:p>
              <a:p>
                <a:r>
                  <a:rPr lang="en-GB" sz="1050" dirty="0">
                    <a:latin typeface="Cambria Math" panose="02040503050406030204" pitchFamily="18" charset="0"/>
                    <a:ea typeface="Cambria Math" panose="02040503050406030204" pitchFamily="18" charset="0"/>
                  </a:rPr>
                  <a:t>So, our equation becomes</a:t>
                </a:r>
              </a:p>
              <a:p>
                <a:endParaRPr lang="fr-FR" sz="105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fr-FR" sz="1050" i="1" dirty="0" smtClean="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r>
                        <a:rPr lang="fr-FR" sz="1050" b="0" i="1" dirty="0" smtClean="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r>
                        <a:rPr lang="fr-FR" sz="1050" i="1" dirty="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sub>
                          </m:sSub>
                        </m:num>
                        <m:den>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r>
                                <a:rPr lang="fr-FR" sz="1050" i="1" dirty="0">
                                  <a:latin typeface="Cambria Math" panose="02040503050406030204" pitchFamily="18" charset="0"/>
                                  <a:ea typeface="Cambria Math" panose="02040503050406030204" pitchFamily="18" charset="0"/>
                                </a:rPr>
                                <m:t>−1</m:t>
                              </m:r>
                            </m:sub>
                          </m:sSub>
                        </m:den>
                      </m:f>
                      <m:r>
                        <a:rPr lang="fr-FR" sz="1050" i="1" dirty="0">
                          <a:latin typeface="Cambria Math" panose="02040503050406030204" pitchFamily="18" charset="0"/>
                          <a:ea typeface="Cambria Math" panose="02040503050406030204" pitchFamily="18" charset="0"/>
                        </a:rPr>
                        <m:t>.</m:t>
                      </m:r>
                      <m:d>
                        <m:dPr>
                          <m:begChr m:val="{"/>
                          <m:endChr m:val="}"/>
                          <m:ctrlPr>
                            <a:rPr lang="fr-FR" sz="1050" b="0" i="1" dirty="0" smtClean="0">
                              <a:latin typeface="Cambria Math" panose="02040503050406030204" pitchFamily="18" charset="0"/>
                              <a:ea typeface="Cambria Math" panose="02040503050406030204" pitchFamily="18" charset="0"/>
                            </a:rPr>
                          </m:ctrlPr>
                        </m:dPr>
                        <m:e>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en-GB" sz="1050" i="1">
                                      <a:latin typeface="Cambria Math" panose="02040503050406030204" pitchFamily="18" charset="0"/>
                                      <a:ea typeface="Cambria Math" panose="02040503050406030204" pitchFamily="18" charset="0"/>
                                    </a:rPr>
                                  </m:ctrlPr>
                                </m:sSubPr>
                                <m:e>
                                  <m:r>
                                    <a:rPr lang="en-GB" sz="1050" i="1">
                                      <a:latin typeface="Cambria Math" panose="02040503050406030204" pitchFamily="18" charset="0"/>
                                      <a:ea typeface="Cambria Math" panose="02040503050406030204" pitchFamily="18" charset="0"/>
                                    </a:rPr>
                                    <m:t>h</m:t>
                                  </m:r>
                                </m:e>
                                <m:sub>
                                  <m:r>
                                    <a:rPr lang="en-GB" sz="1050" i="1">
                                      <a:latin typeface="Cambria Math" panose="02040503050406030204" pitchFamily="18" charset="0"/>
                                      <a:ea typeface="Cambria Math" panose="02040503050406030204" pitchFamily="18" charset="0"/>
                                    </a:rPr>
                                    <m:t>𝑡</m:t>
                                  </m:r>
                                  <m:r>
                                    <a:rPr lang="en-GB" sz="1050" i="1">
                                      <a:latin typeface="Cambria Math" panose="02040503050406030204" pitchFamily="18" charset="0"/>
                                      <a:ea typeface="Cambria Math" panose="02040503050406030204" pitchFamily="18" charset="0"/>
                                    </a:rPr>
                                    <m:t>−1</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r>
                            <a:rPr lang="fr-FR" sz="1050" i="1" dirty="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en-GB" sz="1050" i="1">
                                      <a:latin typeface="Cambria Math" panose="02040503050406030204" pitchFamily="18" charset="0"/>
                                      <a:ea typeface="Cambria Math" panose="02040503050406030204" pitchFamily="18" charset="0"/>
                                    </a:rPr>
                                  </m:ctrlPr>
                                </m:sSubPr>
                                <m:e>
                                  <m:r>
                                    <a:rPr lang="en-GB" sz="1050" i="1">
                                      <a:latin typeface="Cambria Math" panose="02040503050406030204" pitchFamily="18" charset="0"/>
                                      <a:ea typeface="Cambria Math" panose="02040503050406030204" pitchFamily="18" charset="0"/>
                                    </a:rPr>
                                    <m:t>h</m:t>
                                  </m:r>
                                </m:e>
                                <m:sub>
                                  <m:r>
                                    <a:rPr lang="en-GB" sz="1050" i="1">
                                      <a:latin typeface="Cambria Math" panose="02040503050406030204" pitchFamily="18" charset="0"/>
                                      <a:ea typeface="Cambria Math" panose="02040503050406030204" pitchFamily="18" charset="0"/>
                                    </a:rPr>
                                    <m:t>𝑡</m:t>
                                  </m:r>
                                  <m:r>
                                    <a:rPr lang="en-GB" sz="1050" i="1">
                                      <a:latin typeface="Cambria Math" panose="02040503050406030204" pitchFamily="18" charset="0"/>
                                      <a:ea typeface="Cambria Math" panose="02040503050406030204" pitchFamily="18" charset="0"/>
                                    </a:rPr>
                                    <m:t>−1</m:t>
                                  </m:r>
                                </m:sub>
                              </m:sSub>
                            </m:num>
                            <m:den>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r>
                                    <a:rPr lang="fr-FR" sz="1050" i="1" dirty="0">
                                      <a:latin typeface="Cambria Math" panose="02040503050406030204" pitchFamily="18" charset="0"/>
                                      <a:ea typeface="Cambria Math" panose="02040503050406030204" pitchFamily="18" charset="0"/>
                                    </a:rPr>
                                    <m:t>−2</m:t>
                                  </m:r>
                                </m:sub>
                              </m:sSub>
                            </m:den>
                          </m:f>
                          <m:r>
                            <a:rPr lang="fr-FR" sz="1050" i="1" dirty="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r>
                                    <a:rPr lang="fr-FR" sz="1050" i="1" dirty="0">
                                      <a:latin typeface="Cambria Math" panose="02040503050406030204" pitchFamily="18" charset="0"/>
                                      <a:ea typeface="Cambria Math" panose="02040503050406030204" pitchFamily="18" charset="0"/>
                                    </a:rPr>
                                    <m:t>−2</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e>
                      </m:d>
                      <m:r>
                        <a:rPr lang="fr-FR" sz="1050" b="0" i="1" dirty="0" smtClean="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r>
                        <a:rPr lang="fr-FR" sz="1050" i="1" dirty="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sub>
                          </m:sSub>
                        </m:num>
                        <m:den>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r>
                                <a:rPr lang="fr-FR" sz="1050" i="1" dirty="0">
                                  <a:latin typeface="Cambria Math" panose="02040503050406030204" pitchFamily="18" charset="0"/>
                                  <a:ea typeface="Cambria Math" panose="02040503050406030204" pitchFamily="18" charset="0"/>
                                </a:rPr>
                                <m:t>−1</m:t>
                              </m:r>
                            </m:sub>
                          </m:sSub>
                        </m:den>
                      </m:f>
                      <m:r>
                        <a:rPr lang="fr-FR" sz="1050" i="1" dirty="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en-GB" sz="1050" i="1">
                                  <a:latin typeface="Cambria Math" panose="02040503050406030204" pitchFamily="18" charset="0"/>
                                  <a:ea typeface="Cambria Math" panose="02040503050406030204" pitchFamily="18" charset="0"/>
                                </a:rPr>
                              </m:ctrlPr>
                            </m:sSubPr>
                            <m:e>
                              <m:r>
                                <a:rPr lang="en-GB" sz="1050" i="1">
                                  <a:latin typeface="Cambria Math" panose="02040503050406030204" pitchFamily="18" charset="0"/>
                                  <a:ea typeface="Cambria Math" panose="02040503050406030204" pitchFamily="18" charset="0"/>
                                </a:rPr>
                                <m:t>h</m:t>
                              </m:r>
                            </m:e>
                            <m:sub>
                              <m:r>
                                <a:rPr lang="en-GB" sz="1050" i="1">
                                  <a:latin typeface="Cambria Math" panose="02040503050406030204" pitchFamily="18" charset="0"/>
                                  <a:ea typeface="Cambria Math" panose="02040503050406030204" pitchFamily="18" charset="0"/>
                                </a:rPr>
                                <m:t>𝑡</m:t>
                              </m:r>
                              <m:r>
                                <a:rPr lang="en-GB" sz="1050" i="1">
                                  <a:latin typeface="Cambria Math" panose="02040503050406030204" pitchFamily="18" charset="0"/>
                                  <a:ea typeface="Cambria Math" panose="02040503050406030204" pitchFamily="18" charset="0"/>
                                </a:rPr>
                                <m:t>−1</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r>
                        <a:rPr lang="fr-FR" sz="1050" i="1" dirty="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sub>
                          </m:sSub>
                        </m:num>
                        <m:den>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r>
                                <a:rPr lang="fr-FR" sz="1050" i="1" dirty="0">
                                  <a:latin typeface="Cambria Math" panose="02040503050406030204" pitchFamily="18" charset="0"/>
                                  <a:ea typeface="Cambria Math" panose="02040503050406030204" pitchFamily="18" charset="0"/>
                                </a:rPr>
                                <m:t>−1</m:t>
                              </m:r>
                            </m:sub>
                          </m:sSub>
                        </m:den>
                      </m:f>
                      <m:r>
                        <a:rPr lang="fr-FR" sz="1050" i="1" dirty="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en-GB" sz="1050" i="1">
                                  <a:latin typeface="Cambria Math" panose="02040503050406030204" pitchFamily="18" charset="0"/>
                                  <a:ea typeface="Cambria Math" panose="02040503050406030204" pitchFamily="18" charset="0"/>
                                </a:rPr>
                              </m:ctrlPr>
                            </m:sSubPr>
                            <m:e>
                              <m:r>
                                <a:rPr lang="en-GB" sz="1050" i="1">
                                  <a:latin typeface="Cambria Math" panose="02040503050406030204" pitchFamily="18" charset="0"/>
                                  <a:ea typeface="Cambria Math" panose="02040503050406030204" pitchFamily="18" charset="0"/>
                                </a:rPr>
                                <m:t>h</m:t>
                              </m:r>
                            </m:e>
                            <m:sub>
                              <m:r>
                                <a:rPr lang="en-GB" sz="1050" i="1">
                                  <a:latin typeface="Cambria Math" panose="02040503050406030204" pitchFamily="18" charset="0"/>
                                  <a:ea typeface="Cambria Math" panose="02040503050406030204" pitchFamily="18" charset="0"/>
                                </a:rPr>
                                <m:t>𝑡</m:t>
                              </m:r>
                              <m:r>
                                <a:rPr lang="en-GB" sz="1050" i="1">
                                  <a:latin typeface="Cambria Math" panose="02040503050406030204" pitchFamily="18" charset="0"/>
                                  <a:ea typeface="Cambria Math" panose="02040503050406030204" pitchFamily="18" charset="0"/>
                                </a:rPr>
                                <m:t>−1</m:t>
                              </m:r>
                            </m:sub>
                          </m:sSub>
                        </m:num>
                        <m:den>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r>
                                <a:rPr lang="fr-FR" sz="1050" i="1" dirty="0">
                                  <a:latin typeface="Cambria Math" panose="02040503050406030204" pitchFamily="18" charset="0"/>
                                  <a:ea typeface="Cambria Math" panose="02040503050406030204" pitchFamily="18" charset="0"/>
                                </a:rPr>
                                <m:t>−2</m:t>
                              </m:r>
                            </m:sub>
                          </m:sSub>
                        </m:den>
                      </m:f>
                      <m:r>
                        <a:rPr lang="fr-FR" sz="1050" i="1" dirty="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r>
                                <a:rPr lang="fr-FR" sz="1050" i="1" dirty="0">
                                  <a:latin typeface="Cambria Math" panose="02040503050406030204" pitchFamily="18" charset="0"/>
                                  <a:ea typeface="Cambria Math" panose="02040503050406030204" pitchFamily="18" charset="0"/>
                                </a:rPr>
                                <m:t>−2</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oMath>
                  </m:oMathPara>
                </a14:m>
                <a:endParaRPr lang="en-GB" sz="1050" dirty="0"/>
              </a:p>
              <a:p>
                <a:endParaRPr lang="en-GB" sz="1050" dirty="0"/>
              </a:p>
              <a:p>
                <a:r>
                  <a:rPr lang="en-GB" sz="1050" dirty="0">
                    <a:latin typeface="Cambria Math" panose="02040503050406030204" pitchFamily="18" charset="0"/>
                    <a:ea typeface="Cambria Math" panose="02040503050406030204" pitchFamily="18" charset="0"/>
                  </a:rPr>
                  <a:t>And by recurrence, we can carry on like that till we reach </a:t>
                </a:r>
                <a14:m>
                  <m:oMath xmlns:m="http://schemas.openxmlformats.org/officeDocument/2006/math">
                    <m:sSub>
                      <m:sSubPr>
                        <m:ctrlPr>
                          <a:rPr lang="en-GB" sz="1050" i="1" smtClean="0">
                            <a:latin typeface="Cambria Math" panose="02040503050406030204" pitchFamily="18" charset="0"/>
                            <a:ea typeface="Cambria Math" panose="02040503050406030204" pitchFamily="18" charset="0"/>
                          </a:rPr>
                        </m:ctrlPr>
                      </m:sSubPr>
                      <m:e>
                        <m:r>
                          <a:rPr lang="en-GB" sz="1050" i="1">
                            <a:latin typeface="Cambria Math" panose="02040503050406030204" pitchFamily="18" charset="0"/>
                            <a:ea typeface="Cambria Math" panose="02040503050406030204" pitchFamily="18" charset="0"/>
                          </a:rPr>
                          <m:t>h</m:t>
                        </m:r>
                      </m:e>
                      <m:sub>
                        <m:r>
                          <a:rPr lang="en-GB" sz="1050" i="1">
                            <a:latin typeface="Cambria Math" panose="02040503050406030204" pitchFamily="18" charset="0"/>
                            <a:ea typeface="Cambria Math" panose="02040503050406030204" pitchFamily="18" charset="0"/>
                          </a:rPr>
                          <m:t>1</m:t>
                        </m:r>
                      </m:sub>
                    </m:sSub>
                  </m:oMath>
                </a14:m>
                <a:endParaRPr lang="en-GB" sz="1050" dirty="0"/>
              </a:p>
              <a:p>
                <a:endParaRPr lang="en-GB" sz="1050" dirty="0"/>
              </a:p>
              <a:p>
                <a:pPr/>
                <a14:m>
                  <m:oMathPara xmlns:m="http://schemas.openxmlformats.org/officeDocument/2006/math">
                    <m:oMathParaPr>
                      <m:jc m:val="left"/>
                    </m:oMathParaPr>
                    <m:oMath xmlns:m="http://schemas.openxmlformats.org/officeDocument/2006/math">
                      <m:f>
                        <m:fPr>
                          <m:ctrlPr>
                            <a:rPr lang="fr-FR" sz="1050" i="1" dirty="0" smtClean="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r>
                        <a:rPr lang="fr-FR" sz="1050" b="0" i="1" dirty="0" smtClean="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r>
                        <a:rPr lang="fr-FR" sz="1050" i="1" dirty="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sub>
                          </m:sSub>
                        </m:num>
                        <m:den>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r>
                                <a:rPr lang="fr-FR" sz="1050" i="1" dirty="0">
                                  <a:latin typeface="Cambria Math" panose="02040503050406030204" pitchFamily="18" charset="0"/>
                                  <a:ea typeface="Cambria Math" panose="02040503050406030204" pitchFamily="18" charset="0"/>
                                </a:rPr>
                                <m:t>−1</m:t>
                              </m:r>
                            </m:sub>
                          </m:sSub>
                        </m:den>
                      </m:f>
                      <m:r>
                        <a:rPr lang="fr-FR" sz="1050" i="1" dirty="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en-GB" sz="1050" i="1">
                                  <a:latin typeface="Cambria Math" panose="02040503050406030204" pitchFamily="18" charset="0"/>
                                  <a:ea typeface="Cambria Math" panose="02040503050406030204" pitchFamily="18" charset="0"/>
                                </a:rPr>
                              </m:ctrlPr>
                            </m:sSubPr>
                            <m:e>
                              <m:r>
                                <a:rPr lang="en-GB" sz="1050" i="1">
                                  <a:latin typeface="Cambria Math" panose="02040503050406030204" pitchFamily="18" charset="0"/>
                                  <a:ea typeface="Cambria Math" panose="02040503050406030204" pitchFamily="18" charset="0"/>
                                </a:rPr>
                                <m:t>h</m:t>
                              </m:r>
                            </m:e>
                            <m:sub>
                              <m:r>
                                <a:rPr lang="en-GB" sz="1050" i="1">
                                  <a:latin typeface="Cambria Math" panose="02040503050406030204" pitchFamily="18" charset="0"/>
                                  <a:ea typeface="Cambria Math" panose="02040503050406030204" pitchFamily="18" charset="0"/>
                                </a:rPr>
                                <m:t>𝑡</m:t>
                              </m:r>
                              <m:r>
                                <a:rPr lang="en-GB" sz="1050" i="1">
                                  <a:latin typeface="Cambria Math" panose="02040503050406030204" pitchFamily="18" charset="0"/>
                                  <a:ea typeface="Cambria Math" panose="02040503050406030204" pitchFamily="18" charset="0"/>
                                </a:rPr>
                                <m:t>−1</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r>
                        <a:rPr lang="fr-FR" sz="1050" i="1" dirty="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sub>
                          </m:sSub>
                        </m:num>
                        <m:den>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r>
                                <a:rPr lang="fr-FR" sz="1050" i="1" dirty="0">
                                  <a:latin typeface="Cambria Math" panose="02040503050406030204" pitchFamily="18" charset="0"/>
                                  <a:ea typeface="Cambria Math" panose="02040503050406030204" pitchFamily="18" charset="0"/>
                                </a:rPr>
                                <m:t>−2</m:t>
                              </m:r>
                            </m:sub>
                          </m:sSub>
                        </m:den>
                      </m:f>
                      <m:r>
                        <a:rPr lang="fr-FR" sz="1050" i="1" dirty="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r>
                                <a:rPr lang="fr-FR" sz="1050" i="1" dirty="0">
                                  <a:latin typeface="Cambria Math" panose="02040503050406030204" pitchFamily="18" charset="0"/>
                                  <a:ea typeface="Cambria Math" panose="02040503050406030204" pitchFamily="18" charset="0"/>
                                </a:rPr>
                                <m:t>−2</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r>
                        <a:rPr lang="fr-FR" sz="1050" b="0" i="1" dirty="0" smtClean="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b="0" i="1" dirty="0" smtClean="0">
                                  <a:latin typeface="Cambria Math" panose="02040503050406030204" pitchFamily="18" charset="0"/>
                                  <a:ea typeface="Cambria Math" panose="02040503050406030204" pitchFamily="18" charset="0"/>
                                </a:rPr>
                                <m:t>𝑡</m:t>
                              </m:r>
                            </m:sub>
                          </m:sSub>
                        </m:num>
                        <m:den>
                          <m:r>
                            <a:rPr lang="fr-FR" sz="1050" i="1" dirty="0">
                              <a:latin typeface="Cambria Math" panose="02040503050406030204" pitchFamily="18" charset="0"/>
                              <a:ea typeface="Cambria Math" panose="02040503050406030204" pitchFamily="18" charset="0"/>
                            </a:rPr>
                            <m:t>𝜕</m:t>
                          </m:r>
                          <m:sSub>
                            <m:sSubPr>
                              <m:ctrlPr>
                                <a:rPr lang="fr-FR" sz="1050" i="1" dirty="0" smtClean="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1</m:t>
                              </m:r>
                            </m:sub>
                          </m:sSub>
                        </m:den>
                      </m:f>
                      <m:r>
                        <a:rPr lang="fr-FR" sz="1050" i="1" dirty="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b="0" i="1" dirty="0" smtClean="0">
                                  <a:latin typeface="Cambria Math" panose="02040503050406030204" pitchFamily="18" charset="0"/>
                                  <a:ea typeface="Cambria Math" panose="02040503050406030204" pitchFamily="18" charset="0"/>
                                </a:rPr>
                                <m:t>1</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oMath>
                  </m:oMathPara>
                </a14:m>
                <a:endParaRPr lang="en-GB" sz="1050" dirty="0"/>
              </a:p>
              <a:p>
                <a:endParaRPr lang="en-GB" sz="1050" dirty="0"/>
              </a:p>
              <a:p>
                <a:pPr/>
                <a14:m>
                  <m:oMathPara xmlns:m="http://schemas.openxmlformats.org/officeDocument/2006/math">
                    <m:oMathParaPr>
                      <m:jc m:val="left"/>
                    </m:oMathParaPr>
                    <m:oMath xmlns:m="http://schemas.openxmlformats.org/officeDocument/2006/math">
                      <m:f>
                        <m:fPr>
                          <m:ctrlPr>
                            <a:rPr lang="fr-FR" sz="1050" i="1" dirty="0" smtClean="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r>
                        <a:rPr lang="fr-FR" sz="1050" b="0" i="1" dirty="0" smtClean="0">
                          <a:latin typeface="Cambria Math" panose="02040503050406030204" pitchFamily="18" charset="0"/>
                          <a:ea typeface="Cambria Math" panose="02040503050406030204" pitchFamily="18" charset="0"/>
                        </a:rPr>
                        <m:t>=         </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r>
                        <a:rPr lang="fr-FR" sz="1050" i="1" dirty="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sub>
                          </m:sSub>
                        </m:num>
                        <m:den>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r>
                                <a:rPr lang="fr-FR" sz="1050" i="1" dirty="0">
                                  <a:latin typeface="Cambria Math" panose="02040503050406030204" pitchFamily="18" charset="0"/>
                                  <a:ea typeface="Cambria Math" panose="02040503050406030204" pitchFamily="18" charset="0"/>
                                </a:rPr>
                                <m:t>−1</m:t>
                              </m:r>
                            </m:sub>
                          </m:sSub>
                        </m:den>
                      </m:f>
                      <m:r>
                        <a:rPr lang="fr-FR" sz="1050" i="1" dirty="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en-GB" sz="1050" i="1">
                                  <a:latin typeface="Cambria Math" panose="02040503050406030204" pitchFamily="18" charset="0"/>
                                  <a:ea typeface="Cambria Math" panose="02040503050406030204" pitchFamily="18" charset="0"/>
                                </a:rPr>
                              </m:ctrlPr>
                            </m:sSubPr>
                            <m:e>
                              <m:r>
                                <a:rPr lang="en-GB" sz="1050" i="1">
                                  <a:latin typeface="Cambria Math" panose="02040503050406030204" pitchFamily="18" charset="0"/>
                                  <a:ea typeface="Cambria Math" panose="02040503050406030204" pitchFamily="18" charset="0"/>
                                </a:rPr>
                                <m:t>h</m:t>
                              </m:r>
                            </m:e>
                            <m:sub>
                              <m:r>
                                <a:rPr lang="en-GB" sz="1050" i="1">
                                  <a:latin typeface="Cambria Math" panose="02040503050406030204" pitchFamily="18" charset="0"/>
                                  <a:ea typeface="Cambria Math" panose="02040503050406030204" pitchFamily="18" charset="0"/>
                                </a:rPr>
                                <m:t>𝑡</m:t>
                              </m:r>
                              <m:r>
                                <a:rPr lang="en-GB" sz="1050" i="1">
                                  <a:latin typeface="Cambria Math" panose="02040503050406030204" pitchFamily="18" charset="0"/>
                                  <a:ea typeface="Cambria Math" panose="02040503050406030204" pitchFamily="18" charset="0"/>
                                </a:rPr>
                                <m:t>−1</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r>
                        <a:rPr lang="fr-FR" sz="1050" i="1" dirty="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sub>
                          </m:sSub>
                        </m:num>
                        <m:den>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r>
                                <a:rPr lang="fr-FR" sz="1050" i="1" dirty="0">
                                  <a:latin typeface="Cambria Math" panose="02040503050406030204" pitchFamily="18" charset="0"/>
                                  <a:ea typeface="Cambria Math" panose="02040503050406030204" pitchFamily="18" charset="0"/>
                                </a:rPr>
                                <m:t>−2</m:t>
                              </m:r>
                            </m:sub>
                          </m:sSub>
                        </m:den>
                      </m:f>
                      <m:r>
                        <a:rPr lang="fr-FR" sz="1050" i="1" dirty="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r>
                                <a:rPr lang="fr-FR" sz="1050" i="1" dirty="0">
                                  <a:latin typeface="Cambria Math" panose="02040503050406030204" pitchFamily="18" charset="0"/>
                                  <a:ea typeface="Cambria Math" panose="02040503050406030204" pitchFamily="18" charset="0"/>
                                </a:rPr>
                                <m:t>−2</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r>
                        <a:rPr lang="fr-FR" sz="1050" b="0" i="1" dirty="0" smtClean="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b="0" i="1" dirty="0" smtClean="0">
                                  <a:latin typeface="Cambria Math" panose="02040503050406030204" pitchFamily="18" charset="0"/>
                                  <a:ea typeface="Cambria Math" panose="02040503050406030204" pitchFamily="18" charset="0"/>
                                </a:rPr>
                                <m:t>𝑡</m:t>
                              </m:r>
                            </m:sub>
                          </m:sSub>
                        </m:num>
                        <m:den>
                          <m:r>
                            <a:rPr lang="fr-FR" sz="1050" i="1" dirty="0">
                              <a:latin typeface="Cambria Math" panose="02040503050406030204" pitchFamily="18" charset="0"/>
                              <a:ea typeface="Cambria Math" panose="02040503050406030204" pitchFamily="18" charset="0"/>
                            </a:rPr>
                            <m:t>𝜕</m:t>
                          </m:r>
                          <m:sSub>
                            <m:sSubPr>
                              <m:ctrlPr>
                                <a:rPr lang="fr-FR" sz="1050" i="1" dirty="0" smtClean="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1</m:t>
                              </m:r>
                            </m:sub>
                          </m:sSub>
                        </m:den>
                      </m:f>
                      <m:r>
                        <a:rPr lang="fr-FR" sz="1050" i="1" dirty="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b="0" i="1" dirty="0" smtClean="0">
                                  <a:latin typeface="Cambria Math" panose="02040503050406030204" pitchFamily="18" charset="0"/>
                                  <a:ea typeface="Cambria Math" panose="02040503050406030204" pitchFamily="18" charset="0"/>
                                </a:rPr>
                                <m:t>1</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oMath>
                  </m:oMathPara>
                </a14:m>
                <a:endParaRPr lang="en-GB" sz="1050" dirty="0"/>
              </a:p>
              <a:p>
                <a:endParaRPr lang="en-GB" sz="1050" dirty="0"/>
              </a:p>
              <a:p>
                <a:pPr/>
                <a14:m>
                  <m:oMathPara xmlns:m="http://schemas.openxmlformats.org/officeDocument/2006/math">
                    <m:oMathParaPr>
                      <m:jc m:val="left"/>
                    </m:oMathParaPr>
                    <m:oMath xmlns:m="http://schemas.openxmlformats.org/officeDocument/2006/math">
                      <m:f>
                        <m:fPr>
                          <m:ctrlPr>
                            <a:rPr lang="fr-FR" sz="1050" i="1" dirty="0" smtClean="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r>
                        <a:rPr lang="fr-FR" sz="1050" b="0" i="1" dirty="0" smtClean="0">
                          <a:latin typeface="Cambria Math" panose="02040503050406030204" pitchFamily="18" charset="0"/>
                          <a:ea typeface="Cambria Math" panose="02040503050406030204" pitchFamily="18" charset="0"/>
                        </a:rPr>
                        <m:t>=</m:t>
                      </m:r>
                      <m:f>
                        <m:fPr>
                          <m:ctrlPr>
                            <a:rPr lang="fr-FR" sz="1050" i="1" dirty="0" smtClean="0">
                              <a:solidFill>
                                <a:schemeClr val="accent1"/>
                              </a:solidFill>
                              <a:latin typeface="Cambria Math" panose="02040503050406030204" pitchFamily="18" charset="0"/>
                              <a:ea typeface="Cambria Math" panose="02040503050406030204" pitchFamily="18" charset="0"/>
                            </a:rPr>
                          </m:ctrlPr>
                        </m:fPr>
                        <m:num>
                          <m:r>
                            <a:rPr lang="fr-FR" sz="1050" i="1" dirty="0">
                              <a:solidFill>
                                <a:schemeClr val="accent1"/>
                              </a:solidFill>
                              <a:latin typeface="Cambria Math" panose="02040503050406030204" pitchFamily="18" charset="0"/>
                              <a:ea typeface="Cambria Math" panose="02040503050406030204" pitchFamily="18" charset="0"/>
                            </a:rPr>
                            <m:t>𝜕</m:t>
                          </m:r>
                          <m:sSub>
                            <m:sSubPr>
                              <m:ctrlPr>
                                <a:rPr lang="fr-FR" sz="1050" i="1" dirty="0">
                                  <a:solidFill>
                                    <a:schemeClr val="accent1"/>
                                  </a:solidFill>
                                  <a:latin typeface="Cambria Math" panose="02040503050406030204" pitchFamily="18" charset="0"/>
                                  <a:ea typeface="Cambria Math" panose="02040503050406030204" pitchFamily="18" charset="0"/>
                                </a:rPr>
                              </m:ctrlPr>
                            </m:sSubPr>
                            <m:e>
                              <m:r>
                                <a:rPr lang="fr-FR" sz="1050" i="1" dirty="0">
                                  <a:solidFill>
                                    <a:schemeClr val="accent1"/>
                                  </a:solidFill>
                                  <a:latin typeface="Cambria Math" panose="02040503050406030204" pitchFamily="18" charset="0"/>
                                  <a:ea typeface="Cambria Math" panose="02040503050406030204" pitchFamily="18" charset="0"/>
                                </a:rPr>
                                <m:t>h</m:t>
                              </m:r>
                            </m:e>
                            <m:sub>
                              <m:r>
                                <a:rPr lang="fr-FR" sz="1050" i="1" dirty="0">
                                  <a:solidFill>
                                    <a:schemeClr val="accent1"/>
                                  </a:solidFill>
                                  <a:latin typeface="Cambria Math" panose="02040503050406030204" pitchFamily="18" charset="0"/>
                                  <a:ea typeface="Cambria Math" panose="02040503050406030204" pitchFamily="18" charset="0"/>
                                </a:rPr>
                                <m:t>𝑡</m:t>
                              </m:r>
                            </m:sub>
                          </m:sSub>
                        </m:num>
                        <m:den>
                          <m:r>
                            <a:rPr lang="fr-FR" sz="1050" i="1" dirty="0">
                              <a:solidFill>
                                <a:schemeClr val="accent1"/>
                              </a:solidFill>
                              <a:latin typeface="Cambria Math" panose="02040503050406030204" pitchFamily="18" charset="0"/>
                              <a:ea typeface="Cambria Math" panose="02040503050406030204" pitchFamily="18" charset="0"/>
                            </a:rPr>
                            <m:t>𝜕</m:t>
                          </m:r>
                          <m:sSub>
                            <m:sSubPr>
                              <m:ctrlPr>
                                <a:rPr lang="fr-FR" sz="1050" b="0" i="1" dirty="0" smtClean="0">
                                  <a:solidFill>
                                    <a:schemeClr val="accent1"/>
                                  </a:solidFill>
                                  <a:latin typeface="Cambria Math" panose="02040503050406030204" pitchFamily="18" charset="0"/>
                                  <a:ea typeface="Cambria Math" panose="02040503050406030204" pitchFamily="18" charset="0"/>
                                </a:rPr>
                              </m:ctrlPr>
                            </m:sSubPr>
                            <m:e>
                              <m:r>
                                <a:rPr lang="fr-FR" sz="1050" b="0" i="1" dirty="0" smtClean="0">
                                  <a:solidFill>
                                    <a:schemeClr val="accent1"/>
                                  </a:solidFill>
                                  <a:latin typeface="Cambria Math" panose="02040503050406030204" pitchFamily="18" charset="0"/>
                                  <a:ea typeface="Cambria Math" panose="02040503050406030204" pitchFamily="18" charset="0"/>
                                </a:rPr>
                                <m:t>h</m:t>
                              </m:r>
                            </m:e>
                            <m:sub>
                              <m:r>
                                <a:rPr lang="fr-FR" sz="1050" b="0" i="1" dirty="0" smtClean="0">
                                  <a:solidFill>
                                    <a:schemeClr val="accent1"/>
                                  </a:solidFill>
                                  <a:latin typeface="Cambria Math" panose="02040503050406030204" pitchFamily="18" charset="0"/>
                                  <a:ea typeface="Cambria Math" panose="02040503050406030204" pitchFamily="18" charset="0"/>
                                </a:rPr>
                                <m:t>𝑡</m:t>
                              </m:r>
                            </m:sub>
                          </m:sSub>
                        </m:den>
                      </m:f>
                      <m:r>
                        <a:rPr lang="fr-FR" sz="1050" b="0" i="1" dirty="0" smtClean="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r>
                        <a:rPr lang="fr-FR" sz="1050" i="1" dirty="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sub>
                          </m:sSub>
                        </m:num>
                        <m:den>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r>
                                <a:rPr lang="fr-FR" sz="1050" i="1" dirty="0">
                                  <a:latin typeface="Cambria Math" panose="02040503050406030204" pitchFamily="18" charset="0"/>
                                  <a:ea typeface="Cambria Math" panose="02040503050406030204" pitchFamily="18" charset="0"/>
                                </a:rPr>
                                <m:t>−1</m:t>
                              </m:r>
                            </m:sub>
                          </m:sSub>
                        </m:den>
                      </m:f>
                      <m:r>
                        <a:rPr lang="fr-FR" sz="1050" i="1" dirty="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en-GB" sz="1050" i="1">
                                  <a:latin typeface="Cambria Math" panose="02040503050406030204" pitchFamily="18" charset="0"/>
                                  <a:ea typeface="Cambria Math" panose="02040503050406030204" pitchFamily="18" charset="0"/>
                                </a:rPr>
                              </m:ctrlPr>
                            </m:sSubPr>
                            <m:e>
                              <m:r>
                                <a:rPr lang="en-GB" sz="1050" i="1">
                                  <a:latin typeface="Cambria Math" panose="02040503050406030204" pitchFamily="18" charset="0"/>
                                  <a:ea typeface="Cambria Math" panose="02040503050406030204" pitchFamily="18" charset="0"/>
                                </a:rPr>
                                <m:t>h</m:t>
                              </m:r>
                            </m:e>
                            <m:sub>
                              <m:r>
                                <a:rPr lang="en-GB" sz="1050" i="1">
                                  <a:latin typeface="Cambria Math" panose="02040503050406030204" pitchFamily="18" charset="0"/>
                                  <a:ea typeface="Cambria Math" panose="02040503050406030204" pitchFamily="18" charset="0"/>
                                </a:rPr>
                                <m:t>𝑡</m:t>
                              </m:r>
                              <m:r>
                                <a:rPr lang="en-GB" sz="1050" i="1">
                                  <a:latin typeface="Cambria Math" panose="02040503050406030204" pitchFamily="18" charset="0"/>
                                  <a:ea typeface="Cambria Math" panose="02040503050406030204" pitchFamily="18" charset="0"/>
                                </a:rPr>
                                <m:t>−1</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r>
                        <a:rPr lang="fr-FR" sz="1050" i="1" dirty="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sub>
                          </m:sSub>
                        </m:num>
                        <m:den>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r>
                                <a:rPr lang="fr-FR" sz="1050" i="1" dirty="0">
                                  <a:latin typeface="Cambria Math" panose="02040503050406030204" pitchFamily="18" charset="0"/>
                                  <a:ea typeface="Cambria Math" panose="02040503050406030204" pitchFamily="18" charset="0"/>
                                </a:rPr>
                                <m:t>−2</m:t>
                              </m:r>
                            </m:sub>
                          </m:sSub>
                        </m:den>
                      </m:f>
                      <m:r>
                        <a:rPr lang="fr-FR" sz="1050" i="1" dirty="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r>
                                <a:rPr lang="fr-FR" sz="1050" i="1" dirty="0">
                                  <a:latin typeface="Cambria Math" panose="02040503050406030204" pitchFamily="18" charset="0"/>
                                  <a:ea typeface="Cambria Math" panose="02040503050406030204" pitchFamily="18" charset="0"/>
                                </a:rPr>
                                <m:t>−2</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r>
                        <a:rPr lang="fr-FR" sz="1050" b="0" i="1" dirty="0" smtClean="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b="0" i="1" dirty="0" smtClean="0">
                                  <a:latin typeface="Cambria Math" panose="02040503050406030204" pitchFamily="18" charset="0"/>
                                  <a:ea typeface="Cambria Math" panose="02040503050406030204" pitchFamily="18" charset="0"/>
                                </a:rPr>
                                <m:t>𝑡</m:t>
                              </m:r>
                            </m:sub>
                          </m:sSub>
                        </m:num>
                        <m:den>
                          <m:r>
                            <a:rPr lang="fr-FR" sz="1050" i="1" dirty="0">
                              <a:latin typeface="Cambria Math" panose="02040503050406030204" pitchFamily="18" charset="0"/>
                              <a:ea typeface="Cambria Math" panose="02040503050406030204" pitchFamily="18" charset="0"/>
                            </a:rPr>
                            <m:t>𝜕</m:t>
                          </m:r>
                          <m:sSub>
                            <m:sSubPr>
                              <m:ctrlPr>
                                <a:rPr lang="fr-FR" sz="1050" i="1" dirty="0" smtClean="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1</m:t>
                              </m:r>
                            </m:sub>
                          </m:sSub>
                        </m:den>
                      </m:f>
                      <m:r>
                        <a:rPr lang="fr-FR" sz="1050" i="1" dirty="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b="0" i="1" dirty="0" smtClean="0">
                                  <a:latin typeface="Cambria Math" panose="02040503050406030204" pitchFamily="18" charset="0"/>
                                  <a:ea typeface="Cambria Math" panose="02040503050406030204" pitchFamily="18" charset="0"/>
                                </a:rPr>
                                <m:t>1</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oMath>
                  </m:oMathPara>
                </a14:m>
                <a:endParaRPr lang="en-GB" sz="1050" dirty="0"/>
              </a:p>
              <a:p>
                <a:endParaRPr lang="en-GB" sz="1050" dirty="0"/>
              </a:p>
              <a:p>
                <a:pPr/>
                <a14:m>
                  <m:oMathPara xmlns:m="http://schemas.openxmlformats.org/officeDocument/2006/math">
                    <m:oMathParaPr>
                      <m:jc m:val="left"/>
                    </m:oMathParaPr>
                    <m:oMath xmlns:m="http://schemas.openxmlformats.org/officeDocument/2006/math">
                      <m:f>
                        <m:fPr>
                          <m:ctrlPr>
                            <a:rPr lang="fr-FR" sz="1050" i="1" dirty="0" smtClean="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r>
                        <a:rPr lang="fr-FR" sz="1050" b="0" i="1" dirty="0" smtClean="0">
                          <a:latin typeface="Cambria Math" panose="02040503050406030204" pitchFamily="18" charset="0"/>
                          <a:ea typeface="Cambria Math" panose="02040503050406030204" pitchFamily="18" charset="0"/>
                        </a:rPr>
                        <m:t>=</m:t>
                      </m:r>
                      <m:nary>
                        <m:naryPr>
                          <m:chr m:val="∑"/>
                          <m:ctrlPr>
                            <a:rPr lang="fr-FR" sz="1050" b="0" i="1" dirty="0" smtClean="0">
                              <a:latin typeface="Cambria Math" panose="02040503050406030204" pitchFamily="18" charset="0"/>
                              <a:ea typeface="Cambria Math" panose="02040503050406030204" pitchFamily="18" charset="0"/>
                            </a:rPr>
                          </m:ctrlPr>
                        </m:naryPr>
                        <m:sub>
                          <m:r>
                            <m:rPr>
                              <m:brk m:alnAt="23"/>
                            </m:rPr>
                            <a:rPr lang="fr-FR" sz="1050" b="0" i="1" dirty="0" smtClean="0">
                              <a:latin typeface="Cambria Math" panose="02040503050406030204" pitchFamily="18" charset="0"/>
                              <a:ea typeface="Cambria Math" panose="02040503050406030204" pitchFamily="18" charset="0"/>
                            </a:rPr>
                            <m:t>𝑟</m:t>
                          </m:r>
                          <m:r>
                            <a:rPr lang="fr-FR" sz="1050" b="0" i="1" dirty="0" smtClean="0">
                              <a:latin typeface="Cambria Math" panose="02040503050406030204" pitchFamily="18" charset="0"/>
                              <a:ea typeface="Cambria Math" panose="02040503050406030204" pitchFamily="18" charset="0"/>
                            </a:rPr>
                            <m:t>=1</m:t>
                          </m:r>
                        </m:sub>
                        <m:sup>
                          <m:r>
                            <a:rPr lang="fr-FR" sz="1050" b="0" i="1" dirty="0" smtClean="0">
                              <a:latin typeface="Cambria Math" panose="02040503050406030204" pitchFamily="18" charset="0"/>
                              <a:ea typeface="Cambria Math" panose="02040503050406030204" pitchFamily="18" charset="0"/>
                            </a:rPr>
                            <m:t>𝑡</m:t>
                          </m:r>
                        </m:sup>
                        <m:e>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i="1" dirty="0">
                                      <a:latin typeface="Cambria Math" panose="02040503050406030204" pitchFamily="18" charset="0"/>
                                      <a:ea typeface="Cambria Math" panose="02040503050406030204" pitchFamily="18" charset="0"/>
                                    </a:rPr>
                                    <m:t>𝑡</m:t>
                                  </m:r>
                                </m:sub>
                              </m:sSub>
                            </m:num>
                            <m:den>
                              <m:r>
                                <a:rPr lang="fr-FR" sz="1050" i="1"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a:rPr lang="fr-FR" sz="1050" i="1" dirty="0">
                                      <a:latin typeface="Cambria Math" panose="02040503050406030204" pitchFamily="18" charset="0"/>
                                      <a:ea typeface="Cambria Math" panose="02040503050406030204" pitchFamily="18" charset="0"/>
                                    </a:rPr>
                                    <m:t>h</m:t>
                                  </m:r>
                                </m:e>
                                <m:sub>
                                  <m:r>
                                    <a:rPr lang="fr-FR" sz="1050" b="0" i="1" dirty="0" smtClean="0">
                                      <a:latin typeface="Cambria Math" panose="02040503050406030204" pitchFamily="18" charset="0"/>
                                      <a:ea typeface="Cambria Math" panose="02040503050406030204" pitchFamily="18" charset="0"/>
                                    </a:rPr>
                                    <m:t>𝑟</m:t>
                                  </m:r>
                                </m:sub>
                              </m:sSub>
                            </m:den>
                          </m:f>
                          <m:r>
                            <a:rPr lang="fr-FR" sz="1050" i="1" dirty="0">
                              <a:latin typeface="Cambria Math" panose="02040503050406030204" pitchFamily="18" charset="0"/>
                              <a:ea typeface="Cambria Math" panose="02040503050406030204" pitchFamily="18" charset="0"/>
                            </a:rPr>
                            <m:t>.</m:t>
                          </m:r>
                          <m:f>
                            <m:fPr>
                              <m:ctrlPr>
                                <a:rPr lang="fr-FR" sz="1050" i="1" dirty="0">
                                  <a:latin typeface="Cambria Math" panose="02040503050406030204" pitchFamily="18" charset="0"/>
                                  <a:ea typeface="Cambria Math" panose="02040503050406030204" pitchFamily="18" charset="0"/>
                                </a:rPr>
                              </m:ctrlPr>
                            </m:fPr>
                            <m:num>
                              <m:r>
                                <a:rPr lang="fr-FR" sz="1050" i="1" dirty="0">
                                  <a:latin typeface="Cambria Math" panose="02040503050406030204" pitchFamily="18" charset="0"/>
                                  <a:ea typeface="Cambria Math" panose="02040503050406030204" pitchFamily="18" charset="0"/>
                                </a:rPr>
                                <m:t>𝜕</m:t>
                              </m:r>
                              <m:sSub>
                                <m:sSubPr>
                                  <m:ctrlPr>
                                    <a:rPr lang="en-GB" sz="1050" i="1">
                                      <a:latin typeface="Cambria Math" panose="02040503050406030204" pitchFamily="18" charset="0"/>
                                      <a:ea typeface="Cambria Math" panose="02040503050406030204" pitchFamily="18" charset="0"/>
                                    </a:rPr>
                                  </m:ctrlPr>
                                </m:sSubPr>
                                <m:e>
                                  <m:r>
                                    <a:rPr lang="en-GB" sz="1050" i="1">
                                      <a:latin typeface="Cambria Math" panose="02040503050406030204" pitchFamily="18" charset="0"/>
                                      <a:ea typeface="Cambria Math" panose="02040503050406030204" pitchFamily="18" charset="0"/>
                                    </a:rPr>
                                    <m:t>h</m:t>
                                  </m:r>
                                </m:e>
                                <m:sub>
                                  <m:r>
                                    <a:rPr lang="fr-FR" sz="1050" b="0" i="1" smtClean="0">
                                      <a:latin typeface="Cambria Math" panose="02040503050406030204" pitchFamily="18" charset="0"/>
                                      <a:ea typeface="Cambria Math" panose="02040503050406030204" pitchFamily="18" charset="0"/>
                                    </a:rPr>
                                    <m:t>𝑟</m:t>
                                  </m:r>
                                </m:sub>
                              </m:sSub>
                            </m:num>
                            <m:den>
                              <m:r>
                                <a:rPr lang="fr-FR" sz="1050" i="1" dirty="0">
                                  <a:latin typeface="Cambria Math" panose="02040503050406030204" pitchFamily="18" charset="0"/>
                                  <a:ea typeface="Cambria Math" panose="02040503050406030204" pitchFamily="18" charset="0"/>
                                </a:rPr>
                                <m:t>𝜕</m:t>
                              </m:r>
                              <m:r>
                                <a:rPr lang="fr-FR" sz="1050" i="1" dirty="0">
                                  <a:latin typeface="Cambria Math" panose="02040503050406030204" pitchFamily="18" charset="0"/>
                                  <a:ea typeface="Cambria Math" panose="02040503050406030204" pitchFamily="18" charset="0"/>
                                </a:rPr>
                                <m:t>𝑊</m:t>
                              </m:r>
                            </m:den>
                          </m:f>
                        </m:e>
                      </m:nary>
                    </m:oMath>
                  </m:oMathPara>
                </a14:m>
                <a:endParaRPr lang="en-GB" sz="1050" dirty="0"/>
              </a:p>
              <a:p>
                <a:endParaRPr lang="en-GB" sz="1050" dirty="0"/>
              </a:p>
            </p:txBody>
          </p:sp>
        </mc:Choice>
        <mc:Fallback xmlns="">
          <p:sp>
            <p:nvSpPr>
              <p:cNvPr id="89" name="ZoneTexte 88">
                <a:extLst>
                  <a:ext uri="{FF2B5EF4-FFF2-40B4-BE49-F238E27FC236}">
                    <a16:creationId xmlns:a16="http://schemas.microsoft.com/office/drawing/2014/main" id="{53714818-C295-3367-E8B0-CDFB4129344B}"/>
                  </a:ext>
                </a:extLst>
              </p:cNvPr>
              <p:cNvSpPr txBox="1">
                <a:spLocks noRot="1" noChangeAspect="1" noMove="1" noResize="1" noEditPoints="1" noAdjustHandles="1" noChangeArrowheads="1" noChangeShapeType="1" noTextEdit="1"/>
              </p:cNvSpPr>
              <p:nvPr/>
            </p:nvSpPr>
            <p:spPr>
              <a:xfrm>
                <a:off x="1670023" y="2249617"/>
                <a:ext cx="9821766" cy="4063035"/>
              </a:xfrm>
              <a:prstGeom prst="rect">
                <a:avLst/>
              </a:prstGeom>
              <a:blipFill>
                <a:blip r:embed="rId4"/>
                <a:stretch>
                  <a:fillRect l="-1550" t="-1246" b="-1619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F084C3A9-7BC0-FE22-ABC7-6A70BAFFA673}"/>
                  </a:ext>
                </a:extLst>
              </p:cNvPr>
              <p:cNvSpPr txBox="1"/>
              <p:nvPr/>
            </p:nvSpPr>
            <p:spPr>
              <a:xfrm>
                <a:off x="229581" y="4260024"/>
                <a:ext cx="42934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Sub>
                    </m:oMath>
                  </m:oMathPara>
                </a14:m>
                <a:endParaRPr lang="en-GB" sz="1600" dirty="0"/>
              </a:p>
            </p:txBody>
          </p:sp>
        </mc:Choice>
        <mc:Fallback xmlns="">
          <p:sp>
            <p:nvSpPr>
              <p:cNvPr id="5" name="ZoneTexte 4">
                <a:extLst>
                  <a:ext uri="{FF2B5EF4-FFF2-40B4-BE49-F238E27FC236}">
                    <a16:creationId xmlns:a16="http://schemas.microsoft.com/office/drawing/2014/main" id="{F084C3A9-7BC0-FE22-ABC7-6A70BAFFA673}"/>
                  </a:ext>
                </a:extLst>
              </p:cNvPr>
              <p:cNvSpPr txBox="1">
                <a:spLocks noRot="1" noChangeAspect="1" noMove="1" noResize="1" noEditPoints="1" noAdjustHandles="1" noChangeArrowheads="1" noChangeShapeType="1" noTextEdit="1"/>
              </p:cNvSpPr>
              <p:nvPr/>
            </p:nvSpPr>
            <p:spPr>
              <a:xfrm>
                <a:off x="229581" y="4260024"/>
                <a:ext cx="429348" cy="246221"/>
              </a:xfrm>
              <a:prstGeom prst="rect">
                <a:avLst/>
              </a:prstGeom>
              <a:blipFill>
                <a:blip r:embed="rId5"/>
                <a:stretch>
                  <a:fillRect l="-14706" r="-5882"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A93D4F86-35AC-1D42-61F8-79798879E85F}"/>
                  </a:ext>
                </a:extLst>
              </p:cNvPr>
              <p:cNvSpPr txBox="1"/>
              <p:nvPr/>
            </p:nvSpPr>
            <p:spPr>
              <a:xfrm>
                <a:off x="771207" y="5409180"/>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sub>
                      </m:sSub>
                    </m:oMath>
                  </m:oMathPara>
                </a14:m>
                <a:endParaRPr lang="en-GB" sz="1600" dirty="0"/>
              </a:p>
            </p:txBody>
          </p:sp>
        </mc:Choice>
        <mc:Fallback xmlns="">
          <p:sp>
            <p:nvSpPr>
              <p:cNvPr id="8" name="ZoneTexte 7">
                <a:extLst>
                  <a:ext uri="{FF2B5EF4-FFF2-40B4-BE49-F238E27FC236}">
                    <a16:creationId xmlns:a16="http://schemas.microsoft.com/office/drawing/2014/main" id="{A93D4F86-35AC-1D42-61F8-79798879E85F}"/>
                  </a:ext>
                </a:extLst>
              </p:cNvPr>
              <p:cNvSpPr txBox="1">
                <a:spLocks noRot="1" noChangeAspect="1" noMove="1" noResize="1" noEditPoints="1" noAdjustHandles="1" noChangeArrowheads="1" noChangeShapeType="1" noTextEdit="1"/>
              </p:cNvSpPr>
              <p:nvPr/>
            </p:nvSpPr>
            <p:spPr>
              <a:xfrm>
                <a:off x="771207" y="5409180"/>
                <a:ext cx="424732" cy="246221"/>
              </a:xfrm>
              <a:prstGeom prst="rect">
                <a:avLst/>
              </a:prstGeom>
              <a:blipFill>
                <a:blip r:embed="rId6"/>
                <a:stretch>
                  <a:fillRect b="-9524"/>
                </a:stretch>
              </a:blipFill>
            </p:spPr>
            <p:txBody>
              <a:bodyPr/>
              <a:lstStyle/>
              <a:p>
                <a:r>
                  <a:rPr lang="en-GB">
                    <a:noFill/>
                  </a:rPr>
                  <a:t> </a:t>
                </a:r>
              </a:p>
            </p:txBody>
          </p:sp>
        </mc:Fallback>
      </mc:AlternateContent>
      <p:sp>
        <p:nvSpPr>
          <p:cNvPr id="9" name="Rectangle : coins arrondis 8">
            <a:extLst>
              <a:ext uri="{FF2B5EF4-FFF2-40B4-BE49-F238E27FC236}">
                <a16:creationId xmlns:a16="http://schemas.microsoft.com/office/drawing/2014/main" id="{2B5732F3-C067-D659-C7B0-3D1D7D015EF0}"/>
              </a:ext>
            </a:extLst>
          </p:cNvPr>
          <p:cNvSpPr/>
          <p:nvPr/>
        </p:nvSpPr>
        <p:spPr>
          <a:xfrm>
            <a:off x="700211" y="4125637"/>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2" name="Connecteur droit avec flèche 11">
            <a:extLst>
              <a:ext uri="{FF2B5EF4-FFF2-40B4-BE49-F238E27FC236}">
                <a16:creationId xmlns:a16="http://schemas.microsoft.com/office/drawing/2014/main" id="{D1FAEC38-E7A5-9529-6BEF-E36F5B6079D8}"/>
              </a:ext>
            </a:extLst>
          </p:cNvPr>
          <p:cNvCxnSpPr>
            <a:cxnSpLocks/>
            <a:stCxn id="8" idx="0"/>
            <a:endCxn id="9" idx="2"/>
          </p:cNvCxnSpPr>
          <p:nvPr/>
        </p:nvCxnSpPr>
        <p:spPr>
          <a:xfrm flipH="1" flipV="1">
            <a:off x="979611" y="4887637"/>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necteur droit avec flèche 13">
            <a:extLst>
              <a:ext uri="{FF2B5EF4-FFF2-40B4-BE49-F238E27FC236}">
                <a16:creationId xmlns:a16="http://schemas.microsoft.com/office/drawing/2014/main" id="{797FA254-3DAB-A9E2-491A-368D71C1ABCF}"/>
              </a:ext>
            </a:extLst>
          </p:cNvPr>
          <p:cNvCxnSpPr>
            <a:cxnSpLocks/>
          </p:cNvCxnSpPr>
          <p:nvPr/>
        </p:nvCxnSpPr>
        <p:spPr>
          <a:xfrm>
            <a:off x="349017" y="4635451"/>
            <a:ext cx="324000"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43636573-5ECA-A007-0336-717EA39515B8}"/>
              </a:ext>
            </a:extLst>
          </p:cNvPr>
          <p:cNvSpPr txBox="1"/>
          <p:nvPr/>
        </p:nvSpPr>
        <p:spPr>
          <a:xfrm>
            <a:off x="1035491" y="4951375"/>
            <a:ext cx="304800" cy="307777"/>
          </a:xfrm>
          <a:prstGeom prst="rect">
            <a:avLst/>
          </a:prstGeom>
          <a:noFill/>
        </p:spPr>
        <p:txBody>
          <a:bodyPr wrap="square" rtlCol="0">
            <a:spAutoFit/>
          </a:bodyPr>
          <a:lstStyle/>
          <a:p>
            <a:r>
              <a:rPr lang="en-GB" sz="1400" b="1" dirty="0">
                <a:solidFill>
                  <a:srgbClr val="0070C0"/>
                </a:solidFill>
              </a:rPr>
              <a:t>U</a:t>
            </a:r>
          </a:p>
        </p:txBody>
      </p:sp>
      <p:sp>
        <p:nvSpPr>
          <p:cNvPr id="18" name="ZoneTexte 17">
            <a:extLst>
              <a:ext uri="{FF2B5EF4-FFF2-40B4-BE49-F238E27FC236}">
                <a16:creationId xmlns:a16="http://schemas.microsoft.com/office/drawing/2014/main" id="{207F9845-6CCB-C705-275B-1D899D73A141}"/>
              </a:ext>
            </a:extLst>
          </p:cNvPr>
          <p:cNvSpPr txBox="1"/>
          <p:nvPr/>
        </p:nvSpPr>
        <p:spPr>
          <a:xfrm>
            <a:off x="291933" y="4643598"/>
            <a:ext cx="304800" cy="307777"/>
          </a:xfrm>
          <a:prstGeom prst="rect">
            <a:avLst/>
          </a:prstGeom>
          <a:noFill/>
        </p:spPr>
        <p:txBody>
          <a:bodyPr wrap="square" rtlCol="0">
            <a:spAutoFit/>
          </a:bodyPr>
          <a:lstStyle/>
          <a:p>
            <a:r>
              <a:rPr lang="en-GB" sz="1400" b="1" dirty="0">
                <a:solidFill>
                  <a:srgbClr val="0070C0"/>
                </a:solidFill>
              </a:rPr>
              <a:t>W</a:t>
            </a:r>
          </a:p>
        </p:txBody>
      </p:sp>
      <mc:AlternateContent xmlns:mc="http://schemas.openxmlformats.org/markup-compatibility/2006" xmlns:a14="http://schemas.microsoft.com/office/drawing/2010/main">
        <mc:Choice Requires="a14">
          <p:sp>
            <p:nvSpPr>
              <p:cNvPr id="21" name="ZoneTexte 20">
                <a:extLst>
                  <a:ext uri="{FF2B5EF4-FFF2-40B4-BE49-F238E27FC236}">
                    <a16:creationId xmlns:a16="http://schemas.microsoft.com/office/drawing/2014/main" id="{DAA86D7A-B503-7E89-A371-28E6031CD91A}"/>
                  </a:ext>
                </a:extLst>
              </p:cNvPr>
              <p:cNvSpPr txBox="1"/>
              <p:nvPr/>
            </p:nvSpPr>
            <p:spPr>
              <a:xfrm>
                <a:off x="875432" y="3272526"/>
                <a:ext cx="22916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sub>
                      </m:sSub>
                    </m:oMath>
                  </m:oMathPara>
                </a14:m>
                <a:endParaRPr lang="en-GB" sz="1600" dirty="0"/>
              </a:p>
            </p:txBody>
          </p:sp>
        </mc:Choice>
        <mc:Fallback xmlns="">
          <p:sp>
            <p:nvSpPr>
              <p:cNvPr id="21" name="ZoneTexte 20">
                <a:extLst>
                  <a:ext uri="{FF2B5EF4-FFF2-40B4-BE49-F238E27FC236}">
                    <a16:creationId xmlns:a16="http://schemas.microsoft.com/office/drawing/2014/main" id="{DAA86D7A-B503-7E89-A371-28E6031CD91A}"/>
                  </a:ext>
                </a:extLst>
              </p:cNvPr>
              <p:cNvSpPr txBox="1">
                <a:spLocks noRot="1" noChangeAspect="1" noMove="1" noResize="1" noEditPoints="1" noAdjustHandles="1" noChangeArrowheads="1" noChangeShapeType="1" noTextEdit="1"/>
              </p:cNvSpPr>
              <p:nvPr/>
            </p:nvSpPr>
            <p:spPr>
              <a:xfrm>
                <a:off x="875432" y="3272526"/>
                <a:ext cx="229165" cy="246221"/>
              </a:xfrm>
              <a:prstGeom prst="rect">
                <a:avLst/>
              </a:prstGeom>
              <a:blipFill>
                <a:blip r:embed="rId7"/>
                <a:stretch>
                  <a:fillRect l="-27778" t="-15000" r="-5556" b="-25000"/>
                </a:stretch>
              </a:blipFill>
            </p:spPr>
            <p:txBody>
              <a:bodyPr/>
              <a:lstStyle/>
              <a:p>
                <a:r>
                  <a:rPr lang="en-GB">
                    <a:noFill/>
                  </a:rPr>
                  <a:t> </a:t>
                </a:r>
              </a:p>
            </p:txBody>
          </p:sp>
        </mc:Fallback>
      </mc:AlternateContent>
      <p:cxnSp>
        <p:nvCxnSpPr>
          <p:cNvPr id="23" name="Connecteur droit avec flèche 22">
            <a:extLst>
              <a:ext uri="{FF2B5EF4-FFF2-40B4-BE49-F238E27FC236}">
                <a16:creationId xmlns:a16="http://schemas.microsoft.com/office/drawing/2014/main" id="{E30C3B07-2A60-8A4F-6C32-F0CAA68FE224}"/>
              </a:ext>
            </a:extLst>
          </p:cNvPr>
          <p:cNvCxnSpPr>
            <a:cxnSpLocks/>
          </p:cNvCxnSpPr>
          <p:nvPr/>
        </p:nvCxnSpPr>
        <p:spPr>
          <a:xfrm flipV="1">
            <a:off x="993404" y="3850333"/>
            <a:ext cx="3962" cy="252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ZoneTexte 24">
            <a:extLst>
              <a:ext uri="{FF2B5EF4-FFF2-40B4-BE49-F238E27FC236}">
                <a16:creationId xmlns:a16="http://schemas.microsoft.com/office/drawing/2014/main" id="{31C48CF9-6EE8-AFFC-4736-2D7329E71721}"/>
              </a:ext>
            </a:extLst>
          </p:cNvPr>
          <p:cNvSpPr txBox="1"/>
          <p:nvPr/>
        </p:nvSpPr>
        <p:spPr>
          <a:xfrm>
            <a:off x="1053370" y="3876334"/>
            <a:ext cx="304800" cy="307777"/>
          </a:xfrm>
          <a:prstGeom prst="rect">
            <a:avLst/>
          </a:prstGeom>
          <a:noFill/>
        </p:spPr>
        <p:txBody>
          <a:bodyPr wrap="square" rtlCol="0">
            <a:spAutoFit/>
          </a:bodyPr>
          <a:lstStyle/>
          <a:p>
            <a:r>
              <a:rPr lang="en-GB" sz="1400" b="1" dirty="0">
                <a:solidFill>
                  <a:srgbClr val="0070C0"/>
                </a:solidFill>
              </a:rPr>
              <a:t>V</a:t>
            </a:r>
          </a:p>
        </p:txBody>
      </p:sp>
      <mc:AlternateContent xmlns:mc="http://schemas.openxmlformats.org/markup-compatibility/2006" xmlns:a14="http://schemas.microsoft.com/office/drawing/2010/main">
        <mc:Choice Requires="a14">
          <p:sp>
            <p:nvSpPr>
              <p:cNvPr id="28" name="ZoneTexte 27">
                <a:extLst>
                  <a:ext uri="{FF2B5EF4-FFF2-40B4-BE49-F238E27FC236}">
                    <a16:creationId xmlns:a16="http://schemas.microsoft.com/office/drawing/2014/main" id="{851F1772-8A3A-222E-49C6-AC055222F02F}"/>
                  </a:ext>
                </a:extLst>
              </p:cNvPr>
              <p:cNvSpPr txBox="1"/>
              <p:nvPr/>
            </p:nvSpPr>
            <p:spPr>
              <a:xfrm>
                <a:off x="879548" y="2885031"/>
                <a:ext cx="22897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solidFill>
                                <a:srgbClr val="C00000"/>
                              </a:solidFill>
                              <a:latin typeface="Cambria Math" panose="02040503050406030204" pitchFamily="18" charset="0"/>
                            </a:rPr>
                          </m:ctrlPr>
                        </m:sSubPr>
                        <m:e>
                          <m:r>
                            <a:rPr lang="fr-FR" sz="1600" b="0" i="1" smtClean="0">
                              <a:solidFill>
                                <a:srgbClr val="C00000"/>
                              </a:solidFill>
                              <a:latin typeface="Cambria Math" panose="02040503050406030204" pitchFamily="18" charset="0"/>
                            </a:rPr>
                            <m:t>𝐿</m:t>
                          </m:r>
                        </m:e>
                        <m:sub>
                          <m:r>
                            <a:rPr lang="fr-FR" sz="1600" b="0" i="1" smtClean="0">
                              <a:solidFill>
                                <a:srgbClr val="C00000"/>
                              </a:solidFill>
                              <a:latin typeface="Cambria Math" panose="02040503050406030204" pitchFamily="18" charset="0"/>
                            </a:rPr>
                            <m:t>𝑡</m:t>
                          </m:r>
                        </m:sub>
                      </m:sSub>
                    </m:oMath>
                  </m:oMathPara>
                </a14:m>
                <a:endParaRPr lang="en-GB" sz="1600" dirty="0">
                  <a:solidFill>
                    <a:srgbClr val="C00000"/>
                  </a:solidFill>
                </a:endParaRPr>
              </a:p>
            </p:txBody>
          </p:sp>
        </mc:Choice>
        <mc:Fallback xmlns="">
          <p:sp>
            <p:nvSpPr>
              <p:cNvPr id="28" name="ZoneTexte 27">
                <a:extLst>
                  <a:ext uri="{FF2B5EF4-FFF2-40B4-BE49-F238E27FC236}">
                    <a16:creationId xmlns:a16="http://schemas.microsoft.com/office/drawing/2014/main" id="{851F1772-8A3A-222E-49C6-AC055222F02F}"/>
                  </a:ext>
                </a:extLst>
              </p:cNvPr>
              <p:cNvSpPr txBox="1">
                <a:spLocks noRot="1" noChangeAspect="1" noMove="1" noResize="1" noEditPoints="1" noAdjustHandles="1" noChangeArrowheads="1" noChangeShapeType="1" noTextEdit="1"/>
              </p:cNvSpPr>
              <p:nvPr/>
            </p:nvSpPr>
            <p:spPr>
              <a:xfrm>
                <a:off x="879548" y="2885031"/>
                <a:ext cx="228972" cy="246221"/>
              </a:xfrm>
              <a:prstGeom prst="rect">
                <a:avLst/>
              </a:prstGeom>
              <a:blipFill>
                <a:blip r:embed="rId8"/>
                <a:stretch>
                  <a:fillRect l="-21053" r="-5263" b="-1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ZoneTexte 28">
                <a:extLst>
                  <a:ext uri="{FF2B5EF4-FFF2-40B4-BE49-F238E27FC236}">
                    <a16:creationId xmlns:a16="http://schemas.microsoft.com/office/drawing/2014/main" id="{45803683-8897-F7A5-797F-82205ACDC437}"/>
                  </a:ext>
                </a:extLst>
              </p:cNvPr>
              <p:cNvSpPr txBox="1"/>
              <p:nvPr/>
            </p:nvSpPr>
            <p:spPr>
              <a:xfrm>
                <a:off x="887158" y="3605790"/>
                <a:ext cx="22243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𝑜</m:t>
                          </m:r>
                        </m:e>
                        <m:sub>
                          <m:r>
                            <a:rPr lang="fr-FR" sz="1600" b="0" i="1" smtClean="0">
                              <a:latin typeface="Cambria Math" panose="02040503050406030204" pitchFamily="18" charset="0"/>
                            </a:rPr>
                            <m:t>𝑡</m:t>
                          </m:r>
                        </m:sub>
                      </m:sSub>
                    </m:oMath>
                  </m:oMathPara>
                </a14:m>
                <a:endParaRPr lang="en-GB" sz="1600" dirty="0"/>
              </a:p>
            </p:txBody>
          </p:sp>
        </mc:Choice>
        <mc:Fallback xmlns="">
          <p:sp>
            <p:nvSpPr>
              <p:cNvPr id="29" name="ZoneTexte 28">
                <a:extLst>
                  <a:ext uri="{FF2B5EF4-FFF2-40B4-BE49-F238E27FC236}">
                    <a16:creationId xmlns:a16="http://schemas.microsoft.com/office/drawing/2014/main" id="{45803683-8897-F7A5-797F-82205ACDC437}"/>
                  </a:ext>
                </a:extLst>
              </p:cNvPr>
              <p:cNvSpPr txBox="1">
                <a:spLocks noRot="1" noChangeAspect="1" noMove="1" noResize="1" noEditPoints="1" noAdjustHandles="1" noChangeArrowheads="1" noChangeShapeType="1" noTextEdit="1"/>
              </p:cNvSpPr>
              <p:nvPr/>
            </p:nvSpPr>
            <p:spPr>
              <a:xfrm>
                <a:off x="887158" y="3605790"/>
                <a:ext cx="222433" cy="246221"/>
              </a:xfrm>
              <a:prstGeom prst="rect">
                <a:avLst/>
              </a:prstGeom>
              <a:blipFill>
                <a:blip r:embed="rId9"/>
                <a:stretch>
                  <a:fillRect l="-16667" r="-5556" b="-10000"/>
                </a:stretch>
              </a:blipFill>
            </p:spPr>
            <p:txBody>
              <a:bodyPr/>
              <a:lstStyle/>
              <a:p>
                <a:r>
                  <a:rPr lang="en-GB">
                    <a:noFill/>
                  </a:rPr>
                  <a:t> </a:t>
                </a:r>
              </a:p>
            </p:txBody>
          </p:sp>
        </mc:Fallback>
      </mc:AlternateContent>
      <p:cxnSp>
        <p:nvCxnSpPr>
          <p:cNvPr id="30" name="Connecteur droit avec flèche 29">
            <a:extLst>
              <a:ext uri="{FF2B5EF4-FFF2-40B4-BE49-F238E27FC236}">
                <a16:creationId xmlns:a16="http://schemas.microsoft.com/office/drawing/2014/main" id="{FD6D5674-05B4-A405-6752-2678C1BD69A6}"/>
              </a:ext>
            </a:extLst>
          </p:cNvPr>
          <p:cNvCxnSpPr>
            <a:cxnSpLocks/>
          </p:cNvCxnSpPr>
          <p:nvPr/>
        </p:nvCxnSpPr>
        <p:spPr>
          <a:xfrm flipV="1">
            <a:off x="995079" y="3530464"/>
            <a:ext cx="3962" cy="144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Connecteur droit avec flèche 30">
            <a:extLst>
              <a:ext uri="{FF2B5EF4-FFF2-40B4-BE49-F238E27FC236}">
                <a16:creationId xmlns:a16="http://schemas.microsoft.com/office/drawing/2014/main" id="{CBAF11C0-F54F-FB3E-860E-DBAF8BA98138}"/>
              </a:ext>
            </a:extLst>
          </p:cNvPr>
          <p:cNvCxnSpPr>
            <a:cxnSpLocks/>
          </p:cNvCxnSpPr>
          <p:nvPr/>
        </p:nvCxnSpPr>
        <p:spPr>
          <a:xfrm flipV="1">
            <a:off x="996755" y="3140257"/>
            <a:ext cx="3962" cy="144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ZoneTexte 31">
                <a:extLst>
                  <a:ext uri="{FF2B5EF4-FFF2-40B4-BE49-F238E27FC236}">
                    <a16:creationId xmlns:a16="http://schemas.microsoft.com/office/drawing/2014/main" id="{40BE8B6F-CBCC-3169-7430-B33F3F91627C}"/>
                  </a:ext>
                </a:extLst>
              </p:cNvPr>
              <p:cNvSpPr txBox="1"/>
              <p:nvPr/>
            </p:nvSpPr>
            <p:spPr>
              <a:xfrm>
                <a:off x="897203" y="2460294"/>
                <a:ext cx="22916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𝑦</m:t>
                          </m:r>
                        </m:e>
                        <m:sub>
                          <m:r>
                            <a:rPr lang="fr-FR" sz="1600" b="0" i="1" smtClean="0">
                              <a:latin typeface="Cambria Math" panose="02040503050406030204" pitchFamily="18" charset="0"/>
                            </a:rPr>
                            <m:t>𝑡</m:t>
                          </m:r>
                        </m:sub>
                      </m:sSub>
                    </m:oMath>
                  </m:oMathPara>
                </a14:m>
                <a:endParaRPr lang="en-GB" sz="1600" dirty="0"/>
              </a:p>
            </p:txBody>
          </p:sp>
        </mc:Choice>
        <mc:Fallback xmlns="">
          <p:sp>
            <p:nvSpPr>
              <p:cNvPr id="32" name="ZoneTexte 31">
                <a:extLst>
                  <a:ext uri="{FF2B5EF4-FFF2-40B4-BE49-F238E27FC236}">
                    <a16:creationId xmlns:a16="http://schemas.microsoft.com/office/drawing/2014/main" id="{40BE8B6F-CBCC-3169-7430-B33F3F91627C}"/>
                  </a:ext>
                </a:extLst>
              </p:cNvPr>
              <p:cNvSpPr txBox="1">
                <a:spLocks noRot="1" noChangeAspect="1" noMove="1" noResize="1" noEditPoints="1" noAdjustHandles="1" noChangeArrowheads="1" noChangeShapeType="1" noTextEdit="1"/>
              </p:cNvSpPr>
              <p:nvPr/>
            </p:nvSpPr>
            <p:spPr>
              <a:xfrm>
                <a:off x="897203" y="2460294"/>
                <a:ext cx="229165" cy="246221"/>
              </a:xfrm>
              <a:prstGeom prst="rect">
                <a:avLst/>
              </a:prstGeom>
              <a:blipFill>
                <a:blip r:embed="rId10"/>
                <a:stretch>
                  <a:fillRect l="-21053" r="-5263" b="-19048"/>
                </a:stretch>
              </a:blipFill>
            </p:spPr>
            <p:txBody>
              <a:bodyPr/>
              <a:lstStyle/>
              <a:p>
                <a:r>
                  <a:rPr lang="en-GB">
                    <a:noFill/>
                  </a:rPr>
                  <a:t> </a:t>
                </a:r>
              </a:p>
            </p:txBody>
          </p:sp>
        </mc:Fallback>
      </mc:AlternateContent>
      <p:cxnSp>
        <p:nvCxnSpPr>
          <p:cNvPr id="33" name="Connecteur droit avec flèche 32">
            <a:extLst>
              <a:ext uri="{FF2B5EF4-FFF2-40B4-BE49-F238E27FC236}">
                <a16:creationId xmlns:a16="http://schemas.microsoft.com/office/drawing/2014/main" id="{09873E94-C772-A04E-9C5A-DF49ACF27601}"/>
              </a:ext>
            </a:extLst>
          </p:cNvPr>
          <p:cNvCxnSpPr>
            <a:cxnSpLocks/>
          </p:cNvCxnSpPr>
          <p:nvPr/>
        </p:nvCxnSpPr>
        <p:spPr>
          <a:xfrm rot="-300000" flipH="1">
            <a:off x="1002392" y="2747693"/>
            <a:ext cx="21492" cy="1804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ZoneTexte 33">
                <a:extLst>
                  <a:ext uri="{FF2B5EF4-FFF2-40B4-BE49-F238E27FC236}">
                    <a16:creationId xmlns:a16="http://schemas.microsoft.com/office/drawing/2014/main" id="{9D27DF6C-0BC6-F4C2-ED5B-B797B0A6DA34}"/>
                  </a:ext>
                </a:extLst>
              </p:cNvPr>
              <p:cNvSpPr txBox="1"/>
              <p:nvPr/>
            </p:nvSpPr>
            <p:spPr>
              <a:xfrm>
                <a:off x="868394" y="4127333"/>
                <a:ext cx="23378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sub>
                      </m:sSub>
                    </m:oMath>
                  </m:oMathPara>
                </a14:m>
                <a:endParaRPr lang="en-GB" sz="1600" dirty="0"/>
              </a:p>
            </p:txBody>
          </p:sp>
        </mc:Choice>
        <mc:Fallback xmlns="">
          <p:sp>
            <p:nvSpPr>
              <p:cNvPr id="34" name="ZoneTexte 33">
                <a:extLst>
                  <a:ext uri="{FF2B5EF4-FFF2-40B4-BE49-F238E27FC236}">
                    <a16:creationId xmlns:a16="http://schemas.microsoft.com/office/drawing/2014/main" id="{9D27DF6C-0BC6-F4C2-ED5B-B797B0A6DA34}"/>
                  </a:ext>
                </a:extLst>
              </p:cNvPr>
              <p:cNvSpPr txBox="1">
                <a:spLocks noRot="1" noChangeAspect="1" noMove="1" noResize="1" noEditPoints="1" noAdjustHandles="1" noChangeArrowheads="1" noChangeShapeType="1" noTextEdit="1"/>
              </p:cNvSpPr>
              <p:nvPr/>
            </p:nvSpPr>
            <p:spPr>
              <a:xfrm>
                <a:off x="868394" y="4127333"/>
                <a:ext cx="233782" cy="246221"/>
              </a:xfrm>
              <a:prstGeom prst="rect">
                <a:avLst/>
              </a:prstGeom>
              <a:blipFill>
                <a:blip r:embed="rId11"/>
                <a:stretch>
                  <a:fillRect l="-21053" r="-5263" b="-14286"/>
                </a:stretch>
              </a:blipFill>
            </p:spPr>
            <p:txBody>
              <a:bodyPr/>
              <a:lstStyle/>
              <a:p>
                <a:r>
                  <a:rPr lang="en-GB">
                    <a:noFill/>
                  </a:rPr>
                  <a:t> </a:t>
                </a:r>
              </a:p>
            </p:txBody>
          </p:sp>
        </mc:Fallback>
      </mc:AlternateContent>
      <p:cxnSp>
        <p:nvCxnSpPr>
          <p:cNvPr id="37" name="Connecteur droit 36">
            <a:extLst>
              <a:ext uri="{FF2B5EF4-FFF2-40B4-BE49-F238E27FC236}">
                <a16:creationId xmlns:a16="http://schemas.microsoft.com/office/drawing/2014/main" id="{8763F655-93C6-9911-59F6-6D683465131D}"/>
              </a:ext>
            </a:extLst>
          </p:cNvPr>
          <p:cNvCxnSpPr>
            <a:stCxn id="9" idx="1"/>
            <a:endCxn id="9" idx="3"/>
          </p:cNvCxnSpPr>
          <p:nvPr/>
        </p:nvCxnSpPr>
        <p:spPr>
          <a:xfrm>
            <a:off x="700211" y="4506637"/>
            <a:ext cx="558800" cy="0"/>
          </a:xfrm>
          <a:prstGeom prst="line">
            <a:avLst/>
          </a:prstGeom>
          <a:ln w="12700"/>
        </p:spPr>
        <p:style>
          <a:lnRef idx="2">
            <a:schemeClr val="accent1"/>
          </a:lnRef>
          <a:fillRef idx="0">
            <a:schemeClr val="accent1"/>
          </a:fillRef>
          <a:effectRef idx="1">
            <a:schemeClr val="accent1"/>
          </a:effectRef>
          <a:fontRef idx="minor">
            <a:schemeClr val="tx1"/>
          </a:fontRef>
        </p:style>
      </p:cxnSp>
      <p:sp>
        <p:nvSpPr>
          <p:cNvPr id="38" name="Rectangle 37">
            <a:extLst>
              <a:ext uri="{FF2B5EF4-FFF2-40B4-BE49-F238E27FC236}">
                <a16:creationId xmlns:a16="http://schemas.microsoft.com/office/drawing/2014/main" id="{08AE885F-553E-55D2-6A63-BE9DD8F9A724}"/>
              </a:ext>
            </a:extLst>
          </p:cNvPr>
          <p:cNvSpPr/>
          <p:nvPr/>
        </p:nvSpPr>
        <p:spPr>
          <a:xfrm>
            <a:off x="4428066" y="2583404"/>
            <a:ext cx="406400" cy="345334"/>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 name="Connecteur droit 5">
            <a:extLst>
              <a:ext uri="{FF2B5EF4-FFF2-40B4-BE49-F238E27FC236}">
                <a16:creationId xmlns:a16="http://schemas.microsoft.com/office/drawing/2014/main" id="{FBDBEFC2-02DF-BADE-DF46-6D138588C484}"/>
              </a:ext>
            </a:extLst>
          </p:cNvPr>
          <p:cNvCxnSpPr>
            <a:cxnSpLocks/>
          </p:cNvCxnSpPr>
          <p:nvPr/>
        </p:nvCxnSpPr>
        <p:spPr>
          <a:xfrm flipV="1">
            <a:off x="6014224" y="3395636"/>
            <a:ext cx="299049" cy="173866"/>
          </a:xfrm>
          <a:prstGeom prst="line">
            <a:avLst/>
          </a:prstGeom>
          <a:ln>
            <a:solidFill>
              <a:schemeClr val="accent1">
                <a:alpha val="50000"/>
              </a:schemeClr>
            </a:solidFill>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C4157273-94A6-7174-00B1-4F79F29B67C8}"/>
              </a:ext>
            </a:extLst>
          </p:cNvPr>
          <p:cNvCxnSpPr>
            <a:cxnSpLocks/>
          </p:cNvCxnSpPr>
          <p:nvPr/>
        </p:nvCxnSpPr>
        <p:spPr>
          <a:xfrm flipV="1">
            <a:off x="5592872" y="3569502"/>
            <a:ext cx="234548" cy="159398"/>
          </a:xfrm>
          <a:prstGeom prst="line">
            <a:avLst/>
          </a:prstGeom>
          <a:ln>
            <a:solidFill>
              <a:schemeClr val="accent1">
                <a:alpha val="5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57834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30260-F270-AB42-EAD0-9D5F0C99694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4D5BC82-0EDB-215E-25D6-35B7D0729634}"/>
              </a:ext>
            </a:extLst>
          </p:cNvPr>
          <p:cNvSpPr>
            <a:spLocks noGrp="1"/>
          </p:cNvSpPr>
          <p:nvPr>
            <p:ph type="title"/>
          </p:nvPr>
        </p:nvSpPr>
        <p:spPr/>
        <p:txBody>
          <a:bodyPr/>
          <a:lstStyle/>
          <a:p>
            <a:pPr algn="ctr"/>
            <a:r>
              <a:rPr lang="en-GB" noProof="0" dirty="0"/>
              <a:t>Recurrent Neural Networks</a:t>
            </a:r>
          </a:p>
        </p:txBody>
      </p:sp>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D402D436-764D-C502-5122-2B2C881D38C6}"/>
                  </a:ext>
                </a:extLst>
              </p:cNvPr>
              <p:cNvSpPr txBox="1"/>
              <p:nvPr/>
            </p:nvSpPr>
            <p:spPr>
              <a:xfrm>
                <a:off x="838200" y="1318020"/>
                <a:ext cx="8703365" cy="1023136"/>
              </a:xfrm>
              <a:prstGeom prst="rect">
                <a:avLst/>
              </a:prstGeom>
              <a:noFill/>
            </p:spPr>
            <p:txBody>
              <a:bodyPr wrap="square" lIns="90000" rtlCol="0">
                <a:noAutofit/>
              </a:bodyPr>
              <a:lstStyle/>
              <a:p>
                <a:r>
                  <a:rPr lang="en-GB" sz="2400" b="1" dirty="0">
                    <a:latin typeface="ui-sans-serif"/>
                  </a:rPr>
                  <a:t>Backpropagation Through Time (BPTT)</a:t>
                </a:r>
                <a:endParaRPr lang="en-GB" sz="2400" b="1" dirty="0">
                  <a:solidFill>
                    <a:schemeClr val="accent4"/>
                  </a:solidFill>
                  <a:latin typeface="ui-sans-serif"/>
                </a:endParaRPr>
              </a:p>
              <a:p>
                <a:r>
                  <a:rPr lang="en-GB" sz="1600" dirty="0">
                    <a:latin typeface="ui-sans-serif"/>
                  </a:rPr>
                  <a:t>Demonstration of the gradient's calculation with </a:t>
                </a:r>
                <a14:m>
                  <m:oMath xmlns:m="http://schemas.openxmlformats.org/officeDocument/2006/math">
                    <m:r>
                      <a:rPr lang="en-GB" sz="2400" b="0" i="1" noProof="0" smtClean="0">
                        <a:solidFill>
                          <a:schemeClr val="tx1"/>
                        </a:solidFill>
                        <a:latin typeface="Cambria Math" panose="02040503050406030204" pitchFamily="18" charset="0"/>
                      </a:rPr>
                      <m:t>𝑔</m:t>
                    </m:r>
                  </m:oMath>
                </a14:m>
                <a:r>
                  <a:rPr lang="en-GB" sz="2400" dirty="0">
                    <a:latin typeface="ui-sans-serif"/>
                  </a:rPr>
                  <a:t> </a:t>
                </a:r>
                <a:r>
                  <a:rPr lang="en-GB" sz="1600" dirty="0">
                    <a:latin typeface="ui-sans-serif"/>
                  </a:rPr>
                  <a:t>softmax function and </a:t>
                </a:r>
                <a14:m>
                  <m:oMath xmlns:m="http://schemas.openxmlformats.org/officeDocument/2006/math">
                    <m:r>
                      <a:rPr lang="fr-FR" sz="2400" b="0" i="1" smtClean="0">
                        <a:latin typeface="Cambria Math" panose="02040503050406030204" pitchFamily="18" charset="0"/>
                      </a:rPr>
                      <m:t>𝑓</m:t>
                    </m:r>
                  </m:oMath>
                </a14:m>
                <a:r>
                  <a:rPr lang="en-GB" sz="2400" dirty="0">
                    <a:latin typeface="ui-sans-serif"/>
                  </a:rPr>
                  <a:t> </a:t>
                </a:r>
                <a:r>
                  <a:rPr lang="en-GB" sz="1600" dirty="0">
                    <a:latin typeface="ui-sans-serif"/>
                  </a:rPr>
                  <a:t>tanh</a:t>
                </a:r>
              </a:p>
            </p:txBody>
          </p:sp>
        </mc:Choice>
        <mc:Fallback xmlns="">
          <p:sp>
            <p:nvSpPr>
              <p:cNvPr id="4" name="ZoneTexte 3">
                <a:extLst>
                  <a:ext uri="{FF2B5EF4-FFF2-40B4-BE49-F238E27FC236}">
                    <a16:creationId xmlns:a16="http://schemas.microsoft.com/office/drawing/2014/main" id="{D402D436-764D-C502-5122-2B2C881D38C6}"/>
                  </a:ext>
                </a:extLst>
              </p:cNvPr>
              <p:cNvSpPr txBox="1">
                <a:spLocks noRot="1" noChangeAspect="1" noMove="1" noResize="1" noEditPoints="1" noAdjustHandles="1" noChangeArrowheads="1" noChangeShapeType="1" noTextEdit="1"/>
              </p:cNvSpPr>
              <p:nvPr/>
            </p:nvSpPr>
            <p:spPr>
              <a:xfrm>
                <a:off x="838200" y="1318020"/>
                <a:ext cx="8703365" cy="1023136"/>
              </a:xfrm>
              <a:prstGeom prst="rect">
                <a:avLst/>
              </a:prstGeom>
              <a:blipFill>
                <a:blip r:embed="rId3"/>
                <a:stretch>
                  <a:fillRect l="-1166" t="-4878"/>
                </a:stretch>
              </a:blipFill>
            </p:spPr>
            <p:txBody>
              <a:bodyPr/>
              <a:lstStyle/>
              <a:p>
                <a:r>
                  <a:rPr lang="en-GB">
                    <a:noFill/>
                  </a:rPr>
                  <a:t> </a:t>
                </a:r>
              </a:p>
            </p:txBody>
          </p:sp>
        </mc:Fallback>
      </mc:AlternateContent>
      <p:sp>
        <p:nvSpPr>
          <p:cNvPr id="83" name="Espace réservé du pied de page 2">
            <a:extLst>
              <a:ext uri="{FF2B5EF4-FFF2-40B4-BE49-F238E27FC236}">
                <a16:creationId xmlns:a16="http://schemas.microsoft.com/office/drawing/2014/main" id="{E44CC040-5447-F259-A1F6-2B00D4FCE88B}"/>
              </a:ext>
            </a:extLst>
          </p:cNvPr>
          <p:cNvSpPr>
            <a:spLocks noGrp="1"/>
          </p:cNvSpPr>
          <p:nvPr>
            <p:ph type="ftr" sz="quarter" idx="11"/>
          </p:nvPr>
        </p:nvSpPr>
        <p:spPr>
          <a:xfrm>
            <a:off x="4038600" y="6356350"/>
            <a:ext cx="4549346" cy="365125"/>
          </a:xfrm>
        </p:spPr>
        <p:txBody>
          <a:bodyPr/>
          <a:lstStyle/>
          <a:p>
            <a:r>
              <a:rPr lang="en-GB" noProof="1"/>
              <a:t>RNN. Author: David Thébault – Based on NLPDemystified.org</a:t>
            </a:r>
          </a:p>
        </p:txBody>
      </p:sp>
      <mc:AlternateContent xmlns:mc="http://schemas.openxmlformats.org/markup-compatibility/2006" xmlns:a14="http://schemas.microsoft.com/office/drawing/2010/main">
        <mc:Choice Requires="a14">
          <p:sp>
            <p:nvSpPr>
              <p:cNvPr id="89" name="ZoneTexte 88">
                <a:extLst>
                  <a:ext uri="{FF2B5EF4-FFF2-40B4-BE49-F238E27FC236}">
                    <a16:creationId xmlns:a16="http://schemas.microsoft.com/office/drawing/2014/main" id="{EC2CDC41-FF4A-65DB-F1B9-06B851ECF68E}"/>
                  </a:ext>
                </a:extLst>
              </p:cNvPr>
              <p:cNvSpPr txBox="1"/>
              <p:nvPr/>
            </p:nvSpPr>
            <p:spPr>
              <a:xfrm>
                <a:off x="1670023" y="2249617"/>
                <a:ext cx="9821766" cy="4057073"/>
              </a:xfrm>
              <a:prstGeom prst="rect">
                <a:avLst/>
              </a:prstGeom>
              <a:noFill/>
            </p:spPr>
            <p:txBody>
              <a:bodyPr wrap="square" lIns="0" tIns="0" rIns="0" bIns="0" rtlCol="0">
                <a:spAutoFit/>
              </a:bodyPr>
              <a:lstStyle/>
              <a:p>
                <a:endParaRPr lang="fr-FR" sz="1600" i="1" dirty="0">
                  <a:solidFill>
                    <a:srgbClr val="0070C0"/>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center"/>
                    </m:oMathParaPr>
                    <m:oMath xmlns:m="http://schemas.openxmlformats.org/officeDocument/2006/math">
                      <m:f>
                        <m:fPr>
                          <m:ctrlPr>
                            <a:rPr lang="fr-FR" sz="2000" i="1" dirty="0">
                              <a:solidFill>
                                <a:srgbClr val="0070C0"/>
                              </a:solidFill>
                              <a:latin typeface="Cambria Math" panose="02040503050406030204" pitchFamily="18" charset="0"/>
                              <a:ea typeface="Cambria Math" panose="02040503050406030204" pitchFamily="18" charset="0"/>
                            </a:rPr>
                          </m:ctrlPr>
                        </m:fPr>
                        <m:num>
                          <m:r>
                            <a:rPr lang="fr-FR" sz="2000" i="1" dirty="0">
                              <a:solidFill>
                                <a:srgbClr val="0070C0"/>
                              </a:solidFill>
                              <a:latin typeface="Cambria Math" panose="02040503050406030204" pitchFamily="18" charset="0"/>
                              <a:ea typeface="Cambria Math" panose="02040503050406030204" pitchFamily="18" charset="0"/>
                            </a:rPr>
                            <m:t>𝜕</m:t>
                          </m:r>
                          <m:sSub>
                            <m:sSubPr>
                              <m:ctrlPr>
                                <a:rPr lang="fr-FR" sz="2000" i="1" dirty="0">
                                  <a:solidFill>
                                    <a:srgbClr val="0070C0"/>
                                  </a:solidFill>
                                  <a:latin typeface="Cambria Math" panose="02040503050406030204" pitchFamily="18" charset="0"/>
                                  <a:ea typeface="Cambria Math" panose="02040503050406030204" pitchFamily="18" charset="0"/>
                                </a:rPr>
                              </m:ctrlPr>
                            </m:sSubPr>
                            <m:e>
                              <m:r>
                                <a:rPr lang="fr-FR" sz="2000" i="1" dirty="0">
                                  <a:solidFill>
                                    <a:srgbClr val="0070C0"/>
                                  </a:solidFill>
                                  <a:latin typeface="Cambria Math" panose="02040503050406030204" pitchFamily="18" charset="0"/>
                                  <a:ea typeface="Cambria Math" panose="02040503050406030204" pitchFamily="18" charset="0"/>
                                </a:rPr>
                                <m:t>𝐿</m:t>
                              </m:r>
                            </m:e>
                            <m:sub>
                              <m:r>
                                <a:rPr lang="fr-FR" sz="2000" i="1" dirty="0">
                                  <a:solidFill>
                                    <a:srgbClr val="0070C0"/>
                                  </a:solidFill>
                                  <a:latin typeface="Cambria Math" panose="02040503050406030204" pitchFamily="18" charset="0"/>
                                  <a:ea typeface="Cambria Math" panose="02040503050406030204" pitchFamily="18" charset="0"/>
                                </a:rPr>
                                <m:t>𝑡</m:t>
                              </m:r>
                            </m:sub>
                          </m:sSub>
                        </m:num>
                        <m:den>
                          <m:r>
                            <a:rPr lang="fr-FR" sz="2000" i="1" dirty="0">
                              <a:solidFill>
                                <a:srgbClr val="0070C0"/>
                              </a:solidFill>
                              <a:latin typeface="Cambria Math" panose="02040503050406030204" pitchFamily="18" charset="0"/>
                              <a:ea typeface="Cambria Math" panose="02040503050406030204" pitchFamily="18" charset="0"/>
                            </a:rPr>
                            <m:t>𝜕</m:t>
                          </m:r>
                          <m:r>
                            <a:rPr lang="fr-FR" sz="2000" b="0" i="1" dirty="0" smtClean="0">
                              <a:solidFill>
                                <a:srgbClr val="0070C0"/>
                              </a:solidFill>
                              <a:latin typeface="Cambria Math" panose="02040503050406030204" pitchFamily="18" charset="0"/>
                              <a:ea typeface="Cambria Math" panose="02040503050406030204" pitchFamily="18" charset="0"/>
                            </a:rPr>
                            <m:t>𝑊</m:t>
                          </m:r>
                        </m:den>
                      </m:f>
                      <m:r>
                        <a:rPr lang="fr-FR" sz="2000" b="0" i="1" dirty="0" smtClean="0">
                          <a:solidFill>
                            <a:srgbClr val="0070C0"/>
                          </a:solidFill>
                          <a:latin typeface="Cambria Math" panose="02040503050406030204" pitchFamily="18" charset="0"/>
                          <a:ea typeface="Cambria Math" panose="02040503050406030204" pitchFamily="18" charset="0"/>
                        </a:rPr>
                        <m:t>=</m:t>
                      </m:r>
                      <m:f>
                        <m:fPr>
                          <m:ctrlPr>
                            <a:rPr lang="fr-FR" sz="2000" i="1" dirty="0">
                              <a:latin typeface="Cambria Math" panose="02040503050406030204" pitchFamily="18" charset="0"/>
                              <a:ea typeface="Cambria Math" panose="02040503050406030204" pitchFamily="18" charset="0"/>
                            </a:rPr>
                          </m:ctrlPr>
                        </m:fPr>
                        <m:num>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𝐿</m:t>
                              </m:r>
                            </m:e>
                            <m:sub>
                              <m:r>
                                <a:rPr lang="fr-FR" sz="2000" i="1" dirty="0">
                                  <a:latin typeface="Cambria Math" panose="02040503050406030204" pitchFamily="18" charset="0"/>
                                  <a:ea typeface="Cambria Math" panose="02040503050406030204" pitchFamily="18" charset="0"/>
                                </a:rPr>
                                <m:t>𝑡</m:t>
                              </m:r>
                            </m:sub>
                          </m:sSub>
                        </m:num>
                        <m:den>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acc>
                                <m:accPr>
                                  <m:chr m:val="̂"/>
                                  <m:ctrlPr>
                                    <a:rPr lang="fr-FR" sz="2000" i="1" dirty="0">
                                      <a:latin typeface="Cambria Math" panose="02040503050406030204" pitchFamily="18" charset="0"/>
                                      <a:ea typeface="Cambria Math" panose="02040503050406030204" pitchFamily="18" charset="0"/>
                                    </a:rPr>
                                  </m:ctrlPr>
                                </m:accPr>
                                <m:e>
                                  <m:r>
                                    <a:rPr lang="fr-FR" sz="2000" i="1" dirty="0">
                                      <a:latin typeface="Cambria Math" panose="02040503050406030204" pitchFamily="18" charset="0"/>
                                      <a:ea typeface="Cambria Math" panose="02040503050406030204" pitchFamily="18" charset="0"/>
                                    </a:rPr>
                                    <m:t>𝑦</m:t>
                                  </m:r>
                                </m:e>
                              </m:acc>
                            </m:e>
                            <m:sub>
                              <m:r>
                                <a:rPr lang="fr-FR" sz="2000" i="1" dirty="0">
                                  <a:latin typeface="Cambria Math" panose="02040503050406030204" pitchFamily="18" charset="0"/>
                                  <a:ea typeface="Cambria Math" panose="02040503050406030204" pitchFamily="18" charset="0"/>
                                </a:rPr>
                                <m:t>𝑡</m:t>
                              </m:r>
                            </m:sub>
                          </m:sSub>
                        </m:den>
                      </m:f>
                      <m:f>
                        <m:fPr>
                          <m:ctrlPr>
                            <a:rPr lang="fr-FR" sz="2000" i="1" dirty="0">
                              <a:latin typeface="Cambria Math" panose="02040503050406030204" pitchFamily="18" charset="0"/>
                              <a:ea typeface="Cambria Math" panose="02040503050406030204" pitchFamily="18" charset="0"/>
                            </a:rPr>
                          </m:ctrlPr>
                        </m:fPr>
                        <m:num>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acc>
                                <m:accPr>
                                  <m:chr m:val="̂"/>
                                  <m:ctrlPr>
                                    <a:rPr lang="fr-FR" sz="2000" i="1" dirty="0">
                                      <a:latin typeface="Cambria Math" panose="02040503050406030204" pitchFamily="18" charset="0"/>
                                      <a:ea typeface="Cambria Math" panose="02040503050406030204" pitchFamily="18" charset="0"/>
                                    </a:rPr>
                                  </m:ctrlPr>
                                </m:accPr>
                                <m:e>
                                  <m:r>
                                    <a:rPr lang="fr-FR" sz="2000" i="1" dirty="0">
                                      <a:latin typeface="Cambria Math" panose="02040503050406030204" pitchFamily="18" charset="0"/>
                                      <a:ea typeface="Cambria Math" panose="02040503050406030204" pitchFamily="18" charset="0"/>
                                    </a:rPr>
                                    <m:t>𝑦</m:t>
                                  </m:r>
                                </m:e>
                              </m:acc>
                            </m:e>
                            <m:sub>
                              <m:r>
                                <a:rPr lang="fr-FR" sz="2000" i="1" dirty="0">
                                  <a:latin typeface="Cambria Math" panose="02040503050406030204" pitchFamily="18" charset="0"/>
                                  <a:ea typeface="Cambria Math" panose="02040503050406030204" pitchFamily="18" charset="0"/>
                                </a:rPr>
                                <m:t>𝑡</m:t>
                              </m:r>
                            </m:sub>
                          </m:sSub>
                        </m:num>
                        <m:den>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𝑜</m:t>
                              </m:r>
                            </m:e>
                            <m:sub>
                              <m:r>
                                <a:rPr lang="fr-FR" sz="2000" i="1" dirty="0">
                                  <a:latin typeface="Cambria Math" panose="02040503050406030204" pitchFamily="18" charset="0"/>
                                  <a:ea typeface="Cambria Math" panose="02040503050406030204" pitchFamily="18" charset="0"/>
                                </a:rPr>
                                <m:t>𝑡</m:t>
                              </m:r>
                            </m:sub>
                          </m:sSub>
                        </m:den>
                      </m:f>
                      <m:f>
                        <m:fPr>
                          <m:ctrlPr>
                            <a:rPr lang="fr-FR" sz="2000" i="1" dirty="0">
                              <a:latin typeface="Cambria Math" panose="02040503050406030204" pitchFamily="18" charset="0"/>
                              <a:ea typeface="Cambria Math" panose="02040503050406030204" pitchFamily="18" charset="0"/>
                            </a:rPr>
                          </m:ctrlPr>
                        </m:fPr>
                        <m:num>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𝑜</m:t>
                              </m:r>
                            </m:e>
                            <m:sub>
                              <m:r>
                                <a:rPr lang="fr-FR" sz="2000" i="1" dirty="0">
                                  <a:latin typeface="Cambria Math" panose="02040503050406030204" pitchFamily="18" charset="0"/>
                                  <a:ea typeface="Cambria Math" panose="02040503050406030204" pitchFamily="18" charset="0"/>
                                </a:rPr>
                                <m:t>𝑡</m:t>
                              </m:r>
                            </m:sub>
                          </m:sSub>
                        </m:num>
                        <m:den>
                          <m:r>
                            <a:rPr lang="fr-FR" sz="2000" i="1" dirty="0">
                              <a:latin typeface="Cambria Math" panose="02040503050406030204" pitchFamily="18" charset="0"/>
                              <a:ea typeface="Cambria Math" panose="02040503050406030204" pitchFamily="18" charset="0"/>
                            </a:rPr>
                            <m:t>𝜕</m:t>
                          </m:r>
                          <m:sSub>
                            <m:sSubPr>
                              <m:ctrlPr>
                                <a:rPr lang="fr-FR" sz="2000" b="0" i="1" dirty="0" smtClean="0">
                                  <a:latin typeface="Cambria Math" panose="02040503050406030204" pitchFamily="18" charset="0"/>
                                  <a:ea typeface="Cambria Math" panose="02040503050406030204" pitchFamily="18" charset="0"/>
                                </a:rPr>
                              </m:ctrlPr>
                            </m:sSubPr>
                            <m:e>
                              <m:r>
                                <a:rPr lang="fr-FR" sz="2000" b="0" i="1" dirty="0" smtClean="0">
                                  <a:latin typeface="Cambria Math" panose="02040503050406030204" pitchFamily="18" charset="0"/>
                                  <a:ea typeface="Cambria Math" panose="02040503050406030204" pitchFamily="18" charset="0"/>
                                </a:rPr>
                                <m:t>h</m:t>
                              </m:r>
                            </m:e>
                            <m:sub>
                              <m:r>
                                <a:rPr lang="fr-FR" sz="2000" b="0" i="1" dirty="0" smtClean="0">
                                  <a:latin typeface="Cambria Math" panose="02040503050406030204" pitchFamily="18" charset="0"/>
                                  <a:ea typeface="Cambria Math" panose="02040503050406030204" pitchFamily="18" charset="0"/>
                                </a:rPr>
                                <m:t>𝑡</m:t>
                              </m:r>
                            </m:sub>
                          </m:sSub>
                        </m:den>
                      </m:f>
                      <m:f>
                        <m:fPr>
                          <m:ctrlPr>
                            <a:rPr lang="fr-FR" sz="2000" i="1" dirty="0">
                              <a:latin typeface="Cambria Math" panose="02040503050406030204" pitchFamily="18" charset="0"/>
                              <a:ea typeface="Cambria Math" panose="02040503050406030204" pitchFamily="18" charset="0"/>
                            </a:rPr>
                          </m:ctrlPr>
                        </m:fPr>
                        <m:num>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b="0" i="1" dirty="0" smtClean="0">
                                  <a:latin typeface="Cambria Math" panose="02040503050406030204" pitchFamily="18" charset="0"/>
                                  <a:ea typeface="Cambria Math" panose="02040503050406030204" pitchFamily="18" charset="0"/>
                                </a:rPr>
                                <m:t>h</m:t>
                              </m:r>
                            </m:e>
                            <m:sub>
                              <m:r>
                                <a:rPr lang="fr-FR" sz="2000" i="1" dirty="0">
                                  <a:latin typeface="Cambria Math" panose="02040503050406030204" pitchFamily="18" charset="0"/>
                                  <a:ea typeface="Cambria Math" panose="02040503050406030204" pitchFamily="18" charset="0"/>
                                </a:rPr>
                                <m:t>𝑡</m:t>
                              </m:r>
                            </m:sub>
                          </m:sSub>
                        </m:num>
                        <m:den>
                          <m:r>
                            <a:rPr lang="fr-FR" sz="2000" i="1" dirty="0">
                              <a:latin typeface="Cambria Math" panose="02040503050406030204" pitchFamily="18" charset="0"/>
                              <a:ea typeface="Cambria Math" panose="02040503050406030204" pitchFamily="18" charset="0"/>
                            </a:rPr>
                            <m:t>𝜕</m:t>
                          </m:r>
                          <m:r>
                            <a:rPr lang="fr-FR" sz="2000" i="1" dirty="0" smtClean="0">
                              <a:latin typeface="Cambria Math" panose="02040503050406030204" pitchFamily="18" charset="0"/>
                              <a:ea typeface="Cambria Math" panose="02040503050406030204" pitchFamily="18" charset="0"/>
                            </a:rPr>
                            <m:t>𝑊</m:t>
                          </m:r>
                        </m:den>
                      </m:f>
                      <m:r>
                        <a:rPr lang="fr-FR" sz="2000" b="0" i="1" dirty="0" smtClean="0">
                          <a:latin typeface="Cambria Math" panose="02040503050406030204" pitchFamily="18" charset="0"/>
                          <a:ea typeface="Cambria Math" panose="02040503050406030204" pitchFamily="18" charset="0"/>
                        </a:rPr>
                        <m:t>=</m:t>
                      </m:r>
                      <m:f>
                        <m:fPr>
                          <m:ctrlPr>
                            <a:rPr lang="fr-FR" sz="2000" i="1" dirty="0">
                              <a:latin typeface="Cambria Math" panose="02040503050406030204" pitchFamily="18" charset="0"/>
                              <a:ea typeface="Cambria Math" panose="02040503050406030204" pitchFamily="18" charset="0"/>
                            </a:rPr>
                          </m:ctrlPr>
                        </m:fPr>
                        <m:num>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𝐿</m:t>
                              </m:r>
                            </m:e>
                            <m:sub>
                              <m:r>
                                <a:rPr lang="fr-FR" sz="2000" i="1" dirty="0">
                                  <a:latin typeface="Cambria Math" panose="02040503050406030204" pitchFamily="18" charset="0"/>
                                  <a:ea typeface="Cambria Math" panose="02040503050406030204" pitchFamily="18" charset="0"/>
                                </a:rPr>
                                <m:t>𝑡</m:t>
                              </m:r>
                            </m:sub>
                          </m:sSub>
                        </m:num>
                        <m:den>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acc>
                                <m:accPr>
                                  <m:chr m:val="̂"/>
                                  <m:ctrlPr>
                                    <a:rPr lang="fr-FR" sz="2000" i="1" dirty="0">
                                      <a:latin typeface="Cambria Math" panose="02040503050406030204" pitchFamily="18" charset="0"/>
                                      <a:ea typeface="Cambria Math" panose="02040503050406030204" pitchFamily="18" charset="0"/>
                                    </a:rPr>
                                  </m:ctrlPr>
                                </m:accPr>
                                <m:e>
                                  <m:r>
                                    <a:rPr lang="fr-FR" sz="2000" i="1" dirty="0">
                                      <a:latin typeface="Cambria Math" panose="02040503050406030204" pitchFamily="18" charset="0"/>
                                      <a:ea typeface="Cambria Math" panose="02040503050406030204" pitchFamily="18" charset="0"/>
                                    </a:rPr>
                                    <m:t>𝑦</m:t>
                                  </m:r>
                                </m:e>
                              </m:acc>
                            </m:e>
                            <m:sub>
                              <m:r>
                                <a:rPr lang="fr-FR" sz="2000" i="1" dirty="0">
                                  <a:latin typeface="Cambria Math" panose="02040503050406030204" pitchFamily="18" charset="0"/>
                                  <a:ea typeface="Cambria Math" panose="02040503050406030204" pitchFamily="18" charset="0"/>
                                </a:rPr>
                                <m:t>𝑡</m:t>
                              </m:r>
                            </m:sub>
                          </m:sSub>
                        </m:den>
                      </m:f>
                      <m:f>
                        <m:fPr>
                          <m:ctrlPr>
                            <a:rPr lang="fr-FR" sz="2000" i="1" dirty="0">
                              <a:latin typeface="Cambria Math" panose="02040503050406030204" pitchFamily="18" charset="0"/>
                              <a:ea typeface="Cambria Math" panose="02040503050406030204" pitchFamily="18" charset="0"/>
                            </a:rPr>
                          </m:ctrlPr>
                        </m:fPr>
                        <m:num>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acc>
                                <m:accPr>
                                  <m:chr m:val="̂"/>
                                  <m:ctrlPr>
                                    <a:rPr lang="fr-FR" sz="2000" i="1" dirty="0">
                                      <a:latin typeface="Cambria Math" panose="02040503050406030204" pitchFamily="18" charset="0"/>
                                      <a:ea typeface="Cambria Math" panose="02040503050406030204" pitchFamily="18" charset="0"/>
                                    </a:rPr>
                                  </m:ctrlPr>
                                </m:accPr>
                                <m:e>
                                  <m:r>
                                    <a:rPr lang="fr-FR" sz="2000" i="1" dirty="0">
                                      <a:latin typeface="Cambria Math" panose="02040503050406030204" pitchFamily="18" charset="0"/>
                                      <a:ea typeface="Cambria Math" panose="02040503050406030204" pitchFamily="18" charset="0"/>
                                    </a:rPr>
                                    <m:t>𝑦</m:t>
                                  </m:r>
                                </m:e>
                              </m:acc>
                            </m:e>
                            <m:sub>
                              <m:r>
                                <a:rPr lang="fr-FR" sz="2000" i="1" dirty="0">
                                  <a:latin typeface="Cambria Math" panose="02040503050406030204" pitchFamily="18" charset="0"/>
                                  <a:ea typeface="Cambria Math" panose="02040503050406030204" pitchFamily="18" charset="0"/>
                                </a:rPr>
                                <m:t>𝑡</m:t>
                              </m:r>
                            </m:sub>
                          </m:sSub>
                        </m:num>
                        <m:den>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𝑜</m:t>
                              </m:r>
                            </m:e>
                            <m:sub>
                              <m:r>
                                <a:rPr lang="fr-FR" sz="2000" i="1" dirty="0">
                                  <a:latin typeface="Cambria Math" panose="02040503050406030204" pitchFamily="18" charset="0"/>
                                  <a:ea typeface="Cambria Math" panose="02040503050406030204" pitchFamily="18" charset="0"/>
                                </a:rPr>
                                <m:t>𝑡</m:t>
                              </m:r>
                            </m:sub>
                          </m:sSub>
                        </m:den>
                      </m:f>
                      <m:f>
                        <m:fPr>
                          <m:ctrlPr>
                            <a:rPr lang="fr-FR" sz="2000" i="1" dirty="0">
                              <a:latin typeface="Cambria Math" panose="02040503050406030204" pitchFamily="18" charset="0"/>
                              <a:ea typeface="Cambria Math" panose="02040503050406030204" pitchFamily="18" charset="0"/>
                            </a:rPr>
                          </m:ctrlPr>
                        </m:fPr>
                        <m:num>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𝑜</m:t>
                              </m:r>
                            </m:e>
                            <m:sub>
                              <m:r>
                                <a:rPr lang="fr-FR" sz="2000" i="1" dirty="0">
                                  <a:latin typeface="Cambria Math" panose="02040503050406030204" pitchFamily="18" charset="0"/>
                                  <a:ea typeface="Cambria Math" panose="02040503050406030204" pitchFamily="18" charset="0"/>
                                </a:rPr>
                                <m:t>𝑡</m:t>
                              </m:r>
                            </m:sub>
                          </m:sSub>
                        </m:num>
                        <m:den>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h</m:t>
                              </m:r>
                            </m:e>
                            <m:sub>
                              <m:r>
                                <a:rPr lang="fr-FR" sz="2000" i="1" dirty="0">
                                  <a:latin typeface="Cambria Math" panose="02040503050406030204" pitchFamily="18" charset="0"/>
                                  <a:ea typeface="Cambria Math" panose="02040503050406030204" pitchFamily="18" charset="0"/>
                                </a:rPr>
                                <m:t>𝑡</m:t>
                              </m:r>
                            </m:sub>
                          </m:sSub>
                        </m:den>
                      </m:f>
                      <m:nary>
                        <m:naryPr>
                          <m:chr m:val="∑"/>
                          <m:ctrlPr>
                            <a:rPr lang="fr-FR" sz="2000" i="1" dirty="0">
                              <a:latin typeface="Cambria Math" panose="02040503050406030204" pitchFamily="18" charset="0"/>
                              <a:ea typeface="Cambria Math" panose="02040503050406030204" pitchFamily="18" charset="0"/>
                            </a:rPr>
                          </m:ctrlPr>
                        </m:naryPr>
                        <m:sub>
                          <m:r>
                            <m:rPr>
                              <m:brk m:alnAt="23"/>
                            </m:rPr>
                            <a:rPr lang="fr-FR" sz="2000" i="1" dirty="0">
                              <a:latin typeface="Cambria Math" panose="02040503050406030204" pitchFamily="18" charset="0"/>
                              <a:ea typeface="Cambria Math" panose="02040503050406030204" pitchFamily="18" charset="0"/>
                            </a:rPr>
                            <m:t>𝑟</m:t>
                          </m:r>
                          <m:r>
                            <a:rPr lang="fr-FR" sz="2000" i="1" dirty="0">
                              <a:latin typeface="Cambria Math" panose="02040503050406030204" pitchFamily="18" charset="0"/>
                              <a:ea typeface="Cambria Math" panose="02040503050406030204" pitchFamily="18" charset="0"/>
                            </a:rPr>
                            <m:t>=1</m:t>
                          </m:r>
                        </m:sub>
                        <m:sup>
                          <m:r>
                            <a:rPr lang="fr-FR" sz="2000" i="1" dirty="0">
                              <a:latin typeface="Cambria Math" panose="02040503050406030204" pitchFamily="18" charset="0"/>
                              <a:ea typeface="Cambria Math" panose="02040503050406030204" pitchFamily="18" charset="0"/>
                            </a:rPr>
                            <m:t>𝑡</m:t>
                          </m:r>
                        </m:sup>
                        <m:e>
                          <m:f>
                            <m:fPr>
                              <m:ctrlPr>
                                <a:rPr lang="fr-FR" sz="2000" i="1" dirty="0">
                                  <a:latin typeface="Cambria Math" panose="02040503050406030204" pitchFamily="18" charset="0"/>
                                  <a:ea typeface="Cambria Math" panose="02040503050406030204" pitchFamily="18" charset="0"/>
                                </a:rPr>
                              </m:ctrlPr>
                            </m:fPr>
                            <m:num>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h</m:t>
                                  </m:r>
                                </m:e>
                                <m:sub>
                                  <m:r>
                                    <a:rPr lang="fr-FR" sz="2000" i="1" dirty="0">
                                      <a:latin typeface="Cambria Math" panose="02040503050406030204" pitchFamily="18" charset="0"/>
                                      <a:ea typeface="Cambria Math" panose="02040503050406030204" pitchFamily="18" charset="0"/>
                                    </a:rPr>
                                    <m:t>𝑡</m:t>
                                  </m:r>
                                </m:sub>
                              </m:sSub>
                            </m:num>
                            <m:den>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h</m:t>
                                  </m:r>
                                </m:e>
                                <m:sub>
                                  <m:r>
                                    <a:rPr lang="fr-FR" sz="2000" i="1" dirty="0">
                                      <a:latin typeface="Cambria Math" panose="02040503050406030204" pitchFamily="18" charset="0"/>
                                      <a:ea typeface="Cambria Math" panose="02040503050406030204" pitchFamily="18" charset="0"/>
                                    </a:rPr>
                                    <m:t>𝑟</m:t>
                                  </m:r>
                                </m:sub>
                              </m:sSub>
                            </m:den>
                          </m:f>
                          <m:f>
                            <m:fPr>
                              <m:ctrlPr>
                                <a:rPr lang="fr-FR" sz="2000" i="1" dirty="0">
                                  <a:latin typeface="Cambria Math" panose="02040503050406030204" pitchFamily="18" charset="0"/>
                                  <a:ea typeface="Cambria Math" panose="02040503050406030204" pitchFamily="18" charset="0"/>
                                </a:rPr>
                              </m:ctrlPr>
                            </m:fPr>
                            <m:num>
                              <m:r>
                                <a:rPr lang="fr-FR" sz="2000" i="1" dirty="0">
                                  <a:latin typeface="Cambria Math" panose="02040503050406030204" pitchFamily="18" charset="0"/>
                                  <a:ea typeface="Cambria Math" panose="02040503050406030204" pitchFamily="18" charset="0"/>
                                </a:rPr>
                                <m:t>𝜕</m:t>
                              </m:r>
                              <m:sSub>
                                <m:sSubPr>
                                  <m:ctrlPr>
                                    <a:rPr lang="en-GB" sz="2000" i="1">
                                      <a:latin typeface="Cambria Math" panose="02040503050406030204" pitchFamily="18" charset="0"/>
                                      <a:ea typeface="Cambria Math" panose="02040503050406030204" pitchFamily="18" charset="0"/>
                                    </a:rPr>
                                  </m:ctrlPr>
                                </m:sSubPr>
                                <m:e>
                                  <m:r>
                                    <a:rPr lang="en-GB" sz="2000" i="1">
                                      <a:latin typeface="Cambria Math" panose="02040503050406030204" pitchFamily="18" charset="0"/>
                                      <a:ea typeface="Cambria Math" panose="02040503050406030204" pitchFamily="18" charset="0"/>
                                    </a:rPr>
                                    <m:t>h</m:t>
                                  </m:r>
                                </m:e>
                                <m:sub>
                                  <m:r>
                                    <a:rPr lang="fr-FR" sz="2000" i="1">
                                      <a:latin typeface="Cambria Math" panose="02040503050406030204" pitchFamily="18" charset="0"/>
                                      <a:ea typeface="Cambria Math" panose="02040503050406030204" pitchFamily="18" charset="0"/>
                                    </a:rPr>
                                    <m:t>𝑟</m:t>
                                  </m:r>
                                </m:sub>
                              </m:sSub>
                            </m:num>
                            <m:den>
                              <m:r>
                                <a:rPr lang="fr-FR" sz="2000" i="1" dirty="0">
                                  <a:latin typeface="Cambria Math" panose="02040503050406030204" pitchFamily="18" charset="0"/>
                                  <a:ea typeface="Cambria Math" panose="02040503050406030204" pitchFamily="18" charset="0"/>
                                </a:rPr>
                                <m:t>𝜕</m:t>
                              </m:r>
                              <m:r>
                                <a:rPr lang="fr-FR" sz="2000" i="1" dirty="0">
                                  <a:latin typeface="Cambria Math" panose="02040503050406030204" pitchFamily="18" charset="0"/>
                                  <a:ea typeface="Cambria Math" panose="02040503050406030204" pitchFamily="18" charset="0"/>
                                </a:rPr>
                                <m:t>𝑊</m:t>
                              </m:r>
                            </m:den>
                          </m:f>
                        </m:e>
                      </m:nary>
                    </m:oMath>
                  </m:oMathPara>
                </a14:m>
                <a:endParaRPr lang="en-GB" sz="1600" dirty="0"/>
              </a:p>
              <a:p>
                <a:endParaRPr lang="en-GB" sz="1600" dirty="0"/>
              </a:p>
              <a:p>
                <a:endParaRPr lang="en-GB" sz="16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
                    </m:oMathParaPr>
                    <m:oMath xmlns:m="http://schemas.openxmlformats.org/officeDocument/2006/math">
                      <m:f>
                        <m:fPr>
                          <m:ctrlPr>
                            <a:rPr lang="fr-FR" sz="2000" i="1" dirty="0">
                              <a:solidFill>
                                <a:srgbClr val="0070C0"/>
                              </a:solidFill>
                              <a:latin typeface="Cambria Math" panose="02040503050406030204" pitchFamily="18" charset="0"/>
                              <a:ea typeface="Cambria Math" panose="02040503050406030204" pitchFamily="18" charset="0"/>
                            </a:rPr>
                          </m:ctrlPr>
                        </m:fPr>
                        <m:num>
                          <m:r>
                            <a:rPr lang="fr-FR" sz="2000" i="1" dirty="0">
                              <a:solidFill>
                                <a:srgbClr val="0070C0"/>
                              </a:solidFill>
                              <a:latin typeface="Cambria Math" panose="02040503050406030204" pitchFamily="18" charset="0"/>
                              <a:ea typeface="Cambria Math" panose="02040503050406030204" pitchFamily="18" charset="0"/>
                            </a:rPr>
                            <m:t>𝜕</m:t>
                          </m:r>
                          <m:sSub>
                            <m:sSubPr>
                              <m:ctrlPr>
                                <a:rPr lang="fr-FR" sz="2000" i="1" dirty="0">
                                  <a:solidFill>
                                    <a:srgbClr val="0070C0"/>
                                  </a:solidFill>
                                  <a:latin typeface="Cambria Math" panose="02040503050406030204" pitchFamily="18" charset="0"/>
                                  <a:ea typeface="Cambria Math" panose="02040503050406030204" pitchFamily="18" charset="0"/>
                                </a:rPr>
                              </m:ctrlPr>
                            </m:sSubPr>
                            <m:e>
                              <m:r>
                                <a:rPr lang="fr-FR" sz="2000" i="1" dirty="0">
                                  <a:solidFill>
                                    <a:srgbClr val="0070C0"/>
                                  </a:solidFill>
                                  <a:latin typeface="Cambria Math" panose="02040503050406030204" pitchFamily="18" charset="0"/>
                                  <a:ea typeface="Cambria Math" panose="02040503050406030204" pitchFamily="18" charset="0"/>
                                </a:rPr>
                                <m:t>𝐿</m:t>
                              </m:r>
                            </m:e>
                            <m:sub>
                              <m:r>
                                <a:rPr lang="fr-FR" sz="2000" i="1" dirty="0">
                                  <a:solidFill>
                                    <a:srgbClr val="0070C0"/>
                                  </a:solidFill>
                                  <a:latin typeface="Cambria Math" panose="02040503050406030204" pitchFamily="18" charset="0"/>
                                  <a:ea typeface="Cambria Math" panose="02040503050406030204" pitchFamily="18" charset="0"/>
                                </a:rPr>
                                <m:t>𝑡</m:t>
                              </m:r>
                            </m:sub>
                          </m:sSub>
                        </m:num>
                        <m:den>
                          <m:r>
                            <a:rPr lang="fr-FR" sz="2000" i="1" dirty="0">
                              <a:solidFill>
                                <a:srgbClr val="0070C0"/>
                              </a:solidFill>
                              <a:latin typeface="Cambria Math" panose="02040503050406030204" pitchFamily="18" charset="0"/>
                              <a:ea typeface="Cambria Math" panose="02040503050406030204" pitchFamily="18" charset="0"/>
                            </a:rPr>
                            <m:t>𝜕</m:t>
                          </m:r>
                          <m:r>
                            <a:rPr lang="fr-FR" sz="2000" i="1" dirty="0">
                              <a:solidFill>
                                <a:srgbClr val="0070C0"/>
                              </a:solidFill>
                              <a:latin typeface="Cambria Math" panose="02040503050406030204" pitchFamily="18" charset="0"/>
                              <a:ea typeface="Cambria Math" panose="02040503050406030204" pitchFamily="18" charset="0"/>
                            </a:rPr>
                            <m:t>𝑊</m:t>
                          </m:r>
                        </m:den>
                      </m:f>
                      <m:r>
                        <a:rPr lang="fr-FR" sz="2000" i="1" dirty="0">
                          <a:solidFill>
                            <a:srgbClr val="0070C0"/>
                          </a:solidFill>
                          <a:latin typeface="Cambria Math" panose="02040503050406030204" pitchFamily="18" charset="0"/>
                          <a:ea typeface="Cambria Math" panose="02040503050406030204" pitchFamily="18" charset="0"/>
                        </a:rPr>
                        <m:t>=</m:t>
                      </m:r>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acc>
                            <m:accPr>
                              <m:chr m:val="̂"/>
                              <m:ctrlPr>
                                <a:rPr lang="fr-FR" sz="2000" i="1" dirty="0">
                                  <a:latin typeface="Cambria Math" panose="02040503050406030204" pitchFamily="18" charset="0"/>
                                  <a:ea typeface="Cambria Math" panose="02040503050406030204" pitchFamily="18" charset="0"/>
                                </a:rPr>
                              </m:ctrlPr>
                            </m:accPr>
                            <m:e>
                              <m:r>
                                <a:rPr lang="fr-FR" sz="2000" i="1" dirty="0">
                                  <a:latin typeface="Cambria Math" panose="02040503050406030204" pitchFamily="18" charset="0"/>
                                  <a:ea typeface="Cambria Math" panose="02040503050406030204" pitchFamily="18" charset="0"/>
                                </a:rPr>
                                <m:t>𝑦</m:t>
                              </m:r>
                            </m:e>
                          </m:acc>
                        </m:e>
                        <m:sub>
                          <m:r>
                            <a:rPr lang="fr-FR" sz="2000" i="1" dirty="0">
                              <a:latin typeface="Cambria Math" panose="02040503050406030204" pitchFamily="18" charset="0"/>
                              <a:ea typeface="Cambria Math" panose="02040503050406030204" pitchFamily="18" charset="0"/>
                            </a:rPr>
                            <m:t>𝑡</m:t>
                          </m:r>
                        </m:sub>
                      </m:sSub>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𝑦</m:t>
                          </m:r>
                        </m:e>
                        <m:sub>
                          <m:r>
                            <a:rPr lang="fr-FR" sz="2000" i="1" dirty="0">
                              <a:latin typeface="Cambria Math" panose="02040503050406030204" pitchFamily="18" charset="0"/>
                              <a:ea typeface="Cambria Math" panose="02040503050406030204" pitchFamily="18" charset="0"/>
                            </a:rPr>
                            <m:t>𝑡</m:t>
                          </m:r>
                        </m:sub>
                      </m:sSub>
                      <m:r>
                        <a:rPr lang="fr-FR" sz="2000" i="1" dirty="0">
                          <a:latin typeface="Cambria Math" panose="02040503050406030204" pitchFamily="18" charset="0"/>
                          <a:ea typeface="Cambria Math" panose="02040503050406030204" pitchFamily="18" charset="0"/>
                        </a:rPr>
                        <m:t>)</m:t>
                      </m:r>
                      <m:sSubSup>
                        <m:sSubSupPr>
                          <m:ctrlPr>
                            <a:rPr lang="fr-FR" sz="2000" i="1" dirty="0">
                              <a:latin typeface="Cambria Math" panose="02040503050406030204" pitchFamily="18" charset="0"/>
                              <a:ea typeface="Cambria Math" panose="02040503050406030204" pitchFamily="18" charset="0"/>
                            </a:rPr>
                          </m:ctrlPr>
                        </m:sSubSupPr>
                        <m:e>
                          <m:r>
                            <a:rPr lang="fr-FR" sz="2000" i="1" dirty="0">
                              <a:latin typeface="Cambria Math" panose="02040503050406030204" pitchFamily="18" charset="0"/>
                              <a:ea typeface="Cambria Math" panose="02040503050406030204" pitchFamily="18" charset="0"/>
                            </a:rPr>
                            <m:t>h</m:t>
                          </m:r>
                        </m:e>
                        <m:sub>
                          <m:r>
                            <a:rPr lang="fr-FR" sz="2000" i="1" dirty="0">
                              <a:latin typeface="Cambria Math" panose="02040503050406030204" pitchFamily="18" charset="0"/>
                              <a:ea typeface="Cambria Math" panose="02040503050406030204" pitchFamily="18" charset="0"/>
                            </a:rPr>
                            <m:t>𝑡</m:t>
                          </m:r>
                        </m:sub>
                        <m:sup>
                          <m:r>
                            <a:rPr lang="fr-FR" sz="2000" i="1" dirty="0">
                              <a:latin typeface="Cambria Math" panose="02040503050406030204" pitchFamily="18" charset="0"/>
                              <a:ea typeface="Cambria Math" panose="02040503050406030204" pitchFamily="18" charset="0"/>
                            </a:rPr>
                            <m:t>𝑇</m:t>
                          </m:r>
                        </m:sup>
                      </m:sSubSup>
                      <m:nary>
                        <m:naryPr>
                          <m:chr m:val="∑"/>
                          <m:ctrlPr>
                            <a:rPr lang="fr-FR" sz="2000" i="1" dirty="0">
                              <a:latin typeface="Cambria Math" panose="02040503050406030204" pitchFamily="18" charset="0"/>
                              <a:ea typeface="Cambria Math" panose="02040503050406030204" pitchFamily="18" charset="0"/>
                            </a:rPr>
                          </m:ctrlPr>
                        </m:naryPr>
                        <m:sub>
                          <m:r>
                            <m:rPr>
                              <m:brk m:alnAt="23"/>
                            </m:rPr>
                            <a:rPr lang="fr-FR" sz="2000" i="1" dirty="0">
                              <a:latin typeface="Cambria Math" panose="02040503050406030204" pitchFamily="18" charset="0"/>
                              <a:ea typeface="Cambria Math" panose="02040503050406030204" pitchFamily="18" charset="0"/>
                            </a:rPr>
                            <m:t>𝑟</m:t>
                          </m:r>
                          <m:r>
                            <a:rPr lang="fr-FR" sz="2000" i="1" dirty="0">
                              <a:latin typeface="Cambria Math" panose="02040503050406030204" pitchFamily="18" charset="0"/>
                              <a:ea typeface="Cambria Math" panose="02040503050406030204" pitchFamily="18" charset="0"/>
                            </a:rPr>
                            <m:t>=1</m:t>
                          </m:r>
                        </m:sub>
                        <m:sup>
                          <m:r>
                            <a:rPr lang="fr-FR" sz="2000" i="1" dirty="0">
                              <a:latin typeface="Cambria Math" panose="02040503050406030204" pitchFamily="18" charset="0"/>
                              <a:ea typeface="Cambria Math" panose="02040503050406030204" pitchFamily="18" charset="0"/>
                            </a:rPr>
                            <m:t>𝑡</m:t>
                          </m:r>
                        </m:sup>
                        <m:e>
                          <m:f>
                            <m:fPr>
                              <m:ctrlPr>
                                <a:rPr lang="fr-FR" sz="2000" i="1" dirty="0">
                                  <a:latin typeface="Cambria Math" panose="02040503050406030204" pitchFamily="18" charset="0"/>
                                  <a:ea typeface="Cambria Math" panose="02040503050406030204" pitchFamily="18" charset="0"/>
                                </a:rPr>
                              </m:ctrlPr>
                            </m:fPr>
                            <m:num>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h</m:t>
                                  </m:r>
                                </m:e>
                                <m:sub>
                                  <m:r>
                                    <a:rPr lang="fr-FR" sz="2000" i="1" dirty="0">
                                      <a:latin typeface="Cambria Math" panose="02040503050406030204" pitchFamily="18" charset="0"/>
                                      <a:ea typeface="Cambria Math" panose="02040503050406030204" pitchFamily="18" charset="0"/>
                                    </a:rPr>
                                    <m:t>𝑡</m:t>
                                  </m:r>
                                </m:sub>
                              </m:sSub>
                            </m:num>
                            <m:den>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h</m:t>
                                  </m:r>
                                </m:e>
                                <m:sub>
                                  <m:r>
                                    <a:rPr lang="fr-FR" sz="2000" i="1" dirty="0">
                                      <a:latin typeface="Cambria Math" panose="02040503050406030204" pitchFamily="18" charset="0"/>
                                      <a:ea typeface="Cambria Math" panose="02040503050406030204" pitchFamily="18" charset="0"/>
                                    </a:rPr>
                                    <m:t>𝑟</m:t>
                                  </m:r>
                                </m:sub>
                              </m:sSub>
                            </m:den>
                          </m:f>
                          <m:f>
                            <m:fPr>
                              <m:ctrlPr>
                                <a:rPr lang="fr-FR" sz="2000" i="1" dirty="0">
                                  <a:latin typeface="Cambria Math" panose="02040503050406030204" pitchFamily="18" charset="0"/>
                                  <a:ea typeface="Cambria Math" panose="02040503050406030204" pitchFamily="18" charset="0"/>
                                </a:rPr>
                              </m:ctrlPr>
                            </m:fPr>
                            <m:num>
                              <m:r>
                                <a:rPr lang="fr-FR" sz="2000" i="1" dirty="0">
                                  <a:latin typeface="Cambria Math" panose="02040503050406030204" pitchFamily="18" charset="0"/>
                                  <a:ea typeface="Cambria Math" panose="02040503050406030204" pitchFamily="18" charset="0"/>
                                </a:rPr>
                                <m:t>𝜕</m:t>
                              </m:r>
                              <m:sSub>
                                <m:sSubPr>
                                  <m:ctrlPr>
                                    <a:rPr lang="en-GB" sz="2000" i="1">
                                      <a:latin typeface="Cambria Math" panose="02040503050406030204" pitchFamily="18" charset="0"/>
                                      <a:ea typeface="Cambria Math" panose="02040503050406030204" pitchFamily="18" charset="0"/>
                                    </a:rPr>
                                  </m:ctrlPr>
                                </m:sSubPr>
                                <m:e>
                                  <m:r>
                                    <a:rPr lang="en-GB" sz="2000" i="1">
                                      <a:latin typeface="Cambria Math" panose="02040503050406030204" pitchFamily="18" charset="0"/>
                                      <a:ea typeface="Cambria Math" panose="02040503050406030204" pitchFamily="18" charset="0"/>
                                    </a:rPr>
                                    <m:t>h</m:t>
                                  </m:r>
                                </m:e>
                                <m:sub>
                                  <m:r>
                                    <a:rPr lang="fr-FR" sz="2000" i="1">
                                      <a:latin typeface="Cambria Math" panose="02040503050406030204" pitchFamily="18" charset="0"/>
                                      <a:ea typeface="Cambria Math" panose="02040503050406030204" pitchFamily="18" charset="0"/>
                                    </a:rPr>
                                    <m:t>𝑟</m:t>
                                  </m:r>
                                </m:sub>
                              </m:sSub>
                            </m:num>
                            <m:den>
                              <m:r>
                                <a:rPr lang="fr-FR" sz="2000" i="1" dirty="0">
                                  <a:latin typeface="Cambria Math" panose="02040503050406030204" pitchFamily="18" charset="0"/>
                                  <a:ea typeface="Cambria Math" panose="02040503050406030204" pitchFamily="18" charset="0"/>
                                </a:rPr>
                                <m:t>𝜕</m:t>
                              </m:r>
                              <m:r>
                                <a:rPr lang="fr-FR" sz="2000" i="1" dirty="0">
                                  <a:latin typeface="Cambria Math" panose="02040503050406030204" pitchFamily="18" charset="0"/>
                                  <a:ea typeface="Cambria Math" panose="02040503050406030204" pitchFamily="18" charset="0"/>
                                </a:rPr>
                                <m:t>𝑊</m:t>
                              </m:r>
                            </m:den>
                          </m:f>
                        </m:e>
                      </m:nary>
                    </m:oMath>
                  </m:oMathPara>
                </a14:m>
                <a:endParaRPr lang="en-GB" sz="1600" i="1" dirty="0">
                  <a:latin typeface="Cambria Math" panose="02040503050406030204" pitchFamily="18" charset="0"/>
                  <a:ea typeface="Cambria Math" panose="02040503050406030204" pitchFamily="18" charset="0"/>
                </a:endParaRPr>
              </a:p>
              <a:p>
                <a:endParaRPr lang="en-GB" sz="1600" i="1" dirty="0">
                  <a:latin typeface="Cambria Math" panose="02040503050406030204" pitchFamily="18" charset="0"/>
                  <a:ea typeface="Cambria Math" panose="02040503050406030204" pitchFamily="18" charset="0"/>
                </a:endParaRPr>
              </a:p>
              <a:p>
                <a:pPr algn="ctr"/>
                <a:r>
                  <a:rPr lang="en-GB" sz="1600" i="1" dirty="0">
                    <a:latin typeface="Cambria Math" panose="02040503050406030204" pitchFamily="18" charset="0"/>
                    <a:ea typeface="Cambria Math" panose="02040503050406030204" pitchFamily="18" charset="0"/>
                  </a:rPr>
                  <a:t>And similarly</a:t>
                </a:r>
              </a:p>
              <a:p>
                <a:endParaRPr lang="en-GB" sz="16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
                    </m:oMathParaPr>
                    <m:oMath xmlns:m="http://schemas.openxmlformats.org/officeDocument/2006/math">
                      <m:f>
                        <m:fPr>
                          <m:ctrlPr>
                            <a:rPr lang="fr-FR" sz="2000" i="1" dirty="0" smtClean="0">
                              <a:solidFill>
                                <a:srgbClr val="0070C0"/>
                              </a:solidFill>
                              <a:latin typeface="Cambria Math" panose="02040503050406030204" pitchFamily="18" charset="0"/>
                              <a:ea typeface="Cambria Math" panose="02040503050406030204" pitchFamily="18" charset="0"/>
                            </a:rPr>
                          </m:ctrlPr>
                        </m:fPr>
                        <m:num>
                          <m:r>
                            <a:rPr lang="fr-FR" sz="2000" i="1" dirty="0">
                              <a:solidFill>
                                <a:srgbClr val="0070C0"/>
                              </a:solidFill>
                              <a:latin typeface="Cambria Math" panose="02040503050406030204" pitchFamily="18" charset="0"/>
                              <a:ea typeface="Cambria Math" panose="02040503050406030204" pitchFamily="18" charset="0"/>
                            </a:rPr>
                            <m:t>𝜕</m:t>
                          </m:r>
                          <m:sSub>
                            <m:sSubPr>
                              <m:ctrlPr>
                                <a:rPr lang="fr-FR" sz="2000" i="1" dirty="0">
                                  <a:solidFill>
                                    <a:srgbClr val="0070C0"/>
                                  </a:solidFill>
                                  <a:latin typeface="Cambria Math" panose="02040503050406030204" pitchFamily="18" charset="0"/>
                                  <a:ea typeface="Cambria Math" panose="02040503050406030204" pitchFamily="18" charset="0"/>
                                </a:rPr>
                              </m:ctrlPr>
                            </m:sSubPr>
                            <m:e>
                              <m:r>
                                <a:rPr lang="fr-FR" sz="2000" i="1" dirty="0">
                                  <a:solidFill>
                                    <a:srgbClr val="0070C0"/>
                                  </a:solidFill>
                                  <a:latin typeface="Cambria Math" panose="02040503050406030204" pitchFamily="18" charset="0"/>
                                  <a:ea typeface="Cambria Math" panose="02040503050406030204" pitchFamily="18" charset="0"/>
                                </a:rPr>
                                <m:t>𝐿</m:t>
                              </m:r>
                            </m:e>
                            <m:sub>
                              <m:r>
                                <a:rPr lang="fr-FR" sz="2000" i="1" dirty="0">
                                  <a:solidFill>
                                    <a:srgbClr val="0070C0"/>
                                  </a:solidFill>
                                  <a:latin typeface="Cambria Math" panose="02040503050406030204" pitchFamily="18" charset="0"/>
                                  <a:ea typeface="Cambria Math" panose="02040503050406030204" pitchFamily="18" charset="0"/>
                                </a:rPr>
                                <m:t>𝑡</m:t>
                              </m:r>
                            </m:sub>
                          </m:sSub>
                        </m:num>
                        <m:den>
                          <m:r>
                            <a:rPr lang="fr-FR" sz="2000" i="1" dirty="0">
                              <a:solidFill>
                                <a:srgbClr val="0070C0"/>
                              </a:solidFill>
                              <a:latin typeface="Cambria Math" panose="02040503050406030204" pitchFamily="18" charset="0"/>
                              <a:ea typeface="Cambria Math" panose="02040503050406030204" pitchFamily="18" charset="0"/>
                            </a:rPr>
                            <m:t>𝜕</m:t>
                          </m:r>
                          <m:r>
                            <a:rPr lang="fr-FR" sz="2000" b="0" i="1" dirty="0" smtClean="0">
                              <a:solidFill>
                                <a:srgbClr val="0070C0"/>
                              </a:solidFill>
                              <a:latin typeface="Cambria Math" panose="02040503050406030204" pitchFamily="18" charset="0"/>
                              <a:ea typeface="Cambria Math" panose="02040503050406030204" pitchFamily="18" charset="0"/>
                            </a:rPr>
                            <m:t>𝑈</m:t>
                          </m:r>
                        </m:den>
                      </m:f>
                      <m:r>
                        <a:rPr lang="fr-FR" sz="2000" i="1" dirty="0">
                          <a:solidFill>
                            <a:srgbClr val="0070C0"/>
                          </a:solidFill>
                          <a:latin typeface="Cambria Math" panose="02040503050406030204" pitchFamily="18" charset="0"/>
                          <a:ea typeface="Cambria Math" panose="02040503050406030204" pitchFamily="18" charset="0"/>
                        </a:rPr>
                        <m:t>=</m:t>
                      </m:r>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acc>
                            <m:accPr>
                              <m:chr m:val="̂"/>
                              <m:ctrlPr>
                                <a:rPr lang="fr-FR" sz="2000" i="1" dirty="0">
                                  <a:latin typeface="Cambria Math" panose="02040503050406030204" pitchFamily="18" charset="0"/>
                                  <a:ea typeface="Cambria Math" panose="02040503050406030204" pitchFamily="18" charset="0"/>
                                </a:rPr>
                              </m:ctrlPr>
                            </m:accPr>
                            <m:e>
                              <m:r>
                                <a:rPr lang="fr-FR" sz="2000" i="1" dirty="0">
                                  <a:latin typeface="Cambria Math" panose="02040503050406030204" pitchFamily="18" charset="0"/>
                                  <a:ea typeface="Cambria Math" panose="02040503050406030204" pitchFamily="18" charset="0"/>
                                </a:rPr>
                                <m:t>𝑦</m:t>
                              </m:r>
                            </m:e>
                          </m:acc>
                        </m:e>
                        <m:sub>
                          <m:r>
                            <a:rPr lang="fr-FR" sz="2000" i="1" dirty="0">
                              <a:latin typeface="Cambria Math" panose="02040503050406030204" pitchFamily="18" charset="0"/>
                              <a:ea typeface="Cambria Math" panose="02040503050406030204" pitchFamily="18" charset="0"/>
                            </a:rPr>
                            <m:t>𝑡</m:t>
                          </m:r>
                        </m:sub>
                      </m:sSub>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𝑦</m:t>
                          </m:r>
                        </m:e>
                        <m:sub>
                          <m:r>
                            <a:rPr lang="fr-FR" sz="2000" i="1" dirty="0">
                              <a:latin typeface="Cambria Math" panose="02040503050406030204" pitchFamily="18" charset="0"/>
                              <a:ea typeface="Cambria Math" panose="02040503050406030204" pitchFamily="18" charset="0"/>
                            </a:rPr>
                            <m:t>𝑡</m:t>
                          </m:r>
                        </m:sub>
                      </m:sSub>
                      <m:r>
                        <a:rPr lang="fr-FR" sz="2000" i="1" dirty="0">
                          <a:latin typeface="Cambria Math" panose="02040503050406030204" pitchFamily="18" charset="0"/>
                          <a:ea typeface="Cambria Math" panose="02040503050406030204" pitchFamily="18" charset="0"/>
                        </a:rPr>
                        <m:t>)</m:t>
                      </m:r>
                      <m:sSubSup>
                        <m:sSubSupPr>
                          <m:ctrlPr>
                            <a:rPr lang="fr-FR" sz="2000" i="1" dirty="0">
                              <a:latin typeface="Cambria Math" panose="02040503050406030204" pitchFamily="18" charset="0"/>
                              <a:ea typeface="Cambria Math" panose="02040503050406030204" pitchFamily="18" charset="0"/>
                            </a:rPr>
                          </m:ctrlPr>
                        </m:sSubSupPr>
                        <m:e>
                          <m:r>
                            <a:rPr lang="fr-FR" sz="2000" i="1" dirty="0">
                              <a:latin typeface="Cambria Math" panose="02040503050406030204" pitchFamily="18" charset="0"/>
                              <a:ea typeface="Cambria Math" panose="02040503050406030204" pitchFamily="18" charset="0"/>
                            </a:rPr>
                            <m:t>h</m:t>
                          </m:r>
                        </m:e>
                        <m:sub>
                          <m:r>
                            <a:rPr lang="fr-FR" sz="2000" i="1" dirty="0">
                              <a:latin typeface="Cambria Math" panose="02040503050406030204" pitchFamily="18" charset="0"/>
                              <a:ea typeface="Cambria Math" panose="02040503050406030204" pitchFamily="18" charset="0"/>
                            </a:rPr>
                            <m:t>𝑡</m:t>
                          </m:r>
                        </m:sub>
                        <m:sup>
                          <m:r>
                            <a:rPr lang="fr-FR" sz="2000" i="1" dirty="0">
                              <a:latin typeface="Cambria Math" panose="02040503050406030204" pitchFamily="18" charset="0"/>
                              <a:ea typeface="Cambria Math" panose="02040503050406030204" pitchFamily="18" charset="0"/>
                            </a:rPr>
                            <m:t>𝑇</m:t>
                          </m:r>
                        </m:sup>
                      </m:sSubSup>
                      <m:nary>
                        <m:naryPr>
                          <m:chr m:val="∑"/>
                          <m:ctrlPr>
                            <a:rPr lang="fr-FR" sz="2000" i="1" dirty="0">
                              <a:latin typeface="Cambria Math" panose="02040503050406030204" pitchFamily="18" charset="0"/>
                              <a:ea typeface="Cambria Math" panose="02040503050406030204" pitchFamily="18" charset="0"/>
                            </a:rPr>
                          </m:ctrlPr>
                        </m:naryPr>
                        <m:sub>
                          <m:r>
                            <m:rPr>
                              <m:brk m:alnAt="23"/>
                            </m:rPr>
                            <a:rPr lang="fr-FR" sz="2000" i="1" dirty="0">
                              <a:latin typeface="Cambria Math" panose="02040503050406030204" pitchFamily="18" charset="0"/>
                              <a:ea typeface="Cambria Math" panose="02040503050406030204" pitchFamily="18" charset="0"/>
                            </a:rPr>
                            <m:t>𝑟</m:t>
                          </m:r>
                          <m:r>
                            <a:rPr lang="fr-FR" sz="2000" i="1" dirty="0">
                              <a:latin typeface="Cambria Math" panose="02040503050406030204" pitchFamily="18" charset="0"/>
                              <a:ea typeface="Cambria Math" panose="02040503050406030204" pitchFamily="18" charset="0"/>
                            </a:rPr>
                            <m:t>=1</m:t>
                          </m:r>
                        </m:sub>
                        <m:sup>
                          <m:r>
                            <a:rPr lang="fr-FR" sz="2000" i="1" dirty="0">
                              <a:latin typeface="Cambria Math" panose="02040503050406030204" pitchFamily="18" charset="0"/>
                              <a:ea typeface="Cambria Math" panose="02040503050406030204" pitchFamily="18" charset="0"/>
                            </a:rPr>
                            <m:t>𝑡</m:t>
                          </m:r>
                        </m:sup>
                        <m:e>
                          <m:f>
                            <m:fPr>
                              <m:ctrlPr>
                                <a:rPr lang="fr-FR" sz="2000" i="1" dirty="0">
                                  <a:latin typeface="Cambria Math" panose="02040503050406030204" pitchFamily="18" charset="0"/>
                                  <a:ea typeface="Cambria Math" panose="02040503050406030204" pitchFamily="18" charset="0"/>
                                </a:rPr>
                              </m:ctrlPr>
                            </m:fPr>
                            <m:num>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h</m:t>
                                  </m:r>
                                </m:e>
                                <m:sub>
                                  <m:r>
                                    <a:rPr lang="fr-FR" sz="2000" i="1" dirty="0">
                                      <a:latin typeface="Cambria Math" panose="02040503050406030204" pitchFamily="18" charset="0"/>
                                      <a:ea typeface="Cambria Math" panose="02040503050406030204" pitchFamily="18" charset="0"/>
                                    </a:rPr>
                                    <m:t>𝑡</m:t>
                                  </m:r>
                                </m:sub>
                              </m:sSub>
                            </m:num>
                            <m:den>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h</m:t>
                                  </m:r>
                                </m:e>
                                <m:sub>
                                  <m:r>
                                    <a:rPr lang="fr-FR" sz="2000" i="1" dirty="0">
                                      <a:latin typeface="Cambria Math" panose="02040503050406030204" pitchFamily="18" charset="0"/>
                                      <a:ea typeface="Cambria Math" panose="02040503050406030204" pitchFamily="18" charset="0"/>
                                    </a:rPr>
                                    <m:t>𝑟</m:t>
                                  </m:r>
                                </m:sub>
                              </m:sSub>
                            </m:den>
                          </m:f>
                          <m:f>
                            <m:fPr>
                              <m:ctrlPr>
                                <a:rPr lang="fr-FR" sz="2000" i="1" dirty="0">
                                  <a:latin typeface="Cambria Math" panose="02040503050406030204" pitchFamily="18" charset="0"/>
                                  <a:ea typeface="Cambria Math" panose="02040503050406030204" pitchFamily="18" charset="0"/>
                                </a:rPr>
                              </m:ctrlPr>
                            </m:fPr>
                            <m:num>
                              <m:r>
                                <a:rPr lang="fr-FR" sz="2000" i="1" dirty="0">
                                  <a:latin typeface="Cambria Math" panose="02040503050406030204" pitchFamily="18" charset="0"/>
                                  <a:ea typeface="Cambria Math" panose="02040503050406030204" pitchFamily="18" charset="0"/>
                                </a:rPr>
                                <m:t>𝜕</m:t>
                              </m:r>
                              <m:sSub>
                                <m:sSubPr>
                                  <m:ctrlPr>
                                    <a:rPr lang="en-GB" sz="2000" i="1">
                                      <a:latin typeface="Cambria Math" panose="02040503050406030204" pitchFamily="18" charset="0"/>
                                      <a:ea typeface="Cambria Math" panose="02040503050406030204" pitchFamily="18" charset="0"/>
                                    </a:rPr>
                                  </m:ctrlPr>
                                </m:sSubPr>
                                <m:e>
                                  <m:r>
                                    <a:rPr lang="en-GB" sz="2000" i="1">
                                      <a:latin typeface="Cambria Math" panose="02040503050406030204" pitchFamily="18" charset="0"/>
                                      <a:ea typeface="Cambria Math" panose="02040503050406030204" pitchFamily="18" charset="0"/>
                                    </a:rPr>
                                    <m:t>h</m:t>
                                  </m:r>
                                </m:e>
                                <m:sub>
                                  <m:r>
                                    <a:rPr lang="fr-FR" sz="2000" i="1">
                                      <a:latin typeface="Cambria Math" panose="02040503050406030204" pitchFamily="18" charset="0"/>
                                      <a:ea typeface="Cambria Math" panose="02040503050406030204" pitchFamily="18" charset="0"/>
                                    </a:rPr>
                                    <m:t>𝑟</m:t>
                                  </m:r>
                                </m:sub>
                              </m:sSub>
                            </m:num>
                            <m:den>
                              <m:r>
                                <a:rPr lang="fr-FR" sz="2000" i="1" dirty="0">
                                  <a:latin typeface="Cambria Math" panose="02040503050406030204" pitchFamily="18" charset="0"/>
                                  <a:ea typeface="Cambria Math" panose="02040503050406030204" pitchFamily="18" charset="0"/>
                                </a:rPr>
                                <m:t>𝜕</m:t>
                              </m:r>
                              <m:r>
                                <a:rPr lang="fr-FR" sz="2000" b="0" i="1" dirty="0" smtClean="0">
                                  <a:latin typeface="Cambria Math" panose="02040503050406030204" pitchFamily="18" charset="0"/>
                                  <a:ea typeface="Cambria Math" panose="02040503050406030204" pitchFamily="18" charset="0"/>
                                </a:rPr>
                                <m:t>𝑈</m:t>
                              </m:r>
                            </m:den>
                          </m:f>
                        </m:e>
                      </m:nary>
                    </m:oMath>
                  </m:oMathPara>
                </a14:m>
                <a:endParaRPr lang="en-GB" sz="1600" i="1" noProof="0" dirty="0">
                  <a:latin typeface="Cambria Math" panose="02040503050406030204" pitchFamily="18" charset="0"/>
                  <a:ea typeface="Cambria Math" panose="02040503050406030204" pitchFamily="18" charset="0"/>
                </a:endParaRPr>
              </a:p>
            </p:txBody>
          </p:sp>
        </mc:Choice>
        <mc:Fallback xmlns="">
          <p:sp>
            <p:nvSpPr>
              <p:cNvPr id="89" name="ZoneTexte 88">
                <a:extLst>
                  <a:ext uri="{FF2B5EF4-FFF2-40B4-BE49-F238E27FC236}">
                    <a16:creationId xmlns:a16="http://schemas.microsoft.com/office/drawing/2014/main" id="{EC2CDC41-FF4A-65DB-F1B9-06B851ECF68E}"/>
                  </a:ext>
                </a:extLst>
              </p:cNvPr>
              <p:cNvSpPr txBox="1">
                <a:spLocks noRot="1" noChangeAspect="1" noMove="1" noResize="1" noEditPoints="1" noAdjustHandles="1" noChangeArrowheads="1" noChangeShapeType="1" noTextEdit="1"/>
              </p:cNvSpPr>
              <p:nvPr/>
            </p:nvSpPr>
            <p:spPr>
              <a:xfrm>
                <a:off x="1670023" y="2249617"/>
                <a:ext cx="9821766" cy="4057073"/>
              </a:xfrm>
              <a:prstGeom prst="rect">
                <a:avLst/>
              </a:prstGeom>
              <a:blipFill>
                <a:blip r:embed="rId4"/>
                <a:stretch>
                  <a:fillRect t="-18438" b="-3687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A11563CA-4E9D-259C-2700-C9453C06D037}"/>
                  </a:ext>
                </a:extLst>
              </p:cNvPr>
              <p:cNvSpPr txBox="1"/>
              <p:nvPr/>
            </p:nvSpPr>
            <p:spPr>
              <a:xfrm>
                <a:off x="229581" y="4260024"/>
                <a:ext cx="42934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Sub>
                    </m:oMath>
                  </m:oMathPara>
                </a14:m>
                <a:endParaRPr lang="en-GB" sz="1600" dirty="0"/>
              </a:p>
            </p:txBody>
          </p:sp>
        </mc:Choice>
        <mc:Fallback xmlns="">
          <p:sp>
            <p:nvSpPr>
              <p:cNvPr id="5" name="ZoneTexte 4">
                <a:extLst>
                  <a:ext uri="{FF2B5EF4-FFF2-40B4-BE49-F238E27FC236}">
                    <a16:creationId xmlns:a16="http://schemas.microsoft.com/office/drawing/2014/main" id="{A11563CA-4E9D-259C-2700-C9453C06D037}"/>
                  </a:ext>
                </a:extLst>
              </p:cNvPr>
              <p:cNvSpPr txBox="1">
                <a:spLocks noRot="1" noChangeAspect="1" noMove="1" noResize="1" noEditPoints="1" noAdjustHandles="1" noChangeArrowheads="1" noChangeShapeType="1" noTextEdit="1"/>
              </p:cNvSpPr>
              <p:nvPr/>
            </p:nvSpPr>
            <p:spPr>
              <a:xfrm>
                <a:off x="229581" y="4260024"/>
                <a:ext cx="429348" cy="246221"/>
              </a:xfrm>
              <a:prstGeom prst="rect">
                <a:avLst/>
              </a:prstGeom>
              <a:blipFill>
                <a:blip r:embed="rId5"/>
                <a:stretch>
                  <a:fillRect l="-14706" r="-5882"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90CE0C9F-38B8-A80E-87AA-D51549A5AEA6}"/>
                  </a:ext>
                </a:extLst>
              </p:cNvPr>
              <p:cNvSpPr txBox="1"/>
              <p:nvPr/>
            </p:nvSpPr>
            <p:spPr>
              <a:xfrm>
                <a:off x="771207" y="5409180"/>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sub>
                      </m:sSub>
                    </m:oMath>
                  </m:oMathPara>
                </a14:m>
                <a:endParaRPr lang="en-GB" sz="1600" dirty="0"/>
              </a:p>
            </p:txBody>
          </p:sp>
        </mc:Choice>
        <mc:Fallback xmlns="">
          <p:sp>
            <p:nvSpPr>
              <p:cNvPr id="8" name="ZoneTexte 7">
                <a:extLst>
                  <a:ext uri="{FF2B5EF4-FFF2-40B4-BE49-F238E27FC236}">
                    <a16:creationId xmlns:a16="http://schemas.microsoft.com/office/drawing/2014/main" id="{90CE0C9F-38B8-A80E-87AA-D51549A5AEA6}"/>
                  </a:ext>
                </a:extLst>
              </p:cNvPr>
              <p:cNvSpPr txBox="1">
                <a:spLocks noRot="1" noChangeAspect="1" noMove="1" noResize="1" noEditPoints="1" noAdjustHandles="1" noChangeArrowheads="1" noChangeShapeType="1" noTextEdit="1"/>
              </p:cNvSpPr>
              <p:nvPr/>
            </p:nvSpPr>
            <p:spPr>
              <a:xfrm>
                <a:off x="771207" y="5409180"/>
                <a:ext cx="424732" cy="246221"/>
              </a:xfrm>
              <a:prstGeom prst="rect">
                <a:avLst/>
              </a:prstGeom>
              <a:blipFill>
                <a:blip r:embed="rId6"/>
                <a:stretch>
                  <a:fillRect b="-9524"/>
                </a:stretch>
              </a:blipFill>
            </p:spPr>
            <p:txBody>
              <a:bodyPr/>
              <a:lstStyle/>
              <a:p>
                <a:r>
                  <a:rPr lang="en-GB">
                    <a:noFill/>
                  </a:rPr>
                  <a:t> </a:t>
                </a:r>
              </a:p>
            </p:txBody>
          </p:sp>
        </mc:Fallback>
      </mc:AlternateContent>
      <p:sp>
        <p:nvSpPr>
          <p:cNvPr id="9" name="Rectangle : coins arrondis 8">
            <a:extLst>
              <a:ext uri="{FF2B5EF4-FFF2-40B4-BE49-F238E27FC236}">
                <a16:creationId xmlns:a16="http://schemas.microsoft.com/office/drawing/2014/main" id="{6A025742-FE91-009D-56D1-39F49D6359EB}"/>
              </a:ext>
            </a:extLst>
          </p:cNvPr>
          <p:cNvSpPr/>
          <p:nvPr/>
        </p:nvSpPr>
        <p:spPr>
          <a:xfrm>
            <a:off x="700211" y="4125637"/>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2" name="Connecteur droit avec flèche 11">
            <a:extLst>
              <a:ext uri="{FF2B5EF4-FFF2-40B4-BE49-F238E27FC236}">
                <a16:creationId xmlns:a16="http://schemas.microsoft.com/office/drawing/2014/main" id="{1624F0B5-9FC6-EDCC-6581-3B23808CC55B}"/>
              </a:ext>
            </a:extLst>
          </p:cNvPr>
          <p:cNvCxnSpPr>
            <a:cxnSpLocks/>
            <a:stCxn id="8" idx="0"/>
            <a:endCxn id="9" idx="2"/>
          </p:cNvCxnSpPr>
          <p:nvPr/>
        </p:nvCxnSpPr>
        <p:spPr>
          <a:xfrm flipH="1" flipV="1">
            <a:off x="979611" y="4887637"/>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necteur droit avec flèche 13">
            <a:extLst>
              <a:ext uri="{FF2B5EF4-FFF2-40B4-BE49-F238E27FC236}">
                <a16:creationId xmlns:a16="http://schemas.microsoft.com/office/drawing/2014/main" id="{FCE8DED7-5DCC-BE49-4522-9DED38906245}"/>
              </a:ext>
            </a:extLst>
          </p:cNvPr>
          <p:cNvCxnSpPr>
            <a:cxnSpLocks/>
          </p:cNvCxnSpPr>
          <p:nvPr/>
        </p:nvCxnSpPr>
        <p:spPr>
          <a:xfrm>
            <a:off x="349017" y="4635451"/>
            <a:ext cx="324000"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AEC373DD-B32A-4B22-F83E-C8BFE46ADD31}"/>
              </a:ext>
            </a:extLst>
          </p:cNvPr>
          <p:cNvSpPr txBox="1"/>
          <p:nvPr/>
        </p:nvSpPr>
        <p:spPr>
          <a:xfrm>
            <a:off x="1035491" y="4951375"/>
            <a:ext cx="304800" cy="307777"/>
          </a:xfrm>
          <a:prstGeom prst="rect">
            <a:avLst/>
          </a:prstGeom>
          <a:noFill/>
        </p:spPr>
        <p:txBody>
          <a:bodyPr wrap="square" rtlCol="0">
            <a:spAutoFit/>
          </a:bodyPr>
          <a:lstStyle/>
          <a:p>
            <a:r>
              <a:rPr lang="en-GB" sz="1400" b="1" dirty="0">
                <a:solidFill>
                  <a:srgbClr val="0070C0"/>
                </a:solidFill>
              </a:rPr>
              <a:t>U</a:t>
            </a:r>
          </a:p>
        </p:txBody>
      </p:sp>
      <p:sp>
        <p:nvSpPr>
          <p:cNvPr id="18" name="ZoneTexte 17">
            <a:extLst>
              <a:ext uri="{FF2B5EF4-FFF2-40B4-BE49-F238E27FC236}">
                <a16:creationId xmlns:a16="http://schemas.microsoft.com/office/drawing/2014/main" id="{993F254C-E569-B303-1CAE-F6E81E113542}"/>
              </a:ext>
            </a:extLst>
          </p:cNvPr>
          <p:cNvSpPr txBox="1"/>
          <p:nvPr/>
        </p:nvSpPr>
        <p:spPr>
          <a:xfrm>
            <a:off x="291933" y="4643598"/>
            <a:ext cx="304800" cy="307777"/>
          </a:xfrm>
          <a:prstGeom prst="rect">
            <a:avLst/>
          </a:prstGeom>
          <a:noFill/>
        </p:spPr>
        <p:txBody>
          <a:bodyPr wrap="square" rtlCol="0">
            <a:spAutoFit/>
          </a:bodyPr>
          <a:lstStyle/>
          <a:p>
            <a:r>
              <a:rPr lang="en-GB" sz="1400" b="1" dirty="0">
                <a:solidFill>
                  <a:srgbClr val="0070C0"/>
                </a:solidFill>
              </a:rPr>
              <a:t>W</a:t>
            </a:r>
          </a:p>
        </p:txBody>
      </p:sp>
      <mc:AlternateContent xmlns:mc="http://schemas.openxmlformats.org/markup-compatibility/2006" xmlns:a14="http://schemas.microsoft.com/office/drawing/2010/main">
        <mc:Choice Requires="a14">
          <p:sp>
            <p:nvSpPr>
              <p:cNvPr id="21" name="ZoneTexte 20">
                <a:extLst>
                  <a:ext uri="{FF2B5EF4-FFF2-40B4-BE49-F238E27FC236}">
                    <a16:creationId xmlns:a16="http://schemas.microsoft.com/office/drawing/2014/main" id="{4AD541F7-F8B4-CFB3-9021-E75297A5713A}"/>
                  </a:ext>
                </a:extLst>
              </p:cNvPr>
              <p:cNvSpPr txBox="1"/>
              <p:nvPr/>
            </p:nvSpPr>
            <p:spPr>
              <a:xfrm>
                <a:off x="875432" y="3272526"/>
                <a:ext cx="22916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sub>
                      </m:sSub>
                    </m:oMath>
                  </m:oMathPara>
                </a14:m>
                <a:endParaRPr lang="en-GB" sz="1600" dirty="0"/>
              </a:p>
            </p:txBody>
          </p:sp>
        </mc:Choice>
        <mc:Fallback xmlns="">
          <p:sp>
            <p:nvSpPr>
              <p:cNvPr id="21" name="ZoneTexte 20">
                <a:extLst>
                  <a:ext uri="{FF2B5EF4-FFF2-40B4-BE49-F238E27FC236}">
                    <a16:creationId xmlns:a16="http://schemas.microsoft.com/office/drawing/2014/main" id="{4AD541F7-F8B4-CFB3-9021-E75297A5713A}"/>
                  </a:ext>
                </a:extLst>
              </p:cNvPr>
              <p:cNvSpPr txBox="1">
                <a:spLocks noRot="1" noChangeAspect="1" noMove="1" noResize="1" noEditPoints="1" noAdjustHandles="1" noChangeArrowheads="1" noChangeShapeType="1" noTextEdit="1"/>
              </p:cNvSpPr>
              <p:nvPr/>
            </p:nvSpPr>
            <p:spPr>
              <a:xfrm>
                <a:off x="875432" y="3272526"/>
                <a:ext cx="229165" cy="246221"/>
              </a:xfrm>
              <a:prstGeom prst="rect">
                <a:avLst/>
              </a:prstGeom>
              <a:blipFill>
                <a:blip r:embed="rId7"/>
                <a:stretch>
                  <a:fillRect l="-27778" t="-15000" r="-5556" b="-25000"/>
                </a:stretch>
              </a:blipFill>
            </p:spPr>
            <p:txBody>
              <a:bodyPr/>
              <a:lstStyle/>
              <a:p>
                <a:r>
                  <a:rPr lang="en-GB">
                    <a:noFill/>
                  </a:rPr>
                  <a:t> </a:t>
                </a:r>
              </a:p>
            </p:txBody>
          </p:sp>
        </mc:Fallback>
      </mc:AlternateContent>
      <p:cxnSp>
        <p:nvCxnSpPr>
          <p:cNvPr id="23" name="Connecteur droit avec flèche 22">
            <a:extLst>
              <a:ext uri="{FF2B5EF4-FFF2-40B4-BE49-F238E27FC236}">
                <a16:creationId xmlns:a16="http://schemas.microsoft.com/office/drawing/2014/main" id="{B6B34398-0CC2-7963-E9F3-508F5B0552A0}"/>
              </a:ext>
            </a:extLst>
          </p:cNvPr>
          <p:cNvCxnSpPr>
            <a:cxnSpLocks/>
          </p:cNvCxnSpPr>
          <p:nvPr/>
        </p:nvCxnSpPr>
        <p:spPr>
          <a:xfrm flipV="1">
            <a:off x="993404" y="3850333"/>
            <a:ext cx="3962" cy="252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ZoneTexte 24">
            <a:extLst>
              <a:ext uri="{FF2B5EF4-FFF2-40B4-BE49-F238E27FC236}">
                <a16:creationId xmlns:a16="http://schemas.microsoft.com/office/drawing/2014/main" id="{677D6055-3EEA-14BD-BB7D-21C89C0EFFA5}"/>
              </a:ext>
            </a:extLst>
          </p:cNvPr>
          <p:cNvSpPr txBox="1"/>
          <p:nvPr/>
        </p:nvSpPr>
        <p:spPr>
          <a:xfrm>
            <a:off x="1053370" y="3876334"/>
            <a:ext cx="304800" cy="307777"/>
          </a:xfrm>
          <a:prstGeom prst="rect">
            <a:avLst/>
          </a:prstGeom>
          <a:noFill/>
        </p:spPr>
        <p:txBody>
          <a:bodyPr wrap="square" rtlCol="0">
            <a:spAutoFit/>
          </a:bodyPr>
          <a:lstStyle/>
          <a:p>
            <a:r>
              <a:rPr lang="en-GB" sz="1400" b="1" dirty="0">
                <a:solidFill>
                  <a:srgbClr val="0070C0"/>
                </a:solidFill>
              </a:rPr>
              <a:t>V</a:t>
            </a:r>
          </a:p>
        </p:txBody>
      </p:sp>
      <mc:AlternateContent xmlns:mc="http://schemas.openxmlformats.org/markup-compatibility/2006" xmlns:a14="http://schemas.microsoft.com/office/drawing/2010/main">
        <mc:Choice Requires="a14">
          <p:sp>
            <p:nvSpPr>
              <p:cNvPr id="28" name="ZoneTexte 27">
                <a:extLst>
                  <a:ext uri="{FF2B5EF4-FFF2-40B4-BE49-F238E27FC236}">
                    <a16:creationId xmlns:a16="http://schemas.microsoft.com/office/drawing/2014/main" id="{AA0FF1AE-9162-C984-4386-A7353917FE4F}"/>
                  </a:ext>
                </a:extLst>
              </p:cNvPr>
              <p:cNvSpPr txBox="1"/>
              <p:nvPr/>
            </p:nvSpPr>
            <p:spPr>
              <a:xfrm>
                <a:off x="879548" y="2885031"/>
                <a:ext cx="22897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solidFill>
                                <a:srgbClr val="C00000"/>
                              </a:solidFill>
                              <a:latin typeface="Cambria Math" panose="02040503050406030204" pitchFamily="18" charset="0"/>
                            </a:rPr>
                          </m:ctrlPr>
                        </m:sSubPr>
                        <m:e>
                          <m:r>
                            <a:rPr lang="fr-FR" sz="1600" b="0" i="1" smtClean="0">
                              <a:solidFill>
                                <a:srgbClr val="C00000"/>
                              </a:solidFill>
                              <a:latin typeface="Cambria Math" panose="02040503050406030204" pitchFamily="18" charset="0"/>
                            </a:rPr>
                            <m:t>𝐿</m:t>
                          </m:r>
                        </m:e>
                        <m:sub>
                          <m:r>
                            <a:rPr lang="fr-FR" sz="1600" b="0" i="1" smtClean="0">
                              <a:solidFill>
                                <a:srgbClr val="C00000"/>
                              </a:solidFill>
                              <a:latin typeface="Cambria Math" panose="02040503050406030204" pitchFamily="18" charset="0"/>
                            </a:rPr>
                            <m:t>𝑡</m:t>
                          </m:r>
                        </m:sub>
                      </m:sSub>
                    </m:oMath>
                  </m:oMathPara>
                </a14:m>
                <a:endParaRPr lang="en-GB" sz="1600" dirty="0">
                  <a:solidFill>
                    <a:srgbClr val="C00000"/>
                  </a:solidFill>
                </a:endParaRPr>
              </a:p>
            </p:txBody>
          </p:sp>
        </mc:Choice>
        <mc:Fallback xmlns="">
          <p:sp>
            <p:nvSpPr>
              <p:cNvPr id="28" name="ZoneTexte 27">
                <a:extLst>
                  <a:ext uri="{FF2B5EF4-FFF2-40B4-BE49-F238E27FC236}">
                    <a16:creationId xmlns:a16="http://schemas.microsoft.com/office/drawing/2014/main" id="{AA0FF1AE-9162-C984-4386-A7353917FE4F}"/>
                  </a:ext>
                </a:extLst>
              </p:cNvPr>
              <p:cNvSpPr txBox="1">
                <a:spLocks noRot="1" noChangeAspect="1" noMove="1" noResize="1" noEditPoints="1" noAdjustHandles="1" noChangeArrowheads="1" noChangeShapeType="1" noTextEdit="1"/>
              </p:cNvSpPr>
              <p:nvPr/>
            </p:nvSpPr>
            <p:spPr>
              <a:xfrm>
                <a:off x="879548" y="2885031"/>
                <a:ext cx="228972" cy="246221"/>
              </a:xfrm>
              <a:prstGeom prst="rect">
                <a:avLst/>
              </a:prstGeom>
              <a:blipFill>
                <a:blip r:embed="rId8"/>
                <a:stretch>
                  <a:fillRect l="-21053" r="-5263" b="-1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ZoneTexte 28">
                <a:extLst>
                  <a:ext uri="{FF2B5EF4-FFF2-40B4-BE49-F238E27FC236}">
                    <a16:creationId xmlns:a16="http://schemas.microsoft.com/office/drawing/2014/main" id="{7A969F1B-A6B7-332A-F245-F15A8472AF71}"/>
                  </a:ext>
                </a:extLst>
              </p:cNvPr>
              <p:cNvSpPr txBox="1"/>
              <p:nvPr/>
            </p:nvSpPr>
            <p:spPr>
              <a:xfrm>
                <a:off x="887158" y="3605790"/>
                <a:ext cx="22243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𝑜</m:t>
                          </m:r>
                        </m:e>
                        <m:sub>
                          <m:r>
                            <a:rPr lang="fr-FR" sz="1600" b="0" i="1" smtClean="0">
                              <a:latin typeface="Cambria Math" panose="02040503050406030204" pitchFamily="18" charset="0"/>
                            </a:rPr>
                            <m:t>𝑡</m:t>
                          </m:r>
                        </m:sub>
                      </m:sSub>
                    </m:oMath>
                  </m:oMathPara>
                </a14:m>
                <a:endParaRPr lang="en-GB" sz="1600" dirty="0"/>
              </a:p>
            </p:txBody>
          </p:sp>
        </mc:Choice>
        <mc:Fallback xmlns="">
          <p:sp>
            <p:nvSpPr>
              <p:cNvPr id="29" name="ZoneTexte 28">
                <a:extLst>
                  <a:ext uri="{FF2B5EF4-FFF2-40B4-BE49-F238E27FC236}">
                    <a16:creationId xmlns:a16="http://schemas.microsoft.com/office/drawing/2014/main" id="{7A969F1B-A6B7-332A-F245-F15A8472AF71}"/>
                  </a:ext>
                </a:extLst>
              </p:cNvPr>
              <p:cNvSpPr txBox="1">
                <a:spLocks noRot="1" noChangeAspect="1" noMove="1" noResize="1" noEditPoints="1" noAdjustHandles="1" noChangeArrowheads="1" noChangeShapeType="1" noTextEdit="1"/>
              </p:cNvSpPr>
              <p:nvPr/>
            </p:nvSpPr>
            <p:spPr>
              <a:xfrm>
                <a:off x="887158" y="3605790"/>
                <a:ext cx="222433" cy="246221"/>
              </a:xfrm>
              <a:prstGeom prst="rect">
                <a:avLst/>
              </a:prstGeom>
              <a:blipFill>
                <a:blip r:embed="rId9"/>
                <a:stretch>
                  <a:fillRect l="-16667" r="-5556" b="-10000"/>
                </a:stretch>
              </a:blipFill>
            </p:spPr>
            <p:txBody>
              <a:bodyPr/>
              <a:lstStyle/>
              <a:p>
                <a:r>
                  <a:rPr lang="en-GB">
                    <a:noFill/>
                  </a:rPr>
                  <a:t> </a:t>
                </a:r>
              </a:p>
            </p:txBody>
          </p:sp>
        </mc:Fallback>
      </mc:AlternateContent>
      <p:cxnSp>
        <p:nvCxnSpPr>
          <p:cNvPr id="30" name="Connecteur droit avec flèche 29">
            <a:extLst>
              <a:ext uri="{FF2B5EF4-FFF2-40B4-BE49-F238E27FC236}">
                <a16:creationId xmlns:a16="http://schemas.microsoft.com/office/drawing/2014/main" id="{6C07275E-C538-B0D9-D902-FE4AB2383A45}"/>
              </a:ext>
            </a:extLst>
          </p:cNvPr>
          <p:cNvCxnSpPr>
            <a:cxnSpLocks/>
          </p:cNvCxnSpPr>
          <p:nvPr/>
        </p:nvCxnSpPr>
        <p:spPr>
          <a:xfrm flipV="1">
            <a:off x="995079" y="3530464"/>
            <a:ext cx="3962" cy="144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Connecteur droit avec flèche 30">
            <a:extLst>
              <a:ext uri="{FF2B5EF4-FFF2-40B4-BE49-F238E27FC236}">
                <a16:creationId xmlns:a16="http://schemas.microsoft.com/office/drawing/2014/main" id="{C9F85663-19AB-5BBB-D892-3B7914A9435A}"/>
              </a:ext>
            </a:extLst>
          </p:cNvPr>
          <p:cNvCxnSpPr>
            <a:cxnSpLocks/>
          </p:cNvCxnSpPr>
          <p:nvPr/>
        </p:nvCxnSpPr>
        <p:spPr>
          <a:xfrm flipV="1">
            <a:off x="996755" y="3140257"/>
            <a:ext cx="3962" cy="144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ZoneTexte 31">
                <a:extLst>
                  <a:ext uri="{FF2B5EF4-FFF2-40B4-BE49-F238E27FC236}">
                    <a16:creationId xmlns:a16="http://schemas.microsoft.com/office/drawing/2014/main" id="{21BE91E8-26CB-2AE9-4DC2-08C0FC962244}"/>
                  </a:ext>
                </a:extLst>
              </p:cNvPr>
              <p:cNvSpPr txBox="1"/>
              <p:nvPr/>
            </p:nvSpPr>
            <p:spPr>
              <a:xfrm>
                <a:off x="897203" y="2460294"/>
                <a:ext cx="22916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𝑦</m:t>
                          </m:r>
                        </m:e>
                        <m:sub>
                          <m:r>
                            <a:rPr lang="fr-FR" sz="1600" b="0" i="1" smtClean="0">
                              <a:latin typeface="Cambria Math" panose="02040503050406030204" pitchFamily="18" charset="0"/>
                            </a:rPr>
                            <m:t>𝑡</m:t>
                          </m:r>
                        </m:sub>
                      </m:sSub>
                    </m:oMath>
                  </m:oMathPara>
                </a14:m>
                <a:endParaRPr lang="en-GB" sz="1600" dirty="0"/>
              </a:p>
            </p:txBody>
          </p:sp>
        </mc:Choice>
        <mc:Fallback xmlns="">
          <p:sp>
            <p:nvSpPr>
              <p:cNvPr id="32" name="ZoneTexte 31">
                <a:extLst>
                  <a:ext uri="{FF2B5EF4-FFF2-40B4-BE49-F238E27FC236}">
                    <a16:creationId xmlns:a16="http://schemas.microsoft.com/office/drawing/2014/main" id="{21BE91E8-26CB-2AE9-4DC2-08C0FC962244}"/>
                  </a:ext>
                </a:extLst>
              </p:cNvPr>
              <p:cNvSpPr txBox="1">
                <a:spLocks noRot="1" noChangeAspect="1" noMove="1" noResize="1" noEditPoints="1" noAdjustHandles="1" noChangeArrowheads="1" noChangeShapeType="1" noTextEdit="1"/>
              </p:cNvSpPr>
              <p:nvPr/>
            </p:nvSpPr>
            <p:spPr>
              <a:xfrm>
                <a:off x="897203" y="2460294"/>
                <a:ext cx="229165" cy="246221"/>
              </a:xfrm>
              <a:prstGeom prst="rect">
                <a:avLst/>
              </a:prstGeom>
              <a:blipFill>
                <a:blip r:embed="rId10"/>
                <a:stretch>
                  <a:fillRect l="-21053" r="-5263" b="-19048"/>
                </a:stretch>
              </a:blipFill>
            </p:spPr>
            <p:txBody>
              <a:bodyPr/>
              <a:lstStyle/>
              <a:p>
                <a:r>
                  <a:rPr lang="en-GB">
                    <a:noFill/>
                  </a:rPr>
                  <a:t> </a:t>
                </a:r>
              </a:p>
            </p:txBody>
          </p:sp>
        </mc:Fallback>
      </mc:AlternateContent>
      <p:cxnSp>
        <p:nvCxnSpPr>
          <p:cNvPr id="33" name="Connecteur droit avec flèche 32">
            <a:extLst>
              <a:ext uri="{FF2B5EF4-FFF2-40B4-BE49-F238E27FC236}">
                <a16:creationId xmlns:a16="http://schemas.microsoft.com/office/drawing/2014/main" id="{3EA67E40-9D3D-C4BC-7337-F64B9886F7AF}"/>
              </a:ext>
            </a:extLst>
          </p:cNvPr>
          <p:cNvCxnSpPr>
            <a:cxnSpLocks/>
          </p:cNvCxnSpPr>
          <p:nvPr/>
        </p:nvCxnSpPr>
        <p:spPr>
          <a:xfrm rot="-300000" flipH="1">
            <a:off x="1002392" y="2747693"/>
            <a:ext cx="21492" cy="1804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ZoneTexte 33">
                <a:extLst>
                  <a:ext uri="{FF2B5EF4-FFF2-40B4-BE49-F238E27FC236}">
                    <a16:creationId xmlns:a16="http://schemas.microsoft.com/office/drawing/2014/main" id="{DD18B9FA-8F27-1155-68B2-2930200F3B72}"/>
                  </a:ext>
                </a:extLst>
              </p:cNvPr>
              <p:cNvSpPr txBox="1"/>
              <p:nvPr/>
            </p:nvSpPr>
            <p:spPr>
              <a:xfrm>
                <a:off x="868394" y="4127333"/>
                <a:ext cx="23378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sub>
                      </m:sSub>
                    </m:oMath>
                  </m:oMathPara>
                </a14:m>
                <a:endParaRPr lang="en-GB" sz="1600" dirty="0"/>
              </a:p>
            </p:txBody>
          </p:sp>
        </mc:Choice>
        <mc:Fallback xmlns="">
          <p:sp>
            <p:nvSpPr>
              <p:cNvPr id="34" name="ZoneTexte 33">
                <a:extLst>
                  <a:ext uri="{FF2B5EF4-FFF2-40B4-BE49-F238E27FC236}">
                    <a16:creationId xmlns:a16="http://schemas.microsoft.com/office/drawing/2014/main" id="{DD18B9FA-8F27-1155-68B2-2930200F3B72}"/>
                  </a:ext>
                </a:extLst>
              </p:cNvPr>
              <p:cNvSpPr txBox="1">
                <a:spLocks noRot="1" noChangeAspect="1" noMove="1" noResize="1" noEditPoints="1" noAdjustHandles="1" noChangeArrowheads="1" noChangeShapeType="1" noTextEdit="1"/>
              </p:cNvSpPr>
              <p:nvPr/>
            </p:nvSpPr>
            <p:spPr>
              <a:xfrm>
                <a:off x="868394" y="4127333"/>
                <a:ext cx="233782" cy="246221"/>
              </a:xfrm>
              <a:prstGeom prst="rect">
                <a:avLst/>
              </a:prstGeom>
              <a:blipFill>
                <a:blip r:embed="rId11"/>
                <a:stretch>
                  <a:fillRect l="-21053" r="-5263" b="-14286"/>
                </a:stretch>
              </a:blipFill>
            </p:spPr>
            <p:txBody>
              <a:bodyPr/>
              <a:lstStyle/>
              <a:p>
                <a:r>
                  <a:rPr lang="en-GB">
                    <a:noFill/>
                  </a:rPr>
                  <a:t> </a:t>
                </a:r>
              </a:p>
            </p:txBody>
          </p:sp>
        </mc:Fallback>
      </mc:AlternateContent>
      <p:cxnSp>
        <p:nvCxnSpPr>
          <p:cNvPr id="37" name="Connecteur droit 36">
            <a:extLst>
              <a:ext uri="{FF2B5EF4-FFF2-40B4-BE49-F238E27FC236}">
                <a16:creationId xmlns:a16="http://schemas.microsoft.com/office/drawing/2014/main" id="{E5414759-23D4-5244-966D-58A28F54EC8F}"/>
              </a:ext>
            </a:extLst>
          </p:cNvPr>
          <p:cNvCxnSpPr>
            <a:stCxn id="9" idx="1"/>
            <a:endCxn id="9" idx="3"/>
          </p:cNvCxnSpPr>
          <p:nvPr/>
        </p:nvCxnSpPr>
        <p:spPr>
          <a:xfrm>
            <a:off x="700211" y="4506637"/>
            <a:ext cx="558800" cy="0"/>
          </a:xfrm>
          <a:prstGeom prst="line">
            <a:avLst/>
          </a:prstGeom>
          <a:ln w="12700"/>
        </p:spPr>
        <p:style>
          <a:lnRef idx="2">
            <a:schemeClr val="accent1"/>
          </a:lnRef>
          <a:fillRef idx="0">
            <a:schemeClr val="accent1"/>
          </a:fillRef>
          <a:effectRef idx="1">
            <a:schemeClr val="accent1"/>
          </a:effectRef>
          <a:fontRef idx="minor">
            <a:schemeClr val="tx1"/>
          </a:fontRef>
        </p:style>
      </p:cxnSp>
      <p:sp>
        <p:nvSpPr>
          <p:cNvPr id="38" name="Rectangle 37">
            <a:extLst>
              <a:ext uri="{FF2B5EF4-FFF2-40B4-BE49-F238E27FC236}">
                <a16:creationId xmlns:a16="http://schemas.microsoft.com/office/drawing/2014/main" id="{336ACC78-DCE2-FE86-09CB-E59F1096C235}"/>
              </a:ext>
            </a:extLst>
          </p:cNvPr>
          <p:cNvSpPr/>
          <p:nvPr/>
        </p:nvSpPr>
        <p:spPr>
          <a:xfrm>
            <a:off x="4428066" y="2583404"/>
            <a:ext cx="406400" cy="345334"/>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468081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975BA-1035-5C9A-3550-FCDF5E39240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5EE176D-575A-79CD-B34F-7BFB6C60E3A0}"/>
              </a:ext>
            </a:extLst>
          </p:cNvPr>
          <p:cNvSpPr>
            <a:spLocks noGrp="1"/>
          </p:cNvSpPr>
          <p:nvPr>
            <p:ph type="title"/>
          </p:nvPr>
        </p:nvSpPr>
        <p:spPr/>
        <p:txBody>
          <a:bodyPr/>
          <a:lstStyle/>
          <a:p>
            <a:pPr algn="ctr"/>
            <a:r>
              <a:rPr lang="en-GB" noProof="0" dirty="0"/>
              <a:t>Recurrent Neural Networks</a:t>
            </a:r>
          </a:p>
        </p:txBody>
      </p:sp>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BCECE7D7-40A8-8318-7E45-AD3E63E4F692}"/>
                  </a:ext>
                </a:extLst>
              </p:cNvPr>
              <p:cNvSpPr txBox="1"/>
              <p:nvPr/>
            </p:nvSpPr>
            <p:spPr>
              <a:xfrm>
                <a:off x="838200" y="1318020"/>
                <a:ext cx="8703365" cy="1023136"/>
              </a:xfrm>
              <a:prstGeom prst="rect">
                <a:avLst/>
              </a:prstGeom>
              <a:noFill/>
            </p:spPr>
            <p:txBody>
              <a:bodyPr wrap="square" lIns="90000" rtlCol="0">
                <a:noAutofit/>
              </a:bodyPr>
              <a:lstStyle/>
              <a:p>
                <a:r>
                  <a:rPr lang="en-GB" sz="2400" b="1" dirty="0">
                    <a:latin typeface="ui-sans-serif"/>
                  </a:rPr>
                  <a:t>Backpropagation Through Time (BPTT)</a:t>
                </a:r>
                <a:endParaRPr lang="en-GB" sz="2400" b="1" dirty="0">
                  <a:solidFill>
                    <a:schemeClr val="accent4"/>
                  </a:solidFill>
                  <a:latin typeface="ui-sans-serif"/>
                </a:endParaRPr>
              </a:p>
              <a:p>
                <a:r>
                  <a:rPr lang="en-GB" sz="1600" dirty="0">
                    <a:latin typeface="ui-sans-serif"/>
                  </a:rPr>
                  <a:t>Demonstration of the gradient's calculation with </a:t>
                </a:r>
                <a14:m>
                  <m:oMath xmlns:m="http://schemas.openxmlformats.org/officeDocument/2006/math">
                    <m:r>
                      <a:rPr lang="en-GB" sz="2400" b="0" i="1" noProof="0" smtClean="0">
                        <a:solidFill>
                          <a:schemeClr val="tx1"/>
                        </a:solidFill>
                        <a:latin typeface="Cambria Math" panose="02040503050406030204" pitchFamily="18" charset="0"/>
                      </a:rPr>
                      <m:t>𝑔</m:t>
                    </m:r>
                  </m:oMath>
                </a14:m>
                <a:r>
                  <a:rPr lang="en-GB" sz="2400" dirty="0">
                    <a:latin typeface="ui-sans-serif"/>
                  </a:rPr>
                  <a:t> </a:t>
                </a:r>
                <a:r>
                  <a:rPr lang="en-GB" sz="1600" dirty="0">
                    <a:latin typeface="ui-sans-serif"/>
                  </a:rPr>
                  <a:t>softmax function and </a:t>
                </a:r>
                <a14:m>
                  <m:oMath xmlns:m="http://schemas.openxmlformats.org/officeDocument/2006/math">
                    <m:r>
                      <a:rPr lang="fr-FR" sz="2400" b="0" i="1" smtClean="0">
                        <a:latin typeface="Cambria Math" panose="02040503050406030204" pitchFamily="18" charset="0"/>
                      </a:rPr>
                      <m:t>𝑓</m:t>
                    </m:r>
                  </m:oMath>
                </a14:m>
                <a:r>
                  <a:rPr lang="en-GB" sz="2400" dirty="0">
                    <a:latin typeface="ui-sans-serif"/>
                  </a:rPr>
                  <a:t> </a:t>
                </a:r>
                <a:r>
                  <a:rPr lang="en-GB" sz="1600" dirty="0">
                    <a:latin typeface="ui-sans-serif"/>
                  </a:rPr>
                  <a:t>tanh</a:t>
                </a:r>
              </a:p>
            </p:txBody>
          </p:sp>
        </mc:Choice>
        <mc:Fallback xmlns="">
          <p:sp>
            <p:nvSpPr>
              <p:cNvPr id="4" name="ZoneTexte 3">
                <a:extLst>
                  <a:ext uri="{FF2B5EF4-FFF2-40B4-BE49-F238E27FC236}">
                    <a16:creationId xmlns:a16="http://schemas.microsoft.com/office/drawing/2014/main" id="{BCECE7D7-40A8-8318-7E45-AD3E63E4F692}"/>
                  </a:ext>
                </a:extLst>
              </p:cNvPr>
              <p:cNvSpPr txBox="1">
                <a:spLocks noRot="1" noChangeAspect="1" noMove="1" noResize="1" noEditPoints="1" noAdjustHandles="1" noChangeArrowheads="1" noChangeShapeType="1" noTextEdit="1"/>
              </p:cNvSpPr>
              <p:nvPr/>
            </p:nvSpPr>
            <p:spPr>
              <a:xfrm>
                <a:off x="838200" y="1318020"/>
                <a:ext cx="8703365" cy="1023136"/>
              </a:xfrm>
              <a:prstGeom prst="rect">
                <a:avLst/>
              </a:prstGeom>
              <a:blipFill>
                <a:blip r:embed="rId3"/>
                <a:stretch>
                  <a:fillRect l="-1166" t="-4878"/>
                </a:stretch>
              </a:blipFill>
            </p:spPr>
            <p:txBody>
              <a:bodyPr/>
              <a:lstStyle/>
              <a:p>
                <a:r>
                  <a:rPr lang="en-GB">
                    <a:noFill/>
                  </a:rPr>
                  <a:t> </a:t>
                </a:r>
              </a:p>
            </p:txBody>
          </p:sp>
        </mc:Fallback>
      </mc:AlternateContent>
      <p:sp>
        <p:nvSpPr>
          <p:cNvPr id="83" name="Espace réservé du pied de page 2">
            <a:extLst>
              <a:ext uri="{FF2B5EF4-FFF2-40B4-BE49-F238E27FC236}">
                <a16:creationId xmlns:a16="http://schemas.microsoft.com/office/drawing/2014/main" id="{111B5D7D-56D2-7722-64D9-403ED2FECD83}"/>
              </a:ext>
            </a:extLst>
          </p:cNvPr>
          <p:cNvSpPr>
            <a:spLocks noGrp="1"/>
          </p:cNvSpPr>
          <p:nvPr>
            <p:ph type="ftr" sz="quarter" idx="11"/>
          </p:nvPr>
        </p:nvSpPr>
        <p:spPr>
          <a:xfrm>
            <a:off x="4038600" y="6356350"/>
            <a:ext cx="4549346" cy="365125"/>
          </a:xfrm>
        </p:spPr>
        <p:txBody>
          <a:bodyPr/>
          <a:lstStyle/>
          <a:p>
            <a:r>
              <a:rPr lang="en-GB" noProof="1"/>
              <a:t>RNN. Author: David Thébault – Based on NLPDemystified.org</a:t>
            </a:r>
          </a:p>
        </p:txBody>
      </p:sp>
      <mc:AlternateContent xmlns:mc="http://schemas.openxmlformats.org/markup-compatibility/2006" xmlns:a14="http://schemas.microsoft.com/office/drawing/2010/main">
        <mc:Choice Requires="a14">
          <p:sp>
            <p:nvSpPr>
              <p:cNvPr id="89" name="ZoneTexte 88">
                <a:extLst>
                  <a:ext uri="{FF2B5EF4-FFF2-40B4-BE49-F238E27FC236}">
                    <a16:creationId xmlns:a16="http://schemas.microsoft.com/office/drawing/2014/main" id="{737378E3-0359-B865-6D74-C9171A8B6FDB}"/>
                  </a:ext>
                </a:extLst>
              </p:cNvPr>
              <p:cNvSpPr txBox="1"/>
              <p:nvPr/>
            </p:nvSpPr>
            <p:spPr>
              <a:xfrm>
                <a:off x="1670023" y="2249617"/>
                <a:ext cx="9821766" cy="2091022"/>
              </a:xfrm>
              <a:prstGeom prst="rect">
                <a:avLst/>
              </a:prstGeom>
              <a:noFill/>
            </p:spPr>
            <p:txBody>
              <a:bodyPr wrap="square" lIns="0" tIns="0" rIns="0" bIns="0" rtlCol="0">
                <a:spAutoFit/>
              </a:bodyPr>
              <a:lstStyle/>
              <a:p>
                <a:endParaRPr lang="en-GB" sz="1600" dirty="0">
                  <a:latin typeface="Cambria Math" panose="02040503050406030204" pitchFamily="18" charset="0"/>
                  <a:ea typeface="Cambria Math" panose="02040503050406030204" pitchFamily="18" charset="0"/>
                </a:endParaRPr>
              </a:p>
              <a:p>
                <a:endParaRPr lang="en-GB" sz="1600" dirty="0"/>
              </a:p>
              <a:p>
                <a:endParaRPr lang="en-GB" sz="16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
                    </m:oMathParaPr>
                    <m:oMath xmlns:m="http://schemas.openxmlformats.org/officeDocument/2006/math">
                      <m:f>
                        <m:fPr>
                          <m:ctrlPr>
                            <a:rPr lang="fr-FR" sz="2000" i="1" dirty="0">
                              <a:solidFill>
                                <a:srgbClr val="0070C0"/>
                              </a:solidFill>
                              <a:latin typeface="Cambria Math" panose="02040503050406030204" pitchFamily="18" charset="0"/>
                              <a:ea typeface="Cambria Math" panose="02040503050406030204" pitchFamily="18" charset="0"/>
                            </a:rPr>
                          </m:ctrlPr>
                        </m:fPr>
                        <m:num>
                          <m:r>
                            <a:rPr lang="fr-FR" sz="2000" i="1" dirty="0">
                              <a:solidFill>
                                <a:srgbClr val="0070C0"/>
                              </a:solidFill>
                              <a:latin typeface="Cambria Math" panose="02040503050406030204" pitchFamily="18" charset="0"/>
                              <a:ea typeface="Cambria Math" panose="02040503050406030204" pitchFamily="18" charset="0"/>
                            </a:rPr>
                            <m:t>𝜕</m:t>
                          </m:r>
                          <m:sSub>
                            <m:sSubPr>
                              <m:ctrlPr>
                                <a:rPr lang="fr-FR" sz="2000" i="1" dirty="0">
                                  <a:solidFill>
                                    <a:srgbClr val="0070C0"/>
                                  </a:solidFill>
                                  <a:latin typeface="Cambria Math" panose="02040503050406030204" pitchFamily="18" charset="0"/>
                                  <a:ea typeface="Cambria Math" panose="02040503050406030204" pitchFamily="18" charset="0"/>
                                </a:rPr>
                              </m:ctrlPr>
                            </m:sSubPr>
                            <m:e>
                              <m:r>
                                <a:rPr lang="fr-FR" sz="2000" i="1" dirty="0">
                                  <a:solidFill>
                                    <a:srgbClr val="0070C0"/>
                                  </a:solidFill>
                                  <a:latin typeface="Cambria Math" panose="02040503050406030204" pitchFamily="18" charset="0"/>
                                  <a:ea typeface="Cambria Math" panose="02040503050406030204" pitchFamily="18" charset="0"/>
                                </a:rPr>
                                <m:t>𝐿</m:t>
                              </m:r>
                            </m:e>
                            <m:sub>
                              <m:r>
                                <a:rPr lang="fr-FR" sz="2000" i="1" dirty="0">
                                  <a:solidFill>
                                    <a:srgbClr val="0070C0"/>
                                  </a:solidFill>
                                  <a:latin typeface="Cambria Math" panose="02040503050406030204" pitchFamily="18" charset="0"/>
                                  <a:ea typeface="Cambria Math" panose="02040503050406030204" pitchFamily="18" charset="0"/>
                                </a:rPr>
                                <m:t>𝑡</m:t>
                              </m:r>
                            </m:sub>
                          </m:sSub>
                        </m:num>
                        <m:den>
                          <m:r>
                            <a:rPr lang="fr-FR" sz="2000" i="1" dirty="0">
                              <a:solidFill>
                                <a:srgbClr val="0070C0"/>
                              </a:solidFill>
                              <a:latin typeface="Cambria Math" panose="02040503050406030204" pitchFamily="18" charset="0"/>
                              <a:ea typeface="Cambria Math" panose="02040503050406030204" pitchFamily="18" charset="0"/>
                            </a:rPr>
                            <m:t>𝜕</m:t>
                          </m:r>
                          <m:r>
                            <a:rPr lang="fr-FR" sz="2000" i="1" dirty="0">
                              <a:solidFill>
                                <a:srgbClr val="0070C0"/>
                              </a:solidFill>
                              <a:latin typeface="Cambria Math" panose="02040503050406030204" pitchFamily="18" charset="0"/>
                              <a:ea typeface="Cambria Math" panose="02040503050406030204" pitchFamily="18" charset="0"/>
                            </a:rPr>
                            <m:t>𝑊</m:t>
                          </m:r>
                        </m:den>
                      </m:f>
                      <m:r>
                        <a:rPr lang="fr-FR" sz="2000" i="1" dirty="0">
                          <a:solidFill>
                            <a:srgbClr val="0070C0"/>
                          </a:solidFill>
                          <a:latin typeface="Cambria Math" panose="02040503050406030204" pitchFamily="18" charset="0"/>
                          <a:ea typeface="Cambria Math" panose="02040503050406030204" pitchFamily="18" charset="0"/>
                        </a:rPr>
                        <m:t>=</m:t>
                      </m:r>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acc>
                            <m:accPr>
                              <m:chr m:val="̂"/>
                              <m:ctrlPr>
                                <a:rPr lang="fr-FR" sz="2000" i="1" dirty="0">
                                  <a:latin typeface="Cambria Math" panose="02040503050406030204" pitchFamily="18" charset="0"/>
                                  <a:ea typeface="Cambria Math" panose="02040503050406030204" pitchFamily="18" charset="0"/>
                                </a:rPr>
                              </m:ctrlPr>
                            </m:accPr>
                            <m:e>
                              <m:r>
                                <a:rPr lang="fr-FR" sz="2000" i="1" dirty="0">
                                  <a:latin typeface="Cambria Math" panose="02040503050406030204" pitchFamily="18" charset="0"/>
                                  <a:ea typeface="Cambria Math" panose="02040503050406030204" pitchFamily="18" charset="0"/>
                                </a:rPr>
                                <m:t>𝑦</m:t>
                              </m:r>
                            </m:e>
                          </m:acc>
                        </m:e>
                        <m:sub>
                          <m:r>
                            <a:rPr lang="fr-FR" sz="2000" i="1" dirty="0">
                              <a:latin typeface="Cambria Math" panose="02040503050406030204" pitchFamily="18" charset="0"/>
                              <a:ea typeface="Cambria Math" panose="02040503050406030204" pitchFamily="18" charset="0"/>
                            </a:rPr>
                            <m:t>𝑡</m:t>
                          </m:r>
                        </m:sub>
                      </m:sSub>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𝑦</m:t>
                          </m:r>
                        </m:e>
                        <m:sub>
                          <m:r>
                            <a:rPr lang="fr-FR" sz="2000" i="1" dirty="0">
                              <a:latin typeface="Cambria Math" panose="02040503050406030204" pitchFamily="18" charset="0"/>
                              <a:ea typeface="Cambria Math" panose="02040503050406030204" pitchFamily="18" charset="0"/>
                            </a:rPr>
                            <m:t>𝑡</m:t>
                          </m:r>
                        </m:sub>
                      </m:sSub>
                      <m:r>
                        <a:rPr lang="fr-FR" sz="2000" i="1" dirty="0">
                          <a:latin typeface="Cambria Math" panose="02040503050406030204" pitchFamily="18" charset="0"/>
                          <a:ea typeface="Cambria Math" panose="02040503050406030204" pitchFamily="18" charset="0"/>
                        </a:rPr>
                        <m:t>)</m:t>
                      </m:r>
                      <m:sSubSup>
                        <m:sSubSupPr>
                          <m:ctrlPr>
                            <a:rPr lang="fr-FR" sz="2000" i="1" dirty="0">
                              <a:latin typeface="Cambria Math" panose="02040503050406030204" pitchFamily="18" charset="0"/>
                              <a:ea typeface="Cambria Math" panose="02040503050406030204" pitchFamily="18" charset="0"/>
                            </a:rPr>
                          </m:ctrlPr>
                        </m:sSubSupPr>
                        <m:e>
                          <m:r>
                            <a:rPr lang="fr-FR" sz="2000" i="1" dirty="0">
                              <a:latin typeface="Cambria Math" panose="02040503050406030204" pitchFamily="18" charset="0"/>
                              <a:ea typeface="Cambria Math" panose="02040503050406030204" pitchFamily="18" charset="0"/>
                            </a:rPr>
                            <m:t>h</m:t>
                          </m:r>
                        </m:e>
                        <m:sub>
                          <m:r>
                            <a:rPr lang="fr-FR" sz="2000" i="1" dirty="0">
                              <a:latin typeface="Cambria Math" panose="02040503050406030204" pitchFamily="18" charset="0"/>
                              <a:ea typeface="Cambria Math" panose="02040503050406030204" pitchFamily="18" charset="0"/>
                            </a:rPr>
                            <m:t>𝑡</m:t>
                          </m:r>
                        </m:sub>
                        <m:sup>
                          <m:r>
                            <a:rPr lang="fr-FR" sz="2000" i="1" dirty="0">
                              <a:latin typeface="Cambria Math" panose="02040503050406030204" pitchFamily="18" charset="0"/>
                              <a:ea typeface="Cambria Math" panose="02040503050406030204" pitchFamily="18" charset="0"/>
                            </a:rPr>
                            <m:t>𝑇</m:t>
                          </m:r>
                        </m:sup>
                      </m:sSubSup>
                      <m:nary>
                        <m:naryPr>
                          <m:chr m:val="∑"/>
                          <m:ctrlPr>
                            <a:rPr lang="fr-FR" sz="2000" i="1" dirty="0">
                              <a:latin typeface="Cambria Math" panose="02040503050406030204" pitchFamily="18" charset="0"/>
                              <a:ea typeface="Cambria Math" panose="02040503050406030204" pitchFamily="18" charset="0"/>
                            </a:rPr>
                          </m:ctrlPr>
                        </m:naryPr>
                        <m:sub>
                          <m:r>
                            <m:rPr>
                              <m:brk m:alnAt="23"/>
                            </m:rPr>
                            <a:rPr lang="fr-FR" sz="2000" i="1" dirty="0">
                              <a:latin typeface="Cambria Math" panose="02040503050406030204" pitchFamily="18" charset="0"/>
                              <a:ea typeface="Cambria Math" panose="02040503050406030204" pitchFamily="18" charset="0"/>
                            </a:rPr>
                            <m:t>𝑟</m:t>
                          </m:r>
                          <m:r>
                            <a:rPr lang="fr-FR" sz="2000" i="1" dirty="0">
                              <a:latin typeface="Cambria Math" panose="02040503050406030204" pitchFamily="18" charset="0"/>
                              <a:ea typeface="Cambria Math" panose="02040503050406030204" pitchFamily="18" charset="0"/>
                            </a:rPr>
                            <m:t>=1</m:t>
                          </m:r>
                        </m:sub>
                        <m:sup>
                          <m:r>
                            <a:rPr lang="fr-FR" sz="2000" i="1" dirty="0">
                              <a:latin typeface="Cambria Math" panose="02040503050406030204" pitchFamily="18" charset="0"/>
                              <a:ea typeface="Cambria Math" panose="02040503050406030204" pitchFamily="18" charset="0"/>
                            </a:rPr>
                            <m:t>𝑡</m:t>
                          </m:r>
                        </m:sup>
                        <m:e>
                          <m:f>
                            <m:fPr>
                              <m:ctrlPr>
                                <a:rPr lang="fr-FR" sz="2000" i="1" dirty="0">
                                  <a:latin typeface="Cambria Math" panose="02040503050406030204" pitchFamily="18" charset="0"/>
                                  <a:ea typeface="Cambria Math" panose="02040503050406030204" pitchFamily="18" charset="0"/>
                                </a:rPr>
                              </m:ctrlPr>
                            </m:fPr>
                            <m:num>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h</m:t>
                                  </m:r>
                                </m:e>
                                <m:sub>
                                  <m:r>
                                    <a:rPr lang="fr-FR" sz="2000" i="1" dirty="0">
                                      <a:latin typeface="Cambria Math" panose="02040503050406030204" pitchFamily="18" charset="0"/>
                                      <a:ea typeface="Cambria Math" panose="02040503050406030204" pitchFamily="18" charset="0"/>
                                    </a:rPr>
                                    <m:t>𝑡</m:t>
                                  </m:r>
                                </m:sub>
                              </m:sSub>
                            </m:num>
                            <m:den>
                              <m:r>
                                <a:rPr lang="fr-FR" sz="2000" i="1" dirty="0">
                                  <a:latin typeface="Cambria Math" panose="02040503050406030204" pitchFamily="18" charset="0"/>
                                  <a:ea typeface="Cambria Math" panose="02040503050406030204" pitchFamily="18" charset="0"/>
                                </a:rPr>
                                <m:t>𝜕</m:t>
                              </m:r>
                              <m:sSub>
                                <m:sSubPr>
                                  <m:ctrlPr>
                                    <a:rPr lang="fr-FR" sz="2000" i="1" dirty="0">
                                      <a:latin typeface="Cambria Math" panose="02040503050406030204" pitchFamily="18" charset="0"/>
                                      <a:ea typeface="Cambria Math" panose="02040503050406030204" pitchFamily="18" charset="0"/>
                                    </a:rPr>
                                  </m:ctrlPr>
                                </m:sSubPr>
                                <m:e>
                                  <m:r>
                                    <a:rPr lang="fr-FR" sz="2000" i="1" dirty="0">
                                      <a:latin typeface="Cambria Math" panose="02040503050406030204" pitchFamily="18" charset="0"/>
                                      <a:ea typeface="Cambria Math" panose="02040503050406030204" pitchFamily="18" charset="0"/>
                                    </a:rPr>
                                    <m:t>h</m:t>
                                  </m:r>
                                </m:e>
                                <m:sub>
                                  <m:r>
                                    <a:rPr lang="fr-FR" sz="2000" i="1" dirty="0">
                                      <a:latin typeface="Cambria Math" panose="02040503050406030204" pitchFamily="18" charset="0"/>
                                      <a:ea typeface="Cambria Math" panose="02040503050406030204" pitchFamily="18" charset="0"/>
                                    </a:rPr>
                                    <m:t>𝑟</m:t>
                                  </m:r>
                                </m:sub>
                              </m:sSub>
                            </m:den>
                          </m:f>
                          <m:f>
                            <m:fPr>
                              <m:ctrlPr>
                                <a:rPr lang="fr-FR" sz="2000" i="1" dirty="0">
                                  <a:latin typeface="Cambria Math" panose="02040503050406030204" pitchFamily="18" charset="0"/>
                                  <a:ea typeface="Cambria Math" panose="02040503050406030204" pitchFamily="18" charset="0"/>
                                </a:rPr>
                              </m:ctrlPr>
                            </m:fPr>
                            <m:num>
                              <m:r>
                                <a:rPr lang="fr-FR" sz="2000" i="1" dirty="0">
                                  <a:latin typeface="Cambria Math" panose="02040503050406030204" pitchFamily="18" charset="0"/>
                                  <a:ea typeface="Cambria Math" panose="02040503050406030204" pitchFamily="18" charset="0"/>
                                </a:rPr>
                                <m:t>𝜕</m:t>
                              </m:r>
                              <m:sSub>
                                <m:sSubPr>
                                  <m:ctrlPr>
                                    <a:rPr lang="en-GB" sz="2000" i="1">
                                      <a:latin typeface="Cambria Math" panose="02040503050406030204" pitchFamily="18" charset="0"/>
                                      <a:ea typeface="Cambria Math" panose="02040503050406030204" pitchFamily="18" charset="0"/>
                                    </a:rPr>
                                  </m:ctrlPr>
                                </m:sSubPr>
                                <m:e>
                                  <m:r>
                                    <a:rPr lang="en-GB" sz="2000" i="1">
                                      <a:latin typeface="Cambria Math" panose="02040503050406030204" pitchFamily="18" charset="0"/>
                                      <a:ea typeface="Cambria Math" panose="02040503050406030204" pitchFamily="18" charset="0"/>
                                    </a:rPr>
                                    <m:t>h</m:t>
                                  </m:r>
                                </m:e>
                                <m:sub>
                                  <m:r>
                                    <a:rPr lang="fr-FR" sz="2000" i="1">
                                      <a:latin typeface="Cambria Math" panose="02040503050406030204" pitchFamily="18" charset="0"/>
                                      <a:ea typeface="Cambria Math" panose="02040503050406030204" pitchFamily="18" charset="0"/>
                                    </a:rPr>
                                    <m:t>𝑟</m:t>
                                  </m:r>
                                </m:sub>
                              </m:sSub>
                            </m:num>
                            <m:den>
                              <m:r>
                                <a:rPr lang="fr-FR" sz="2000" i="1" dirty="0">
                                  <a:latin typeface="Cambria Math" panose="02040503050406030204" pitchFamily="18" charset="0"/>
                                  <a:ea typeface="Cambria Math" panose="02040503050406030204" pitchFamily="18" charset="0"/>
                                </a:rPr>
                                <m:t>𝜕</m:t>
                              </m:r>
                              <m:r>
                                <a:rPr lang="fr-FR" sz="2000" i="1" dirty="0">
                                  <a:latin typeface="Cambria Math" panose="02040503050406030204" pitchFamily="18" charset="0"/>
                                  <a:ea typeface="Cambria Math" panose="02040503050406030204" pitchFamily="18" charset="0"/>
                                </a:rPr>
                                <m:t>𝑊</m:t>
                              </m:r>
                            </m:den>
                          </m:f>
                        </m:e>
                      </m:nary>
                    </m:oMath>
                  </m:oMathPara>
                </a14:m>
                <a:endParaRPr lang="en-GB" sz="1600" i="1" dirty="0">
                  <a:latin typeface="Cambria Math" panose="02040503050406030204" pitchFamily="18" charset="0"/>
                  <a:ea typeface="Cambria Math" panose="02040503050406030204" pitchFamily="18" charset="0"/>
                </a:endParaRPr>
              </a:p>
              <a:p>
                <a:endParaRPr lang="en-GB" sz="1600" i="1" dirty="0">
                  <a:latin typeface="Cambria Math" panose="02040503050406030204" pitchFamily="18" charset="0"/>
                  <a:ea typeface="Cambria Math" panose="02040503050406030204" pitchFamily="18" charset="0"/>
                </a:endParaRPr>
              </a:p>
              <a:p>
                <a:pPr algn="ctr"/>
                <a:endParaRPr lang="en-GB" sz="1600" i="1" noProof="0" dirty="0">
                  <a:latin typeface="Cambria Math" panose="02040503050406030204" pitchFamily="18" charset="0"/>
                  <a:ea typeface="Cambria Math" panose="02040503050406030204" pitchFamily="18" charset="0"/>
                </a:endParaRPr>
              </a:p>
            </p:txBody>
          </p:sp>
        </mc:Choice>
        <mc:Fallback xmlns="">
          <p:sp>
            <p:nvSpPr>
              <p:cNvPr id="89" name="ZoneTexte 88">
                <a:extLst>
                  <a:ext uri="{FF2B5EF4-FFF2-40B4-BE49-F238E27FC236}">
                    <a16:creationId xmlns:a16="http://schemas.microsoft.com/office/drawing/2014/main" id="{737378E3-0359-B865-6D74-C9171A8B6FDB}"/>
                  </a:ext>
                </a:extLst>
              </p:cNvPr>
              <p:cNvSpPr txBox="1">
                <a:spLocks noRot="1" noChangeAspect="1" noMove="1" noResize="1" noEditPoints="1" noAdjustHandles="1" noChangeArrowheads="1" noChangeShapeType="1" noTextEdit="1"/>
              </p:cNvSpPr>
              <p:nvPr/>
            </p:nvSpPr>
            <p:spPr>
              <a:xfrm>
                <a:off x="1670023" y="2249617"/>
                <a:ext cx="9821766" cy="2091022"/>
              </a:xfrm>
              <a:prstGeom prst="rect">
                <a:avLst/>
              </a:prstGeom>
              <a:blipFill>
                <a:blip r:embed="rId4"/>
                <a:stretch>
                  <a:fillRect t="-12727" b="-490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1EEEF2D6-2C5F-8709-3D4E-0195076C332B}"/>
                  </a:ext>
                </a:extLst>
              </p:cNvPr>
              <p:cNvSpPr txBox="1"/>
              <p:nvPr/>
            </p:nvSpPr>
            <p:spPr>
              <a:xfrm>
                <a:off x="1010631" y="4260024"/>
                <a:ext cx="42934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Sub>
                    </m:oMath>
                  </m:oMathPara>
                </a14:m>
                <a:endParaRPr lang="en-GB" sz="1600" dirty="0"/>
              </a:p>
            </p:txBody>
          </p:sp>
        </mc:Choice>
        <mc:Fallback xmlns="">
          <p:sp>
            <p:nvSpPr>
              <p:cNvPr id="5" name="ZoneTexte 4">
                <a:extLst>
                  <a:ext uri="{FF2B5EF4-FFF2-40B4-BE49-F238E27FC236}">
                    <a16:creationId xmlns:a16="http://schemas.microsoft.com/office/drawing/2014/main" id="{1EEEF2D6-2C5F-8709-3D4E-0195076C332B}"/>
                  </a:ext>
                </a:extLst>
              </p:cNvPr>
              <p:cNvSpPr txBox="1">
                <a:spLocks noRot="1" noChangeAspect="1" noMove="1" noResize="1" noEditPoints="1" noAdjustHandles="1" noChangeArrowheads="1" noChangeShapeType="1" noTextEdit="1"/>
              </p:cNvSpPr>
              <p:nvPr/>
            </p:nvSpPr>
            <p:spPr>
              <a:xfrm>
                <a:off x="1010631" y="4260024"/>
                <a:ext cx="429348" cy="246221"/>
              </a:xfrm>
              <a:prstGeom prst="rect">
                <a:avLst/>
              </a:prstGeom>
              <a:blipFill>
                <a:blip r:embed="rId5"/>
                <a:stretch>
                  <a:fillRect l="-11429" r="-5714"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CBA36F1E-7693-A451-6306-68E070D48304}"/>
                  </a:ext>
                </a:extLst>
              </p:cNvPr>
              <p:cNvSpPr txBox="1"/>
              <p:nvPr/>
            </p:nvSpPr>
            <p:spPr>
              <a:xfrm>
                <a:off x="1552257" y="5409180"/>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sub>
                      </m:sSub>
                    </m:oMath>
                  </m:oMathPara>
                </a14:m>
                <a:endParaRPr lang="en-GB" sz="1600" dirty="0"/>
              </a:p>
            </p:txBody>
          </p:sp>
        </mc:Choice>
        <mc:Fallback xmlns="">
          <p:sp>
            <p:nvSpPr>
              <p:cNvPr id="8" name="ZoneTexte 7">
                <a:extLst>
                  <a:ext uri="{FF2B5EF4-FFF2-40B4-BE49-F238E27FC236}">
                    <a16:creationId xmlns:a16="http://schemas.microsoft.com/office/drawing/2014/main" id="{CBA36F1E-7693-A451-6306-68E070D48304}"/>
                  </a:ext>
                </a:extLst>
              </p:cNvPr>
              <p:cNvSpPr txBox="1">
                <a:spLocks noRot="1" noChangeAspect="1" noMove="1" noResize="1" noEditPoints="1" noAdjustHandles="1" noChangeArrowheads="1" noChangeShapeType="1" noTextEdit="1"/>
              </p:cNvSpPr>
              <p:nvPr/>
            </p:nvSpPr>
            <p:spPr>
              <a:xfrm>
                <a:off x="1552257" y="5409180"/>
                <a:ext cx="424732" cy="246221"/>
              </a:xfrm>
              <a:prstGeom prst="rect">
                <a:avLst/>
              </a:prstGeom>
              <a:blipFill>
                <a:blip r:embed="rId6"/>
                <a:stretch>
                  <a:fillRect b="-9524"/>
                </a:stretch>
              </a:blipFill>
            </p:spPr>
            <p:txBody>
              <a:bodyPr/>
              <a:lstStyle/>
              <a:p>
                <a:r>
                  <a:rPr lang="en-GB">
                    <a:noFill/>
                  </a:rPr>
                  <a:t> </a:t>
                </a:r>
              </a:p>
            </p:txBody>
          </p:sp>
        </mc:Fallback>
      </mc:AlternateContent>
      <p:sp>
        <p:nvSpPr>
          <p:cNvPr id="9" name="Rectangle : coins arrondis 8">
            <a:extLst>
              <a:ext uri="{FF2B5EF4-FFF2-40B4-BE49-F238E27FC236}">
                <a16:creationId xmlns:a16="http://schemas.microsoft.com/office/drawing/2014/main" id="{3BA554F0-FF8F-B2E1-7B8E-72B2E5ECDF17}"/>
              </a:ext>
            </a:extLst>
          </p:cNvPr>
          <p:cNvSpPr/>
          <p:nvPr/>
        </p:nvSpPr>
        <p:spPr>
          <a:xfrm>
            <a:off x="1481261" y="4125637"/>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2" name="Connecteur droit avec flèche 11">
            <a:extLst>
              <a:ext uri="{FF2B5EF4-FFF2-40B4-BE49-F238E27FC236}">
                <a16:creationId xmlns:a16="http://schemas.microsoft.com/office/drawing/2014/main" id="{AF809E72-26F1-9B3E-0E77-75A8891DEDB1}"/>
              </a:ext>
            </a:extLst>
          </p:cNvPr>
          <p:cNvCxnSpPr>
            <a:cxnSpLocks/>
            <a:stCxn id="8" idx="0"/>
            <a:endCxn id="9" idx="2"/>
          </p:cNvCxnSpPr>
          <p:nvPr/>
        </p:nvCxnSpPr>
        <p:spPr>
          <a:xfrm flipH="1" flipV="1">
            <a:off x="1760661" y="4887637"/>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necteur droit avec flèche 13">
            <a:extLst>
              <a:ext uri="{FF2B5EF4-FFF2-40B4-BE49-F238E27FC236}">
                <a16:creationId xmlns:a16="http://schemas.microsoft.com/office/drawing/2014/main" id="{56B9797E-48B0-32C9-0918-CD2A3DA83E7E}"/>
              </a:ext>
            </a:extLst>
          </p:cNvPr>
          <p:cNvCxnSpPr>
            <a:cxnSpLocks/>
          </p:cNvCxnSpPr>
          <p:nvPr/>
        </p:nvCxnSpPr>
        <p:spPr>
          <a:xfrm>
            <a:off x="1130067" y="4635451"/>
            <a:ext cx="324000"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69D7BD3A-F605-7E06-D742-0745690E2BCA}"/>
              </a:ext>
            </a:extLst>
          </p:cNvPr>
          <p:cNvSpPr txBox="1"/>
          <p:nvPr/>
        </p:nvSpPr>
        <p:spPr>
          <a:xfrm>
            <a:off x="1816541" y="4951375"/>
            <a:ext cx="304800" cy="307777"/>
          </a:xfrm>
          <a:prstGeom prst="rect">
            <a:avLst/>
          </a:prstGeom>
          <a:noFill/>
        </p:spPr>
        <p:txBody>
          <a:bodyPr wrap="square" rtlCol="0">
            <a:spAutoFit/>
          </a:bodyPr>
          <a:lstStyle/>
          <a:p>
            <a:r>
              <a:rPr lang="en-GB" sz="1400" b="1" dirty="0">
                <a:solidFill>
                  <a:srgbClr val="0070C0"/>
                </a:solidFill>
              </a:rPr>
              <a:t>U</a:t>
            </a:r>
          </a:p>
        </p:txBody>
      </p:sp>
      <p:sp>
        <p:nvSpPr>
          <p:cNvPr id="18" name="ZoneTexte 17">
            <a:extLst>
              <a:ext uri="{FF2B5EF4-FFF2-40B4-BE49-F238E27FC236}">
                <a16:creationId xmlns:a16="http://schemas.microsoft.com/office/drawing/2014/main" id="{0A6817CA-1E25-4551-DEE2-81CA25905E0F}"/>
              </a:ext>
            </a:extLst>
          </p:cNvPr>
          <p:cNvSpPr txBox="1"/>
          <p:nvPr/>
        </p:nvSpPr>
        <p:spPr>
          <a:xfrm>
            <a:off x="1072983" y="4643598"/>
            <a:ext cx="304800" cy="307777"/>
          </a:xfrm>
          <a:prstGeom prst="rect">
            <a:avLst/>
          </a:prstGeom>
          <a:noFill/>
        </p:spPr>
        <p:txBody>
          <a:bodyPr wrap="square" rtlCol="0">
            <a:spAutoFit/>
          </a:bodyPr>
          <a:lstStyle/>
          <a:p>
            <a:r>
              <a:rPr lang="en-GB" sz="1400" b="1" dirty="0">
                <a:solidFill>
                  <a:srgbClr val="0070C0"/>
                </a:solidFill>
              </a:rPr>
              <a:t>W</a:t>
            </a:r>
          </a:p>
        </p:txBody>
      </p:sp>
      <mc:AlternateContent xmlns:mc="http://schemas.openxmlformats.org/markup-compatibility/2006" xmlns:a14="http://schemas.microsoft.com/office/drawing/2010/main">
        <mc:Choice Requires="a14">
          <p:sp>
            <p:nvSpPr>
              <p:cNvPr id="21" name="ZoneTexte 20">
                <a:extLst>
                  <a:ext uri="{FF2B5EF4-FFF2-40B4-BE49-F238E27FC236}">
                    <a16:creationId xmlns:a16="http://schemas.microsoft.com/office/drawing/2014/main" id="{36B17C31-165D-46F6-4E9A-D13F2790B073}"/>
                  </a:ext>
                </a:extLst>
              </p:cNvPr>
              <p:cNvSpPr txBox="1"/>
              <p:nvPr/>
            </p:nvSpPr>
            <p:spPr>
              <a:xfrm>
                <a:off x="1656482" y="3272526"/>
                <a:ext cx="22916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sub>
                      </m:sSub>
                    </m:oMath>
                  </m:oMathPara>
                </a14:m>
                <a:endParaRPr lang="en-GB" sz="1600" dirty="0"/>
              </a:p>
            </p:txBody>
          </p:sp>
        </mc:Choice>
        <mc:Fallback xmlns="">
          <p:sp>
            <p:nvSpPr>
              <p:cNvPr id="21" name="ZoneTexte 20">
                <a:extLst>
                  <a:ext uri="{FF2B5EF4-FFF2-40B4-BE49-F238E27FC236}">
                    <a16:creationId xmlns:a16="http://schemas.microsoft.com/office/drawing/2014/main" id="{36B17C31-165D-46F6-4E9A-D13F2790B073}"/>
                  </a:ext>
                </a:extLst>
              </p:cNvPr>
              <p:cNvSpPr txBox="1">
                <a:spLocks noRot="1" noChangeAspect="1" noMove="1" noResize="1" noEditPoints="1" noAdjustHandles="1" noChangeArrowheads="1" noChangeShapeType="1" noTextEdit="1"/>
              </p:cNvSpPr>
              <p:nvPr/>
            </p:nvSpPr>
            <p:spPr>
              <a:xfrm>
                <a:off x="1656482" y="3272526"/>
                <a:ext cx="229165" cy="246221"/>
              </a:xfrm>
              <a:prstGeom prst="rect">
                <a:avLst/>
              </a:prstGeom>
              <a:blipFill>
                <a:blip r:embed="rId7"/>
                <a:stretch>
                  <a:fillRect l="-21053" t="-15000" r="-5263" b="-25000"/>
                </a:stretch>
              </a:blipFill>
            </p:spPr>
            <p:txBody>
              <a:bodyPr/>
              <a:lstStyle/>
              <a:p>
                <a:r>
                  <a:rPr lang="en-GB">
                    <a:noFill/>
                  </a:rPr>
                  <a:t> </a:t>
                </a:r>
              </a:p>
            </p:txBody>
          </p:sp>
        </mc:Fallback>
      </mc:AlternateContent>
      <p:cxnSp>
        <p:nvCxnSpPr>
          <p:cNvPr id="23" name="Connecteur droit avec flèche 22">
            <a:extLst>
              <a:ext uri="{FF2B5EF4-FFF2-40B4-BE49-F238E27FC236}">
                <a16:creationId xmlns:a16="http://schemas.microsoft.com/office/drawing/2014/main" id="{C0F87628-D287-5533-BFB0-2B6CF9FCB77A}"/>
              </a:ext>
            </a:extLst>
          </p:cNvPr>
          <p:cNvCxnSpPr>
            <a:cxnSpLocks/>
          </p:cNvCxnSpPr>
          <p:nvPr/>
        </p:nvCxnSpPr>
        <p:spPr>
          <a:xfrm flipV="1">
            <a:off x="1774454" y="3850333"/>
            <a:ext cx="3962" cy="252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ZoneTexte 24">
            <a:extLst>
              <a:ext uri="{FF2B5EF4-FFF2-40B4-BE49-F238E27FC236}">
                <a16:creationId xmlns:a16="http://schemas.microsoft.com/office/drawing/2014/main" id="{B748FB88-F39F-A5DD-712C-CD6B049F1B7F}"/>
              </a:ext>
            </a:extLst>
          </p:cNvPr>
          <p:cNvSpPr txBox="1"/>
          <p:nvPr/>
        </p:nvSpPr>
        <p:spPr>
          <a:xfrm>
            <a:off x="1834420" y="3876334"/>
            <a:ext cx="304800" cy="307777"/>
          </a:xfrm>
          <a:prstGeom prst="rect">
            <a:avLst/>
          </a:prstGeom>
          <a:noFill/>
        </p:spPr>
        <p:txBody>
          <a:bodyPr wrap="square" rtlCol="0">
            <a:spAutoFit/>
          </a:bodyPr>
          <a:lstStyle/>
          <a:p>
            <a:r>
              <a:rPr lang="en-GB" sz="1400" b="1" dirty="0">
                <a:solidFill>
                  <a:srgbClr val="0070C0"/>
                </a:solidFill>
              </a:rPr>
              <a:t>V</a:t>
            </a:r>
          </a:p>
        </p:txBody>
      </p:sp>
      <mc:AlternateContent xmlns:mc="http://schemas.openxmlformats.org/markup-compatibility/2006" xmlns:a14="http://schemas.microsoft.com/office/drawing/2010/main">
        <mc:Choice Requires="a14">
          <p:sp>
            <p:nvSpPr>
              <p:cNvPr id="28" name="ZoneTexte 27">
                <a:extLst>
                  <a:ext uri="{FF2B5EF4-FFF2-40B4-BE49-F238E27FC236}">
                    <a16:creationId xmlns:a16="http://schemas.microsoft.com/office/drawing/2014/main" id="{BFA4DB78-8722-0EF0-1DCC-FFE98806162D}"/>
                  </a:ext>
                </a:extLst>
              </p:cNvPr>
              <p:cNvSpPr txBox="1"/>
              <p:nvPr/>
            </p:nvSpPr>
            <p:spPr>
              <a:xfrm>
                <a:off x="1660598" y="2885031"/>
                <a:ext cx="22897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solidFill>
                                <a:srgbClr val="C00000"/>
                              </a:solidFill>
                              <a:latin typeface="Cambria Math" panose="02040503050406030204" pitchFamily="18" charset="0"/>
                            </a:rPr>
                          </m:ctrlPr>
                        </m:sSubPr>
                        <m:e>
                          <m:r>
                            <a:rPr lang="fr-FR" sz="1600" b="0" i="1" smtClean="0">
                              <a:solidFill>
                                <a:srgbClr val="C00000"/>
                              </a:solidFill>
                              <a:latin typeface="Cambria Math" panose="02040503050406030204" pitchFamily="18" charset="0"/>
                            </a:rPr>
                            <m:t>𝐿</m:t>
                          </m:r>
                        </m:e>
                        <m:sub>
                          <m:r>
                            <a:rPr lang="fr-FR" sz="1600" b="0" i="1" smtClean="0">
                              <a:solidFill>
                                <a:srgbClr val="C00000"/>
                              </a:solidFill>
                              <a:latin typeface="Cambria Math" panose="02040503050406030204" pitchFamily="18" charset="0"/>
                            </a:rPr>
                            <m:t>𝑡</m:t>
                          </m:r>
                        </m:sub>
                      </m:sSub>
                    </m:oMath>
                  </m:oMathPara>
                </a14:m>
                <a:endParaRPr lang="en-GB" sz="1600" dirty="0">
                  <a:solidFill>
                    <a:srgbClr val="C00000"/>
                  </a:solidFill>
                </a:endParaRPr>
              </a:p>
            </p:txBody>
          </p:sp>
        </mc:Choice>
        <mc:Fallback xmlns="">
          <p:sp>
            <p:nvSpPr>
              <p:cNvPr id="28" name="ZoneTexte 27">
                <a:extLst>
                  <a:ext uri="{FF2B5EF4-FFF2-40B4-BE49-F238E27FC236}">
                    <a16:creationId xmlns:a16="http://schemas.microsoft.com/office/drawing/2014/main" id="{BFA4DB78-8722-0EF0-1DCC-FFE98806162D}"/>
                  </a:ext>
                </a:extLst>
              </p:cNvPr>
              <p:cNvSpPr txBox="1">
                <a:spLocks noRot="1" noChangeAspect="1" noMove="1" noResize="1" noEditPoints="1" noAdjustHandles="1" noChangeArrowheads="1" noChangeShapeType="1" noTextEdit="1"/>
              </p:cNvSpPr>
              <p:nvPr/>
            </p:nvSpPr>
            <p:spPr>
              <a:xfrm>
                <a:off x="1660598" y="2885031"/>
                <a:ext cx="228972" cy="246221"/>
              </a:xfrm>
              <a:prstGeom prst="rect">
                <a:avLst/>
              </a:prstGeom>
              <a:blipFill>
                <a:blip r:embed="rId8"/>
                <a:stretch>
                  <a:fillRect l="-21053" r="-5263" b="-1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ZoneTexte 28">
                <a:extLst>
                  <a:ext uri="{FF2B5EF4-FFF2-40B4-BE49-F238E27FC236}">
                    <a16:creationId xmlns:a16="http://schemas.microsoft.com/office/drawing/2014/main" id="{590387B1-2F4C-51CA-9DAB-99DFDB1CEA92}"/>
                  </a:ext>
                </a:extLst>
              </p:cNvPr>
              <p:cNvSpPr txBox="1"/>
              <p:nvPr/>
            </p:nvSpPr>
            <p:spPr>
              <a:xfrm>
                <a:off x="1668208" y="3605790"/>
                <a:ext cx="22243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𝑜</m:t>
                          </m:r>
                        </m:e>
                        <m:sub>
                          <m:r>
                            <a:rPr lang="fr-FR" sz="1600" b="0" i="1" smtClean="0">
                              <a:latin typeface="Cambria Math" panose="02040503050406030204" pitchFamily="18" charset="0"/>
                            </a:rPr>
                            <m:t>𝑡</m:t>
                          </m:r>
                        </m:sub>
                      </m:sSub>
                    </m:oMath>
                  </m:oMathPara>
                </a14:m>
                <a:endParaRPr lang="en-GB" sz="1600" dirty="0"/>
              </a:p>
            </p:txBody>
          </p:sp>
        </mc:Choice>
        <mc:Fallback xmlns="">
          <p:sp>
            <p:nvSpPr>
              <p:cNvPr id="29" name="ZoneTexte 28">
                <a:extLst>
                  <a:ext uri="{FF2B5EF4-FFF2-40B4-BE49-F238E27FC236}">
                    <a16:creationId xmlns:a16="http://schemas.microsoft.com/office/drawing/2014/main" id="{590387B1-2F4C-51CA-9DAB-99DFDB1CEA92}"/>
                  </a:ext>
                </a:extLst>
              </p:cNvPr>
              <p:cNvSpPr txBox="1">
                <a:spLocks noRot="1" noChangeAspect="1" noMove="1" noResize="1" noEditPoints="1" noAdjustHandles="1" noChangeArrowheads="1" noChangeShapeType="1" noTextEdit="1"/>
              </p:cNvSpPr>
              <p:nvPr/>
            </p:nvSpPr>
            <p:spPr>
              <a:xfrm>
                <a:off x="1668208" y="3605790"/>
                <a:ext cx="222433" cy="246221"/>
              </a:xfrm>
              <a:prstGeom prst="rect">
                <a:avLst/>
              </a:prstGeom>
              <a:blipFill>
                <a:blip r:embed="rId9"/>
                <a:stretch>
                  <a:fillRect l="-16667" r="-5556" b="-10000"/>
                </a:stretch>
              </a:blipFill>
            </p:spPr>
            <p:txBody>
              <a:bodyPr/>
              <a:lstStyle/>
              <a:p>
                <a:r>
                  <a:rPr lang="en-GB">
                    <a:noFill/>
                  </a:rPr>
                  <a:t> </a:t>
                </a:r>
              </a:p>
            </p:txBody>
          </p:sp>
        </mc:Fallback>
      </mc:AlternateContent>
      <p:cxnSp>
        <p:nvCxnSpPr>
          <p:cNvPr id="30" name="Connecteur droit avec flèche 29">
            <a:extLst>
              <a:ext uri="{FF2B5EF4-FFF2-40B4-BE49-F238E27FC236}">
                <a16:creationId xmlns:a16="http://schemas.microsoft.com/office/drawing/2014/main" id="{2F07EE2E-42B2-C043-F728-03EFA4632260}"/>
              </a:ext>
            </a:extLst>
          </p:cNvPr>
          <p:cNvCxnSpPr>
            <a:cxnSpLocks/>
          </p:cNvCxnSpPr>
          <p:nvPr/>
        </p:nvCxnSpPr>
        <p:spPr>
          <a:xfrm flipV="1">
            <a:off x="1776129" y="3530464"/>
            <a:ext cx="3962" cy="144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Connecteur droit avec flèche 30">
            <a:extLst>
              <a:ext uri="{FF2B5EF4-FFF2-40B4-BE49-F238E27FC236}">
                <a16:creationId xmlns:a16="http://schemas.microsoft.com/office/drawing/2014/main" id="{C79B2183-E0E1-35A5-4EB3-0C1750452C9E}"/>
              </a:ext>
            </a:extLst>
          </p:cNvPr>
          <p:cNvCxnSpPr>
            <a:cxnSpLocks/>
          </p:cNvCxnSpPr>
          <p:nvPr/>
        </p:nvCxnSpPr>
        <p:spPr>
          <a:xfrm flipV="1">
            <a:off x="1777805" y="3140257"/>
            <a:ext cx="3962" cy="144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ZoneTexte 31">
                <a:extLst>
                  <a:ext uri="{FF2B5EF4-FFF2-40B4-BE49-F238E27FC236}">
                    <a16:creationId xmlns:a16="http://schemas.microsoft.com/office/drawing/2014/main" id="{88080DB9-4FA7-DE29-09E0-E3E5BA774DB9}"/>
                  </a:ext>
                </a:extLst>
              </p:cNvPr>
              <p:cNvSpPr txBox="1"/>
              <p:nvPr/>
            </p:nvSpPr>
            <p:spPr>
              <a:xfrm>
                <a:off x="1678253" y="2460294"/>
                <a:ext cx="22916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𝑦</m:t>
                          </m:r>
                        </m:e>
                        <m:sub>
                          <m:r>
                            <a:rPr lang="fr-FR" sz="1600" b="0" i="1" smtClean="0">
                              <a:latin typeface="Cambria Math" panose="02040503050406030204" pitchFamily="18" charset="0"/>
                            </a:rPr>
                            <m:t>𝑡</m:t>
                          </m:r>
                        </m:sub>
                      </m:sSub>
                    </m:oMath>
                  </m:oMathPara>
                </a14:m>
                <a:endParaRPr lang="en-GB" sz="1600" dirty="0"/>
              </a:p>
            </p:txBody>
          </p:sp>
        </mc:Choice>
        <mc:Fallback xmlns="">
          <p:sp>
            <p:nvSpPr>
              <p:cNvPr id="32" name="ZoneTexte 31">
                <a:extLst>
                  <a:ext uri="{FF2B5EF4-FFF2-40B4-BE49-F238E27FC236}">
                    <a16:creationId xmlns:a16="http://schemas.microsoft.com/office/drawing/2014/main" id="{88080DB9-4FA7-DE29-09E0-E3E5BA774DB9}"/>
                  </a:ext>
                </a:extLst>
              </p:cNvPr>
              <p:cNvSpPr txBox="1">
                <a:spLocks noRot="1" noChangeAspect="1" noMove="1" noResize="1" noEditPoints="1" noAdjustHandles="1" noChangeArrowheads="1" noChangeShapeType="1" noTextEdit="1"/>
              </p:cNvSpPr>
              <p:nvPr/>
            </p:nvSpPr>
            <p:spPr>
              <a:xfrm>
                <a:off x="1678253" y="2460294"/>
                <a:ext cx="229165" cy="246221"/>
              </a:xfrm>
              <a:prstGeom prst="rect">
                <a:avLst/>
              </a:prstGeom>
              <a:blipFill>
                <a:blip r:embed="rId10"/>
                <a:stretch>
                  <a:fillRect l="-21053" r="-5263" b="-19048"/>
                </a:stretch>
              </a:blipFill>
            </p:spPr>
            <p:txBody>
              <a:bodyPr/>
              <a:lstStyle/>
              <a:p>
                <a:r>
                  <a:rPr lang="en-GB">
                    <a:noFill/>
                  </a:rPr>
                  <a:t> </a:t>
                </a:r>
              </a:p>
            </p:txBody>
          </p:sp>
        </mc:Fallback>
      </mc:AlternateContent>
      <p:cxnSp>
        <p:nvCxnSpPr>
          <p:cNvPr id="33" name="Connecteur droit avec flèche 32">
            <a:extLst>
              <a:ext uri="{FF2B5EF4-FFF2-40B4-BE49-F238E27FC236}">
                <a16:creationId xmlns:a16="http://schemas.microsoft.com/office/drawing/2014/main" id="{46BBD524-285C-42F1-9A4C-9997DB66C2CE}"/>
              </a:ext>
            </a:extLst>
          </p:cNvPr>
          <p:cNvCxnSpPr>
            <a:cxnSpLocks/>
          </p:cNvCxnSpPr>
          <p:nvPr/>
        </p:nvCxnSpPr>
        <p:spPr>
          <a:xfrm rot="-300000" flipH="1">
            <a:off x="1783442" y="2747693"/>
            <a:ext cx="21492" cy="1804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ZoneTexte 33">
                <a:extLst>
                  <a:ext uri="{FF2B5EF4-FFF2-40B4-BE49-F238E27FC236}">
                    <a16:creationId xmlns:a16="http://schemas.microsoft.com/office/drawing/2014/main" id="{415B9066-A5AF-BB99-683D-5E860B3CEB09}"/>
                  </a:ext>
                </a:extLst>
              </p:cNvPr>
              <p:cNvSpPr txBox="1"/>
              <p:nvPr/>
            </p:nvSpPr>
            <p:spPr>
              <a:xfrm>
                <a:off x="1649444" y="4127333"/>
                <a:ext cx="23378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sub>
                      </m:sSub>
                    </m:oMath>
                  </m:oMathPara>
                </a14:m>
                <a:endParaRPr lang="en-GB" sz="1600" dirty="0"/>
              </a:p>
            </p:txBody>
          </p:sp>
        </mc:Choice>
        <mc:Fallback xmlns="">
          <p:sp>
            <p:nvSpPr>
              <p:cNvPr id="34" name="ZoneTexte 33">
                <a:extLst>
                  <a:ext uri="{FF2B5EF4-FFF2-40B4-BE49-F238E27FC236}">
                    <a16:creationId xmlns:a16="http://schemas.microsoft.com/office/drawing/2014/main" id="{415B9066-A5AF-BB99-683D-5E860B3CEB09}"/>
                  </a:ext>
                </a:extLst>
              </p:cNvPr>
              <p:cNvSpPr txBox="1">
                <a:spLocks noRot="1" noChangeAspect="1" noMove="1" noResize="1" noEditPoints="1" noAdjustHandles="1" noChangeArrowheads="1" noChangeShapeType="1" noTextEdit="1"/>
              </p:cNvSpPr>
              <p:nvPr/>
            </p:nvSpPr>
            <p:spPr>
              <a:xfrm>
                <a:off x="1649444" y="4127333"/>
                <a:ext cx="233782" cy="246221"/>
              </a:xfrm>
              <a:prstGeom prst="rect">
                <a:avLst/>
              </a:prstGeom>
              <a:blipFill>
                <a:blip r:embed="rId11"/>
                <a:stretch>
                  <a:fillRect l="-26316" r="-5263" b="-14286"/>
                </a:stretch>
              </a:blipFill>
            </p:spPr>
            <p:txBody>
              <a:bodyPr/>
              <a:lstStyle/>
              <a:p>
                <a:r>
                  <a:rPr lang="en-GB">
                    <a:noFill/>
                  </a:rPr>
                  <a:t> </a:t>
                </a:r>
              </a:p>
            </p:txBody>
          </p:sp>
        </mc:Fallback>
      </mc:AlternateContent>
      <p:cxnSp>
        <p:nvCxnSpPr>
          <p:cNvPr id="37" name="Connecteur droit 36">
            <a:extLst>
              <a:ext uri="{FF2B5EF4-FFF2-40B4-BE49-F238E27FC236}">
                <a16:creationId xmlns:a16="http://schemas.microsoft.com/office/drawing/2014/main" id="{BF2A091F-D4D9-ED28-8CA3-AD4085DD105E}"/>
              </a:ext>
            </a:extLst>
          </p:cNvPr>
          <p:cNvCxnSpPr>
            <a:stCxn id="9" idx="1"/>
            <a:endCxn id="9" idx="3"/>
          </p:cNvCxnSpPr>
          <p:nvPr/>
        </p:nvCxnSpPr>
        <p:spPr>
          <a:xfrm>
            <a:off x="1481261" y="4506637"/>
            <a:ext cx="558800" cy="0"/>
          </a:xfrm>
          <a:prstGeom prst="line">
            <a:avLst/>
          </a:prstGeom>
          <a:ln w="12700"/>
        </p:spPr>
        <p:style>
          <a:lnRef idx="2">
            <a:schemeClr val="accent1"/>
          </a:lnRef>
          <a:fillRef idx="0">
            <a:schemeClr val="accent1"/>
          </a:fillRef>
          <a:effectRef idx="1">
            <a:schemeClr val="accent1"/>
          </a:effectRef>
          <a:fontRef idx="minor">
            <a:schemeClr val="tx1"/>
          </a:fontRef>
        </p:style>
      </p:cxnSp>
      <p:sp>
        <p:nvSpPr>
          <p:cNvPr id="38" name="Rectangle 37">
            <a:extLst>
              <a:ext uri="{FF2B5EF4-FFF2-40B4-BE49-F238E27FC236}">
                <a16:creationId xmlns:a16="http://schemas.microsoft.com/office/drawing/2014/main" id="{DAD2CCC3-ADF7-D968-359F-A5BE653763A0}"/>
              </a:ext>
            </a:extLst>
          </p:cNvPr>
          <p:cNvSpPr/>
          <p:nvPr/>
        </p:nvSpPr>
        <p:spPr>
          <a:xfrm>
            <a:off x="4428066" y="2583404"/>
            <a:ext cx="406400" cy="345334"/>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ZoneTexte 2">
            <a:extLst>
              <a:ext uri="{FF2B5EF4-FFF2-40B4-BE49-F238E27FC236}">
                <a16:creationId xmlns:a16="http://schemas.microsoft.com/office/drawing/2014/main" id="{43C03685-EE4C-4478-E6F1-8DA959CA672C}"/>
              </a:ext>
            </a:extLst>
          </p:cNvPr>
          <p:cNvSpPr txBox="1"/>
          <p:nvPr/>
        </p:nvSpPr>
        <p:spPr>
          <a:xfrm>
            <a:off x="5427981" y="4395785"/>
            <a:ext cx="1417319" cy="276999"/>
          </a:xfrm>
          <a:prstGeom prst="rect">
            <a:avLst/>
          </a:prstGeom>
          <a:noFill/>
        </p:spPr>
        <p:txBody>
          <a:bodyPr wrap="square" rtlCol="0">
            <a:spAutoFit/>
          </a:bodyPr>
          <a:lstStyle/>
          <a:p>
            <a:r>
              <a:rPr lang="en-GB" sz="1200" dirty="0">
                <a:latin typeface="Cambria Math" panose="02040503050406030204" pitchFamily="18" charset="0"/>
                <a:ea typeface="Cambria Math" panose="02040503050406030204" pitchFamily="18" charset="0"/>
              </a:rPr>
              <a:t>Direct impact of W</a:t>
            </a:r>
          </a:p>
        </p:txBody>
      </p:sp>
      <p:sp>
        <p:nvSpPr>
          <p:cNvPr id="6" name="ZoneTexte 5">
            <a:extLst>
              <a:ext uri="{FF2B5EF4-FFF2-40B4-BE49-F238E27FC236}">
                <a16:creationId xmlns:a16="http://schemas.microsoft.com/office/drawing/2014/main" id="{EF6F9887-5922-572A-C05D-A7AA82785B18}"/>
              </a:ext>
            </a:extLst>
          </p:cNvPr>
          <p:cNvSpPr txBox="1"/>
          <p:nvPr/>
        </p:nvSpPr>
        <p:spPr>
          <a:xfrm>
            <a:off x="6845300" y="4373554"/>
            <a:ext cx="2438400" cy="646331"/>
          </a:xfrm>
          <a:prstGeom prst="rect">
            <a:avLst/>
          </a:prstGeom>
          <a:noFill/>
        </p:spPr>
        <p:txBody>
          <a:bodyPr wrap="square" rtlCol="0">
            <a:spAutoFit/>
          </a:bodyPr>
          <a:lstStyle/>
          <a:p>
            <a:r>
              <a:rPr lang="en-GB" sz="1200" dirty="0">
                <a:latin typeface="Cambria Math" panose="02040503050406030204" pitchFamily="18" charset="0"/>
                <a:ea typeface="Cambria Math" panose="02040503050406030204" pitchFamily="18" charset="0"/>
              </a:rPr>
              <a:t>Recurrent term which shows that dependency accumulates through the time steps</a:t>
            </a:r>
          </a:p>
        </p:txBody>
      </p:sp>
      <p:sp>
        <p:nvSpPr>
          <p:cNvPr id="7" name="Accolade ouvrante 6">
            <a:extLst>
              <a:ext uri="{FF2B5EF4-FFF2-40B4-BE49-F238E27FC236}">
                <a16:creationId xmlns:a16="http://schemas.microsoft.com/office/drawing/2014/main" id="{2D7FABF6-858A-67BC-CC35-1C5FE15FDD6E}"/>
              </a:ext>
            </a:extLst>
          </p:cNvPr>
          <p:cNvSpPr/>
          <p:nvPr/>
        </p:nvSpPr>
        <p:spPr>
          <a:xfrm rot="16200000">
            <a:off x="6078854" y="3473042"/>
            <a:ext cx="368300" cy="116459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1" name="Accolade ouvrante 10">
            <a:extLst>
              <a:ext uri="{FF2B5EF4-FFF2-40B4-BE49-F238E27FC236}">
                <a16:creationId xmlns:a16="http://schemas.microsoft.com/office/drawing/2014/main" id="{8C741138-2808-FA91-BFF3-28CCE33E78BC}"/>
              </a:ext>
            </a:extLst>
          </p:cNvPr>
          <p:cNvSpPr/>
          <p:nvPr/>
        </p:nvSpPr>
        <p:spPr>
          <a:xfrm rot="16200000">
            <a:off x="7429320" y="3402723"/>
            <a:ext cx="368300" cy="1333867"/>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3" name="ZoneTexte 12">
            <a:extLst>
              <a:ext uri="{FF2B5EF4-FFF2-40B4-BE49-F238E27FC236}">
                <a16:creationId xmlns:a16="http://schemas.microsoft.com/office/drawing/2014/main" id="{CC4EBCEB-BCE4-BCE5-F5A9-0F3B1E1D0264}"/>
              </a:ext>
            </a:extLst>
          </p:cNvPr>
          <p:cNvSpPr txBox="1"/>
          <p:nvPr/>
        </p:nvSpPr>
        <p:spPr>
          <a:xfrm>
            <a:off x="2385271" y="5377874"/>
            <a:ext cx="9391850" cy="646331"/>
          </a:xfrm>
          <a:prstGeom prst="rect">
            <a:avLst/>
          </a:prstGeom>
          <a:noFill/>
        </p:spPr>
        <p:txBody>
          <a:bodyPr wrap="square" rtlCol="0">
            <a:spAutoFit/>
          </a:bodyPr>
          <a:lstStyle/>
          <a:p>
            <a:r>
              <a:rPr lang="en-GB" dirty="0">
                <a:latin typeface="Cambria Math" panose="02040503050406030204" pitchFamily="18" charset="0"/>
                <a:ea typeface="Cambria Math" panose="02040503050406030204" pitchFamily="18" charset="0"/>
              </a:rPr>
              <a:t>In Backpropagation Through Time, gradients accumulate themselves through the time steps. </a:t>
            </a:r>
          </a:p>
          <a:p>
            <a:r>
              <a:rPr lang="en-GB" dirty="0">
                <a:latin typeface="Cambria Math" panose="02040503050406030204" pitchFamily="18" charset="0"/>
                <a:ea typeface="Cambria Math" panose="02040503050406030204" pitchFamily="18" charset="0"/>
              </a:rPr>
              <a:t>In other words, the gradients propagate backward through time – this is the principle of BPTT</a:t>
            </a:r>
          </a:p>
        </p:txBody>
      </p:sp>
    </p:spTree>
    <p:extLst>
      <p:ext uri="{BB962C8B-B14F-4D97-AF65-F5344CB8AC3E}">
        <p14:creationId xmlns:p14="http://schemas.microsoft.com/office/powerpoint/2010/main" val="4698223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73A2C-CCC5-720F-4044-01A9BC2C88D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AD9D9D1-62DD-CE93-A023-2AFAF21F0A03}"/>
              </a:ext>
            </a:extLst>
          </p:cNvPr>
          <p:cNvSpPr>
            <a:spLocks noGrp="1"/>
          </p:cNvSpPr>
          <p:nvPr>
            <p:ph type="title"/>
          </p:nvPr>
        </p:nvSpPr>
        <p:spPr/>
        <p:txBody>
          <a:bodyPr/>
          <a:lstStyle/>
          <a:p>
            <a:pPr algn="ctr"/>
            <a:r>
              <a:rPr lang="en-GB" noProof="0" dirty="0"/>
              <a:t>Recurrent Neural Networks (RNN)</a:t>
            </a:r>
          </a:p>
        </p:txBody>
      </p:sp>
      <p:sp>
        <p:nvSpPr>
          <p:cNvPr id="4" name="Espace réservé du pied de page 2">
            <a:extLst>
              <a:ext uri="{FF2B5EF4-FFF2-40B4-BE49-F238E27FC236}">
                <a16:creationId xmlns:a16="http://schemas.microsoft.com/office/drawing/2014/main" id="{72A29D7C-F56C-254B-B251-BF7D0B63A8EE}"/>
              </a:ext>
            </a:extLst>
          </p:cNvPr>
          <p:cNvSpPr>
            <a:spLocks noGrp="1"/>
          </p:cNvSpPr>
          <p:nvPr>
            <p:ph type="ftr" sz="quarter" idx="11"/>
          </p:nvPr>
        </p:nvSpPr>
        <p:spPr>
          <a:xfrm>
            <a:off x="4038600" y="6356350"/>
            <a:ext cx="4549346" cy="365125"/>
          </a:xfrm>
        </p:spPr>
        <p:txBody>
          <a:bodyPr/>
          <a:lstStyle/>
          <a:p>
            <a:r>
              <a:rPr lang="en-GB" noProof="1"/>
              <a:t>RNN. Author: David Thébault – Based on NLPDemystified.org</a:t>
            </a:r>
          </a:p>
        </p:txBody>
      </p:sp>
      <p:sp>
        <p:nvSpPr>
          <p:cNvPr id="5" name="ZoneTexte 4">
            <a:extLst>
              <a:ext uri="{FF2B5EF4-FFF2-40B4-BE49-F238E27FC236}">
                <a16:creationId xmlns:a16="http://schemas.microsoft.com/office/drawing/2014/main" id="{CF87A07E-B928-8049-B637-8E6D818FB4CE}"/>
              </a:ext>
            </a:extLst>
          </p:cNvPr>
          <p:cNvSpPr txBox="1"/>
          <p:nvPr/>
        </p:nvSpPr>
        <p:spPr>
          <a:xfrm>
            <a:off x="838200" y="1318020"/>
            <a:ext cx="8703365" cy="1023136"/>
          </a:xfrm>
          <a:prstGeom prst="rect">
            <a:avLst/>
          </a:prstGeom>
          <a:noFill/>
        </p:spPr>
        <p:txBody>
          <a:bodyPr wrap="square" lIns="90000" rtlCol="0">
            <a:noAutofit/>
          </a:bodyPr>
          <a:lstStyle/>
          <a:p>
            <a:r>
              <a:rPr lang="en-GB" sz="3600" b="1" dirty="0">
                <a:latin typeface="ui-sans-serif"/>
              </a:rPr>
              <a:t>Benefits</a:t>
            </a:r>
            <a:endParaRPr lang="en-GB" sz="3600" b="1" dirty="0">
              <a:solidFill>
                <a:schemeClr val="accent4"/>
              </a:solidFill>
              <a:latin typeface="ui-sans-serif"/>
            </a:endParaRPr>
          </a:p>
        </p:txBody>
      </p:sp>
      <p:graphicFrame>
        <p:nvGraphicFramePr>
          <p:cNvPr id="6" name="Tableau 5">
            <a:extLst>
              <a:ext uri="{FF2B5EF4-FFF2-40B4-BE49-F238E27FC236}">
                <a16:creationId xmlns:a16="http://schemas.microsoft.com/office/drawing/2014/main" id="{88DEA0AE-A9D3-9CE8-045F-E796D27AFD6A}"/>
              </a:ext>
            </a:extLst>
          </p:cNvPr>
          <p:cNvGraphicFramePr>
            <a:graphicFrameLocks noGrp="1"/>
          </p:cNvGraphicFramePr>
          <p:nvPr>
            <p:extLst>
              <p:ext uri="{D42A27DB-BD31-4B8C-83A1-F6EECF244321}">
                <p14:modId xmlns:p14="http://schemas.microsoft.com/office/powerpoint/2010/main" val="1823789572"/>
              </p:ext>
            </p:extLst>
          </p:nvPr>
        </p:nvGraphicFramePr>
        <p:xfrm>
          <a:off x="1206500" y="2171700"/>
          <a:ext cx="8813800" cy="3607391"/>
        </p:xfrm>
        <a:graphic>
          <a:graphicData uri="http://schemas.openxmlformats.org/drawingml/2006/table">
            <a:tbl>
              <a:tblPr firstRow="1" bandRow="1">
                <a:tableStyleId>{5C22544A-7EE6-4342-B048-85BDC9FD1C3A}</a:tableStyleId>
              </a:tblPr>
              <a:tblGrid>
                <a:gridCol w="2203450">
                  <a:extLst>
                    <a:ext uri="{9D8B030D-6E8A-4147-A177-3AD203B41FA5}">
                      <a16:colId xmlns:a16="http://schemas.microsoft.com/office/drawing/2014/main" val="861267644"/>
                    </a:ext>
                  </a:extLst>
                </a:gridCol>
                <a:gridCol w="2203450">
                  <a:extLst>
                    <a:ext uri="{9D8B030D-6E8A-4147-A177-3AD203B41FA5}">
                      <a16:colId xmlns:a16="http://schemas.microsoft.com/office/drawing/2014/main" val="2115613298"/>
                    </a:ext>
                  </a:extLst>
                </a:gridCol>
                <a:gridCol w="2203450">
                  <a:extLst>
                    <a:ext uri="{9D8B030D-6E8A-4147-A177-3AD203B41FA5}">
                      <a16:colId xmlns:a16="http://schemas.microsoft.com/office/drawing/2014/main" val="3457209920"/>
                    </a:ext>
                  </a:extLst>
                </a:gridCol>
                <a:gridCol w="2203450">
                  <a:extLst>
                    <a:ext uri="{9D8B030D-6E8A-4147-A177-3AD203B41FA5}">
                      <a16:colId xmlns:a16="http://schemas.microsoft.com/office/drawing/2014/main" val="2756281358"/>
                    </a:ext>
                  </a:extLst>
                </a:gridCol>
              </a:tblGrid>
              <a:tr h="660400">
                <a:tc>
                  <a:txBody>
                    <a:bodyPr/>
                    <a:lstStyle/>
                    <a:p>
                      <a:endParaRPr lang="en-GB"/>
                    </a:p>
                  </a:txBody>
                  <a:tcPr/>
                </a:tc>
                <a:tc>
                  <a:txBody>
                    <a:bodyPr/>
                    <a:lstStyle/>
                    <a:p>
                      <a:pPr algn="ctr"/>
                      <a:r>
                        <a:rPr lang="en-GB" dirty="0"/>
                        <a:t>RNN</a:t>
                      </a:r>
                    </a:p>
                  </a:txBody>
                  <a:tcPr anchor="ctr"/>
                </a:tc>
                <a:tc>
                  <a:txBody>
                    <a:bodyPr/>
                    <a:lstStyle/>
                    <a:p>
                      <a:pPr algn="ctr"/>
                      <a:r>
                        <a:rPr lang="en-GB" dirty="0"/>
                        <a:t>Hidden Markov Models</a:t>
                      </a:r>
                    </a:p>
                  </a:txBody>
                  <a:tcPr anchor="ctr"/>
                </a:tc>
                <a:tc>
                  <a:txBody>
                    <a:bodyPr/>
                    <a:lstStyle/>
                    <a:p>
                      <a:pPr algn="ctr"/>
                      <a:r>
                        <a:rPr lang="en-GB" dirty="0"/>
                        <a:t>Plain Feedforward NN</a:t>
                      </a:r>
                    </a:p>
                  </a:txBody>
                  <a:tcPr anchor="ctr"/>
                </a:tc>
                <a:extLst>
                  <a:ext uri="{0D108BD9-81ED-4DB2-BD59-A6C34878D82A}">
                    <a16:rowId xmlns:a16="http://schemas.microsoft.com/office/drawing/2014/main" val="3553233290"/>
                  </a:ext>
                </a:extLst>
              </a:tr>
              <a:tr h="1016886">
                <a:tc>
                  <a:txBody>
                    <a:bodyPr/>
                    <a:lstStyle/>
                    <a:p>
                      <a:r>
                        <a:rPr lang="en-GB" b="1" dirty="0"/>
                        <a:t>Model sequential information</a:t>
                      </a:r>
                    </a:p>
                  </a:txBody>
                  <a:tcPr anchor="ctr"/>
                </a:tc>
                <a:tc>
                  <a:txBody>
                    <a:bodyPr/>
                    <a:lstStyle/>
                    <a:p>
                      <a:endParaRPr lang="en-GB"/>
                    </a:p>
                  </a:txBody>
                  <a:tcPr/>
                </a:tc>
                <a:tc>
                  <a:txBody>
                    <a:bodyPr/>
                    <a:lstStyle/>
                    <a:p>
                      <a:endParaRPr lang="en-GB" dirty="0"/>
                    </a:p>
                  </a:txBody>
                  <a:tcPr/>
                </a:tc>
                <a:tc>
                  <a:txBody>
                    <a:bodyPr/>
                    <a:lstStyle/>
                    <a:p>
                      <a:endParaRPr lang="en-GB"/>
                    </a:p>
                  </a:txBody>
                  <a:tcPr/>
                </a:tc>
                <a:extLst>
                  <a:ext uri="{0D108BD9-81ED-4DB2-BD59-A6C34878D82A}">
                    <a16:rowId xmlns:a16="http://schemas.microsoft.com/office/drawing/2014/main" val="1523766063"/>
                  </a:ext>
                </a:extLst>
              </a:tr>
              <a:tr h="1015705">
                <a:tc>
                  <a:txBody>
                    <a:bodyPr/>
                    <a:lstStyle/>
                    <a:p>
                      <a:r>
                        <a:rPr lang="en-GB" b="1" dirty="0"/>
                        <a:t>Handle variable length inputs</a:t>
                      </a:r>
                    </a:p>
                  </a:txBody>
                  <a:tcPr anchor="ct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1259683868"/>
                  </a:ext>
                </a:extLst>
              </a:tr>
              <a:tr h="660400">
                <a:tc>
                  <a:txBody>
                    <a:bodyPr/>
                    <a:lstStyle/>
                    <a:p>
                      <a:r>
                        <a:rPr lang="en-GB" b="1" dirty="0"/>
                        <a:t>Takes entire sequence into account</a:t>
                      </a:r>
                    </a:p>
                  </a:txBody>
                  <a:tcPr anchor="ctr"/>
                </a:tc>
                <a:tc>
                  <a:txBody>
                    <a:bodyPr/>
                    <a:lstStyle/>
                    <a:p>
                      <a:endParaRPr lang="en-GB"/>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1726222855"/>
                  </a:ext>
                </a:extLst>
              </a:tr>
            </a:tbl>
          </a:graphicData>
        </a:graphic>
      </p:graphicFrame>
      <p:pic>
        <p:nvPicPr>
          <p:cNvPr id="10" name="Graphique 9" descr="Case cochée avec un remplissage uni">
            <a:extLst>
              <a:ext uri="{FF2B5EF4-FFF2-40B4-BE49-F238E27FC236}">
                <a16:creationId xmlns:a16="http://schemas.microsoft.com/office/drawing/2014/main" id="{A2B03F75-0DB4-58ED-D7E3-3B015C0943F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66120" y="2891834"/>
            <a:ext cx="914400" cy="914400"/>
          </a:xfrm>
          <a:prstGeom prst="rect">
            <a:avLst/>
          </a:prstGeom>
        </p:spPr>
      </p:pic>
      <p:pic>
        <p:nvPicPr>
          <p:cNvPr id="12" name="Graphique 11" descr="Case cochée avec un remplissage uni">
            <a:extLst>
              <a:ext uri="{FF2B5EF4-FFF2-40B4-BE49-F238E27FC236}">
                <a16:creationId xmlns:a16="http://schemas.microsoft.com/office/drawing/2014/main" id="{2D3CB08F-CD59-39A8-11A8-4147C606DBA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36829" y="2895379"/>
            <a:ext cx="914400" cy="914400"/>
          </a:xfrm>
          <a:prstGeom prst="rect">
            <a:avLst/>
          </a:prstGeom>
        </p:spPr>
      </p:pic>
      <p:pic>
        <p:nvPicPr>
          <p:cNvPr id="14" name="Graphique 13" descr="Case cochée avec un remplissage uni">
            <a:extLst>
              <a:ext uri="{FF2B5EF4-FFF2-40B4-BE49-F238E27FC236}">
                <a16:creationId xmlns:a16="http://schemas.microsoft.com/office/drawing/2014/main" id="{348F88EA-0242-D929-FD40-523448D80F0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40374" y="3834585"/>
            <a:ext cx="914400" cy="914400"/>
          </a:xfrm>
          <a:prstGeom prst="rect">
            <a:avLst/>
          </a:prstGeom>
        </p:spPr>
      </p:pic>
      <p:pic>
        <p:nvPicPr>
          <p:cNvPr id="15" name="Graphique 14" descr="Case cochée avec un remplissage uni">
            <a:extLst>
              <a:ext uri="{FF2B5EF4-FFF2-40B4-BE49-F238E27FC236}">
                <a16:creationId xmlns:a16="http://schemas.microsoft.com/office/drawing/2014/main" id="{E6FFF095-CACE-02E4-7CE9-F2709EC4173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43919" y="4816320"/>
            <a:ext cx="914400" cy="914400"/>
          </a:xfrm>
          <a:prstGeom prst="rect">
            <a:avLst/>
          </a:prstGeom>
        </p:spPr>
      </p:pic>
      <p:pic>
        <p:nvPicPr>
          <p:cNvPr id="16" name="Graphique 15" descr="Case cochée avec un remplissage uni">
            <a:extLst>
              <a:ext uri="{FF2B5EF4-FFF2-40B4-BE49-F238E27FC236}">
                <a16:creationId xmlns:a16="http://schemas.microsoft.com/office/drawing/2014/main" id="{F9ABB557-6D6E-4260-BD5A-AB8C5E4C89C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80300" y="3862939"/>
            <a:ext cx="914400" cy="914400"/>
          </a:xfrm>
          <a:prstGeom prst="rect">
            <a:avLst/>
          </a:prstGeom>
        </p:spPr>
      </p:pic>
      <p:pic>
        <p:nvPicPr>
          <p:cNvPr id="19" name="Graphique 18" descr="Case à cocher barrée avec un remplissage uni">
            <a:extLst>
              <a:ext uri="{FF2B5EF4-FFF2-40B4-BE49-F238E27FC236}">
                <a16:creationId xmlns:a16="http://schemas.microsoft.com/office/drawing/2014/main" id="{F14FB752-7CC7-1412-7A87-531F297BA7C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24528" y="2886740"/>
            <a:ext cx="914400" cy="914400"/>
          </a:xfrm>
          <a:prstGeom prst="rect">
            <a:avLst/>
          </a:prstGeom>
        </p:spPr>
      </p:pic>
      <p:pic>
        <p:nvPicPr>
          <p:cNvPr id="20" name="Graphique 19" descr="Case à cocher barrée avec un remplissage uni">
            <a:extLst>
              <a:ext uri="{FF2B5EF4-FFF2-40B4-BE49-F238E27FC236}">
                <a16:creationId xmlns:a16="http://schemas.microsoft.com/office/drawing/2014/main" id="{E7457C2C-1D19-DFBB-BC6E-2B30F7A3E33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28073" y="3847210"/>
            <a:ext cx="914400" cy="914400"/>
          </a:xfrm>
          <a:prstGeom prst="rect">
            <a:avLst/>
          </a:prstGeom>
        </p:spPr>
      </p:pic>
      <p:pic>
        <p:nvPicPr>
          <p:cNvPr id="21" name="Graphique 20" descr="Case à cocher barrée avec un remplissage uni">
            <a:extLst>
              <a:ext uri="{FF2B5EF4-FFF2-40B4-BE49-F238E27FC236}">
                <a16:creationId xmlns:a16="http://schemas.microsoft.com/office/drawing/2014/main" id="{B3045F1A-EA46-4E9C-0C5C-34469D366F2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31618" y="4850210"/>
            <a:ext cx="914400" cy="914400"/>
          </a:xfrm>
          <a:prstGeom prst="rect">
            <a:avLst/>
          </a:prstGeom>
        </p:spPr>
      </p:pic>
      <p:pic>
        <p:nvPicPr>
          <p:cNvPr id="22" name="Graphique 21" descr="Case à cocher barrée avec un remplissage uni">
            <a:extLst>
              <a:ext uri="{FF2B5EF4-FFF2-40B4-BE49-F238E27FC236}">
                <a16:creationId xmlns:a16="http://schemas.microsoft.com/office/drawing/2014/main" id="{93F69D2F-DF41-479A-76F3-DEB52008EB8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87387" y="4853755"/>
            <a:ext cx="914400" cy="914400"/>
          </a:xfrm>
          <a:prstGeom prst="rect">
            <a:avLst/>
          </a:prstGeom>
        </p:spPr>
      </p:pic>
    </p:spTree>
    <p:extLst>
      <p:ext uri="{BB962C8B-B14F-4D97-AF65-F5344CB8AC3E}">
        <p14:creationId xmlns:p14="http://schemas.microsoft.com/office/powerpoint/2010/main" val="10709805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3BC11-786E-8E93-206E-F8B9E054E77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27D2614-DFEF-CBD6-39D0-467F51EE7169}"/>
              </a:ext>
            </a:extLst>
          </p:cNvPr>
          <p:cNvSpPr>
            <a:spLocks noGrp="1"/>
          </p:cNvSpPr>
          <p:nvPr>
            <p:ph type="title"/>
          </p:nvPr>
        </p:nvSpPr>
        <p:spPr/>
        <p:txBody>
          <a:bodyPr/>
          <a:lstStyle/>
          <a:p>
            <a:pPr algn="ctr"/>
            <a:r>
              <a:rPr lang="en-GB" noProof="0" dirty="0"/>
              <a:t>Recurrent Neural Networks (RNN)</a:t>
            </a:r>
          </a:p>
        </p:txBody>
      </p:sp>
      <p:sp>
        <p:nvSpPr>
          <p:cNvPr id="4" name="Espace réservé du pied de page 2">
            <a:extLst>
              <a:ext uri="{FF2B5EF4-FFF2-40B4-BE49-F238E27FC236}">
                <a16:creationId xmlns:a16="http://schemas.microsoft.com/office/drawing/2014/main" id="{B9DE83AF-90A4-51E5-8F50-BB37115FBFCA}"/>
              </a:ext>
            </a:extLst>
          </p:cNvPr>
          <p:cNvSpPr>
            <a:spLocks noGrp="1"/>
          </p:cNvSpPr>
          <p:nvPr>
            <p:ph type="ftr" sz="quarter" idx="11"/>
          </p:nvPr>
        </p:nvSpPr>
        <p:spPr>
          <a:xfrm>
            <a:off x="4038600" y="6356350"/>
            <a:ext cx="4549346" cy="365125"/>
          </a:xfrm>
        </p:spPr>
        <p:txBody>
          <a:bodyPr/>
          <a:lstStyle/>
          <a:p>
            <a:r>
              <a:rPr lang="en-GB" noProof="1"/>
              <a:t>RNN. Author: David Thébault – Based on NLPDemystified.org</a:t>
            </a:r>
          </a:p>
        </p:txBody>
      </p:sp>
      <p:sp>
        <p:nvSpPr>
          <p:cNvPr id="5" name="ZoneTexte 4">
            <a:extLst>
              <a:ext uri="{FF2B5EF4-FFF2-40B4-BE49-F238E27FC236}">
                <a16:creationId xmlns:a16="http://schemas.microsoft.com/office/drawing/2014/main" id="{61F2268B-42D1-8393-2604-EE72E74AB17C}"/>
              </a:ext>
            </a:extLst>
          </p:cNvPr>
          <p:cNvSpPr txBox="1"/>
          <p:nvPr/>
        </p:nvSpPr>
        <p:spPr>
          <a:xfrm>
            <a:off x="838200" y="1318020"/>
            <a:ext cx="10030097" cy="1023136"/>
          </a:xfrm>
          <a:prstGeom prst="rect">
            <a:avLst/>
          </a:prstGeom>
          <a:noFill/>
        </p:spPr>
        <p:txBody>
          <a:bodyPr wrap="square" lIns="90000" rtlCol="0">
            <a:noAutofit/>
          </a:bodyPr>
          <a:lstStyle/>
          <a:p>
            <a:r>
              <a:rPr lang="en-GB" sz="3600" b="1" dirty="0">
                <a:latin typeface="ui-sans-serif"/>
              </a:rPr>
              <a:t>Stacked (Multilayers) RNNs</a:t>
            </a:r>
          </a:p>
          <a:p>
            <a:r>
              <a:rPr lang="en-GB" sz="2400" dirty="0">
                <a:latin typeface="Aptos" panose="020B0004020202020204" pitchFamily="34" charset="0"/>
              </a:rPr>
              <a:t>Build network which can learn patterns maybe too complex for single RNN</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BD08E7D5-78BA-1451-3743-3B240EAABDA5}"/>
                  </a:ext>
                </a:extLst>
              </p:cNvPr>
              <p:cNvSpPr txBox="1"/>
              <p:nvPr/>
            </p:nvSpPr>
            <p:spPr>
              <a:xfrm>
                <a:off x="3657483" y="5951730"/>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Sub>
                    </m:oMath>
                  </m:oMathPara>
                </a14:m>
                <a:endParaRPr lang="en-GB" sz="1600" dirty="0"/>
              </a:p>
            </p:txBody>
          </p:sp>
        </mc:Choice>
        <mc:Fallback xmlns="">
          <p:sp>
            <p:nvSpPr>
              <p:cNvPr id="3" name="ZoneTexte 2">
                <a:extLst>
                  <a:ext uri="{FF2B5EF4-FFF2-40B4-BE49-F238E27FC236}">
                    <a16:creationId xmlns:a16="http://schemas.microsoft.com/office/drawing/2014/main" id="{BD08E7D5-78BA-1451-3743-3B240EAABDA5}"/>
                  </a:ext>
                </a:extLst>
              </p:cNvPr>
              <p:cNvSpPr txBox="1">
                <a:spLocks noRot="1" noChangeAspect="1" noMove="1" noResize="1" noEditPoints="1" noAdjustHandles="1" noChangeArrowheads="1" noChangeShapeType="1" noTextEdit="1"/>
              </p:cNvSpPr>
              <p:nvPr/>
            </p:nvSpPr>
            <p:spPr>
              <a:xfrm>
                <a:off x="3657483" y="5951730"/>
                <a:ext cx="424732" cy="246221"/>
              </a:xfrm>
              <a:prstGeom prst="rect">
                <a:avLst/>
              </a:prstGeom>
              <a:blipFill>
                <a:blip r:embed="rId3"/>
                <a:stretch>
                  <a:fillRect l="-14706" r="-5882" b="-14286"/>
                </a:stretch>
              </a:blipFill>
            </p:spPr>
            <p:txBody>
              <a:bodyPr/>
              <a:lstStyle/>
              <a:p>
                <a:r>
                  <a:rPr lang="en-GB">
                    <a:noFill/>
                  </a:rPr>
                  <a:t> </a:t>
                </a:r>
              </a:p>
            </p:txBody>
          </p:sp>
        </mc:Fallback>
      </mc:AlternateContent>
      <p:sp>
        <p:nvSpPr>
          <p:cNvPr id="8" name="Rectangle : coins arrondis 7">
            <a:extLst>
              <a:ext uri="{FF2B5EF4-FFF2-40B4-BE49-F238E27FC236}">
                <a16:creationId xmlns:a16="http://schemas.microsoft.com/office/drawing/2014/main" id="{0733F612-6FE3-8075-EFC2-118344D600E6}"/>
              </a:ext>
            </a:extLst>
          </p:cNvPr>
          <p:cNvSpPr/>
          <p:nvPr/>
        </p:nvSpPr>
        <p:spPr>
          <a:xfrm>
            <a:off x="3586487" y="4668187"/>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 name="Connecteur droit avec flèche 8">
            <a:extLst>
              <a:ext uri="{FF2B5EF4-FFF2-40B4-BE49-F238E27FC236}">
                <a16:creationId xmlns:a16="http://schemas.microsoft.com/office/drawing/2014/main" id="{42FD356E-D3D0-2CBD-DAA5-9E6D27F1578F}"/>
              </a:ext>
            </a:extLst>
          </p:cNvPr>
          <p:cNvCxnSpPr>
            <a:cxnSpLocks/>
            <a:stCxn id="8" idx="0"/>
          </p:cNvCxnSpPr>
          <p:nvPr/>
        </p:nvCxnSpPr>
        <p:spPr>
          <a:xfrm flipV="1">
            <a:off x="3865887" y="4065714"/>
            <a:ext cx="2887"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Connecteur droit avec flèche 10">
            <a:extLst>
              <a:ext uri="{FF2B5EF4-FFF2-40B4-BE49-F238E27FC236}">
                <a16:creationId xmlns:a16="http://schemas.microsoft.com/office/drawing/2014/main" id="{B3AE2A03-4796-2017-821B-A7376496B449}"/>
              </a:ext>
            </a:extLst>
          </p:cNvPr>
          <p:cNvCxnSpPr>
            <a:cxnSpLocks/>
            <a:stCxn id="3" idx="0"/>
            <a:endCxn id="8" idx="2"/>
          </p:cNvCxnSpPr>
          <p:nvPr/>
        </p:nvCxnSpPr>
        <p:spPr>
          <a:xfrm flipH="1" flipV="1">
            <a:off x="3865887" y="5430187"/>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4BE926DD-4AD6-32DD-CE82-FB2A8BC4FC3A}"/>
                  </a:ext>
                </a:extLst>
              </p:cNvPr>
              <p:cNvSpPr txBox="1"/>
              <p:nvPr/>
            </p:nvSpPr>
            <p:spPr>
              <a:xfrm>
                <a:off x="4292731" y="4668187"/>
                <a:ext cx="429348" cy="30886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fr-FR" sz="1600" b="0" i="1" smtClean="0">
                              <a:latin typeface="Cambria Math" panose="02040503050406030204" pitchFamily="18" charset="0"/>
                            </a:rPr>
                          </m:ctrlPr>
                        </m:sSubSup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up>
                          <m:r>
                            <a:rPr lang="fr-FR" sz="1600" b="0" i="1" smtClean="0">
                              <a:latin typeface="Cambria Math" panose="02040503050406030204" pitchFamily="18" charset="0"/>
                            </a:rPr>
                            <m:t>(1)</m:t>
                          </m:r>
                        </m:sup>
                      </m:sSubSup>
                    </m:oMath>
                  </m:oMathPara>
                </a14:m>
                <a:endParaRPr lang="en-GB" sz="1600" dirty="0"/>
              </a:p>
            </p:txBody>
          </p:sp>
        </mc:Choice>
        <mc:Fallback xmlns="">
          <p:sp>
            <p:nvSpPr>
              <p:cNvPr id="13" name="ZoneTexte 12">
                <a:extLst>
                  <a:ext uri="{FF2B5EF4-FFF2-40B4-BE49-F238E27FC236}">
                    <a16:creationId xmlns:a16="http://schemas.microsoft.com/office/drawing/2014/main" id="{4BE926DD-4AD6-32DD-CE82-FB2A8BC4FC3A}"/>
                  </a:ext>
                </a:extLst>
              </p:cNvPr>
              <p:cNvSpPr txBox="1">
                <a:spLocks noRot="1" noChangeAspect="1" noMove="1" noResize="1" noEditPoints="1" noAdjustHandles="1" noChangeArrowheads="1" noChangeShapeType="1" noTextEdit="1"/>
              </p:cNvSpPr>
              <p:nvPr/>
            </p:nvSpPr>
            <p:spPr>
              <a:xfrm>
                <a:off x="4292731" y="4668187"/>
                <a:ext cx="429348" cy="308867"/>
              </a:xfrm>
              <a:prstGeom prst="rect">
                <a:avLst/>
              </a:prstGeom>
              <a:blipFill>
                <a:blip r:embed="rId4"/>
                <a:stretch>
                  <a:fillRect l="-8571" t="-4000" r="-2857" b="-16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ZoneTexte 16">
                <a:extLst>
                  <a:ext uri="{FF2B5EF4-FFF2-40B4-BE49-F238E27FC236}">
                    <a16:creationId xmlns:a16="http://schemas.microsoft.com/office/drawing/2014/main" id="{C9EDE138-12C8-A9B3-F44E-1AF0CFE85D42}"/>
                  </a:ext>
                </a:extLst>
              </p:cNvPr>
              <p:cNvSpPr txBox="1"/>
              <p:nvPr/>
            </p:nvSpPr>
            <p:spPr>
              <a:xfrm>
                <a:off x="4931547" y="5957826"/>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r>
                            <a:rPr lang="fr-FR" sz="1600" b="0" i="1" smtClean="0">
                              <a:latin typeface="Cambria Math" panose="02040503050406030204" pitchFamily="18" charset="0"/>
                            </a:rPr>
                            <m:t>=2</m:t>
                          </m:r>
                        </m:sub>
                      </m:sSub>
                    </m:oMath>
                  </m:oMathPara>
                </a14:m>
                <a:endParaRPr lang="en-GB" sz="1600" dirty="0"/>
              </a:p>
            </p:txBody>
          </p:sp>
        </mc:Choice>
        <mc:Fallback xmlns="">
          <p:sp>
            <p:nvSpPr>
              <p:cNvPr id="17" name="ZoneTexte 16">
                <a:extLst>
                  <a:ext uri="{FF2B5EF4-FFF2-40B4-BE49-F238E27FC236}">
                    <a16:creationId xmlns:a16="http://schemas.microsoft.com/office/drawing/2014/main" id="{C9EDE138-12C8-A9B3-F44E-1AF0CFE85D42}"/>
                  </a:ext>
                </a:extLst>
              </p:cNvPr>
              <p:cNvSpPr txBox="1">
                <a:spLocks noRot="1" noChangeAspect="1" noMove="1" noResize="1" noEditPoints="1" noAdjustHandles="1" noChangeArrowheads="1" noChangeShapeType="1" noTextEdit="1"/>
              </p:cNvSpPr>
              <p:nvPr/>
            </p:nvSpPr>
            <p:spPr>
              <a:xfrm>
                <a:off x="4931547" y="5957826"/>
                <a:ext cx="424732" cy="246221"/>
              </a:xfrm>
              <a:prstGeom prst="rect">
                <a:avLst/>
              </a:prstGeom>
              <a:blipFill>
                <a:blip r:embed="rId5"/>
                <a:stretch>
                  <a:fillRect l="-14706" r="-8824" b="-14286"/>
                </a:stretch>
              </a:blipFill>
            </p:spPr>
            <p:txBody>
              <a:bodyPr/>
              <a:lstStyle/>
              <a:p>
                <a:r>
                  <a:rPr lang="en-GB">
                    <a:noFill/>
                  </a:rPr>
                  <a:t> </a:t>
                </a:r>
              </a:p>
            </p:txBody>
          </p:sp>
        </mc:Fallback>
      </mc:AlternateContent>
      <p:sp>
        <p:nvSpPr>
          <p:cNvPr id="23" name="Rectangle : coins arrondis 22">
            <a:extLst>
              <a:ext uri="{FF2B5EF4-FFF2-40B4-BE49-F238E27FC236}">
                <a16:creationId xmlns:a16="http://schemas.microsoft.com/office/drawing/2014/main" id="{19924BF7-2439-B7CD-EF24-0BA7304632AD}"/>
              </a:ext>
            </a:extLst>
          </p:cNvPr>
          <p:cNvSpPr/>
          <p:nvPr/>
        </p:nvSpPr>
        <p:spPr>
          <a:xfrm>
            <a:off x="4860551" y="4674283"/>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4" name="Connecteur droit avec flèche 23">
            <a:extLst>
              <a:ext uri="{FF2B5EF4-FFF2-40B4-BE49-F238E27FC236}">
                <a16:creationId xmlns:a16="http://schemas.microsoft.com/office/drawing/2014/main" id="{166319FB-02B3-89A7-8754-F8A6F7AFAC38}"/>
              </a:ext>
            </a:extLst>
          </p:cNvPr>
          <p:cNvCxnSpPr>
            <a:cxnSpLocks/>
            <a:stCxn id="23" idx="0"/>
          </p:cNvCxnSpPr>
          <p:nvPr/>
        </p:nvCxnSpPr>
        <p:spPr>
          <a:xfrm flipV="1">
            <a:off x="5139951" y="4071810"/>
            <a:ext cx="11221"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Connecteur droit avec flèche 24">
            <a:extLst>
              <a:ext uri="{FF2B5EF4-FFF2-40B4-BE49-F238E27FC236}">
                <a16:creationId xmlns:a16="http://schemas.microsoft.com/office/drawing/2014/main" id="{EC8CACDA-3BA1-DE51-76EF-BA0968216258}"/>
              </a:ext>
            </a:extLst>
          </p:cNvPr>
          <p:cNvCxnSpPr>
            <a:cxnSpLocks/>
            <a:stCxn id="17" idx="0"/>
            <a:endCxn id="23" idx="2"/>
          </p:cNvCxnSpPr>
          <p:nvPr/>
        </p:nvCxnSpPr>
        <p:spPr>
          <a:xfrm flipH="1" flipV="1">
            <a:off x="5139951" y="5436283"/>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6" name="ZoneTexte 25">
                <a:extLst>
                  <a:ext uri="{FF2B5EF4-FFF2-40B4-BE49-F238E27FC236}">
                    <a16:creationId xmlns:a16="http://schemas.microsoft.com/office/drawing/2014/main" id="{DF2E4A08-D0A3-F158-90EF-7A608AC57F15}"/>
                  </a:ext>
                </a:extLst>
              </p:cNvPr>
              <p:cNvSpPr txBox="1"/>
              <p:nvPr/>
            </p:nvSpPr>
            <p:spPr>
              <a:xfrm>
                <a:off x="6205611" y="5963922"/>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r>
                            <a:rPr lang="fr-FR" sz="1600" b="0" i="1" smtClean="0">
                              <a:latin typeface="Cambria Math" panose="02040503050406030204" pitchFamily="18" charset="0"/>
                            </a:rPr>
                            <m:t>=3</m:t>
                          </m:r>
                        </m:sub>
                      </m:sSub>
                    </m:oMath>
                  </m:oMathPara>
                </a14:m>
                <a:endParaRPr lang="en-GB" sz="1600" dirty="0"/>
              </a:p>
            </p:txBody>
          </p:sp>
        </mc:Choice>
        <mc:Fallback xmlns="">
          <p:sp>
            <p:nvSpPr>
              <p:cNvPr id="26" name="ZoneTexte 25">
                <a:extLst>
                  <a:ext uri="{FF2B5EF4-FFF2-40B4-BE49-F238E27FC236}">
                    <a16:creationId xmlns:a16="http://schemas.microsoft.com/office/drawing/2014/main" id="{DF2E4A08-D0A3-F158-90EF-7A608AC57F15}"/>
                  </a:ext>
                </a:extLst>
              </p:cNvPr>
              <p:cNvSpPr txBox="1">
                <a:spLocks noRot="1" noChangeAspect="1" noMove="1" noResize="1" noEditPoints="1" noAdjustHandles="1" noChangeArrowheads="1" noChangeShapeType="1" noTextEdit="1"/>
              </p:cNvSpPr>
              <p:nvPr/>
            </p:nvSpPr>
            <p:spPr>
              <a:xfrm>
                <a:off x="6205611" y="5963922"/>
                <a:ext cx="424732" cy="246221"/>
              </a:xfrm>
              <a:prstGeom prst="rect">
                <a:avLst/>
              </a:prstGeom>
              <a:blipFill>
                <a:blip r:embed="rId6"/>
                <a:stretch>
                  <a:fillRect l="-14286" r="-5714" b="-14286"/>
                </a:stretch>
              </a:blipFill>
            </p:spPr>
            <p:txBody>
              <a:bodyPr/>
              <a:lstStyle/>
              <a:p>
                <a:r>
                  <a:rPr lang="en-GB">
                    <a:noFill/>
                  </a:rPr>
                  <a:t> </a:t>
                </a:r>
              </a:p>
            </p:txBody>
          </p:sp>
        </mc:Fallback>
      </mc:AlternateContent>
      <p:sp>
        <p:nvSpPr>
          <p:cNvPr id="28" name="Rectangle : coins arrondis 27">
            <a:extLst>
              <a:ext uri="{FF2B5EF4-FFF2-40B4-BE49-F238E27FC236}">
                <a16:creationId xmlns:a16="http://schemas.microsoft.com/office/drawing/2014/main" id="{EB99ECE7-3D33-3C14-A0B2-3386E3D7C12F}"/>
              </a:ext>
            </a:extLst>
          </p:cNvPr>
          <p:cNvSpPr/>
          <p:nvPr/>
        </p:nvSpPr>
        <p:spPr>
          <a:xfrm>
            <a:off x="6134615" y="4680379"/>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9" name="Connecteur droit avec flèche 28">
            <a:extLst>
              <a:ext uri="{FF2B5EF4-FFF2-40B4-BE49-F238E27FC236}">
                <a16:creationId xmlns:a16="http://schemas.microsoft.com/office/drawing/2014/main" id="{3C71EB1E-D011-4ECC-4B00-0CEB331D7849}"/>
              </a:ext>
            </a:extLst>
          </p:cNvPr>
          <p:cNvCxnSpPr>
            <a:cxnSpLocks/>
            <a:stCxn id="28" idx="0"/>
          </p:cNvCxnSpPr>
          <p:nvPr/>
        </p:nvCxnSpPr>
        <p:spPr>
          <a:xfrm flipV="1">
            <a:off x="6414015" y="4077906"/>
            <a:ext cx="6534"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Connecteur droit avec flèche 29">
            <a:extLst>
              <a:ext uri="{FF2B5EF4-FFF2-40B4-BE49-F238E27FC236}">
                <a16:creationId xmlns:a16="http://schemas.microsoft.com/office/drawing/2014/main" id="{9E85FB76-4EA2-2CFA-3564-7E15080A67FF}"/>
              </a:ext>
            </a:extLst>
          </p:cNvPr>
          <p:cNvCxnSpPr>
            <a:cxnSpLocks/>
            <a:stCxn id="26" idx="0"/>
            <a:endCxn id="28" idx="2"/>
          </p:cNvCxnSpPr>
          <p:nvPr/>
        </p:nvCxnSpPr>
        <p:spPr>
          <a:xfrm flipH="1" flipV="1">
            <a:off x="6414015" y="5442379"/>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1" name="ZoneTexte 30">
                <a:extLst>
                  <a:ext uri="{FF2B5EF4-FFF2-40B4-BE49-F238E27FC236}">
                    <a16:creationId xmlns:a16="http://schemas.microsoft.com/office/drawing/2014/main" id="{00ED6488-AE20-0B83-0921-E1959BA818E9}"/>
                  </a:ext>
                </a:extLst>
              </p:cNvPr>
              <p:cNvSpPr txBox="1"/>
              <p:nvPr/>
            </p:nvSpPr>
            <p:spPr>
              <a:xfrm>
                <a:off x="7467483" y="5970018"/>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r>
                            <a:rPr lang="fr-FR" sz="1600" b="0" i="1" smtClean="0">
                              <a:latin typeface="Cambria Math" panose="02040503050406030204" pitchFamily="18" charset="0"/>
                            </a:rPr>
                            <m:t>=4</m:t>
                          </m:r>
                        </m:sub>
                      </m:sSub>
                    </m:oMath>
                  </m:oMathPara>
                </a14:m>
                <a:endParaRPr lang="en-GB" sz="1600" dirty="0"/>
              </a:p>
            </p:txBody>
          </p:sp>
        </mc:Choice>
        <mc:Fallback xmlns="">
          <p:sp>
            <p:nvSpPr>
              <p:cNvPr id="31" name="ZoneTexte 30">
                <a:extLst>
                  <a:ext uri="{FF2B5EF4-FFF2-40B4-BE49-F238E27FC236}">
                    <a16:creationId xmlns:a16="http://schemas.microsoft.com/office/drawing/2014/main" id="{00ED6488-AE20-0B83-0921-E1959BA818E9}"/>
                  </a:ext>
                </a:extLst>
              </p:cNvPr>
              <p:cNvSpPr txBox="1">
                <a:spLocks noRot="1" noChangeAspect="1" noMove="1" noResize="1" noEditPoints="1" noAdjustHandles="1" noChangeArrowheads="1" noChangeShapeType="1" noTextEdit="1"/>
              </p:cNvSpPr>
              <p:nvPr/>
            </p:nvSpPr>
            <p:spPr>
              <a:xfrm>
                <a:off x="7467483" y="5970018"/>
                <a:ext cx="424732" cy="246221"/>
              </a:xfrm>
              <a:prstGeom prst="rect">
                <a:avLst/>
              </a:prstGeom>
              <a:blipFill>
                <a:blip r:embed="rId7"/>
                <a:stretch>
                  <a:fillRect l="-14706" r="-5882" b="-14286"/>
                </a:stretch>
              </a:blipFill>
            </p:spPr>
            <p:txBody>
              <a:bodyPr/>
              <a:lstStyle/>
              <a:p>
                <a:r>
                  <a:rPr lang="en-GB">
                    <a:noFill/>
                  </a:rPr>
                  <a:t> </a:t>
                </a:r>
              </a:p>
            </p:txBody>
          </p:sp>
        </mc:Fallback>
      </mc:AlternateContent>
      <p:sp>
        <p:nvSpPr>
          <p:cNvPr id="33" name="Rectangle : coins arrondis 32">
            <a:extLst>
              <a:ext uri="{FF2B5EF4-FFF2-40B4-BE49-F238E27FC236}">
                <a16:creationId xmlns:a16="http://schemas.microsoft.com/office/drawing/2014/main" id="{75FF43EB-A631-35C5-9A94-5F78FDF50A20}"/>
              </a:ext>
            </a:extLst>
          </p:cNvPr>
          <p:cNvSpPr/>
          <p:nvPr/>
        </p:nvSpPr>
        <p:spPr>
          <a:xfrm>
            <a:off x="7396487" y="4686475"/>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4" name="Connecteur droit avec flèche 33">
            <a:extLst>
              <a:ext uri="{FF2B5EF4-FFF2-40B4-BE49-F238E27FC236}">
                <a16:creationId xmlns:a16="http://schemas.microsoft.com/office/drawing/2014/main" id="{C66EF924-2265-1945-F27D-F4D9E88115BB}"/>
              </a:ext>
            </a:extLst>
          </p:cNvPr>
          <p:cNvCxnSpPr>
            <a:cxnSpLocks/>
            <a:stCxn id="33" idx="0"/>
          </p:cNvCxnSpPr>
          <p:nvPr/>
        </p:nvCxnSpPr>
        <p:spPr>
          <a:xfrm flipV="1">
            <a:off x="7675887" y="4084002"/>
            <a:ext cx="6533"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Connecteur droit avec flèche 34">
            <a:extLst>
              <a:ext uri="{FF2B5EF4-FFF2-40B4-BE49-F238E27FC236}">
                <a16:creationId xmlns:a16="http://schemas.microsoft.com/office/drawing/2014/main" id="{9A80DA81-22A4-55E0-E0CE-69FE3CA0475B}"/>
              </a:ext>
            </a:extLst>
          </p:cNvPr>
          <p:cNvCxnSpPr>
            <a:cxnSpLocks/>
            <a:stCxn id="31" idx="0"/>
            <a:endCxn id="33" idx="2"/>
          </p:cNvCxnSpPr>
          <p:nvPr/>
        </p:nvCxnSpPr>
        <p:spPr>
          <a:xfrm flipH="1" flipV="1">
            <a:off x="7675887" y="5448475"/>
            <a:ext cx="3962" cy="52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Connecteur droit avec flèche 37">
            <a:extLst>
              <a:ext uri="{FF2B5EF4-FFF2-40B4-BE49-F238E27FC236}">
                <a16:creationId xmlns:a16="http://schemas.microsoft.com/office/drawing/2014/main" id="{27BE8E0B-9608-2A16-8E08-55AC90B62AA8}"/>
              </a:ext>
            </a:extLst>
          </p:cNvPr>
          <p:cNvCxnSpPr>
            <a:stCxn id="8" idx="3"/>
            <a:endCxn id="23" idx="1"/>
          </p:cNvCxnSpPr>
          <p:nvPr/>
        </p:nvCxnSpPr>
        <p:spPr>
          <a:xfrm>
            <a:off x="4145287" y="5049187"/>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Connecteur droit avec flèche 38">
            <a:extLst>
              <a:ext uri="{FF2B5EF4-FFF2-40B4-BE49-F238E27FC236}">
                <a16:creationId xmlns:a16="http://schemas.microsoft.com/office/drawing/2014/main" id="{4AE51426-FAC1-6AFC-669A-90DF141BBAE5}"/>
              </a:ext>
            </a:extLst>
          </p:cNvPr>
          <p:cNvCxnSpPr/>
          <p:nvPr/>
        </p:nvCxnSpPr>
        <p:spPr>
          <a:xfrm>
            <a:off x="5419351" y="5067475"/>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Connecteur droit avec flèche 39">
            <a:extLst>
              <a:ext uri="{FF2B5EF4-FFF2-40B4-BE49-F238E27FC236}">
                <a16:creationId xmlns:a16="http://schemas.microsoft.com/office/drawing/2014/main" id="{ABF5FFC9-1BCE-82A5-9B7B-DF0E08F62812}"/>
              </a:ext>
            </a:extLst>
          </p:cNvPr>
          <p:cNvCxnSpPr/>
          <p:nvPr/>
        </p:nvCxnSpPr>
        <p:spPr>
          <a:xfrm>
            <a:off x="6689947" y="5067475"/>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ZoneTexte 44">
                <a:extLst>
                  <a:ext uri="{FF2B5EF4-FFF2-40B4-BE49-F238E27FC236}">
                    <a16:creationId xmlns:a16="http://schemas.microsoft.com/office/drawing/2014/main" id="{BAEC6964-85C9-825A-C983-D5DF9F365596}"/>
                  </a:ext>
                </a:extLst>
              </p:cNvPr>
              <p:cNvSpPr txBox="1"/>
              <p:nvPr/>
            </p:nvSpPr>
            <p:spPr>
              <a:xfrm>
                <a:off x="5581596" y="4663831"/>
                <a:ext cx="429348" cy="30912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fr-FR" sz="1600" b="0" i="1" smtClean="0">
                              <a:latin typeface="Cambria Math" panose="02040503050406030204" pitchFamily="18" charset="0"/>
                            </a:rPr>
                          </m:ctrlPr>
                        </m:sSubSup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=2</m:t>
                          </m:r>
                        </m:sub>
                        <m:sup>
                          <m:r>
                            <a:rPr lang="fr-FR" sz="1600" b="0" i="1" smtClean="0">
                              <a:latin typeface="Cambria Math" panose="02040503050406030204" pitchFamily="18" charset="0"/>
                            </a:rPr>
                            <m:t>(1)</m:t>
                          </m:r>
                        </m:sup>
                      </m:sSubSup>
                    </m:oMath>
                  </m:oMathPara>
                </a14:m>
                <a:endParaRPr lang="en-GB" sz="1600" dirty="0"/>
              </a:p>
            </p:txBody>
          </p:sp>
        </mc:Choice>
        <mc:Fallback xmlns="">
          <p:sp>
            <p:nvSpPr>
              <p:cNvPr id="45" name="ZoneTexte 44">
                <a:extLst>
                  <a:ext uri="{FF2B5EF4-FFF2-40B4-BE49-F238E27FC236}">
                    <a16:creationId xmlns:a16="http://schemas.microsoft.com/office/drawing/2014/main" id="{BAEC6964-85C9-825A-C983-D5DF9F365596}"/>
                  </a:ext>
                </a:extLst>
              </p:cNvPr>
              <p:cNvSpPr txBox="1">
                <a:spLocks noRot="1" noChangeAspect="1" noMove="1" noResize="1" noEditPoints="1" noAdjustHandles="1" noChangeArrowheads="1" noChangeShapeType="1" noTextEdit="1"/>
              </p:cNvSpPr>
              <p:nvPr/>
            </p:nvSpPr>
            <p:spPr>
              <a:xfrm>
                <a:off x="5581596" y="4663831"/>
                <a:ext cx="429348" cy="309124"/>
              </a:xfrm>
              <a:prstGeom prst="rect">
                <a:avLst/>
              </a:prstGeom>
              <a:blipFill>
                <a:blip r:embed="rId8"/>
                <a:stretch>
                  <a:fillRect l="-11429" t="-8000" r="-2857" b="-16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6" name="ZoneTexte 45">
                <a:extLst>
                  <a:ext uri="{FF2B5EF4-FFF2-40B4-BE49-F238E27FC236}">
                    <a16:creationId xmlns:a16="http://schemas.microsoft.com/office/drawing/2014/main" id="{1F8069A7-1C82-9D15-E735-98DA2E88F554}"/>
                  </a:ext>
                </a:extLst>
              </p:cNvPr>
              <p:cNvSpPr txBox="1"/>
              <p:nvPr/>
            </p:nvSpPr>
            <p:spPr>
              <a:xfrm>
                <a:off x="6831276" y="4672538"/>
                <a:ext cx="429348" cy="30912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fr-FR" sz="1600" b="0" i="1" smtClean="0">
                              <a:latin typeface="Cambria Math" panose="02040503050406030204" pitchFamily="18" charset="0"/>
                            </a:rPr>
                          </m:ctrlPr>
                        </m:sSubSup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=3</m:t>
                          </m:r>
                        </m:sub>
                        <m:sup>
                          <m:r>
                            <a:rPr lang="fr-FR" sz="1600" b="0" i="1" smtClean="0">
                              <a:latin typeface="Cambria Math" panose="02040503050406030204" pitchFamily="18" charset="0"/>
                            </a:rPr>
                            <m:t>(1)</m:t>
                          </m:r>
                        </m:sup>
                      </m:sSubSup>
                    </m:oMath>
                  </m:oMathPara>
                </a14:m>
                <a:endParaRPr lang="en-GB" sz="1600" dirty="0"/>
              </a:p>
            </p:txBody>
          </p:sp>
        </mc:Choice>
        <mc:Fallback xmlns="">
          <p:sp>
            <p:nvSpPr>
              <p:cNvPr id="46" name="ZoneTexte 45">
                <a:extLst>
                  <a:ext uri="{FF2B5EF4-FFF2-40B4-BE49-F238E27FC236}">
                    <a16:creationId xmlns:a16="http://schemas.microsoft.com/office/drawing/2014/main" id="{1F8069A7-1C82-9D15-E735-98DA2E88F554}"/>
                  </a:ext>
                </a:extLst>
              </p:cNvPr>
              <p:cNvSpPr txBox="1">
                <a:spLocks noRot="1" noChangeAspect="1" noMove="1" noResize="1" noEditPoints="1" noAdjustHandles="1" noChangeArrowheads="1" noChangeShapeType="1" noTextEdit="1"/>
              </p:cNvSpPr>
              <p:nvPr/>
            </p:nvSpPr>
            <p:spPr>
              <a:xfrm>
                <a:off x="6831276" y="4672538"/>
                <a:ext cx="429348" cy="309124"/>
              </a:xfrm>
              <a:prstGeom prst="rect">
                <a:avLst/>
              </a:prstGeom>
              <a:blipFill>
                <a:blip r:embed="rId9"/>
                <a:stretch>
                  <a:fillRect l="-14706" t="-3846" r="-5882" b="-11538"/>
                </a:stretch>
              </a:blipFill>
            </p:spPr>
            <p:txBody>
              <a:bodyPr/>
              <a:lstStyle/>
              <a:p>
                <a:r>
                  <a:rPr lang="en-GB">
                    <a:noFill/>
                  </a:rPr>
                  <a:t> </a:t>
                </a:r>
              </a:p>
            </p:txBody>
          </p:sp>
        </mc:Fallback>
      </mc:AlternateContent>
      <p:cxnSp>
        <p:nvCxnSpPr>
          <p:cNvPr id="47" name="Connecteur droit avec flèche 46">
            <a:extLst>
              <a:ext uri="{FF2B5EF4-FFF2-40B4-BE49-F238E27FC236}">
                <a16:creationId xmlns:a16="http://schemas.microsoft.com/office/drawing/2014/main" id="{E655D05C-420D-EF89-FBA7-FC738F5E2F9D}"/>
              </a:ext>
            </a:extLst>
          </p:cNvPr>
          <p:cNvCxnSpPr/>
          <p:nvPr/>
        </p:nvCxnSpPr>
        <p:spPr>
          <a:xfrm>
            <a:off x="7952694" y="506311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8" name="ZoneTexte 47">
                <a:extLst>
                  <a:ext uri="{FF2B5EF4-FFF2-40B4-BE49-F238E27FC236}">
                    <a16:creationId xmlns:a16="http://schemas.microsoft.com/office/drawing/2014/main" id="{919468DD-31D9-571E-E770-8C2326C5CECC}"/>
                  </a:ext>
                </a:extLst>
              </p:cNvPr>
              <p:cNvSpPr txBox="1"/>
              <p:nvPr/>
            </p:nvSpPr>
            <p:spPr>
              <a:xfrm>
                <a:off x="8094023" y="4668182"/>
                <a:ext cx="429348" cy="3086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fr-FR" sz="1600" b="0" i="1" smtClean="0">
                              <a:latin typeface="Cambria Math" panose="02040503050406030204" pitchFamily="18" charset="0"/>
                            </a:rPr>
                          </m:ctrlPr>
                        </m:sSubSup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=4</m:t>
                          </m:r>
                        </m:sub>
                        <m:sup>
                          <m:r>
                            <a:rPr lang="fr-FR" sz="1600" b="0" i="1" smtClean="0">
                              <a:latin typeface="Cambria Math" panose="02040503050406030204" pitchFamily="18" charset="0"/>
                            </a:rPr>
                            <m:t>(1)</m:t>
                          </m:r>
                        </m:sup>
                      </m:sSubSup>
                    </m:oMath>
                  </m:oMathPara>
                </a14:m>
                <a:endParaRPr lang="en-GB" sz="1600" dirty="0"/>
              </a:p>
            </p:txBody>
          </p:sp>
        </mc:Choice>
        <mc:Fallback xmlns="">
          <p:sp>
            <p:nvSpPr>
              <p:cNvPr id="48" name="ZoneTexte 47">
                <a:extLst>
                  <a:ext uri="{FF2B5EF4-FFF2-40B4-BE49-F238E27FC236}">
                    <a16:creationId xmlns:a16="http://schemas.microsoft.com/office/drawing/2014/main" id="{919468DD-31D9-571E-E770-8C2326C5CECC}"/>
                  </a:ext>
                </a:extLst>
              </p:cNvPr>
              <p:cNvSpPr txBox="1">
                <a:spLocks noRot="1" noChangeAspect="1" noMove="1" noResize="1" noEditPoints="1" noAdjustHandles="1" noChangeArrowheads="1" noChangeShapeType="1" noTextEdit="1"/>
              </p:cNvSpPr>
              <p:nvPr/>
            </p:nvSpPr>
            <p:spPr>
              <a:xfrm>
                <a:off x="8094023" y="4668182"/>
                <a:ext cx="429348" cy="308611"/>
              </a:xfrm>
              <a:prstGeom prst="rect">
                <a:avLst/>
              </a:prstGeom>
              <a:blipFill>
                <a:blip r:embed="rId10"/>
                <a:stretch>
                  <a:fillRect l="-11429" t="-4000" r="-2857" b="-16000"/>
                </a:stretch>
              </a:blipFill>
            </p:spPr>
            <p:txBody>
              <a:bodyPr/>
              <a:lstStyle/>
              <a:p>
                <a:r>
                  <a:rPr lang="en-GB">
                    <a:noFill/>
                  </a:rPr>
                  <a:t> </a:t>
                </a:r>
              </a:p>
            </p:txBody>
          </p:sp>
        </mc:Fallback>
      </mc:AlternateContent>
      <p:cxnSp>
        <p:nvCxnSpPr>
          <p:cNvPr id="49" name="Connecteur droit avec flèche 48">
            <a:extLst>
              <a:ext uri="{FF2B5EF4-FFF2-40B4-BE49-F238E27FC236}">
                <a16:creationId xmlns:a16="http://schemas.microsoft.com/office/drawing/2014/main" id="{D3ED1278-D7E1-AAC0-C09F-0EA48860841F}"/>
              </a:ext>
            </a:extLst>
          </p:cNvPr>
          <p:cNvCxnSpPr/>
          <p:nvPr/>
        </p:nvCxnSpPr>
        <p:spPr>
          <a:xfrm>
            <a:off x="2866872" y="5058763"/>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0" name="ZoneTexte 49">
                <a:extLst>
                  <a:ext uri="{FF2B5EF4-FFF2-40B4-BE49-F238E27FC236}">
                    <a16:creationId xmlns:a16="http://schemas.microsoft.com/office/drawing/2014/main" id="{14EE095F-D6C1-6AF2-ACE1-03F31D944BD3}"/>
                  </a:ext>
                </a:extLst>
              </p:cNvPr>
              <p:cNvSpPr txBox="1"/>
              <p:nvPr/>
            </p:nvSpPr>
            <p:spPr>
              <a:xfrm>
                <a:off x="3008201" y="4663826"/>
                <a:ext cx="429348" cy="3093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fr-FR" sz="1600" b="0" i="1" smtClean="0">
                              <a:latin typeface="Cambria Math" panose="02040503050406030204" pitchFamily="18" charset="0"/>
                            </a:rPr>
                          </m:ctrlPr>
                        </m:sSubSup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=0</m:t>
                          </m:r>
                        </m:sub>
                        <m:sup>
                          <m:r>
                            <a:rPr lang="fr-FR" sz="1600" b="0" i="1" smtClean="0">
                              <a:latin typeface="Cambria Math" panose="02040503050406030204" pitchFamily="18" charset="0"/>
                            </a:rPr>
                            <m:t>(1)</m:t>
                          </m:r>
                        </m:sup>
                      </m:sSubSup>
                    </m:oMath>
                  </m:oMathPara>
                </a14:m>
                <a:endParaRPr lang="en-GB" sz="1600" dirty="0"/>
              </a:p>
            </p:txBody>
          </p:sp>
        </mc:Choice>
        <mc:Fallback xmlns="">
          <p:sp>
            <p:nvSpPr>
              <p:cNvPr id="50" name="ZoneTexte 49">
                <a:extLst>
                  <a:ext uri="{FF2B5EF4-FFF2-40B4-BE49-F238E27FC236}">
                    <a16:creationId xmlns:a16="http://schemas.microsoft.com/office/drawing/2014/main" id="{14EE095F-D6C1-6AF2-ACE1-03F31D944BD3}"/>
                  </a:ext>
                </a:extLst>
              </p:cNvPr>
              <p:cNvSpPr txBox="1">
                <a:spLocks noRot="1" noChangeAspect="1" noMove="1" noResize="1" noEditPoints="1" noAdjustHandles="1" noChangeArrowheads="1" noChangeShapeType="1" noTextEdit="1"/>
              </p:cNvSpPr>
              <p:nvPr/>
            </p:nvSpPr>
            <p:spPr>
              <a:xfrm>
                <a:off x="3008201" y="4663826"/>
                <a:ext cx="429348" cy="309315"/>
              </a:xfrm>
              <a:prstGeom prst="rect">
                <a:avLst/>
              </a:prstGeom>
              <a:blipFill>
                <a:blip r:embed="rId11"/>
                <a:stretch>
                  <a:fillRect l="-11429" t="-8000" r="-5714" b="-16000"/>
                </a:stretch>
              </a:blipFill>
            </p:spPr>
            <p:txBody>
              <a:bodyPr/>
              <a:lstStyle/>
              <a:p>
                <a:r>
                  <a:rPr lang="en-GB">
                    <a:noFill/>
                  </a:rPr>
                  <a:t> </a:t>
                </a:r>
              </a:p>
            </p:txBody>
          </p:sp>
        </mc:Fallback>
      </mc:AlternateContent>
      <p:sp>
        <p:nvSpPr>
          <p:cNvPr id="51" name="Rectangle : coins arrondis 50">
            <a:extLst>
              <a:ext uri="{FF2B5EF4-FFF2-40B4-BE49-F238E27FC236}">
                <a16:creationId xmlns:a16="http://schemas.microsoft.com/office/drawing/2014/main" id="{A59F22FD-3254-4B5F-6116-7438C92B93F6}"/>
              </a:ext>
            </a:extLst>
          </p:cNvPr>
          <p:cNvSpPr/>
          <p:nvPr/>
        </p:nvSpPr>
        <p:spPr>
          <a:xfrm>
            <a:off x="3595194" y="3292234"/>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2" name="Connecteur droit avec flèche 51">
            <a:extLst>
              <a:ext uri="{FF2B5EF4-FFF2-40B4-BE49-F238E27FC236}">
                <a16:creationId xmlns:a16="http://schemas.microsoft.com/office/drawing/2014/main" id="{EC1ADBC7-4E2B-494E-2BF7-B8498DFC63DB}"/>
              </a:ext>
            </a:extLst>
          </p:cNvPr>
          <p:cNvCxnSpPr>
            <a:cxnSpLocks/>
            <a:stCxn id="51" idx="0"/>
          </p:cNvCxnSpPr>
          <p:nvPr/>
        </p:nvCxnSpPr>
        <p:spPr>
          <a:xfrm flipV="1">
            <a:off x="3874594" y="2689761"/>
            <a:ext cx="2887"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3" name="ZoneTexte 52">
                <a:extLst>
                  <a:ext uri="{FF2B5EF4-FFF2-40B4-BE49-F238E27FC236}">
                    <a16:creationId xmlns:a16="http://schemas.microsoft.com/office/drawing/2014/main" id="{1D5425BF-ACE4-D99B-B083-B07B17A69436}"/>
                  </a:ext>
                </a:extLst>
              </p:cNvPr>
              <p:cNvSpPr txBox="1"/>
              <p:nvPr/>
            </p:nvSpPr>
            <p:spPr>
              <a:xfrm>
                <a:off x="4301438" y="3292234"/>
                <a:ext cx="429348" cy="30886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fr-FR" sz="1600" b="0" i="1" smtClean="0">
                              <a:latin typeface="Cambria Math" panose="02040503050406030204" pitchFamily="18" charset="0"/>
                            </a:rPr>
                          </m:ctrlPr>
                        </m:sSubSup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up>
                          <m:r>
                            <a:rPr lang="fr-FR" sz="1600" b="0" i="1" smtClean="0">
                              <a:latin typeface="Cambria Math" panose="02040503050406030204" pitchFamily="18" charset="0"/>
                            </a:rPr>
                            <m:t>(2)</m:t>
                          </m:r>
                        </m:sup>
                      </m:sSubSup>
                    </m:oMath>
                  </m:oMathPara>
                </a14:m>
                <a:endParaRPr lang="en-GB" sz="1600" dirty="0"/>
              </a:p>
            </p:txBody>
          </p:sp>
        </mc:Choice>
        <mc:Fallback xmlns="">
          <p:sp>
            <p:nvSpPr>
              <p:cNvPr id="53" name="ZoneTexte 52">
                <a:extLst>
                  <a:ext uri="{FF2B5EF4-FFF2-40B4-BE49-F238E27FC236}">
                    <a16:creationId xmlns:a16="http://schemas.microsoft.com/office/drawing/2014/main" id="{1D5425BF-ACE4-D99B-B083-B07B17A69436}"/>
                  </a:ext>
                </a:extLst>
              </p:cNvPr>
              <p:cNvSpPr txBox="1">
                <a:spLocks noRot="1" noChangeAspect="1" noMove="1" noResize="1" noEditPoints="1" noAdjustHandles="1" noChangeArrowheads="1" noChangeShapeType="1" noTextEdit="1"/>
              </p:cNvSpPr>
              <p:nvPr/>
            </p:nvSpPr>
            <p:spPr>
              <a:xfrm>
                <a:off x="4301438" y="3292234"/>
                <a:ext cx="429348" cy="308867"/>
              </a:xfrm>
              <a:prstGeom prst="rect">
                <a:avLst/>
              </a:prstGeom>
              <a:blipFill>
                <a:blip r:embed="rId12"/>
                <a:stretch>
                  <a:fillRect l="-11429" t="-8000" r="-2857" b="-16000"/>
                </a:stretch>
              </a:blipFill>
            </p:spPr>
            <p:txBody>
              <a:bodyPr/>
              <a:lstStyle/>
              <a:p>
                <a:r>
                  <a:rPr lang="en-GB">
                    <a:noFill/>
                  </a:rPr>
                  <a:t> </a:t>
                </a:r>
              </a:p>
            </p:txBody>
          </p:sp>
        </mc:Fallback>
      </mc:AlternateContent>
      <p:sp>
        <p:nvSpPr>
          <p:cNvPr id="54" name="Rectangle : coins arrondis 53">
            <a:extLst>
              <a:ext uri="{FF2B5EF4-FFF2-40B4-BE49-F238E27FC236}">
                <a16:creationId xmlns:a16="http://schemas.microsoft.com/office/drawing/2014/main" id="{C5A7A8EC-444F-1D69-D052-571BD6CC206D}"/>
              </a:ext>
            </a:extLst>
          </p:cNvPr>
          <p:cNvSpPr/>
          <p:nvPr/>
        </p:nvSpPr>
        <p:spPr>
          <a:xfrm>
            <a:off x="4869258" y="3298330"/>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5" name="Connecteur droit avec flèche 54">
            <a:extLst>
              <a:ext uri="{FF2B5EF4-FFF2-40B4-BE49-F238E27FC236}">
                <a16:creationId xmlns:a16="http://schemas.microsoft.com/office/drawing/2014/main" id="{3324C236-7524-B725-5D15-D13554BA8B93}"/>
              </a:ext>
            </a:extLst>
          </p:cNvPr>
          <p:cNvCxnSpPr>
            <a:cxnSpLocks/>
            <a:stCxn id="54" idx="0"/>
          </p:cNvCxnSpPr>
          <p:nvPr/>
        </p:nvCxnSpPr>
        <p:spPr>
          <a:xfrm flipV="1">
            <a:off x="5148658" y="2695857"/>
            <a:ext cx="11221"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6" name="Rectangle : coins arrondis 55">
            <a:extLst>
              <a:ext uri="{FF2B5EF4-FFF2-40B4-BE49-F238E27FC236}">
                <a16:creationId xmlns:a16="http://schemas.microsoft.com/office/drawing/2014/main" id="{186C7E76-EDAC-286C-6960-066C7B825BF5}"/>
              </a:ext>
            </a:extLst>
          </p:cNvPr>
          <p:cNvSpPr/>
          <p:nvPr/>
        </p:nvSpPr>
        <p:spPr>
          <a:xfrm>
            <a:off x="6143322" y="3304426"/>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7" name="Connecteur droit avec flèche 56">
            <a:extLst>
              <a:ext uri="{FF2B5EF4-FFF2-40B4-BE49-F238E27FC236}">
                <a16:creationId xmlns:a16="http://schemas.microsoft.com/office/drawing/2014/main" id="{5CCEABE7-3E54-FE9F-B175-13A2FBA926FE}"/>
              </a:ext>
            </a:extLst>
          </p:cNvPr>
          <p:cNvCxnSpPr>
            <a:cxnSpLocks/>
            <a:stCxn id="56" idx="0"/>
          </p:cNvCxnSpPr>
          <p:nvPr/>
        </p:nvCxnSpPr>
        <p:spPr>
          <a:xfrm flipV="1">
            <a:off x="6422722" y="2701953"/>
            <a:ext cx="6534"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8" name="Rectangle : coins arrondis 57">
            <a:extLst>
              <a:ext uri="{FF2B5EF4-FFF2-40B4-BE49-F238E27FC236}">
                <a16:creationId xmlns:a16="http://schemas.microsoft.com/office/drawing/2014/main" id="{A9685A58-8D46-2283-2884-A88ED9C824EB}"/>
              </a:ext>
            </a:extLst>
          </p:cNvPr>
          <p:cNvSpPr/>
          <p:nvPr/>
        </p:nvSpPr>
        <p:spPr>
          <a:xfrm>
            <a:off x="7405194" y="3310522"/>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9" name="Connecteur droit avec flèche 58">
            <a:extLst>
              <a:ext uri="{FF2B5EF4-FFF2-40B4-BE49-F238E27FC236}">
                <a16:creationId xmlns:a16="http://schemas.microsoft.com/office/drawing/2014/main" id="{99913F4E-A078-1A7A-5E74-3BA7FA2E46B8}"/>
              </a:ext>
            </a:extLst>
          </p:cNvPr>
          <p:cNvCxnSpPr>
            <a:cxnSpLocks/>
            <a:stCxn id="58" idx="0"/>
          </p:cNvCxnSpPr>
          <p:nvPr/>
        </p:nvCxnSpPr>
        <p:spPr>
          <a:xfrm flipV="1">
            <a:off x="7684594" y="2708049"/>
            <a:ext cx="6533"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0" name="Connecteur droit avec flèche 59">
            <a:extLst>
              <a:ext uri="{FF2B5EF4-FFF2-40B4-BE49-F238E27FC236}">
                <a16:creationId xmlns:a16="http://schemas.microsoft.com/office/drawing/2014/main" id="{5272F4DD-A47A-6D38-3FF8-6F1DA3784AC2}"/>
              </a:ext>
            </a:extLst>
          </p:cNvPr>
          <p:cNvCxnSpPr>
            <a:stCxn id="51" idx="3"/>
            <a:endCxn id="54" idx="1"/>
          </p:cNvCxnSpPr>
          <p:nvPr/>
        </p:nvCxnSpPr>
        <p:spPr>
          <a:xfrm>
            <a:off x="4153994" y="3673234"/>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Connecteur droit avec flèche 60">
            <a:extLst>
              <a:ext uri="{FF2B5EF4-FFF2-40B4-BE49-F238E27FC236}">
                <a16:creationId xmlns:a16="http://schemas.microsoft.com/office/drawing/2014/main" id="{F063AF2F-F2E8-2449-D2C9-7B931D14894A}"/>
              </a:ext>
            </a:extLst>
          </p:cNvPr>
          <p:cNvCxnSpPr/>
          <p:nvPr/>
        </p:nvCxnSpPr>
        <p:spPr>
          <a:xfrm>
            <a:off x="5428058" y="3691522"/>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2" name="Connecteur droit avec flèche 61">
            <a:extLst>
              <a:ext uri="{FF2B5EF4-FFF2-40B4-BE49-F238E27FC236}">
                <a16:creationId xmlns:a16="http://schemas.microsoft.com/office/drawing/2014/main" id="{FFD21C91-A359-E1C0-96AD-C377C332701F}"/>
              </a:ext>
            </a:extLst>
          </p:cNvPr>
          <p:cNvCxnSpPr/>
          <p:nvPr/>
        </p:nvCxnSpPr>
        <p:spPr>
          <a:xfrm>
            <a:off x="6698654" y="3691522"/>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3" name="ZoneTexte 62">
                <a:extLst>
                  <a:ext uri="{FF2B5EF4-FFF2-40B4-BE49-F238E27FC236}">
                    <a16:creationId xmlns:a16="http://schemas.microsoft.com/office/drawing/2014/main" id="{6454D225-12B6-8DAF-7546-260414770202}"/>
                  </a:ext>
                </a:extLst>
              </p:cNvPr>
              <p:cNvSpPr txBox="1"/>
              <p:nvPr/>
            </p:nvSpPr>
            <p:spPr>
              <a:xfrm>
                <a:off x="5590303" y="3287878"/>
                <a:ext cx="429348" cy="30912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fr-FR" sz="1600" b="0" i="1" smtClean="0">
                              <a:latin typeface="Cambria Math" panose="02040503050406030204" pitchFamily="18" charset="0"/>
                            </a:rPr>
                          </m:ctrlPr>
                        </m:sSubSup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=2</m:t>
                          </m:r>
                        </m:sub>
                        <m:sup>
                          <m:r>
                            <a:rPr lang="fr-FR" sz="1600" b="0" i="1" smtClean="0">
                              <a:latin typeface="Cambria Math" panose="02040503050406030204" pitchFamily="18" charset="0"/>
                            </a:rPr>
                            <m:t>(2)</m:t>
                          </m:r>
                        </m:sup>
                      </m:sSubSup>
                    </m:oMath>
                  </m:oMathPara>
                </a14:m>
                <a:endParaRPr lang="en-GB" sz="1600" dirty="0"/>
              </a:p>
            </p:txBody>
          </p:sp>
        </mc:Choice>
        <mc:Fallback xmlns="">
          <p:sp>
            <p:nvSpPr>
              <p:cNvPr id="63" name="ZoneTexte 62">
                <a:extLst>
                  <a:ext uri="{FF2B5EF4-FFF2-40B4-BE49-F238E27FC236}">
                    <a16:creationId xmlns:a16="http://schemas.microsoft.com/office/drawing/2014/main" id="{6454D225-12B6-8DAF-7546-260414770202}"/>
                  </a:ext>
                </a:extLst>
              </p:cNvPr>
              <p:cNvSpPr txBox="1">
                <a:spLocks noRot="1" noChangeAspect="1" noMove="1" noResize="1" noEditPoints="1" noAdjustHandles="1" noChangeArrowheads="1" noChangeShapeType="1" noTextEdit="1"/>
              </p:cNvSpPr>
              <p:nvPr/>
            </p:nvSpPr>
            <p:spPr>
              <a:xfrm>
                <a:off x="5590303" y="3287878"/>
                <a:ext cx="429348" cy="309124"/>
              </a:xfrm>
              <a:prstGeom prst="rect">
                <a:avLst/>
              </a:prstGeom>
              <a:blipFill>
                <a:blip r:embed="rId13"/>
                <a:stretch>
                  <a:fillRect l="-11765" t="-3846" r="-5882" b="-1153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4" name="ZoneTexte 63">
                <a:extLst>
                  <a:ext uri="{FF2B5EF4-FFF2-40B4-BE49-F238E27FC236}">
                    <a16:creationId xmlns:a16="http://schemas.microsoft.com/office/drawing/2014/main" id="{2312FF54-408A-A3EE-22E6-E3AFC48647AF}"/>
                  </a:ext>
                </a:extLst>
              </p:cNvPr>
              <p:cNvSpPr txBox="1"/>
              <p:nvPr/>
            </p:nvSpPr>
            <p:spPr>
              <a:xfrm>
                <a:off x="6839983" y="3296585"/>
                <a:ext cx="429348" cy="30912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fr-FR" sz="1600" b="0" i="1" smtClean="0">
                              <a:latin typeface="Cambria Math" panose="02040503050406030204" pitchFamily="18" charset="0"/>
                            </a:rPr>
                          </m:ctrlPr>
                        </m:sSubSup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=3</m:t>
                          </m:r>
                        </m:sub>
                        <m:sup>
                          <m:r>
                            <a:rPr lang="fr-FR" sz="1600" b="0" i="1" smtClean="0">
                              <a:latin typeface="Cambria Math" panose="02040503050406030204" pitchFamily="18" charset="0"/>
                            </a:rPr>
                            <m:t>(2)</m:t>
                          </m:r>
                        </m:sup>
                      </m:sSubSup>
                    </m:oMath>
                  </m:oMathPara>
                </a14:m>
                <a:endParaRPr lang="en-GB" sz="1600" dirty="0"/>
              </a:p>
            </p:txBody>
          </p:sp>
        </mc:Choice>
        <mc:Fallback xmlns="">
          <p:sp>
            <p:nvSpPr>
              <p:cNvPr id="64" name="ZoneTexte 63">
                <a:extLst>
                  <a:ext uri="{FF2B5EF4-FFF2-40B4-BE49-F238E27FC236}">
                    <a16:creationId xmlns:a16="http://schemas.microsoft.com/office/drawing/2014/main" id="{2312FF54-408A-A3EE-22E6-E3AFC48647AF}"/>
                  </a:ext>
                </a:extLst>
              </p:cNvPr>
              <p:cNvSpPr txBox="1">
                <a:spLocks noRot="1" noChangeAspect="1" noMove="1" noResize="1" noEditPoints="1" noAdjustHandles="1" noChangeArrowheads="1" noChangeShapeType="1" noTextEdit="1"/>
              </p:cNvSpPr>
              <p:nvPr/>
            </p:nvSpPr>
            <p:spPr>
              <a:xfrm>
                <a:off x="6839983" y="3296585"/>
                <a:ext cx="429348" cy="309124"/>
              </a:xfrm>
              <a:prstGeom prst="rect">
                <a:avLst/>
              </a:prstGeom>
              <a:blipFill>
                <a:blip r:embed="rId14"/>
                <a:stretch>
                  <a:fillRect l="-11429" t="-4000" r="-2857" b="-16000"/>
                </a:stretch>
              </a:blipFill>
            </p:spPr>
            <p:txBody>
              <a:bodyPr/>
              <a:lstStyle/>
              <a:p>
                <a:r>
                  <a:rPr lang="en-GB">
                    <a:noFill/>
                  </a:rPr>
                  <a:t> </a:t>
                </a:r>
              </a:p>
            </p:txBody>
          </p:sp>
        </mc:Fallback>
      </mc:AlternateContent>
      <p:cxnSp>
        <p:nvCxnSpPr>
          <p:cNvPr id="65" name="Connecteur droit avec flèche 64">
            <a:extLst>
              <a:ext uri="{FF2B5EF4-FFF2-40B4-BE49-F238E27FC236}">
                <a16:creationId xmlns:a16="http://schemas.microsoft.com/office/drawing/2014/main" id="{FE46F4F3-A77E-7DBF-D4E4-E95B30ACF34A}"/>
              </a:ext>
            </a:extLst>
          </p:cNvPr>
          <p:cNvCxnSpPr/>
          <p:nvPr/>
        </p:nvCxnSpPr>
        <p:spPr>
          <a:xfrm>
            <a:off x="7961401" y="3687166"/>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6" name="ZoneTexte 65">
                <a:extLst>
                  <a:ext uri="{FF2B5EF4-FFF2-40B4-BE49-F238E27FC236}">
                    <a16:creationId xmlns:a16="http://schemas.microsoft.com/office/drawing/2014/main" id="{2206F09E-DF28-21C1-8D14-598E055620A5}"/>
                  </a:ext>
                </a:extLst>
              </p:cNvPr>
              <p:cNvSpPr txBox="1"/>
              <p:nvPr/>
            </p:nvSpPr>
            <p:spPr>
              <a:xfrm>
                <a:off x="8102730" y="3292229"/>
                <a:ext cx="429348" cy="3086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fr-FR" sz="1600" b="0" i="1" smtClean="0">
                              <a:latin typeface="Cambria Math" panose="02040503050406030204" pitchFamily="18" charset="0"/>
                            </a:rPr>
                          </m:ctrlPr>
                        </m:sSubSup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=4</m:t>
                          </m:r>
                        </m:sub>
                        <m:sup>
                          <m:r>
                            <a:rPr lang="fr-FR" sz="1600" b="0" i="1" smtClean="0">
                              <a:latin typeface="Cambria Math" panose="02040503050406030204" pitchFamily="18" charset="0"/>
                            </a:rPr>
                            <m:t>(2)</m:t>
                          </m:r>
                        </m:sup>
                      </m:sSubSup>
                    </m:oMath>
                  </m:oMathPara>
                </a14:m>
                <a:endParaRPr lang="en-GB" sz="1600" dirty="0"/>
              </a:p>
            </p:txBody>
          </p:sp>
        </mc:Choice>
        <mc:Fallback xmlns="">
          <p:sp>
            <p:nvSpPr>
              <p:cNvPr id="66" name="ZoneTexte 65">
                <a:extLst>
                  <a:ext uri="{FF2B5EF4-FFF2-40B4-BE49-F238E27FC236}">
                    <a16:creationId xmlns:a16="http://schemas.microsoft.com/office/drawing/2014/main" id="{2206F09E-DF28-21C1-8D14-598E055620A5}"/>
                  </a:ext>
                </a:extLst>
              </p:cNvPr>
              <p:cNvSpPr txBox="1">
                <a:spLocks noRot="1" noChangeAspect="1" noMove="1" noResize="1" noEditPoints="1" noAdjustHandles="1" noChangeArrowheads="1" noChangeShapeType="1" noTextEdit="1"/>
              </p:cNvSpPr>
              <p:nvPr/>
            </p:nvSpPr>
            <p:spPr>
              <a:xfrm>
                <a:off x="8102730" y="3292229"/>
                <a:ext cx="429348" cy="308611"/>
              </a:xfrm>
              <a:prstGeom prst="rect">
                <a:avLst/>
              </a:prstGeom>
              <a:blipFill>
                <a:blip r:embed="rId15"/>
                <a:stretch>
                  <a:fillRect l="-8571" t="-8000" r="-2857" b="-12000"/>
                </a:stretch>
              </a:blipFill>
            </p:spPr>
            <p:txBody>
              <a:bodyPr/>
              <a:lstStyle/>
              <a:p>
                <a:r>
                  <a:rPr lang="en-GB">
                    <a:noFill/>
                  </a:rPr>
                  <a:t> </a:t>
                </a:r>
              </a:p>
            </p:txBody>
          </p:sp>
        </mc:Fallback>
      </mc:AlternateContent>
      <p:cxnSp>
        <p:nvCxnSpPr>
          <p:cNvPr id="67" name="Connecteur droit avec flèche 66">
            <a:extLst>
              <a:ext uri="{FF2B5EF4-FFF2-40B4-BE49-F238E27FC236}">
                <a16:creationId xmlns:a16="http://schemas.microsoft.com/office/drawing/2014/main" id="{00D80B75-8C07-470F-797F-C32419EC6182}"/>
              </a:ext>
            </a:extLst>
          </p:cNvPr>
          <p:cNvCxnSpPr/>
          <p:nvPr/>
        </p:nvCxnSpPr>
        <p:spPr>
          <a:xfrm>
            <a:off x="2875579" y="3682810"/>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8" name="ZoneTexte 67">
                <a:extLst>
                  <a:ext uri="{FF2B5EF4-FFF2-40B4-BE49-F238E27FC236}">
                    <a16:creationId xmlns:a16="http://schemas.microsoft.com/office/drawing/2014/main" id="{7C29E40A-B4FA-9108-51AB-F2A07536971D}"/>
                  </a:ext>
                </a:extLst>
              </p:cNvPr>
              <p:cNvSpPr txBox="1"/>
              <p:nvPr/>
            </p:nvSpPr>
            <p:spPr>
              <a:xfrm>
                <a:off x="3016908" y="3287873"/>
                <a:ext cx="429348" cy="3093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fr-FR" sz="1600" b="0" i="1" smtClean="0">
                              <a:latin typeface="Cambria Math" panose="02040503050406030204" pitchFamily="18" charset="0"/>
                            </a:rPr>
                          </m:ctrlPr>
                        </m:sSubSupPr>
                        <m:e>
                          <m:r>
                            <a:rPr lang="fr-FR" sz="1600" b="0" i="1" smtClean="0">
                              <a:latin typeface="Cambria Math" panose="02040503050406030204" pitchFamily="18" charset="0"/>
                            </a:rPr>
                            <m:t>h</m:t>
                          </m:r>
                        </m:e>
                        <m:sub>
                          <m:r>
                            <a:rPr lang="fr-FR" sz="1600" b="0" i="1" smtClean="0">
                              <a:latin typeface="Cambria Math" panose="02040503050406030204" pitchFamily="18" charset="0"/>
                            </a:rPr>
                            <m:t>𝑡</m:t>
                          </m:r>
                          <m:r>
                            <a:rPr lang="fr-FR" sz="1600" b="0" i="1" smtClean="0">
                              <a:latin typeface="Cambria Math" panose="02040503050406030204" pitchFamily="18" charset="0"/>
                            </a:rPr>
                            <m:t>=0</m:t>
                          </m:r>
                        </m:sub>
                        <m:sup>
                          <m:r>
                            <a:rPr lang="fr-FR" sz="1600" b="0" i="1" smtClean="0">
                              <a:latin typeface="Cambria Math" panose="02040503050406030204" pitchFamily="18" charset="0"/>
                            </a:rPr>
                            <m:t>(2)</m:t>
                          </m:r>
                        </m:sup>
                      </m:sSubSup>
                    </m:oMath>
                  </m:oMathPara>
                </a14:m>
                <a:endParaRPr lang="en-GB" sz="1600" dirty="0"/>
              </a:p>
            </p:txBody>
          </p:sp>
        </mc:Choice>
        <mc:Fallback xmlns="">
          <p:sp>
            <p:nvSpPr>
              <p:cNvPr id="68" name="ZoneTexte 67">
                <a:extLst>
                  <a:ext uri="{FF2B5EF4-FFF2-40B4-BE49-F238E27FC236}">
                    <a16:creationId xmlns:a16="http://schemas.microsoft.com/office/drawing/2014/main" id="{7C29E40A-B4FA-9108-51AB-F2A07536971D}"/>
                  </a:ext>
                </a:extLst>
              </p:cNvPr>
              <p:cNvSpPr txBox="1">
                <a:spLocks noRot="1" noChangeAspect="1" noMove="1" noResize="1" noEditPoints="1" noAdjustHandles="1" noChangeArrowheads="1" noChangeShapeType="1" noTextEdit="1"/>
              </p:cNvSpPr>
              <p:nvPr/>
            </p:nvSpPr>
            <p:spPr>
              <a:xfrm>
                <a:off x="3016908" y="3287873"/>
                <a:ext cx="429348" cy="309315"/>
              </a:xfrm>
              <a:prstGeom prst="rect">
                <a:avLst/>
              </a:prstGeom>
              <a:blipFill>
                <a:blip r:embed="rId16"/>
                <a:stretch>
                  <a:fillRect l="-11429" t="-3846" r="-2857" b="-1153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9" name="ZoneTexte 68">
                <a:extLst>
                  <a:ext uri="{FF2B5EF4-FFF2-40B4-BE49-F238E27FC236}">
                    <a16:creationId xmlns:a16="http://schemas.microsoft.com/office/drawing/2014/main" id="{BBE6D85B-5C57-8337-88A6-3B4F7E0D7001}"/>
                  </a:ext>
                </a:extLst>
              </p:cNvPr>
              <p:cNvSpPr txBox="1"/>
              <p:nvPr/>
            </p:nvSpPr>
            <p:spPr>
              <a:xfrm>
                <a:off x="3670545" y="2408697"/>
                <a:ext cx="4247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Sub>
                    </m:oMath>
                  </m:oMathPara>
                </a14:m>
                <a:endParaRPr lang="en-GB" sz="1600" dirty="0"/>
              </a:p>
            </p:txBody>
          </p:sp>
        </mc:Choice>
        <mc:Fallback xmlns="">
          <p:sp>
            <p:nvSpPr>
              <p:cNvPr id="69" name="ZoneTexte 68">
                <a:extLst>
                  <a:ext uri="{FF2B5EF4-FFF2-40B4-BE49-F238E27FC236}">
                    <a16:creationId xmlns:a16="http://schemas.microsoft.com/office/drawing/2014/main" id="{BBE6D85B-5C57-8337-88A6-3B4F7E0D7001}"/>
                  </a:ext>
                </a:extLst>
              </p:cNvPr>
              <p:cNvSpPr txBox="1">
                <a:spLocks noRot="1" noChangeAspect="1" noMove="1" noResize="1" noEditPoints="1" noAdjustHandles="1" noChangeArrowheads="1" noChangeShapeType="1" noTextEdit="1"/>
              </p:cNvSpPr>
              <p:nvPr/>
            </p:nvSpPr>
            <p:spPr>
              <a:xfrm>
                <a:off x="3670545" y="2408697"/>
                <a:ext cx="424732" cy="246221"/>
              </a:xfrm>
              <a:prstGeom prst="rect">
                <a:avLst/>
              </a:prstGeom>
              <a:blipFill>
                <a:blip r:embed="rId17"/>
                <a:stretch>
                  <a:fillRect l="-8571" t="-14286" r="-2857" b="-1904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0" name="ZoneTexte 69">
                <a:extLst>
                  <a:ext uri="{FF2B5EF4-FFF2-40B4-BE49-F238E27FC236}">
                    <a16:creationId xmlns:a16="http://schemas.microsoft.com/office/drawing/2014/main" id="{026CE82B-5D4B-37C1-13EA-E49734B6CFBE}"/>
                  </a:ext>
                </a:extLst>
              </p:cNvPr>
              <p:cNvSpPr txBox="1"/>
              <p:nvPr/>
            </p:nvSpPr>
            <p:spPr>
              <a:xfrm>
                <a:off x="4959413" y="2417404"/>
                <a:ext cx="4247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r>
                            <a:rPr lang="fr-FR" sz="1600" b="0" i="1" smtClean="0">
                              <a:latin typeface="Cambria Math" panose="02040503050406030204" pitchFamily="18" charset="0"/>
                            </a:rPr>
                            <m:t>=2</m:t>
                          </m:r>
                        </m:sub>
                      </m:sSub>
                    </m:oMath>
                  </m:oMathPara>
                </a14:m>
                <a:endParaRPr lang="en-GB" sz="1600" dirty="0"/>
              </a:p>
            </p:txBody>
          </p:sp>
        </mc:Choice>
        <mc:Fallback xmlns="">
          <p:sp>
            <p:nvSpPr>
              <p:cNvPr id="70" name="ZoneTexte 69">
                <a:extLst>
                  <a:ext uri="{FF2B5EF4-FFF2-40B4-BE49-F238E27FC236}">
                    <a16:creationId xmlns:a16="http://schemas.microsoft.com/office/drawing/2014/main" id="{026CE82B-5D4B-37C1-13EA-E49734B6CFBE}"/>
                  </a:ext>
                </a:extLst>
              </p:cNvPr>
              <p:cNvSpPr txBox="1">
                <a:spLocks noRot="1" noChangeAspect="1" noMove="1" noResize="1" noEditPoints="1" noAdjustHandles="1" noChangeArrowheads="1" noChangeShapeType="1" noTextEdit="1"/>
              </p:cNvSpPr>
              <p:nvPr/>
            </p:nvSpPr>
            <p:spPr>
              <a:xfrm>
                <a:off x="4959413" y="2417404"/>
                <a:ext cx="424732" cy="246221"/>
              </a:xfrm>
              <a:prstGeom prst="rect">
                <a:avLst/>
              </a:prstGeom>
              <a:blipFill>
                <a:blip r:embed="rId18"/>
                <a:stretch>
                  <a:fillRect l="-11765" t="-15000" r="-5882" b="-2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1" name="ZoneTexte 70">
                <a:extLst>
                  <a:ext uri="{FF2B5EF4-FFF2-40B4-BE49-F238E27FC236}">
                    <a16:creationId xmlns:a16="http://schemas.microsoft.com/office/drawing/2014/main" id="{FD0ADB64-DA86-18B3-A0D6-DDDD1EC50C63}"/>
                  </a:ext>
                </a:extLst>
              </p:cNvPr>
              <p:cNvSpPr txBox="1"/>
              <p:nvPr/>
            </p:nvSpPr>
            <p:spPr>
              <a:xfrm>
                <a:off x="6222154" y="2413048"/>
                <a:ext cx="4247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r>
                            <a:rPr lang="fr-FR" sz="1600" b="0" i="1" smtClean="0">
                              <a:latin typeface="Cambria Math" panose="02040503050406030204" pitchFamily="18" charset="0"/>
                            </a:rPr>
                            <m:t>=3</m:t>
                          </m:r>
                        </m:sub>
                      </m:sSub>
                    </m:oMath>
                  </m:oMathPara>
                </a14:m>
                <a:endParaRPr lang="en-GB" sz="1600" dirty="0"/>
              </a:p>
            </p:txBody>
          </p:sp>
        </mc:Choice>
        <mc:Fallback xmlns="">
          <p:sp>
            <p:nvSpPr>
              <p:cNvPr id="71" name="ZoneTexte 70">
                <a:extLst>
                  <a:ext uri="{FF2B5EF4-FFF2-40B4-BE49-F238E27FC236}">
                    <a16:creationId xmlns:a16="http://schemas.microsoft.com/office/drawing/2014/main" id="{FD0ADB64-DA86-18B3-A0D6-DDDD1EC50C63}"/>
                  </a:ext>
                </a:extLst>
              </p:cNvPr>
              <p:cNvSpPr txBox="1">
                <a:spLocks noRot="1" noChangeAspect="1" noMove="1" noResize="1" noEditPoints="1" noAdjustHandles="1" noChangeArrowheads="1" noChangeShapeType="1" noTextEdit="1"/>
              </p:cNvSpPr>
              <p:nvPr/>
            </p:nvSpPr>
            <p:spPr>
              <a:xfrm>
                <a:off x="6222154" y="2413048"/>
                <a:ext cx="424732" cy="246221"/>
              </a:xfrm>
              <a:prstGeom prst="rect">
                <a:avLst/>
              </a:prstGeom>
              <a:blipFill>
                <a:blip r:embed="rId19"/>
                <a:stretch>
                  <a:fillRect l="-14706" t="-20000" r="-5882"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2" name="ZoneTexte 71">
                <a:extLst>
                  <a:ext uri="{FF2B5EF4-FFF2-40B4-BE49-F238E27FC236}">
                    <a16:creationId xmlns:a16="http://schemas.microsoft.com/office/drawing/2014/main" id="{79B91F15-B9EF-1CE0-19D9-2A2617061B8B}"/>
                  </a:ext>
                </a:extLst>
              </p:cNvPr>
              <p:cNvSpPr txBox="1"/>
              <p:nvPr/>
            </p:nvSpPr>
            <p:spPr>
              <a:xfrm>
                <a:off x="7484900" y="2421755"/>
                <a:ext cx="4247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r>
                            <a:rPr lang="fr-FR" sz="1600" b="0" i="1" smtClean="0">
                              <a:latin typeface="Cambria Math" panose="02040503050406030204" pitchFamily="18" charset="0"/>
                            </a:rPr>
                            <m:t>=4</m:t>
                          </m:r>
                        </m:sub>
                      </m:sSub>
                    </m:oMath>
                  </m:oMathPara>
                </a14:m>
                <a:endParaRPr lang="en-GB" sz="1600" dirty="0"/>
              </a:p>
            </p:txBody>
          </p:sp>
        </mc:Choice>
        <mc:Fallback xmlns="">
          <p:sp>
            <p:nvSpPr>
              <p:cNvPr id="72" name="ZoneTexte 71">
                <a:extLst>
                  <a:ext uri="{FF2B5EF4-FFF2-40B4-BE49-F238E27FC236}">
                    <a16:creationId xmlns:a16="http://schemas.microsoft.com/office/drawing/2014/main" id="{79B91F15-B9EF-1CE0-19D9-2A2617061B8B}"/>
                  </a:ext>
                </a:extLst>
              </p:cNvPr>
              <p:cNvSpPr txBox="1">
                <a:spLocks noRot="1" noChangeAspect="1" noMove="1" noResize="1" noEditPoints="1" noAdjustHandles="1" noChangeArrowheads="1" noChangeShapeType="1" noTextEdit="1"/>
              </p:cNvSpPr>
              <p:nvPr/>
            </p:nvSpPr>
            <p:spPr>
              <a:xfrm>
                <a:off x="7484900" y="2421755"/>
                <a:ext cx="424732" cy="246221"/>
              </a:xfrm>
              <a:prstGeom prst="rect">
                <a:avLst/>
              </a:prstGeom>
              <a:blipFill>
                <a:blip r:embed="rId20"/>
                <a:stretch>
                  <a:fillRect l="-11429" t="-14286" r="-2857" b="-19048"/>
                </a:stretch>
              </a:blipFill>
            </p:spPr>
            <p:txBody>
              <a:bodyPr/>
              <a:lstStyle/>
              <a:p>
                <a:r>
                  <a:rPr lang="en-GB">
                    <a:noFill/>
                  </a:rPr>
                  <a:t> </a:t>
                </a:r>
              </a:p>
            </p:txBody>
          </p:sp>
        </mc:Fallback>
      </mc:AlternateContent>
    </p:spTree>
    <p:extLst>
      <p:ext uri="{BB962C8B-B14F-4D97-AF65-F5344CB8AC3E}">
        <p14:creationId xmlns:p14="http://schemas.microsoft.com/office/powerpoint/2010/main" val="1820861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E9E33-8D27-106C-BEBB-C6108ED4861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719226D-5BE9-1E50-5926-EC75433F5F88}"/>
              </a:ext>
            </a:extLst>
          </p:cNvPr>
          <p:cNvSpPr>
            <a:spLocks noGrp="1"/>
          </p:cNvSpPr>
          <p:nvPr>
            <p:ph type="title"/>
          </p:nvPr>
        </p:nvSpPr>
        <p:spPr/>
        <p:txBody>
          <a:bodyPr/>
          <a:lstStyle/>
          <a:p>
            <a:pPr algn="ctr"/>
            <a:r>
              <a:rPr lang="en-GB" noProof="0" dirty="0"/>
              <a:t>Recurrent Neural Networks (RNN)</a:t>
            </a:r>
          </a:p>
        </p:txBody>
      </p:sp>
      <p:sp>
        <p:nvSpPr>
          <p:cNvPr id="4" name="Espace réservé du pied de page 2">
            <a:extLst>
              <a:ext uri="{FF2B5EF4-FFF2-40B4-BE49-F238E27FC236}">
                <a16:creationId xmlns:a16="http://schemas.microsoft.com/office/drawing/2014/main" id="{5E6ED821-4F01-F58B-8B38-310845651334}"/>
              </a:ext>
            </a:extLst>
          </p:cNvPr>
          <p:cNvSpPr>
            <a:spLocks noGrp="1"/>
          </p:cNvSpPr>
          <p:nvPr>
            <p:ph type="ftr" sz="quarter" idx="11"/>
          </p:nvPr>
        </p:nvSpPr>
        <p:spPr>
          <a:xfrm>
            <a:off x="4038600" y="6356350"/>
            <a:ext cx="4549346" cy="365125"/>
          </a:xfrm>
        </p:spPr>
        <p:txBody>
          <a:bodyPr/>
          <a:lstStyle/>
          <a:p>
            <a:r>
              <a:rPr lang="en-GB" noProof="1"/>
              <a:t>RNN. Author: David Thébault – Based on NLPDemystified.org</a:t>
            </a:r>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BF75AA32-BA85-34F0-3070-1C1EDFCA9998}"/>
                  </a:ext>
                </a:extLst>
              </p:cNvPr>
              <p:cNvSpPr txBox="1"/>
              <p:nvPr/>
            </p:nvSpPr>
            <p:spPr>
              <a:xfrm>
                <a:off x="838200" y="1318020"/>
                <a:ext cx="10030097" cy="1023136"/>
              </a:xfrm>
              <a:prstGeom prst="rect">
                <a:avLst/>
              </a:prstGeom>
              <a:noFill/>
            </p:spPr>
            <p:txBody>
              <a:bodyPr wrap="square" lIns="90000" rtlCol="0">
                <a:noAutofit/>
              </a:bodyPr>
              <a:lstStyle/>
              <a:p>
                <a:r>
                  <a:rPr lang="en-GB" sz="3600" b="1" dirty="0">
                    <a:latin typeface="ui-sans-serif"/>
                  </a:rPr>
                  <a:t>Bidirectional RNNs</a:t>
                </a:r>
              </a:p>
              <a:p>
                <a:pPr/>
                <a14:m>
                  <m:oMathPara xmlns:m="http://schemas.openxmlformats.org/officeDocument/2006/math">
                    <m:oMathParaPr>
                      <m:jc m:val="left"/>
                    </m:oMathParaPr>
                    <m:oMath xmlns:m="http://schemas.openxmlformats.org/officeDocument/2006/math">
                      <m:sSub>
                        <m:sSubPr>
                          <m:ctrlPr>
                            <a:rPr lang="fr-FR" sz="2400" b="0" i="1" dirty="0" smtClean="0">
                              <a:latin typeface="Cambria Math" panose="02040503050406030204" pitchFamily="18" charset="0"/>
                            </a:rPr>
                          </m:ctrlPr>
                        </m:sSubPr>
                        <m:e>
                          <m:acc>
                            <m:accPr>
                              <m:chr m:val="̂"/>
                              <m:ctrlPr>
                                <a:rPr lang="fr-FR" sz="2400" b="0" i="1" dirty="0" smtClean="0">
                                  <a:latin typeface="Cambria Math" panose="02040503050406030204" pitchFamily="18" charset="0"/>
                                </a:rPr>
                              </m:ctrlPr>
                            </m:accPr>
                            <m:e>
                              <m:r>
                                <a:rPr lang="fr-FR" sz="2400" b="0" i="1" dirty="0" smtClean="0">
                                  <a:latin typeface="Cambria Math" panose="02040503050406030204" pitchFamily="18" charset="0"/>
                                </a:rPr>
                                <m:t>𝑦</m:t>
                              </m:r>
                            </m:e>
                          </m:acc>
                        </m:e>
                        <m:sub>
                          <m:r>
                            <a:rPr lang="fr-FR" sz="2400" b="0" i="1" dirty="0" smtClean="0">
                              <a:latin typeface="Cambria Math" panose="02040503050406030204" pitchFamily="18" charset="0"/>
                            </a:rPr>
                            <m:t>𝑡</m:t>
                          </m:r>
                        </m:sub>
                      </m:sSub>
                      <m:r>
                        <a:rPr lang="fr-FR" sz="2400" b="0" i="1" dirty="0" smtClean="0">
                          <a:latin typeface="Cambria Math" panose="02040503050406030204" pitchFamily="18" charset="0"/>
                        </a:rPr>
                        <m:t>=</m:t>
                      </m:r>
                      <m:r>
                        <a:rPr lang="fr-FR" sz="2400" b="0" i="1" dirty="0" smtClean="0">
                          <a:latin typeface="Cambria Math" panose="02040503050406030204" pitchFamily="18" charset="0"/>
                        </a:rPr>
                        <m:t>𝑔</m:t>
                      </m:r>
                      <m:r>
                        <a:rPr lang="fr-FR" sz="2400" b="0" i="1" dirty="0" smtClean="0">
                          <a:latin typeface="Cambria Math" panose="02040503050406030204" pitchFamily="18" charset="0"/>
                        </a:rPr>
                        <m:t>(</m:t>
                      </m:r>
                      <m:r>
                        <a:rPr lang="fr-FR" sz="2400" b="0" i="1" dirty="0" smtClean="0">
                          <a:latin typeface="Cambria Math" panose="02040503050406030204" pitchFamily="18" charset="0"/>
                        </a:rPr>
                        <m:t>𝑉</m:t>
                      </m:r>
                      <m:d>
                        <m:dPr>
                          <m:begChr m:val="["/>
                          <m:endChr m:val="]"/>
                          <m:ctrlPr>
                            <a:rPr lang="fr-FR" sz="2400" b="0" i="1" dirty="0" smtClean="0">
                              <a:latin typeface="Cambria Math" panose="02040503050406030204" pitchFamily="18" charset="0"/>
                            </a:rPr>
                          </m:ctrlPr>
                        </m:dPr>
                        <m:e>
                          <m:sSub>
                            <m:sSubPr>
                              <m:ctrlPr>
                                <a:rPr lang="fr-FR" sz="2400" b="0" i="1" dirty="0" smtClean="0">
                                  <a:latin typeface="Cambria Math" panose="02040503050406030204" pitchFamily="18" charset="0"/>
                                </a:rPr>
                              </m:ctrlPr>
                            </m:sSubPr>
                            <m:e>
                              <m:r>
                                <a:rPr lang="fr-FR" sz="2400" b="0" i="1" dirty="0" smtClean="0">
                                  <a:latin typeface="Cambria Math" panose="02040503050406030204" pitchFamily="18" charset="0"/>
                                </a:rPr>
                                <m:t>𝑎</m:t>
                              </m:r>
                            </m:e>
                            <m:sub>
                              <m:r>
                                <a:rPr lang="fr-FR" sz="2400" b="0" i="1" dirty="0" smtClean="0">
                                  <a:latin typeface="Cambria Math" panose="02040503050406030204" pitchFamily="18" charset="0"/>
                                </a:rPr>
                                <m:t>𝑡</m:t>
                              </m:r>
                            </m:sub>
                          </m:sSub>
                          <m:r>
                            <a:rPr lang="fr-FR" sz="2400" b="0" i="1" dirty="0" smtClean="0">
                              <a:latin typeface="Cambria Math" panose="02040503050406030204" pitchFamily="18" charset="0"/>
                            </a:rPr>
                            <m:t>, </m:t>
                          </m:r>
                          <m:sSub>
                            <m:sSubPr>
                              <m:ctrlPr>
                                <a:rPr lang="fr-FR" sz="2400" b="0" i="1" dirty="0" smtClean="0">
                                  <a:latin typeface="Cambria Math" panose="02040503050406030204" pitchFamily="18" charset="0"/>
                                </a:rPr>
                              </m:ctrlPr>
                            </m:sSubPr>
                            <m:e>
                              <m:r>
                                <a:rPr lang="fr-FR" sz="2400" b="0" i="1" dirty="0" smtClean="0">
                                  <a:latin typeface="Cambria Math" panose="02040503050406030204" pitchFamily="18" charset="0"/>
                                </a:rPr>
                                <m:t>𝑏</m:t>
                              </m:r>
                            </m:e>
                            <m:sub>
                              <m:r>
                                <a:rPr lang="fr-FR" sz="2400" b="0" i="1" dirty="0" smtClean="0">
                                  <a:latin typeface="Cambria Math" panose="02040503050406030204" pitchFamily="18" charset="0"/>
                                </a:rPr>
                                <m:t>𝑡</m:t>
                              </m:r>
                            </m:sub>
                          </m:sSub>
                        </m:e>
                      </m:d>
                      <m:r>
                        <a:rPr lang="fr-FR" sz="2400" b="0" i="1" dirty="0" smtClean="0">
                          <a:latin typeface="Cambria Math" panose="02040503050406030204" pitchFamily="18" charset="0"/>
                        </a:rPr>
                        <m:t>)</m:t>
                      </m:r>
                    </m:oMath>
                  </m:oMathPara>
                </a14:m>
                <a:endParaRPr lang="en-GB" sz="2400" dirty="0">
                  <a:latin typeface="Aptos" panose="020B0004020202020204" pitchFamily="34" charset="0"/>
                </a:endParaRPr>
              </a:p>
            </p:txBody>
          </p:sp>
        </mc:Choice>
        <mc:Fallback xmlns="">
          <p:sp>
            <p:nvSpPr>
              <p:cNvPr id="5" name="ZoneTexte 4">
                <a:extLst>
                  <a:ext uri="{FF2B5EF4-FFF2-40B4-BE49-F238E27FC236}">
                    <a16:creationId xmlns:a16="http://schemas.microsoft.com/office/drawing/2014/main" id="{BF75AA32-BA85-34F0-3070-1C1EDFCA9998}"/>
                  </a:ext>
                </a:extLst>
              </p:cNvPr>
              <p:cNvSpPr txBox="1">
                <a:spLocks noRot="1" noChangeAspect="1" noMove="1" noResize="1" noEditPoints="1" noAdjustHandles="1" noChangeArrowheads="1" noChangeShapeType="1" noTextEdit="1"/>
              </p:cNvSpPr>
              <p:nvPr/>
            </p:nvSpPr>
            <p:spPr>
              <a:xfrm>
                <a:off x="838200" y="1318020"/>
                <a:ext cx="10030097" cy="1023136"/>
              </a:xfrm>
              <a:prstGeom prst="rect">
                <a:avLst/>
              </a:prstGeom>
              <a:blipFill>
                <a:blip r:embed="rId3"/>
                <a:stretch>
                  <a:fillRect l="-1899" t="-8537" b="-609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DB875E2C-12A4-3338-5CAC-D462C1EA55FD}"/>
                  </a:ext>
                </a:extLst>
              </p:cNvPr>
              <p:cNvSpPr txBox="1"/>
              <p:nvPr/>
            </p:nvSpPr>
            <p:spPr>
              <a:xfrm>
                <a:off x="3657483" y="5858424"/>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Sub>
                    </m:oMath>
                  </m:oMathPara>
                </a14:m>
                <a:endParaRPr lang="en-GB" sz="1600" dirty="0"/>
              </a:p>
            </p:txBody>
          </p:sp>
        </mc:Choice>
        <mc:Fallback xmlns="">
          <p:sp>
            <p:nvSpPr>
              <p:cNvPr id="3" name="ZoneTexte 2">
                <a:extLst>
                  <a:ext uri="{FF2B5EF4-FFF2-40B4-BE49-F238E27FC236}">
                    <a16:creationId xmlns:a16="http://schemas.microsoft.com/office/drawing/2014/main" id="{DB875E2C-12A4-3338-5CAC-D462C1EA55FD}"/>
                  </a:ext>
                </a:extLst>
              </p:cNvPr>
              <p:cNvSpPr txBox="1">
                <a:spLocks noRot="1" noChangeAspect="1" noMove="1" noResize="1" noEditPoints="1" noAdjustHandles="1" noChangeArrowheads="1" noChangeShapeType="1" noTextEdit="1"/>
              </p:cNvSpPr>
              <p:nvPr/>
            </p:nvSpPr>
            <p:spPr>
              <a:xfrm>
                <a:off x="3657483" y="5858424"/>
                <a:ext cx="424732" cy="246221"/>
              </a:xfrm>
              <a:prstGeom prst="rect">
                <a:avLst/>
              </a:prstGeom>
              <a:blipFill>
                <a:blip r:embed="rId4"/>
                <a:stretch>
                  <a:fillRect l="-14706" r="-5882" b="-15000"/>
                </a:stretch>
              </a:blipFill>
            </p:spPr>
            <p:txBody>
              <a:bodyPr/>
              <a:lstStyle/>
              <a:p>
                <a:r>
                  <a:rPr lang="en-GB">
                    <a:noFill/>
                  </a:rPr>
                  <a:t> </a:t>
                </a:r>
              </a:p>
            </p:txBody>
          </p:sp>
        </mc:Fallback>
      </mc:AlternateContent>
      <p:sp>
        <p:nvSpPr>
          <p:cNvPr id="8" name="Rectangle : coins arrondis 7">
            <a:extLst>
              <a:ext uri="{FF2B5EF4-FFF2-40B4-BE49-F238E27FC236}">
                <a16:creationId xmlns:a16="http://schemas.microsoft.com/office/drawing/2014/main" id="{113CB060-B6E3-37C8-6233-1590E4C9338A}"/>
              </a:ext>
            </a:extLst>
          </p:cNvPr>
          <p:cNvSpPr/>
          <p:nvPr/>
        </p:nvSpPr>
        <p:spPr>
          <a:xfrm>
            <a:off x="3586487" y="3623161"/>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 name="Connecteur droit avec flèche 8">
            <a:extLst>
              <a:ext uri="{FF2B5EF4-FFF2-40B4-BE49-F238E27FC236}">
                <a16:creationId xmlns:a16="http://schemas.microsoft.com/office/drawing/2014/main" id="{6DC690A5-97F8-3EDC-6141-4951C7CA1F03}"/>
              </a:ext>
            </a:extLst>
          </p:cNvPr>
          <p:cNvCxnSpPr>
            <a:cxnSpLocks/>
          </p:cNvCxnSpPr>
          <p:nvPr/>
        </p:nvCxnSpPr>
        <p:spPr>
          <a:xfrm flipV="1">
            <a:off x="4145287" y="5054752"/>
            <a:ext cx="283320" cy="703175"/>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eur droit avec flèche 10">
            <a:extLst>
              <a:ext uri="{FF2B5EF4-FFF2-40B4-BE49-F238E27FC236}">
                <a16:creationId xmlns:a16="http://schemas.microsoft.com/office/drawing/2014/main" id="{487BF34B-B18A-4E91-4184-84162D1EA860}"/>
              </a:ext>
            </a:extLst>
          </p:cNvPr>
          <p:cNvCxnSpPr>
            <a:cxnSpLocks/>
            <a:stCxn id="3" idx="0"/>
            <a:endCxn id="8" idx="2"/>
          </p:cNvCxnSpPr>
          <p:nvPr/>
        </p:nvCxnSpPr>
        <p:spPr>
          <a:xfrm flipH="1" flipV="1">
            <a:off x="3865887" y="4385161"/>
            <a:ext cx="3962" cy="14732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ZoneTexte 16">
                <a:extLst>
                  <a:ext uri="{FF2B5EF4-FFF2-40B4-BE49-F238E27FC236}">
                    <a16:creationId xmlns:a16="http://schemas.microsoft.com/office/drawing/2014/main" id="{26C84832-59F4-BB64-5FF5-69ACAAE373D1}"/>
                  </a:ext>
                </a:extLst>
              </p:cNvPr>
              <p:cNvSpPr txBox="1"/>
              <p:nvPr/>
            </p:nvSpPr>
            <p:spPr>
              <a:xfrm>
                <a:off x="4931547" y="5864520"/>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r>
                            <a:rPr lang="fr-FR" sz="1600" b="0" i="1" smtClean="0">
                              <a:latin typeface="Cambria Math" panose="02040503050406030204" pitchFamily="18" charset="0"/>
                            </a:rPr>
                            <m:t>=2</m:t>
                          </m:r>
                        </m:sub>
                      </m:sSub>
                    </m:oMath>
                  </m:oMathPara>
                </a14:m>
                <a:endParaRPr lang="en-GB" sz="1600" dirty="0"/>
              </a:p>
            </p:txBody>
          </p:sp>
        </mc:Choice>
        <mc:Fallback xmlns="">
          <p:sp>
            <p:nvSpPr>
              <p:cNvPr id="17" name="ZoneTexte 16">
                <a:extLst>
                  <a:ext uri="{FF2B5EF4-FFF2-40B4-BE49-F238E27FC236}">
                    <a16:creationId xmlns:a16="http://schemas.microsoft.com/office/drawing/2014/main" id="{26C84832-59F4-BB64-5FF5-69ACAAE373D1}"/>
                  </a:ext>
                </a:extLst>
              </p:cNvPr>
              <p:cNvSpPr txBox="1">
                <a:spLocks noRot="1" noChangeAspect="1" noMove="1" noResize="1" noEditPoints="1" noAdjustHandles="1" noChangeArrowheads="1" noChangeShapeType="1" noTextEdit="1"/>
              </p:cNvSpPr>
              <p:nvPr/>
            </p:nvSpPr>
            <p:spPr>
              <a:xfrm>
                <a:off x="4931547" y="5864520"/>
                <a:ext cx="424732" cy="246221"/>
              </a:xfrm>
              <a:prstGeom prst="rect">
                <a:avLst/>
              </a:prstGeom>
              <a:blipFill>
                <a:blip r:embed="rId5"/>
                <a:stretch>
                  <a:fillRect l="-14706" r="-8824" b="-20000"/>
                </a:stretch>
              </a:blipFill>
            </p:spPr>
            <p:txBody>
              <a:bodyPr/>
              <a:lstStyle/>
              <a:p>
                <a:r>
                  <a:rPr lang="en-GB">
                    <a:noFill/>
                  </a:rPr>
                  <a:t> </a:t>
                </a:r>
              </a:p>
            </p:txBody>
          </p:sp>
        </mc:Fallback>
      </mc:AlternateContent>
      <p:sp>
        <p:nvSpPr>
          <p:cNvPr id="23" name="Rectangle : coins arrondis 22">
            <a:extLst>
              <a:ext uri="{FF2B5EF4-FFF2-40B4-BE49-F238E27FC236}">
                <a16:creationId xmlns:a16="http://schemas.microsoft.com/office/drawing/2014/main" id="{58A6CECD-936E-D455-F0BF-702A04C5254A}"/>
              </a:ext>
            </a:extLst>
          </p:cNvPr>
          <p:cNvSpPr/>
          <p:nvPr/>
        </p:nvSpPr>
        <p:spPr>
          <a:xfrm>
            <a:off x="4860551" y="3629257"/>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4" name="Connecteur droit avec flèche 23">
            <a:extLst>
              <a:ext uri="{FF2B5EF4-FFF2-40B4-BE49-F238E27FC236}">
                <a16:creationId xmlns:a16="http://schemas.microsoft.com/office/drawing/2014/main" id="{5E5D8C73-6194-E135-5553-93EA543E81AE}"/>
              </a:ext>
            </a:extLst>
          </p:cNvPr>
          <p:cNvCxnSpPr>
            <a:cxnSpLocks/>
          </p:cNvCxnSpPr>
          <p:nvPr/>
        </p:nvCxnSpPr>
        <p:spPr>
          <a:xfrm flipV="1">
            <a:off x="5438655" y="5060848"/>
            <a:ext cx="346994" cy="797576"/>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eur droit avec flèche 24">
            <a:extLst>
              <a:ext uri="{FF2B5EF4-FFF2-40B4-BE49-F238E27FC236}">
                <a16:creationId xmlns:a16="http://schemas.microsoft.com/office/drawing/2014/main" id="{363C5A47-8697-8795-07D1-1ECD1178301A}"/>
              </a:ext>
            </a:extLst>
          </p:cNvPr>
          <p:cNvCxnSpPr>
            <a:cxnSpLocks/>
            <a:stCxn id="17" idx="0"/>
            <a:endCxn id="23" idx="2"/>
          </p:cNvCxnSpPr>
          <p:nvPr/>
        </p:nvCxnSpPr>
        <p:spPr>
          <a:xfrm flipH="1" flipV="1">
            <a:off x="5139951" y="4391257"/>
            <a:ext cx="3962" cy="14732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6" name="ZoneTexte 25">
                <a:extLst>
                  <a:ext uri="{FF2B5EF4-FFF2-40B4-BE49-F238E27FC236}">
                    <a16:creationId xmlns:a16="http://schemas.microsoft.com/office/drawing/2014/main" id="{5CAFE4B4-4B34-B8ED-5A83-8F3EF2B5885B}"/>
                  </a:ext>
                </a:extLst>
              </p:cNvPr>
              <p:cNvSpPr txBox="1"/>
              <p:nvPr/>
            </p:nvSpPr>
            <p:spPr>
              <a:xfrm>
                <a:off x="6205611" y="5870616"/>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r>
                            <a:rPr lang="fr-FR" sz="1600" b="0" i="1" smtClean="0">
                              <a:latin typeface="Cambria Math" panose="02040503050406030204" pitchFamily="18" charset="0"/>
                            </a:rPr>
                            <m:t>=3</m:t>
                          </m:r>
                        </m:sub>
                      </m:sSub>
                    </m:oMath>
                  </m:oMathPara>
                </a14:m>
                <a:endParaRPr lang="en-GB" sz="1600" dirty="0"/>
              </a:p>
            </p:txBody>
          </p:sp>
        </mc:Choice>
        <mc:Fallback xmlns="">
          <p:sp>
            <p:nvSpPr>
              <p:cNvPr id="26" name="ZoneTexte 25">
                <a:extLst>
                  <a:ext uri="{FF2B5EF4-FFF2-40B4-BE49-F238E27FC236}">
                    <a16:creationId xmlns:a16="http://schemas.microsoft.com/office/drawing/2014/main" id="{5CAFE4B4-4B34-B8ED-5A83-8F3EF2B5885B}"/>
                  </a:ext>
                </a:extLst>
              </p:cNvPr>
              <p:cNvSpPr txBox="1">
                <a:spLocks noRot="1" noChangeAspect="1" noMove="1" noResize="1" noEditPoints="1" noAdjustHandles="1" noChangeArrowheads="1" noChangeShapeType="1" noTextEdit="1"/>
              </p:cNvSpPr>
              <p:nvPr/>
            </p:nvSpPr>
            <p:spPr>
              <a:xfrm>
                <a:off x="6205611" y="5870616"/>
                <a:ext cx="424732" cy="246221"/>
              </a:xfrm>
              <a:prstGeom prst="rect">
                <a:avLst/>
              </a:prstGeom>
              <a:blipFill>
                <a:blip r:embed="rId6"/>
                <a:stretch>
                  <a:fillRect l="-14286" r="-5714" b="-15000"/>
                </a:stretch>
              </a:blipFill>
            </p:spPr>
            <p:txBody>
              <a:bodyPr/>
              <a:lstStyle/>
              <a:p>
                <a:r>
                  <a:rPr lang="en-GB">
                    <a:noFill/>
                  </a:rPr>
                  <a:t> </a:t>
                </a:r>
              </a:p>
            </p:txBody>
          </p:sp>
        </mc:Fallback>
      </mc:AlternateContent>
      <p:sp>
        <p:nvSpPr>
          <p:cNvPr id="28" name="Rectangle : coins arrondis 27">
            <a:extLst>
              <a:ext uri="{FF2B5EF4-FFF2-40B4-BE49-F238E27FC236}">
                <a16:creationId xmlns:a16="http://schemas.microsoft.com/office/drawing/2014/main" id="{762336CC-7F6F-D690-6515-C31955597AF6}"/>
              </a:ext>
            </a:extLst>
          </p:cNvPr>
          <p:cNvSpPr/>
          <p:nvPr/>
        </p:nvSpPr>
        <p:spPr>
          <a:xfrm>
            <a:off x="6134615" y="3635353"/>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9" name="Connecteur droit avec flèche 28">
            <a:extLst>
              <a:ext uri="{FF2B5EF4-FFF2-40B4-BE49-F238E27FC236}">
                <a16:creationId xmlns:a16="http://schemas.microsoft.com/office/drawing/2014/main" id="{86644051-20D0-773D-9BD7-41B4F3E7E919}"/>
              </a:ext>
            </a:extLst>
          </p:cNvPr>
          <p:cNvCxnSpPr>
            <a:cxnSpLocks/>
          </p:cNvCxnSpPr>
          <p:nvPr/>
        </p:nvCxnSpPr>
        <p:spPr>
          <a:xfrm flipV="1">
            <a:off x="6738604" y="5066944"/>
            <a:ext cx="335083" cy="717538"/>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eur droit avec flèche 29">
            <a:extLst>
              <a:ext uri="{FF2B5EF4-FFF2-40B4-BE49-F238E27FC236}">
                <a16:creationId xmlns:a16="http://schemas.microsoft.com/office/drawing/2014/main" id="{54A70021-B349-2CB4-3FC6-CF4786E4EAB7}"/>
              </a:ext>
            </a:extLst>
          </p:cNvPr>
          <p:cNvCxnSpPr>
            <a:cxnSpLocks/>
            <a:stCxn id="26" idx="0"/>
            <a:endCxn id="28" idx="2"/>
          </p:cNvCxnSpPr>
          <p:nvPr/>
        </p:nvCxnSpPr>
        <p:spPr>
          <a:xfrm flipH="1" flipV="1">
            <a:off x="6414015" y="4397353"/>
            <a:ext cx="3962" cy="14732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1" name="ZoneTexte 30">
                <a:extLst>
                  <a:ext uri="{FF2B5EF4-FFF2-40B4-BE49-F238E27FC236}">
                    <a16:creationId xmlns:a16="http://schemas.microsoft.com/office/drawing/2014/main" id="{B5E4245D-5E6A-25B6-1664-7FBF6299B5EB}"/>
                  </a:ext>
                </a:extLst>
              </p:cNvPr>
              <p:cNvSpPr txBox="1"/>
              <p:nvPr/>
            </p:nvSpPr>
            <p:spPr>
              <a:xfrm>
                <a:off x="7467483" y="5876712"/>
                <a:ext cx="424732" cy="24622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𝑡</m:t>
                          </m:r>
                          <m:r>
                            <a:rPr lang="fr-FR" sz="1600" b="0" i="1" smtClean="0">
                              <a:latin typeface="Cambria Math" panose="02040503050406030204" pitchFamily="18" charset="0"/>
                            </a:rPr>
                            <m:t>=4</m:t>
                          </m:r>
                        </m:sub>
                      </m:sSub>
                    </m:oMath>
                  </m:oMathPara>
                </a14:m>
                <a:endParaRPr lang="en-GB" sz="1600" dirty="0"/>
              </a:p>
            </p:txBody>
          </p:sp>
        </mc:Choice>
        <mc:Fallback xmlns="">
          <p:sp>
            <p:nvSpPr>
              <p:cNvPr id="31" name="ZoneTexte 30">
                <a:extLst>
                  <a:ext uri="{FF2B5EF4-FFF2-40B4-BE49-F238E27FC236}">
                    <a16:creationId xmlns:a16="http://schemas.microsoft.com/office/drawing/2014/main" id="{B5E4245D-5E6A-25B6-1664-7FBF6299B5EB}"/>
                  </a:ext>
                </a:extLst>
              </p:cNvPr>
              <p:cNvSpPr txBox="1">
                <a:spLocks noRot="1" noChangeAspect="1" noMove="1" noResize="1" noEditPoints="1" noAdjustHandles="1" noChangeArrowheads="1" noChangeShapeType="1" noTextEdit="1"/>
              </p:cNvSpPr>
              <p:nvPr/>
            </p:nvSpPr>
            <p:spPr>
              <a:xfrm>
                <a:off x="7467483" y="5876712"/>
                <a:ext cx="424732" cy="246221"/>
              </a:xfrm>
              <a:prstGeom prst="rect">
                <a:avLst/>
              </a:prstGeom>
              <a:blipFill>
                <a:blip r:embed="rId7"/>
                <a:stretch>
                  <a:fillRect l="-14706" r="-5882" b="-20000"/>
                </a:stretch>
              </a:blipFill>
            </p:spPr>
            <p:txBody>
              <a:bodyPr/>
              <a:lstStyle/>
              <a:p>
                <a:r>
                  <a:rPr lang="en-GB">
                    <a:noFill/>
                  </a:rPr>
                  <a:t> </a:t>
                </a:r>
              </a:p>
            </p:txBody>
          </p:sp>
        </mc:Fallback>
      </mc:AlternateContent>
      <p:sp>
        <p:nvSpPr>
          <p:cNvPr id="33" name="Rectangle : coins arrondis 32">
            <a:extLst>
              <a:ext uri="{FF2B5EF4-FFF2-40B4-BE49-F238E27FC236}">
                <a16:creationId xmlns:a16="http://schemas.microsoft.com/office/drawing/2014/main" id="{3E4DA22A-EA3E-738F-6EA0-377AA3BE1A7D}"/>
              </a:ext>
            </a:extLst>
          </p:cNvPr>
          <p:cNvSpPr/>
          <p:nvPr/>
        </p:nvSpPr>
        <p:spPr>
          <a:xfrm>
            <a:off x="7396487" y="3641449"/>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4" name="Connecteur droit avec flèche 33">
            <a:extLst>
              <a:ext uri="{FF2B5EF4-FFF2-40B4-BE49-F238E27FC236}">
                <a16:creationId xmlns:a16="http://schemas.microsoft.com/office/drawing/2014/main" id="{9680C327-E89E-D006-FFB0-72D547DFEFCB}"/>
              </a:ext>
            </a:extLst>
          </p:cNvPr>
          <p:cNvCxnSpPr>
            <a:cxnSpLocks/>
          </p:cNvCxnSpPr>
          <p:nvPr/>
        </p:nvCxnSpPr>
        <p:spPr>
          <a:xfrm flipV="1">
            <a:off x="7973751" y="5073040"/>
            <a:ext cx="268502" cy="785384"/>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35" name="Connecteur droit avec flèche 34">
            <a:extLst>
              <a:ext uri="{FF2B5EF4-FFF2-40B4-BE49-F238E27FC236}">
                <a16:creationId xmlns:a16="http://schemas.microsoft.com/office/drawing/2014/main" id="{C8562985-F1CA-7201-CF8F-196E29420ACC}"/>
              </a:ext>
            </a:extLst>
          </p:cNvPr>
          <p:cNvCxnSpPr>
            <a:cxnSpLocks/>
            <a:stCxn id="31" idx="0"/>
            <a:endCxn id="33" idx="2"/>
          </p:cNvCxnSpPr>
          <p:nvPr/>
        </p:nvCxnSpPr>
        <p:spPr>
          <a:xfrm flipH="1" flipV="1">
            <a:off x="7675887" y="4403449"/>
            <a:ext cx="3962" cy="14732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Connecteur droit avec flèche 37">
            <a:extLst>
              <a:ext uri="{FF2B5EF4-FFF2-40B4-BE49-F238E27FC236}">
                <a16:creationId xmlns:a16="http://schemas.microsoft.com/office/drawing/2014/main" id="{EDFEE5C5-B95F-A34E-26F5-36BFB06BF333}"/>
              </a:ext>
            </a:extLst>
          </p:cNvPr>
          <p:cNvCxnSpPr>
            <a:stCxn id="8" idx="3"/>
            <a:endCxn id="23" idx="1"/>
          </p:cNvCxnSpPr>
          <p:nvPr/>
        </p:nvCxnSpPr>
        <p:spPr>
          <a:xfrm>
            <a:off x="4145287" y="4004161"/>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Connecteur droit avec flèche 38">
            <a:extLst>
              <a:ext uri="{FF2B5EF4-FFF2-40B4-BE49-F238E27FC236}">
                <a16:creationId xmlns:a16="http://schemas.microsoft.com/office/drawing/2014/main" id="{8B5A1AA5-7B0A-8449-8D81-92FFDF778D80}"/>
              </a:ext>
            </a:extLst>
          </p:cNvPr>
          <p:cNvCxnSpPr/>
          <p:nvPr/>
        </p:nvCxnSpPr>
        <p:spPr>
          <a:xfrm>
            <a:off x="5419351" y="402244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Connecteur droit avec flèche 39">
            <a:extLst>
              <a:ext uri="{FF2B5EF4-FFF2-40B4-BE49-F238E27FC236}">
                <a16:creationId xmlns:a16="http://schemas.microsoft.com/office/drawing/2014/main" id="{7600F017-2860-FFD0-69FB-3A37C8BD5856}"/>
              </a:ext>
            </a:extLst>
          </p:cNvPr>
          <p:cNvCxnSpPr/>
          <p:nvPr/>
        </p:nvCxnSpPr>
        <p:spPr>
          <a:xfrm>
            <a:off x="6689947" y="402244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Connecteur droit avec flèche 46">
            <a:extLst>
              <a:ext uri="{FF2B5EF4-FFF2-40B4-BE49-F238E27FC236}">
                <a16:creationId xmlns:a16="http://schemas.microsoft.com/office/drawing/2014/main" id="{BC937690-A40C-F4F8-AFD5-9EA3B3F24495}"/>
              </a:ext>
            </a:extLst>
          </p:cNvPr>
          <p:cNvCxnSpPr/>
          <p:nvPr/>
        </p:nvCxnSpPr>
        <p:spPr>
          <a:xfrm>
            <a:off x="7952694" y="4018093"/>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Connecteur droit avec flèche 48">
            <a:extLst>
              <a:ext uri="{FF2B5EF4-FFF2-40B4-BE49-F238E27FC236}">
                <a16:creationId xmlns:a16="http://schemas.microsoft.com/office/drawing/2014/main" id="{84C17204-3FC7-E81D-0A90-D224AB51B40B}"/>
              </a:ext>
            </a:extLst>
          </p:cNvPr>
          <p:cNvCxnSpPr/>
          <p:nvPr/>
        </p:nvCxnSpPr>
        <p:spPr>
          <a:xfrm>
            <a:off x="2866872" y="4013737"/>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1" name="Rectangle : coins arrondis 50">
            <a:extLst>
              <a:ext uri="{FF2B5EF4-FFF2-40B4-BE49-F238E27FC236}">
                <a16:creationId xmlns:a16="http://schemas.microsoft.com/office/drawing/2014/main" id="{26DF901D-DD5E-1B5B-F0AE-5BB0FBE59F4C}"/>
              </a:ext>
            </a:extLst>
          </p:cNvPr>
          <p:cNvSpPr/>
          <p:nvPr/>
        </p:nvSpPr>
        <p:spPr>
          <a:xfrm>
            <a:off x="4192349" y="4281272"/>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2" name="Connecteur droit avec flèche 51">
            <a:extLst>
              <a:ext uri="{FF2B5EF4-FFF2-40B4-BE49-F238E27FC236}">
                <a16:creationId xmlns:a16="http://schemas.microsoft.com/office/drawing/2014/main" id="{2AB777CF-4D68-B7D1-C103-C8BB87BDA72A}"/>
              </a:ext>
            </a:extLst>
          </p:cNvPr>
          <p:cNvCxnSpPr>
            <a:cxnSpLocks/>
            <a:stCxn id="51" idx="0"/>
          </p:cNvCxnSpPr>
          <p:nvPr/>
        </p:nvCxnSpPr>
        <p:spPr>
          <a:xfrm flipH="1" flipV="1">
            <a:off x="4182609" y="3003638"/>
            <a:ext cx="289140" cy="1277634"/>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54" name="Rectangle : coins arrondis 53">
            <a:extLst>
              <a:ext uri="{FF2B5EF4-FFF2-40B4-BE49-F238E27FC236}">
                <a16:creationId xmlns:a16="http://schemas.microsoft.com/office/drawing/2014/main" id="{BAC3B6DA-95A0-B348-59D1-8E0451B61615}"/>
              </a:ext>
            </a:extLst>
          </p:cNvPr>
          <p:cNvSpPr/>
          <p:nvPr/>
        </p:nvSpPr>
        <p:spPr>
          <a:xfrm>
            <a:off x="5522396" y="4287368"/>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5" name="Connecteur droit avec flèche 54">
            <a:extLst>
              <a:ext uri="{FF2B5EF4-FFF2-40B4-BE49-F238E27FC236}">
                <a16:creationId xmlns:a16="http://schemas.microsoft.com/office/drawing/2014/main" id="{87460DD0-302E-A6A2-9BB0-8885FB0442DE}"/>
              </a:ext>
            </a:extLst>
          </p:cNvPr>
          <p:cNvCxnSpPr>
            <a:cxnSpLocks/>
            <a:stCxn id="54" idx="0"/>
          </p:cNvCxnSpPr>
          <p:nvPr/>
        </p:nvCxnSpPr>
        <p:spPr>
          <a:xfrm flipH="1" flipV="1">
            <a:off x="5490076" y="3060515"/>
            <a:ext cx="311720" cy="1226853"/>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56" name="Rectangle : coins arrondis 55">
            <a:extLst>
              <a:ext uri="{FF2B5EF4-FFF2-40B4-BE49-F238E27FC236}">
                <a16:creationId xmlns:a16="http://schemas.microsoft.com/office/drawing/2014/main" id="{7B421D98-9AAC-9715-8623-E791DE62355C}"/>
              </a:ext>
            </a:extLst>
          </p:cNvPr>
          <p:cNvSpPr/>
          <p:nvPr/>
        </p:nvSpPr>
        <p:spPr>
          <a:xfrm>
            <a:off x="6796460" y="4293464"/>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7" name="Connecteur droit avec flèche 56">
            <a:extLst>
              <a:ext uri="{FF2B5EF4-FFF2-40B4-BE49-F238E27FC236}">
                <a16:creationId xmlns:a16="http://schemas.microsoft.com/office/drawing/2014/main" id="{A93B0A24-8AD7-8724-7241-9C01C9589673}"/>
              </a:ext>
            </a:extLst>
          </p:cNvPr>
          <p:cNvCxnSpPr>
            <a:cxnSpLocks/>
            <a:stCxn id="56" idx="0"/>
          </p:cNvCxnSpPr>
          <p:nvPr/>
        </p:nvCxnSpPr>
        <p:spPr>
          <a:xfrm flipH="1" flipV="1">
            <a:off x="6795782" y="3060515"/>
            <a:ext cx="280078" cy="1232949"/>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58" name="Rectangle : coins arrondis 57">
            <a:extLst>
              <a:ext uri="{FF2B5EF4-FFF2-40B4-BE49-F238E27FC236}">
                <a16:creationId xmlns:a16="http://schemas.microsoft.com/office/drawing/2014/main" id="{9FE47C76-7150-48D1-074F-C6811991CC46}"/>
              </a:ext>
            </a:extLst>
          </p:cNvPr>
          <p:cNvSpPr/>
          <p:nvPr/>
        </p:nvSpPr>
        <p:spPr>
          <a:xfrm>
            <a:off x="8076993" y="4299560"/>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9" name="Connecteur droit avec flèche 58">
            <a:extLst>
              <a:ext uri="{FF2B5EF4-FFF2-40B4-BE49-F238E27FC236}">
                <a16:creationId xmlns:a16="http://schemas.microsoft.com/office/drawing/2014/main" id="{627F0031-70FF-93A2-D09A-F78F1FF7C2C3}"/>
              </a:ext>
            </a:extLst>
          </p:cNvPr>
          <p:cNvCxnSpPr>
            <a:cxnSpLocks/>
            <a:stCxn id="58" idx="0"/>
          </p:cNvCxnSpPr>
          <p:nvPr/>
        </p:nvCxnSpPr>
        <p:spPr>
          <a:xfrm flipH="1" flipV="1">
            <a:off x="8058529" y="3060515"/>
            <a:ext cx="297864" cy="1239045"/>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67" name="Connecteur droit avec flèche 66">
            <a:extLst>
              <a:ext uri="{FF2B5EF4-FFF2-40B4-BE49-F238E27FC236}">
                <a16:creationId xmlns:a16="http://schemas.microsoft.com/office/drawing/2014/main" id="{0EA4CC02-257D-35E8-71B3-C7D34B758AC5}"/>
              </a:ext>
            </a:extLst>
          </p:cNvPr>
          <p:cNvCxnSpPr>
            <a:cxnSpLocks/>
          </p:cNvCxnSpPr>
          <p:nvPr/>
        </p:nvCxnSpPr>
        <p:spPr>
          <a:xfrm flipH="1">
            <a:off x="4782750" y="4682300"/>
            <a:ext cx="720000" cy="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9" name="ZoneTexte 68">
                <a:extLst>
                  <a:ext uri="{FF2B5EF4-FFF2-40B4-BE49-F238E27FC236}">
                    <a16:creationId xmlns:a16="http://schemas.microsoft.com/office/drawing/2014/main" id="{60ADF65C-70BD-A666-8FD4-44B67FCF3CAE}"/>
                  </a:ext>
                </a:extLst>
              </p:cNvPr>
              <p:cNvSpPr txBox="1"/>
              <p:nvPr/>
            </p:nvSpPr>
            <p:spPr>
              <a:xfrm>
                <a:off x="3670545" y="2651290"/>
                <a:ext cx="4247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r>
                            <a:rPr lang="fr-FR" sz="1600" b="0" i="1" smtClean="0">
                              <a:latin typeface="Cambria Math" panose="02040503050406030204" pitchFamily="18" charset="0"/>
                            </a:rPr>
                            <m:t>=1</m:t>
                          </m:r>
                        </m:sub>
                      </m:sSub>
                    </m:oMath>
                  </m:oMathPara>
                </a14:m>
                <a:endParaRPr lang="en-GB" sz="1600" dirty="0"/>
              </a:p>
            </p:txBody>
          </p:sp>
        </mc:Choice>
        <mc:Fallback xmlns="">
          <p:sp>
            <p:nvSpPr>
              <p:cNvPr id="69" name="ZoneTexte 68">
                <a:extLst>
                  <a:ext uri="{FF2B5EF4-FFF2-40B4-BE49-F238E27FC236}">
                    <a16:creationId xmlns:a16="http://schemas.microsoft.com/office/drawing/2014/main" id="{60ADF65C-70BD-A666-8FD4-44B67FCF3CAE}"/>
                  </a:ext>
                </a:extLst>
              </p:cNvPr>
              <p:cNvSpPr txBox="1">
                <a:spLocks noRot="1" noChangeAspect="1" noMove="1" noResize="1" noEditPoints="1" noAdjustHandles="1" noChangeArrowheads="1" noChangeShapeType="1" noTextEdit="1"/>
              </p:cNvSpPr>
              <p:nvPr/>
            </p:nvSpPr>
            <p:spPr>
              <a:xfrm>
                <a:off x="3670545" y="2651290"/>
                <a:ext cx="424732" cy="246221"/>
              </a:xfrm>
              <a:prstGeom prst="rect">
                <a:avLst/>
              </a:prstGeom>
              <a:blipFill>
                <a:blip r:embed="rId8"/>
                <a:stretch>
                  <a:fillRect l="-8571" t="-14286" r="-2857" b="-1904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0" name="ZoneTexte 69">
                <a:extLst>
                  <a:ext uri="{FF2B5EF4-FFF2-40B4-BE49-F238E27FC236}">
                    <a16:creationId xmlns:a16="http://schemas.microsoft.com/office/drawing/2014/main" id="{26D9A1E0-EE73-763F-C77C-F8E2E3992B8E}"/>
                  </a:ext>
                </a:extLst>
              </p:cNvPr>
              <p:cNvSpPr txBox="1"/>
              <p:nvPr/>
            </p:nvSpPr>
            <p:spPr>
              <a:xfrm>
                <a:off x="4959413" y="2659997"/>
                <a:ext cx="4247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r>
                            <a:rPr lang="fr-FR" sz="1600" b="0" i="1" smtClean="0">
                              <a:latin typeface="Cambria Math" panose="02040503050406030204" pitchFamily="18" charset="0"/>
                            </a:rPr>
                            <m:t>=2</m:t>
                          </m:r>
                        </m:sub>
                      </m:sSub>
                    </m:oMath>
                  </m:oMathPara>
                </a14:m>
                <a:endParaRPr lang="en-GB" sz="1600" dirty="0"/>
              </a:p>
            </p:txBody>
          </p:sp>
        </mc:Choice>
        <mc:Fallback xmlns="">
          <p:sp>
            <p:nvSpPr>
              <p:cNvPr id="70" name="ZoneTexte 69">
                <a:extLst>
                  <a:ext uri="{FF2B5EF4-FFF2-40B4-BE49-F238E27FC236}">
                    <a16:creationId xmlns:a16="http://schemas.microsoft.com/office/drawing/2014/main" id="{26D9A1E0-EE73-763F-C77C-F8E2E3992B8E}"/>
                  </a:ext>
                </a:extLst>
              </p:cNvPr>
              <p:cNvSpPr txBox="1">
                <a:spLocks noRot="1" noChangeAspect="1" noMove="1" noResize="1" noEditPoints="1" noAdjustHandles="1" noChangeArrowheads="1" noChangeShapeType="1" noTextEdit="1"/>
              </p:cNvSpPr>
              <p:nvPr/>
            </p:nvSpPr>
            <p:spPr>
              <a:xfrm>
                <a:off x="4959413" y="2659997"/>
                <a:ext cx="424732" cy="246221"/>
              </a:xfrm>
              <a:prstGeom prst="rect">
                <a:avLst/>
              </a:prstGeom>
              <a:blipFill>
                <a:blip r:embed="rId9"/>
                <a:stretch>
                  <a:fillRect l="-11765" t="-15000" r="-5882" b="-2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1" name="ZoneTexte 70">
                <a:extLst>
                  <a:ext uri="{FF2B5EF4-FFF2-40B4-BE49-F238E27FC236}">
                    <a16:creationId xmlns:a16="http://schemas.microsoft.com/office/drawing/2014/main" id="{08F020F6-849D-A198-007C-FBBAFDA9599C}"/>
                  </a:ext>
                </a:extLst>
              </p:cNvPr>
              <p:cNvSpPr txBox="1"/>
              <p:nvPr/>
            </p:nvSpPr>
            <p:spPr>
              <a:xfrm>
                <a:off x="6222154" y="2655641"/>
                <a:ext cx="4247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r>
                            <a:rPr lang="fr-FR" sz="1600" b="0" i="1" smtClean="0">
                              <a:latin typeface="Cambria Math" panose="02040503050406030204" pitchFamily="18" charset="0"/>
                            </a:rPr>
                            <m:t>=3</m:t>
                          </m:r>
                        </m:sub>
                      </m:sSub>
                    </m:oMath>
                  </m:oMathPara>
                </a14:m>
                <a:endParaRPr lang="en-GB" sz="1600" dirty="0"/>
              </a:p>
            </p:txBody>
          </p:sp>
        </mc:Choice>
        <mc:Fallback xmlns="">
          <p:sp>
            <p:nvSpPr>
              <p:cNvPr id="71" name="ZoneTexte 70">
                <a:extLst>
                  <a:ext uri="{FF2B5EF4-FFF2-40B4-BE49-F238E27FC236}">
                    <a16:creationId xmlns:a16="http://schemas.microsoft.com/office/drawing/2014/main" id="{08F020F6-849D-A198-007C-FBBAFDA9599C}"/>
                  </a:ext>
                </a:extLst>
              </p:cNvPr>
              <p:cNvSpPr txBox="1">
                <a:spLocks noRot="1" noChangeAspect="1" noMove="1" noResize="1" noEditPoints="1" noAdjustHandles="1" noChangeArrowheads="1" noChangeShapeType="1" noTextEdit="1"/>
              </p:cNvSpPr>
              <p:nvPr/>
            </p:nvSpPr>
            <p:spPr>
              <a:xfrm>
                <a:off x="6222154" y="2655641"/>
                <a:ext cx="424732" cy="246221"/>
              </a:xfrm>
              <a:prstGeom prst="rect">
                <a:avLst/>
              </a:prstGeom>
              <a:blipFill>
                <a:blip r:embed="rId10"/>
                <a:stretch>
                  <a:fillRect l="-14706" t="-20000" r="-5882"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2" name="ZoneTexte 71">
                <a:extLst>
                  <a:ext uri="{FF2B5EF4-FFF2-40B4-BE49-F238E27FC236}">
                    <a16:creationId xmlns:a16="http://schemas.microsoft.com/office/drawing/2014/main" id="{D6A4776E-1C04-F4C6-1977-507E46E768C6}"/>
                  </a:ext>
                </a:extLst>
              </p:cNvPr>
              <p:cNvSpPr txBox="1"/>
              <p:nvPr/>
            </p:nvSpPr>
            <p:spPr>
              <a:xfrm>
                <a:off x="7484900" y="2664348"/>
                <a:ext cx="4247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b="0" i="1" smtClean="0">
                                  <a:latin typeface="Cambria Math" panose="02040503050406030204" pitchFamily="18" charset="0"/>
                                </a:rPr>
                                <m:t>𝑦</m:t>
                              </m:r>
                            </m:e>
                          </m:acc>
                        </m:e>
                        <m:sub>
                          <m:r>
                            <a:rPr lang="fr-FR" sz="1600" b="0" i="1" smtClean="0">
                              <a:latin typeface="Cambria Math" panose="02040503050406030204" pitchFamily="18" charset="0"/>
                            </a:rPr>
                            <m:t>𝑡</m:t>
                          </m:r>
                          <m:r>
                            <a:rPr lang="fr-FR" sz="1600" b="0" i="1" smtClean="0">
                              <a:latin typeface="Cambria Math" panose="02040503050406030204" pitchFamily="18" charset="0"/>
                            </a:rPr>
                            <m:t>=4</m:t>
                          </m:r>
                        </m:sub>
                      </m:sSub>
                    </m:oMath>
                  </m:oMathPara>
                </a14:m>
                <a:endParaRPr lang="en-GB" sz="1600" dirty="0"/>
              </a:p>
            </p:txBody>
          </p:sp>
        </mc:Choice>
        <mc:Fallback xmlns="">
          <p:sp>
            <p:nvSpPr>
              <p:cNvPr id="72" name="ZoneTexte 71">
                <a:extLst>
                  <a:ext uri="{FF2B5EF4-FFF2-40B4-BE49-F238E27FC236}">
                    <a16:creationId xmlns:a16="http://schemas.microsoft.com/office/drawing/2014/main" id="{D6A4776E-1C04-F4C6-1977-507E46E768C6}"/>
                  </a:ext>
                </a:extLst>
              </p:cNvPr>
              <p:cNvSpPr txBox="1">
                <a:spLocks noRot="1" noChangeAspect="1" noMove="1" noResize="1" noEditPoints="1" noAdjustHandles="1" noChangeArrowheads="1" noChangeShapeType="1" noTextEdit="1"/>
              </p:cNvSpPr>
              <p:nvPr/>
            </p:nvSpPr>
            <p:spPr>
              <a:xfrm>
                <a:off x="7484900" y="2664348"/>
                <a:ext cx="424732" cy="246221"/>
              </a:xfrm>
              <a:prstGeom prst="rect">
                <a:avLst/>
              </a:prstGeom>
              <a:blipFill>
                <a:blip r:embed="rId11"/>
                <a:stretch>
                  <a:fillRect l="-11429" t="-15000" r="-2857" b="-25000"/>
                </a:stretch>
              </a:blipFill>
            </p:spPr>
            <p:txBody>
              <a:bodyPr/>
              <a:lstStyle/>
              <a:p>
                <a:r>
                  <a:rPr lang="en-GB">
                    <a:noFill/>
                  </a:rPr>
                  <a:t> </a:t>
                </a:r>
              </a:p>
            </p:txBody>
          </p:sp>
        </mc:Fallback>
      </mc:AlternateContent>
      <p:cxnSp>
        <p:nvCxnSpPr>
          <p:cNvPr id="12" name="Connecteur droit avec flèche 11">
            <a:extLst>
              <a:ext uri="{FF2B5EF4-FFF2-40B4-BE49-F238E27FC236}">
                <a16:creationId xmlns:a16="http://schemas.microsoft.com/office/drawing/2014/main" id="{B4C593A1-BDFE-8DBA-4569-715CF2C8AE1B}"/>
              </a:ext>
            </a:extLst>
          </p:cNvPr>
          <p:cNvCxnSpPr>
            <a:cxnSpLocks/>
          </p:cNvCxnSpPr>
          <p:nvPr/>
        </p:nvCxnSpPr>
        <p:spPr>
          <a:xfrm flipV="1">
            <a:off x="3877704" y="2991446"/>
            <a:ext cx="2887"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necteur droit avec flèche 13">
            <a:extLst>
              <a:ext uri="{FF2B5EF4-FFF2-40B4-BE49-F238E27FC236}">
                <a16:creationId xmlns:a16="http://schemas.microsoft.com/office/drawing/2014/main" id="{478F9790-61EC-447D-79DE-79145FB66E88}"/>
              </a:ext>
            </a:extLst>
          </p:cNvPr>
          <p:cNvCxnSpPr>
            <a:cxnSpLocks/>
          </p:cNvCxnSpPr>
          <p:nvPr/>
        </p:nvCxnSpPr>
        <p:spPr>
          <a:xfrm flipV="1">
            <a:off x="5151768" y="2997542"/>
            <a:ext cx="11221"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20EF69FC-5FA5-F8E5-3AAF-EFFF4D7698E9}"/>
              </a:ext>
            </a:extLst>
          </p:cNvPr>
          <p:cNvCxnSpPr>
            <a:cxnSpLocks/>
          </p:cNvCxnSpPr>
          <p:nvPr/>
        </p:nvCxnSpPr>
        <p:spPr>
          <a:xfrm flipV="1">
            <a:off x="6425832" y="3003638"/>
            <a:ext cx="6534"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onnecteur droit avec flèche 15">
            <a:extLst>
              <a:ext uri="{FF2B5EF4-FFF2-40B4-BE49-F238E27FC236}">
                <a16:creationId xmlns:a16="http://schemas.microsoft.com/office/drawing/2014/main" id="{9067D160-4072-7437-48B4-D082EC7AAFD7}"/>
              </a:ext>
            </a:extLst>
          </p:cNvPr>
          <p:cNvCxnSpPr>
            <a:cxnSpLocks/>
          </p:cNvCxnSpPr>
          <p:nvPr/>
        </p:nvCxnSpPr>
        <p:spPr>
          <a:xfrm flipV="1">
            <a:off x="7687704" y="3009734"/>
            <a:ext cx="6533"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Connecteur droit avec flèche 36">
            <a:extLst>
              <a:ext uri="{FF2B5EF4-FFF2-40B4-BE49-F238E27FC236}">
                <a16:creationId xmlns:a16="http://schemas.microsoft.com/office/drawing/2014/main" id="{C8C8D0C9-8D61-6C4F-2707-CE32F92FB07A}"/>
              </a:ext>
            </a:extLst>
          </p:cNvPr>
          <p:cNvCxnSpPr>
            <a:cxnSpLocks/>
          </p:cNvCxnSpPr>
          <p:nvPr/>
        </p:nvCxnSpPr>
        <p:spPr>
          <a:xfrm flipH="1">
            <a:off x="6092143" y="4685412"/>
            <a:ext cx="720000" cy="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41" name="Connecteur droit avec flèche 40">
            <a:extLst>
              <a:ext uri="{FF2B5EF4-FFF2-40B4-BE49-F238E27FC236}">
                <a16:creationId xmlns:a16="http://schemas.microsoft.com/office/drawing/2014/main" id="{917CF27B-4497-39C1-EDEE-2D44A8BF4543}"/>
              </a:ext>
            </a:extLst>
          </p:cNvPr>
          <p:cNvCxnSpPr>
            <a:cxnSpLocks/>
          </p:cNvCxnSpPr>
          <p:nvPr/>
        </p:nvCxnSpPr>
        <p:spPr>
          <a:xfrm flipH="1">
            <a:off x="7345550" y="4688524"/>
            <a:ext cx="720000" cy="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42" name="Connecteur droit avec flèche 41">
            <a:extLst>
              <a:ext uri="{FF2B5EF4-FFF2-40B4-BE49-F238E27FC236}">
                <a16:creationId xmlns:a16="http://schemas.microsoft.com/office/drawing/2014/main" id="{5B8448D3-BF87-8B6B-7E96-C89B33E2D798}"/>
              </a:ext>
            </a:extLst>
          </p:cNvPr>
          <p:cNvCxnSpPr>
            <a:cxnSpLocks/>
          </p:cNvCxnSpPr>
          <p:nvPr/>
        </p:nvCxnSpPr>
        <p:spPr>
          <a:xfrm flipH="1">
            <a:off x="8636280" y="4672975"/>
            <a:ext cx="720000" cy="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846853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20804-1150-F2FA-AD85-9E571440A6D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775242F-86B3-2322-C033-709161CD7046}"/>
              </a:ext>
            </a:extLst>
          </p:cNvPr>
          <p:cNvSpPr>
            <a:spLocks noGrp="1"/>
          </p:cNvSpPr>
          <p:nvPr>
            <p:ph type="title"/>
          </p:nvPr>
        </p:nvSpPr>
        <p:spPr/>
        <p:txBody>
          <a:bodyPr/>
          <a:lstStyle/>
          <a:p>
            <a:pPr algn="ctr"/>
            <a:r>
              <a:rPr lang="en-GB" noProof="0" dirty="0"/>
              <a:t>Recurrent Neural Networks (RNN)</a:t>
            </a:r>
          </a:p>
        </p:txBody>
      </p:sp>
      <p:sp>
        <p:nvSpPr>
          <p:cNvPr id="5" name="ZoneTexte 4">
            <a:extLst>
              <a:ext uri="{FF2B5EF4-FFF2-40B4-BE49-F238E27FC236}">
                <a16:creationId xmlns:a16="http://schemas.microsoft.com/office/drawing/2014/main" id="{5A4359D8-53BC-7F18-0FE9-88144968AC0D}"/>
              </a:ext>
            </a:extLst>
          </p:cNvPr>
          <p:cNvSpPr txBox="1"/>
          <p:nvPr/>
        </p:nvSpPr>
        <p:spPr>
          <a:xfrm>
            <a:off x="838200" y="1318020"/>
            <a:ext cx="10030097" cy="1023136"/>
          </a:xfrm>
          <a:prstGeom prst="rect">
            <a:avLst/>
          </a:prstGeom>
          <a:noFill/>
        </p:spPr>
        <p:txBody>
          <a:bodyPr wrap="square" lIns="90000" rtlCol="0">
            <a:noAutofit/>
          </a:bodyPr>
          <a:lstStyle/>
          <a:p>
            <a:r>
              <a:rPr lang="en-GB" sz="3600" b="1" dirty="0">
                <a:latin typeface="ui-sans-serif"/>
              </a:rPr>
              <a:t>Different RNN Setups</a:t>
            </a:r>
          </a:p>
        </p:txBody>
      </p:sp>
      <p:grpSp>
        <p:nvGrpSpPr>
          <p:cNvPr id="4" name="Groupe 3">
            <a:extLst>
              <a:ext uri="{FF2B5EF4-FFF2-40B4-BE49-F238E27FC236}">
                <a16:creationId xmlns:a16="http://schemas.microsoft.com/office/drawing/2014/main" id="{5413B461-D9A8-9C2C-C66F-63C3853951C7}"/>
              </a:ext>
            </a:extLst>
          </p:cNvPr>
          <p:cNvGrpSpPr/>
          <p:nvPr/>
        </p:nvGrpSpPr>
        <p:grpSpPr>
          <a:xfrm>
            <a:off x="1323703" y="2141860"/>
            <a:ext cx="9695921" cy="3941699"/>
            <a:chOff x="80210" y="1975140"/>
            <a:chExt cx="11273590" cy="4701747"/>
          </a:xfrm>
        </p:grpSpPr>
        <p:grpSp>
          <p:nvGrpSpPr>
            <p:cNvPr id="6" name="Groupe 5">
              <a:extLst>
                <a:ext uri="{FF2B5EF4-FFF2-40B4-BE49-F238E27FC236}">
                  <a16:creationId xmlns:a16="http://schemas.microsoft.com/office/drawing/2014/main" id="{2F324DB5-BE64-9282-DF1E-5999B0E6E133}"/>
                </a:ext>
              </a:extLst>
            </p:cNvPr>
            <p:cNvGrpSpPr/>
            <p:nvPr/>
          </p:nvGrpSpPr>
          <p:grpSpPr>
            <a:xfrm>
              <a:off x="8075871" y="2152527"/>
              <a:ext cx="2877468" cy="1622997"/>
              <a:chOff x="2866872" y="2651290"/>
              <a:chExt cx="5301573" cy="2511274"/>
            </a:xfrm>
          </p:grpSpPr>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30999750-CBB1-8A1B-4226-B20B13B50D14}"/>
                      </a:ext>
                    </a:extLst>
                  </p:cNvPr>
                  <p:cNvSpPr txBox="1"/>
                  <p:nvPr/>
                </p:nvSpPr>
                <p:spPr>
                  <a:xfrm>
                    <a:off x="3657483" y="4829206"/>
                    <a:ext cx="424731" cy="333358"/>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𝑋</m:t>
                              </m:r>
                            </m:e>
                            <m:sub>
                              <m:r>
                                <a:rPr lang="fr-FR" sz="1400" b="0" i="1" smtClean="0">
                                  <a:latin typeface="Cambria Math" panose="02040503050406030204" pitchFamily="18" charset="0"/>
                                </a:rPr>
                                <m:t>𝑡</m:t>
                              </m:r>
                              <m:r>
                                <a:rPr lang="fr-FR" sz="1400" b="0" i="1" smtClean="0">
                                  <a:latin typeface="Cambria Math" panose="02040503050406030204" pitchFamily="18" charset="0"/>
                                </a:rPr>
                                <m:t>=1</m:t>
                              </m:r>
                            </m:sub>
                          </m:sSub>
                        </m:oMath>
                      </m:oMathPara>
                    </a14:m>
                    <a:endParaRPr lang="en-GB" sz="1400" dirty="0"/>
                  </a:p>
                </p:txBody>
              </p:sp>
            </mc:Choice>
            <mc:Fallback xmlns="">
              <p:sp>
                <p:nvSpPr>
                  <p:cNvPr id="3" name="ZoneTexte 2">
                    <a:extLst>
                      <a:ext uri="{FF2B5EF4-FFF2-40B4-BE49-F238E27FC236}">
                        <a16:creationId xmlns:a16="http://schemas.microsoft.com/office/drawing/2014/main" id="{30999750-CBB1-8A1B-4226-B20B13B50D14}"/>
                      </a:ext>
                    </a:extLst>
                  </p:cNvPr>
                  <p:cNvSpPr txBox="1">
                    <a:spLocks noRot="1" noChangeAspect="1" noMove="1" noResize="1" noEditPoints="1" noAdjustHandles="1" noChangeArrowheads="1" noChangeShapeType="1" noTextEdit="1"/>
                  </p:cNvSpPr>
                  <p:nvPr/>
                </p:nvSpPr>
                <p:spPr>
                  <a:xfrm>
                    <a:off x="3657483" y="4829206"/>
                    <a:ext cx="424731" cy="333358"/>
                  </a:xfrm>
                  <a:prstGeom prst="rect">
                    <a:avLst/>
                  </a:prstGeom>
                  <a:blipFill>
                    <a:blip r:embed="rId3"/>
                    <a:stretch>
                      <a:fillRect l="-23529" r="-82353" b="-20000"/>
                    </a:stretch>
                  </a:blipFill>
                </p:spPr>
                <p:txBody>
                  <a:bodyPr/>
                  <a:lstStyle/>
                  <a:p>
                    <a:r>
                      <a:rPr lang="en-GB">
                        <a:noFill/>
                      </a:rPr>
                      <a:t> </a:t>
                    </a:r>
                  </a:p>
                </p:txBody>
              </p:sp>
            </mc:Fallback>
          </mc:AlternateContent>
          <p:sp>
            <p:nvSpPr>
              <p:cNvPr id="8" name="Rectangle : coins arrondis 7">
                <a:extLst>
                  <a:ext uri="{FF2B5EF4-FFF2-40B4-BE49-F238E27FC236}">
                    <a16:creationId xmlns:a16="http://schemas.microsoft.com/office/drawing/2014/main" id="{FEE5B047-4EC2-E32B-B96F-85398A4ABCD1}"/>
                  </a:ext>
                </a:extLst>
              </p:cNvPr>
              <p:cNvSpPr/>
              <p:nvPr/>
            </p:nvSpPr>
            <p:spPr>
              <a:xfrm>
                <a:off x="3586487" y="3623161"/>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cxnSp>
            <p:nvCxnSpPr>
              <p:cNvPr id="11" name="Connecteur droit avec flèche 10">
                <a:extLst>
                  <a:ext uri="{FF2B5EF4-FFF2-40B4-BE49-F238E27FC236}">
                    <a16:creationId xmlns:a16="http://schemas.microsoft.com/office/drawing/2014/main" id="{8AB9F616-14F1-FE13-A840-498D53F9C630}"/>
                  </a:ext>
                </a:extLst>
              </p:cNvPr>
              <p:cNvCxnSpPr>
                <a:cxnSpLocks/>
                <a:stCxn id="3" idx="0"/>
                <a:endCxn id="8" idx="2"/>
              </p:cNvCxnSpPr>
              <p:nvPr/>
            </p:nvCxnSpPr>
            <p:spPr>
              <a:xfrm flipH="1" flipV="1">
                <a:off x="3865887" y="4385162"/>
                <a:ext cx="3961" cy="4440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Rectangle : coins arrondis 22">
                <a:extLst>
                  <a:ext uri="{FF2B5EF4-FFF2-40B4-BE49-F238E27FC236}">
                    <a16:creationId xmlns:a16="http://schemas.microsoft.com/office/drawing/2014/main" id="{33216E62-D062-1863-76A2-22ED1ADC5682}"/>
                  </a:ext>
                </a:extLst>
              </p:cNvPr>
              <p:cNvSpPr/>
              <p:nvPr/>
            </p:nvSpPr>
            <p:spPr>
              <a:xfrm>
                <a:off x="4860551" y="3629257"/>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28" name="Rectangle : coins arrondis 27">
                <a:extLst>
                  <a:ext uri="{FF2B5EF4-FFF2-40B4-BE49-F238E27FC236}">
                    <a16:creationId xmlns:a16="http://schemas.microsoft.com/office/drawing/2014/main" id="{45F56AE7-B63B-A2D4-49EE-B2E3A2B2FD6B}"/>
                  </a:ext>
                </a:extLst>
              </p:cNvPr>
              <p:cNvSpPr/>
              <p:nvPr/>
            </p:nvSpPr>
            <p:spPr>
              <a:xfrm>
                <a:off x="6134615" y="3635353"/>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33" name="Rectangle : coins arrondis 32">
                <a:extLst>
                  <a:ext uri="{FF2B5EF4-FFF2-40B4-BE49-F238E27FC236}">
                    <a16:creationId xmlns:a16="http://schemas.microsoft.com/office/drawing/2014/main" id="{226B1FC3-BBCC-9BBD-B194-C031EB348213}"/>
                  </a:ext>
                </a:extLst>
              </p:cNvPr>
              <p:cNvSpPr/>
              <p:nvPr/>
            </p:nvSpPr>
            <p:spPr>
              <a:xfrm>
                <a:off x="7396487" y="3641449"/>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cxnSp>
            <p:nvCxnSpPr>
              <p:cNvPr id="38" name="Connecteur droit avec flèche 37">
                <a:extLst>
                  <a:ext uri="{FF2B5EF4-FFF2-40B4-BE49-F238E27FC236}">
                    <a16:creationId xmlns:a16="http://schemas.microsoft.com/office/drawing/2014/main" id="{1C7AA8E7-6470-39B3-F43E-CFAAC5CC71D5}"/>
                  </a:ext>
                </a:extLst>
              </p:cNvPr>
              <p:cNvCxnSpPr>
                <a:stCxn id="8" idx="3"/>
                <a:endCxn id="23" idx="1"/>
              </p:cNvCxnSpPr>
              <p:nvPr/>
            </p:nvCxnSpPr>
            <p:spPr>
              <a:xfrm>
                <a:off x="4145287" y="4004161"/>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Connecteur droit avec flèche 38">
                <a:extLst>
                  <a:ext uri="{FF2B5EF4-FFF2-40B4-BE49-F238E27FC236}">
                    <a16:creationId xmlns:a16="http://schemas.microsoft.com/office/drawing/2014/main" id="{AE7653FB-E9E4-901E-C8DB-6DAFAAEBA8A9}"/>
                  </a:ext>
                </a:extLst>
              </p:cNvPr>
              <p:cNvCxnSpPr/>
              <p:nvPr/>
            </p:nvCxnSpPr>
            <p:spPr>
              <a:xfrm>
                <a:off x="5419351" y="402244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Connecteur droit avec flèche 39">
                <a:extLst>
                  <a:ext uri="{FF2B5EF4-FFF2-40B4-BE49-F238E27FC236}">
                    <a16:creationId xmlns:a16="http://schemas.microsoft.com/office/drawing/2014/main" id="{97895277-F4C2-2AD6-9299-5F7A274C03D7}"/>
                  </a:ext>
                </a:extLst>
              </p:cNvPr>
              <p:cNvCxnSpPr/>
              <p:nvPr/>
            </p:nvCxnSpPr>
            <p:spPr>
              <a:xfrm>
                <a:off x="6689947" y="402244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Connecteur droit avec flèche 48">
                <a:extLst>
                  <a:ext uri="{FF2B5EF4-FFF2-40B4-BE49-F238E27FC236}">
                    <a16:creationId xmlns:a16="http://schemas.microsoft.com/office/drawing/2014/main" id="{9F0EF243-D61F-2C14-C071-23C52D5FC5B5}"/>
                  </a:ext>
                </a:extLst>
              </p:cNvPr>
              <p:cNvCxnSpPr/>
              <p:nvPr/>
            </p:nvCxnSpPr>
            <p:spPr>
              <a:xfrm>
                <a:off x="2866872" y="4013737"/>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9" name="ZoneTexte 68">
                    <a:extLst>
                      <a:ext uri="{FF2B5EF4-FFF2-40B4-BE49-F238E27FC236}">
                        <a16:creationId xmlns:a16="http://schemas.microsoft.com/office/drawing/2014/main" id="{35257310-8D69-C8E3-38FD-172281F6B671}"/>
                      </a:ext>
                    </a:extLst>
                  </p:cNvPr>
                  <p:cNvSpPr txBox="1"/>
                  <p:nvPr/>
                </p:nvSpPr>
                <p:spPr>
                  <a:xfrm>
                    <a:off x="3670544" y="2651290"/>
                    <a:ext cx="683545" cy="3333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acc>
                                <m:accPr>
                                  <m:chr m:val="̂"/>
                                  <m:ctrlPr>
                                    <a:rPr lang="fr-FR" sz="1400" b="0" i="1" smtClean="0">
                                      <a:latin typeface="Cambria Math" panose="02040503050406030204" pitchFamily="18" charset="0"/>
                                    </a:rPr>
                                  </m:ctrlPr>
                                </m:accPr>
                                <m:e>
                                  <m:r>
                                    <a:rPr lang="fr-FR" sz="1400" b="0" i="1" smtClean="0">
                                      <a:latin typeface="Cambria Math" panose="02040503050406030204" pitchFamily="18" charset="0"/>
                                    </a:rPr>
                                    <m:t>𝑦</m:t>
                                  </m:r>
                                </m:e>
                              </m:acc>
                            </m:e>
                            <m:sub>
                              <m:r>
                                <a:rPr lang="fr-FR" sz="1400" b="0" i="1" smtClean="0">
                                  <a:latin typeface="Cambria Math" panose="02040503050406030204" pitchFamily="18" charset="0"/>
                                </a:rPr>
                                <m:t>𝑡</m:t>
                              </m:r>
                              <m:r>
                                <a:rPr lang="fr-FR" sz="1400" b="0" i="1" smtClean="0">
                                  <a:latin typeface="Cambria Math" panose="02040503050406030204" pitchFamily="18" charset="0"/>
                                </a:rPr>
                                <m:t>=1</m:t>
                              </m:r>
                            </m:sub>
                          </m:sSub>
                        </m:oMath>
                      </m:oMathPara>
                    </a14:m>
                    <a:endParaRPr lang="en-GB" sz="1400" dirty="0"/>
                  </a:p>
                </p:txBody>
              </p:sp>
            </mc:Choice>
            <mc:Fallback xmlns="">
              <p:sp>
                <p:nvSpPr>
                  <p:cNvPr id="69" name="ZoneTexte 68">
                    <a:extLst>
                      <a:ext uri="{FF2B5EF4-FFF2-40B4-BE49-F238E27FC236}">
                        <a16:creationId xmlns:a16="http://schemas.microsoft.com/office/drawing/2014/main" id="{35257310-8D69-C8E3-38FD-172281F6B671}"/>
                      </a:ext>
                    </a:extLst>
                  </p:cNvPr>
                  <p:cNvSpPr txBox="1">
                    <a:spLocks noRot="1" noChangeAspect="1" noMove="1" noResize="1" noEditPoints="1" noAdjustHandles="1" noChangeArrowheads="1" noChangeShapeType="1" noTextEdit="1"/>
                  </p:cNvSpPr>
                  <p:nvPr/>
                </p:nvSpPr>
                <p:spPr>
                  <a:xfrm>
                    <a:off x="3670544" y="2651290"/>
                    <a:ext cx="683545" cy="333358"/>
                  </a:xfrm>
                  <a:prstGeom prst="rect">
                    <a:avLst/>
                  </a:prstGeom>
                  <a:blipFill>
                    <a:blip r:embed="rId4"/>
                    <a:stretch>
                      <a:fillRect l="-19231" t="-26667" r="-15385" b="-4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0" name="ZoneTexte 69">
                    <a:extLst>
                      <a:ext uri="{FF2B5EF4-FFF2-40B4-BE49-F238E27FC236}">
                        <a16:creationId xmlns:a16="http://schemas.microsoft.com/office/drawing/2014/main" id="{D9E2A277-FC52-440B-B2BC-CF033677FBCA}"/>
                      </a:ext>
                    </a:extLst>
                  </p:cNvPr>
                  <p:cNvSpPr txBox="1"/>
                  <p:nvPr/>
                </p:nvSpPr>
                <p:spPr>
                  <a:xfrm>
                    <a:off x="4959413" y="2659997"/>
                    <a:ext cx="683545" cy="3333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acc>
                                <m:accPr>
                                  <m:chr m:val="̂"/>
                                  <m:ctrlPr>
                                    <a:rPr lang="fr-FR" sz="1400" b="0" i="1" smtClean="0">
                                      <a:latin typeface="Cambria Math" panose="02040503050406030204" pitchFamily="18" charset="0"/>
                                    </a:rPr>
                                  </m:ctrlPr>
                                </m:accPr>
                                <m:e>
                                  <m:r>
                                    <a:rPr lang="fr-FR" sz="1400" b="0" i="1" smtClean="0">
                                      <a:latin typeface="Cambria Math" panose="02040503050406030204" pitchFamily="18" charset="0"/>
                                    </a:rPr>
                                    <m:t>𝑦</m:t>
                                  </m:r>
                                </m:e>
                              </m:acc>
                            </m:e>
                            <m:sub>
                              <m:r>
                                <a:rPr lang="fr-FR" sz="1400" b="0" i="1" smtClean="0">
                                  <a:latin typeface="Cambria Math" panose="02040503050406030204" pitchFamily="18" charset="0"/>
                                </a:rPr>
                                <m:t>𝑡</m:t>
                              </m:r>
                              <m:r>
                                <a:rPr lang="fr-FR" sz="1400" b="0" i="1" smtClean="0">
                                  <a:latin typeface="Cambria Math" panose="02040503050406030204" pitchFamily="18" charset="0"/>
                                </a:rPr>
                                <m:t>=2</m:t>
                              </m:r>
                            </m:sub>
                          </m:sSub>
                        </m:oMath>
                      </m:oMathPara>
                    </a14:m>
                    <a:endParaRPr lang="en-GB" sz="1400" dirty="0"/>
                  </a:p>
                </p:txBody>
              </p:sp>
            </mc:Choice>
            <mc:Fallback xmlns="">
              <p:sp>
                <p:nvSpPr>
                  <p:cNvPr id="70" name="ZoneTexte 69">
                    <a:extLst>
                      <a:ext uri="{FF2B5EF4-FFF2-40B4-BE49-F238E27FC236}">
                        <a16:creationId xmlns:a16="http://schemas.microsoft.com/office/drawing/2014/main" id="{D9E2A277-FC52-440B-B2BC-CF033677FBCA}"/>
                      </a:ext>
                    </a:extLst>
                  </p:cNvPr>
                  <p:cNvSpPr txBox="1">
                    <a:spLocks noRot="1" noChangeAspect="1" noMove="1" noResize="1" noEditPoints="1" noAdjustHandles="1" noChangeArrowheads="1" noChangeShapeType="1" noTextEdit="1"/>
                  </p:cNvSpPr>
                  <p:nvPr/>
                </p:nvSpPr>
                <p:spPr>
                  <a:xfrm>
                    <a:off x="4959413" y="2659997"/>
                    <a:ext cx="683545" cy="333358"/>
                  </a:xfrm>
                  <a:prstGeom prst="rect">
                    <a:avLst/>
                  </a:prstGeom>
                  <a:blipFill>
                    <a:blip r:embed="rId5"/>
                    <a:stretch>
                      <a:fillRect l="-19231" t="-26667" r="-15385" b="-5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1" name="ZoneTexte 70">
                    <a:extLst>
                      <a:ext uri="{FF2B5EF4-FFF2-40B4-BE49-F238E27FC236}">
                        <a16:creationId xmlns:a16="http://schemas.microsoft.com/office/drawing/2014/main" id="{99932CCD-E081-886F-3282-EA6CA74A48FA}"/>
                      </a:ext>
                    </a:extLst>
                  </p:cNvPr>
                  <p:cNvSpPr txBox="1"/>
                  <p:nvPr/>
                </p:nvSpPr>
                <p:spPr>
                  <a:xfrm>
                    <a:off x="6222154" y="2655641"/>
                    <a:ext cx="683545" cy="3333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acc>
                                <m:accPr>
                                  <m:chr m:val="̂"/>
                                  <m:ctrlPr>
                                    <a:rPr lang="fr-FR" sz="1400" b="0" i="1" smtClean="0">
                                      <a:latin typeface="Cambria Math" panose="02040503050406030204" pitchFamily="18" charset="0"/>
                                    </a:rPr>
                                  </m:ctrlPr>
                                </m:accPr>
                                <m:e>
                                  <m:r>
                                    <a:rPr lang="fr-FR" sz="1400" b="0" i="1" smtClean="0">
                                      <a:latin typeface="Cambria Math" panose="02040503050406030204" pitchFamily="18" charset="0"/>
                                    </a:rPr>
                                    <m:t>𝑦</m:t>
                                  </m:r>
                                </m:e>
                              </m:acc>
                            </m:e>
                            <m:sub>
                              <m:r>
                                <a:rPr lang="fr-FR" sz="1400" b="0" i="1" smtClean="0">
                                  <a:latin typeface="Cambria Math" panose="02040503050406030204" pitchFamily="18" charset="0"/>
                                </a:rPr>
                                <m:t>𝑡</m:t>
                              </m:r>
                              <m:r>
                                <a:rPr lang="fr-FR" sz="1400" b="0" i="1" smtClean="0">
                                  <a:latin typeface="Cambria Math" panose="02040503050406030204" pitchFamily="18" charset="0"/>
                                </a:rPr>
                                <m:t>=3</m:t>
                              </m:r>
                            </m:sub>
                          </m:sSub>
                        </m:oMath>
                      </m:oMathPara>
                    </a14:m>
                    <a:endParaRPr lang="en-GB" sz="1400" dirty="0"/>
                  </a:p>
                </p:txBody>
              </p:sp>
            </mc:Choice>
            <mc:Fallback xmlns="">
              <p:sp>
                <p:nvSpPr>
                  <p:cNvPr id="71" name="ZoneTexte 70">
                    <a:extLst>
                      <a:ext uri="{FF2B5EF4-FFF2-40B4-BE49-F238E27FC236}">
                        <a16:creationId xmlns:a16="http://schemas.microsoft.com/office/drawing/2014/main" id="{99932CCD-E081-886F-3282-EA6CA74A48FA}"/>
                      </a:ext>
                    </a:extLst>
                  </p:cNvPr>
                  <p:cNvSpPr txBox="1">
                    <a:spLocks noRot="1" noChangeAspect="1" noMove="1" noResize="1" noEditPoints="1" noAdjustHandles="1" noChangeArrowheads="1" noChangeShapeType="1" noTextEdit="1"/>
                  </p:cNvSpPr>
                  <p:nvPr/>
                </p:nvSpPr>
                <p:spPr>
                  <a:xfrm>
                    <a:off x="6222154" y="2655641"/>
                    <a:ext cx="683545" cy="333358"/>
                  </a:xfrm>
                  <a:prstGeom prst="rect">
                    <a:avLst/>
                  </a:prstGeom>
                  <a:blipFill>
                    <a:blip r:embed="rId6"/>
                    <a:stretch>
                      <a:fillRect l="-19231" t="-26667" r="-15385" b="-4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2" name="ZoneTexte 71">
                    <a:extLst>
                      <a:ext uri="{FF2B5EF4-FFF2-40B4-BE49-F238E27FC236}">
                        <a16:creationId xmlns:a16="http://schemas.microsoft.com/office/drawing/2014/main" id="{B918C799-E936-FD61-02EB-DF3FEF26CCE2}"/>
                      </a:ext>
                    </a:extLst>
                  </p:cNvPr>
                  <p:cNvSpPr txBox="1"/>
                  <p:nvPr/>
                </p:nvSpPr>
                <p:spPr>
                  <a:xfrm>
                    <a:off x="7484900" y="2664348"/>
                    <a:ext cx="683545" cy="3333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acc>
                                <m:accPr>
                                  <m:chr m:val="̂"/>
                                  <m:ctrlPr>
                                    <a:rPr lang="fr-FR" sz="1400" b="0" i="1" smtClean="0">
                                      <a:latin typeface="Cambria Math" panose="02040503050406030204" pitchFamily="18" charset="0"/>
                                    </a:rPr>
                                  </m:ctrlPr>
                                </m:accPr>
                                <m:e>
                                  <m:r>
                                    <a:rPr lang="fr-FR" sz="1400" b="0" i="1" smtClean="0">
                                      <a:latin typeface="Cambria Math" panose="02040503050406030204" pitchFamily="18" charset="0"/>
                                    </a:rPr>
                                    <m:t>𝑦</m:t>
                                  </m:r>
                                </m:e>
                              </m:acc>
                            </m:e>
                            <m:sub>
                              <m:r>
                                <a:rPr lang="fr-FR" sz="1400" b="0" i="1" smtClean="0">
                                  <a:latin typeface="Cambria Math" panose="02040503050406030204" pitchFamily="18" charset="0"/>
                                </a:rPr>
                                <m:t>𝑡</m:t>
                              </m:r>
                              <m:r>
                                <a:rPr lang="fr-FR" sz="1400" b="0" i="1" smtClean="0">
                                  <a:latin typeface="Cambria Math" panose="02040503050406030204" pitchFamily="18" charset="0"/>
                                </a:rPr>
                                <m:t>=4</m:t>
                              </m:r>
                            </m:sub>
                          </m:sSub>
                        </m:oMath>
                      </m:oMathPara>
                    </a14:m>
                    <a:endParaRPr lang="en-GB" sz="1400" dirty="0"/>
                  </a:p>
                </p:txBody>
              </p:sp>
            </mc:Choice>
            <mc:Fallback xmlns="">
              <p:sp>
                <p:nvSpPr>
                  <p:cNvPr id="72" name="ZoneTexte 71">
                    <a:extLst>
                      <a:ext uri="{FF2B5EF4-FFF2-40B4-BE49-F238E27FC236}">
                        <a16:creationId xmlns:a16="http://schemas.microsoft.com/office/drawing/2014/main" id="{B918C799-E936-FD61-02EB-DF3FEF26CCE2}"/>
                      </a:ext>
                    </a:extLst>
                  </p:cNvPr>
                  <p:cNvSpPr txBox="1">
                    <a:spLocks noRot="1" noChangeAspect="1" noMove="1" noResize="1" noEditPoints="1" noAdjustHandles="1" noChangeArrowheads="1" noChangeShapeType="1" noTextEdit="1"/>
                  </p:cNvSpPr>
                  <p:nvPr/>
                </p:nvSpPr>
                <p:spPr>
                  <a:xfrm>
                    <a:off x="7484900" y="2664348"/>
                    <a:ext cx="683545" cy="333358"/>
                  </a:xfrm>
                  <a:prstGeom prst="rect">
                    <a:avLst/>
                  </a:prstGeom>
                  <a:blipFill>
                    <a:blip r:embed="rId7"/>
                    <a:stretch>
                      <a:fillRect l="-19231" t="-25000" r="-15385" b="-43750"/>
                    </a:stretch>
                  </a:blipFill>
                </p:spPr>
                <p:txBody>
                  <a:bodyPr/>
                  <a:lstStyle/>
                  <a:p>
                    <a:r>
                      <a:rPr lang="en-GB">
                        <a:noFill/>
                      </a:rPr>
                      <a:t> </a:t>
                    </a:r>
                  </a:p>
                </p:txBody>
              </p:sp>
            </mc:Fallback>
          </mc:AlternateContent>
          <p:cxnSp>
            <p:nvCxnSpPr>
              <p:cNvPr id="12" name="Connecteur droit avec flèche 11">
                <a:extLst>
                  <a:ext uri="{FF2B5EF4-FFF2-40B4-BE49-F238E27FC236}">
                    <a16:creationId xmlns:a16="http://schemas.microsoft.com/office/drawing/2014/main" id="{7AFBB6CF-41B9-493B-FF0A-1A892C5DCE6C}"/>
                  </a:ext>
                </a:extLst>
              </p:cNvPr>
              <p:cNvCxnSpPr>
                <a:cxnSpLocks/>
              </p:cNvCxnSpPr>
              <p:nvPr/>
            </p:nvCxnSpPr>
            <p:spPr>
              <a:xfrm flipV="1">
                <a:off x="3877704" y="2991446"/>
                <a:ext cx="2887"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necteur droit avec flèche 13">
                <a:extLst>
                  <a:ext uri="{FF2B5EF4-FFF2-40B4-BE49-F238E27FC236}">
                    <a16:creationId xmlns:a16="http://schemas.microsoft.com/office/drawing/2014/main" id="{7F1CF389-0B22-39CA-741C-1E33833AF624}"/>
                  </a:ext>
                </a:extLst>
              </p:cNvPr>
              <p:cNvCxnSpPr>
                <a:cxnSpLocks/>
              </p:cNvCxnSpPr>
              <p:nvPr/>
            </p:nvCxnSpPr>
            <p:spPr>
              <a:xfrm flipV="1">
                <a:off x="5151768" y="2997542"/>
                <a:ext cx="11221"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1A15E664-CFF0-52B5-F92C-A801BFC9DD27}"/>
                  </a:ext>
                </a:extLst>
              </p:cNvPr>
              <p:cNvCxnSpPr>
                <a:cxnSpLocks/>
              </p:cNvCxnSpPr>
              <p:nvPr/>
            </p:nvCxnSpPr>
            <p:spPr>
              <a:xfrm flipV="1">
                <a:off x="6425832" y="3003638"/>
                <a:ext cx="6534"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onnecteur droit avec flèche 15">
                <a:extLst>
                  <a:ext uri="{FF2B5EF4-FFF2-40B4-BE49-F238E27FC236}">
                    <a16:creationId xmlns:a16="http://schemas.microsoft.com/office/drawing/2014/main" id="{DFC9CC06-2DBC-93C4-2FDC-3ED5A1566FE9}"/>
                  </a:ext>
                </a:extLst>
              </p:cNvPr>
              <p:cNvCxnSpPr>
                <a:cxnSpLocks/>
              </p:cNvCxnSpPr>
              <p:nvPr/>
            </p:nvCxnSpPr>
            <p:spPr>
              <a:xfrm flipV="1">
                <a:off x="7687704" y="3009734"/>
                <a:ext cx="6533"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7" name="Groupe 6">
              <a:extLst>
                <a:ext uri="{FF2B5EF4-FFF2-40B4-BE49-F238E27FC236}">
                  <a16:creationId xmlns:a16="http://schemas.microsoft.com/office/drawing/2014/main" id="{90888273-05E2-829C-F2BD-6D83F16D519F}"/>
                </a:ext>
              </a:extLst>
            </p:cNvPr>
            <p:cNvGrpSpPr/>
            <p:nvPr/>
          </p:nvGrpSpPr>
          <p:grpSpPr>
            <a:xfrm>
              <a:off x="4311658" y="2169785"/>
              <a:ext cx="2837460" cy="1577592"/>
              <a:chOff x="2866872" y="2664348"/>
              <a:chExt cx="5312660" cy="2522037"/>
            </a:xfrm>
          </p:grpSpPr>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7B1AD164-D302-4292-4B92-87016C346C79}"/>
                      </a:ext>
                    </a:extLst>
                  </p:cNvPr>
                  <p:cNvSpPr txBox="1"/>
                  <p:nvPr/>
                </p:nvSpPr>
                <p:spPr>
                  <a:xfrm>
                    <a:off x="3657484" y="4823675"/>
                    <a:ext cx="424732" cy="344422"/>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𝑋</m:t>
                              </m:r>
                            </m:e>
                            <m:sub>
                              <m:r>
                                <a:rPr lang="fr-FR" sz="1400" b="0" i="1" smtClean="0">
                                  <a:latin typeface="Cambria Math" panose="02040503050406030204" pitchFamily="18" charset="0"/>
                                </a:rPr>
                                <m:t>𝑡</m:t>
                              </m:r>
                              <m:r>
                                <a:rPr lang="fr-FR" sz="1400" b="0" i="1" smtClean="0">
                                  <a:latin typeface="Cambria Math" panose="02040503050406030204" pitchFamily="18" charset="0"/>
                                </a:rPr>
                                <m:t>=1</m:t>
                              </m:r>
                            </m:sub>
                          </m:sSub>
                        </m:oMath>
                      </m:oMathPara>
                    </a14:m>
                    <a:endParaRPr lang="en-GB" sz="1400" dirty="0"/>
                  </a:p>
                </p:txBody>
              </p:sp>
            </mc:Choice>
            <mc:Fallback xmlns="">
              <p:sp>
                <p:nvSpPr>
                  <p:cNvPr id="10" name="ZoneTexte 9">
                    <a:extLst>
                      <a:ext uri="{FF2B5EF4-FFF2-40B4-BE49-F238E27FC236}">
                        <a16:creationId xmlns:a16="http://schemas.microsoft.com/office/drawing/2014/main" id="{7B1AD164-D302-4292-4B92-87016C346C79}"/>
                      </a:ext>
                    </a:extLst>
                  </p:cNvPr>
                  <p:cNvSpPr txBox="1">
                    <a:spLocks noRot="1" noChangeAspect="1" noMove="1" noResize="1" noEditPoints="1" noAdjustHandles="1" noChangeArrowheads="1" noChangeShapeType="1" noTextEdit="1"/>
                  </p:cNvSpPr>
                  <p:nvPr/>
                </p:nvSpPr>
                <p:spPr>
                  <a:xfrm>
                    <a:off x="3657484" y="4823675"/>
                    <a:ext cx="424732" cy="344422"/>
                  </a:xfrm>
                  <a:prstGeom prst="rect">
                    <a:avLst/>
                  </a:prstGeom>
                  <a:blipFill>
                    <a:blip r:embed="rId8"/>
                    <a:stretch>
                      <a:fillRect l="-31250" r="-87500" b="-18750"/>
                    </a:stretch>
                  </a:blipFill>
                </p:spPr>
                <p:txBody>
                  <a:bodyPr/>
                  <a:lstStyle/>
                  <a:p>
                    <a:r>
                      <a:rPr lang="en-GB">
                        <a:noFill/>
                      </a:rPr>
                      <a:t> </a:t>
                    </a:r>
                  </a:p>
                </p:txBody>
              </p:sp>
            </mc:Fallback>
          </mc:AlternateContent>
          <p:sp>
            <p:nvSpPr>
              <p:cNvPr id="13" name="Rectangle : coins arrondis 12">
                <a:extLst>
                  <a:ext uri="{FF2B5EF4-FFF2-40B4-BE49-F238E27FC236}">
                    <a16:creationId xmlns:a16="http://schemas.microsoft.com/office/drawing/2014/main" id="{58C2598A-B046-7200-A60B-5964411C35F3}"/>
                  </a:ext>
                </a:extLst>
              </p:cNvPr>
              <p:cNvSpPr/>
              <p:nvPr/>
            </p:nvSpPr>
            <p:spPr>
              <a:xfrm>
                <a:off x="3586487" y="3623161"/>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cxnSp>
            <p:nvCxnSpPr>
              <p:cNvPr id="18" name="Connecteur droit avec flèche 17">
                <a:extLst>
                  <a:ext uri="{FF2B5EF4-FFF2-40B4-BE49-F238E27FC236}">
                    <a16:creationId xmlns:a16="http://schemas.microsoft.com/office/drawing/2014/main" id="{81A6CC09-40EF-A8F6-C15F-BA5594844931}"/>
                  </a:ext>
                </a:extLst>
              </p:cNvPr>
              <p:cNvCxnSpPr>
                <a:cxnSpLocks/>
                <a:stCxn id="10" idx="0"/>
                <a:endCxn id="13" idx="2"/>
              </p:cNvCxnSpPr>
              <p:nvPr/>
            </p:nvCxnSpPr>
            <p:spPr>
              <a:xfrm flipH="1" flipV="1">
                <a:off x="3865887" y="4385162"/>
                <a:ext cx="3964" cy="4385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02C6D049-DBDD-D51E-F62A-76F5A133D7BF}"/>
                      </a:ext>
                    </a:extLst>
                  </p:cNvPr>
                  <p:cNvSpPr txBox="1"/>
                  <p:nvPr/>
                </p:nvSpPr>
                <p:spPr>
                  <a:xfrm>
                    <a:off x="4931548" y="4829771"/>
                    <a:ext cx="424732" cy="344422"/>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𝑋</m:t>
                              </m:r>
                            </m:e>
                            <m:sub>
                              <m:r>
                                <a:rPr lang="fr-FR" sz="1400" b="0" i="1" smtClean="0">
                                  <a:latin typeface="Cambria Math" panose="02040503050406030204" pitchFamily="18" charset="0"/>
                                </a:rPr>
                                <m:t>𝑡</m:t>
                              </m:r>
                              <m:r>
                                <a:rPr lang="fr-FR" sz="1400" b="0" i="1" smtClean="0">
                                  <a:latin typeface="Cambria Math" panose="02040503050406030204" pitchFamily="18" charset="0"/>
                                </a:rPr>
                                <m:t>=2</m:t>
                              </m:r>
                            </m:sub>
                          </m:sSub>
                        </m:oMath>
                      </m:oMathPara>
                    </a14:m>
                    <a:endParaRPr lang="en-GB" sz="1400" dirty="0"/>
                  </a:p>
                </p:txBody>
              </p:sp>
            </mc:Choice>
            <mc:Fallback xmlns="">
              <p:sp>
                <p:nvSpPr>
                  <p:cNvPr id="19" name="ZoneTexte 18">
                    <a:extLst>
                      <a:ext uri="{FF2B5EF4-FFF2-40B4-BE49-F238E27FC236}">
                        <a16:creationId xmlns:a16="http://schemas.microsoft.com/office/drawing/2014/main" id="{02C6D049-DBDD-D51E-F62A-76F5A133D7BF}"/>
                      </a:ext>
                    </a:extLst>
                  </p:cNvPr>
                  <p:cNvSpPr txBox="1">
                    <a:spLocks noRot="1" noChangeAspect="1" noMove="1" noResize="1" noEditPoints="1" noAdjustHandles="1" noChangeArrowheads="1" noChangeShapeType="1" noTextEdit="1"/>
                  </p:cNvSpPr>
                  <p:nvPr/>
                </p:nvSpPr>
                <p:spPr>
                  <a:xfrm>
                    <a:off x="4931548" y="4829771"/>
                    <a:ext cx="424732" cy="344422"/>
                  </a:xfrm>
                  <a:prstGeom prst="rect">
                    <a:avLst/>
                  </a:prstGeom>
                  <a:blipFill>
                    <a:blip r:embed="rId9"/>
                    <a:stretch>
                      <a:fillRect l="-31250" r="-87500" b="-18750"/>
                    </a:stretch>
                  </a:blipFill>
                </p:spPr>
                <p:txBody>
                  <a:bodyPr/>
                  <a:lstStyle/>
                  <a:p>
                    <a:r>
                      <a:rPr lang="en-GB">
                        <a:noFill/>
                      </a:rPr>
                      <a:t> </a:t>
                    </a:r>
                  </a:p>
                </p:txBody>
              </p:sp>
            </mc:Fallback>
          </mc:AlternateContent>
          <p:sp>
            <p:nvSpPr>
              <p:cNvPr id="20" name="Rectangle : coins arrondis 19">
                <a:extLst>
                  <a:ext uri="{FF2B5EF4-FFF2-40B4-BE49-F238E27FC236}">
                    <a16:creationId xmlns:a16="http://schemas.microsoft.com/office/drawing/2014/main" id="{CDDB91FA-C0CA-407D-59D8-62CFF259A5DD}"/>
                  </a:ext>
                </a:extLst>
              </p:cNvPr>
              <p:cNvSpPr/>
              <p:nvPr/>
            </p:nvSpPr>
            <p:spPr>
              <a:xfrm>
                <a:off x="4860551" y="3629257"/>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cxnSp>
            <p:nvCxnSpPr>
              <p:cNvPr id="21" name="Connecteur droit avec flèche 20">
                <a:extLst>
                  <a:ext uri="{FF2B5EF4-FFF2-40B4-BE49-F238E27FC236}">
                    <a16:creationId xmlns:a16="http://schemas.microsoft.com/office/drawing/2014/main" id="{4B7E6330-60AC-22C0-F0D0-E3AF10B83994}"/>
                  </a:ext>
                </a:extLst>
              </p:cNvPr>
              <p:cNvCxnSpPr>
                <a:cxnSpLocks/>
                <a:stCxn id="19" idx="0"/>
                <a:endCxn id="20" idx="2"/>
              </p:cNvCxnSpPr>
              <p:nvPr/>
            </p:nvCxnSpPr>
            <p:spPr>
              <a:xfrm flipH="1" flipV="1">
                <a:off x="5139951" y="4391258"/>
                <a:ext cx="3964" cy="4385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2" name="ZoneTexte 21">
                    <a:extLst>
                      <a:ext uri="{FF2B5EF4-FFF2-40B4-BE49-F238E27FC236}">
                        <a16:creationId xmlns:a16="http://schemas.microsoft.com/office/drawing/2014/main" id="{1E9BB308-9D87-FCD4-8FFB-54075B86641F}"/>
                      </a:ext>
                    </a:extLst>
                  </p:cNvPr>
                  <p:cNvSpPr txBox="1"/>
                  <p:nvPr/>
                </p:nvSpPr>
                <p:spPr>
                  <a:xfrm>
                    <a:off x="6205612" y="4835867"/>
                    <a:ext cx="424732" cy="344422"/>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𝑋</m:t>
                              </m:r>
                            </m:e>
                            <m:sub>
                              <m:r>
                                <a:rPr lang="fr-FR" sz="1400" b="0" i="1" smtClean="0">
                                  <a:latin typeface="Cambria Math" panose="02040503050406030204" pitchFamily="18" charset="0"/>
                                </a:rPr>
                                <m:t>𝑡</m:t>
                              </m:r>
                              <m:r>
                                <a:rPr lang="fr-FR" sz="1400" b="0" i="1" smtClean="0">
                                  <a:latin typeface="Cambria Math" panose="02040503050406030204" pitchFamily="18" charset="0"/>
                                </a:rPr>
                                <m:t>=3</m:t>
                              </m:r>
                            </m:sub>
                          </m:sSub>
                        </m:oMath>
                      </m:oMathPara>
                    </a14:m>
                    <a:endParaRPr lang="en-GB" sz="1400" dirty="0"/>
                  </a:p>
                </p:txBody>
              </p:sp>
            </mc:Choice>
            <mc:Fallback xmlns="">
              <p:sp>
                <p:nvSpPr>
                  <p:cNvPr id="22" name="ZoneTexte 21">
                    <a:extLst>
                      <a:ext uri="{FF2B5EF4-FFF2-40B4-BE49-F238E27FC236}">
                        <a16:creationId xmlns:a16="http://schemas.microsoft.com/office/drawing/2014/main" id="{1E9BB308-9D87-FCD4-8FFB-54075B86641F}"/>
                      </a:ext>
                    </a:extLst>
                  </p:cNvPr>
                  <p:cNvSpPr txBox="1">
                    <a:spLocks noRot="1" noChangeAspect="1" noMove="1" noResize="1" noEditPoints="1" noAdjustHandles="1" noChangeArrowheads="1" noChangeShapeType="1" noTextEdit="1"/>
                  </p:cNvSpPr>
                  <p:nvPr/>
                </p:nvSpPr>
                <p:spPr>
                  <a:xfrm>
                    <a:off x="6205612" y="4835867"/>
                    <a:ext cx="424732" cy="344422"/>
                  </a:xfrm>
                  <a:prstGeom prst="rect">
                    <a:avLst/>
                  </a:prstGeom>
                  <a:blipFill>
                    <a:blip r:embed="rId10"/>
                    <a:stretch>
                      <a:fillRect l="-29412" r="-76471" b="-20000"/>
                    </a:stretch>
                  </a:blipFill>
                </p:spPr>
                <p:txBody>
                  <a:bodyPr/>
                  <a:lstStyle/>
                  <a:p>
                    <a:r>
                      <a:rPr lang="en-GB">
                        <a:noFill/>
                      </a:rPr>
                      <a:t> </a:t>
                    </a:r>
                  </a:p>
                </p:txBody>
              </p:sp>
            </mc:Fallback>
          </mc:AlternateContent>
          <p:sp>
            <p:nvSpPr>
              <p:cNvPr id="27" name="Rectangle : coins arrondis 26">
                <a:extLst>
                  <a:ext uri="{FF2B5EF4-FFF2-40B4-BE49-F238E27FC236}">
                    <a16:creationId xmlns:a16="http://schemas.microsoft.com/office/drawing/2014/main" id="{758E885B-1F19-7E61-7FCB-D08139E3F0C6}"/>
                  </a:ext>
                </a:extLst>
              </p:cNvPr>
              <p:cNvSpPr/>
              <p:nvPr/>
            </p:nvSpPr>
            <p:spPr>
              <a:xfrm>
                <a:off x="6134615" y="3635353"/>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cxnSp>
            <p:nvCxnSpPr>
              <p:cNvPr id="32" name="Connecteur droit avec flèche 31">
                <a:extLst>
                  <a:ext uri="{FF2B5EF4-FFF2-40B4-BE49-F238E27FC236}">
                    <a16:creationId xmlns:a16="http://schemas.microsoft.com/office/drawing/2014/main" id="{9F5783B4-7FBF-C308-9D15-996B993830D7}"/>
                  </a:ext>
                </a:extLst>
              </p:cNvPr>
              <p:cNvCxnSpPr>
                <a:cxnSpLocks/>
                <a:stCxn id="22" idx="0"/>
                <a:endCxn id="27" idx="2"/>
              </p:cNvCxnSpPr>
              <p:nvPr/>
            </p:nvCxnSpPr>
            <p:spPr>
              <a:xfrm flipH="1" flipV="1">
                <a:off x="6414015" y="4397354"/>
                <a:ext cx="3964" cy="4385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ZoneTexte 35">
                    <a:extLst>
                      <a:ext uri="{FF2B5EF4-FFF2-40B4-BE49-F238E27FC236}">
                        <a16:creationId xmlns:a16="http://schemas.microsoft.com/office/drawing/2014/main" id="{2BA91367-3FDC-1C31-0322-7CC4CA4DF970}"/>
                      </a:ext>
                    </a:extLst>
                  </p:cNvPr>
                  <p:cNvSpPr txBox="1"/>
                  <p:nvPr/>
                </p:nvSpPr>
                <p:spPr>
                  <a:xfrm>
                    <a:off x="7467483" y="4841963"/>
                    <a:ext cx="424732" cy="344422"/>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𝑋</m:t>
                              </m:r>
                            </m:e>
                            <m:sub>
                              <m:r>
                                <a:rPr lang="fr-FR" sz="1400" b="0" i="1" smtClean="0">
                                  <a:latin typeface="Cambria Math" panose="02040503050406030204" pitchFamily="18" charset="0"/>
                                </a:rPr>
                                <m:t>𝑡</m:t>
                              </m:r>
                              <m:r>
                                <a:rPr lang="fr-FR" sz="1400" b="0" i="1" smtClean="0">
                                  <a:latin typeface="Cambria Math" panose="02040503050406030204" pitchFamily="18" charset="0"/>
                                </a:rPr>
                                <m:t>=4</m:t>
                              </m:r>
                            </m:sub>
                          </m:sSub>
                        </m:oMath>
                      </m:oMathPara>
                    </a14:m>
                    <a:endParaRPr lang="en-GB" sz="1400" dirty="0"/>
                  </a:p>
                </p:txBody>
              </p:sp>
            </mc:Choice>
            <mc:Fallback xmlns="">
              <p:sp>
                <p:nvSpPr>
                  <p:cNvPr id="36" name="ZoneTexte 35">
                    <a:extLst>
                      <a:ext uri="{FF2B5EF4-FFF2-40B4-BE49-F238E27FC236}">
                        <a16:creationId xmlns:a16="http://schemas.microsoft.com/office/drawing/2014/main" id="{2BA91367-3FDC-1C31-0322-7CC4CA4DF970}"/>
                      </a:ext>
                    </a:extLst>
                  </p:cNvPr>
                  <p:cNvSpPr txBox="1">
                    <a:spLocks noRot="1" noChangeAspect="1" noMove="1" noResize="1" noEditPoints="1" noAdjustHandles="1" noChangeArrowheads="1" noChangeShapeType="1" noTextEdit="1"/>
                  </p:cNvSpPr>
                  <p:nvPr/>
                </p:nvSpPr>
                <p:spPr>
                  <a:xfrm>
                    <a:off x="7467483" y="4841963"/>
                    <a:ext cx="424732" cy="344422"/>
                  </a:xfrm>
                  <a:prstGeom prst="rect">
                    <a:avLst/>
                  </a:prstGeom>
                  <a:blipFill>
                    <a:blip r:embed="rId11"/>
                    <a:stretch>
                      <a:fillRect l="-31250" r="-93750" b="-26667"/>
                    </a:stretch>
                  </a:blipFill>
                </p:spPr>
                <p:txBody>
                  <a:bodyPr/>
                  <a:lstStyle/>
                  <a:p>
                    <a:r>
                      <a:rPr lang="en-GB">
                        <a:noFill/>
                      </a:rPr>
                      <a:t> </a:t>
                    </a:r>
                  </a:p>
                </p:txBody>
              </p:sp>
            </mc:Fallback>
          </mc:AlternateContent>
          <p:sp>
            <p:nvSpPr>
              <p:cNvPr id="43" name="Rectangle : coins arrondis 42">
                <a:extLst>
                  <a:ext uri="{FF2B5EF4-FFF2-40B4-BE49-F238E27FC236}">
                    <a16:creationId xmlns:a16="http://schemas.microsoft.com/office/drawing/2014/main" id="{52916EA7-A131-1474-F7EE-EE989859802A}"/>
                  </a:ext>
                </a:extLst>
              </p:cNvPr>
              <p:cNvSpPr/>
              <p:nvPr/>
            </p:nvSpPr>
            <p:spPr>
              <a:xfrm>
                <a:off x="7396487" y="3641449"/>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cxnSp>
            <p:nvCxnSpPr>
              <p:cNvPr id="44" name="Connecteur droit avec flèche 43">
                <a:extLst>
                  <a:ext uri="{FF2B5EF4-FFF2-40B4-BE49-F238E27FC236}">
                    <a16:creationId xmlns:a16="http://schemas.microsoft.com/office/drawing/2014/main" id="{D164D98B-B3D6-57E7-BE13-8C0EF6289B6D}"/>
                  </a:ext>
                </a:extLst>
              </p:cNvPr>
              <p:cNvCxnSpPr>
                <a:cxnSpLocks/>
                <a:stCxn id="36" idx="0"/>
                <a:endCxn id="43" idx="2"/>
              </p:cNvCxnSpPr>
              <p:nvPr/>
            </p:nvCxnSpPr>
            <p:spPr>
              <a:xfrm flipH="1" flipV="1">
                <a:off x="7675887" y="4403448"/>
                <a:ext cx="3964" cy="4385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Connecteur droit avec flèche 44">
                <a:extLst>
                  <a:ext uri="{FF2B5EF4-FFF2-40B4-BE49-F238E27FC236}">
                    <a16:creationId xmlns:a16="http://schemas.microsoft.com/office/drawing/2014/main" id="{F9D795CE-3D84-B23E-0511-B0D9BE6BF324}"/>
                  </a:ext>
                </a:extLst>
              </p:cNvPr>
              <p:cNvCxnSpPr>
                <a:stCxn id="13" idx="3"/>
                <a:endCxn id="20" idx="1"/>
              </p:cNvCxnSpPr>
              <p:nvPr/>
            </p:nvCxnSpPr>
            <p:spPr>
              <a:xfrm>
                <a:off x="4145287" y="4004161"/>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Connecteur droit avec flèche 45">
                <a:extLst>
                  <a:ext uri="{FF2B5EF4-FFF2-40B4-BE49-F238E27FC236}">
                    <a16:creationId xmlns:a16="http://schemas.microsoft.com/office/drawing/2014/main" id="{B3B7376E-B2D9-7E04-3115-65754E835913}"/>
                  </a:ext>
                </a:extLst>
              </p:cNvPr>
              <p:cNvCxnSpPr/>
              <p:nvPr/>
            </p:nvCxnSpPr>
            <p:spPr>
              <a:xfrm>
                <a:off x="5419351" y="402244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Connecteur droit avec flèche 47">
                <a:extLst>
                  <a:ext uri="{FF2B5EF4-FFF2-40B4-BE49-F238E27FC236}">
                    <a16:creationId xmlns:a16="http://schemas.microsoft.com/office/drawing/2014/main" id="{CEFC9675-656B-2EA4-D7A6-76ADB916866D}"/>
                  </a:ext>
                </a:extLst>
              </p:cNvPr>
              <p:cNvCxnSpPr/>
              <p:nvPr/>
            </p:nvCxnSpPr>
            <p:spPr>
              <a:xfrm>
                <a:off x="6689947" y="402244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Connecteur droit avec flèche 52">
                <a:extLst>
                  <a:ext uri="{FF2B5EF4-FFF2-40B4-BE49-F238E27FC236}">
                    <a16:creationId xmlns:a16="http://schemas.microsoft.com/office/drawing/2014/main" id="{89064BA8-B894-7403-8732-0DBB04D948E9}"/>
                  </a:ext>
                </a:extLst>
              </p:cNvPr>
              <p:cNvCxnSpPr/>
              <p:nvPr/>
            </p:nvCxnSpPr>
            <p:spPr>
              <a:xfrm>
                <a:off x="2866872" y="4013737"/>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3" name="ZoneTexte 62">
                    <a:extLst>
                      <a:ext uri="{FF2B5EF4-FFF2-40B4-BE49-F238E27FC236}">
                        <a16:creationId xmlns:a16="http://schemas.microsoft.com/office/drawing/2014/main" id="{1450B158-4225-97E3-E1B0-07C7D1394F95}"/>
                      </a:ext>
                    </a:extLst>
                  </p:cNvPr>
                  <p:cNvSpPr txBox="1"/>
                  <p:nvPr/>
                </p:nvSpPr>
                <p:spPr>
                  <a:xfrm>
                    <a:off x="7484900" y="2664348"/>
                    <a:ext cx="694632" cy="3444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acc>
                                <m:accPr>
                                  <m:chr m:val="̂"/>
                                  <m:ctrlPr>
                                    <a:rPr lang="fr-FR" sz="1400" b="0" i="1" smtClean="0">
                                      <a:latin typeface="Cambria Math" panose="02040503050406030204" pitchFamily="18" charset="0"/>
                                    </a:rPr>
                                  </m:ctrlPr>
                                </m:accPr>
                                <m:e>
                                  <m:r>
                                    <a:rPr lang="fr-FR" sz="1400" b="0" i="1" smtClean="0">
                                      <a:latin typeface="Cambria Math" panose="02040503050406030204" pitchFamily="18" charset="0"/>
                                    </a:rPr>
                                    <m:t>𝑦</m:t>
                                  </m:r>
                                </m:e>
                              </m:acc>
                            </m:e>
                            <m:sub>
                              <m:r>
                                <a:rPr lang="fr-FR" sz="1400" b="0" i="1" smtClean="0">
                                  <a:latin typeface="Cambria Math" panose="02040503050406030204" pitchFamily="18" charset="0"/>
                                </a:rPr>
                                <m:t>𝑡</m:t>
                              </m:r>
                              <m:r>
                                <a:rPr lang="fr-FR" sz="1400" b="0" i="1" smtClean="0">
                                  <a:latin typeface="Cambria Math" panose="02040503050406030204" pitchFamily="18" charset="0"/>
                                </a:rPr>
                                <m:t>=1</m:t>
                              </m:r>
                            </m:sub>
                          </m:sSub>
                        </m:oMath>
                      </m:oMathPara>
                    </a14:m>
                    <a:endParaRPr lang="en-GB" sz="1400" dirty="0"/>
                  </a:p>
                </p:txBody>
              </p:sp>
            </mc:Choice>
            <mc:Fallback xmlns="">
              <p:sp>
                <p:nvSpPr>
                  <p:cNvPr id="63" name="ZoneTexte 62">
                    <a:extLst>
                      <a:ext uri="{FF2B5EF4-FFF2-40B4-BE49-F238E27FC236}">
                        <a16:creationId xmlns:a16="http://schemas.microsoft.com/office/drawing/2014/main" id="{1450B158-4225-97E3-E1B0-07C7D1394F95}"/>
                      </a:ext>
                    </a:extLst>
                  </p:cNvPr>
                  <p:cNvSpPr txBox="1">
                    <a:spLocks noRot="1" noChangeAspect="1" noMove="1" noResize="1" noEditPoints="1" noAdjustHandles="1" noChangeArrowheads="1" noChangeShapeType="1" noTextEdit="1"/>
                  </p:cNvSpPr>
                  <p:nvPr/>
                </p:nvSpPr>
                <p:spPr>
                  <a:xfrm>
                    <a:off x="7484900" y="2664348"/>
                    <a:ext cx="694632" cy="344422"/>
                  </a:xfrm>
                  <a:prstGeom prst="rect">
                    <a:avLst/>
                  </a:prstGeom>
                  <a:blipFill>
                    <a:blip r:embed="rId12"/>
                    <a:stretch>
                      <a:fillRect l="-19231" t="-26667" r="-15385" b="-46667"/>
                    </a:stretch>
                  </a:blipFill>
                </p:spPr>
                <p:txBody>
                  <a:bodyPr/>
                  <a:lstStyle/>
                  <a:p>
                    <a:r>
                      <a:rPr lang="en-GB">
                        <a:noFill/>
                      </a:rPr>
                      <a:t> </a:t>
                    </a:r>
                  </a:p>
                </p:txBody>
              </p:sp>
            </mc:Fallback>
          </mc:AlternateContent>
          <p:cxnSp>
            <p:nvCxnSpPr>
              <p:cNvPr id="68" name="Connecteur droit avec flèche 67">
                <a:extLst>
                  <a:ext uri="{FF2B5EF4-FFF2-40B4-BE49-F238E27FC236}">
                    <a16:creationId xmlns:a16="http://schemas.microsoft.com/office/drawing/2014/main" id="{6C264EC8-825D-0655-EEA1-F4CE65B56DA5}"/>
                  </a:ext>
                </a:extLst>
              </p:cNvPr>
              <p:cNvCxnSpPr>
                <a:cxnSpLocks/>
              </p:cNvCxnSpPr>
              <p:nvPr/>
            </p:nvCxnSpPr>
            <p:spPr>
              <a:xfrm flipV="1">
                <a:off x="7687704" y="3009734"/>
                <a:ext cx="6533"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73" name="Groupe 72">
              <a:extLst>
                <a:ext uri="{FF2B5EF4-FFF2-40B4-BE49-F238E27FC236}">
                  <a16:creationId xmlns:a16="http://schemas.microsoft.com/office/drawing/2014/main" id="{CDBBBFC0-ECC8-590D-49A6-5208F01CE748}"/>
                </a:ext>
              </a:extLst>
            </p:cNvPr>
            <p:cNvGrpSpPr/>
            <p:nvPr/>
          </p:nvGrpSpPr>
          <p:grpSpPr>
            <a:xfrm>
              <a:off x="499849" y="2156520"/>
              <a:ext cx="2753226" cy="1578658"/>
              <a:chOff x="2866872" y="2664348"/>
              <a:chExt cx="5337222" cy="2502283"/>
            </a:xfrm>
          </p:grpSpPr>
          <mc:AlternateContent xmlns:mc="http://schemas.openxmlformats.org/markup-compatibility/2006" xmlns:a14="http://schemas.microsoft.com/office/drawing/2010/main">
            <mc:Choice Requires="a14">
              <p:sp>
                <p:nvSpPr>
                  <p:cNvPr id="74" name="ZoneTexte 73">
                    <a:extLst>
                      <a:ext uri="{FF2B5EF4-FFF2-40B4-BE49-F238E27FC236}">
                        <a16:creationId xmlns:a16="http://schemas.microsoft.com/office/drawing/2014/main" id="{8911540E-A038-B329-1721-32B4A39F4C98}"/>
                      </a:ext>
                    </a:extLst>
                  </p:cNvPr>
                  <p:cNvSpPr txBox="1"/>
                  <p:nvPr/>
                </p:nvSpPr>
                <p:spPr>
                  <a:xfrm>
                    <a:off x="3657484" y="4825137"/>
                    <a:ext cx="424733" cy="341494"/>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𝑋</m:t>
                              </m:r>
                            </m:e>
                            <m:sub>
                              <m:r>
                                <a:rPr lang="fr-FR" sz="1400" b="0" i="1" smtClean="0">
                                  <a:latin typeface="Cambria Math" panose="02040503050406030204" pitchFamily="18" charset="0"/>
                                </a:rPr>
                                <m:t>𝑡</m:t>
                              </m:r>
                              <m:r>
                                <a:rPr lang="fr-FR" sz="1400" b="0" i="1" smtClean="0">
                                  <a:latin typeface="Cambria Math" panose="02040503050406030204" pitchFamily="18" charset="0"/>
                                </a:rPr>
                                <m:t>=1</m:t>
                              </m:r>
                            </m:sub>
                          </m:sSub>
                        </m:oMath>
                      </m:oMathPara>
                    </a14:m>
                    <a:endParaRPr lang="en-GB" sz="1400" dirty="0"/>
                  </a:p>
                </p:txBody>
              </p:sp>
            </mc:Choice>
            <mc:Fallback xmlns="">
              <p:sp>
                <p:nvSpPr>
                  <p:cNvPr id="74" name="ZoneTexte 73">
                    <a:extLst>
                      <a:ext uri="{FF2B5EF4-FFF2-40B4-BE49-F238E27FC236}">
                        <a16:creationId xmlns:a16="http://schemas.microsoft.com/office/drawing/2014/main" id="{8911540E-A038-B329-1721-32B4A39F4C98}"/>
                      </a:ext>
                    </a:extLst>
                  </p:cNvPr>
                  <p:cNvSpPr txBox="1">
                    <a:spLocks noRot="1" noChangeAspect="1" noMove="1" noResize="1" noEditPoints="1" noAdjustHandles="1" noChangeArrowheads="1" noChangeShapeType="1" noTextEdit="1"/>
                  </p:cNvSpPr>
                  <p:nvPr/>
                </p:nvSpPr>
                <p:spPr>
                  <a:xfrm>
                    <a:off x="3657484" y="4825137"/>
                    <a:ext cx="424733" cy="341494"/>
                  </a:xfrm>
                  <a:prstGeom prst="rect">
                    <a:avLst/>
                  </a:prstGeom>
                  <a:blipFill>
                    <a:blip r:embed="rId13"/>
                    <a:stretch>
                      <a:fillRect l="-31250" r="-93750" b="-26667"/>
                    </a:stretch>
                  </a:blipFill>
                </p:spPr>
                <p:txBody>
                  <a:bodyPr/>
                  <a:lstStyle/>
                  <a:p>
                    <a:r>
                      <a:rPr lang="en-GB">
                        <a:noFill/>
                      </a:rPr>
                      <a:t> </a:t>
                    </a:r>
                  </a:p>
                </p:txBody>
              </p:sp>
            </mc:Fallback>
          </mc:AlternateContent>
          <p:sp>
            <p:nvSpPr>
              <p:cNvPr id="75" name="Rectangle : coins arrondis 74">
                <a:extLst>
                  <a:ext uri="{FF2B5EF4-FFF2-40B4-BE49-F238E27FC236}">
                    <a16:creationId xmlns:a16="http://schemas.microsoft.com/office/drawing/2014/main" id="{8E32A1A3-0CB8-724B-BBA7-4F7A329E8E6D}"/>
                  </a:ext>
                </a:extLst>
              </p:cNvPr>
              <p:cNvSpPr/>
              <p:nvPr/>
            </p:nvSpPr>
            <p:spPr>
              <a:xfrm>
                <a:off x="3586487" y="3623161"/>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cxnSp>
            <p:nvCxnSpPr>
              <p:cNvPr id="76" name="Connecteur droit avec flèche 75">
                <a:extLst>
                  <a:ext uri="{FF2B5EF4-FFF2-40B4-BE49-F238E27FC236}">
                    <a16:creationId xmlns:a16="http://schemas.microsoft.com/office/drawing/2014/main" id="{3A699F95-EFA4-2D7E-F3A0-761EA32DAAE9}"/>
                  </a:ext>
                </a:extLst>
              </p:cNvPr>
              <p:cNvCxnSpPr>
                <a:cxnSpLocks/>
                <a:stCxn id="74" idx="0"/>
                <a:endCxn id="75" idx="2"/>
              </p:cNvCxnSpPr>
              <p:nvPr/>
            </p:nvCxnSpPr>
            <p:spPr>
              <a:xfrm flipH="1" flipV="1">
                <a:off x="3865888" y="4385162"/>
                <a:ext cx="3962" cy="4399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8" name="Rectangle : coins arrondis 77">
                <a:extLst>
                  <a:ext uri="{FF2B5EF4-FFF2-40B4-BE49-F238E27FC236}">
                    <a16:creationId xmlns:a16="http://schemas.microsoft.com/office/drawing/2014/main" id="{8B29E6DD-C8E9-DFCF-4277-5E11461B5796}"/>
                  </a:ext>
                </a:extLst>
              </p:cNvPr>
              <p:cNvSpPr/>
              <p:nvPr/>
            </p:nvSpPr>
            <p:spPr>
              <a:xfrm>
                <a:off x="4860551" y="3629257"/>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81" name="Rectangle : coins arrondis 80">
                <a:extLst>
                  <a:ext uri="{FF2B5EF4-FFF2-40B4-BE49-F238E27FC236}">
                    <a16:creationId xmlns:a16="http://schemas.microsoft.com/office/drawing/2014/main" id="{04455500-8ECB-29D0-4928-07AC42B86095}"/>
                  </a:ext>
                </a:extLst>
              </p:cNvPr>
              <p:cNvSpPr/>
              <p:nvPr/>
            </p:nvSpPr>
            <p:spPr>
              <a:xfrm>
                <a:off x="6134615" y="3635353"/>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84" name="Rectangle : coins arrondis 83">
                <a:extLst>
                  <a:ext uri="{FF2B5EF4-FFF2-40B4-BE49-F238E27FC236}">
                    <a16:creationId xmlns:a16="http://schemas.microsoft.com/office/drawing/2014/main" id="{62F4C783-3B8D-2A07-D803-6DA823ACDB71}"/>
                  </a:ext>
                </a:extLst>
              </p:cNvPr>
              <p:cNvSpPr/>
              <p:nvPr/>
            </p:nvSpPr>
            <p:spPr>
              <a:xfrm>
                <a:off x="7396487" y="3641449"/>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cxnSp>
            <p:nvCxnSpPr>
              <p:cNvPr id="86" name="Connecteur droit avec flèche 85">
                <a:extLst>
                  <a:ext uri="{FF2B5EF4-FFF2-40B4-BE49-F238E27FC236}">
                    <a16:creationId xmlns:a16="http://schemas.microsoft.com/office/drawing/2014/main" id="{5C8CB4E0-0F2B-D56C-F6CA-3E81B03F2B5A}"/>
                  </a:ext>
                </a:extLst>
              </p:cNvPr>
              <p:cNvCxnSpPr>
                <a:stCxn id="75" idx="3"/>
                <a:endCxn id="78" idx="1"/>
              </p:cNvCxnSpPr>
              <p:nvPr/>
            </p:nvCxnSpPr>
            <p:spPr>
              <a:xfrm>
                <a:off x="4145287" y="4004161"/>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7" name="Connecteur droit avec flèche 86">
                <a:extLst>
                  <a:ext uri="{FF2B5EF4-FFF2-40B4-BE49-F238E27FC236}">
                    <a16:creationId xmlns:a16="http://schemas.microsoft.com/office/drawing/2014/main" id="{7131D871-F44A-DE89-6723-09E895A00E5C}"/>
                  </a:ext>
                </a:extLst>
              </p:cNvPr>
              <p:cNvCxnSpPr/>
              <p:nvPr/>
            </p:nvCxnSpPr>
            <p:spPr>
              <a:xfrm>
                <a:off x="5419351" y="402244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8" name="Connecteur droit avec flèche 87">
                <a:extLst>
                  <a:ext uri="{FF2B5EF4-FFF2-40B4-BE49-F238E27FC236}">
                    <a16:creationId xmlns:a16="http://schemas.microsoft.com/office/drawing/2014/main" id="{820EEAB9-6080-5951-6DF3-81F630591D87}"/>
                  </a:ext>
                </a:extLst>
              </p:cNvPr>
              <p:cNvCxnSpPr/>
              <p:nvPr/>
            </p:nvCxnSpPr>
            <p:spPr>
              <a:xfrm>
                <a:off x="6689947" y="402244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0" name="Connecteur droit avec flèche 89">
                <a:extLst>
                  <a:ext uri="{FF2B5EF4-FFF2-40B4-BE49-F238E27FC236}">
                    <a16:creationId xmlns:a16="http://schemas.microsoft.com/office/drawing/2014/main" id="{5EC2D166-28DF-98E1-9367-23A782EEEEC0}"/>
                  </a:ext>
                </a:extLst>
              </p:cNvPr>
              <p:cNvCxnSpPr/>
              <p:nvPr/>
            </p:nvCxnSpPr>
            <p:spPr>
              <a:xfrm>
                <a:off x="2866872" y="4013737"/>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ZoneTexte 93">
                    <a:extLst>
                      <a:ext uri="{FF2B5EF4-FFF2-40B4-BE49-F238E27FC236}">
                        <a16:creationId xmlns:a16="http://schemas.microsoft.com/office/drawing/2014/main" id="{E06E7E97-D624-84BA-4AEE-35E75B542B56}"/>
                      </a:ext>
                    </a:extLst>
                  </p:cNvPr>
                  <p:cNvSpPr txBox="1"/>
                  <p:nvPr/>
                </p:nvSpPr>
                <p:spPr>
                  <a:xfrm>
                    <a:off x="7484900" y="2664348"/>
                    <a:ext cx="719194" cy="3414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acc>
                                <m:accPr>
                                  <m:chr m:val="̂"/>
                                  <m:ctrlPr>
                                    <a:rPr lang="fr-FR" sz="1400" b="0" i="1" smtClean="0">
                                      <a:latin typeface="Cambria Math" panose="02040503050406030204" pitchFamily="18" charset="0"/>
                                    </a:rPr>
                                  </m:ctrlPr>
                                </m:accPr>
                                <m:e>
                                  <m:r>
                                    <a:rPr lang="fr-FR" sz="1400" b="0" i="1" smtClean="0">
                                      <a:latin typeface="Cambria Math" panose="02040503050406030204" pitchFamily="18" charset="0"/>
                                    </a:rPr>
                                    <m:t>𝑦</m:t>
                                  </m:r>
                                </m:e>
                              </m:acc>
                            </m:e>
                            <m:sub>
                              <m:r>
                                <a:rPr lang="fr-FR" sz="1400" b="0" i="1" smtClean="0">
                                  <a:latin typeface="Cambria Math" panose="02040503050406030204" pitchFamily="18" charset="0"/>
                                </a:rPr>
                                <m:t>𝑡</m:t>
                              </m:r>
                              <m:r>
                                <a:rPr lang="fr-FR" sz="1400" b="0" i="1" smtClean="0">
                                  <a:latin typeface="Cambria Math" panose="02040503050406030204" pitchFamily="18" charset="0"/>
                                </a:rPr>
                                <m:t>=1</m:t>
                              </m:r>
                            </m:sub>
                          </m:sSub>
                        </m:oMath>
                      </m:oMathPara>
                    </a14:m>
                    <a:endParaRPr lang="en-GB" sz="1400" dirty="0"/>
                  </a:p>
                </p:txBody>
              </p:sp>
            </mc:Choice>
            <mc:Fallback xmlns="">
              <p:sp>
                <p:nvSpPr>
                  <p:cNvPr id="94" name="ZoneTexte 93">
                    <a:extLst>
                      <a:ext uri="{FF2B5EF4-FFF2-40B4-BE49-F238E27FC236}">
                        <a16:creationId xmlns:a16="http://schemas.microsoft.com/office/drawing/2014/main" id="{E06E7E97-D624-84BA-4AEE-35E75B542B56}"/>
                      </a:ext>
                    </a:extLst>
                  </p:cNvPr>
                  <p:cNvSpPr txBox="1">
                    <a:spLocks noRot="1" noChangeAspect="1" noMove="1" noResize="1" noEditPoints="1" noAdjustHandles="1" noChangeArrowheads="1" noChangeShapeType="1" noTextEdit="1"/>
                  </p:cNvSpPr>
                  <p:nvPr/>
                </p:nvSpPr>
                <p:spPr>
                  <a:xfrm>
                    <a:off x="7484900" y="2664348"/>
                    <a:ext cx="719194" cy="341494"/>
                  </a:xfrm>
                  <a:prstGeom prst="rect">
                    <a:avLst/>
                  </a:prstGeom>
                  <a:blipFill>
                    <a:blip r:embed="rId14"/>
                    <a:stretch>
                      <a:fillRect l="-18519" t="-26667" r="-11111" b="-53333"/>
                    </a:stretch>
                  </a:blipFill>
                </p:spPr>
                <p:txBody>
                  <a:bodyPr/>
                  <a:lstStyle/>
                  <a:p>
                    <a:r>
                      <a:rPr lang="en-GB">
                        <a:noFill/>
                      </a:rPr>
                      <a:t> </a:t>
                    </a:r>
                  </a:p>
                </p:txBody>
              </p:sp>
            </mc:Fallback>
          </mc:AlternateContent>
          <p:cxnSp>
            <p:nvCxnSpPr>
              <p:cNvPr id="98" name="Connecteur droit avec flèche 97">
                <a:extLst>
                  <a:ext uri="{FF2B5EF4-FFF2-40B4-BE49-F238E27FC236}">
                    <a16:creationId xmlns:a16="http://schemas.microsoft.com/office/drawing/2014/main" id="{E140EAFA-7ED1-2E5E-EB83-5894D1C5494B}"/>
                  </a:ext>
                </a:extLst>
              </p:cNvPr>
              <p:cNvCxnSpPr>
                <a:cxnSpLocks/>
              </p:cNvCxnSpPr>
              <p:nvPr/>
            </p:nvCxnSpPr>
            <p:spPr>
              <a:xfrm flipV="1">
                <a:off x="7687704" y="3009734"/>
                <a:ext cx="6533"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99" name="ZoneTexte 98">
              <a:extLst>
                <a:ext uri="{FF2B5EF4-FFF2-40B4-BE49-F238E27FC236}">
                  <a16:creationId xmlns:a16="http://schemas.microsoft.com/office/drawing/2014/main" id="{5F81C8F5-9BA4-EFEA-CD00-9CB5D9C5D98E}"/>
                </a:ext>
              </a:extLst>
            </p:cNvPr>
            <p:cNvSpPr txBox="1"/>
            <p:nvPr/>
          </p:nvSpPr>
          <p:spPr>
            <a:xfrm>
              <a:off x="1368666" y="3566804"/>
              <a:ext cx="1513114" cy="523220"/>
            </a:xfrm>
            <a:prstGeom prst="rect">
              <a:avLst/>
            </a:prstGeom>
            <a:noFill/>
          </p:spPr>
          <p:txBody>
            <a:bodyPr wrap="square" rtlCol="0">
              <a:spAutoFit/>
            </a:bodyPr>
            <a:lstStyle/>
            <a:p>
              <a:pPr algn="ctr"/>
              <a:r>
                <a:rPr lang="en-GB" sz="1400" dirty="0"/>
                <a:t>one-to-one</a:t>
              </a:r>
            </a:p>
            <a:p>
              <a:pPr algn="ctr"/>
              <a:r>
                <a:rPr lang="en-GB" sz="1400" dirty="0"/>
                <a:t>(plain NN)</a:t>
              </a:r>
            </a:p>
          </p:txBody>
        </p:sp>
        <p:sp>
          <p:nvSpPr>
            <p:cNvPr id="100" name="ZoneTexte 99">
              <a:extLst>
                <a:ext uri="{FF2B5EF4-FFF2-40B4-BE49-F238E27FC236}">
                  <a16:creationId xmlns:a16="http://schemas.microsoft.com/office/drawing/2014/main" id="{0DCBDA01-7E2D-863B-540E-724E28C5E91A}"/>
                </a:ext>
              </a:extLst>
            </p:cNvPr>
            <p:cNvSpPr txBox="1"/>
            <p:nvPr/>
          </p:nvSpPr>
          <p:spPr>
            <a:xfrm>
              <a:off x="5018511" y="1975140"/>
              <a:ext cx="1669473" cy="523220"/>
            </a:xfrm>
            <a:prstGeom prst="rect">
              <a:avLst/>
            </a:prstGeom>
            <a:noFill/>
          </p:spPr>
          <p:txBody>
            <a:bodyPr wrap="square" rtlCol="0">
              <a:spAutoFit/>
            </a:bodyPr>
            <a:lstStyle/>
            <a:p>
              <a:pPr algn="ctr"/>
              <a:r>
                <a:rPr lang="en-GB" sz="1400" dirty="0"/>
                <a:t>many-to-one</a:t>
              </a:r>
            </a:p>
            <a:p>
              <a:pPr algn="ctr"/>
              <a:r>
                <a:rPr lang="en-GB" sz="1400" dirty="0"/>
                <a:t>(classification)</a:t>
              </a:r>
            </a:p>
          </p:txBody>
        </p:sp>
        <p:sp>
          <p:nvSpPr>
            <p:cNvPr id="101" name="ZoneTexte 100">
              <a:extLst>
                <a:ext uri="{FF2B5EF4-FFF2-40B4-BE49-F238E27FC236}">
                  <a16:creationId xmlns:a16="http://schemas.microsoft.com/office/drawing/2014/main" id="{CDDE4833-00DB-ECF7-5BBE-C0F657BD7325}"/>
                </a:ext>
              </a:extLst>
            </p:cNvPr>
            <p:cNvSpPr txBox="1"/>
            <p:nvPr/>
          </p:nvSpPr>
          <p:spPr>
            <a:xfrm>
              <a:off x="8864514" y="3566803"/>
              <a:ext cx="2489286" cy="523220"/>
            </a:xfrm>
            <a:prstGeom prst="rect">
              <a:avLst/>
            </a:prstGeom>
            <a:noFill/>
          </p:spPr>
          <p:txBody>
            <a:bodyPr wrap="square" rtlCol="0">
              <a:spAutoFit/>
            </a:bodyPr>
            <a:lstStyle/>
            <a:p>
              <a:pPr algn="ctr"/>
              <a:r>
                <a:rPr lang="en-GB" sz="1400" dirty="0"/>
                <a:t>one-to-many</a:t>
              </a:r>
            </a:p>
            <a:p>
              <a:pPr algn="ctr"/>
              <a:r>
                <a:rPr lang="en-GB" sz="1400" dirty="0"/>
                <a:t>(captioning, decoders)</a:t>
              </a:r>
            </a:p>
          </p:txBody>
        </p:sp>
        <p:grpSp>
          <p:nvGrpSpPr>
            <p:cNvPr id="143" name="Groupe 142">
              <a:extLst>
                <a:ext uri="{FF2B5EF4-FFF2-40B4-BE49-F238E27FC236}">
                  <a16:creationId xmlns:a16="http://schemas.microsoft.com/office/drawing/2014/main" id="{75374273-91E3-26AE-4D8C-6C4EB4453626}"/>
                </a:ext>
              </a:extLst>
            </p:cNvPr>
            <p:cNvGrpSpPr/>
            <p:nvPr/>
          </p:nvGrpSpPr>
          <p:grpSpPr>
            <a:xfrm>
              <a:off x="351160" y="4559303"/>
              <a:ext cx="3062878" cy="1387216"/>
              <a:chOff x="2866872" y="4860100"/>
              <a:chExt cx="5254492" cy="2806389"/>
            </a:xfrm>
          </p:grpSpPr>
          <mc:AlternateContent xmlns:mc="http://schemas.openxmlformats.org/markup-compatibility/2006" xmlns:a14="http://schemas.microsoft.com/office/drawing/2010/main">
            <mc:Choice Requires="a14">
              <p:sp>
                <p:nvSpPr>
                  <p:cNvPr id="102" name="ZoneTexte 101">
                    <a:extLst>
                      <a:ext uri="{FF2B5EF4-FFF2-40B4-BE49-F238E27FC236}">
                        <a16:creationId xmlns:a16="http://schemas.microsoft.com/office/drawing/2014/main" id="{80628BB9-A4BE-93EE-597C-400D12EEEFE8}"/>
                      </a:ext>
                    </a:extLst>
                  </p:cNvPr>
                  <p:cNvSpPr txBox="1"/>
                  <p:nvPr/>
                </p:nvSpPr>
                <p:spPr>
                  <a:xfrm>
                    <a:off x="3657482" y="7218446"/>
                    <a:ext cx="424732" cy="43585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𝑋</m:t>
                              </m:r>
                            </m:e>
                            <m:sub>
                              <m:r>
                                <a:rPr lang="fr-FR" sz="1400" b="0" i="1" smtClean="0">
                                  <a:latin typeface="Cambria Math" panose="02040503050406030204" pitchFamily="18" charset="0"/>
                                </a:rPr>
                                <m:t>𝑡</m:t>
                              </m:r>
                              <m:r>
                                <a:rPr lang="fr-FR" sz="1400" b="0" i="1" smtClean="0">
                                  <a:latin typeface="Cambria Math" panose="02040503050406030204" pitchFamily="18" charset="0"/>
                                </a:rPr>
                                <m:t>=1</m:t>
                              </m:r>
                            </m:sub>
                          </m:sSub>
                        </m:oMath>
                      </m:oMathPara>
                    </a14:m>
                    <a:endParaRPr lang="en-GB" sz="1400" dirty="0"/>
                  </a:p>
                </p:txBody>
              </p:sp>
            </mc:Choice>
            <mc:Fallback xmlns="">
              <p:sp>
                <p:nvSpPr>
                  <p:cNvPr id="102" name="ZoneTexte 101">
                    <a:extLst>
                      <a:ext uri="{FF2B5EF4-FFF2-40B4-BE49-F238E27FC236}">
                        <a16:creationId xmlns:a16="http://schemas.microsoft.com/office/drawing/2014/main" id="{80628BB9-A4BE-93EE-597C-400D12EEEFE8}"/>
                      </a:ext>
                    </a:extLst>
                  </p:cNvPr>
                  <p:cNvSpPr txBox="1">
                    <a:spLocks noRot="1" noChangeAspect="1" noMove="1" noResize="1" noEditPoints="1" noAdjustHandles="1" noChangeArrowheads="1" noChangeShapeType="1" noTextEdit="1"/>
                  </p:cNvSpPr>
                  <p:nvPr/>
                </p:nvSpPr>
                <p:spPr>
                  <a:xfrm>
                    <a:off x="3657482" y="7218446"/>
                    <a:ext cx="424732" cy="435851"/>
                  </a:xfrm>
                  <a:prstGeom prst="rect">
                    <a:avLst/>
                  </a:prstGeom>
                  <a:blipFill>
                    <a:blip r:embed="rId3"/>
                    <a:stretch>
                      <a:fillRect l="-22222" r="-72222" b="-20000"/>
                    </a:stretch>
                  </a:blipFill>
                </p:spPr>
                <p:txBody>
                  <a:bodyPr/>
                  <a:lstStyle/>
                  <a:p>
                    <a:r>
                      <a:rPr lang="en-GB">
                        <a:noFill/>
                      </a:rPr>
                      <a:t> </a:t>
                    </a:r>
                  </a:p>
                </p:txBody>
              </p:sp>
            </mc:Fallback>
          </mc:AlternateContent>
          <p:sp>
            <p:nvSpPr>
              <p:cNvPr id="103" name="Rectangle : coins arrondis 102">
                <a:extLst>
                  <a:ext uri="{FF2B5EF4-FFF2-40B4-BE49-F238E27FC236}">
                    <a16:creationId xmlns:a16="http://schemas.microsoft.com/office/drawing/2014/main" id="{AB9A6784-FC0B-5104-64B9-4D6F78644670}"/>
                  </a:ext>
                </a:extLst>
              </p:cNvPr>
              <p:cNvSpPr/>
              <p:nvPr/>
            </p:nvSpPr>
            <p:spPr>
              <a:xfrm>
                <a:off x="3586487" y="5831971"/>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cxnSp>
            <p:nvCxnSpPr>
              <p:cNvPr id="105" name="Connecteur droit avec flèche 104">
                <a:extLst>
                  <a:ext uri="{FF2B5EF4-FFF2-40B4-BE49-F238E27FC236}">
                    <a16:creationId xmlns:a16="http://schemas.microsoft.com/office/drawing/2014/main" id="{348B4DCB-42C0-981C-0E2E-F051C7227CD9}"/>
                  </a:ext>
                </a:extLst>
              </p:cNvPr>
              <p:cNvCxnSpPr>
                <a:cxnSpLocks/>
                <a:stCxn id="102" idx="0"/>
                <a:endCxn id="103" idx="2"/>
              </p:cNvCxnSpPr>
              <p:nvPr/>
            </p:nvCxnSpPr>
            <p:spPr>
              <a:xfrm flipH="1" flipV="1">
                <a:off x="3865886" y="6593971"/>
                <a:ext cx="3963" cy="6244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6" name="ZoneTexte 105">
                    <a:extLst>
                      <a:ext uri="{FF2B5EF4-FFF2-40B4-BE49-F238E27FC236}">
                        <a16:creationId xmlns:a16="http://schemas.microsoft.com/office/drawing/2014/main" id="{257C0170-50FB-4012-2C06-83D0458F3BCA}"/>
                      </a:ext>
                    </a:extLst>
                  </p:cNvPr>
                  <p:cNvSpPr txBox="1"/>
                  <p:nvPr/>
                </p:nvSpPr>
                <p:spPr>
                  <a:xfrm>
                    <a:off x="4931547" y="7224541"/>
                    <a:ext cx="424732" cy="43585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𝑋</m:t>
                              </m:r>
                            </m:e>
                            <m:sub>
                              <m:r>
                                <a:rPr lang="fr-FR" sz="1400" b="0" i="1" smtClean="0">
                                  <a:latin typeface="Cambria Math" panose="02040503050406030204" pitchFamily="18" charset="0"/>
                                </a:rPr>
                                <m:t>𝑡</m:t>
                              </m:r>
                              <m:r>
                                <a:rPr lang="fr-FR" sz="1400" b="0" i="1" smtClean="0">
                                  <a:latin typeface="Cambria Math" panose="02040503050406030204" pitchFamily="18" charset="0"/>
                                </a:rPr>
                                <m:t>=2</m:t>
                              </m:r>
                            </m:sub>
                          </m:sSub>
                        </m:oMath>
                      </m:oMathPara>
                    </a14:m>
                    <a:endParaRPr lang="en-GB" sz="1400" dirty="0"/>
                  </a:p>
                </p:txBody>
              </p:sp>
            </mc:Choice>
            <mc:Fallback xmlns="">
              <p:sp>
                <p:nvSpPr>
                  <p:cNvPr id="106" name="ZoneTexte 105">
                    <a:extLst>
                      <a:ext uri="{FF2B5EF4-FFF2-40B4-BE49-F238E27FC236}">
                        <a16:creationId xmlns:a16="http://schemas.microsoft.com/office/drawing/2014/main" id="{257C0170-50FB-4012-2C06-83D0458F3BCA}"/>
                      </a:ext>
                    </a:extLst>
                  </p:cNvPr>
                  <p:cNvSpPr txBox="1">
                    <a:spLocks noRot="1" noChangeAspect="1" noMove="1" noResize="1" noEditPoints="1" noAdjustHandles="1" noChangeArrowheads="1" noChangeShapeType="1" noTextEdit="1"/>
                  </p:cNvSpPr>
                  <p:nvPr/>
                </p:nvSpPr>
                <p:spPr>
                  <a:xfrm>
                    <a:off x="4931547" y="7224541"/>
                    <a:ext cx="424732" cy="435851"/>
                  </a:xfrm>
                  <a:prstGeom prst="rect">
                    <a:avLst/>
                  </a:prstGeom>
                  <a:blipFill>
                    <a:blip r:embed="rId15"/>
                    <a:stretch>
                      <a:fillRect l="-29412" r="-76471" b="-26667"/>
                    </a:stretch>
                  </a:blipFill>
                </p:spPr>
                <p:txBody>
                  <a:bodyPr/>
                  <a:lstStyle/>
                  <a:p>
                    <a:r>
                      <a:rPr lang="en-GB">
                        <a:noFill/>
                      </a:rPr>
                      <a:t> </a:t>
                    </a:r>
                  </a:p>
                </p:txBody>
              </p:sp>
            </mc:Fallback>
          </mc:AlternateContent>
          <p:sp>
            <p:nvSpPr>
              <p:cNvPr id="107" name="Rectangle : coins arrondis 106">
                <a:extLst>
                  <a:ext uri="{FF2B5EF4-FFF2-40B4-BE49-F238E27FC236}">
                    <a16:creationId xmlns:a16="http://schemas.microsoft.com/office/drawing/2014/main" id="{40804B8C-003C-C9A0-C6F0-BA67312B467A}"/>
                  </a:ext>
                </a:extLst>
              </p:cNvPr>
              <p:cNvSpPr/>
              <p:nvPr/>
            </p:nvSpPr>
            <p:spPr>
              <a:xfrm>
                <a:off x="4860551" y="5838067"/>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cxnSp>
            <p:nvCxnSpPr>
              <p:cNvPr id="109" name="Connecteur droit avec flèche 108">
                <a:extLst>
                  <a:ext uri="{FF2B5EF4-FFF2-40B4-BE49-F238E27FC236}">
                    <a16:creationId xmlns:a16="http://schemas.microsoft.com/office/drawing/2014/main" id="{A82FB077-4255-C3DC-7E3D-630BE29E101F}"/>
                  </a:ext>
                </a:extLst>
              </p:cNvPr>
              <p:cNvCxnSpPr>
                <a:cxnSpLocks/>
                <a:stCxn id="106" idx="0"/>
                <a:endCxn id="107" idx="2"/>
              </p:cNvCxnSpPr>
              <p:nvPr/>
            </p:nvCxnSpPr>
            <p:spPr>
              <a:xfrm flipH="1" flipV="1">
                <a:off x="5139951" y="6600066"/>
                <a:ext cx="3963" cy="6244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0" name="ZoneTexte 109">
                    <a:extLst>
                      <a:ext uri="{FF2B5EF4-FFF2-40B4-BE49-F238E27FC236}">
                        <a16:creationId xmlns:a16="http://schemas.microsoft.com/office/drawing/2014/main" id="{378DFBD9-7C03-A65A-1EA8-8624B544984A}"/>
                      </a:ext>
                    </a:extLst>
                  </p:cNvPr>
                  <p:cNvSpPr txBox="1"/>
                  <p:nvPr/>
                </p:nvSpPr>
                <p:spPr>
                  <a:xfrm>
                    <a:off x="6205611" y="7230638"/>
                    <a:ext cx="424732" cy="43585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𝑋</m:t>
                              </m:r>
                            </m:e>
                            <m:sub>
                              <m:r>
                                <a:rPr lang="fr-FR" sz="1400" b="0" i="1" smtClean="0">
                                  <a:latin typeface="Cambria Math" panose="02040503050406030204" pitchFamily="18" charset="0"/>
                                </a:rPr>
                                <m:t>𝑡</m:t>
                              </m:r>
                              <m:r>
                                <a:rPr lang="fr-FR" sz="1400" b="0" i="1" smtClean="0">
                                  <a:latin typeface="Cambria Math" panose="02040503050406030204" pitchFamily="18" charset="0"/>
                                </a:rPr>
                                <m:t>=3</m:t>
                              </m:r>
                            </m:sub>
                          </m:sSub>
                        </m:oMath>
                      </m:oMathPara>
                    </a14:m>
                    <a:endParaRPr lang="en-GB" sz="1400" dirty="0"/>
                  </a:p>
                </p:txBody>
              </p:sp>
            </mc:Choice>
            <mc:Fallback xmlns="">
              <p:sp>
                <p:nvSpPr>
                  <p:cNvPr id="110" name="ZoneTexte 109">
                    <a:extLst>
                      <a:ext uri="{FF2B5EF4-FFF2-40B4-BE49-F238E27FC236}">
                        <a16:creationId xmlns:a16="http://schemas.microsoft.com/office/drawing/2014/main" id="{378DFBD9-7C03-A65A-1EA8-8624B544984A}"/>
                      </a:ext>
                    </a:extLst>
                  </p:cNvPr>
                  <p:cNvSpPr txBox="1">
                    <a:spLocks noRot="1" noChangeAspect="1" noMove="1" noResize="1" noEditPoints="1" noAdjustHandles="1" noChangeArrowheads="1" noChangeShapeType="1" noTextEdit="1"/>
                  </p:cNvSpPr>
                  <p:nvPr/>
                </p:nvSpPr>
                <p:spPr>
                  <a:xfrm>
                    <a:off x="6205611" y="7230638"/>
                    <a:ext cx="424732" cy="435851"/>
                  </a:xfrm>
                  <a:prstGeom prst="rect">
                    <a:avLst/>
                  </a:prstGeom>
                  <a:blipFill>
                    <a:blip r:embed="rId16"/>
                    <a:stretch>
                      <a:fillRect l="-27778" r="-72222" b="-18750"/>
                    </a:stretch>
                  </a:blipFill>
                </p:spPr>
                <p:txBody>
                  <a:bodyPr/>
                  <a:lstStyle/>
                  <a:p>
                    <a:r>
                      <a:rPr lang="en-GB">
                        <a:noFill/>
                      </a:rPr>
                      <a:t> </a:t>
                    </a:r>
                  </a:p>
                </p:txBody>
              </p:sp>
            </mc:Fallback>
          </mc:AlternateContent>
          <p:sp>
            <p:nvSpPr>
              <p:cNvPr id="111" name="Rectangle : coins arrondis 110">
                <a:extLst>
                  <a:ext uri="{FF2B5EF4-FFF2-40B4-BE49-F238E27FC236}">
                    <a16:creationId xmlns:a16="http://schemas.microsoft.com/office/drawing/2014/main" id="{97E48C1A-A267-5611-CF19-C73C4C1056AF}"/>
                  </a:ext>
                </a:extLst>
              </p:cNvPr>
              <p:cNvSpPr/>
              <p:nvPr/>
            </p:nvSpPr>
            <p:spPr>
              <a:xfrm>
                <a:off x="6134615" y="5844163"/>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cxnSp>
            <p:nvCxnSpPr>
              <p:cNvPr id="113" name="Connecteur droit avec flèche 112">
                <a:extLst>
                  <a:ext uri="{FF2B5EF4-FFF2-40B4-BE49-F238E27FC236}">
                    <a16:creationId xmlns:a16="http://schemas.microsoft.com/office/drawing/2014/main" id="{50414ECF-1513-C415-2541-AC3ECC7C91BC}"/>
                  </a:ext>
                </a:extLst>
              </p:cNvPr>
              <p:cNvCxnSpPr>
                <a:cxnSpLocks/>
                <a:stCxn id="110" idx="0"/>
                <a:endCxn id="111" idx="2"/>
              </p:cNvCxnSpPr>
              <p:nvPr/>
            </p:nvCxnSpPr>
            <p:spPr>
              <a:xfrm flipH="1" flipV="1">
                <a:off x="6414015" y="6606163"/>
                <a:ext cx="3963" cy="6244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4" name="ZoneTexte 113">
                    <a:extLst>
                      <a:ext uri="{FF2B5EF4-FFF2-40B4-BE49-F238E27FC236}">
                        <a16:creationId xmlns:a16="http://schemas.microsoft.com/office/drawing/2014/main" id="{BFC98B74-9401-3DB4-7478-A095FBBA3B74}"/>
                      </a:ext>
                    </a:extLst>
                  </p:cNvPr>
                  <p:cNvSpPr txBox="1"/>
                  <p:nvPr/>
                </p:nvSpPr>
                <p:spPr>
                  <a:xfrm>
                    <a:off x="7467483" y="7204648"/>
                    <a:ext cx="424732" cy="43585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𝑋</m:t>
                              </m:r>
                            </m:e>
                            <m:sub>
                              <m:r>
                                <a:rPr lang="fr-FR" sz="1400" b="0" i="1" smtClean="0">
                                  <a:latin typeface="Cambria Math" panose="02040503050406030204" pitchFamily="18" charset="0"/>
                                </a:rPr>
                                <m:t>𝑡</m:t>
                              </m:r>
                              <m:r>
                                <a:rPr lang="fr-FR" sz="1400" b="0" i="1" smtClean="0">
                                  <a:latin typeface="Cambria Math" panose="02040503050406030204" pitchFamily="18" charset="0"/>
                                </a:rPr>
                                <m:t>=4</m:t>
                              </m:r>
                            </m:sub>
                          </m:sSub>
                        </m:oMath>
                      </m:oMathPara>
                    </a14:m>
                    <a:endParaRPr lang="en-GB" sz="1400" dirty="0"/>
                  </a:p>
                </p:txBody>
              </p:sp>
            </mc:Choice>
            <mc:Fallback xmlns="">
              <p:sp>
                <p:nvSpPr>
                  <p:cNvPr id="114" name="ZoneTexte 113">
                    <a:extLst>
                      <a:ext uri="{FF2B5EF4-FFF2-40B4-BE49-F238E27FC236}">
                        <a16:creationId xmlns:a16="http://schemas.microsoft.com/office/drawing/2014/main" id="{BFC98B74-9401-3DB4-7478-A095FBBA3B74}"/>
                      </a:ext>
                    </a:extLst>
                  </p:cNvPr>
                  <p:cNvSpPr txBox="1">
                    <a:spLocks noRot="1" noChangeAspect="1" noMove="1" noResize="1" noEditPoints="1" noAdjustHandles="1" noChangeArrowheads="1" noChangeShapeType="1" noTextEdit="1"/>
                  </p:cNvSpPr>
                  <p:nvPr/>
                </p:nvSpPr>
                <p:spPr>
                  <a:xfrm>
                    <a:off x="7467483" y="7204648"/>
                    <a:ext cx="424732" cy="435851"/>
                  </a:xfrm>
                  <a:prstGeom prst="rect">
                    <a:avLst/>
                  </a:prstGeom>
                  <a:blipFill>
                    <a:blip r:embed="rId17"/>
                    <a:stretch>
                      <a:fillRect l="-27778" r="-66667" b="-18750"/>
                    </a:stretch>
                  </a:blipFill>
                </p:spPr>
                <p:txBody>
                  <a:bodyPr/>
                  <a:lstStyle/>
                  <a:p>
                    <a:r>
                      <a:rPr lang="en-GB">
                        <a:noFill/>
                      </a:rPr>
                      <a:t> </a:t>
                    </a:r>
                  </a:p>
                </p:txBody>
              </p:sp>
            </mc:Fallback>
          </mc:AlternateContent>
          <p:sp>
            <p:nvSpPr>
              <p:cNvPr id="115" name="Rectangle : coins arrondis 114">
                <a:extLst>
                  <a:ext uri="{FF2B5EF4-FFF2-40B4-BE49-F238E27FC236}">
                    <a16:creationId xmlns:a16="http://schemas.microsoft.com/office/drawing/2014/main" id="{163E9D8A-C180-C031-C71D-835B66A31BBB}"/>
                  </a:ext>
                </a:extLst>
              </p:cNvPr>
              <p:cNvSpPr/>
              <p:nvPr/>
            </p:nvSpPr>
            <p:spPr>
              <a:xfrm>
                <a:off x="7396487" y="5850259"/>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cxnSp>
            <p:nvCxnSpPr>
              <p:cNvPr id="117" name="Connecteur droit avec flèche 116">
                <a:extLst>
                  <a:ext uri="{FF2B5EF4-FFF2-40B4-BE49-F238E27FC236}">
                    <a16:creationId xmlns:a16="http://schemas.microsoft.com/office/drawing/2014/main" id="{4C8B4BF9-9CB9-6A2F-18C0-630000B6DA3D}"/>
                  </a:ext>
                </a:extLst>
              </p:cNvPr>
              <p:cNvCxnSpPr>
                <a:cxnSpLocks/>
                <a:stCxn id="114" idx="0"/>
                <a:endCxn id="115" idx="2"/>
              </p:cNvCxnSpPr>
              <p:nvPr/>
            </p:nvCxnSpPr>
            <p:spPr>
              <a:xfrm flipH="1" flipV="1">
                <a:off x="7675887" y="6612258"/>
                <a:ext cx="3963" cy="5923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8" name="Connecteur droit avec flèche 117">
                <a:extLst>
                  <a:ext uri="{FF2B5EF4-FFF2-40B4-BE49-F238E27FC236}">
                    <a16:creationId xmlns:a16="http://schemas.microsoft.com/office/drawing/2014/main" id="{4723E77F-176B-0B9B-F154-E55048E17B66}"/>
                  </a:ext>
                </a:extLst>
              </p:cNvPr>
              <p:cNvCxnSpPr>
                <a:stCxn id="103" idx="3"/>
                <a:endCxn id="107" idx="1"/>
              </p:cNvCxnSpPr>
              <p:nvPr/>
            </p:nvCxnSpPr>
            <p:spPr>
              <a:xfrm>
                <a:off x="4145287" y="6212971"/>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9" name="Connecteur droit avec flèche 118">
                <a:extLst>
                  <a:ext uri="{FF2B5EF4-FFF2-40B4-BE49-F238E27FC236}">
                    <a16:creationId xmlns:a16="http://schemas.microsoft.com/office/drawing/2014/main" id="{8AA1F682-AB84-E861-D4A6-3FFB028DF447}"/>
                  </a:ext>
                </a:extLst>
              </p:cNvPr>
              <p:cNvCxnSpPr/>
              <p:nvPr/>
            </p:nvCxnSpPr>
            <p:spPr>
              <a:xfrm>
                <a:off x="5419351" y="623125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0" name="Connecteur droit avec flèche 119">
                <a:extLst>
                  <a:ext uri="{FF2B5EF4-FFF2-40B4-BE49-F238E27FC236}">
                    <a16:creationId xmlns:a16="http://schemas.microsoft.com/office/drawing/2014/main" id="{7B723B08-B2E0-32FB-BC9E-059714AE1C40}"/>
                  </a:ext>
                </a:extLst>
              </p:cNvPr>
              <p:cNvCxnSpPr/>
              <p:nvPr/>
            </p:nvCxnSpPr>
            <p:spPr>
              <a:xfrm>
                <a:off x="6689947" y="623125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2" name="Connecteur droit avec flèche 121">
                <a:extLst>
                  <a:ext uri="{FF2B5EF4-FFF2-40B4-BE49-F238E27FC236}">
                    <a16:creationId xmlns:a16="http://schemas.microsoft.com/office/drawing/2014/main" id="{E2A247E1-ACBA-5D2B-E71A-E2EDA22065B9}"/>
                  </a:ext>
                </a:extLst>
              </p:cNvPr>
              <p:cNvCxnSpPr/>
              <p:nvPr/>
            </p:nvCxnSpPr>
            <p:spPr>
              <a:xfrm>
                <a:off x="2866872" y="6222547"/>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2" name="ZoneTexte 131">
                    <a:extLst>
                      <a:ext uri="{FF2B5EF4-FFF2-40B4-BE49-F238E27FC236}">
                        <a16:creationId xmlns:a16="http://schemas.microsoft.com/office/drawing/2014/main" id="{FF72432C-75F5-F268-1630-D7823197F3FD}"/>
                      </a:ext>
                    </a:extLst>
                  </p:cNvPr>
                  <p:cNvSpPr txBox="1"/>
                  <p:nvPr/>
                </p:nvSpPr>
                <p:spPr>
                  <a:xfrm>
                    <a:off x="3670544" y="4860100"/>
                    <a:ext cx="636464" cy="43585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acc>
                                <m:accPr>
                                  <m:chr m:val="̂"/>
                                  <m:ctrlPr>
                                    <a:rPr lang="fr-FR" sz="1400" b="0" i="1" smtClean="0">
                                      <a:latin typeface="Cambria Math" panose="02040503050406030204" pitchFamily="18" charset="0"/>
                                    </a:rPr>
                                  </m:ctrlPr>
                                </m:accPr>
                                <m:e>
                                  <m:r>
                                    <a:rPr lang="fr-FR" sz="1400" b="0" i="1" smtClean="0">
                                      <a:latin typeface="Cambria Math" panose="02040503050406030204" pitchFamily="18" charset="0"/>
                                    </a:rPr>
                                    <m:t>𝑦</m:t>
                                  </m:r>
                                </m:e>
                              </m:acc>
                            </m:e>
                            <m:sub>
                              <m:r>
                                <a:rPr lang="fr-FR" sz="1400" b="0" i="1" smtClean="0">
                                  <a:latin typeface="Cambria Math" panose="02040503050406030204" pitchFamily="18" charset="0"/>
                                </a:rPr>
                                <m:t>𝑡</m:t>
                              </m:r>
                              <m:r>
                                <a:rPr lang="fr-FR" sz="1400" b="0" i="1" smtClean="0">
                                  <a:latin typeface="Cambria Math" panose="02040503050406030204" pitchFamily="18" charset="0"/>
                                </a:rPr>
                                <m:t>=1</m:t>
                              </m:r>
                            </m:sub>
                          </m:sSub>
                        </m:oMath>
                      </m:oMathPara>
                    </a14:m>
                    <a:endParaRPr lang="en-GB" sz="1400" dirty="0"/>
                  </a:p>
                </p:txBody>
              </p:sp>
            </mc:Choice>
            <mc:Fallback xmlns="">
              <p:sp>
                <p:nvSpPr>
                  <p:cNvPr id="132" name="ZoneTexte 131">
                    <a:extLst>
                      <a:ext uri="{FF2B5EF4-FFF2-40B4-BE49-F238E27FC236}">
                        <a16:creationId xmlns:a16="http://schemas.microsoft.com/office/drawing/2014/main" id="{FF72432C-75F5-F268-1630-D7823197F3FD}"/>
                      </a:ext>
                    </a:extLst>
                  </p:cNvPr>
                  <p:cNvSpPr txBox="1">
                    <a:spLocks noRot="1" noChangeAspect="1" noMove="1" noResize="1" noEditPoints="1" noAdjustHandles="1" noChangeArrowheads="1" noChangeShapeType="1" noTextEdit="1"/>
                  </p:cNvSpPr>
                  <p:nvPr/>
                </p:nvSpPr>
                <p:spPr>
                  <a:xfrm>
                    <a:off x="3670544" y="4860100"/>
                    <a:ext cx="636464" cy="435851"/>
                  </a:xfrm>
                  <a:prstGeom prst="rect">
                    <a:avLst/>
                  </a:prstGeom>
                  <a:blipFill>
                    <a:blip r:embed="rId18"/>
                    <a:stretch>
                      <a:fillRect l="-19231" t="-26667" r="-11538" b="-4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3" name="ZoneTexte 132">
                    <a:extLst>
                      <a:ext uri="{FF2B5EF4-FFF2-40B4-BE49-F238E27FC236}">
                        <a16:creationId xmlns:a16="http://schemas.microsoft.com/office/drawing/2014/main" id="{7E1564F5-136B-A8B0-AA48-FB423989DE24}"/>
                      </a:ext>
                    </a:extLst>
                  </p:cNvPr>
                  <p:cNvSpPr txBox="1"/>
                  <p:nvPr/>
                </p:nvSpPr>
                <p:spPr>
                  <a:xfrm>
                    <a:off x="4959413" y="4868807"/>
                    <a:ext cx="636464" cy="43585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acc>
                                <m:accPr>
                                  <m:chr m:val="̂"/>
                                  <m:ctrlPr>
                                    <a:rPr lang="fr-FR" sz="1400" b="0" i="1" smtClean="0">
                                      <a:latin typeface="Cambria Math" panose="02040503050406030204" pitchFamily="18" charset="0"/>
                                    </a:rPr>
                                  </m:ctrlPr>
                                </m:accPr>
                                <m:e>
                                  <m:r>
                                    <a:rPr lang="fr-FR" sz="1400" b="0" i="1" smtClean="0">
                                      <a:latin typeface="Cambria Math" panose="02040503050406030204" pitchFamily="18" charset="0"/>
                                    </a:rPr>
                                    <m:t>𝑦</m:t>
                                  </m:r>
                                </m:e>
                              </m:acc>
                            </m:e>
                            <m:sub>
                              <m:r>
                                <a:rPr lang="fr-FR" sz="1400" b="0" i="1" smtClean="0">
                                  <a:latin typeface="Cambria Math" panose="02040503050406030204" pitchFamily="18" charset="0"/>
                                </a:rPr>
                                <m:t>𝑡</m:t>
                              </m:r>
                              <m:r>
                                <a:rPr lang="fr-FR" sz="1400" b="0" i="1" smtClean="0">
                                  <a:latin typeface="Cambria Math" panose="02040503050406030204" pitchFamily="18" charset="0"/>
                                </a:rPr>
                                <m:t>=2</m:t>
                              </m:r>
                            </m:sub>
                          </m:sSub>
                        </m:oMath>
                      </m:oMathPara>
                    </a14:m>
                    <a:endParaRPr lang="en-GB" sz="1400" dirty="0"/>
                  </a:p>
                </p:txBody>
              </p:sp>
            </mc:Choice>
            <mc:Fallback xmlns="">
              <p:sp>
                <p:nvSpPr>
                  <p:cNvPr id="133" name="ZoneTexte 132">
                    <a:extLst>
                      <a:ext uri="{FF2B5EF4-FFF2-40B4-BE49-F238E27FC236}">
                        <a16:creationId xmlns:a16="http://schemas.microsoft.com/office/drawing/2014/main" id="{7E1564F5-136B-A8B0-AA48-FB423989DE24}"/>
                      </a:ext>
                    </a:extLst>
                  </p:cNvPr>
                  <p:cNvSpPr txBox="1">
                    <a:spLocks noRot="1" noChangeAspect="1" noMove="1" noResize="1" noEditPoints="1" noAdjustHandles="1" noChangeArrowheads="1" noChangeShapeType="1" noTextEdit="1"/>
                  </p:cNvSpPr>
                  <p:nvPr/>
                </p:nvSpPr>
                <p:spPr>
                  <a:xfrm>
                    <a:off x="4959413" y="4868807"/>
                    <a:ext cx="636464" cy="435851"/>
                  </a:xfrm>
                  <a:prstGeom prst="rect">
                    <a:avLst/>
                  </a:prstGeom>
                  <a:blipFill>
                    <a:blip r:embed="rId19"/>
                    <a:stretch>
                      <a:fillRect l="-14815" t="-26667" r="-11111" b="-4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4" name="ZoneTexte 133">
                    <a:extLst>
                      <a:ext uri="{FF2B5EF4-FFF2-40B4-BE49-F238E27FC236}">
                        <a16:creationId xmlns:a16="http://schemas.microsoft.com/office/drawing/2014/main" id="{A4F15D40-C5A3-9AF7-98F7-A5A2E0F4E865}"/>
                      </a:ext>
                    </a:extLst>
                  </p:cNvPr>
                  <p:cNvSpPr txBox="1"/>
                  <p:nvPr/>
                </p:nvSpPr>
                <p:spPr>
                  <a:xfrm>
                    <a:off x="6222154" y="4864452"/>
                    <a:ext cx="636464" cy="43585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acc>
                                <m:accPr>
                                  <m:chr m:val="̂"/>
                                  <m:ctrlPr>
                                    <a:rPr lang="fr-FR" sz="1400" b="0" i="1" smtClean="0">
                                      <a:latin typeface="Cambria Math" panose="02040503050406030204" pitchFamily="18" charset="0"/>
                                    </a:rPr>
                                  </m:ctrlPr>
                                </m:accPr>
                                <m:e>
                                  <m:r>
                                    <a:rPr lang="fr-FR" sz="1400" b="0" i="1" smtClean="0">
                                      <a:latin typeface="Cambria Math" panose="02040503050406030204" pitchFamily="18" charset="0"/>
                                    </a:rPr>
                                    <m:t>𝑦</m:t>
                                  </m:r>
                                </m:e>
                              </m:acc>
                            </m:e>
                            <m:sub>
                              <m:r>
                                <a:rPr lang="fr-FR" sz="1400" b="0" i="1" smtClean="0">
                                  <a:latin typeface="Cambria Math" panose="02040503050406030204" pitchFamily="18" charset="0"/>
                                </a:rPr>
                                <m:t>𝑡</m:t>
                              </m:r>
                              <m:r>
                                <a:rPr lang="fr-FR" sz="1400" b="0" i="1" smtClean="0">
                                  <a:latin typeface="Cambria Math" panose="02040503050406030204" pitchFamily="18" charset="0"/>
                                </a:rPr>
                                <m:t>=3</m:t>
                              </m:r>
                            </m:sub>
                          </m:sSub>
                        </m:oMath>
                      </m:oMathPara>
                    </a14:m>
                    <a:endParaRPr lang="en-GB" sz="1400" dirty="0"/>
                  </a:p>
                </p:txBody>
              </p:sp>
            </mc:Choice>
            <mc:Fallback xmlns="">
              <p:sp>
                <p:nvSpPr>
                  <p:cNvPr id="134" name="ZoneTexte 133">
                    <a:extLst>
                      <a:ext uri="{FF2B5EF4-FFF2-40B4-BE49-F238E27FC236}">
                        <a16:creationId xmlns:a16="http://schemas.microsoft.com/office/drawing/2014/main" id="{A4F15D40-C5A3-9AF7-98F7-A5A2E0F4E865}"/>
                      </a:ext>
                    </a:extLst>
                  </p:cNvPr>
                  <p:cNvSpPr txBox="1">
                    <a:spLocks noRot="1" noChangeAspect="1" noMove="1" noResize="1" noEditPoints="1" noAdjustHandles="1" noChangeArrowheads="1" noChangeShapeType="1" noTextEdit="1"/>
                  </p:cNvSpPr>
                  <p:nvPr/>
                </p:nvSpPr>
                <p:spPr>
                  <a:xfrm>
                    <a:off x="6222154" y="4864452"/>
                    <a:ext cx="636464" cy="435851"/>
                  </a:xfrm>
                  <a:prstGeom prst="rect">
                    <a:avLst/>
                  </a:prstGeom>
                  <a:blipFill>
                    <a:blip r:embed="rId20"/>
                    <a:stretch>
                      <a:fillRect l="-18519" t="-26667" r="-11111" b="-4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5" name="ZoneTexte 134">
                    <a:extLst>
                      <a:ext uri="{FF2B5EF4-FFF2-40B4-BE49-F238E27FC236}">
                        <a16:creationId xmlns:a16="http://schemas.microsoft.com/office/drawing/2014/main" id="{C0C237D0-AE75-F945-742C-972549AE14A3}"/>
                      </a:ext>
                    </a:extLst>
                  </p:cNvPr>
                  <p:cNvSpPr txBox="1"/>
                  <p:nvPr/>
                </p:nvSpPr>
                <p:spPr>
                  <a:xfrm>
                    <a:off x="7484900" y="4873159"/>
                    <a:ext cx="636464" cy="43585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acc>
                                <m:accPr>
                                  <m:chr m:val="̂"/>
                                  <m:ctrlPr>
                                    <a:rPr lang="fr-FR" sz="1400" b="0" i="1" smtClean="0">
                                      <a:latin typeface="Cambria Math" panose="02040503050406030204" pitchFamily="18" charset="0"/>
                                    </a:rPr>
                                  </m:ctrlPr>
                                </m:accPr>
                                <m:e>
                                  <m:r>
                                    <a:rPr lang="fr-FR" sz="1400" b="0" i="1" smtClean="0">
                                      <a:latin typeface="Cambria Math" panose="02040503050406030204" pitchFamily="18" charset="0"/>
                                    </a:rPr>
                                    <m:t>𝑦</m:t>
                                  </m:r>
                                </m:e>
                              </m:acc>
                            </m:e>
                            <m:sub>
                              <m:r>
                                <a:rPr lang="fr-FR" sz="1400" b="0" i="1" smtClean="0">
                                  <a:latin typeface="Cambria Math" panose="02040503050406030204" pitchFamily="18" charset="0"/>
                                </a:rPr>
                                <m:t>𝑡</m:t>
                              </m:r>
                              <m:r>
                                <a:rPr lang="fr-FR" sz="1400" b="0" i="1" smtClean="0">
                                  <a:latin typeface="Cambria Math" panose="02040503050406030204" pitchFamily="18" charset="0"/>
                                </a:rPr>
                                <m:t>=4</m:t>
                              </m:r>
                            </m:sub>
                          </m:sSub>
                        </m:oMath>
                      </m:oMathPara>
                    </a14:m>
                    <a:endParaRPr lang="en-GB" sz="1400" dirty="0"/>
                  </a:p>
                </p:txBody>
              </p:sp>
            </mc:Choice>
            <mc:Fallback xmlns="">
              <p:sp>
                <p:nvSpPr>
                  <p:cNvPr id="135" name="ZoneTexte 134">
                    <a:extLst>
                      <a:ext uri="{FF2B5EF4-FFF2-40B4-BE49-F238E27FC236}">
                        <a16:creationId xmlns:a16="http://schemas.microsoft.com/office/drawing/2014/main" id="{C0C237D0-AE75-F945-742C-972549AE14A3}"/>
                      </a:ext>
                    </a:extLst>
                  </p:cNvPr>
                  <p:cNvSpPr txBox="1">
                    <a:spLocks noRot="1" noChangeAspect="1" noMove="1" noResize="1" noEditPoints="1" noAdjustHandles="1" noChangeArrowheads="1" noChangeShapeType="1" noTextEdit="1"/>
                  </p:cNvSpPr>
                  <p:nvPr/>
                </p:nvSpPr>
                <p:spPr>
                  <a:xfrm>
                    <a:off x="7484900" y="4873159"/>
                    <a:ext cx="636464" cy="435851"/>
                  </a:xfrm>
                  <a:prstGeom prst="rect">
                    <a:avLst/>
                  </a:prstGeom>
                  <a:blipFill>
                    <a:blip r:embed="rId21"/>
                    <a:stretch>
                      <a:fillRect l="-19231" t="-26667" r="-15385" b="-46667"/>
                    </a:stretch>
                  </a:blipFill>
                </p:spPr>
                <p:txBody>
                  <a:bodyPr/>
                  <a:lstStyle/>
                  <a:p>
                    <a:r>
                      <a:rPr lang="en-GB">
                        <a:noFill/>
                      </a:rPr>
                      <a:t> </a:t>
                    </a:r>
                  </a:p>
                </p:txBody>
              </p:sp>
            </mc:Fallback>
          </mc:AlternateContent>
          <p:cxnSp>
            <p:nvCxnSpPr>
              <p:cNvPr id="136" name="Connecteur droit avec flèche 135">
                <a:extLst>
                  <a:ext uri="{FF2B5EF4-FFF2-40B4-BE49-F238E27FC236}">
                    <a16:creationId xmlns:a16="http://schemas.microsoft.com/office/drawing/2014/main" id="{112B0313-0505-CED0-7D6F-B8A1D05658DF}"/>
                  </a:ext>
                </a:extLst>
              </p:cNvPr>
              <p:cNvCxnSpPr>
                <a:cxnSpLocks/>
              </p:cNvCxnSpPr>
              <p:nvPr/>
            </p:nvCxnSpPr>
            <p:spPr>
              <a:xfrm flipV="1">
                <a:off x="3877704" y="5200256"/>
                <a:ext cx="2887"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7" name="Connecteur droit avec flèche 136">
                <a:extLst>
                  <a:ext uri="{FF2B5EF4-FFF2-40B4-BE49-F238E27FC236}">
                    <a16:creationId xmlns:a16="http://schemas.microsoft.com/office/drawing/2014/main" id="{FC214186-DFC8-1DCA-9702-D833B0A8E8F0}"/>
                  </a:ext>
                </a:extLst>
              </p:cNvPr>
              <p:cNvCxnSpPr>
                <a:cxnSpLocks/>
              </p:cNvCxnSpPr>
              <p:nvPr/>
            </p:nvCxnSpPr>
            <p:spPr>
              <a:xfrm flipV="1">
                <a:off x="5151768" y="5206352"/>
                <a:ext cx="11221"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8" name="Connecteur droit avec flèche 137">
                <a:extLst>
                  <a:ext uri="{FF2B5EF4-FFF2-40B4-BE49-F238E27FC236}">
                    <a16:creationId xmlns:a16="http://schemas.microsoft.com/office/drawing/2014/main" id="{2FB2291A-6358-6FE2-9052-C8CBF701271B}"/>
                  </a:ext>
                </a:extLst>
              </p:cNvPr>
              <p:cNvCxnSpPr>
                <a:cxnSpLocks/>
              </p:cNvCxnSpPr>
              <p:nvPr/>
            </p:nvCxnSpPr>
            <p:spPr>
              <a:xfrm flipV="1">
                <a:off x="6425832" y="5212448"/>
                <a:ext cx="6534"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9" name="Connecteur droit avec flèche 138">
                <a:extLst>
                  <a:ext uri="{FF2B5EF4-FFF2-40B4-BE49-F238E27FC236}">
                    <a16:creationId xmlns:a16="http://schemas.microsoft.com/office/drawing/2014/main" id="{B0E54A77-54FA-88CF-5A7D-39638C8D4759}"/>
                  </a:ext>
                </a:extLst>
              </p:cNvPr>
              <p:cNvCxnSpPr>
                <a:cxnSpLocks/>
              </p:cNvCxnSpPr>
              <p:nvPr/>
            </p:nvCxnSpPr>
            <p:spPr>
              <a:xfrm flipV="1">
                <a:off x="7687704" y="5218544"/>
                <a:ext cx="6533"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144" name="ZoneTexte 143">
              <a:extLst>
                <a:ext uri="{FF2B5EF4-FFF2-40B4-BE49-F238E27FC236}">
                  <a16:creationId xmlns:a16="http://schemas.microsoft.com/office/drawing/2014/main" id="{389E0BD5-ADA6-1534-710E-A79E63D77E56}"/>
                </a:ext>
              </a:extLst>
            </p:cNvPr>
            <p:cNvSpPr txBox="1"/>
            <p:nvPr/>
          </p:nvSpPr>
          <p:spPr>
            <a:xfrm>
              <a:off x="80210" y="6153667"/>
              <a:ext cx="3914273" cy="523220"/>
            </a:xfrm>
            <a:prstGeom prst="rect">
              <a:avLst/>
            </a:prstGeom>
            <a:noFill/>
          </p:spPr>
          <p:txBody>
            <a:bodyPr wrap="square" rtlCol="0">
              <a:spAutoFit/>
            </a:bodyPr>
            <a:lstStyle/>
            <a:p>
              <a:pPr algn="ctr"/>
              <a:r>
                <a:rPr lang="en-GB" sz="1400" dirty="0"/>
                <a:t>many-to-many</a:t>
              </a:r>
            </a:p>
            <a:p>
              <a:pPr algn="ctr"/>
              <a:r>
                <a:rPr lang="en-GB" sz="1400" dirty="0"/>
                <a:t>(sequence labelling, language models</a:t>
              </a:r>
            </a:p>
          </p:txBody>
        </p:sp>
        <p:grpSp>
          <p:nvGrpSpPr>
            <p:cNvPr id="171" name="Groupe 170">
              <a:extLst>
                <a:ext uri="{FF2B5EF4-FFF2-40B4-BE49-F238E27FC236}">
                  <a16:creationId xmlns:a16="http://schemas.microsoft.com/office/drawing/2014/main" id="{72061191-07D1-E3F8-32D3-12B9FD503BCC}"/>
                </a:ext>
              </a:extLst>
            </p:cNvPr>
            <p:cNvGrpSpPr/>
            <p:nvPr/>
          </p:nvGrpSpPr>
          <p:grpSpPr>
            <a:xfrm>
              <a:off x="5756998" y="4573588"/>
              <a:ext cx="3062879" cy="1382052"/>
              <a:chOff x="2866872" y="4864451"/>
              <a:chExt cx="5254492" cy="2795942"/>
            </a:xfrm>
          </p:grpSpPr>
          <mc:AlternateContent xmlns:mc="http://schemas.openxmlformats.org/markup-compatibility/2006" xmlns:a14="http://schemas.microsoft.com/office/drawing/2010/main">
            <mc:Choice Requires="a14">
              <p:sp>
                <p:nvSpPr>
                  <p:cNvPr id="172" name="ZoneTexte 171">
                    <a:extLst>
                      <a:ext uri="{FF2B5EF4-FFF2-40B4-BE49-F238E27FC236}">
                        <a16:creationId xmlns:a16="http://schemas.microsoft.com/office/drawing/2014/main" id="{EBB3CC5B-5320-6E49-57DC-AF0729DEFD68}"/>
                      </a:ext>
                    </a:extLst>
                  </p:cNvPr>
                  <p:cNvSpPr txBox="1"/>
                  <p:nvPr/>
                </p:nvSpPr>
                <p:spPr>
                  <a:xfrm>
                    <a:off x="3657484" y="7218445"/>
                    <a:ext cx="424732" cy="43585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𝑋</m:t>
                              </m:r>
                            </m:e>
                            <m:sub>
                              <m:r>
                                <a:rPr lang="fr-FR" sz="1400" b="0" i="1" smtClean="0">
                                  <a:latin typeface="Cambria Math" panose="02040503050406030204" pitchFamily="18" charset="0"/>
                                </a:rPr>
                                <m:t>𝑡</m:t>
                              </m:r>
                              <m:r>
                                <a:rPr lang="fr-FR" sz="1400" b="0" i="1" smtClean="0">
                                  <a:latin typeface="Cambria Math" panose="02040503050406030204" pitchFamily="18" charset="0"/>
                                </a:rPr>
                                <m:t>=1</m:t>
                              </m:r>
                            </m:sub>
                          </m:sSub>
                        </m:oMath>
                      </m:oMathPara>
                    </a14:m>
                    <a:endParaRPr lang="en-GB" sz="1400" dirty="0"/>
                  </a:p>
                </p:txBody>
              </p:sp>
            </mc:Choice>
            <mc:Fallback xmlns="">
              <p:sp>
                <p:nvSpPr>
                  <p:cNvPr id="172" name="ZoneTexte 171">
                    <a:extLst>
                      <a:ext uri="{FF2B5EF4-FFF2-40B4-BE49-F238E27FC236}">
                        <a16:creationId xmlns:a16="http://schemas.microsoft.com/office/drawing/2014/main" id="{EBB3CC5B-5320-6E49-57DC-AF0729DEFD68}"/>
                      </a:ext>
                    </a:extLst>
                  </p:cNvPr>
                  <p:cNvSpPr txBox="1">
                    <a:spLocks noRot="1" noChangeAspect="1" noMove="1" noResize="1" noEditPoints="1" noAdjustHandles="1" noChangeArrowheads="1" noChangeShapeType="1" noTextEdit="1"/>
                  </p:cNvSpPr>
                  <p:nvPr/>
                </p:nvSpPr>
                <p:spPr>
                  <a:xfrm>
                    <a:off x="3657484" y="7218445"/>
                    <a:ext cx="424732" cy="435851"/>
                  </a:xfrm>
                  <a:prstGeom prst="rect">
                    <a:avLst/>
                  </a:prstGeom>
                  <a:blipFill>
                    <a:blip r:embed="rId22"/>
                    <a:stretch>
                      <a:fillRect l="-22222" r="-72222" b="-20000"/>
                    </a:stretch>
                  </a:blipFill>
                </p:spPr>
                <p:txBody>
                  <a:bodyPr/>
                  <a:lstStyle/>
                  <a:p>
                    <a:r>
                      <a:rPr lang="en-GB">
                        <a:noFill/>
                      </a:rPr>
                      <a:t> </a:t>
                    </a:r>
                  </a:p>
                </p:txBody>
              </p:sp>
            </mc:Fallback>
          </mc:AlternateContent>
          <p:sp>
            <p:nvSpPr>
              <p:cNvPr id="173" name="Rectangle : coins arrondis 172">
                <a:extLst>
                  <a:ext uri="{FF2B5EF4-FFF2-40B4-BE49-F238E27FC236}">
                    <a16:creationId xmlns:a16="http://schemas.microsoft.com/office/drawing/2014/main" id="{1F4A1769-DA4E-14AA-6302-4C938A62FEAA}"/>
                  </a:ext>
                </a:extLst>
              </p:cNvPr>
              <p:cNvSpPr/>
              <p:nvPr/>
            </p:nvSpPr>
            <p:spPr>
              <a:xfrm>
                <a:off x="3586487" y="5831971"/>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cxnSp>
            <p:nvCxnSpPr>
              <p:cNvPr id="174" name="Connecteur droit avec flèche 173">
                <a:extLst>
                  <a:ext uri="{FF2B5EF4-FFF2-40B4-BE49-F238E27FC236}">
                    <a16:creationId xmlns:a16="http://schemas.microsoft.com/office/drawing/2014/main" id="{0125DB8B-9F1F-2F59-1193-FF2C860FEFC7}"/>
                  </a:ext>
                </a:extLst>
              </p:cNvPr>
              <p:cNvCxnSpPr>
                <a:cxnSpLocks/>
                <a:stCxn id="172" idx="0"/>
                <a:endCxn id="173" idx="2"/>
              </p:cNvCxnSpPr>
              <p:nvPr/>
            </p:nvCxnSpPr>
            <p:spPr>
              <a:xfrm flipH="1" flipV="1">
                <a:off x="3865886" y="6593970"/>
                <a:ext cx="3965" cy="6244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5" name="ZoneTexte 174">
                    <a:extLst>
                      <a:ext uri="{FF2B5EF4-FFF2-40B4-BE49-F238E27FC236}">
                        <a16:creationId xmlns:a16="http://schemas.microsoft.com/office/drawing/2014/main" id="{53F991EA-7531-0D14-5FF3-7779877F9840}"/>
                      </a:ext>
                    </a:extLst>
                  </p:cNvPr>
                  <p:cNvSpPr txBox="1"/>
                  <p:nvPr/>
                </p:nvSpPr>
                <p:spPr>
                  <a:xfrm>
                    <a:off x="4931547" y="7224542"/>
                    <a:ext cx="424732" cy="43585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𝑋</m:t>
                              </m:r>
                            </m:e>
                            <m:sub>
                              <m:r>
                                <a:rPr lang="fr-FR" sz="1400" b="0" i="1" smtClean="0">
                                  <a:latin typeface="Cambria Math" panose="02040503050406030204" pitchFamily="18" charset="0"/>
                                </a:rPr>
                                <m:t>𝑡</m:t>
                              </m:r>
                              <m:r>
                                <a:rPr lang="fr-FR" sz="1400" b="0" i="1" smtClean="0">
                                  <a:latin typeface="Cambria Math" panose="02040503050406030204" pitchFamily="18" charset="0"/>
                                </a:rPr>
                                <m:t>=2</m:t>
                              </m:r>
                            </m:sub>
                          </m:sSub>
                        </m:oMath>
                      </m:oMathPara>
                    </a14:m>
                    <a:endParaRPr lang="en-GB" sz="1400" dirty="0"/>
                  </a:p>
                </p:txBody>
              </p:sp>
            </mc:Choice>
            <mc:Fallback xmlns="">
              <p:sp>
                <p:nvSpPr>
                  <p:cNvPr id="175" name="ZoneTexte 174">
                    <a:extLst>
                      <a:ext uri="{FF2B5EF4-FFF2-40B4-BE49-F238E27FC236}">
                        <a16:creationId xmlns:a16="http://schemas.microsoft.com/office/drawing/2014/main" id="{53F991EA-7531-0D14-5FF3-7779877F9840}"/>
                      </a:ext>
                    </a:extLst>
                  </p:cNvPr>
                  <p:cNvSpPr txBox="1">
                    <a:spLocks noRot="1" noChangeAspect="1" noMove="1" noResize="1" noEditPoints="1" noAdjustHandles="1" noChangeArrowheads="1" noChangeShapeType="1" noTextEdit="1"/>
                  </p:cNvSpPr>
                  <p:nvPr/>
                </p:nvSpPr>
                <p:spPr>
                  <a:xfrm>
                    <a:off x="4931547" y="7224542"/>
                    <a:ext cx="424732" cy="435851"/>
                  </a:xfrm>
                  <a:prstGeom prst="rect">
                    <a:avLst/>
                  </a:prstGeom>
                  <a:blipFill>
                    <a:blip r:embed="rId23"/>
                    <a:stretch>
                      <a:fillRect l="-27778" r="-66667" b="-20000"/>
                    </a:stretch>
                  </a:blipFill>
                </p:spPr>
                <p:txBody>
                  <a:bodyPr/>
                  <a:lstStyle/>
                  <a:p>
                    <a:r>
                      <a:rPr lang="en-GB">
                        <a:noFill/>
                      </a:rPr>
                      <a:t> </a:t>
                    </a:r>
                  </a:p>
                </p:txBody>
              </p:sp>
            </mc:Fallback>
          </mc:AlternateContent>
          <p:sp>
            <p:nvSpPr>
              <p:cNvPr id="176" name="Rectangle : coins arrondis 175">
                <a:extLst>
                  <a:ext uri="{FF2B5EF4-FFF2-40B4-BE49-F238E27FC236}">
                    <a16:creationId xmlns:a16="http://schemas.microsoft.com/office/drawing/2014/main" id="{BCBE3061-59B7-462C-4274-41875BA0F29A}"/>
                  </a:ext>
                </a:extLst>
              </p:cNvPr>
              <p:cNvSpPr/>
              <p:nvPr/>
            </p:nvSpPr>
            <p:spPr>
              <a:xfrm>
                <a:off x="4860551" y="5838067"/>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cxnSp>
            <p:nvCxnSpPr>
              <p:cNvPr id="177" name="Connecteur droit avec flèche 176">
                <a:extLst>
                  <a:ext uri="{FF2B5EF4-FFF2-40B4-BE49-F238E27FC236}">
                    <a16:creationId xmlns:a16="http://schemas.microsoft.com/office/drawing/2014/main" id="{49EC1E75-DF77-591A-CD8F-5C2AEF43521A}"/>
                  </a:ext>
                </a:extLst>
              </p:cNvPr>
              <p:cNvCxnSpPr>
                <a:cxnSpLocks/>
                <a:stCxn id="175" idx="0"/>
                <a:endCxn id="176" idx="2"/>
              </p:cNvCxnSpPr>
              <p:nvPr/>
            </p:nvCxnSpPr>
            <p:spPr>
              <a:xfrm flipH="1" flipV="1">
                <a:off x="5139951" y="6600067"/>
                <a:ext cx="3963" cy="6244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9" name="Rectangle : coins arrondis 178">
                <a:extLst>
                  <a:ext uri="{FF2B5EF4-FFF2-40B4-BE49-F238E27FC236}">
                    <a16:creationId xmlns:a16="http://schemas.microsoft.com/office/drawing/2014/main" id="{74986873-2027-875A-9C44-D850296F5525}"/>
                  </a:ext>
                </a:extLst>
              </p:cNvPr>
              <p:cNvSpPr/>
              <p:nvPr/>
            </p:nvSpPr>
            <p:spPr>
              <a:xfrm>
                <a:off x="6134615" y="5844163"/>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182" name="Rectangle : coins arrondis 181">
                <a:extLst>
                  <a:ext uri="{FF2B5EF4-FFF2-40B4-BE49-F238E27FC236}">
                    <a16:creationId xmlns:a16="http://schemas.microsoft.com/office/drawing/2014/main" id="{FC6574EC-4791-DFEB-73D7-2168992204CD}"/>
                  </a:ext>
                </a:extLst>
              </p:cNvPr>
              <p:cNvSpPr/>
              <p:nvPr/>
            </p:nvSpPr>
            <p:spPr>
              <a:xfrm>
                <a:off x="7396487" y="5850259"/>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cxnSp>
            <p:nvCxnSpPr>
              <p:cNvPr id="184" name="Connecteur droit avec flèche 183">
                <a:extLst>
                  <a:ext uri="{FF2B5EF4-FFF2-40B4-BE49-F238E27FC236}">
                    <a16:creationId xmlns:a16="http://schemas.microsoft.com/office/drawing/2014/main" id="{91E1CF3F-D1E0-7CBC-B1BE-96789D7753B5}"/>
                  </a:ext>
                </a:extLst>
              </p:cNvPr>
              <p:cNvCxnSpPr>
                <a:stCxn id="173" idx="3"/>
                <a:endCxn id="176" idx="1"/>
              </p:cNvCxnSpPr>
              <p:nvPr/>
            </p:nvCxnSpPr>
            <p:spPr>
              <a:xfrm>
                <a:off x="4145287" y="6212971"/>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5" name="Connecteur droit avec flèche 184">
                <a:extLst>
                  <a:ext uri="{FF2B5EF4-FFF2-40B4-BE49-F238E27FC236}">
                    <a16:creationId xmlns:a16="http://schemas.microsoft.com/office/drawing/2014/main" id="{A886F9A5-DC39-6ED2-0C7B-64660535CDDA}"/>
                  </a:ext>
                </a:extLst>
              </p:cNvPr>
              <p:cNvCxnSpPr/>
              <p:nvPr/>
            </p:nvCxnSpPr>
            <p:spPr>
              <a:xfrm>
                <a:off x="5419351" y="6231259"/>
                <a:ext cx="715264" cy="6096"/>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86" name="Connecteur droit avec flèche 185">
                <a:extLst>
                  <a:ext uri="{FF2B5EF4-FFF2-40B4-BE49-F238E27FC236}">
                    <a16:creationId xmlns:a16="http://schemas.microsoft.com/office/drawing/2014/main" id="{B53B1EB4-37B5-C0F0-8531-CC3C9EF8E4AD}"/>
                  </a:ext>
                </a:extLst>
              </p:cNvPr>
              <p:cNvCxnSpPr/>
              <p:nvPr/>
            </p:nvCxnSpPr>
            <p:spPr>
              <a:xfrm>
                <a:off x="6689947" y="623125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7" name="Connecteur droit avec flèche 186">
                <a:extLst>
                  <a:ext uri="{FF2B5EF4-FFF2-40B4-BE49-F238E27FC236}">
                    <a16:creationId xmlns:a16="http://schemas.microsoft.com/office/drawing/2014/main" id="{3384220F-2B85-EB32-ABB2-B8E986BADC73}"/>
                  </a:ext>
                </a:extLst>
              </p:cNvPr>
              <p:cNvCxnSpPr/>
              <p:nvPr/>
            </p:nvCxnSpPr>
            <p:spPr>
              <a:xfrm>
                <a:off x="2866872" y="6222547"/>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0" name="ZoneTexte 189">
                    <a:extLst>
                      <a:ext uri="{FF2B5EF4-FFF2-40B4-BE49-F238E27FC236}">
                        <a16:creationId xmlns:a16="http://schemas.microsoft.com/office/drawing/2014/main" id="{E7DA00DF-1EFE-C375-893B-63F0B845783A}"/>
                      </a:ext>
                    </a:extLst>
                  </p:cNvPr>
                  <p:cNvSpPr txBox="1"/>
                  <p:nvPr/>
                </p:nvSpPr>
                <p:spPr>
                  <a:xfrm>
                    <a:off x="6222155" y="4864451"/>
                    <a:ext cx="636464" cy="43585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acc>
                                <m:accPr>
                                  <m:chr m:val="̂"/>
                                  <m:ctrlPr>
                                    <a:rPr lang="fr-FR" sz="1400" b="0" i="1" smtClean="0">
                                      <a:latin typeface="Cambria Math" panose="02040503050406030204" pitchFamily="18" charset="0"/>
                                    </a:rPr>
                                  </m:ctrlPr>
                                </m:accPr>
                                <m:e>
                                  <m:r>
                                    <a:rPr lang="fr-FR" sz="1400" b="0" i="1" smtClean="0">
                                      <a:latin typeface="Cambria Math" panose="02040503050406030204" pitchFamily="18" charset="0"/>
                                    </a:rPr>
                                    <m:t>𝑦</m:t>
                                  </m:r>
                                </m:e>
                              </m:acc>
                            </m:e>
                            <m:sub>
                              <m:r>
                                <a:rPr lang="fr-FR" sz="1400" b="0" i="1" smtClean="0">
                                  <a:latin typeface="Cambria Math" panose="02040503050406030204" pitchFamily="18" charset="0"/>
                                </a:rPr>
                                <m:t>𝑡</m:t>
                              </m:r>
                              <m:r>
                                <a:rPr lang="fr-FR" sz="1400" b="0" i="1" smtClean="0">
                                  <a:latin typeface="Cambria Math" panose="02040503050406030204" pitchFamily="18" charset="0"/>
                                </a:rPr>
                                <m:t>=1</m:t>
                              </m:r>
                            </m:sub>
                          </m:sSub>
                        </m:oMath>
                      </m:oMathPara>
                    </a14:m>
                    <a:endParaRPr lang="en-GB" sz="1400" dirty="0"/>
                  </a:p>
                </p:txBody>
              </p:sp>
            </mc:Choice>
            <mc:Fallback xmlns="">
              <p:sp>
                <p:nvSpPr>
                  <p:cNvPr id="190" name="ZoneTexte 189">
                    <a:extLst>
                      <a:ext uri="{FF2B5EF4-FFF2-40B4-BE49-F238E27FC236}">
                        <a16:creationId xmlns:a16="http://schemas.microsoft.com/office/drawing/2014/main" id="{E7DA00DF-1EFE-C375-893B-63F0B845783A}"/>
                      </a:ext>
                    </a:extLst>
                  </p:cNvPr>
                  <p:cNvSpPr txBox="1">
                    <a:spLocks noRot="1" noChangeAspect="1" noMove="1" noResize="1" noEditPoints="1" noAdjustHandles="1" noChangeArrowheads="1" noChangeShapeType="1" noTextEdit="1"/>
                  </p:cNvSpPr>
                  <p:nvPr/>
                </p:nvSpPr>
                <p:spPr>
                  <a:xfrm>
                    <a:off x="6222155" y="4864451"/>
                    <a:ext cx="636464" cy="435851"/>
                  </a:xfrm>
                  <a:prstGeom prst="rect">
                    <a:avLst/>
                  </a:prstGeom>
                  <a:blipFill>
                    <a:blip r:embed="rId24"/>
                    <a:stretch>
                      <a:fillRect l="-23077" t="-26667" r="-11538" b="-4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1" name="ZoneTexte 190">
                    <a:extLst>
                      <a:ext uri="{FF2B5EF4-FFF2-40B4-BE49-F238E27FC236}">
                        <a16:creationId xmlns:a16="http://schemas.microsoft.com/office/drawing/2014/main" id="{5C0D44C5-FFCF-A01B-F9CC-318D10DE7645}"/>
                      </a:ext>
                    </a:extLst>
                  </p:cNvPr>
                  <p:cNvSpPr txBox="1"/>
                  <p:nvPr/>
                </p:nvSpPr>
                <p:spPr>
                  <a:xfrm>
                    <a:off x="7484900" y="4873158"/>
                    <a:ext cx="636464" cy="43585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acc>
                                <m:accPr>
                                  <m:chr m:val="̂"/>
                                  <m:ctrlPr>
                                    <a:rPr lang="fr-FR" sz="1400" b="0" i="1" smtClean="0">
                                      <a:latin typeface="Cambria Math" panose="02040503050406030204" pitchFamily="18" charset="0"/>
                                    </a:rPr>
                                  </m:ctrlPr>
                                </m:accPr>
                                <m:e>
                                  <m:r>
                                    <a:rPr lang="fr-FR" sz="1400" b="0" i="1" smtClean="0">
                                      <a:latin typeface="Cambria Math" panose="02040503050406030204" pitchFamily="18" charset="0"/>
                                    </a:rPr>
                                    <m:t>𝑦</m:t>
                                  </m:r>
                                </m:e>
                              </m:acc>
                            </m:e>
                            <m:sub>
                              <m:r>
                                <a:rPr lang="fr-FR" sz="1400" b="0" i="1" smtClean="0">
                                  <a:latin typeface="Cambria Math" panose="02040503050406030204" pitchFamily="18" charset="0"/>
                                </a:rPr>
                                <m:t>𝑡</m:t>
                              </m:r>
                              <m:r>
                                <a:rPr lang="fr-FR" sz="1400" b="0" i="1" smtClean="0">
                                  <a:latin typeface="Cambria Math" panose="02040503050406030204" pitchFamily="18" charset="0"/>
                                </a:rPr>
                                <m:t>=1</m:t>
                              </m:r>
                            </m:sub>
                          </m:sSub>
                        </m:oMath>
                      </m:oMathPara>
                    </a14:m>
                    <a:endParaRPr lang="en-GB" sz="1400" dirty="0"/>
                  </a:p>
                </p:txBody>
              </p:sp>
            </mc:Choice>
            <mc:Fallback xmlns="">
              <p:sp>
                <p:nvSpPr>
                  <p:cNvPr id="191" name="ZoneTexte 190">
                    <a:extLst>
                      <a:ext uri="{FF2B5EF4-FFF2-40B4-BE49-F238E27FC236}">
                        <a16:creationId xmlns:a16="http://schemas.microsoft.com/office/drawing/2014/main" id="{5C0D44C5-FFCF-A01B-F9CC-318D10DE7645}"/>
                      </a:ext>
                    </a:extLst>
                  </p:cNvPr>
                  <p:cNvSpPr txBox="1">
                    <a:spLocks noRot="1" noChangeAspect="1" noMove="1" noResize="1" noEditPoints="1" noAdjustHandles="1" noChangeArrowheads="1" noChangeShapeType="1" noTextEdit="1"/>
                  </p:cNvSpPr>
                  <p:nvPr/>
                </p:nvSpPr>
                <p:spPr>
                  <a:xfrm>
                    <a:off x="7484900" y="4873158"/>
                    <a:ext cx="636464" cy="435851"/>
                  </a:xfrm>
                  <a:prstGeom prst="rect">
                    <a:avLst/>
                  </a:prstGeom>
                  <a:blipFill>
                    <a:blip r:embed="rId25"/>
                    <a:stretch>
                      <a:fillRect l="-24000" t="-26667" r="-16000" b="-46667"/>
                    </a:stretch>
                  </a:blipFill>
                </p:spPr>
                <p:txBody>
                  <a:bodyPr/>
                  <a:lstStyle/>
                  <a:p>
                    <a:r>
                      <a:rPr lang="en-GB">
                        <a:noFill/>
                      </a:rPr>
                      <a:t> </a:t>
                    </a:r>
                  </a:p>
                </p:txBody>
              </p:sp>
            </mc:Fallback>
          </mc:AlternateContent>
          <p:cxnSp>
            <p:nvCxnSpPr>
              <p:cNvPr id="194" name="Connecteur droit avec flèche 193">
                <a:extLst>
                  <a:ext uri="{FF2B5EF4-FFF2-40B4-BE49-F238E27FC236}">
                    <a16:creationId xmlns:a16="http://schemas.microsoft.com/office/drawing/2014/main" id="{A56AA706-3E19-47A6-372A-C5F6B72B9DF3}"/>
                  </a:ext>
                </a:extLst>
              </p:cNvPr>
              <p:cNvCxnSpPr>
                <a:cxnSpLocks/>
              </p:cNvCxnSpPr>
              <p:nvPr/>
            </p:nvCxnSpPr>
            <p:spPr>
              <a:xfrm flipV="1">
                <a:off x="6425832" y="5212448"/>
                <a:ext cx="6534"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5" name="Connecteur droit avec flèche 194">
                <a:extLst>
                  <a:ext uri="{FF2B5EF4-FFF2-40B4-BE49-F238E27FC236}">
                    <a16:creationId xmlns:a16="http://schemas.microsoft.com/office/drawing/2014/main" id="{165DE90A-1427-0F34-2310-7B2DCE7DB5C4}"/>
                  </a:ext>
                </a:extLst>
              </p:cNvPr>
              <p:cNvCxnSpPr>
                <a:cxnSpLocks/>
              </p:cNvCxnSpPr>
              <p:nvPr/>
            </p:nvCxnSpPr>
            <p:spPr>
              <a:xfrm flipV="1">
                <a:off x="7687704" y="5218544"/>
                <a:ext cx="6533"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196" name="ZoneTexte 195">
              <a:extLst>
                <a:ext uri="{FF2B5EF4-FFF2-40B4-BE49-F238E27FC236}">
                  <a16:creationId xmlns:a16="http://schemas.microsoft.com/office/drawing/2014/main" id="{18FEBCFB-8AC3-1308-899F-EF62F534EB14}"/>
                </a:ext>
              </a:extLst>
            </p:cNvPr>
            <p:cNvSpPr txBox="1"/>
            <p:nvPr/>
          </p:nvSpPr>
          <p:spPr>
            <a:xfrm>
              <a:off x="4427622" y="6089249"/>
              <a:ext cx="6705600" cy="523220"/>
            </a:xfrm>
            <a:prstGeom prst="rect">
              <a:avLst/>
            </a:prstGeom>
            <a:noFill/>
          </p:spPr>
          <p:txBody>
            <a:bodyPr wrap="square" rtlCol="0">
              <a:spAutoFit/>
            </a:bodyPr>
            <a:lstStyle/>
            <a:p>
              <a:pPr algn="ctr"/>
              <a:r>
                <a:rPr lang="en-GB" sz="1400" dirty="0"/>
                <a:t>many-to-many (variable)</a:t>
              </a:r>
            </a:p>
            <a:p>
              <a:pPr algn="ctr"/>
              <a:r>
                <a:rPr lang="en-GB" sz="1400" dirty="0"/>
                <a:t>(sequence-to-sequence for translation, summarization, Q&amp;A, etc)</a:t>
              </a:r>
            </a:p>
          </p:txBody>
        </p:sp>
      </p:grpSp>
      <p:sp>
        <p:nvSpPr>
          <p:cNvPr id="9" name="Espace réservé du pied de page 2">
            <a:extLst>
              <a:ext uri="{FF2B5EF4-FFF2-40B4-BE49-F238E27FC236}">
                <a16:creationId xmlns:a16="http://schemas.microsoft.com/office/drawing/2014/main" id="{C01D17DD-2AFC-F0BA-45B6-183FF50E6B46}"/>
              </a:ext>
            </a:extLst>
          </p:cNvPr>
          <p:cNvSpPr>
            <a:spLocks noGrp="1"/>
          </p:cNvSpPr>
          <p:nvPr>
            <p:ph type="ftr" sz="quarter" idx="11"/>
          </p:nvPr>
        </p:nvSpPr>
        <p:spPr>
          <a:xfrm>
            <a:off x="4038600" y="6356350"/>
            <a:ext cx="4549346" cy="365125"/>
          </a:xfrm>
        </p:spPr>
        <p:txBody>
          <a:bodyPr/>
          <a:lstStyle/>
          <a:p>
            <a:r>
              <a:rPr lang="en-GB" noProof="1"/>
              <a:t>RNN. Author: David Thébault – Based on NLPDemystified.org</a:t>
            </a:r>
          </a:p>
        </p:txBody>
      </p:sp>
    </p:spTree>
    <p:extLst>
      <p:ext uri="{BB962C8B-B14F-4D97-AF65-F5344CB8AC3E}">
        <p14:creationId xmlns:p14="http://schemas.microsoft.com/office/powerpoint/2010/main" val="1081188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E3484-3F53-480A-0149-96571D1871F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1A762B3-89B3-B73A-438A-CD465FEBB302}"/>
              </a:ext>
            </a:extLst>
          </p:cNvPr>
          <p:cNvSpPr>
            <a:spLocks noGrp="1"/>
          </p:cNvSpPr>
          <p:nvPr>
            <p:ph type="title"/>
          </p:nvPr>
        </p:nvSpPr>
        <p:spPr/>
        <p:txBody>
          <a:bodyPr/>
          <a:lstStyle/>
          <a:p>
            <a:pPr algn="ctr"/>
            <a:r>
              <a:rPr lang="en-GB" noProof="0" dirty="0"/>
              <a:t>Recurrent Neural Networks (RNN)</a:t>
            </a:r>
          </a:p>
        </p:txBody>
      </p:sp>
      <p:sp>
        <p:nvSpPr>
          <p:cNvPr id="5" name="ZoneTexte 4">
            <a:extLst>
              <a:ext uri="{FF2B5EF4-FFF2-40B4-BE49-F238E27FC236}">
                <a16:creationId xmlns:a16="http://schemas.microsoft.com/office/drawing/2014/main" id="{D4CAEEF1-ABD9-0A13-58A4-55DBDCDDF8D6}"/>
              </a:ext>
            </a:extLst>
          </p:cNvPr>
          <p:cNvSpPr txBox="1"/>
          <p:nvPr/>
        </p:nvSpPr>
        <p:spPr>
          <a:xfrm>
            <a:off x="838200" y="1318020"/>
            <a:ext cx="10030097" cy="1023136"/>
          </a:xfrm>
          <a:prstGeom prst="rect">
            <a:avLst/>
          </a:prstGeom>
          <a:noFill/>
        </p:spPr>
        <p:txBody>
          <a:bodyPr wrap="square" lIns="90000" rtlCol="0">
            <a:noAutofit/>
          </a:bodyPr>
          <a:lstStyle/>
          <a:p>
            <a:r>
              <a:rPr lang="en-GB" sz="3600" b="1" dirty="0">
                <a:latin typeface="ui-sans-serif"/>
              </a:rPr>
              <a:t>Pros and Cons</a:t>
            </a:r>
          </a:p>
        </p:txBody>
      </p:sp>
      <p:sp>
        <p:nvSpPr>
          <p:cNvPr id="9" name="Espace réservé du pied de page 2">
            <a:extLst>
              <a:ext uri="{FF2B5EF4-FFF2-40B4-BE49-F238E27FC236}">
                <a16:creationId xmlns:a16="http://schemas.microsoft.com/office/drawing/2014/main" id="{C1F453AB-39C5-9184-D003-8C5AF1D9D7E4}"/>
              </a:ext>
            </a:extLst>
          </p:cNvPr>
          <p:cNvSpPr>
            <a:spLocks noGrp="1"/>
          </p:cNvSpPr>
          <p:nvPr>
            <p:ph type="ftr" sz="quarter" idx="11"/>
          </p:nvPr>
        </p:nvSpPr>
        <p:spPr>
          <a:xfrm>
            <a:off x="4038600" y="6356350"/>
            <a:ext cx="4549346" cy="365125"/>
          </a:xfrm>
        </p:spPr>
        <p:txBody>
          <a:bodyPr/>
          <a:lstStyle/>
          <a:p>
            <a:r>
              <a:rPr lang="en-GB" noProof="1"/>
              <a:t>RNN. Author: David Thébault – Based on NLPDemystified.org</a:t>
            </a:r>
          </a:p>
        </p:txBody>
      </p:sp>
      <p:graphicFrame>
        <p:nvGraphicFramePr>
          <p:cNvPr id="17" name="Tableau 16">
            <a:extLst>
              <a:ext uri="{FF2B5EF4-FFF2-40B4-BE49-F238E27FC236}">
                <a16:creationId xmlns:a16="http://schemas.microsoft.com/office/drawing/2014/main" id="{6DF5298F-1164-A9C8-BD9F-62D290C4C7C2}"/>
              </a:ext>
            </a:extLst>
          </p:cNvPr>
          <p:cNvGraphicFramePr>
            <a:graphicFrameLocks noGrp="1"/>
          </p:cNvGraphicFramePr>
          <p:nvPr>
            <p:extLst>
              <p:ext uri="{D42A27DB-BD31-4B8C-83A1-F6EECF244321}">
                <p14:modId xmlns:p14="http://schemas.microsoft.com/office/powerpoint/2010/main" val="3092100354"/>
              </p:ext>
            </p:extLst>
          </p:nvPr>
        </p:nvGraphicFramePr>
        <p:xfrm>
          <a:off x="1574800" y="2643582"/>
          <a:ext cx="8128000" cy="2687768"/>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784222753"/>
                    </a:ext>
                  </a:extLst>
                </a:gridCol>
                <a:gridCol w="4064000">
                  <a:extLst>
                    <a:ext uri="{9D8B030D-6E8A-4147-A177-3AD203B41FA5}">
                      <a16:colId xmlns:a16="http://schemas.microsoft.com/office/drawing/2014/main" val="3818198330"/>
                    </a:ext>
                  </a:extLst>
                </a:gridCol>
              </a:tblGrid>
              <a:tr h="676088">
                <a:tc>
                  <a:txBody>
                    <a:bodyPr/>
                    <a:lstStyle/>
                    <a:p>
                      <a:pPr algn="ctr"/>
                      <a:r>
                        <a:rPr lang="en-GB" sz="3200" dirty="0"/>
                        <a:t>advantages</a:t>
                      </a:r>
                    </a:p>
                  </a:txBody>
                  <a:tcPr anchor="ctr"/>
                </a:tc>
                <a:tc>
                  <a:txBody>
                    <a:bodyPr/>
                    <a:lstStyle/>
                    <a:p>
                      <a:pPr algn="ctr"/>
                      <a:r>
                        <a:rPr lang="en-GB" sz="3200" dirty="0"/>
                        <a:t>drawbacks</a:t>
                      </a:r>
                    </a:p>
                  </a:txBody>
                  <a:tcPr anchor="ctr"/>
                </a:tc>
                <a:extLst>
                  <a:ext uri="{0D108BD9-81ED-4DB2-BD59-A6C34878D82A}">
                    <a16:rowId xmlns:a16="http://schemas.microsoft.com/office/drawing/2014/main" val="2643092249"/>
                  </a:ext>
                </a:extLst>
              </a:tr>
              <a:tr h="1272322">
                <a:tc>
                  <a:txBody>
                    <a:bodyPr/>
                    <a:lstStyle/>
                    <a:p>
                      <a:pPr marL="285750" indent="-285750">
                        <a:buFont typeface="Arial" panose="020B0604020202020204" pitchFamily="34" charset="0"/>
                        <a:buChar char="•"/>
                      </a:pPr>
                      <a:r>
                        <a:rPr lang="en-GB" dirty="0"/>
                        <a:t>Possibility of processing input of any length</a:t>
                      </a:r>
                    </a:p>
                    <a:p>
                      <a:pPr marL="285750" indent="-285750">
                        <a:buFont typeface="Arial" panose="020B0604020202020204" pitchFamily="34" charset="0"/>
                        <a:buChar char="•"/>
                      </a:pPr>
                      <a:r>
                        <a:rPr lang="en-GB" dirty="0"/>
                        <a:t>Model size not increasing with size of input</a:t>
                      </a:r>
                    </a:p>
                    <a:p>
                      <a:pPr marL="285750" indent="-285750">
                        <a:buFont typeface="Arial" panose="020B0604020202020204" pitchFamily="34" charset="0"/>
                        <a:buChar char="•"/>
                      </a:pPr>
                      <a:r>
                        <a:rPr lang="en-GB" dirty="0"/>
                        <a:t>Computation takes into account historical information</a:t>
                      </a:r>
                    </a:p>
                    <a:p>
                      <a:pPr marL="285750" indent="-285750">
                        <a:buFont typeface="Arial" panose="020B0604020202020204" pitchFamily="34" charset="0"/>
                        <a:buChar char="•"/>
                      </a:pPr>
                      <a:r>
                        <a:rPr lang="en-GB" dirty="0"/>
                        <a:t>Weights are shared across time</a:t>
                      </a:r>
                    </a:p>
                  </a:txBody>
                  <a:tcPr/>
                </a:tc>
                <a:tc>
                  <a:txBody>
                    <a:bodyPr/>
                    <a:lstStyle/>
                    <a:p>
                      <a:pPr marL="285750" indent="-285750">
                        <a:buFont typeface="Arial" panose="020B0604020202020204" pitchFamily="34" charset="0"/>
                        <a:buChar char="•"/>
                      </a:pPr>
                      <a:r>
                        <a:rPr lang="en-GB" dirty="0"/>
                        <a:t>Computation being slow</a:t>
                      </a:r>
                    </a:p>
                    <a:p>
                      <a:pPr marL="285750" indent="-285750">
                        <a:buFont typeface="Arial" panose="020B0604020202020204" pitchFamily="34" charset="0"/>
                        <a:buChar char="•"/>
                      </a:pPr>
                      <a:r>
                        <a:rPr lang="en-GB" dirty="0"/>
                        <a:t>Difficulty of accessing information from a long time ago</a:t>
                      </a:r>
                    </a:p>
                    <a:p>
                      <a:pPr marL="285750" indent="-285750">
                        <a:buFont typeface="Arial" panose="020B0604020202020204" pitchFamily="34" charset="0"/>
                        <a:buChar char="•"/>
                      </a:pPr>
                      <a:r>
                        <a:rPr lang="en-GB" dirty="0"/>
                        <a:t>Cannot consider any future input for the current state</a:t>
                      </a:r>
                    </a:p>
                  </a:txBody>
                  <a:tcPr/>
                </a:tc>
                <a:extLst>
                  <a:ext uri="{0D108BD9-81ED-4DB2-BD59-A6C34878D82A}">
                    <a16:rowId xmlns:a16="http://schemas.microsoft.com/office/drawing/2014/main" val="854458266"/>
                  </a:ext>
                </a:extLst>
              </a:tr>
            </a:tbl>
          </a:graphicData>
        </a:graphic>
      </p:graphicFrame>
      <p:sp>
        <p:nvSpPr>
          <p:cNvPr id="24" name="ZoneTexte 23">
            <a:extLst>
              <a:ext uri="{FF2B5EF4-FFF2-40B4-BE49-F238E27FC236}">
                <a16:creationId xmlns:a16="http://schemas.microsoft.com/office/drawing/2014/main" id="{CD04AD13-7FD8-E67D-BE46-CCAD0581D59C}"/>
              </a:ext>
            </a:extLst>
          </p:cNvPr>
          <p:cNvSpPr txBox="1"/>
          <p:nvPr/>
        </p:nvSpPr>
        <p:spPr>
          <a:xfrm>
            <a:off x="6542157" y="5633776"/>
            <a:ext cx="3160643" cy="369332"/>
          </a:xfrm>
          <a:prstGeom prst="rect">
            <a:avLst/>
          </a:prstGeom>
          <a:noFill/>
        </p:spPr>
        <p:txBody>
          <a:bodyPr wrap="square" rtlCol="0">
            <a:spAutoFit/>
          </a:bodyPr>
          <a:lstStyle/>
          <a:p>
            <a:r>
              <a:rPr lang="en-GB" dirty="0"/>
              <a:t>Source: Python engineer</a:t>
            </a:r>
          </a:p>
        </p:txBody>
      </p:sp>
    </p:spTree>
    <p:extLst>
      <p:ext uri="{BB962C8B-B14F-4D97-AF65-F5344CB8AC3E}">
        <p14:creationId xmlns:p14="http://schemas.microsoft.com/office/powerpoint/2010/main" val="22907807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38096</TotalTime>
  <Words>3200</Words>
  <Application>Microsoft Macintosh PowerPoint</Application>
  <PresentationFormat>Grand écran</PresentationFormat>
  <Paragraphs>614</Paragraphs>
  <Slides>20</Slides>
  <Notes>20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20</vt:i4>
      </vt:variant>
    </vt:vector>
  </HeadingPairs>
  <TitlesOfParts>
    <vt:vector size="26" baseType="lpstr">
      <vt:lpstr>Aptos</vt:lpstr>
      <vt:lpstr>Aptos Display</vt:lpstr>
      <vt:lpstr>Arial</vt:lpstr>
      <vt:lpstr>Cambria Math</vt:lpstr>
      <vt:lpstr>ui-sans-serif</vt:lpstr>
      <vt:lpstr>Thème Office</vt:lpstr>
      <vt:lpstr>Recurrent Neural Networks (RNN)</vt:lpstr>
      <vt:lpstr>Recurrent Neural Networks</vt:lpstr>
      <vt:lpstr>Recurrent Neural Networks</vt:lpstr>
      <vt:lpstr>Recurrent Neural Networks</vt:lpstr>
      <vt:lpstr>Recurrent Neural Networks</vt:lpstr>
      <vt:lpstr>Recurrent Neural Networks</vt:lpstr>
      <vt:lpstr>Recurrent Neural Networks</vt:lpstr>
      <vt:lpstr>Recurrent Neural Networks</vt:lpstr>
      <vt:lpstr>Recurrent Neural Networks</vt:lpstr>
      <vt:lpstr>Recurrent Neural Networks</vt:lpstr>
      <vt:lpstr>Recurrent Neural Networks</vt:lpstr>
      <vt:lpstr>Recurrent Neural Networks</vt:lpstr>
      <vt:lpstr>Recurrent Neural Networks</vt:lpstr>
      <vt:lpstr>Recurrent Neural Networks</vt:lpstr>
      <vt:lpstr>Recurrent Neural Networks</vt:lpstr>
      <vt:lpstr>Recurrent Neural Networks (RNN)</vt:lpstr>
      <vt:lpstr>Recurrent Neural Networks (RNN)</vt:lpstr>
      <vt:lpstr>Recurrent Neural Networks (RNN)</vt:lpstr>
      <vt:lpstr>Recurrent Neural Networks (RNN)</vt:lpstr>
      <vt:lpstr>Recurrent Neural Networks (RNN)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THEBAULT</dc:creator>
  <cp:lastModifiedBy>David THEBAULT</cp:lastModifiedBy>
  <cp:revision>198</cp:revision>
  <dcterms:created xsi:type="dcterms:W3CDTF">2024-12-16T21:11:27Z</dcterms:created>
  <dcterms:modified xsi:type="dcterms:W3CDTF">2025-03-09T21:05:00Z</dcterms:modified>
</cp:coreProperties>
</file>