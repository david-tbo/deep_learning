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7" r:id="rId2"/>
    <p:sldId id="258" r:id="rId3"/>
    <p:sldId id="272" r:id="rId4"/>
    <p:sldId id="273" r:id="rId5"/>
    <p:sldId id="260" r:id="rId6"/>
    <p:sldId id="270" r:id="rId7"/>
    <p:sldId id="274" r:id="rId8"/>
    <p:sldId id="284" r:id="rId9"/>
    <p:sldId id="275" r:id="rId10"/>
    <p:sldId id="276" r:id="rId11"/>
    <p:sldId id="277" r:id="rId12"/>
    <p:sldId id="278" r:id="rId13"/>
    <p:sldId id="299" r:id="rId14"/>
    <p:sldId id="279" r:id="rId15"/>
    <p:sldId id="280" r:id="rId16"/>
    <p:sldId id="281" r:id="rId17"/>
    <p:sldId id="282" r:id="rId18"/>
    <p:sldId id="271" r:id="rId19"/>
    <p:sldId id="283" r:id="rId20"/>
    <p:sldId id="285" r:id="rId21"/>
    <p:sldId id="286" r:id="rId22"/>
    <p:sldId id="287" r:id="rId23"/>
    <p:sldId id="288" r:id="rId24"/>
    <p:sldId id="289" r:id="rId25"/>
    <p:sldId id="305" r:id="rId26"/>
    <p:sldId id="291" r:id="rId27"/>
    <p:sldId id="290" r:id="rId28"/>
    <p:sldId id="292" r:id="rId29"/>
    <p:sldId id="293" r:id="rId30"/>
    <p:sldId id="294" r:id="rId31"/>
    <p:sldId id="304" r:id="rId32"/>
    <p:sldId id="300" r:id="rId33"/>
    <p:sldId id="301" r:id="rId34"/>
    <p:sldId id="295" r:id="rId35"/>
    <p:sldId id="297" r:id="rId36"/>
    <p:sldId id="296" r:id="rId37"/>
    <p:sldId id="302" r:id="rId38"/>
    <p:sldId id="306" r:id="rId39"/>
    <p:sldId id="307" r:id="rId40"/>
    <p:sldId id="262" r:id="rId41"/>
    <p:sldId id="264" r:id="rId42"/>
    <p:sldId id="265" r:id="rId43"/>
    <p:sldId id="266" r:id="rId44"/>
    <p:sldId id="267" r:id="rId45"/>
    <p:sldId id="268" r:id="rId46"/>
    <p:sldId id="269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9"/>
    <p:restoredTop sz="88653"/>
  </p:normalViewPr>
  <p:slideViewPr>
    <p:cSldViewPr snapToGrid="0">
      <p:cViewPr varScale="1">
        <p:scale>
          <a:sx n="67" d="100"/>
          <a:sy n="67" d="100"/>
        </p:scale>
        <p:origin x="13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AA1ACA-B3B5-2C4B-9EDA-C0BA6CE5D44C}" type="datetimeFigureOut">
              <a:rPr lang="en-GB" smtClean="0"/>
              <a:t>01/02/2025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F5B79-958C-7D41-A64D-F75AF375924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42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Traitement automatique du </a:t>
            </a:r>
            <a:r>
              <a:rPr lang="fr-FR" noProof="0" dirty="0" err="1"/>
              <a:t>language</a:t>
            </a:r>
            <a:r>
              <a:rPr lang="fr-FR" noProof="0" dirty="0"/>
              <a:t> naturel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F5B79-958C-7D41-A64D-F75AF375924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186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6174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C1EDB-8496-8125-E6F3-700230F8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75056F-C07B-4C18-6399-8E6EA6A4C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85FE30E-DFFD-F7B7-425F-C9F702E43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0FB581-A42C-FBD3-1F49-A3CFAB49B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429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5355-836B-A8E5-68F9-4016C263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87B481C-BB2B-7A0E-3718-8A1CF227C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466D0BE-121F-95CA-FB59-592CD652D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750"/>
              </a:spcAft>
            </a:pPr>
            <a:br>
              <a:rPr lang="fr-FR" b="0" dirty="0">
                <a:effectLst/>
              </a:rPr>
            </a:br>
            <a:r>
              <a:rPr lang="fr-FR" b="0" dirty="0" err="1">
                <a:effectLst/>
              </a:rPr>
              <a:t>Ambiguity</a:t>
            </a:r>
            <a:r>
              <a:rPr lang="fr-FR" b="0" dirty="0">
                <a:effectLst/>
              </a:rPr>
              <a:t> (Ambiguïté)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"I </a:t>
            </a:r>
            <a:r>
              <a:rPr lang="fr-FR" dirty="0" err="1">
                <a:effectLst/>
              </a:rPr>
              <a:t>saw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banker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with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telescope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This sentence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ambiguous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because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it</a:t>
            </a:r>
            <a:r>
              <a:rPr lang="fr-FR" dirty="0">
                <a:effectLst/>
              </a:rPr>
              <a:t> can </a:t>
            </a:r>
            <a:r>
              <a:rPr lang="fr-FR" dirty="0" err="1">
                <a:effectLst/>
              </a:rPr>
              <a:t>mean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either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that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banker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using</a:t>
            </a:r>
            <a:r>
              <a:rPr lang="fr-FR" dirty="0">
                <a:effectLst/>
              </a:rPr>
              <a:t> a </a:t>
            </a:r>
            <a:r>
              <a:rPr lang="fr-FR" dirty="0" err="1">
                <a:effectLst/>
              </a:rPr>
              <a:t>telescope</a:t>
            </a:r>
            <a:r>
              <a:rPr lang="fr-FR" dirty="0">
                <a:effectLst/>
              </a:rPr>
              <a:t> or </a:t>
            </a:r>
            <a:r>
              <a:rPr lang="fr-FR" dirty="0" err="1">
                <a:effectLst/>
              </a:rPr>
              <a:t>that</a:t>
            </a:r>
            <a:r>
              <a:rPr lang="fr-FR" dirty="0">
                <a:effectLst/>
              </a:rPr>
              <a:t> the speaker </a:t>
            </a:r>
            <a:r>
              <a:rPr lang="fr-FR" dirty="0" err="1">
                <a:effectLst/>
              </a:rPr>
              <a:t>saw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banker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using</a:t>
            </a:r>
            <a:r>
              <a:rPr lang="fr-FR" dirty="0">
                <a:effectLst/>
              </a:rPr>
              <a:t> a </a:t>
            </a:r>
            <a:r>
              <a:rPr lang="fr-FR" dirty="0" err="1">
                <a:effectLst/>
              </a:rPr>
              <a:t>telescope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Polysemy</a:t>
            </a:r>
            <a:r>
              <a:rPr lang="fr-FR" b="0" dirty="0">
                <a:effectLst/>
              </a:rPr>
              <a:t> (Polysémie)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"The </a:t>
            </a:r>
            <a:r>
              <a:rPr lang="fr-FR" dirty="0" err="1">
                <a:effectLst/>
              </a:rPr>
              <a:t>bank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robbery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was</a:t>
            </a:r>
            <a:r>
              <a:rPr lang="fr-FR" dirty="0">
                <a:effectLst/>
              </a:rPr>
              <a:t> quick."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word</a:t>
            </a:r>
            <a:r>
              <a:rPr lang="fr-FR" dirty="0">
                <a:effectLst/>
              </a:rPr>
              <a:t> "</a:t>
            </a:r>
            <a:r>
              <a:rPr lang="fr-FR" dirty="0" err="1">
                <a:effectLst/>
              </a:rPr>
              <a:t>bank</a:t>
            </a:r>
            <a:r>
              <a:rPr lang="fr-FR" dirty="0">
                <a:effectLst/>
              </a:rPr>
              <a:t>" can </a:t>
            </a:r>
            <a:r>
              <a:rPr lang="fr-FR" dirty="0" err="1">
                <a:effectLst/>
              </a:rPr>
              <a:t>mean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either</a:t>
            </a:r>
            <a:r>
              <a:rPr lang="fr-FR" dirty="0">
                <a:effectLst/>
              </a:rPr>
              <a:t> a </a:t>
            </a:r>
            <a:r>
              <a:rPr lang="fr-FR" dirty="0" err="1">
                <a:effectLst/>
              </a:rPr>
              <a:t>financial</a:t>
            </a:r>
            <a:r>
              <a:rPr lang="fr-FR" dirty="0">
                <a:effectLst/>
              </a:rPr>
              <a:t> institution or the </a:t>
            </a:r>
            <a:r>
              <a:rPr lang="fr-FR" dirty="0" err="1">
                <a:effectLst/>
              </a:rPr>
              <a:t>side</a:t>
            </a:r>
            <a:r>
              <a:rPr lang="fr-FR" dirty="0">
                <a:effectLst/>
              </a:rPr>
              <a:t> of a river.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Homonymy</a:t>
            </a:r>
            <a:r>
              <a:rPr lang="fr-FR" b="0" dirty="0">
                <a:effectLst/>
              </a:rPr>
              <a:t> (Homonymie)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"The </a:t>
            </a:r>
            <a:r>
              <a:rPr lang="fr-FR" dirty="0" err="1">
                <a:effectLst/>
              </a:rPr>
              <a:t>bass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was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too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loud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word</a:t>
            </a:r>
            <a:r>
              <a:rPr lang="fr-FR" dirty="0">
                <a:effectLst/>
              </a:rPr>
              <a:t> "</a:t>
            </a:r>
            <a:r>
              <a:rPr lang="fr-FR" dirty="0" err="1">
                <a:effectLst/>
              </a:rPr>
              <a:t>bass</a:t>
            </a:r>
            <a:r>
              <a:rPr lang="fr-FR" dirty="0">
                <a:effectLst/>
              </a:rPr>
              <a:t>" can </a:t>
            </a:r>
            <a:r>
              <a:rPr lang="fr-FR" dirty="0" err="1">
                <a:effectLst/>
              </a:rPr>
              <a:t>refer</a:t>
            </a:r>
            <a:r>
              <a:rPr lang="fr-FR" dirty="0">
                <a:effectLst/>
              </a:rPr>
              <a:t> to </a:t>
            </a:r>
            <a:r>
              <a:rPr lang="fr-FR" dirty="0" err="1">
                <a:effectLst/>
              </a:rPr>
              <a:t>either</a:t>
            </a:r>
            <a:r>
              <a:rPr lang="fr-FR" dirty="0">
                <a:effectLst/>
              </a:rPr>
              <a:t> a type of </a:t>
            </a:r>
            <a:r>
              <a:rPr lang="fr-FR" dirty="0" err="1">
                <a:effectLst/>
              </a:rPr>
              <a:t>fish</a:t>
            </a:r>
            <a:r>
              <a:rPr lang="fr-FR" dirty="0">
                <a:effectLst/>
              </a:rPr>
              <a:t> or a </a:t>
            </a:r>
            <a:r>
              <a:rPr lang="fr-FR" dirty="0" err="1">
                <a:effectLst/>
              </a:rPr>
              <a:t>low-frequency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sound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Synonymy</a:t>
            </a:r>
            <a:r>
              <a:rPr lang="fr-FR" b="0" dirty="0">
                <a:effectLst/>
              </a:rPr>
              <a:t> (Synonymie)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"The cat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on the couch."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word</a:t>
            </a:r>
            <a:r>
              <a:rPr lang="fr-FR" dirty="0">
                <a:effectLst/>
              </a:rPr>
              <a:t> "couch" can </a:t>
            </a:r>
            <a:r>
              <a:rPr lang="fr-FR" dirty="0" err="1">
                <a:effectLst/>
              </a:rPr>
              <a:t>be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replaced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with</a:t>
            </a:r>
            <a:r>
              <a:rPr lang="fr-FR" dirty="0">
                <a:effectLst/>
              </a:rPr>
              <a:t> "sofa" </a:t>
            </a:r>
            <a:r>
              <a:rPr lang="fr-FR" dirty="0" err="1">
                <a:effectLst/>
              </a:rPr>
              <a:t>without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changing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meaning</a:t>
            </a:r>
            <a:r>
              <a:rPr lang="fr-FR" dirty="0">
                <a:effectLst/>
              </a:rPr>
              <a:t> of the sentence, but an NLP model must </a:t>
            </a:r>
            <a:r>
              <a:rPr lang="fr-FR" dirty="0" err="1">
                <a:effectLst/>
              </a:rPr>
              <a:t>understand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that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these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words</a:t>
            </a:r>
            <a:r>
              <a:rPr lang="fr-FR" dirty="0">
                <a:effectLst/>
              </a:rPr>
              <a:t> are </a:t>
            </a:r>
            <a:r>
              <a:rPr lang="fr-FR" dirty="0" err="1">
                <a:effectLst/>
              </a:rPr>
              <a:t>synonyms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Context</a:t>
            </a:r>
            <a:r>
              <a:rPr lang="fr-FR" b="0" dirty="0">
                <a:effectLst/>
              </a:rPr>
              <a:t> </a:t>
            </a:r>
            <a:r>
              <a:rPr lang="fr-FR" b="0" dirty="0" err="1">
                <a:effectLst/>
              </a:rPr>
              <a:t>Dependency</a:t>
            </a:r>
            <a:r>
              <a:rPr lang="fr-FR" b="0" dirty="0">
                <a:effectLst/>
              </a:rPr>
              <a:t> (Dépendance au contexte)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"I </a:t>
            </a:r>
            <a:r>
              <a:rPr lang="fr-FR" dirty="0" err="1">
                <a:effectLst/>
              </a:rPr>
              <a:t>am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going</a:t>
            </a:r>
            <a:r>
              <a:rPr lang="fr-FR" dirty="0">
                <a:effectLst/>
              </a:rPr>
              <a:t> to the </a:t>
            </a:r>
            <a:r>
              <a:rPr lang="fr-FR" dirty="0" err="1">
                <a:effectLst/>
              </a:rPr>
              <a:t>bank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word</a:t>
            </a:r>
            <a:r>
              <a:rPr lang="fr-FR" dirty="0">
                <a:effectLst/>
              </a:rPr>
              <a:t> "</a:t>
            </a:r>
            <a:r>
              <a:rPr lang="fr-FR" dirty="0" err="1">
                <a:effectLst/>
              </a:rPr>
              <a:t>bank</a:t>
            </a:r>
            <a:r>
              <a:rPr lang="fr-FR" dirty="0">
                <a:effectLst/>
              </a:rPr>
              <a:t>" can </a:t>
            </a:r>
            <a:r>
              <a:rPr lang="fr-FR" dirty="0" err="1">
                <a:effectLst/>
              </a:rPr>
              <a:t>mean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either</a:t>
            </a:r>
            <a:r>
              <a:rPr lang="fr-FR" dirty="0">
                <a:effectLst/>
              </a:rPr>
              <a:t> a </a:t>
            </a:r>
            <a:r>
              <a:rPr lang="fr-FR" dirty="0" err="1">
                <a:effectLst/>
              </a:rPr>
              <a:t>financial</a:t>
            </a:r>
            <a:r>
              <a:rPr lang="fr-FR" dirty="0">
                <a:effectLst/>
              </a:rPr>
              <a:t> institution or the </a:t>
            </a:r>
            <a:r>
              <a:rPr lang="fr-FR" dirty="0" err="1">
                <a:effectLst/>
              </a:rPr>
              <a:t>side</a:t>
            </a:r>
            <a:r>
              <a:rPr lang="fr-FR" dirty="0">
                <a:effectLst/>
              </a:rPr>
              <a:t> of a river, </a:t>
            </a:r>
            <a:r>
              <a:rPr lang="fr-FR" dirty="0" err="1">
                <a:effectLst/>
              </a:rPr>
              <a:t>depending</a:t>
            </a:r>
            <a:r>
              <a:rPr lang="fr-FR" dirty="0">
                <a:effectLst/>
              </a:rPr>
              <a:t> on the </a:t>
            </a:r>
            <a:r>
              <a:rPr lang="fr-FR" dirty="0" err="1">
                <a:effectLst/>
              </a:rPr>
              <a:t>context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Idioms</a:t>
            </a:r>
            <a:r>
              <a:rPr lang="fr-FR" b="0" dirty="0">
                <a:effectLst/>
              </a:rPr>
              <a:t> (Expressions idiomatiques)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</a:t>
            </a:r>
            <a:r>
              <a:rPr lang="fr-FR" dirty="0" err="1">
                <a:effectLst/>
              </a:rPr>
              <a:t>It's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raining</a:t>
            </a:r>
            <a:r>
              <a:rPr lang="fr-FR" dirty="0">
                <a:effectLst/>
              </a:rPr>
              <a:t> cats and </a:t>
            </a:r>
            <a:r>
              <a:rPr lang="fr-FR" dirty="0" err="1">
                <a:effectLst/>
              </a:rPr>
              <a:t>dogs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This </a:t>
            </a:r>
            <a:r>
              <a:rPr lang="fr-FR" dirty="0" err="1">
                <a:effectLst/>
              </a:rPr>
              <a:t>idiomatic</a:t>
            </a:r>
            <a:r>
              <a:rPr lang="fr-FR" dirty="0">
                <a:effectLst/>
              </a:rPr>
              <a:t> expression means </a:t>
            </a:r>
            <a:r>
              <a:rPr lang="fr-FR" dirty="0" err="1">
                <a:effectLst/>
              </a:rPr>
              <a:t>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raining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heavily</a:t>
            </a:r>
            <a:r>
              <a:rPr lang="fr-FR" dirty="0">
                <a:effectLst/>
              </a:rPr>
              <a:t>, but </a:t>
            </a:r>
            <a:r>
              <a:rPr lang="fr-FR" dirty="0" err="1">
                <a:effectLst/>
              </a:rPr>
              <a:t>literally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makes</a:t>
            </a:r>
            <a:r>
              <a:rPr lang="fr-FR" dirty="0">
                <a:effectLst/>
              </a:rPr>
              <a:t> no </a:t>
            </a:r>
            <a:r>
              <a:rPr lang="fr-FR" dirty="0" err="1">
                <a:effectLst/>
              </a:rPr>
              <a:t>sense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Sarcasm</a:t>
            </a:r>
            <a:r>
              <a:rPr lang="fr-FR" b="0" dirty="0">
                <a:effectLst/>
              </a:rPr>
              <a:t> (Sarcasme)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"Oh </a:t>
            </a:r>
            <a:r>
              <a:rPr lang="fr-FR" dirty="0" err="1">
                <a:effectLst/>
              </a:rPr>
              <a:t>great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it's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raining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again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</a:t>
            </a:r>
            <a:r>
              <a:rPr lang="fr-FR" dirty="0" err="1">
                <a:effectLst/>
              </a:rPr>
              <a:t>Sarcasm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difficult</a:t>
            </a:r>
            <a:r>
              <a:rPr lang="fr-FR" dirty="0">
                <a:effectLst/>
              </a:rPr>
              <a:t> for NLP </a:t>
            </a:r>
            <a:r>
              <a:rPr lang="fr-FR" dirty="0" err="1">
                <a:effectLst/>
              </a:rPr>
              <a:t>models</a:t>
            </a:r>
            <a:r>
              <a:rPr lang="fr-FR" dirty="0">
                <a:effectLst/>
              </a:rPr>
              <a:t> to </a:t>
            </a:r>
            <a:r>
              <a:rPr lang="fr-FR" dirty="0" err="1">
                <a:effectLst/>
              </a:rPr>
              <a:t>detect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because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it</a:t>
            </a:r>
            <a:r>
              <a:rPr lang="fr-FR" dirty="0">
                <a:effectLst/>
              </a:rPr>
              <a:t> relies on </a:t>
            </a:r>
            <a:r>
              <a:rPr lang="fr-FR" dirty="0" err="1">
                <a:effectLst/>
              </a:rPr>
              <a:t>tone</a:t>
            </a:r>
            <a:r>
              <a:rPr lang="fr-FR" dirty="0">
                <a:effectLst/>
              </a:rPr>
              <a:t> and </a:t>
            </a:r>
            <a:r>
              <a:rPr lang="fr-FR" dirty="0" err="1">
                <a:effectLst/>
              </a:rPr>
              <a:t>context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which</a:t>
            </a:r>
            <a:r>
              <a:rPr lang="fr-FR" dirty="0">
                <a:effectLst/>
              </a:rPr>
              <a:t> are not </a:t>
            </a:r>
            <a:r>
              <a:rPr lang="fr-FR" dirty="0" err="1">
                <a:effectLst/>
              </a:rPr>
              <a:t>always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obvious</a:t>
            </a:r>
            <a:r>
              <a:rPr lang="fr-FR" dirty="0">
                <a:effectLst/>
              </a:rPr>
              <a:t> in </a:t>
            </a:r>
            <a:r>
              <a:rPr lang="fr-FR" dirty="0" err="1">
                <a:effectLst/>
              </a:rPr>
              <a:t>written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text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Negation</a:t>
            </a:r>
            <a:r>
              <a:rPr lang="fr-FR" b="0" dirty="0">
                <a:effectLst/>
              </a:rPr>
              <a:t> (Négation)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"I </a:t>
            </a:r>
            <a:r>
              <a:rPr lang="fr-FR" dirty="0" err="1">
                <a:effectLst/>
              </a:rPr>
              <a:t>did</a:t>
            </a:r>
            <a:r>
              <a:rPr lang="fr-FR" dirty="0">
                <a:effectLst/>
              </a:rPr>
              <a:t> not </a:t>
            </a:r>
            <a:r>
              <a:rPr lang="fr-FR" dirty="0" err="1">
                <a:effectLst/>
              </a:rPr>
              <a:t>say</a:t>
            </a:r>
            <a:r>
              <a:rPr lang="fr-FR" dirty="0">
                <a:effectLst/>
              </a:rPr>
              <a:t> I </a:t>
            </a:r>
            <a:r>
              <a:rPr lang="fr-FR" dirty="0" err="1">
                <a:effectLst/>
              </a:rPr>
              <a:t>would</a:t>
            </a:r>
            <a:r>
              <a:rPr lang="fr-FR" dirty="0">
                <a:effectLst/>
              </a:rPr>
              <a:t> come."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</a:t>
            </a:r>
            <a:r>
              <a:rPr lang="fr-FR" dirty="0" err="1">
                <a:effectLst/>
              </a:rPr>
              <a:t>Negation</a:t>
            </a:r>
            <a:r>
              <a:rPr lang="fr-FR" dirty="0">
                <a:effectLst/>
              </a:rPr>
              <a:t> can reverse the </a:t>
            </a:r>
            <a:r>
              <a:rPr lang="fr-FR" dirty="0" err="1">
                <a:effectLst/>
              </a:rPr>
              <a:t>meaning</a:t>
            </a:r>
            <a:r>
              <a:rPr lang="fr-FR" dirty="0">
                <a:effectLst/>
              </a:rPr>
              <a:t> of a sentence, </a:t>
            </a:r>
            <a:r>
              <a:rPr lang="fr-FR" dirty="0" err="1">
                <a:effectLst/>
              </a:rPr>
              <a:t>which</a:t>
            </a:r>
            <a:r>
              <a:rPr lang="fr-FR" dirty="0">
                <a:effectLst/>
              </a:rPr>
              <a:t> can </a:t>
            </a:r>
            <a:r>
              <a:rPr lang="fr-FR" dirty="0" err="1">
                <a:effectLst/>
              </a:rPr>
              <a:t>be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challenging</a:t>
            </a:r>
            <a:r>
              <a:rPr lang="fr-FR" dirty="0">
                <a:effectLst/>
              </a:rPr>
              <a:t> for an NLP model to </a:t>
            </a:r>
            <a:r>
              <a:rPr lang="fr-FR" dirty="0" err="1">
                <a:effectLst/>
              </a:rPr>
              <a:t>interpret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correctly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Coreference</a:t>
            </a:r>
            <a:r>
              <a:rPr lang="fr-FR" b="0" dirty="0">
                <a:effectLst/>
              </a:rPr>
              <a:t> </a:t>
            </a:r>
            <a:r>
              <a:rPr lang="fr-FR" b="0" dirty="0" err="1">
                <a:effectLst/>
              </a:rPr>
              <a:t>Resolution</a:t>
            </a:r>
            <a:r>
              <a:rPr lang="fr-FR" b="0" dirty="0">
                <a:effectLst/>
              </a:rPr>
              <a:t> (Résolution de coréférence)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"Mary </a:t>
            </a:r>
            <a:r>
              <a:rPr lang="fr-FR" dirty="0" err="1">
                <a:effectLst/>
              </a:rPr>
              <a:t>said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she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would</a:t>
            </a:r>
            <a:r>
              <a:rPr lang="fr-FR" dirty="0">
                <a:effectLst/>
              </a:rPr>
              <a:t> come."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pronoun</a:t>
            </a:r>
            <a:r>
              <a:rPr lang="fr-FR" dirty="0">
                <a:effectLst/>
              </a:rPr>
              <a:t> "</a:t>
            </a:r>
            <a:r>
              <a:rPr lang="fr-FR" dirty="0" err="1">
                <a:effectLst/>
              </a:rPr>
              <a:t>she</a:t>
            </a:r>
            <a:r>
              <a:rPr lang="fr-FR" dirty="0">
                <a:effectLst/>
              </a:rPr>
              <a:t>" </a:t>
            </a:r>
            <a:r>
              <a:rPr lang="fr-FR" dirty="0" err="1">
                <a:effectLst/>
              </a:rPr>
              <a:t>refers</a:t>
            </a:r>
            <a:r>
              <a:rPr lang="fr-FR" dirty="0">
                <a:effectLst/>
              </a:rPr>
              <a:t> to "Mary," and an NLP model must </a:t>
            </a:r>
            <a:r>
              <a:rPr lang="fr-FR" dirty="0" err="1">
                <a:effectLst/>
              </a:rPr>
              <a:t>understand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this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coreference</a:t>
            </a:r>
            <a:r>
              <a:rPr lang="fr-FR" dirty="0">
                <a:effectLst/>
              </a:rPr>
              <a:t> to </a:t>
            </a:r>
            <a:r>
              <a:rPr lang="fr-FR" dirty="0" err="1">
                <a:effectLst/>
              </a:rPr>
              <a:t>interpret</a:t>
            </a:r>
            <a:r>
              <a:rPr lang="fr-FR" dirty="0">
                <a:effectLst/>
              </a:rPr>
              <a:t> the sentence </a:t>
            </a:r>
            <a:r>
              <a:rPr lang="fr-FR" dirty="0" err="1">
                <a:effectLst/>
              </a:rPr>
              <a:t>correctly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Named</a:t>
            </a:r>
            <a:r>
              <a:rPr lang="fr-FR" b="0" dirty="0">
                <a:effectLst/>
              </a:rPr>
              <a:t> </a:t>
            </a:r>
            <a:r>
              <a:rPr lang="fr-FR" b="0" dirty="0" err="1">
                <a:effectLst/>
              </a:rPr>
              <a:t>Entity</a:t>
            </a:r>
            <a:r>
              <a:rPr lang="fr-FR" b="0" dirty="0">
                <a:effectLst/>
              </a:rPr>
              <a:t> Recognition (Reconnaissance d'entités nommées)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"Paris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the capital of France."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An NLP model must </a:t>
            </a:r>
            <a:r>
              <a:rPr lang="fr-FR" dirty="0" err="1">
                <a:effectLst/>
              </a:rPr>
              <a:t>identify</a:t>
            </a:r>
            <a:r>
              <a:rPr lang="fr-FR" dirty="0">
                <a:effectLst/>
              </a:rPr>
              <a:t> "Paris" as a city and "France" as a country, </a:t>
            </a:r>
            <a:r>
              <a:rPr lang="fr-FR" dirty="0" err="1">
                <a:effectLst/>
              </a:rPr>
              <a:t>which</a:t>
            </a:r>
            <a:r>
              <a:rPr lang="fr-FR" dirty="0">
                <a:effectLst/>
              </a:rPr>
              <a:t> can </a:t>
            </a:r>
            <a:r>
              <a:rPr lang="fr-FR" dirty="0" err="1">
                <a:effectLst/>
              </a:rPr>
              <a:t>be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challenging</a:t>
            </a:r>
            <a:r>
              <a:rPr lang="fr-FR" dirty="0">
                <a:effectLst/>
              </a:rPr>
              <a:t> due to the </a:t>
            </a:r>
            <a:r>
              <a:rPr lang="fr-FR" dirty="0" err="1">
                <a:effectLst/>
              </a:rPr>
              <a:t>variability</a:t>
            </a:r>
            <a:r>
              <a:rPr lang="fr-FR" dirty="0">
                <a:effectLst/>
              </a:rPr>
              <a:t> of </a:t>
            </a:r>
            <a:r>
              <a:rPr lang="fr-FR" dirty="0" err="1">
                <a:effectLst/>
              </a:rPr>
              <a:t>proper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names</a:t>
            </a:r>
            <a:r>
              <a:rPr lang="fr-FR" dirty="0">
                <a:effectLst/>
              </a:rPr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E18641-E232-41BC-928C-98D623B92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24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264BA-EBD1-974D-5CEC-BF93C1ACE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B7EDD29-9ECB-3A29-29BE-E9F03964D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188A1FD-FDDC-4E35-AE9D-0452DE42E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00A778-9ACF-2084-9563-AC87B5B69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8715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4107-2AE4-8DF8-5524-8F9B48303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843F86A-CD4D-53AA-0FEA-D7798EB65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D79D789-0A18-C817-5795-9A563277C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6418FA-1727-A5D4-9079-BCC71F773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314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48867-9E94-D440-A4DD-B3E0C935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A70A0A4-6275-5DA7-0FB9-B470D5CD4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DC6084F-2C1F-CC9C-F4C4-53FFCFF77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C5F9AE-1771-9A3A-AC11-1A7BDC8E1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367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D2670-486F-98F0-EC77-04730507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1D3F434-7EFE-B20A-E9FE-FC03560F4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2AAFCEE-F488-6E49-B491-9E9E0E0B9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7260FD-51F3-EF65-F96A-0DD5D597C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581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83E8C-8831-5D53-36C9-611FF0C8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44A1146-E77C-67F1-F12E-126F05B07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426C2EF-8B2B-F5E0-8300-501F9FE34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510790-CDAD-E65B-F4A6-8C4D5118F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7091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A4F77-40DC-7137-BCA8-DA302ABC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E1CE34F-871E-C715-E085-18BD4A8A4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4578FFA-7050-C30D-DCB3-82D8EC9F0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5B1A66-585F-01FF-468F-EE871C165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769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063EE-3DCE-FB72-618E-9325A17D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ACF02AB-4696-7121-4E64-5437E931A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FD1A6BC-E38C-DECE-97A1-1265A97A3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EA14C4-88CF-32A1-65F7-859E90AEA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252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82C14-991D-5E0B-B96C-BBC8B5FDF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0752C6D-39EA-E5FA-12C2-1D59DB467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9E9AC5A-ECF2-535A-2B97-F65BC1150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E09BE3-F798-EE43-737B-027823747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367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86AE-AF2E-F734-5215-D5C34DDFF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F834AE-E9E6-364D-FA10-5D0588BA6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5EB4D15-158B-FB4F-1A44-61D240163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DCF4A7-9781-2983-3F26-4860C3DCF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438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298FC-5F9E-747C-B7EF-CA8F5E6F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A40DCB8-5D5A-040F-0E83-764D386C9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5F2D236-06B1-C2BB-F6B8-4D9C3317E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6E5696-F40A-F6C0-15F9-2073E3AC9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883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70275-2C9A-05CC-4026-341E21A06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90379F0-EAAC-0815-5222-E9CCC749C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C409E53-9A45-6C90-5FE6-1731E04ED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5C361A-6F85-57C5-6F2F-DEF6F94E4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8435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18BC6-3D7E-A96C-4252-1333CF09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E2B2A7D-6B80-B91E-51A0-4216481FD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B880A6E-F4B8-BBE0-2A30-D0191232D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D7D245-03B8-E729-C32F-FA74F917B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5752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CED78-95DD-E525-0A6E-CEFBFEB97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6EC56AB-C4F7-013C-4567-D9A5605B4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BEEFEF6-977D-31DC-2A8C-F8F3B4C95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425E51-92BD-A725-1EF5-7B060D0DF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61380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7232A-4F6E-F2EE-6F40-1EB68A273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2AC6596-543D-AD86-8B10-14F2DE297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6E34C39-3391-2384-D0F5-320B41EF1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analyzes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grammatical structure of sentences.</a:t>
            </a: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EED156-2944-535B-3D0C-7C7100820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4627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29530-024D-15C5-367F-CD6355FF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C160B6-7CE3-AE2F-5CE2-F32FBAED9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F78E88-5824-1F0E-5722-D80EEF7DA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analyzes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grammatical structure of sentences.</a:t>
            </a: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744221-AB63-6F1E-1809-149194C6A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6226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AC824-C7F3-EAAF-DCEB-F835DDA7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07AC32C-119F-4781-45B2-CF67520A9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7ABB836-FD2E-2A5F-C8C1-B12FDC6D2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2AD16A-81CF-AC99-3327-3909E9EC0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1798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95216-18AC-70F4-D729-E598DC8A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C314C9-34C1-864D-27D3-611A28EDC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01BEC12-D904-6995-ACD6-45BE9EFF3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analyzes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grammatical structure of sentences.</a:t>
            </a: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33055C-4FCA-F369-88A4-E2D99404C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6953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0D053-AB32-877E-D712-FAB306410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ADCFF07-B1E6-2BE3-5595-C10D77007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B91C8A0-5812-8BB5-3058-A89E3E53B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5F16D3-BFA8-5CE3-1A0B-208F6F4AD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62476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CAFDA-788B-08AA-9236-53AD884C4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F7C6D4-0D3A-C91E-0467-07E3E9D55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8DE2019-816D-FD60-0D32-AFAB1FEC7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analyzes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grammatical structure of sentences.</a:t>
            </a: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966611-D937-7173-A402-726588150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7423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A13CC-31F0-05B0-0E31-657A15F0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197B3C6-2EA8-0597-A8CD-140E90AA4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1EA6BE8-0EA5-00BD-F0BA-A56D1C5DA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analyzes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grammatical structure of sentences.</a:t>
            </a: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D1155C-78FA-D7E5-D3D4-0A036C362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96627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953FB-7E3C-44DC-F60D-A387FF145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79D3D8B-47B5-42BC-803F-00112EBB2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9691D2-FFA4-F598-F7C9-BC58223EA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analyzes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grammatical structure of sentences.</a:t>
            </a: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191E0F-2179-E5AA-7357-4B39E6093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7167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1964-A4FD-9444-17B8-3043A3141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EE0312-56A0-276A-87C1-AECF2A046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56FEF12-3BE1-C627-BCE3-49D04AD1F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6E2859-ACBE-9309-4877-BD9757CF7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4614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4432A-5264-E68E-62EC-DE00199B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9A696D6-470A-FED4-81C9-DB39EC1F1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7A4D5CD-8ABB-DF7B-CF7E-B81439D6B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E581EB-DBF8-0774-18F0-778A87D8C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56977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9001-4E75-806C-C08A-3F842C33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7DC1CA-C079-D994-571C-D0FD2F7D6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12B9DC-EA87-9630-8D0A-357CF34A6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6FD265-86F2-F1A6-8F2D-119D0A21D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32996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56CFA-2B24-DDAA-2883-CB5B13179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2C49F68-79D2-DD71-18E5-0957D5CB5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8DE4FB5-87CA-D090-28A7-B34237848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9A0285-D9C9-FB6C-C04D-59B6D3661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44807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B3FBA-1059-D929-332B-FA4A6290F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086446-159F-53E5-0C8E-A08ECD567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9F74970-19F6-48D9-8E38-44B11D7F1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7C30FE-C669-00AC-66B4-2136DB2E2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6456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4CCCE-260B-41E5-9211-AF2C28DEE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1C5082A-A206-B019-65E8-B581B760C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DBC0D5D-2763-E435-F3E3-CD352084C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5CBE02-6380-268D-EFC0-0E6C71E91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83169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7433-D9F9-45A4-6D3A-6F6740EF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77BFECB-6759-07F5-7BD3-D02EC2317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558B40F-AE2D-8A2F-BD0D-3F4A0C38E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DCF754-31FA-5864-AF73-882F3B130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2677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B1A8E-EAF9-F93B-FDB2-5BF155F4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CE2D56E-B860-2C24-BD6A-D233146C0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F1188AA-3E7D-DF21-8FA8-75979F8D3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9616BB-DFB0-41F5-DC57-11E4EE964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7413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F4AD6-C7C9-8918-065E-CEF506902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0138CBC-828B-15C3-D96D-8AAC1A94F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1D24EE8-CA7B-1BF6-6236-23FC01CA8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40AD62-C867-FCCC-3486-5C064EB41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84921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B875-3B61-6918-653C-B7D27A8E0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4122D22-B984-64B3-496C-9A96F2B8E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C8075FB-4B3D-4E91-E467-248F5562D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25C79A-4466-08CF-1A46-E071DE33F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88748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E355-D2AB-3721-62C4-815C9AE2B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C370834-6C8F-8931-1E84-806E7B2E2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B502F17-FA65-0DC1-5A7B-9862E1494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E17D72-ED36-2D60-A95D-9D5FBB2DA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2845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881B9-79DF-99B2-A824-09DC4D829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13EA963-1B3D-1E4B-71EE-C0CD28653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F1FA39-B5F0-F6D3-AE70-A70BCC24A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56B2C7-6644-71EC-8CFD-65BF0C472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4953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D94F-78F2-7F83-A726-A3093E98B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6E48CB9-7E9D-C4C8-FEB1-C9483C787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FC2541-DE92-2B84-F1D6-49F7EE1C5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69AA15-7AFD-4656-65D0-56E1072FE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7140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B1BAD-2FE8-FF28-A1C5-3AB2FD85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AEDEEEB-F757-8FE9-EA0E-F343526B9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A7AD678-E4CA-7517-61F9-35BC03280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E591A2-B8B8-A40E-395E-9977493DA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08208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2CDA8-AA18-5B0E-9BF5-2A518411C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170666E-B8A2-5AB9-D71D-816D4CDC2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4724D5D-3424-6225-0D66-896D5B899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9BDC02-DA83-2147-947E-561648D5E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5401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751CB-81CF-5142-D82F-03FF8D3A0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7F3C5C7-5DAB-A171-D357-BAC995B8E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BD70B81-D73E-867E-ED04-8BB2AA420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B1B9D0-98AA-80E6-3CD1-EAD40C75C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7843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A1A5-8657-1329-06AF-BE5D9817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76707E5-942E-1786-7927-796873998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971A60-9A81-54B8-DF7D-635AA8D5E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51F69E-0B4C-05AA-F7C9-8E14BE0E9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2136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3F54A-BFC2-4086-0EA5-72E704FF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CAAAFD-D092-67B2-8815-57335A95E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9B96943-EB8A-1687-EC4E-AA8523E56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162EFB-E2EE-CE27-A4B2-09521E67D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37825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27BD7-2DDB-5011-BFD4-B668D844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1A79E96-CD09-BC74-8843-1A1A3F437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DF394F1-2344-2683-7F44-8F2A48BF9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B11347-315B-1F1D-0512-FAAC04B5D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98276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56199-3014-2CD4-66CD-DC4B13CF0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F2C126A-1D9B-0CDE-5348-F45274468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E80357A-00BC-5F10-C83B-64F18D999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A9CA9C-D325-01DE-D621-A2B3C01B2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6142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463DE-45BE-F0BC-B253-091655B87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4917C93-2939-F687-2C36-69180BAF9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FBA8C44-1E23-3D6C-CDEE-0E07F0715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D44C04-409F-581D-AC88-107D3CCDF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63211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8506-E4C7-A523-80D6-33C2592D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41AA587-DA66-0E77-F63C-BA14AB0E1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A7D5C14-9E16-ED74-D5C3-D8A9B98C2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6EAA49-3719-5A10-7A9A-8E88A3D89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355962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75CD-7C8A-7F28-2A70-B050EC4F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78EFD7-7BDC-8611-0E67-4C6994EF6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784C286-FBB0-79B7-CB17-2081C2134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3C8C2-ACF4-FD0C-33D9-C2D064C78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281199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DE054-C452-1B48-2750-5FD50773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336AEA0-0445-5276-A552-1F6F21227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7EB52F9-33E7-AE10-EAF4-A97619F7B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6A1ACB-CF25-1A6C-11D2-605CF26A2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3836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FE21B-CA00-F46E-377F-EC5471794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CA3435-EBC8-FEF9-421F-DA0726B61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D27AF63-298E-6BC2-613F-23A5DA985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FD97A5C-7004-4CB5-EFEA-51085F631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35447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E0A3-813D-6201-97A8-57B44FFC3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637E817-C22D-FFC6-08D7-9206AFC97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A95E4C1-A34B-6932-CC4F-ABA7EAA8C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6AEDE4-6985-B6A9-3570-3E1145A86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03151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CBC0A-AA34-696F-333F-0620A8CC9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64B1A55-22F4-CCBC-B0AB-1523B967B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F2DA74F-7ED4-6D49-3061-3389B6AC7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DF4CBE-57DC-5F90-A5BF-D08493D88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6339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80C8D-AFE5-67D0-32C3-DA9AE0090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143A6E4-1CFF-CAB5-16E9-E5024FC05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4D3A5E4-04A8-A799-2279-46E2C26AF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7CA3A4-5D9C-114E-8281-07EAFA75E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31932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287C-E388-7EC9-A9A2-89FC9222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5708C79-4539-A29E-99E2-59C91E7E6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154ADAB-D96A-64A8-FC32-9951813A0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AA7DCA-4729-AFC9-8896-8C0A08917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74337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1C7B1-BD8F-D17A-0F9E-0FC69B40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A7C9F4A-2F1A-FDB7-AEB4-41CDDA65B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C28946-60B2-0593-39E0-38C1E4685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CA42E5-F0FE-D9F5-A292-7313FC24D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803184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EC2C-E7AC-68D9-1CD8-41CA549B4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3460716-1226-1AC8-6D34-BF4C9C2EA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F566984-F744-7505-4B8F-6A112083A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E432FA-B398-2D1D-0384-6AD24BB95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2482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96534-41FD-E48E-97D7-5E0EF10DB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886B0A2-99A5-195B-F207-3CE6B8B61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20D855-2E85-9687-7AF7-8DAE29833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FD2026-DC42-70F7-A665-0FA232AC5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021995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06A5-4BD8-19C7-D060-2F8A745BE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F5EC2EB-37E5-8B6E-EB8D-3862DF8D1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4EEF186-A711-D988-DE59-11253867E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0FE173-003B-727D-E634-D09BA84C4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130346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46E87-BC4E-43BA-9E17-4F6338632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759AD4A-3022-7772-378E-65A933006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5B30172-4139-8283-4AA3-1E43E0E9E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F0A319-76B1-EAE7-A705-25D679985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6073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638AB-AB44-4F44-785B-96931090D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5BB094-185D-6C1F-E8E2-02C460A2E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48E908-3F7D-BE66-1BAF-48AFA60E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B0C8F-8E33-7D4B-9DCF-7846A2EEA7BC}" type="datetime1">
              <a:rPr lang="fr-FR" smtClean="0"/>
              <a:t>01/02/2025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DB4057-F791-D7BB-5389-3187C8C9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80D4BA-190C-14AF-E6BC-1AB74F44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86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0FE821-2576-9651-58EC-D62A8C7C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75DD06-FC64-CFC1-0A6C-ADC010106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37CA26-36E2-1A7A-72F3-37DF3F80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5EB9-46A4-524F-A835-D669998F01A6}" type="datetime1">
              <a:rPr lang="fr-FR" smtClean="0"/>
              <a:t>01/02/2025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D1542E-D2D1-BB47-00D6-D9B1EF66D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2E8FE9-F73F-DD65-CDEE-D88E626E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86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BC490C-7B6A-CD7C-DA28-04CBFF38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0ED621-B471-72E9-02E2-0D472DEA4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A63065-521A-5DBC-71F4-DCF6E9D3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256E9-F474-FE40-9628-98DEF26086B4}" type="datetime1">
              <a:rPr lang="fr-FR" smtClean="0"/>
              <a:t>01/02/2025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BED33D-F900-95F1-B4D5-F8803096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D1837B-5DBE-E8E0-5F94-CA65E491E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73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0EB0C-2D6C-A35D-3E38-8EF35B11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9E5493-B0AB-CE62-736C-951FD00FD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308763-2A51-56FC-5374-D7A15ECCA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AFD73C-7D06-D51F-510A-3529CF77D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A66BB-E4F9-CD47-978F-A29BA084C690}" type="datetime1">
              <a:rPr lang="fr-FR" smtClean="0"/>
              <a:t>01/02/2025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CBF3C5-04D3-9218-12FE-9DE02DDC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4728E8-0E1D-7809-2E4D-ADCF6F1FF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1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54130B-9370-7883-0717-1BD68A386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848E4E-97DD-6C44-9961-5F656105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EF8ED9-7E68-987E-4801-4FCC154EA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E617C08-B632-10ED-F514-3542580AE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C8005FD-BB5C-7715-9BBB-4652B44B7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748F56-F980-5498-B88A-57DB85FF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135E-FA81-C949-BF84-217CF1FED30B}" type="datetime1">
              <a:rPr lang="fr-FR" smtClean="0"/>
              <a:t>01/02/2025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4B50B6-47B3-6075-4EC2-36F65EA1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5A3815-5467-2E89-3A5F-0BA78FAB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9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DB8EC-5949-E9DB-81BD-1745DCE7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307A441-A698-1837-AC62-4D179787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417FA-B0AE-A046-961D-49ACF96A1E38}" type="datetime1">
              <a:rPr lang="fr-FR" smtClean="0"/>
              <a:t>01/02/2025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C7AD70-E50C-75FF-4C19-8242D663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A152C5-28E3-1071-CEF8-84E90084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62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D017A14-40F9-6437-5261-222B51BEB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70DE-B107-C14C-8AC4-727633FCA810}" type="datetime1">
              <a:rPr lang="fr-FR" smtClean="0"/>
              <a:t>01/02/2025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1AAAE1D-5F91-D7B8-0C07-F57F37D2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7FDAD7-2841-DE0C-052B-36858072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55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B7B945-B2F7-153C-3391-88D7C31A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1A287C-1AD2-E80E-E53C-28DCFA7D6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B51E35-4073-D78F-44C5-C2143EB0D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7E06BC-CF7C-52F4-A947-C96A2BDBF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9A73-56E1-0847-98C6-1343EC2D8C39}" type="datetime1">
              <a:rPr lang="fr-FR" smtClean="0"/>
              <a:t>01/02/2025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7F41F4-A70C-6EAD-4A46-A5C287EC6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76A87E-FA41-78D4-EC00-5D899843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85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D0BC82-6D03-592A-0C8A-8804C8AD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9859FD4-01A7-D155-B541-03EAFB59A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FF0AA2-CEED-722D-EC4B-68D1642CF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7F03BE-E420-E221-39C5-0519A77F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3398-1D35-6544-A2CC-10E1CFDB53BA}" type="datetime1">
              <a:rPr lang="fr-FR" smtClean="0"/>
              <a:t>01/02/2025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8752CD-3356-E07D-5257-BE3F6539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514820-E6C4-F3D4-EE8D-70ABD3B1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61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47F897-700C-3101-5C3C-72A9FF91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882897-D3D4-C2D1-D319-9B718B030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AF124C-E111-5CC6-61AA-889BF1A47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B707-1D71-774A-9821-01A895ED4CA0}" type="datetime1">
              <a:rPr lang="fr-FR" smtClean="0"/>
              <a:t>01/02/2025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D92984-1579-FADD-F22D-588D62EB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3F842A-D66B-0FA6-5EE0-CE72083F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43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283032-C078-B82A-8633-A57C5B4CA3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5D9928-6925-D028-A1F6-4349D4D49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6365FF-1093-5263-CEC4-A966C0CA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A1DB-9F39-7549-A1CF-7DB3AA086340}" type="datetime1">
              <a:rPr lang="fr-FR" smtClean="0"/>
              <a:t>01/02/2025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69AAC2-C2B1-D84B-3DA1-7D3688A7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91DF25-B577-4592-5552-5C6F2E8F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07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E99DA2-E800-51D7-232D-195A1643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CD912A-3146-AFCE-A9CC-E173D878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4607F7-0DF0-ADD6-CDE4-5E5480058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F0546-0615-3E45-8C8A-078A7AEBEBD8}" type="datetime1">
              <a:rPr lang="fr-FR" smtClean="0"/>
              <a:t>01/02/2025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06EDC5-D7F4-E73D-0D3C-F995AEDFF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18EB3C-E203-29A4-64EE-1B7292D3A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28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56B84-BFA1-BA9A-1552-59B724FBA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Natural Language Processing (NLP)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0571C27-E009-ADD7-40B4-859AAF7C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</p:spTree>
    <p:extLst>
      <p:ext uri="{BB962C8B-B14F-4D97-AF65-F5344CB8AC3E}">
        <p14:creationId xmlns:p14="http://schemas.microsoft.com/office/powerpoint/2010/main" val="1299667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4A8439-9850-DBFA-890A-1A6B7ED1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Definition and goal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E9E441-FD91-7B42-3069-A065C36B7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B336254-BF5B-D5F4-FDE7-9B8877DA5C0C}"/>
              </a:ext>
            </a:extLst>
          </p:cNvPr>
          <p:cNvSpPr txBox="1"/>
          <p:nvPr/>
        </p:nvSpPr>
        <p:spPr>
          <a:xfrm>
            <a:off x="838199" y="1828800"/>
            <a:ext cx="10515600" cy="195580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b="1" i="0" u="none" strike="noStrike" dirty="0">
                <a:effectLst/>
                <a:latin typeface="ui-sans-serif"/>
              </a:rPr>
              <a:t>Natural Language Processing (NLP) </a:t>
            </a:r>
            <a:r>
              <a:rPr lang="en-GB" b="0" i="0" u="none" strike="noStrike" dirty="0">
                <a:effectLst/>
                <a:latin typeface="ui-sans-serif"/>
              </a:rPr>
              <a:t>is a subfield of artificial intelligence (AI) that focuses on the interaction between computers and humans through natural language.</a:t>
            </a:r>
          </a:p>
          <a:p>
            <a:endParaRPr lang="en-GB" b="0" i="0" u="none" strike="noStrike" dirty="0">
              <a:effectLst/>
              <a:latin typeface="ui-sans-serif"/>
            </a:endParaRPr>
          </a:p>
          <a:p>
            <a:r>
              <a:rPr lang="en-GB" b="1" i="0" u="none" strike="noStrike" dirty="0">
                <a:effectLst/>
                <a:latin typeface="ui-sans-serif"/>
              </a:rPr>
              <a:t>The goal of NLP </a:t>
            </a:r>
            <a:r>
              <a:rPr lang="en-GB" b="0" i="0" u="none" strike="noStrike" dirty="0">
                <a:effectLst/>
                <a:latin typeface="ui-sans-serif"/>
              </a:rPr>
              <a:t>is to enable computers to understand, interpret, and generate human language in a way that is both meaningful and contextually appropriate.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513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08422-A569-A02D-CEB3-6A09B13C9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FFA4AC-5D3B-7130-30C0-AB7B553D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-  Common tasks and applications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9D76BCB-4C69-F2F0-1721-DB6328376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86B807-F7CE-2BEB-7337-884A0632D4A2}"/>
              </a:ext>
            </a:extLst>
          </p:cNvPr>
          <p:cNvSpPr txBox="1"/>
          <p:nvPr/>
        </p:nvSpPr>
        <p:spPr>
          <a:xfrm>
            <a:off x="838199" y="1828800"/>
            <a:ext cx="8703365" cy="389890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b="1" i="0" u="none" strike="noStrike" dirty="0">
                <a:effectLst/>
                <a:latin typeface="ui-sans-serif"/>
              </a:rPr>
              <a:t>Translation</a:t>
            </a:r>
          </a:p>
          <a:p>
            <a:endParaRPr lang="en-GB" b="1" dirty="0">
              <a:latin typeface="ui-sans-serif"/>
            </a:endParaRPr>
          </a:p>
          <a:p>
            <a:r>
              <a:rPr lang="en-GB" b="1" dirty="0">
                <a:latin typeface="ui-sans-serif"/>
              </a:rPr>
              <a:t>Summarization</a:t>
            </a:r>
          </a:p>
          <a:p>
            <a:endParaRPr lang="en-GB" b="1" dirty="0">
              <a:latin typeface="ui-sans-serif"/>
            </a:endParaRPr>
          </a:p>
          <a:p>
            <a:r>
              <a:rPr lang="en-GB" b="1" dirty="0">
                <a:latin typeface="ui-sans-serif"/>
              </a:rPr>
              <a:t>Question answering</a:t>
            </a:r>
          </a:p>
          <a:p>
            <a:endParaRPr lang="en-GB" b="1" dirty="0">
              <a:latin typeface="ui-sans-serif"/>
            </a:endParaRPr>
          </a:p>
          <a:p>
            <a:r>
              <a:rPr lang="en-GB" b="1" dirty="0">
                <a:latin typeface="ui-sans-serif"/>
              </a:rPr>
              <a:t>Speech recognition</a:t>
            </a:r>
          </a:p>
          <a:p>
            <a:endParaRPr lang="en-GB" b="1" dirty="0">
              <a:latin typeface="ui-sans-serif"/>
            </a:endParaRPr>
          </a:p>
          <a:p>
            <a:r>
              <a:rPr lang="en-GB" b="1" dirty="0">
                <a:latin typeface="ui-sans-serif"/>
              </a:rPr>
              <a:t>Classification</a:t>
            </a:r>
          </a:p>
          <a:p>
            <a:endParaRPr lang="en-GB" b="1" dirty="0">
              <a:latin typeface="ui-sans-serif"/>
            </a:endParaRPr>
          </a:p>
          <a:p>
            <a:r>
              <a:rPr lang="en-GB" b="1" dirty="0">
                <a:latin typeface="ui-sans-serif"/>
              </a:rPr>
              <a:t>Assisted Writing</a:t>
            </a:r>
          </a:p>
          <a:p>
            <a:endParaRPr lang="en-GB" b="1" dirty="0">
              <a:latin typeface="ui-sans-serif"/>
            </a:endParaRPr>
          </a:p>
          <a:p>
            <a:r>
              <a:rPr lang="en-GB" b="1" dirty="0">
                <a:latin typeface="ui-sans-serif"/>
              </a:rPr>
              <a:t>…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740624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D52C-9560-252A-987B-C7E33A39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32051-9A49-2CBB-D52F-792CBA6B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- Difficulties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4CB4AD7-AD70-75FC-9829-1EA684429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3C8AB3B-6C02-E73C-3DAF-2D0DE0C862FB}"/>
              </a:ext>
            </a:extLst>
          </p:cNvPr>
          <p:cNvSpPr txBox="1"/>
          <p:nvPr/>
        </p:nvSpPr>
        <p:spPr>
          <a:xfrm>
            <a:off x="838199" y="1828800"/>
            <a:ext cx="8703365" cy="427990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1400" b="1" i="0" u="none" strike="noStrike" dirty="0">
                <a:effectLst/>
                <a:latin typeface="ui-sans-serif"/>
              </a:rPr>
              <a:t>Ambiguity</a:t>
            </a:r>
            <a:r>
              <a:rPr lang="en-GB" sz="1400" b="0" i="0" u="none" strike="noStrike" dirty="0">
                <a:effectLst/>
                <a:latin typeface="ui-sans-serif"/>
              </a:rPr>
              <a:t>: “I saw the banker with the telescope.”</a:t>
            </a:r>
          </a:p>
          <a:p>
            <a:endParaRPr lang="en-GB" sz="1400" dirty="0">
              <a:latin typeface="ui-sans-serif"/>
            </a:endParaRPr>
          </a:p>
          <a:p>
            <a:r>
              <a:rPr lang="en-GB" sz="1400" b="1" dirty="0">
                <a:latin typeface="ui-sans-serif"/>
              </a:rPr>
              <a:t>Polysemy</a:t>
            </a:r>
            <a:r>
              <a:rPr lang="en-GB" sz="1400" dirty="0">
                <a:latin typeface="ui-sans-serif"/>
              </a:rPr>
              <a:t>: “The bank robbery was quick.”</a:t>
            </a:r>
          </a:p>
          <a:p>
            <a:endParaRPr lang="en-GB" sz="1400" dirty="0">
              <a:latin typeface="ui-sans-serif"/>
            </a:endParaRPr>
          </a:p>
          <a:p>
            <a:r>
              <a:rPr lang="en-GB" sz="1400" b="1" dirty="0">
                <a:latin typeface="ui-sans-serif"/>
              </a:rPr>
              <a:t>Homonymy</a:t>
            </a:r>
            <a:r>
              <a:rPr lang="en-GB" sz="1400" dirty="0">
                <a:latin typeface="ui-sans-serif"/>
              </a:rPr>
              <a:t>: “The bass was too loud.”</a:t>
            </a:r>
          </a:p>
          <a:p>
            <a:endParaRPr lang="en-GB" sz="1400" dirty="0"/>
          </a:p>
          <a:p>
            <a:r>
              <a:rPr lang="en-GB" sz="1400" b="1" dirty="0"/>
              <a:t>Synonymy</a:t>
            </a:r>
            <a:r>
              <a:rPr lang="en-GB" sz="1400" dirty="0"/>
              <a:t>: “The cat is on the couch.”</a:t>
            </a:r>
          </a:p>
          <a:p>
            <a:endParaRPr lang="en-GB" sz="1400" dirty="0"/>
          </a:p>
          <a:p>
            <a:r>
              <a:rPr lang="en-GB" sz="1400" b="1" dirty="0"/>
              <a:t>Context</a:t>
            </a:r>
            <a:r>
              <a:rPr lang="en-GB" sz="1400" dirty="0"/>
              <a:t> dependency: “I am going to the bank.”</a:t>
            </a:r>
          </a:p>
          <a:p>
            <a:endParaRPr lang="en-GB" sz="1400" dirty="0"/>
          </a:p>
          <a:p>
            <a:r>
              <a:rPr lang="en-GB" sz="1400" b="1" dirty="0"/>
              <a:t>Idioms</a:t>
            </a:r>
            <a:r>
              <a:rPr lang="en-GB" sz="1400" dirty="0"/>
              <a:t>: “It’s raining cats and dogs.”</a:t>
            </a:r>
          </a:p>
          <a:p>
            <a:endParaRPr lang="en-GB" sz="1400" dirty="0"/>
          </a:p>
          <a:p>
            <a:r>
              <a:rPr lang="en-GB" sz="1400" b="1" dirty="0"/>
              <a:t>Sarcasm</a:t>
            </a:r>
            <a:r>
              <a:rPr lang="en-GB" sz="1400" dirty="0"/>
              <a:t>: “Oh great, it’s raining again.”</a:t>
            </a:r>
          </a:p>
          <a:p>
            <a:endParaRPr lang="en-GB" sz="1400" dirty="0"/>
          </a:p>
          <a:p>
            <a:r>
              <a:rPr lang="en-GB" sz="1400" b="1" dirty="0"/>
              <a:t>Negation</a:t>
            </a:r>
            <a:r>
              <a:rPr lang="en-GB" sz="1400" dirty="0"/>
              <a:t>: “I did not say I would come.”</a:t>
            </a:r>
          </a:p>
          <a:p>
            <a:endParaRPr lang="en-GB" sz="1400" dirty="0"/>
          </a:p>
          <a:p>
            <a:r>
              <a:rPr lang="en-GB" sz="1400" b="1" dirty="0"/>
              <a:t>Coreference</a:t>
            </a:r>
            <a:r>
              <a:rPr lang="en-GB" sz="1400" dirty="0"/>
              <a:t> </a:t>
            </a:r>
            <a:r>
              <a:rPr lang="en-GB" sz="1400" b="1" dirty="0"/>
              <a:t>Resolution</a:t>
            </a:r>
            <a:r>
              <a:rPr lang="en-GB" sz="1400" dirty="0"/>
              <a:t>: “Mary said she would come.”</a:t>
            </a:r>
          </a:p>
          <a:p>
            <a:endParaRPr lang="en-GB" sz="1400" dirty="0"/>
          </a:p>
          <a:p>
            <a:r>
              <a:rPr lang="en-GB" sz="1400" b="1" dirty="0"/>
              <a:t>Named</a:t>
            </a:r>
            <a:r>
              <a:rPr lang="en-GB" sz="1400" dirty="0"/>
              <a:t> </a:t>
            </a:r>
            <a:r>
              <a:rPr lang="en-GB" sz="1400" b="1" dirty="0"/>
              <a:t>Entity</a:t>
            </a:r>
            <a:r>
              <a:rPr lang="en-GB" sz="1400" dirty="0"/>
              <a:t> </a:t>
            </a:r>
            <a:r>
              <a:rPr lang="en-GB" sz="1400" b="1" dirty="0"/>
              <a:t>Recognition</a:t>
            </a:r>
            <a:r>
              <a:rPr lang="en-GB" sz="1400" dirty="0"/>
              <a:t>: “Paris is the capital of France.”</a:t>
            </a:r>
          </a:p>
        </p:txBody>
      </p:sp>
    </p:spTree>
    <p:extLst>
      <p:ext uri="{BB962C8B-B14F-4D97-AF65-F5344CB8AC3E}">
        <p14:creationId xmlns:p14="http://schemas.microsoft.com/office/powerpoint/2010/main" val="2496361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999EA-4530-EF17-A608-74FAA669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805455-25B8-4238-4F19-D13879E3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- Fundamentals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50EA91-4E0D-B280-BDA4-095E90EFA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0604C93-B59A-1851-60BC-504047DB7EDA}"/>
              </a:ext>
            </a:extLst>
          </p:cNvPr>
          <p:cNvSpPr txBox="1"/>
          <p:nvPr/>
        </p:nvSpPr>
        <p:spPr>
          <a:xfrm>
            <a:off x="838199" y="1828800"/>
            <a:ext cx="8683488" cy="198782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/>
            <a:r>
              <a:rPr lang="en-GB" b="1" i="0" u="none" strike="noStrike" dirty="0">
                <a:effectLst/>
                <a:latin typeface="ui-sans-serif"/>
              </a:rPr>
              <a:t>Basic Linguistics</a:t>
            </a:r>
            <a:r>
              <a:rPr lang="en-GB" b="0" i="0" u="none" strike="noStrike" dirty="0">
                <a:effectLst/>
                <a:latin typeface="ui-sans-serif"/>
              </a:rPr>
              <a:t>: Phonetics, morphology, syntax, semantics, pragmatics.</a:t>
            </a:r>
          </a:p>
          <a:p>
            <a:pPr algn="l"/>
            <a:endParaRPr lang="en-GB" b="0" i="0" u="none" strike="noStrike" dirty="0">
              <a:effectLst/>
              <a:latin typeface="ui-sans-serif"/>
            </a:endParaRPr>
          </a:p>
          <a:p>
            <a:pPr algn="l"/>
            <a:r>
              <a:rPr lang="en-GB" b="1" i="0" u="none" strike="noStrike" dirty="0">
                <a:effectLst/>
                <a:latin typeface="ui-sans-serif"/>
              </a:rPr>
              <a:t>Language Structure</a:t>
            </a:r>
            <a:r>
              <a:rPr lang="en-GB" b="0" i="0" u="none" strike="noStrike" dirty="0">
                <a:effectLst/>
                <a:latin typeface="ui-sans-serif"/>
              </a:rPr>
              <a:t>: Sentences, words, morphemes, phonemes.</a:t>
            </a:r>
          </a:p>
          <a:p>
            <a:pPr algn="l"/>
            <a:endParaRPr lang="en-GB" b="0" i="0" u="none" strike="noStrike" dirty="0">
              <a:effectLst/>
              <a:latin typeface="ui-sans-serif"/>
            </a:endParaRPr>
          </a:p>
          <a:p>
            <a:pPr algn="l"/>
            <a:r>
              <a:rPr lang="en-GB" b="1" i="0" u="none" strike="noStrike" dirty="0">
                <a:effectLst/>
                <a:latin typeface="ui-sans-serif"/>
              </a:rPr>
              <a:t>Ambiguity and Context</a:t>
            </a:r>
            <a:r>
              <a:rPr lang="en-GB" b="0" i="0" u="none" strike="noStrike" dirty="0">
                <a:effectLst/>
                <a:latin typeface="ui-sans-serif"/>
              </a:rPr>
              <a:t>: Issues of lexical and syntactic ambiguity, the role of context.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9990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139D2-ABE0-9751-1966-45A637EF6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C3C186-FD9B-403C-E33C-9240260DD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Workflow Cycle example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C8DD064-DF8E-6BC6-68D6-F39E9B1FC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AEBB1D2-5531-73EF-D14D-C007A96977CD}"/>
              </a:ext>
            </a:extLst>
          </p:cNvPr>
          <p:cNvSpPr txBox="1"/>
          <p:nvPr/>
        </p:nvSpPr>
        <p:spPr>
          <a:xfrm>
            <a:off x="838199" y="1525445"/>
            <a:ext cx="10295021" cy="390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Data Collection</a:t>
            </a:r>
            <a:r>
              <a:rPr lang="en-GB" sz="1400" b="0" i="0" u="none" strike="noStrike" dirty="0">
                <a:effectLst/>
                <a:latin typeface="ui-sans-serif"/>
              </a:rPr>
              <a:t>: Download a corpus of tweets.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Data Preprocessing</a:t>
            </a:r>
            <a:r>
              <a:rPr lang="en-GB" sz="1400" b="0" i="0" u="none" strike="noStrike" dirty="0">
                <a:effectLst/>
                <a:latin typeface="ui-sans-serif"/>
              </a:rPr>
              <a:t>: Clean the tweets, tokenize, remove stop words.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Exploratory Data Analysis (EDA)</a:t>
            </a:r>
            <a:r>
              <a:rPr lang="en-GB" sz="1400" b="0" i="0" u="none" strike="noStrike" dirty="0">
                <a:effectLst/>
                <a:latin typeface="ui-sans-serif"/>
              </a:rPr>
              <a:t>: Visualize the most frequent words.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Feature Selection</a:t>
            </a:r>
            <a:r>
              <a:rPr lang="en-GB" sz="1400" b="0" i="0" u="none" strike="noStrike" dirty="0">
                <a:effectLst/>
                <a:latin typeface="ui-sans-serif"/>
              </a:rPr>
              <a:t>: Use TF-IDF to represent the tweets.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Modelling</a:t>
            </a:r>
            <a:r>
              <a:rPr lang="en-GB" sz="1400" b="0" i="0" u="none" strike="noStrike" dirty="0">
                <a:effectLst/>
                <a:latin typeface="ui-sans-serif"/>
              </a:rPr>
              <a:t>: Train a sentiment classification model using an SVM.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Evaluation</a:t>
            </a:r>
            <a:r>
              <a:rPr lang="en-GB" sz="1400" b="0" i="0" u="none" strike="noStrike" dirty="0">
                <a:effectLst/>
                <a:latin typeface="ui-sans-serif"/>
              </a:rPr>
              <a:t>: Measure the precision and recall of the model.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Optimization</a:t>
            </a:r>
            <a:r>
              <a:rPr lang="en-GB" sz="1400" b="0" i="0" u="none" strike="noStrike" dirty="0">
                <a:effectLst/>
                <a:latin typeface="ui-sans-serif"/>
              </a:rPr>
              <a:t> </a:t>
            </a:r>
            <a:r>
              <a:rPr lang="en-GB" sz="1400" b="1" i="0" u="none" strike="noStrike" dirty="0">
                <a:effectLst/>
                <a:latin typeface="ui-sans-serif"/>
              </a:rPr>
              <a:t>and</a:t>
            </a:r>
            <a:r>
              <a:rPr lang="en-GB" sz="1400" b="0" i="0" u="none" strike="noStrike" dirty="0">
                <a:effectLst/>
                <a:latin typeface="ui-sans-serif"/>
              </a:rPr>
              <a:t> </a:t>
            </a:r>
            <a:r>
              <a:rPr lang="en-GB" sz="1400" b="1" i="0" u="none" strike="noStrike" dirty="0">
                <a:effectLst/>
                <a:latin typeface="ui-sans-serif"/>
              </a:rPr>
              <a:t>Tuning</a:t>
            </a:r>
            <a:r>
              <a:rPr lang="en-GB" sz="1400" b="0" i="0" u="none" strike="noStrike" dirty="0">
                <a:effectLst/>
                <a:latin typeface="ui-sans-serif"/>
              </a:rPr>
              <a:t>: Adjust the hyperparameters of the SVM.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Deployment</a:t>
            </a:r>
            <a:r>
              <a:rPr lang="en-GB" sz="1400" b="0" i="0" u="none" strike="noStrike" dirty="0">
                <a:effectLst/>
                <a:latin typeface="ui-sans-serif"/>
              </a:rPr>
              <a:t>: Integrate the model into a web application.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Maintenance</a:t>
            </a:r>
            <a:r>
              <a:rPr lang="en-GB" sz="1400" b="0" i="0" u="none" strike="noStrike" dirty="0">
                <a:effectLst/>
                <a:latin typeface="ui-sans-serif"/>
              </a:rPr>
              <a:t> </a:t>
            </a:r>
            <a:r>
              <a:rPr lang="en-GB" sz="1400" b="1" i="0" u="none" strike="noStrike" dirty="0">
                <a:effectLst/>
                <a:latin typeface="ui-sans-serif"/>
              </a:rPr>
              <a:t>and</a:t>
            </a:r>
            <a:r>
              <a:rPr lang="en-GB" sz="1400" b="0" i="0" u="none" strike="noStrike" dirty="0">
                <a:effectLst/>
                <a:latin typeface="ui-sans-serif"/>
              </a:rPr>
              <a:t> </a:t>
            </a:r>
            <a:r>
              <a:rPr lang="en-GB" sz="1400" b="1" i="0" u="none" strike="noStrike" dirty="0">
                <a:effectLst/>
                <a:latin typeface="ui-sans-serif"/>
              </a:rPr>
              <a:t>Updating</a:t>
            </a:r>
            <a:r>
              <a:rPr lang="en-GB" sz="1400" b="0" i="0" u="none" strike="noStrike" dirty="0">
                <a:effectLst/>
                <a:latin typeface="ui-sans-serif"/>
              </a:rPr>
              <a:t>: Periodically retrain the model with new tweets.</a:t>
            </a:r>
          </a:p>
        </p:txBody>
      </p:sp>
    </p:spTree>
    <p:extLst>
      <p:ext uri="{BB962C8B-B14F-4D97-AF65-F5344CB8AC3E}">
        <p14:creationId xmlns:p14="http://schemas.microsoft.com/office/powerpoint/2010/main" val="1767001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BB29-2672-4B34-C44E-0067A24C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52B491-965D-6C52-A6E3-6212721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Install SpaCy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264932-7E4B-14E3-42CC-B0D392FA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1E42609-39E8-88BF-301E-0F9A8C7DCC87}"/>
              </a:ext>
            </a:extLst>
          </p:cNvPr>
          <p:cNvSpPr txBox="1"/>
          <p:nvPr/>
        </p:nvSpPr>
        <p:spPr>
          <a:xfrm>
            <a:off x="838199" y="1525445"/>
            <a:ext cx="10295021" cy="447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i="1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GB" sz="1400" i="1" dirty="0">
                <a:solidFill>
                  <a:schemeClr val="accent3"/>
                </a:solidFill>
                <a:latin typeface="Menlo" panose="020B0609030804020204" pitchFamily="49" charset="0"/>
              </a:rPr>
              <a:t>SpaCy is an open-source NLP library for advanced text processing in Python.</a:t>
            </a:r>
          </a:p>
          <a:p>
            <a:endParaRPr lang="en-GB" sz="1400" b="0" i="1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400" b="0" i="1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GB" sz="1400" i="1" dirty="0">
                <a:solidFill>
                  <a:schemeClr val="accent3"/>
                </a:solidFill>
                <a:latin typeface="Menlo" panose="020B0609030804020204" pitchFamily="49" charset="0"/>
              </a:rPr>
              <a:t>Install + download a model</a:t>
            </a:r>
          </a:p>
          <a:p>
            <a:endParaRPr lang="en-GB" sz="1400" i="1" dirty="0">
              <a:solidFill>
                <a:schemeClr val="accent3"/>
              </a:solidFill>
              <a:latin typeface="Menlo" panose="020B0609030804020204" pitchFamily="49" charset="0"/>
            </a:endParaRPr>
          </a:p>
          <a:p>
            <a:r>
              <a:rPr lang="en-GB" sz="1400" b="0" i="1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GB" sz="1400" i="1" dirty="0">
                <a:solidFill>
                  <a:schemeClr val="accent3"/>
                </a:solidFill>
                <a:latin typeface="Menlo" panose="020B0609030804020204" pitchFamily="49" charset="0"/>
              </a:rPr>
              <a:t>version 1</a:t>
            </a:r>
          </a:p>
          <a:p>
            <a:endParaRPr lang="en-GB" sz="1200" i="1" dirty="0">
              <a:solidFill>
                <a:schemeClr val="accent3"/>
              </a:solidFill>
              <a:latin typeface="Menlo" panose="020B0609030804020204" pitchFamily="49" charset="0"/>
            </a:endParaRPr>
          </a:p>
          <a:p>
            <a:r>
              <a:rPr lang="en-GB" sz="1200" b="0" i="0" u="none" strike="noStrike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!pip install spacy</a:t>
            </a:r>
          </a:p>
          <a:p>
            <a:endParaRPr lang="en-GB" sz="1200" b="0" i="0" u="none" strike="noStrike" dirty="0">
              <a:solidFill>
                <a:schemeClr val="accent1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</a:t>
            </a:r>
            <a:r>
              <a:rPr lang="en-GB" sz="1200" b="0" i="0" u="none" strike="noStrike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python -m spacy download </a:t>
            </a: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en_core_web_sm</a:t>
            </a:r>
            <a:endParaRPr lang="en-GB" sz="1200" b="0" i="0" u="none" strike="noStrike" dirty="0">
              <a:solidFill>
                <a:schemeClr val="accent1"/>
              </a:solidFill>
              <a:effectLst/>
              <a:latin typeface="Menlo" panose="020B0609030804020204" pitchFamily="49" charset="0"/>
            </a:endParaRPr>
          </a:p>
          <a:p>
            <a:endParaRPr lang="en-GB" sz="1200" dirty="0">
              <a:solidFill>
                <a:schemeClr val="accent1"/>
              </a:solidFill>
              <a:latin typeface="Menlo" panose="020B0609030804020204" pitchFamily="49" charset="0"/>
            </a:endParaRPr>
          </a:p>
          <a:p>
            <a:r>
              <a:rPr lang="en-GB" sz="1400" b="0" i="1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GB" sz="1400" i="1" dirty="0">
                <a:solidFill>
                  <a:schemeClr val="accent3"/>
                </a:solidFill>
                <a:latin typeface="Menlo" panose="020B0609030804020204" pitchFamily="49" charset="0"/>
              </a:rPr>
              <a:t>version 2</a:t>
            </a:r>
          </a:p>
          <a:p>
            <a:endParaRPr lang="en-GB" sz="1200" i="1" dirty="0">
              <a:solidFill>
                <a:schemeClr val="accent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create --name env python=3.11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activate env</a:t>
            </a:r>
          </a:p>
          <a:p>
            <a:pPr>
              <a:lnSpc>
                <a:spcPts val="1350"/>
              </a:lnSpc>
            </a:pPr>
            <a:b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</a:b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uninstall -y numpy h5py spacy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install numpy h5py spacy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uninstall -y numpy h5py spacy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install --upgrade numpy h5py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install ipykernel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!python -m spacy download en_core_web_sm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!python -m spacy info</a:t>
            </a:r>
          </a:p>
          <a:p>
            <a:endParaRPr lang="en-GB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78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46A85-6CA9-B486-E654-7FE68B3D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FC8B85-3044-AC27-8EF4-40FD8EBC8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noProof="0" dirty="0"/>
              <a:t>NLP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A26035D-78E9-2F62-EF8E-9DB9A5C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DE4DA70-D14B-F54C-9F42-1B20C5A89243}"/>
              </a:ext>
            </a:extLst>
          </p:cNvPr>
          <p:cNvSpPr txBox="1"/>
          <p:nvPr/>
        </p:nvSpPr>
        <p:spPr>
          <a:xfrm>
            <a:off x="2919663" y="3208421"/>
            <a:ext cx="6112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326346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73A2C-CCC5-720F-4044-01A9BC2C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D9D9D1-62DD-CE93-A023-2AFAF21F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Tokenization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8D13D7-5D1B-FE8D-E8A8-50D5C334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5D8C8B5-9CA6-C5F8-FDF2-D4D1F090E0EC}"/>
              </a:ext>
            </a:extLst>
          </p:cNvPr>
          <p:cNvSpPr txBox="1"/>
          <p:nvPr/>
        </p:nvSpPr>
        <p:spPr>
          <a:xfrm>
            <a:off x="838199" y="1525445"/>
            <a:ext cx="1029502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Tokenization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</a:t>
            </a:r>
            <a:endParaRPr lang="fr-FR" sz="14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'en_core_web_sm'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dirty="0">
                <a:effectLst/>
                <a:latin typeface="Menlo" panose="020B0609030804020204" pitchFamily="49" charset="0"/>
              </a:rPr>
              <a:t>sentence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"He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didn't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to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$20 for the book."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doc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(sentence)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(doc)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([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t.text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doc]) 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iterate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over the Doc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object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(doc[</a:t>
            </a:r>
            <a:r>
              <a:rPr lang="fr-FR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fr-FR" sz="14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fr-FR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])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Slicing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([(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t.text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t.i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doc])</a:t>
            </a:r>
          </a:p>
          <a:p>
            <a:pPr>
              <a:lnSpc>
                <a:spcPts val="1350"/>
              </a:lnSpc>
            </a:pPr>
            <a:endParaRPr lang="fr-FR" sz="14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400" b="0" dirty="0">
              <a:solidFill>
                <a:srgbClr val="DFD5D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He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didn't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to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$20 for the book.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['He',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"n'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",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'to',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'$', '20', 'for', 'the', 'book', '.']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He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didn't</a:t>
            </a:r>
            <a:endParaRPr lang="fr-FR" sz="14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[('He', 0), 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1), ("n'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", 2), 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3), ('to', 4), 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5), ('$', 6), ('20', 7), ('for', 8), ('the', 9), ('book', 10), ('.', 11)]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9BADCBE-E6B9-25F1-F372-EFA526F44E6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544094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1424219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415415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2310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/>
                        <a:t>Model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Use if word_vectors.has_index_for(word):?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Use if word in word_vectors:?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308123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0D60AE76-EBAA-ABAF-9C21-40F00807C20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571203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789288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64170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b="1"/>
                        <a:t>Word2Vec (gensim)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811288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AD20DCA5-C7B6-0232-0022-4176E393E07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392024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941424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45686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b="1"/>
                        <a:t>GloVe (gensim)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262731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96A06A05-052C-FBD6-4BE4-746FD7BF113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681254"/>
          <a:ext cx="10515600" cy="640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94512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331872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98817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b="1"/>
                        <a:t>FastText (gensim)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✅ Yes (recommended)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✅ Yes (but may include OOV words)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411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98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08B3E-B14A-04EB-5E52-00FF1620A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4953C3-6636-66C6-3DB3-9F653E59A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Lower </a:t>
            </a:r>
            <a:r>
              <a:rPr lang="en-GB" dirty="0"/>
              <a:t>Casing</a:t>
            </a:r>
            <a:endParaRPr lang="en-GB" noProof="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EF6104E-4264-D24E-644D-E8212D74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5CC7468-8607-EB4D-AE88-8F840796C807}"/>
              </a:ext>
            </a:extLst>
          </p:cNvPr>
          <p:cNvSpPr txBox="1"/>
          <p:nvPr/>
        </p:nvSpPr>
        <p:spPr>
          <a:xfrm>
            <a:off x="838199" y="1525445"/>
            <a:ext cx="10295021" cy="134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Case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Folding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([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t.lower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_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doc])</a:t>
            </a:r>
          </a:p>
          <a:p>
            <a:pPr>
              <a:lnSpc>
                <a:spcPts val="1350"/>
              </a:lnSpc>
            </a:pPr>
            <a:endParaRPr lang="fr-FR" sz="14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400" b="0" dirty="0">
              <a:solidFill>
                <a:srgbClr val="DFD5D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4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he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"n'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",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'to',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'$', '20', 'for', 'the', 'book', '.']</a:t>
            </a:r>
          </a:p>
        </p:txBody>
      </p:sp>
    </p:spTree>
    <p:extLst>
      <p:ext uri="{BB962C8B-B14F-4D97-AF65-F5344CB8AC3E}">
        <p14:creationId xmlns:p14="http://schemas.microsoft.com/office/powerpoint/2010/main" val="3345960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4A517-55D4-3DF8-60A9-FA731ADE0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2EFC6-1DD7-BF0B-52E6-094F1ECE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Stop words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3C8D43E-E76E-7A34-3149-07A70E9E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CF7E314-9953-9D01-CAAC-1F23AFE69C37}"/>
              </a:ext>
            </a:extLst>
          </p:cNvPr>
          <p:cNvSpPr txBox="1"/>
          <p:nvPr/>
        </p:nvSpPr>
        <p:spPr>
          <a:xfrm>
            <a:off x="838199" y="1525445"/>
            <a:ext cx="10295021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# Stop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words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: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removing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words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which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occur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frequently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but carry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little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information</a:t>
            </a:r>
          </a:p>
          <a:p>
            <a:pPr>
              <a:lnSpc>
                <a:spcPct val="150000"/>
              </a:lnSpc>
            </a:pPr>
            <a:endParaRPr lang="fr-FR" sz="1400" b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</a:t>
            </a:r>
            <a:endParaRPr lang="fr-FR" sz="14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'en_core_web_sm'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Print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tokens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indicate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if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they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are stop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words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dirty="0">
                <a:effectLst/>
                <a:latin typeface="Menlo" panose="020B0609030804020204" pitchFamily="49" charset="0"/>
              </a:rPr>
              <a:t>sentence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"I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saw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the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last night. I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was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not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amused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."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doc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(sentence)</a:t>
            </a: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dirty="0" err="1">
                <a:effectLst/>
                <a:latin typeface="Menlo" panose="020B0609030804020204" pitchFamily="49" charset="0"/>
              </a:rPr>
              <a:t>filtered_sentence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 '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.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join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([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token.text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token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token.is_stop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filtered_sentence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fr-FR" sz="14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4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 err="1">
                <a:effectLst/>
                <a:latin typeface="Menlo" panose="020B0609030804020204" pitchFamily="49" charset="0"/>
              </a:rPr>
              <a:t>saw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movie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night .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amused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4053150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CE5B1-57CD-96DA-6B71-77D1CDE2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8A7617-C788-3F7E-26C2-EAA8C915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Stemming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8C8FC60-1503-4857-B60F-42004D45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BC2974C-2991-722D-CF42-51258CB6AA73}"/>
              </a:ext>
            </a:extLst>
          </p:cNvPr>
          <p:cNvSpPr txBox="1"/>
          <p:nvPr/>
        </p:nvSpPr>
        <p:spPr>
          <a:xfrm>
            <a:off x="838199" y="1525445"/>
            <a:ext cx="10295021" cy="347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#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Stemming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: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removing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words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suffixes and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sometimes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prefixes</a:t>
            </a:r>
            <a:endParaRPr lang="fr-FR" sz="1400" dirty="0">
              <a:solidFill>
                <a:schemeClr val="accent3"/>
              </a:solidFill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# The goal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is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to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reduce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words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at the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same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base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form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fr-FR" sz="14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400" b="0" dirty="0" err="1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Typically</a:t>
            </a:r>
            <a:r>
              <a:rPr lang="fr-FR" sz="14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done</a:t>
            </a:r>
            <a:r>
              <a:rPr lang="fr-FR" sz="14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through</a:t>
            </a:r>
            <a:r>
              <a:rPr lang="fr-FR" sz="14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 an </a:t>
            </a:r>
            <a:r>
              <a:rPr lang="fr-FR" sz="1400" b="0" dirty="0" err="1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algorithm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n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the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most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famous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of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which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is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Porter’s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algorithm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fr-FR" sz="14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Banking -&gt; 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Bank</a:t>
            </a:r>
          </a:p>
          <a:p>
            <a:pPr>
              <a:lnSpc>
                <a:spcPct val="200000"/>
              </a:lnSpc>
            </a:pPr>
            <a:r>
              <a:rPr lang="fr-FR" sz="14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Banks -&gt; Bank</a:t>
            </a:r>
          </a:p>
          <a:p>
            <a:pPr>
              <a:lnSpc>
                <a:spcPct val="200000"/>
              </a:lnSpc>
            </a:pP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# Analysis -&gt;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Analysi</a:t>
            </a:r>
            <a:endParaRPr lang="fr-FR" sz="1400" dirty="0">
              <a:solidFill>
                <a:schemeClr val="accent3"/>
              </a:solidFill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#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Because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of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this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last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example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,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we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don’t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use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Stemming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. </a:t>
            </a:r>
            <a:r>
              <a:rPr lang="fr-FR" sz="1400" i="1" dirty="0">
                <a:solidFill>
                  <a:srgbClr val="6A8B93"/>
                </a:solidFill>
                <a:latin typeface="Menlo" panose="020B0609030804020204" pitchFamily="49" charset="0"/>
              </a:rPr>
              <a:t>+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 Not possible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spaCy</a:t>
            </a:r>
            <a:endParaRPr lang="fr-FR" sz="1400" b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endParaRPr lang="fr-FR" sz="1400" b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715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8A090-FE52-7C5A-FC55-3ECB530B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FFCCF7-08A5-4790-29F4-DF2235AF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Lemmatization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91C0F-6EAD-11EA-D4BF-33DC3C94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2DC5728-2518-A832-9697-22465CDA1EF9}"/>
              </a:ext>
            </a:extLst>
          </p:cNvPr>
          <p:cNvSpPr txBox="1"/>
          <p:nvPr/>
        </p:nvSpPr>
        <p:spPr>
          <a:xfrm>
            <a:off x="838199" y="1525445"/>
            <a:ext cx="10295021" cy="214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Lemmatization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</a:t>
            </a:r>
            <a:endParaRPr lang="fr-FR" sz="14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'en_core_web_sm'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dirty="0">
                <a:effectLst/>
                <a:latin typeface="Menlo" panose="020B0609030804020204" pitchFamily="49" charset="0"/>
              </a:rPr>
              <a:t>doc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Did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Done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Doing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[(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t.text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t.lemma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_)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doc]</a:t>
            </a:r>
          </a:p>
          <a:p>
            <a:pPr>
              <a:lnSpc>
                <a:spcPct val="200000"/>
              </a:lnSpc>
            </a:pPr>
            <a:endParaRPr lang="fr-FR" sz="1400" b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'do'), (',', ','), 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Done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Done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'), (',', ','), 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Doing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'do')]</a:t>
            </a:r>
          </a:p>
        </p:txBody>
      </p:sp>
    </p:spTree>
    <p:extLst>
      <p:ext uri="{BB962C8B-B14F-4D97-AF65-F5344CB8AC3E}">
        <p14:creationId xmlns:p14="http://schemas.microsoft.com/office/powerpoint/2010/main" val="1398231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AB6A7-9D22-B01E-DFAE-2F5CAAA70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AAA809-1E87-60ED-EE9C-BE6E3B87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POS Tagging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4918E2-3F11-7686-B0A9-16C741EF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212E066-3EB7-2C5A-1B58-BD861B562E77}"/>
              </a:ext>
            </a:extLst>
          </p:cNvPr>
          <p:cNvSpPr txBox="1"/>
          <p:nvPr/>
        </p:nvSpPr>
        <p:spPr>
          <a:xfrm>
            <a:off x="838199" y="1291529"/>
            <a:ext cx="10515600" cy="5429945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1400" dirty="0">
                <a:solidFill>
                  <a:schemeClr val="accent3"/>
                </a:solidFill>
                <a:latin typeface="Menlo" panose="020B0609030804020204" pitchFamily="49" charset="0"/>
              </a:rPr>
              <a:t># Part-of-Speech Tagging: Assign each word in a sentence its POS tagger (VERB, NOUN,...)</a:t>
            </a:r>
          </a:p>
          <a:p>
            <a:endParaRPr lang="fr-FR" sz="1000" b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</a:t>
            </a:r>
            <a:endParaRPr lang="fr-FR" sz="14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en_core_web_sm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Exemple of sentence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sentence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"John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watching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an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old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at a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cinema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."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Creating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 Doc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object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that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contains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linguistic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annotations for the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.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doc </a:t>
            </a:r>
            <a:r>
              <a:rPr lang="fr-FR" sz="1400" b="1" dirty="0"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(sentence)</a:t>
            </a:r>
          </a:p>
          <a:p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POS (course-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grained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) tags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thanks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to pos_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attribute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[(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t.text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t.pos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_)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doc]</a:t>
            </a:r>
          </a:p>
          <a:p>
            <a:pPr>
              <a:lnSpc>
                <a:spcPts val="1350"/>
              </a:lnSpc>
            </a:pPr>
            <a:endParaRPr lang="fr-FR" sz="12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[('John', 'PROPN'),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', 'AUX'),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('a', 'DET'),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watching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', 'VERB'),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('an', 'DET'),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old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', 'ADJ'),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', 'NOUN'),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('at', 'ADP'),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('a', 'DET'),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cinema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', 'NOUN'),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('.', 'PUNCT')]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E2F781-65FD-D00D-5E73-D473DF954852}"/>
              </a:ext>
            </a:extLst>
          </p:cNvPr>
          <p:cNvSpPr txBox="1"/>
          <p:nvPr/>
        </p:nvSpPr>
        <p:spPr>
          <a:xfrm>
            <a:off x="5101856" y="4812946"/>
            <a:ext cx="6103088" cy="1145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to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get</a:t>
            </a: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 description for a POS tag, use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spacy</a:t>
            </a: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explain</a:t>
            </a: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()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method</a:t>
            </a:r>
            <a:endParaRPr lang="fr-FR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r>
              <a:rPr lang="fr-FR" sz="1200" b="0" dirty="0" err="1">
                <a:effectLst/>
                <a:latin typeface="Menlo" panose="020B0609030804020204" pitchFamily="49" charset="0"/>
              </a:rPr>
              <a:t>spacy.explain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'PROPN’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proper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noun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9231511-8BB0-CE17-54C8-28C7238B6B57}"/>
              </a:ext>
            </a:extLst>
          </p:cNvPr>
          <p:cNvSpPr txBox="1"/>
          <p:nvPr/>
        </p:nvSpPr>
        <p:spPr>
          <a:xfrm>
            <a:off x="5101856" y="4812946"/>
            <a:ext cx="6593958" cy="11454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8895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6113-7278-FDDF-14D3-7A15193F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99C2750A-B52D-1CE6-C52D-E680CFD92B0C}"/>
              </a:ext>
            </a:extLst>
          </p:cNvPr>
          <p:cNvSpPr txBox="1"/>
          <p:nvPr/>
        </p:nvSpPr>
        <p:spPr>
          <a:xfrm>
            <a:off x="5101856" y="4812946"/>
            <a:ext cx="6593958" cy="11454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63FF3C-4DFD-914A-EF28-2113E770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NER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144072E-95A3-B598-8005-6E4BA068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A6C4D2D-A9A2-BABD-19BC-D01F88373274}"/>
              </a:ext>
            </a:extLst>
          </p:cNvPr>
          <p:cNvSpPr txBox="1"/>
          <p:nvPr/>
        </p:nvSpPr>
        <p:spPr>
          <a:xfrm>
            <a:off x="838199" y="1525445"/>
            <a:ext cx="10515600" cy="519603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1400" noProof="0" dirty="0">
                <a:solidFill>
                  <a:schemeClr val="accent3"/>
                </a:solidFill>
                <a:latin typeface="Menlo" panose="020B0609030804020204" pitchFamily="49" charset="0"/>
              </a:rPr>
              <a:t># Name Entity Recognition (NER): Tagging of proper names, locations, (‘real world’) entities.</a:t>
            </a:r>
          </a:p>
          <a:p>
            <a:pPr>
              <a:lnSpc>
                <a:spcPts val="1350"/>
              </a:lnSpc>
            </a:pPr>
            <a:b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Example of sentence</a:t>
            </a:r>
            <a:endParaRPr lang="en-GB" sz="14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noProof="0" dirty="0">
                <a:effectLst/>
                <a:latin typeface="Menlo" panose="020B0609030804020204" pitchFamily="49" charset="0"/>
              </a:rPr>
              <a:t>s</a:t>
            </a:r>
            <a: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3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"Volkswagen is developing an electric sedan which could potentially come to America next fall."</a:t>
            </a:r>
            <a:endParaRPr lang="en-GB" sz="13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noProof="0" dirty="0">
                <a:effectLst/>
                <a:latin typeface="Menlo" panose="020B0609030804020204" pitchFamily="49" charset="0"/>
              </a:rPr>
              <a:t>doc </a:t>
            </a:r>
            <a:r>
              <a:rPr lang="en-GB" sz="14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400" b="0" noProof="0" dirty="0" err="1">
                <a:effectLst/>
                <a:latin typeface="Menlo" panose="020B0609030804020204" pitchFamily="49" charset="0"/>
              </a:rPr>
              <a:t>nlp</a:t>
            </a:r>
            <a:r>
              <a:rPr lang="en-GB" sz="1400" b="0" noProof="0" dirty="0">
                <a:effectLst/>
                <a:latin typeface="Menlo" panose="020B0609030804020204" pitchFamily="49" charset="0"/>
              </a:rPr>
              <a:t>(s)</a:t>
            </a:r>
          </a:p>
          <a:p>
            <a:pPr>
              <a:lnSpc>
                <a:spcPts val="1350"/>
              </a:lnSpc>
            </a:pPr>
            <a:b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To access named other we use here the spacy attribute </a:t>
            </a:r>
            <a:r>
              <a:rPr lang="en-GB" sz="1400" b="0" i="1" noProof="0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ent_type</a:t>
            </a:r>
            <a:r>
              <a:rPr lang="en-GB" sz="14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_</a:t>
            </a:r>
            <a:endParaRPr lang="en-GB" sz="14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other ways to make it are possible with Spacy.</a:t>
            </a:r>
            <a:endParaRPr lang="en-GB" sz="14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noProof="0" dirty="0">
                <a:effectLst/>
                <a:latin typeface="Menlo" panose="020B0609030804020204" pitchFamily="49" charset="0"/>
              </a:rPr>
              <a:t>[(</a:t>
            </a:r>
            <a:r>
              <a:rPr lang="en-GB" sz="1400" b="0" noProof="0" dirty="0" err="1">
                <a:effectLst/>
                <a:latin typeface="Menlo" panose="020B0609030804020204" pitchFamily="49" charset="0"/>
              </a:rPr>
              <a:t>t.text</a:t>
            </a:r>
            <a:r>
              <a:rPr lang="en-GB" sz="1400" b="0" noProof="0" dirty="0">
                <a:effectLst/>
                <a:latin typeface="Menlo" panose="020B0609030804020204" pitchFamily="49" charset="0"/>
              </a:rPr>
              <a:t>, </a:t>
            </a:r>
            <a:r>
              <a:rPr lang="en-GB" sz="1400" b="0" noProof="0" dirty="0" err="1">
                <a:effectLst/>
                <a:latin typeface="Menlo" panose="020B0609030804020204" pitchFamily="49" charset="0"/>
              </a:rPr>
              <a:t>t.ent_type</a:t>
            </a:r>
            <a:r>
              <a:rPr lang="en-GB" sz="1400" b="0" noProof="0" dirty="0">
                <a:effectLst/>
                <a:latin typeface="Menlo" panose="020B0609030804020204" pitchFamily="49" charset="0"/>
              </a:rPr>
              <a:t>_) </a:t>
            </a:r>
            <a:r>
              <a:rPr lang="en-GB" sz="14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noProof="0" dirty="0">
                <a:effectLst/>
                <a:latin typeface="Menlo" panose="020B0609030804020204" pitchFamily="49" charset="0"/>
              </a:rPr>
              <a:t>t</a:t>
            </a:r>
            <a: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noProof="0" dirty="0">
                <a:effectLst/>
                <a:latin typeface="Menlo" panose="020B0609030804020204" pitchFamily="49" charset="0"/>
              </a:rPr>
              <a:t>doc]</a:t>
            </a:r>
          </a:p>
          <a:p>
            <a:pPr>
              <a:lnSpc>
                <a:spcPts val="1350"/>
              </a:lnSpc>
            </a:pPr>
            <a:endParaRPr lang="en-GB" sz="1400" noProof="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[('Volkswagen', 'ORG'),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('is',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('developing',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('an',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('electric',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('sedan',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('which',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('could',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('potentially',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('come',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('to',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('America', 'GPE'),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('next', 'DATE'),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('fall', 'DATE'),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('.', '')]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C5D4B5-DCEE-6CA5-B37E-3136FE6F9812}"/>
              </a:ext>
            </a:extLst>
          </p:cNvPr>
          <p:cNvSpPr txBox="1"/>
          <p:nvPr/>
        </p:nvSpPr>
        <p:spPr>
          <a:xfrm>
            <a:off x="5101856" y="4812946"/>
            <a:ext cx="6103088" cy="1145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2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to get a description for a POS tag, use spacy explain() method</a:t>
            </a:r>
            <a:endParaRPr lang="en-GB" sz="12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r>
              <a:rPr lang="en-GB" sz="1200" b="0" noProof="0" dirty="0" err="1">
                <a:effectLst/>
                <a:latin typeface="Menlo" panose="020B0609030804020204" pitchFamily="49" charset="0"/>
              </a:rPr>
              <a:t>spacy.explain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2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ORG’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GB" sz="12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Companies, agencies, institutions, etc.</a:t>
            </a:r>
          </a:p>
        </p:txBody>
      </p:sp>
    </p:spTree>
    <p:extLst>
      <p:ext uri="{BB962C8B-B14F-4D97-AF65-F5344CB8AC3E}">
        <p14:creationId xmlns:p14="http://schemas.microsoft.com/office/powerpoint/2010/main" val="954597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483A2-AD06-3730-61BC-A4AF8CBB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7C98FBDE-B4EA-64F1-4E2A-B0F7DCBCE6CC}"/>
              </a:ext>
            </a:extLst>
          </p:cNvPr>
          <p:cNvSpPr txBox="1"/>
          <p:nvPr/>
        </p:nvSpPr>
        <p:spPr>
          <a:xfrm>
            <a:off x="5101856" y="4812946"/>
            <a:ext cx="6593958" cy="11454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9F958C3-F0B7-A52B-BC9E-4ED2889C1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Parsing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3CA1400-C0BB-4459-C071-32023CF80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548DA52-801E-D280-C6EA-94A2BC67FB64}"/>
              </a:ext>
            </a:extLst>
          </p:cNvPr>
          <p:cNvSpPr txBox="1"/>
          <p:nvPr/>
        </p:nvSpPr>
        <p:spPr>
          <a:xfrm>
            <a:off x="838199" y="1525445"/>
            <a:ext cx="10515600" cy="519603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1400" dirty="0">
                <a:solidFill>
                  <a:schemeClr val="accent3"/>
                </a:solidFill>
                <a:latin typeface="Menlo" panose="020B0609030804020204" pitchFamily="49" charset="0"/>
              </a:rPr>
              <a:t># Parsing consists in determining the syntactic structure of a sentence.</a:t>
            </a: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Dependency Parsing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spacy</a:t>
            </a: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Load the </a:t>
            </a:r>
            <a:r>
              <a:rPr lang="en-GB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english</a:t>
            </a: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language model of SpaCy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en-GB" sz="14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"en_core_web_sm"</a:t>
            </a:r>
            <a:r>
              <a:rPr lang="en-GB" sz="14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Sentence to analyse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sentence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"She enrolled in the course at the university."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GB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Analyze</a:t>
            </a: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the sentence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doc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(sentence)</a:t>
            </a: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Display the dependency relations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token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doc: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token.text</a:t>
            </a:r>
            <a:r>
              <a:rPr lang="en-GB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token.dep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_</a:t>
            </a:r>
            <a:r>
              <a:rPr lang="en-GB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) &lt;-- </a:t>
            </a:r>
            <a:r>
              <a:rPr lang="en-GB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token.head.text</a:t>
            </a:r>
            <a:r>
              <a:rPr lang="en-GB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en-GB" sz="14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She (</a:t>
            </a:r>
            <a:r>
              <a:rPr lang="en-GB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nsubj</a:t>
            </a: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) &lt;-- enrolled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enrolled (ROOT) &lt;-- enrolled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in (prep) &lt;-- enrolled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the (det) &lt;-- course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course (</a:t>
            </a:r>
            <a:r>
              <a:rPr lang="en-GB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pobj</a:t>
            </a: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) &lt;-- in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at (prep) &lt;-- enrolled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the (det) &lt;-- university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university (</a:t>
            </a:r>
            <a:r>
              <a:rPr lang="en-GB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pobj</a:t>
            </a: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) &lt;-- at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. (</a:t>
            </a:r>
            <a:r>
              <a:rPr lang="en-GB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punct</a:t>
            </a: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) &lt;-- enrolled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B0F084-2814-50D0-DC80-1FDC18D0848E}"/>
              </a:ext>
            </a:extLst>
          </p:cNvPr>
          <p:cNvSpPr txBox="1"/>
          <p:nvPr/>
        </p:nvSpPr>
        <p:spPr>
          <a:xfrm>
            <a:off x="5101856" y="4812946"/>
            <a:ext cx="6103088" cy="776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Let's</a:t>
            </a: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visualize</a:t>
            </a: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dependency</a:t>
            </a: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parse</a:t>
            </a:r>
            <a:endParaRPr lang="fr-FR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r>
              <a:rPr lang="fr-FR" sz="1200" b="0" dirty="0" err="1">
                <a:effectLst/>
                <a:latin typeface="Menlo" panose="020B0609030804020204" pitchFamily="49" charset="0"/>
              </a:rPr>
              <a:t>displacy.render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(doc, </a:t>
            </a:r>
            <a:r>
              <a:rPr lang="fr-FR" sz="12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style</a:t>
            </a:r>
            <a:r>
              <a:rPr lang="fr-FR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2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dep</a:t>
            </a:r>
            <a:r>
              <a:rPr lang="fr-FR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,</a:t>
            </a:r>
            <a:r>
              <a:rPr lang="fr-FR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2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jupyter</a:t>
            </a:r>
            <a:r>
              <a:rPr lang="fr-FR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200" b="1" dirty="0" err="1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3667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5552B-D8F4-DA8A-4BC3-57359472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B831F4-785D-0A4A-7995-DEEA322F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Matcher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DC7726-1C6F-B345-B06F-D2D815B9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7F2B516-3072-54EE-3990-3FAB7C99F0C9}"/>
              </a:ext>
            </a:extLst>
          </p:cNvPr>
          <p:cNvSpPr txBox="1"/>
          <p:nvPr/>
        </p:nvSpPr>
        <p:spPr>
          <a:xfrm>
            <a:off x="838199" y="1525445"/>
            <a:ext cx="10515600" cy="5196030"/>
          </a:xfrm>
          <a:prstGeom prst="rect">
            <a:avLst/>
          </a:prstGeom>
          <a:solidFill>
            <a:schemeClr val="bg1"/>
          </a:solidFill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Patterns are expressed as an ordered sequence. 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Here, we're looking to match </a:t>
            </a:r>
            <a:r>
              <a:rPr lang="en-GB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occurences</a:t>
            </a: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starting with a 'book' string followed by 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 determiner (DET) POS tag such as "</a:t>
            </a:r>
            <a:r>
              <a:rPr lang="en-GB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the","and</a:t>
            </a: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" , then a noun POS tag.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The OP key marks the match as optional in some way.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Here, the DET POS (marked with '?') will match 0 or 1 times (i.e. the determiner is optional), and 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the NOUN POS (marked with '+') will match 1 or more times (i.e., at least one noun is required).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See this link for more information.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https://</a:t>
            </a:r>
            <a:r>
              <a:rPr lang="en-GB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spacy.io</a:t>
            </a: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/usage/</a:t>
            </a:r>
            <a:r>
              <a:rPr lang="en-GB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rule-based-matching#quantifiers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dirty="0">
                <a:effectLst/>
                <a:latin typeface="Menlo" panose="020B0609030804020204" pitchFamily="49" charset="0"/>
              </a:rPr>
              <a:t>pattern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[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    {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'TEXT'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'book’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},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    {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'POS'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: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'DET'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'OP'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: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'?’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},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    {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'POS'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: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'NOUN'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'OP'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: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'+'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So, the pattern will match sequences that start with the word "book", 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optionally followed by a determiner, and then followed by one or more nouns.</a:t>
            </a: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We give our pattern a label and pass it to the matcher.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 err="1">
                <a:effectLst/>
                <a:latin typeface="Menlo" panose="020B0609030804020204" pitchFamily="49" charset="0"/>
              </a:rPr>
              <a:t>matcher.add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'USER_INTENT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', [pattern])</a:t>
            </a: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Run the matcher over the doc.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matches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matcher(doc)</a:t>
            </a: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For each match, the matcher returns a tuple specifying a match id, start,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and end of the match.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4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"Matches: "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, [doc[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start:end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].text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match_id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, start, end </a:t>
            </a:r>
            <a:r>
              <a:rPr lang="en-GB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matches])</a:t>
            </a:r>
          </a:p>
          <a:p>
            <a:pPr>
              <a:lnSpc>
                <a:spcPts val="1350"/>
              </a:lnSpc>
            </a:pPr>
            <a:r>
              <a:rPr lang="en-GB" sz="14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Matches:  ['book a hotel', 'book a hotel room']</a:t>
            </a:r>
            <a:endParaRPr lang="en-GB" sz="1400" i="1" dirty="0">
              <a:solidFill>
                <a:schemeClr val="tx1">
                  <a:lumMod val="50000"/>
                  <a:lumOff val="50000"/>
                </a:schemeClr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593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072B1-30E4-1E23-3342-B64AF4D8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283B52-660A-2109-27AC-79B73070E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Preprocessing with SpaCy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1F929B7-A2D6-77D2-B5AE-2C1A8313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145C4DE-A44A-45F2-3B22-5254F09CAA4E}"/>
              </a:ext>
            </a:extLst>
          </p:cNvPr>
          <p:cNvSpPr txBox="1"/>
          <p:nvPr/>
        </p:nvSpPr>
        <p:spPr>
          <a:xfrm>
            <a:off x="838199" y="1477319"/>
            <a:ext cx="10295021" cy="4964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spacy</a:t>
            </a:r>
          </a:p>
          <a:p>
            <a:pPr>
              <a:lnSpc>
                <a:spcPts val="1350"/>
              </a:lnSpc>
            </a:pP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sklearn.datasets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fetch_20newsgroups</a:t>
            </a:r>
          </a:p>
          <a:p>
            <a:pPr>
              <a:lnSpc>
                <a:spcPts val="1350"/>
              </a:lnSpc>
            </a:pPr>
            <a:endParaRPr lang="en-GB" sz="1000" b="0" i="1" noProof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0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Download the *train* dataset without headers, footers, and quotes to make the problem more challenging.</a:t>
            </a:r>
            <a:endParaRPr lang="en-GB" sz="10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000" b="0" noProof="0" dirty="0" err="1">
                <a:effectLst/>
                <a:latin typeface="Menlo" panose="020B0609030804020204" pitchFamily="49" charset="0"/>
              </a:rPr>
              <a:t>train_corpus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fetch_20newsgroups(</a:t>
            </a:r>
            <a:r>
              <a:rPr lang="en-GB" sz="10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subset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'train'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remove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'headers'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'footers'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'quotes'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</a:pPr>
            <a:endParaRPr lang="en-GB" sz="1000" b="0" i="1" noProof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000" b="0" i="1" noProof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We don't need named entity recognition nor parsing. Removing them will speed up processing.</a:t>
            </a:r>
            <a:endParaRPr lang="en-GB" sz="10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000" b="0" noProof="0" dirty="0" err="1">
                <a:effectLst/>
                <a:latin typeface="Menlo" panose="020B0609030804020204" pitchFamily="49" charset="0"/>
              </a:rPr>
              <a:t>nlp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'en_core_web_sm'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disable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[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1000" b="0" noProof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ner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'parser’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ct val="150000"/>
              </a:lnSpc>
            </a:pPr>
            <a:endParaRPr lang="en-GB" sz="1000" noProof="0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spacy_tokenizer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0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doc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  return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[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t.lemma_.lower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()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t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nlp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(doc)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\</a:t>
            </a:r>
          </a:p>
          <a:p>
            <a:pPr>
              <a:lnSpc>
                <a:spcPct val="150000"/>
              </a:lnSpc>
            </a:pPr>
            <a:r>
              <a:rPr lang="en-GB" sz="1000" noProof="0" dirty="0">
                <a:solidFill>
                  <a:srgbClr val="41ADEC"/>
                </a:solidFill>
                <a:latin typeface="Menlo" panose="020B0609030804020204" pitchFamily="49" charset="0"/>
              </a:rPr>
              <a:t>          </a:t>
            </a:r>
            <a:r>
              <a:rPr lang="en-GB" sz="1000" b="0" noProof="0" dirty="0" err="1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(t)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\</a:t>
            </a: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          not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t.is_punct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\</a:t>
            </a: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          not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t.is_space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\</a:t>
            </a: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          not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t.is_stop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\</a:t>
            </a:r>
          </a:p>
          <a:p>
            <a:pPr>
              <a:lnSpc>
                <a:spcPct val="150000"/>
              </a:lnSpc>
            </a:pP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t.is_alpha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]</a:t>
            </a:r>
            <a:endParaRPr lang="en-GB" sz="1000" noProof="0" dirty="0"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000" b="1" noProof="0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preprocess_text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0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GB" sz="1000" b="0" noProof="0" dirty="0">
                <a:effectLst/>
                <a:latin typeface="Menlo" panose="020B0609030804020204" pitchFamily="49" charset="0"/>
              </a:rPr>
              <a:t>  tokens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spacy_tokenizer(text)</a:t>
            </a: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  return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"|"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.join(tokens)</a:t>
            </a:r>
          </a:p>
          <a:p>
            <a:pPr>
              <a:lnSpc>
                <a:spcPct val="150000"/>
              </a:lnSpc>
            </a:pPr>
            <a:endParaRPr lang="en-GB" sz="10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000" b="0" noProof="0" dirty="0" err="1">
                <a:effectLst/>
                <a:latin typeface="Menlo" panose="020B0609030804020204" pitchFamily="49" charset="0"/>
              </a:rPr>
              <a:t>preprocessed_train_corpus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 [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preprocess_text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(post) </a:t>
            </a: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post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train_corpus.data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89599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14045-17F5-C387-ED42-6D213689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52BDB6-4C5B-D11D-68F4-BC047CC9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Preprocessing with SpaCy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607D91-64AC-59B0-2014-DF76FFAB1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6A30BDC-E281-6267-5259-3360E15E68BE}"/>
              </a:ext>
            </a:extLst>
          </p:cNvPr>
          <p:cNvSpPr txBox="1"/>
          <p:nvPr/>
        </p:nvSpPr>
        <p:spPr>
          <a:xfrm>
            <a:off x="838199" y="1525445"/>
            <a:ext cx="10295021" cy="3189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200" b="0" i="1" noProof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We don't need named entity recognition nor parsing. </a:t>
            </a:r>
            <a:r>
              <a:rPr lang="en-GB" sz="1200" b="0" i="1" noProof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Removing them will speed up processing.</a:t>
            </a:r>
            <a:endParaRPr lang="en-GB" sz="1200" b="0" noProof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12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noProof="0" dirty="0" err="1">
                <a:effectLst/>
                <a:latin typeface="Menlo" panose="020B0609030804020204" pitchFamily="49" charset="0"/>
              </a:rPr>
              <a:t>nlp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2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'en_core_web_sm'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disable</a:t>
            </a:r>
            <a:r>
              <a:rPr lang="en-GB" sz="12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 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[</a:t>
            </a:r>
            <a:r>
              <a:rPr lang="en-GB" sz="12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1200" b="0" noProof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ner</a:t>
            </a:r>
            <a:r>
              <a:rPr lang="en-GB" sz="12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'parser’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ct val="150000"/>
              </a:lnSpc>
            </a:pPr>
            <a:endParaRPr lang="en-GB" sz="12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noProof="0" dirty="0" err="1">
                <a:effectLst/>
                <a:latin typeface="Menlo" panose="020B0609030804020204" pitchFamily="49" charset="0"/>
              </a:rPr>
              <a:t>preprocessed_train_corpus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2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 [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preprocess_text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(post) </a:t>
            </a:r>
            <a:r>
              <a:rPr lang="en-GB" sz="12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post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train_corpus.data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endParaRPr lang="en-GB" sz="1200" b="0" noProof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sklearn.model_selection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2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train_test_split</a:t>
            </a:r>
            <a:endParaRPr lang="en-GB" sz="1200" b="0" noProof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noProof="0" dirty="0"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noProof="0" dirty="0" err="1">
                <a:effectLst/>
                <a:latin typeface="Menlo" panose="020B0609030804020204" pitchFamily="49" charset="0"/>
              </a:rPr>
              <a:t>train_data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val_data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train_labels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val_labels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2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train_test_split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preprocessed_train_corpus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 								      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train_corpus.target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GB" sz="12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						       </a:t>
            </a:r>
            <a:r>
              <a:rPr lang="en-GB" sz="1200" b="0" noProof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train_size</a:t>
            </a:r>
            <a:r>
              <a:rPr lang="en-GB" sz="12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0.85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GB" sz="12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						       </a:t>
            </a:r>
            <a:r>
              <a:rPr lang="en-GB" sz="1200" b="0" noProof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random_state</a:t>
            </a:r>
            <a:r>
              <a:rPr lang="en-GB" sz="12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2177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1C862-524E-7199-3E52-C25B5B855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DC26A4-A440-DCC5-6B52-B4487925A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noProof="0" dirty="0"/>
              <a:t>NLP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D06A1DF-FED1-E078-1964-D5C605E57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33DC953-DED1-96FB-4D0C-0662FC31CCD4}"/>
              </a:ext>
            </a:extLst>
          </p:cNvPr>
          <p:cNvSpPr txBox="1"/>
          <p:nvPr/>
        </p:nvSpPr>
        <p:spPr>
          <a:xfrm>
            <a:off x="2919663" y="3208421"/>
            <a:ext cx="6112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VECTORIZATION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0220B86-9C41-8538-CD8E-101393D5766A}"/>
              </a:ext>
            </a:extLst>
          </p:cNvPr>
          <p:cNvSpPr txBox="1"/>
          <p:nvPr/>
        </p:nvSpPr>
        <p:spPr>
          <a:xfrm>
            <a:off x="838200" y="4682141"/>
            <a:ext cx="8493918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GB" b="0" i="0" u="none" strike="noStrike">
                <a:effectLst/>
                <a:latin typeface="ui-sans-serif"/>
              </a:rPr>
              <a:t>Bag of Words (BoW): Simple representation based on word frequency.</a:t>
            </a:r>
          </a:p>
        </p:txBody>
      </p:sp>
    </p:spTree>
    <p:extLst>
      <p:ext uri="{BB962C8B-B14F-4D97-AF65-F5344CB8AC3E}">
        <p14:creationId xmlns:p14="http://schemas.microsoft.com/office/powerpoint/2010/main" val="2127653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FE160-2501-3646-9F45-82166FE41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9CF531-E33F-A434-CD71-4C2ECFF01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9A88DD-CE6F-30FC-66CE-3BF37D5D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D923F16-625B-D807-0B4E-578165AA19F1}"/>
              </a:ext>
            </a:extLst>
          </p:cNvPr>
          <p:cNvSpPr txBox="1"/>
          <p:nvPr/>
        </p:nvSpPr>
        <p:spPr>
          <a:xfrm>
            <a:off x="838200" y="1956285"/>
            <a:ext cx="10968790" cy="2067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**Describing documents by word occurrences** </a:t>
            </a:r>
          </a:p>
          <a:p>
            <a:pPr>
              <a:lnSpc>
                <a:spcPts val="135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Basic idea: if two documents share the same vocabulary, the more likely they belong to the same class. </a:t>
            </a:r>
          </a:p>
          <a:p>
            <a:pPr>
              <a:lnSpc>
                <a:spcPts val="135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This is called bag-of-words because of the lack of order of the words, no grammar considering, no syntax.</a:t>
            </a:r>
          </a:p>
          <a:p>
            <a:pPr>
              <a:lnSpc>
                <a:spcPts val="1350"/>
              </a:lnSpc>
            </a:pPr>
            <a:endParaRPr lang="en-GB" sz="1200" b="1" dirty="0">
              <a:solidFill>
                <a:srgbClr val="448C27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We will see:</a:t>
            </a:r>
          </a:p>
          <a:p>
            <a:pPr>
              <a:lnSpc>
                <a:spcPts val="1350"/>
              </a:lnSpc>
            </a:pPr>
            <a:endParaRPr lang="en-GB" sz="1200" b="1" dirty="0">
              <a:solidFill>
                <a:srgbClr val="448C27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 - Frequency bag of words: when we count the occurrences of the word document per document</a:t>
            </a:r>
          </a:p>
          <a:p>
            <a:pPr>
              <a:lnSpc>
                <a:spcPts val="1350"/>
              </a:lnSpc>
            </a:pPr>
            <a:endParaRPr lang="en-GB" sz="1200" b="1" dirty="0">
              <a:solidFill>
                <a:srgbClr val="448C27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- Binary bag of words: 1 if the word is present in the document, 0 elsewhere. </a:t>
            </a:r>
          </a:p>
        </p:txBody>
      </p:sp>
    </p:spTree>
    <p:extLst>
      <p:ext uri="{BB962C8B-B14F-4D97-AF65-F5344CB8AC3E}">
        <p14:creationId xmlns:p14="http://schemas.microsoft.com/office/powerpoint/2010/main" val="908296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BD3A-E7BD-B268-1BE5-01C8BBD1C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2EE8AE-9CB9-6E77-D12E-37649156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E36C8FA-343E-CE56-CDCC-36CB0E17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6EDBC86-3C19-2268-995B-8293D8AE492E}"/>
              </a:ext>
            </a:extLst>
          </p:cNvPr>
          <p:cNvSpPr txBox="1"/>
          <p:nvPr/>
        </p:nvSpPr>
        <p:spPr>
          <a:xfrm>
            <a:off x="838199" y="1525445"/>
            <a:ext cx="575510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Frequency bag of words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sklearn.feature_extraction.text </a:t>
            </a: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dirty="0">
                <a:effectLst/>
                <a:latin typeface="Menlo" panose="020B0609030804020204" pitchFamily="49" charset="0"/>
              </a:rPr>
              <a:t>CountVectorizer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 corpus of sentences.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corpus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[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"Red Bull drops hint on F1 engine."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"Honda exits F1, leaving F1 partner Red Bull."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"Hamilton eyes record eighth F1 title."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"Aston Martin announces sponsor."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endParaRPr lang="en-GB" sz="120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vectorizer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CountVectorizer()</a:t>
            </a:r>
            <a:endParaRPr lang="en-GB" sz="1200" dirty="0"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bow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vectorizer.fit_transform(corpus)</a:t>
            </a:r>
          </a:p>
          <a:p>
            <a:pPr>
              <a:lnSpc>
                <a:spcPct val="150000"/>
              </a:lnSpc>
            </a:pPr>
            <a:r>
              <a:rPr lang="en-GB" sz="12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(bow)</a:t>
            </a:r>
          </a:p>
          <a:p>
            <a:pPr>
              <a:lnSpc>
                <a:spcPts val="135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AEE47DC-A1B6-8DB7-2693-D7614D9125CA}"/>
              </a:ext>
            </a:extLst>
          </p:cNvPr>
          <p:cNvSpPr txBox="1"/>
          <p:nvPr/>
        </p:nvSpPr>
        <p:spPr>
          <a:xfrm>
            <a:off x="8983578" y="1690688"/>
            <a:ext cx="2614862" cy="470898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Coords	Values</a:t>
            </a:r>
          </a:p>
          <a:p>
            <a:r>
              <a:rPr lang="en-GB" sz="1200" dirty="0"/>
              <a:t>  (0, 17)	1</a:t>
            </a:r>
          </a:p>
          <a:p>
            <a:r>
              <a:rPr lang="en-GB" sz="1200" dirty="0"/>
              <a:t>  (0, 2)	1</a:t>
            </a:r>
          </a:p>
          <a:p>
            <a:r>
              <a:rPr lang="en-GB" sz="1200" dirty="0"/>
              <a:t>  (0, 3)	1</a:t>
            </a:r>
          </a:p>
          <a:p>
            <a:r>
              <a:rPr lang="en-GB" sz="1200" dirty="0"/>
              <a:t>  (0, 10)	1</a:t>
            </a:r>
          </a:p>
          <a:p>
            <a:r>
              <a:rPr lang="en-GB" sz="1200" dirty="0"/>
              <a:t>  (0, 14)	1</a:t>
            </a:r>
          </a:p>
          <a:p>
            <a:r>
              <a:rPr lang="en-GB" sz="1200" dirty="0"/>
              <a:t>  (0, 8)	1</a:t>
            </a:r>
          </a:p>
          <a:p>
            <a:r>
              <a:rPr lang="en-GB" sz="1200" dirty="0"/>
              <a:t>  (0, 5)	1</a:t>
            </a:r>
          </a:p>
          <a:p>
            <a:r>
              <a:rPr lang="en-GB" sz="1200" dirty="0"/>
              <a:t>  (1, 17)	1</a:t>
            </a:r>
          </a:p>
          <a:p>
            <a:r>
              <a:rPr lang="en-GB" sz="1200" dirty="0"/>
              <a:t>  (1, 2)	1</a:t>
            </a:r>
          </a:p>
          <a:p>
            <a:r>
              <a:rPr lang="en-GB" sz="1200" dirty="0"/>
              <a:t>  (1, 8)	2</a:t>
            </a:r>
          </a:p>
          <a:p>
            <a:r>
              <a:rPr lang="en-GB" sz="1200" dirty="0"/>
              <a:t>  (1, 11)	1</a:t>
            </a:r>
          </a:p>
          <a:p>
            <a:r>
              <a:rPr lang="en-GB" sz="1200" dirty="0"/>
              <a:t>  (1, 6)	1</a:t>
            </a:r>
          </a:p>
          <a:p>
            <a:r>
              <a:rPr lang="en-GB" sz="1200" dirty="0"/>
              <a:t>  (1, 12)	1</a:t>
            </a:r>
          </a:p>
          <a:p>
            <a:r>
              <a:rPr lang="en-GB" sz="1200" dirty="0"/>
              <a:t>  (1, 15)	1</a:t>
            </a:r>
          </a:p>
          <a:p>
            <a:r>
              <a:rPr lang="en-GB" sz="1200" dirty="0"/>
              <a:t>  (2, 8)	1</a:t>
            </a:r>
          </a:p>
          <a:p>
            <a:r>
              <a:rPr lang="en-GB" sz="1200" dirty="0"/>
              <a:t>  (2, 9)	1</a:t>
            </a:r>
          </a:p>
          <a:p>
            <a:r>
              <a:rPr lang="en-GB" sz="1200" dirty="0"/>
              <a:t>  (2, 7)	1</a:t>
            </a:r>
          </a:p>
          <a:p>
            <a:r>
              <a:rPr lang="en-GB" sz="1200" dirty="0"/>
              <a:t>  (2, 16)	1</a:t>
            </a:r>
          </a:p>
          <a:p>
            <a:r>
              <a:rPr lang="en-GB" sz="1200" dirty="0"/>
              <a:t>  (2, 4)	1</a:t>
            </a:r>
          </a:p>
          <a:p>
            <a:r>
              <a:rPr lang="en-GB" sz="1200" dirty="0"/>
              <a:t>  (2, 19)	1</a:t>
            </a:r>
          </a:p>
          <a:p>
            <a:r>
              <a:rPr lang="en-GB" sz="1200" dirty="0"/>
              <a:t>  (3, 1)	1</a:t>
            </a:r>
          </a:p>
          <a:p>
            <a:r>
              <a:rPr lang="en-GB" sz="1200" dirty="0"/>
              <a:t>  (3, 13)	1</a:t>
            </a:r>
          </a:p>
          <a:p>
            <a:r>
              <a:rPr lang="en-GB" sz="1200" dirty="0"/>
              <a:t>  (3, 0)	1</a:t>
            </a:r>
          </a:p>
          <a:p>
            <a:r>
              <a:rPr lang="en-GB" sz="1200" dirty="0"/>
              <a:t>  (3, 18)	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366AE41-25BD-67F6-D665-D58B23EAA801}"/>
              </a:ext>
            </a:extLst>
          </p:cNvPr>
          <p:cNvSpPr txBox="1"/>
          <p:nvPr/>
        </p:nvSpPr>
        <p:spPr>
          <a:xfrm>
            <a:off x="838198" y="5567834"/>
            <a:ext cx="7792453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Corpus has been vectorized into a matrix. Each row corresponds to a document while each column corresponds to a token. In our Corpus, there are 4 documents and 20 different words, so the matrix will have 4 rows and 20 columns.</a:t>
            </a:r>
          </a:p>
          <a:p>
            <a:r>
              <a:rPr lang="en-GB" sz="1200" dirty="0"/>
              <a:t>Values are equal to the number of times the word occur in the document.</a:t>
            </a:r>
          </a:p>
        </p:txBody>
      </p:sp>
      <p:sp>
        <p:nvSpPr>
          <p:cNvPr id="8" name="Flèche vers la droite 7">
            <a:extLst>
              <a:ext uri="{FF2B5EF4-FFF2-40B4-BE49-F238E27FC236}">
                <a16:creationId xmlns:a16="http://schemas.microsoft.com/office/drawing/2014/main" id="{F9DD4C25-995B-73B4-3382-5211A1C9010B}"/>
              </a:ext>
            </a:extLst>
          </p:cNvPr>
          <p:cNvSpPr/>
          <p:nvPr/>
        </p:nvSpPr>
        <p:spPr>
          <a:xfrm>
            <a:off x="1935075" y="4933086"/>
            <a:ext cx="6807871" cy="23247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483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88B7C-C55D-3ECC-8D87-1B522A815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65CAF9-5759-4A1C-3026-399FC62C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9C94A6F-B2A9-81BC-BBC3-5FC219B6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62EB3FB-AFAF-BA23-3272-AD3DD56983CE}"/>
              </a:ext>
            </a:extLst>
          </p:cNvPr>
          <p:cNvSpPr txBox="1"/>
          <p:nvPr/>
        </p:nvSpPr>
        <p:spPr>
          <a:xfrm>
            <a:off x="838199" y="1525445"/>
            <a:ext cx="5755106" cy="4903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Frequency bag of words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sklearn.feature_extraction.text </a:t>
            </a: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dirty="0">
                <a:effectLst/>
                <a:latin typeface="Menlo" panose="020B0609030804020204" pitchFamily="49" charset="0"/>
              </a:rPr>
              <a:t>CountVectorizer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 corpus of sentences.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corpus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[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"Red Bull drops hint on F1 engine."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"Honda exits F1, leaving F1 partner Red Bull."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"Hamilton eyes record eighth F1 title."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"Aston Martin announces sponsor."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vectorizer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CountVectorizer()</a:t>
            </a:r>
            <a:endParaRPr lang="en-GB" sz="1200" dirty="0"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bow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vectorizer.fit_transform(corpus)</a:t>
            </a:r>
          </a:p>
          <a:p>
            <a:pPr>
              <a:lnSpc>
                <a:spcPct val="150000"/>
              </a:lnSpc>
            </a:pPr>
            <a:r>
              <a:rPr lang="en-GB" sz="12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 err="1">
                <a:effectLst/>
                <a:latin typeface="Menlo" panose="020B0609030804020204" pitchFamily="49" charset="0"/>
              </a:rPr>
              <a:t>bow.toarray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endParaRPr lang="en-GB" sz="120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View features (tokens).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(vectorizer.get_feature_names_out())</a:t>
            </a:r>
          </a:p>
          <a:p>
            <a:pPr>
              <a:lnSpc>
                <a:spcPts val="1350"/>
              </a:lnSpc>
            </a:pPr>
            <a:b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View vocabulary dictionary.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 err="1">
                <a:effectLst/>
                <a:latin typeface="Menlo" panose="020B0609030804020204" pitchFamily="49" charset="0"/>
              </a:rPr>
              <a:t>vectorizer.vocabulary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_)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4FEAF32-3BD0-75B8-8387-0A34C952DF2A}"/>
              </a:ext>
            </a:extLst>
          </p:cNvPr>
          <p:cNvSpPr txBox="1"/>
          <p:nvPr/>
        </p:nvSpPr>
        <p:spPr>
          <a:xfrm>
            <a:off x="8454189" y="4275441"/>
            <a:ext cx="3352800" cy="132556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251999" anchor="ctr" anchorCtr="0">
            <a:noAutofit/>
          </a:bodyPr>
          <a:lstStyle/>
          <a:p>
            <a:r>
              <a:rPr lang="en-GB" sz="1400" dirty="0"/>
              <a:t>[[0 0 1 1 0 1 0 0 1 0 1 0 0 0 1 0 0 1 0 0]</a:t>
            </a:r>
          </a:p>
          <a:p>
            <a:r>
              <a:rPr lang="en-GB" sz="1400" dirty="0"/>
              <a:t> [0 0 1 0 0 0 1 0 2 0 0 1 1 0 0 1 0 1 0 0]</a:t>
            </a:r>
          </a:p>
          <a:p>
            <a:r>
              <a:rPr lang="en-GB" sz="1400" dirty="0"/>
              <a:t> [0 0 0 0 1 0 0 1 1 1 0 0 0 0 0 0 1 0 0 1]</a:t>
            </a:r>
          </a:p>
          <a:p>
            <a:r>
              <a:rPr lang="en-GB" sz="1400" dirty="0"/>
              <a:t> [1 1 0 0 0 0 0 0 0 0 0 0 0 1 0 0 0 0 1 0]]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16CEF22-B321-FB8D-3E2C-D1AE6E306553}"/>
              </a:ext>
            </a:extLst>
          </p:cNvPr>
          <p:cNvSpPr txBox="1"/>
          <p:nvPr/>
        </p:nvSpPr>
        <p:spPr>
          <a:xfrm>
            <a:off x="7016414" y="2889152"/>
            <a:ext cx="4790575" cy="6309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200" dirty="0"/>
              <a:t>As we already said, fit_transform() returns a matrix where each row represents a document, and each column represents a token</a:t>
            </a:r>
          </a:p>
          <a:p>
            <a:pPr>
              <a:lnSpc>
                <a:spcPts val="1350"/>
              </a:lnSpc>
            </a:pP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Flèche vers la droite 6">
            <a:extLst>
              <a:ext uri="{FF2B5EF4-FFF2-40B4-BE49-F238E27FC236}">
                <a16:creationId xmlns:a16="http://schemas.microsoft.com/office/drawing/2014/main" id="{5799B5B3-D431-02AF-E3A3-453AA6321845}"/>
              </a:ext>
            </a:extLst>
          </p:cNvPr>
          <p:cNvSpPr/>
          <p:nvPr/>
        </p:nvSpPr>
        <p:spPr>
          <a:xfrm>
            <a:off x="2935705" y="4773208"/>
            <a:ext cx="5374106" cy="19984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563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2F8AD-A90E-09E6-C496-678399AEF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60DEB8-0AE4-3BF8-6413-EDA384847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DDAA98F-A139-F8CA-634A-794B7F10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398F976-05DA-85E9-EFC3-46B56FFF7FA3}"/>
              </a:ext>
            </a:extLst>
          </p:cNvPr>
          <p:cNvSpPr txBox="1"/>
          <p:nvPr/>
        </p:nvSpPr>
        <p:spPr>
          <a:xfrm>
            <a:off x="838198" y="1525445"/>
            <a:ext cx="8418097" cy="332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Binary bag of words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effectLst/>
                <a:latin typeface="Menlo" panose="020B0609030804020204" pitchFamily="49" charset="0"/>
              </a:rPr>
              <a:t>sklearn.feature_extraction.text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dirty="0">
                <a:effectLst/>
                <a:latin typeface="Menlo" panose="020B0609030804020204" pitchFamily="49" charset="0"/>
              </a:rPr>
              <a:t>CountVectorizer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 corpus of sentences.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corpus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[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"Red Bull drops hint on F1 engine."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"Honda exits F1, leaving F1 partner Red Bull."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"Hamilton eyes record eighth F1 title."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"Aston Martin announces sponsor."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vectorizer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CountVectorizer</a:t>
            </a:r>
            <a:r>
              <a:rPr lang="en-GB" sz="12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tokenizer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 err="1">
                <a:effectLst/>
                <a:latin typeface="Menlo" panose="020B0609030804020204" pitchFamily="49" charset="0"/>
              </a:rPr>
              <a:t>spacy_tokenizer,</a:t>
            </a:r>
            <a:r>
              <a:rPr lang="en-GB" sz="12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lowercase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GB" sz="12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binary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GB" sz="12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bow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effectLst/>
                <a:latin typeface="Menlo" panose="020B0609030804020204" pitchFamily="49" charset="0"/>
              </a:rPr>
              <a:t>vectorizer.fit_transform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(corpus)</a:t>
            </a:r>
          </a:p>
          <a:p>
            <a:pPr>
              <a:lnSpc>
                <a:spcPct val="150000"/>
              </a:lnSpc>
            </a:pPr>
            <a:r>
              <a:rPr lang="en-GB" sz="12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 err="1">
                <a:effectLst/>
                <a:latin typeface="Menlo" panose="020B0609030804020204" pitchFamily="49" charset="0"/>
              </a:rPr>
              <a:t>bow.toarray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())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5298112-1425-40BE-29AC-B71E09A2499C}"/>
              </a:ext>
            </a:extLst>
          </p:cNvPr>
          <p:cNvSpPr txBox="1"/>
          <p:nvPr/>
        </p:nvSpPr>
        <p:spPr>
          <a:xfrm>
            <a:off x="8454189" y="4483987"/>
            <a:ext cx="3352800" cy="132556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251999" anchor="ctr" anchorCtr="0">
            <a:noAutofit/>
          </a:bodyPr>
          <a:lstStyle/>
          <a:p>
            <a:r>
              <a:rPr lang="en-GB" sz="1400" dirty="0"/>
              <a:t>[[0 1 1 0 0 0 1 0 1 0 1 0 0 1 0 1 0 0 0 0]</a:t>
            </a:r>
          </a:p>
          <a:p>
            <a:r>
              <a:rPr lang="en-GB" sz="1400" dirty="0"/>
              <a:t> [0 1 1 0 1 0 1 0 0 0 0 1 0 0 1 0 1 0 0 0]</a:t>
            </a:r>
          </a:p>
          <a:p>
            <a:r>
              <a:rPr lang="en-GB" sz="1400" dirty="0"/>
              <a:t> [0 0 1 1 0 0 0 0 0 1 0 0 1 0 0 0 0 1 0 1]</a:t>
            </a:r>
          </a:p>
          <a:p>
            <a:r>
              <a:rPr lang="en-GB" sz="1400" dirty="0"/>
              <a:t> [1 0 0 0 0 1 0 1 0 0 0 0 0 0 0 0 0 0 1 0]]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765B162-111F-CCAB-96F9-7637CAE5D72D}"/>
              </a:ext>
            </a:extLst>
          </p:cNvPr>
          <p:cNvSpPr txBox="1"/>
          <p:nvPr/>
        </p:nvSpPr>
        <p:spPr>
          <a:xfrm>
            <a:off x="832182" y="5336531"/>
            <a:ext cx="7321217" cy="45140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200" dirty="0"/>
              <a:t>This time with the parameter 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binary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True </a:t>
            </a:r>
            <a:r>
              <a:rPr lang="en-GB" sz="1200" dirty="0"/>
              <a:t>we have a 1 if the word is in the document and 0 otherwise </a:t>
            </a:r>
          </a:p>
          <a:p>
            <a:pPr>
              <a:lnSpc>
                <a:spcPts val="1350"/>
              </a:lnSpc>
            </a:pPr>
            <a:endParaRPr lang="fr-FR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Flèche vers la droite 6">
            <a:extLst>
              <a:ext uri="{FF2B5EF4-FFF2-40B4-BE49-F238E27FC236}">
                <a16:creationId xmlns:a16="http://schemas.microsoft.com/office/drawing/2014/main" id="{F3DFBE64-6EAA-9CCC-0F19-50D93C0414C4}"/>
              </a:ext>
            </a:extLst>
          </p:cNvPr>
          <p:cNvSpPr/>
          <p:nvPr/>
        </p:nvSpPr>
        <p:spPr>
          <a:xfrm>
            <a:off x="2935705" y="4548620"/>
            <a:ext cx="5374106" cy="19984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823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D98A3-016B-EC7A-1E51-EAC81A810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D1D9A-0CA2-C115-DF08-5AA9B751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8945BBE-2B17-A3DE-EC4B-38A6EDF1F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B521E48-18B2-3F4C-5825-AE6D08E16DFB}"/>
              </a:ext>
            </a:extLst>
          </p:cNvPr>
          <p:cNvSpPr txBox="1"/>
          <p:nvPr/>
        </p:nvSpPr>
        <p:spPr>
          <a:xfrm>
            <a:off x="838198" y="1525445"/>
            <a:ext cx="10515600" cy="467657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Binary bag of words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1" dirty="0">
                <a:solidFill>
                  <a:srgbClr val="1BAE1B"/>
                </a:solidFill>
                <a:latin typeface="Menlo" panose="020B0609030804020204" pitchFamily="49" charset="0"/>
              </a:rPr>
              <a:t>import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pandas </a:t>
            </a:r>
            <a:r>
              <a:rPr lang="en-GB" sz="1200" b="1" dirty="0">
                <a:solidFill>
                  <a:srgbClr val="1BAE1B"/>
                </a:solidFill>
                <a:latin typeface="Menlo" panose="020B0609030804020204" pitchFamily="49" charset="0"/>
              </a:rPr>
              <a:t>as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 pd</a:t>
            </a:r>
            <a:endParaRPr lang="en-GB" sz="120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fr-FR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200" dirty="0">
                <a:latin typeface="Menlo" panose="020B0609030804020204" pitchFamily="49" charset="0"/>
              </a:rPr>
              <a:t># Display the </a:t>
            </a:r>
            <a:r>
              <a:rPr lang="fr-FR" sz="1200" dirty="0" err="1">
                <a:latin typeface="Menlo" panose="020B0609030804020204" pitchFamily="49" charset="0"/>
              </a:rPr>
              <a:t>result</a:t>
            </a:r>
            <a:r>
              <a:rPr lang="fr-FR" sz="1200" dirty="0">
                <a:latin typeface="Menlo" panose="020B0609030804020204" pitchFamily="49" charset="0"/>
              </a:rPr>
              <a:t> </a:t>
            </a:r>
            <a:r>
              <a:rPr lang="fr-FR" sz="1200" dirty="0" err="1">
                <a:latin typeface="Menlo" panose="020B0609030804020204" pitchFamily="49" charset="0"/>
              </a:rPr>
              <a:t>into</a:t>
            </a:r>
            <a:r>
              <a:rPr lang="fr-FR" sz="1200" dirty="0">
                <a:latin typeface="Menlo" panose="020B0609030804020204" pitchFamily="49" charset="0"/>
              </a:rPr>
              <a:t> a </a:t>
            </a:r>
            <a:r>
              <a:rPr lang="fr-FR" sz="1200" dirty="0" err="1">
                <a:latin typeface="Menlo" panose="020B0609030804020204" pitchFamily="49" charset="0"/>
              </a:rPr>
              <a:t>DataFrame</a:t>
            </a:r>
            <a:r>
              <a:rPr lang="fr-FR" sz="1200" dirty="0"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fr-FR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200" b="0" dirty="0" err="1">
                <a:effectLst/>
                <a:latin typeface="Menlo" panose="020B0609030804020204" pitchFamily="49" charset="0"/>
              </a:rPr>
              <a:t>pd.DataFrame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200" b="0" dirty="0" err="1">
                <a:effectLst/>
                <a:latin typeface="Menlo" panose="020B0609030804020204" pitchFamily="49" charset="0"/>
              </a:rPr>
              <a:t>bow.toarray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(), </a:t>
            </a:r>
            <a:r>
              <a:rPr lang="fr-FR" sz="12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columns</a:t>
            </a:r>
            <a:r>
              <a:rPr lang="fr-FR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200" b="0" dirty="0" err="1">
                <a:effectLst/>
                <a:latin typeface="Menlo" panose="020B0609030804020204" pitchFamily="49" charset="0"/>
              </a:rPr>
              <a:t>vectorizer.get_feature_names_out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endParaRPr lang="fr-FR" sz="1200" dirty="0">
              <a:latin typeface="Menlo" panose="020B0609030804020204" pitchFamily="49" charset="0"/>
            </a:endParaRPr>
          </a:p>
          <a:p>
            <a:r>
              <a:rPr lang="en-GB" sz="1200" dirty="0"/>
              <a:t>	Aston	Bull	F1	Hamilton	Honda	Martin	Red	…</a:t>
            </a:r>
          </a:p>
          <a:p>
            <a:r>
              <a:rPr lang="en-GB" sz="1200" dirty="0"/>
              <a:t>0	0	1	1	0	0	0	1	0</a:t>
            </a:r>
          </a:p>
          <a:p>
            <a:r>
              <a:rPr lang="en-GB" sz="1200" dirty="0"/>
              <a:t>1	0	1	1	0	1	0	1	0</a:t>
            </a:r>
          </a:p>
          <a:p>
            <a:r>
              <a:rPr lang="en-GB" sz="1200" dirty="0"/>
              <a:t>2	0	0	1	1	0	0	0	0</a:t>
            </a:r>
          </a:p>
          <a:p>
            <a:r>
              <a:rPr lang="en-GB" sz="1200" dirty="0"/>
              <a:t>3	1	0	0	0	0	1	0	1</a:t>
            </a:r>
          </a:p>
          <a:p>
            <a:pPr>
              <a:lnSpc>
                <a:spcPct val="150000"/>
              </a:lnSpc>
            </a:pPr>
            <a:endParaRPr lang="fr-FR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715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ABD79-7B53-6055-3571-2BD21B9E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88A0C1-F4C7-AD85-DF76-8AB769E8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DD63C22-862D-C50D-744B-29E13DA8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EEBD4960-4DD6-5967-B124-47143CDF69B1}"/>
                  </a:ext>
                </a:extLst>
              </p:cNvPr>
              <p:cNvSpPr txBox="1"/>
              <p:nvPr/>
            </p:nvSpPr>
            <p:spPr>
              <a:xfrm>
                <a:off x="838198" y="1525445"/>
                <a:ext cx="10691815" cy="4723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50"/>
                  </a:lnSpc>
                </a:pPr>
                <a:br>
                  <a:rPr lang="en-GB" sz="1200" b="1" dirty="0">
                    <a:solidFill>
                      <a:srgbClr val="448C27"/>
                    </a:solidFill>
                    <a:latin typeface="Menlo" panose="020B0609030804020204" pitchFamily="49" charset="0"/>
                  </a:rPr>
                </a:br>
                <a:r>
                  <a:rPr lang="en-GB" sz="1200" b="1" dirty="0">
                    <a:solidFill>
                      <a:srgbClr val="448C27"/>
                    </a:solidFill>
                    <a:latin typeface="Menlo" panose="020B0609030804020204" pitchFamily="49" charset="0"/>
                  </a:rPr>
                  <a:t># Cosine similarity between documents a and b</a:t>
                </a:r>
              </a:p>
              <a:p>
                <a:pPr>
                  <a:lnSpc>
                    <a:spcPts val="1350"/>
                  </a:lnSpc>
                </a:pPr>
                <a:endParaRPr lang="en-GB" sz="1200" b="1" dirty="0">
                  <a:solidFill>
                    <a:srgbClr val="448C27"/>
                  </a:solidFill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r>
                  <a:rPr lang="en-GB" sz="1200" b="1" dirty="0">
                    <a:solidFill>
                      <a:srgbClr val="448C27"/>
                    </a:solidFill>
                    <a:latin typeface="Menlo" panose="020B0609030804020204" pitchFamily="49" charset="0"/>
                  </a:rPr>
                  <a:t># Now that documents have been transformed into vectors we can compute a similarity between documents.</a:t>
                </a:r>
              </a:p>
              <a:p>
                <a:pPr>
                  <a:lnSpc>
                    <a:spcPct val="150000"/>
                  </a:lnSpc>
                </a:pPr>
                <a:endParaRPr lang="en-GB" sz="1200" b="1" dirty="0">
                  <a:solidFill>
                    <a:srgbClr val="1BAE1B"/>
                  </a:solidFill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𝒄𝒐𝒔𝒊𝒏𝒆</m:t>
                      </m:r>
                      <m:d>
                        <m:dPr>
                          <m:ctrlP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.</m:t>
                          </m:r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𝒃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1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GB" b="1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1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GB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×|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1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d>
                              <m:r>
                                <a:rPr lang="en-GB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rad>
                        </m:den>
                      </m:f>
                      <m:r>
                        <a:rPr lang="en-GB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GB" sz="1200" b="1" dirty="0">
                  <a:solidFill>
                    <a:srgbClr val="1BAE1B"/>
                  </a:solidFill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050" dirty="0">
                    <a:solidFill>
                      <a:schemeClr val="tx1"/>
                    </a:solidFill>
                    <a:latin typeface="Menlo" panose="020B0609030804020204" pitchFamily="49" charset="0"/>
                  </a:rPr>
                  <a:t>With: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050" dirty="0">
                    <a:solidFill>
                      <a:schemeClr val="tx1"/>
                    </a:solidFill>
                    <a:latin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. 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GB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×  </m:t>
                            </m:r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sz="1050" dirty="0">
                  <a:solidFill>
                    <a:schemeClr val="tx1"/>
                  </a:solidFill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050" dirty="0">
                    <a:solidFill>
                      <a:schemeClr val="tx1"/>
                    </a:solidFill>
                    <a:latin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. 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GB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GB" sz="1050" dirty="0">
                  <a:solidFill>
                    <a:srgbClr val="1BAE1B"/>
                  </a:solidFill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050" dirty="0">
                    <a:solidFill>
                      <a:srgbClr val="1BAE1B"/>
                    </a:solidFill>
                    <a:effectLst/>
                  </a:rPr>
                  <a:t>  </a:t>
                </a:r>
                <a14:m>
                  <m:oMath xmlns:m="http://schemas.openxmlformats.org/officeDocument/2006/math">
                    <m:r>
                      <a:rPr lang="en-GB" sz="1050" b="0" i="1" smtClean="0">
                        <a:solidFill>
                          <a:srgbClr val="1BAE1B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GB" sz="105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endParaRPr lang="en-GB" sz="1050" dirty="0">
                  <a:solidFill>
                    <a:schemeClr val="tx1"/>
                  </a:solidFill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050" dirty="0">
                    <a:solidFill>
                      <a:schemeClr val="tx1"/>
                    </a:solidFill>
                    <a:effectLst/>
                    <a:latin typeface="Menlo" panose="020B0609030804020204" pitchFamily="49" charset="0"/>
                  </a:rPr>
                  <a:t> When a and b points in the same direction i.e. are similar,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050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fr-FR" sz="105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05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=1=−</m:t>
                    </m:r>
                    <m:r>
                      <a:rPr lang="fr-FR" sz="105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fr-FR" sz="105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GB" sz="1050" dirty="0">
                  <a:solidFill>
                    <a:schemeClr val="tx1"/>
                  </a:solidFill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050" dirty="0">
                    <a:solidFill>
                      <a:schemeClr val="tx1"/>
                    </a:solidFill>
                    <a:effectLst/>
                    <a:latin typeface="Menlo" panose="020B0609030804020204" pitchFamily="49" charset="0"/>
                  </a:rPr>
                  <a:t> When a and b are orthogonal</a:t>
                </a:r>
                <a:r>
                  <a:rPr lang="en-GB" sz="1050" dirty="0">
                    <a:latin typeface="Menlo" panose="020B0609030804020204" pitchFamily="49" charset="0"/>
                  </a:rPr>
                  <a:t> i.e. dissimilar, </a:t>
                </a:r>
                <a14:m>
                  <m:oMath xmlns:m="http://schemas.openxmlformats.org/officeDocument/2006/math">
                    <m:r>
                      <a:rPr lang="fr-FR" sz="1050" b="0" i="1" smtClean="0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fr-FR" sz="105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105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fr-FR" sz="105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050" b="0" i="1" smtClean="0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fr-FR" sz="105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fr-FR" sz="105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fr-FR" sz="105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05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050" b="0" dirty="0">
                    <a:effectLst/>
                    <a:latin typeface="Menlo" panose="020B0609030804020204" pitchFamily="49" charset="0"/>
                  </a:rPr>
                  <a:t>Because high frequency words will lead to larger dot products... To avoid this, we normalize by vector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05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105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GB" sz="105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05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d>
                      </m:e>
                    </m:rad>
                    <m:r>
                      <a:rPr lang="en-GB" sz="105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105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sz="105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en-GB" sz="105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05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GB" sz="105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sz="105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r>
                  <a:rPr lang="en-GB" sz="1050" dirty="0">
                    <a:latin typeface="Menlo" panose="020B0609030804020204" pitchFamily="49" charset="0"/>
                  </a:rPr>
                  <a:t> k</a:t>
                </a:r>
                <a:r>
                  <a:rPr lang="en-GB" sz="1050" b="0" dirty="0">
                    <a:effectLst/>
                    <a:latin typeface="Menlo" panose="020B0609030804020204" pitchFamily="49" charset="0"/>
                  </a:rPr>
                  <a:t>nows also as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05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050" b="0" i="1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GB" sz="105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050" b="0" dirty="0">
                    <a:effectLst/>
                    <a:latin typeface="Menlo" panose="020B0609030804020204" pitchFamily="49" charset="0"/>
                  </a:rPr>
                  <a:t> norm or Euclidean norm.</a:t>
                </a:r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EEBD4960-4DD6-5967-B124-47143CDF6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1525445"/>
                <a:ext cx="10691815" cy="4723344"/>
              </a:xfrm>
              <a:prstGeom prst="rect">
                <a:avLst/>
              </a:prstGeom>
              <a:blipFill>
                <a:blip r:embed="rId3"/>
                <a:stretch>
                  <a:fillRect b="-2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4819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5A037-1F4D-473B-9D1B-0B21BD8C0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C51917-D9D4-0C10-33B9-459163CB0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A20224-1B99-3D9B-FD86-1D1EEFCD5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9ED9FB8-1F00-9286-DB49-C935BC2540A0}"/>
              </a:ext>
            </a:extLst>
          </p:cNvPr>
          <p:cNvSpPr txBox="1"/>
          <p:nvPr/>
        </p:nvSpPr>
        <p:spPr>
          <a:xfrm>
            <a:off x="838198" y="1525445"/>
            <a:ext cx="10691815" cy="4769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Cosine similarity between documents a and b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sklearn.metrics.pairwise </a:t>
            </a: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cosine_similarity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cosine_similarity can take either array-likes or sparse matrices.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b="0" dirty="0">
              <a:solidFill>
                <a:srgbClr val="41ADE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(cosine_similarity(bow))</a:t>
            </a:r>
          </a:p>
          <a:p>
            <a:pPr>
              <a:lnSpc>
                <a:spcPct val="15000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dirty="0"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[[1.         0.42857143 0.15430335 0.        ]</a:t>
            </a: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 [0.42857143 1.         0.15430335 0.        ]</a:t>
            </a: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 [0.15430335 0.15430335 1.         0.        ]</a:t>
            </a: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 [0.         0.         0.         1.        ]]</a:t>
            </a:r>
          </a:p>
          <a:p>
            <a:pPr>
              <a:lnSpc>
                <a:spcPct val="150000"/>
              </a:lnSpc>
            </a:pPr>
            <a:endParaRPr lang="en-GB" sz="1200" dirty="0">
              <a:solidFill>
                <a:schemeClr val="tx1">
                  <a:lumMod val="50000"/>
                  <a:lumOff val="50000"/>
                </a:schemeClr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dirty="0">
                <a:solidFill>
                  <a:srgbClr val="448C27"/>
                </a:solidFill>
                <a:latin typeface="Menlo" panose="020B0609030804020204" pitchFamily="49" charset="0"/>
              </a:rPr>
              <a:t># The first and the second document are the more similar.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976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C54A-E383-7112-8002-E6BF0CA01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75D059-632F-3A91-2D55-7F482DCEC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230B759-BB03-6BD0-AC4C-05EF873D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B672C69-8C97-7441-6D21-E1A8D12671DE}"/>
              </a:ext>
            </a:extLst>
          </p:cNvPr>
          <p:cNvSpPr txBox="1"/>
          <p:nvPr/>
        </p:nvSpPr>
        <p:spPr>
          <a:xfrm>
            <a:off x="838198" y="1525445"/>
            <a:ext cx="10691815" cy="1594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Drawbacks of BOW:</a:t>
            </a:r>
          </a:p>
          <a:p>
            <a:pPr>
              <a:lnSpc>
                <a:spcPts val="1350"/>
              </a:lnSpc>
            </a:pPr>
            <a:b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GB" sz="1200" b="0" dirty="0">
                <a:solidFill>
                  <a:srgbClr val="4B83CD"/>
                </a:solidFill>
                <a:effectLst/>
                <a:latin typeface="Menlo" panose="020B0609030804020204" pitchFamily="49" charset="0"/>
              </a:rPr>
              <a:t>Does not capture similarity between synonyms.</a:t>
            </a:r>
            <a:endParaRPr lang="en-GB" sz="1200" dirty="0">
              <a:solidFill>
                <a:srgbClr val="DBD9D9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GB" sz="1200" b="0" dirty="0">
                <a:solidFill>
                  <a:srgbClr val="4B83CD"/>
                </a:solidFill>
                <a:effectLst/>
                <a:latin typeface="Menlo" panose="020B0609030804020204" pitchFamily="49" charset="0"/>
              </a:rPr>
              <a:t>No way to handle Out-of-Vocabulary (OOV) words.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1200" b="0" dirty="0">
                <a:solidFill>
                  <a:srgbClr val="4B83CD"/>
                </a:solidFill>
                <a:effectLst/>
                <a:latin typeface="Menlo" panose="020B0609030804020204" pitchFamily="49" charset="0"/>
              </a:rPr>
              <a:t> Creates sparse vectors which can be inefficient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1200" b="0" dirty="0">
                <a:solidFill>
                  <a:srgbClr val="4B83CD"/>
                </a:solidFill>
                <a:effectLst/>
                <a:latin typeface="Menlo" panose="020B0609030804020204" pitchFamily="49" charset="0"/>
              </a:rPr>
              <a:t> Word order information is lots.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739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32D0-ECC7-8E86-2881-04D94EBD8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A11DBA-4195-4387-A586-04A0FD7BF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N-grams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417703B-FD07-F66A-6D22-F44A52931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94ABEA6-2870-66F7-CDB4-3D3E80B1BA0B}"/>
              </a:ext>
            </a:extLst>
          </p:cNvPr>
          <p:cNvSpPr txBox="1"/>
          <p:nvPr/>
        </p:nvSpPr>
        <p:spPr>
          <a:xfrm>
            <a:off x="838198" y="1525445"/>
            <a:ext cx="10691815" cy="4381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200" b="1" noProof="0" dirty="0">
                <a:latin typeface="Menlo" panose="020B0609030804020204" pitchFamily="49" charset="0"/>
              </a:rPr>
              <a:t>Definition:</a:t>
            </a:r>
          </a:p>
          <a:p>
            <a:pPr>
              <a:lnSpc>
                <a:spcPts val="1350"/>
              </a:lnSpc>
            </a:pPr>
            <a:endParaRPr lang="en-GB" sz="1200" b="0" noProof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Chuncks of continuous tokens. </a:t>
            </a:r>
          </a:p>
          <a:p>
            <a:pPr>
              <a:lnSpc>
                <a:spcPts val="1350"/>
              </a:lnSpc>
            </a:pPr>
            <a:br>
              <a:rPr lang="en-GB" sz="800" b="0" noProof="0" dirty="0">
                <a:effectLst/>
                <a:latin typeface="Menlo" panose="020B0609030804020204" pitchFamily="49" charset="0"/>
              </a:rPr>
            </a:br>
            <a:r>
              <a:rPr lang="en-GB" sz="800" b="0" noProof="0" dirty="0">
                <a:effectLst/>
                <a:latin typeface="Menlo" panose="020B0609030804020204" pitchFamily="49" charset="0"/>
              </a:rPr>
              <a:t>2-grams or bigram has two tokens per 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chunck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. 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3-grams or trigram has three tokens per 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chunck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. 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...</a:t>
            </a:r>
          </a:p>
          <a:p>
            <a:pPr>
              <a:lnSpc>
                <a:spcPts val="1350"/>
              </a:lnSpc>
            </a:pPr>
            <a:br>
              <a:rPr lang="en-GB" sz="800" b="0" noProof="0" dirty="0">
                <a:effectLst/>
                <a:latin typeface="Menlo" panose="020B0609030804020204" pitchFamily="49" charset="0"/>
              </a:rPr>
            </a:br>
            <a:r>
              <a:rPr lang="en-GB" sz="800" b="0" noProof="0" dirty="0">
                <a:effectLst/>
                <a:latin typeface="Menlo" panose="020B0609030804020204" pitchFamily="49" charset="0"/>
              </a:rPr>
              <a:t>Example of tokenization into bigram: </a:t>
            </a:r>
          </a:p>
          <a:p>
            <a:pPr>
              <a:lnSpc>
                <a:spcPts val="1350"/>
              </a:lnSpc>
            </a:pPr>
            <a:br>
              <a:rPr lang="en-GB" sz="800" b="0" noProof="0" dirty="0">
                <a:effectLst/>
                <a:latin typeface="Menlo" panose="020B0609030804020204" pitchFamily="49" charset="0"/>
              </a:rPr>
            </a:br>
            <a:r>
              <a:rPr lang="en-GB" sz="800" b="0" noProof="0" dirty="0">
                <a:effectLst/>
                <a:latin typeface="Menlo" panose="020B0609030804020204" pitchFamily="49" charset="0"/>
              </a:rPr>
              <a:t>"Barcelona beats Chelsea" =&gt; ["Barcelona beats", "beats Chelsea"]</a:t>
            </a:r>
          </a:p>
          <a:p>
            <a:pPr>
              <a:lnSpc>
                <a:spcPts val="1350"/>
              </a:lnSpc>
            </a:pPr>
            <a:endParaRPr lang="en-GB" sz="800" b="0" noProof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CountVectorizer()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includes sparser </a:t>
            </a:r>
            <a:r>
              <a:rPr lang="en-GB" sz="800" b="0" noProof="0" dirty="0" err="1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ngram_range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parameter to generate different n-grams. 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N-grams range is specified using a </a:t>
            </a:r>
            <a:r>
              <a:rPr lang="en-GB" sz="800" b="1" noProof="0" dirty="0">
                <a:effectLst/>
                <a:latin typeface="Menlo" panose="020B0609030804020204" pitchFamily="49" charset="0"/>
              </a:rPr>
              <a:t>minimum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 and </a:t>
            </a:r>
            <a:r>
              <a:rPr lang="en-GB" sz="800" b="1" noProof="0" dirty="0">
                <a:effectLst/>
                <a:latin typeface="Menlo" panose="020B0609030804020204" pitchFamily="49" charset="0"/>
              </a:rPr>
              <a:t>maximum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 range. 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By default, n-grams range is set to (1, 1) which generates unigrams. 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Setting it to (1, 2) generates both unigrams and bigrams.</a:t>
            </a:r>
          </a:p>
          <a:p>
            <a:pPr>
              <a:lnSpc>
                <a:spcPts val="1350"/>
              </a:lnSpc>
            </a:pPr>
            <a:endParaRPr lang="en-GB" sz="800" noProof="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Unigram or 1-gram are equivalent to binary bags of words.</a:t>
            </a:r>
          </a:p>
          <a:p>
            <a:pPr>
              <a:lnSpc>
                <a:spcPts val="1350"/>
              </a:lnSpc>
            </a:pPr>
            <a:endParaRPr lang="en-GB" sz="800" noProof="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When we use N-grams it is recommended to keep stop words or at least keep the negation</a:t>
            </a:r>
            <a:r>
              <a:rPr lang="en-GB" sz="800" noProof="0" dirty="0">
                <a:latin typeface="Menlo" panose="020B0609030804020204" pitchFamily="49" charset="0"/>
              </a:rPr>
              <a:t> because the bi-gram « Not good » will have a different meaning of the unigram « good ». It is one advantage of N-grams in comparison with binary BOW. N-grams capture the sequence of words, which allows to keep a part of the local context. This can improve the precision of the NLP model for sentiment analysis, text classification of NER. N-grams are also flexible. You can easily get in the same </a:t>
            </a:r>
            <a:r>
              <a:rPr lang="en-GB" sz="800" dirty="0">
                <a:latin typeface="Menlo" panose="020B0609030804020204" pitchFamily="49" charset="0"/>
              </a:rPr>
              <a:t>time</a:t>
            </a:r>
            <a:r>
              <a:rPr lang="en-GB" sz="800" noProof="0" dirty="0">
                <a:latin typeface="Menlo" panose="020B0609030804020204" pitchFamily="49" charset="0"/>
              </a:rPr>
              <a:t> unigram, bigram, or tri-grams just fixing the parameter </a:t>
            </a:r>
            <a:r>
              <a:rPr lang="en-GB" sz="800" b="0" noProof="0" dirty="0" err="1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ngram_range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noProof="0" dirty="0">
                <a:latin typeface="Menlo" panose="020B0609030804020204" pitchFamily="49" charset="0"/>
              </a:rPr>
              <a:t>(1, 3). </a:t>
            </a:r>
          </a:p>
          <a:p>
            <a:pPr>
              <a:lnSpc>
                <a:spcPts val="1350"/>
              </a:lnSpc>
            </a:pPr>
            <a:r>
              <a:rPr lang="en-GB" sz="800" noProof="0" dirty="0">
                <a:latin typeface="Menlo" panose="020B0609030804020204" pitchFamily="49" charset="0"/>
              </a:rPr>
              <a:t>On the other hand, N-grams increase the complexity and the size of the vocabulary. N-grams are sparser than BOW.</a:t>
            </a:r>
            <a:endParaRPr lang="en-GB" sz="800" b="1" noProof="0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060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6D32C-D763-0B2F-968E-A263FFBD2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3367BB-9925-C5D2-986C-92412616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N-grams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C94396F-915C-3F84-590D-6827B8A42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F011D14-A133-790E-9E46-D1F3C5199304}"/>
              </a:ext>
            </a:extLst>
          </p:cNvPr>
          <p:cNvSpPr txBox="1"/>
          <p:nvPr/>
        </p:nvSpPr>
        <p:spPr>
          <a:xfrm>
            <a:off x="838198" y="1525445"/>
            <a:ext cx="10691815" cy="4867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INTRO</a:t>
            </a:r>
          </a:p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 corpus of sentences.</a:t>
            </a:r>
            <a:endParaRPr lang="en-GB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corpus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[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"Red Bull drops hint on F1 engine."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"Honda exits F1, leaving F1 partner Red Bull."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"Hamilton eyes record eighth F1 title."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"Aston Martin announces sponsor."</a:t>
            </a:r>
            <a:endParaRPr lang="en-GB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vectorizer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CountVectorizer(</a:t>
            </a:r>
            <a:r>
              <a:rPr lang="en-GB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tokenizer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spacy_tokenizer, </a:t>
            </a:r>
            <a:r>
              <a:rPr lang="en-GB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lowercase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binary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ngram_range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)</a:t>
            </a:r>
            <a:r>
              <a:rPr lang="fr-FR" sz="8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stop_words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) # unigram &amp; bigrams</a:t>
            </a:r>
            <a:b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dirty="0">
                <a:effectLst/>
                <a:latin typeface="Menlo" panose="020B0609030804020204" pitchFamily="49" charset="0"/>
              </a:rPr>
              <a:t>bigrams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vectorizer.fit_transform(corpus)</a:t>
            </a:r>
            <a:b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(vectorizer.get_feature_names_out())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'Number of features: 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{}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.format(</a:t>
            </a:r>
            <a:r>
              <a:rPr lang="en-GB" sz="800" b="0" dirty="0" err="1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effectLst/>
                <a:latin typeface="Menlo" panose="020B0609030804020204" pitchFamily="49" charset="0"/>
              </a:rPr>
              <a:t>vectorizer.get_feature_names_out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())))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effectLst/>
                <a:latin typeface="Menlo" panose="020B0609030804020204" pitchFamily="49" charset="0"/>
              </a:rPr>
              <a:t>vectorizer.vocabulary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_)</a:t>
            </a:r>
          </a:p>
          <a:p>
            <a:pPr>
              <a:lnSpc>
                <a:spcPct val="150000"/>
              </a:lnSpc>
            </a:pPr>
            <a:endParaRPr lang="en-GB" sz="8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['Aston' 'Aston Martin' 'Bull' 'Bull drops' 'F1' 'F1 engine' 'F1 leaving’ 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'F1 partner' 'F1 title' 'Hamilton' 'Hamilton eyes' 'Honda' 'Honda exits'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'Martin' 'Martin announces' 'Red' 'Red Bull' 'announces'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'announces sponsor' 'drops' 'drops hint' 'eighth' 'eighth F1' 'engine'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'exits' 'exits F1' 'eyes' 'eyes record' 'hint' 'hint on' 'leaving'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'leaving F1' 'on' 'on F1' 'partner' 'partner Red' 'record'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'record eighth' 'sponsor' 'title']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Number of features: 40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{'Red': 15, 'Bull': 2, 'drops': 19, 'hint': 28, 'on': 32, 'F1': 4, 'engine': 23, 'Red Bull': 16, 'Bull drops': 3, 'drops hint': 20, 'hint on': 29, 'on F1': 33, 'F1 engine': 5, 'Honda': 11, 'exits': 24, 'leaving': 30, 'partner': 34, 'Honda exits': 12, 'exits F1': 25, 'F1 leaving': 6, 'leaving F1': 31, 'F1 partner': 7, 'partner Red': 35, 'Hamilton': 9, 'eyes': 26, 'record': 36, 'eighth': 21, 'title': 39, 'Hamilton eyes': 10, 'eyes record': 27, 'record eighth': 37, 'eighth F1': 22, 'F1 title': 8, 'Aston': 0, 'Martin': 13, 'announces': 17, 'sponsor': 38, 'Aston Martin': 1, 'Martin announces': 14, 'announces sponsor': 18}</a:t>
            </a:r>
          </a:p>
        </p:txBody>
      </p:sp>
    </p:spTree>
    <p:extLst>
      <p:ext uri="{BB962C8B-B14F-4D97-AF65-F5344CB8AC3E}">
        <p14:creationId xmlns:p14="http://schemas.microsoft.com/office/powerpoint/2010/main" val="4186049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BB388-6CF2-4F74-3CA7-7801FB10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23A0DF-1DF1-EA8E-A748-49EE9C197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N-grams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C87324B-2481-53A4-E756-B0D96E0E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0409D40-005C-0829-91F4-2B2992974B13}"/>
              </a:ext>
            </a:extLst>
          </p:cNvPr>
          <p:cNvSpPr txBox="1"/>
          <p:nvPr/>
        </p:nvSpPr>
        <p:spPr>
          <a:xfrm>
            <a:off x="838198" y="1525445"/>
            <a:ext cx="10691815" cy="4867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INTRO</a:t>
            </a:r>
          </a:p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 corpus of sentences.</a:t>
            </a:r>
            <a:endParaRPr lang="en-GB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corpus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[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"Red Bull drops hint on F1 engine."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"Honda exits F1, leaving F1 partner Red Bull."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"Hamilton eyes record eighth F1 title."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"Aston Martin announces sponsor."</a:t>
            </a:r>
            <a:endParaRPr lang="en-GB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vectorizer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CountVectorizer(</a:t>
            </a:r>
            <a:r>
              <a:rPr lang="en-GB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tokenizer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spacy_tokenizer, </a:t>
            </a:r>
            <a:r>
              <a:rPr lang="en-GB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lowercase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binary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ngram_range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)</a:t>
            </a:r>
            <a:r>
              <a:rPr lang="fr-FR" sz="8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stop_words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) # unigram &amp; bigrams</a:t>
            </a:r>
            <a:b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dirty="0">
                <a:effectLst/>
                <a:latin typeface="Menlo" panose="020B0609030804020204" pitchFamily="49" charset="0"/>
              </a:rPr>
              <a:t>bigrams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vectorizer.fit_transform(corpus)</a:t>
            </a:r>
            <a:b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(vectorizer.get_feature_names_out())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'Number of features: 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{}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.format(</a:t>
            </a:r>
            <a:r>
              <a:rPr lang="en-GB" sz="800" b="0" dirty="0" err="1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effectLst/>
                <a:latin typeface="Menlo" panose="020B0609030804020204" pitchFamily="49" charset="0"/>
              </a:rPr>
              <a:t>vectorizer.get_feature_names_out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())))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effectLst/>
                <a:latin typeface="Menlo" panose="020B0609030804020204" pitchFamily="49" charset="0"/>
              </a:rPr>
              <a:t>vectorizer.vocabulary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_)</a:t>
            </a:r>
          </a:p>
          <a:p>
            <a:pPr>
              <a:lnSpc>
                <a:spcPct val="150000"/>
              </a:lnSpc>
            </a:pPr>
            <a:endParaRPr lang="en-GB" sz="8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['Aston' 'Aston Martin' 'Bull' 'Bull drops' 'F1' 'F1 engine' 'F1 leaving’ 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'F1 partner' 'F1 title' 'Hamilton' 'Hamilton eyes' 'Honda' 'Honda exits'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'Martin' 'Martin announces' 'Red' 'Red Bull' 'announces'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'announces sponsor' 'drops' 'drops hint' 'eighth' 'eighth F1' 'engine'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'exits' 'exits F1' 'eyes' 'eyes record' 'hint' 'hint on' 'leaving'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'leaving F1' 'on' 'on F1' 'partner' 'partner Red' 'record'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'record eighth' 'sponsor' 'title']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Number of features: 40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{'Red': 15, 'Bull': 2, 'drops': 19, 'hint': 28, 'on': 32, 'F1': 4, 'engine': 23, 'Red Bull': 16, 'Bull drops': 3, 'drops hint': 20, 'hint on': 29, 'on F1': 33, 'F1 engine': 5, 'Honda': 11, 'exits': 24, 'leaving': 30, 'partner': 34, 'Honda exits': 12, 'exits F1': 25, 'F1 leaving': 6, 'leaving F1': 31, 'F1 partner': 7, 'partner Red': 35, 'Hamilton': 9, 'eyes': 26, 'record': 36, 'eighth': 21, 'title': 39, 'Hamilton eyes': 10, 'eyes record': 27, 'record eighth': 37, 'eighth F1': 22, 'F1 title': 8, 'Aston': 0, 'Martin': 13, 'announces': 17, 'sponsor': 38, 'Aston Martin': 1, 'Martin announces': 14, 'announces sponsor': 18}</a:t>
            </a:r>
          </a:p>
        </p:txBody>
      </p:sp>
    </p:spTree>
    <p:extLst>
      <p:ext uri="{BB962C8B-B14F-4D97-AF65-F5344CB8AC3E}">
        <p14:creationId xmlns:p14="http://schemas.microsoft.com/office/powerpoint/2010/main" val="4136026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BDBE2-F26F-7608-F077-7DA1D43C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463A69-1929-4FB1-B0C7-4BDB6E24E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N-grams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11E89CC-D33C-8F5A-6560-3E10DD96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A27CE02-396F-FE94-110A-66ACF835D964}"/>
              </a:ext>
            </a:extLst>
          </p:cNvPr>
          <p:cNvSpPr txBox="1"/>
          <p:nvPr/>
        </p:nvSpPr>
        <p:spPr>
          <a:xfrm>
            <a:off x="838198" y="1525445"/>
            <a:ext cx="10691815" cy="4381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USE CASE N-GRAMS IN FRENCH (1/2)</a:t>
            </a:r>
          </a:p>
          <a:p>
            <a:pPr>
              <a:lnSpc>
                <a:spcPts val="1350"/>
              </a:lnSpc>
            </a:pPr>
            <a:endParaRPr lang="fr-FR" sz="8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>
                <a:solidFill>
                  <a:srgbClr val="1BAE1B"/>
                </a:solidFill>
                <a:latin typeface="Menlo" panose="020B0609030804020204" pitchFamily="49" charset="0"/>
              </a:rPr>
              <a:t># Load the french model</a:t>
            </a:r>
            <a:endParaRPr lang="fr-FR" sz="8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!python -m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spacy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download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fr_core_news_sm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800" b="1" dirty="0">
              <a:solidFill>
                <a:srgbClr val="1BAE1B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spacy</a:t>
            </a:r>
            <a:endParaRPr lang="fr-FR" sz="8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sklearn.feature_extraction.text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CountVectorizer</a:t>
            </a:r>
          </a:p>
          <a:p>
            <a:pPr>
              <a:lnSpc>
                <a:spcPts val="1350"/>
              </a:lnSpc>
            </a:pP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sklearn.model_selection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train_test_split</a:t>
            </a:r>
            <a:endParaRPr lang="fr-FR" sz="8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sklearn.svm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SVC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sklearn.metrics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classification_report</a:t>
            </a:r>
            <a:endParaRPr lang="fr-FR" sz="8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Load the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spaCy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french model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fr_core_news_sm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Example of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comments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data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effectLst/>
                <a:latin typeface="Menlo" panose="020B0609030804020204" pitchFamily="49" charset="0"/>
              </a:rPr>
              <a:t>avis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[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"J'adore ce produit, il est incroyable!"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"Ce produit est terrible, je le déteste."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"Le produit est correct, mais pas exceptionnel."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GB" sz="8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C</a:t>
            </a: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orresponding sentiment labels</a:t>
            </a:r>
            <a:endParaRPr lang="en-GB" sz="8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effectLst/>
                <a:latin typeface="Menlo" panose="020B0609030804020204" pitchFamily="49" charset="0"/>
              </a:rPr>
              <a:t>sentiments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[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"positif"</a:t>
            </a:r>
            <a:r>
              <a:rPr lang="fr-FR" sz="8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"négatif"</a:t>
            </a:r>
            <a:r>
              <a:rPr lang="fr-FR" sz="8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"neutre"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774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2EFE-8A23-F724-905D-CC7C93FC3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32EE09-B3F9-1B34-58FC-AFF48F0E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N-grams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4618AA0-35B3-102A-D6B4-F450E2925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18D14DF-A7EA-29A0-8477-B77BFFC62263}"/>
              </a:ext>
            </a:extLst>
          </p:cNvPr>
          <p:cNvSpPr txBox="1"/>
          <p:nvPr/>
        </p:nvSpPr>
        <p:spPr>
          <a:xfrm>
            <a:off x="838198" y="1525445"/>
            <a:ext cx="10691815" cy="4919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USE CASE N-GRAMS (2/2)</a:t>
            </a:r>
          </a:p>
          <a:p>
            <a:pPr>
              <a:lnSpc>
                <a:spcPts val="1350"/>
              </a:lnSpc>
            </a:pPr>
            <a:endParaRPr lang="en-GB" sz="800" b="0" i="1" dirty="0">
              <a:solidFill>
                <a:srgbClr val="6A8B9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pre-processing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of the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comments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preprocess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effectLst/>
                <a:latin typeface="Menlo" panose="020B0609030804020204" pitchFamily="49" charset="0"/>
              </a:rPr>
              <a:t>    doc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text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    return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 '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join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([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token.lemma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_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token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doc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token.is_stop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token.is_punct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800" b="0" dirty="0" err="1">
                <a:effectLst/>
                <a:latin typeface="Menlo" panose="020B0609030804020204" pitchFamily="49" charset="0"/>
              </a:rPr>
              <a:t>avis_pretraites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[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preprocess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(av)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av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avis]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"avis_pretraites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avis_pretraites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DA523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Génération de N-grammes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effectLst/>
                <a:latin typeface="Menlo" panose="020B0609030804020204" pitchFamily="49" charset="0"/>
              </a:rPr>
              <a:t>vectorizer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CountVectorizer(</a:t>
            </a:r>
            <a:r>
              <a:rPr lang="fr-FR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ngram_range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))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Unigrammes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bigrammes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et trigrammes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effectLst/>
                <a:latin typeface="Menlo" panose="020B0609030804020204" pitchFamily="49" charset="0"/>
              </a:rPr>
              <a:t>X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vectorizer.fit_transform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avis_pretraites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"vectorizer.get_feature_names_out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() :</a:t>
            </a:r>
            <a:r>
              <a:rPr lang="fr-FR" sz="800" b="0" dirty="0">
                <a:solidFill>
                  <a:srgbClr val="DA523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vectorizer.get_feature_names_out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()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DA523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"X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fr-FR" sz="800" b="0" dirty="0">
                <a:solidFill>
                  <a:srgbClr val="DA523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X.toarray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()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DA523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Division des données en ensembles d'entraînement et de test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effectLst/>
                <a:latin typeface="Menlo" panose="020B0609030804020204" pitchFamily="49" charset="0"/>
              </a:rPr>
              <a:t>X_train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X_test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y_train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y_test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train_test_split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(X, sentiments, </a:t>
            </a:r>
            <a:r>
              <a:rPr lang="fr-FR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test_size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0.2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random_state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42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Entraînement du modèle SVM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effectLst/>
                <a:latin typeface="Menlo" panose="020B0609030804020204" pitchFamily="49" charset="0"/>
              </a:rPr>
              <a:t>model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SVC(</a:t>
            </a:r>
            <a:r>
              <a:rPr lang="fr-FR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kernel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linear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0" dirty="0" err="1">
                <a:effectLst/>
                <a:latin typeface="Menlo" panose="020B0609030804020204" pitchFamily="49" charset="0"/>
              </a:rPr>
              <a:t>model.fit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X_train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y_train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Prédiction et évaluation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effectLst/>
                <a:latin typeface="Menlo" panose="020B0609030804020204" pitchFamily="49" charset="0"/>
              </a:rPr>
              <a:t>y_pred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model.predict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X_test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classification_report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y_test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y_pred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3270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3B68C-767D-3F06-5425-725761D2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B885AB-703D-EC1B-0A19-A900DB19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</a:t>
            </a:r>
            <a:r>
              <a:rPr lang="en-GB" b="0" i="0" u="none" strike="noStrike" dirty="0">
                <a:effectLst/>
                <a:latin typeface="ui-sans-serif"/>
              </a:rPr>
              <a:t>Term Frequency-Inverse Document Frequency</a:t>
            </a:r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5858E7-0F88-1AE9-7CC3-DCE1358F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90B6522-A3D5-C4AE-551A-69D7D1CE939B}"/>
              </a:ext>
            </a:extLst>
          </p:cNvPr>
          <p:cNvSpPr txBox="1"/>
          <p:nvPr/>
        </p:nvSpPr>
        <p:spPr>
          <a:xfrm>
            <a:off x="838200" y="2111235"/>
            <a:ext cx="10691815" cy="3144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TF-IDF is another bag-of-words technique still popular today. </a:t>
            </a:r>
          </a:p>
          <a:p>
            <a:pPr>
              <a:lnSpc>
                <a:spcPts val="1350"/>
              </a:lnSpc>
            </a:pPr>
            <a:br>
              <a:rPr lang="en-GB" sz="1200" b="0" dirty="0">
                <a:effectLst/>
                <a:latin typeface="Menlo" panose="020B0609030804020204" pitchFamily="49" charset="0"/>
              </a:rPr>
            </a:br>
            <a:r>
              <a:rPr lang="en-GB" sz="1200" b="0" dirty="0">
                <a:effectLst/>
                <a:latin typeface="Menlo" panose="020B0609030804020204" pitchFamily="49" charset="0"/>
              </a:rPr>
              <a:t>With the previous BOW techniques all the words have the same importance. 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Even removing stop words, you can have highly frequent words but not informative. </a:t>
            </a:r>
          </a:p>
          <a:p>
            <a:pPr>
              <a:lnSpc>
                <a:spcPts val="1350"/>
              </a:lnSpc>
            </a:pPr>
            <a:br>
              <a:rPr lang="en-GB" sz="1200" b="0" dirty="0">
                <a:effectLst/>
                <a:latin typeface="Menlo" panose="020B0609030804020204" pitchFamily="49" charset="0"/>
              </a:rPr>
            </a:br>
            <a:r>
              <a:rPr lang="en-GB" sz="1200" b="0" dirty="0">
                <a:effectLst/>
                <a:latin typeface="Menlo" panose="020B0609030804020204" pitchFamily="49" charset="0"/>
              </a:rPr>
              <a:t>For instance, in a corpus of sports you can have a high frequence of "play" and "games" but can be not informative. </a:t>
            </a:r>
          </a:p>
          <a:p>
            <a:pPr>
              <a:lnSpc>
                <a:spcPts val="1350"/>
              </a:lnSpc>
            </a:pPr>
            <a:br>
              <a:rPr lang="en-GB" sz="1200" b="0" dirty="0">
                <a:effectLst/>
                <a:latin typeface="Menlo" panose="020B0609030804020204" pitchFamily="49" charset="0"/>
              </a:rPr>
            </a:br>
            <a:r>
              <a:rPr lang="en-GB" sz="1200" b="0" dirty="0">
                <a:effectLst/>
                <a:latin typeface="Menlo" panose="020B0609030804020204" pitchFamily="49" charset="0"/>
              </a:rPr>
              <a:t>We will use relative frequence instead: </a:t>
            </a:r>
            <a:br>
              <a:rPr lang="en-GB" sz="1200" b="0" dirty="0">
                <a:effectLst/>
                <a:latin typeface="Menlo" panose="020B0609030804020204" pitchFamily="49" charset="0"/>
              </a:rPr>
            </a:br>
            <a:r>
              <a:rPr lang="en-GB" sz="1200" b="0" dirty="0">
                <a:effectLst/>
                <a:latin typeface="Menlo" panose="020B0609030804020204" pitchFamily="49" charset="0"/>
              </a:rPr>
              <a:t>How often a token appears in one document versus how often it appears in other documents.</a:t>
            </a:r>
          </a:p>
          <a:p>
            <a:pPr>
              <a:lnSpc>
                <a:spcPts val="1350"/>
              </a:lnSpc>
            </a:pPr>
            <a:endParaRPr lang="en-GB" sz="120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If a word occurs frequently in one or few documents but not in the rest, it's likely meaningful for those documents and should be considered more "important".</a:t>
            </a:r>
          </a:p>
          <a:p>
            <a:pPr>
              <a:lnSpc>
                <a:spcPts val="1350"/>
              </a:lnSpc>
            </a:pPr>
            <a:br>
              <a:rPr lang="en-GB" sz="1200" b="0" dirty="0">
                <a:effectLst/>
                <a:latin typeface="Menlo" panose="020B0609030804020204" pitchFamily="49" charset="0"/>
              </a:rPr>
            </a:br>
            <a:r>
              <a:rPr lang="en-GB" sz="1200" b="0" dirty="0">
                <a:effectLst/>
                <a:latin typeface="Menlo" panose="020B0609030804020204" pitchFamily="49" charset="0"/>
              </a:rPr>
              <a:t>In the other hand if a word occurs frequently across the corpus, then it should be considered less "important" and meaningful. </a:t>
            </a:r>
          </a:p>
          <a:p>
            <a:pPr>
              <a:lnSpc>
                <a:spcPts val="135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713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F7F4A-5B9E-75EA-5830-37D09E3A7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4ED80B-ED84-C279-11DE-C5BC92517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</a:t>
            </a:r>
            <a:r>
              <a:rPr lang="en-GB" b="0" i="0" u="none" strike="noStrike" dirty="0">
                <a:effectLst/>
                <a:latin typeface="ui-sans-serif"/>
              </a:rPr>
              <a:t>Term Frequency-Inverse Document Frequency</a:t>
            </a:r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CB2FBCC-52AC-925D-A063-E82A8936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5EDC4BC-EC1B-9F29-B3D7-4E8E26F5A769}"/>
                  </a:ext>
                </a:extLst>
              </p:cNvPr>
              <p:cNvSpPr txBox="1"/>
              <p:nvPr/>
            </p:nvSpPr>
            <p:spPr>
              <a:xfrm>
                <a:off x="838200" y="2111235"/>
                <a:ext cx="10691815" cy="4079872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r>
                  <a:rPr lang="en-GB" sz="2000" b="0" dirty="0">
                    <a:effectLst/>
                    <a:latin typeface="Menlo" panose="020B0609030804020204" pitchFamily="49" charset="0"/>
                  </a:rPr>
                  <a:t>Term Frequency</a:t>
                </a: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dirty="0"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𝒕𝒇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smtClean="0">
                              <a:effectLst/>
                              <a:latin typeface="Cambria Math" panose="02040503050406030204" pitchFamily="18" charset="0"/>
                            </a:rPr>
                            <m:t>𝐥𝐨𝐠</m:t>
                          </m:r>
                        </m:e>
                        <m:sub>
                          <m: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𝑪𝒐𝒖𝒏𝒕</m:t>
                      </m:r>
                      <m:d>
                        <m:dPr>
                          <m:begChr m:val="{"/>
                          <m:endChr m:val="}"/>
                          <m:ctrlP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b="1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r>
                  <a:rPr lang="en-GB" sz="1200" dirty="0">
                    <a:latin typeface="Menlo" panose="020B0609030804020204" pitchFamily="49" charset="0"/>
                  </a:rPr>
                  <a:t>With</a:t>
                </a:r>
                <a:r>
                  <a:rPr lang="fr-FR" sz="1600" dirty="0">
                    <a:latin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>
                        <a:latin typeface="Cambria Math" panose="02040503050406030204" pitchFamily="18" charset="0"/>
                      </a:rPr>
                      <m:t>𝑡𝑒𝑟𝑚</m:t>
                    </m:r>
                    <m:r>
                      <a:rPr lang="fr-FR" sz="160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600">
                        <a:latin typeface="Cambria Math" panose="02040503050406030204" pitchFamily="18" charset="0"/>
                      </a:rPr>
                      <m:t>𝑑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>
                        <a:latin typeface="Cambria Math" panose="02040503050406030204" pitchFamily="18" charset="0"/>
                      </a:rPr>
                      <m:t>𝑑𝑜𝑐𝑢𝑚𝑒𝑛𝑡</m:t>
                    </m:r>
                  </m:oMath>
                </a14:m>
                <a:r>
                  <a:rPr lang="en-GB" sz="1600" dirty="0">
                    <a:latin typeface="Menlo" panose="020B0609030804020204" pitchFamily="49" charset="0"/>
                  </a:rPr>
                  <a:t>.</a:t>
                </a:r>
              </a:p>
              <a:p>
                <a:r>
                  <a:rPr lang="en-GB" sz="1400" dirty="0">
                    <a:latin typeface="Menlo" panose="020B0609030804020204" pitchFamily="49" charset="0"/>
                  </a:rPr>
                  <a:t>The document could simply have much more words, so we use the logarithm to dampen the effect.</a:t>
                </a:r>
              </a:p>
              <a:p>
                <a:pPr>
                  <a:lnSpc>
                    <a:spcPts val="1350"/>
                  </a:lnSpc>
                </a:pPr>
                <a:endParaRPr lang="en-GB" sz="2000" dirty="0"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r>
                  <a:rPr lang="en-GB" sz="2000" b="0" dirty="0">
                    <a:effectLst/>
                    <a:latin typeface="Menlo" panose="020B0609030804020204" pitchFamily="49" charset="0"/>
                  </a:rPr>
                  <a:t>Inverse Document Frequency</a:t>
                </a:r>
              </a:p>
              <a:p>
                <a:pPr>
                  <a:lnSpc>
                    <a:spcPts val="1350"/>
                  </a:lnSpc>
                </a:pPr>
                <a:endParaRPr lang="en-GB" sz="2000" dirty="0"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𝒊𝒅𝒇</m:t>
                      </m:r>
                      <m:d>
                        <m:d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b="1" i="1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fr-FR" sz="2000" b="1" i="1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en-GB" sz="2000" b="1" dirty="0"/>
                            <m:t> </m:t>
                          </m:r>
                        </m:e>
                      </m:func>
                    </m:oMath>
                  </m:oMathPara>
                </a14:m>
                <a:endParaRPr lang="fr-FR" sz="2000" b="1" dirty="0"/>
              </a:p>
              <a:p>
                <a:pPr>
                  <a:lnSpc>
                    <a:spcPct val="150000"/>
                  </a:lnSpc>
                </a:pPr>
                <a:endParaRPr lang="en-GB" sz="2000" dirty="0"/>
              </a:p>
              <a:p>
                <a:pPr>
                  <a:lnSpc>
                    <a:spcPct val="150000"/>
                  </a:lnSpc>
                </a:pPr>
                <a:r>
                  <a:rPr lang="en-GB" sz="1200" dirty="0">
                    <a:latin typeface="Menlo" panose="020B0609030804020204" pitchFamily="49" charset="0"/>
                  </a:rPr>
                  <a:t>With</a:t>
                </a:r>
                <a:r>
                  <a:rPr lang="fr-FR" sz="1600" dirty="0">
                    <a:latin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corpus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number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documents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number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documents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where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appears</m:t>
                    </m:r>
                  </m:oMath>
                </a14:m>
                <a:r>
                  <a:rPr lang="en-GB" sz="1600" b="0" dirty="0">
                    <a:effectLst/>
                    <a:latin typeface="Menlo" panose="020B0609030804020204" pitchFamily="49" charset="0"/>
                  </a:rPr>
                  <a:t> in.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600" dirty="0">
                    <a:latin typeface="Menlo" panose="020B0609030804020204" pitchFamily="49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600" dirty="0">
                    <a:latin typeface="Menlo" panose="020B0609030804020204" pitchFamily="49" charset="0"/>
                  </a:rPr>
                  <a:t> appears in every document,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600" b="0" dirty="0">
                    <a:effectLst/>
                    <a:latin typeface="Menlo" panose="020B0609030804020204" pitchFamily="49" charset="0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GB" sz="1600" dirty="0"/>
                          <m:t> </m:t>
                        </m:r>
                        <m:r>
                          <a:rPr lang="fr-FR" sz="16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fr-FR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600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16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  <m:r>
                          <a:rPr lang="fr-FR" sz="16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endParaRPr lang="en-GB" sz="16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dirty="0"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5EDC4BC-EC1B-9F29-B3D7-4E8E26F5A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11235"/>
                <a:ext cx="10691815" cy="4079872"/>
              </a:xfrm>
              <a:prstGeom prst="rect">
                <a:avLst/>
              </a:prstGeom>
              <a:blipFill>
                <a:blip r:embed="rId3"/>
                <a:stretch>
                  <a:fillRect l="-713" b="-31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741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17C53-90BA-5EC3-E987-9E4E79C35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A3F0D-5CAF-7086-B357-B3110611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</a:t>
            </a:r>
            <a:r>
              <a:rPr lang="en-GB" b="0" i="0" u="none" strike="noStrike" dirty="0">
                <a:effectLst/>
                <a:latin typeface="ui-sans-serif"/>
              </a:rPr>
              <a:t>Term Frequency-Inverse Document Frequency</a:t>
            </a:r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D32C5DA-E388-5D00-0DF3-97CBABDD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1896B8B3-E0AD-F95A-D4F4-5F0EC14B3262}"/>
                  </a:ext>
                </a:extLst>
              </p:cNvPr>
              <p:cNvSpPr txBox="1"/>
              <p:nvPr/>
            </p:nvSpPr>
            <p:spPr>
              <a:xfrm>
                <a:off x="838200" y="2111235"/>
                <a:ext cx="10691815" cy="4079872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r>
                  <a:rPr lang="en-GB" sz="2000" b="0" dirty="0">
                    <a:effectLst/>
                    <a:latin typeface="Menlo" panose="020B0609030804020204" pitchFamily="49" charset="0"/>
                  </a:rPr>
                  <a:t>Term Frequency – Inverse Document Frequency:</a:t>
                </a: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dirty="0"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GB" sz="2000" b="1" i="1" smtClean="0"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2000" b="1" i="1" smtClean="0">
                          <a:effectLst/>
                          <a:latin typeface="Cambria Math" panose="02040503050406030204" pitchFamily="18" charset="0"/>
                        </a:rPr>
                        <m:t>𝒕𝒇</m:t>
                      </m:r>
                      <m:d>
                        <m:dPr>
                          <m:ctrlP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GB" sz="2000" b="1" i="1" smtClean="0">
                          <a:effectLst/>
                          <a:latin typeface="Cambria Math" panose="02040503050406030204" pitchFamily="18" charset="0"/>
                        </a:rPr>
                        <m:t>× </m:t>
                      </m:r>
                      <m:r>
                        <a:rPr lang="en-GB" sz="2000" b="1" i="1" smtClean="0">
                          <a:effectLst/>
                          <a:latin typeface="Cambria Math" panose="02040503050406030204" pitchFamily="18" charset="0"/>
                        </a:rPr>
                        <m:t>𝒊𝒅𝒇</m:t>
                      </m:r>
                      <m:d>
                        <m:dPr>
                          <m:ctrlP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2000" b="1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𝑪𝒐𝒖𝒏𝒕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GB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GB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𝒊𝒏</m:t>
                                  </m:r>
                                  <m:r>
                                    <a:rPr lang="en-GB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</m:d>
                              <m:r>
                                <a:rPr lang="en-GB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sz="2000" b="1" i="1" smtClean="0">
                          <a:effectLst/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𝒍𝒐𝒈</m:t>
                              </m:r>
                            </m:e>
                            <m:sub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en-GB" sz="2000" b="1"/>
                            <m:t> </m:t>
                          </m:r>
                        </m:e>
                      </m:func>
                    </m:oMath>
                  </m:oMathPara>
                </a14:m>
                <a:endParaRPr lang="en-GB" sz="2000" b="1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600" b="1" dirty="0">
                    <a:solidFill>
                      <a:schemeClr val="tx1"/>
                    </a:solidFill>
                    <a:effectLst/>
                    <a:latin typeface="Menlo" panose="020B0609030804020204" pitchFamily="49" charset="0"/>
                  </a:rPr>
                  <a:t>The more frequently a term appears in a document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1600" b="1" dirty="0">
                    <a:solidFill>
                      <a:schemeClr val="tx1"/>
                    </a:solidFill>
                    <a:effectLst/>
                    <a:latin typeface="Menlo" panose="020B0609030804020204" pitchFamily="49" charset="0"/>
                  </a:rPr>
                  <a:t> the fewer times it appears in other documents, the higher the TF-IDF value is.</a:t>
                </a:r>
              </a:p>
              <a:p>
                <a:pPr>
                  <a:lnSpc>
                    <a:spcPct val="150000"/>
                  </a:lnSpc>
                </a:pPr>
                <a:endParaRPr lang="en-GB" sz="1400" dirty="0"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400" b="0" dirty="0">
                    <a:effectLst/>
                    <a:latin typeface="Menlo" panose="020B0609030804020204" pitchFamily="49" charset="0"/>
                  </a:rPr>
                  <a:t>TF-IDF was so popular that many variations were created: e.g. the default TF-IDF vectorizer in scikit-learn</a:t>
                </a:r>
                <a:r>
                  <a:rPr lang="en-GB" sz="1400" dirty="0">
                    <a:latin typeface="Menlo" panose="020B0609030804020204" pitchFamily="49" charset="0"/>
                  </a:rPr>
                  <a:t>:</a:t>
                </a:r>
              </a:p>
              <a:p>
                <a:pPr>
                  <a:lnSpc>
                    <a:spcPts val="1350"/>
                  </a:lnSpc>
                </a:pPr>
                <a:endParaRPr lang="fr-FR" sz="1400" b="0" dirty="0">
                  <a:solidFill>
                    <a:srgbClr val="DBD9D9"/>
                  </a:solidFill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2000" b="0" i="1" smtClean="0"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2000" b="0" i="1" smtClean="0">
                          <a:effectLst/>
                          <a:latin typeface="Cambria Math" panose="02040503050406030204" pitchFamily="18" charset="0"/>
                        </a:rPr>
                        <m:t>𝑡𝑓</m:t>
                      </m:r>
                      <m:d>
                        <m:dPr>
                          <m:ctrlP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2000" b="0" i="1" smtClean="0">
                          <a:effectLst/>
                          <a:latin typeface="Cambria Math" panose="02040503050406030204" pitchFamily="18" charset="0"/>
                        </a:rPr>
                        <m:t>× </m:t>
                      </m:r>
                      <m:r>
                        <a:rPr lang="en-GB" sz="2000" b="0" i="1" smtClean="0">
                          <a:effectLst/>
                          <a:latin typeface="Cambria Math" panose="02040503050406030204" pitchFamily="18" charset="0"/>
                        </a:rPr>
                        <m:t>𝑖𝑑𝑓</m:t>
                      </m:r>
                      <m:d>
                        <m:dPr>
                          <m:ctrlP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20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000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GB" sz="20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GB" sz="20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20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GB" sz="20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20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  <m:r>
                                <a:rPr lang="en-GB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func>
                      <m:r>
                        <a:rPr lang="en-GB" sz="2000" b="0" i="1" smtClean="0">
                          <a:effectLst/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GB" sz="200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  <m:r>
                            <m:rPr>
                              <m:nor/>
                            </m:rPr>
                            <a:rPr lang="en-GB" sz="2000"/>
                            <m:t> </m:t>
                          </m:r>
                        </m:e>
                      </m:func>
                    </m:oMath>
                  </m:oMathPara>
                </a14:m>
                <a:endParaRPr lang="fr-FR" sz="2000" b="0" dirty="0">
                  <a:solidFill>
                    <a:srgbClr val="DBD9D9"/>
                  </a:solidFill>
                  <a:effectLst/>
                  <a:latin typeface="Menlo" panose="020B0609030804020204" pitchFamily="49" charset="0"/>
                </a:endParaRPr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1896B8B3-E0AD-F95A-D4F4-5F0EC14B3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11235"/>
                <a:ext cx="10691815" cy="4079872"/>
              </a:xfrm>
              <a:prstGeom prst="rect">
                <a:avLst/>
              </a:prstGeom>
              <a:blipFill>
                <a:blip r:embed="rId3"/>
                <a:stretch>
                  <a:fillRect l="-7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3161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CF703-42A1-89D1-C062-78A4F06C0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51C209-7C6B-2839-F2E2-FCE345D7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</a:t>
            </a:r>
            <a:r>
              <a:rPr lang="en-GB" b="0" i="0" u="none" strike="noStrike" dirty="0">
                <a:effectLst/>
                <a:latin typeface="ui-sans-serif"/>
              </a:rPr>
              <a:t>Term Frequency-Inverse Document Frequency</a:t>
            </a:r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56EDCBD-95A0-F12B-5BC3-A94B67B69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Introduction to NLP. </a:t>
            </a:r>
            <a:r>
              <a:rPr lang="en-GB" noProof="0" dirty="0"/>
              <a:t>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6922EA6-2FB0-0E93-B384-6D37D5034AFB}"/>
              </a:ext>
            </a:extLst>
          </p:cNvPr>
          <p:cNvSpPr txBox="1"/>
          <p:nvPr/>
        </p:nvSpPr>
        <p:spPr>
          <a:xfrm>
            <a:off x="838200" y="2124487"/>
            <a:ext cx="10691815" cy="407987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fr-FR" sz="10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sklearn.feature_extraction.text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0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TfidfVectorizer</a:t>
            </a: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Use of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TfidfVectorizer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.</a:t>
            </a:r>
            <a:endParaRPr lang="fr-FR" sz="10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dirty="0" err="1">
                <a:effectLst/>
                <a:latin typeface="Menlo" panose="020B0609030804020204" pitchFamily="49" charset="0"/>
              </a:rPr>
              <a:t>vectorizer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TfidfVectorizer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0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tokenizer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spacy_tokenizer,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stop_words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0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english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We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transform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the corpus of documents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into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 matrix of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caracteristics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TF-IDF</a:t>
            </a:r>
            <a:endParaRPr lang="fr-FR" sz="10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dirty="0" err="1">
                <a:effectLst/>
                <a:latin typeface="Menlo" panose="020B0609030804020204" pitchFamily="49" charset="0"/>
              </a:rPr>
              <a:t>features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vectorizer.fit_transform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corpus.data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fr-FR" sz="10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2000" b="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947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1FA1-23F0-535B-CD86-4A541A4A1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6F70C5-0255-54FA-CE06-59BBCAF7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</a:t>
            </a:r>
            <a:r>
              <a:rPr lang="en-GB" b="0" i="0" u="none" strike="noStrike" dirty="0">
                <a:effectLst/>
                <a:latin typeface="ui-sans-serif"/>
              </a:rPr>
              <a:t>Term Frequency-Inverse Document Frequency</a:t>
            </a:r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A070AF1-F55C-4AFA-15F9-32F6DE33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Introduction to NLP. </a:t>
            </a:r>
            <a:r>
              <a:rPr lang="en-GB" noProof="0" dirty="0"/>
              <a:t>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2939A6E-F642-0338-F438-29F9D26F35E0}"/>
              </a:ext>
            </a:extLst>
          </p:cNvPr>
          <p:cNvSpPr txBox="1"/>
          <p:nvPr/>
        </p:nvSpPr>
        <p:spPr>
          <a:xfrm>
            <a:off x="838200" y="2124487"/>
            <a:ext cx="10691815" cy="407987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fr-FR" sz="1000" i="1" dirty="0">
                <a:solidFill>
                  <a:srgbClr val="6A8B93"/>
                </a:solidFill>
                <a:latin typeface="Menlo" panose="020B0609030804020204" pitchFamily="49" charset="0"/>
              </a:rPr>
              <a:t># </a:t>
            </a:r>
            <a:r>
              <a:rPr lang="fr-FR" sz="1000" i="1" dirty="0" err="1">
                <a:solidFill>
                  <a:srgbClr val="6A8B93"/>
                </a:solidFill>
                <a:latin typeface="Menlo" panose="020B0609030804020204" pitchFamily="49" charset="0"/>
              </a:rPr>
              <a:t>Querying</a:t>
            </a:r>
            <a:r>
              <a:rPr lang="fr-FR" sz="1000" i="1" dirty="0">
                <a:solidFill>
                  <a:srgbClr val="6A8B93"/>
                </a:solidFill>
                <a:latin typeface="Menlo" panose="020B0609030804020204" pitchFamily="49" charset="0"/>
              </a:rPr>
              <a:t> the documents</a:t>
            </a:r>
          </a:p>
          <a:p>
            <a:pPr>
              <a:lnSpc>
                <a:spcPts val="1350"/>
              </a:lnSpc>
            </a:pPr>
            <a:endParaRPr lang="fr-FR" sz="100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View the 5 first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row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of the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columns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'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lunar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' &amp; '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orbit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' in the matrix of TF-IDF:</a:t>
            </a:r>
            <a:endParaRPr lang="fr-FR" sz="10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dirty="0" err="1">
                <a:effectLst/>
                <a:latin typeface="Menlo" panose="020B0609030804020204" pitchFamily="49" charset="0"/>
              </a:rPr>
              <a:t>pd.DataFrame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features.toarray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(), </a:t>
            </a:r>
            <a:r>
              <a:rPr lang="fr-FR" sz="10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columns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vectorizer.get_feature_names_out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()).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head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()[[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0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lunar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,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0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orbit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’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]]</a:t>
            </a:r>
          </a:p>
          <a:p>
            <a:pPr>
              <a:lnSpc>
                <a:spcPts val="1350"/>
              </a:lnSpc>
            </a:pPr>
            <a:endParaRPr lang="fr-FR" sz="10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Transform the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query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into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 TF-IDF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vector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.</a:t>
            </a:r>
            <a:endParaRPr lang="fr-FR" sz="10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dirty="0" err="1">
                <a:effectLst/>
                <a:latin typeface="Menlo" panose="020B0609030804020204" pitchFamily="49" charset="0"/>
              </a:rPr>
              <a:t>query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[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10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lunar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orbit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endParaRPr lang="fr-FR" sz="1000" b="0" dirty="0">
              <a:solidFill>
                <a:srgbClr val="DFD5D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dirty="0" err="1">
                <a:effectLst/>
                <a:latin typeface="Menlo" panose="020B0609030804020204" pitchFamily="49" charset="0"/>
              </a:rPr>
              <a:t>query_tfidf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vectorizer.transform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query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fr-FR" sz="10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2000" b="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9531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FCB4C-5715-E341-08CF-F366AFE84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C0ECFF-5E7D-5936-9AE1-097CCFB6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</a:t>
            </a:r>
            <a:r>
              <a:rPr lang="en-GB" b="0" i="0" u="none" strike="noStrike" dirty="0">
                <a:effectLst/>
                <a:latin typeface="ui-sans-serif"/>
              </a:rPr>
              <a:t>Term Frequency-Inverse Document Frequency</a:t>
            </a:r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DAEBA00-364E-7403-370B-94CB500E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Introduction to NLP. </a:t>
            </a:r>
            <a:r>
              <a:rPr lang="en-GB" noProof="0" dirty="0"/>
              <a:t>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63ECD28-5BF9-818B-EEBE-FEE7F5F1C779}"/>
              </a:ext>
            </a:extLst>
          </p:cNvPr>
          <p:cNvSpPr txBox="1"/>
          <p:nvPr/>
        </p:nvSpPr>
        <p:spPr>
          <a:xfrm>
            <a:off x="838200" y="1690688"/>
            <a:ext cx="11112500" cy="466566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10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# USE CASE: Find the document the most similar to a request:</a:t>
            </a:r>
          </a:p>
          <a:p>
            <a:pPr>
              <a:lnSpc>
                <a:spcPts val="1350"/>
              </a:lnSpc>
            </a:pPr>
            <a:endParaRPr lang="en-GB" sz="1000" noProof="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Transform the query into a TF-IDF vector.</a:t>
            </a:r>
            <a:endParaRPr lang="en-GB" sz="8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query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[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"lunar orbit"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endParaRPr lang="en-GB" sz="800" b="0" noProof="0" dirty="0">
              <a:solidFill>
                <a:srgbClr val="DFD5D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effectLst/>
                <a:latin typeface="Menlo" panose="020B0609030804020204" pitchFamily="49" charset="0"/>
              </a:rPr>
              <a:t>query_tfidf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vectorizer.transform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(query)</a:t>
            </a:r>
          </a:p>
          <a:p>
            <a:pPr>
              <a:lnSpc>
                <a:spcPts val="1350"/>
              </a:lnSpc>
            </a:pPr>
            <a:endParaRPr lang="en-GB" sz="700" b="0" i="1" noProof="0" dirty="0">
              <a:solidFill>
                <a:srgbClr val="6A8B9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The request "lunar orbit" is first tokenized and lemmatized using the spacy_tokenizer function.</a:t>
            </a:r>
            <a:r>
              <a:rPr lang="en-GB" sz="700" noProof="0" dirty="0">
                <a:solidFill>
                  <a:srgbClr val="DBD9D9"/>
                </a:solidFill>
                <a:latin typeface="Menlo" panose="020B0609030804020204" pitchFamily="49" charset="0"/>
              </a:rPr>
              <a:t> </a:t>
            </a: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The vocabulary and these weights are stored in the </a:t>
            </a:r>
            <a:r>
              <a:rPr lang="en-GB" sz="700" b="0" i="1" noProof="0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TfidfVectorizer</a:t>
            </a: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.</a:t>
            </a:r>
            <a:endParaRPr lang="en-GB" sz="7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When you use </a:t>
            </a:r>
            <a:r>
              <a:rPr lang="en-GB" sz="700" b="0" i="1" noProof="0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vectorizer.transform</a:t>
            </a: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(query), the vectorizer uses the learned vocabulary to transform the query into a TF-IDF vector.</a:t>
            </a:r>
            <a:endParaRPr lang="en-GB" sz="7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For each token in the query, the vectorizer checks if the token exists in the learned vocabulary. If it does, it uses the learned TF-IDF weights for that token. </a:t>
            </a:r>
          </a:p>
          <a:p>
            <a:pPr>
              <a:lnSpc>
                <a:spcPts val="1350"/>
              </a:lnSpc>
            </a:pP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If not, the token is ignored.</a:t>
            </a:r>
            <a:r>
              <a:rPr lang="en-GB" sz="700" noProof="0" dirty="0">
                <a:solidFill>
                  <a:srgbClr val="DBD9D9"/>
                </a:solidFill>
                <a:latin typeface="Menlo" panose="020B0609030804020204" pitchFamily="49" charset="0"/>
              </a:rPr>
              <a:t> </a:t>
            </a: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How TF-IDF is computed on the tokens of the query: TF = 1 for both "lunar" and "orbit". </a:t>
            </a:r>
          </a:p>
          <a:p>
            <a:pPr>
              <a:lnSpc>
                <a:spcPts val="1350"/>
              </a:lnSpc>
            </a:pPr>
            <a:r>
              <a:rPr lang="en-GB" sz="7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# </a:t>
            </a: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The IDF is the log(N/</a:t>
            </a:r>
            <a:r>
              <a:rPr lang="en-GB" sz="700" b="0" i="1" noProof="0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n_t</a:t>
            </a: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) for "lunar" and for "orbit" corresponding to the corpus. If "lunar" is in 10 documents of the corpus out of 1000 documents in the corpus: IDF= log(1000/10).</a:t>
            </a:r>
          </a:p>
          <a:p>
            <a:pPr>
              <a:lnSpc>
                <a:spcPts val="1350"/>
              </a:lnSpc>
            </a:pPr>
            <a:endParaRPr lang="en-GB" sz="800" i="1" noProof="0" dirty="0">
              <a:solidFill>
                <a:srgbClr val="6A8B9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sklearn.metrics.pairwise </a:t>
            </a:r>
            <a:r>
              <a:rPr lang="en-GB" sz="8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cosine_similarity</a:t>
            </a:r>
          </a:p>
          <a:p>
            <a:pPr>
              <a:lnSpc>
                <a:spcPts val="1350"/>
              </a:lnSpc>
            </a:pPr>
            <a:b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Compute the cosine similarity between the query and the first 100 documents</a:t>
            </a:r>
            <a:endParaRPr lang="en-GB" sz="8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similarities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cosine_similarity(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query_tfidf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, features[: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100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endParaRPr lang="en-GB" sz="800" b="0" i="1" noProof="0" dirty="0">
              <a:solidFill>
                <a:srgbClr val="6A8B9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Find the indices of the documents the most similar</a:t>
            </a:r>
            <a:endParaRPr lang="en-GB" sz="8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effectLst/>
                <a:latin typeface="Menlo" panose="020B0609030804020204" pitchFamily="49" charset="0"/>
              </a:rPr>
              <a:t>most_similar_docs_indices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similarities.argsort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()[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][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:][::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b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Display the document the most similar</a:t>
            </a:r>
            <a:endParaRPr lang="en-GB" sz="8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noProof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"Most similar documents:"</a:t>
            </a:r>
            <a:r>
              <a:rPr lang="en-GB" sz="800" b="0" noProof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idx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most_similar_docs_indices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1" noProof="0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GB" sz="800" b="0" noProof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"Document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idx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corpus.data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[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idx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][: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200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]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)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Display the 200 first characters of each document</a:t>
            </a:r>
            <a:endParaRPr lang="en-GB" sz="800" b="0" noProof="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172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F065D-6C22-9954-58CD-34308FA0C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3FD029-10BF-B538-CA69-5FA48F4C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Text Data Representation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1F747B7-667E-2820-CB28-71FBA8544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28D978F-8B90-A9CE-18D8-7B38BEE752E3}"/>
              </a:ext>
            </a:extLst>
          </p:cNvPr>
          <p:cNvSpPr txBox="1"/>
          <p:nvPr/>
        </p:nvSpPr>
        <p:spPr>
          <a:xfrm>
            <a:off x="838200" y="1828800"/>
            <a:ext cx="8584096" cy="230587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200000"/>
              </a:lnSpc>
            </a:pPr>
            <a:r>
              <a:rPr lang="fr-FR" b="0" i="0" u="none" strike="noStrike" dirty="0">
                <a:effectLst/>
                <a:latin typeface="ui-sans-serif"/>
              </a:rPr>
              <a:t>TF-IDF: </a:t>
            </a:r>
            <a:r>
              <a:rPr lang="fr-FR" b="0" i="0" u="none" strike="noStrike" dirty="0" err="1">
                <a:effectLst/>
                <a:latin typeface="ui-sans-serif"/>
              </a:rPr>
              <a:t>Term</a:t>
            </a:r>
            <a:r>
              <a:rPr lang="fr-FR" b="0" i="0" u="none" strike="noStrike" dirty="0">
                <a:effectLst/>
                <a:latin typeface="ui-sans-serif"/>
              </a:rPr>
              <a:t> Frequency-Inverse Document Frequency.</a:t>
            </a:r>
          </a:p>
          <a:p>
            <a:pPr algn="l">
              <a:lnSpc>
                <a:spcPct val="200000"/>
              </a:lnSpc>
            </a:pPr>
            <a:r>
              <a:rPr lang="fr-FR" b="0" i="0" u="none" strike="noStrike" dirty="0">
                <a:effectLst/>
                <a:latin typeface="ui-sans-serif"/>
              </a:rPr>
              <a:t>Word </a:t>
            </a:r>
            <a:r>
              <a:rPr lang="fr-FR" b="0" i="0" u="none" strike="noStrike" dirty="0" err="1">
                <a:effectLst/>
                <a:latin typeface="ui-sans-serif"/>
              </a:rPr>
              <a:t>Embeddings</a:t>
            </a:r>
            <a:r>
              <a:rPr lang="fr-FR" b="0" i="0" u="none" strike="noStrike" dirty="0"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effectLst/>
                <a:latin typeface="ui-sans-serif"/>
              </a:rPr>
              <a:t>Vector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representations</a:t>
            </a:r>
            <a:r>
              <a:rPr lang="fr-FR" b="0" i="0" u="none" strike="noStrike" dirty="0">
                <a:effectLst/>
                <a:latin typeface="ui-sans-serif"/>
              </a:rPr>
              <a:t> of </a:t>
            </a:r>
            <a:r>
              <a:rPr lang="fr-FR" b="0" i="0" u="none" strike="noStrike" dirty="0" err="1">
                <a:effectLst/>
                <a:latin typeface="ui-sans-serif"/>
              </a:rPr>
              <a:t>words</a:t>
            </a:r>
            <a:r>
              <a:rPr lang="fr-FR" b="0" i="0" u="none" strike="noStrike" dirty="0">
                <a:effectLst/>
                <a:latin typeface="ui-sans-serif"/>
              </a:rPr>
              <a:t> (Word2Vec, </a:t>
            </a:r>
            <a:r>
              <a:rPr lang="fr-FR" b="0" i="0" u="none" strike="noStrike" dirty="0" err="1">
                <a:effectLst/>
                <a:latin typeface="ui-sans-serif"/>
              </a:rPr>
              <a:t>GloVe</a:t>
            </a:r>
            <a:r>
              <a:rPr lang="fr-FR" b="0" i="0" u="none" strike="noStrike" dirty="0"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effectLst/>
                <a:latin typeface="ui-sans-serif"/>
              </a:rPr>
              <a:t>FastText</a:t>
            </a:r>
            <a:r>
              <a:rPr lang="fr-FR" b="0" i="0" u="none" strike="noStrike" dirty="0">
                <a:effectLst/>
                <a:latin typeface="ui-sans-serif"/>
              </a:rPr>
              <a:t>).</a:t>
            </a:r>
          </a:p>
          <a:p>
            <a:pPr algn="l">
              <a:lnSpc>
                <a:spcPct val="200000"/>
              </a:lnSpc>
            </a:pPr>
            <a:r>
              <a:rPr lang="fr-FR" b="0" i="0" u="none" strike="noStrike" dirty="0" err="1">
                <a:effectLst/>
                <a:latin typeface="ui-sans-serif"/>
              </a:rPr>
              <a:t>Contextual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Embeddings</a:t>
            </a:r>
            <a:r>
              <a:rPr lang="fr-FR" b="0" i="0" u="none" strike="noStrike" dirty="0"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effectLst/>
                <a:latin typeface="ui-sans-serif"/>
              </a:rPr>
              <a:t>Contextual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representations</a:t>
            </a:r>
            <a:r>
              <a:rPr lang="fr-FR" b="0" i="0" u="none" strike="noStrike" dirty="0">
                <a:effectLst/>
                <a:latin typeface="ui-sans-serif"/>
              </a:rPr>
              <a:t> (BERT, </a:t>
            </a:r>
            <a:r>
              <a:rPr lang="fr-FR" b="0" i="0" u="none" strike="noStrike" dirty="0" err="1">
                <a:effectLst/>
                <a:latin typeface="ui-sans-serif"/>
              </a:rPr>
              <a:t>ELMo</a:t>
            </a:r>
            <a:r>
              <a:rPr lang="fr-FR" b="0" i="0" u="none" strike="noStrike" dirty="0">
                <a:effectLst/>
                <a:latin typeface="ui-sans-serif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95561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97F99-F3DD-C9B1-D6EF-92F0E1D9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FBC7AA-FA12-DC4F-3B11-FF011022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NLP Techniques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FAFFB0-B855-9D0D-7BE2-892AB3C4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F97DECE-C674-68F9-F490-8E90252ABEA2}"/>
              </a:ext>
            </a:extLst>
          </p:cNvPr>
          <p:cNvSpPr txBox="1"/>
          <p:nvPr/>
        </p:nvSpPr>
        <p:spPr>
          <a:xfrm>
            <a:off x="838199" y="1828800"/>
            <a:ext cx="7649817" cy="214685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effectLst/>
                <a:latin typeface="ui-sans-serif"/>
              </a:rPr>
              <a:t>Language </a:t>
            </a:r>
            <a:r>
              <a:rPr lang="fr-FR" b="0" i="0" u="none" strike="noStrike" dirty="0" err="1"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effectLst/>
                <a:latin typeface="ui-sans-serif"/>
              </a:rPr>
              <a:t>: N-grams, </a:t>
            </a:r>
            <a:r>
              <a:rPr lang="fr-FR" b="0" i="0" u="none" strike="noStrike" dirty="0" err="1">
                <a:effectLst/>
                <a:latin typeface="ui-sans-serif"/>
              </a:rPr>
              <a:t>Hidden</a:t>
            </a:r>
            <a:r>
              <a:rPr lang="fr-FR" b="0" i="0" u="none" strike="noStrike" dirty="0">
                <a:effectLst/>
                <a:latin typeface="ui-sans-serif"/>
              </a:rPr>
              <a:t> Markov </a:t>
            </a:r>
            <a:r>
              <a:rPr lang="fr-FR" b="0" i="0" u="none" strike="noStrike" dirty="0" err="1"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effectLst/>
                <a:latin typeface="ui-sans-serif"/>
              </a:rPr>
              <a:t> (HMM).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effectLst/>
                <a:latin typeface="ui-sans-serif"/>
              </a:rPr>
              <a:t>Syntactic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effectLst/>
                <a:latin typeface="ui-sans-serif"/>
              </a:rPr>
              <a:t>syntax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trees</a:t>
            </a:r>
            <a:r>
              <a:rPr lang="fr-FR" b="0" i="0" u="none" strike="noStrike" dirty="0"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effectLst/>
                <a:latin typeface="ui-sans-serif"/>
              </a:rPr>
              <a:t>Semantic</a:t>
            </a:r>
            <a:r>
              <a:rPr lang="fr-FR" b="0" i="0" u="none" strike="noStrike" dirty="0">
                <a:effectLst/>
                <a:latin typeface="ui-sans-serif"/>
              </a:rPr>
              <a:t> Analysis: </a:t>
            </a:r>
            <a:r>
              <a:rPr lang="fr-FR" b="0" i="0" u="none" strike="noStrike" dirty="0" err="1">
                <a:effectLst/>
                <a:latin typeface="ui-sans-serif"/>
              </a:rPr>
              <a:t>Anaphora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resolution</a:t>
            </a:r>
            <a:r>
              <a:rPr lang="fr-FR" b="0" i="0" u="none" strike="noStrike" dirty="0"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effectLst/>
                <a:latin typeface="ui-sans-serif"/>
              </a:rPr>
              <a:t>sense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disambiguation</a:t>
            </a:r>
            <a:r>
              <a:rPr lang="fr-FR" b="0" i="0" u="none" strike="noStrike" dirty="0"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effectLst/>
                <a:latin typeface="ui-sans-serif"/>
              </a:rPr>
              <a:t>Machine Translation: </a:t>
            </a:r>
            <a:r>
              <a:rPr lang="fr-FR" b="0" i="0" u="none" strike="noStrike" dirty="0" err="1">
                <a:effectLst/>
                <a:latin typeface="ui-sans-serif"/>
              </a:rPr>
              <a:t>Statistical</a:t>
            </a:r>
            <a:r>
              <a:rPr lang="fr-FR" b="0" i="0" u="none" strike="noStrike" dirty="0">
                <a:effectLst/>
                <a:latin typeface="ui-sans-serif"/>
              </a:rPr>
              <a:t> and neural translation </a:t>
            </a:r>
            <a:r>
              <a:rPr lang="fr-FR" b="0" i="0" u="none" strike="noStrike" dirty="0" err="1"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effectLst/>
                <a:latin typeface="ui-sans-serif"/>
              </a:rPr>
              <a:t>Sentiment Analysis: Classification of sentiments in </a:t>
            </a:r>
            <a:r>
              <a:rPr lang="fr-FR" b="0" i="0" u="none" strike="noStrike" dirty="0" err="1">
                <a:effectLst/>
                <a:latin typeface="ui-sans-serif"/>
              </a:rPr>
              <a:t>text</a:t>
            </a:r>
            <a:r>
              <a:rPr lang="fr-FR" b="0" i="0" u="none" strike="noStrike" dirty="0">
                <a:effectLst/>
                <a:latin typeface="ui-sans-serif"/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50391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AE05E-54CE-1A40-C945-1B050FD61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4D6B72-A00F-71A7-0479-4F73FF793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Machine Learning for NLP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1A9C1F5-C0FE-D3E6-2CF8-74598D836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97241D-96C8-2257-51CD-50D83D4645F0}"/>
              </a:ext>
            </a:extLst>
          </p:cNvPr>
          <p:cNvSpPr txBox="1"/>
          <p:nvPr/>
        </p:nvSpPr>
        <p:spPr>
          <a:xfrm>
            <a:off x="838199" y="1828800"/>
            <a:ext cx="7649817" cy="214685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Supervised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Algorithms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Logistic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regression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SVM,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decision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trees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Unsupervised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Algorithms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Clustering, LDA (Latent Dirichlet Allocation).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Neural Networks: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Multilayer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perceptrons, RNN (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Recurrent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Neural Networks), LSTM (Long Short-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Term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Memory), GRU (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Gated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Recurrent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Units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Transformers: Transformer architecture, BERT, T5.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66775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FE856-4FAC-E4DF-753A-1082F55B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0CF307-6E51-CDC1-13AF-9B6EDFEB1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Evaluation of NLP Models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D89B874-A8DC-89B4-1E06-AE5ECE4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39CBFE6-99B6-404B-BE60-15AD9AC8A8CA}"/>
              </a:ext>
            </a:extLst>
          </p:cNvPr>
          <p:cNvSpPr txBox="1"/>
          <p:nvPr/>
        </p:nvSpPr>
        <p:spPr>
          <a:xfrm>
            <a:off x="838199" y="1828800"/>
            <a:ext cx="7649817" cy="214685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Evaluation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Metrics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Precision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recall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F1-score, BLEU, ROUGE.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Cross-Validation: Techniques for cross-validation to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evaluate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Model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Comparison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Comparing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performance of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different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1891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B2C52-7AD8-DAA8-5F51-C3349AB0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6D1EA4-E261-4C43-840E-6870E0EA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Advanced NLP Applications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C9D3A51-E5F2-9D6B-44D9-5BB2F8AB8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7B2D9B9-145C-6413-01C8-816A8357812F}"/>
              </a:ext>
            </a:extLst>
          </p:cNvPr>
          <p:cNvSpPr txBox="1"/>
          <p:nvPr/>
        </p:nvSpPr>
        <p:spPr>
          <a:xfrm>
            <a:off x="838199" y="1828800"/>
            <a:ext cx="7649817" cy="214685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Chatbots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and Virtual Assistants: Design and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implementation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of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chatbots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Text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Generation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Text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generation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creative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applications.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Information Extraction: Relation extraction,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event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extraction.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Discourse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Analysis: Analysis of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discourse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structure,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coherence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and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cohesion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17342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2F30E-DC86-34E1-216A-25598C51D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A7A33A-C6C3-605A-1A8B-43BD06B3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Challenges and Future Directions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DE2D27B-FCDB-1224-BF47-A57FE3E9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20CE4E-096E-02A4-6185-ADFD6B9F731C}"/>
              </a:ext>
            </a:extLst>
          </p:cNvPr>
          <p:cNvSpPr txBox="1"/>
          <p:nvPr/>
        </p:nvSpPr>
        <p:spPr>
          <a:xfrm>
            <a:off x="838199" y="1828800"/>
            <a:ext cx="7649817" cy="214685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Current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Challenges: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Ambiguity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context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low-resource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languages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Ethics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and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Bias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Ethical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issues,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bias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in data and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Future Perspectives: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Current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and future trends in NLP.</a:t>
            </a:r>
          </a:p>
        </p:txBody>
      </p:sp>
    </p:spTree>
    <p:extLst>
      <p:ext uri="{BB962C8B-B14F-4D97-AF65-F5344CB8AC3E}">
        <p14:creationId xmlns:p14="http://schemas.microsoft.com/office/powerpoint/2010/main" val="28420694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83C34-D6A8-2DC8-FF98-1D70173E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D5BF58-5EEC-0106-2E4C-244226B4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BD2E13C-8110-4538-4E01-632BF86F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932016A-B0CB-F053-52D6-D30EBE58A88D}"/>
              </a:ext>
            </a:extLst>
          </p:cNvPr>
          <p:cNvSpPr txBox="1"/>
          <p:nvPr/>
        </p:nvSpPr>
        <p:spPr>
          <a:xfrm>
            <a:off x="838199" y="1828800"/>
            <a:ext cx="7649817" cy="214685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Course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Projects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Practical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projects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to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apply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learned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concepts.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Case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Studies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Real-world case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studies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to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illustrate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NLP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9121152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0C612-3A5D-4D8F-5DD4-248AB2EB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9EF78-408C-DFD4-6AD8-7FB82F6C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C1D3637-BB3F-B4D0-C1F7-6464C3C43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F28DE6F-0A9B-CEEF-F750-2691844C7E90}"/>
              </a:ext>
            </a:extLst>
          </p:cNvPr>
          <p:cNvSpPr txBox="1"/>
          <p:nvPr/>
        </p:nvSpPr>
        <p:spPr>
          <a:xfrm>
            <a:off x="838199" y="1828799"/>
            <a:ext cx="9969709" cy="4077325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/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🔹 Cross-validation vs. </a:t>
            </a:r>
            <a:r>
              <a:rPr lang="fr-FR" sz="1400" b="1" i="0" u="none" strike="noStrike" dirty="0" err="1">
                <a:solidFill>
                  <a:srgbClr val="000000"/>
                </a:solidFill>
                <a:effectLst/>
              </a:rPr>
              <a:t>train_test_split</a:t>
            </a:r>
            <a:endParaRPr lang="fr-FR" sz="14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La </a:t>
            </a: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cross-validation (CV)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 permet d'évaluer un modèle en utilisant plusieurs sous-ensembles des données, tandis que </a:t>
            </a:r>
            <a:r>
              <a:rPr lang="fr-FR" sz="1400" b="0" i="0" u="none" strike="noStrike" dirty="0" err="1">
                <a:solidFill>
                  <a:srgbClr val="000000"/>
                </a:solidFill>
                <a:effectLst/>
              </a:rPr>
              <a:t>train_test_split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 divise une seule fois les données en </a:t>
            </a: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train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 et </a:t>
            </a: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test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✅ Si on fait une cross-validation, a-t-on encore besoin de </a:t>
            </a:r>
            <a:r>
              <a:rPr lang="fr-FR" sz="1400" b="1" i="0" u="none" strike="noStrike" dirty="0" err="1">
                <a:solidFill>
                  <a:srgbClr val="000000"/>
                </a:solidFill>
                <a:effectLst/>
              </a:rPr>
              <a:t>train_test_split</a:t>
            </a: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 ?</a:t>
            </a:r>
          </a:p>
          <a:p>
            <a:pPr algn="l"/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👉 </a:t>
            </a: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Oui et Non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, cela dépend du contexte :</a:t>
            </a:r>
          </a:p>
          <a:p>
            <a:pPr algn="l">
              <a:buFont typeface="+mj-lt"/>
              <a:buAutoNum type="arabicPeriod"/>
            </a:pP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Si la cross-validation est utilisée uniquement pour l'évaluation du modèle</a:t>
            </a:r>
            <a:br>
              <a:rPr lang="fr-FR" sz="1400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→ </a:t>
            </a: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On n’a PAS besoin de </a:t>
            </a:r>
            <a:r>
              <a:rPr lang="fr-FR" sz="1400" b="1" i="0" u="none" strike="noStrike" dirty="0" err="1">
                <a:solidFill>
                  <a:srgbClr val="000000"/>
                </a:solidFill>
                <a:effectLst/>
              </a:rPr>
              <a:t>train_test_split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 car la CV </a:t>
            </a: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fait déjà plusieurs divisions des données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 en train et test.</a:t>
            </a:r>
            <a:br>
              <a:rPr lang="fr-FR" sz="1400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→ On peut directement </a:t>
            </a: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entraîner le modèle sur tout le </a:t>
            </a:r>
            <a:r>
              <a:rPr lang="fr-FR" sz="1400" b="1" i="0" u="none" strike="noStrike" dirty="0" err="1">
                <a:solidFill>
                  <a:srgbClr val="000000"/>
                </a:solidFill>
                <a:effectLst/>
              </a:rPr>
              <a:t>dataset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 en le validant via CV.</a:t>
            </a:r>
          </a:p>
          <a:p>
            <a:pPr algn="l">
              <a:buFont typeface="+mj-lt"/>
              <a:buAutoNum type="arabicPeriod"/>
            </a:pP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Si on veut un ensemble de test final après la cross-validation</a:t>
            </a:r>
            <a:br>
              <a:rPr lang="fr-FR" sz="1400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→ </a:t>
            </a: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On garde </a:t>
            </a:r>
            <a:r>
              <a:rPr lang="fr-FR" sz="1400" b="1" i="0" u="none" strike="noStrike" dirty="0" err="1">
                <a:solidFill>
                  <a:srgbClr val="000000"/>
                </a:solidFill>
                <a:effectLst/>
              </a:rPr>
              <a:t>train_test_split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 pour séparer </a:t>
            </a: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une partie des données comme "test final"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.</a:t>
            </a:r>
            <a:br>
              <a:rPr lang="fr-FR" sz="1400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→ On fait ensuite la CV uniquement sur </a:t>
            </a: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l’ensemble d'entraînement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.</a:t>
            </a:r>
            <a:br>
              <a:rPr lang="fr-FR" sz="1400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→ Cela permet d’avoir </a:t>
            </a:r>
            <a:r>
              <a:rPr lang="fr-FR" sz="1400" b="1" i="0" u="none" strike="noStrike" dirty="0">
                <a:solidFill>
                  <a:srgbClr val="000000"/>
                </a:solidFill>
                <a:effectLst/>
              </a:rPr>
              <a:t>une mesure finale sur des données jamais vues par le modèle</a:t>
            </a:r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 après optimisation.</a:t>
            </a:r>
          </a:p>
        </p:txBody>
      </p:sp>
    </p:spTree>
    <p:extLst>
      <p:ext uri="{BB962C8B-B14F-4D97-AF65-F5344CB8AC3E}">
        <p14:creationId xmlns:p14="http://schemas.microsoft.com/office/powerpoint/2010/main" val="36624658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B476-08C1-037C-4BA3-40E712D1F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C9DA0F-B8AE-D1B2-3B14-D4823E9B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345BAC0-C01A-B870-0BBC-E5A9792C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A654BAF-5033-CA94-A153-C92DA7A285D0}"/>
              </a:ext>
            </a:extLst>
          </p:cNvPr>
          <p:cNvSpPr txBox="1"/>
          <p:nvPr/>
        </p:nvSpPr>
        <p:spPr>
          <a:xfrm>
            <a:off x="838200" y="1554163"/>
            <a:ext cx="9969709" cy="516731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/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🔹 Exemple pratique</a:t>
            </a:r>
          </a:p>
          <a:p>
            <a:pPr algn="l"/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🚀 Sans 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train_test_split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 (Cross-validation seule)</a:t>
            </a:r>
          </a:p>
          <a:p>
            <a:pPr algn="l"/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from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sklearn.model_selection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 import 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cross_val_score</a:t>
            </a:r>
            <a:endParaRPr lang="fr-FR" sz="160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from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sklearn.ensemble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 import 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RandomForestClassifier</a:t>
            </a:r>
            <a:endParaRPr lang="fr-FR" sz="160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from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sklearn.datasets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 import 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load_iris</a:t>
            </a:r>
            <a:endParaRPr lang="fr-FR" sz="160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fr-FR" sz="160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# Chargement des données</a:t>
            </a:r>
          </a:p>
          <a:p>
            <a:pPr algn="l"/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X, y = 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load_iris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return_X_y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=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True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algn="l"/>
            <a:endParaRPr lang="fr-FR" sz="160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# Modèle</a:t>
            </a:r>
          </a:p>
          <a:p>
            <a:pPr algn="l"/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clf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RandomForestClassifier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()</a:t>
            </a:r>
          </a:p>
          <a:p>
            <a:pPr algn="l"/>
            <a:endParaRPr lang="fr-FR" sz="160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# Cross-validation (5-fold)</a:t>
            </a:r>
          </a:p>
          <a:p>
            <a:pPr algn="l"/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scores = 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cross_val_score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clf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, X, y, cv=5)</a:t>
            </a:r>
          </a:p>
          <a:p>
            <a:pPr algn="l"/>
            <a:endParaRPr lang="fr-FR" sz="160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# Affichage des scores</a:t>
            </a:r>
          </a:p>
          <a:p>
            <a:pPr algn="l"/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print(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f"Cross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-validation scores: {scores}")</a:t>
            </a:r>
          </a:p>
          <a:p>
            <a:pPr algn="l"/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print(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f"Mean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accuracy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: {</a:t>
            </a:r>
            <a:r>
              <a:rPr lang="fr-FR" sz="1600" i="0" u="none" strike="noStrike" dirty="0" err="1">
                <a:solidFill>
                  <a:srgbClr val="000000"/>
                </a:solidFill>
                <a:effectLst/>
              </a:rPr>
              <a:t>scores.mean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</a:rPr>
              <a:t>():.2f}")</a:t>
            </a:r>
          </a:p>
          <a:p>
            <a:pPr algn="l"/>
            <a:endParaRPr lang="fr-FR" sz="160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📌 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Ici, pas besoin de 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train_test_split</a:t>
            </a:r>
            <a:r>
              <a:rPr lang="fr-FR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car la CV gère la séparation des données.</a:t>
            </a:r>
            <a:endParaRPr lang="fr-FR" sz="160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164269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1A23E-60F4-A7EA-F278-061F330E8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7F5315-A5FA-3B18-BAC0-A180C368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6C2E4B5-7C65-5FDC-75E7-336C786A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F46B7F2-747F-8A28-B7A5-E59358336294}"/>
              </a:ext>
            </a:extLst>
          </p:cNvPr>
          <p:cNvSpPr txBox="1"/>
          <p:nvPr/>
        </p:nvSpPr>
        <p:spPr>
          <a:xfrm>
            <a:off x="838199" y="1828799"/>
            <a:ext cx="9969709" cy="4077325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/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🔹 Exemple pratique</a:t>
            </a:r>
          </a:p>
          <a:p>
            <a:pPr algn="l"/>
            <a:r>
              <a:rPr lang="fr-FR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🚀 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Avec 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train_test_split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 (Validation finale sur un test set)</a:t>
            </a:r>
          </a:p>
          <a:p>
            <a:pPr algn="l"/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from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sklearn.model_selection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 import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train_test_split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cross_val_score</a:t>
            </a:r>
            <a:endParaRPr lang="fr-FR" sz="16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fr-FR" sz="16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# Séparation train/test</a:t>
            </a:r>
          </a:p>
          <a:p>
            <a:pPr algn="l"/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X_train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X_test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y_train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y_test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train_test_split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(X, y,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test_size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=0.2,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random_state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=42)</a:t>
            </a:r>
          </a:p>
          <a:p>
            <a:pPr algn="l"/>
            <a:endParaRPr lang="fr-FR" sz="16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# Cross-validation sur l'ensemble train uniquement</a:t>
            </a:r>
          </a:p>
          <a:p>
            <a:pPr algn="l"/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scores =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cross_val_score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clf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X_train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y_train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, cv=5)</a:t>
            </a:r>
          </a:p>
          <a:p>
            <a:pPr algn="l"/>
            <a:endParaRPr lang="fr-FR" sz="16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# Entraînement final et test final</a:t>
            </a:r>
          </a:p>
          <a:p>
            <a:pPr algn="l"/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clf.fit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X_train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y_train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algn="l"/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final_score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clf.score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X_test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y_test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algn="l"/>
            <a:endParaRPr lang="fr-FR" sz="16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print(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f"Cross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-validation scores: {scores}")</a:t>
            </a:r>
          </a:p>
          <a:p>
            <a:pPr algn="l"/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print(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f"Mean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 CV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accuracy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: {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scores.mean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():.2f}")</a:t>
            </a:r>
          </a:p>
          <a:p>
            <a:pPr algn="l"/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print(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f"Final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 test 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accuracy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: {final_score:.2f}")</a:t>
            </a:r>
          </a:p>
          <a:p>
            <a:pPr algn="l"/>
            <a:r>
              <a:rPr lang="fr-FR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📌 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Ici, </a:t>
            </a:r>
            <a:r>
              <a:rPr lang="fr-FR" sz="1600" b="1" i="0" u="none" strike="noStrike" dirty="0" err="1">
                <a:solidFill>
                  <a:srgbClr val="000000"/>
                </a:solidFill>
                <a:effectLst/>
              </a:rPr>
              <a:t>train_test_split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 est utile</a:t>
            </a:r>
            <a:r>
              <a:rPr lang="fr-FR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pour 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</a:rPr>
              <a:t>garder un test set final</a:t>
            </a:r>
            <a:r>
              <a:rPr lang="fr-FR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qui ne sera jamais utilisé pour l'entraînement.</a:t>
            </a:r>
            <a:endParaRPr lang="fr-FR" sz="16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fr-FR" sz="1600" b="1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310519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19CE2-4137-B1DD-2911-68146F95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767DDD-89CB-2197-198A-2DEA1DA3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1CC57E-6C7F-6E29-7C86-291A79146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5EA95A27-698B-0CA8-3162-72F0902C2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65178"/>
              </p:ext>
            </p:extLst>
          </p:nvPr>
        </p:nvGraphicFramePr>
        <p:xfrm>
          <a:off x="838200" y="1535502"/>
          <a:ext cx="10515600" cy="4347714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542920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979084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45744326"/>
                    </a:ext>
                  </a:extLst>
                </a:gridCol>
              </a:tblGrid>
              <a:tr h="526996">
                <a:tc>
                  <a:txBody>
                    <a:bodyPr/>
                    <a:lstStyle/>
                    <a:p>
                      <a:r>
                        <a:rPr lang="fr-FR" dirty="0"/>
                        <a:t>Cas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Cross-validation seule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Avec train_test_split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176116"/>
                  </a:ext>
                </a:extLst>
              </a:tr>
              <a:tr h="922242">
                <a:tc>
                  <a:txBody>
                    <a:bodyPr/>
                    <a:lstStyle/>
                    <a:p>
                      <a:r>
                        <a:rPr lang="fr-FR"/>
                        <a:t>Évaluer un modèle sans ensemble de test dédié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620787"/>
                  </a:ext>
                </a:extLst>
              </a:tr>
              <a:tr h="526996">
                <a:tc>
                  <a:txBody>
                    <a:bodyPr/>
                    <a:lstStyle/>
                    <a:p>
                      <a:r>
                        <a:rPr lang="fr-FR"/>
                        <a:t>Avoir un test set final jamais vu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650840"/>
                  </a:ext>
                </a:extLst>
              </a:tr>
              <a:tr h="922242">
                <a:tc>
                  <a:txBody>
                    <a:bodyPr/>
                    <a:lstStyle/>
                    <a:p>
                      <a:r>
                        <a:rPr lang="fr-FR"/>
                        <a:t>Petites données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✅ (utile car maximise l’usage des données)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787720"/>
                  </a:ext>
                </a:extLst>
              </a:tr>
              <a:tr h="922242">
                <a:tc>
                  <a:txBody>
                    <a:bodyPr/>
                    <a:lstStyle/>
                    <a:p>
                      <a:r>
                        <a:rPr lang="fr-FR"/>
                        <a:t>Optimisation des hyperparamètres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✅ (CV aide à éviter le surajustement)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❌ (moins efficace)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91927"/>
                  </a:ext>
                </a:extLst>
              </a:tr>
              <a:tr h="526996">
                <a:tc>
                  <a:txBody>
                    <a:bodyPr/>
                    <a:lstStyle/>
                    <a:p>
                      <a:r>
                        <a:rPr lang="fr-FR"/>
                        <a:t>Expérience reproductible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❌ (scores varient selon les folds)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✅ (fixer </a:t>
                      </a:r>
                      <a:r>
                        <a:rPr lang="fr-FR" dirty="0" err="1"/>
                        <a:t>random_state</a:t>
                      </a:r>
                      <a:r>
                        <a:rPr lang="fr-F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06144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94B267A2-292A-C850-58A9-3DFD0CC10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2908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🔹 Quand choisir quoi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0635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D5D34-AA0F-5C6E-756F-16BB0CEEA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A6C765-7974-197F-5EA6-76401AEA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7B77FD-490A-60D7-AC0C-007D809B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EBE9005-2EE3-B284-101F-78564E0E3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94918"/>
            <a:ext cx="925663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🔹 Conclusion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Si tu veux juste évaluer un modèle → Cross-validation seule suffit.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Si tu veux un test set final indépendant → Fais </a:t>
            </a:r>
            <a:r>
              <a:rPr lang="fr-FR" b="1" i="0" u="none" strike="noStrike" dirty="0" err="1">
                <a:solidFill>
                  <a:srgbClr val="000000"/>
                </a:solidFill>
                <a:effectLst/>
              </a:rPr>
              <a:t>train_test_split</a:t>
            </a: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 PUIS cross-validation.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Pour les petites bases de données → Cross-validation maximise l’usage des données.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🚀 </a:t>
            </a: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Meilleure approche : </a:t>
            </a:r>
            <a:r>
              <a:rPr lang="fr-FR" b="1" i="0" u="none" strike="noStrike" dirty="0" err="1">
                <a:solidFill>
                  <a:srgbClr val="000000"/>
                </a:solidFill>
                <a:effectLst/>
              </a:rPr>
              <a:t>train_test_split</a:t>
            </a: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 + CV sur l’ensemble train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pour un test final fiable.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0488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18A9A-D14C-43CF-DE7C-F3114059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C10F5D-78B3-A2FB-0199-D6DAF3A1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D3C46A5-1FCF-96B3-DAEB-2C32CB3B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DC3B445-E625-F278-04ED-98447B2CE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552073"/>
              </p:ext>
            </p:extLst>
          </p:nvPr>
        </p:nvGraphicFramePr>
        <p:xfrm>
          <a:off x="838200" y="2103120"/>
          <a:ext cx="10515600" cy="38404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466449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612937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73136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/>
                        <a:t>Critère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Tokenisation avant le split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Tokenisation dans le modèle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790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b="1"/>
                        <a:t>Facilité d'utilisation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✅ Plus simple, moins de complexité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❌ Plus complexe à gérer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01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b="1"/>
                        <a:t>Utilisation d’embeddings pré-entraînés (GloVe, Word2Vec)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✅ Oui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❌ Non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841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b="1"/>
                        <a:t>Modèles de type Transformers (BERT, GPT, T5)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❌ Non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✅ Oui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26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b="1"/>
                        <a:t>Éviter toute fuite de données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⚠️ Risque minime (si on fit sur tout)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✅ Aucun risque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935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b="1"/>
                        <a:t>Déploiement du modèle complet avec tokenisation intégrée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❌ Non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✅ Oui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52264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04F5372-35E2-1B25-2954-4FC9AA418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68090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Quelle approche choisir ?</a:t>
            </a:r>
          </a:p>
        </p:txBody>
      </p:sp>
    </p:spTree>
    <p:extLst>
      <p:ext uri="{BB962C8B-B14F-4D97-AF65-F5344CB8AC3E}">
        <p14:creationId xmlns:p14="http://schemas.microsoft.com/office/powerpoint/2010/main" val="21643116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00E45-14AE-D0D5-D53A-1951AFD3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10E12F-6957-4312-24B0-D9798B40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40A943E-D562-B4C3-7F38-0B95233E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C914E26-3616-41E5-565F-9EC0A424A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90688"/>
            <a:ext cx="10515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Quelle approche choisir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/>
            <a:r>
              <a:rPr lang="fr-FR" sz="2000" b="1" i="0" u="none" strike="noStrike" dirty="0">
                <a:solidFill>
                  <a:srgbClr val="000000"/>
                </a:solidFill>
                <a:effectLst/>
              </a:rPr>
              <a:t>Conclusion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1" i="0" u="none" strike="noStrike" dirty="0">
                <a:solidFill>
                  <a:srgbClr val="000000"/>
                </a:solidFill>
                <a:effectLst/>
              </a:rPr>
              <a:t>Si vous utilisez une approche classique avec des </a:t>
            </a:r>
            <a:r>
              <a:rPr lang="fr-FR" sz="2000" b="1" i="0" u="none" strike="noStrike" dirty="0" err="1">
                <a:solidFill>
                  <a:srgbClr val="000000"/>
                </a:solidFill>
                <a:effectLst/>
              </a:rPr>
              <a:t>embeddings</a:t>
            </a:r>
            <a:r>
              <a:rPr lang="fr-FR" sz="2000" b="1" i="0" u="none" strike="noStrike" dirty="0">
                <a:solidFill>
                  <a:srgbClr val="000000"/>
                </a:solidFill>
                <a:effectLst/>
              </a:rPr>
              <a:t> fixes (GloVe, Word2Vec), il est préférable de </a:t>
            </a:r>
            <a:r>
              <a:rPr lang="fr-FR" sz="2000" b="1" i="0" u="none" strike="noStrike" dirty="0" err="1">
                <a:solidFill>
                  <a:srgbClr val="000000"/>
                </a:solidFill>
                <a:effectLst/>
              </a:rPr>
              <a:t>tokeniser</a:t>
            </a:r>
            <a:r>
              <a:rPr lang="fr-FR" sz="2000" b="1" i="0" u="none" strike="noStrike" dirty="0">
                <a:solidFill>
                  <a:srgbClr val="000000"/>
                </a:solidFill>
                <a:effectLst/>
              </a:rPr>
              <a:t> avant le split.</a:t>
            </a:r>
            <a:endParaRPr lang="fr-FR" sz="20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1" i="0" u="none" strike="noStrike" dirty="0">
                <a:solidFill>
                  <a:srgbClr val="000000"/>
                </a:solidFill>
                <a:effectLst/>
              </a:rPr>
              <a:t>Si vous utilisez un modèle Transformers (BERT, GPT), il faut intégrer la tokenisation dans le modèle et la faire après le split.</a:t>
            </a:r>
            <a:endParaRPr lang="fr-FR" sz="20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000" b="1" i="0" u="none" strike="noStrike" dirty="0">
                <a:solidFill>
                  <a:srgbClr val="000000"/>
                </a:solidFill>
                <a:effectLst/>
              </a:rPr>
              <a:t>Si vous voulez éviter toute fuite de données (même minime), entraînez le </a:t>
            </a:r>
            <a:r>
              <a:rPr lang="fr-FR" sz="2000" b="1" i="0" u="none" strike="noStrike" dirty="0" err="1">
                <a:solidFill>
                  <a:srgbClr val="000000"/>
                </a:solidFill>
                <a:effectLst/>
              </a:rPr>
              <a:t>tokenizer</a:t>
            </a:r>
            <a:r>
              <a:rPr lang="fr-FR" sz="2000" b="1" i="0" u="none" strike="noStrike" dirty="0">
                <a:solidFill>
                  <a:srgbClr val="000000"/>
                </a:solidFill>
                <a:effectLst/>
              </a:rPr>
              <a:t> uniquement sur le jeu d'entraînement.</a:t>
            </a:r>
            <a:endParaRPr lang="fr-FR" sz="20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sz="2000" b="0" i="0" u="none" strike="noStrike" dirty="0">
                <a:solidFill>
                  <a:srgbClr val="000000"/>
                </a:solidFill>
                <a:effectLst/>
              </a:rPr>
              <a:t>🎯 </a:t>
            </a:r>
            <a:r>
              <a:rPr lang="fr-FR" sz="2000" b="1" i="0" u="none" strike="noStrike" dirty="0">
                <a:solidFill>
                  <a:srgbClr val="000000"/>
                </a:solidFill>
                <a:effectLst/>
              </a:rPr>
              <a:t>En pratique</a:t>
            </a:r>
            <a:r>
              <a:rPr lang="fr-FR" sz="2000" b="0" i="0" u="none" strike="noStrike" dirty="0">
                <a:solidFill>
                  <a:srgbClr val="000000"/>
                </a:solidFill>
                <a:effectLst/>
              </a:rPr>
              <a:t>, pour du </a:t>
            </a:r>
            <a:r>
              <a:rPr lang="fr-FR" sz="2000" b="0" i="0" u="none" strike="noStrike" dirty="0" err="1">
                <a:solidFill>
                  <a:srgbClr val="000000"/>
                </a:solidFill>
                <a:effectLst/>
              </a:rPr>
              <a:t>deep</a:t>
            </a:r>
            <a:r>
              <a:rPr lang="fr-FR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fr-FR" sz="2000" b="0" i="0" u="none" strike="noStrike" dirty="0" err="1">
                <a:solidFill>
                  <a:srgbClr val="000000"/>
                </a:solidFill>
                <a:effectLst/>
              </a:rPr>
              <a:t>learning</a:t>
            </a:r>
            <a:r>
              <a:rPr lang="fr-FR" sz="2000" b="0" i="0" u="none" strike="noStrike" dirty="0">
                <a:solidFill>
                  <a:srgbClr val="000000"/>
                </a:solidFill>
                <a:effectLst/>
              </a:rPr>
              <a:t> standard avec </a:t>
            </a:r>
            <a:r>
              <a:rPr lang="fr-FR" sz="2000" b="0" i="0" u="none" strike="noStrike" dirty="0" err="1">
                <a:solidFill>
                  <a:srgbClr val="000000"/>
                </a:solidFill>
                <a:effectLst/>
              </a:rPr>
              <a:t>keras.preprocessing.text.Tokenizer</a:t>
            </a:r>
            <a:r>
              <a:rPr lang="fr-FR" sz="2000" b="0" i="0" u="none" strike="noStrike" dirty="0">
                <a:solidFill>
                  <a:srgbClr val="000000"/>
                </a:solidFill>
                <a:effectLst/>
              </a:rPr>
              <a:t>, la tokenisation avant le split fonctionne bien et est largement utilisée. 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1559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BB917-B30A-0657-540A-87B94B3E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879CBD-E52F-F320-1889-137C2D3B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39E6523-55A9-4E52-70E8-2AD0E2ACB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1BB08FA-B32C-51CD-952B-C6B40BAF3FD9}"/>
              </a:ext>
            </a:extLst>
          </p:cNvPr>
          <p:cNvSpPr txBox="1"/>
          <p:nvPr/>
        </p:nvSpPr>
        <p:spPr>
          <a:xfrm>
            <a:off x="707366" y="1897811"/>
            <a:ext cx="110073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Si tes classes sont déséquilibrées, cela peut expliquer pourquoi ton modèle semble "bloqué" à une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accuracy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stable. Voici quelques techniques pour équilibrer les classes :</a:t>
            </a:r>
          </a:p>
          <a:p>
            <a:endParaRPr lang="fr-FR" dirty="0">
              <a:solidFill>
                <a:srgbClr val="000000"/>
              </a:solidFill>
              <a:latin typeface="-webkit-standard"/>
            </a:endParaRPr>
          </a:p>
          <a:p>
            <a:pPr algn="l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1️⃣ Pondération des classes (</a:t>
            </a:r>
            <a:r>
              <a:rPr lang="fr-FR" b="1" i="0" u="none" strike="noStrike" dirty="0" err="1">
                <a:solidFill>
                  <a:srgbClr val="000000"/>
                </a:solidFill>
                <a:effectLst/>
              </a:rPr>
              <a:t>class_weight</a:t>
            </a: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Si tu utilises TensorFlow/Keras, tu peux passer un dictionnaire 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class_weight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à 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model.fit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(), qui attribue un poids plus élevé aux classes minoritaires.</a:t>
            </a:r>
          </a:p>
          <a:p>
            <a:endParaRPr lang="en-GB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5774638-F6F3-3629-654F-91097C8953F9}"/>
              </a:ext>
            </a:extLst>
          </p:cNvPr>
          <p:cNvSpPr txBox="1"/>
          <p:nvPr/>
        </p:nvSpPr>
        <p:spPr>
          <a:xfrm>
            <a:off x="838200" y="3929135"/>
            <a:ext cx="1087647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from </a:t>
            </a:r>
            <a:r>
              <a:rPr lang="en-GB" sz="1400" dirty="0" err="1"/>
              <a:t>sklearn.utils.class_weight</a:t>
            </a:r>
            <a:r>
              <a:rPr lang="en-GB" sz="1400" dirty="0"/>
              <a:t> import </a:t>
            </a:r>
            <a:r>
              <a:rPr lang="en-GB" sz="1400" dirty="0" err="1"/>
              <a:t>compute_class_weight</a:t>
            </a:r>
            <a:endParaRPr lang="en-GB" sz="1400" dirty="0"/>
          </a:p>
          <a:p>
            <a:r>
              <a:rPr lang="en-GB" sz="1400" dirty="0"/>
              <a:t>import numpy as np</a:t>
            </a:r>
          </a:p>
          <a:p>
            <a:endParaRPr lang="en-GB" sz="1400" dirty="0"/>
          </a:p>
          <a:p>
            <a:r>
              <a:rPr lang="en-GB" sz="1400" dirty="0"/>
              <a:t># </a:t>
            </a:r>
            <a:r>
              <a:rPr lang="en-GB" sz="1400" dirty="0" err="1"/>
              <a:t>Supposons</a:t>
            </a:r>
            <a:r>
              <a:rPr lang="en-GB" sz="1400" dirty="0"/>
              <a:t> que </a:t>
            </a:r>
            <a:r>
              <a:rPr lang="en-GB" sz="1400" dirty="0" err="1"/>
              <a:t>tes</a:t>
            </a:r>
            <a:r>
              <a:rPr lang="en-GB" sz="1400" dirty="0"/>
              <a:t> labels </a:t>
            </a:r>
            <a:r>
              <a:rPr lang="en-GB" sz="1400" dirty="0" err="1"/>
              <a:t>sont</a:t>
            </a:r>
            <a:r>
              <a:rPr lang="en-GB" sz="1400" dirty="0"/>
              <a:t> dans </a:t>
            </a:r>
            <a:r>
              <a:rPr lang="en-GB" sz="1400" dirty="0" err="1"/>
              <a:t>y_train</a:t>
            </a:r>
            <a:endParaRPr lang="en-GB" sz="1400" dirty="0"/>
          </a:p>
          <a:p>
            <a:r>
              <a:rPr lang="en-GB" sz="1400" dirty="0"/>
              <a:t>classes = </a:t>
            </a:r>
            <a:r>
              <a:rPr lang="en-GB" sz="1400" dirty="0" err="1"/>
              <a:t>np.unique</a:t>
            </a:r>
            <a:r>
              <a:rPr lang="en-GB" sz="1400" dirty="0"/>
              <a:t>(</a:t>
            </a:r>
            <a:r>
              <a:rPr lang="en-GB" sz="1400" dirty="0" err="1"/>
              <a:t>y_train</a:t>
            </a:r>
            <a:r>
              <a:rPr lang="en-GB" sz="1400" dirty="0"/>
              <a:t>)</a:t>
            </a:r>
          </a:p>
          <a:p>
            <a:r>
              <a:rPr lang="en-GB" sz="1400" dirty="0" err="1"/>
              <a:t>class_weights</a:t>
            </a:r>
            <a:r>
              <a:rPr lang="en-GB" sz="1400" dirty="0"/>
              <a:t> = </a:t>
            </a:r>
            <a:r>
              <a:rPr lang="en-GB" sz="1400" dirty="0" err="1"/>
              <a:t>compute_class_weight</a:t>
            </a:r>
            <a:r>
              <a:rPr lang="en-GB" sz="1400" dirty="0"/>
              <a:t>('balanced', classes=classes, y=</a:t>
            </a:r>
            <a:r>
              <a:rPr lang="en-GB" sz="1400" dirty="0" err="1"/>
              <a:t>y_train</a:t>
            </a:r>
            <a:r>
              <a:rPr lang="en-GB" sz="1400" dirty="0"/>
              <a:t>)</a:t>
            </a:r>
          </a:p>
          <a:p>
            <a:r>
              <a:rPr lang="en-GB" sz="1400" dirty="0" err="1"/>
              <a:t>class_weight_dict</a:t>
            </a:r>
            <a:r>
              <a:rPr lang="en-GB" sz="1400" dirty="0"/>
              <a:t> = </a:t>
            </a:r>
            <a:r>
              <a:rPr lang="en-GB" sz="1400" dirty="0" err="1"/>
              <a:t>dict</a:t>
            </a:r>
            <a:r>
              <a:rPr lang="en-GB" sz="1400" dirty="0"/>
              <a:t>(enumerate(</a:t>
            </a:r>
            <a:r>
              <a:rPr lang="en-GB" sz="1400" dirty="0" err="1"/>
              <a:t>class_weights</a:t>
            </a:r>
            <a:r>
              <a:rPr lang="en-GB" sz="1400" dirty="0"/>
              <a:t>))</a:t>
            </a:r>
          </a:p>
          <a:p>
            <a:endParaRPr lang="en-GB" sz="1400" dirty="0"/>
          </a:p>
          <a:p>
            <a:r>
              <a:rPr lang="en-GB" sz="1400" dirty="0"/>
              <a:t># </a:t>
            </a:r>
            <a:r>
              <a:rPr lang="en-GB" sz="1400" dirty="0" err="1"/>
              <a:t>Entraînement</a:t>
            </a:r>
            <a:r>
              <a:rPr lang="en-GB" sz="1400" dirty="0"/>
              <a:t> avec </a:t>
            </a:r>
            <a:r>
              <a:rPr lang="en-GB" sz="1400" dirty="0" err="1"/>
              <a:t>pondération</a:t>
            </a:r>
            <a:endParaRPr lang="en-GB" sz="1400" dirty="0"/>
          </a:p>
          <a:p>
            <a:r>
              <a:rPr lang="en-GB" sz="1400" dirty="0" err="1"/>
              <a:t>model.fit</a:t>
            </a:r>
            <a:r>
              <a:rPr lang="en-GB" sz="1400" dirty="0"/>
              <a:t>(</a:t>
            </a:r>
            <a:r>
              <a:rPr lang="en-GB" sz="1400" dirty="0" err="1"/>
              <a:t>X_train</a:t>
            </a:r>
            <a:r>
              <a:rPr lang="en-GB" sz="1400" dirty="0"/>
              <a:t>, </a:t>
            </a:r>
            <a:r>
              <a:rPr lang="en-GB" sz="1400" dirty="0" err="1"/>
              <a:t>y_train</a:t>
            </a:r>
            <a:r>
              <a:rPr lang="en-GB" sz="1400" dirty="0"/>
              <a:t>, epochs=20, </a:t>
            </a:r>
            <a:r>
              <a:rPr lang="en-GB" sz="1400" dirty="0" err="1"/>
              <a:t>validation_data</a:t>
            </a:r>
            <a:r>
              <a:rPr lang="en-GB" sz="1400" dirty="0"/>
              <a:t>=(</a:t>
            </a:r>
            <a:r>
              <a:rPr lang="en-GB" sz="1400" dirty="0" err="1"/>
              <a:t>X_val</a:t>
            </a:r>
            <a:r>
              <a:rPr lang="en-GB" sz="1400" dirty="0"/>
              <a:t>, </a:t>
            </a:r>
            <a:r>
              <a:rPr lang="en-GB" sz="1400" dirty="0" err="1"/>
              <a:t>y_val</a:t>
            </a:r>
            <a:r>
              <a:rPr lang="en-GB" sz="1400" dirty="0"/>
              <a:t>), </a:t>
            </a:r>
            <a:r>
              <a:rPr lang="en-GB" sz="1400" dirty="0" err="1"/>
              <a:t>class_weight</a:t>
            </a:r>
            <a:r>
              <a:rPr lang="en-GB" sz="1400" dirty="0"/>
              <a:t>=</a:t>
            </a:r>
            <a:r>
              <a:rPr lang="en-GB" sz="1400" dirty="0" err="1"/>
              <a:t>class_weight_dict</a:t>
            </a:r>
            <a:r>
              <a:rPr lang="en-GB" sz="1400" dirty="0"/>
              <a:t>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5D4FF90-D806-2510-AA64-539BEE58DC4F}"/>
              </a:ext>
            </a:extLst>
          </p:cNvPr>
          <p:cNvSpPr txBox="1"/>
          <p:nvPr/>
        </p:nvSpPr>
        <p:spPr>
          <a:xfrm>
            <a:off x="838199" y="6105336"/>
            <a:ext cx="110073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💡 </a:t>
            </a: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Quand l'utiliser ?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Si tu as un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dataset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assez grand et que tu veux ajuster l’influence des classes sans modifier les données.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51309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7DD4-B87D-AAAB-535D-33282E02C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EB918F-42F9-61B6-9888-D8E232D3E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69F577B-21D1-711D-809C-09B4D8DE7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1A3D801-763B-4B5D-E801-A3CA5A443569}"/>
              </a:ext>
            </a:extLst>
          </p:cNvPr>
          <p:cNvSpPr txBox="1"/>
          <p:nvPr/>
        </p:nvSpPr>
        <p:spPr>
          <a:xfrm>
            <a:off x="1052424" y="1897811"/>
            <a:ext cx="943729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2️⃣ Sur-échantillonnage de la classe minoritaire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Tu peux augmenter artificiellement la présence de la classe minoritaire en dupliquant des exemples existants.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Avec 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imbalanced-learn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:</a:t>
            </a:r>
          </a:p>
          <a:p>
            <a:pPr algn="l"/>
            <a:endParaRPr lang="fr-FR" dirty="0">
              <a:solidFill>
                <a:srgbClr val="000000"/>
              </a:solidFill>
            </a:endParaRPr>
          </a:p>
          <a:p>
            <a:pPr algn="l"/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from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imblearn.over_sampling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import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RandomOverSampler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oversample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RandomOverSampler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sampling_strategy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='auto')</a:t>
            </a:r>
          </a:p>
          <a:p>
            <a:pPr algn="l"/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X_train_resampled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y_train_resampled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oversample.fit_resample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X_train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y_train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algn="l"/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Puis entraîne ton modèle avec ces nouvelles données.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💡 </a:t>
            </a: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Quand l'utiliser ?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Si tu as peu de données pour la classe minoritaire.</a:t>
            </a:r>
          </a:p>
          <a:p>
            <a:pPr algn="l"/>
            <a:endParaRPr lang="fr-FR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131693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2260D-1C41-6690-AC7C-F2D62738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A8A8F4-2841-B59A-4FF0-25FC25CF6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3A2F170-0810-232D-4CD7-E7D368497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4304F05-A51A-D2BF-5B5F-93B51626CA80}"/>
              </a:ext>
            </a:extLst>
          </p:cNvPr>
          <p:cNvSpPr txBox="1"/>
          <p:nvPr/>
        </p:nvSpPr>
        <p:spPr>
          <a:xfrm>
            <a:off x="838200" y="1690688"/>
            <a:ext cx="10515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3️⃣ Sous-échantillonnage de la classe majoritaire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Si ta classe majoritaire est très dominante, tu peux la réduire pour équilibrer les proportions.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Avec 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imbalanced-learn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:</a:t>
            </a:r>
          </a:p>
          <a:p>
            <a:pPr algn="l"/>
            <a:endParaRPr lang="fr-FR" dirty="0">
              <a:solidFill>
                <a:srgbClr val="000000"/>
              </a:solidFill>
            </a:endParaRPr>
          </a:p>
          <a:p>
            <a:pPr algn="l"/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from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imblearn.under_sampling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import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RandomUnderSampler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undersample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RandomUnderSampler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sampling_strategy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='auto')</a:t>
            </a:r>
          </a:p>
          <a:p>
            <a:pPr algn="l"/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X_train_resampled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y_train_resampled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undersample.fit_resample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X_train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y_train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algn="l"/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💡 </a:t>
            </a: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Quand l'utiliser ?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Si ton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dataset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est très grand et que tu peux te permettre de supprimer des exemples sans perte critique d’information.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845600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6B829-5BD6-D1BA-6D22-CB257AAE9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519CE-C23B-0CE6-F82B-43535F30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881801-93A3-849B-944A-2F5DA0C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74ECC64-6106-959B-9B46-4CBA87776895}"/>
              </a:ext>
            </a:extLst>
          </p:cNvPr>
          <p:cNvSpPr txBox="1"/>
          <p:nvPr/>
        </p:nvSpPr>
        <p:spPr>
          <a:xfrm>
            <a:off x="838200" y="1897811"/>
            <a:ext cx="98758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4️⃣ Utiliser SMOTE (</a:t>
            </a:r>
            <a:r>
              <a:rPr lang="fr-FR" b="1" i="0" u="none" strike="noStrike" dirty="0" err="1">
                <a:solidFill>
                  <a:srgbClr val="000000"/>
                </a:solidFill>
                <a:effectLst/>
              </a:rPr>
              <a:t>Synthetic</a:t>
            </a: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fr-FR" b="1" i="0" u="none" strike="noStrike" dirty="0" err="1">
                <a:solidFill>
                  <a:srgbClr val="000000"/>
                </a:solidFill>
                <a:effectLst/>
              </a:rPr>
              <a:t>Minority</a:t>
            </a: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 Over-sampling Technique)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Cette technique génère des nouveaux exemples synthétiques de la classe minoritaire au lieu de simplement dupliquer les données.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Avec 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imbalanced-learn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:</a:t>
            </a:r>
          </a:p>
          <a:p>
            <a:pPr algn="l"/>
            <a:endParaRPr lang="fr-FR" dirty="0">
              <a:solidFill>
                <a:srgbClr val="000000"/>
              </a:solidFill>
            </a:endParaRPr>
          </a:p>
          <a:p>
            <a:pPr algn="l"/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from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imblearn.over_sampling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import SMOTE</a:t>
            </a:r>
          </a:p>
          <a:p>
            <a:pPr algn="l"/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smote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= SMOTE(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sampling_strategy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='auto')</a:t>
            </a:r>
          </a:p>
          <a:p>
            <a:pPr algn="l"/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X_train_resampled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y_train_resampled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smote.fit_resample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X_train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y_train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algn="l"/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💡 </a:t>
            </a: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Quand l'utiliser ?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Quand tu veux éviter de simplement copier des échantillons existants et que tu as un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dataset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relativement petit.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39680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17D39-3B9C-F5F7-F991-28ADBC646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7E7640-35CC-A1B4-0F80-0C4CABDB9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43B1A1E-5787-FF85-389B-F83B2C43D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E67B7AD-B7A3-0C95-B91D-FE5375099183}"/>
              </a:ext>
            </a:extLst>
          </p:cNvPr>
          <p:cNvSpPr txBox="1"/>
          <p:nvPr/>
        </p:nvSpPr>
        <p:spPr>
          <a:xfrm>
            <a:off x="838200" y="1897811"/>
            <a:ext cx="98758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5️⃣ Data Augmentation (si tes données sont des images ou du texte)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Si ton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dataset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contient des images ou du texte, tu peux créer des variations artificielles (flips, rotations, modifications de luminosité pour les images ; synonymes, paraphrases pour le texte).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Exemple pour des images avec 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ImageDataGenerator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:</a:t>
            </a:r>
          </a:p>
          <a:p>
            <a:pPr algn="l"/>
            <a:endParaRPr lang="fr-FR" dirty="0">
              <a:solidFill>
                <a:srgbClr val="000000"/>
              </a:solidFill>
            </a:endParaRPr>
          </a:p>
          <a:p>
            <a:pPr algn="l"/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from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tensorflow.keras.preprocessing.image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import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ImageDataGenerator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datagen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ImageDataGenerator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(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  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rotation_range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=20,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  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width_shift_range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=0.2,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  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height_shift_range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=0.2,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  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horizontal_flip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=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True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algn="l"/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💡 </a:t>
            </a: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Quand l'utiliser ?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Si tu veux éviter le sur-apprentissage en enrichissant ton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dataset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038073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29C1-806E-F049-D2D5-3E153472F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18AADB-B17F-FAA7-0B48-8D406D74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B0EB523-449D-CF66-6C9C-A57A1F4D6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7FA7946-A82F-1B6B-B3E3-74105C22A0EB}"/>
              </a:ext>
            </a:extLst>
          </p:cNvPr>
          <p:cNvSpPr txBox="1"/>
          <p:nvPr/>
        </p:nvSpPr>
        <p:spPr>
          <a:xfrm>
            <a:off x="838200" y="1897811"/>
            <a:ext cx="98758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🏆 Quelle méthode choisir 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Si tu as beaucoup de données →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class_weight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Si tu as peu de données →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SMOTE ou 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OverSampling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Si ta classe majoritaire est trop présente →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UnderSampling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Si tes données sont des images ou du texte →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Data Augmentation</a:t>
            </a:r>
          </a:p>
        </p:txBody>
      </p:sp>
    </p:spTree>
    <p:extLst>
      <p:ext uri="{BB962C8B-B14F-4D97-AF65-F5344CB8AC3E}">
        <p14:creationId xmlns:p14="http://schemas.microsoft.com/office/powerpoint/2010/main" val="37807102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33421</TotalTime>
  <Words>8947</Words>
  <Application>Microsoft Macintosh PowerPoint</Application>
  <PresentationFormat>Grand écran</PresentationFormat>
  <Paragraphs>1013</Paragraphs>
  <Slides>59</Slides>
  <Notes>59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59</vt:i4>
      </vt:variant>
    </vt:vector>
  </HeadingPairs>
  <TitlesOfParts>
    <vt:vector size="67" baseType="lpstr">
      <vt:lpstr>-webkit-standard</vt:lpstr>
      <vt:lpstr>Aptos</vt:lpstr>
      <vt:lpstr>Aptos Display</vt:lpstr>
      <vt:lpstr>Arial</vt:lpstr>
      <vt:lpstr>Cambria Math</vt:lpstr>
      <vt:lpstr>Menlo</vt:lpstr>
      <vt:lpstr>ui-sans-serif</vt:lpstr>
      <vt:lpstr>Thème Office</vt:lpstr>
      <vt:lpstr>Natural Language Processing (NLP)</vt:lpstr>
      <vt:lpstr>NLP – Definition and goal</vt:lpstr>
      <vt:lpstr>NLP -  Common tasks and applications</vt:lpstr>
      <vt:lpstr>NLP - Difficulties</vt:lpstr>
      <vt:lpstr>NLP - Fundamentals</vt:lpstr>
      <vt:lpstr>NLP – Workflow Cycle example</vt:lpstr>
      <vt:lpstr>NLP – Install SpaCy</vt:lpstr>
      <vt:lpstr>NLP</vt:lpstr>
      <vt:lpstr>NLP – Tokenization</vt:lpstr>
      <vt:lpstr>NLP – Lower Casing</vt:lpstr>
      <vt:lpstr>NLP – Stop words</vt:lpstr>
      <vt:lpstr>NLP – Stemming</vt:lpstr>
      <vt:lpstr>NLP – Lemmatization</vt:lpstr>
      <vt:lpstr>NLP – POS Tagging</vt:lpstr>
      <vt:lpstr>NLP – NER</vt:lpstr>
      <vt:lpstr>NLP – Parsing</vt:lpstr>
      <vt:lpstr>NLP – Matcher</vt:lpstr>
      <vt:lpstr>NLP – Preprocessing with SpaCy</vt:lpstr>
      <vt:lpstr>NLP – Preprocessing with SpaCy</vt:lpstr>
      <vt:lpstr>NLP</vt:lpstr>
      <vt:lpstr>NLP – Bag Of Words (BOW)</vt:lpstr>
      <vt:lpstr>NLP – Bag Of Words (BOW)</vt:lpstr>
      <vt:lpstr>NLP – Bag Of Words (BOW)</vt:lpstr>
      <vt:lpstr>NLP – Bag Of Words (BOW)</vt:lpstr>
      <vt:lpstr>NLP – Bag Of Words (BOW)</vt:lpstr>
      <vt:lpstr>NLP – Bag Of Words (BOW)</vt:lpstr>
      <vt:lpstr>NLP – Bag Of Words (BOW)</vt:lpstr>
      <vt:lpstr>NLP – Bag Of Words (BOW)</vt:lpstr>
      <vt:lpstr>NLP – N-grams</vt:lpstr>
      <vt:lpstr>NLP – N-grams</vt:lpstr>
      <vt:lpstr>NLP – N-grams</vt:lpstr>
      <vt:lpstr>NLP – N-grams</vt:lpstr>
      <vt:lpstr>NLP – N-grams</vt:lpstr>
      <vt:lpstr>NLP – Term Frequency-Inverse Document Frequency</vt:lpstr>
      <vt:lpstr>NLP – Term Frequency-Inverse Document Frequency</vt:lpstr>
      <vt:lpstr>NLP – Term Frequency-Inverse Document Frequency</vt:lpstr>
      <vt:lpstr>NLP – Term Frequency-Inverse Document Frequency</vt:lpstr>
      <vt:lpstr>NLP – Term Frequency-Inverse Document Frequency</vt:lpstr>
      <vt:lpstr>NLP – Term Frequency-Inverse Document Frequency</vt:lpstr>
      <vt:lpstr>NLP – Text Data Representation</vt:lpstr>
      <vt:lpstr>NLP – NLP Techniques</vt:lpstr>
      <vt:lpstr>NLP – Machine Learning for NLP</vt:lpstr>
      <vt:lpstr>NLP – Evaluation of NLP Models</vt:lpstr>
      <vt:lpstr>NLP – Advanced NLP Applications</vt:lpstr>
      <vt:lpstr>NLP – Challenges and Future Directions</vt:lpstr>
      <vt:lpstr>NLP – Practical Projects and Case Studies</vt:lpstr>
      <vt:lpstr>NLP – Practical Projects and Case Studies</vt:lpstr>
      <vt:lpstr>NLP – Practical Projects and Case Studies</vt:lpstr>
      <vt:lpstr>NLP – Practical Projects and Case Studies</vt:lpstr>
      <vt:lpstr>NLP – Practical Projects and Case Studies</vt:lpstr>
      <vt:lpstr>NLP – Practical Projects and Case Studies</vt:lpstr>
      <vt:lpstr>NLP – Practical Projects and Case Studies</vt:lpstr>
      <vt:lpstr>NLP – Practical Projects and Case Studies</vt:lpstr>
      <vt:lpstr>NLP – Practical Projects and Case Studies</vt:lpstr>
      <vt:lpstr>NLP – Practical Projects and Case Studies</vt:lpstr>
      <vt:lpstr>NLP – Practical Projects and Case Studies</vt:lpstr>
      <vt:lpstr>NLP – Practical Projects and Case Studies</vt:lpstr>
      <vt:lpstr>NLP – Practical Projects and Case Studies</vt:lpstr>
      <vt:lpstr>NLP – Practical Projects and Case Studies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THEBAULT</dc:creator>
  <cp:lastModifiedBy>David THEBAULT</cp:lastModifiedBy>
  <cp:revision>115</cp:revision>
  <dcterms:created xsi:type="dcterms:W3CDTF">2024-12-16T21:11:27Z</dcterms:created>
  <dcterms:modified xsi:type="dcterms:W3CDTF">2025-02-03T20:47:27Z</dcterms:modified>
</cp:coreProperties>
</file>