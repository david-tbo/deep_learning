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58" r:id="rId3"/>
    <p:sldId id="259" r:id="rId4"/>
    <p:sldId id="262" r:id="rId5"/>
    <p:sldId id="263" r:id="rId6"/>
    <p:sldId id="260" r:id="rId7"/>
    <p:sldId id="261" r:id="rId8"/>
    <p:sldId id="264" r:id="rId9"/>
    <p:sldId id="265" r:id="rId10"/>
    <p:sldId id="268" r:id="rId11"/>
    <p:sldId id="266"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p:restoredTop sz="88455"/>
  </p:normalViewPr>
  <p:slideViewPr>
    <p:cSldViewPr snapToGrid="0">
      <p:cViewPr varScale="1">
        <p:scale>
          <a:sx n="84" d="100"/>
          <a:sy n="84" d="100"/>
        </p:scale>
        <p:origin x="8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9401A-D510-3145-A5CD-9798280D1D61}" type="datetimeFigureOut">
              <a:rPr lang="en-GB" smtClean="0"/>
              <a:t>15/01/2025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84FA35-352E-7345-BF43-1862644F8DF7}" type="slidenum">
              <a:rPr lang="en-GB" smtClean="0"/>
              <a:t>‹N°›</a:t>
            </a:fld>
            <a:endParaRPr lang="en-GB"/>
          </a:p>
        </p:txBody>
      </p:sp>
    </p:spTree>
    <p:extLst>
      <p:ext uri="{BB962C8B-B14F-4D97-AF65-F5344CB8AC3E}">
        <p14:creationId xmlns:p14="http://schemas.microsoft.com/office/powerpoint/2010/main" val="354715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noProof="0" dirty="0"/>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1</a:t>
            </a:fld>
            <a:endParaRPr lang="en-GB"/>
          </a:p>
        </p:txBody>
      </p:sp>
    </p:spTree>
    <p:extLst>
      <p:ext uri="{BB962C8B-B14F-4D97-AF65-F5344CB8AC3E}">
        <p14:creationId xmlns:p14="http://schemas.microsoft.com/office/powerpoint/2010/main" val="689186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pPr>
            <a:r>
              <a:rPr lang="en-GB" b="0" i="0" u="none" strike="noStrike" noProof="0" dirty="0">
                <a:solidFill>
                  <a:srgbClr val="E4E4E7"/>
                </a:solidFill>
                <a:effectLst/>
                <a:latin typeface="ui-sans-serif"/>
              </a:rPr>
              <a:t>Topic Analysis: </a:t>
            </a:r>
          </a:p>
          <a:p>
            <a:pPr algn="l">
              <a:spcAft>
                <a:spcPts val="750"/>
              </a:spcAft>
            </a:pPr>
            <a:r>
              <a:rPr lang="en-GB" b="0" i="0" u="none" strike="noStrike" noProof="0" dirty="0">
                <a:solidFill>
                  <a:srgbClr val="E4E4E7"/>
                </a:solidFill>
                <a:effectLst/>
                <a:latin typeface="ui-sans-serif"/>
              </a:rPr>
              <a:t>LDA allows identifying the main topics present in a set of documents. Each document is represented as a distribution of topics, and each topic is represented as a distribution of words.</a:t>
            </a:r>
          </a:p>
          <a:p>
            <a:pPr algn="l">
              <a:spcAft>
                <a:spcPts val="750"/>
              </a:spcAft>
            </a:pPr>
            <a:endParaRPr lang="en-GB" b="0" i="0" u="none" strike="noStrike" noProof="0" dirty="0">
              <a:solidFill>
                <a:srgbClr val="E4E4E7"/>
              </a:solidFill>
              <a:effectLst/>
              <a:latin typeface="ui-sans-serif"/>
            </a:endParaRPr>
          </a:p>
          <a:p>
            <a:pPr algn="l">
              <a:spcAft>
                <a:spcPts val="750"/>
              </a:spcAft>
            </a:pPr>
            <a:r>
              <a:rPr lang="en-GB" b="0" i="0" u="none" strike="noStrike" noProof="0" dirty="0">
                <a:solidFill>
                  <a:srgbClr val="E4E4E7"/>
                </a:solidFill>
                <a:effectLst/>
                <a:latin typeface="ui-sans-serif"/>
              </a:rPr>
              <a:t>Document Classification: </a:t>
            </a:r>
          </a:p>
          <a:p>
            <a:pPr algn="l">
              <a:spcAft>
                <a:spcPts val="750"/>
              </a:spcAft>
            </a:pPr>
            <a:r>
              <a:rPr lang="en-GB" b="0" i="0" u="none" strike="noStrike" noProof="0" dirty="0">
                <a:solidFill>
                  <a:srgbClr val="E4E4E7"/>
                </a:solidFill>
                <a:effectLst/>
                <a:latin typeface="ui-sans-serif"/>
              </a:rPr>
              <a:t>By identifying the topics present in documents, LDA can help classify documents into different categories or subjects.</a:t>
            </a:r>
          </a:p>
          <a:p>
            <a:pPr algn="l">
              <a:spcAft>
                <a:spcPts val="750"/>
              </a:spcAft>
            </a:pPr>
            <a:endParaRPr lang="en-GB" b="0" i="0" u="none" strike="noStrike" noProof="0" dirty="0">
              <a:solidFill>
                <a:srgbClr val="E4E4E7"/>
              </a:solidFill>
              <a:effectLst/>
              <a:latin typeface="ui-sans-serif"/>
            </a:endParaRPr>
          </a:p>
          <a:p>
            <a:pPr algn="l">
              <a:spcAft>
                <a:spcPts val="750"/>
              </a:spcAft>
            </a:pPr>
            <a:r>
              <a:rPr lang="en-GB" b="0" i="0" u="none" strike="noStrike" noProof="0" dirty="0">
                <a:solidFill>
                  <a:srgbClr val="E4E4E7"/>
                </a:solidFill>
                <a:effectLst/>
                <a:latin typeface="ui-sans-serif"/>
              </a:rPr>
              <a:t>Content Recommendation: </a:t>
            </a:r>
          </a:p>
          <a:p>
            <a:pPr algn="l">
              <a:spcAft>
                <a:spcPts val="750"/>
              </a:spcAft>
            </a:pPr>
            <a:r>
              <a:rPr lang="en-GB" b="0" i="0" u="none" strike="noStrike" noProof="0" dirty="0">
                <a:solidFill>
                  <a:srgbClr val="E4E4E7"/>
                </a:solidFill>
                <a:effectLst/>
                <a:latin typeface="ui-sans-serif"/>
              </a:rPr>
              <a:t>In recommendation systems, LDA can be used to suggest documents or articles similar to those a user has already viewed, based on common topics.</a:t>
            </a:r>
          </a:p>
          <a:p>
            <a:pPr algn="l">
              <a:spcAft>
                <a:spcPts val="750"/>
              </a:spcAft>
            </a:pPr>
            <a:endParaRPr lang="en-GB" b="0" i="0" u="none" strike="noStrike" noProof="0" dirty="0">
              <a:solidFill>
                <a:srgbClr val="E4E4E7"/>
              </a:solidFill>
              <a:effectLst/>
              <a:latin typeface="ui-sans-serif"/>
            </a:endParaRPr>
          </a:p>
          <a:p>
            <a:pPr algn="l">
              <a:spcAft>
                <a:spcPts val="750"/>
              </a:spcAft>
            </a:pPr>
            <a:r>
              <a:rPr lang="en-GB" b="0" i="0" u="none" strike="noStrike" noProof="0" dirty="0">
                <a:solidFill>
                  <a:srgbClr val="E4E4E7"/>
                </a:solidFill>
                <a:effectLst/>
                <a:latin typeface="ui-sans-serif"/>
              </a:rPr>
              <a:t>Automatic Summarization: </a:t>
            </a:r>
          </a:p>
          <a:p>
            <a:pPr algn="l">
              <a:spcAft>
                <a:spcPts val="750"/>
              </a:spcAft>
            </a:pPr>
            <a:r>
              <a:rPr lang="en-GB" b="0" i="0" u="none" strike="noStrike" noProof="0" dirty="0">
                <a:solidFill>
                  <a:srgbClr val="E4E4E7"/>
                </a:solidFill>
                <a:effectLst/>
                <a:latin typeface="ui-sans-serif"/>
              </a:rPr>
              <a:t>LDA can help generate summaries of documents by identifying the words and phrases most representative of the main topics.</a:t>
            </a:r>
          </a:p>
          <a:p>
            <a:pPr algn="l">
              <a:spcAft>
                <a:spcPts val="750"/>
              </a:spcAft>
            </a:pPr>
            <a:endParaRPr lang="en-GB" b="0" i="0" u="none" strike="noStrike" noProof="0" dirty="0">
              <a:solidFill>
                <a:srgbClr val="E4E4E7"/>
              </a:solidFill>
              <a:effectLst/>
              <a:latin typeface="ui-sans-serif"/>
            </a:endParaRPr>
          </a:p>
          <a:p>
            <a:pPr algn="l">
              <a:spcAft>
                <a:spcPts val="750"/>
              </a:spcAft>
            </a:pPr>
            <a:r>
              <a:rPr lang="en-GB" b="0" i="0" u="none" strike="noStrike" noProof="0" dirty="0">
                <a:solidFill>
                  <a:srgbClr val="E4E4E7"/>
                </a:solidFill>
                <a:effectLst/>
                <a:latin typeface="ui-sans-serif"/>
              </a:rPr>
              <a:t>Sentiment Analysis: </a:t>
            </a:r>
          </a:p>
          <a:p>
            <a:pPr algn="l">
              <a:spcAft>
                <a:spcPts val="750"/>
              </a:spcAft>
            </a:pPr>
            <a:r>
              <a:rPr lang="en-GB" b="0" i="0" u="none" strike="noStrike" noProof="0" dirty="0">
                <a:solidFill>
                  <a:srgbClr val="E4E4E7"/>
                </a:solidFill>
                <a:effectLst/>
                <a:latin typeface="ui-sans-serif"/>
              </a:rPr>
              <a:t>Although LDA is not specifically designed for sentiment analysis, it can be used in combination with other techniques to understand the topics discussed in reviews or comments, which can then be analysed to determine sentiments.</a:t>
            </a:r>
          </a:p>
          <a:p>
            <a:pPr algn="l">
              <a:spcAft>
                <a:spcPts val="750"/>
              </a:spcAft>
            </a:pPr>
            <a:endParaRPr lang="en-GB" b="0" i="0" u="none" strike="noStrike" noProof="0" dirty="0">
              <a:solidFill>
                <a:srgbClr val="E4E4E7"/>
              </a:solidFill>
              <a:effectLst/>
              <a:latin typeface="ui-sans-serif"/>
            </a:endParaRPr>
          </a:p>
          <a:p>
            <a:pPr algn="l"/>
            <a:r>
              <a:rPr lang="en-GB" b="0" i="0" u="none" strike="noStrike" noProof="0" dirty="0">
                <a:solidFill>
                  <a:srgbClr val="E4E4E7"/>
                </a:solidFill>
                <a:effectLst/>
                <a:latin typeface="ui-sans-serif"/>
              </a:rPr>
              <a:t>Information Retrieval: </a:t>
            </a:r>
          </a:p>
          <a:p>
            <a:pPr algn="l"/>
            <a:r>
              <a:rPr lang="en-GB" b="0" i="0" u="none" strike="noStrike" noProof="0" dirty="0">
                <a:solidFill>
                  <a:srgbClr val="E4E4E7"/>
                </a:solidFill>
                <a:effectLst/>
                <a:latin typeface="ui-sans-serif"/>
              </a:rPr>
              <a:t>LDA can improve search engines by enabling topic-based search rather than individual keywords, thus providing more relevant results.</a:t>
            </a:r>
          </a:p>
          <a:p>
            <a:endParaRPr lang="en-GB" noProof="0"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2</a:t>
            </a:fld>
            <a:endParaRPr lang="fr-FR"/>
          </a:p>
        </p:txBody>
      </p:sp>
    </p:spTree>
    <p:extLst>
      <p:ext uri="{BB962C8B-B14F-4D97-AF65-F5344CB8AC3E}">
        <p14:creationId xmlns:p14="http://schemas.microsoft.com/office/powerpoint/2010/main" val="275617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81F75-2EA1-376F-C513-D001840213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7D81686-E37D-6F61-7692-F82F52A15E5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708B00-D51F-E51F-1812-E3DC746DA659}"/>
              </a:ext>
            </a:extLst>
          </p:cNvPr>
          <p:cNvSpPr>
            <a:spLocks noGrp="1"/>
          </p:cNvSpPr>
          <p:nvPr>
            <p:ph type="body" idx="1"/>
          </p:nvPr>
        </p:nvSpPr>
        <p:spPr/>
        <p:txBody>
          <a:bodyPr/>
          <a:lstStyle/>
          <a:p>
            <a:r>
              <a:rPr lang="en-GB" sz="1200" b="0" i="0" u="none" strike="noStrike" dirty="0">
                <a:solidFill>
                  <a:srgbClr val="18181B"/>
                </a:solidFill>
                <a:effectLst/>
                <a:latin typeface="ui-sans-serif"/>
              </a:rPr>
              <a:t>In the context of credit risk associated with granting a loan, a latent variable could be an underlying factor that influences the probability of default but is not directly measurable such as financial solvency</a:t>
            </a:r>
            <a:endParaRPr lang="en-GB" noProof="0" dirty="0"/>
          </a:p>
        </p:txBody>
      </p:sp>
      <p:sp>
        <p:nvSpPr>
          <p:cNvPr id="4" name="Espace réservé du numéro de diapositive 3">
            <a:extLst>
              <a:ext uri="{FF2B5EF4-FFF2-40B4-BE49-F238E27FC236}">
                <a16:creationId xmlns:a16="http://schemas.microsoft.com/office/drawing/2014/main" id="{EB63C2CB-265D-2ED8-B2EB-A8C7CF890A17}"/>
              </a:ext>
            </a:extLst>
          </p:cNvPr>
          <p:cNvSpPr>
            <a:spLocks noGrp="1"/>
          </p:cNvSpPr>
          <p:nvPr>
            <p:ph type="sldNum" sz="quarter" idx="5"/>
          </p:nvPr>
        </p:nvSpPr>
        <p:spPr/>
        <p:txBody>
          <a:bodyPr/>
          <a:lstStyle/>
          <a:p>
            <a:fld id="{BFE20620-1C2C-7043-8B38-691BB5666C4A}" type="slidenum">
              <a:rPr lang="fr-FR" smtClean="0"/>
              <a:t>3</a:t>
            </a:fld>
            <a:endParaRPr lang="fr-FR"/>
          </a:p>
        </p:txBody>
      </p:sp>
    </p:spTree>
    <p:extLst>
      <p:ext uri="{BB962C8B-B14F-4D97-AF65-F5344CB8AC3E}">
        <p14:creationId xmlns:p14="http://schemas.microsoft.com/office/powerpoint/2010/main" val="2192961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DF7A-3613-2860-9AB1-9F6D2FB176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A7BBE1-5BBB-517F-5476-40E7EEFB96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B93170F-C129-6C22-A1FF-B4C8B1673D9D}"/>
              </a:ext>
            </a:extLst>
          </p:cNvPr>
          <p:cNvSpPr>
            <a:spLocks noGrp="1"/>
          </p:cNvSpPr>
          <p:nvPr>
            <p:ph type="body" idx="1"/>
          </p:nvPr>
        </p:nvSpPr>
        <p:spPr/>
        <p:txBody>
          <a:bodyPr/>
          <a:lstStyle/>
          <a:p>
            <a:r>
              <a:rPr lang="en-GB" sz="1200" b="0" i="0" u="none" strike="noStrike" dirty="0">
                <a:solidFill>
                  <a:srgbClr val="18181B"/>
                </a:solidFill>
                <a:effectLst/>
                <a:latin typeface="ui-sans-serif"/>
              </a:rPr>
              <a:t>In the context of credit risk associated with granting a loan, a latent variable could be an underlying factor that influences the probability of default but is not directly measurable such as financial solvency</a:t>
            </a:r>
            <a:endParaRPr lang="en-GB" noProof="0" dirty="0"/>
          </a:p>
        </p:txBody>
      </p:sp>
      <p:sp>
        <p:nvSpPr>
          <p:cNvPr id="4" name="Espace réservé du numéro de diapositive 3">
            <a:extLst>
              <a:ext uri="{FF2B5EF4-FFF2-40B4-BE49-F238E27FC236}">
                <a16:creationId xmlns:a16="http://schemas.microsoft.com/office/drawing/2014/main" id="{6143659C-3335-4FFD-2931-ACA34ABB5BE2}"/>
              </a:ext>
            </a:extLst>
          </p:cNvPr>
          <p:cNvSpPr>
            <a:spLocks noGrp="1"/>
          </p:cNvSpPr>
          <p:nvPr>
            <p:ph type="sldNum" sz="quarter" idx="5"/>
          </p:nvPr>
        </p:nvSpPr>
        <p:spPr/>
        <p:txBody>
          <a:bodyPr/>
          <a:lstStyle/>
          <a:p>
            <a:fld id="{BFE20620-1C2C-7043-8B38-691BB5666C4A}" type="slidenum">
              <a:rPr lang="fr-FR" smtClean="0"/>
              <a:t>4</a:t>
            </a:fld>
            <a:endParaRPr lang="fr-FR"/>
          </a:p>
        </p:txBody>
      </p:sp>
    </p:spTree>
    <p:extLst>
      <p:ext uri="{BB962C8B-B14F-4D97-AF65-F5344CB8AC3E}">
        <p14:creationId xmlns:p14="http://schemas.microsoft.com/office/powerpoint/2010/main" val="213767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5F25C-66D1-C9BE-CF04-1274642ABE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D96F75-0A39-5150-9BEC-888E2D15C6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18B4D2E-26F2-F268-864E-F7F795988EB4}"/>
              </a:ext>
            </a:extLst>
          </p:cNvPr>
          <p:cNvSpPr>
            <a:spLocks noGrp="1"/>
          </p:cNvSpPr>
          <p:nvPr>
            <p:ph type="body" idx="1"/>
          </p:nvPr>
        </p:nvSpPr>
        <p:spPr/>
        <p:txBody>
          <a:bodyPr/>
          <a:lstStyle/>
          <a:p>
            <a:r>
              <a:rPr lang="en-GB" sz="1200" b="0" i="0" u="none" strike="noStrike" dirty="0">
                <a:solidFill>
                  <a:srgbClr val="18181B"/>
                </a:solidFill>
                <a:effectLst/>
                <a:latin typeface="ui-sans-serif"/>
              </a:rPr>
              <a:t>In the context of credit risk associated with granting a loan, a latent variable could be an underlying factor that influences the probability of default but is not directly measurable such as financial solvency</a:t>
            </a:r>
            <a:endParaRPr lang="en-GB" noProof="0" dirty="0"/>
          </a:p>
        </p:txBody>
      </p:sp>
      <p:sp>
        <p:nvSpPr>
          <p:cNvPr id="4" name="Espace réservé du numéro de diapositive 3">
            <a:extLst>
              <a:ext uri="{FF2B5EF4-FFF2-40B4-BE49-F238E27FC236}">
                <a16:creationId xmlns:a16="http://schemas.microsoft.com/office/drawing/2014/main" id="{9675CC4D-BF70-3880-684B-EEBE1D84FA4F}"/>
              </a:ext>
            </a:extLst>
          </p:cNvPr>
          <p:cNvSpPr>
            <a:spLocks noGrp="1"/>
          </p:cNvSpPr>
          <p:nvPr>
            <p:ph type="sldNum" sz="quarter" idx="5"/>
          </p:nvPr>
        </p:nvSpPr>
        <p:spPr/>
        <p:txBody>
          <a:bodyPr/>
          <a:lstStyle/>
          <a:p>
            <a:fld id="{BFE20620-1C2C-7043-8B38-691BB5666C4A}" type="slidenum">
              <a:rPr lang="fr-FR" smtClean="0"/>
              <a:t>5</a:t>
            </a:fld>
            <a:endParaRPr lang="fr-FR"/>
          </a:p>
        </p:txBody>
      </p:sp>
    </p:spTree>
    <p:extLst>
      <p:ext uri="{BB962C8B-B14F-4D97-AF65-F5344CB8AC3E}">
        <p14:creationId xmlns:p14="http://schemas.microsoft.com/office/powerpoint/2010/main" val="2631612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9117E-6EC9-1B08-0972-DA68B893147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AA2DE0-1986-38D7-7097-D6D216F9E9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C25D60-B21C-2DE1-812E-7C4EC9D1EA9B}"/>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5021A5BD-3A8E-F3BB-666B-236800F3E17C}"/>
              </a:ext>
            </a:extLst>
          </p:cNvPr>
          <p:cNvSpPr>
            <a:spLocks noGrp="1"/>
          </p:cNvSpPr>
          <p:nvPr>
            <p:ph type="sldNum" sz="quarter" idx="5"/>
          </p:nvPr>
        </p:nvSpPr>
        <p:spPr/>
        <p:txBody>
          <a:bodyPr/>
          <a:lstStyle/>
          <a:p>
            <a:fld id="{BFE20620-1C2C-7043-8B38-691BB5666C4A}" type="slidenum">
              <a:rPr lang="fr-FR" smtClean="0"/>
              <a:t>6</a:t>
            </a:fld>
            <a:endParaRPr lang="fr-FR"/>
          </a:p>
        </p:txBody>
      </p:sp>
    </p:spTree>
    <p:extLst>
      <p:ext uri="{BB962C8B-B14F-4D97-AF65-F5344CB8AC3E}">
        <p14:creationId xmlns:p14="http://schemas.microsoft.com/office/powerpoint/2010/main" val="1893075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324A9-47F3-E263-A805-2A52C2D666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77C63E7-C264-0B11-589A-DB678EF2B2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7368CC-972F-94AC-CE39-F4935D6BF3A9}"/>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0B4FBA59-8958-6C7B-5A28-3F67EBA1D77C}"/>
              </a:ext>
            </a:extLst>
          </p:cNvPr>
          <p:cNvSpPr>
            <a:spLocks noGrp="1"/>
          </p:cNvSpPr>
          <p:nvPr>
            <p:ph type="sldNum" sz="quarter" idx="5"/>
          </p:nvPr>
        </p:nvSpPr>
        <p:spPr/>
        <p:txBody>
          <a:bodyPr/>
          <a:lstStyle/>
          <a:p>
            <a:fld id="{BFE20620-1C2C-7043-8B38-691BB5666C4A}" type="slidenum">
              <a:rPr lang="fr-FR" smtClean="0"/>
              <a:t>7</a:t>
            </a:fld>
            <a:endParaRPr lang="fr-FR"/>
          </a:p>
        </p:txBody>
      </p:sp>
    </p:spTree>
    <p:extLst>
      <p:ext uri="{BB962C8B-B14F-4D97-AF65-F5344CB8AC3E}">
        <p14:creationId xmlns:p14="http://schemas.microsoft.com/office/powerpoint/2010/main" val="821957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7A1E-BB0A-AE26-2F75-289DB2D7FC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752F25-1012-83EA-BD81-F13CDB0BDE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EAA7CCC-693C-1484-6E6B-CA368034B591}"/>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5B8BCB47-0F6F-E0F2-23ED-2B0BADD4EC02}"/>
              </a:ext>
            </a:extLst>
          </p:cNvPr>
          <p:cNvSpPr>
            <a:spLocks noGrp="1"/>
          </p:cNvSpPr>
          <p:nvPr>
            <p:ph type="sldNum" sz="quarter" idx="5"/>
          </p:nvPr>
        </p:nvSpPr>
        <p:spPr/>
        <p:txBody>
          <a:bodyPr/>
          <a:lstStyle/>
          <a:p>
            <a:fld id="{BFE20620-1C2C-7043-8B38-691BB5666C4A}" type="slidenum">
              <a:rPr lang="fr-FR" smtClean="0"/>
              <a:t>8</a:t>
            </a:fld>
            <a:endParaRPr lang="fr-FR"/>
          </a:p>
        </p:txBody>
      </p:sp>
    </p:spTree>
    <p:extLst>
      <p:ext uri="{BB962C8B-B14F-4D97-AF65-F5344CB8AC3E}">
        <p14:creationId xmlns:p14="http://schemas.microsoft.com/office/powerpoint/2010/main" val="1969051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0014-580F-59DE-7C61-B2670D5BED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47962B-DEEE-E34E-A481-46E2501BCC0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33531DB-05A5-F43B-2464-AE2DC7984F5A}"/>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60E0A070-9195-E583-DA10-53019C82B480}"/>
              </a:ext>
            </a:extLst>
          </p:cNvPr>
          <p:cNvSpPr>
            <a:spLocks noGrp="1"/>
          </p:cNvSpPr>
          <p:nvPr>
            <p:ph type="sldNum" sz="quarter" idx="5"/>
          </p:nvPr>
        </p:nvSpPr>
        <p:spPr/>
        <p:txBody>
          <a:bodyPr/>
          <a:lstStyle/>
          <a:p>
            <a:fld id="{BFE20620-1C2C-7043-8B38-691BB5666C4A}" type="slidenum">
              <a:rPr lang="fr-FR" smtClean="0"/>
              <a:t>9</a:t>
            </a:fld>
            <a:endParaRPr lang="fr-FR"/>
          </a:p>
        </p:txBody>
      </p:sp>
    </p:spTree>
    <p:extLst>
      <p:ext uri="{BB962C8B-B14F-4D97-AF65-F5344CB8AC3E}">
        <p14:creationId xmlns:p14="http://schemas.microsoft.com/office/powerpoint/2010/main" val="3988540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EC2B-43FB-FDAF-2DCD-83C926B55F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AD9CE6-A898-44F2-791C-8176751184A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2E00433-F238-6359-5781-E0B3A11ECDA2}"/>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4C2CC02B-50C9-440F-F4F8-4806B7D7D426}"/>
              </a:ext>
            </a:extLst>
          </p:cNvPr>
          <p:cNvSpPr>
            <a:spLocks noGrp="1"/>
          </p:cNvSpPr>
          <p:nvPr>
            <p:ph type="sldNum" sz="quarter" idx="5"/>
          </p:nvPr>
        </p:nvSpPr>
        <p:spPr/>
        <p:txBody>
          <a:bodyPr/>
          <a:lstStyle/>
          <a:p>
            <a:fld id="{BFE20620-1C2C-7043-8B38-691BB5666C4A}" type="slidenum">
              <a:rPr lang="fr-FR" smtClean="0"/>
              <a:t>10</a:t>
            </a:fld>
            <a:endParaRPr lang="fr-FR"/>
          </a:p>
        </p:txBody>
      </p:sp>
    </p:spTree>
    <p:extLst>
      <p:ext uri="{BB962C8B-B14F-4D97-AF65-F5344CB8AC3E}">
        <p14:creationId xmlns:p14="http://schemas.microsoft.com/office/powerpoint/2010/main" val="2629571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CF1C3-8B02-03A1-97AE-0857730C50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D3E183-C2E1-EEAB-3A54-C28D9A26135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F09C182-D310-67FC-5850-7204E4E8213F}"/>
              </a:ext>
            </a:extLst>
          </p:cNvPr>
          <p:cNvSpPr>
            <a:spLocks noGrp="1"/>
          </p:cNvSpPr>
          <p:nvPr>
            <p:ph type="body" idx="1"/>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C38C083B-749D-8FBD-35A0-6B231D1BC69E}"/>
              </a:ext>
            </a:extLst>
          </p:cNvPr>
          <p:cNvSpPr>
            <a:spLocks noGrp="1"/>
          </p:cNvSpPr>
          <p:nvPr>
            <p:ph type="sldNum" sz="quarter" idx="5"/>
          </p:nvPr>
        </p:nvSpPr>
        <p:spPr/>
        <p:txBody>
          <a:bodyPr/>
          <a:lstStyle/>
          <a:p>
            <a:fld id="{BFE20620-1C2C-7043-8B38-691BB5666C4A}" type="slidenum">
              <a:rPr lang="fr-FR" smtClean="0"/>
              <a:t>11</a:t>
            </a:fld>
            <a:endParaRPr lang="fr-FR"/>
          </a:p>
        </p:txBody>
      </p:sp>
    </p:spTree>
    <p:extLst>
      <p:ext uri="{BB962C8B-B14F-4D97-AF65-F5344CB8AC3E}">
        <p14:creationId xmlns:p14="http://schemas.microsoft.com/office/powerpoint/2010/main" val="1948602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E70CBD-2044-C166-ECB4-B5E04FF864E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EC113E5F-03C3-18E2-FCEF-5EAEF2C2B9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55C1DD83-75D3-0C57-B17D-46F385BA66A1}"/>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68EF8CD5-AF43-340E-75EC-21C2B99D8FC0}"/>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3D594F8B-F444-CF76-5EAE-14902605DB64}"/>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3426571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4153C-B194-04D9-AC8D-003346E22792}"/>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25A136BF-46C1-85DC-CF58-09624E26771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53F97642-BEEC-650E-EA28-95D472DAD93C}"/>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2F707D93-390F-6441-C146-2B8599DEAEE3}"/>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2C2AC055-10B4-3F39-8AF0-72A1AFA5D119}"/>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823200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3DB80-C408-70FB-F92B-852E9DFC19A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F0B06203-602E-FF20-5EAF-5651685DF8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53AEE4A-0AF7-F59F-CEF3-BCB5EC068C17}"/>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1F86623A-8EE1-2AB8-8D88-AB6FAF5C442C}"/>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7BB31BB0-EE25-7CDD-ED6A-EF71DB6E33E3}"/>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1409467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7BC5CC-1612-2E99-2360-C7D7D486C187}"/>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E0D4BAF8-9419-2659-12F9-380BD70C8D9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4F0CAAE3-48EA-C79D-F0A5-B2B943022DA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086844DB-D409-6593-C0DD-A16B2335C76F}"/>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6" name="Espace réservé du pied de page 5">
            <a:extLst>
              <a:ext uri="{FF2B5EF4-FFF2-40B4-BE49-F238E27FC236}">
                <a16:creationId xmlns:a16="http://schemas.microsoft.com/office/drawing/2014/main" id="{667D7F13-441C-3514-1FE6-D3BA24560AA7}"/>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263C3FED-9F80-58AC-68DA-7E13756FC5B2}"/>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404359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4877B-3675-9701-F7F5-6057C2D37BB2}"/>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81A65331-88C9-A910-C951-A7A61B8B87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314EF64-F5B6-2969-12C0-3A7250E20D9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A2EFC147-85CD-625A-49C9-55DAEF6099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EB3046F-283D-EAE3-B76D-56B029DF505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D0EBE3F1-204E-6CDB-AA11-687ABE643460}"/>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8" name="Espace réservé du pied de page 7">
            <a:extLst>
              <a:ext uri="{FF2B5EF4-FFF2-40B4-BE49-F238E27FC236}">
                <a16:creationId xmlns:a16="http://schemas.microsoft.com/office/drawing/2014/main" id="{BE7894E7-148D-9F3B-FCB5-1C4793704DFA}"/>
              </a:ext>
            </a:extLst>
          </p:cNvPr>
          <p:cNvSpPr>
            <a:spLocks noGrp="1"/>
          </p:cNvSpPr>
          <p:nvPr>
            <p:ph type="ftr" sz="quarter" idx="11"/>
          </p:nvPr>
        </p:nvSpPr>
        <p:spPr/>
        <p:txBody>
          <a:bodyPr/>
          <a:lstStyle/>
          <a:p>
            <a:endParaRPr lang="en-GB"/>
          </a:p>
        </p:txBody>
      </p:sp>
      <p:sp>
        <p:nvSpPr>
          <p:cNvPr id="9" name="Espace réservé du numéro de diapositive 8">
            <a:extLst>
              <a:ext uri="{FF2B5EF4-FFF2-40B4-BE49-F238E27FC236}">
                <a16:creationId xmlns:a16="http://schemas.microsoft.com/office/drawing/2014/main" id="{5A3C6896-5632-CB3E-5EE9-1EA4B5335853}"/>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1234712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D1066-12A6-77B4-A50C-5E7982664D6E}"/>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F9710CDE-733F-C7D0-D838-8B83DB368C12}"/>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4" name="Espace réservé du pied de page 3">
            <a:extLst>
              <a:ext uri="{FF2B5EF4-FFF2-40B4-BE49-F238E27FC236}">
                <a16:creationId xmlns:a16="http://schemas.microsoft.com/office/drawing/2014/main" id="{06DC78F9-8F1B-313E-25EC-2AADF2FD96CC}"/>
              </a:ext>
            </a:extLst>
          </p:cNvPr>
          <p:cNvSpPr>
            <a:spLocks noGrp="1"/>
          </p:cNvSpPr>
          <p:nvPr>
            <p:ph type="ftr" sz="quarter" idx="11"/>
          </p:nvPr>
        </p:nvSpPr>
        <p:spPr/>
        <p:txBody>
          <a:bodyPr/>
          <a:lstStyle/>
          <a:p>
            <a:endParaRPr lang="en-GB"/>
          </a:p>
        </p:txBody>
      </p:sp>
      <p:sp>
        <p:nvSpPr>
          <p:cNvPr id="5" name="Espace réservé du numéro de diapositive 4">
            <a:extLst>
              <a:ext uri="{FF2B5EF4-FFF2-40B4-BE49-F238E27FC236}">
                <a16:creationId xmlns:a16="http://schemas.microsoft.com/office/drawing/2014/main" id="{8910B4FF-8DFC-6FDB-161B-27B99A460C6F}"/>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89802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6777153-E75F-C824-E8BE-8990E8DDC7BB}"/>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3" name="Espace réservé du pied de page 2">
            <a:extLst>
              <a:ext uri="{FF2B5EF4-FFF2-40B4-BE49-F238E27FC236}">
                <a16:creationId xmlns:a16="http://schemas.microsoft.com/office/drawing/2014/main" id="{C99D7FDB-C2A0-754F-B712-C081D0C9532F}"/>
              </a:ext>
            </a:extLst>
          </p:cNvPr>
          <p:cNvSpPr>
            <a:spLocks noGrp="1"/>
          </p:cNvSpPr>
          <p:nvPr>
            <p:ph type="ftr" sz="quarter" idx="11"/>
          </p:nvPr>
        </p:nvSpPr>
        <p:spPr/>
        <p:txBody>
          <a:bodyPr/>
          <a:lstStyle/>
          <a:p>
            <a:endParaRPr lang="en-GB"/>
          </a:p>
        </p:txBody>
      </p:sp>
      <p:sp>
        <p:nvSpPr>
          <p:cNvPr id="4" name="Espace réservé du numéro de diapositive 3">
            <a:extLst>
              <a:ext uri="{FF2B5EF4-FFF2-40B4-BE49-F238E27FC236}">
                <a16:creationId xmlns:a16="http://schemas.microsoft.com/office/drawing/2014/main" id="{181DB440-D618-FB26-E611-FF2BCCF13DEE}"/>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3628046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2515FC-C0B9-85EB-61A3-3FB0A9336CC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506E78D8-7A37-3A64-22F4-9321C8822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24267898-BFC1-2176-8903-0B5D991FB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CB55939-A8B1-F021-5D5D-FFA6669609EC}"/>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6" name="Espace réservé du pied de page 5">
            <a:extLst>
              <a:ext uri="{FF2B5EF4-FFF2-40B4-BE49-F238E27FC236}">
                <a16:creationId xmlns:a16="http://schemas.microsoft.com/office/drawing/2014/main" id="{29990A93-5E36-45AC-F49E-1ED8CFFA7D0E}"/>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DD5FC3F0-B696-254C-1328-CD7A01678F91}"/>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53933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CC3365-739C-42C1-39EB-B8057662180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C391ACDD-07B4-E6CE-3F24-AC97D05F63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9D245B25-0A03-5829-5651-A8D28FC246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3368B7E-EFBF-1624-412E-274A73EB1E71}"/>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6" name="Espace réservé du pied de page 5">
            <a:extLst>
              <a:ext uri="{FF2B5EF4-FFF2-40B4-BE49-F238E27FC236}">
                <a16:creationId xmlns:a16="http://schemas.microsoft.com/office/drawing/2014/main" id="{C367AF3E-4163-77DE-29E7-05056030B045}"/>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F86E3F94-DD4B-4118-5C03-54C7B05DC514}"/>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169479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F92E0B-B550-E988-3CCB-FFF97B48B2AB}"/>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AC283FFD-55BE-9721-6D74-62C2583BEFB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FF25E748-CA56-BFB6-3A92-F8AFC219C63B}"/>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E07DF5BF-1E2A-AB40-A2A7-F6FFF90E5FFD}"/>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F5659DFB-7AAF-6495-BEA9-CE850044E7BB}"/>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3983747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1E121DC-A2B1-952E-113E-11295ABD1731}"/>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5258FDE7-8E1E-BAC5-862E-88052E59C82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99089BB4-3887-F8C0-801B-B89FAD0AF7B7}"/>
              </a:ext>
            </a:extLst>
          </p:cNvPr>
          <p:cNvSpPr>
            <a:spLocks noGrp="1"/>
          </p:cNvSpPr>
          <p:nvPr>
            <p:ph type="dt" sz="half" idx="10"/>
          </p:nvPr>
        </p:nvSpPr>
        <p:spPr/>
        <p:txBody>
          <a:body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514785C4-BBA7-49D2-52EB-8DC6D86312A8}"/>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D547BE72-105F-866E-95CF-0E8203C51B33}"/>
              </a:ext>
            </a:extLst>
          </p:cNvPr>
          <p:cNvSpPr>
            <a:spLocks noGrp="1"/>
          </p:cNvSpPr>
          <p:nvPr>
            <p:ph type="sldNum" sz="quarter" idx="12"/>
          </p:nvPr>
        </p:nvSpPr>
        <p:spPr/>
        <p:txBody>
          <a:bodyPr/>
          <a:lstStyle/>
          <a:p>
            <a:fld id="{B5548709-7933-CF43-A482-AAE2AC3A11A9}" type="slidenum">
              <a:rPr lang="en-GB" smtClean="0"/>
              <a:t>‹N°›</a:t>
            </a:fld>
            <a:endParaRPr lang="en-GB"/>
          </a:p>
        </p:txBody>
      </p:sp>
    </p:spTree>
    <p:extLst>
      <p:ext uri="{BB962C8B-B14F-4D97-AF65-F5344CB8AC3E}">
        <p14:creationId xmlns:p14="http://schemas.microsoft.com/office/powerpoint/2010/main" val="114798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41734BF-6DF7-E3AC-4872-A490DD669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43481795-F1E3-7BED-8D75-DD849C3DB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104B7897-1F7C-84D1-5F86-0FB9E94865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802A82-6BE8-724E-9810-84149E189E03}" type="datetimeFigureOut">
              <a:rPr lang="en-GB" smtClean="0"/>
              <a:t>15/01/2025</a:t>
            </a:fld>
            <a:endParaRPr lang="en-GB"/>
          </a:p>
        </p:txBody>
      </p:sp>
      <p:sp>
        <p:nvSpPr>
          <p:cNvPr id="5" name="Espace réservé du pied de page 4">
            <a:extLst>
              <a:ext uri="{FF2B5EF4-FFF2-40B4-BE49-F238E27FC236}">
                <a16:creationId xmlns:a16="http://schemas.microsoft.com/office/drawing/2014/main" id="{17F2713B-38B1-FC93-6F14-8B00FB41A3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Espace réservé du numéro de diapositive 5">
            <a:extLst>
              <a:ext uri="{FF2B5EF4-FFF2-40B4-BE49-F238E27FC236}">
                <a16:creationId xmlns:a16="http://schemas.microsoft.com/office/drawing/2014/main" id="{D24D7ACB-FB9A-CF0E-9C5E-A2EEC2078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548709-7933-CF43-A482-AAE2AC3A11A9}" type="slidenum">
              <a:rPr lang="en-GB" smtClean="0"/>
              <a:t>‹N°›</a:t>
            </a:fld>
            <a:endParaRPr lang="en-GB"/>
          </a:p>
        </p:txBody>
      </p:sp>
    </p:spTree>
    <p:extLst>
      <p:ext uri="{BB962C8B-B14F-4D97-AF65-F5344CB8AC3E}">
        <p14:creationId xmlns:p14="http://schemas.microsoft.com/office/powerpoint/2010/main" val="4165920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normAutofit/>
          </a:bodyPr>
          <a:lstStyle/>
          <a:p>
            <a:r>
              <a:rPr lang="en-GB" noProof="0" dirty="0"/>
              <a:t>Latent Dirichlet Allocation</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p:txBody>
          <a:bodyPr/>
          <a:lstStyle/>
          <a:p>
            <a:r>
              <a:rPr lang="en-GB" noProof="0" dirty="0"/>
              <a:t>LDA for topic Modelling. Author: David Thébault</a:t>
            </a:r>
          </a:p>
        </p:txBody>
      </p:sp>
      <p:sp>
        <p:nvSpPr>
          <p:cNvPr id="4" name="ZoneTexte 3">
            <a:extLst>
              <a:ext uri="{FF2B5EF4-FFF2-40B4-BE49-F238E27FC236}">
                <a16:creationId xmlns:a16="http://schemas.microsoft.com/office/drawing/2014/main" id="{0B69ED97-53CD-8DC0-36B3-8D168C6342AB}"/>
              </a:ext>
            </a:extLst>
          </p:cNvPr>
          <p:cNvSpPr txBox="1"/>
          <p:nvPr/>
        </p:nvSpPr>
        <p:spPr>
          <a:xfrm>
            <a:off x="3423684" y="3827721"/>
            <a:ext cx="4890976" cy="369332"/>
          </a:xfrm>
          <a:prstGeom prst="rect">
            <a:avLst/>
          </a:prstGeom>
          <a:noFill/>
        </p:spPr>
        <p:txBody>
          <a:bodyPr wrap="square" rtlCol="0">
            <a:spAutoFit/>
          </a:bodyPr>
          <a:lstStyle/>
          <a:p>
            <a:pPr algn="r"/>
            <a:r>
              <a:rPr lang="en-GB" dirty="0"/>
              <a:t>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4A8439-9850-DBFA-890A-1A6B7ED1A314}"/>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AB336254-BF5B-D5F4-FDE7-9B8877DA5C0C}"/>
              </a:ext>
            </a:extLst>
          </p:cNvPr>
          <p:cNvSpPr txBox="1"/>
          <p:nvPr/>
        </p:nvSpPr>
        <p:spPr>
          <a:xfrm>
            <a:off x="838199" y="1403479"/>
            <a:ext cx="10515600" cy="4892675"/>
          </a:xfrm>
          <a:prstGeom prst="rect">
            <a:avLst/>
          </a:prstGeom>
          <a:noFill/>
        </p:spPr>
        <p:txBody>
          <a:bodyPr wrap="square" lIns="90000" rtlCol="0">
            <a:noAutofit/>
          </a:bodyPr>
          <a:lstStyle/>
          <a:p>
            <a:r>
              <a:rPr lang="en-GB" sz="2800" b="1" i="0" u="none" strike="noStrike" noProof="0" dirty="0">
                <a:effectLst/>
                <a:latin typeface="ui-sans-serif"/>
              </a:rPr>
              <a:t>Topic </a:t>
            </a:r>
            <a:r>
              <a:rPr lang="en-GB" sz="2800" b="1" i="0" u="none" strike="noStrike" noProof="0" dirty="0" err="1">
                <a:effectLst/>
                <a:latin typeface="ui-sans-serif"/>
              </a:rPr>
              <a:t>modeling</a:t>
            </a:r>
            <a:r>
              <a:rPr lang="en-GB" sz="2800" b="1" i="0" u="none" strike="noStrike" noProof="0" dirty="0">
                <a:effectLst/>
                <a:latin typeface="ui-sans-serif"/>
              </a:rPr>
              <a:t> technique for text data</a:t>
            </a:r>
          </a:p>
          <a:p>
            <a:endParaRPr lang="en-GB" sz="2800" b="1" noProof="0" dirty="0">
              <a:latin typeface="ui-sans-serif"/>
            </a:endParaRPr>
          </a:p>
          <a:p>
            <a:r>
              <a:rPr lang="en-GB" sz="2400" b="0" i="0" u="none" strike="noStrike" noProof="0" dirty="0">
                <a:effectLst/>
                <a:latin typeface="ui-sans-serif"/>
              </a:rPr>
              <a:t>LDA identifies the main topics in a set of documents by modelling each document as a distribution of topics and each topic as a distribution of words</a:t>
            </a:r>
            <a:r>
              <a:rPr lang="en-GB" sz="2800" b="0" i="0" u="none" strike="noStrike" noProof="0" dirty="0">
                <a:effectLst/>
                <a:latin typeface="ui-sans-serif"/>
              </a:rPr>
              <a:t>.</a:t>
            </a:r>
          </a:p>
          <a:p>
            <a:pPr>
              <a:lnSpc>
                <a:spcPct val="150000"/>
              </a:lnSpc>
            </a:pPr>
            <a:r>
              <a:rPr lang="en-GB" sz="2000" b="1" noProof="0" dirty="0">
                <a:latin typeface="ui-sans-serif"/>
              </a:rPr>
              <a:t>Usages</a:t>
            </a:r>
            <a:r>
              <a:rPr lang="en-GB" sz="2000" noProof="0" dirty="0">
                <a:latin typeface="ui-sans-serif"/>
              </a:rPr>
              <a:t>:</a:t>
            </a:r>
          </a:p>
          <a:p>
            <a:pPr marL="457200" indent="-457200">
              <a:lnSpc>
                <a:spcPct val="150000"/>
              </a:lnSpc>
              <a:buFont typeface="Wingdings" pitchFamily="2" charset="2"/>
              <a:buChar char="§"/>
            </a:pPr>
            <a:r>
              <a:rPr lang="en-GB" sz="2000" dirty="0">
                <a:latin typeface="ui-sans-serif"/>
              </a:rPr>
              <a:t>Topics analysis</a:t>
            </a:r>
          </a:p>
          <a:p>
            <a:pPr marL="457200" indent="-457200">
              <a:lnSpc>
                <a:spcPct val="150000"/>
              </a:lnSpc>
              <a:buFont typeface="Wingdings" pitchFamily="2" charset="2"/>
              <a:buChar char="§"/>
            </a:pPr>
            <a:r>
              <a:rPr lang="en-GB" sz="2000" dirty="0">
                <a:latin typeface="ui-sans-serif"/>
              </a:rPr>
              <a:t>Document classification</a:t>
            </a:r>
          </a:p>
          <a:p>
            <a:pPr marL="457200" indent="-457200">
              <a:lnSpc>
                <a:spcPct val="150000"/>
              </a:lnSpc>
              <a:buFont typeface="Wingdings" pitchFamily="2" charset="2"/>
              <a:buChar char="§"/>
            </a:pPr>
            <a:r>
              <a:rPr lang="en-GB" sz="2000" dirty="0">
                <a:latin typeface="ui-sans-serif"/>
              </a:rPr>
              <a:t>Content recommendation</a:t>
            </a:r>
          </a:p>
          <a:p>
            <a:pPr marL="457200" indent="-457200">
              <a:lnSpc>
                <a:spcPct val="150000"/>
              </a:lnSpc>
              <a:buFont typeface="Wingdings" pitchFamily="2" charset="2"/>
              <a:buChar char="§"/>
            </a:pPr>
            <a:r>
              <a:rPr lang="en-GB" sz="2000" dirty="0">
                <a:latin typeface="ui-sans-serif"/>
              </a:rPr>
              <a:t>Automatic summarization</a:t>
            </a:r>
          </a:p>
          <a:p>
            <a:pPr marL="457200" indent="-457200">
              <a:lnSpc>
                <a:spcPct val="150000"/>
              </a:lnSpc>
              <a:buFont typeface="Wingdings" pitchFamily="2" charset="2"/>
              <a:buChar char="§"/>
            </a:pPr>
            <a:r>
              <a:rPr lang="en-GB" sz="2000" dirty="0">
                <a:latin typeface="ui-sans-serif"/>
              </a:rPr>
              <a:t>Sentiment analysis</a:t>
            </a:r>
          </a:p>
          <a:p>
            <a:pPr marL="457200" indent="-457200">
              <a:lnSpc>
                <a:spcPct val="150000"/>
              </a:lnSpc>
              <a:buFont typeface="Wingdings" pitchFamily="2" charset="2"/>
              <a:buChar char="§"/>
            </a:pPr>
            <a:r>
              <a:rPr lang="en-GB" sz="2000" dirty="0">
                <a:latin typeface="ui-sans-serif"/>
              </a:rPr>
              <a:t>Information Retrieval</a:t>
            </a:r>
          </a:p>
          <a:p>
            <a:endParaRPr lang="en-GB" sz="2800" noProof="0" dirty="0"/>
          </a:p>
        </p:txBody>
      </p:sp>
      <p:sp>
        <p:nvSpPr>
          <p:cNvPr id="6" name="Espace réservé du pied de page 2">
            <a:extLst>
              <a:ext uri="{FF2B5EF4-FFF2-40B4-BE49-F238E27FC236}">
                <a16:creationId xmlns:a16="http://schemas.microsoft.com/office/drawing/2014/main" id="{7B2E440C-0D83-2118-BBE4-48ECA74D581C}"/>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Tree>
    <p:extLst>
      <p:ext uri="{BB962C8B-B14F-4D97-AF65-F5344CB8AC3E}">
        <p14:creationId xmlns:p14="http://schemas.microsoft.com/office/powerpoint/2010/main" val="3575134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EBD4-CF0B-8257-7A7E-FD981300E8B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C1D8A5-0B35-1C52-8C90-E8DC15A68744}"/>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54DD25C0-E07D-5875-9BDE-EAC61AA20924}"/>
              </a:ext>
            </a:extLst>
          </p:cNvPr>
          <p:cNvSpPr txBox="1"/>
          <p:nvPr/>
        </p:nvSpPr>
        <p:spPr>
          <a:xfrm>
            <a:off x="838199" y="1403480"/>
            <a:ext cx="10515600" cy="4785360"/>
          </a:xfrm>
          <a:prstGeom prst="rect">
            <a:avLst/>
          </a:prstGeom>
          <a:noFill/>
        </p:spPr>
        <p:txBody>
          <a:bodyPr wrap="square" lIns="90000" rtlCol="0">
            <a:noAutofit/>
          </a:bodyPr>
          <a:lstStyle/>
          <a:p>
            <a:r>
              <a:rPr lang="en-GB" sz="2800" b="1" i="0" u="none" strike="noStrike" noProof="0" dirty="0">
                <a:effectLst/>
                <a:latin typeface="ui-sans-serif"/>
              </a:rPr>
              <a:t>Topic </a:t>
            </a:r>
            <a:r>
              <a:rPr lang="en-GB" sz="2800" b="1" i="0" u="none" strike="noStrike" noProof="0" dirty="0" err="1">
                <a:effectLst/>
                <a:latin typeface="ui-sans-serif"/>
              </a:rPr>
              <a:t>modeling</a:t>
            </a:r>
            <a:r>
              <a:rPr lang="en-GB" sz="2800" b="1" i="0" u="none" strike="noStrike" noProof="0" dirty="0">
                <a:effectLst/>
                <a:latin typeface="ui-sans-serif"/>
              </a:rPr>
              <a:t> technique for text data</a:t>
            </a:r>
          </a:p>
          <a:p>
            <a:endParaRPr lang="en-GB" sz="2800" b="1" noProof="0" dirty="0">
              <a:latin typeface="ui-sans-serif"/>
            </a:endParaRPr>
          </a:p>
          <a:p>
            <a:r>
              <a:rPr lang="en-GB" sz="2400" b="1" i="0" u="none" strike="noStrike" noProof="0" dirty="0">
                <a:effectLst/>
                <a:latin typeface="ui-sans-serif"/>
              </a:rPr>
              <a:t>Latent</a:t>
            </a:r>
          </a:p>
          <a:p>
            <a:pPr marL="342900" indent="-342900">
              <a:buFont typeface="Wingdings" pitchFamily="2" charset="2"/>
              <a:buChar char="§"/>
            </a:pPr>
            <a:r>
              <a:rPr lang="en-GB" sz="2400" dirty="0">
                <a:latin typeface="ui-sans-serif"/>
              </a:rPr>
              <a:t>Something present but not observable. </a:t>
            </a:r>
          </a:p>
          <a:p>
            <a:pPr marL="342900" indent="-342900">
              <a:buFont typeface="Wingdings" pitchFamily="2" charset="2"/>
              <a:buChar char="§"/>
            </a:pPr>
            <a:endParaRPr lang="en-GB" sz="2400" dirty="0">
              <a:latin typeface="ui-sans-serif"/>
            </a:endParaRPr>
          </a:p>
          <a:p>
            <a:r>
              <a:rPr lang="en-GB" sz="2000" dirty="0">
                <a:latin typeface="ui-sans-serif"/>
              </a:rPr>
              <a:t>In the context of LDA, “latent” refers to the underlying topics in text documents that are not explicitly labelled or visible but can be inferred (estimated) from the words and their distribution within the document.</a:t>
            </a:r>
          </a:p>
          <a:p>
            <a:endParaRPr lang="en-GB" sz="2000" dirty="0">
              <a:latin typeface="ui-sans-serif"/>
            </a:endParaRPr>
          </a:p>
          <a:p>
            <a:r>
              <a:rPr lang="en-GB" sz="2000" noProof="0" dirty="0">
                <a:latin typeface="ui-sans-serif"/>
              </a:rPr>
              <a:t>« </a:t>
            </a:r>
            <a:r>
              <a:rPr lang="en-GB" sz="2000" b="0" i="0" u="none" strike="noStrike" noProof="0" dirty="0">
                <a:effectLst/>
                <a:latin typeface="ui-sans-serif"/>
              </a:rPr>
              <a:t>Latent distribution allocation » is a concept used to describe models where observed data is explained by distributions of latent variables, and where there is a process of assigning observed data to these latent variables.</a:t>
            </a:r>
            <a:endParaRPr lang="en-GB" sz="2000" noProof="0" dirty="0">
              <a:latin typeface="ui-sans-serif"/>
            </a:endParaRPr>
          </a:p>
          <a:p>
            <a:endParaRPr lang="en-GB" sz="2800" noProof="0" dirty="0"/>
          </a:p>
        </p:txBody>
      </p:sp>
      <p:sp>
        <p:nvSpPr>
          <p:cNvPr id="6" name="Espace réservé du pied de page 2">
            <a:extLst>
              <a:ext uri="{FF2B5EF4-FFF2-40B4-BE49-F238E27FC236}">
                <a16:creationId xmlns:a16="http://schemas.microsoft.com/office/drawing/2014/main" id="{6FC2193F-85E0-FACE-9D66-868F9360F05E}"/>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Tree>
    <p:extLst>
      <p:ext uri="{BB962C8B-B14F-4D97-AF65-F5344CB8AC3E}">
        <p14:creationId xmlns:p14="http://schemas.microsoft.com/office/powerpoint/2010/main" val="4108282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DACBB-B713-8454-B179-76825506CA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570BC3-A3C8-CDF4-D629-77C3B54CDA64}"/>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8C3F65C2-4457-3BA4-B9E7-BC1E90D24027}"/>
              </a:ext>
            </a:extLst>
          </p:cNvPr>
          <p:cNvSpPr txBox="1"/>
          <p:nvPr/>
        </p:nvSpPr>
        <p:spPr>
          <a:xfrm>
            <a:off x="838199" y="1403480"/>
            <a:ext cx="10515600" cy="4785360"/>
          </a:xfrm>
          <a:prstGeom prst="rect">
            <a:avLst/>
          </a:prstGeom>
          <a:noFill/>
        </p:spPr>
        <p:txBody>
          <a:bodyPr wrap="square" lIns="90000" rtlCol="0">
            <a:noAutofit/>
          </a:bodyPr>
          <a:lstStyle/>
          <a:p>
            <a:r>
              <a:rPr lang="en-GB" sz="2800" b="1" i="0" u="none" strike="noStrike" noProof="0" dirty="0">
                <a:effectLst/>
                <a:latin typeface="ui-sans-serif"/>
              </a:rPr>
              <a:t>Topic </a:t>
            </a:r>
            <a:r>
              <a:rPr lang="en-GB" sz="2800" b="1" i="0" u="none" strike="noStrike" noProof="0" dirty="0" err="1">
                <a:effectLst/>
                <a:latin typeface="ui-sans-serif"/>
              </a:rPr>
              <a:t>modeling</a:t>
            </a:r>
            <a:r>
              <a:rPr lang="en-GB" sz="2800" b="1" i="0" u="none" strike="noStrike" noProof="0" dirty="0">
                <a:effectLst/>
                <a:latin typeface="ui-sans-serif"/>
              </a:rPr>
              <a:t> technique for text data</a:t>
            </a:r>
          </a:p>
          <a:p>
            <a:endParaRPr lang="en-GB" sz="2800" b="1" noProof="0" dirty="0">
              <a:latin typeface="ui-sans-serif"/>
            </a:endParaRPr>
          </a:p>
          <a:p>
            <a:r>
              <a:rPr lang="fr-FR" sz="2000" dirty="0">
                <a:latin typeface="ui-sans-serif"/>
              </a:rPr>
              <a:t>Latent Dirichlet Allocation (LDA) (</a:t>
            </a:r>
            <a:r>
              <a:rPr lang="fr-FR" sz="2000" dirty="0" err="1">
                <a:latin typeface="ui-sans-serif"/>
              </a:rPr>
              <a:t>Blei</a:t>
            </a:r>
            <a:r>
              <a:rPr lang="fr-FR" sz="2000" dirty="0">
                <a:latin typeface="ui-sans-serif"/>
              </a:rPr>
              <a:t> et al., 2003) </a:t>
            </a:r>
            <a:r>
              <a:rPr lang="fr-FR" sz="2000" dirty="0" err="1">
                <a:latin typeface="ui-sans-serif"/>
              </a:rPr>
              <a:t>is</a:t>
            </a:r>
            <a:r>
              <a:rPr lang="fr-FR" sz="2000" dirty="0">
                <a:latin typeface="ui-sans-serif"/>
              </a:rPr>
              <a:t> a </a:t>
            </a:r>
            <a:r>
              <a:rPr lang="fr-FR" sz="2000" dirty="0" err="1">
                <a:latin typeface="ui-sans-serif"/>
              </a:rPr>
              <a:t>probabilistic</a:t>
            </a:r>
            <a:r>
              <a:rPr lang="fr-FR" sz="2000" dirty="0">
                <a:latin typeface="ui-sans-serif"/>
              </a:rPr>
              <a:t> model </a:t>
            </a:r>
            <a:r>
              <a:rPr lang="fr-FR" sz="2000" dirty="0" err="1">
                <a:latin typeface="ui-sans-serif"/>
              </a:rPr>
              <a:t>which</a:t>
            </a:r>
            <a:r>
              <a:rPr lang="fr-FR" sz="2000" dirty="0">
                <a:latin typeface="ui-sans-serif"/>
              </a:rPr>
              <a:t> </a:t>
            </a:r>
            <a:r>
              <a:rPr lang="fr-FR" sz="2000" dirty="0" err="1">
                <a:latin typeface="ui-sans-serif"/>
              </a:rPr>
              <a:t>organizes</a:t>
            </a:r>
            <a:r>
              <a:rPr lang="fr-FR" sz="2000" dirty="0">
                <a:latin typeface="ui-sans-serif"/>
              </a:rPr>
              <a:t> and </a:t>
            </a:r>
            <a:r>
              <a:rPr lang="fr-FR" sz="2000" dirty="0" err="1">
                <a:latin typeface="ui-sans-serif"/>
              </a:rPr>
              <a:t>summarizes</a:t>
            </a:r>
            <a:r>
              <a:rPr lang="fr-FR" sz="2000" dirty="0">
                <a:latin typeface="ui-sans-serif"/>
              </a:rPr>
              <a:t> large </a:t>
            </a:r>
            <a:r>
              <a:rPr lang="fr-FR" sz="2000" dirty="0" err="1">
                <a:latin typeface="ui-sans-serif"/>
              </a:rPr>
              <a:t>corpora</a:t>
            </a:r>
            <a:r>
              <a:rPr lang="fr-FR" sz="2000" dirty="0">
                <a:latin typeface="ui-sans-serif"/>
              </a:rPr>
              <a:t> of </a:t>
            </a:r>
            <a:r>
              <a:rPr lang="fr-FR" sz="2000" dirty="0" err="1">
                <a:latin typeface="ui-sans-serif"/>
              </a:rPr>
              <a:t>text</a:t>
            </a:r>
            <a:r>
              <a:rPr lang="fr-FR" sz="2000" dirty="0">
                <a:latin typeface="ui-sans-serif"/>
              </a:rPr>
              <a:t> documents by </a:t>
            </a:r>
            <a:r>
              <a:rPr lang="fr-FR" sz="2000" dirty="0" err="1">
                <a:latin typeface="ui-sans-serif"/>
              </a:rPr>
              <a:t>automatically</a:t>
            </a:r>
            <a:r>
              <a:rPr lang="fr-FR" sz="2000" dirty="0">
                <a:latin typeface="ui-sans-serif"/>
              </a:rPr>
              <a:t> </a:t>
            </a:r>
            <a:r>
              <a:rPr lang="fr-FR" sz="2000" dirty="0" err="1">
                <a:latin typeface="ui-sans-serif"/>
              </a:rPr>
              <a:t>discovering</a:t>
            </a:r>
            <a:r>
              <a:rPr lang="fr-FR" sz="2000" dirty="0">
                <a:latin typeface="ui-sans-serif"/>
              </a:rPr>
              <a:t> the </a:t>
            </a:r>
            <a:r>
              <a:rPr lang="fr-FR" sz="2000" dirty="0" err="1">
                <a:latin typeface="ui-sans-serif"/>
              </a:rPr>
              <a:t>semantic</a:t>
            </a:r>
            <a:r>
              <a:rPr lang="fr-FR" sz="2000" dirty="0">
                <a:latin typeface="ui-sans-serif"/>
              </a:rPr>
              <a:t> </a:t>
            </a:r>
            <a:r>
              <a:rPr lang="fr-FR" sz="2000" dirty="0" err="1">
                <a:latin typeface="ui-sans-serif"/>
              </a:rPr>
              <a:t>themes</a:t>
            </a:r>
            <a:r>
              <a:rPr lang="fr-FR" sz="2000" dirty="0">
                <a:latin typeface="ui-sans-serif"/>
              </a:rPr>
              <a:t>, or topics, </a:t>
            </a:r>
            <a:r>
              <a:rPr lang="fr-FR" sz="2000" dirty="0" err="1">
                <a:latin typeface="ui-sans-serif"/>
              </a:rPr>
              <a:t>hidden</a:t>
            </a:r>
            <a:r>
              <a:rPr lang="fr-FR" sz="2000" dirty="0">
                <a:latin typeface="ui-sans-serif"/>
              </a:rPr>
              <a:t> </a:t>
            </a:r>
            <a:r>
              <a:rPr lang="fr-FR" sz="2000" dirty="0" err="1">
                <a:latin typeface="ui-sans-serif"/>
              </a:rPr>
              <a:t>within</a:t>
            </a:r>
            <a:r>
              <a:rPr lang="fr-FR" sz="2000" dirty="0">
                <a:latin typeface="ui-sans-serif"/>
              </a:rPr>
              <a:t> the data. </a:t>
            </a:r>
          </a:p>
          <a:p>
            <a:br>
              <a:rPr lang="fr-FR" sz="2000" dirty="0">
                <a:latin typeface="ui-sans-serif"/>
              </a:rPr>
            </a:br>
            <a:r>
              <a:rPr lang="fr-FR" sz="2000" dirty="0">
                <a:latin typeface="ui-sans-serif"/>
              </a:rPr>
              <a:t>LDA </a:t>
            </a:r>
            <a:r>
              <a:rPr lang="fr-FR" sz="2000" dirty="0" err="1">
                <a:latin typeface="ui-sans-serif"/>
              </a:rPr>
              <a:t>asumptions</a:t>
            </a:r>
            <a:r>
              <a:rPr lang="fr-FR" sz="2000" dirty="0">
                <a:latin typeface="ui-sans-serif"/>
              </a:rPr>
              <a:t> are </a:t>
            </a:r>
            <a:r>
              <a:rPr lang="fr-FR" sz="2000" dirty="0" err="1">
                <a:latin typeface="ui-sans-serif"/>
              </a:rPr>
              <a:t>that</a:t>
            </a:r>
            <a:r>
              <a:rPr lang="fr-FR" sz="2000" dirty="0">
                <a:latin typeface="ui-sans-serif"/>
              </a:rPr>
              <a:t>:</a:t>
            </a:r>
          </a:p>
          <a:p>
            <a:pPr marL="342900" indent="-342900">
              <a:buFont typeface="Wingdings" pitchFamily="2" charset="2"/>
              <a:buChar char="§"/>
            </a:pPr>
            <a:r>
              <a:rPr lang="fr-FR" sz="2000" dirty="0" err="1">
                <a:latin typeface="ui-sans-serif"/>
              </a:rPr>
              <a:t>Every</a:t>
            </a:r>
            <a:r>
              <a:rPr lang="fr-FR" sz="2000" dirty="0">
                <a:latin typeface="ui-sans-serif"/>
              </a:rPr>
              <a:t> document </a:t>
            </a:r>
            <a:r>
              <a:rPr lang="fr-FR" sz="2000" dirty="0" err="1">
                <a:latin typeface="ui-sans-serif"/>
              </a:rPr>
              <a:t>is</a:t>
            </a:r>
            <a:r>
              <a:rPr lang="fr-FR" sz="2000" dirty="0">
                <a:latin typeface="ui-sans-serif"/>
              </a:rPr>
              <a:t> a mix of topics</a:t>
            </a:r>
          </a:p>
          <a:p>
            <a:pPr marL="342900" indent="-342900">
              <a:buFont typeface="Wingdings" pitchFamily="2" charset="2"/>
              <a:buChar char="§"/>
            </a:pPr>
            <a:r>
              <a:rPr lang="fr-FR" sz="2000" dirty="0" err="1">
                <a:latin typeface="ui-sans-serif"/>
              </a:rPr>
              <a:t>Every</a:t>
            </a:r>
            <a:r>
              <a:rPr lang="fr-FR" sz="2000" dirty="0">
                <a:latin typeface="ui-sans-serif"/>
              </a:rPr>
              <a:t> topic </a:t>
            </a:r>
            <a:r>
              <a:rPr lang="fr-FR" sz="2000" dirty="0" err="1">
                <a:latin typeface="ui-sans-serif"/>
              </a:rPr>
              <a:t>is</a:t>
            </a:r>
            <a:r>
              <a:rPr lang="fr-FR" sz="2000" dirty="0">
                <a:latin typeface="ui-sans-serif"/>
              </a:rPr>
              <a:t> a mix of </a:t>
            </a:r>
            <a:r>
              <a:rPr lang="fr-FR" sz="2000" dirty="0" err="1">
                <a:latin typeface="ui-sans-serif"/>
              </a:rPr>
              <a:t>words</a:t>
            </a:r>
            <a:r>
              <a:rPr lang="fr-FR" sz="2000" dirty="0">
                <a:latin typeface="ui-sans-serif"/>
              </a:rPr>
              <a:t> (the </a:t>
            </a:r>
            <a:r>
              <a:rPr lang="fr-FR" sz="2000" dirty="0" err="1">
                <a:latin typeface="ui-sans-serif"/>
              </a:rPr>
              <a:t>order</a:t>
            </a:r>
            <a:r>
              <a:rPr lang="fr-FR" sz="2000" dirty="0">
                <a:latin typeface="ui-sans-serif"/>
              </a:rPr>
              <a:t> of the </a:t>
            </a:r>
            <a:r>
              <a:rPr lang="fr-FR" sz="2000" dirty="0" err="1">
                <a:latin typeface="ui-sans-serif"/>
              </a:rPr>
              <a:t>words</a:t>
            </a:r>
            <a:r>
              <a:rPr lang="fr-FR" sz="2000" dirty="0">
                <a:latin typeface="ui-sans-serif"/>
              </a:rPr>
              <a:t> </a:t>
            </a:r>
            <a:r>
              <a:rPr lang="fr-FR" sz="2000" dirty="0" err="1">
                <a:latin typeface="ui-sans-serif"/>
              </a:rPr>
              <a:t>does</a:t>
            </a:r>
            <a:r>
              <a:rPr lang="fr-FR" sz="2000" dirty="0">
                <a:latin typeface="ui-sans-serif"/>
              </a:rPr>
              <a:t> not </a:t>
            </a:r>
            <a:r>
              <a:rPr lang="fr-FR" sz="2000" dirty="0" err="1">
                <a:latin typeface="ui-sans-serif"/>
              </a:rPr>
              <a:t>matter</a:t>
            </a:r>
            <a:r>
              <a:rPr lang="fr-FR" sz="2000" dirty="0">
                <a:latin typeface="ui-sans-serif"/>
              </a:rPr>
              <a:t>)</a:t>
            </a:r>
          </a:p>
          <a:p>
            <a:endParaRPr lang="en-GB" sz="2800" noProof="0" dirty="0"/>
          </a:p>
        </p:txBody>
      </p:sp>
      <p:sp>
        <p:nvSpPr>
          <p:cNvPr id="6" name="Espace réservé du pied de page 2">
            <a:extLst>
              <a:ext uri="{FF2B5EF4-FFF2-40B4-BE49-F238E27FC236}">
                <a16:creationId xmlns:a16="http://schemas.microsoft.com/office/drawing/2014/main" id="{5CE5FF48-A94E-88D4-3E50-BBDCFB462013}"/>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Tree>
    <p:extLst>
      <p:ext uri="{BB962C8B-B14F-4D97-AF65-F5344CB8AC3E}">
        <p14:creationId xmlns:p14="http://schemas.microsoft.com/office/powerpoint/2010/main" val="1203685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A698B-9F6A-6E2E-F4A8-EB131170CD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C8ED65-2159-79B9-E40C-D1ECB2D5F2E4}"/>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62575C49-DAAD-3BAB-D6CA-42463585F437}"/>
              </a:ext>
            </a:extLst>
          </p:cNvPr>
          <p:cNvSpPr txBox="1"/>
          <p:nvPr/>
        </p:nvSpPr>
        <p:spPr>
          <a:xfrm>
            <a:off x="838199" y="1403480"/>
            <a:ext cx="10515600" cy="585741"/>
          </a:xfrm>
          <a:prstGeom prst="rect">
            <a:avLst/>
          </a:prstGeom>
          <a:noFill/>
        </p:spPr>
        <p:txBody>
          <a:bodyPr wrap="square" lIns="90000" rtlCol="0">
            <a:noAutofit/>
          </a:bodyPr>
          <a:lstStyle/>
          <a:p>
            <a:r>
              <a:rPr lang="en-GB" sz="2800" b="1" i="0" u="none" strike="noStrike" noProof="0" dirty="0">
                <a:effectLst/>
                <a:latin typeface="ui-sans-serif"/>
              </a:rPr>
              <a:t>Topic </a:t>
            </a:r>
            <a:r>
              <a:rPr lang="en-GB" sz="2800" b="1" i="0" u="none" strike="noStrike" noProof="0" dirty="0" err="1">
                <a:effectLst/>
                <a:latin typeface="ui-sans-serif"/>
              </a:rPr>
              <a:t>modeling</a:t>
            </a:r>
            <a:r>
              <a:rPr lang="en-GB" sz="2800" b="1" i="0" u="none" strike="noStrike" noProof="0" dirty="0">
                <a:effectLst/>
                <a:latin typeface="ui-sans-serif"/>
              </a:rPr>
              <a:t> technique for text data</a:t>
            </a:r>
          </a:p>
        </p:txBody>
      </p:sp>
      <p:sp>
        <p:nvSpPr>
          <p:cNvPr id="6" name="Espace réservé du pied de page 2">
            <a:extLst>
              <a:ext uri="{FF2B5EF4-FFF2-40B4-BE49-F238E27FC236}">
                <a16:creationId xmlns:a16="http://schemas.microsoft.com/office/drawing/2014/main" id="{F38D59EC-FA5E-CC34-5B2F-D9771DD19190}"/>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
        <p:nvSpPr>
          <p:cNvPr id="3" name="Rectangle 2">
            <a:extLst>
              <a:ext uri="{FF2B5EF4-FFF2-40B4-BE49-F238E27FC236}">
                <a16:creationId xmlns:a16="http://schemas.microsoft.com/office/drawing/2014/main" id="{53B50E17-7E9E-920B-7336-76F380772B69}"/>
              </a:ext>
            </a:extLst>
          </p:cNvPr>
          <p:cNvSpPr/>
          <p:nvPr/>
        </p:nvSpPr>
        <p:spPr>
          <a:xfrm>
            <a:off x="838199" y="2334219"/>
            <a:ext cx="7567864" cy="40221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938FEAE-5946-32A6-642C-C6AA76174040}"/>
                  </a:ext>
                </a:extLst>
              </p:cNvPr>
              <p:cNvSpPr txBox="1"/>
              <p:nvPr/>
            </p:nvSpPr>
            <p:spPr>
              <a:xfrm>
                <a:off x="1283368" y="4746634"/>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sz="4000" b="0" i="1" smtClean="0">
                          <a:solidFill>
                            <a:schemeClr val="bg1"/>
                          </a:solidFill>
                          <a:latin typeface="Cambria Math" panose="02040503050406030204" pitchFamily="18" charset="0"/>
                        </a:rPr>
                        <m:t>α</m:t>
                      </m:r>
                    </m:oMath>
                  </m:oMathPara>
                </a14:m>
                <a:endParaRPr lang="fr-FR" sz="4000" b="0" dirty="0">
                  <a:solidFill>
                    <a:schemeClr val="bg1"/>
                  </a:solidFill>
                </a:endParaRPr>
              </a:p>
            </p:txBody>
          </p:sp>
        </mc:Choice>
        <mc:Fallback xmlns="">
          <p:sp>
            <p:nvSpPr>
              <p:cNvPr id="5" name="ZoneTexte 4">
                <a:extLst>
                  <a:ext uri="{FF2B5EF4-FFF2-40B4-BE49-F238E27FC236}">
                    <a16:creationId xmlns:a16="http://schemas.microsoft.com/office/drawing/2014/main" id="{5938FEAE-5946-32A6-642C-C6AA76174040}"/>
                  </a:ext>
                </a:extLst>
              </p:cNvPr>
              <p:cNvSpPr txBox="1">
                <a:spLocks noRot="1" noChangeAspect="1" noMove="1" noResize="1" noEditPoints="1" noAdjustHandles="1" noChangeArrowheads="1" noChangeShapeType="1" noTextEdit="1"/>
              </p:cNvSpPr>
              <p:nvPr/>
            </p:nvSpPr>
            <p:spPr>
              <a:xfrm>
                <a:off x="1283368" y="4746634"/>
                <a:ext cx="721895" cy="707886"/>
              </a:xfrm>
              <a:prstGeom prst="rect">
                <a:avLst/>
              </a:prstGeom>
              <a:blipFill>
                <a:blip r:embed="rId3"/>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B5EED98D-1C06-A1EE-5436-460FEE3B3439}"/>
                  </a:ext>
                </a:extLst>
              </p:cNvPr>
              <p:cNvSpPr txBox="1"/>
              <p:nvPr/>
            </p:nvSpPr>
            <p:spPr>
              <a:xfrm>
                <a:off x="3874168" y="3144253"/>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4000" b="0" i="1" smtClean="0">
                          <a:solidFill>
                            <a:schemeClr val="bg1"/>
                          </a:solidFill>
                          <a:latin typeface="Cambria Math" panose="02040503050406030204" pitchFamily="18" charset="0"/>
                        </a:rPr>
                        <m:t>𝛽</m:t>
                      </m:r>
                    </m:oMath>
                  </m:oMathPara>
                </a14:m>
                <a:endParaRPr lang="fr-FR" sz="4000" b="0" dirty="0">
                  <a:solidFill>
                    <a:schemeClr val="bg1"/>
                  </a:solidFill>
                </a:endParaRPr>
              </a:p>
            </p:txBody>
          </p:sp>
        </mc:Choice>
        <mc:Fallback xmlns="">
          <p:sp>
            <p:nvSpPr>
              <p:cNvPr id="7" name="ZoneTexte 6">
                <a:extLst>
                  <a:ext uri="{FF2B5EF4-FFF2-40B4-BE49-F238E27FC236}">
                    <a16:creationId xmlns:a16="http://schemas.microsoft.com/office/drawing/2014/main" id="{B5EED98D-1C06-A1EE-5436-460FEE3B3439}"/>
                  </a:ext>
                </a:extLst>
              </p:cNvPr>
              <p:cNvSpPr txBox="1">
                <a:spLocks noRot="1" noChangeAspect="1" noMove="1" noResize="1" noEditPoints="1" noAdjustHandles="1" noChangeArrowheads="1" noChangeShapeType="1" noTextEdit="1"/>
              </p:cNvSpPr>
              <p:nvPr/>
            </p:nvSpPr>
            <p:spPr>
              <a:xfrm>
                <a:off x="3874168" y="3144253"/>
                <a:ext cx="721895" cy="707886"/>
              </a:xfrm>
              <a:prstGeom prst="rect">
                <a:avLst/>
              </a:prstGeom>
              <a:blipFill>
                <a:blip r:embed="rId4"/>
                <a:stretch>
                  <a:fillRect l="-3390" r="-1695" b="-19298"/>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4D20C7FB-7D07-D29C-436C-00AFC7DFEEFA}"/>
                  </a:ext>
                </a:extLst>
              </p:cNvPr>
              <p:cNvSpPr txBox="1"/>
              <p:nvPr/>
            </p:nvSpPr>
            <p:spPr>
              <a:xfrm>
                <a:off x="2891587" y="4725105"/>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4000" b="0" i="1" smtClean="0">
                              <a:solidFill>
                                <a:schemeClr val="bg1"/>
                              </a:solidFill>
                              <a:latin typeface="Cambria Math" panose="02040503050406030204" pitchFamily="18" charset="0"/>
                            </a:rPr>
                          </m:ctrlPr>
                        </m:sSubPr>
                        <m:e>
                          <m:r>
                            <a:rPr lang="fr-FR" sz="4000" b="0" i="1" smtClean="0">
                              <a:solidFill>
                                <a:schemeClr val="bg1"/>
                              </a:solidFill>
                              <a:latin typeface="Cambria Math" panose="02040503050406030204" pitchFamily="18" charset="0"/>
                            </a:rPr>
                            <m:t>𝜃</m:t>
                          </m:r>
                        </m:e>
                        <m:sub>
                          <m:r>
                            <a:rPr lang="fr-FR" sz="4000" b="0" i="1" smtClean="0">
                              <a:solidFill>
                                <a:schemeClr val="bg1"/>
                              </a:solidFill>
                              <a:latin typeface="Cambria Math" panose="02040503050406030204" pitchFamily="18" charset="0"/>
                            </a:rPr>
                            <m:t>𝑑</m:t>
                          </m:r>
                        </m:sub>
                      </m:sSub>
                    </m:oMath>
                  </m:oMathPara>
                </a14:m>
                <a:endParaRPr lang="fr-FR" sz="4000" b="0" dirty="0">
                  <a:solidFill>
                    <a:schemeClr val="bg1"/>
                  </a:solidFill>
                </a:endParaRPr>
              </a:p>
            </p:txBody>
          </p:sp>
        </mc:Choice>
        <mc:Fallback xmlns="">
          <p:sp>
            <p:nvSpPr>
              <p:cNvPr id="8" name="ZoneTexte 7">
                <a:extLst>
                  <a:ext uri="{FF2B5EF4-FFF2-40B4-BE49-F238E27FC236}">
                    <a16:creationId xmlns:a16="http://schemas.microsoft.com/office/drawing/2014/main" id="{4D20C7FB-7D07-D29C-436C-00AFC7DFEEFA}"/>
                  </a:ext>
                </a:extLst>
              </p:cNvPr>
              <p:cNvSpPr txBox="1">
                <a:spLocks noRot="1" noChangeAspect="1" noMove="1" noResize="1" noEditPoints="1" noAdjustHandles="1" noChangeArrowheads="1" noChangeShapeType="1" noTextEdit="1"/>
              </p:cNvSpPr>
              <p:nvPr/>
            </p:nvSpPr>
            <p:spPr>
              <a:xfrm>
                <a:off x="2891587" y="4725105"/>
                <a:ext cx="721895" cy="707886"/>
              </a:xfrm>
              <a:prstGeom prst="rect">
                <a:avLst/>
              </a:prstGeom>
              <a:blipFill>
                <a:blip r:embed="rId5"/>
                <a:stretch>
                  <a:fillRect l="-10169" b="-5172"/>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AE6A0815-A650-5C78-A966-4B26B53B72A2}"/>
                  </a:ext>
                </a:extLst>
              </p:cNvPr>
              <p:cNvSpPr txBox="1"/>
              <p:nvPr/>
            </p:nvSpPr>
            <p:spPr>
              <a:xfrm>
                <a:off x="4596063" y="4744805"/>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4000" b="0" i="1" smtClean="0">
                              <a:solidFill>
                                <a:schemeClr val="bg1"/>
                              </a:solidFill>
                              <a:latin typeface="Cambria Math" panose="02040503050406030204" pitchFamily="18" charset="0"/>
                            </a:rPr>
                          </m:ctrlPr>
                        </m:sSubPr>
                        <m:e>
                          <m:r>
                            <a:rPr lang="fr-FR" sz="4000" b="0" i="1" smtClean="0">
                              <a:solidFill>
                                <a:schemeClr val="bg1"/>
                              </a:solidFill>
                              <a:latin typeface="Cambria Math" panose="02040503050406030204" pitchFamily="18" charset="0"/>
                            </a:rPr>
                            <m:t>𝑍</m:t>
                          </m:r>
                        </m:e>
                        <m:sub>
                          <m:r>
                            <a:rPr lang="fr-FR" sz="4000" b="0" i="1" smtClean="0">
                              <a:solidFill>
                                <a:schemeClr val="bg1"/>
                              </a:solidFill>
                              <a:latin typeface="Cambria Math" panose="02040503050406030204" pitchFamily="18" charset="0"/>
                            </a:rPr>
                            <m:t>𝑛</m:t>
                          </m:r>
                        </m:sub>
                      </m:sSub>
                    </m:oMath>
                  </m:oMathPara>
                </a14:m>
                <a:endParaRPr lang="fr-FR" sz="4000" b="0" dirty="0">
                  <a:solidFill>
                    <a:schemeClr val="bg1"/>
                  </a:solidFill>
                </a:endParaRPr>
              </a:p>
            </p:txBody>
          </p:sp>
        </mc:Choice>
        <mc:Fallback xmlns="">
          <p:sp>
            <p:nvSpPr>
              <p:cNvPr id="11" name="ZoneTexte 10">
                <a:extLst>
                  <a:ext uri="{FF2B5EF4-FFF2-40B4-BE49-F238E27FC236}">
                    <a16:creationId xmlns:a16="http://schemas.microsoft.com/office/drawing/2014/main" id="{AE6A0815-A650-5C78-A966-4B26B53B72A2}"/>
                  </a:ext>
                </a:extLst>
              </p:cNvPr>
              <p:cNvSpPr txBox="1">
                <a:spLocks noRot="1" noChangeAspect="1" noMove="1" noResize="1" noEditPoints="1" noAdjustHandles="1" noChangeArrowheads="1" noChangeShapeType="1" noTextEdit="1"/>
              </p:cNvSpPr>
              <p:nvPr/>
            </p:nvSpPr>
            <p:spPr>
              <a:xfrm>
                <a:off x="4596063" y="4744805"/>
                <a:ext cx="721895" cy="707886"/>
              </a:xfrm>
              <a:prstGeom prst="rect">
                <a:avLst/>
              </a:prstGeom>
              <a:blipFill>
                <a:blip r:embed="rId6"/>
                <a:stretch>
                  <a:fillRect l="-10169" b="-1724"/>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E89A8FE4-4BCB-B5AC-01C7-576D6C35723A}"/>
                  </a:ext>
                </a:extLst>
              </p:cNvPr>
              <p:cNvSpPr txBox="1"/>
              <p:nvPr/>
            </p:nvSpPr>
            <p:spPr>
              <a:xfrm>
                <a:off x="5859380" y="4740554"/>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4000" b="0" i="1" smtClean="0">
                              <a:solidFill>
                                <a:schemeClr val="bg1"/>
                              </a:solidFill>
                              <a:latin typeface="Cambria Math" panose="02040503050406030204" pitchFamily="18" charset="0"/>
                            </a:rPr>
                          </m:ctrlPr>
                        </m:sSubPr>
                        <m:e>
                          <m:r>
                            <a:rPr lang="fr-FR" sz="4000" b="0" i="1" smtClean="0">
                              <a:solidFill>
                                <a:schemeClr val="bg1"/>
                              </a:solidFill>
                              <a:latin typeface="Cambria Math" panose="02040503050406030204" pitchFamily="18" charset="0"/>
                            </a:rPr>
                            <m:t>𝑊</m:t>
                          </m:r>
                        </m:e>
                        <m:sub>
                          <m:r>
                            <a:rPr lang="fr-FR" sz="4000" b="0" i="1" smtClean="0">
                              <a:solidFill>
                                <a:schemeClr val="bg1"/>
                              </a:solidFill>
                              <a:latin typeface="Cambria Math" panose="02040503050406030204" pitchFamily="18" charset="0"/>
                            </a:rPr>
                            <m:t>𝑛</m:t>
                          </m:r>
                        </m:sub>
                      </m:sSub>
                    </m:oMath>
                  </m:oMathPara>
                </a14:m>
                <a:endParaRPr lang="fr-FR" sz="4000" b="0" dirty="0">
                  <a:solidFill>
                    <a:schemeClr val="bg1"/>
                  </a:solidFill>
                </a:endParaRPr>
              </a:p>
            </p:txBody>
          </p:sp>
        </mc:Choice>
        <mc:Fallback xmlns="">
          <p:sp>
            <p:nvSpPr>
              <p:cNvPr id="12" name="ZoneTexte 11">
                <a:extLst>
                  <a:ext uri="{FF2B5EF4-FFF2-40B4-BE49-F238E27FC236}">
                    <a16:creationId xmlns:a16="http://schemas.microsoft.com/office/drawing/2014/main" id="{E89A8FE4-4BCB-B5AC-01C7-576D6C35723A}"/>
                  </a:ext>
                </a:extLst>
              </p:cNvPr>
              <p:cNvSpPr txBox="1">
                <a:spLocks noRot="1" noChangeAspect="1" noMove="1" noResize="1" noEditPoints="1" noAdjustHandles="1" noChangeArrowheads="1" noChangeShapeType="1" noTextEdit="1"/>
              </p:cNvSpPr>
              <p:nvPr/>
            </p:nvSpPr>
            <p:spPr>
              <a:xfrm>
                <a:off x="5859380" y="4740554"/>
                <a:ext cx="721895" cy="707886"/>
              </a:xfrm>
              <a:prstGeom prst="rect">
                <a:avLst/>
              </a:prstGeom>
              <a:blipFill>
                <a:blip r:embed="rId7"/>
                <a:stretch>
                  <a:fillRect l="-8475" r="-10169"/>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B3A3E0F8-BDAA-CFC4-5FD1-0D046182A8EA}"/>
                  </a:ext>
                </a:extLst>
              </p:cNvPr>
              <p:cNvSpPr txBox="1"/>
              <p:nvPr/>
            </p:nvSpPr>
            <p:spPr>
              <a:xfrm>
                <a:off x="5859381" y="3144253"/>
                <a:ext cx="721895" cy="707886"/>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4000" b="0" i="1" smtClean="0">
                              <a:solidFill>
                                <a:schemeClr val="bg1"/>
                              </a:solidFill>
                              <a:latin typeface="Cambria Math" panose="02040503050406030204" pitchFamily="18" charset="0"/>
                            </a:rPr>
                          </m:ctrlPr>
                        </m:sSubPr>
                        <m:e>
                          <m:r>
                            <a:rPr lang="fr-FR" sz="4000" b="0" i="1" smtClean="0">
                              <a:solidFill>
                                <a:schemeClr val="bg1"/>
                              </a:solidFill>
                              <a:latin typeface="Cambria Math" panose="02040503050406030204" pitchFamily="18" charset="0"/>
                            </a:rPr>
                            <m:t>𝜙</m:t>
                          </m:r>
                        </m:e>
                        <m:sub>
                          <m:r>
                            <a:rPr lang="fr-FR" sz="4000" b="0" i="1" smtClean="0">
                              <a:solidFill>
                                <a:schemeClr val="bg1"/>
                              </a:solidFill>
                              <a:latin typeface="Cambria Math" panose="02040503050406030204" pitchFamily="18" charset="0"/>
                            </a:rPr>
                            <m:t>𝑘</m:t>
                          </m:r>
                        </m:sub>
                      </m:sSub>
                    </m:oMath>
                  </m:oMathPara>
                </a14:m>
                <a:endParaRPr lang="fr-FR" sz="4000" b="0" dirty="0">
                  <a:solidFill>
                    <a:schemeClr val="bg1"/>
                  </a:solidFill>
                </a:endParaRPr>
              </a:p>
            </p:txBody>
          </p:sp>
        </mc:Choice>
        <mc:Fallback xmlns="">
          <p:sp>
            <p:nvSpPr>
              <p:cNvPr id="13" name="ZoneTexte 12">
                <a:extLst>
                  <a:ext uri="{FF2B5EF4-FFF2-40B4-BE49-F238E27FC236}">
                    <a16:creationId xmlns:a16="http://schemas.microsoft.com/office/drawing/2014/main" id="{B3A3E0F8-BDAA-CFC4-5FD1-0D046182A8EA}"/>
                  </a:ext>
                </a:extLst>
              </p:cNvPr>
              <p:cNvSpPr txBox="1">
                <a:spLocks noRot="1" noChangeAspect="1" noMove="1" noResize="1" noEditPoints="1" noAdjustHandles="1" noChangeArrowheads="1" noChangeShapeType="1" noTextEdit="1"/>
              </p:cNvSpPr>
              <p:nvPr/>
            </p:nvSpPr>
            <p:spPr>
              <a:xfrm>
                <a:off x="5859381" y="3144253"/>
                <a:ext cx="721895" cy="707886"/>
              </a:xfrm>
              <a:prstGeom prst="rect">
                <a:avLst/>
              </a:prstGeom>
              <a:blipFill>
                <a:blip r:embed="rId8"/>
                <a:stretch>
                  <a:fillRect l="-16949" r="-8475" b="-17544"/>
                </a:stretch>
              </a:blipFill>
              <a:ln>
                <a:solidFill>
                  <a:schemeClr val="bg1"/>
                </a:solidFill>
              </a:ln>
            </p:spPr>
            <p:txBody>
              <a:bodyPr/>
              <a:lstStyle/>
              <a:p>
                <a:r>
                  <a:rPr lang="en-GB">
                    <a:noFill/>
                  </a:rPr>
                  <a:t> </a:t>
                </a:r>
              </a:p>
            </p:txBody>
          </p:sp>
        </mc:Fallback>
      </mc:AlternateContent>
      <p:sp>
        <p:nvSpPr>
          <p:cNvPr id="14" name="ZoneTexte 13">
            <a:extLst>
              <a:ext uri="{FF2B5EF4-FFF2-40B4-BE49-F238E27FC236}">
                <a16:creationId xmlns:a16="http://schemas.microsoft.com/office/drawing/2014/main" id="{3B1A3FB6-179C-7276-624A-272D09BF7DB5}"/>
              </a:ext>
            </a:extLst>
          </p:cNvPr>
          <p:cNvSpPr txBox="1"/>
          <p:nvPr/>
        </p:nvSpPr>
        <p:spPr>
          <a:xfrm>
            <a:off x="6665497" y="5208663"/>
            <a:ext cx="320842" cy="584775"/>
          </a:xfrm>
          <a:prstGeom prst="rect">
            <a:avLst/>
          </a:prstGeom>
          <a:noFill/>
        </p:spPr>
        <p:txBody>
          <a:bodyPr wrap="square" rtlCol="0">
            <a:spAutoFit/>
          </a:bodyPr>
          <a:lstStyle/>
          <a:p>
            <a:pPr algn="ctr"/>
            <a:r>
              <a:rPr lang="en-GB" sz="3200" dirty="0">
                <a:solidFill>
                  <a:schemeClr val="bg1"/>
                </a:solidFill>
              </a:rPr>
              <a:t>N</a:t>
            </a:r>
          </a:p>
        </p:txBody>
      </p:sp>
      <p:sp>
        <p:nvSpPr>
          <p:cNvPr id="16" name="ZoneTexte 15">
            <a:extLst>
              <a:ext uri="{FF2B5EF4-FFF2-40B4-BE49-F238E27FC236}">
                <a16:creationId xmlns:a16="http://schemas.microsoft.com/office/drawing/2014/main" id="{EEBE30BC-CFCE-B952-F244-DE33ED29A34F}"/>
              </a:ext>
            </a:extLst>
          </p:cNvPr>
          <p:cNvSpPr txBox="1"/>
          <p:nvPr/>
        </p:nvSpPr>
        <p:spPr>
          <a:xfrm>
            <a:off x="7251031" y="5361063"/>
            <a:ext cx="320842" cy="584775"/>
          </a:xfrm>
          <a:prstGeom prst="rect">
            <a:avLst/>
          </a:prstGeom>
          <a:noFill/>
        </p:spPr>
        <p:txBody>
          <a:bodyPr wrap="square" rtlCol="0">
            <a:spAutoFit/>
          </a:bodyPr>
          <a:lstStyle/>
          <a:p>
            <a:pPr algn="ctr"/>
            <a:r>
              <a:rPr lang="en-GB" sz="3200" dirty="0">
                <a:solidFill>
                  <a:schemeClr val="bg1"/>
                </a:solidFill>
              </a:rPr>
              <a:t>M</a:t>
            </a:r>
          </a:p>
        </p:txBody>
      </p:sp>
      <p:sp>
        <p:nvSpPr>
          <p:cNvPr id="17" name="ZoneTexte 16">
            <a:extLst>
              <a:ext uri="{FF2B5EF4-FFF2-40B4-BE49-F238E27FC236}">
                <a16:creationId xmlns:a16="http://schemas.microsoft.com/office/drawing/2014/main" id="{F14CF840-3A4D-C214-F424-EFE7B277E530}"/>
              </a:ext>
            </a:extLst>
          </p:cNvPr>
          <p:cNvSpPr txBox="1"/>
          <p:nvPr/>
        </p:nvSpPr>
        <p:spPr>
          <a:xfrm>
            <a:off x="6657477" y="3628517"/>
            <a:ext cx="320842" cy="584775"/>
          </a:xfrm>
          <a:prstGeom prst="rect">
            <a:avLst/>
          </a:prstGeom>
          <a:noFill/>
        </p:spPr>
        <p:txBody>
          <a:bodyPr wrap="square" rtlCol="0">
            <a:spAutoFit/>
          </a:bodyPr>
          <a:lstStyle/>
          <a:p>
            <a:pPr algn="ctr"/>
            <a:r>
              <a:rPr lang="en-GB" sz="3200" dirty="0">
                <a:solidFill>
                  <a:schemeClr val="bg1"/>
                </a:solidFill>
              </a:rPr>
              <a:t>K</a:t>
            </a:r>
          </a:p>
        </p:txBody>
      </p:sp>
      <p:sp>
        <p:nvSpPr>
          <p:cNvPr id="18" name="ZoneTexte 17">
            <a:extLst>
              <a:ext uri="{FF2B5EF4-FFF2-40B4-BE49-F238E27FC236}">
                <a16:creationId xmlns:a16="http://schemas.microsoft.com/office/drawing/2014/main" id="{063494AD-A3AD-7D9B-A835-0D43C5FB9F96}"/>
              </a:ext>
            </a:extLst>
          </p:cNvPr>
          <p:cNvSpPr txBox="1"/>
          <p:nvPr/>
        </p:nvSpPr>
        <p:spPr>
          <a:xfrm>
            <a:off x="5317958" y="2877636"/>
            <a:ext cx="1836821" cy="1335655"/>
          </a:xfrm>
          <a:prstGeom prst="rect">
            <a:avLst/>
          </a:prstGeom>
          <a:noFill/>
          <a:ln>
            <a:solidFill>
              <a:schemeClr val="bg2"/>
            </a:solidFill>
          </a:ln>
        </p:spPr>
        <p:txBody>
          <a:bodyPr wrap="square" rtlCol="0">
            <a:spAutoFit/>
          </a:bodyPr>
          <a:lstStyle/>
          <a:p>
            <a:endParaRPr lang="en-GB" dirty="0"/>
          </a:p>
        </p:txBody>
      </p:sp>
      <p:sp>
        <p:nvSpPr>
          <p:cNvPr id="19" name="ZoneTexte 18">
            <a:extLst>
              <a:ext uri="{FF2B5EF4-FFF2-40B4-BE49-F238E27FC236}">
                <a16:creationId xmlns:a16="http://schemas.microsoft.com/office/drawing/2014/main" id="{BF6B9BEA-BB8B-3808-2FE9-48B10939EFDB}"/>
              </a:ext>
            </a:extLst>
          </p:cNvPr>
          <p:cNvSpPr txBox="1"/>
          <p:nvPr/>
        </p:nvSpPr>
        <p:spPr>
          <a:xfrm>
            <a:off x="4489785" y="4426669"/>
            <a:ext cx="2664994" cy="1335655"/>
          </a:xfrm>
          <a:prstGeom prst="rect">
            <a:avLst/>
          </a:prstGeom>
          <a:noFill/>
          <a:ln>
            <a:solidFill>
              <a:schemeClr val="bg2"/>
            </a:solidFill>
          </a:ln>
        </p:spPr>
        <p:txBody>
          <a:bodyPr wrap="square" rtlCol="0">
            <a:spAutoFit/>
          </a:bodyPr>
          <a:lstStyle/>
          <a:p>
            <a:endParaRPr lang="en-GB" dirty="0"/>
          </a:p>
        </p:txBody>
      </p:sp>
      <p:sp>
        <p:nvSpPr>
          <p:cNvPr id="20" name="ZoneTexte 19">
            <a:extLst>
              <a:ext uri="{FF2B5EF4-FFF2-40B4-BE49-F238E27FC236}">
                <a16:creationId xmlns:a16="http://schemas.microsoft.com/office/drawing/2014/main" id="{AE6F0D3F-3804-77D2-8B03-4AABAB72B2B3}"/>
              </a:ext>
            </a:extLst>
          </p:cNvPr>
          <p:cNvSpPr txBox="1"/>
          <p:nvPr/>
        </p:nvSpPr>
        <p:spPr>
          <a:xfrm>
            <a:off x="2582779" y="4310777"/>
            <a:ext cx="5165558" cy="1652073"/>
          </a:xfrm>
          <a:prstGeom prst="rect">
            <a:avLst/>
          </a:prstGeom>
          <a:noFill/>
          <a:ln>
            <a:solidFill>
              <a:schemeClr val="bg2"/>
            </a:solidFill>
          </a:ln>
        </p:spPr>
        <p:txBody>
          <a:bodyPr wrap="square" lIns="90000" rtlCol="0">
            <a:noAutofit/>
          </a:bodyPr>
          <a:lstStyle/>
          <a:p>
            <a:endParaRPr lang="en-GB" dirty="0"/>
          </a:p>
        </p:txBody>
      </p:sp>
      <p:cxnSp>
        <p:nvCxnSpPr>
          <p:cNvPr id="22" name="Connecteur droit avec flèche 21">
            <a:extLst>
              <a:ext uri="{FF2B5EF4-FFF2-40B4-BE49-F238E27FC236}">
                <a16:creationId xmlns:a16="http://schemas.microsoft.com/office/drawing/2014/main" id="{9C9906D6-F7F7-533F-DFE4-004D71D289A5}"/>
              </a:ext>
            </a:extLst>
          </p:cNvPr>
          <p:cNvCxnSpPr/>
          <p:nvPr/>
        </p:nvCxnSpPr>
        <p:spPr>
          <a:xfrm>
            <a:off x="2005263" y="5096369"/>
            <a:ext cx="577516"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4F04F092-F423-9F57-749B-7D02220AA842}"/>
              </a:ext>
            </a:extLst>
          </p:cNvPr>
          <p:cNvCxnSpPr>
            <a:cxnSpLocks/>
          </p:cNvCxnSpPr>
          <p:nvPr/>
        </p:nvCxnSpPr>
        <p:spPr>
          <a:xfrm>
            <a:off x="3617494" y="5098091"/>
            <a:ext cx="978569"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C0265D90-557D-5626-8DEF-FBB5D01A2C75}"/>
              </a:ext>
            </a:extLst>
          </p:cNvPr>
          <p:cNvCxnSpPr>
            <a:cxnSpLocks/>
          </p:cNvCxnSpPr>
          <p:nvPr/>
        </p:nvCxnSpPr>
        <p:spPr>
          <a:xfrm>
            <a:off x="5317958" y="5106113"/>
            <a:ext cx="50532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96C9F5D9-8B06-1B00-31E9-33680F530A62}"/>
              </a:ext>
            </a:extLst>
          </p:cNvPr>
          <p:cNvCxnSpPr>
            <a:cxnSpLocks/>
          </p:cNvCxnSpPr>
          <p:nvPr/>
        </p:nvCxnSpPr>
        <p:spPr>
          <a:xfrm>
            <a:off x="4608093" y="3486876"/>
            <a:ext cx="1230231"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FB2DB11D-2A28-14F7-4D82-9DF3949B3F0B}"/>
              </a:ext>
            </a:extLst>
          </p:cNvPr>
          <p:cNvCxnSpPr>
            <a:cxnSpLocks/>
          </p:cNvCxnSpPr>
          <p:nvPr/>
        </p:nvCxnSpPr>
        <p:spPr>
          <a:xfrm>
            <a:off x="6220327" y="3875305"/>
            <a:ext cx="0" cy="865249"/>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4EC3E2BA-8A78-7EDE-5C5E-604CAA0A6C53}"/>
              </a:ext>
            </a:extLst>
          </p:cNvPr>
          <p:cNvSpPr txBox="1"/>
          <p:nvPr/>
        </p:nvSpPr>
        <p:spPr>
          <a:xfrm>
            <a:off x="978568" y="1989221"/>
            <a:ext cx="4880812" cy="369332"/>
          </a:xfrm>
          <a:prstGeom prst="rect">
            <a:avLst/>
          </a:prstGeom>
          <a:noFill/>
        </p:spPr>
        <p:txBody>
          <a:bodyPr wrap="square" rtlCol="0">
            <a:spAutoFit/>
          </a:bodyPr>
          <a:lstStyle/>
          <a:p>
            <a:r>
              <a:rPr lang="en-GB" dirty="0"/>
              <a:t>Latent Dirichlet Allocation Machine</a:t>
            </a:r>
          </a:p>
        </p:txBody>
      </p:sp>
    </p:spTree>
    <p:extLst>
      <p:ext uri="{BB962C8B-B14F-4D97-AF65-F5344CB8AC3E}">
        <p14:creationId xmlns:p14="http://schemas.microsoft.com/office/powerpoint/2010/main" val="40981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40387-1094-A2F5-B334-7192951A04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50B469-1CD4-415E-A2A2-0E8BCE2FE2A4}"/>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F6040738-9B0D-6786-D5DF-FF3C7C7D22AD}"/>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a:t>
            </a:r>
            <a:r>
              <a:rPr lang="en-GB" sz="2800" b="1" i="0" u="none" strike="noStrike" noProof="0" dirty="0" err="1">
                <a:effectLst/>
                <a:latin typeface="ui-sans-serif"/>
              </a:rPr>
              <a:t>modeling</a:t>
            </a:r>
            <a:r>
              <a:rPr lang="en-GB" sz="2800" b="1" i="0" u="none" strike="noStrike" noProof="0" dirty="0">
                <a:effectLst/>
                <a:latin typeface="ui-sans-serif"/>
              </a:rPr>
              <a:t> technique for text data</a:t>
            </a:r>
          </a:p>
        </p:txBody>
      </p:sp>
      <p:sp>
        <p:nvSpPr>
          <p:cNvPr id="6" name="Espace réservé du pied de page 2">
            <a:extLst>
              <a:ext uri="{FF2B5EF4-FFF2-40B4-BE49-F238E27FC236}">
                <a16:creationId xmlns:a16="http://schemas.microsoft.com/office/drawing/2014/main" id="{0F7C85EE-D13A-387E-D515-DD5C8210610F}"/>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
        <p:nvSpPr>
          <p:cNvPr id="5" name="ZoneTexte 4">
            <a:extLst>
              <a:ext uri="{FF2B5EF4-FFF2-40B4-BE49-F238E27FC236}">
                <a16:creationId xmlns:a16="http://schemas.microsoft.com/office/drawing/2014/main" id="{1EFCCA19-EE59-9836-6C3B-8FB23942FD3D}"/>
              </a:ext>
            </a:extLst>
          </p:cNvPr>
          <p:cNvSpPr txBox="1"/>
          <p:nvPr/>
        </p:nvSpPr>
        <p:spPr>
          <a:xfrm>
            <a:off x="838198" y="1892491"/>
            <a:ext cx="11145255" cy="4600384"/>
          </a:xfrm>
          <a:prstGeom prst="rect">
            <a:avLst/>
          </a:prstGeom>
          <a:noFill/>
        </p:spPr>
        <p:txBody>
          <a:bodyPr wrap="square" lIns="90000">
            <a:noAutofit/>
          </a:bodyPr>
          <a:lstStyle/>
          <a:p>
            <a:pPr>
              <a:lnSpc>
                <a:spcPct val="150000"/>
              </a:lnSpc>
            </a:pPr>
            <a:r>
              <a:rPr lang="en-GB" sz="800" noProof="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a:t>
            </a:r>
            <a:r>
              <a:rPr lang="en-GB" sz="800" noProof="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sklearn</a:t>
            </a:r>
            <a:r>
              <a:rPr lang="en-GB" sz="800" b="0" i="0" u="none" strike="noStrike" noProof="0" dirty="0">
                <a:solidFill>
                  <a:schemeClr val="accent4">
                    <a:lumMod val="75000"/>
                  </a:schemeClr>
                </a:solidFill>
                <a:effectLst/>
                <a:latin typeface="Menlo" panose="020B0609030804020204" pitchFamily="49" charset="0"/>
                <a:ea typeface="Menlo" panose="020B0609030804020204" pitchFamily="49" charset="0"/>
                <a:cs typeface="Menlo" panose="020B0609030804020204" pitchFamily="49" charset="0"/>
              </a:rPr>
              <a:t> provides a built-in implementation of LDA with the </a:t>
            </a:r>
            <a:r>
              <a:rPr lang="en-GB" sz="800" noProof="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LatentDirichletAllocation</a:t>
            </a:r>
            <a:r>
              <a:rPr lang="en-GB" sz="800" b="0" i="0" u="none" strike="noStrike" noProof="0" dirty="0">
                <a:solidFill>
                  <a:schemeClr val="accent4">
                    <a:lumMod val="75000"/>
                  </a:schemeClr>
                </a:solidFill>
                <a:effectLst/>
                <a:latin typeface="Menlo" panose="020B0609030804020204" pitchFamily="49" charset="0"/>
                <a:ea typeface="Menlo" panose="020B0609030804020204" pitchFamily="49" charset="0"/>
                <a:cs typeface="Menlo" panose="020B0609030804020204" pitchFamily="49" charset="0"/>
              </a:rPr>
              <a:t> class, which can be used to achieve similar results more efficiently and with less code. </a:t>
            </a:r>
          </a:p>
          <a:p>
            <a:endParaRPr lang="en-GB" sz="8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pPr>
              <a:lnSpc>
                <a:spcPct val="150000"/>
              </a:lnSpc>
            </a:pPr>
            <a:r>
              <a:rPr lang="fr-FR" sz="800" b="0" i="0" u="none" strike="noStrike" dirty="0" err="1">
                <a:solidFill>
                  <a:srgbClr val="569CD6"/>
                </a:solidFill>
                <a:effectLst/>
                <a:latin typeface="Menlo" panose="020B0609030804020204" pitchFamily="49" charset="0"/>
              </a:rPr>
              <a:t>from</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sklearn.datasets</a:t>
            </a:r>
            <a:r>
              <a:rPr lang="fr-FR" sz="800" b="0" i="0" u="none" strike="noStrike" dirty="0">
                <a:effectLst/>
                <a:latin typeface="Menlo" panose="020B0609030804020204" pitchFamily="49" charset="0"/>
              </a:rPr>
              <a:t> </a:t>
            </a:r>
            <a:r>
              <a:rPr lang="fr-FR" sz="800" b="0" i="0" u="none" strike="noStrike" dirty="0">
                <a:solidFill>
                  <a:srgbClr val="569CD6"/>
                </a:solidFill>
                <a:effectLst/>
                <a:latin typeface="Menlo" panose="020B0609030804020204" pitchFamily="49" charset="0"/>
              </a:rPr>
              <a:t>import</a:t>
            </a:r>
            <a:r>
              <a:rPr lang="fr-FR" sz="800" b="0" i="0" u="none" strike="noStrike" dirty="0">
                <a:solidFill>
                  <a:srgbClr val="D4D4D4"/>
                </a:solidFill>
                <a:effectLst/>
                <a:latin typeface="Menlo" panose="020B0609030804020204" pitchFamily="49" charset="0"/>
              </a:rPr>
              <a:t> </a:t>
            </a:r>
            <a:r>
              <a:rPr lang="fr-FR" sz="800" b="0" i="0" u="none" strike="noStrike" dirty="0">
                <a:effectLst/>
                <a:latin typeface="Menlo" panose="020B0609030804020204" pitchFamily="49" charset="0"/>
              </a:rPr>
              <a:t>fetch_20newsgroups </a:t>
            </a:r>
          </a:p>
          <a:p>
            <a:pPr>
              <a:lnSpc>
                <a:spcPct val="150000"/>
              </a:lnSpc>
            </a:pPr>
            <a:r>
              <a:rPr lang="fr-FR" sz="800" b="0" i="0" u="none" strike="noStrike" dirty="0" err="1">
                <a:solidFill>
                  <a:srgbClr val="569CD6"/>
                </a:solidFill>
                <a:effectLst/>
                <a:latin typeface="Menlo" panose="020B0609030804020204" pitchFamily="49" charset="0"/>
              </a:rPr>
              <a:t>from</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sklearn.feature_extraction.text</a:t>
            </a:r>
            <a:r>
              <a:rPr lang="fr-FR" sz="800" b="0" i="0" u="none" strike="noStrike" dirty="0">
                <a:effectLst/>
                <a:latin typeface="Menlo" panose="020B0609030804020204" pitchFamily="49" charset="0"/>
              </a:rPr>
              <a:t> </a:t>
            </a:r>
            <a:r>
              <a:rPr lang="fr-FR" sz="800" b="0" i="0" u="none" strike="noStrike" dirty="0">
                <a:solidFill>
                  <a:srgbClr val="569CD6"/>
                </a:solidFill>
                <a:effectLst/>
                <a:latin typeface="Menlo" panose="020B0609030804020204" pitchFamily="49" charset="0"/>
              </a:rPr>
              <a:t>import</a:t>
            </a:r>
            <a:r>
              <a:rPr lang="fr-FR" sz="800" b="0" i="0" u="none" strike="noStrike" dirty="0">
                <a:solidFill>
                  <a:srgbClr val="D4D4D4"/>
                </a:solidFill>
                <a:effectLst/>
                <a:latin typeface="Menlo" panose="020B0609030804020204" pitchFamily="49" charset="0"/>
              </a:rPr>
              <a:t> </a:t>
            </a:r>
            <a:r>
              <a:rPr lang="fr-FR" sz="800" b="0" i="0" u="none" strike="noStrike" dirty="0">
                <a:effectLst/>
                <a:latin typeface="Menlo" panose="020B0609030804020204" pitchFamily="49" charset="0"/>
              </a:rPr>
              <a:t>CountVectorizer</a:t>
            </a:r>
            <a:r>
              <a:rPr lang="fr-FR" sz="800" b="0" i="0" u="none" strike="noStrike" dirty="0">
                <a:solidFill>
                  <a:srgbClr val="D4D4D4"/>
                </a:solidFill>
                <a:effectLst/>
                <a:latin typeface="Menlo" panose="020B0609030804020204" pitchFamily="49" charset="0"/>
              </a:rPr>
              <a:t> </a:t>
            </a:r>
          </a:p>
          <a:p>
            <a:pPr>
              <a:lnSpc>
                <a:spcPct val="150000"/>
              </a:lnSpc>
            </a:pPr>
            <a:r>
              <a:rPr lang="fr-FR" sz="800" b="0" i="0" u="none" strike="noStrike" dirty="0" err="1">
                <a:solidFill>
                  <a:srgbClr val="569CD6"/>
                </a:solidFill>
                <a:effectLst/>
                <a:latin typeface="Menlo" panose="020B0609030804020204" pitchFamily="49" charset="0"/>
              </a:rPr>
              <a:t>from</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sklearn.decomposition</a:t>
            </a:r>
            <a:r>
              <a:rPr lang="fr-FR" sz="800" b="0" i="0" u="none" strike="noStrike" dirty="0">
                <a:effectLst/>
                <a:latin typeface="Menlo" panose="020B0609030804020204" pitchFamily="49" charset="0"/>
              </a:rPr>
              <a:t> </a:t>
            </a:r>
            <a:r>
              <a:rPr lang="fr-FR" sz="800" b="0" i="0" u="none" strike="noStrike" dirty="0">
                <a:solidFill>
                  <a:srgbClr val="569CD6"/>
                </a:solidFill>
                <a:effectLst/>
                <a:latin typeface="Menlo" panose="020B0609030804020204" pitchFamily="49" charset="0"/>
              </a:rPr>
              <a:t>import</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LatentDirichletAllocation</a:t>
            </a:r>
            <a:r>
              <a:rPr lang="fr-FR" sz="800" b="0" i="0" u="none" strike="noStrike" dirty="0">
                <a:solidFill>
                  <a:srgbClr val="D4D4D4"/>
                </a:solidFill>
                <a:effectLst/>
                <a:latin typeface="Menlo" panose="020B0609030804020204" pitchFamily="49" charset="0"/>
              </a:rPr>
              <a:t> </a:t>
            </a:r>
          </a:p>
          <a:p>
            <a:endParaRPr lang="fr-FR" sz="800" dirty="0">
              <a:solidFill>
                <a:srgbClr val="D4D4D4"/>
              </a:solidFill>
              <a:latin typeface="Menlo" panose="020B0609030804020204" pitchFamily="49" charset="0"/>
            </a:endParaRPr>
          </a:p>
          <a:p>
            <a:pPr>
              <a:lnSpc>
                <a:spcPct val="150000"/>
              </a:lnSpc>
            </a:pPr>
            <a:r>
              <a:rPr lang="fr-FR" sz="800" b="0" i="0" u="none" strike="noStrike" dirty="0">
                <a:solidFill>
                  <a:srgbClr val="6A9955"/>
                </a:solidFill>
                <a:effectLst/>
                <a:latin typeface="Menlo" panose="020B0609030804020204" pitchFamily="49" charset="0"/>
              </a:rPr>
              <a:t># Charger le jeu de données</a:t>
            </a:r>
            <a:r>
              <a:rPr lang="fr-FR" sz="800" b="0" i="0" u="none" strike="noStrike" dirty="0">
                <a:solidFill>
                  <a:srgbClr val="D4D4D4"/>
                </a:solidFill>
                <a:effectLst/>
                <a:latin typeface="Menlo" panose="020B0609030804020204" pitchFamily="49" charset="0"/>
              </a:rPr>
              <a:t> </a:t>
            </a:r>
          </a:p>
          <a:p>
            <a:pPr>
              <a:lnSpc>
                <a:spcPct val="150000"/>
              </a:lnSpc>
            </a:pPr>
            <a:r>
              <a:rPr lang="fr-FR" sz="800" b="0" i="0" u="none" strike="noStrike" dirty="0" err="1">
                <a:effectLst/>
                <a:latin typeface="Menlo" panose="020B0609030804020204" pitchFamily="49" charset="0"/>
              </a:rPr>
              <a:t>newsgroups_data</a:t>
            </a:r>
            <a:r>
              <a:rPr lang="fr-FR" sz="800" b="0" i="0" u="none" strike="noStrike" dirty="0">
                <a:effectLst/>
                <a:latin typeface="Menlo" panose="020B0609030804020204" pitchFamily="49" charset="0"/>
              </a:rPr>
              <a:t> = fetch_20newsgroups(</a:t>
            </a:r>
            <a:r>
              <a:rPr lang="fr-FR" sz="800" b="0" i="0" u="none" strike="noStrike" dirty="0" err="1">
                <a:effectLst/>
                <a:latin typeface="Menlo" panose="020B0609030804020204" pitchFamily="49" charset="0"/>
              </a:rPr>
              <a:t>subset</a:t>
            </a:r>
            <a:r>
              <a:rPr lang="fr-FR" sz="800" b="0" i="0" u="none" strike="noStrike" dirty="0">
                <a:effectLst/>
                <a:latin typeface="Menlo" panose="020B0609030804020204" pitchFamily="49" charset="0"/>
              </a:rPr>
              <a:t>=</a:t>
            </a:r>
            <a:r>
              <a:rPr lang="fr-FR" sz="800" b="0" i="0" u="none" strike="noStrike" dirty="0">
                <a:solidFill>
                  <a:srgbClr val="CE9178"/>
                </a:solidFill>
                <a:effectLst/>
                <a:latin typeface="Menlo" panose="020B0609030804020204" pitchFamily="49" charset="0"/>
              </a:rPr>
              <a:t>'all’</a:t>
            </a:r>
            <a:r>
              <a:rPr lang="fr-FR" sz="800" b="0" i="0" u="none" strike="noStrike" dirty="0">
                <a:effectLst/>
                <a:latin typeface="Menlo" panose="020B0609030804020204" pitchFamily="49" charset="0"/>
              </a:rPr>
              <a:t>) </a:t>
            </a:r>
          </a:p>
          <a:p>
            <a:pPr>
              <a:lnSpc>
                <a:spcPct val="150000"/>
              </a:lnSpc>
            </a:pPr>
            <a:r>
              <a:rPr lang="fr-FR" sz="800" b="0" i="0" u="none" strike="noStrike" dirty="0">
                <a:effectLst/>
                <a:latin typeface="Menlo" panose="020B0609030804020204" pitchFamily="49" charset="0"/>
              </a:rPr>
              <a:t>corpus = </a:t>
            </a:r>
            <a:r>
              <a:rPr lang="fr-FR" sz="800" b="0" i="0" u="none" strike="noStrike" dirty="0" err="1">
                <a:effectLst/>
                <a:latin typeface="Menlo" panose="020B0609030804020204" pitchFamily="49" charset="0"/>
              </a:rPr>
              <a:t>newsgroups_data.data</a:t>
            </a:r>
            <a:r>
              <a:rPr lang="fr-FR" sz="800" b="0" i="0" u="none" strike="noStrike" dirty="0">
                <a:effectLst/>
                <a:latin typeface="Menlo" panose="020B0609030804020204" pitchFamily="49" charset="0"/>
              </a:rPr>
              <a:t> </a:t>
            </a:r>
          </a:p>
          <a:p>
            <a:endParaRPr lang="fr-FR" sz="800" dirty="0">
              <a:solidFill>
                <a:srgbClr val="D4D4D4"/>
              </a:solidFill>
              <a:latin typeface="Menlo" panose="020B0609030804020204" pitchFamily="49" charset="0"/>
            </a:endParaRPr>
          </a:p>
          <a:p>
            <a:pPr>
              <a:lnSpc>
                <a:spcPct val="150000"/>
              </a:lnSpc>
            </a:pPr>
            <a:r>
              <a:rPr lang="fr-FR" sz="800" b="0" i="0" u="none" strike="noStrike" dirty="0">
                <a:solidFill>
                  <a:srgbClr val="6A9955"/>
                </a:solidFill>
                <a:effectLst/>
                <a:latin typeface="Menlo" panose="020B0609030804020204" pitchFamily="49" charset="0"/>
              </a:rPr>
              <a:t># Prétraiter les données</a:t>
            </a:r>
            <a:r>
              <a:rPr lang="fr-FR" sz="800" b="0" i="0" u="none" strike="noStrike" dirty="0">
                <a:solidFill>
                  <a:srgbClr val="D4D4D4"/>
                </a:solidFill>
                <a:effectLst/>
                <a:latin typeface="Menlo" panose="020B0609030804020204" pitchFamily="49" charset="0"/>
              </a:rPr>
              <a:t> </a:t>
            </a:r>
          </a:p>
          <a:p>
            <a:pPr>
              <a:lnSpc>
                <a:spcPct val="150000"/>
              </a:lnSpc>
            </a:pPr>
            <a:r>
              <a:rPr lang="fr-FR" sz="800" b="0" i="0" u="none" strike="noStrike" dirty="0" err="1">
                <a:effectLst/>
                <a:latin typeface="Menlo" panose="020B0609030804020204" pitchFamily="49" charset="0"/>
              </a:rPr>
              <a:t>vectorizer</a:t>
            </a:r>
            <a:r>
              <a:rPr lang="fr-FR" sz="800" b="0" i="0" u="none" strike="noStrike" dirty="0">
                <a:effectLst/>
                <a:latin typeface="Menlo" panose="020B0609030804020204" pitchFamily="49" charset="0"/>
              </a:rPr>
              <a:t> = CountVectorizer(</a:t>
            </a:r>
            <a:r>
              <a:rPr lang="fr-FR" sz="800" b="0" i="0" u="none" strike="noStrike" dirty="0" err="1">
                <a:effectLst/>
                <a:latin typeface="Menlo" panose="020B0609030804020204" pitchFamily="49" charset="0"/>
              </a:rPr>
              <a:t>stop_words</a:t>
            </a:r>
            <a:r>
              <a:rPr lang="fr-FR" sz="800" b="0" i="0" u="none" strike="noStrike" dirty="0">
                <a:effectLst/>
                <a:latin typeface="Menlo" panose="020B0609030804020204" pitchFamily="49" charset="0"/>
              </a:rPr>
              <a:t>=</a:t>
            </a:r>
            <a:r>
              <a:rPr lang="fr-FR" sz="800" b="0" i="0" u="none" strike="noStrike" dirty="0">
                <a:solidFill>
                  <a:srgbClr val="CE9178"/>
                </a:solidFill>
                <a:effectLst/>
                <a:latin typeface="Menlo" panose="020B0609030804020204" pitchFamily="49" charset="0"/>
              </a:rPr>
              <a:t>'</a:t>
            </a:r>
            <a:r>
              <a:rPr lang="fr-FR" sz="800" b="0" i="0" u="none" strike="noStrike" dirty="0" err="1">
                <a:solidFill>
                  <a:srgbClr val="CE9178"/>
                </a:solidFill>
                <a:effectLst/>
                <a:latin typeface="Menlo" panose="020B0609030804020204" pitchFamily="49" charset="0"/>
              </a:rPr>
              <a:t>english</a:t>
            </a:r>
            <a:r>
              <a:rPr lang="fr-FR" sz="800" b="0" i="0" u="none" strike="noStrike" dirty="0">
                <a:solidFill>
                  <a:srgbClr val="CE9178"/>
                </a:solidFill>
                <a:effectLst/>
                <a:latin typeface="Menlo" panose="020B0609030804020204" pitchFamily="49" charset="0"/>
              </a:rPr>
              <a:t>'</a:t>
            </a:r>
            <a:r>
              <a:rPr lang="fr-FR" sz="800" b="0" i="0" u="none" strike="noStrike" dirty="0">
                <a:effectLst/>
                <a:latin typeface="Menlo" panose="020B0609030804020204" pitchFamily="49" charset="0"/>
              </a:rPr>
              <a:t>, </a:t>
            </a:r>
            <a:r>
              <a:rPr lang="fr-FR" sz="800" b="0" i="0" u="none" strike="noStrike" dirty="0" err="1">
                <a:effectLst/>
                <a:latin typeface="Menlo" panose="020B0609030804020204" pitchFamily="49" charset="0"/>
              </a:rPr>
              <a:t>max_df</a:t>
            </a:r>
            <a:r>
              <a:rPr lang="fr-FR" sz="800" b="0" i="0" u="none" strike="noStrike" dirty="0">
                <a:effectLst/>
                <a:latin typeface="Menlo" panose="020B0609030804020204" pitchFamily="49" charset="0"/>
              </a:rPr>
              <a:t>=0.95, </a:t>
            </a:r>
            <a:r>
              <a:rPr lang="fr-FR" sz="800" b="0" i="0" u="none" strike="noStrike" dirty="0" err="1">
                <a:effectLst/>
                <a:latin typeface="Menlo" panose="020B0609030804020204" pitchFamily="49" charset="0"/>
              </a:rPr>
              <a:t>min_df</a:t>
            </a:r>
            <a:r>
              <a:rPr lang="fr-FR" sz="800" b="0" i="0" u="none" strike="noStrike" dirty="0">
                <a:effectLst/>
                <a:latin typeface="Menlo" panose="020B0609030804020204" pitchFamily="49" charset="0"/>
              </a:rPr>
              <a:t>=2) </a:t>
            </a:r>
          </a:p>
          <a:p>
            <a:pPr>
              <a:lnSpc>
                <a:spcPct val="150000"/>
              </a:lnSpc>
            </a:pPr>
            <a:r>
              <a:rPr lang="fr-FR" sz="800" b="0" i="0" u="none" strike="noStrike" dirty="0">
                <a:effectLst/>
                <a:latin typeface="Menlo" panose="020B0609030804020204" pitchFamily="49" charset="0"/>
              </a:rPr>
              <a:t>X = </a:t>
            </a:r>
            <a:r>
              <a:rPr lang="fr-FR" sz="800" b="0" i="0" u="none" strike="noStrike" dirty="0" err="1">
                <a:effectLst/>
                <a:latin typeface="Menlo" panose="020B0609030804020204" pitchFamily="49" charset="0"/>
              </a:rPr>
              <a:t>vectorizer.fit_transform</a:t>
            </a:r>
            <a:r>
              <a:rPr lang="fr-FR" sz="800" b="0" i="0" u="none" strike="noStrike" dirty="0">
                <a:effectLst/>
                <a:latin typeface="Menlo" panose="020B0609030804020204" pitchFamily="49" charset="0"/>
              </a:rPr>
              <a:t>(corpus) </a:t>
            </a:r>
          </a:p>
          <a:p>
            <a:endParaRPr lang="fr-FR" sz="800" dirty="0">
              <a:solidFill>
                <a:srgbClr val="D4D4D4"/>
              </a:solidFill>
              <a:latin typeface="Menlo" panose="020B0609030804020204" pitchFamily="49" charset="0"/>
            </a:endParaRPr>
          </a:p>
          <a:p>
            <a:pPr>
              <a:lnSpc>
                <a:spcPct val="150000"/>
              </a:lnSpc>
            </a:pPr>
            <a:r>
              <a:rPr lang="fr-FR" sz="800" b="0" i="0" u="none" strike="noStrike" dirty="0">
                <a:solidFill>
                  <a:srgbClr val="6A9955"/>
                </a:solidFill>
                <a:effectLst/>
                <a:latin typeface="Menlo" panose="020B0609030804020204" pitchFamily="49" charset="0"/>
              </a:rPr>
              <a:t># Appliquer </a:t>
            </a:r>
            <a:r>
              <a:rPr lang="fr-FR" sz="800" b="0" i="0" u="none" strike="noStrike" dirty="0" err="1">
                <a:solidFill>
                  <a:srgbClr val="6A9955"/>
                </a:solidFill>
                <a:effectLst/>
                <a:latin typeface="Menlo" panose="020B0609030804020204" pitchFamily="49" charset="0"/>
              </a:rPr>
              <a:t>LatentDirichletAllocation</a:t>
            </a:r>
            <a:r>
              <a:rPr lang="fr-FR" sz="800" b="0" i="0" u="none" strike="noStrike" dirty="0">
                <a:solidFill>
                  <a:srgbClr val="D4D4D4"/>
                </a:solidFill>
                <a:effectLst/>
                <a:latin typeface="Menlo" panose="020B0609030804020204" pitchFamily="49" charset="0"/>
              </a:rPr>
              <a:t> </a:t>
            </a:r>
          </a:p>
          <a:p>
            <a:pPr>
              <a:lnSpc>
                <a:spcPct val="150000"/>
              </a:lnSpc>
            </a:pPr>
            <a:r>
              <a:rPr lang="fr-FR" sz="800" b="0" i="0" u="none" strike="noStrike" dirty="0" err="1">
                <a:effectLst/>
                <a:latin typeface="Menlo" panose="020B0609030804020204" pitchFamily="49" charset="0"/>
              </a:rPr>
              <a:t>lda</a:t>
            </a:r>
            <a:r>
              <a:rPr lang="fr-FR" sz="800" b="0" i="0" u="none" strike="noStrike" dirty="0">
                <a:effectLst/>
                <a:latin typeface="Menlo" panose="020B0609030804020204" pitchFamily="49" charset="0"/>
              </a:rPr>
              <a:t> = </a:t>
            </a:r>
            <a:r>
              <a:rPr lang="fr-FR" sz="800" b="0" i="0" u="none" strike="noStrike" dirty="0" err="1">
                <a:effectLst/>
                <a:latin typeface="Menlo" panose="020B0609030804020204" pitchFamily="49" charset="0"/>
              </a:rPr>
              <a:t>LatentDirichletAllocation</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n_components</a:t>
            </a:r>
            <a:r>
              <a:rPr lang="fr-FR" sz="800" b="0" i="0" u="none" strike="noStrike" dirty="0">
                <a:effectLst/>
                <a:latin typeface="Menlo" panose="020B0609030804020204" pitchFamily="49" charset="0"/>
              </a:rPr>
              <a:t>=10, </a:t>
            </a:r>
            <a:r>
              <a:rPr lang="fr-FR" sz="800" b="0" i="0" u="none" strike="noStrike" dirty="0" err="1">
                <a:effectLst/>
                <a:latin typeface="Menlo" panose="020B0609030804020204" pitchFamily="49" charset="0"/>
              </a:rPr>
              <a:t>random_state</a:t>
            </a:r>
            <a:r>
              <a:rPr lang="fr-FR" sz="800" b="0" i="0" u="none" strike="noStrike" dirty="0">
                <a:effectLst/>
                <a:latin typeface="Menlo" panose="020B0609030804020204" pitchFamily="49" charset="0"/>
              </a:rPr>
              <a:t>=42) </a:t>
            </a:r>
          </a:p>
          <a:p>
            <a:pPr>
              <a:lnSpc>
                <a:spcPct val="150000"/>
              </a:lnSpc>
            </a:pPr>
            <a:r>
              <a:rPr lang="fr-FR" sz="800" b="0" i="0" u="none" strike="noStrike" dirty="0" err="1">
                <a:effectLst/>
                <a:latin typeface="Menlo" panose="020B0609030804020204" pitchFamily="49" charset="0"/>
              </a:rPr>
              <a:t>lda.fit</a:t>
            </a:r>
            <a:r>
              <a:rPr lang="fr-FR" sz="800" b="0" i="0" u="none" strike="noStrike" dirty="0">
                <a:effectLst/>
                <a:latin typeface="Menlo" panose="020B0609030804020204" pitchFamily="49" charset="0"/>
              </a:rPr>
              <a:t>(X)</a:t>
            </a:r>
          </a:p>
          <a:p>
            <a:endParaRPr lang="fr-FR" sz="800" b="0" i="0" u="none" strike="noStrike"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284863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F71EE-95D2-044A-CDDD-FE05697FF8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308050-9923-71AE-E2DF-46D3A1D52CE3}"/>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BD93BD7C-6E7B-B257-9720-477EA3B306B2}"/>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modelling technique for text data</a:t>
            </a:r>
          </a:p>
        </p:txBody>
      </p:sp>
      <p:sp>
        <p:nvSpPr>
          <p:cNvPr id="6" name="Espace réservé du pied de page 2">
            <a:extLst>
              <a:ext uri="{FF2B5EF4-FFF2-40B4-BE49-F238E27FC236}">
                <a16:creationId xmlns:a16="http://schemas.microsoft.com/office/drawing/2014/main" id="{FEBCA509-208D-B956-563E-7EB4FCC2C038}"/>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
        <p:nvSpPr>
          <p:cNvPr id="5" name="ZoneTexte 4">
            <a:extLst>
              <a:ext uri="{FF2B5EF4-FFF2-40B4-BE49-F238E27FC236}">
                <a16:creationId xmlns:a16="http://schemas.microsoft.com/office/drawing/2014/main" id="{36839CD2-04E1-2AB4-2060-9B9F5ECC9862}"/>
              </a:ext>
            </a:extLst>
          </p:cNvPr>
          <p:cNvSpPr txBox="1"/>
          <p:nvPr/>
        </p:nvSpPr>
        <p:spPr>
          <a:xfrm>
            <a:off x="838198" y="1892491"/>
            <a:ext cx="11145255" cy="4600384"/>
          </a:xfrm>
          <a:prstGeom prst="rect">
            <a:avLst/>
          </a:prstGeom>
          <a:noFill/>
        </p:spPr>
        <p:txBody>
          <a:bodyPr wrap="square" lIns="90000">
            <a:noAutofit/>
          </a:bodyPr>
          <a:lstStyle/>
          <a:p>
            <a:pPr>
              <a:lnSpc>
                <a:spcPct val="150000"/>
              </a:lnSpc>
            </a:pPr>
            <a:r>
              <a:rPr lang="en-GB" sz="900" noProof="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a:t>
            </a:r>
            <a:r>
              <a:rPr lang="en-GB"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The output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will</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display the topics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inferred</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by the LDA model,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along</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with</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the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most</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representative</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words</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for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each</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 topic. For </a:t>
            </a:r>
            <a:r>
              <a:rPr lang="fr-FR" sz="900" dirty="0" err="1">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example</a:t>
            </a:r>
            <a:r>
              <a:rPr lang="fr-FR"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rPr>
              <a:t>:</a:t>
            </a:r>
            <a:endParaRPr lang="en-GB" sz="9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endParaRPr>
          </a:p>
          <a:p>
            <a:pPr>
              <a:lnSpc>
                <a:spcPct val="150000"/>
              </a:lnSpc>
            </a:pPr>
            <a:endParaRPr lang="en-GB" sz="800" dirty="0">
              <a:solidFill>
                <a:schemeClr val="accent4">
                  <a:lumMod val="75000"/>
                </a:schemeClr>
              </a:solidFill>
              <a:latin typeface="Menlo" panose="020B0609030804020204" pitchFamily="49" charset="0"/>
              <a:ea typeface="Menlo" panose="020B0609030804020204" pitchFamily="49" charset="0"/>
              <a:cs typeface="Menlo" panose="020B0609030804020204" pitchFamily="49" charset="0"/>
            </a:endParaRPr>
          </a:p>
          <a:p>
            <a:pPr>
              <a:lnSpc>
                <a:spcPct val="150000"/>
              </a:lnSpc>
            </a:pPr>
            <a:r>
              <a:rPr lang="fr-FR" sz="800" b="0" i="0" u="none" strike="noStrike" dirty="0">
                <a:solidFill>
                  <a:srgbClr val="6A9955"/>
                </a:solidFill>
                <a:effectLst/>
                <a:latin typeface="Menlo" panose="020B0609030804020204" pitchFamily="49" charset="0"/>
              </a:rPr>
              <a:t># Display the topics</a:t>
            </a:r>
            <a:endParaRPr lang="fr-FR" sz="800" b="0" i="0" u="none" strike="noStrike" dirty="0">
              <a:solidFill>
                <a:srgbClr val="D4D4D4"/>
              </a:solidFill>
              <a:effectLst/>
              <a:latin typeface="Menlo" panose="020B0609030804020204" pitchFamily="49" charset="0"/>
            </a:endParaRPr>
          </a:p>
          <a:p>
            <a:pPr>
              <a:lnSpc>
                <a:spcPct val="150000"/>
              </a:lnSpc>
            </a:pPr>
            <a:r>
              <a:rPr lang="fr-FR" sz="800" b="0" i="0" u="none" strike="noStrike" dirty="0" err="1">
                <a:solidFill>
                  <a:srgbClr val="569CD6"/>
                </a:solidFill>
                <a:effectLst/>
                <a:latin typeface="Menlo" panose="020B0609030804020204" pitchFamily="49" charset="0"/>
              </a:rPr>
              <a:t>def</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display_topics</a:t>
            </a:r>
            <a:r>
              <a:rPr lang="fr-FR" sz="800" b="0" i="0" u="none" strike="noStrike" dirty="0">
                <a:effectLst/>
                <a:latin typeface="Menlo" panose="020B0609030804020204" pitchFamily="49" charset="0"/>
              </a:rPr>
              <a:t>(model, </a:t>
            </a:r>
            <a:r>
              <a:rPr lang="fr-FR" sz="800" b="0" i="0" u="none" strike="noStrike" dirty="0" err="1">
                <a:effectLst/>
                <a:latin typeface="Menlo" panose="020B0609030804020204" pitchFamily="49" charset="0"/>
              </a:rPr>
              <a:t>feature_names</a:t>
            </a:r>
            <a:r>
              <a:rPr lang="fr-FR" sz="800" b="0" i="0" u="none" strike="noStrike" dirty="0">
                <a:effectLst/>
                <a:latin typeface="Menlo" panose="020B0609030804020204" pitchFamily="49" charset="0"/>
              </a:rPr>
              <a:t>, </a:t>
            </a:r>
            <a:r>
              <a:rPr lang="fr-FR" sz="800" b="0" i="0" u="none" strike="noStrike" dirty="0" err="1">
                <a:effectLst/>
                <a:latin typeface="Menlo" panose="020B0609030804020204" pitchFamily="49" charset="0"/>
              </a:rPr>
              <a:t>no_top_words</a:t>
            </a:r>
            <a:r>
              <a:rPr lang="fr-FR" sz="800" b="0" i="0" u="none" strike="noStrike" dirty="0">
                <a:effectLst/>
                <a:latin typeface="Menlo" panose="020B0609030804020204" pitchFamily="49" charset="0"/>
              </a:rPr>
              <a:t>): </a:t>
            </a:r>
          </a:p>
          <a:p>
            <a:pPr>
              <a:lnSpc>
                <a:spcPct val="150000"/>
              </a:lnSpc>
            </a:pPr>
            <a:r>
              <a:rPr lang="fr-FR" sz="800" b="0" i="0" u="none" strike="noStrike" dirty="0">
                <a:solidFill>
                  <a:srgbClr val="D4D4D4"/>
                </a:solidFill>
                <a:effectLst/>
                <a:latin typeface="Menlo" panose="020B0609030804020204" pitchFamily="49" charset="0"/>
              </a:rPr>
              <a:t>    </a:t>
            </a:r>
            <a:r>
              <a:rPr lang="fr-FR" sz="800" b="0" i="0" u="none" strike="noStrike" dirty="0">
                <a:solidFill>
                  <a:srgbClr val="569CD6"/>
                </a:solidFill>
                <a:effectLst/>
                <a:latin typeface="Menlo" panose="020B0609030804020204" pitchFamily="49" charset="0"/>
              </a:rPr>
              <a:t>for</a:t>
            </a:r>
            <a:r>
              <a:rPr lang="fr-FR" sz="800" b="0" i="0" u="none" strike="noStrike" dirty="0">
                <a:solidFill>
                  <a:srgbClr val="D4D4D4"/>
                </a:solidFill>
                <a:effectLst/>
                <a:latin typeface="Menlo" panose="020B0609030804020204" pitchFamily="49" charset="0"/>
              </a:rPr>
              <a:t> </a:t>
            </a:r>
            <a:r>
              <a:rPr lang="fr-FR" sz="800" b="0" i="0" u="none" strike="noStrike" dirty="0" err="1">
                <a:effectLst/>
                <a:latin typeface="Menlo" panose="020B0609030804020204" pitchFamily="49" charset="0"/>
              </a:rPr>
              <a:t>topic_idx</a:t>
            </a:r>
            <a:r>
              <a:rPr lang="fr-FR" sz="800" b="0" i="0" u="none" strike="noStrike" dirty="0">
                <a:effectLst/>
                <a:latin typeface="Menlo" panose="020B0609030804020204" pitchFamily="49" charset="0"/>
              </a:rPr>
              <a:t>, topic</a:t>
            </a:r>
            <a:r>
              <a:rPr lang="fr-FR" sz="800" b="0" i="0" u="none" strike="noStrike" dirty="0">
                <a:solidFill>
                  <a:srgbClr val="D4D4D4"/>
                </a:solidFill>
                <a:effectLst/>
                <a:latin typeface="Menlo" panose="020B0609030804020204" pitchFamily="49" charset="0"/>
              </a:rPr>
              <a:t> </a:t>
            </a:r>
            <a:r>
              <a:rPr lang="fr-FR" sz="800" b="0" i="0" u="none" strike="noStrike" dirty="0">
                <a:solidFill>
                  <a:srgbClr val="569CD6"/>
                </a:solidFill>
                <a:effectLst/>
                <a:latin typeface="Menlo" panose="020B0609030804020204" pitchFamily="49" charset="0"/>
              </a:rPr>
              <a:t>in</a:t>
            </a:r>
            <a:r>
              <a:rPr lang="fr-FR" sz="800" b="0" i="0" u="none" strike="noStrike" dirty="0">
                <a:solidFill>
                  <a:srgbClr val="D4D4D4"/>
                </a:solidFill>
                <a:effectLst/>
                <a:latin typeface="Menlo" panose="020B0609030804020204" pitchFamily="49" charset="0"/>
              </a:rPr>
              <a:t> </a:t>
            </a:r>
            <a:r>
              <a:rPr lang="fr-FR" sz="800" b="0" i="0" u="none" strike="noStrike" dirty="0" err="1">
                <a:solidFill>
                  <a:srgbClr val="CE9178"/>
                </a:solidFill>
                <a:effectLst/>
                <a:latin typeface="Menlo" panose="020B0609030804020204" pitchFamily="49" charset="0"/>
              </a:rPr>
              <a:t>enumerate</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model.components</a:t>
            </a:r>
            <a:r>
              <a:rPr lang="fr-FR" sz="800" b="0" i="0" u="none" strike="noStrike" dirty="0">
                <a:effectLst/>
                <a:latin typeface="Menlo" panose="020B0609030804020204" pitchFamily="49" charset="0"/>
              </a:rPr>
              <a:t>_): </a:t>
            </a:r>
          </a:p>
          <a:p>
            <a:pPr>
              <a:lnSpc>
                <a:spcPct val="150000"/>
              </a:lnSpc>
            </a:pPr>
            <a:r>
              <a:rPr lang="fr-FR" sz="800" b="0" i="0" u="none" strike="noStrike" dirty="0">
                <a:solidFill>
                  <a:srgbClr val="569CD6"/>
                </a:solidFill>
                <a:effectLst/>
                <a:latin typeface="Menlo" panose="020B0609030804020204" pitchFamily="49" charset="0"/>
              </a:rPr>
              <a:t>        print</a:t>
            </a:r>
            <a:r>
              <a:rPr lang="fr-FR" sz="800" b="0" i="0" u="none" strike="noStrike" dirty="0">
                <a:effectLst/>
                <a:latin typeface="Menlo" panose="020B0609030804020204" pitchFamily="49" charset="0"/>
              </a:rPr>
              <a:t>(</a:t>
            </a:r>
            <a:r>
              <a:rPr lang="fr-FR" sz="800" b="0" i="0" u="none" strike="noStrike" dirty="0" err="1">
                <a:solidFill>
                  <a:srgbClr val="CE9178"/>
                </a:solidFill>
                <a:effectLst/>
                <a:latin typeface="Menlo" panose="020B0609030804020204" pitchFamily="49" charset="0"/>
              </a:rPr>
              <a:t>f"Topic</a:t>
            </a:r>
            <a:r>
              <a:rPr lang="fr-FR" sz="800" b="0" i="0" u="none" strike="noStrike" dirty="0">
                <a:solidFill>
                  <a:srgbClr val="CE9178"/>
                </a:solidFill>
                <a:effectLst/>
                <a:latin typeface="Menlo" panose="020B0609030804020204" pitchFamily="49" charset="0"/>
              </a:rPr>
              <a:t> </a:t>
            </a:r>
            <a:r>
              <a:rPr lang="fr-FR" sz="800" b="0" i="0" u="none" strike="noStrike" dirty="0">
                <a:solidFill>
                  <a:srgbClr val="D4D4D4"/>
                </a:solidFill>
                <a:effectLst/>
                <a:latin typeface="Menlo" panose="020B0609030804020204" pitchFamily="49" charset="0"/>
              </a:rPr>
              <a:t>{</a:t>
            </a:r>
            <a:r>
              <a:rPr lang="fr-FR" sz="800" b="0" i="0" u="none" strike="noStrike" dirty="0" err="1">
                <a:solidFill>
                  <a:srgbClr val="9CDCFE"/>
                </a:solidFill>
                <a:effectLst/>
                <a:latin typeface="Menlo" panose="020B0609030804020204" pitchFamily="49" charset="0"/>
              </a:rPr>
              <a:t>topic_idx</a:t>
            </a:r>
            <a:r>
              <a:rPr lang="fr-FR" sz="800" b="0" i="0" u="none" strike="noStrike" dirty="0">
                <a:solidFill>
                  <a:srgbClr val="D4D4D4"/>
                </a:solidFill>
                <a:effectLst/>
                <a:latin typeface="Menlo" panose="020B0609030804020204" pitchFamily="49" charset="0"/>
              </a:rPr>
              <a:t>}</a:t>
            </a:r>
            <a:r>
              <a:rPr lang="fr-FR" sz="800" b="0" i="0" u="none" strike="noStrike" dirty="0">
                <a:solidFill>
                  <a:srgbClr val="CE9178"/>
                </a:solidFill>
                <a:effectLst/>
                <a:latin typeface="Menlo" panose="020B0609030804020204" pitchFamily="49" charset="0"/>
              </a:rPr>
              <a:t>:"</a:t>
            </a:r>
            <a:r>
              <a:rPr lang="fr-FR" sz="800" b="0" i="0" u="none" strike="noStrike" dirty="0">
                <a:effectLst/>
                <a:latin typeface="Menlo" panose="020B0609030804020204" pitchFamily="49" charset="0"/>
              </a:rPr>
              <a:t>) </a:t>
            </a:r>
          </a:p>
          <a:p>
            <a:pPr>
              <a:lnSpc>
                <a:spcPct val="150000"/>
              </a:lnSpc>
            </a:pPr>
            <a:r>
              <a:rPr lang="fr-FR" sz="800" b="0" i="0" u="none" strike="noStrike" dirty="0">
                <a:solidFill>
                  <a:srgbClr val="569CD6"/>
                </a:solidFill>
                <a:effectLst/>
                <a:latin typeface="Menlo" panose="020B0609030804020204" pitchFamily="49" charset="0"/>
              </a:rPr>
              <a:t>        print</a:t>
            </a:r>
            <a:r>
              <a:rPr lang="fr-FR" sz="800" b="0" i="0" u="none" strike="noStrike" dirty="0">
                <a:effectLst/>
                <a:latin typeface="Menlo" panose="020B0609030804020204" pitchFamily="49" charset="0"/>
              </a:rPr>
              <a:t>(</a:t>
            </a:r>
            <a:r>
              <a:rPr lang="fr-FR" sz="800" b="0" i="0" u="none" strike="noStrike" dirty="0">
                <a:solidFill>
                  <a:srgbClr val="CE9178"/>
                </a:solidFill>
                <a:effectLst/>
                <a:latin typeface="Menlo" panose="020B0609030804020204" pitchFamily="49" charset="0"/>
              </a:rPr>
              <a:t>" "</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join</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feature_names</a:t>
            </a:r>
            <a:r>
              <a:rPr lang="fr-FR" sz="800" b="0" i="0" u="none" strike="noStrike" dirty="0">
                <a:effectLst/>
                <a:latin typeface="Menlo" panose="020B0609030804020204" pitchFamily="49" charset="0"/>
              </a:rPr>
              <a:t>[i] </a:t>
            </a:r>
            <a:r>
              <a:rPr lang="fr-FR" sz="800" b="0" i="0" u="none" strike="noStrike" dirty="0">
                <a:solidFill>
                  <a:srgbClr val="569CD6"/>
                </a:solidFill>
                <a:effectLst/>
                <a:latin typeface="Menlo" panose="020B0609030804020204" pitchFamily="49" charset="0"/>
              </a:rPr>
              <a:t>for</a:t>
            </a:r>
            <a:r>
              <a:rPr lang="fr-FR" sz="800" b="0" i="0" u="none" strike="noStrike" dirty="0">
                <a:solidFill>
                  <a:srgbClr val="D4D4D4"/>
                </a:solidFill>
                <a:effectLst/>
                <a:latin typeface="Menlo" panose="020B0609030804020204" pitchFamily="49" charset="0"/>
              </a:rPr>
              <a:t> </a:t>
            </a:r>
            <a:r>
              <a:rPr lang="fr-FR" sz="800" b="0" i="0" u="none" strike="noStrike" dirty="0">
                <a:effectLst/>
                <a:latin typeface="Menlo" panose="020B0609030804020204" pitchFamily="49" charset="0"/>
              </a:rPr>
              <a:t>i in </a:t>
            </a:r>
            <a:r>
              <a:rPr lang="fr-FR" sz="800" b="0" i="0" u="none" strike="noStrike" dirty="0" err="1">
                <a:effectLst/>
                <a:latin typeface="Menlo" panose="020B0609030804020204" pitchFamily="49" charset="0"/>
              </a:rPr>
              <a:t>topic.argsort</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no_top_words</a:t>
            </a:r>
            <a:r>
              <a:rPr lang="fr-FR" sz="800" b="0" i="0" u="none" strike="noStrike" dirty="0">
                <a:effectLst/>
                <a:latin typeface="Menlo" panose="020B0609030804020204" pitchFamily="49" charset="0"/>
              </a:rPr>
              <a:t> - 1:-1]])) </a:t>
            </a:r>
          </a:p>
          <a:p>
            <a:pPr>
              <a:lnSpc>
                <a:spcPct val="150000"/>
              </a:lnSpc>
            </a:pPr>
            <a:r>
              <a:rPr lang="fr-FR" sz="800" b="0" i="0" u="none" strike="noStrike" dirty="0" err="1">
                <a:effectLst/>
                <a:latin typeface="Menlo" panose="020B0609030804020204" pitchFamily="49" charset="0"/>
              </a:rPr>
              <a:t>no_top_words</a:t>
            </a:r>
            <a:r>
              <a:rPr lang="fr-FR" sz="800" b="0" i="0" u="none" strike="noStrike" dirty="0">
                <a:effectLst/>
                <a:latin typeface="Menlo" panose="020B0609030804020204" pitchFamily="49" charset="0"/>
              </a:rPr>
              <a:t> = 10 </a:t>
            </a:r>
          </a:p>
          <a:p>
            <a:pPr>
              <a:lnSpc>
                <a:spcPct val="150000"/>
              </a:lnSpc>
            </a:pPr>
            <a:r>
              <a:rPr lang="fr-FR" sz="800" b="0" i="0" u="none" strike="noStrike" dirty="0" err="1">
                <a:effectLst/>
                <a:latin typeface="Menlo" panose="020B0609030804020204" pitchFamily="49" charset="0"/>
              </a:rPr>
              <a:t>tf_feature_names</a:t>
            </a:r>
            <a:r>
              <a:rPr lang="fr-FR" sz="800" b="0" i="0" u="none" strike="noStrike" dirty="0">
                <a:effectLst/>
                <a:latin typeface="Menlo" panose="020B0609030804020204" pitchFamily="49" charset="0"/>
              </a:rPr>
              <a:t> = </a:t>
            </a:r>
            <a:r>
              <a:rPr lang="fr-FR" sz="800" b="0" i="0" u="none" strike="noStrike" dirty="0" err="1">
                <a:effectLst/>
                <a:latin typeface="Menlo" panose="020B0609030804020204" pitchFamily="49" charset="0"/>
              </a:rPr>
              <a:t>vectorizer.get_feature_names_out</a:t>
            </a:r>
            <a:r>
              <a:rPr lang="fr-FR" sz="800" b="0" i="0" u="none" strike="noStrike" dirty="0">
                <a:effectLst/>
                <a:latin typeface="Menlo" panose="020B0609030804020204" pitchFamily="49" charset="0"/>
              </a:rPr>
              <a:t>() </a:t>
            </a:r>
          </a:p>
          <a:p>
            <a:pPr>
              <a:lnSpc>
                <a:spcPct val="150000"/>
              </a:lnSpc>
            </a:pPr>
            <a:r>
              <a:rPr lang="fr-FR" sz="800" b="0" i="0" u="none" strike="noStrike" dirty="0" err="1">
                <a:effectLst/>
                <a:latin typeface="Menlo" panose="020B0609030804020204" pitchFamily="49" charset="0"/>
              </a:rPr>
              <a:t>display_topics</a:t>
            </a:r>
            <a:r>
              <a:rPr lang="fr-FR" sz="800" b="0" i="0" u="none" strike="noStrike" dirty="0">
                <a:effectLst/>
                <a:latin typeface="Menlo" panose="020B0609030804020204" pitchFamily="49" charset="0"/>
              </a:rPr>
              <a:t>(</a:t>
            </a:r>
            <a:r>
              <a:rPr lang="fr-FR" sz="800" b="0" i="0" u="none" strike="noStrike" dirty="0" err="1">
                <a:effectLst/>
                <a:latin typeface="Menlo" panose="020B0609030804020204" pitchFamily="49" charset="0"/>
              </a:rPr>
              <a:t>lda</a:t>
            </a:r>
            <a:r>
              <a:rPr lang="fr-FR" sz="800" b="0" i="0" u="none" strike="noStrike" dirty="0">
                <a:effectLst/>
                <a:latin typeface="Menlo" panose="020B0609030804020204" pitchFamily="49" charset="0"/>
              </a:rPr>
              <a:t>, </a:t>
            </a:r>
            <a:r>
              <a:rPr lang="fr-FR" sz="800" b="0" i="0" u="none" strike="noStrike" dirty="0" err="1">
                <a:effectLst/>
                <a:latin typeface="Menlo" panose="020B0609030804020204" pitchFamily="49" charset="0"/>
              </a:rPr>
              <a:t>tf_feature_names</a:t>
            </a:r>
            <a:r>
              <a:rPr lang="fr-FR" sz="800" b="0" i="0" u="none" strike="noStrike" dirty="0">
                <a:effectLst/>
                <a:latin typeface="Menlo" panose="020B0609030804020204" pitchFamily="49" charset="0"/>
              </a:rPr>
              <a:t>, </a:t>
            </a:r>
            <a:r>
              <a:rPr lang="fr-FR" sz="800" b="0" i="0" u="none" strike="noStrike" dirty="0" err="1">
                <a:effectLst/>
                <a:latin typeface="Menlo" panose="020B0609030804020204" pitchFamily="49" charset="0"/>
              </a:rPr>
              <a:t>no_top_words</a:t>
            </a:r>
            <a:r>
              <a:rPr lang="fr-FR" sz="800" b="0" i="0" u="none" strike="noStrike" dirty="0">
                <a:effectLst/>
                <a:latin typeface="Menlo" panose="020B0609030804020204" pitchFamily="49" charset="0"/>
              </a:rPr>
              <a:t>)</a:t>
            </a:r>
          </a:p>
          <a:p>
            <a:pPr>
              <a:lnSpc>
                <a:spcPct val="150000"/>
              </a:lnSpc>
            </a:pPr>
            <a:endParaRPr lang="fr-FR" sz="800" noProof="0" dirty="0">
              <a:latin typeface="Menlo" panose="020B0609030804020204" pitchFamily="49" charset="0"/>
            </a:endParaRP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Topic 0:</a:t>
            </a: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space shuttle launch </a:t>
            </a:r>
            <a:r>
              <a:rPr lang="en-GB" sz="900" noProof="0" dirty="0" err="1">
                <a:latin typeface="Menlo" panose="020B0609030804020204" pitchFamily="49" charset="0"/>
                <a:ea typeface="Menlo" panose="020B0609030804020204" pitchFamily="49" charset="0"/>
                <a:cs typeface="Menlo" panose="020B0609030804020204" pitchFamily="49" charset="0"/>
              </a:rPr>
              <a:t>nasa</a:t>
            </a:r>
            <a:r>
              <a:rPr lang="en-GB" sz="900" noProof="0" dirty="0">
                <a:latin typeface="Menlo" panose="020B0609030804020204" pitchFamily="49" charset="0"/>
                <a:ea typeface="Menlo" panose="020B0609030804020204" pitchFamily="49" charset="0"/>
                <a:cs typeface="Menlo" panose="020B0609030804020204" pitchFamily="49" charset="0"/>
              </a:rPr>
              <a:t> orbit flight crew mission</a:t>
            </a:r>
          </a:p>
          <a:p>
            <a:pPr>
              <a:lnSpc>
                <a:spcPct val="150000"/>
              </a:lnSpc>
            </a:pPr>
            <a:endParaRPr lang="en-GB" sz="900" noProof="0" dirty="0">
              <a:latin typeface="Menlo" panose="020B0609030804020204" pitchFamily="49" charset="0"/>
              <a:ea typeface="Menlo" panose="020B0609030804020204" pitchFamily="49" charset="0"/>
              <a:cs typeface="Menlo" panose="020B0609030804020204" pitchFamily="49" charset="0"/>
            </a:endParaRP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Topic 1:</a:t>
            </a: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government law rights bill states court case legal</a:t>
            </a:r>
          </a:p>
          <a:p>
            <a:pPr>
              <a:lnSpc>
                <a:spcPct val="150000"/>
              </a:lnSpc>
            </a:pPr>
            <a:endParaRPr lang="en-GB" sz="900" noProof="0" dirty="0">
              <a:latin typeface="Menlo" panose="020B0609030804020204" pitchFamily="49" charset="0"/>
              <a:ea typeface="Menlo" panose="020B0609030804020204" pitchFamily="49" charset="0"/>
              <a:cs typeface="Menlo" panose="020B0609030804020204" pitchFamily="49" charset="0"/>
            </a:endParaRP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Topic 2:</a:t>
            </a: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god </a:t>
            </a:r>
            <a:r>
              <a:rPr lang="en-GB" sz="900" noProof="0" dirty="0" err="1">
                <a:latin typeface="Menlo" panose="020B0609030804020204" pitchFamily="49" charset="0"/>
                <a:ea typeface="Menlo" panose="020B0609030804020204" pitchFamily="49" charset="0"/>
                <a:cs typeface="Menlo" panose="020B0609030804020204" pitchFamily="49" charset="0"/>
              </a:rPr>
              <a:t>jesus</a:t>
            </a:r>
            <a:r>
              <a:rPr lang="en-GB" sz="900" noProof="0" dirty="0">
                <a:latin typeface="Menlo" panose="020B0609030804020204" pitchFamily="49" charset="0"/>
                <a:ea typeface="Menlo" panose="020B0609030804020204" pitchFamily="49" charset="0"/>
                <a:cs typeface="Menlo" panose="020B0609030804020204" pitchFamily="49" charset="0"/>
              </a:rPr>
              <a:t> </a:t>
            </a:r>
            <a:r>
              <a:rPr lang="en-GB" sz="900" noProof="0" dirty="0" err="1">
                <a:latin typeface="Menlo" panose="020B0609030804020204" pitchFamily="49" charset="0"/>
                <a:ea typeface="Menlo" panose="020B0609030804020204" pitchFamily="49" charset="0"/>
                <a:cs typeface="Menlo" panose="020B0609030804020204" pitchFamily="49" charset="0"/>
              </a:rPr>
              <a:t>christian</a:t>
            </a:r>
            <a:r>
              <a:rPr lang="en-GB" sz="900" noProof="0" dirty="0">
                <a:latin typeface="Menlo" panose="020B0609030804020204" pitchFamily="49" charset="0"/>
                <a:ea typeface="Menlo" panose="020B0609030804020204" pitchFamily="49" charset="0"/>
                <a:cs typeface="Menlo" panose="020B0609030804020204" pitchFamily="49" charset="0"/>
              </a:rPr>
              <a:t> bible </a:t>
            </a:r>
            <a:r>
              <a:rPr lang="en-GB" sz="900" noProof="0" dirty="0" err="1">
                <a:latin typeface="Menlo" panose="020B0609030804020204" pitchFamily="49" charset="0"/>
                <a:ea typeface="Menlo" panose="020B0609030804020204" pitchFamily="49" charset="0"/>
                <a:cs typeface="Menlo" panose="020B0609030804020204" pitchFamily="49" charset="0"/>
              </a:rPr>
              <a:t>christ</a:t>
            </a:r>
            <a:r>
              <a:rPr lang="en-GB" sz="900" noProof="0" dirty="0">
                <a:latin typeface="Menlo" panose="020B0609030804020204" pitchFamily="49" charset="0"/>
                <a:ea typeface="Menlo" panose="020B0609030804020204" pitchFamily="49" charset="0"/>
                <a:cs typeface="Menlo" panose="020B0609030804020204" pitchFamily="49" charset="0"/>
              </a:rPr>
              <a:t> faith church belief</a:t>
            </a:r>
          </a:p>
          <a:p>
            <a:pPr>
              <a:lnSpc>
                <a:spcPct val="150000"/>
              </a:lnSpc>
            </a:pPr>
            <a:endParaRPr lang="en-GB" sz="900" noProof="0" dirty="0">
              <a:latin typeface="Menlo" panose="020B0609030804020204" pitchFamily="49" charset="0"/>
              <a:ea typeface="Menlo" panose="020B0609030804020204" pitchFamily="49" charset="0"/>
              <a:cs typeface="Menlo" panose="020B0609030804020204" pitchFamily="49" charset="0"/>
            </a:endParaRPr>
          </a:p>
          <a:p>
            <a:pPr>
              <a:lnSpc>
                <a:spcPct val="150000"/>
              </a:lnSpc>
            </a:pPr>
            <a:r>
              <a:rPr lang="en-GB" sz="900" noProof="0" dirty="0">
                <a:latin typeface="Menlo" panose="020B0609030804020204" pitchFamily="49" charset="0"/>
                <a:ea typeface="Menlo" panose="020B0609030804020204" pitchFamily="49" charset="0"/>
                <a:cs typeface="Menlo" panose="020B0609030804020204" pitchFamily="49" charset="0"/>
              </a:rPr>
              <a:t>...</a:t>
            </a:r>
          </a:p>
          <a:p>
            <a:pPr>
              <a:lnSpc>
                <a:spcPct val="150000"/>
              </a:lnSpc>
            </a:pPr>
            <a:endParaRPr lang="en-GB" sz="800" noProof="0" dirty="0"/>
          </a:p>
        </p:txBody>
      </p:sp>
    </p:spTree>
    <p:extLst>
      <p:ext uri="{BB962C8B-B14F-4D97-AF65-F5344CB8AC3E}">
        <p14:creationId xmlns:p14="http://schemas.microsoft.com/office/powerpoint/2010/main" val="266084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45C09-1598-B0D6-E50C-989D4AB39C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A8DB4C-4A4C-7A31-2418-E18AE3AA5B87}"/>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51510DB8-846D-DFAA-CBDB-F86F76C59F42}"/>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modelling technique for text data</a:t>
            </a:r>
          </a:p>
        </p:txBody>
      </p:sp>
      <p:sp>
        <p:nvSpPr>
          <p:cNvPr id="6" name="Espace réservé du pied de page 2">
            <a:extLst>
              <a:ext uri="{FF2B5EF4-FFF2-40B4-BE49-F238E27FC236}">
                <a16:creationId xmlns:a16="http://schemas.microsoft.com/office/drawing/2014/main" id="{9AD85C39-D0BD-C0B8-D4F0-610F1B75814F}"/>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
        <p:nvSpPr>
          <p:cNvPr id="5" name="ZoneTexte 4">
            <a:extLst>
              <a:ext uri="{FF2B5EF4-FFF2-40B4-BE49-F238E27FC236}">
                <a16:creationId xmlns:a16="http://schemas.microsoft.com/office/drawing/2014/main" id="{84BBDE0F-404E-EADC-0B0D-7B3202AC6B22}"/>
              </a:ext>
            </a:extLst>
          </p:cNvPr>
          <p:cNvSpPr txBox="1"/>
          <p:nvPr/>
        </p:nvSpPr>
        <p:spPr>
          <a:xfrm>
            <a:off x="838198" y="1892491"/>
            <a:ext cx="11145255" cy="4600384"/>
          </a:xfrm>
          <a:prstGeom prst="rect">
            <a:avLst/>
          </a:prstGeom>
          <a:noFill/>
        </p:spPr>
        <p:txBody>
          <a:bodyPr wrap="square" lIns="90000">
            <a:noAutofit/>
          </a:bodyPr>
          <a:lstStyle/>
          <a:p>
            <a:pPr>
              <a:lnSpc>
                <a:spcPct val="150000"/>
              </a:lnSpc>
            </a:pPr>
            <a:r>
              <a:rPr lang="en-GB" sz="1100" noProof="0" dirty="0"/>
              <a:t>We have a corpus of 4 documents:</a:t>
            </a:r>
          </a:p>
          <a:p>
            <a:pPr algn="l">
              <a:lnSpc>
                <a:spcPct val="150000"/>
              </a:lnSpc>
            </a:pPr>
            <a:r>
              <a:rPr lang="en-GB" sz="1100" i="0" u="none" strike="noStrike" dirty="0">
                <a:effectLst/>
                <a:latin typeface="ui-sans-serif"/>
              </a:rPr>
              <a:t>Document 1 : ["apple", "banana", "cat", "dog"]</a:t>
            </a:r>
          </a:p>
          <a:p>
            <a:pPr algn="l">
              <a:lnSpc>
                <a:spcPct val="150000"/>
              </a:lnSpc>
            </a:pPr>
            <a:r>
              <a:rPr lang="en-GB" sz="1100" i="0" u="none" strike="noStrike" dirty="0">
                <a:effectLst/>
                <a:latin typeface="ui-sans-serif"/>
              </a:rPr>
              <a:t>Document 2 : ["banana", "orange", "mouse"]</a:t>
            </a:r>
          </a:p>
          <a:p>
            <a:pPr algn="l">
              <a:lnSpc>
                <a:spcPct val="150000"/>
              </a:lnSpc>
            </a:pPr>
            <a:r>
              <a:rPr lang="en-GB" sz="1100" i="0" u="none" strike="noStrike" dirty="0">
                <a:effectLst/>
                <a:latin typeface="ui-sans-serif"/>
              </a:rPr>
              <a:t>Document 3 : ["cat", "dog", "mouse", "apple"]</a:t>
            </a:r>
          </a:p>
          <a:p>
            <a:pPr algn="l">
              <a:lnSpc>
                <a:spcPct val="150000"/>
              </a:lnSpc>
            </a:pPr>
            <a:r>
              <a:rPr lang="en-GB" sz="1100" i="0" u="none" strike="noStrike" dirty="0">
                <a:effectLst/>
                <a:latin typeface="ui-sans-serif"/>
              </a:rPr>
              <a:t>Document 4 : ["orange", "banana", "dog", "cat"]</a:t>
            </a:r>
          </a:p>
          <a:p>
            <a:pPr algn="l">
              <a:lnSpc>
                <a:spcPct val="150000"/>
              </a:lnSpc>
            </a:pPr>
            <a:r>
              <a:rPr lang="en-GB" sz="1100" i="0" u="none" strike="noStrike" dirty="0">
                <a:effectLst/>
                <a:latin typeface="ui-sans-serif"/>
              </a:rPr>
              <a:t>And we want to infer 2 topics with this corpus.</a:t>
            </a:r>
          </a:p>
          <a:p>
            <a:pPr algn="l">
              <a:lnSpc>
                <a:spcPct val="150000"/>
              </a:lnSpc>
            </a:pPr>
            <a:endParaRPr lang="en-GB" sz="1100" dirty="0">
              <a:latin typeface="ui-sans-serif"/>
            </a:endParaRPr>
          </a:p>
          <a:p>
            <a:pPr algn="l">
              <a:lnSpc>
                <a:spcPct val="150000"/>
              </a:lnSpc>
            </a:pPr>
            <a:r>
              <a:rPr lang="en-GB" sz="1100" i="0" u="none" strike="noStrike" dirty="0">
                <a:effectLst/>
                <a:latin typeface="ui-sans-serif"/>
              </a:rPr>
              <a:t>We use the Collapsed Gibbs Sampling:</a:t>
            </a:r>
          </a:p>
          <a:p>
            <a:pPr marL="342900" indent="-342900" algn="l">
              <a:lnSpc>
                <a:spcPct val="150000"/>
              </a:lnSpc>
              <a:buAutoNum type="arabicPeriod"/>
            </a:pPr>
            <a:r>
              <a:rPr lang="en-GB" sz="1100" dirty="0">
                <a:latin typeface="ui-sans-serif"/>
              </a:rPr>
              <a:t>Initialisation: </a:t>
            </a:r>
          </a:p>
          <a:p>
            <a:pPr marL="800100" lvl="1" indent="-342900">
              <a:lnSpc>
                <a:spcPct val="150000"/>
              </a:lnSpc>
              <a:buFont typeface="Arial" panose="020B0604020202020204" pitchFamily="34" charset="0"/>
              <a:buChar char="•"/>
            </a:pPr>
            <a:r>
              <a:rPr lang="en-GB" sz="1100" dirty="0">
                <a:latin typeface="ui-sans-serif"/>
              </a:rPr>
              <a:t>Randomly assign a topic to every word of the topic</a:t>
            </a:r>
          </a:p>
          <a:p>
            <a:pPr marL="342900" indent="-342900" algn="l">
              <a:lnSpc>
                <a:spcPct val="150000"/>
              </a:lnSpc>
              <a:buAutoNum type="arabicPeriod"/>
            </a:pPr>
            <a:r>
              <a:rPr lang="en-GB" sz="1100" i="0" u="none" strike="noStrike" dirty="0">
                <a:effectLst/>
                <a:latin typeface="ui-sans-serif"/>
              </a:rPr>
              <a:t>Sampling: </a:t>
            </a:r>
          </a:p>
          <a:p>
            <a:pPr marL="800100" lvl="1" indent="-342900">
              <a:lnSpc>
                <a:spcPct val="150000"/>
              </a:lnSpc>
              <a:buFont typeface="Arial" panose="020B0604020202020204" pitchFamily="34" charset="0"/>
              <a:buChar char="•"/>
            </a:pPr>
            <a:r>
              <a:rPr lang="en-GB" sz="1100" dirty="0">
                <a:latin typeface="ui-sans-serif"/>
              </a:rPr>
              <a:t>For each word of each document, retire the word of its current topic</a:t>
            </a:r>
          </a:p>
          <a:p>
            <a:pPr marL="800100" lvl="1" indent="-342900">
              <a:lnSpc>
                <a:spcPct val="150000"/>
              </a:lnSpc>
              <a:buFont typeface="Arial" panose="020B0604020202020204" pitchFamily="34" charset="0"/>
              <a:buChar char="•"/>
            </a:pPr>
            <a:r>
              <a:rPr lang="en-GB" sz="1100" i="0" u="none" strike="noStrike" dirty="0">
                <a:effectLst/>
                <a:latin typeface="ui-sans-serif"/>
              </a:rPr>
              <a:t>Calculate the conditional probability of each topic for this word</a:t>
            </a:r>
          </a:p>
          <a:p>
            <a:pPr marL="800100" lvl="1" indent="-342900">
              <a:lnSpc>
                <a:spcPct val="150000"/>
              </a:lnSpc>
              <a:buFont typeface="Arial" panose="020B0604020202020204" pitchFamily="34" charset="0"/>
              <a:buChar char="•"/>
            </a:pPr>
            <a:r>
              <a:rPr lang="en-GB" sz="1100" dirty="0">
                <a:latin typeface="ui-sans-serif"/>
              </a:rPr>
              <a:t>Reassign the word to a topic depending on the probabilities</a:t>
            </a:r>
          </a:p>
          <a:p>
            <a:pPr marL="342900" indent="-342900">
              <a:lnSpc>
                <a:spcPct val="150000"/>
              </a:lnSpc>
              <a:buFont typeface="+mj-lt"/>
              <a:buAutoNum type="arabicPeriod"/>
            </a:pPr>
            <a:r>
              <a:rPr lang="en-GB" sz="1100" i="0" u="none" strike="noStrike" dirty="0">
                <a:effectLst/>
                <a:latin typeface="ui-sans-serif"/>
              </a:rPr>
              <a:t>Update of the counting:</a:t>
            </a:r>
          </a:p>
          <a:p>
            <a:pPr marL="800100" lvl="1" indent="-342900">
              <a:lnSpc>
                <a:spcPct val="150000"/>
              </a:lnSpc>
              <a:buFont typeface="Arial" panose="020B0604020202020204" pitchFamily="34" charset="0"/>
              <a:buChar char="•"/>
            </a:pPr>
            <a:r>
              <a:rPr lang="en-GB" sz="1100" dirty="0">
                <a:latin typeface="ui-sans-serif"/>
              </a:rPr>
              <a:t>Updates the counting words by topic and topics by document.</a:t>
            </a:r>
            <a:endParaRPr lang="en-GB" sz="1100" i="0" u="none" strike="noStrike" dirty="0">
              <a:effectLst/>
              <a:latin typeface="ui-sans-serif"/>
            </a:endParaRPr>
          </a:p>
          <a:p>
            <a:pPr marL="342900" indent="-342900">
              <a:buFont typeface="+mj-lt"/>
              <a:buAutoNum type="arabicPeriod"/>
            </a:pPr>
            <a:endParaRPr lang="en-GB" sz="1400" i="0" u="none" strike="noStrike" dirty="0">
              <a:effectLst/>
              <a:latin typeface="ui-sans-serif"/>
            </a:endParaRPr>
          </a:p>
          <a:p>
            <a:pPr>
              <a:lnSpc>
                <a:spcPct val="150000"/>
              </a:lnSpc>
            </a:pPr>
            <a:endParaRPr lang="en-GB" sz="1400" noProof="0" dirty="0"/>
          </a:p>
        </p:txBody>
      </p:sp>
    </p:spTree>
    <p:extLst>
      <p:ext uri="{BB962C8B-B14F-4D97-AF65-F5344CB8AC3E}">
        <p14:creationId xmlns:p14="http://schemas.microsoft.com/office/powerpoint/2010/main" val="2121210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C4353-DF39-C3CB-E2A1-6F2633E60F1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D0D6A9-D402-E8B7-C59B-E3AB5906EA8B}"/>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2FEF4613-A5C1-DE08-87DF-1484179D6716}"/>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modelling technique for text data</a:t>
            </a:r>
          </a:p>
        </p:txBody>
      </p:sp>
      <p:sp>
        <p:nvSpPr>
          <p:cNvPr id="6" name="Espace réservé du pied de page 2">
            <a:extLst>
              <a:ext uri="{FF2B5EF4-FFF2-40B4-BE49-F238E27FC236}">
                <a16:creationId xmlns:a16="http://schemas.microsoft.com/office/drawing/2014/main" id="{655EAC60-F6B7-1088-A98B-D773FE21AE1B}"/>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p:sp>
        <p:nvSpPr>
          <p:cNvPr id="5" name="ZoneTexte 4">
            <a:extLst>
              <a:ext uri="{FF2B5EF4-FFF2-40B4-BE49-F238E27FC236}">
                <a16:creationId xmlns:a16="http://schemas.microsoft.com/office/drawing/2014/main" id="{BF710C49-E5D4-D3CA-BE40-E72DAE2743D2}"/>
              </a:ext>
            </a:extLst>
          </p:cNvPr>
          <p:cNvSpPr txBox="1"/>
          <p:nvPr/>
        </p:nvSpPr>
        <p:spPr>
          <a:xfrm>
            <a:off x="838198" y="1892491"/>
            <a:ext cx="11145255" cy="4600384"/>
          </a:xfrm>
          <a:prstGeom prst="rect">
            <a:avLst/>
          </a:prstGeom>
          <a:noFill/>
        </p:spPr>
        <p:txBody>
          <a:bodyPr wrap="square" lIns="90000">
            <a:noAutofit/>
          </a:bodyPr>
          <a:lstStyle/>
          <a:p>
            <a:pPr>
              <a:lnSpc>
                <a:spcPct val="150000"/>
              </a:lnSpc>
            </a:pPr>
            <a:r>
              <a:rPr lang="en-GB" sz="1100" noProof="0" dirty="0"/>
              <a:t>K the number of topic</a:t>
            </a:r>
          </a:p>
          <a:p>
            <a:pPr>
              <a:lnSpc>
                <a:spcPct val="150000"/>
              </a:lnSpc>
            </a:pPr>
            <a:r>
              <a:rPr lang="en-GB" sz="1100" noProof="0" dirty="0"/>
              <a:t>K = 2</a:t>
            </a:r>
          </a:p>
          <a:p>
            <a:pPr>
              <a:lnSpc>
                <a:spcPct val="150000"/>
              </a:lnSpc>
            </a:pPr>
            <a:r>
              <a:rPr lang="en-GB" sz="1100" b="1" noProof="0" dirty="0"/>
              <a:t>Step 1: initialisation</a:t>
            </a:r>
          </a:p>
          <a:p>
            <a:pPr algn="l"/>
            <a:br>
              <a:rPr lang="en-GB" sz="1100" dirty="0"/>
            </a:br>
            <a:r>
              <a:rPr lang="en-GB" sz="1100" dirty="0"/>
              <a:t>Document 1 : [("apple", 0), ("banana", 1), ("cat", 0), ("dog", 1)]</a:t>
            </a:r>
          </a:p>
          <a:p>
            <a:pPr algn="l"/>
            <a:r>
              <a:rPr lang="en-GB" sz="1100" dirty="0"/>
              <a:t>Document 2 : [("banana", 0), ("orange", 1), ("mouse", 0)]</a:t>
            </a:r>
          </a:p>
          <a:p>
            <a:pPr algn="l"/>
            <a:r>
              <a:rPr lang="en-GB" sz="1100" dirty="0"/>
              <a:t>Document 3 : [("cat", 1), ("dog", 0), ("mouse", 1), ("apple", 0)]</a:t>
            </a:r>
          </a:p>
          <a:p>
            <a:pPr algn="l"/>
            <a:r>
              <a:rPr lang="en-GB" sz="1100" dirty="0"/>
              <a:t>Document 4 : [("orange", 0), ("banana", 1), ("dog", 0), ("cat", 1)]</a:t>
            </a:r>
          </a:p>
          <a:p>
            <a:pPr>
              <a:lnSpc>
                <a:spcPct val="150000"/>
              </a:lnSpc>
            </a:pPr>
            <a:endParaRPr lang="en-GB" sz="1100" noProof="0" dirty="0"/>
          </a:p>
          <a:p>
            <a:pPr>
              <a:lnSpc>
                <a:spcPct val="150000"/>
              </a:lnSpc>
            </a:pPr>
            <a:r>
              <a:rPr lang="en-GB" sz="1100" b="1" noProof="0" dirty="0"/>
              <a:t>Step </a:t>
            </a:r>
            <a:r>
              <a:rPr lang="en-GB" sz="1100" b="1" dirty="0"/>
              <a:t>2</a:t>
            </a:r>
            <a:r>
              <a:rPr lang="en-GB" sz="1100" b="1" noProof="0" dirty="0"/>
              <a:t>: sampling</a:t>
            </a:r>
          </a:p>
          <a:p>
            <a:pPr algn="l"/>
            <a:br>
              <a:rPr lang="en-GB" sz="1100" dirty="0"/>
            </a:br>
            <a:r>
              <a:rPr lang="en-GB" sz="1100" dirty="0"/>
              <a:t>Let’s take the first word of the first document «apple» and retire it from its current topic «0»</a:t>
            </a:r>
          </a:p>
          <a:p>
            <a:pPr algn="l"/>
            <a:endParaRPr lang="en-GB" sz="1100" dirty="0"/>
          </a:p>
          <a:p>
            <a:pPr algn="l"/>
            <a:r>
              <a:rPr lang="en-GB" sz="1100" dirty="0"/>
              <a:t>Counts before retire ‘apple’ from the topic 0:</a:t>
            </a:r>
            <a:endParaRPr lang="en-GB" sz="1100" b="0" i="0" u="none" strike="noStrike" dirty="0">
              <a:effectLst/>
              <a:latin typeface="ui-sans-serif"/>
            </a:endParaRPr>
          </a:p>
          <a:p>
            <a:pPr marL="742950" lvl="1" indent="-285750" algn="l">
              <a:buFont typeface="Arial" panose="020B0604020202020204" pitchFamily="34" charset="0"/>
              <a:buChar char="•"/>
            </a:pPr>
            <a:r>
              <a:rPr lang="en-GB" sz="1100" b="0" i="0" u="none" strike="noStrike" dirty="0">
                <a:effectLst/>
                <a:latin typeface="ui-sans-serif"/>
              </a:rPr>
              <a:t>Topic 0 : {"apple": 2, "cat": 1, "mouse": 1, "orange": 1, "dog": 2, "banana": 1}</a:t>
            </a:r>
          </a:p>
          <a:p>
            <a:pPr marL="742950" lvl="1" indent="-285750" algn="l">
              <a:buFont typeface="Arial" panose="020B0604020202020204" pitchFamily="34" charset="0"/>
              <a:buChar char="•"/>
            </a:pPr>
            <a:r>
              <a:rPr lang="en-GB" sz="1100" dirty="0">
                <a:latin typeface="ui-sans-serif"/>
              </a:rPr>
              <a:t>Topic</a:t>
            </a:r>
            <a:r>
              <a:rPr lang="en-GB" sz="1100" b="0" i="0" u="none" strike="noStrike" dirty="0">
                <a:effectLst/>
                <a:latin typeface="ui-sans-serif"/>
              </a:rPr>
              <a:t> 1 : {"banana": 2, "dog": 2, "orange": 1, "mouse": 1, "cat": 2}</a:t>
            </a:r>
          </a:p>
          <a:p>
            <a:endParaRPr lang="en-GB" sz="1100" dirty="0"/>
          </a:p>
          <a:p>
            <a:pPr algn="l"/>
            <a:r>
              <a:rPr lang="en-GB" sz="1100" dirty="0"/>
              <a:t>Counts after retire ‘apple’ from the topic 0:</a:t>
            </a:r>
            <a:endParaRPr lang="en-GB" sz="1100" b="0" i="0" u="none" strike="noStrike" dirty="0">
              <a:effectLst/>
              <a:latin typeface="ui-sans-serif"/>
            </a:endParaRPr>
          </a:p>
          <a:p>
            <a:pPr marL="742950" lvl="1" indent="-285750" algn="l">
              <a:buFont typeface="Arial" panose="020B0604020202020204" pitchFamily="34" charset="0"/>
              <a:buChar char="•"/>
            </a:pPr>
            <a:r>
              <a:rPr lang="en-GB" sz="1100" b="0" i="0" u="none" strike="noStrike" dirty="0">
                <a:effectLst/>
                <a:latin typeface="ui-sans-serif"/>
              </a:rPr>
              <a:t>Topic 0 : {"apple": 2, "cat": 1, "mouse": 1, "orange": 1, "dog": 2, "banana": 1}</a:t>
            </a:r>
          </a:p>
          <a:p>
            <a:pPr marL="742950" lvl="1" indent="-285750" algn="l">
              <a:buFont typeface="Arial" panose="020B0604020202020204" pitchFamily="34" charset="0"/>
              <a:buChar char="•"/>
            </a:pPr>
            <a:r>
              <a:rPr lang="en-GB" sz="1100" dirty="0">
                <a:latin typeface="ui-sans-serif"/>
              </a:rPr>
              <a:t>Topic</a:t>
            </a:r>
            <a:r>
              <a:rPr lang="en-GB" sz="1100" b="0" i="0" u="none" strike="noStrike" dirty="0">
                <a:effectLst/>
                <a:latin typeface="ui-sans-serif"/>
              </a:rPr>
              <a:t> 1 : {"banana": 2, "dog": 2, "orange": 1, "mouse": 1, "cat": 2}</a:t>
            </a:r>
          </a:p>
          <a:p>
            <a:pPr algn="l"/>
            <a:endParaRPr lang="en-GB" sz="1000" i="0" u="none" strike="noStrike" dirty="0">
              <a:effectLst/>
              <a:latin typeface="ui-sans-serif"/>
            </a:endParaRPr>
          </a:p>
          <a:p>
            <a:pPr>
              <a:lnSpc>
                <a:spcPct val="150000"/>
              </a:lnSpc>
            </a:pPr>
            <a:endParaRPr lang="en-GB" noProof="0" dirty="0"/>
          </a:p>
        </p:txBody>
      </p:sp>
    </p:spTree>
    <p:extLst>
      <p:ext uri="{BB962C8B-B14F-4D97-AF65-F5344CB8AC3E}">
        <p14:creationId xmlns:p14="http://schemas.microsoft.com/office/powerpoint/2010/main" val="223216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95953-0B58-E105-13CA-7F6E5801A5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1ABBA0-A392-9B08-F5CA-0134944F0375}"/>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C4978B72-D07D-99C5-01B8-864B2B8533DC}"/>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modelling technique for text data</a:t>
            </a:r>
          </a:p>
        </p:txBody>
      </p:sp>
      <p:sp>
        <p:nvSpPr>
          <p:cNvPr id="6" name="Espace réservé du pied de page 2">
            <a:extLst>
              <a:ext uri="{FF2B5EF4-FFF2-40B4-BE49-F238E27FC236}">
                <a16:creationId xmlns:a16="http://schemas.microsoft.com/office/drawing/2014/main" id="{64999E87-2856-4479-C343-0A95746CF911}"/>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F121AC7-CA74-DC71-9B74-71C722E89AA1}"/>
                  </a:ext>
                </a:extLst>
              </p:cNvPr>
              <p:cNvSpPr txBox="1"/>
              <p:nvPr/>
            </p:nvSpPr>
            <p:spPr>
              <a:xfrm>
                <a:off x="838198" y="1892491"/>
                <a:ext cx="11145255" cy="4600384"/>
              </a:xfrm>
              <a:prstGeom prst="rect">
                <a:avLst/>
              </a:prstGeom>
              <a:noFill/>
            </p:spPr>
            <p:txBody>
              <a:bodyPr wrap="square" lIns="90000">
                <a:noAutofit/>
              </a:bodyPr>
              <a:lstStyle/>
              <a:p>
                <a:endParaRPr lang="en-GB" sz="1100" dirty="0"/>
              </a:p>
              <a:p>
                <a:r>
                  <a:rPr lang="en-GB" sz="1100" b="0" u="none" strike="noStrike" dirty="0">
                    <a:effectLst/>
                    <a:latin typeface="ui-sans-serif"/>
                  </a:rPr>
                  <a:t>Conditional probabilities formulas:</a:t>
                </a:r>
              </a:p>
              <a:p>
                <a:r>
                  <a:rPr lang="en-GB" sz="1100" b="0" u="none" strike="noStrike" dirty="0">
                    <a:effectLst/>
                    <a:latin typeface="ui-sans-serif"/>
                  </a:rPr>
                  <a:t> </a:t>
                </a:r>
                <a:endParaRPr lang="en-GB" sz="1100" b="0" u="none" strike="noStrike" dirty="0">
                  <a:effectLst/>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GB" sz="1100" b="0" i="1" u="none" strike="noStrike" smtClean="0">
                          <a:effectLst/>
                          <a:latin typeface="Cambria Math" panose="02040503050406030204" pitchFamily="18" charset="0"/>
                        </a:rPr>
                        <m:t>𝑃</m:t>
                      </m:r>
                      <m:d>
                        <m:dPr>
                          <m:endChr m:val="|"/>
                          <m:ctrlPr>
                            <a:rPr lang="en-GB" sz="1100" b="0" i="1" u="none" strike="noStrike" smtClean="0">
                              <a:effectLst/>
                              <a:latin typeface="Cambria Math" panose="02040503050406030204" pitchFamily="18" charset="0"/>
                            </a:rPr>
                          </m:ctrlPr>
                        </m:dPr>
                        <m:e>
                          <m:r>
                            <a:rPr lang="en-GB" sz="1100" b="0" i="1" u="none" strike="noStrike" smtClean="0">
                              <a:effectLst/>
                              <a:latin typeface="Cambria Math" panose="02040503050406030204" pitchFamily="18" charset="0"/>
                            </a:rPr>
                            <m:t>𝑧</m:t>
                          </m:r>
                          <m:r>
                            <a:rPr lang="en-GB" sz="1100" b="0" i="1" u="none" strike="noStrike" smtClean="0">
                              <a:effectLst/>
                              <a:latin typeface="Cambria Math" panose="02040503050406030204" pitchFamily="18" charset="0"/>
                            </a:rPr>
                            <m:t>=</m:t>
                          </m:r>
                          <m:r>
                            <a:rPr lang="fr-FR" sz="1100" b="0" i="1" u="none" strike="noStrike" smtClean="0">
                              <a:effectLst/>
                              <a:latin typeface="Cambria Math" panose="02040503050406030204" pitchFamily="18" charset="0"/>
                            </a:rPr>
                            <m:t>𝑘</m:t>
                          </m:r>
                          <m:r>
                            <a:rPr lang="en-GB" sz="1100" b="0" i="1" u="none" strike="noStrike" smtClean="0">
                              <a:effectLst/>
                              <a:latin typeface="Cambria Math" panose="02040503050406030204" pitchFamily="18" charset="0"/>
                            </a:rPr>
                            <m:t> </m:t>
                          </m:r>
                        </m:e>
                      </m:d>
                      <m:r>
                        <a:rPr lang="en-GB" sz="1100" b="0" i="1" u="none" strike="noStrike" smtClean="0">
                          <a:effectLst/>
                          <a:latin typeface="Cambria Math" panose="02040503050406030204" pitchFamily="18" charset="0"/>
                        </a:rPr>
                        <m:t> </m:t>
                      </m:r>
                      <m:r>
                        <a:rPr lang="fr-FR" sz="1100" b="0" i="1" u="none" strike="noStrike" smtClean="0">
                          <a:effectLst/>
                          <a:latin typeface="Cambria Math" panose="02040503050406030204" pitchFamily="18" charset="0"/>
                        </a:rPr>
                        <m:t>𝑤</m:t>
                      </m:r>
                      <m:r>
                        <a:rPr lang="fr-FR" sz="1100" b="0" i="1" u="none" strike="noStrike" smtClean="0">
                          <a:effectLst/>
                          <a:latin typeface="Cambria Math" panose="02040503050406030204" pitchFamily="18" charset="0"/>
                        </a:rPr>
                        <m:t>,</m:t>
                      </m:r>
                      <m:r>
                        <a:rPr lang="fr-FR" sz="1100" b="0" i="1" u="none" strike="noStrike" smtClean="0">
                          <a:effectLst/>
                          <a:latin typeface="Cambria Math" panose="02040503050406030204" pitchFamily="18" charset="0"/>
                        </a:rPr>
                        <m:t>𝑑</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i="1">
                                  <a:latin typeface="Cambria Math" panose="02040503050406030204" pitchFamily="18" charset="0"/>
                                </a:rPr>
                                <m:t>𝑑</m:t>
                              </m:r>
                            </m:sub>
                          </m:sSub>
                          <m:sSub>
                            <m:sSubPr>
                              <m:ctrlPr>
                                <a:rPr lang="fr-FR" sz="1100" i="1">
                                  <a:latin typeface="Cambria Math" panose="02040503050406030204" pitchFamily="18" charset="0"/>
                                </a:rPr>
                              </m:ctrlPr>
                            </m:sSubPr>
                            <m:e>
                              <m:r>
                                <a:rPr lang="fr-FR" sz="1100" i="1">
                                  <a:latin typeface="Cambria Math" panose="02040503050406030204" pitchFamily="18" charset="0"/>
                                </a:rPr>
                                <m:t>,</m:t>
                              </m:r>
                            </m:e>
                            <m:sub>
                              <m:r>
                                <a:rPr lang="fr-FR" sz="1100" i="1">
                                  <a:latin typeface="Cambria Math" panose="02040503050406030204" pitchFamily="18" charset="0"/>
                                </a:rPr>
                                <m:t>𝑘</m:t>
                              </m:r>
                            </m:sub>
                          </m:sSub>
                          <m:r>
                            <a:rPr lang="fr-FR" sz="1100" i="1">
                              <a:latin typeface="Cambria Math" panose="02040503050406030204" pitchFamily="18" charset="0"/>
                            </a:rPr>
                            <m:t>+</m:t>
                          </m:r>
                          <m:r>
                            <a:rPr lang="fr-FR" sz="1100" i="1">
                              <a:latin typeface="Cambria Math" panose="02040503050406030204" pitchFamily="18" charset="0"/>
                            </a:rPr>
                            <m:t>𝛼</m:t>
                          </m:r>
                        </m:num>
                        <m:den>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i="1">
                                  <a:latin typeface="Cambria Math" panose="02040503050406030204" pitchFamily="18" charset="0"/>
                                </a:rPr>
                                <m:t>𝑑</m:t>
                              </m:r>
                            </m:sub>
                          </m:sSub>
                          <m:r>
                            <a:rPr lang="fr-FR" sz="1100" i="1">
                              <a:latin typeface="Cambria Math" panose="02040503050406030204" pitchFamily="18" charset="0"/>
                            </a:rPr>
                            <m:t>,.+</m:t>
                          </m:r>
                          <m:r>
                            <a:rPr lang="fr-FR" sz="1100" i="1">
                              <a:latin typeface="Cambria Math" panose="02040503050406030204" pitchFamily="18" charset="0"/>
                            </a:rPr>
                            <m:t>𝐾</m:t>
                          </m:r>
                          <m:r>
                            <a:rPr lang="fr-FR" sz="1100" i="1">
                              <a:latin typeface="Cambria Math" panose="02040503050406030204" pitchFamily="18" charset="0"/>
                            </a:rPr>
                            <m:t>𝛼</m:t>
                          </m:r>
                        </m:den>
                      </m:f>
                      <m:r>
                        <a:rPr lang="fr-FR" sz="1100" b="0" i="1" smtClean="0">
                          <a:latin typeface="Cambria Math" panose="02040503050406030204" pitchFamily="18" charset="0"/>
                        </a:rPr>
                        <m:t> </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b="0" i="1" smtClean="0">
                                  <a:latin typeface="Cambria Math" panose="02040503050406030204" pitchFamily="18" charset="0"/>
                                </a:rPr>
                                <m:t>𝑘</m:t>
                              </m:r>
                            </m:sub>
                          </m:sSub>
                          <m:sSub>
                            <m:sSubPr>
                              <m:ctrlPr>
                                <a:rPr lang="fr-FR" sz="1100" i="1">
                                  <a:latin typeface="Cambria Math" panose="02040503050406030204" pitchFamily="18" charset="0"/>
                                </a:rPr>
                              </m:ctrlPr>
                            </m:sSubPr>
                            <m:e>
                              <m:r>
                                <a:rPr lang="fr-FR" sz="1100" i="1">
                                  <a:latin typeface="Cambria Math" panose="02040503050406030204" pitchFamily="18" charset="0"/>
                                </a:rPr>
                                <m:t>,</m:t>
                              </m:r>
                            </m:e>
                            <m:sub>
                              <m:r>
                                <a:rPr lang="fr-FR" sz="1100" b="0" i="1" smtClean="0">
                                  <a:latin typeface="Cambria Math" panose="02040503050406030204" pitchFamily="18" charset="0"/>
                                </a:rPr>
                                <m:t>𝑤</m:t>
                              </m:r>
                            </m:sub>
                          </m:sSub>
                          <m:r>
                            <a:rPr lang="fr-FR" sz="1100" i="1">
                              <a:latin typeface="Cambria Math" panose="02040503050406030204" pitchFamily="18" charset="0"/>
                            </a:rPr>
                            <m:t>+</m:t>
                          </m:r>
                          <m:r>
                            <a:rPr lang="fr-FR" sz="1100" b="0" i="1" smtClean="0">
                              <a:latin typeface="Cambria Math" panose="02040503050406030204" pitchFamily="18" charset="0"/>
                            </a:rPr>
                            <m:t>𝛽</m:t>
                          </m:r>
                        </m:num>
                        <m:den>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b="0" i="1" smtClean="0">
                                  <a:latin typeface="Cambria Math" panose="02040503050406030204" pitchFamily="18" charset="0"/>
                                </a:rPr>
                                <m:t>𝑘</m:t>
                              </m:r>
                            </m:sub>
                          </m:sSub>
                          <m:r>
                            <a:rPr lang="fr-FR" sz="1100" i="1">
                              <a:latin typeface="Cambria Math" panose="02040503050406030204" pitchFamily="18" charset="0"/>
                            </a:rPr>
                            <m:t>,.+</m:t>
                          </m:r>
                          <m:r>
                            <a:rPr lang="fr-FR" sz="1100" i="1">
                              <a:latin typeface="Cambria Math" panose="02040503050406030204" pitchFamily="18" charset="0"/>
                            </a:rPr>
                            <m:t>𝐾</m:t>
                          </m:r>
                          <m:r>
                            <a:rPr lang="fr-FR" sz="1100" b="0" i="1" smtClean="0">
                              <a:latin typeface="Cambria Math" panose="02040503050406030204" pitchFamily="18" charset="0"/>
                            </a:rPr>
                            <m:t>𝛽</m:t>
                          </m:r>
                        </m:den>
                      </m:f>
                    </m:oMath>
                  </m:oMathPara>
                </a14:m>
                <a:endParaRPr lang="en-GB" sz="1100" dirty="0">
                  <a:latin typeface="ui-sans-serif"/>
                </a:endParaRPr>
              </a:p>
              <a:p>
                <a:endParaRPr lang="en-GB" sz="1100" dirty="0">
                  <a:latin typeface="ui-sans-serif"/>
                </a:endParaRPr>
              </a:p>
              <a:p>
                <a:pPr>
                  <a:lnSpc>
                    <a:spcPct val="150000"/>
                  </a:lnSpc>
                </a:pPr>
                <a:r>
                  <a:rPr lang="en-GB" sz="1100" dirty="0">
                    <a:latin typeface="ui-sans-serif"/>
                  </a:rPr>
                  <a:t>Where:</a:t>
                </a:r>
              </a:p>
              <a:p>
                <a:pPr>
                  <a:lnSpc>
                    <a:spcPct val="150000"/>
                  </a:lnSpc>
                </a:pPr>
                <a14:m>
                  <m:oMath xmlns:m="http://schemas.openxmlformats.org/officeDocument/2006/math">
                    <m:sSub>
                      <m:sSubPr>
                        <m:ctrlPr>
                          <a:rPr lang="en-GB" sz="1100" b="0" i="1" u="none" strike="noStrike" smtClean="0">
                            <a:effectLst/>
                            <a:latin typeface="Cambria Math" panose="02040503050406030204" pitchFamily="18" charset="0"/>
                          </a:rPr>
                        </m:ctrlPr>
                      </m:sSubPr>
                      <m:e>
                        <m:r>
                          <a:rPr lang="en-GB" sz="1100" b="0" i="1" u="none" strike="noStrike" smtClean="0">
                            <a:effectLst/>
                            <a:latin typeface="Cambria Math" panose="02040503050406030204" pitchFamily="18" charset="0"/>
                          </a:rPr>
                          <m:t>𝑛</m:t>
                        </m:r>
                      </m:e>
                      <m:sub>
                        <m:r>
                          <a:rPr lang="en-GB" sz="1100" b="0" i="1" u="none" strike="noStrike" smtClean="0">
                            <a:effectLst/>
                            <a:latin typeface="Cambria Math" panose="02040503050406030204" pitchFamily="18" charset="0"/>
                          </a:rPr>
                          <m:t>𝑑</m:t>
                        </m:r>
                        <m:r>
                          <a:rPr lang="en-GB" sz="1100" b="0" i="1" u="none" strike="noStrike" smtClean="0">
                            <a:effectLst/>
                            <a:latin typeface="Cambria Math" panose="02040503050406030204" pitchFamily="18" charset="0"/>
                          </a:rPr>
                          <m:t>,</m:t>
                        </m:r>
                        <m:r>
                          <a:rPr lang="fr-FR" sz="1100" b="0" i="1" u="none" strike="noStrike" smtClean="0">
                            <a:effectLst/>
                            <a:latin typeface="Cambria Math" panose="02040503050406030204" pitchFamily="18" charset="0"/>
                          </a:rPr>
                          <m:t>𝑘</m:t>
                        </m:r>
                      </m:sub>
                    </m:sSub>
                    <m:r>
                      <a:rPr lang="en-GB" sz="1100" b="0" i="1" u="none" strike="noStrike" smtClean="0">
                        <a:effectLst/>
                        <a:latin typeface="Cambria Math" panose="02040503050406030204" pitchFamily="18" charset="0"/>
                      </a:rPr>
                      <m:t> </m:t>
                    </m:r>
                  </m:oMath>
                </a14:m>
                <a:r>
                  <a:rPr lang="en-GB" sz="1100" b="0" i="0" dirty="0">
                    <a:effectLst/>
                    <a:latin typeface="KaTeX_Main"/>
                  </a:rPr>
                  <a:t>number of words in the document </a:t>
                </a:r>
                <a14:m>
                  <m:oMath xmlns:m="http://schemas.openxmlformats.org/officeDocument/2006/math">
                    <m:r>
                      <a:rPr lang="fr-FR" sz="1100" b="0" i="1" smtClean="0">
                        <a:latin typeface="Cambria Math" panose="02040503050406030204" pitchFamily="18" charset="0"/>
                      </a:rPr>
                      <m:t>𝑑</m:t>
                    </m:r>
                    <m:r>
                      <a:rPr lang="fr-FR" sz="1100" i="1">
                        <a:latin typeface="Cambria Math" panose="02040503050406030204" pitchFamily="18" charset="0"/>
                      </a:rPr>
                      <m:t> </m:t>
                    </m:r>
                  </m:oMath>
                </a14:m>
                <a:r>
                  <a:rPr lang="en-GB" sz="1100" b="0" i="0" dirty="0">
                    <a:effectLst/>
                    <a:latin typeface="KaTeX_Main"/>
                  </a:rPr>
                  <a:t>assigned to topic </a:t>
                </a:r>
                <a14:m>
                  <m:oMath xmlns:m="http://schemas.openxmlformats.org/officeDocument/2006/math">
                    <m:r>
                      <m:rPr>
                        <m:sty m:val="p"/>
                      </m:rPr>
                      <a:rPr lang="fr-FR" sz="1100" b="0" i="0" smtClean="0">
                        <a:latin typeface="Cambria Math" panose="02040503050406030204" pitchFamily="18" charset="0"/>
                      </a:rPr>
                      <m:t>k</m:t>
                    </m:r>
                  </m:oMath>
                </a14:m>
                <a:endParaRPr lang="en-GB" sz="1100" b="0" i="0" dirty="0">
                  <a:effectLst/>
                  <a:latin typeface="KaTeX_Main"/>
                </a:endParaRPr>
              </a:p>
              <a:p>
                <a:pPr>
                  <a:lnSpc>
                    <a:spcPct val="150000"/>
                  </a:lnSpc>
                </a:pPr>
                <a14:m>
                  <m:oMath xmlns:m="http://schemas.openxmlformats.org/officeDocument/2006/math">
                    <m:sSub>
                      <m:sSubPr>
                        <m:ctrlPr>
                          <a:rPr lang="en-GB" sz="1100" b="0" i="1" u="none" strike="noStrike" smtClean="0">
                            <a:effectLst/>
                            <a:latin typeface="Cambria Math" panose="02040503050406030204" pitchFamily="18" charset="0"/>
                          </a:rPr>
                        </m:ctrlPr>
                      </m:sSubPr>
                      <m:e>
                        <m:r>
                          <a:rPr lang="en-GB" sz="1100" b="0" i="1" u="none" strike="noStrike" smtClean="0">
                            <a:effectLst/>
                            <a:latin typeface="Cambria Math" panose="02040503050406030204" pitchFamily="18" charset="0"/>
                          </a:rPr>
                          <m:t>𝑛</m:t>
                        </m:r>
                      </m:e>
                      <m:sub>
                        <m:r>
                          <a:rPr lang="fr-FR" sz="1100" b="0" i="1" u="none" strike="noStrike" smtClean="0">
                            <a:effectLst/>
                            <a:latin typeface="Cambria Math" panose="02040503050406030204" pitchFamily="18" charset="0"/>
                          </a:rPr>
                          <m:t>𝑘</m:t>
                        </m:r>
                        <m:r>
                          <a:rPr lang="en-GB" sz="1100" b="0" i="1" u="none" strike="noStrike" smtClean="0">
                            <a:effectLst/>
                            <a:latin typeface="Cambria Math" panose="02040503050406030204" pitchFamily="18" charset="0"/>
                          </a:rPr>
                          <m:t>,</m:t>
                        </m:r>
                        <m:r>
                          <a:rPr lang="fr-FR" sz="1100" b="0" i="1" u="none" strike="noStrike" smtClean="0">
                            <a:effectLst/>
                            <a:latin typeface="Cambria Math" panose="02040503050406030204" pitchFamily="18" charset="0"/>
                          </a:rPr>
                          <m:t>𝑤</m:t>
                        </m:r>
                      </m:sub>
                    </m:sSub>
                    <m:r>
                      <a:rPr lang="en-GB" sz="1100" b="0" i="1" u="none" strike="noStrike" smtClean="0">
                        <a:effectLst/>
                        <a:latin typeface="Cambria Math" panose="02040503050406030204" pitchFamily="18" charset="0"/>
                      </a:rPr>
                      <m:t> </m:t>
                    </m:r>
                  </m:oMath>
                </a14:m>
                <a:r>
                  <a:rPr lang="en-GB" sz="1100" b="0" i="0" dirty="0">
                    <a:effectLst/>
                    <a:latin typeface="KaTeX_Main"/>
                  </a:rPr>
                  <a:t>number of times that the words </a:t>
                </a:r>
                <a14:m>
                  <m:oMath xmlns:m="http://schemas.openxmlformats.org/officeDocument/2006/math">
                    <m:r>
                      <a:rPr lang="fr-FR" sz="1100" b="0" i="1" smtClean="0">
                        <a:latin typeface="Cambria Math" panose="02040503050406030204" pitchFamily="18" charset="0"/>
                      </a:rPr>
                      <m:t>𝑤</m:t>
                    </m:r>
                  </m:oMath>
                </a14:m>
                <a:r>
                  <a:rPr lang="en-GB" sz="1100" b="0" i="0" dirty="0">
                    <a:effectLst/>
                    <a:latin typeface="KaTeX_Main"/>
                  </a:rPr>
                  <a:t> is assigned to topic </a:t>
                </a:r>
                <a14:m>
                  <m:oMath xmlns:m="http://schemas.openxmlformats.org/officeDocument/2006/math">
                    <m:r>
                      <m:rPr>
                        <m:sty m:val="p"/>
                      </m:rPr>
                      <a:rPr lang="fr-FR" sz="1100" b="0" i="0" smtClean="0">
                        <a:latin typeface="Cambria Math" panose="02040503050406030204" pitchFamily="18" charset="0"/>
                      </a:rPr>
                      <m:t>k</m:t>
                    </m:r>
                  </m:oMath>
                </a14:m>
                <a:endParaRPr lang="en-GB" sz="1100" b="0" i="0" dirty="0">
                  <a:effectLst/>
                  <a:latin typeface="KaTeX_Main"/>
                </a:endParaRPr>
              </a:p>
              <a:p>
                <a:pPr>
                  <a:lnSpc>
                    <a:spcPct val="150000"/>
                  </a:lnSpc>
                </a:pPr>
                <a14:m>
                  <m:oMath xmlns:m="http://schemas.openxmlformats.org/officeDocument/2006/math">
                    <m:sSub>
                      <m:sSubPr>
                        <m:ctrlPr>
                          <a:rPr lang="en-GB" sz="1100" b="0" i="1" u="none" strike="noStrike" smtClean="0">
                            <a:effectLst/>
                            <a:latin typeface="Cambria Math" panose="02040503050406030204" pitchFamily="18" charset="0"/>
                          </a:rPr>
                        </m:ctrlPr>
                      </m:sSubPr>
                      <m:e>
                        <m:r>
                          <a:rPr lang="en-GB" sz="1100" b="0" i="1" u="none" strike="noStrike" smtClean="0">
                            <a:effectLst/>
                            <a:latin typeface="Cambria Math" panose="02040503050406030204" pitchFamily="18" charset="0"/>
                          </a:rPr>
                          <m:t>𝑛</m:t>
                        </m:r>
                      </m:e>
                      <m:sub>
                        <m:r>
                          <a:rPr lang="en-GB" sz="1100" b="0" i="1" u="none" strike="noStrike" smtClean="0">
                            <a:effectLst/>
                            <a:latin typeface="Cambria Math" panose="02040503050406030204" pitchFamily="18" charset="0"/>
                          </a:rPr>
                          <m:t>𝑑</m:t>
                        </m:r>
                        <m:r>
                          <a:rPr lang="en-GB" sz="1100" b="0" i="1" u="none" strike="noStrike" smtClean="0">
                            <a:effectLst/>
                            <a:latin typeface="Cambria Math" panose="02040503050406030204" pitchFamily="18" charset="0"/>
                          </a:rPr>
                          <m:t>,.</m:t>
                        </m:r>
                      </m:sub>
                    </m:sSub>
                    <m:r>
                      <a:rPr lang="en-GB" sz="1100" b="0" i="1" u="none" strike="noStrike" smtClean="0">
                        <a:effectLst/>
                        <a:latin typeface="Cambria Math" panose="02040503050406030204" pitchFamily="18" charset="0"/>
                      </a:rPr>
                      <m:t> </m:t>
                    </m:r>
                  </m:oMath>
                </a14:m>
                <a:r>
                  <a:rPr lang="en-GB" sz="1100" b="0" i="0" dirty="0">
                    <a:effectLst/>
                    <a:latin typeface="KaTeX_Main"/>
                  </a:rPr>
                  <a:t>total number of words in the document </a:t>
                </a:r>
                <a14:m>
                  <m:oMath xmlns:m="http://schemas.openxmlformats.org/officeDocument/2006/math">
                    <m:r>
                      <a:rPr lang="fr-FR" sz="1100" b="0" i="1" smtClean="0">
                        <a:latin typeface="Cambria Math" panose="02040503050406030204" pitchFamily="18" charset="0"/>
                      </a:rPr>
                      <m:t>𝑑</m:t>
                    </m:r>
                  </m:oMath>
                </a14:m>
                <a:endParaRPr lang="en-GB" sz="1100" b="0" i="0" dirty="0">
                  <a:effectLst/>
                  <a:latin typeface="KaTeX_Main"/>
                </a:endParaRPr>
              </a:p>
              <a:p>
                <a:pPr>
                  <a:lnSpc>
                    <a:spcPct val="150000"/>
                  </a:lnSpc>
                </a:pPr>
                <a14:m>
                  <m:oMath xmlns:m="http://schemas.openxmlformats.org/officeDocument/2006/math">
                    <m:sSub>
                      <m:sSubPr>
                        <m:ctrlPr>
                          <a:rPr lang="en-GB" sz="1100" b="0" i="1" u="none" strike="noStrike" smtClean="0">
                            <a:effectLst/>
                            <a:latin typeface="Cambria Math" panose="02040503050406030204" pitchFamily="18" charset="0"/>
                          </a:rPr>
                        </m:ctrlPr>
                      </m:sSubPr>
                      <m:e>
                        <m:r>
                          <a:rPr lang="en-GB" sz="1100" b="0" i="1" u="none" strike="noStrike" smtClean="0">
                            <a:effectLst/>
                            <a:latin typeface="Cambria Math" panose="02040503050406030204" pitchFamily="18" charset="0"/>
                          </a:rPr>
                          <m:t>𝑛</m:t>
                        </m:r>
                      </m:e>
                      <m:sub>
                        <m:r>
                          <a:rPr lang="fr-FR" sz="1100" b="0" i="1" u="none" strike="noStrike" smtClean="0">
                            <a:effectLst/>
                            <a:latin typeface="Cambria Math" panose="02040503050406030204" pitchFamily="18" charset="0"/>
                          </a:rPr>
                          <m:t>𝑘</m:t>
                        </m:r>
                        <m:r>
                          <a:rPr lang="en-GB" sz="1100" b="0" i="1" u="none" strike="noStrike" smtClean="0">
                            <a:effectLst/>
                            <a:latin typeface="Cambria Math" panose="02040503050406030204" pitchFamily="18" charset="0"/>
                          </a:rPr>
                          <m:t>,</m:t>
                        </m:r>
                        <m:r>
                          <a:rPr lang="fr-FR" sz="1100" b="0" i="1" u="none" strike="noStrike" smtClean="0">
                            <a:effectLst/>
                            <a:latin typeface="Cambria Math" panose="02040503050406030204" pitchFamily="18" charset="0"/>
                          </a:rPr>
                          <m:t>.</m:t>
                        </m:r>
                      </m:sub>
                    </m:sSub>
                    <m:r>
                      <a:rPr lang="en-GB" sz="1100" b="0" i="1" u="none" strike="noStrike" smtClean="0">
                        <a:effectLst/>
                        <a:latin typeface="Cambria Math" panose="02040503050406030204" pitchFamily="18" charset="0"/>
                      </a:rPr>
                      <m:t> </m:t>
                    </m:r>
                  </m:oMath>
                </a14:m>
                <a:r>
                  <a:rPr lang="en-GB" sz="1100" b="0" i="0" dirty="0">
                    <a:effectLst/>
                    <a:latin typeface="KaTeX_Main"/>
                  </a:rPr>
                  <a:t>total number of words assigned to topic </a:t>
                </a:r>
                <a14:m>
                  <m:oMath xmlns:m="http://schemas.openxmlformats.org/officeDocument/2006/math">
                    <m:r>
                      <m:rPr>
                        <m:sty m:val="p"/>
                      </m:rPr>
                      <a:rPr lang="fr-FR" sz="1100" b="0" i="0" smtClean="0">
                        <a:latin typeface="Cambria Math" panose="02040503050406030204" pitchFamily="18" charset="0"/>
                      </a:rPr>
                      <m:t>k</m:t>
                    </m:r>
                  </m:oMath>
                </a14:m>
                <a:endParaRPr lang="en-GB" sz="1100" b="0" i="0" dirty="0">
                  <a:effectLst/>
                  <a:latin typeface="KaTeX_Main"/>
                </a:endParaRPr>
              </a:p>
              <a:p>
                <a:pPr>
                  <a:lnSpc>
                    <a:spcPct val="150000"/>
                  </a:lnSpc>
                </a:pPr>
                <a14:m>
                  <m:oMath xmlns:m="http://schemas.openxmlformats.org/officeDocument/2006/math">
                    <m:r>
                      <a:rPr lang="fr-FR" sz="1100" b="0" i="1" u="none" strike="noStrike" smtClean="0">
                        <a:effectLst/>
                        <a:latin typeface="Cambria Math" panose="02040503050406030204" pitchFamily="18" charset="0"/>
                      </a:rPr>
                      <m:t>𝑉</m:t>
                    </m:r>
                    <m:r>
                      <a:rPr lang="en-GB" sz="1100" b="0" i="1" u="none" strike="noStrike" smtClean="0">
                        <a:effectLst/>
                        <a:latin typeface="Cambria Math" panose="02040503050406030204" pitchFamily="18" charset="0"/>
                      </a:rPr>
                      <m:t> </m:t>
                    </m:r>
                  </m:oMath>
                </a14:m>
                <a:r>
                  <a:rPr lang="en-GB" sz="1100" b="0" i="0" dirty="0">
                    <a:effectLst/>
                    <a:latin typeface="KaTeX_Main"/>
                  </a:rPr>
                  <a:t>total number of unique words in the corpus</a:t>
                </a:r>
              </a:p>
              <a:p>
                <a:pPr>
                  <a:lnSpc>
                    <a:spcPct val="150000"/>
                  </a:lnSpc>
                </a:pPr>
                <a14:m>
                  <m:oMath xmlns:m="http://schemas.openxmlformats.org/officeDocument/2006/math">
                    <m:r>
                      <a:rPr lang="fr-FR" sz="1100" b="0" i="1" u="none" strike="noStrike" smtClean="0">
                        <a:effectLst/>
                        <a:latin typeface="Cambria Math" panose="02040503050406030204" pitchFamily="18" charset="0"/>
                      </a:rPr>
                      <m:t>𝐾</m:t>
                    </m:r>
                    <m:r>
                      <a:rPr lang="en-GB" sz="1100" b="0" i="1" u="none" strike="noStrike" smtClean="0">
                        <a:effectLst/>
                        <a:latin typeface="Cambria Math" panose="02040503050406030204" pitchFamily="18" charset="0"/>
                      </a:rPr>
                      <m:t> </m:t>
                    </m:r>
                  </m:oMath>
                </a14:m>
                <a:r>
                  <a:rPr lang="en-GB" sz="1100" b="0" i="0" dirty="0">
                    <a:effectLst/>
                    <a:latin typeface="KaTeX_Main"/>
                  </a:rPr>
                  <a:t>total number of topics</a:t>
                </a:r>
              </a:p>
              <a:p>
                <a:pPr>
                  <a:lnSpc>
                    <a:spcPct val="150000"/>
                  </a:lnSpc>
                </a:pPr>
                <a14:m>
                  <m:oMath xmlns:m="http://schemas.openxmlformats.org/officeDocument/2006/math">
                    <m:r>
                      <a:rPr lang="fr-FR" sz="1100" b="0" i="1" u="none" strike="noStrike" smtClean="0">
                        <a:effectLst/>
                        <a:latin typeface="Cambria Math" panose="02040503050406030204" pitchFamily="18" charset="0"/>
                      </a:rPr>
                      <m:t>𝛼</m:t>
                    </m:r>
                    <m:r>
                      <a:rPr lang="en-GB" sz="1100" b="0" i="1" u="none" strike="noStrike" smtClean="0">
                        <a:effectLst/>
                        <a:latin typeface="Cambria Math" panose="02040503050406030204" pitchFamily="18" charset="0"/>
                      </a:rPr>
                      <m:t> </m:t>
                    </m:r>
                  </m:oMath>
                </a14:m>
                <a:r>
                  <a:rPr lang="en-GB" sz="1100" b="0" i="0" dirty="0">
                    <a:effectLst/>
                    <a:latin typeface="KaTeX_Main"/>
                  </a:rPr>
                  <a:t>and </a:t>
                </a:r>
                <a14:m>
                  <m:oMath xmlns:m="http://schemas.openxmlformats.org/officeDocument/2006/math">
                    <m:r>
                      <a:rPr lang="fr-FR" sz="1100" b="0" i="1" smtClean="0">
                        <a:latin typeface="Cambria Math" panose="02040503050406030204" pitchFamily="18" charset="0"/>
                      </a:rPr>
                      <m:t>𝛽</m:t>
                    </m:r>
                    <m:r>
                      <a:rPr lang="fr-FR" sz="1100" i="1">
                        <a:latin typeface="Cambria Math" panose="02040503050406030204" pitchFamily="18" charset="0"/>
                      </a:rPr>
                      <m:t> </m:t>
                    </m:r>
                  </m:oMath>
                </a14:m>
                <a:r>
                  <a:rPr lang="en-GB" sz="1100" b="0" i="0" dirty="0">
                    <a:effectLst/>
                    <a:latin typeface="KaTeX_Main"/>
                  </a:rPr>
                  <a:t>the Dirichlet hyperparameters as a smooth factor to avoid null probabilities</a:t>
                </a:r>
                <a:endParaRPr lang="fr-FR" sz="1100" i="1" dirty="0">
                  <a:latin typeface="Cambria Math" panose="02040503050406030204" pitchFamily="18" charset="0"/>
                </a:endParaRPr>
              </a:p>
              <a:p>
                <a:pPr>
                  <a:lnSpc>
                    <a:spcPct val="150000"/>
                  </a:lnSpc>
                </a:pPr>
                <a14:m>
                  <m:oMath xmlns:m="http://schemas.openxmlformats.org/officeDocument/2006/math">
                    <m:f>
                      <m:fPr>
                        <m:ctrlPr>
                          <a:rPr lang="fr-FR" sz="1100" i="1" smtClean="0">
                            <a:latin typeface="Cambria Math" panose="02040503050406030204" pitchFamily="18" charset="0"/>
                          </a:rPr>
                        </m:ctrlPr>
                      </m:fPr>
                      <m:num>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i="1">
                                <a:latin typeface="Cambria Math" panose="02040503050406030204" pitchFamily="18" charset="0"/>
                              </a:rPr>
                              <m:t>𝑑</m:t>
                            </m:r>
                          </m:sub>
                        </m:sSub>
                        <m:sSub>
                          <m:sSubPr>
                            <m:ctrlPr>
                              <a:rPr lang="fr-FR" sz="1100" i="1">
                                <a:latin typeface="Cambria Math" panose="02040503050406030204" pitchFamily="18" charset="0"/>
                              </a:rPr>
                            </m:ctrlPr>
                          </m:sSubPr>
                          <m:e>
                            <m:r>
                              <a:rPr lang="fr-FR" sz="1100" i="1">
                                <a:latin typeface="Cambria Math" panose="02040503050406030204" pitchFamily="18" charset="0"/>
                              </a:rPr>
                              <m:t>,</m:t>
                            </m:r>
                          </m:e>
                          <m:sub>
                            <m:r>
                              <a:rPr lang="fr-FR" sz="1100" i="1">
                                <a:latin typeface="Cambria Math" panose="02040503050406030204" pitchFamily="18" charset="0"/>
                              </a:rPr>
                              <m:t>𝑘</m:t>
                            </m:r>
                          </m:sub>
                        </m:sSub>
                        <m:r>
                          <a:rPr lang="fr-FR" sz="1100" i="1">
                            <a:latin typeface="Cambria Math" panose="02040503050406030204" pitchFamily="18" charset="0"/>
                          </a:rPr>
                          <m:t>+</m:t>
                        </m:r>
                        <m:r>
                          <a:rPr lang="fr-FR" sz="1100" i="1">
                            <a:latin typeface="Cambria Math" panose="02040503050406030204" pitchFamily="18" charset="0"/>
                          </a:rPr>
                          <m:t>𝛼</m:t>
                        </m:r>
                      </m:num>
                      <m:den>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i="1">
                                <a:latin typeface="Cambria Math" panose="02040503050406030204" pitchFamily="18" charset="0"/>
                              </a:rPr>
                              <m:t>𝑑</m:t>
                            </m:r>
                          </m:sub>
                        </m:sSub>
                        <m:r>
                          <a:rPr lang="fr-FR" sz="1100" i="1">
                            <a:latin typeface="Cambria Math" panose="02040503050406030204" pitchFamily="18" charset="0"/>
                          </a:rPr>
                          <m:t>,.+</m:t>
                        </m:r>
                        <m:r>
                          <a:rPr lang="fr-FR" sz="1100" i="1">
                            <a:latin typeface="Cambria Math" panose="02040503050406030204" pitchFamily="18" charset="0"/>
                          </a:rPr>
                          <m:t>𝐾</m:t>
                        </m:r>
                        <m:r>
                          <a:rPr lang="fr-FR" sz="1100" i="1">
                            <a:latin typeface="Cambria Math" panose="02040503050406030204" pitchFamily="18" charset="0"/>
                          </a:rPr>
                          <m:t>𝛼</m:t>
                        </m:r>
                      </m:den>
                    </m:f>
                  </m:oMath>
                </a14:m>
                <a:r>
                  <a:rPr lang="en-GB" sz="1100" b="0" i="0" dirty="0">
                    <a:effectLst/>
                    <a:latin typeface="KaTeX_Main"/>
                  </a:rPr>
                  <a:t> probability that a word</a:t>
                </a:r>
                <a14:m>
                  <m:oMath xmlns:m="http://schemas.openxmlformats.org/officeDocument/2006/math">
                    <m:r>
                      <a:rPr lang="fr-FR" sz="1100" i="1">
                        <a:latin typeface="Cambria Math" panose="02040503050406030204" pitchFamily="18" charset="0"/>
                      </a:rPr>
                      <m:t> </m:t>
                    </m:r>
                  </m:oMath>
                </a14:m>
                <a:r>
                  <a:rPr lang="en-GB" sz="1100" b="0" i="0" dirty="0">
                    <a:effectLst/>
                    <a:latin typeface="KaTeX_Main"/>
                  </a:rPr>
                  <a:t>in </a:t>
                </a:r>
                <a:r>
                  <a:rPr lang="en-GB" sz="1100" dirty="0">
                    <a:latin typeface="KaTeX_Main"/>
                  </a:rPr>
                  <a:t>the document </a:t>
                </a:r>
                <a14:m>
                  <m:oMath xmlns:m="http://schemas.openxmlformats.org/officeDocument/2006/math">
                    <m:r>
                      <m:rPr>
                        <m:sty m:val="p"/>
                      </m:rPr>
                      <a:rPr lang="fr-FR" sz="1100">
                        <a:latin typeface="Cambria Math" panose="02040503050406030204" pitchFamily="18" charset="0"/>
                      </a:rPr>
                      <m:t>d</m:t>
                    </m:r>
                  </m:oMath>
                </a14:m>
                <a:r>
                  <a:rPr lang="en-GB" sz="1100" b="0" i="0" dirty="0">
                    <a:effectLst/>
                    <a:latin typeface="KaTeX_Main"/>
                  </a:rPr>
                  <a:t> to be assigned to the topic </a:t>
                </a:r>
                <a14:m>
                  <m:oMath xmlns:m="http://schemas.openxmlformats.org/officeDocument/2006/math">
                    <m:r>
                      <m:rPr>
                        <m:sty m:val="p"/>
                      </m:rPr>
                      <a:rPr lang="fr-FR" sz="1100">
                        <a:latin typeface="Cambria Math" panose="02040503050406030204" pitchFamily="18" charset="0"/>
                      </a:rPr>
                      <m:t>k</m:t>
                    </m:r>
                  </m:oMath>
                </a14:m>
                <a:endParaRPr lang="en-GB" sz="1100" b="0" i="0" dirty="0">
                  <a:effectLst/>
                  <a:latin typeface="KaTeX_Main"/>
                </a:endParaRPr>
              </a:p>
              <a:p>
                <a:pPr>
                  <a:lnSpc>
                    <a:spcPct val="150000"/>
                  </a:lnSpc>
                </a:pPr>
                <a14:m>
                  <m:oMath xmlns:m="http://schemas.openxmlformats.org/officeDocument/2006/math">
                    <m:f>
                      <m:fPr>
                        <m:ctrlPr>
                          <a:rPr lang="fr-FR" sz="1100" i="1" smtClean="0">
                            <a:latin typeface="Cambria Math" panose="02040503050406030204" pitchFamily="18" charset="0"/>
                          </a:rPr>
                        </m:ctrlPr>
                      </m:fPr>
                      <m:num>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b="0" i="1" smtClean="0">
                                <a:latin typeface="Cambria Math" panose="02040503050406030204" pitchFamily="18" charset="0"/>
                              </a:rPr>
                              <m:t>𝑘</m:t>
                            </m:r>
                          </m:sub>
                        </m:sSub>
                        <m:sSub>
                          <m:sSubPr>
                            <m:ctrlPr>
                              <a:rPr lang="fr-FR" sz="1100" i="1">
                                <a:latin typeface="Cambria Math" panose="02040503050406030204" pitchFamily="18" charset="0"/>
                              </a:rPr>
                            </m:ctrlPr>
                          </m:sSubPr>
                          <m:e>
                            <m:r>
                              <a:rPr lang="fr-FR" sz="1100" i="1">
                                <a:latin typeface="Cambria Math" panose="02040503050406030204" pitchFamily="18" charset="0"/>
                              </a:rPr>
                              <m:t>,</m:t>
                            </m:r>
                          </m:e>
                          <m:sub>
                            <m:r>
                              <a:rPr lang="fr-FR" sz="1100" b="0" i="1" smtClean="0">
                                <a:latin typeface="Cambria Math" panose="02040503050406030204" pitchFamily="18" charset="0"/>
                              </a:rPr>
                              <m:t>𝑤</m:t>
                            </m:r>
                          </m:sub>
                        </m:sSub>
                        <m:r>
                          <a:rPr lang="fr-FR" sz="1100" i="1">
                            <a:latin typeface="Cambria Math" panose="02040503050406030204" pitchFamily="18" charset="0"/>
                          </a:rPr>
                          <m:t>+</m:t>
                        </m:r>
                        <m:r>
                          <a:rPr lang="fr-FR" sz="1100" b="0" i="1" smtClean="0">
                            <a:latin typeface="Cambria Math" panose="02040503050406030204" pitchFamily="18" charset="0"/>
                          </a:rPr>
                          <m:t>𝛽</m:t>
                        </m:r>
                      </m:num>
                      <m:den>
                        <m:sSub>
                          <m:sSubPr>
                            <m:ctrlPr>
                              <a:rPr lang="fr-FR" sz="1100" i="1">
                                <a:latin typeface="Cambria Math" panose="02040503050406030204" pitchFamily="18" charset="0"/>
                              </a:rPr>
                            </m:ctrlPr>
                          </m:sSubPr>
                          <m:e>
                            <m:r>
                              <a:rPr lang="fr-FR" sz="1100" i="1">
                                <a:latin typeface="Cambria Math" panose="02040503050406030204" pitchFamily="18" charset="0"/>
                              </a:rPr>
                              <m:t>𝑛</m:t>
                            </m:r>
                          </m:e>
                          <m:sub>
                            <m:r>
                              <a:rPr lang="fr-FR" sz="1100" b="0" i="1" smtClean="0">
                                <a:latin typeface="Cambria Math" panose="02040503050406030204" pitchFamily="18" charset="0"/>
                              </a:rPr>
                              <m:t>𝑘</m:t>
                            </m:r>
                          </m:sub>
                        </m:sSub>
                        <m:r>
                          <a:rPr lang="fr-FR" sz="1100" i="1">
                            <a:latin typeface="Cambria Math" panose="02040503050406030204" pitchFamily="18" charset="0"/>
                          </a:rPr>
                          <m:t>,.+</m:t>
                        </m:r>
                        <m:r>
                          <a:rPr lang="fr-FR" sz="1100" i="1">
                            <a:latin typeface="Cambria Math" panose="02040503050406030204" pitchFamily="18" charset="0"/>
                          </a:rPr>
                          <m:t>𝐾</m:t>
                        </m:r>
                        <m:r>
                          <a:rPr lang="fr-FR" sz="1100" b="0" i="1" smtClean="0">
                            <a:latin typeface="Cambria Math" panose="02040503050406030204" pitchFamily="18" charset="0"/>
                          </a:rPr>
                          <m:t>𝛽</m:t>
                        </m:r>
                      </m:den>
                    </m:f>
                  </m:oMath>
                </a14:m>
                <a:r>
                  <a:rPr lang="en-GB" sz="1100" dirty="0">
                    <a:latin typeface="KaTeX_Main"/>
                  </a:rPr>
                  <a:t> probability that the word </a:t>
                </a:r>
                <a14:m>
                  <m:oMath xmlns:m="http://schemas.openxmlformats.org/officeDocument/2006/math">
                    <m:r>
                      <m:rPr>
                        <m:sty m:val="p"/>
                      </m:rPr>
                      <a:rPr lang="fr-FR" sz="1100" b="0" i="0" smtClean="0">
                        <a:latin typeface="Cambria Math" panose="02040503050406030204" pitchFamily="18" charset="0"/>
                      </a:rPr>
                      <m:t>w</m:t>
                    </m:r>
                  </m:oMath>
                </a14:m>
                <a:r>
                  <a:rPr lang="en-GB" sz="1100" dirty="0">
                    <a:latin typeface="KaTeX_Main"/>
                  </a:rPr>
                  <a:t> </a:t>
                </a:r>
                <a:r>
                  <a:rPr lang="fr-FR" sz="1100" dirty="0">
                    <a:latin typeface="KaTeX_Main"/>
                  </a:rPr>
                  <a:t>is</a:t>
                </a:r>
                <a:r>
                  <a:rPr lang="en-GB" sz="1100" dirty="0">
                    <a:latin typeface="KaTeX_Main"/>
                  </a:rPr>
                  <a:t> assigned to the topic </a:t>
                </a:r>
                <a14:m>
                  <m:oMath xmlns:m="http://schemas.openxmlformats.org/officeDocument/2006/math">
                    <m:r>
                      <m:rPr>
                        <m:sty m:val="p"/>
                      </m:rPr>
                      <a:rPr lang="fr-FR" sz="1100">
                        <a:latin typeface="Cambria Math" panose="02040503050406030204" pitchFamily="18" charset="0"/>
                      </a:rPr>
                      <m:t>k</m:t>
                    </m:r>
                  </m:oMath>
                </a14:m>
                <a:endParaRPr lang="en-GB" sz="1100" b="0" i="0" dirty="0">
                  <a:effectLst/>
                  <a:latin typeface="KaTeX_Main"/>
                </a:endParaRPr>
              </a:p>
              <a:p>
                <a:endParaRPr lang="en-GB" sz="1100" b="0" i="0" dirty="0">
                  <a:effectLst/>
                  <a:latin typeface="KaTeX_Main"/>
                </a:endParaRPr>
              </a:p>
              <a:p>
                <a:endParaRPr lang="en-GB" sz="1100" b="0" i="0" u="none" strike="noStrike" dirty="0">
                  <a:effectLst/>
                  <a:latin typeface="ui-sans-serif"/>
                </a:endParaRPr>
              </a:p>
              <a:p>
                <a:pPr algn="l"/>
                <a:endParaRPr lang="en-GB" sz="1000" i="0" u="none" strike="noStrike" dirty="0">
                  <a:effectLst/>
                  <a:latin typeface="ui-sans-serif"/>
                </a:endParaRPr>
              </a:p>
              <a:p>
                <a:pPr>
                  <a:lnSpc>
                    <a:spcPct val="150000"/>
                  </a:lnSpc>
                </a:pPr>
                <a:endParaRPr lang="en-GB" noProof="0" dirty="0"/>
              </a:p>
            </p:txBody>
          </p:sp>
        </mc:Choice>
        <mc:Fallback xmlns="">
          <p:sp>
            <p:nvSpPr>
              <p:cNvPr id="5" name="ZoneTexte 4">
                <a:extLst>
                  <a:ext uri="{FF2B5EF4-FFF2-40B4-BE49-F238E27FC236}">
                    <a16:creationId xmlns:a16="http://schemas.microsoft.com/office/drawing/2014/main" id="{BF121AC7-CA74-DC71-9B74-71C722E89AA1}"/>
                  </a:ext>
                </a:extLst>
              </p:cNvPr>
              <p:cNvSpPr txBox="1">
                <a:spLocks noRot="1" noChangeAspect="1" noMove="1" noResize="1" noEditPoints="1" noAdjustHandles="1" noChangeArrowheads="1" noChangeShapeType="1" noTextEdit="1"/>
              </p:cNvSpPr>
              <p:nvPr/>
            </p:nvSpPr>
            <p:spPr>
              <a:xfrm>
                <a:off x="838198" y="1892491"/>
                <a:ext cx="11145255" cy="4600384"/>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05077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A4139-320F-97D8-47A9-C9F94772B9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353919-AB58-A537-649E-CBFDD30C08B3}"/>
              </a:ext>
            </a:extLst>
          </p:cNvPr>
          <p:cNvSpPr>
            <a:spLocks noGrp="1"/>
          </p:cNvSpPr>
          <p:nvPr>
            <p:ph type="title"/>
          </p:nvPr>
        </p:nvSpPr>
        <p:spPr/>
        <p:txBody>
          <a:bodyPr/>
          <a:lstStyle/>
          <a:p>
            <a:pPr algn="ctr"/>
            <a:r>
              <a:rPr lang="en-GB" noProof="0" dirty="0"/>
              <a:t>Latent Dirichlet Allocation</a:t>
            </a:r>
          </a:p>
        </p:txBody>
      </p:sp>
      <p:sp>
        <p:nvSpPr>
          <p:cNvPr id="4" name="ZoneTexte 3">
            <a:extLst>
              <a:ext uri="{FF2B5EF4-FFF2-40B4-BE49-F238E27FC236}">
                <a16:creationId xmlns:a16="http://schemas.microsoft.com/office/drawing/2014/main" id="{7ECCD6DC-A2A8-6B4D-3ED8-A84EE93F5CC3}"/>
              </a:ext>
            </a:extLst>
          </p:cNvPr>
          <p:cNvSpPr txBox="1"/>
          <p:nvPr/>
        </p:nvSpPr>
        <p:spPr>
          <a:xfrm>
            <a:off x="838199" y="1403480"/>
            <a:ext cx="10515600" cy="807720"/>
          </a:xfrm>
          <a:prstGeom prst="rect">
            <a:avLst/>
          </a:prstGeom>
          <a:noFill/>
        </p:spPr>
        <p:txBody>
          <a:bodyPr wrap="square" lIns="90000" rtlCol="0">
            <a:noAutofit/>
          </a:bodyPr>
          <a:lstStyle/>
          <a:p>
            <a:r>
              <a:rPr lang="en-GB" sz="2800" b="1" i="0" u="none" strike="noStrike" noProof="0" dirty="0">
                <a:effectLst/>
                <a:latin typeface="ui-sans-serif"/>
              </a:rPr>
              <a:t>Topic modelling technique for text data</a:t>
            </a:r>
          </a:p>
        </p:txBody>
      </p:sp>
      <p:sp>
        <p:nvSpPr>
          <p:cNvPr id="6" name="Espace réservé du pied de page 2">
            <a:extLst>
              <a:ext uri="{FF2B5EF4-FFF2-40B4-BE49-F238E27FC236}">
                <a16:creationId xmlns:a16="http://schemas.microsoft.com/office/drawing/2014/main" id="{55C05348-BF06-CBF3-3E01-3A7E9FE5BFD8}"/>
              </a:ext>
            </a:extLst>
          </p:cNvPr>
          <p:cNvSpPr>
            <a:spLocks noGrp="1"/>
          </p:cNvSpPr>
          <p:nvPr>
            <p:ph type="ftr" sz="quarter" idx="11"/>
          </p:nvPr>
        </p:nvSpPr>
        <p:spPr>
          <a:xfrm>
            <a:off x="4038600" y="6356350"/>
            <a:ext cx="4114800" cy="365125"/>
          </a:xfrm>
        </p:spPr>
        <p:txBody>
          <a:bodyPr/>
          <a:lstStyle/>
          <a:p>
            <a:r>
              <a:rPr lang="en-GB" noProof="0" dirty="0"/>
              <a:t>LDA for topic Modelling. Author: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A75C788-9F6C-C46E-812F-011E348D6244}"/>
                  </a:ext>
                </a:extLst>
              </p:cNvPr>
              <p:cNvSpPr txBox="1"/>
              <p:nvPr/>
            </p:nvSpPr>
            <p:spPr>
              <a:xfrm>
                <a:off x="838198" y="1892491"/>
                <a:ext cx="11145255" cy="4600384"/>
              </a:xfrm>
              <a:prstGeom prst="rect">
                <a:avLst/>
              </a:prstGeom>
              <a:noFill/>
            </p:spPr>
            <p:txBody>
              <a:bodyPr wrap="square" lIns="90000">
                <a:noAutofit/>
              </a:bodyPr>
              <a:lstStyle/>
              <a:p>
                <a:pPr>
                  <a:lnSpc>
                    <a:spcPct val="150000"/>
                  </a:lnSpc>
                </a:pPr>
                <a:r>
                  <a:rPr lang="en-GB" sz="1100" b="1" dirty="0"/>
                  <a:t>Step 2: sampling</a:t>
                </a:r>
              </a:p>
              <a:p>
                <a:endParaRPr lang="en-GB" sz="1100" i="1" dirty="0">
                  <a:latin typeface="Cambria Math" panose="02040503050406030204" pitchFamily="18" charset="0"/>
                </a:endParaRPr>
              </a:p>
              <a:p>
                <a:r>
                  <a:rPr lang="en-GB" sz="1100" dirty="0"/>
                  <a:t>Compute the probabilities if we assume </a:t>
                </a:r>
                <a14:m>
                  <m:oMath xmlns:m="http://schemas.openxmlformats.org/officeDocument/2006/math">
                    <m:r>
                      <a:rPr lang="en-GB" sz="1100" b="0" i="1" u="none" strike="noStrike" smtClean="0">
                        <a:effectLst/>
                        <a:latin typeface="Cambria Math" panose="02040503050406030204" pitchFamily="18" charset="0"/>
                      </a:rPr>
                      <m:t>𝛼</m:t>
                    </m:r>
                    <m:r>
                      <a:rPr lang="fr-FR" sz="1100" b="0" i="1" u="none" strike="noStrike" smtClean="0">
                        <a:effectLst/>
                        <a:latin typeface="Cambria Math" panose="02040503050406030204" pitchFamily="18" charset="0"/>
                      </a:rPr>
                      <m:t>=0.1</m:t>
                    </m:r>
                  </m:oMath>
                </a14:m>
                <a:r>
                  <a:rPr lang="en-GB" sz="1100" b="0" i="0" u="none" strike="noStrike" dirty="0">
                    <a:effectLst/>
                    <a:latin typeface="ui-sans-serif"/>
                  </a:rPr>
                  <a:t> and </a:t>
                </a:r>
                <a14:m>
                  <m:oMath xmlns:m="http://schemas.openxmlformats.org/officeDocument/2006/math">
                    <m:r>
                      <a:rPr lang="fr-FR" sz="1100" b="0" i="1" smtClean="0">
                        <a:latin typeface="Cambria Math" panose="02040503050406030204" pitchFamily="18" charset="0"/>
                      </a:rPr>
                      <m:t>𝛽</m:t>
                    </m:r>
                    <m:r>
                      <a:rPr lang="fr-FR" sz="1100" i="1">
                        <a:latin typeface="Cambria Math" panose="02040503050406030204" pitchFamily="18" charset="0"/>
                      </a:rPr>
                      <m:t>=0.1</m:t>
                    </m:r>
                  </m:oMath>
                </a14:m>
                <a:endParaRPr lang="en-GB" sz="1100" b="0" i="0" u="none" strike="noStrike" dirty="0">
                  <a:effectLst/>
                  <a:latin typeface="ui-sans-serif"/>
                </a:endParaRPr>
              </a:p>
              <a:p>
                <a:endParaRPr lang="en-GB" sz="1100" dirty="0">
                  <a:latin typeface="ui-sans-serif"/>
                </a:endParaRPr>
              </a:p>
              <a:p>
                <a:pPr/>
                <a14:m>
                  <m:oMathPara xmlns:m="http://schemas.openxmlformats.org/officeDocument/2006/math">
                    <m:oMathParaPr>
                      <m:jc m:val="left"/>
                    </m:oMathParaPr>
                    <m:oMath xmlns:m="http://schemas.openxmlformats.org/officeDocument/2006/math">
                      <m:r>
                        <a:rPr lang="en-GB" sz="1100" b="0" i="1" u="none" strike="noStrike" smtClean="0">
                          <a:effectLst/>
                          <a:latin typeface="Cambria Math" panose="02040503050406030204" pitchFamily="18" charset="0"/>
                        </a:rPr>
                        <m:t>𝑃</m:t>
                      </m:r>
                      <m:d>
                        <m:dPr>
                          <m:endChr m:val="|"/>
                          <m:ctrlPr>
                            <a:rPr lang="en-GB" sz="1100" b="0" i="1" u="none" strike="noStrike" smtClean="0">
                              <a:effectLst/>
                              <a:latin typeface="Cambria Math" panose="02040503050406030204" pitchFamily="18" charset="0"/>
                            </a:rPr>
                          </m:ctrlPr>
                        </m:dPr>
                        <m:e>
                          <m:r>
                            <a:rPr lang="en-GB" sz="1100" b="0" i="1" u="none" strike="noStrike" smtClean="0">
                              <a:effectLst/>
                              <a:latin typeface="Cambria Math" panose="02040503050406030204" pitchFamily="18" charset="0"/>
                            </a:rPr>
                            <m:t>𝑧</m:t>
                          </m:r>
                          <m:r>
                            <a:rPr lang="en-GB" sz="1100" b="0" i="1" u="none" strike="noStrike" smtClean="0">
                              <a:effectLst/>
                              <a:latin typeface="Cambria Math" panose="02040503050406030204" pitchFamily="18" charset="0"/>
                            </a:rPr>
                            <m:t>=0 </m:t>
                          </m:r>
                        </m:e>
                      </m:d>
                      <m:r>
                        <a:rPr lang="en-GB" sz="1100" b="0" i="1" u="none" strike="noStrike" smtClean="0">
                          <a:effectLst/>
                          <a:latin typeface="Cambria Math" panose="02040503050406030204" pitchFamily="18" charset="0"/>
                        </a:rPr>
                        <m:t> </m:t>
                      </m:r>
                      <m:r>
                        <a:rPr lang="fr-FR" sz="1100" b="0" i="1" u="none" strike="noStrike" smtClean="0">
                          <a:effectLst/>
                          <a:latin typeface="Cambria Math" panose="02040503050406030204" pitchFamily="18" charset="0"/>
                        </a:rPr>
                        <m:t>𝑎𝑝𝑝𝑙𝑒</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2</m:t>
                          </m:r>
                          <m:r>
                            <a:rPr lang="fr-FR" sz="1100" i="1">
                              <a:latin typeface="Cambria Math" panose="02040503050406030204" pitchFamily="18" charset="0"/>
                            </a:rPr>
                            <m:t>+</m:t>
                          </m:r>
                          <m:r>
                            <a:rPr lang="fr-FR" sz="1100" b="0" i="1" smtClean="0">
                              <a:latin typeface="Cambria Math" panose="02040503050406030204" pitchFamily="18" charset="0"/>
                            </a:rPr>
                            <m:t>0.1</m:t>
                          </m:r>
                        </m:num>
                        <m:den>
                          <m:r>
                            <a:rPr lang="fr-FR" sz="1100" b="0" i="1" smtClean="0">
                              <a:latin typeface="Cambria Math" panose="02040503050406030204" pitchFamily="18" charset="0"/>
                            </a:rPr>
                            <m:t>4</m:t>
                          </m:r>
                          <m:r>
                            <a:rPr lang="fr-FR" sz="1100" i="1">
                              <a:latin typeface="Cambria Math" panose="02040503050406030204" pitchFamily="18" charset="0"/>
                            </a:rPr>
                            <m:t>+</m:t>
                          </m:r>
                          <m:r>
                            <a:rPr lang="fr-FR" sz="1100" b="0" i="1" smtClean="0">
                              <a:latin typeface="Cambria Math" panose="02040503050406030204" pitchFamily="18" charset="0"/>
                            </a:rPr>
                            <m:t>2 ×0.1</m:t>
                          </m:r>
                        </m:den>
                      </m:f>
                      <m:r>
                        <a:rPr lang="fr-FR" sz="1100" b="0" i="1" smtClean="0">
                          <a:latin typeface="Cambria Math" panose="02040503050406030204" pitchFamily="18" charset="0"/>
                        </a:rPr>
                        <m:t> </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1</m:t>
                          </m:r>
                          <m:r>
                            <a:rPr lang="fr-FR" sz="1100" i="1">
                              <a:latin typeface="Cambria Math" panose="02040503050406030204" pitchFamily="18" charset="0"/>
                            </a:rPr>
                            <m:t>+</m:t>
                          </m:r>
                          <m:r>
                            <a:rPr lang="fr-FR" sz="1100" b="0" i="1" smtClean="0">
                              <a:latin typeface="Cambria Math" panose="02040503050406030204" pitchFamily="18" charset="0"/>
                            </a:rPr>
                            <m:t>0.1</m:t>
                          </m:r>
                        </m:num>
                        <m:den>
                          <m:r>
                            <a:rPr lang="fr-FR" sz="1100" b="0" i="1" smtClean="0">
                              <a:latin typeface="Cambria Math" panose="02040503050406030204" pitchFamily="18" charset="0"/>
                            </a:rPr>
                            <m:t>7</m:t>
                          </m:r>
                          <m:r>
                            <a:rPr lang="fr-FR" sz="1100" i="1">
                              <a:latin typeface="Cambria Math" panose="02040503050406030204" pitchFamily="18" charset="0"/>
                            </a:rPr>
                            <m:t>+</m:t>
                          </m:r>
                          <m:r>
                            <a:rPr lang="fr-FR" sz="1100" b="0" i="1" smtClean="0">
                              <a:latin typeface="Cambria Math" panose="02040503050406030204" pitchFamily="18" charset="0"/>
                            </a:rPr>
                            <m:t>6 ×0.1</m:t>
                          </m:r>
                        </m:den>
                      </m:f>
                      <m:r>
                        <a:rPr lang="fr-FR" sz="1100" b="0" i="1" smtClean="0">
                          <a:latin typeface="Cambria Math" panose="02040503050406030204" pitchFamily="18" charset="0"/>
                        </a:rPr>
                        <m:t>=</m:t>
                      </m:r>
                      <m:f>
                        <m:fPr>
                          <m:ctrlPr>
                            <a:rPr lang="fr-FR" sz="1100" i="1" smtClean="0">
                              <a:latin typeface="Cambria Math" panose="02040503050406030204" pitchFamily="18" charset="0"/>
                            </a:rPr>
                          </m:ctrlPr>
                        </m:fPr>
                        <m:num>
                          <m:r>
                            <a:rPr lang="fr-FR" sz="1100" b="0" i="1" smtClean="0">
                              <a:latin typeface="Cambria Math" panose="02040503050406030204" pitchFamily="18" charset="0"/>
                            </a:rPr>
                            <m:t>2.1</m:t>
                          </m:r>
                        </m:num>
                        <m:den>
                          <m:r>
                            <a:rPr lang="fr-FR" sz="1100" b="0" i="1" smtClean="0">
                              <a:latin typeface="Cambria Math" panose="02040503050406030204" pitchFamily="18" charset="0"/>
                            </a:rPr>
                            <m:t>4.2</m:t>
                          </m:r>
                        </m:den>
                      </m:f>
                      <m:r>
                        <a:rPr lang="fr-FR" sz="1100" b="0" i="1" smtClean="0">
                          <a:latin typeface="Cambria Math" panose="02040503050406030204" pitchFamily="18" charset="0"/>
                        </a:rPr>
                        <m:t> </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1.1</m:t>
                          </m:r>
                        </m:num>
                        <m:den>
                          <m:r>
                            <a:rPr lang="fr-FR" sz="1100" b="0" i="1" smtClean="0">
                              <a:latin typeface="Cambria Math" panose="02040503050406030204" pitchFamily="18" charset="0"/>
                            </a:rPr>
                            <m:t>7.6</m:t>
                          </m:r>
                        </m:den>
                      </m:f>
                      <m:r>
                        <a:rPr lang="fr-FR" sz="1100" b="0" i="1" smtClean="0">
                          <a:latin typeface="Cambria Math" panose="02040503050406030204" pitchFamily="18" charset="0"/>
                        </a:rPr>
                        <m:t>=0.07235</m:t>
                      </m:r>
                    </m:oMath>
                  </m:oMathPara>
                </a14:m>
                <a:endParaRPr lang="en-GB" sz="1100" b="0" i="0" u="none" strike="noStrike" dirty="0">
                  <a:effectLst/>
                  <a:latin typeface="ui-sans-serif"/>
                </a:endParaRPr>
              </a:p>
              <a:p>
                <a:endParaRPr lang="en-GB" sz="1100" dirty="0">
                  <a:latin typeface="ui-sans-serif"/>
                </a:endParaRPr>
              </a:p>
              <a:p>
                <a:endParaRPr lang="en-GB" sz="1100" dirty="0">
                  <a:latin typeface="ui-sans-serif"/>
                </a:endParaRPr>
              </a:p>
              <a:p>
                <a:pPr/>
                <a14:m>
                  <m:oMathPara xmlns:m="http://schemas.openxmlformats.org/officeDocument/2006/math">
                    <m:oMathParaPr>
                      <m:jc m:val="left"/>
                    </m:oMathParaPr>
                    <m:oMath xmlns:m="http://schemas.openxmlformats.org/officeDocument/2006/math">
                      <m:r>
                        <a:rPr lang="en-GB" sz="1100" b="0" i="1" u="none" strike="noStrike" smtClean="0">
                          <a:effectLst/>
                          <a:latin typeface="Cambria Math" panose="02040503050406030204" pitchFamily="18" charset="0"/>
                        </a:rPr>
                        <m:t>𝑃</m:t>
                      </m:r>
                      <m:d>
                        <m:dPr>
                          <m:endChr m:val="|"/>
                          <m:ctrlPr>
                            <a:rPr lang="en-GB" sz="1100" b="0" i="1" u="none" strike="noStrike" smtClean="0">
                              <a:effectLst/>
                              <a:latin typeface="Cambria Math" panose="02040503050406030204" pitchFamily="18" charset="0"/>
                            </a:rPr>
                          </m:ctrlPr>
                        </m:dPr>
                        <m:e>
                          <m:r>
                            <a:rPr lang="en-GB" sz="1100" b="0" i="1" u="none" strike="noStrike" smtClean="0">
                              <a:effectLst/>
                              <a:latin typeface="Cambria Math" panose="02040503050406030204" pitchFamily="18" charset="0"/>
                            </a:rPr>
                            <m:t>𝑧</m:t>
                          </m:r>
                          <m:r>
                            <a:rPr lang="en-GB" sz="1100" b="0" i="1" u="none" strike="noStrike" smtClean="0">
                              <a:effectLst/>
                              <a:latin typeface="Cambria Math" panose="02040503050406030204" pitchFamily="18" charset="0"/>
                            </a:rPr>
                            <m:t>=1 </m:t>
                          </m:r>
                        </m:e>
                      </m:d>
                      <m:r>
                        <a:rPr lang="en-GB" sz="1100" b="0" i="1" u="none" strike="noStrike" smtClean="0">
                          <a:effectLst/>
                          <a:latin typeface="Cambria Math" panose="02040503050406030204" pitchFamily="18" charset="0"/>
                        </a:rPr>
                        <m:t> </m:t>
                      </m:r>
                      <m:r>
                        <a:rPr lang="fr-FR" sz="1100" b="0" i="1" u="none" strike="noStrike" smtClean="0">
                          <a:effectLst/>
                          <a:latin typeface="Cambria Math" panose="02040503050406030204" pitchFamily="18" charset="0"/>
                        </a:rPr>
                        <m:t>𝑎𝑝𝑝𝑙𝑒</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2</m:t>
                          </m:r>
                          <m:r>
                            <a:rPr lang="fr-FR" sz="1100" i="1">
                              <a:latin typeface="Cambria Math" panose="02040503050406030204" pitchFamily="18" charset="0"/>
                            </a:rPr>
                            <m:t>+</m:t>
                          </m:r>
                          <m:r>
                            <a:rPr lang="fr-FR" sz="1100" b="0" i="1" smtClean="0">
                              <a:latin typeface="Cambria Math" panose="02040503050406030204" pitchFamily="18" charset="0"/>
                            </a:rPr>
                            <m:t>0.1</m:t>
                          </m:r>
                        </m:num>
                        <m:den>
                          <m:r>
                            <a:rPr lang="fr-FR" sz="1100" b="0" i="1" smtClean="0">
                              <a:latin typeface="Cambria Math" panose="02040503050406030204" pitchFamily="18" charset="0"/>
                            </a:rPr>
                            <m:t>4</m:t>
                          </m:r>
                          <m:r>
                            <a:rPr lang="fr-FR" sz="1100" i="1">
                              <a:latin typeface="Cambria Math" panose="02040503050406030204" pitchFamily="18" charset="0"/>
                            </a:rPr>
                            <m:t>+</m:t>
                          </m:r>
                          <m:r>
                            <a:rPr lang="fr-FR" sz="1100" b="0" i="1" smtClean="0">
                              <a:latin typeface="Cambria Math" panose="02040503050406030204" pitchFamily="18" charset="0"/>
                            </a:rPr>
                            <m:t>2 ×0.1</m:t>
                          </m:r>
                        </m:den>
                      </m:f>
                      <m:r>
                        <a:rPr lang="fr-FR" sz="1100" b="0" i="1" smtClean="0">
                          <a:latin typeface="Cambria Math" panose="02040503050406030204" pitchFamily="18" charset="0"/>
                        </a:rPr>
                        <m:t> </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1</m:t>
                          </m:r>
                          <m:r>
                            <a:rPr lang="fr-FR" sz="1100" i="1">
                              <a:latin typeface="Cambria Math" panose="02040503050406030204" pitchFamily="18" charset="0"/>
                            </a:rPr>
                            <m:t>+</m:t>
                          </m:r>
                          <m:r>
                            <a:rPr lang="fr-FR" sz="1100" b="0" i="1" smtClean="0">
                              <a:latin typeface="Cambria Math" panose="02040503050406030204" pitchFamily="18" charset="0"/>
                            </a:rPr>
                            <m:t>0.1</m:t>
                          </m:r>
                        </m:num>
                        <m:den>
                          <m:r>
                            <a:rPr lang="fr-FR" sz="1100" b="0" i="1" smtClean="0">
                              <a:latin typeface="Cambria Math" panose="02040503050406030204" pitchFamily="18" charset="0"/>
                            </a:rPr>
                            <m:t>8</m:t>
                          </m:r>
                          <m:r>
                            <a:rPr lang="fr-FR" sz="1100" i="1">
                              <a:latin typeface="Cambria Math" panose="02040503050406030204" pitchFamily="18" charset="0"/>
                            </a:rPr>
                            <m:t>+</m:t>
                          </m:r>
                          <m:r>
                            <a:rPr lang="fr-FR" sz="1100" b="0" i="1" smtClean="0">
                              <a:latin typeface="Cambria Math" panose="02040503050406030204" pitchFamily="18" charset="0"/>
                            </a:rPr>
                            <m:t>6 ×0.1</m:t>
                          </m:r>
                        </m:den>
                      </m:f>
                      <m:r>
                        <a:rPr lang="fr-FR" sz="1100" b="0" i="1" smtClean="0">
                          <a:latin typeface="Cambria Math" panose="02040503050406030204" pitchFamily="18" charset="0"/>
                        </a:rPr>
                        <m:t>=</m:t>
                      </m:r>
                      <m:f>
                        <m:fPr>
                          <m:ctrlPr>
                            <a:rPr lang="fr-FR" sz="1100" i="1" smtClean="0">
                              <a:latin typeface="Cambria Math" panose="02040503050406030204" pitchFamily="18" charset="0"/>
                            </a:rPr>
                          </m:ctrlPr>
                        </m:fPr>
                        <m:num>
                          <m:r>
                            <a:rPr lang="fr-FR" sz="1100" b="0" i="1" smtClean="0">
                              <a:latin typeface="Cambria Math" panose="02040503050406030204" pitchFamily="18" charset="0"/>
                            </a:rPr>
                            <m:t>2.1</m:t>
                          </m:r>
                        </m:num>
                        <m:den>
                          <m:r>
                            <a:rPr lang="fr-FR" sz="1100" b="0" i="1" smtClean="0">
                              <a:latin typeface="Cambria Math" panose="02040503050406030204" pitchFamily="18" charset="0"/>
                            </a:rPr>
                            <m:t>4.2</m:t>
                          </m:r>
                        </m:den>
                      </m:f>
                      <m:r>
                        <a:rPr lang="fr-FR" sz="1100" b="0" i="1" smtClean="0">
                          <a:latin typeface="Cambria Math" panose="02040503050406030204" pitchFamily="18" charset="0"/>
                        </a:rPr>
                        <m:t> </m:t>
                      </m:r>
                      <m:r>
                        <a:rPr lang="en-GB" sz="1100" b="0" i="1" u="none" strike="noStrike" smtClean="0">
                          <a:effectLst/>
                          <a:latin typeface="Cambria Math" panose="02040503050406030204" pitchFamily="18" charset="0"/>
                        </a:rPr>
                        <m:t>×</m:t>
                      </m:r>
                      <m:f>
                        <m:fPr>
                          <m:ctrlPr>
                            <a:rPr lang="fr-FR" sz="1100" i="1">
                              <a:latin typeface="Cambria Math" panose="02040503050406030204" pitchFamily="18" charset="0"/>
                            </a:rPr>
                          </m:ctrlPr>
                        </m:fPr>
                        <m:num>
                          <m:r>
                            <a:rPr lang="fr-FR" sz="1100" b="0" i="1" smtClean="0">
                              <a:latin typeface="Cambria Math" panose="02040503050406030204" pitchFamily="18" charset="0"/>
                            </a:rPr>
                            <m:t>1.1</m:t>
                          </m:r>
                        </m:num>
                        <m:den>
                          <m:r>
                            <a:rPr lang="fr-FR" sz="1100" b="0" i="1" smtClean="0">
                              <a:latin typeface="Cambria Math" panose="02040503050406030204" pitchFamily="18" charset="0"/>
                            </a:rPr>
                            <m:t>8.6</m:t>
                          </m:r>
                        </m:den>
                      </m:f>
                      <m:r>
                        <a:rPr lang="fr-FR" sz="1100" b="0" i="1" smtClean="0">
                          <a:latin typeface="Cambria Math" panose="02040503050406030204" pitchFamily="18" charset="0"/>
                        </a:rPr>
                        <m:t>=0.0058</m:t>
                      </m:r>
                    </m:oMath>
                  </m:oMathPara>
                </a14:m>
                <a:endParaRPr lang="en-GB" sz="1100" b="0" i="0" u="none" strike="noStrike" dirty="0">
                  <a:effectLst/>
                  <a:latin typeface="ui-sans-serif"/>
                </a:endParaRPr>
              </a:p>
              <a:p>
                <a:endParaRPr lang="en-GB" sz="1100" b="0" i="0" u="none" strike="noStrike" dirty="0">
                  <a:effectLst/>
                  <a:latin typeface="ui-sans-serif"/>
                </a:endParaRPr>
              </a:p>
              <a:p>
                <a:r>
                  <a:rPr lang="en-GB" sz="1100" dirty="0">
                    <a:latin typeface="ui-sans-serif"/>
                  </a:rPr>
                  <a:t>Normalization of the probabilities:</a:t>
                </a:r>
              </a:p>
              <a:p>
                <a:endParaRPr lang="en-GB" sz="1100" dirty="0">
                  <a:latin typeface="ui-sans-serif"/>
                </a:endParaRPr>
              </a:p>
              <a:p>
                <a:pPr/>
                <a14:m>
                  <m:oMathPara xmlns:m="http://schemas.openxmlformats.org/officeDocument/2006/math">
                    <m:oMathParaPr>
                      <m:jc m:val="left"/>
                    </m:oMathParaPr>
                    <m:oMath xmlns:m="http://schemas.openxmlformats.org/officeDocument/2006/math">
                      <m:f>
                        <m:fPr>
                          <m:ctrlPr>
                            <a:rPr lang="en-GB" sz="1100" b="0" i="1" u="none" strike="noStrike" smtClean="0">
                              <a:effectLst/>
                              <a:latin typeface="Cambria Math" panose="02040503050406030204" pitchFamily="18" charset="0"/>
                            </a:rPr>
                          </m:ctrlPr>
                        </m:fPr>
                        <m:num>
                          <m:r>
                            <a:rPr lang="fr-FR" sz="1100" b="0" i="1" u="none" strike="noStrike" smtClean="0">
                              <a:effectLst/>
                              <a:latin typeface="Cambria Math" panose="02040503050406030204" pitchFamily="18" charset="0"/>
                            </a:rPr>
                            <m:t>0.07235</m:t>
                          </m:r>
                        </m:num>
                        <m:den>
                          <m:r>
                            <a:rPr lang="fr-FR" sz="1100" b="0" i="1" u="none" strike="noStrike" smtClean="0">
                              <a:effectLst/>
                              <a:latin typeface="Cambria Math" panose="02040503050406030204" pitchFamily="18" charset="0"/>
                            </a:rPr>
                            <m:t>0.07235+0.0058</m:t>
                          </m:r>
                        </m:den>
                      </m:f>
                      <m:r>
                        <a:rPr lang="fr-FR" sz="1100" b="0" i="1" u="none" strike="noStrike" smtClean="0">
                          <a:effectLst/>
                          <a:latin typeface="Cambria Math" panose="02040503050406030204" pitchFamily="18" charset="0"/>
                        </a:rPr>
                        <m:t>=0.926</m:t>
                      </m:r>
                    </m:oMath>
                  </m:oMathPara>
                </a14:m>
                <a:endParaRPr lang="en-GB" sz="1100" dirty="0">
                  <a:latin typeface="ui-sans-serif"/>
                </a:endParaRPr>
              </a:p>
              <a:p>
                <a:endParaRPr lang="en-GB" sz="11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a:latin typeface="Cambria Math" panose="02040503050406030204" pitchFamily="18" charset="0"/>
                            </a:rPr>
                          </m:ctrlPr>
                        </m:fPr>
                        <m:num>
                          <m:r>
                            <a:rPr lang="fr-FR" sz="1100" i="1">
                              <a:latin typeface="Cambria Math" panose="02040503050406030204" pitchFamily="18" charset="0"/>
                            </a:rPr>
                            <m:t>0.0</m:t>
                          </m:r>
                          <m:r>
                            <a:rPr lang="fr-FR" sz="1100" b="0" i="1" smtClean="0">
                              <a:latin typeface="Cambria Math" panose="02040503050406030204" pitchFamily="18" charset="0"/>
                            </a:rPr>
                            <m:t>058</m:t>
                          </m:r>
                        </m:num>
                        <m:den>
                          <m:r>
                            <a:rPr lang="fr-FR" sz="1100" i="1">
                              <a:latin typeface="Cambria Math" panose="02040503050406030204" pitchFamily="18" charset="0"/>
                            </a:rPr>
                            <m:t>0.07235+0.0058</m:t>
                          </m:r>
                        </m:den>
                      </m:f>
                      <m:r>
                        <a:rPr lang="fr-FR" sz="1100" i="1">
                          <a:latin typeface="Cambria Math" panose="02040503050406030204" pitchFamily="18" charset="0"/>
                        </a:rPr>
                        <m:t>=0.</m:t>
                      </m:r>
                      <m:r>
                        <a:rPr lang="fr-FR" sz="1100" b="0" i="1" smtClean="0">
                          <a:latin typeface="Cambria Math" panose="02040503050406030204" pitchFamily="18" charset="0"/>
                        </a:rPr>
                        <m:t>074</m:t>
                      </m:r>
                    </m:oMath>
                  </m:oMathPara>
                </a14:m>
                <a:endParaRPr lang="en-GB" sz="1100" dirty="0">
                  <a:latin typeface="ui-sans-serif"/>
                </a:endParaRPr>
              </a:p>
              <a:p>
                <a:endParaRPr lang="en-GB" sz="1100" dirty="0">
                  <a:latin typeface="ui-sans-serif"/>
                </a:endParaRPr>
              </a:p>
              <a:p>
                <a:endParaRPr lang="en-GB" sz="1100" dirty="0">
                  <a:latin typeface="ui-sans-serif"/>
                </a:endParaRPr>
              </a:p>
              <a:p>
                <a:pPr/>
                <a14:m>
                  <m:oMathPara xmlns:m="http://schemas.openxmlformats.org/officeDocument/2006/math">
                    <m:oMathParaPr>
                      <m:jc m:val="left"/>
                    </m:oMathParaPr>
                    <m:oMath xmlns:m="http://schemas.openxmlformats.org/officeDocument/2006/math">
                      <m:r>
                        <a:rPr lang="en-GB" sz="1100" b="0" i="1" u="none" strike="noStrike" smtClean="0">
                          <a:effectLst/>
                          <a:latin typeface="Cambria Math" panose="02040503050406030204" pitchFamily="18" charset="0"/>
                        </a:rPr>
                        <m:t>𝑃</m:t>
                      </m:r>
                      <m:d>
                        <m:dPr>
                          <m:endChr m:val="|"/>
                          <m:ctrlPr>
                            <a:rPr lang="en-GB" sz="1100" b="0" i="1" u="none" strike="noStrike" smtClean="0">
                              <a:effectLst/>
                              <a:latin typeface="Cambria Math" panose="02040503050406030204" pitchFamily="18" charset="0"/>
                            </a:rPr>
                          </m:ctrlPr>
                        </m:dPr>
                        <m:e>
                          <m:r>
                            <a:rPr lang="en-GB" sz="1100" b="0" i="1" u="none" strike="noStrike" smtClean="0">
                              <a:effectLst/>
                              <a:latin typeface="Cambria Math" panose="02040503050406030204" pitchFamily="18" charset="0"/>
                            </a:rPr>
                            <m:t>𝑧</m:t>
                          </m:r>
                          <m:r>
                            <a:rPr lang="en-GB" sz="1100" b="0" i="1" u="none" strike="noStrike" smtClean="0">
                              <a:effectLst/>
                              <a:latin typeface="Cambria Math" panose="02040503050406030204" pitchFamily="18" charset="0"/>
                            </a:rPr>
                            <m:t>=0 </m:t>
                          </m:r>
                        </m:e>
                      </m:d>
                      <m:r>
                        <a:rPr lang="en-GB" sz="1100" b="0" i="1" u="none" strike="noStrike" smtClean="0">
                          <a:effectLst/>
                          <a:latin typeface="Cambria Math" panose="02040503050406030204" pitchFamily="18" charset="0"/>
                        </a:rPr>
                        <m:t> </m:t>
                      </m:r>
                      <m:r>
                        <a:rPr lang="fr-FR" sz="1100" b="0" i="1" u="none" strike="noStrike" smtClean="0">
                          <a:effectLst/>
                          <a:latin typeface="Cambria Math" panose="02040503050406030204" pitchFamily="18" charset="0"/>
                        </a:rPr>
                        <m:t>𝑎𝑝𝑝𝑙𝑒</m:t>
                      </m:r>
                      <m:r>
                        <a:rPr lang="en-GB" sz="1100" b="0" i="1" u="none" strike="noStrike" smtClean="0">
                          <a:effectLst/>
                          <a:latin typeface="Cambria Math" panose="02040503050406030204" pitchFamily="18" charset="0"/>
                        </a:rPr>
                        <m:t>)</m:t>
                      </m:r>
                      <m:r>
                        <a:rPr lang="fr-FR" sz="1100" b="0" i="1" smtClean="0">
                          <a:latin typeface="Cambria Math" panose="02040503050406030204" pitchFamily="18" charset="0"/>
                        </a:rPr>
                        <m:t>=0.926</m:t>
                      </m:r>
                    </m:oMath>
                  </m:oMathPara>
                </a14:m>
                <a:endParaRPr lang="en-GB" sz="1100" b="0" i="0" u="none" strike="noStrike" dirty="0">
                  <a:effectLst/>
                  <a:latin typeface="ui-sans-serif"/>
                </a:endParaRPr>
              </a:p>
              <a:p>
                <a:endParaRPr lang="en-GB" sz="1100" dirty="0">
                  <a:latin typeface="ui-sans-serif"/>
                </a:endParaRPr>
              </a:p>
              <a:p>
                <a:endParaRPr lang="en-GB" sz="1100" dirty="0">
                  <a:latin typeface="ui-sans-serif"/>
                </a:endParaRPr>
              </a:p>
              <a:p>
                <a:pPr/>
                <a14:m>
                  <m:oMathPara xmlns:m="http://schemas.openxmlformats.org/officeDocument/2006/math">
                    <m:oMathParaPr>
                      <m:jc m:val="left"/>
                    </m:oMathParaPr>
                    <m:oMath xmlns:m="http://schemas.openxmlformats.org/officeDocument/2006/math">
                      <m:r>
                        <a:rPr lang="en-GB" sz="1100" b="0" i="1" u="none" strike="noStrike" smtClean="0">
                          <a:effectLst/>
                          <a:latin typeface="Cambria Math" panose="02040503050406030204" pitchFamily="18" charset="0"/>
                        </a:rPr>
                        <m:t>𝑃</m:t>
                      </m:r>
                      <m:d>
                        <m:dPr>
                          <m:endChr m:val="|"/>
                          <m:ctrlPr>
                            <a:rPr lang="en-GB" sz="1100" b="0" i="1" u="none" strike="noStrike" smtClean="0">
                              <a:effectLst/>
                              <a:latin typeface="Cambria Math" panose="02040503050406030204" pitchFamily="18" charset="0"/>
                            </a:rPr>
                          </m:ctrlPr>
                        </m:dPr>
                        <m:e>
                          <m:r>
                            <a:rPr lang="en-GB" sz="1100" b="0" i="1" u="none" strike="noStrike" smtClean="0">
                              <a:effectLst/>
                              <a:latin typeface="Cambria Math" panose="02040503050406030204" pitchFamily="18" charset="0"/>
                            </a:rPr>
                            <m:t>𝑧</m:t>
                          </m:r>
                          <m:r>
                            <a:rPr lang="en-GB" sz="1100" b="0" i="1" u="none" strike="noStrike" smtClean="0">
                              <a:effectLst/>
                              <a:latin typeface="Cambria Math" panose="02040503050406030204" pitchFamily="18" charset="0"/>
                            </a:rPr>
                            <m:t>=1 </m:t>
                          </m:r>
                        </m:e>
                      </m:d>
                      <m:r>
                        <a:rPr lang="en-GB" sz="1100" b="0" i="1" u="none" strike="noStrike" smtClean="0">
                          <a:effectLst/>
                          <a:latin typeface="Cambria Math" panose="02040503050406030204" pitchFamily="18" charset="0"/>
                        </a:rPr>
                        <m:t> </m:t>
                      </m:r>
                      <m:r>
                        <a:rPr lang="fr-FR" sz="1100" b="0" i="1" u="none" strike="noStrike" smtClean="0">
                          <a:effectLst/>
                          <a:latin typeface="Cambria Math" panose="02040503050406030204" pitchFamily="18" charset="0"/>
                        </a:rPr>
                        <m:t>𝑎𝑝𝑝𝑙𝑒</m:t>
                      </m:r>
                      <m:r>
                        <a:rPr lang="en-GB" sz="1100" b="0" i="1" u="none" strike="noStrike" smtClean="0">
                          <a:effectLst/>
                          <a:latin typeface="Cambria Math" panose="02040503050406030204" pitchFamily="18" charset="0"/>
                        </a:rPr>
                        <m:t>)</m:t>
                      </m:r>
                      <m:r>
                        <a:rPr lang="fr-FR" sz="1100" b="0" i="1" smtClean="0">
                          <a:latin typeface="Cambria Math" panose="02040503050406030204" pitchFamily="18" charset="0"/>
                        </a:rPr>
                        <m:t>=0.074</m:t>
                      </m:r>
                    </m:oMath>
                  </m:oMathPara>
                </a14:m>
                <a:endParaRPr lang="en-GB" sz="1100" b="0" i="0" u="none" strike="noStrike" dirty="0">
                  <a:effectLst/>
                  <a:latin typeface="ui-sans-serif"/>
                </a:endParaRPr>
              </a:p>
              <a:p>
                <a:endParaRPr lang="en-GB" sz="1100" dirty="0">
                  <a:latin typeface="ui-sans-serif"/>
                </a:endParaRPr>
              </a:p>
              <a:p>
                <a:r>
                  <a:rPr lang="en-GB" sz="1100" b="0" i="0" u="none" strike="noStrike" dirty="0">
                    <a:effectLst/>
                    <a:latin typeface="ui-sans-serif"/>
                  </a:rPr>
                  <a:t>“a</a:t>
                </a:r>
                <a:r>
                  <a:rPr lang="en-GB" sz="1100" dirty="0">
                    <a:latin typeface="ui-sans-serif"/>
                  </a:rPr>
                  <a:t>pple” is reassigned to the topic </a:t>
                </a:r>
                <a14:m>
                  <m:oMath xmlns:m="http://schemas.openxmlformats.org/officeDocument/2006/math">
                    <m:r>
                      <a:rPr lang="fr-FR" sz="1100" b="0" i="1" u="none" strike="noStrike" smtClean="0">
                        <a:effectLst/>
                        <a:latin typeface="Cambria Math" panose="02040503050406030204" pitchFamily="18" charset="0"/>
                      </a:rPr>
                      <m:t>0</m:t>
                    </m:r>
                  </m:oMath>
                </a14:m>
                <a:r>
                  <a:rPr lang="en-GB" sz="1100" b="0" i="0" u="none" strike="noStrike" dirty="0">
                    <a:effectLst/>
                    <a:latin typeface="ui-sans-serif"/>
                  </a:rPr>
                  <a:t>.</a:t>
                </a:r>
              </a:p>
              <a:p>
                <a:endParaRPr lang="en-GB" sz="1100" dirty="0">
                  <a:latin typeface="ui-sans-serif"/>
                </a:endParaRPr>
              </a:p>
              <a:p>
                <a:endParaRPr lang="en-GB" sz="1100" b="0" i="0" u="none" strike="noStrike" dirty="0">
                  <a:effectLst/>
                  <a:latin typeface="ui-sans-serif"/>
                </a:endParaRPr>
              </a:p>
              <a:p>
                <a:br>
                  <a:rPr lang="en-GB" sz="1100" dirty="0"/>
                </a:br>
                <a:endParaRPr lang="en-GB" sz="1100" i="0" u="none" strike="noStrike" dirty="0">
                  <a:effectLst/>
                  <a:latin typeface="ui-sans-serif"/>
                </a:endParaRPr>
              </a:p>
              <a:p>
                <a:pPr>
                  <a:lnSpc>
                    <a:spcPct val="150000"/>
                  </a:lnSpc>
                </a:pPr>
                <a:endParaRPr lang="en-GB" sz="1100" noProof="0" dirty="0"/>
              </a:p>
            </p:txBody>
          </p:sp>
        </mc:Choice>
        <mc:Fallback xmlns="">
          <p:sp>
            <p:nvSpPr>
              <p:cNvPr id="5" name="ZoneTexte 4">
                <a:extLst>
                  <a:ext uri="{FF2B5EF4-FFF2-40B4-BE49-F238E27FC236}">
                    <a16:creationId xmlns:a16="http://schemas.microsoft.com/office/drawing/2014/main" id="{2A75C788-9F6C-C46E-812F-011E348D6244}"/>
                  </a:ext>
                </a:extLst>
              </p:cNvPr>
              <p:cNvSpPr txBox="1">
                <a:spLocks noRot="1" noChangeAspect="1" noMove="1" noResize="1" noEditPoints="1" noAdjustHandles="1" noChangeArrowheads="1" noChangeShapeType="1" noTextEdit="1"/>
              </p:cNvSpPr>
              <p:nvPr/>
            </p:nvSpPr>
            <p:spPr>
              <a:xfrm>
                <a:off x="838198" y="1892491"/>
                <a:ext cx="11145255" cy="4600384"/>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5968214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14159</TotalTime>
  <Words>1628</Words>
  <Application>Microsoft Macintosh PowerPoint</Application>
  <PresentationFormat>Grand écran</PresentationFormat>
  <Paragraphs>209</Paragraphs>
  <Slides>11</Slides>
  <Notes>11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11</vt:i4>
      </vt:variant>
    </vt:vector>
  </HeadingPairs>
  <TitlesOfParts>
    <vt:vector size="20" baseType="lpstr">
      <vt:lpstr>Aptos</vt:lpstr>
      <vt:lpstr>Aptos Display</vt:lpstr>
      <vt:lpstr>Arial</vt:lpstr>
      <vt:lpstr>Cambria Math</vt:lpstr>
      <vt:lpstr>KaTeX_Main</vt:lpstr>
      <vt:lpstr>Menlo</vt:lpstr>
      <vt:lpstr>ui-sans-serif</vt:lpstr>
      <vt:lpstr>Wingdings</vt:lpstr>
      <vt:lpstr>Thème Office</vt:lpstr>
      <vt:lpstr>Latent Dirichlet Allocation</vt:lpstr>
      <vt:lpstr>Latent Dirichlet Allocation</vt:lpstr>
      <vt:lpstr>Latent Dirichlet Allocation</vt:lpstr>
      <vt:lpstr>Latent Dirichlet Allocation</vt:lpstr>
      <vt:lpstr>Latent Dirichlet Allocation</vt:lpstr>
      <vt:lpstr>Latent Dirichlet Allocation</vt:lpstr>
      <vt:lpstr>Latent Dirichlet Allocation</vt:lpstr>
      <vt:lpstr>Latent Dirichlet Allocation</vt:lpstr>
      <vt:lpstr>Latent Dirichlet Allocation</vt:lpstr>
      <vt:lpstr>Latent Dirichlet Allocation</vt:lpstr>
      <vt:lpstr>Latent Dirichlet Allocation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113</cp:revision>
  <dcterms:created xsi:type="dcterms:W3CDTF">2025-01-02T20:19:00Z</dcterms:created>
  <dcterms:modified xsi:type="dcterms:W3CDTF">2025-01-15T21:47:27Z</dcterms:modified>
</cp:coreProperties>
</file>