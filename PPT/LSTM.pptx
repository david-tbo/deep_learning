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310" r:id="rId4"/>
    <p:sldId id="301" r:id="rId5"/>
    <p:sldId id="302" r:id="rId6"/>
    <p:sldId id="303" r:id="rId7"/>
    <p:sldId id="304" r:id="rId8"/>
    <p:sldId id="305" r:id="rId9"/>
    <p:sldId id="306" r:id="rId10"/>
    <p:sldId id="308" r:id="rId11"/>
    <p:sldId id="307" r:id="rId12"/>
    <p:sldId id="309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/>
    <p:restoredTop sz="95068"/>
  </p:normalViewPr>
  <p:slideViewPr>
    <p:cSldViewPr snapToGrid="0">
      <p:cViewPr varScale="1">
        <p:scale>
          <a:sx n="121" d="100"/>
          <a:sy n="121" d="100"/>
        </p:scale>
        <p:origin x="576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AA1ACA-B3B5-2C4B-9EDA-C0BA6CE5D44C}" type="datetimeFigureOut">
              <a:rPr lang="en-GB" smtClean="0"/>
              <a:t>24/02/2025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F5B79-958C-7D41-A64D-F75AF375924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42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Traitement automatique du </a:t>
            </a:r>
            <a:r>
              <a:rPr lang="fr-FR" noProof="0" dirty="0" err="1"/>
              <a:t>language</a:t>
            </a:r>
            <a:r>
              <a:rPr lang="fr-FR" noProof="0" dirty="0"/>
              <a:t> naturel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F5B79-958C-7D41-A64D-F75AF375924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86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174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9E7E9-EC46-BD2A-5818-8ECB23B8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877B21F-5EED-A314-B830-16213908E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68834E4-9512-085C-8420-ABC68C18F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0A6414-37D2-92B5-93C1-B6B6637F4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456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CE1A8-80F1-D689-CCDE-03AC8E23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E0C9F8-2849-D8A6-E0F5-254A60AD1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94ACA1E-5EF6-369F-ED76-DB08A8EE2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8F54AE-3C46-A705-53CC-DCE86DFCF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2308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6DDF-EA8E-CA06-C710-9539F262D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EC1CAB-87AD-019E-EAC4-A33E25E90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23A3924-C939-897B-A225-1EEB469D4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069159-DA4C-6BB1-82BE-402257170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8073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38F18-CEAE-CD12-9699-2919F5305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0D76D4-5AEB-8360-9FA6-E1EB85EE4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7FBD3A8-9C21-2BB6-00B5-CA37CF153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B7C539-FBF9-91E9-B287-7AF16DC63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3435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A3C60-A45B-98DA-8BA7-02B8D4BB9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188D9DD-E123-3E7D-04BD-490CFC7F9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4F1414-3DC0-9AF0-899A-DAD4CC95F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8A4F22-3732-93F6-FA0F-6D425481D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805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928D7-24DA-27BC-3E5C-AE6AB8019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29336DC-8734-4125-E190-F326CF45C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EC8CAF5-195C-7C01-47E4-947A271D7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9661AF-AE3A-313D-BCBB-57723BA39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191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7D1C8-BE73-E04D-8B2B-15259AA5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A48F11C-5F88-7DCE-B344-03B26FA36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008AABB-1861-BB1A-CBF1-D9C208299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3D0098-368A-8AC9-F447-0440AFF53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476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24F54-5FA1-D764-CA0F-76FEE44F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1A66074-12C2-47D6-85CA-F253FD33C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36575D6-AEC0-C95D-84ED-8F34F526D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295D26-2DB5-9316-FAA6-4BAAAC17B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504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7FE4E-8F79-AC83-D10A-FC1923CC7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368BBF1-64DC-B8AF-B56B-3D5208ABC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DD5372-82F8-A6BF-47D4-5D0406694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6D3E75-1A6B-E8B4-9393-FBFA50E88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678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1156-FAAF-B2DD-0E27-73601739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6EC03C-A3E0-D48E-9CC0-8490AA13E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8B5BCFC-8B33-B111-24EF-E778CEBCD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1EB24A-31A0-B068-5ECC-48B128BAE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129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638AB-AB44-4F44-785B-96931090D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5BB094-185D-6C1F-E8E2-02C460A2E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48E908-3F7D-BE66-1BAF-48AFA60E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B0C8F-8E33-7D4B-9DCF-7846A2EEA7BC}" type="datetime1">
              <a:rPr lang="fr-FR" smtClean="0"/>
              <a:t>24/02/2025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DB4057-F791-D7BB-5389-3187C8C9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0D4BA-190C-14AF-E6BC-1AB74F44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86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0FE821-2576-9651-58EC-D62A8C7C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75DD06-FC64-CFC1-0A6C-ADC010106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37CA26-36E2-1A7A-72F3-37DF3F80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5EB9-46A4-524F-A835-D669998F01A6}" type="datetime1">
              <a:rPr lang="fr-FR" smtClean="0"/>
              <a:t>24/02/2025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D1542E-D2D1-BB47-00D6-D9B1EF66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2E8FE9-F73F-DD65-CDEE-D88E626E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8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BC490C-7B6A-CD7C-DA28-04CBFF38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0ED621-B471-72E9-02E2-0D472DEA4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A63065-521A-5DBC-71F4-DCF6E9D3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56E9-F474-FE40-9628-98DEF26086B4}" type="datetime1">
              <a:rPr lang="fr-FR" smtClean="0"/>
              <a:t>24/02/2025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BED33D-F900-95F1-B4D5-F8803096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D1837B-5DBE-E8E0-5F94-CA65E491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73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0EB0C-2D6C-A35D-3E38-8EF35B11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9E5493-B0AB-CE62-736C-951FD00FD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308763-2A51-56FC-5374-D7A15ECCA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AFD73C-7D06-D51F-510A-3529CF77D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A66BB-E4F9-CD47-978F-A29BA084C690}" type="datetime1">
              <a:rPr lang="fr-FR" smtClean="0"/>
              <a:t>24/02/2025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CBF3C5-04D3-9218-12FE-9DE02DDC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4728E8-0E1D-7809-2E4D-ADCF6F1FF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1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54130B-9370-7883-0717-1BD68A38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848E4E-97DD-6C44-9961-5F656105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EF8ED9-7E68-987E-4801-4FCC154EA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E617C08-B632-10ED-F514-3542580AE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C8005FD-BB5C-7715-9BBB-4652B44B7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748F56-F980-5498-B88A-57DB85FF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135E-FA81-C949-BF84-217CF1FED30B}" type="datetime1">
              <a:rPr lang="fr-FR" smtClean="0"/>
              <a:t>24/02/2025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4B50B6-47B3-6075-4EC2-36F65EA1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5A3815-5467-2E89-3A5F-0BA78FAB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9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DB8EC-5949-E9DB-81BD-1745DCE7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07A441-A698-1837-AC62-4D179787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417FA-B0AE-A046-961D-49ACF96A1E38}" type="datetime1">
              <a:rPr lang="fr-FR" smtClean="0"/>
              <a:t>24/02/2025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C7AD70-E50C-75FF-4C19-8242D663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A152C5-28E3-1071-CEF8-84E90084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62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017A14-40F9-6437-5261-222B51BEB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70DE-B107-C14C-8AC4-727633FCA810}" type="datetime1">
              <a:rPr lang="fr-FR" smtClean="0"/>
              <a:t>24/02/2025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AAAE1D-5F91-D7B8-0C07-F57F37D2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7FDAD7-2841-DE0C-052B-36858072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55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7B945-B2F7-153C-3391-88D7C31A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1A287C-1AD2-E80E-E53C-28DCFA7D6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B51E35-4073-D78F-44C5-C2143EB0D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7E06BC-CF7C-52F4-A947-C96A2BDBF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9A73-56E1-0847-98C6-1343EC2D8C39}" type="datetime1">
              <a:rPr lang="fr-FR" smtClean="0"/>
              <a:t>24/02/2025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7F41F4-A70C-6EAD-4A46-A5C287EC6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76A87E-FA41-78D4-EC00-5D899843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85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D0BC82-6D03-592A-0C8A-8804C8AD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859FD4-01A7-D155-B541-03EAFB59A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FF0AA2-CEED-722D-EC4B-68D1642CF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7F03BE-E420-E221-39C5-0519A77F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3398-1D35-6544-A2CC-10E1CFDB53BA}" type="datetime1">
              <a:rPr lang="fr-FR" smtClean="0"/>
              <a:t>24/02/2025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752CD-3356-E07D-5257-BE3F6539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514820-E6C4-F3D4-EE8D-70ABD3B1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61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47F897-700C-3101-5C3C-72A9FF91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882897-D3D4-C2D1-D319-9B718B030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AF124C-E111-5CC6-61AA-889BF1A47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B707-1D71-774A-9821-01A895ED4CA0}" type="datetime1">
              <a:rPr lang="fr-FR" smtClean="0"/>
              <a:t>24/02/2025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D92984-1579-FADD-F22D-588D62EB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3F842A-D66B-0FA6-5EE0-CE72083F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43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283032-C078-B82A-8633-A57C5B4CA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5D9928-6925-D028-A1F6-4349D4D4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6365FF-1093-5263-CEC4-A966C0CA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A1DB-9F39-7549-A1CF-7DB3AA086340}" type="datetime1">
              <a:rPr lang="fr-FR" smtClean="0"/>
              <a:t>24/02/2025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69AAC2-C2B1-D84B-3DA1-7D3688A7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91DF25-B577-4592-5552-5C6F2E8F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07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E99DA2-E800-51D7-232D-195A1643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CD912A-3146-AFCE-A9CC-E173D878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4607F7-0DF0-ADD6-CDE4-5E5480058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F0546-0615-3E45-8C8A-078A7AEBEBD8}" type="datetime1">
              <a:rPr lang="fr-FR" smtClean="0"/>
              <a:t>24/02/2025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06EDC5-D7F4-E73D-0D3C-F995AEDFF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18EB3C-E203-29A4-64EE-1B7292D3A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28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34" Type="http://schemas.openxmlformats.org/officeDocument/2006/relationships/image" Target="../media/image4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8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0.png"/><Relationship Id="rId18" Type="http://schemas.openxmlformats.org/officeDocument/2006/relationships/image" Target="../media/image170.png"/><Relationship Id="rId26" Type="http://schemas.openxmlformats.org/officeDocument/2006/relationships/image" Target="../media/image250.png"/><Relationship Id="rId3" Type="http://schemas.openxmlformats.org/officeDocument/2006/relationships/image" Target="../media/image210.png"/><Relationship Id="rId21" Type="http://schemas.openxmlformats.org/officeDocument/2006/relationships/image" Target="../media/image200.png"/><Relationship Id="rId7" Type="http://schemas.openxmlformats.org/officeDocument/2006/relationships/image" Target="../media/image60.png"/><Relationship Id="rId12" Type="http://schemas.openxmlformats.org/officeDocument/2006/relationships/image" Target="../media/image111.png"/><Relationship Id="rId17" Type="http://schemas.openxmlformats.org/officeDocument/2006/relationships/image" Target="../media/image160.png"/><Relationship Id="rId25" Type="http://schemas.openxmlformats.org/officeDocument/2006/relationships/image" Target="../media/image24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0.png"/><Relationship Id="rId20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24" Type="http://schemas.openxmlformats.org/officeDocument/2006/relationships/image" Target="../media/image230.png"/><Relationship Id="rId5" Type="http://schemas.openxmlformats.org/officeDocument/2006/relationships/image" Target="../media/image46.png"/><Relationship Id="rId15" Type="http://schemas.openxmlformats.org/officeDocument/2006/relationships/image" Target="../media/image140.png"/><Relationship Id="rId23" Type="http://schemas.openxmlformats.org/officeDocument/2006/relationships/image" Target="../media/image220.png"/><Relationship Id="rId10" Type="http://schemas.openxmlformats.org/officeDocument/2006/relationships/image" Target="../media/image90.png"/><Relationship Id="rId19" Type="http://schemas.openxmlformats.org/officeDocument/2006/relationships/image" Target="../media/image180.png"/><Relationship Id="rId4" Type="http://schemas.openxmlformats.org/officeDocument/2006/relationships/image" Target="../media/image310.png"/><Relationship Id="rId9" Type="http://schemas.openxmlformats.org/officeDocument/2006/relationships/image" Target="../media/image80.png"/><Relationship Id="rId14" Type="http://schemas.openxmlformats.org/officeDocument/2006/relationships/image" Target="../media/image130.png"/><Relationship Id="rId22" Type="http://schemas.openxmlformats.org/officeDocument/2006/relationships/image" Target="../media/image211.png"/><Relationship Id="rId27" Type="http://schemas.openxmlformats.org/officeDocument/2006/relationships/image" Target="../media/image2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0.png"/><Relationship Id="rId18" Type="http://schemas.openxmlformats.org/officeDocument/2006/relationships/image" Target="../media/image170.png"/><Relationship Id="rId26" Type="http://schemas.openxmlformats.org/officeDocument/2006/relationships/image" Target="../media/image300.png"/><Relationship Id="rId3" Type="http://schemas.openxmlformats.org/officeDocument/2006/relationships/image" Target="../media/image210.png"/><Relationship Id="rId21" Type="http://schemas.openxmlformats.org/officeDocument/2006/relationships/image" Target="../media/image200.png"/><Relationship Id="rId7" Type="http://schemas.openxmlformats.org/officeDocument/2006/relationships/image" Target="../media/image60.png"/><Relationship Id="rId12" Type="http://schemas.openxmlformats.org/officeDocument/2006/relationships/image" Target="../media/image111.png"/><Relationship Id="rId17" Type="http://schemas.openxmlformats.org/officeDocument/2006/relationships/image" Target="../media/image160.png"/><Relationship Id="rId25" Type="http://schemas.openxmlformats.org/officeDocument/2006/relationships/image" Target="../media/image29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0.png"/><Relationship Id="rId20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24" Type="http://schemas.openxmlformats.org/officeDocument/2006/relationships/image" Target="../media/image280.png"/><Relationship Id="rId5" Type="http://schemas.openxmlformats.org/officeDocument/2006/relationships/image" Target="../media/image46.png"/><Relationship Id="rId15" Type="http://schemas.openxmlformats.org/officeDocument/2006/relationships/image" Target="../media/image140.png"/><Relationship Id="rId23" Type="http://schemas.openxmlformats.org/officeDocument/2006/relationships/image" Target="../media/image220.png"/><Relationship Id="rId10" Type="http://schemas.openxmlformats.org/officeDocument/2006/relationships/image" Target="../media/image90.png"/><Relationship Id="rId19" Type="http://schemas.openxmlformats.org/officeDocument/2006/relationships/image" Target="../media/image180.png"/><Relationship Id="rId4" Type="http://schemas.openxmlformats.org/officeDocument/2006/relationships/image" Target="../media/image270.png"/><Relationship Id="rId9" Type="http://schemas.openxmlformats.org/officeDocument/2006/relationships/image" Target="../media/image80.png"/><Relationship Id="rId14" Type="http://schemas.openxmlformats.org/officeDocument/2006/relationships/image" Target="../media/image130.png"/><Relationship Id="rId22" Type="http://schemas.openxmlformats.org/officeDocument/2006/relationships/image" Target="../media/image211.png"/><Relationship Id="rId27" Type="http://schemas.openxmlformats.org/officeDocument/2006/relationships/image" Target="../media/image3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20.png"/><Relationship Id="rId5" Type="http://schemas.openxmlformats.org/officeDocument/2006/relationships/image" Target="../media/image360.png"/><Relationship Id="rId10" Type="http://schemas.openxmlformats.org/officeDocument/2006/relationships/image" Target="../media/image410.png"/><Relationship Id="rId4" Type="http://schemas.openxmlformats.org/officeDocument/2006/relationships/image" Target="../media/image350.png"/><Relationship Id="rId9" Type="http://schemas.openxmlformats.org/officeDocument/2006/relationships/image" Target="../media/image40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56B84-BFA1-BA9A-1552-59B724FBA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Long Short-Term Memory</a:t>
            </a:r>
            <a:br>
              <a:rPr lang="en-GB" noProof="0" dirty="0"/>
            </a:br>
            <a:r>
              <a:rPr lang="en-GB" noProof="0" dirty="0"/>
              <a:t>(LSTM)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0571C27-E009-ADD7-40B4-859AAF7C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RNN. Author: David Thébault – Based on NLPDemystified.org</a:t>
            </a:r>
          </a:p>
        </p:txBody>
      </p:sp>
    </p:spTree>
    <p:extLst>
      <p:ext uri="{BB962C8B-B14F-4D97-AF65-F5344CB8AC3E}">
        <p14:creationId xmlns:p14="http://schemas.microsoft.com/office/powerpoint/2010/main" val="129966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A8439-9850-DBFA-890A-1A6B7ED1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Long Short-Term Memory</a:t>
            </a: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280C3AF8-C45E-CEB2-2A8A-048DF2E7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0EEE98A-A574-BD13-7D41-FA325938BB7B}"/>
                  </a:ext>
                </a:extLst>
              </p:cNvPr>
              <p:cNvSpPr txBox="1"/>
              <p:nvPr/>
            </p:nvSpPr>
            <p:spPr>
              <a:xfrm>
                <a:off x="3698689" y="4810656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0EEE98A-A574-BD13-7D41-FA325938B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689" y="4810656"/>
                <a:ext cx="424732" cy="246221"/>
              </a:xfrm>
              <a:prstGeom prst="rect">
                <a:avLst/>
              </a:prstGeom>
              <a:blipFill>
                <a:blip r:embed="rId3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93188A0-CA9E-E275-A1C4-686A60B8763A}"/>
                  </a:ext>
                </a:extLst>
              </p:cNvPr>
              <p:cNvSpPr txBox="1"/>
              <p:nvPr/>
            </p:nvSpPr>
            <p:spPr>
              <a:xfrm>
                <a:off x="3698689" y="2678419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93188A0-CA9E-E275-A1C4-686A60B87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689" y="2678419"/>
                <a:ext cx="424732" cy="246221"/>
              </a:xfrm>
              <a:prstGeom prst="rect">
                <a:avLst/>
              </a:prstGeom>
              <a:blipFill>
                <a:blip r:embed="rId4"/>
                <a:stretch>
                  <a:fillRect l="-11765" t="-14286" r="-5882" b="-19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9E9D980-E5C8-4034-9348-8B1B18570CB8}"/>
              </a:ext>
            </a:extLst>
          </p:cNvPr>
          <p:cNvSpPr/>
          <p:nvPr/>
        </p:nvSpPr>
        <p:spPr>
          <a:xfrm>
            <a:off x="3627693" y="3527113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23973450-642E-496D-E8FF-184E28241DDE}"/>
              </a:ext>
            </a:extLst>
          </p:cNvPr>
          <p:cNvCxnSpPr>
            <a:stCxn id="7" idx="0"/>
            <a:endCxn id="6" idx="2"/>
          </p:cNvCxnSpPr>
          <p:nvPr/>
        </p:nvCxnSpPr>
        <p:spPr>
          <a:xfrm flipV="1">
            <a:off x="3907093" y="2924640"/>
            <a:ext cx="3962" cy="60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E3A621C0-C191-94D2-4C56-C5DCB144E18E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flipH="1" flipV="1">
            <a:off x="3907093" y="4289113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3451331-1E5C-CF60-FE6E-B4F9DBE77F74}"/>
                  </a:ext>
                </a:extLst>
              </p:cNvPr>
              <p:cNvSpPr txBox="1"/>
              <p:nvPr/>
            </p:nvSpPr>
            <p:spPr>
              <a:xfrm>
                <a:off x="4333937" y="3527113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3451331-1E5C-CF60-FE6E-B4F9DBE77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937" y="3527113"/>
                <a:ext cx="429348" cy="246221"/>
              </a:xfrm>
              <a:prstGeom prst="rect">
                <a:avLst/>
              </a:prstGeom>
              <a:blipFill>
                <a:blip r:embed="rId5"/>
                <a:stretch>
                  <a:fillRect l="-11765" r="-5882" b="-9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E0E2EAA0-F98C-0D5E-1AD7-CE74B96E8805}"/>
                  </a:ext>
                </a:extLst>
              </p:cNvPr>
              <p:cNvSpPr txBox="1"/>
              <p:nvPr/>
            </p:nvSpPr>
            <p:spPr>
              <a:xfrm>
                <a:off x="4972753" y="4816752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E0E2EAA0-F98C-0D5E-1AD7-CE74B96E8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753" y="4816752"/>
                <a:ext cx="424732" cy="246221"/>
              </a:xfrm>
              <a:prstGeom prst="rect">
                <a:avLst/>
              </a:prstGeom>
              <a:blipFill>
                <a:blip r:embed="rId6"/>
                <a:stretch>
                  <a:fillRect l="-14706" r="-8824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6CF3B5E5-3275-B35C-8102-2C2089B5F4DB}"/>
                  </a:ext>
                </a:extLst>
              </p:cNvPr>
              <p:cNvSpPr txBox="1"/>
              <p:nvPr/>
            </p:nvSpPr>
            <p:spPr>
              <a:xfrm>
                <a:off x="4972753" y="2684515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6CF3B5E5-3275-B35C-8102-2C2089B5F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753" y="2684515"/>
                <a:ext cx="424732" cy="246221"/>
              </a:xfrm>
              <a:prstGeom prst="rect">
                <a:avLst/>
              </a:prstGeom>
              <a:blipFill>
                <a:blip r:embed="rId7"/>
                <a:stretch>
                  <a:fillRect l="-11765" t="-15000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0348EB7-A952-2453-1E6E-0E502A131F0B}"/>
              </a:ext>
            </a:extLst>
          </p:cNvPr>
          <p:cNvSpPr/>
          <p:nvPr/>
        </p:nvSpPr>
        <p:spPr>
          <a:xfrm>
            <a:off x="4901757" y="3533209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A5C520C8-FA54-BA15-652B-68980F2D7A79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flipV="1">
            <a:off x="5181157" y="2930736"/>
            <a:ext cx="3962" cy="60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0BDB0FD-AE52-5CFD-FA9E-CD8485F5844F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flipH="1" flipV="1">
            <a:off x="5181157" y="4295209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38A95268-FBE9-6AE6-7ECC-2D4F6B337E5B}"/>
                  </a:ext>
                </a:extLst>
              </p:cNvPr>
              <p:cNvSpPr txBox="1"/>
              <p:nvPr/>
            </p:nvSpPr>
            <p:spPr>
              <a:xfrm>
                <a:off x="6246817" y="4822848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38A95268-FBE9-6AE6-7ECC-2D4F6B337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817" y="4822848"/>
                <a:ext cx="424732" cy="246221"/>
              </a:xfrm>
              <a:prstGeom prst="rect">
                <a:avLst/>
              </a:prstGeom>
              <a:blipFill>
                <a:blip r:embed="rId8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BEB2803-70B7-8C1D-4253-C3AC81209B58}"/>
                  </a:ext>
                </a:extLst>
              </p:cNvPr>
              <p:cNvSpPr txBox="1"/>
              <p:nvPr/>
            </p:nvSpPr>
            <p:spPr>
              <a:xfrm>
                <a:off x="6246817" y="2690611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BEB2803-70B7-8C1D-4253-C3AC81209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817" y="2690611"/>
                <a:ext cx="424732" cy="246221"/>
              </a:xfrm>
              <a:prstGeom prst="rect">
                <a:avLst/>
              </a:prstGeom>
              <a:blipFill>
                <a:blip r:embed="rId9"/>
                <a:stretch>
                  <a:fillRect l="-14706" t="-14286" r="-5882" b="-19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E66C574-56D9-1DA3-8C3D-EE7DFD4A3D98}"/>
              </a:ext>
            </a:extLst>
          </p:cNvPr>
          <p:cNvSpPr/>
          <p:nvPr/>
        </p:nvSpPr>
        <p:spPr>
          <a:xfrm>
            <a:off x="6175821" y="3539305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05F8104D-E108-5C16-A04A-99DBA3CD35DE}"/>
              </a:ext>
            </a:extLst>
          </p:cNvPr>
          <p:cNvCxnSpPr>
            <a:stCxn id="18" idx="0"/>
            <a:endCxn id="17" idx="2"/>
          </p:cNvCxnSpPr>
          <p:nvPr/>
        </p:nvCxnSpPr>
        <p:spPr>
          <a:xfrm flipV="1">
            <a:off x="6455221" y="2936832"/>
            <a:ext cx="3962" cy="60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331925C3-76E5-9FF6-D213-C49765679442}"/>
              </a:ext>
            </a:extLst>
          </p:cNvPr>
          <p:cNvCxnSpPr>
            <a:cxnSpLocks/>
            <a:stCxn id="16" idx="0"/>
            <a:endCxn id="18" idx="2"/>
          </p:cNvCxnSpPr>
          <p:nvPr/>
        </p:nvCxnSpPr>
        <p:spPr>
          <a:xfrm flipH="1" flipV="1">
            <a:off x="6455221" y="4301305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B98791C3-0A6C-B253-0FA3-02D578BC6D88}"/>
                  </a:ext>
                </a:extLst>
              </p:cNvPr>
              <p:cNvSpPr txBox="1"/>
              <p:nvPr/>
            </p:nvSpPr>
            <p:spPr>
              <a:xfrm>
                <a:off x="7508689" y="4828944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B98791C3-0A6C-B253-0FA3-02D578BC6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689" y="4828944"/>
                <a:ext cx="424732" cy="246221"/>
              </a:xfrm>
              <a:prstGeom prst="rect">
                <a:avLst/>
              </a:prstGeom>
              <a:blipFill>
                <a:blip r:embed="rId10"/>
                <a:stretch>
                  <a:fillRect l="-14706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674E2545-71E1-39C5-3B94-A4F48DC4F35D}"/>
                  </a:ext>
                </a:extLst>
              </p:cNvPr>
              <p:cNvSpPr txBox="1"/>
              <p:nvPr/>
            </p:nvSpPr>
            <p:spPr>
              <a:xfrm>
                <a:off x="7508689" y="2696707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674E2545-71E1-39C5-3B94-A4F48DC4F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689" y="2696707"/>
                <a:ext cx="424732" cy="246221"/>
              </a:xfrm>
              <a:prstGeom prst="rect">
                <a:avLst/>
              </a:prstGeom>
              <a:blipFill>
                <a:blip r:embed="rId11"/>
                <a:stretch>
                  <a:fillRect l="-11765" t="-15000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83E07F82-FC9E-A5F9-9E24-8577730FAF59}"/>
              </a:ext>
            </a:extLst>
          </p:cNvPr>
          <p:cNvSpPr/>
          <p:nvPr/>
        </p:nvSpPr>
        <p:spPr>
          <a:xfrm>
            <a:off x="7437693" y="3545401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91775DC-776D-42CD-B9C5-4D1F066827FD}"/>
              </a:ext>
            </a:extLst>
          </p:cNvPr>
          <p:cNvCxnSpPr>
            <a:stCxn id="23" idx="0"/>
            <a:endCxn id="22" idx="2"/>
          </p:cNvCxnSpPr>
          <p:nvPr/>
        </p:nvCxnSpPr>
        <p:spPr>
          <a:xfrm flipV="1">
            <a:off x="7717093" y="2942928"/>
            <a:ext cx="3962" cy="60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AE7A33C8-9B94-8732-9532-D2262924B238}"/>
              </a:ext>
            </a:extLst>
          </p:cNvPr>
          <p:cNvCxnSpPr>
            <a:cxnSpLocks/>
            <a:stCxn id="21" idx="0"/>
            <a:endCxn id="23" idx="2"/>
          </p:cNvCxnSpPr>
          <p:nvPr/>
        </p:nvCxnSpPr>
        <p:spPr>
          <a:xfrm flipH="1" flipV="1">
            <a:off x="7717093" y="4307401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4AAEEE89-3AC0-07D7-2F0D-41ED74BD556B}"/>
                  </a:ext>
                </a:extLst>
              </p:cNvPr>
              <p:cNvSpPr txBox="1"/>
              <p:nvPr/>
            </p:nvSpPr>
            <p:spPr>
              <a:xfrm>
                <a:off x="5582773" y="3527113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4AAEEE89-3AC0-07D7-2F0D-41ED74BD5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773" y="3527113"/>
                <a:ext cx="429348" cy="246221"/>
              </a:xfrm>
              <a:prstGeom prst="rect">
                <a:avLst/>
              </a:prstGeom>
              <a:blipFill>
                <a:blip r:embed="rId12"/>
                <a:stretch>
                  <a:fillRect l="-11429" r="-5714" b="-9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885B40AA-AB7E-A66F-A6C6-4261DA3C5C7F}"/>
                  </a:ext>
                </a:extLst>
              </p:cNvPr>
              <p:cNvSpPr txBox="1"/>
              <p:nvPr/>
            </p:nvSpPr>
            <p:spPr>
              <a:xfrm>
                <a:off x="6898321" y="3534902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885B40AA-AB7E-A66F-A6C6-4261DA3C5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321" y="3534902"/>
                <a:ext cx="429348" cy="246221"/>
              </a:xfrm>
              <a:prstGeom prst="rect">
                <a:avLst/>
              </a:prstGeom>
              <a:blipFill>
                <a:blip r:embed="rId13"/>
                <a:stretch>
                  <a:fillRect l="-11765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3DE6DBC1-A2D1-9008-1609-C5025BB6FC12}"/>
              </a:ext>
            </a:extLst>
          </p:cNvPr>
          <p:cNvCxnSpPr>
            <a:cxnSpLocks/>
          </p:cNvCxnSpPr>
          <p:nvPr/>
        </p:nvCxnSpPr>
        <p:spPr>
          <a:xfrm>
            <a:off x="4186493" y="3908113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9B6EB1B-5F8B-39EF-3DB5-61532BD19DBF}"/>
              </a:ext>
            </a:extLst>
          </p:cNvPr>
          <p:cNvCxnSpPr/>
          <p:nvPr/>
        </p:nvCxnSpPr>
        <p:spPr>
          <a:xfrm>
            <a:off x="5460557" y="3926401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784FD98F-AFEF-9D95-437C-68B5B7A58AC0}"/>
              </a:ext>
            </a:extLst>
          </p:cNvPr>
          <p:cNvCxnSpPr/>
          <p:nvPr/>
        </p:nvCxnSpPr>
        <p:spPr>
          <a:xfrm>
            <a:off x="6731153" y="3926401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8B98F40D-705F-C7AC-5CA4-9CF0BC8F093A}"/>
              </a:ext>
            </a:extLst>
          </p:cNvPr>
          <p:cNvSpPr txBox="1"/>
          <p:nvPr/>
        </p:nvSpPr>
        <p:spPr>
          <a:xfrm>
            <a:off x="3620705" y="5132144"/>
            <a:ext cx="142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“The”</a:t>
            </a:r>
          </a:p>
          <a:p>
            <a:r>
              <a:rPr lang="en-GB" sz="1000" dirty="0"/>
              <a:t>[0.00154, 0.58..]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8C28460-1C09-85AB-3482-C310D9D45F13}"/>
              </a:ext>
            </a:extLst>
          </p:cNvPr>
          <p:cNvSpPr txBox="1"/>
          <p:nvPr/>
        </p:nvSpPr>
        <p:spPr>
          <a:xfrm>
            <a:off x="4776049" y="5154730"/>
            <a:ext cx="1093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“dog”</a:t>
            </a:r>
          </a:p>
          <a:p>
            <a:r>
              <a:rPr lang="en-GB" sz="1000" dirty="0"/>
              <a:t>[0.0445, 0.078..]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52EBE967-321D-079F-93C6-32013DF1928E}"/>
              </a:ext>
            </a:extLst>
          </p:cNvPr>
          <p:cNvSpPr txBox="1"/>
          <p:nvPr/>
        </p:nvSpPr>
        <p:spPr>
          <a:xfrm>
            <a:off x="6122249" y="5154730"/>
            <a:ext cx="1093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“looked”</a:t>
            </a:r>
          </a:p>
          <a:p>
            <a:r>
              <a:rPr lang="en-GB" sz="1000" dirty="0"/>
              <a:t>[0.0021, 0.008..]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7E603DE-4E98-8316-C04F-26DF7A0FCF14}"/>
              </a:ext>
            </a:extLst>
          </p:cNvPr>
          <p:cNvSpPr txBox="1"/>
          <p:nvPr/>
        </p:nvSpPr>
        <p:spPr>
          <a:xfrm>
            <a:off x="7437693" y="5154730"/>
            <a:ext cx="1093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“guilty”</a:t>
            </a:r>
          </a:p>
          <a:p>
            <a:r>
              <a:rPr lang="en-GB" sz="1000" dirty="0"/>
              <a:t>[0.1821, 0.082..]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4C02048-C10D-80C4-E84F-85C98F46C7F4}"/>
              </a:ext>
            </a:extLst>
          </p:cNvPr>
          <p:cNvSpPr txBox="1"/>
          <p:nvPr/>
        </p:nvSpPr>
        <p:spPr>
          <a:xfrm>
            <a:off x="717255" y="3552009"/>
            <a:ext cx="21122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Each cell contains gates (NN layers) controlling information flow.</a:t>
            </a:r>
          </a:p>
        </p:txBody>
      </p:sp>
    </p:spTree>
    <p:extLst>
      <p:ext uri="{BB962C8B-B14F-4D97-AF65-F5344CB8AC3E}">
        <p14:creationId xmlns:p14="http://schemas.microsoft.com/office/powerpoint/2010/main" val="357513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7DAC-9559-EB8B-4449-DBB9DF6C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F669F4-A241-4E42-7BC0-CEFBF174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LSTM Cell</a:t>
            </a: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281D1460-4429-51BE-E9A3-2842603C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9033A12B-14FD-85D9-164F-C3E0E93FDA2E}"/>
                  </a:ext>
                </a:extLst>
              </p:cNvPr>
              <p:cNvSpPr txBox="1"/>
              <p:nvPr/>
            </p:nvSpPr>
            <p:spPr>
              <a:xfrm>
                <a:off x="2740793" y="2489337"/>
                <a:ext cx="482763" cy="4121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9033A12B-14FD-85D9-164F-C3E0E93FD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793" y="2489337"/>
                <a:ext cx="482763" cy="412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ZoneTexte 35">
            <a:extLst>
              <a:ext uri="{FF2B5EF4-FFF2-40B4-BE49-F238E27FC236}">
                <a16:creationId xmlns:a16="http://schemas.microsoft.com/office/drawing/2014/main" id="{5386FD34-4509-0346-607C-AE92E900D801}"/>
              </a:ext>
            </a:extLst>
          </p:cNvPr>
          <p:cNvSpPr txBox="1"/>
          <p:nvPr/>
        </p:nvSpPr>
        <p:spPr>
          <a:xfrm>
            <a:off x="369526" y="365125"/>
            <a:ext cx="21122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Each cell contains gates (NN layers) controlling information flow.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B688EFD0-6755-A938-7E53-DA6D23BE9255}"/>
              </a:ext>
            </a:extLst>
          </p:cNvPr>
          <p:cNvSpPr/>
          <p:nvPr/>
        </p:nvSpPr>
        <p:spPr>
          <a:xfrm>
            <a:off x="3607951" y="2178066"/>
            <a:ext cx="5843256" cy="3229805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D2AE7D3F-BF14-772D-5B85-4DEB6399A165}"/>
                  </a:ext>
                </a:extLst>
              </p:cNvPr>
              <p:cNvSpPr txBox="1"/>
              <p:nvPr/>
            </p:nvSpPr>
            <p:spPr>
              <a:xfrm>
                <a:off x="2780774" y="4995747"/>
                <a:ext cx="482763" cy="4121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D2AE7D3F-BF14-772D-5B85-4DEB6399A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774" y="4995747"/>
                <a:ext cx="482763" cy="4121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DDB228DE-CD3F-1FE5-5BD1-94891D6DF623}"/>
                  </a:ext>
                </a:extLst>
              </p:cNvPr>
              <p:cNvSpPr txBox="1"/>
              <p:nvPr/>
            </p:nvSpPr>
            <p:spPr>
              <a:xfrm>
                <a:off x="2776139" y="4410516"/>
                <a:ext cx="482763" cy="4121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DDB228DE-CD3F-1FE5-5BD1-94891D6DF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139" y="4410516"/>
                <a:ext cx="482763" cy="412124"/>
              </a:xfrm>
              <a:prstGeom prst="rect">
                <a:avLst/>
              </a:prstGeom>
              <a:blipFill>
                <a:blip r:embed="rId5"/>
                <a:stretch>
                  <a:fillRect l="-5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ZoneTexte 40">
            <a:extLst>
              <a:ext uri="{FF2B5EF4-FFF2-40B4-BE49-F238E27FC236}">
                <a16:creationId xmlns:a16="http://schemas.microsoft.com/office/drawing/2014/main" id="{7B499A8F-487B-30DC-DC09-72E414567011}"/>
              </a:ext>
            </a:extLst>
          </p:cNvPr>
          <p:cNvSpPr txBox="1"/>
          <p:nvPr/>
        </p:nvSpPr>
        <p:spPr>
          <a:xfrm>
            <a:off x="129048" y="2503751"/>
            <a:ext cx="25650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Cell states from the previous time step serves as an additional memory that stores long term information.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B19B5DE-DE7B-62C6-E236-2996F4F2C31C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3263536" y="5201809"/>
            <a:ext cx="45720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EEF4299E-A30B-33D8-53AB-B62AC9F0BC0B}"/>
              </a:ext>
            </a:extLst>
          </p:cNvPr>
          <p:cNvCxnSpPr>
            <a:cxnSpLocks/>
          </p:cNvCxnSpPr>
          <p:nvPr/>
        </p:nvCxnSpPr>
        <p:spPr>
          <a:xfrm>
            <a:off x="3364421" y="4671498"/>
            <a:ext cx="4464000" cy="1073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3AFF091D-B3A7-C1ED-2B9C-22757696F053}"/>
              </a:ext>
            </a:extLst>
          </p:cNvPr>
          <p:cNvCxnSpPr/>
          <p:nvPr/>
        </p:nvCxnSpPr>
        <p:spPr>
          <a:xfrm flipV="1">
            <a:off x="4044224" y="4146997"/>
            <a:ext cx="0" cy="52450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EECCC43B-2F6B-EFB5-8644-0859380EB556}"/>
              </a:ext>
            </a:extLst>
          </p:cNvPr>
          <p:cNvCxnSpPr>
            <a:cxnSpLocks/>
          </p:cNvCxnSpPr>
          <p:nvPr/>
        </p:nvCxnSpPr>
        <p:spPr>
          <a:xfrm flipV="1">
            <a:off x="4310924" y="4134118"/>
            <a:ext cx="0" cy="106254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114AE3DE-6E53-FD74-8D55-4F51970D64B2}"/>
                  </a:ext>
                </a:extLst>
              </p:cNvPr>
              <p:cNvSpPr txBox="1"/>
              <p:nvPr/>
            </p:nvSpPr>
            <p:spPr>
              <a:xfrm>
                <a:off x="3617275" y="4237020"/>
                <a:ext cx="597642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GB" sz="10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114AE3DE-6E53-FD74-8D55-4F51970D6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275" y="4237020"/>
                <a:ext cx="597642" cy="4267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57DBCA0D-02C1-5607-5878-42E7639C75CD}"/>
                  </a:ext>
                </a:extLst>
              </p:cNvPr>
              <p:cNvSpPr txBox="1"/>
              <p:nvPr/>
            </p:nvSpPr>
            <p:spPr>
              <a:xfrm>
                <a:off x="4145044" y="4244756"/>
                <a:ext cx="597642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GB" sz="10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57DBCA0D-02C1-5607-5878-42E7639C7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044" y="4244756"/>
                <a:ext cx="597642" cy="4267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610A20E0-70BD-6D05-8365-ECFD60F01DE2}"/>
              </a:ext>
            </a:extLst>
          </p:cNvPr>
          <p:cNvSpPr/>
          <p:nvPr/>
        </p:nvSpPr>
        <p:spPr>
          <a:xfrm>
            <a:off x="3684673" y="3534867"/>
            <a:ext cx="993615" cy="583609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forget gate</a:t>
            </a:r>
          </a:p>
          <a:p>
            <a:pPr algn="ctr"/>
            <a:endParaRPr lang="en-GB" sz="12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AE0FCB9C-BD40-C5D8-8F22-98B75F219C18}"/>
                  </a:ext>
                </a:extLst>
              </p:cNvPr>
              <p:cNvSpPr txBox="1"/>
              <p:nvPr/>
            </p:nvSpPr>
            <p:spPr>
              <a:xfrm>
                <a:off x="3643033" y="3716387"/>
                <a:ext cx="1080686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7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fr-FR" sz="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7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fr-FR" sz="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0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AE0FCB9C-BD40-C5D8-8F22-98B75F219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033" y="3716387"/>
                <a:ext cx="1080686" cy="4267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1A25FC70-94F0-0DD1-FF5D-5CD5BF441A3F}"/>
                  </a:ext>
                </a:extLst>
              </p:cNvPr>
              <p:cNvSpPr txBox="1"/>
              <p:nvPr/>
            </p:nvSpPr>
            <p:spPr>
              <a:xfrm>
                <a:off x="-11843" y="3694327"/>
                <a:ext cx="3521526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GB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Input to and output from forget gate (sigmoid function) are </a:t>
                </a:r>
                <a:r>
                  <a:rPr lang="en-GB" sz="11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vectors</a:t>
                </a:r>
                <a:r>
                  <a:rPr lang="en-GB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Sigmoid is applied elementwise.</a:t>
                </a:r>
              </a:p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elements are between 0 and 1.</a:t>
                </a:r>
              </a:p>
            </p:txBody>
          </p:sp>
        </mc:Choice>
        <mc:Fallback xmlns="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1A25FC70-94F0-0DD1-FF5D-5CD5BF441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843" y="3694327"/>
                <a:ext cx="3521526" cy="600164"/>
              </a:xfrm>
              <a:prstGeom prst="rect">
                <a:avLst/>
              </a:prstGeom>
              <a:blipFill>
                <a:blip r:embed="rId9"/>
                <a:stretch>
                  <a:fillRect r="-719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81E6EDFE-5BCA-3940-0A50-0DF8C591D033}"/>
              </a:ext>
            </a:extLst>
          </p:cNvPr>
          <p:cNvCxnSpPr>
            <a:cxnSpLocks/>
          </p:cNvCxnSpPr>
          <p:nvPr/>
        </p:nvCxnSpPr>
        <p:spPr>
          <a:xfrm flipV="1">
            <a:off x="4194016" y="2882739"/>
            <a:ext cx="0" cy="648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73C3CCA4-3259-24D2-CAAE-ABC72E9ADF09}"/>
              </a:ext>
            </a:extLst>
          </p:cNvPr>
          <p:cNvCxnSpPr>
            <a:cxnSpLocks/>
          </p:cNvCxnSpPr>
          <p:nvPr/>
        </p:nvCxnSpPr>
        <p:spPr>
          <a:xfrm>
            <a:off x="3194676" y="2744849"/>
            <a:ext cx="849548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4DDE4423-D9B4-F28D-C5A7-AE1F10CC46BD}"/>
                  </a:ext>
                </a:extLst>
              </p:cNvPr>
              <p:cNvSpPr txBox="1"/>
              <p:nvPr/>
            </p:nvSpPr>
            <p:spPr>
              <a:xfrm>
                <a:off x="75376" y="3099883"/>
                <a:ext cx="3521526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1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acts as a mask to remove information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GB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</a:p>
              <a:p>
                <a:pPr algn="r"/>
                <a:r>
                  <a:rPr lang="en-GB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multiply by 1 completely keep, by 0 completely delete, and otherwise keeps a proportion. </a:t>
                </a:r>
              </a:p>
            </p:txBody>
          </p:sp>
        </mc:Choice>
        <mc:Fallback xmlns=""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4DDE4423-D9B4-F28D-C5A7-AE1F10CC4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6" y="3099883"/>
                <a:ext cx="3521526" cy="600164"/>
              </a:xfrm>
              <a:prstGeom prst="rect">
                <a:avLst/>
              </a:prstGeom>
              <a:blipFill>
                <a:blip r:embed="rId10"/>
                <a:stretch>
                  <a:fillRect r="-717"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504B7A07-1A24-5B4D-3886-3132AEDF6C18}"/>
              </a:ext>
            </a:extLst>
          </p:cNvPr>
          <p:cNvCxnSpPr/>
          <p:nvPr/>
        </p:nvCxnSpPr>
        <p:spPr>
          <a:xfrm flipV="1">
            <a:off x="5214055" y="4146997"/>
            <a:ext cx="0" cy="52450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9594DD3B-2E33-3DD4-6ABA-2E0ED95B4436}"/>
              </a:ext>
            </a:extLst>
          </p:cNvPr>
          <p:cNvCxnSpPr>
            <a:cxnSpLocks/>
          </p:cNvCxnSpPr>
          <p:nvPr/>
        </p:nvCxnSpPr>
        <p:spPr>
          <a:xfrm flipV="1">
            <a:off x="5558028" y="4132652"/>
            <a:ext cx="0" cy="106254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FABA55C6-1CEC-8E35-5D04-8AE8B1482EA8}"/>
              </a:ext>
            </a:extLst>
          </p:cNvPr>
          <p:cNvSpPr/>
          <p:nvPr/>
        </p:nvSpPr>
        <p:spPr>
          <a:xfrm>
            <a:off x="4854505" y="3545598"/>
            <a:ext cx="993615" cy="583609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input gate</a:t>
            </a:r>
          </a:p>
          <a:p>
            <a:pPr algn="ctr"/>
            <a:endParaRPr lang="en-GB" sz="12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95C1A264-9CDA-7660-CABB-A6B3B83369E8}"/>
                  </a:ext>
                </a:extLst>
              </p:cNvPr>
              <p:cNvSpPr txBox="1"/>
              <p:nvPr/>
            </p:nvSpPr>
            <p:spPr>
              <a:xfrm>
                <a:off x="4812865" y="3727118"/>
                <a:ext cx="1080686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7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fr-FR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7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fr-FR" sz="7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00" dirty="0"/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95C1A264-9CDA-7660-CABB-A6B3B8336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865" y="3727118"/>
                <a:ext cx="1080686" cy="42674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6963D833-40CB-7881-1583-50CB59DCEEA4}"/>
                  </a:ext>
                </a:extLst>
              </p:cNvPr>
              <p:cNvSpPr txBox="1"/>
              <p:nvPr/>
            </p:nvSpPr>
            <p:spPr>
              <a:xfrm>
                <a:off x="4799984" y="4247751"/>
                <a:ext cx="597642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10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6963D833-40CB-7881-1583-50CB59DCE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984" y="4247751"/>
                <a:ext cx="597642" cy="42674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45080B27-7FFE-3C97-E6D0-2EFD1B1DD66A}"/>
                  </a:ext>
                </a:extLst>
              </p:cNvPr>
              <p:cNvSpPr txBox="1"/>
              <p:nvPr/>
            </p:nvSpPr>
            <p:spPr>
              <a:xfrm>
                <a:off x="5353511" y="4255487"/>
                <a:ext cx="597642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10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45080B27-7FFE-3C97-E6D0-2EFD1B1DD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511" y="4255487"/>
                <a:ext cx="597642" cy="42674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D1918076-9471-9C9D-C7B8-A1564BE74161}"/>
                  </a:ext>
                </a:extLst>
              </p:cNvPr>
              <p:cNvSpPr txBox="1"/>
              <p:nvPr/>
            </p:nvSpPr>
            <p:spPr>
              <a:xfrm>
                <a:off x="169602" y="1827773"/>
                <a:ext cx="352152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fr-FR" sz="11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acts as a mask to determine which new information to add to cell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GB" sz="1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D1918076-9471-9C9D-C7B8-A1564BE74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02" y="1827773"/>
                <a:ext cx="3521526" cy="430887"/>
              </a:xfrm>
              <a:prstGeom prst="rect">
                <a:avLst/>
              </a:prstGeom>
              <a:blipFill>
                <a:blip r:embed="rId14"/>
                <a:stretch>
                  <a:fillRect r="-719" b="-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D368E3BF-D68A-D950-1996-4FE8AAB96CC5}"/>
              </a:ext>
            </a:extLst>
          </p:cNvPr>
          <p:cNvCxnSpPr/>
          <p:nvPr/>
        </p:nvCxnSpPr>
        <p:spPr>
          <a:xfrm flipV="1">
            <a:off x="6361875" y="4148923"/>
            <a:ext cx="0" cy="52450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5EC6CFAB-C77E-0446-8B05-2B8F32B7633A}"/>
              </a:ext>
            </a:extLst>
          </p:cNvPr>
          <p:cNvCxnSpPr>
            <a:cxnSpLocks/>
          </p:cNvCxnSpPr>
          <p:nvPr/>
        </p:nvCxnSpPr>
        <p:spPr>
          <a:xfrm flipV="1">
            <a:off x="6705848" y="4134578"/>
            <a:ext cx="0" cy="106254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ACFB1010-27EE-E1E2-9337-3F6923AA62CF}"/>
                  </a:ext>
                </a:extLst>
              </p:cNvPr>
              <p:cNvSpPr txBox="1"/>
              <p:nvPr/>
            </p:nvSpPr>
            <p:spPr>
              <a:xfrm>
                <a:off x="5947809" y="4249679"/>
                <a:ext cx="597642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10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ACFB1010-27EE-E1E2-9337-3F6923AA6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809" y="4249679"/>
                <a:ext cx="597642" cy="42674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AD80578F-C1EE-70BB-9938-A85AAA40B0A8}"/>
                  </a:ext>
                </a:extLst>
              </p:cNvPr>
              <p:cNvSpPr txBox="1"/>
              <p:nvPr/>
            </p:nvSpPr>
            <p:spPr>
              <a:xfrm>
                <a:off x="6501336" y="4257415"/>
                <a:ext cx="597642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10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AD80578F-C1EE-70BB-9938-A85AAA40B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336" y="4257415"/>
                <a:ext cx="597642" cy="42674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F1687E95-7E52-A3AE-ADEB-BDB5C168A5CC}"/>
              </a:ext>
            </a:extLst>
          </p:cNvPr>
          <p:cNvSpPr/>
          <p:nvPr/>
        </p:nvSpPr>
        <p:spPr>
          <a:xfrm>
            <a:off x="6048630" y="3547525"/>
            <a:ext cx="993615" cy="583609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cell update</a:t>
            </a:r>
          </a:p>
          <a:p>
            <a:pPr algn="ctr"/>
            <a:endParaRPr lang="en-GB" sz="12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8B9E782C-5EB8-75BD-0409-E1D635B55523}"/>
                  </a:ext>
                </a:extLst>
              </p:cNvPr>
              <p:cNvSpPr txBox="1"/>
              <p:nvPr/>
            </p:nvSpPr>
            <p:spPr>
              <a:xfrm>
                <a:off x="6006990" y="3729045"/>
                <a:ext cx="1080686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𝑡𝑎𝑛h</m:t>
                      </m:r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7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fr-FR" sz="7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7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fr-FR" sz="7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00" dirty="0"/>
              </a:p>
            </p:txBody>
          </p:sp>
        </mc:Choice>
        <mc:Fallback xmlns="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8B9E782C-5EB8-75BD-0409-E1D635B55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6990" y="3729045"/>
                <a:ext cx="1080686" cy="42674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1BC02E27-41EB-7D2C-DFD4-2C80FFE81176}"/>
              </a:ext>
            </a:extLst>
          </p:cNvPr>
          <p:cNvCxnSpPr>
            <a:cxnSpLocks/>
          </p:cNvCxnSpPr>
          <p:nvPr/>
        </p:nvCxnSpPr>
        <p:spPr>
          <a:xfrm flipV="1">
            <a:off x="6534823" y="3138467"/>
            <a:ext cx="0" cy="396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397C1800-080E-BBCE-31AD-6D4264E5764D}"/>
                  </a:ext>
                </a:extLst>
              </p:cNvPr>
              <p:cNvSpPr txBox="1"/>
              <p:nvPr/>
            </p:nvSpPr>
            <p:spPr>
              <a:xfrm>
                <a:off x="3559373" y="1618056"/>
                <a:ext cx="35215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fr-FR" sz="1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fr-FR" sz="1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100" noProof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new information available for adding to cell state.</a:t>
                </a:r>
                <a:endParaRPr lang="en-GB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397C1800-080E-BBCE-31AD-6D4264E57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373" y="1618056"/>
                <a:ext cx="3521526" cy="261610"/>
              </a:xfrm>
              <a:prstGeom prst="rect">
                <a:avLst/>
              </a:prstGeom>
              <a:blipFill>
                <a:blip r:embed="rId1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Connecteur en angle 102">
            <a:extLst>
              <a:ext uri="{FF2B5EF4-FFF2-40B4-BE49-F238E27FC236}">
                <a16:creationId xmlns:a16="http://schemas.microsoft.com/office/drawing/2014/main" id="{1029B07E-3579-2B07-A689-89DD5FEAA1A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02046" y="2763799"/>
            <a:ext cx="531067" cy="1032532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ZoneTexte 103">
                <a:extLst>
                  <a:ext uri="{FF2B5EF4-FFF2-40B4-BE49-F238E27FC236}">
                    <a16:creationId xmlns:a16="http://schemas.microsoft.com/office/drawing/2014/main" id="{6A12F09D-26CD-FCEC-D365-DFC28113B414}"/>
                  </a:ext>
                </a:extLst>
              </p:cNvPr>
              <p:cNvSpPr txBox="1"/>
              <p:nvPr/>
            </p:nvSpPr>
            <p:spPr>
              <a:xfrm>
                <a:off x="4356067" y="1800437"/>
                <a:ext cx="352152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fr-FR" sz="1100" b="0" i="1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̃"/>
                        <m:ctrlPr>
                          <a:rPr lang="fr-FR" sz="11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1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fr-FR" sz="1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100" noProof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gates the flow of new information. It determines which information to add to the previous cell state.</a:t>
                </a:r>
                <a:endParaRPr lang="en-GB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4" name="ZoneTexte 103">
                <a:extLst>
                  <a:ext uri="{FF2B5EF4-FFF2-40B4-BE49-F238E27FC236}">
                    <a16:creationId xmlns:a16="http://schemas.microsoft.com/office/drawing/2014/main" id="{6A12F09D-26CD-FCEC-D365-DFC28113B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067" y="1800437"/>
                <a:ext cx="3521526" cy="430887"/>
              </a:xfrm>
              <a:prstGeom prst="rect">
                <a:avLst/>
              </a:prstGeom>
              <a:blipFill>
                <a:blip r:embed="rId19"/>
                <a:stretch>
                  <a:fillRect r="-719" b="-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Connecteur droit avec flèche 109">
            <a:extLst>
              <a:ext uri="{FF2B5EF4-FFF2-40B4-BE49-F238E27FC236}">
                <a16:creationId xmlns:a16="http://schemas.microsoft.com/office/drawing/2014/main" id="{1098312B-3B70-36EE-C66F-B63E12B407CC}"/>
              </a:ext>
            </a:extLst>
          </p:cNvPr>
          <p:cNvCxnSpPr>
            <a:cxnSpLocks/>
          </p:cNvCxnSpPr>
          <p:nvPr/>
        </p:nvCxnSpPr>
        <p:spPr>
          <a:xfrm>
            <a:off x="4310920" y="2739060"/>
            <a:ext cx="2088000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2B44FB39-551C-E531-FC1A-AFE1374D8CC4}"/>
              </a:ext>
            </a:extLst>
          </p:cNvPr>
          <p:cNvCxnSpPr>
            <a:cxnSpLocks/>
            <a:stCxn id="127" idx="3"/>
          </p:cNvCxnSpPr>
          <p:nvPr/>
        </p:nvCxnSpPr>
        <p:spPr>
          <a:xfrm flipV="1">
            <a:off x="6786598" y="2739060"/>
            <a:ext cx="2808000" cy="89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ZoneTexte 111">
                <a:extLst>
                  <a:ext uri="{FF2B5EF4-FFF2-40B4-BE49-F238E27FC236}">
                    <a16:creationId xmlns:a16="http://schemas.microsoft.com/office/drawing/2014/main" id="{9F94B252-75E2-3DC5-C5E0-D86E4B8727A1}"/>
                  </a:ext>
                </a:extLst>
              </p:cNvPr>
              <p:cNvSpPr txBox="1"/>
              <p:nvPr/>
            </p:nvSpPr>
            <p:spPr>
              <a:xfrm>
                <a:off x="9669417" y="2486969"/>
                <a:ext cx="2416686" cy="4121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2" name="ZoneTexte 111">
                <a:extLst>
                  <a:ext uri="{FF2B5EF4-FFF2-40B4-BE49-F238E27FC236}">
                    <a16:creationId xmlns:a16="http://schemas.microsoft.com/office/drawing/2014/main" id="{9F94B252-75E2-3DC5-C5E0-D86E4B872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417" y="2486969"/>
                <a:ext cx="2416686" cy="412124"/>
              </a:xfrm>
              <a:prstGeom prst="rect">
                <a:avLst/>
              </a:prstGeom>
              <a:blipFill>
                <a:blip r:embed="rId20"/>
                <a:stretch>
                  <a:fillRect l="-26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ZoneTexte 113">
                <a:extLst>
                  <a:ext uri="{FF2B5EF4-FFF2-40B4-BE49-F238E27FC236}">
                    <a16:creationId xmlns:a16="http://schemas.microsoft.com/office/drawing/2014/main" id="{CAD9BF11-32BA-4DD0-53AB-CAA4BC86AC73}"/>
                  </a:ext>
                </a:extLst>
              </p:cNvPr>
              <p:cNvSpPr txBox="1"/>
              <p:nvPr/>
            </p:nvSpPr>
            <p:spPr>
              <a:xfrm>
                <a:off x="3849548" y="3090348"/>
                <a:ext cx="389352" cy="341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4" name="ZoneTexte 113">
                <a:extLst>
                  <a:ext uri="{FF2B5EF4-FFF2-40B4-BE49-F238E27FC236}">
                    <a16:creationId xmlns:a16="http://schemas.microsoft.com/office/drawing/2014/main" id="{CAD9BF11-32BA-4DD0-53AB-CAA4BC86A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548" y="3090348"/>
                <a:ext cx="389352" cy="341641"/>
              </a:xfrm>
              <a:prstGeom prst="rect">
                <a:avLst/>
              </a:prstGeom>
              <a:blipFill>
                <a:blip r:embed="rId21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E9E3C645-2395-18DF-0FB2-9D0D2A34DF92}"/>
                  </a:ext>
                </a:extLst>
              </p:cNvPr>
              <p:cNvSpPr txBox="1"/>
              <p:nvPr/>
            </p:nvSpPr>
            <p:spPr>
              <a:xfrm>
                <a:off x="4982112" y="3128527"/>
                <a:ext cx="38935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E9E3C645-2395-18DF-0FB2-9D0D2A34D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112" y="3128527"/>
                <a:ext cx="389353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ZoneTexte 115">
                <a:extLst>
                  <a:ext uri="{FF2B5EF4-FFF2-40B4-BE49-F238E27FC236}">
                    <a16:creationId xmlns:a16="http://schemas.microsoft.com/office/drawing/2014/main" id="{D65DE52C-D411-CEF1-2BA5-CF24A227FED7}"/>
                  </a:ext>
                </a:extLst>
              </p:cNvPr>
              <p:cNvSpPr txBox="1"/>
              <p:nvPr/>
            </p:nvSpPr>
            <p:spPr>
              <a:xfrm>
                <a:off x="6234463" y="3151819"/>
                <a:ext cx="27980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6" name="ZoneTexte 115">
                <a:extLst>
                  <a:ext uri="{FF2B5EF4-FFF2-40B4-BE49-F238E27FC236}">
                    <a16:creationId xmlns:a16="http://schemas.microsoft.com/office/drawing/2014/main" id="{D65DE52C-D411-CEF1-2BA5-CF24A227F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463" y="3151819"/>
                <a:ext cx="279802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Connecteur droit avec flèche 116">
            <a:extLst>
              <a:ext uri="{FF2B5EF4-FFF2-40B4-BE49-F238E27FC236}">
                <a16:creationId xmlns:a16="http://schemas.microsoft.com/office/drawing/2014/main" id="{B8927A0D-F03B-6A21-847D-B8B59A8BF337}"/>
              </a:ext>
            </a:extLst>
          </p:cNvPr>
          <p:cNvCxnSpPr/>
          <p:nvPr/>
        </p:nvCxnSpPr>
        <p:spPr>
          <a:xfrm flipV="1">
            <a:off x="7485832" y="4144155"/>
            <a:ext cx="0" cy="52450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7762485E-6290-407E-DB70-38B1C43F5ADC}"/>
              </a:ext>
            </a:extLst>
          </p:cNvPr>
          <p:cNvCxnSpPr>
            <a:cxnSpLocks/>
          </p:cNvCxnSpPr>
          <p:nvPr/>
        </p:nvCxnSpPr>
        <p:spPr>
          <a:xfrm flipV="1">
            <a:off x="7829805" y="4129810"/>
            <a:ext cx="0" cy="106254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ZoneTexte 118">
                <a:extLst>
                  <a:ext uri="{FF2B5EF4-FFF2-40B4-BE49-F238E27FC236}">
                    <a16:creationId xmlns:a16="http://schemas.microsoft.com/office/drawing/2014/main" id="{60FB5E9D-053A-8D08-AE7B-19ADF216EFC2}"/>
                  </a:ext>
                </a:extLst>
              </p:cNvPr>
              <p:cNvSpPr txBox="1"/>
              <p:nvPr/>
            </p:nvSpPr>
            <p:spPr>
              <a:xfrm>
                <a:off x="7071766" y="4244911"/>
                <a:ext cx="597642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GB" sz="10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19" name="ZoneTexte 118">
                <a:extLst>
                  <a:ext uri="{FF2B5EF4-FFF2-40B4-BE49-F238E27FC236}">
                    <a16:creationId xmlns:a16="http://schemas.microsoft.com/office/drawing/2014/main" id="{60FB5E9D-053A-8D08-AE7B-19ADF216E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766" y="4244911"/>
                <a:ext cx="597642" cy="42674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ZoneTexte 119">
                <a:extLst>
                  <a:ext uri="{FF2B5EF4-FFF2-40B4-BE49-F238E27FC236}">
                    <a16:creationId xmlns:a16="http://schemas.microsoft.com/office/drawing/2014/main" id="{3C136428-9DBD-B36A-1035-607AF35F8ECF}"/>
                  </a:ext>
                </a:extLst>
              </p:cNvPr>
              <p:cNvSpPr txBox="1"/>
              <p:nvPr/>
            </p:nvSpPr>
            <p:spPr>
              <a:xfrm>
                <a:off x="7625293" y="4252647"/>
                <a:ext cx="597642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GB" sz="10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20" name="ZoneTexte 119">
                <a:extLst>
                  <a:ext uri="{FF2B5EF4-FFF2-40B4-BE49-F238E27FC236}">
                    <a16:creationId xmlns:a16="http://schemas.microsoft.com/office/drawing/2014/main" id="{3C136428-9DBD-B36A-1035-607AF35F8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293" y="4252647"/>
                <a:ext cx="597642" cy="42674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ectangle : coins arrondis 120">
            <a:extLst>
              <a:ext uri="{FF2B5EF4-FFF2-40B4-BE49-F238E27FC236}">
                <a16:creationId xmlns:a16="http://schemas.microsoft.com/office/drawing/2014/main" id="{50FA33D0-B742-5150-26E4-EF0C0D710AB9}"/>
              </a:ext>
            </a:extLst>
          </p:cNvPr>
          <p:cNvSpPr/>
          <p:nvPr/>
        </p:nvSpPr>
        <p:spPr>
          <a:xfrm>
            <a:off x="7158296" y="3557046"/>
            <a:ext cx="993615" cy="583609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output gate</a:t>
            </a:r>
          </a:p>
          <a:p>
            <a:pPr algn="ctr"/>
            <a:endParaRPr lang="en-GB" sz="12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ZoneTexte 121">
                <a:extLst>
                  <a:ext uri="{FF2B5EF4-FFF2-40B4-BE49-F238E27FC236}">
                    <a16:creationId xmlns:a16="http://schemas.microsoft.com/office/drawing/2014/main" id="{50B5F4DD-7BED-72A6-EE42-765B2B5AEF7E}"/>
                  </a:ext>
                </a:extLst>
              </p:cNvPr>
              <p:cNvSpPr txBox="1"/>
              <p:nvPr/>
            </p:nvSpPr>
            <p:spPr>
              <a:xfrm>
                <a:off x="7116656" y="3738566"/>
                <a:ext cx="1080686" cy="426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7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fr-FR" sz="7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7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fr-FR" sz="7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00" dirty="0"/>
              </a:p>
            </p:txBody>
          </p:sp>
        </mc:Choice>
        <mc:Fallback xmlns="">
          <p:sp>
            <p:nvSpPr>
              <p:cNvPr id="122" name="ZoneTexte 121">
                <a:extLst>
                  <a:ext uri="{FF2B5EF4-FFF2-40B4-BE49-F238E27FC236}">
                    <a16:creationId xmlns:a16="http://schemas.microsoft.com/office/drawing/2014/main" id="{50B5F4DD-7BED-72A6-EE42-765B2B5AE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656" y="3738566"/>
                <a:ext cx="1080686" cy="42674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F3E8AA04-DFD9-EB34-EF80-F228621BFDC5}"/>
                  </a:ext>
                </a:extLst>
              </p:cNvPr>
              <p:cNvSpPr txBox="1"/>
              <p:nvPr/>
            </p:nvSpPr>
            <p:spPr>
              <a:xfrm>
                <a:off x="3969450" y="2569824"/>
                <a:ext cx="4408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F3E8AA04-DFD9-EB34-EF80-F228621BF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450" y="2569824"/>
                <a:ext cx="440881" cy="369332"/>
              </a:xfrm>
              <a:prstGeom prst="rect">
                <a:avLst/>
              </a:prstGeom>
              <a:blipFill>
                <a:blip r:embed="rId2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ZoneTexte 124">
                <a:extLst>
                  <a:ext uri="{FF2B5EF4-FFF2-40B4-BE49-F238E27FC236}">
                    <a16:creationId xmlns:a16="http://schemas.microsoft.com/office/drawing/2014/main" id="{7E4B6428-4A1E-8F69-4F15-46BFCC75521F}"/>
                  </a:ext>
                </a:extLst>
              </p:cNvPr>
              <p:cNvSpPr txBox="1"/>
              <p:nvPr/>
            </p:nvSpPr>
            <p:spPr>
              <a:xfrm>
                <a:off x="6315286" y="2812001"/>
                <a:ext cx="4408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5" name="ZoneTexte 124">
                <a:extLst>
                  <a:ext uri="{FF2B5EF4-FFF2-40B4-BE49-F238E27FC236}">
                    <a16:creationId xmlns:a16="http://schemas.microsoft.com/office/drawing/2014/main" id="{7E4B6428-4A1E-8F69-4F15-46BFCC755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286" y="2812001"/>
                <a:ext cx="440881" cy="369332"/>
              </a:xfrm>
              <a:prstGeom prst="rect">
                <a:avLst/>
              </a:prstGeom>
              <a:blipFill>
                <a:blip r:embed="rId2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ZoneTexte 126">
                <a:extLst>
                  <a:ext uri="{FF2B5EF4-FFF2-40B4-BE49-F238E27FC236}">
                    <a16:creationId xmlns:a16="http://schemas.microsoft.com/office/drawing/2014/main" id="{6892C841-287E-003A-30FD-96FCE28A8B9B}"/>
                  </a:ext>
                </a:extLst>
              </p:cNvPr>
              <p:cNvSpPr txBox="1"/>
              <p:nvPr/>
            </p:nvSpPr>
            <p:spPr>
              <a:xfrm>
                <a:off x="6302448" y="2552304"/>
                <a:ext cx="484151" cy="375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7" name="ZoneTexte 126">
                <a:extLst>
                  <a:ext uri="{FF2B5EF4-FFF2-40B4-BE49-F238E27FC236}">
                    <a16:creationId xmlns:a16="http://schemas.microsoft.com/office/drawing/2014/main" id="{6892C841-287E-003A-30FD-96FCE28A8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448" y="2552304"/>
                <a:ext cx="484151" cy="37529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Connecteur droit avec flèche 137">
            <a:extLst>
              <a:ext uri="{FF2B5EF4-FFF2-40B4-BE49-F238E27FC236}">
                <a16:creationId xmlns:a16="http://schemas.microsoft.com/office/drawing/2014/main" id="{EA0E4A85-BD97-6221-80AE-355E3AF4EF47}"/>
              </a:ext>
            </a:extLst>
          </p:cNvPr>
          <p:cNvCxnSpPr/>
          <p:nvPr/>
        </p:nvCxnSpPr>
        <p:spPr>
          <a:xfrm>
            <a:off x="8654580" y="2739659"/>
            <a:ext cx="0" cy="18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ZoneTexte 138">
                <a:extLst>
                  <a:ext uri="{FF2B5EF4-FFF2-40B4-BE49-F238E27FC236}">
                    <a16:creationId xmlns:a16="http://schemas.microsoft.com/office/drawing/2014/main" id="{B3D9217D-5336-51AC-A1CB-1121D3E78E7F}"/>
                  </a:ext>
                </a:extLst>
              </p:cNvPr>
              <p:cNvSpPr txBox="1"/>
              <p:nvPr/>
            </p:nvSpPr>
            <p:spPr>
              <a:xfrm>
                <a:off x="8115289" y="2887107"/>
                <a:ext cx="1080686" cy="214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7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fr-FR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fr-FR" sz="7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7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00" dirty="0"/>
              </a:p>
            </p:txBody>
          </p:sp>
        </mc:Choice>
        <mc:Fallback xmlns="">
          <p:sp>
            <p:nvSpPr>
              <p:cNvPr id="139" name="ZoneTexte 138">
                <a:extLst>
                  <a:ext uri="{FF2B5EF4-FFF2-40B4-BE49-F238E27FC236}">
                    <a16:creationId xmlns:a16="http://schemas.microsoft.com/office/drawing/2014/main" id="{B3D9217D-5336-51AC-A1CB-1121D3E78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289" y="2887107"/>
                <a:ext cx="1080686" cy="214816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ZoneTexte 139">
                <a:extLst>
                  <a:ext uri="{FF2B5EF4-FFF2-40B4-BE49-F238E27FC236}">
                    <a16:creationId xmlns:a16="http://schemas.microsoft.com/office/drawing/2014/main" id="{F2817A40-ED0B-F041-B4FC-97D4860C492E}"/>
                  </a:ext>
                </a:extLst>
              </p:cNvPr>
              <p:cNvSpPr txBox="1"/>
              <p:nvPr/>
            </p:nvSpPr>
            <p:spPr>
              <a:xfrm>
                <a:off x="8423631" y="3011218"/>
                <a:ext cx="4408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0" name="ZoneTexte 139">
                <a:extLst>
                  <a:ext uri="{FF2B5EF4-FFF2-40B4-BE49-F238E27FC236}">
                    <a16:creationId xmlns:a16="http://schemas.microsoft.com/office/drawing/2014/main" id="{F2817A40-ED0B-F041-B4FC-97D4860C4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631" y="3011218"/>
                <a:ext cx="440881" cy="369332"/>
              </a:xfrm>
              <a:prstGeom prst="rect">
                <a:avLst/>
              </a:prstGeom>
              <a:blipFill>
                <a:blip r:embed="rId3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Connecteur en angle 140">
            <a:extLst>
              <a:ext uri="{FF2B5EF4-FFF2-40B4-BE49-F238E27FC236}">
                <a16:creationId xmlns:a16="http://schemas.microsoft.com/office/drawing/2014/main" id="{2E92A1AA-669F-C16D-23A0-C4E4BFF74712}"/>
              </a:ext>
            </a:extLst>
          </p:cNvPr>
          <p:cNvCxnSpPr>
            <a:cxnSpLocks/>
            <a:stCxn id="121" idx="0"/>
          </p:cNvCxnSpPr>
          <p:nvPr/>
        </p:nvCxnSpPr>
        <p:spPr>
          <a:xfrm rot="5400000" flipH="1" flipV="1">
            <a:off x="7911925" y="2932665"/>
            <a:ext cx="367560" cy="881202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ZoneTexte 142">
                <a:extLst>
                  <a:ext uri="{FF2B5EF4-FFF2-40B4-BE49-F238E27FC236}">
                    <a16:creationId xmlns:a16="http://schemas.microsoft.com/office/drawing/2014/main" id="{6470A056-0179-8058-A0E9-2A8AE80D59E0}"/>
                  </a:ext>
                </a:extLst>
              </p:cNvPr>
              <p:cNvSpPr txBox="1"/>
              <p:nvPr/>
            </p:nvSpPr>
            <p:spPr>
              <a:xfrm>
                <a:off x="7310534" y="3131814"/>
                <a:ext cx="38935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3" name="ZoneTexte 142">
                <a:extLst>
                  <a:ext uri="{FF2B5EF4-FFF2-40B4-BE49-F238E27FC236}">
                    <a16:creationId xmlns:a16="http://schemas.microsoft.com/office/drawing/2014/main" id="{6470A056-0179-8058-A0E9-2A8AE80D5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534" y="3131814"/>
                <a:ext cx="389353" cy="338554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Connecteur en angle 143">
            <a:extLst>
              <a:ext uri="{FF2B5EF4-FFF2-40B4-BE49-F238E27FC236}">
                <a16:creationId xmlns:a16="http://schemas.microsoft.com/office/drawing/2014/main" id="{0CDC9747-59D1-F556-89CB-C62E8781BFD3}"/>
              </a:ext>
            </a:extLst>
          </p:cNvPr>
          <p:cNvCxnSpPr>
            <a:cxnSpLocks/>
            <a:stCxn id="140" idx="2"/>
          </p:cNvCxnSpPr>
          <p:nvPr/>
        </p:nvCxnSpPr>
        <p:spPr>
          <a:xfrm rot="16200000" flipH="1">
            <a:off x="8176073" y="3828667"/>
            <a:ext cx="1835999" cy="900000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ZoneTexte 146">
                <a:extLst>
                  <a:ext uri="{FF2B5EF4-FFF2-40B4-BE49-F238E27FC236}">
                    <a16:creationId xmlns:a16="http://schemas.microsoft.com/office/drawing/2014/main" id="{6E725705-7D89-CE9E-BDD8-09D805872060}"/>
                  </a:ext>
                </a:extLst>
              </p:cNvPr>
              <p:cNvSpPr txBox="1"/>
              <p:nvPr/>
            </p:nvSpPr>
            <p:spPr>
              <a:xfrm>
                <a:off x="9659890" y="4985616"/>
                <a:ext cx="1761072" cy="4121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tanh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7" name="ZoneTexte 146">
                <a:extLst>
                  <a:ext uri="{FF2B5EF4-FFF2-40B4-BE49-F238E27FC236}">
                    <a16:creationId xmlns:a16="http://schemas.microsoft.com/office/drawing/2014/main" id="{6E725705-7D89-CE9E-BDD8-09D805872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890" y="4985616"/>
                <a:ext cx="1761072" cy="412124"/>
              </a:xfrm>
              <a:prstGeom prst="rect">
                <a:avLst/>
              </a:prstGeom>
              <a:blipFill>
                <a:blip r:embed="rId33"/>
                <a:stretch>
                  <a:fillRect l="-3571"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ZoneTexte 147">
                <a:extLst>
                  <a:ext uri="{FF2B5EF4-FFF2-40B4-BE49-F238E27FC236}">
                    <a16:creationId xmlns:a16="http://schemas.microsoft.com/office/drawing/2014/main" id="{511C2CCD-5BB4-7356-ACD5-B18E5F391D72}"/>
                  </a:ext>
                </a:extLst>
              </p:cNvPr>
              <p:cNvSpPr txBox="1"/>
              <p:nvPr/>
            </p:nvSpPr>
            <p:spPr>
              <a:xfrm>
                <a:off x="9071171" y="1503331"/>
                <a:ext cx="380036" cy="4121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8" name="ZoneTexte 147">
                <a:extLst>
                  <a:ext uri="{FF2B5EF4-FFF2-40B4-BE49-F238E27FC236}">
                    <a16:creationId xmlns:a16="http://schemas.microsoft.com/office/drawing/2014/main" id="{511C2CCD-5BB4-7356-ACD5-B18E5F391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171" y="1503331"/>
                <a:ext cx="380036" cy="41212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Connecteur en angle 148">
            <a:extLst>
              <a:ext uri="{FF2B5EF4-FFF2-40B4-BE49-F238E27FC236}">
                <a16:creationId xmlns:a16="http://schemas.microsoft.com/office/drawing/2014/main" id="{83FB4E95-76B0-C549-F3D1-6A667B6799E4}"/>
              </a:ext>
            </a:extLst>
          </p:cNvPr>
          <p:cNvCxnSpPr>
            <a:cxnSpLocks/>
            <a:stCxn id="140" idx="3"/>
            <a:endCxn id="148" idx="2"/>
          </p:cNvCxnSpPr>
          <p:nvPr/>
        </p:nvCxnSpPr>
        <p:spPr>
          <a:xfrm flipV="1">
            <a:off x="8864512" y="1915455"/>
            <a:ext cx="396677" cy="1280429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ZoneTexte 151">
                <a:extLst>
                  <a:ext uri="{FF2B5EF4-FFF2-40B4-BE49-F238E27FC236}">
                    <a16:creationId xmlns:a16="http://schemas.microsoft.com/office/drawing/2014/main" id="{1E2DB4B5-75B5-BCE6-DDC6-0A08901D1617}"/>
                  </a:ext>
                </a:extLst>
              </p:cNvPr>
              <p:cNvSpPr txBox="1"/>
              <p:nvPr/>
            </p:nvSpPr>
            <p:spPr>
              <a:xfrm>
                <a:off x="9342367" y="1432010"/>
                <a:ext cx="1606520" cy="44374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  <m:r>
                        <a:rPr lang="fr-FR" sz="1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fr-FR" sz="1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fr-FR" sz="1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𝑐𝑢𝑟𝑟𝑒𝑛𝑡</m:t>
                      </m:r>
                      <m:r>
                        <a:rPr lang="fr-FR" sz="1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𝑡𝑖𝑚𝑒</m:t>
                      </m:r>
                      <m:r>
                        <a:rPr lang="fr-F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𝑠𝑡𝑒𝑝</m:t>
                      </m:r>
                      <m:r>
                        <a:rPr lang="fr-F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𝑜𝑢𝑡𝑝𝑢𝑡</m:t>
                      </m:r>
                    </m:oMath>
                  </m:oMathPara>
                </a14:m>
                <a:endParaRPr lang="en-GB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2" name="ZoneTexte 151">
                <a:extLst>
                  <a:ext uri="{FF2B5EF4-FFF2-40B4-BE49-F238E27FC236}">
                    <a16:creationId xmlns:a16="http://schemas.microsoft.com/office/drawing/2014/main" id="{1E2DB4B5-75B5-BCE6-DDC6-0A08901D1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2367" y="1432010"/>
                <a:ext cx="1606520" cy="443741"/>
              </a:xfrm>
              <a:prstGeom prst="rect">
                <a:avLst/>
              </a:prstGeom>
              <a:blipFill>
                <a:blip r:embed="rId35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ZoneTexte 152">
                <a:extLst>
                  <a:ext uri="{FF2B5EF4-FFF2-40B4-BE49-F238E27FC236}">
                    <a16:creationId xmlns:a16="http://schemas.microsoft.com/office/drawing/2014/main" id="{54108F1E-2299-E559-2DB1-B651D32DC02F}"/>
                  </a:ext>
                </a:extLst>
              </p:cNvPr>
              <p:cNvSpPr txBox="1"/>
              <p:nvPr/>
            </p:nvSpPr>
            <p:spPr>
              <a:xfrm>
                <a:off x="9552026" y="4623938"/>
                <a:ext cx="1606520" cy="44374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  <m:r>
                        <a:rPr lang="fr-FR" sz="1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fr-FR" sz="1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fr-FR" sz="1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next</m:t>
                      </m:r>
                      <m:r>
                        <a:rPr lang="fr-FR" sz="1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𝑡𝑖𝑚𝑒</m:t>
                      </m:r>
                      <m:r>
                        <a:rPr lang="fr-F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𝑠𝑡𝑒𝑝</m:t>
                      </m:r>
                      <m:r>
                        <a:rPr lang="fr-F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𝑜𝑢𝑡𝑝𝑢𝑡</m:t>
                      </m:r>
                    </m:oMath>
                  </m:oMathPara>
                </a14:m>
                <a:endParaRPr lang="en-GB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3" name="ZoneTexte 152">
                <a:extLst>
                  <a:ext uri="{FF2B5EF4-FFF2-40B4-BE49-F238E27FC236}">
                    <a16:creationId xmlns:a16="http://schemas.microsoft.com/office/drawing/2014/main" id="{54108F1E-2299-E559-2DB1-B651D32DC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026" y="4623938"/>
                <a:ext cx="1606520" cy="443741"/>
              </a:xfrm>
              <a:prstGeom prst="rect">
                <a:avLst/>
              </a:prstGeom>
              <a:blipFill>
                <a:blip r:embed="rId36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ZoneTexte 153">
            <a:extLst>
              <a:ext uri="{FF2B5EF4-FFF2-40B4-BE49-F238E27FC236}">
                <a16:creationId xmlns:a16="http://schemas.microsoft.com/office/drawing/2014/main" id="{64700343-42D6-B762-081A-1498A97B64F9}"/>
              </a:ext>
            </a:extLst>
          </p:cNvPr>
          <p:cNvSpPr txBox="1"/>
          <p:nvPr/>
        </p:nvSpPr>
        <p:spPr>
          <a:xfrm>
            <a:off x="369527" y="5706812"/>
            <a:ext cx="11293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Aptos" panose="020B0004020202020204" pitchFamily="34" charset="0"/>
                <a:ea typeface="Cambria Math" panose="02040503050406030204" pitchFamily="18" charset="0"/>
              </a:rPr>
              <a:t>Complete flow of a LSTM cell. It can learn long-range dependencies through 4 NN which can learn which information to remove, to add, to carry forward </a:t>
            </a:r>
          </a:p>
        </p:txBody>
      </p:sp>
    </p:spTree>
    <p:extLst>
      <p:ext uri="{BB962C8B-B14F-4D97-AF65-F5344CB8AC3E}">
        <p14:creationId xmlns:p14="http://schemas.microsoft.com/office/powerpoint/2010/main" val="2582969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7E630-6888-D2B3-66D1-C1688E418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D0F860-A4FC-8843-1A34-F7BFD0E2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18B38C2-7337-878A-AD70-26F4A197C18B}"/>
                  </a:ext>
                </a:extLst>
              </p:cNvPr>
              <p:cNvSpPr txBox="1"/>
              <p:nvPr/>
            </p:nvSpPr>
            <p:spPr>
              <a:xfrm>
                <a:off x="838199" y="1828799"/>
                <a:ext cx="10515600" cy="4206241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dirty="0">
                    <a:effectLst/>
                    <a:latin typeface="ui-sans-serif"/>
                  </a:rPr>
                  <a:t>A language </a:t>
                </a:r>
                <a:r>
                  <a:rPr lang="en-GB" sz="2800" b="1" dirty="0">
                    <a:latin typeface="ui-sans-serif"/>
                  </a:rPr>
                  <a:t>m</a:t>
                </a:r>
                <a:r>
                  <a:rPr lang="en-GB" sz="2800" b="1" i="0" u="none" strike="noStrike" dirty="0">
                    <a:effectLst/>
                    <a:latin typeface="ui-sans-serif"/>
                  </a:rPr>
                  <a:t>odel determines the probability of a sequence of words</a:t>
                </a:r>
              </a:p>
              <a:p>
                <a:endParaRPr lang="en-GB" sz="2800" b="1" dirty="0">
                  <a:latin typeface="ui-sans-serif"/>
                </a:endParaRPr>
              </a:p>
              <a:p>
                <a:endParaRPr lang="en-GB" sz="2800" b="1" dirty="0">
                  <a:latin typeface="ui-sans-serif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« </m:t>
                          </m:r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𝑜𝑐𝑒𝑎𝑛</m:t>
                          </m:r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» </m:t>
                          </m:r>
                        </m:e>
                      </m:d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𝑠h𝑒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𝑠𝑝𝑒𝑛𝑡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𝑑𝑎𝑦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𝑠𝑤𝑖𝑚𝑚𝑖𝑛𝑔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»)=0.6</m:t>
                      </m:r>
                    </m:oMath>
                  </m:oMathPara>
                </a14:m>
                <a:endParaRPr lang="en-GB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« </m:t>
                          </m:r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𝑚𝑖𝑙𝑘𝑠h𝑎𝑘𝑒</m:t>
                          </m:r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» </m:t>
                          </m:r>
                        </m:e>
                      </m:d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« 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𝑠h𝑒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𝑠𝑝𝑒𝑛𝑡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𝑑𝑎𝑦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𝑠𝑤𝑖𝑚𝑚𝑖𝑛𝑔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»)=0.02</m:t>
                      </m:r>
                    </m:oMath>
                  </m:oMathPara>
                </a14:m>
                <a:endParaRPr lang="en-GB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fr-FR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fr-F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fr-F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fr-F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18B38C2-7337-878A-AD70-26F4A197C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28799"/>
                <a:ext cx="10515600" cy="4206241"/>
              </a:xfrm>
              <a:prstGeom prst="rect">
                <a:avLst/>
              </a:prstGeom>
              <a:blipFill>
                <a:blip r:embed="rId3"/>
                <a:stretch>
                  <a:fillRect l="-1206" t="-1807" b="-195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3ECBDC28-05BE-6112-D47E-49E5829D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</p:spTree>
    <p:extLst>
      <p:ext uri="{BB962C8B-B14F-4D97-AF65-F5344CB8AC3E}">
        <p14:creationId xmlns:p14="http://schemas.microsoft.com/office/powerpoint/2010/main" val="289314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E5DDA-8DEB-0468-0C5B-583FE42D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1759C8-2D8B-5377-D383-1CADA095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8CEB215-7EB2-148C-888C-140E35D8D3DF}"/>
              </a:ext>
            </a:extLst>
          </p:cNvPr>
          <p:cNvSpPr txBox="1"/>
          <p:nvPr/>
        </p:nvSpPr>
        <p:spPr>
          <a:xfrm>
            <a:off x="838199" y="1828799"/>
            <a:ext cx="10515600" cy="420624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 language </a:t>
            </a:r>
            <a:r>
              <a:rPr lang="en-GB" sz="2800" b="1" dirty="0">
                <a:latin typeface="ui-sans-serif"/>
              </a:rPr>
              <a:t>m</a:t>
            </a:r>
            <a:r>
              <a:rPr lang="en-GB" sz="2800" b="1" i="0" u="none" strike="noStrike" dirty="0">
                <a:effectLst/>
                <a:latin typeface="ui-sans-serif"/>
              </a:rPr>
              <a:t>odel determines the probability of a sequence of words</a:t>
            </a:r>
          </a:p>
          <a:p>
            <a:endParaRPr lang="en-GB" sz="2800" b="1" dirty="0">
              <a:latin typeface="ui-sans-serif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Speech recognition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Translation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Auto correct / completion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Text generation</a:t>
            </a:r>
            <a:endParaRPr lang="en-GB" sz="2800" b="1" dirty="0">
              <a:latin typeface="ui-sans-serif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13DD032D-698B-CD75-FF7B-F8EBD66D4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</p:spTree>
    <p:extLst>
      <p:ext uri="{BB962C8B-B14F-4D97-AF65-F5344CB8AC3E}">
        <p14:creationId xmlns:p14="http://schemas.microsoft.com/office/powerpoint/2010/main" val="417872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4F786-C634-EEB9-9B9A-BC09623E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7C968-5DB0-8B72-5FEF-14B15A5B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2DBB670-A062-C29E-0261-8CD7EE9C766F}"/>
              </a:ext>
            </a:extLst>
          </p:cNvPr>
          <p:cNvSpPr txBox="1"/>
          <p:nvPr/>
        </p:nvSpPr>
        <p:spPr>
          <a:xfrm>
            <a:off x="838199" y="1828799"/>
            <a:ext cx="10515600" cy="420624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How to train a RNN based language model ?</a:t>
            </a:r>
          </a:p>
          <a:p>
            <a:endParaRPr lang="en-GB" sz="2800" b="1" dirty="0">
              <a:latin typeface="ui-sans-serif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Training is self-supervised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Corpus segmented into pieces such as chunks or sentences or paragraphs or documents…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Each piece is now one training example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B0CAC977-5369-3C06-C3F3-267015D8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</p:spTree>
    <p:extLst>
      <p:ext uri="{BB962C8B-B14F-4D97-AF65-F5344CB8AC3E}">
        <p14:creationId xmlns:p14="http://schemas.microsoft.com/office/powerpoint/2010/main" val="348500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402A-6EF2-C627-C902-59EDD7B18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41BDF-5EDB-C66F-7175-D3D5BC49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080623F-0158-A7A1-D5A8-A1D37382072C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How to train a RNN based language model ?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F03B25DD-0328-2832-0E67-26AF2463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7812E3F-6F7E-2A86-78A1-807B7698A2B6}"/>
                  </a:ext>
                </a:extLst>
              </p:cNvPr>
              <p:cNvSpPr txBox="1"/>
              <p:nvPr/>
            </p:nvSpPr>
            <p:spPr>
              <a:xfrm>
                <a:off x="1803004" y="5403084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7812E3F-6F7E-2A86-78A1-807B7698A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004" y="5403084"/>
                <a:ext cx="424732" cy="246221"/>
              </a:xfrm>
              <a:prstGeom prst="rect">
                <a:avLst/>
              </a:prstGeom>
              <a:blipFill>
                <a:blip r:embed="rId3"/>
                <a:stretch>
                  <a:fillRect l="-14706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46A6025-0E02-1BED-A7ED-E0B57F5CA4DF}"/>
                  </a:ext>
                </a:extLst>
              </p:cNvPr>
              <p:cNvSpPr txBox="1"/>
              <p:nvPr/>
            </p:nvSpPr>
            <p:spPr>
              <a:xfrm>
                <a:off x="1803004" y="3270847"/>
                <a:ext cx="424732" cy="24622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46A6025-0E02-1BED-A7ED-E0B57F5CA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004" y="3270847"/>
                <a:ext cx="424732" cy="246221"/>
              </a:xfrm>
              <a:prstGeom prst="rect">
                <a:avLst/>
              </a:prstGeom>
              <a:blipFill>
                <a:blip r:embed="rId4"/>
                <a:stretch>
                  <a:fillRect l="-14706" t="-15000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E4F79BE-A7F7-0AC4-8C32-C099C9AE5FE5}"/>
              </a:ext>
            </a:extLst>
          </p:cNvPr>
          <p:cNvSpPr/>
          <p:nvPr/>
        </p:nvSpPr>
        <p:spPr>
          <a:xfrm>
            <a:off x="1732008" y="4119541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137EC525-6F6A-2D7D-8EEF-CE238F557323}"/>
              </a:ext>
            </a:extLst>
          </p:cNvPr>
          <p:cNvCxnSpPr>
            <a:cxnSpLocks/>
          </p:cNvCxnSpPr>
          <p:nvPr/>
        </p:nvCxnSpPr>
        <p:spPr>
          <a:xfrm flipV="1">
            <a:off x="2011408" y="3848654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ABFE24F-CEA1-BF3C-D010-499A9B3B3C4E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flipH="1" flipV="1">
            <a:off x="2011408" y="4881541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5490611-160C-FFF8-1AF2-9F41E4AEA8DB}"/>
                  </a:ext>
                </a:extLst>
              </p:cNvPr>
              <p:cNvSpPr txBox="1"/>
              <p:nvPr/>
            </p:nvSpPr>
            <p:spPr>
              <a:xfrm>
                <a:off x="2438252" y="4119541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5490611-160C-FFF8-1AF2-9F41E4AEA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252" y="4119541"/>
                <a:ext cx="429348" cy="246221"/>
              </a:xfrm>
              <a:prstGeom prst="rect">
                <a:avLst/>
              </a:prstGeom>
              <a:blipFill>
                <a:blip r:embed="rId5"/>
                <a:stretch>
                  <a:fillRect l="-11765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C0C0ED8-6A30-FBDE-86EA-3428509A2813}"/>
                  </a:ext>
                </a:extLst>
              </p:cNvPr>
              <p:cNvSpPr txBox="1"/>
              <p:nvPr/>
            </p:nvSpPr>
            <p:spPr>
              <a:xfrm>
                <a:off x="3077068" y="5409180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C0C0ED8-6A30-FBDE-86EA-3428509A2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068" y="5409180"/>
                <a:ext cx="424732" cy="246221"/>
              </a:xfrm>
              <a:prstGeom prst="rect">
                <a:avLst/>
              </a:prstGeom>
              <a:blipFill>
                <a:blip r:embed="rId6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0AB1EAD-23AE-1ECD-ADAF-E07681B39063}"/>
              </a:ext>
            </a:extLst>
          </p:cNvPr>
          <p:cNvSpPr/>
          <p:nvPr/>
        </p:nvSpPr>
        <p:spPr>
          <a:xfrm>
            <a:off x="3006072" y="4125637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F085B4D-3934-A3A2-0A11-08A6E1BB5828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H="1" flipV="1">
            <a:off x="3285472" y="4887637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A181F4F9-34D5-D538-B986-35D2DFF4C74D}"/>
                  </a:ext>
                </a:extLst>
              </p:cNvPr>
              <p:cNvSpPr txBox="1"/>
              <p:nvPr/>
            </p:nvSpPr>
            <p:spPr>
              <a:xfrm>
                <a:off x="4351132" y="5415276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A181F4F9-34D5-D538-B986-35D2DFF4C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132" y="5415276"/>
                <a:ext cx="424732" cy="246221"/>
              </a:xfrm>
              <a:prstGeom prst="rect">
                <a:avLst/>
              </a:prstGeom>
              <a:blipFill>
                <a:blip r:embed="rId7"/>
                <a:stretch>
                  <a:fillRect l="-14706" r="-8824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ED130AA-38A4-75FF-7C2D-44E61046E78A}"/>
              </a:ext>
            </a:extLst>
          </p:cNvPr>
          <p:cNvSpPr/>
          <p:nvPr/>
        </p:nvSpPr>
        <p:spPr>
          <a:xfrm>
            <a:off x="4280136" y="4131733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AFEE1DC-43F2-70F4-0787-688BE0684948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4559536" y="4893733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E3407FF2-2773-7E69-E7BC-AF2226BE63D4}"/>
                  </a:ext>
                </a:extLst>
              </p:cNvPr>
              <p:cNvSpPr txBox="1"/>
              <p:nvPr/>
            </p:nvSpPr>
            <p:spPr>
              <a:xfrm>
                <a:off x="5613004" y="5421372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E3407FF2-2773-7E69-E7BC-AF2226BE6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04" y="5421372"/>
                <a:ext cx="424732" cy="246221"/>
              </a:xfrm>
              <a:prstGeom prst="rect">
                <a:avLst/>
              </a:prstGeom>
              <a:blipFill>
                <a:blip r:embed="rId8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B908698-FD7E-3352-1483-6FCF6A4114E9}"/>
              </a:ext>
            </a:extLst>
          </p:cNvPr>
          <p:cNvSpPr/>
          <p:nvPr/>
        </p:nvSpPr>
        <p:spPr>
          <a:xfrm>
            <a:off x="5542008" y="4137829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0832048D-D00D-C696-3C81-633B1F9232CC}"/>
              </a:ext>
            </a:extLst>
          </p:cNvPr>
          <p:cNvCxnSpPr>
            <a:cxnSpLocks/>
            <a:stCxn id="17" idx="0"/>
            <a:endCxn id="18" idx="2"/>
          </p:cNvCxnSpPr>
          <p:nvPr/>
        </p:nvCxnSpPr>
        <p:spPr>
          <a:xfrm flipH="1" flipV="1">
            <a:off x="5821408" y="4899829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BA590E35-54D8-D578-B4D4-5D62E83636E9}"/>
                  </a:ext>
                </a:extLst>
              </p:cNvPr>
              <p:cNvSpPr txBox="1"/>
              <p:nvPr/>
            </p:nvSpPr>
            <p:spPr>
              <a:xfrm>
                <a:off x="3687088" y="4119541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BA590E35-54D8-D578-B4D4-5D62E8363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088" y="4119541"/>
                <a:ext cx="429348" cy="246221"/>
              </a:xfrm>
              <a:prstGeom prst="rect">
                <a:avLst/>
              </a:prstGeom>
              <a:blipFill>
                <a:blip r:embed="rId9"/>
                <a:stretch>
                  <a:fillRect l="-11765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DC985841-105F-7854-B4E0-FF3DFE7A7C71}"/>
                  </a:ext>
                </a:extLst>
              </p:cNvPr>
              <p:cNvSpPr txBox="1"/>
              <p:nvPr/>
            </p:nvSpPr>
            <p:spPr>
              <a:xfrm>
                <a:off x="5002636" y="4127330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DC985841-105F-7854-B4E0-FF3DFE7A7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636" y="4127330"/>
                <a:ext cx="429348" cy="246221"/>
              </a:xfrm>
              <a:prstGeom prst="rect">
                <a:avLst/>
              </a:prstGeom>
              <a:blipFill>
                <a:blip r:embed="rId10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BD8501DD-ED8C-2DB7-62E7-0F25714E3F5C}"/>
              </a:ext>
            </a:extLst>
          </p:cNvPr>
          <p:cNvCxnSpPr>
            <a:stCxn id="7" idx="3"/>
            <a:endCxn id="12" idx="1"/>
          </p:cNvCxnSpPr>
          <p:nvPr/>
        </p:nvCxnSpPr>
        <p:spPr>
          <a:xfrm>
            <a:off x="2290808" y="4500541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368AD5E3-2A67-87FC-3298-6D031AB33A6A}"/>
              </a:ext>
            </a:extLst>
          </p:cNvPr>
          <p:cNvCxnSpPr/>
          <p:nvPr/>
        </p:nvCxnSpPr>
        <p:spPr>
          <a:xfrm>
            <a:off x="3564872" y="4518829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ED54301-4FDA-A216-75C7-72347C0F2AE9}"/>
              </a:ext>
            </a:extLst>
          </p:cNvPr>
          <p:cNvCxnSpPr/>
          <p:nvPr/>
        </p:nvCxnSpPr>
        <p:spPr>
          <a:xfrm>
            <a:off x="4835468" y="4518829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22C21F3-C9CC-0E5A-6939-DB9F9F9DF765}"/>
              </a:ext>
            </a:extLst>
          </p:cNvPr>
          <p:cNvSpPr txBox="1"/>
          <p:nvPr/>
        </p:nvSpPr>
        <p:spPr>
          <a:xfrm>
            <a:off x="1725020" y="5724572"/>
            <a:ext cx="142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“She”</a:t>
            </a:r>
          </a:p>
          <a:p>
            <a:r>
              <a:rPr lang="en-GB" sz="1000" dirty="0"/>
              <a:t>[0.00154, 0.58..]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3FF8FA3-F0C7-1593-A1D9-34305F940642}"/>
              </a:ext>
            </a:extLst>
          </p:cNvPr>
          <p:cNvSpPr txBox="1"/>
          <p:nvPr/>
        </p:nvSpPr>
        <p:spPr>
          <a:xfrm>
            <a:off x="2880364" y="5747158"/>
            <a:ext cx="1093032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sz="1000" dirty="0"/>
              <a:t>“swam”</a:t>
            </a:r>
          </a:p>
          <a:p>
            <a:r>
              <a:rPr lang="en-GB" sz="1000" dirty="0"/>
              <a:t>[0.0445, 0.078..]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646AC45-0835-488D-7C38-1F6B961125E9}"/>
              </a:ext>
            </a:extLst>
          </p:cNvPr>
          <p:cNvSpPr txBox="1"/>
          <p:nvPr/>
        </p:nvSpPr>
        <p:spPr>
          <a:xfrm>
            <a:off x="4226564" y="5747158"/>
            <a:ext cx="1093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“in”</a:t>
            </a:r>
          </a:p>
          <a:p>
            <a:r>
              <a:rPr lang="en-GB" sz="1000" dirty="0"/>
              <a:t>[0.0021, 0.008..]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C452D82-98F8-9E95-D3B5-8CF38EB5327A}"/>
              </a:ext>
            </a:extLst>
          </p:cNvPr>
          <p:cNvSpPr txBox="1"/>
          <p:nvPr/>
        </p:nvSpPr>
        <p:spPr>
          <a:xfrm>
            <a:off x="5542008" y="5747158"/>
            <a:ext cx="1093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“the”</a:t>
            </a:r>
          </a:p>
          <a:p>
            <a:r>
              <a:rPr lang="en-GB" sz="1000" dirty="0"/>
              <a:t>[0.1821, 0.082..]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380EFE6-D1C9-B476-C97C-BA6FA01A2880}"/>
              </a:ext>
            </a:extLst>
          </p:cNvPr>
          <p:cNvSpPr txBox="1"/>
          <p:nvPr/>
        </p:nvSpPr>
        <p:spPr>
          <a:xfrm>
            <a:off x="2071374" y="387465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75A2D7E-7521-2F47-FBCA-4CD011590643}"/>
              </a:ext>
            </a:extLst>
          </p:cNvPr>
          <p:cNvSpPr txBox="1"/>
          <p:nvPr/>
        </p:nvSpPr>
        <p:spPr>
          <a:xfrm>
            <a:off x="2041888" y="4957646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8495F77-4011-6F8B-9314-ADB6CBF1318D}"/>
              </a:ext>
            </a:extLst>
          </p:cNvPr>
          <p:cNvSpPr txBox="1"/>
          <p:nvPr/>
        </p:nvSpPr>
        <p:spPr>
          <a:xfrm>
            <a:off x="3341352" y="495137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BB917F3-1692-F1F3-7A5A-56D1DCFE58DF}"/>
              </a:ext>
            </a:extLst>
          </p:cNvPr>
          <p:cNvSpPr txBox="1"/>
          <p:nvPr/>
        </p:nvSpPr>
        <p:spPr>
          <a:xfrm>
            <a:off x="4591032" y="4957471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DA7AE15-7463-AAFD-2EA1-0B4D31905296}"/>
              </a:ext>
            </a:extLst>
          </p:cNvPr>
          <p:cNvSpPr txBox="1"/>
          <p:nvPr/>
        </p:nvSpPr>
        <p:spPr>
          <a:xfrm>
            <a:off x="5791944" y="495137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64B81AE-1C08-97A5-F6AF-D3FFD4910823}"/>
              </a:ext>
            </a:extLst>
          </p:cNvPr>
          <p:cNvSpPr txBox="1"/>
          <p:nvPr/>
        </p:nvSpPr>
        <p:spPr>
          <a:xfrm>
            <a:off x="2447831" y="4518829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D81DB7A-7FE5-07C6-6795-96B165FAEFBC}"/>
              </a:ext>
            </a:extLst>
          </p:cNvPr>
          <p:cNvSpPr txBox="1"/>
          <p:nvPr/>
        </p:nvSpPr>
        <p:spPr>
          <a:xfrm>
            <a:off x="3697511" y="4512733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AD61866-AB7F-1CC1-E2C7-025839339D46}"/>
              </a:ext>
            </a:extLst>
          </p:cNvPr>
          <p:cNvSpPr txBox="1"/>
          <p:nvPr/>
        </p:nvSpPr>
        <p:spPr>
          <a:xfrm>
            <a:off x="4995959" y="4518829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ADD887DB-63FE-BE09-DA34-123DE130CF6C}"/>
                  </a:ext>
                </a:extLst>
              </p:cNvPr>
              <p:cNvSpPr txBox="1"/>
              <p:nvPr/>
            </p:nvSpPr>
            <p:spPr>
              <a:xfrm>
                <a:off x="1265362" y="4127330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ADD887DB-63FE-BE09-DA34-123DE130C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362" y="4127330"/>
                <a:ext cx="429348" cy="246221"/>
              </a:xfrm>
              <a:prstGeom prst="rect">
                <a:avLst/>
              </a:prstGeom>
              <a:blipFill>
                <a:blip r:embed="rId11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F1A6CEB1-F4B3-0598-8096-A0ACBD00E94E}"/>
                  </a:ext>
                </a:extLst>
              </p:cNvPr>
              <p:cNvSpPr/>
              <p:nvPr/>
            </p:nvSpPr>
            <p:spPr>
              <a:xfrm>
                <a:off x="895862" y="4123657"/>
                <a:ext cx="345440" cy="762000"/>
              </a:xfrm>
              <a:prstGeom prst="round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F1A6CEB1-F4B3-0598-8096-A0ACBD00E9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62" y="4123657"/>
                <a:ext cx="345440" cy="76200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EED3C74B-4F29-17AF-DC2D-96824E34AFF6}"/>
              </a:ext>
            </a:extLst>
          </p:cNvPr>
          <p:cNvCxnSpPr>
            <a:cxnSpLocks/>
            <a:stCxn id="38" idx="3"/>
            <a:endCxn id="7" idx="1"/>
          </p:cNvCxnSpPr>
          <p:nvPr/>
        </p:nvCxnSpPr>
        <p:spPr>
          <a:xfrm flipV="1">
            <a:off x="1241302" y="4500541"/>
            <a:ext cx="490706" cy="4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F4F62563-F320-8D82-7237-D2D2A866398A}"/>
                  </a:ext>
                </a:extLst>
              </p:cNvPr>
              <p:cNvSpPr txBox="1"/>
              <p:nvPr/>
            </p:nvSpPr>
            <p:spPr>
              <a:xfrm>
                <a:off x="1794634" y="3573967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F4F62563-F320-8D82-7237-D2D2A8663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634" y="3573967"/>
                <a:ext cx="418000" cy="246221"/>
              </a:xfrm>
              <a:prstGeom prst="rect">
                <a:avLst/>
              </a:prstGeom>
              <a:blipFill>
                <a:blip r:embed="rId13"/>
                <a:stretch>
                  <a:fillRect l="-8824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30D5D3F0-A9C5-B703-EDCA-B47547B8E592}"/>
              </a:ext>
            </a:extLst>
          </p:cNvPr>
          <p:cNvCxnSpPr>
            <a:cxnSpLocks/>
          </p:cNvCxnSpPr>
          <p:nvPr/>
        </p:nvCxnSpPr>
        <p:spPr>
          <a:xfrm flipV="1">
            <a:off x="2013083" y="3528785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09DDBA46-6BFB-A94B-55F1-61B27C12CB61}"/>
                  </a:ext>
                </a:extLst>
              </p:cNvPr>
              <p:cNvSpPr txBox="1"/>
              <p:nvPr/>
            </p:nvSpPr>
            <p:spPr>
              <a:xfrm>
                <a:off x="3090861" y="3272526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09DDBA46-6BFB-A94B-55F1-61B27C12C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61" y="3272526"/>
                <a:ext cx="424732" cy="246221"/>
              </a:xfrm>
              <a:prstGeom prst="rect">
                <a:avLst/>
              </a:prstGeom>
              <a:blipFill>
                <a:blip r:embed="rId14"/>
                <a:stretch>
                  <a:fillRect l="-11765" t="-15000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64491C99-D5F6-28B0-F8AA-2D5E69A06018}"/>
              </a:ext>
            </a:extLst>
          </p:cNvPr>
          <p:cNvCxnSpPr>
            <a:cxnSpLocks/>
          </p:cNvCxnSpPr>
          <p:nvPr/>
        </p:nvCxnSpPr>
        <p:spPr>
          <a:xfrm flipV="1">
            <a:off x="3299265" y="3850333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59DFABC9-71B8-3324-096F-A1D130F000B5}"/>
              </a:ext>
            </a:extLst>
          </p:cNvPr>
          <p:cNvSpPr txBox="1"/>
          <p:nvPr/>
        </p:nvSpPr>
        <p:spPr>
          <a:xfrm>
            <a:off x="3359231" y="3876334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1B682366-04BA-50CD-150F-5AD95BA45209}"/>
                  </a:ext>
                </a:extLst>
              </p:cNvPr>
              <p:cNvSpPr txBox="1"/>
              <p:nvPr/>
            </p:nvSpPr>
            <p:spPr>
              <a:xfrm>
                <a:off x="3082491" y="3575646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1B682366-04BA-50CD-150F-5AD95BA45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491" y="3575646"/>
                <a:ext cx="418000" cy="246221"/>
              </a:xfrm>
              <a:prstGeom prst="rect">
                <a:avLst/>
              </a:prstGeom>
              <a:blipFill>
                <a:blip r:embed="rId15"/>
                <a:stretch>
                  <a:fillRect l="-5882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1A2F1FE5-ABC9-5A32-0408-F4C9646B557E}"/>
              </a:ext>
            </a:extLst>
          </p:cNvPr>
          <p:cNvCxnSpPr>
            <a:cxnSpLocks/>
          </p:cNvCxnSpPr>
          <p:nvPr/>
        </p:nvCxnSpPr>
        <p:spPr>
          <a:xfrm flipV="1">
            <a:off x="3300940" y="3530464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5D6A1771-4C36-6774-727F-7AEF172345D3}"/>
                  </a:ext>
                </a:extLst>
              </p:cNvPr>
              <p:cNvSpPr txBox="1"/>
              <p:nvPr/>
            </p:nvSpPr>
            <p:spPr>
              <a:xfrm>
                <a:off x="4367002" y="3262477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5D6A1771-4C36-6774-727F-7AEF17234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002" y="3262477"/>
                <a:ext cx="424732" cy="246221"/>
              </a:xfrm>
              <a:prstGeom prst="rect">
                <a:avLst/>
              </a:prstGeom>
              <a:blipFill>
                <a:blip r:embed="rId16"/>
                <a:stretch>
                  <a:fillRect l="-11429" t="-14286" r="-5714" b="-19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69264922-951A-075C-20B7-D0570F80CE2A}"/>
              </a:ext>
            </a:extLst>
          </p:cNvPr>
          <p:cNvCxnSpPr>
            <a:cxnSpLocks/>
          </p:cNvCxnSpPr>
          <p:nvPr/>
        </p:nvCxnSpPr>
        <p:spPr>
          <a:xfrm flipV="1">
            <a:off x="4575406" y="3840284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BD4571CE-83AA-A302-A943-8ACE7CF5A6A5}"/>
              </a:ext>
            </a:extLst>
          </p:cNvPr>
          <p:cNvSpPr txBox="1"/>
          <p:nvPr/>
        </p:nvSpPr>
        <p:spPr>
          <a:xfrm>
            <a:off x="4635372" y="386628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88E431F3-5DCE-6E62-FF0D-A8C00B0336F0}"/>
                  </a:ext>
                </a:extLst>
              </p:cNvPr>
              <p:cNvSpPr txBox="1"/>
              <p:nvPr/>
            </p:nvSpPr>
            <p:spPr>
              <a:xfrm>
                <a:off x="4358632" y="3565597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88E431F3-5DCE-6E62-FF0D-A8C00B033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632" y="3565597"/>
                <a:ext cx="418000" cy="246221"/>
              </a:xfrm>
              <a:prstGeom prst="rect">
                <a:avLst/>
              </a:prstGeom>
              <a:blipFill>
                <a:blip r:embed="rId17"/>
                <a:stretch>
                  <a:fillRect l="-8824" r="-2941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3276966A-CBB1-D204-51D9-C2C413C41FD1}"/>
              </a:ext>
            </a:extLst>
          </p:cNvPr>
          <p:cNvCxnSpPr>
            <a:cxnSpLocks/>
          </p:cNvCxnSpPr>
          <p:nvPr/>
        </p:nvCxnSpPr>
        <p:spPr>
          <a:xfrm flipV="1">
            <a:off x="4577081" y="3520415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E95397AF-BFCE-E8C1-4FC0-3FEC0E57C025}"/>
                  </a:ext>
                </a:extLst>
              </p:cNvPr>
              <p:cNvSpPr txBox="1"/>
              <p:nvPr/>
            </p:nvSpPr>
            <p:spPr>
              <a:xfrm>
                <a:off x="5633103" y="3272524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E95397AF-BFCE-E8C1-4FC0-3FEC0E57C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103" y="3272524"/>
                <a:ext cx="424732" cy="246221"/>
              </a:xfrm>
              <a:prstGeom prst="rect">
                <a:avLst/>
              </a:prstGeom>
              <a:blipFill>
                <a:blip r:embed="rId18"/>
                <a:stretch>
                  <a:fillRect l="-11429" t="-15000" r="-2857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7D28531A-09A1-6BB3-5BEA-6AA8913A9987}"/>
              </a:ext>
            </a:extLst>
          </p:cNvPr>
          <p:cNvCxnSpPr>
            <a:cxnSpLocks/>
          </p:cNvCxnSpPr>
          <p:nvPr/>
        </p:nvCxnSpPr>
        <p:spPr>
          <a:xfrm flipV="1">
            <a:off x="5841507" y="3850331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A7C17C3A-5DB2-53FC-327F-4D990B4FAB51}"/>
              </a:ext>
            </a:extLst>
          </p:cNvPr>
          <p:cNvSpPr txBox="1"/>
          <p:nvPr/>
        </p:nvSpPr>
        <p:spPr>
          <a:xfrm>
            <a:off x="5901473" y="3876332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F230A871-DF93-D93D-62B1-8D7224A4D076}"/>
                  </a:ext>
                </a:extLst>
              </p:cNvPr>
              <p:cNvSpPr txBox="1"/>
              <p:nvPr/>
            </p:nvSpPr>
            <p:spPr>
              <a:xfrm>
                <a:off x="5624733" y="3575644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F230A871-DF93-D93D-62B1-8D7224A4D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733" y="3575644"/>
                <a:ext cx="418000" cy="246221"/>
              </a:xfrm>
              <a:prstGeom prst="rect">
                <a:avLst/>
              </a:prstGeom>
              <a:blipFill>
                <a:blip r:embed="rId19"/>
                <a:stretch>
                  <a:fillRect l="-9091" r="-6061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E4D3D584-37FB-EC51-A208-F73FB0B57802}"/>
              </a:ext>
            </a:extLst>
          </p:cNvPr>
          <p:cNvCxnSpPr>
            <a:cxnSpLocks/>
          </p:cNvCxnSpPr>
          <p:nvPr/>
        </p:nvCxnSpPr>
        <p:spPr>
          <a:xfrm flipV="1">
            <a:off x="5843182" y="3530462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9AC2473F-6440-9526-11B8-01DC98F654D0}"/>
                  </a:ext>
                </a:extLst>
              </p:cNvPr>
              <p:cNvSpPr txBox="1"/>
              <p:nvPr/>
            </p:nvSpPr>
            <p:spPr>
              <a:xfrm>
                <a:off x="1787763" y="4113788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9AC2473F-6440-9526-11B8-01DC98F65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763" y="4113788"/>
                <a:ext cx="429348" cy="246221"/>
              </a:xfrm>
              <a:prstGeom prst="rect">
                <a:avLst/>
              </a:prstGeom>
              <a:blipFill>
                <a:blip r:embed="rId20"/>
                <a:stretch>
                  <a:fillRect l="-11429" r="-5714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5EE9E7CA-FD6E-D9D2-DDBD-8766535992A5}"/>
                  </a:ext>
                </a:extLst>
              </p:cNvPr>
              <p:cNvSpPr txBox="1"/>
              <p:nvPr/>
            </p:nvSpPr>
            <p:spPr>
              <a:xfrm>
                <a:off x="3103593" y="4130799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5EE9E7CA-FD6E-D9D2-DDBD-876653599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593" y="4130799"/>
                <a:ext cx="429348" cy="246221"/>
              </a:xfrm>
              <a:prstGeom prst="rect">
                <a:avLst/>
              </a:prstGeom>
              <a:blipFill>
                <a:blip r:embed="rId21"/>
                <a:stretch>
                  <a:fillRect l="-11429" r="-2857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86708ABB-6886-42F1-08A0-4F32A7B0D3B4}"/>
                  </a:ext>
                </a:extLst>
              </p:cNvPr>
              <p:cNvSpPr txBox="1"/>
              <p:nvPr/>
            </p:nvSpPr>
            <p:spPr>
              <a:xfrm>
                <a:off x="4352147" y="4137755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86708ABB-6886-42F1-08A0-4F32A7B0D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147" y="4137755"/>
                <a:ext cx="429348" cy="246221"/>
              </a:xfrm>
              <a:prstGeom prst="rect">
                <a:avLst/>
              </a:prstGeom>
              <a:blipFill>
                <a:blip r:embed="rId22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7AA8FE38-7839-453D-94B1-4BA457E45983}"/>
                  </a:ext>
                </a:extLst>
              </p:cNvPr>
              <p:cNvSpPr txBox="1"/>
              <p:nvPr/>
            </p:nvSpPr>
            <p:spPr>
              <a:xfrm>
                <a:off x="5653285" y="4137908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7AA8FE38-7839-453D-94B1-4BA457E45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285" y="4137908"/>
                <a:ext cx="429348" cy="246221"/>
              </a:xfrm>
              <a:prstGeom prst="rect">
                <a:avLst/>
              </a:prstGeom>
              <a:blipFill>
                <a:blip r:embed="rId23"/>
                <a:stretch>
                  <a:fillRect l="-8333" r="-2778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7245F17C-CC6B-39E5-75B8-A53BD2C25DB5}"/>
              </a:ext>
            </a:extLst>
          </p:cNvPr>
          <p:cNvCxnSpPr/>
          <p:nvPr/>
        </p:nvCxnSpPr>
        <p:spPr>
          <a:xfrm>
            <a:off x="1725020" y="4385252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6198FCF0-D181-FCA9-D940-6D0524B798B6}"/>
              </a:ext>
            </a:extLst>
          </p:cNvPr>
          <p:cNvCxnSpPr/>
          <p:nvPr/>
        </p:nvCxnSpPr>
        <p:spPr>
          <a:xfrm>
            <a:off x="3006072" y="4388075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D50C89E1-F4CF-C53A-6485-8813C557060A}"/>
              </a:ext>
            </a:extLst>
          </p:cNvPr>
          <p:cNvCxnSpPr/>
          <p:nvPr/>
        </p:nvCxnSpPr>
        <p:spPr>
          <a:xfrm>
            <a:off x="4272702" y="4398332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9A394019-7567-F772-7948-242F3B970AE2}"/>
              </a:ext>
            </a:extLst>
          </p:cNvPr>
          <p:cNvCxnSpPr/>
          <p:nvPr/>
        </p:nvCxnSpPr>
        <p:spPr>
          <a:xfrm>
            <a:off x="5538514" y="4408589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F3874F03-840E-3892-00AE-305C5B7414BA}"/>
              </a:ext>
            </a:extLst>
          </p:cNvPr>
          <p:cNvSpPr txBox="1"/>
          <p:nvPr/>
        </p:nvSpPr>
        <p:spPr>
          <a:xfrm>
            <a:off x="107703" y="2244642"/>
            <a:ext cx="10148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softmax gives a probability for each word of the vocabulary of being the next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ZoneTexte 168">
                <a:extLst>
                  <a:ext uri="{FF2B5EF4-FFF2-40B4-BE49-F238E27FC236}">
                    <a16:creationId xmlns:a16="http://schemas.microsoft.com/office/drawing/2014/main" id="{EAB621C6-B385-5CDD-3D6D-7D5A78573405}"/>
                  </a:ext>
                </a:extLst>
              </p:cNvPr>
              <p:cNvSpPr txBox="1"/>
              <p:nvPr/>
            </p:nvSpPr>
            <p:spPr>
              <a:xfrm>
                <a:off x="1114816" y="2766565"/>
                <a:ext cx="25349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00" dirty="0"/>
                  <a:t>                …“hit”,    “swan”,  “ran”…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0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sz="10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0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fr-FR" sz="10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0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fr-FR" sz="10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000" dirty="0">
                    <a:highlight>
                      <a:srgbClr val="FFFF00"/>
                    </a:highlight>
                  </a:rPr>
                  <a:t>[…0.6,        0.02,         0.1…]</a:t>
                </a:r>
              </a:p>
            </p:txBody>
          </p:sp>
        </mc:Choice>
        <mc:Fallback xmlns="">
          <p:sp>
            <p:nvSpPr>
              <p:cNvPr id="169" name="ZoneTexte 168">
                <a:extLst>
                  <a:ext uri="{FF2B5EF4-FFF2-40B4-BE49-F238E27FC236}">
                    <a16:creationId xmlns:a16="http://schemas.microsoft.com/office/drawing/2014/main" id="{EAB621C6-B385-5CDD-3D6D-7D5A78573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816" y="2766565"/>
                <a:ext cx="2534927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ZoneTexte 169">
            <a:extLst>
              <a:ext uri="{FF2B5EF4-FFF2-40B4-BE49-F238E27FC236}">
                <a16:creationId xmlns:a16="http://schemas.microsoft.com/office/drawing/2014/main" id="{B008DA3F-43FC-A70E-0CF0-BE80CFDF3A78}"/>
              </a:ext>
            </a:extLst>
          </p:cNvPr>
          <p:cNvSpPr txBox="1"/>
          <p:nvPr/>
        </p:nvSpPr>
        <p:spPr>
          <a:xfrm>
            <a:off x="6703657" y="2236534"/>
            <a:ext cx="51196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Use next word in the sequence as target (y) for current time step.</a:t>
            </a:r>
          </a:p>
          <a:p>
            <a:endParaRPr lang="en-GB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For example, at t=1 we use the word “swam” as the target.</a:t>
            </a:r>
          </a:p>
          <a:p>
            <a:endParaRPr lang="en-GB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“swan” can be its word embedding or its index in the vocabulary.</a:t>
            </a:r>
          </a:p>
          <a:p>
            <a:endParaRPr lang="en-GB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And we continue for the rest of the sentence.</a:t>
            </a:r>
          </a:p>
          <a:p>
            <a:endParaRPr lang="en-GB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Note: </a:t>
            </a: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At time step 3 we feed the RNN with the word “in” and the hidden state is “She swam”.</a:t>
            </a: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The output is the probability distribution of each word of the vocabulary of being next in the sequence.</a:t>
            </a: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Then we calculate the loss and ignore the output itself. And instead feed the network the correct next word in the sequence “the”.</a:t>
            </a:r>
          </a:p>
          <a:p>
            <a:endParaRPr lang="en-GB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This technique is called </a:t>
            </a:r>
            <a:r>
              <a:rPr lang="en-GB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Teacher</a:t>
            </a:r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Forcing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ZoneTexte 170">
                <a:extLst>
                  <a:ext uri="{FF2B5EF4-FFF2-40B4-BE49-F238E27FC236}">
                    <a16:creationId xmlns:a16="http://schemas.microsoft.com/office/drawing/2014/main" id="{55C79CDF-C976-8CA2-810E-19D68EF141CF}"/>
                  </a:ext>
                </a:extLst>
              </p:cNvPr>
              <p:cNvSpPr txBox="1"/>
              <p:nvPr/>
            </p:nvSpPr>
            <p:spPr>
              <a:xfrm>
                <a:off x="1758502" y="2396468"/>
                <a:ext cx="4647747" cy="2072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fr-FR" sz="1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acc>
                      <m:accPr>
                        <m:chr m:val="̂"/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[« 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𝑠𝑤𝑎𝑛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»]</m:t>
                    </m:r>
                  </m:oMath>
                </a14:m>
                <a:r>
                  <a:rPr lang="en-GB" sz="12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…                                         </m:t>
                        </m:r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fr-FR" sz="1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acc>
                      <m:accPr>
                        <m:chr m:val="̂"/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[« 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»]</m:t>
                    </m:r>
                  </m:oMath>
                </a14:m>
                <a:r>
                  <a:rPr lang="en-GB" sz="1200" dirty="0">
                    <a:solidFill>
                      <a:srgbClr val="C00000"/>
                    </a:solidFill>
                  </a:rPr>
                  <a:t>.  </a:t>
                </a:r>
              </a:p>
            </p:txBody>
          </p:sp>
        </mc:Choice>
        <mc:Fallback xmlns="">
          <p:sp>
            <p:nvSpPr>
              <p:cNvPr id="171" name="ZoneTexte 170">
                <a:extLst>
                  <a:ext uri="{FF2B5EF4-FFF2-40B4-BE49-F238E27FC236}">
                    <a16:creationId xmlns:a16="http://schemas.microsoft.com/office/drawing/2014/main" id="{55C79CDF-C976-8CA2-810E-19D68EF14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502" y="2396468"/>
                <a:ext cx="4647747" cy="207236"/>
              </a:xfrm>
              <a:prstGeom prst="rect">
                <a:avLst/>
              </a:prstGeom>
              <a:blipFill>
                <a:blip r:embed="rId25"/>
                <a:stretch>
                  <a:fillRect l="-1090" t="-11765" r="-1090" b="-47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Connecteur droit avec flèche 171">
            <a:extLst>
              <a:ext uri="{FF2B5EF4-FFF2-40B4-BE49-F238E27FC236}">
                <a16:creationId xmlns:a16="http://schemas.microsoft.com/office/drawing/2014/main" id="{348090A5-BFBF-720C-2A5D-B2A6C4EA9632}"/>
              </a:ext>
            </a:extLst>
          </p:cNvPr>
          <p:cNvCxnSpPr>
            <a:cxnSpLocks/>
          </p:cNvCxnSpPr>
          <p:nvPr/>
        </p:nvCxnSpPr>
        <p:spPr>
          <a:xfrm flipV="1">
            <a:off x="1966141" y="2661742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08B88D0B-501C-699A-55EE-E210D5EA7D02}"/>
                  </a:ext>
                </a:extLst>
              </p:cNvPr>
              <p:cNvSpPr txBox="1"/>
              <p:nvPr/>
            </p:nvSpPr>
            <p:spPr>
              <a:xfrm>
                <a:off x="1746013" y="2052115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08B88D0B-501C-699A-55EE-E210D5EA7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013" y="2052115"/>
                <a:ext cx="424732" cy="246221"/>
              </a:xfrm>
              <a:prstGeom prst="rect">
                <a:avLst/>
              </a:prstGeom>
              <a:blipFill>
                <a:blip r:embed="rId26"/>
                <a:stretch>
                  <a:fillRect l="-11765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Connecteur droit avec flèche 173">
            <a:extLst>
              <a:ext uri="{FF2B5EF4-FFF2-40B4-BE49-F238E27FC236}">
                <a16:creationId xmlns:a16="http://schemas.microsoft.com/office/drawing/2014/main" id="{7C598F58-8872-529B-B4B6-B54D8D748EE3}"/>
              </a:ext>
            </a:extLst>
          </p:cNvPr>
          <p:cNvCxnSpPr>
            <a:cxnSpLocks/>
          </p:cNvCxnSpPr>
          <p:nvPr/>
        </p:nvCxnSpPr>
        <p:spPr>
          <a:xfrm rot="-300000" flipH="1">
            <a:off x="1971778" y="2299322"/>
            <a:ext cx="21492" cy="180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ZoneTexte 174">
                <a:extLst>
                  <a:ext uri="{FF2B5EF4-FFF2-40B4-BE49-F238E27FC236}">
                    <a16:creationId xmlns:a16="http://schemas.microsoft.com/office/drawing/2014/main" id="{9BF4C056-F7A8-60D4-D8C6-36598DD33944}"/>
                  </a:ext>
                </a:extLst>
              </p:cNvPr>
              <p:cNvSpPr txBox="1"/>
              <p:nvPr/>
            </p:nvSpPr>
            <p:spPr>
              <a:xfrm>
                <a:off x="2447831" y="2051791"/>
                <a:ext cx="4033510" cy="36948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CCE Loss : the higher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« </m:t>
                        </m:r>
                        <m: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𝑠𝑤𝑎𝑛</m:t>
                        </m:r>
                        <m: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»</m:t>
                        </m:r>
                      </m:e>
                    </m:d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𝑙𝑜𝑤𝑒𝑟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𝑙𝑜𝑠𝑠</m:t>
                    </m:r>
                  </m:oMath>
                </a14:m>
                <a:endParaRPr lang="en-GB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5" name="ZoneTexte 174">
                <a:extLst>
                  <a:ext uri="{FF2B5EF4-FFF2-40B4-BE49-F238E27FC236}">
                    <a16:creationId xmlns:a16="http://schemas.microsoft.com/office/drawing/2014/main" id="{9BF4C056-F7A8-60D4-D8C6-36598DD33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831" y="2051791"/>
                <a:ext cx="4033510" cy="36948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18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D189-1960-D324-14AF-1665C1E1D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66B1E5-3C67-81E8-5859-94ECEF5A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CAC22C-11ED-2DA8-2296-6E96AF63DFBF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Once the RNN is trained, Text generation is straight forward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2E5EAA42-6F43-299D-3917-83DD8C10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5F8325E-2DC4-9FF9-9DE7-DD8351065577}"/>
                  </a:ext>
                </a:extLst>
              </p:cNvPr>
              <p:cNvSpPr txBox="1"/>
              <p:nvPr/>
            </p:nvSpPr>
            <p:spPr>
              <a:xfrm>
                <a:off x="1803004" y="5403084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5F8325E-2DC4-9FF9-9DE7-DD8351065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004" y="5403084"/>
                <a:ext cx="424732" cy="246221"/>
              </a:xfrm>
              <a:prstGeom prst="rect">
                <a:avLst/>
              </a:prstGeom>
              <a:blipFill>
                <a:blip r:embed="rId3"/>
                <a:stretch>
                  <a:fillRect l="-14706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F4645B0-CDB7-FE97-E34F-8CDC0A699EF3}"/>
                  </a:ext>
                </a:extLst>
              </p:cNvPr>
              <p:cNvSpPr txBox="1"/>
              <p:nvPr/>
            </p:nvSpPr>
            <p:spPr>
              <a:xfrm>
                <a:off x="1803004" y="3270847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F4645B0-CDB7-FE97-E34F-8CDC0A699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004" y="3270847"/>
                <a:ext cx="424732" cy="246221"/>
              </a:xfrm>
              <a:prstGeom prst="rect">
                <a:avLst/>
              </a:prstGeom>
              <a:blipFill>
                <a:blip r:embed="rId4"/>
                <a:stretch>
                  <a:fillRect l="-14706" t="-15000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081B5A7-9997-262A-2108-C1E10848709E}"/>
              </a:ext>
            </a:extLst>
          </p:cNvPr>
          <p:cNvSpPr/>
          <p:nvPr/>
        </p:nvSpPr>
        <p:spPr>
          <a:xfrm>
            <a:off x="1732008" y="4119541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48850BD6-D4E0-9711-8F5B-786BB39EE7B6}"/>
              </a:ext>
            </a:extLst>
          </p:cNvPr>
          <p:cNvCxnSpPr>
            <a:cxnSpLocks/>
          </p:cNvCxnSpPr>
          <p:nvPr/>
        </p:nvCxnSpPr>
        <p:spPr>
          <a:xfrm flipV="1">
            <a:off x="2011408" y="3848654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1EC4A9AB-AB65-4B6E-1104-CD9FA3AE5E3C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flipH="1" flipV="1">
            <a:off x="2011408" y="4881541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90F42F22-0FFA-5886-A1D0-EF44B5E7BB12}"/>
                  </a:ext>
                </a:extLst>
              </p:cNvPr>
              <p:cNvSpPr txBox="1"/>
              <p:nvPr/>
            </p:nvSpPr>
            <p:spPr>
              <a:xfrm>
                <a:off x="2438252" y="4119541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90F42F22-0FFA-5886-A1D0-EF44B5E7B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252" y="4119541"/>
                <a:ext cx="429348" cy="246221"/>
              </a:xfrm>
              <a:prstGeom prst="rect">
                <a:avLst/>
              </a:prstGeom>
              <a:blipFill>
                <a:blip r:embed="rId5"/>
                <a:stretch>
                  <a:fillRect l="-11765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8A815AD4-C07D-C4C3-FD6A-2EC822772209}"/>
                  </a:ext>
                </a:extLst>
              </p:cNvPr>
              <p:cNvSpPr txBox="1"/>
              <p:nvPr/>
            </p:nvSpPr>
            <p:spPr>
              <a:xfrm>
                <a:off x="3077068" y="5409180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8A815AD4-C07D-C4C3-FD6A-2EC822772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068" y="5409180"/>
                <a:ext cx="424732" cy="246221"/>
              </a:xfrm>
              <a:prstGeom prst="rect">
                <a:avLst/>
              </a:prstGeom>
              <a:blipFill>
                <a:blip r:embed="rId6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354DB61-CE40-BE05-F1E2-063FB30AC4DB}"/>
              </a:ext>
            </a:extLst>
          </p:cNvPr>
          <p:cNvSpPr/>
          <p:nvPr/>
        </p:nvSpPr>
        <p:spPr>
          <a:xfrm>
            <a:off x="3006072" y="4125637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BBCAA080-B1AA-7E0C-5B54-C4F20EEC9224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H="1" flipV="1">
            <a:off x="3285472" y="4887637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4715E2D-B0AE-942E-7FF4-6AF757A8F2B8}"/>
                  </a:ext>
                </a:extLst>
              </p:cNvPr>
              <p:cNvSpPr txBox="1"/>
              <p:nvPr/>
            </p:nvSpPr>
            <p:spPr>
              <a:xfrm>
                <a:off x="4351132" y="5415276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4715E2D-B0AE-942E-7FF4-6AF757A8F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132" y="5415276"/>
                <a:ext cx="424732" cy="246221"/>
              </a:xfrm>
              <a:prstGeom prst="rect">
                <a:avLst/>
              </a:prstGeom>
              <a:blipFill>
                <a:blip r:embed="rId7"/>
                <a:stretch>
                  <a:fillRect l="-14706" r="-8824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AC6F3D0-435D-D54E-BE84-19D80C649A77}"/>
              </a:ext>
            </a:extLst>
          </p:cNvPr>
          <p:cNvSpPr/>
          <p:nvPr/>
        </p:nvSpPr>
        <p:spPr>
          <a:xfrm>
            <a:off x="4280136" y="4131733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D308BB4-237C-CA4B-2502-60BC374ADF6E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4559536" y="4893733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FA1DE09-AC39-0F10-094B-AE306E440B07}"/>
                  </a:ext>
                </a:extLst>
              </p:cNvPr>
              <p:cNvSpPr txBox="1"/>
              <p:nvPr/>
            </p:nvSpPr>
            <p:spPr>
              <a:xfrm>
                <a:off x="5613004" y="5421372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FA1DE09-AC39-0F10-094B-AE306E440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04" y="5421372"/>
                <a:ext cx="424732" cy="246221"/>
              </a:xfrm>
              <a:prstGeom prst="rect">
                <a:avLst/>
              </a:prstGeom>
              <a:blipFill>
                <a:blip r:embed="rId8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E2EEBC1-0D59-6AF2-F88F-0B109685BD1A}"/>
              </a:ext>
            </a:extLst>
          </p:cNvPr>
          <p:cNvSpPr/>
          <p:nvPr/>
        </p:nvSpPr>
        <p:spPr>
          <a:xfrm>
            <a:off x="5542008" y="4137829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6C4558C5-1B30-C75A-59CD-DE76617577EE}"/>
              </a:ext>
            </a:extLst>
          </p:cNvPr>
          <p:cNvCxnSpPr>
            <a:cxnSpLocks/>
            <a:stCxn id="17" idx="0"/>
            <a:endCxn id="18" idx="2"/>
          </p:cNvCxnSpPr>
          <p:nvPr/>
        </p:nvCxnSpPr>
        <p:spPr>
          <a:xfrm flipH="1" flipV="1">
            <a:off x="5821408" y="4899829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27599D3E-E04E-45C5-A789-14E9EBE1FA9B}"/>
                  </a:ext>
                </a:extLst>
              </p:cNvPr>
              <p:cNvSpPr txBox="1"/>
              <p:nvPr/>
            </p:nvSpPr>
            <p:spPr>
              <a:xfrm>
                <a:off x="3687088" y="4119541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27599D3E-E04E-45C5-A789-14E9EBE1F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088" y="4119541"/>
                <a:ext cx="429348" cy="246221"/>
              </a:xfrm>
              <a:prstGeom prst="rect">
                <a:avLst/>
              </a:prstGeom>
              <a:blipFill>
                <a:blip r:embed="rId9"/>
                <a:stretch>
                  <a:fillRect l="-11765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6159AD52-B1C4-57C7-32C6-5A7F8DB76BCA}"/>
                  </a:ext>
                </a:extLst>
              </p:cNvPr>
              <p:cNvSpPr txBox="1"/>
              <p:nvPr/>
            </p:nvSpPr>
            <p:spPr>
              <a:xfrm>
                <a:off x="5002636" y="4127330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6159AD52-B1C4-57C7-32C6-5A7F8DB76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636" y="4127330"/>
                <a:ext cx="429348" cy="246221"/>
              </a:xfrm>
              <a:prstGeom prst="rect">
                <a:avLst/>
              </a:prstGeom>
              <a:blipFill>
                <a:blip r:embed="rId10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A5101AE-A68F-EF7C-BFC9-9F459895366A}"/>
              </a:ext>
            </a:extLst>
          </p:cNvPr>
          <p:cNvCxnSpPr>
            <a:stCxn id="7" idx="3"/>
            <a:endCxn id="12" idx="1"/>
          </p:cNvCxnSpPr>
          <p:nvPr/>
        </p:nvCxnSpPr>
        <p:spPr>
          <a:xfrm>
            <a:off x="2290808" y="4500541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73DF1CA8-5D83-9777-2BBF-CDE7DEB4366F}"/>
              </a:ext>
            </a:extLst>
          </p:cNvPr>
          <p:cNvCxnSpPr/>
          <p:nvPr/>
        </p:nvCxnSpPr>
        <p:spPr>
          <a:xfrm>
            <a:off x="3564872" y="4518829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FB8AF143-5F43-7106-CD6E-65FDA7DC9D61}"/>
              </a:ext>
            </a:extLst>
          </p:cNvPr>
          <p:cNvCxnSpPr/>
          <p:nvPr/>
        </p:nvCxnSpPr>
        <p:spPr>
          <a:xfrm>
            <a:off x="4835468" y="4518829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0B2590D-9306-D577-1068-DF42FE6A85F2}"/>
              </a:ext>
            </a:extLst>
          </p:cNvPr>
          <p:cNvSpPr txBox="1"/>
          <p:nvPr/>
        </p:nvSpPr>
        <p:spPr>
          <a:xfrm>
            <a:off x="1725020" y="5724572"/>
            <a:ext cx="142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&lt;Start&gt;</a:t>
            </a:r>
          </a:p>
          <a:p>
            <a:r>
              <a:rPr lang="en-GB" sz="1000" dirty="0"/>
              <a:t>[0.00154, 0.58..]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29DE7AF-2833-E9BA-8CE3-E4260F16DAC3}"/>
              </a:ext>
            </a:extLst>
          </p:cNvPr>
          <p:cNvSpPr txBox="1"/>
          <p:nvPr/>
        </p:nvSpPr>
        <p:spPr>
          <a:xfrm>
            <a:off x="2880364" y="5761446"/>
            <a:ext cx="10930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</a:t>
            </a: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The</a:t>
            </a:r>
            <a:r>
              <a:rPr lang="en-GB" sz="1000" dirty="0"/>
              <a:t>”</a:t>
            </a:r>
          </a:p>
          <a:p>
            <a:r>
              <a:rPr lang="en-GB" sz="1000" dirty="0"/>
              <a:t>[0.0445, 0.078..]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D0DF23B-42F8-6767-7B2D-187A138F746A}"/>
              </a:ext>
            </a:extLst>
          </p:cNvPr>
          <p:cNvSpPr txBox="1"/>
          <p:nvPr/>
        </p:nvSpPr>
        <p:spPr>
          <a:xfrm>
            <a:off x="4226564" y="5747158"/>
            <a:ext cx="10930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</a:t>
            </a: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cat</a:t>
            </a:r>
            <a:r>
              <a:rPr lang="en-GB" sz="1000" dirty="0"/>
              <a:t>”</a:t>
            </a:r>
          </a:p>
          <a:p>
            <a:r>
              <a:rPr lang="en-GB" sz="1000" dirty="0"/>
              <a:t>[0.0021, 0.008..]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2C3FB2B-FAC0-82C5-2B7B-2BAFAECC78C1}"/>
              </a:ext>
            </a:extLst>
          </p:cNvPr>
          <p:cNvSpPr txBox="1"/>
          <p:nvPr/>
        </p:nvSpPr>
        <p:spPr>
          <a:xfrm>
            <a:off x="5542008" y="5747158"/>
            <a:ext cx="10930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</a:t>
            </a:r>
            <a:r>
              <a:rPr lang="en-GB" sz="1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knowcked</a:t>
            </a:r>
            <a:r>
              <a:rPr lang="en-GB" sz="1000" dirty="0"/>
              <a:t>”</a:t>
            </a:r>
          </a:p>
          <a:p>
            <a:r>
              <a:rPr lang="en-GB" sz="1000" dirty="0"/>
              <a:t>[0.1821, 0.082..]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AB3683D-6D2B-6D52-2BBD-827F1697E093}"/>
              </a:ext>
            </a:extLst>
          </p:cNvPr>
          <p:cNvSpPr txBox="1"/>
          <p:nvPr/>
        </p:nvSpPr>
        <p:spPr>
          <a:xfrm>
            <a:off x="2071374" y="387465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BF1D04D-DA30-7827-2DA6-EA10DC56BA09}"/>
              </a:ext>
            </a:extLst>
          </p:cNvPr>
          <p:cNvSpPr txBox="1"/>
          <p:nvPr/>
        </p:nvSpPr>
        <p:spPr>
          <a:xfrm>
            <a:off x="2041888" y="4957646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239A3A4-EBF4-B7DD-8C57-83A91B441F0E}"/>
              </a:ext>
            </a:extLst>
          </p:cNvPr>
          <p:cNvSpPr txBox="1"/>
          <p:nvPr/>
        </p:nvSpPr>
        <p:spPr>
          <a:xfrm>
            <a:off x="3341352" y="495137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1FB7982-75F8-6A7C-B652-C22E9C7D0C32}"/>
              </a:ext>
            </a:extLst>
          </p:cNvPr>
          <p:cNvSpPr txBox="1"/>
          <p:nvPr/>
        </p:nvSpPr>
        <p:spPr>
          <a:xfrm>
            <a:off x="4591032" y="4957471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89D95FD-D5DE-5674-C286-5F96D28D96EC}"/>
              </a:ext>
            </a:extLst>
          </p:cNvPr>
          <p:cNvSpPr txBox="1"/>
          <p:nvPr/>
        </p:nvSpPr>
        <p:spPr>
          <a:xfrm>
            <a:off x="5791944" y="495137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E303706-9AA3-9010-9C70-ED8F3CEB62D1}"/>
              </a:ext>
            </a:extLst>
          </p:cNvPr>
          <p:cNvSpPr txBox="1"/>
          <p:nvPr/>
        </p:nvSpPr>
        <p:spPr>
          <a:xfrm>
            <a:off x="2447831" y="4518829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A34AA51-779F-57F5-9CB5-30F090B003F9}"/>
              </a:ext>
            </a:extLst>
          </p:cNvPr>
          <p:cNvSpPr txBox="1"/>
          <p:nvPr/>
        </p:nvSpPr>
        <p:spPr>
          <a:xfrm>
            <a:off x="3697511" y="4512733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6477CEB-90EC-5AF3-E78F-6DA3652F8294}"/>
              </a:ext>
            </a:extLst>
          </p:cNvPr>
          <p:cNvSpPr txBox="1"/>
          <p:nvPr/>
        </p:nvSpPr>
        <p:spPr>
          <a:xfrm>
            <a:off x="4995959" y="4518829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508F0EDF-A87D-6A4B-B07D-507B084C723C}"/>
                  </a:ext>
                </a:extLst>
              </p:cNvPr>
              <p:cNvSpPr txBox="1"/>
              <p:nvPr/>
            </p:nvSpPr>
            <p:spPr>
              <a:xfrm>
                <a:off x="1265362" y="4127330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508F0EDF-A87D-6A4B-B07D-507B084C7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362" y="4127330"/>
                <a:ext cx="429348" cy="246221"/>
              </a:xfrm>
              <a:prstGeom prst="rect">
                <a:avLst/>
              </a:prstGeom>
              <a:blipFill>
                <a:blip r:embed="rId11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CC08FE65-22CB-6541-95F3-9F8CCC21772E}"/>
                  </a:ext>
                </a:extLst>
              </p:cNvPr>
              <p:cNvSpPr/>
              <p:nvPr/>
            </p:nvSpPr>
            <p:spPr>
              <a:xfrm>
                <a:off x="895862" y="4123657"/>
                <a:ext cx="345440" cy="762000"/>
              </a:xfrm>
              <a:prstGeom prst="round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CC08FE65-22CB-6541-95F3-9F8CCC2177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62" y="4123657"/>
                <a:ext cx="345440" cy="76200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59C8CF26-4A78-F98A-4217-2EE6A92416CB}"/>
              </a:ext>
            </a:extLst>
          </p:cNvPr>
          <p:cNvCxnSpPr>
            <a:cxnSpLocks/>
            <a:stCxn id="38" idx="3"/>
            <a:endCxn id="7" idx="1"/>
          </p:cNvCxnSpPr>
          <p:nvPr/>
        </p:nvCxnSpPr>
        <p:spPr>
          <a:xfrm flipV="1">
            <a:off x="1241302" y="4500541"/>
            <a:ext cx="490706" cy="4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99E7B616-F88F-9412-4913-B84FF85C94BD}"/>
                  </a:ext>
                </a:extLst>
              </p:cNvPr>
              <p:cNvSpPr txBox="1"/>
              <p:nvPr/>
            </p:nvSpPr>
            <p:spPr>
              <a:xfrm>
                <a:off x="1794634" y="3573967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99E7B616-F88F-9412-4913-B84FF85C9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634" y="3573967"/>
                <a:ext cx="418000" cy="246221"/>
              </a:xfrm>
              <a:prstGeom prst="rect">
                <a:avLst/>
              </a:prstGeom>
              <a:blipFill>
                <a:blip r:embed="rId13"/>
                <a:stretch>
                  <a:fillRect l="-8824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2117F230-C4D2-69A5-DD99-B2E509843778}"/>
              </a:ext>
            </a:extLst>
          </p:cNvPr>
          <p:cNvCxnSpPr>
            <a:cxnSpLocks/>
          </p:cNvCxnSpPr>
          <p:nvPr/>
        </p:nvCxnSpPr>
        <p:spPr>
          <a:xfrm flipV="1">
            <a:off x="2013083" y="3528785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AC580CEF-B30B-5ADB-A8F1-10929E39BB83}"/>
                  </a:ext>
                </a:extLst>
              </p:cNvPr>
              <p:cNvSpPr txBox="1"/>
              <p:nvPr/>
            </p:nvSpPr>
            <p:spPr>
              <a:xfrm>
                <a:off x="3090861" y="3272526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AC580CEF-B30B-5ADB-A8F1-10929E39B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61" y="3272526"/>
                <a:ext cx="424732" cy="246221"/>
              </a:xfrm>
              <a:prstGeom prst="rect">
                <a:avLst/>
              </a:prstGeom>
              <a:blipFill>
                <a:blip r:embed="rId14"/>
                <a:stretch>
                  <a:fillRect l="-11765" t="-15000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76231155-5AE8-E83C-68D4-ABB2D53A2FD2}"/>
              </a:ext>
            </a:extLst>
          </p:cNvPr>
          <p:cNvCxnSpPr>
            <a:cxnSpLocks/>
          </p:cNvCxnSpPr>
          <p:nvPr/>
        </p:nvCxnSpPr>
        <p:spPr>
          <a:xfrm flipV="1">
            <a:off x="3299265" y="3850333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BD0871E4-BE0B-CDBA-DA92-E37F2C2F9209}"/>
              </a:ext>
            </a:extLst>
          </p:cNvPr>
          <p:cNvSpPr txBox="1"/>
          <p:nvPr/>
        </p:nvSpPr>
        <p:spPr>
          <a:xfrm>
            <a:off x="3359231" y="3876334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AE9E6361-1A61-EA7D-56A4-264520EA3992}"/>
                  </a:ext>
                </a:extLst>
              </p:cNvPr>
              <p:cNvSpPr txBox="1"/>
              <p:nvPr/>
            </p:nvSpPr>
            <p:spPr>
              <a:xfrm>
                <a:off x="3082491" y="3575646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AE9E6361-1A61-EA7D-56A4-264520EA3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491" y="3575646"/>
                <a:ext cx="418000" cy="246221"/>
              </a:xfrm>
              <a:prstGeom prst="rect">
                <a:avLst/>
              </a:prstGeom>
              <a:blipFill>
                <a:blip r:embed="rId15"/>
                <a:stretch>
                  <a:fillRect l="-5882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AA73B79A-AB92-3B4B-3CE9-E662C54CFF14}"/>
              </a:ext>
            </a:extLst>
          </p:cNvPr>
          <p:cNvCxnSpPr>
            <a:cxnSpLocks/>
          </p:cNvCxnSpPr>
          <p:nvPr/>
        </p:nvCxnSpPr>
        <p:spPr>
          <a:xfrm flipV="1">
            <a:off x="3300940" y="3530464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A852E4DC-279B-E8FD-738D-A4BF5662E528}"/>
                  </a:ext>
                </a:extLst>
              </p:cNvPr>
              <p:cNvSpPr txBox="1"/>
              <p:nvPr/>
            </p:nvSpPr>
            <p:spPr>
              <a:xfrm>
                <a:off x="4367002" y="3262477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A852E4DC-279B-E8FD-738D-A4BF5662E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002" y="3262477"/>
                <a:ext cx="424732" cy="246221"/>
              </a:xfrm>
              <a:prstGeom prst="rect">
                <a:avLst/>
              </a:prstGeom>
              <a:blipFill>
                <a:blip r:embed="rId16"/>
                <a:stretch>
                  <a:fillRect l="-11429" t="-14286" r="-5714" b="-19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6F70A8DC-909F-BA67-BEF2-0B6FC3DCFA43}"/>
              </a:ext>
            </a:extLst>
          </p:cNvPr>
          <p:cNvCxnSpPr>
            <a:cxnSpLocks/>
          </p:cNvCxnSpPr>
          <p:nvPr/>
        </p:nvCxnSpPr>
        <p:spPr>
          <a:xfrm flipV="1">
            <a:off x="4575406" y="3840284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262AA3D7-4DAB-E90F-0AC2-DB71635C5174}"/>
              </a:ext>
            </a:extLst>
          </p:cNvPr>
          <p:cNvSpPr txBox="1"/>
          <p:nvPr/>
        </p:nvSpPr>
        <p:spPr>
          <a:xfrm>
            <a:off x="4635372" y="386628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F9227071-2208-EA44-4F08-924784C7F895}"/>
                  </a:ext>
                </a:extLst>
              </p:cNvPr>
              <p:cNvSpPr txBox="1"/>
              <p:nvPr/>
            </p:nvSpPr>
            <p:spPr>
              <a:xfrm>
                <a:off x="4358632" y="3565597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F9227071-2208-EA44-4F08-924784C7F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632" y="3565597"/>
                <a:ext cx="418000" cy="246221"/>
              </a:xfrm>
              <a:prstGeom prst="rect">
                <a:avLst/>
              </a:prstGeom>
              <a:blipFill>
                <a:blip r:embed="rId17"/>
                <a:stretch>
                  <a:fillRect l="-8824" r="-2941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6C969070-FCA9-E14E-5C08-6333F1840639}"/>
              </a:ext>
            </a:extLst>
          </p:cNvPr>
          <p:cNvCxnSpPr>
            <a:cxnSpLocks/>
          </p:cNvCxnSpPr>
          <p:nvPr/>
        </p:nvCxnSpPr>
        <p:spPr>
          <a:xfrm flipV="1">
            <a:off x="4577081" y="3520415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7BCD628E-6937-C553-CD41-D934FCD352A4}"/>
                  </a:ext>
                </a:extLst>
              </p:cNvPr>
              <p:cNvSpPr txBox="1"/>
              <p:nvPr/>
            </p:nvSpPr>
            <p:spPr>
              <a:xfrm>
                <a:off x="5633103" y="3272524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7BCD628E-6937-C553-CD41-D934FCD35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103" y="3272524"/>
                <a:ext cx="424732" cy="246221"/>
              </a:xfrm>
              <a:prstGeom prst="rect">
                <a:avLst/>
              </a:prstGeom>
              <a:blipFill>
                <a:blip r:embed="rId18"/>
                <a:stretch>
                  <a:fillRect l="-11429" t="-15000" r="-2857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89BB34B3-4878-226C-53A9-ECF1C337302A}"/>
              </a:ext>
            </a:extLst>
          </p:cNvPr>
          <p:cNvCxnSpPr>
            <a:cxnSpLocks/>
          </p:cNvCxnSpPr>
          <p:nvPr/>
        </p:nvCxnSpPr>
        <p:spPr>
          <a:xfrm flipV="1">
            <a:off x="5841507" y="3850331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C4E26186-5DE4-3140-DA0E-73A34681B5D6}"/>
              </a:ext>
            </a:extLst>
          </p:cNvPr>
          <p:cNvSpPr txBox="1"/>
          <p:nvPr/>
        </p:nvSpPr>
        <p:spPr>
          <a:xfrm>
            <a:off x="5901473" y="3876332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97D944B0-54E7-F318-4535-8D42F784A0E2}"/>
                  </a:ext>
                </a:extLst>
              </p:cNvPr>
              <p:cNvSpPr txBox="1"/>
              <p:nvPr/>
            </p:nvSpPr>
            <p:spPr>
              <a:xfrm>
                <a:off x="5624733" y="3575644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97D944B0-54E7-F318-4535-8D42F784A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733" y="3575644"/>
                <a:ext cx="418000" cy="246221"/>
              </a:xfrm>
              <a:prstGeom prst="rect">
                <a:avLst/>
              </a:prstGeom>
              <a:blipFill>
                <a:blip r:embed="rId19"/>
                <a:stretch>
                  <a:fillRect l="-9091" r="-6061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9051D59C-3C61-ECDD-3461-501654794EBA}"/>
              </a:ext>
            </a:extLst>
          </p:cNvPr>
          <p:cNvCxnSpPr>
            <a:cxnSpLocks/>
          </p:cNvCxnSpPr>
          <p:nvPr/>
        </p:nvCxnSpPr>
        <p:spPr>
          <a:xfrm flipV="1">
            <a:off x="5843182" y="3530462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2CF6A4AC-272B-DD6E-2DDF-5CF0479567B9}"/>
                  </a:ext>
                </a:extLst>
              </p:cNvPr>
              <p:cNvSpPr txBox="1"/>
              <p:nvPr/>
            </p:nvSpPr>
            <p:spPr>
              <a:xfrm>
                <a:off x="1787763" y="4113788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2CF6A4AC-272B-DD6E-2DDF-5CF047956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763" y="4113788"/>
                <a:ext cx="429348" cy="246221"/>
              </a:xfrm>
              <a:prstGeom prst="rect">
                <a:avLst/>
              </a:prstGeom>
              <a:blipFill>
                <a:blip r:embed="rId20"/>
                <a:stretch>
                  <a:fillRect l="-11429" r="-5714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ACF2600B-3DAE-9586-6649-1C672D973E85}"/>
                  </a:ext>
                </a:extLst>
              </p:cNvPr>
              <p:cNvSpPr txBox="1"/>
              <p:nvPr/>
            </p:nvSpPr>
            <p:spPr>
              <a:xfrm>
                <a:off x="3103593" y="4130799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ACF2600B-3DAE-9586-6649-1C672D973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593" y="4130799"/>
                <a:ext cx="429348" cy="246221"/>
              </a:xfrm>
              <a:prstGeom prst="rect">
                <a:avLst/>
              </a:prstGeom>
              <a:blipFill>
                <a:blip r:embed="rId21"/>
                <a:stretch>
                  <a:fillRect l="-11429" r="-2857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9ACDE8C0-1A52-B8A3-2BC1-B3814071A7E8}"/>
                  </a:ext>
                </a:extLst>
              </p:cNvPr>
              <p:cNvSpPr txBox="1"/>
              <p:nvPr/>
            </p:nvSpPr>
            <p:spPr>
              <a:xfrm>
                <a:off x="4352147" y="4137755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9ACDE8C0-1A52-B8A3-2BC1-B3814071A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147" y="4137755"/>
                <a:ext cx="429348" cy="246221"/>
              </a:xfrm>
              <a:prstGeom prst="rect">
                <a:avLst/>
              </a:prstGeom>
              <a:blipFill>
                <a:blip r:embed="rId22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D36261D4-91BB-8682-5135-5A7F79925573}"/>
                  </a:ext>
                </a:extLst>
              </p:cNvPr>
              <p:cNvSpPr txBox="1"/>
              <p:nvPr/>
            </p:nvSpPr>
            <p:spPr>
              <a:xfrm>
                <a:off x="5653285" y="4137908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D36261D4-91BB-8682-5135-5A7F79925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285" y="4137908"/>
                <a:ext cx="429348" cy="246221"/>
              </a:xfrm>
              <a:prstGeom prst="rect">
                <a:avLst/>
              </a:prstGeom>
              <a:blipFill>
                <a:blip r:embed="rId23"/>
                <a:stretch>
                  <a:fillRect l="-8333" r="-2778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3404AFFE-E47F-D135-53AC-6E9C8052B9C4}"/>
              </a:ext>
            </a:extLst>
          </p:cNvPr>
          <p:cNvCxnSpPr/>
          <p:nvPr/>
        </p:nvCxnSpPr>
        <p:spPr>
          <a:xfrm>
            <a:off x="1725020" y="4385252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633D9CB4-334F-B0F3-5BE5-2B9D728963CA}"/>
              </a:ext>
            </a:extLst>
          </p:cNvPr>
          <p:cNvCxnSpPr/>
          <p:nvPr/>
        </p:nvCxnSpPr>
        <p:spPr>
          <a:xfrm>
            <a:off x="3006072" y="4388075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7D15ABC8-AA26-E640-3FD0-1B5DF9FDA4C3}"/>
              </a:ext>
            </a:extLst>
          </p:cNvPr>
          <p:cNvCxnSpPr/>
          <p:nvPr/>
        </p:nvCxnSpPr>
        <p:spPr>
          <a:xfrm>
            <a:off x="4272702" y="4398332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6693DF94-9C7C-8A99-4B76-06A0F6259D9B}"/>
              </a:ext>
            </a:extLst>
          </p:cNvPr>
          <p:cNvCxnSpPr/>
          <p:nvPr/>
        </p:nvCxnSpPr>
        <p:spPr>
          <a:xfrm>
            <a:off x="5538514" y="4408589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3D1372BF-DFB4-A974-D41F-460FA4A68397}"/>
              </a:ext>
            </a:extLst>
          </p:cNvPr>
          <p:cNvSpPr txBox="1"/>
          <p:nvPr/>
        </p:nvSpPr>
        <p:spPr>
          <a:xfrm>
            <a:off x="107703" y="2244642"/>
            <a:ext cx="10148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softmax gives a probability for each word of the vocabulary of being the next</a:t>
            </a:r>
          </a:p>
        </p:txBody>
      </p:sp>
      <p:sp>
        <p:nvSpPr>
          <p:cNvPr id="170" name="ZoneTexte 169">
            <a:extLst>
              <a:ext uri="{FF2B5EF4-FFF2-40B4-BE49-F238E27FC236}">
                <a16:creationId xmlns:a16="http://schemas.microsoft.com/office/drawing/2014/main" id="{FD4C4BF9-E45B-3C86-A7D9-1AD6B39C4BDE}"/>
              </a:ext>
            </a:extLst>
          </p:cNvPr>
          <p:cNvSpPr txBox="1"/>
          <p:nvPr/>
        </p:nvSpPr>
        <p:spPr>
          <a:xfrm>
            <a:off x="7444845" y="3517069"/>
            <a:ext cx="2434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Autoregressive Generation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ZoneTexte 174">
                <a:extLst>
                  <a:ext uri="{FF2B5EF4-FFF2-40B4-BE49-F238E27FC236}">
                    <a16:creationId xmlns:a16="http://schemas.microsoft.com/office/drawing/2014/main" id="{31843131-7A64-8200-E3F5-E102A706307C}"/>
                  </a:ext>
                </a:extLst>
              </p:cNvPr>
              <p:cNvSpPr txBox="1"/>
              <p:nvPr/>
            </p:nvSpPr>
            <p:spPr>
              <a:xfrm>
                <a:off x="1608749" y="2750331"/>
                <a:ext cx="703653" cy="36948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fr-FR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«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»</m:t>
                    </m:r>
                  </m:oMath>
                </a14:m>
                <a:endParaRPr lang="en-GB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5" name="ZoneTexte 174">
                <a:extLst>
                  <a:ext uri="{FF2B5EF4-FFF2-40B4-BE49-F238E27FC236}">
                    <a16:creationId xmlns:a16="http://schemas.microsoft.com/office/drawing/2014/main" id="{31843131-7A64-8200-E3F5-E102A7063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749" y="2750331"/>
                <a:ext cx="703653" cy="369486"/>
              </a:xfrm>
              <a:prstGeom prst="rect">
                <a:avLst/>
              </a:prstGeom>
              <a:blipFill>
                <a:blip r:embed="rId2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onnecteur en arc 40">
            <a:extLst>
              <a:ext uri="{FF2B5EF4-FFF2-40B4-BE49-F238E27FC236}">
                <a16:creationId xmlns:a16="http://schemas.microsoft.com/office/drawing/2014/main" id="{68E833B4-391B-ACF2-0FD0-BB9651D0ADB4}"/>
              </a:ext>
            </a:extLst>
          </p:cNvPr>
          <p:cNvCxnSpPr>
            <a:stCxn id="175" idx="3"/>
            <a:endCxn id="26" idx="1"/>
          </p:cNvCxnSpPr>
          <p:nvPr/>
        </p:nvCxnSpPr>
        <p:spPr>
          <a:xfrm>
            <a:off x="2312402" y="2935074"/>
            <a:ext cx="567962" cy="304181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15B3E4C0-5F07-437F-8136-99E4740B2676}"/>
                  </a:ext>
                </a:extLst>
              </p:cNvPr>
              <p:cNvSpPr txBox="1"/>
              <p:nvPr/>
            </p:nvSpPr>
            <p:spPr>
              <a:xfrm>
                <a:off x="2932735" y="2745566"/>
                <a:ext cx="703653" cy="36948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fr-FR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«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cat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»</m:t>
                    </m:r>
                  </m:oMath>
                </a14:m>
                <a:endParaRPr lang="en-GB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15B3E4C0-5F07-437F-8136-99E4740B2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735" y="2745566"/>
                <a:ext cx="703653" cy="36948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necteur en arc 42">
            <a:extLst>
              <a:ext uri="{FF2B5EF4-FFF2-40B4-BE49-F238E27FC236}">
                <a16:creationId xmlns:a16="http://schemas.microsoft.com/office/drawing/2014/main" id="{FC215AF0-D860-8893-BC16-BBA767610A30}"/>
              </a:ext>
            </a:extLst>
          </p:cNvPr>
          <p:cNvCxnSpPr>
            <a:stCxn id="42" idx="3"/>
          </p:cNvCxnSpPr>
          <p:nvPr/>
        </p:nvCxnSpPr>
        <p:spPr>
          <a:xfrm>
            <a:off x="3636388" y="2930309"/>
            <a:ext cx="567962" cy="304181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1851FDD1-2AAE-59D4-F4D1-6D6E7B7A97CD}"/>
                  </a:ext>
                </a:extLst>
              </p:cNvPr>
              <p:cNvSpPr txBox="1"/>
              <p:nvPr/>
            </p:nvSpPr>
            <p:spPr>
              <a:xfrm>
                <a:off x="4116436" y="2755086"/>
                <a:ext cx="966201" cy="36948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fr-FR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«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knocked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»</m:t>
                    </m:r>
                  </m:oMath>
                </a14:m>
                <a:endParaRPr lang="en-GB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1851FDD1-2AAE-59D4-F4D1-6D6E7B7A9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436" y="2755086"/>
                <a:ext cx="966201" cy="36948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Connecteur en arc 44">
            <a:extLst>
              <a:ext uri="{FF2B5EF4-FFF2-40B4-BE49-F238E27FC236}">
                <a16:creationId xmlns:a16="http://schemas.microsoft.com/office/drawing/2014/main" id="{4DD10C4D-20D2-732E-556B-BDF20BD67D9C}"/>
              </a:ext>
            </a:extLst>
          </p:cNvPr>
          <p:cNvCxnSpPr>
            <a:cxnSpLocks/>
            <a:stCxn id="44" idx="3"/>
            <a:endCxn id="28" idx="1"/>
          </p:cNvCxnSpPr>
          <p:nvPr/>
        </p:nvCxnSpPr>
        <p:spPr>
          <a:xfrm>
            <a:off x="5082637" y="2939829"/>
            <a:ext cx="459371" cy="302277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D0BB63AE-F803-9178-773A-5D11D81DF840}"/>
                  </a:ext>
                </a:extLst>
              </p:cNvPr>
              <p:cNvSpPr txBox="1"/>
              <p:nvPr/>
            </p:nvSpPr>
            <p:spPr>
              <a:xfrm>
                <a:off x="5368980" y="2750319"/>
                <a:ext cx="966201" cy="36948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fr-FR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«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over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»</m:t>
                    </m:r>
                  </m:oMath>
                </a14:m>
                <a:endParaRPr lang="en-GB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D0BB63AE-F803-9178-773A-5D11D81DF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980" y="2750319"/>
                <a:ext cx="966201" cy="369486"/>
              </a:xfrm>
              <a:prstGeom prst="rect">
                <a:avLst/>
              </a:prstGeom>
              <a:blipFill>
                <a:blip r:embed="rId2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Connecteur en arc 56">
            <a:extLst>
              <a:ext uri="{FF2B5EF4-FFF2-40B4-BE49-F238E27FC236}">
                <a16:creationId xmlns:a16="http://schemas.microsoft.com/office/drawing/2014/main" id="{9AC4F254-611F-46FD-56CF-304B664C74C7}"/>
              </a:ext>
            </a:extLst>
          </p:cNvPr>
          <p:cNvCxnSpPr>
            <a:cxnSpLocks/>
          </p:cNvCxnSpPr>
          <p:nvPr/>
        </p:nvCxnSpPr>
        <p:spPr>
          <a:xfrm>
            <a:off x="6263741" y="2935062"/>
            <a:ext cx="459371" cy="302277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5371DC01-86D3-34E3-4EC4-D7CCBF5D7692}"/>
              </a:ext>
            </a:extLst>
          </p:cNvPr>
          <p:cNvSpPr txBox="1"/>
          <p:nvPr/>
        </p:nvSpPr>
        <p:spPr>
          <a:xfrm>
            <a:off x="6649518" y="4267050"/>
            <a:ext cx="692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4005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7099E-D81A-39D6-32CE-2AFD5B55A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EFBC01-603D-17D2-26B1-1D9E4022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B9E2D1C-0658-DD31-7A21-0416B4504535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Once the RNN is trained, how do we evaluate the Language Model ?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4116B8D3-8CEF-506F-57A3-85577714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5513EDC5-173B-02DE-6132-9F0F920DC9BC}"/>
                  </a:ext>
                </a:extLst>
              </p:cNvPr>
              <p:cNvSpPr txBox="1"/>
              <p:nvPr/>
            </p:nvSpPr>
            <p:spPr>
              <a:xfrm>
                <a:off x="1685925" y="2686050"/>
                <a:ext cx="7897664" cy="19158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𝑃𝑒𝑟𝑝𝑙𝑒𝑥𝑖𝑡𝑦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ctrlPr>
                            <a:rPr lang="fr-FR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g>
                        <m:e>
                          <m:nary>
                            <m:naryPr>
                              <m:chr m:val="∏"/>
                              <m:ctrlP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𝐿𝑀</m:t>
                                      </m:r>
                                    </m:sub>
                                  </m:sSub>
                                  <m:d>
                                    <m:dPr>
                                      <m:endChr m:val="|"/>
                                      <m:ctrlP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fr-F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sSub>
                                    <m:sSubPr>
                                      <m:ctrlP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5513EDC5-173B-02DE-6132-9F0F920DC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25" y="2686050"/>
                <a:ext cx="7897664" cy="1915845"/>
              </a:xfrm>
              <a:prstGeom prst="rect">
                <a:avLst/>
              </a:prstGeom>
              <a:blipFill>
                <a:blip r:embed="rId3"/>
                <a:stretch>
                  <a:fillRect t="-66447" b="-1151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ZoneTexte 47">
            <a:extLst>
              <a:ext uri="{FF2B5EF4-FFF2-40B4-BE49-F238E27FC236}">
                <a16:creationId xmlns:a16="http://schemas.microsoft.com/office/drawing/2014/main" id="{4E7C5D82-97F7-CE19-C283-CC7A6C36F51D}"/>
              </a:ext>
            </a:extLst>
          </p:cNvPr>
          <p:cNvSpPr txBox="1"/>
          <p:nvPr/>
        </p:nvSpPr>
        <p:spPr>
          <a:xfrm>
            <a:off x="3395661" y="5703621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The lower the score, the better.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BD8FB870-5F38-4DCB-72F9-7D282F35848D}"/>
              </a:ext>
            </a:extLst>
          </p:cNvPr>
          <p:cNvSpPr txBox="1"/>
          <p:nvPr/>
        </p:nvSpPr>
        <p:spPr>
          <a:xfrm>
            <a:off x="4365411" y="4885292"/>
            <a:ext cx="540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Inverse probability of the test set (entire test corpus)</a:t>
            </a:r>
          </a:p>
        </p:txBody>
      </p:sp>
      <p:sp>
        <p:nvSpPr>
          <p:cNvPr id="50" name="Accolade ouvrante 49">
            <a:extLst>
              <a:ext uri="{FF2B5EF4-FFF2-40B4-BE49-F238E27FC236}">
                <a16:creationId xmlns:a16="http://schemas.microsoft.com/office/drawing/2014/main" id="{F83C1CAB-B63A-2232-D921-45DBF713A7E6}"/>
              </a:ext>
            </a:extLst>
          </p:cNvPr>
          <p:cNvSpPr/>
          <p:nvPr/>
        </p:nvSpPr>
        <p:spPr>
          <a:xfrm rot="16200000">
            <a:off x="6909667" y="2507270"/>
            <a:ext cx="371475" cy="446866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859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EB77-9060-3463-E445-985EDEE3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653B41-E8D8-49FE-64F1-FDE8BF9C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CCD2B0D-99D8-4586-7A09-0F1DB7A96498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Long-Range dependencies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01E63D98-D4F4-AF20-D76F-1C714ED04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8A06266F-8292-A4A3-E7C2-FC4FC30C338A}"/>
                  </a:ext>
                </a:extLst>
              </p:cNvPr>
              <p:cNvSpPr txBox="1"/>
              <p:nvPr/>
            </p:nvSpPr>
            <p:spPr>
              <a:xfrm>
                <a:off x="542924" y="2644571"/>
                <a:ext cx="9958389" cy="1740306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«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𝑤𝑎𝑠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𝑠𝑢𝑝𝑝𝑜𝑠𝑒𝑑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𝑚𝑒𝑒𝑡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h𝑖𝑠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𝑓𝑟𝑖𝑒𝑛𝑑𝑠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3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𝑠h𝑜𝑤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𝑏𝑢𝑡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𝑠𝑜𝑚𝑒𝑡h𝑖𝑛𝑔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𝑐𝑎𝑚𝑒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𝑢𝑝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𝑤𝑜𝑟𝑘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fr-FR" sz="3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h𝑒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𝑐𝑎𝑙𝑙𝑒𝑑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𝑡h𝑒𝑚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𝑠𝑎𝑦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h𝑒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𝑤𝑜𝑢𝑙𝑑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𝑙𝑎𝑡𝑒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. »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8A06266F-8292-A4A3-E7C2-FC4FC30C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4" y="2644571"/>
                <a:ext cx="9958389" cy="1740306"/>
              </a:xfrm>
              <a:prstGeom prst="rect">
                <a:avLst/>
              </a:prstGeom>
              <a:blipFill>
                <a:blip r:embed="rId3"/>
                <a:stretch>
                  <a:fillRect t="-2878" b="-5036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ZoneTexte 47">
            <a:extLst>
              <a:ext uri="{FF2B5EF4-FFF2-40B4-BE49-F238E27FC236}">
                <a16:creationId xmlns:a16="http://schemas.microsoft.com/office/drawing/2014/main" id="{BB3F2CD3-6B73-EAB1-C722-DED5E955EFB6}"/>
              </a:ext>
            </a:extLst>
          </p:cNvPr>
          <p:cNvSpPr txBox="1"/>
          <p:nvPr/>
        </p:nvSpPr>
        <p:spPr>
          <a:xfrm>
            <a:off x="542924" y="4843767"/>
            <a:ext cx="10658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“them” is dependent of “friends” but this is where simple RNN became struggling 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C0EC833-4167-037A-426C-6AEB24EDD81A}"/>
              </a:ext>
            </a:extLst>
          </p:cNvPr>
          <p:cNvCxnSpPr/>
          <p:nvPr/>
        </p:nvCxnSpPr>
        <p:spPr>
          <a:xfrm>
            <a:off x="3700463" y="4129087"/>
            <a:ext cx="10715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rme libre 22">
            <a:extLst>
              <a:ext uri="{FF2B5EF4-FFF2-40B4-BE49-F238E27FC236}">
                <a16:creationId xmlns:a16="http://schemas.microsoft.com/office/drawing/2014/main" id="{DA0C0809-883A-E66D-6EE7-BD792110F820}"/>
              </a:ext>
            </a:extLst>
          </p:cNvPr>
          <p:cNvSpPr/>
          <p:nvPr/>
        </p:nvSpPr>
        <p:spPr>
          <a:xfrm>
            <a:off x="1198016" y="2507626"/>
            <a:ext cx="5788572" cy="1964361"/>
          </a:xfrm>
          <a:custGeom>
            <a:avLst/>
            <a:gdLst>
              <a:gd name="connsiteX0" fmla="*/ 3116809 w 5788572"/>
              <a:gd name="connsiteY0" fmla="*/ 1707186 h 1964361"/>
              <a:gd name="connsiteX1" fmla="*/ 3045372 w 5788572"/>
              <a:gd name="connsiteY1" fmla="*/ 1778623 h 1964361"/>
              <a:gd name="connsiteX2" fmla="*/ 2988222 w 5788572"/>
              <a:gd name="connsiteY2" fmla="*/ 1807198 h 1964361"/>
              <a:gd name="connsiteX3" fmla="*/ 2873922 w 5788572"/>
              <a:gd name="connsiteY3" fmla="*/ 1835773 h 1964361"/>
              <a:gd name="connsiteX4" fmla="*/ 2688184 w 5788572"/>
              <a:gd name="connsiteY4" fmla="*/ 1864348 h 1964361"/>
              <a:gd name="connsiteX5" fmla="*/ 2488159 w 5788572"/>
              <a:gd name="connsiteY5" fmla="*/ 1892923 h 1964361"/>
              <a:gd name="connsiteX6" fmla="*/ 2259559 w 5788572"/>
              <a:gd name="connsiteY6" fmla="*/ 1935786 h 1964361"/>
              <a:gd name="connsiteX7" fmla="*/ 2188122 w 5788572"/>
              <a:gd name="connsiteY7" fmla="*/ 1950073 h 1964361"/>
              <a:gd name="connsiteX8" fmla="*/ 2102397 w 5788572"/>
              <a:gd name="connsiteY8" fmla="*/ 1964361 h 1964361"/>
              <a:gd name="connsiteX9" fmla="*/ 673647 w 5788572"/>
              <a:gd name="connsiteY9" fmla="*/ 1950073 h 1964361"/>
              <a:gd name="connsiteX10" fmla="*/ 459334 w 5788572"/>
              <a:gd name="connsiteY10" fmla="*/ 1935786 h 1964361"/>
              <a:gd name="connsiteX11" fmla="*/ 387897 w 5788572"/>
              <a:gd name="connsiteY11" fmla="*/ 1921498 h 1964361"/>
              <a:gd name="connsiteX12" fmla="*/ 287884 w 5788572"/>
              <a:gd name="connsiteY12" fmla="*/ 1892923 h 1964361"/>
              <a:gd name="connsiteX13" fmla="*/ 216447 w 5788572"/>
              <a:gd name="connsiteY13" fmla="*/ 1807198 h 1964361"/>
              <a:gd name="connsiteX14" fmla="*/ 187872 w 5788572"/>
              <a:gd name="connsiteY14" fmla="*/ 1764336 h 1964361"/>
              <a:gd name="connsiteX15" fmla="*/ 102147 w 5788572"/>
              <a:gd name="connsiteY15" fmla="*/ 1678611 h 1964361"/>
              <a:gd name="connsiteX16" fmla="*/ 73572 w 5788572"/>
              <a:gd name="connsiteY16" fmla="*/ 1621461 h 1964361"/>
              <a:gd name="connsiteX17" fmla="*/ 44997 w 5788572"/>
              <a:gd name="connsiteY17" fmla="*/ 1578598 h 1964361"/>
              <a:gd name="connsiteX18" fmla="*/ 2134 w 5788572"/>
              <a:gd name="connsiteY18" fmla="*/ 1435723 h 1964361"/>
              <a:gd name="connsiteX19" fmla="*/ 30709 w 5788572"/>
              <a:gd name="connsiteY19" fmla="*/ 907086 h 1964361"/>
              <a:gd name="connsiteX20" fmla="*/ 44997 w 5788572"/>
              <a:gd name="connsiteY20" fmla="*/ 864223 h 1964361"/>
              <a:gd name="connsiteX21" fmla="*/ 59284 w 5788572"/>
              <a:gd name="connsiteY21" fmla="*/ 749923 h 1964361"/>
              <a:gd name="connsiteX22" fmla="*/ 87859 w 5788572"/>
              <a:gd name="connsiteY22" fmla="*/ 692773 h 1964361"/>
              <a:gd name="connsiteX23" fmla="*/ 102147 w 5788572"/>
              <a:gd name="connsiteY23" fmla="*/ 635623 h 1964361"/>
              <a:gd name="connsiteX24" fmla="*/ 116434 w 5788572"/>
              <a:gd name="connsiteY24" fmla="*/ 535611 h 1964361"/>
              <a:gd name="connsiteX25" fmla="*/ 145009 w 5788572"/>
              <a:gd name="connsiteY25" fmla="*/ 492748 h 1964361"/>
              <a:gd name="connsiteX26" fmla="*/ 187872 w 5788572"/>
              <a:gd name="connsiteY26" fmla="*/ 349873 h 1964361"/>
              <a:gd name="connsiteX27" fmla="*/ 216447 w 5788572"/>
              <a:gd name="connsiteY27" fmla="*/ 292723 h 1964361"/>
              <a:gd name="connsiteX28" fmla="*/ 287884 w 5788572"/>
              <a:gd name="connsiteY28" fmla="*/ 235573 h 1964361"/>
              <a:gd name="connsiteX29" fmla="*/ 330747 w 5788572"/>
              <a:gd name="connsiteY29" fmla="*/ 206998 h 1964361"/>
              <a:gd name="connsiteX30" fmla="*/ 416472 w 5788572"/>
              <a:gd name="connsiteY30" fmla="*/ 178423 h 1964361"/>
              <a:gd name="connsiteX31" fmla="*/ 459334 w 5788572"/>
              <a:gd name="connsiteY31" fmla="*/ 164136 h 1964361"/>
              <a:gd name="connsiteX32" fmla="*/ 502197 w 5788572"/>
              <a:gd name="connsiteY32" fmla="*/ 135561 h 1964361"/>
              <a:gd name="connsiteX33" fmla="*/ 659359 w 5788572"/>
              <a:gd name="connsiteY33" fmla="*/ 92698 h 1964361"/>
              <a:gd name="connsiteX34" fmla="*/ 745084 w 5788572"/>
              <a:gd name="connsiteY34" fmla="*/ 78411 h 1964361"/>
              <a:gd name="connsiteX35" fmla="*/ 1773784 w 5788572"/>
              <a:gd name="connsiteY35" fmla="*/ 64123 h 1964361"/>
              <a:gd name="connsiteX36" fmla="*/ 2873922 w 5788572"/>
              <a:gd name="connsiteY36" fmla="*/ 35548 h 1964361"/>
              <a:gd name="connsiteX37" fmla="*/ 3145384 w 5788572"/>
              <a:gd name="connsiteY37" fmla="*/ 64123 h 1964361"/>
              <a:gd name="connsiteX38" fmla="*/ 3388272 w 5788572"/>
              <a:gd name="connsiteY38" fmla="*/ 92698 h 1964361"/>
              <a:gd name="connsiteX39" fmla="*/ 4959897 w 5788572"/>
              <a:gd name="connsiteY39" fmla="*/ 106986 h 1964361"/>
              <a:gd name="connsiteX40" fmla="*/ 5102772 w 5788572"/>
              <a:gd name="connsiteY40" fmla="*/ 121273 h 1964361"/>
              <a:gd name="connsiteX41" fmla="*/ 5217072 w 5788572"/>
              <a:gd name="connsiteY41" fmla="*/ 149848 h 1964361"/>
              <a:gd name="connsiteX42" fmla="*/ 5417097 w 5788572"/>
              <a:gd name="connsiteY42" fmla="*/ 164136 h 1964361"/>
              <a:gd name="connsiteX43" fmla="*/ 5588547 w 5788572"/>
              <a:gd name="connsiteY43" fmla="*/ 178423 h 1964361"/>
              <a:gd name="connsiteX44" fmla="*/ 5645697 w 5788572"/>
              <a:gd name="connsiteY44" fmla="*/ 192711 h 1964361"/>
              <a:gd name="connsiteX45" fmla="*/ 5702847 w 5788572"/>
              <a:gd name="connsiteY45" fmla="*/ 278436 h 1964361"/>
              <a:gd name="connsiteX46" fmla="*/ 5745709 w 5788572"/>
              <a:gd name="connsiteY46" fmla="*/ 307011 h 1964361"/>
              <a:gd name="connsiteX47" fmla="*/ 5788572 w 5788572"/>
              <a:gd name="connsiteY47" fmla="*/ 349873 h 1964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788572" h="1964361">
                <a:moveTo>
                  <a:pt x="3116809" y="1707186"/>
                </a:moveTo>
                <a:cubicBezTo>
                  <a:pt x="3092997" y="1730998"/>
                  <a:pt x="3071954" y="1757948"/>
                  <a:pt x="3045372" y="1778623"/>
                </a:cubicBezTo>
                <a:cubicBezTo>
                  <a:pt x="3028560" y="1791699"/>
                  <a:pt x="3007798" y="1798808"/>
                  <a:pt x="2988222" y="1807198"/>
                </a:cubicBezTo>
                <a:cubicBezTo>
                  <a:pt x="2946976" y="1824875"/>
                  <a:pt x="2920374" y="1825450"/>
                  <a:pt x="2873922" y="1835773"/>
                </a:cubicBezTo>
                <a:cubicBezTo>
                  <a:pt x="2730770" y="1867585"/>
                  <a:pt x="2933282" y="1832379"/>
                  <a:pt x="2688184" y="1864348"/>
                </a:cubicBezTo>
                <a:cubicBezTo>
                  <a:pt x="2621398" y="1873059"/>
                  <a:pt x="2488159" y="1892923"/>
                  <a:pt x="2488159" y="1892923"/>
                </a:cubicBezTo>
                <a:cubicBezTo>
                  <a:pt x="2338900" y="1942676"/>
                  <a:pt x="2461210" y="1908899"/>
                  <a:pt x="2259559" y="1935786"/>
                </a:cubicBezTo>
                <a:cubicBezTo>
                  <a:pt x="2235488" y="1938995"/>
                  <a:pt x="2212014" y="1945729"/>
                  <a:pt x="2188122" y="1950073"/>
                </a:cubicBezTo>
                <a:cubicBezTo>
                  <a:pt x="2159620" y="1955255"/>
                  <a:pt x="2130972" y="1959598"/>
                  <a:pt x="2102397" y="1964361"/>
                </a:cubicBezTo>
                <a:lnTo>
                  <a:pt x="673647" y="1950073"/>
                </a:lnTo>
                <a:cubicBezTo>
                  <a:pt x="602062" y="1948828"/>
                  <a:pt x="530575" y="1942910"/>
                  <a:pt x="459334" y="1935786"/>
                </a:cubicBezTo>
                <a:cubicBezTo>
                  <a:pt x="435171" y="1933370"/>
                  <a:pt x="411603" y="1926766"/>
                  <a:pt x="387897" y="1921498"/>
                </a:cubicBezTo>
                <a:cubicBezTo>
                  <a:pt x="334069" y="1909536"/>
                  <a:pt x="335621" y="1908836"/>
                  <a:pt x="287884" y="1892923"/>
                </a:cubicBezTo>
                <a:cubicBezTo>
                  <a:pt x="216938" y="1786505"/>
                  <a:pt x="308120" y="1917207"/>
                  <a:pt x="216447" y="1807198"/>
                </a:cubicBezTo>
                <a:cubicBezTo>
                  <a:pt x="205454" y="1794007"/>
                  <a:pt x="199280" y="1777170"/>
                  <a:pt x="187872" y="1764336"/>
                </a:cubicBezTo>
                <a:cubicBezTo>
                  <a:pt x="161024" y="1734132"/>
                  <a:pt x="120219" y="1714756"/>
                  <a:pt x="102147" y="1678611"/>
                </a:cubicBezTo>
                <a:cubicBezTo>
                  <a:pt x="92622" y="1659561"/>
                  <a:pt x="84139" y="1639953"/>
                  <a:pt x="73572" y="1621461"/>
                </a:cubicBezTo>
                <a:cubicBezTo>
                  <a:pt x="65053" y="1606552"/>
                  <a:pt x="51971" y="1594290"/>
                  <a:pt x="44997" y="1578598"/>
                </a:cubicBezTo>
                <a:cubicBezTo>
                  <a:pt x="25121" y="1533877"/>
                  <a:pt x="14008" y="1483218"/>
                  <a:pt x="2134" y="1435723"/>
                </a:cubicBezTo>
                <a:cubicBezTo>
                  <a:pt x="9900" y="1179444"/>
                  <a:pt x="-20823" y="1087449"/>
                  <a:pt x="30709" y="907086"/>
                </a:cubicBezTo>
                <a:cubicBezTo>
                  <a:pt x="34846" y="892605"/>
                  <a:pt x="40234" y="878511"/>
                  <a:pt x="44997" y="864223"/>
                </a:cubicBezTo>
                <a:cubicBezTo>
                  <a:pt x="49759" y="826123"/>
                  <a:pt x="49972" y="787173"/>
                  <a:pt x="59284" y="749923"/>
                </a:cubicBezTo>
                <a:cubicBezTo>
                  <a:pt x="64450" y="729260"/>
                  <a:pt x="80381" y="712715"/>
                  <a:pt x="87859" y="692773"/>
                </a:cubicBezTo>
                <a:cubicBezTo>
                  <a:pt x="94754" y="674387"/>
                  <a:pt x="98634" y="654943"/>
                  <a:pt x="102147" y="635623"/>
                </a:cubicBezTo>
                <a:cubicBezTo>
                  <a:pt x="108171" y="602490"/>
                  <a:pt x="106757" y="567867"/>
                  <a:pt x="116434" y="535611"/>
                </a:cubicBezTo>
                <a:cubicBezTo>
                  <a:pt x="121368" y="519164"/>
                  <a:pt x="138035" y="508440"/>
                  <a:pt x="145009" y="492748"/>
                </a:cubicBezTo>
                <a:cubicBezTo>
                  <a:pt x="223171" y="316883"/>
                  <a:pt x="138000" y="482864"/>
                  <a:pt x="187872" y="349873"/>
                </a:cubicBezTo>
                <a:cubicBezTo>
                  <a:pt x="195350" y="329931"/>
                  <a:pt x="205880" y="311215"/>
                  <a:pt x="216447" y="292723"/>
                </a:cubicBezTo>
                <a:cubicBezTo>
                  <a:pt x="254982" y="225287"/>
                  <a:pt x="227323" y="265854"/>
                  <a:pt x="287884" y="235573"/>
                </a:cubicBezTo>
                <a:cubicBezTo>
                  <a:pt x="303243" y="227894"/>
                  <a:pt x="315055" y="213972"/>
                  <a:pt x="330747" y="206998"/>
                </a:cubicBezTo>
                <a:cubicBezTo>
                  <a:pt x="358272" y="194765"/>
                  <a:pt x="387897" y="187948"/>
                  <a:pt x="416472" y="178423"/>
                </a:cubicBezTo>
                <a:lnTo>
                  <a:pt x="459334" y="164136"/>
                </a:lnTo>
                <a:cubicBezTo>
                  <a:pt x="473622" y="154611"/>
                  <a:pt x="486505" y="142535"/>
                  <a:pt x="502197" y="135561"/>
                </a:cubicBezTo>
                <a:cubicBezTo>
                  <a:pt x="556271" y="111528"/>
                  <a:pt x="602478" y="103040"/>
                  <a:pt x="659359" y="92698"/>
                </a:cubicBezTo>
                <a:cubicBezTo>
                  <a:pt x="687861" y="87516"/>
                  <a:pt x="716124" y="79154"/>
                  <a:pt x="745084" y="78411"/>
                </a:cubicBezTo>
                <a:cubicBezTo>
                  <a:pt x="1087904" y="69621"/>
                  <a:pt x="1430884" y="68886"/>
                  <a:pt x="1773784" y="64123"/>
                </a:cubicBezTo>
                <a:cubicBezTo>
                  <a:pt x="2149161" y="-60997"/>
                  <a:pt x="1845064" y="35548"/>
                  <a:pt x="2873922" y="35548"/>
                </a:cubicBezTo>
                <a:cubicBezTo>
                  <a:pt x="2886204" y="35548"/>
                  <a:pt x="3125563" y="61291"/>
                  <a:pt x="3145384" y="64123"/>
                </a:cubicBezTo>
                <a:cubicBezTo>
                  <a:pt x="3286899" y="84339"/>
                  <a:pt x="3159931" y="88955"/>
                  <a:pt x="3388272" y="92698"/>
                </a:cubicBezTo>
                <a:lnTo>
                  <a:pt x="4959897" y="106986"/>
                </a:lnTo>
                <a:cubicBezTo>
                  <a:pt x="5007522" y="111748"/>
                  <a:pt x="5055561" y="113405"/>
                  <a:pt x="5102772" y="121273"/>
                </a:cubicBezTo>
                <a:cubicBezTo>
                  <a:pt x="5141510" y="127729"/>
                  <a:pt x="5178160" y="144542"/>
                  <a:pt x="5217072" y="149848"/>
                </a:cubicBezTo>
                <a:cubicBezTo>
                  <a:pt x="5283304" y="158880"/>
                  <a:pt x="5350449" y="159009"/>
                  <a:pt x="5417097" y="164136"/>
                </a:cubicBezTo>
                <a:lnTo>
                  <a:pt x="5588547" y="178423"/>
                </a:lnTo>
                <a:cubicBezTo>
                  <a:pt x="5607597" y="183186"/>
                  <a:pt x="5630919" y="179780"/>
                  <a:pt x="5645697" y="192711"/>
                </a:cubicBezTo>
                <a:cubicBezTo>
                  <a:pt x="5671543" y="215326"/>
                  <a:pt x="5674272" y="259386"/>
                  <a:pt x="5702847" y="278436"/>
                </a:cubicBezTo>
                <a:cubicBezTo>
                  <a:pt x="5717134" y="287961"/>
                  <a:pt x="5732518" y="296018"/>
                  <a:pt x="5745709" y="307011"/>
                </a:cubicBezTo>
                <a:cubicBezTo>
                  <a:pt x="5761231" y="319946"/>
                  <a:pt x="5788572" y="349873"/>
                  <a:pt x="5788572" y="34987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01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EC68-C816-4C06-E72B-391AB27E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 : coins arrondis 113">
            <a:extLst>
              <a:ext uri="{FF2B5EF4-FFF2-40B4-BE49-F238E27FC236}">
                <a16:creationId xmlns:a16="http://schemas.microsoft.com/office/drawing/2014/main" id="{C5875AAC-11B6-86B8-BB65-7F990C564A3D}"/>
              </a:ext>
            </a:extLst>
          </p:cNvPr>
          <p:cNvSpPr/>
          <p:nvPr/>
        </p:nvSpPr>
        <p:spPr>
          <a:xfrm>
            <a:off x="4303594" y="3522907"/>
            <a:ext cx="558800" cy="762000"/>
          </a:xfrm>
          <a:prstGeom prst="roundRect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B3A015-11F6-5223-A024-55CA7762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7002E8C-C74D-E7A7-1139-8F058A38BC5E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Long-Range dependencies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C9072892-CDEF-916D-D63E-D8610FC8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6EDC62DC-FCFA-FCAE-4451-3F2ED22D2297}"/>
              </a:ext>
            </a:extLst>
          </p:cNvPr>
          <p:cNvSpPr txBox="1"/>
          <p:nvPr/>
        </p:nvSpPr>
        <p:spPr>
          <a:xfrm>
            <a:off x="753395" y="2335903"/>
            <a:ext cx="10658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Issue with Simple RNNs, earlier signal may weaken over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1F539753-A2B9-ED37-BDB0-3D9AD5E895D3}"/>
                  </a:ext>
                </a:extLst>
              </p:cNvPr>
              <p:cNvSpPr txBox="1"/>
              <p:nvPr/>
            </p:nvSpPr>
            <p:spPr>
              <a:xfrm>
                <a:off x="1803004" y="4788680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1F539753-A2B9-ED37-BDB0-3D9AD5E89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004" y="4788680"/>
                <a:ext cx="424732" cy="246221"/>
              </a:xfrm>
              <a:prstGeom prst="rect">
                <a:avLst/>
              </a:prstGeom>
              <a:blipFill>
                <a:blip r:embed="rId3"/>
                <a:stretch>
                  <a:fillRect l="-14706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65ECB928-A0A7-B893-E4A2-1359081A6021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2011408" y="4267137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EB605A86-D5C1-0C16-3578-730AB3BAFD2F}"/>
                  </a:ext>
                </a:extLst>
              </p:cNvPr>
              <p:cNvSpPr txBox="1"/>
              <p:nvPr/>
            </p:nvSpPr>
            <p:spPr>
              <a:xfrm>
                <a:off x="2438252" y="3505137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EB605A86-D5C1-0C16-3578-730AB3BAF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252" y="3505137"/>
                <a:ext cx="429348" cy="246221"/>
              </a:xfrm>
              <a:prstGeom prst="rect">
                <a:avLst/>
              </a:prstGeom>
              <a:blipFill>
                <a:blip r:embed="rId4"/>
                <a:stretch>
                  <a:fillRect l="-11765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45909338-7DFC-FE81-009D-66D473E8408D}"/>
                  </a:ext>
                </a:extLst>
              </p:cNvPr>
              <p:cNvSpPr txBox="1"/>
              <p:nvPr/>
            </p:nvSpPr>
            <p:spPr>
              <a:xfrm>
                <a:off x="3077068" y="4794776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45909338-7DFC-FE81-009D-66D473E84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068" y="4794776"/>
                <a:ext cx="424732" cy="246221"/>
              </a:xfrm>
              <a:prstGeom prst="rect">
                <a:avLst/>
              </a:prstGeom>
              <a:blipFill>
                <a:blip r:embed="rId5"/>
                <a:stretch>
                  <a:fillRect l="-14706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504A7784-F7EA-D9B4-926B-A21D71F35D94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3285472" y="4273233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D028A833-FED3-069E-99FB-637BBE153116}"/>
                  </a:ext>
                </a:extLst>
              </p:cNvPr>
              <p:cNvSpPr txBox="1"/>
              <p:nvPr/>
            </p:nvSpPr>
            <p:spPr>
              <a:xfrm>
                <a:off x="4351132" y="4800872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D028A833-FED3-069E-99FB-637BBE153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132" y="4800872"/>
                <a:ext cx="424732" cy="246221"/>
              </a:xfrm>
              <a:prstGeom prst="rect">
                <a:avLst/>
              </a:prstGeom>
              <a:blipFill>
                <a:blip r:embed="rId6"/>
                <a:stretch>
                  <a:fillRect l="-14706" r="-8824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9DB9EFF6-CC5D-F3A6-9118-2BA70A183873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4559536" y="4279329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88D78C6B-81D3-B5E9-F71D-1E30AE297204}"/>
                  </a:ext>
                </a:extLst>
              </p:cNvPr>
              <p:cNvSpPr txBox="1"/>
              <p:nvPr/>
            </p:nvSpPr>
            <p:spPr>
              <a:xfrm>
                <a:off x="5613004" y="4806968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88D78C6B-81D3-B5E9-F71D-1E30AE297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04" y="4806968"/>
                <a:ext cx="424732" cy="246221"/>
              </a:xfrm>
              <a:prstGeom prst="rect">
                <a:avLst/>
              </a:prstGeom>
              <a:blipFill>
                <a:blip r:embed="rId7"/>
                <a:stretch>
                  <a:fillRect l="-14706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852309D9-0136-EF81-38AA-E2E53485BBEF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5821408" y="4285425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D9469A15-C5F0-B6E3-E3E2-6970AF244E84}"/>
                  </a:ext>
                </a:extLst>
              </p:cNvPr>
              <p:cNvSpPr txBox="1"/>
              <p:nvPr/>
            </p:nvSpPr>
            <p:spPr>
              <a:xfrm>
                <a:off x="3687088" y="3505137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D9469A15-C5F0-B6E3-E3E2-6970AF244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088" y="3505137"/>
                <a:ext cx="429348" cy="246221"/>
              </a:xfrm>
              <a:prstGeom prst="rect">
                <a:avLst/>
              </a:prstGeom>
              <a:blipFill>
                <a:blip r:embed="rId8"/>
                <a:stretch>
                  <a:fillRect l="-11765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00AD9348-BFCD-FF3A-F766-A299BCCC7EA2}"/>
                  </a:ext>
                </a:extLst>
              </p:cNvPr>
              <p:cNvSpPr txBox="1"/>
              <p:nvPr/>
            </p:nvSpPr>
            <p:spPr>
              <a:xfrm>
                <a:off x="5002636" y="3512926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00AD9348-BFCD-FF3A-F766-A299BCCC7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636" y="3512926"/>
                <a:ext cx="429348" cy="246221"/>
              </a:xfrm>
              <a:prstGeom prst="rect">
                <a:avLst/>
              </a:prstGeom>
              <a:blipFill>
                <a:blip r:embed="rId9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D76965E9-F876-C531-13B6-75147BCE64AA}"/>
              </a:ext>
            </a:extLst>
          </p:cNvPr>
          <p:cNvCxnSpPr>
            <a:cxnSpLocks/>
          </p:cNvCxnSpPr>
          <p:nvPr/>
        </p:nvCxnSpPr>
        <p:spPr>
          <a:xfrm>
            <a:off x="2290808" y="3886137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B570847-697C-B215-D767-A33D92940C06}"/>
              </a:ext>
            </a:extLst>
          </p:cNvPr>
          <p:cNvCxnSpPr/>
          <p:nvPr/>
        </p:nvCxnSpPr>
        <p:spPr>
          <a:xfrm>
            <a:off x="3564872" y="3904425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A7CF719-D81F-9488-1025-569FE7BF9393}"/>
              </a:ext>
            </a:extLst>
          </p:cNvPr>
          <p:cNvCxnSpPr/>
          <p:nvPr/>
        </p:nvCxnSpPr>
        <p:spPr>
          <a:xfrm>
            <a:off x="4835468" y="3904425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4A72C434-BA2A-D7EF-C16E-E091D3ADE8B0}"/>
                  </a:ext>
                </a:extLst>
              </p:cNvPr>
              <p:cNvSpPr txBox="1"/>
              <p:nvPr/>
            </p:nvSpPr>
            <p:spPr>
              <a:xfrm>
                <a:off x="1265362" y="3512926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4A72C434-BA2A-D7EF-C16E-E091D3ADE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362" y="3512926"/>
                <a:ext cx="429348" cy="246221"/>
              </a:xfrm>
              <a:prstGeom prst="rect">
                <a:avLst/>
              </a:prstGeom>
              <a:blipFill>
                <a:blip r:embed="rId10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 : coins arrondis 57">
                <a:extLst>
                  <a:ext uri="{FF2B5EF4-FFF2-40B4-BE49-F238E27FC236}">
                    <a16:creationId xmlns:a16="http://schemas.microsoft.com/office/drawing/2014/main" id="{56A2863F-044A-0FA1-DB6E-9CAFFD6A49C7}"/>
                  </a:ext>
                </a:extLst>
              </p:cNvPr>
              <p:cNvSpPr/>
              <p:nvPr/>
            </p:nvSpPr>
            <p:spPr>
              <a:xfrm>
                <a:off x="895862" y="3509253"/>
                <a:ext cx="345440" cy="762000"/>
              </a:xfrm>
              <a:prstGeom prst="round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 : coins arrondis 57">
                <a:extLst>
                  <a:ext uri="{FF2B5EF4-FFF2-40B4-BE49-F238E27FC236}">
                    <a16:creationId xmlns:a16="http://schemas.microsoft.com/office/drawing/2014/main" id="{56A2863F-044A-0FA1-DB6E-9CAFFD6A4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62" y="3509253"/>
                <a:ext cx="345440" cy="76200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ECBCFF5F-04A9-655E-CD8E-534BE9363338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241302" y="3886137"/>
            <a:ext cx="490706" cy="4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 : coins arrondis 107">
            <a:extLst>
              <a:ext uri="{FF2B5EF4-FFF2-40B4-BE49-F238E27FC236}">
                <a16:creationId xmlns:a16="http://schemas.microsoft.com/office/drawing/2014/main" id="{4DAD0919-4F47-C16E-1E4C-CCC0AAE0E9D9}"/>
              </a:ext>
            </a:extLst>
          </p:cNvPr>
          <p:cNvSpPr/>
          <p:nvPr/>
        </p:nvSpPr>
        <p:spPr>
          <a:xfrm>
            <a:off x="1728794" y="3505137"/>
            <a:ext cx="558800" cy="76200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Rectangle : coins arrondis 108">
            <a:extLst>
              <a:ext uri="{FF2B5EF4-FFF2-40B4-BE49-F238E27FC236}">
                <a16:creationId xmlns:a16="http://schemas.microsoft.com/office/drawing/2014/main" id="{BA952EC5-B556-0205-2126-B8CA03BF4FA9}"/>
              </a:ext>
            </a:extLst>
          </p:cNvPr>
          <p:cNvSpPr/>
          <p:nvPr/>
        </p:nvSpPr>
        <p:spPr>
          <a:xfrm>
            <a:off x="3008869" y="3514646"/>
            <a:ext cx="558800" cy="762000"/>
          </a:xfrm>
          <a:prstGeom prst="roundRect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0" name="Rectangle : coins arrondis 109">
            <a:extLst>
              <a:ext uri="{FF2B5EF4-FFF2-40B4-BE49-F238E27FC236}">
                <a16:creationId xmlns:a16="http://schemas.microsoft.com/office/drawing/2014/main" id="{C1013D95-E746-3FA2-58B8-061744674DD7}"/>
              </a:ext>
            </a:extLst>
          </p:cNvPr>
          <p:cNvSpPr/>
          <p:nvPr/>
        </p:nvSpPr>
        <p:spPr>
          <a:xfrm>
            <a:off x="3021105" y="3509137"/>
            <a:ext cx="397779" cy="76200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Rectangle : coins arrondis 115">
            <a:extLst>
              <a:ext uri="{FF2B5EF4-FFF2-40B4-BE49-F238E27FC236}">
                <a16:creationId xmlns:a16="http://schemas.microsoft.com/office/drawing/2014/main" id="{532ECD5F-FD33-AC9A-AE03-CDCAC0253B59}"/>
              </a:ext>
            </a:extLst>
          </p:cNvPr>
          <p:cNvSpPr/>
          <p:nvPr/>
        </p:nvSpPr>
        <p:spPr>
          <a:xfrm>
            <a:off x="5590228" y="3562335"/>
            <a:ext cx="558800" cy="762000"/>
          </a:xfrm>
          <a:prstGeom prst="roundRect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4D9388C8-9F08-53FB-37E2-2E89D0CD4675}"/>
              </a:ext>
            </a:extLst>
          </p:cNvPr>
          <p:cNvSpPr/>
          <p:nvPr/>
        </p:nvSpPr>
        <p:spPr>
          <a:xfrm>
            <a:off x="5583800" y="3561579"/>
            <a:ext cx="164625" cy="76200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 : coins arrondis 114">
            <a:extLst>
              <a:ext uri="{FF2B5EF4-FFF2-40B4-BE49-F238E27FC236}">
                <a16:creationId xmlns:a16="http://schemas.microsoft.com/office/drawing/2014/main" id="{DA8F995E-2DA7-0738-E163-5005F004BE7D}"/>
              </a:ext>
            </a:extLst>
          </p:cNvPr>
          <p:cNvSpPr/>
          <p:nvPr/>
        </p:nvSpPr>
        <p:spPr>
          <a:xfrm>
            <a:off x="4297166" y="3523425"/>
            <a:ext cx="246644" cy="76200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Rectangle : coins arrondis 117">
            <a:extLst>
              <a:ext uri="{FF2B5EF4-FFF2-40B4-BE49-F238E27FC236}">
                <a16:creationId xmlns:a16="http://schemas.microsoft.com/office/drawing/2014/main" id="{2ABDC11F-66E7-8F0E-694E-6F5A5828DDA3}"/>
              </a:ext>
            </a:extLst>
          </p:cNvPr>
          <p:cNvSpPr/>
          <p:nvPr/>
        </p:nvSpPr>
        <p:spPr>
          <a:xfrm flipH="1">
            <a:off x="4660870" y="3530696"/>
            <a:ext cx="275053" cy="762000"/>
          </a:xfrm>
          <a:prstGeom prst="roundRect">
            <a:avLst/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FF6B8056-6112-1FE3-84D1-1DF6BBDB30D6}"/>
              </a:ext>
            </a:extLst>
          </p:cNvPr>
          <p:cNvSpPr/>
          <p:nvPr/>
        </p:nvSpPr>
        <p:spPr>
          <a:xfrm>
            <a:off x="5819864" y="3551845"/>
            <a:ext cx="164625" cy="774000"/>
          </a:xfrm>
          <a:prstGeom prst="roundRect">
            <a:avLst/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F809A3EE-4484-C4F3-86A2-1799B26F250D}"/>
              </a:ext>
            </a:extLst>
          </p:cNvPr>
          <p:cNvSpPr/>
          <p:nvPr/>
        </p:nvSpPr>
        <p:spPr>
          <a:xfrm flipH="1">
            <a:off x="5975597" y="3559787"/>
            <a:ext cx="246643" cy="774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FC63E0E6-E58D-A1C5-871A-0F6239E0D7FE}"/>
              </a:ext>
            </a:extLst>
          </p:cNvPr>
          <p:cNvSpPr txBox="1"/>
          <p:nvPr/>
        </p:nvSpPr>
        <p:spPr>
          <a:xfrm>
            <a:off x="750122" y="5305303"/>
            <a:ext cx="11322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Vanishing / Exploding gradients during training.</a:t>
            </a:r>
          </a:p>
          <a:p>
            <a:r>
              <a:rPr lang="en-GB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Repeated multiplication during BPTT can lead to network either ceasing to learn or becoming unstable.</a:t>
            </a:r>
          </a:p>
        </p:txBody>
      </p:sp>
    </p:spTree>
    <p:extLst>
      <p:ext uri="{BB962C8B-B14F-4D97-AF65-F5344CB8AC3E}">
        <p14:creationId xmlns:p14="http://schemas.microsoft.com/office/powerpoint/2010/main" val="580525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8D314-DDD0-5E9D-61D2-D8E66E60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1212BF-8974-0AD4-6AD3-CCC0A83A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028769C-4ABC-A55E-0D5A-06DFD6EBD722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Long-Range dependencies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23079B81-CE2D-DD8D-64FB-B70E8D8F4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62B45CC0-B2EC-C42D-307A-DBEB2A6EED6E}"/>
              </a:ext>
            </a:extLst>
          </p:cNvPr>
          <p:cNvSpPr txBox="1"/>
          <p:nvPr/>
        </p:nvSpPr>
        <p:spPr>
          <a:xfrm>
            <a:off x="753395" y="2335903"/>
            <a:ext cx="106584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 simple RNN often has a hard time modelling long-range dependencies.</a:t>
            </a:r>
          </a:p>
          <a:p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 few remedies:</a:t>
            </a:r>
          </a:p>
          <a:p>
            <a:pPr marL="342900" indent="-342900">
              <a:buFontTx/>
              <a:buChar char="-"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Batch normalization</a:t>
            </a:r>
          </a:p>
          <a:p>
            <a:pPr marL="342900" indent="-342900">
              <a:buFontTx/>
              <a:buChar char="-"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Careful weight initialization</a:t>
            </a:r>
          </a:p>
          <a:p>
            <a:pPr marL="342900" indent="-342900">
              <a:buFontTx/>
              <a:buChar char="-"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Gradient clipping for exploding gradients</a:t>
            </a:r>
          </a:p>
          <a:p>
            <a:pPr marL="342900" indent="-342900">
              <a:buFontTx/>
              <a:buChar char="-"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Or </a:t>
            </a:r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use a different cell architecture</a:t>
            </a: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452085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42304</TotalTime>
  <Words>1214</Words>
  <Application>Microsoft Macintosh PowerPoint</Application>
  <PresentationFormat>Grand écran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ui-sans-serif</vt:lpstr>
      <vt:lpstr>Thème Office</vt:lpstr>
      <vt:lpstr>Long Short-Term Memory (LSTM)</vt:lpstr>
      <vt:lpstr>Long Short-Term Memory</vt:lpstr>
      <vt:lpstr>LSTM Cell</vt:lpstr>
      <vt:lpstr>Language Models</vt:lpstr>
      <vt:lpstr>Language Models</vt:lpstr>
      <vt:lpstr>Language Models</vt:lpstr>
      <vt:lpstr>Language Models</vt:lpstr>
      <vt:lpstr>Language Models</vt:lpstr>
      <vt:lpstr>Language Models</vt:lpstr>
      <vt:lpstr>Language Models</vt:lpstr>
      <vt:lpstr>Language Models</vt:lpstr>
      <vt:lpstr>Language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THEBAULT</dc:creator>
  <cp:lastModifiedBy>David THEBAULT</cp:lastModifiedBy>
  <cp:revision>248</cp:revision>
  <dcterms:created xsi:type="dcterms:W3CDTF">2024-12-16T21:11:27Z</dcterms:created>
  <dcterms:modified xsi:type="dcterms:W3CDTF">2025-02-24T21:38:33Z</dcterms:modified>
</cp:coreProperties>
</file>